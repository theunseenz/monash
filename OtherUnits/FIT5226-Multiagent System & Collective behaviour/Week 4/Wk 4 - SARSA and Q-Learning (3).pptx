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3" r:id="rId3"/>
  </p:sldMasterIdLst>
  <p:notesMasterIdLst>
    <p:notesMasterId r:id="rId39"/>
  </p:notesMasterIdLst>
  <p:sldIdLst>
    <p:sldId id="343"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44" r:id="rId3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683" autoAdjust="0"/>
  </p:normalViewPr>
  <p:slideViewPr>
    <p:cSldViewPr>
      <p:cViewPr varScale="1">
        <p:scale>
          <a:sx n="80" d="100"/>
          <a:sy n="80" d="100"/>
        </p:scale>
        <p:origin x="1450" y="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2DC89C6-024A-4940-8583-D3CE70BF71ED}" type="datetimeFigureOut">
              <a:rPr lang="en-US" smtClean="0"/>
              <a:t>8/15/2024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74CE9F8-7CB3-4745-B340-AB0CAA843864}" type="slidenum">
              <a:rPr lang="en-US" smtClean="0"/>
              <a:t>‹#›</a:t>
            </a:fld>
            <a:endParaRPr lang="en-US"/>
          </a:p>
        </p:txBody>
      </p:sp>
    </p:spTree>
    <p:extLst>
      <p:ext uri="{BB962C8B-B14F-4D97-AF65-F5344CB8AC3E}">
        <p14:creationId xmlns:p14="http://schemas.microsoft.com/office/powerpoint/2010/main" val="1533302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estimate the return values from future states.  </a:t>
            </a:r>
          </a:p>
          <a:p>
            <a:r>
              <a:rPr lang="en-US" dirty="0"/>
              <a:t>Previous Lecture: Planning by dynamic programming to solve known MDP.</a:t>
            </a:r>
          </a:p>
        </p:txBody>
      </p:sp>
      <p:sp>
        <p:nvSpPr>
          <p:cNvPr id="4" name="Slide Number Placeholder 3"/>
          <p:cNvSpPr>
            <a:spLocks noGrp="1"/>
          </p:cNvSpPr>
          <p:nvPr>
            <p:ph type="sldNum" sz="quarter" idx="5"/>
          </p:nvPr>
        </p:nvSpPr>
        <p:spPr/>
        <p:txBody>
          <a:bodyPr/>
          <a:lstStyle/>
          <a:p>
            <a:fld id="{374CE9F8-7CB3-4745-B340-AB0CAA843864}" type="slidenum">
              <a:rPr lang="en-US" smtClean="0"/>
              <a:t>2</a:t>
            </a:fld>
            <a:endParaRPr lang="en-US"/>
          </a:p>
        </p:txBody>
      </p:sp>
    </p:spTree>
    <p:extLst>
      <p:ext uri="{BB962C8B-B14F-4D97-AF65-F5344CB8AC3E}">
        <p14:creationId xmlns:p14="http://schemas.microsoft.com/office/powerpoint/2010/main" val="3956055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rid of the assumption that we have the true model and therefore we want to use experience samples to learn. </a:t>
            </a:r>
          </a:p>
          <a:p>
            <a:r>
              <a:rPr lang="en-US" dirty="0"/>
              <a:t>We do something in that environment and experience what happens next. Instead of calculating we experience so we use sampling for this.</a:t>
            </a:r>
          </a:p>
        </p:txBody>
      </p:sp>
      <p:sp>
        <p:nvSpPr>
          <p:cNvPr id="4" name="Slide Number Placeholder 3"/>
          <p:cNvSpPr>
            <a:spLocks noGrp="1"/>
          </p:cNvSpPr>
          <p:nvPr>
            <p:ph type="sldNum" sz="quarter" idx="5"/>
          </p:nvPr>
        </p:nvSpPr>
        <p:spPr/>
        <p:txBody>
          <a:bodyPr/>
          <a:lstStyle/>
          <a:p>
            <a:fld id="{374CE9F8-7CB3-4745-B340-AB0CAA843864}" type="slidenum">
              <a:rPr lang="en-US" smtClean="0"/>
              <a:t>3</a:t>
            </a:fld>
            <a:endParaRPr lang="en-US"/>
          </a:p>
        </p:txBody>
      </p:sp>
    </p:spTree>
    <p:extLst>
      <p:ext uri="{BB962C8B-B14F-4D97-AF65-F5344CB8AC3E}">
        <p14:creationId xmlns:p14="http://schemas.microsoft.com/office/powerpoint/2010/main" val="1439717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state tree. Standing at state </a:t>
            </a:r>
            <a:r>
              <a:rPr lang="en-US" dirty="0" err="1"/>
              <a:t>S_t</a:t>
            </a:r>
            <a:r>
              <a:rPr lang="en-US" dirty="0"/>
              <a:t>, you could take one of two possible actions, that gives you a reward on that action arriving at state/node S_{t+1}.</a:t>
            </a:r>
          </a:p>
          <a:p>
            <a:endParaRPr lang="en-US" dirty="0"/>
          </a:p>
          <a:p>
            <a:r>
              <a:rPr lang="en-US" dirty="0"/>
              <a:t>Repeat this again and again. Till you reach the green leaf node (end of episode).</a:t>
            </a:r>
          </a:p>
        </p:txBody>
      </p:sp>
      <p:sp>
        <p:nvSpPr>
          <p:cNvPr id="4" name="Slide Number Placeholder 3"/>
          <p:cNvSpPr>
            <a:spLocks noGrp="1"/>
          </p:cNvSpPr>
          <p:nvPr>
            <p:ph type="sldNum" sz="quarter" idx="5"/>
          </p:nvPr>
        </p:nvSpPr>
        <p:spPr/>
        <p:txBody>
          <a:bodyPr/>
          <a:lstStyle/>
          <a:p>
            <a:fld id="{374CE9F8-7CB3-4745-B340-AB0CAA843864}" type="slidenum">
              <a:rPr lang="en-US" smtClean="0"/>
              <a:t>4</a:t>
            </a:fld>
            <a:endParaRPr lang="en-US"/>
          </a:p>
        </p:txBody>
      </p:sp>
    </p:spTree>
    <p:extLst>
      <p:ext uri="{BB962C8B-B14F-4D97-AF65-F5344CB8AC3E}">
        <p14:creationId xmlns:p14="http://schemas.microsoft.com/office/powerpoint/2010/main" val="2671739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Monte-Carlo is a model free method, we need no knowledge of the Markov decision process.</a:t>
            </a:r>
          </a:p>
          <a:p>
            <a:endParaRPr lang="en-US" dirty="0"/>
          </a:p>
          <a:p>
            <a:r>
              <a:rPr lang="en-US" dirty="0"/>
              <a:t>instead of looking at the whole area we only look at a possible path. Executing one episode until we hit the leaf node.</a:t>
            </a:r>
          </a:p>
        </p:txBody>
      </p:sp>
      <p:sp>
        <p:nvSpPr>
          <p:cNvPr id="4" name="Slide Number Placeholder 3"/>
          <p:cNvSpPr>
            <a:spLocks noGrp="1"/>
          </p:cNvSpPr>
          <p:nvPr>
            <p:ph type="sldNum" sz="quarter" idx="5"/>
          </p:nvPr>
        </p:nvSpPr>
        <p:spPr/>
        <p:txBody>
          <a:bodyPr/>
          <a:lstStyle/>
          <a:p>
            <a:fld id="{374CE9F8-7CB3-4745-B340-AB0CAA843864}" type="slidenum">
              <a:rPr lang="en-US" smtClean="0"/>
              <a:t>5</a:t>
            </a:fld>
            <a:endParaRPr lang="en-US"/>
          </a:p>
        </p:txBody>
      </p:sp>
    </p:spTree>
    <p:extLst>
      <p:ext uri="{BB962C8B-B14F-4D97-AF65-F5344CB8AC3E}">
        <p14:creationId xmlns:p14="http://schemas.microsoft.com/office/powerpoint/2010/main" val="1055715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6</a:t>
            </a:fld>
            <a:endParaRPr lang="en-US"/>
          </a:p>
        </p:txBody>
      </p:sp>
    </p:spTree>
    <p:extLst>
      <p:ext uri="{BB962C8B-B14F-4D97-AF65-F5344CB8AC3E}">
        <p14:creationId xmlns:p14="http://schemas.microsoft.com/office/powerpoint/2010/main" val="1584361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D1D5DB"/>
                </a:solidFill>
                <a:effectLst/>
                <a:latin typeface="Söhne"/>
              </a:rPr>
              <a:t>Complete Episodes</a:t>
            </a:r>
            <a:r>
              <a:rPr lang="en-US" b="0" i="0" dirty="0">
                <a:solidFill>
                  <a:srgbClr val="D1D5DB"/>
                </a:solidFill>
                <a:effectLst/>
                <a:latin typeface="Söhne"/>
              </a:rPr>
              <a:t>: MC methods learn from the complete trajectories of episodes, from the initial state to the terminal state. This means that the agent doesn't update its value estimates until the end of each episode, when the true cumulative return is known.</a:t>
            </a:r>
          </a:p>
          <a:p>
            <a:pPr algn="l">
              <a:buFont typeface="+mj-lt"/>
              <a:buAutoNum type="arabicPeriod"/>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No Bootstrapping</a:t>
            </a:r>
            <a:r>
              <a:rPr lang="en-US" b="0" i="0" dirty="0">
                <a:solidFill>
                  <a:srgbClr val="D1D5DB"/>
                </a:solidFill>
                <a:effectLst/>
                <a:latin typeface="Söhne"/>
              </a:rPr>
              <a:t>: "No bootstrapping" means that MC methods do not use estimates of future values to update their value estimates. Instead, they rely entirely on the actual rewards obtained in the episode. There's no forward-looking estimation involved; the agent waits until the episode ends to compute and update its value function estimates based on the total return.</a:t>
            </a:r>
          </a:p>
          <a:p>
            <a:pPr algn="l"/>
            <a:r>
              <a:rPr lang="en-US" b="0" i="0" dirty="0">
                <a:solidFill>
                  <a:srgbClr val="D1D5DB"/>
                </a:solidFill>
                <a:effectLst/>
                <a:latin typeface="Söhne"/>
              </a:rPr>
              <a:t>This approach has certain implications:</a:t>
            </a:r>
          </a:p>
          <a:p>
            <a:pPr algn="l">
              <a:buFont typeface="Arial" panose="020B0604020202020204" pitchFamily="34" charset="0"/>
              <a:buChar char="•"/>
            </a:pPr>
            <a:r>
              <a:rPr lang="en-US" b="0" i="0" dirty="0">
                <a:solidFill>
                  <a:srgbClr val="D1D5DB"/>
                </a:solidFill>
                <a:effectLst/>
                <a:latin typeface="Söhne"/>
              </a:rPr>
              <a:t>MC methods are well-suited for episodic tasks, where the learning process is guided by complete episodes, such as games with finite episodes (e.g., a game of chess, a hand of poker).</a:t>
            </a:r>
          </a:p>
          <a:p>
            <a:pPr algn="l">
              <a:buFont typeface="Arial" panose="020B0604020202020204" pitchFamily="34" charset="0"/>
              <a:buChar char="•"/>
            </a:pPr>
            <a:r>
              <a:rPr lang="en-US" b="0" i="0" dirty="0">
                <a:solidFill>
                  <a:srgbClr val="D1D5DB"/>
                </a:solidFill>
                <a:effectLst/>
                <a:latin typeface="Söhne"/>
              </a:rPr>
              <a:t>MC methods can handle stochastic environments (where outcomes are uncertain) and environments with delayed rewards.</a:t>
            </a:r>
          </a:p>
          <a:p>
            <a:pPr algn="l">
              <a:buFont typeface="Arial" panose="020B0604020202020204" pitchFamily="34" charset="0"/>
              <a:buChar char="•"/>
            </a:pPr>
            <a:r>
              <a:rPr lang="en-US" b="0" i="0" dirty="0">
                <a:solidFill>
                  <a:srgbClr val="D1D5DB"/>
                </a:solidFill>
                <a:effectLst/>
                <a:latin typeface="Söhne"/>
              </a:rPr>
              <a:t>Since MC methods require full episodes, they may have higher variance due to the noise in the observed returns.</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9</a:t>
            </a:fld>
            <a:endParaRPr lang="en-US"/>
          </a:p>
        </p:txBody>
      </p:sp>
    </p:spTree>
    <p:extLst>
      <p:ext uri="{BB962C8B-B14F-4D97-AF65-F5344CB8AC3E}">
        <p14:creationId xmlns:p14="http://schemas.microsoft.com/office/powerpoint/2010/main" val="337318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learning step size, decreases over time.  V(S_{t+1}) is initially guessed (zero/random) and hence V(</a:t>
            </a:r>
            <a:r>
              <a:rPr lang="en-US" dirty="0" err="1"/>
              <a:t>S_t</a:t>
            </a:r>
            <a:r>
              <a:rPr lang="en-US" dirty="0"/>
              <a:t>) is guessed. </a:t>
            </a:r>
          </a:p>
          <a:p>
            <a:endParaRPr lang="en-US" dirty="0"/>
          </a:p>
          <a:p>
            <a:r>
              <a:rPr lang="en-US" b="0" i="0" dirty="0">
                <a:solidFill>
                  <a:srgbClr val="D1D5DB"/>
                </a:solidFill>
                <a:effectLst/>
                <a:latin typeface="Söhne"/>
              </a:rPr>
              <a:t>In contrast, temporal difference (TD) methods, such as SARSA and Q-learning, do involve bootstrapping by updating value estimates based on estimates of future values. They update estimates at each time step based on the observed reward and the agent's estimate of the value of the next state. This enables TD methods to learn from incomplete episodes and online interactions with the environment.</a:t>
            </a:r>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10</a:t>
            </a:fld>
            <a:endParaRPr lang="en-US"/>
          </a:p>
        </p:txBody>
      </p:sp>
    </p:spTree>
    <p:extLst>
      <p:ext uri="{BB962C8B-B14F-4D97-AF65-F5344CB8AC3E}">
        <p14:creationId xmlns:p14="http://schemas.microsoft.com/office/powerpoint/2010/main" val="62860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of TD differs from MC only by replacing the </a:t>
            </a:r>
            <a:r>
              <a:rPr lang="en-US" dirty="0" err="1"/>
              <a:t>G_t</a:t>
            </a:r>
            <a:r>
              <a:rPr lang="en-US" dirty="0"/>
              <a:t> term with TD target term.</a:t>
            </a:r>
          </a:p>
        </p:txBody>
      </p:sp>
      <p:sp>
        <p:nvSpPr>
          <p:cNvPr id="4" name="Slide Number Placeholder 3"/>
          <p:cNvSpPr>
            <a:spLocks noGrp="1"/>
          </p:cNvSpPr>
          <p:nvPr>
            <p:ph type="sldNum" sz="quarter" idx="5"/>
          </p:nvPr>
        </p:nvSpPr>
        <p:spPr/>
        <p:txBody>
          <a:bodyPr/>
          <a:lstStyle/>
          <a:p>
            <a:fld id="{374CE9F8-7CB3-4745-B340-AB0CAA843864}" type="slidenum">
              <a:rPr lang="en-US" smtClean="0"/>
              <a:t>11</a:t>
            </a:fld>
            <a:endParaRPr lang="en-US"/>
          </a:p>
        </p:txBody>
      </p:sp>
    </p:spTree>
    <p:extLst>
      <p:ext uri="{BB962C8B-B14F-4D97-AF65-F5344CB8AC3E}">
        <p14:creationId xmlns:p14="http://schemas.microsoft.com/office/powerpoint/2010/main" val="274448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TD we can handle infinite episodes, we don’t have to go all the way to the terminal nodes.</a:t>
            </a:r>
          </a:p>
        </p:txBody>
      </p:sp>
      <p:sp>
        <p:nvSpPr>
          <p:cNvPr id="4" name="Slide Number Placeholder 3"/>
          <p:cNvSpPr>
            <a:spLocks noGrp="1"/>
          </p:cNvSpPr>
          <p:nvPr>
            <p:ph type="sldNum" sz="quarter" idx="5"/>
          </p:nvPr>
        </p:nvSpPr>
        <p:spPr/>
        <p:txBody>
          <a:bodyPr/>
          <a:lstStyle/>
          <a:p>
            <a:fld id="{374CE9F8-7CB3-4745-B340-AB0CAA843864}" type="slidenum">
              <a:rPr lang="en-US" smtClean="0"/>
              <a:t>12</a:t>
            </a:fld>
            <a:endParaRPr lang="en-US"/>
          </a:p>
        </p:txBody>
      </p:sp>
    </p:spTree>
    <p:extLst>
      <p:ext uri="{BB962C8B-B14F-4D97-AF65-F5344CB8AC3E}">
        <p14:creationId xmlns:p14="http://schemas.microsoft.com/office/powerpoint/2010/main" val="543467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D1D5DB"/>
                </a:solidFill>
                <a:effectLst/>
                <a:latin typeface="Söhne"/>
              </a:rPr>
              <a:t>MC Zero Bias</a:t>
            </a:r>
            <a:r>
              <a:rPr lang="en-US" b="0" i="0" dirty="0">
                <a:solidFill>
                  <a:srgbClr val="D1D5DB"/>
                </a:solidFill>
                <a:effectLst/>
                <a:latin typeface="Söhne"/>
              </a:rPr>
              <a:t>: The estimated value of a state is the average of the cumulative rewards received when starting from that state and following a policy until the end of the episode. Since MC methods rely on real experience and the actual rewards received, they are unbiased estimators. </a:t>
            </a:r>
          </a:p>
          <a:p>
            <a:endParaRPr lang="en-US" b="0" i="0" dirty="0">
              <a:solidFill>
                <a:srgbClr val="D1D5DB"/>
              </a:solidFill>
              <a:effectLst/>
              <a:latin typeface="Söhne"/>
            </a:endParaRPr>
          </a:p>
          <a:p>
            <a:r>
              <a:rPr lang="en-US" b="1" i="0" dirty="0">
                <a:solidFill>
                  <a:srgbClr val="D1D5DB"/>
                </a:solidFill>
                <a:effectLst/>
                <a:latin typeface="Söhne"/>
              </a:rPr>
              <a:t>TD Biased</a:t>
            </a:r>
            <a:r>
              <a:rPr lang="en-US" b="0" i="0" dirty="0">
                <a:solidFill>
                  <a:srgbClr val="D1D5DB"/>
                </a:solidFill>
                <a:effectLst/>
                <a:latin typeface="Söhne"/>
              </a:rPr>
              <a:t>: TD methods, on the other hand, update value estimates based on the difference between the current estimated value and an estimate of the next state's value. TD methods make updates at each time step, using bootstrapping (estimating a value based on an estimate) to update the current state's value using information from the next state. This introduces a level of bias in the estimation process.</a:t>
            </a:r>
          </a:p>
          <a:p>
            <a:endParaRPr lang="en-US" b="0" i="0" dirty="0">
              <a:solidFill>
                <a:srgbClr val="D1D5DB"/>
              </a:solidFill>
              <a:effectLst/>
              <a:latin typeface="Söhne"/>
            </a:endParaRPr>
          </a:p>
          <a:p>
            <a:r>
              <a:rPr lang="en-US" b="0" i="0" dirty="0">
                <a:solidFill>
                  <a:srgbClr val="D1D5DB"/>
                </a:solidFill>
                <a:effectLst/>
                <a:latin typeface="Söhne"/>
              </a:rPr>
              <a:t>In summary, the key distinction between MC and TD methods is the way they estimate values and update their estimates. MC methods are unbiased but require complete episodes, while TD methods are biased due to bootstrapping but can learn more efficiently in some situations.</a:t>
            </a:r>
          </a:p>
          <a:p>
            <a:endParaRPr lang="en-US" b="0" i="0" dirty="0">
              <a:solidFill>
                <a:srgbClr val="D1D5DB"/>
              </a:solidFill>
              <a:effectLst/>
              <a:latin typeface="Söhne"/>
            </a:endParaRPr>
          </a:p>
          <a:p>
            <a:pPr algn="l"/>
            <a:br>
              <a:rPr lang="en-US" b="0" i="0" dirty="0">
                <a:solidFill>
                  <a:srgbClr val="D1D5DB"/>
                </a:solidFill>
                <a:effectLst/>
                <a:latin typeface="Söhne"/>
              </a:rPr>
            </a:br>
            <a:r>
              <a:rPr lang="en-US" b="1" i="0" dirty="0">
                <a:solidFill>
                  <a:srgbClr val="D1D5DB"/>
                </a:solidFill>
                <a:effectLst/>
                <a:latin typeface="Söhne"/>
              </a:rPr>
              <a:t>MC high variance:</a:t>
            </a:r>
            <a:r>
              <a:rPr lang="en-US" b="0" i="0" dirty="0">
                <a:solidFill>
                  <a:srgbClr val="D1D5DB"/>
                </a:solidFill>
                <a:effectLst/>
                <a:latin typeface="Söhne"/>
              </a:rPr>
              <a:t> MC methods tend to have higher variance in their value estimates. This is because MC methods estimate values based on the actual returns obtained from complete episodes, which can vary widely from one episode to another due to randomness and uncertainty in the environment. Since each episode provides an independent estimate of the value, the variance in the estimates can be relatively high. This can lead to slower convergence and more noise in the learning process.</a:t>
            </a:r>
          </a:p>
          <a:p>
            <a:pPr algn="l"/>
            <a:endParaRPr lang="en-US" b="0" i="0" dirty="0">
              <a:solidFill>
                <a:srgbClr val="D1D5DB"/>
              </a:solidFill>
              <a:effectLst/>
              <a:latin typeface="Söhne"/>
            </a:endParaRPr>
          </a:p>
          <a:p>
            <a:pPr algn="l"/>
            <a:r>
              <a:rPr lang="en-US" b="1" i="0" dirty="0">
                <a:solidFill>
                  <a:srgbClr val="D1D5DB"/>
                </a:solidFill>
                <a:effectLst/>
                <a:latin typeface="Söhne"/>
              </a:rPr>
              <a:t>TD low variance:</a:t>
            </a:r>
            <a:r>
              <a:rPr lang="en-US" b="0" i="0" dirty="0">
                <a:solidFill>
                  <a:srgbClr val="D1D5DB"/>
                </a:solidFill>
                <a:effectLst/>
                <a:latin typeface="Söhne"/>
              </a:rPr>
              <a:t> TD methods generally have lower variance compared to MC methods. TD methods update value estimates based on the difference between the current estimated value and an estimate of the next state's value. This bootstrapping approach introduces a degree of smoothing and control over the learning process, which tends to reduce the variance in value estimates. TD methods are more suited for online learning and situations where complete episodes are not required.</a:t>
            </a:r>
          </a:p>
          <a:p>
            <a:pPr algn="l"/>
            <a:r>
              <a:rPr lang="en-US" b="0" i="0" dirty="0">
                <a:solidFill>
                  <a:srgbClr val="D1D5DB"/>
                </a:solidFill>
                <a:effectLst/>
                <a:latin typeface="Söhne"/>
              </a:rPr>
              <a:t>It's important to note that the trade-off between variance and bias is a fundamental concept in statistical and machine learning methods. MC methods have lower bias but higher variance, while TD methods have lower variance but some level of bias due to bootstrapping. The choice between MC and TD methods often depends on the specific problem, the nature of the environment, and the trade-offs that the learning algorithm needs to make.</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13</a:t>
            </a:fld>
            <a:endParaRPr lang="en-US"/>
          </a:p>
        </p:txBody>
      </p:sp>
    </p:spTree>
    <p:extLst>
      <p:ext uri="{BB962C8B-B14F-4D97-AF65-F5344CB8AC3E}">
        <p14:creationId xmlns:p14="http://schemas.microsoft.com/office/powerpoint/2010/main" val="1885334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graph shows learning curves for the two methods for various values of </a:t>
                </a:r>
                <a14:m>
                  <m:oMath xmlns:m="http://schemas.openxmlformats.org/officeDocument/2006/math">
                    <m:r>
                      <a:rPr lang="en-US" b="0" i="1" smtClean="0">
                        <a:latin typeface="Cambria Math" panose="02040503050406030204" pitchFamily="18" charset="0"/>
                      </a:rPr>
                      <m:t>𝛼</m:t>
                    </m:r>
                  </m:oMath>
                </a14:m>
                <a:r>
                  <a:rPr lang="en-US" dirty="0"/>
                  <a:t>. The performance measure shown is the root mean-squared (RMS) error between the value function learned and the true value function, averaged over the five states, then averaged over 100 runs. In all cases the approximate value function was initialized to the intermediate value V (s) = 0.5, for all s. The TD method was consistently better than the MC method on this task.</a:t>
                </a:r>
              </a:p>
            </p:txBody>
          </p:sp>
        </mc:Choice>
        <mc:Fallback xmlns="">
          <p:sp>
            <p:nvSpPr>
              <p:cNvPr id="3" name="Notes Placeholder 2"/>
              <p:cNvSpPr>
                <a:spLocks noGrp="1"/>
              </p:cNvSpPr>
              <p:nvPr>
                <p:ph type="body" idx="1"/>
              </p:nvPr>
            </p:nvSpPr>
            <p:spPr/>
            <p:txBody>
              <a:bodyPr/>
              <a:lstStyle/>
              <a:p>
                <a:r>
                  <a:rPr lang="en-US" dirty="0"/>
                  <a:t>The graph shows learning curves for the two methods for various values of </a:t>
                </a:r>
                <a:r>
                  <a:rPr lang="en-US" b="0" i="0">
                    <a:latin typeface="Cambria Math" panose="02040503050406030204" pitchFamily="18" charset="0"/>
                  </a:rPr>
                  <a:t>𝛼</a:t>
                </a:r>
                <a:r>
                  <a:rPr lang="en-US" dirty="0"/>
                  <a:t>. The performance measure shown is the root mean-squared (RMS) error between the value function learned and the true value function, averaged over the five states, then averaged over 100 runs. In all cases the approximate value function was initialized to the intermediate value V (s) = 0.5, for all s. The TD method was consistently better than the MC method on this task.</a:t>
                </a:r>
              </a:p>
            </p:txBody>
          </p:sp>
        </mc:Fallback>
      </mc:AlternateContent>
      <p:sp>
        <p:nvSpPr>
          <p:cNvPr id="4" name="Slide Number Placeholder 3"/>
          <p:cNvSpPr>
            <a:spLocks noGrp="1"/>
          </p:cNvSpPr>
          <p:nvPr>
            <p:ph type="sldNum" sz="quarter" idx="5"/>
          </p:nvPr>
        </p:nvSpPr>
        <p:spPr/>
        <p:txBody>
          <a:bodyPr/>
          <a:lstStyle/>
          <a:p>
            <a:fld id="{374CE9F8-7CB3-4745-B340-AB0CAA843864}" type="slidenum">
              <a:rPr lang="en-US" smtClean="0"/>
              <a:t>14</a:t>
            </a:fld>
            <a:endParaRPr lang="en-US"/>
          </a:p>
        </p:txBody>
      </p:sp>
    </p:spTree>
    <p:extLst>
      <p:ext uri="{BB962C8B-B14F-4D97-AF65-F5344CB8AC3E}">
        <p14:creationId xmlns:p14="http://schemas.microsoft.com/office/powerpoint/2010/main" val="480365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policy: is the decision-making strategy where an agent always chooses the best immediate action or value.</a:t>
            </a:r>
          </a:p>
        </p:txBody>
      </p:sp>
      <p:sp>
        <p:nvSpPr>
          <p:cNvPr id="4" name="Slide Number Placeholder 3"/>
          <p:cNvSpPr>
            <a:spLocks noGrp="1"/>
          </p:cNvSpPr>
          <p:nvPr>
            <p:ph type="sldNum" sz="quarter" idx="5"/>
          </p:nvPr>
        </p:nvSpPr>
        <p:spPr/>
        <p:txBody>
          <a:bodyPr/>
          <a:lstStyle/>
          <a:p>
            <a:fld id="{374CE9F8-7CB3-4745-B340-AB0CAA843864}" type="slidenum">
              <a:rPr lang="en-US" smtClean="0"/>
              <a:t>15</a:t>
            </a:fld>
            <a:endParaRPr lang="en-US"/>
          </a:p>
        </p:txBody>
      </p:sp>
    </p:spTree>
    <p:extLst>
      <p:ext uri="{BB962C8B-B14F-4D97-AF65-F5344CB8AC3E}">
        <p14:creationId xmlns:p14="http://schemas.microsoft.com/office/powerpoint/2010/main" val="701599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D1D5DB"/>
                </a:solidFill>
                <a:effectLst/>
                <a:latin typeface="Söhne"/>
              </a:rPr>
              <a:t>Exploitation (1 - ε):</a:t>
            </a:r>
            <a:r>
              <a:rPr lang="en-US" b="0" i="0" dirty="0">
                <a:solidFill>
                  <a:srgbClr val="D1D5DB"/>
                </a:solidFill>
                <a:effectLst/>
                <a:latin typeface="Söhne"/>
              </a:rPr>
              <a:t> With probability (1 - epsilon), the agent selects the action that has the highest estimated value according to its current knowledge. This is the "greedy" part of the policy, as it exploits the agent's current understanding of which action is best.</a:t>
            </a:r>
          </a:p>
          <a:p>
            <a:pPr algn="l">
              <a:buFont typeface="Arial" panose="020B0604020202020204" pitchFamily="34" charset="0"/>
              <a:buChar char="•"/>
            </a:pPr>
            <a:r>
              <a:rPr lang="en-US" b="1" i="0" dirty="0">
                <a:solidFill>
                  <a:srgbClr val="D1D5DB"/>
                </a:solidFill>
                <a:effectLst/>
                <a:latin typeface="Söhne"/>
              </a:rPr>
              <a:t>Exploration (ε):</a:t>
            </a:r>
            <a:r>
              <a:rPr lang="en-US" b="0" i="0" dirty="0">
                <a:solidFill>
                  <a:srgbClr val="D1D5DB"/>
                </a:solidFill>
                <a:effectLst/>
                <a:latin typeface="Söhne"/>
              </a:rPr>
              <a:t> With probability epsilon, the agent chooses a random action. This allows the agent to explore other actions and potentially discover better options that it might not have considered otherwise.</a:t>
            </a:r>
          </a:p>
          <a:p>
            <a:pPr algn="l">
              <a:buFont typeface="Arial" panose="020B0604020202020204" pitchFamily="34" charset="0"/>
              <a:buChar char="•"/>
            </a:pPr>
            <a:r>
              <a:rPr lang="en-US" b="1" i="0" dirty="0">
                <a:effectLst/>
                <a:latin typeface="Söhne"/>
              </a:rPr>
              <a:t>Argmax {$a \in A$} {$Q(S, a)$:</a:t>
            </a:r>
            <a:r>
              <a:rPr lang="en-US" b="0" i="0" dirty="0">
                <a:solidFill>
                  <a:srgbClr val="D1D5DB"/>
                </a:solidFill>
                <a:effectLst/>
                <a:latin typeface="Söhne"/>
              </a:rPr>
              <a:t> This notation represents finding the action (a) that maximizes the Q-value (state-action value) for a given state (S) from the set of possible actions (A). The Q-value represents the expected cumulative reward the agent can obtain by taking a particular action in a specific state.</a:t>
            </a:r>
          </a:p>
          <a:p>
            <a:endParaRPr lang="en-US" dirty="0"/>
          </a:p>
          <a:p>
            <a:r>
              <a:rPr lang="en-US" b="0" i="0" dirty="0">
                <a:solidFill>
                  <a:srgbClr val="D1D5DB"/>
                </a:solidFill>
                <a:effectLst/>
                <a:latin typeface="Söhne"/>
              </a:rPr>
              <a:t>In epsilon-greedy policy improvement, the agent selects the action with the highest estimated value with probability 1 - ε (epsilon) and selects a random action with probability ε.</a:t>
            </a:r>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16</a:t>
            </a:fld>
            <a:endParaRPr lang="en-US"/>
          </a:p>
        </p:txBody>
      </p:sp>
    </p:spTree>
    <p:extLst>
      <p:ext uri="{BB962C8B-B14F-4D97-AF65-F5344CB8AC3E}">
        <p14:creationId xmlns:p14="http://schemas.microsoft.com/office/powerpoint/2010/main" val="1041239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GLIE</a:t>
            </a:r>
            <a:r>
              <a:rPr lang="en-US" dirty="0"/>
              <a:t> ensures the policy becomes increasingly greedy (favoring actions with higher estimated values) as it gathers more experience while still exploring to guarantee convergence to an optimal policy.</a:t>
            </a:r>
          </a:p>
          <a:p>
            <a:endParaRPr lang="en-US" dirty="0"/>
          </a:p>
          <a:p>
            <a:r>
              <a:rPr lang="en-US" dirty="0"/>
              <a:t>Never stop exploring could lead the convergence problem. Solution: reduce epsilon gradually towards zero. </a:t>
            </a:r>
          </a:p>
          <a:p>
            <a:endParaRPr lang="en-US" dirty="0"/>
          </a:p>
          <a:p>
            <a:r>
              <a:rPr lang="en-US" b="1" dirty="0"/>
              <a:t>Infinite exploration</a:t>
            </a:r>
            <a:r>
              <a:rPr lang="en-US" dirty="0"/>
              <a:t>: the agent balances exploration and exploitation by gradually reducing exploration as it gains more experience. This helps in finding a </a:t>
            </a:r>
            <a:r>
              <a:rPr lang="en-US" b="1" dirty="0"/>
              <a:t>near-optimal policy </a:t>
            </a:r>
            <a:r>
              <a:rPr lang="en-US" dirty="0"/>
              <a:t>while ensuring that all actions are still explored infinitely often. The exploration rate decreases over time, allowing the agent to learn and refine it is policy while maintaining a degree of exploration to avoid getting stuck in </a:t>
            </a:r>
            <a:r>
              <a:rPr lang="en-US" b="1" dirty="0"/>
              <a:t>suboptimal solutions.</a:t>
            </a:r>
          </a:p>
          <a:p>
            <a:endParaRPr lang="en-US" b="1" dirty="0"/>
          </a:p>
          <a:p>
            <a:pPr algn="l">
              <a:buFont typeface="Arial" panose="020B0604020202020204" pitchFamily="34" charset="0"/>
              <a:buChar char="•"/>
            </a:pPr>
            <a:r>
              <a:rPr lang="en-US" b="0" i="0" dirty="0">
                <a:solidFill>
                  <a:srgbClr val="D1D5DB"/>
                </a:solidFill>
                <a:effectLst/>
                <a:latin typeface="Söhne"/>
              </a:rPr>
              <a:t>N(</a:t>
            </a:r>
            <a:r>
              <a:rPr lang="en-US" b="0" i="0" dirty="0" err="1">
                <a:solidFill>
                  <a:srgbClr val="D1D5DB"/>
                </a:solidFill>
                <a:effectLst/>
                <a:latin typeface="Söhne"/>
              </a:rPr>
              <a:t>S_t</a:t>
            </a:r>
            <a:r>
              <a:rPr lang="en-US" b="0" i="0" dirty="0">
                <a:solidFill>
                  <a:srgbClr val="D1D5DB"/>
                </a:solidFill>
                <a:effectLst/>
                <a:latin typeface="Söhne"/>
              </a:rPr>
              <a:t>, </a:t>
            </a:r>
            <a:r>
              <a:rPr lang="en-US" b="0" i="0" dirty="0" err="1">
                <a:solidFill>
                  <a:srgbClr val="D1D5DB"/>
                </a:solidFill>
                <a:effectLst/>
                <a:latin typeface="Söhne"/>
              </a:rPr>
              <a:t>A_t</a:t>
            </a:r>
            <a:r>
              <a:rPr lang="en-US" b="0" i="0" dirty="0">
                <a:solidFill>
                  <a:srgbClr val="D1D5DB"/>
                </a:solidFill>
                <a:effectLst/>
                <a:latin typeface="Söhne"/>
              </a:rPr>
              <a:t>) represents the number of times the state-action pair (</a:t>
            </a:r>
            <a:r>
              <a:rPr lang="en-US" b="0" i="0" dirty="0" err="1">
                <a:solidFill>
                  <a:srgbClr val="D1D5DB"/>
                </a:solidFill>
                <a:effectLst/>
                <a:latin typeface="Söhne"/>
              </a:rPr>
              <a:t>S_t</a:t>
            </a:r>
            <a:r>
              <a:rPr lang="en-US" b="0" i="0" dirty="0">
                <a:solidFill>
                  <a:srgbClr val="D1D5DB"/>
                </a:solidFill>
                <a:effectLst/>
                <a:latin typeface="Söhne"/>
              </a:rPr>
              <a:t>, </a:t>
            </a:r>
            <a:r>
              <a:rPr lang="en-US" b="0" i="0" dirty="0" err="1">
                <a:solidFill>
                  <a:srgbClr val="D1D5DB"/>
                </a:solidFill>
                <a:effectLst/>
                <a:latin typeface="Söhne"/>
              </a:rPr>
              <a:t>A_t</a:t>
            </a:r>
            <a:r>
              <a:rPr lang="en-US" b="0" i="0" dirty="0">
                <a:solidFill>
                  <a:srgbClr val="D1D5DB"/>
                </a:solidFill>
                <a:effectLst/>
                <a:latin typeface="Söhne"/>
              </a:rPr>
              <a:t>) has been visited.</a:t>
            </a:r>
          </a:p>
          <a:p>
            <a:pPr algn="l">
              <a:buFont typeface="Arial" panose="020B0604020202020204" pitchFamily="34" charset="0"/>
              <a:buChar char="•"/>
            </a:pPr>
            <a:r>
              <a:rPr lang="en-US" b="0" i="0" dirty="0">
                <a:solidFill>
                  <a:srgbClr val="D1D5DB"/>
                </a:solidFill>
                <a:effectLst/>
                <a:latin typeface="Söhne"/>
              </a:rPr>
              <a:t>Q(</a:t>
            </a:r>
            <a:r>
              <a:rPr lang="en-US" b="0" i="0" dirty="0" err="1">
                <a:solidFill>
                  <a:srgbClr val="D1D5DB"/>
                </a:solidFill>
                <a:effectLst/>
                <a:latin typeface="Söhne"/>
              </a:rPr>
              <a:t>S_t</a:t>
            </a:r>
            <a:r>
              <a:rPr lang="en-US" b="0" i="0" dirty="0">
                <a:solidFill>
                  <a:srgbClr val="D1D5DB"/>
                </a:solidFill>
                <a:effectLst/>
                <a:latin typeface="Söhne"/>
              </a:rPr>
              <a:t>, </a:t>
            </a:r>
            <a:r>
              <a:rPr lang="en-US" b="0" i="0" dirty="0" err="1">
                <a:solidFill>
                  <a:srgbClr val="D1D5DB"/>
                </a:solidFill>
                <a:effectLst/>
                <a:latin typeface="Söhne"/>
              </a:rPr>
              <a:t>A_t</a:t>
            </a:r>
            <a:r>
              <a:rPr lang="en-US" b="0" i="0" dirty="0">
                <a:solidFill>
                  <a:srgbClr val="D1D5DB"/>
                </a:solidFill>
                <a:effectLst/>
                <a:latin typeface="Söhne"/>
              </a:rPr>
              <a:t>) is the estimated action-value (Q-value) function for state </a:t>
            </a:r>
            <a:r>
              <a:rPr lang="en-US" b="0" i="0" dirty="0" err="1">
                <a:solidFill>
                  <a:srgbClr val="D1D5DB"/>
                </a:solidFill>
                <a:effectLst/>
                <a:latin typeface="Söhne"/>
              </a:rPr>
              <a:t>S_t</a:t>
            </a:r>
            <a:r>
              <a:rPr lang="en-US" b="0" i="0" dirty="0">
                <a:solidFill>
                  <a:srgbClr val="D1D5DB"/>
                </a:solidFill>
                <a:effectLst/>
                <a:latin typeface="Söhne"/>
              </a:rPr>
              <a:t> and action </a:t>
            </a:r>
            <a:r>
              <a:rPr lang="en-US" b="0" i="0" dirty="0" err="1">
                <a:solidFill>
                  <a:srgbClr val="D1D5DB"/>
                </a:solidFill>
                <a:effectLst/>
                <a:latin typeface="Söhne"/>
              </a:rPr>
              <a:t>A_t</a:t>
            </a:r>
            <a:r>
              <a:rPr lang="en-US" b="0" i="0" dirty="0">
                <a:solidFill>
                  <a:srgbClr val="D1D5DB"/>
                </a:solidFill>
                <a:effectLst/>
                <a:latin typeface="Söhne"/>
              </a:rPr>
              <a:t>.</a:t>
            </a:r>
          </a:p>
          <a:p>
            <a:pPr algn="l">
              <a:buFont typeface="Arial" panose="020B0604020202020204" pitchFamily="34" charset="0"/>
              <a:buChar char="•"/>
            </a:pPr>
            <a:r>
              <a:rPr lang="en-US" b="0" i="0" dirty="0" err="1">
                <a:solidFill>
                  <a:srgbClr val="D1D5DB"/>
                </a:solidFill>
                <a:effectLst/>
                <a:latin typeface="Söhne"/>
              </a:rPr>
              <a:t>G_t</a:t>
            </a:r>
            <a:r>
              <a:rPr lang="en-US" b="0" i="0" dirty="0">
                <a:solidFill>
                  <a:srgbClr val="D1D5DB"/>
                </a:solidFill>
                <a:effectLst/>
                <a:latin typeface="Söhne"/>
              </a:rPr>
              <a:t> denotes the cumulative future rewards (return) obtained after time step t.</a:t>
            </a:r>
          </a:p>
          <a:p>
            <a:endParaRPr lang="en-US" b="1" dirty="0"/>
          </a:p>
        </p:txBody>
      </p:sp>
      <p:sp>
        <p:nvSpPr>
          <p:cNvPr id="4" name="Slide Number Placeholder 3"/>
          <p:cNvSpPr>
            <a:spLocks noGrp="1"/>
          </p:cNvSpPr>
          <p:nvPr>
            <p:ph type="sldNum" sz="quarter" idx="5"/>
          </p:nvPr>
        </p:nvSpPr>
        <p:spPr/>
        <p:txBody>
          <a:bodyPr/>
          <a:lstStyle/>
          <a:p>
            <a:fld id="{374CE9F8-7CB3-4745-B340-AB0CAA843864}" type="slidenum">
              <a:rPr lang="en-US" smtClean="0"/>
              <a:t>17</a:t>
            </a:fld>
            <a:endParaRPr lang="en-US"/>
          </a:p>
        </p:txBody>
      </p:sp>
    </p:spTree>
    <p:extLst>
      <p:ext uri="{BB962C8B-B14F-4D97-AF65-F5344CB8AC3E}">
        <p14:creationId xmlns:p14="http://schemas.microsoft.com/office/powerpoint/2010/main" val="3137943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D1D5DB"/>
                </a:solidFill>
                <a:effectLst/>
                <a:latin typeface="Söhne"/>
              </a:rPr>
              <a:t>Monte Carlo (MC)</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Monte Carlo methods estimate state or state-action values by simulating entire episodes and averaging the observed returns.</a:t>
            </a:r>
          </a:p>
          <a:p>
            <a:pPr marL="742950" lvl="1" indent="-285750" algn="l">
              <a:buFont typeface="+mj-lt"/>
              <a:buAutoNum type="arabicPeriod"/>
            </a:pPr>
            <a:r>
              <a:rPr lang="en-US" b="0" i="0" dirty="0">
                <a:solidFill>
                  <a:srgbClr val="D1D5DB"/>
                </a:solidFill>
                <a:effectLst/>
                <a:latin typeface="Söhne"/>
              </a:rPr>
              <a:t>MC methods do not require a model of the environment and can handle stochastic environments and delayed rewards.</a:t>
            </a:r>
          </a:p>
          <a:p>
            <a:pPr marL="742950" lvl="1" indent="-285750" algn="l">
              <a:buFont typeface="+mj-lt"/>
              <a:buAutoNum type="arabicPeriod"/>
            </a:pPr>
            <a:r>
              <a:rPr lang="en-US" b="0" i="0" dirty="0">
                <a:solidFill>
                  <a:srgbClr val="D1D5DB"/>
                </a:solidFill>
                <a:effectLst/>
                <a:latin typeface="Söhne"/>
              </a:rPr>
              <a:t>MC methods update the value function estimates based on complete episodes, making them suitable for episodic tasks.</a:t>
            </a:r>
          </a:p>
          <a:p>
            <a:pPr marL="742950" lvl="1" indent="-285750" algn="l">
              <a:buFont typeface="+mj-lt"/>
              <a:buAutoNum type="arabicPeriod"/>
            </a:pPr>
            <a:r>
              <a:rPr lang="en-US" b="0" i="0" dirty="0">
                <a:solidFill>
                  <a:srgbClr val="D1D5DB"/>
                </a:solidFill>
                <a:effectLst/>
                <a:latin typeface="Söhne"/>
              </a:rPr>
              <a:t>MC methods have higher variance because they rely on complete episode returns, which can be noisy.</a:t>
            </a:r>
          </a:p>
          <a:p>
            <a:pPr algn="l">
              <a:buFont typeface="+mj-lt"/>
              <a:buAutoNum type="arabicPeriod"/>
            </a:pPr>
            <a:r>
              <a:rPr lang="en-US" b="1" i="0" dirty="0">
                <a:solidFill>
                  <a:srgbClr val="D1D5DB"/>
                </a:solidFill>
                <a:effectLst/>
                <a:latin typeface="Söhne"/>
              </a:rPr>
              <a:t>Temporal Difference (TD)</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Temporal Difference methods estimate values by bootstrapping, meaning they update value estimates based on estimates of future values.</a:t>
            </a:r>
          </a:p>
          <a:p>
            <a:pPr marL="742950" lvl="1" indent="-285750" algn="l">
              <a:buFont typeface="+mj-lt"/>
              <a:buAutoNum type="arabicPeriod"/>
            </a:pPr>
            <a:r>
              <a:rPr lang="en-US" b="0" i="0" dirty="0">
                <a:solidFill>
                  <a:srgbClr val="D1D5DB"/>
                </a:solidFill>
                <a:effectLst/>
                <a:latin typeface="Söhne"/>
              </a:rPr>
              <a:t>TD methods update the value function estimates at each time step, allowing them to learn from incomplete episodes and online interactions with the environment.</a:t>
            </a:r>
          </a:p>
          <a:p>
            <a:pPr marL="742950" lvl="1" indent="-285750" algn="l">
              <a:buFont typeface="+mj-lt"/>
              <a:buAutoNum type="arabicPeriod"/>
            </a:pPr>
            <a:r>
              <a:rPr lang="en-US" b="0" i="0" dirty="0">
                <a:solidFill>
                  <a:srgbClr val="D1D5DB"/>
                </a:solidFill>
                <a:effectLst/>
                <a:latin typeface="Söhne"/>
              </a:rPr>
              <a:t>TD methods require less memory compared to MC methods, as they do not need to store entire episodes.</a:t>
            </a:r>
          </a:p>
          <a:p>
            <a:pPr marL="742950" lvl="1" indent="-285750" algn="l">
              <a:buFont typeface="+mj-lt"/>
              <a:buAutoNum type="arabicPeriod"/>
            </a:pPr>
            <a:r>
              <a:rPr lang="en-US" b="0" i="0" dirty="0">
                <a:solidFill>
                  <a:srgbClr val="D1D5DB"/>
                </a:solidFill>
                <a:effectLst/>
                <a:latin typeface="Söhne"/>
              </a:rPr>
              <a:t>TD methods strike a balance between the high variance of MC methods and the high bias of dynamic programming methods.</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18</a:t>
            </a:fld>
            <a:endParaRPr lang="en-US"/>
          </a:p>
        </p:txBody>
      </p:sp>
    </p:spTree>
    <p:extLst>
      <p:ext uri="{BB962C8B-B14F-4D97-AF65-F5344CB8AC3E}">
        <p14:creationId xmlns:p14="http://schemas.microsoft.com/office/powerpoint/2010/main" val="1217231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dirty="0">
                <a:solidFill>
                  <a:srgbClr val="D1D5DB"/>
                </a:solidFill>
                <a:effectLst/>
                <a:latin typeface="Söhne"/>
              </a:rPr>
              <a:t>SARSA</a:t>
            </a:r>
            <a:r>
              <a:rPr lang="en-US" b="0" i="0" dirty="0">
                <a:solidFill>
                  <a:srgbClr val="D1D5DB"/>
                </a:solidFill>
                <a:effectLst/>
                <a:latin typeface="Söhne"/>
              </a:rPr>
              <a:t>: "State-Action-Reward-State-Action."  The SARSA algorithm updates its action-value estimates based on the observed sequence of events (S, A, R, S', A'). </a:t>
            </a:r>
          </a:p>
          <a:p>
            <a:pPr algn="l">
              <a:buFont typeface="Arial" panose="020B0604020202020204" pitchFamily="34" charset="0"/>
              <a:buNone/>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SARSA is a specific TD method used for estimating action-values in an on-policy manner.</a:t>
            </a:r>
          </a:p>
          <a:p>
            <a:pPr algn="l">
              <a:buFont typeface="Arial" panose="020B0604020202020204" pitchFamily="34" charset="0"/>
              <a:buChar char="•"/>
            </a:pPr>
            <a:r>
              <a:rPr lang="en-US" b="0" i="0" dirty="0">
                <a:solidFill>
                  <a:srgbClr val="D1D5DB"/>
                </a:solidFill>
                <a:effectLst/>
                <a:latin typeface="Söhne"/>
              </a:rPr>
              <a:t>In SARSA, the value updates are based on the current policy's action selection and the subsequent action taken.</a:t>
            </a:r>
          </a:p>
          <a:p>
            <a:pPr algn="l">
              <a:buFont typeface="Arial" panose="020B0604020202020204" pitchFamily="34" charset="0"/>
              <a:buChar char="•"/>
            </a:pPr>
            <a:r>
              <a:rPr lang="en-US" b="0" i="0" dirty="0">
                <a:solidFill>
                  <a:srgbClr val="D1D5DB"/>
                </a:solidFill>
                <a:effectLst/>
                <a:latin typeface="Söhne"/>
              </a:rPr>
              <a:t>SARSA learns directly from the interactions it has with the environment using the current policy, which makes it suitable for online learning and policy improvement.</a:t>
            </a:r>
          </a:p>
          <a:p>
            <a:pPr algn="l">
              <a:buFont typeface="Arial" panose="020B0604020202020204" pitchFamily="34" charset="0"/>
              <a:buChar char="•"/>
            </a:pPr>
            <a:r>
              <a:rPr lang="en-US" b="0" i="0" dirty="0">
                <a:solidFill>
                  <a:srgbClr val="D1D5DB"/>
                </a:solidFill>
                <a:effectLst/>
                <a:latin typeface="Söhne"/>
              </a:rPr>
              <a:t>The name "SARSA" stands for State, Action, Reward, Next State, Next Action, indicating the sequence of events involved in its updates.</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19</a:t>
            </a:fld>
            <a:endParaRPr lang="en-US"/>
          </a:p>
        </p:txBody>
      </p:sp>
    </p:spTree>
    <p:extLst>
      <p:ext uri="{BB962C8B-B14F-4D97-AF65-F5344CB8AC3E}">
        <p14:creationId xmlns:p14="http://schemas.microsoft.com/office/powerpoint/2010/main" val="3015080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0" i="0" dirty="0">
                <a:solidFill>
                  <a:srgbClr val="FFFFFF"/>
                </a:solidFill>
                <a:effectLst/>
                <a:latin typeface="Söhne"/>
              </a:rPr>
            </a:br>
            <a:r>
              <a:rPr lang="en-US" b="0" i="0" dirty="0">
                <a:solidFill>
                  <a:srgbClr val="FFFFFF"/>
                </a:solidFill>
                <a:effectLst/>
                <a:latin typeface="Söhne"/>
              </a:rPr>
              <a:t>In reinforcement learning (RL), Temporal Difference (TD) backups refer to a mechanism used to update value function estimates based on the observed transitions and rewards experienced by an agent while interacting with an environment. TD backups are a fundamental concept in TD learning algorithms, which combine ideas from both Monte Carlo (MC) methods and dynamic programming.</a:t>
            </a:r>
          </a:p>
          <a:p>
            <a:pPr algn="l"/>
            <a:r>
              <a:rPr lang="en-US" b="0" i="0" dirty="0">
                <a:solidFill>
                  <a:srgbClr val="FFFFFF"/>
                </a:solidFill>
                <a:effectLst/>
                <a:latin typeface="Söhne"/>
              </a:rPr>
              <a:t>The term "backup" originates from the notion that the value estimate at a particular state is updated by propagating information from subsequent states back to the current state. This propagation of information occurs over time steps, allowing the agent to gradually improve its estimates of state values or action-values.</a:t>
            </a:r>
          </a:p>
          <a:p>
            <a:pPr algn="l"/>
            <a:r>
              <a:rPr lang="en-US" b="0" i="0" dirty="0">
                <a:solidFill>
                  <a:srgbClr val="FFFFFF"/>
                </a:solidFill>
                <a:effectLst/>
                <a:latin typeface="Söhne"/>
              </a:rPr>
              <a:t>Here's a general explanation of how TD backups work:</a:t>
            </a:r>
          </a:p>
          <a:p>
            <a:pPr algn="l">
              <a:buFont typeface="+mj-lt"/>
              <a:buAutoNum type="arabicPeriod"/>
            </a:pPr>
            <a:r>
              <a:rPr lang="en-US" b="1" i="0" dirty="0">
                <a:solidFill>
                  <a:srgbClr val="FFFFFF"/>
                </a:solidFill>
                <a:effectLst/>
                <a:latin typeface="Söhne"/>
              </a:rPr>
              <a:t>Estimate Update</a:t>
            </a:r>
            <a:r>
              <a:rPr lang="en-US" b="0" i="0" dirty="0">
                <a:solidFill>
                  <a:srgbClr val="FFFFFF"/>
                </a:solidFill>
                <a:effectLst/>
                <a:latin typeface="Söhne"/>
              </a:rPr>
              <a:t>: At each time step, the agent observes a state, takes an action, receives a reward, transitions to a new state, and takes a new action. It uses this information to update its value estimates based on the observed reward and the estimated value of the next state.</a:t>
            </a:r>
          </a:p>
          <a:p>
            <a:pPr algn="l">
              <a:buFont typeface="+mj-lt"/>
              <a:buAutoNum type="arabicPeriod"/>
            </a:pPr>
            <a:r>
              <a:rPr lang="en-US" b="1" i="0" dirty="0">
                <a:solidFill>
                  <a:srgbClr val="FFFFFF"/>
                </a:solidFill>
                <a:effectLst/>
                <a:latin typeface="Söhne"/>
              </a:rPr>
              <a:t>Bootstrapping</a:t>
            </a:r>
            <a:r>
              <a:rPr lang="en-US" b="0" i="0" dirty="0">
                <a:solidFill>
                  <a:srgbClr val="FFFFFF"/>
                </a:solidFill>
                <a:effectLst/>
                <a:latin typeface="Söhne"/>
              </a:rPr>
              <a:t>: TD backups involve bootstrapping, which means updating the current value estimate using an estimate of the value at the next state. This estimate is based on the agent's current knowledge of the value function.</a:t>
            </a:r>
          </a:p>
          <a:p>
            <a:pPr algn="l">
              <a:buFont typeface="+mj-lt"/>
              <a:buAutoNum type="arabicPeriod"/>
            </a:pPr>
            <a:r>
              <a:rPr lang="en-US" b="1" i="0" dirty="0">
                <a:solidFill>
                  <a:srgbClr val="FFFFFF"/>
                </a:solidFill>
                <a:effectLst/>
                <a:latin typeface="Söhne"/>
              </a:rPr>
              <a:t>Temporal Difference Error</a:t>
            </a:r>
            <a:r>
              <a:rPr lang="en-US" b="0" i="0" dirty="0">
                <a:solidFill>
                  <a:srgbClr val="FFFFFF"/>
                </a:solidFill>
                <a:effectLst/>
                <a:latin typeface="Söhne"/>
              </a:rPr>
              <a:t>: The difference between the observed reward and the sum of the observed reward and the estimated value of the next state is known as the temporal difference (TD) error. This error is used to guide the value update and correct the current estimate.</a:t>
            </a:r>
          </a:p>
          <a:p>
            <a:pPr algn="l">
              <a:buFont typeface="+mj-lt"/>
              <a:buAutoNum type="arabicPeriod"/>
            </a:pPr>
            <a:r>
              <a:rPr lang="en-US" b="1" i="0" dirty="0">
                <a:solidFill>
                  <a:srgbClr val="FFFFFF"/>
                </a:solidFill>
                <a:effectLst/>
                <a:latin typeface="Söhne"/>
              </a:rPr>
              <a:t>Update Rule</a:t>
            </a:r>
            <a:r>
              <a:rPr lang="en-US" b="0" i="0" dirty="0">
                <a:solidFill>
                  <a:srgbClr val="FFFFFF"/>
                </a:solidFill>
                <a:effectLst/>
                <a:latin typeface="Söhne"/>
              </a:rPr>
              <a:t>: The value estimate for the current state is updated using the TD error and a step size (learning rate) factor. The updated value estimate becomes a weighted combination of the current estimate and the new estimate from the observed reward and the estimated value of the next state.</a:t>
            </a:r>
          </a:p>
          <a:p>
            <a:pPr algn="l"/>
            <a:r>
              <a:rPr lang="en-US" b="0" i="0" dirty="0">
                <a:solidFill>
                  <a:srgbClr val="FFFFFF"/>
                </a:solidFill>
                <a:effectLst/>
                <a:latin typeface="Söhne"/>
              </a:rPr>
              <a:t>TD backups allow the agent to learn online and incrementally, updating its value estimates after each time step. This enables the agent to learn from incomplete episodes and adapt to changes in the environment. TD methods strike a balance between the high variance of Monte Carlo methods and the high bias of dynamic programming methods, making them well-suited for many RL problems.</a:t>
            </a:r>
          </a:p>
          <a:p>
            <a:pPr algn="l"/>
            <a:r>
              <a:rPr lang="en-US" b="0" i="0" dirty="0">
                <a:solidFill>
                  <a:srgbClr val="FFFFFF"/>
                </a:solidFill>
                <a:effectLst/>
                <a:latin typeface="Söhne"/>
              </a:rPr>
              <a:t>Overall, TD backups play a crucial role in TD learning algorithms, including SARSA and Q-learning, by guiding the agent's value function updates based on observed transitions and rewards.</a:t>
            </a:r>
          </a:p>
          <a:p>
            <a:br>
              <a:rPr lang="en-US" b="0" i="0" dirty="0">
                <a:solidFill>
                  <a:srgbClr val="FFFFFF"/>
                </a:solidFill>
                <a:effectLst/>
                <a:latin typeface="Söhne"/>
              </a:rPr>
            </a:br>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21</a:t>
            </a:fld>
            <a:endParaRPr lang="en-US"/>
          </a:p>
        </p:txBody>
      </p:sp>
    </p:spTree>
    <p:extLst>
      <p:ext uri="{BB962C8B-B14F-4D97-AF65-F5344CB8AC3E}">
        <p14:creationId xmlns:p14="http://schemas.microsoft.com/office/powerpoint/2010/main" val="2484661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GLIE</a:t>
            </a:r>
            <a:r>
              <a:rPr lang="en-US" b="0" i="0" dirty="0">
                <a:solidFill>
                  <a:srgbClr val="D1D5DB"/>
                </a:solidFill>
                <a:effectLst/>
                <a:latin typeface="Söhne"/>
              </a:rPr>
              <a:t>: It is a property of learning algorithms in reinforcement learning that ensures convergence to an optimal policy. The GLIE sequence of policies 𝜋𝑡(𝑎∣𝑠) represents the way in which the agent's policy evolves over time as it interacts with the environment and learns.</a:t>
            </a:r>
          </a:p>
          <a:p>
            <a:pPr algn="l"/>
            <a:endParaRPr lang="en-US" b="0" i="0" dirty="0">
              <a:solidFill>
                <a:srgbClr val="D1D5DB"/>
              </a:solidFill>
              <a:effectLst/>
              <a:latin typeface="Söhne"/>
            </a:endParaRPr>
          </a:p>
          <a:p>
            <a:pPr algn="l"/>
            <a:r>
              <a:rPr lang="en-US" b="1" i="0" dirty="0">
                <a:solidFill>
                  <a:srgbClr val="D1D5DB"/>
                </a:solidFill>
                <a:effectLst/>
                <a:latin typeface="Söhne"/>
              </a:rPr>
              <a:t>SARSA</a:t>
            </a:r>
            <a:r>
              <a:rPr lang="en-US" b="0" i="0" dirty="0">
                <a:solidFill>
                  <a:srgbClr val="D1D5DB"/>
                </a:solidFill>
                <a:effectLst/>
                <a:latin typeface="Söhne"/>
              </a:rPr>
              <a:t> can exhibit the </a:t>
            </a:r>
            <a:r>
              <a:rPr lang="en-US" b="1" i="0" dirty="0">
                <a:solidFill>
                  <a:srgbClr val="D1D5DB"/>
                </a:solidFill>
                <a:effectLst/>
                <a:latin typeface="Söhne"/>
              </a:rPr>
              <a:t>GLIE</a:t>
            </a:r>
            <a:r>
              <a:rPr lang="en-US" b="0" i="0" dirty="0">
                <a:solidFill>
                  <a:srgbClr val="D1D5DB"/>
                </a:solidFill>
                <a:effectLst/>
                <a:latin typeface="Söhne"/>
              </a:rPr>
              <a:t> property, meaning that, if the exploration strategy is appropriately designed and the learning rate is properly tuned, SARSA can converge to an optimal policy as the number of time steps approaches infinity.</a:t>
            </a:r>
          </a:p>
          <a:p>
            <a:pPr algn="l"/>
            <a:endParaRPr lang="en-US" b="0" i="0" dirty="0">
              <a:solidFill>
                <a:srgbClr val="D1D5DB"/>
              </a:solidFill>
              <a:effectLst/>
              <a:latin typeface="Söhne"/>
            </a:endParaRPr>
          </a:p>
          <a:p>
            <a:pPr algn="l"/>
            <a:r>
              <a:rPr lang="en-US" b="0" i="0" dirty="0">
                <a:solidFill>
                  <a:srgbClr val="D1D5DB"/>
                </a:solidFill>
                <a:effectLst/>
                <a:latin typeface="Söhne"/>
              </a:rPr>
              <a:t>In the context of reinforcement learning, the Robbins-Monro sequence of step-sizes is used to adjust the learning rate over time as the agent interacts with the environment. The step-size sequence is typically designed to satisfy the following conditions:</a:t>
            </a:r>
          </a:p>
          <a:p>
            <a:pPr algn="l">
              <a:buFont typeface="+mj-lt"/>
              <a:buAutoNum type="arabicPeriod"/>
            </a:pPr>
            <a:r>
              <a:rPr lang="en-US" b="1" i="0" dirty="0">
                <a:solidFill>
                  <a:srgbClr val="D1D5DB"/>
                </a:solidFill>
                <a:effectLst/>
                <a:latin typeface="Söhne"/>
              </a:rPr>
              <a:t>Step-Size Sequence</a:t>
            </a:r>
            <a:r>
              <a:rPr lang="en-US" b="0" i="0" dirty="0">
                <a:solidFill>
                  <a:srgbClr val="D1D5DB"/>
                </a:solidFill>
                <a:effectLst/>
                <a:latin typeface="Söhne"/>
              </a:rPr>
              <a:t>: The sequence of step-sizes αt should be positive, non-increasing, and satisfy the following two conditions:</a:t>
            </a:r>
          </a:p>
          <a:p>
            <a:pPr marL="742950" lvl="1" indent="-285750" algn="l">
              <a:buFont typeface="+mj-lt"/>
              <a:buAutoNum type="arabicPeriod"/>
            </a:pPr>
            <a:r>
              <a:rPr lang="en-US" b="0" i="0" dirty="0">
                <a:solidFill>
                  <a:srgbClr val="D1D5DB"/>
                </a:solidFill>
                <a:effectLst/>
                <a:latin typeface="Söhne"/>
              </a:rPr>
              <a:t>The sum of the step-sizes diverges (sum αt = ∞).</a:t>
            </a:r>
          </a:p>
          <a:p>
            <a:pPr marL="742950" lvl="1" indent="-285750" algn="l">
              <a:buFont typeface="+mj-lt"/>
              <a:buAutoNum type="arabicPeriod"/>
            </a:pPr>
            <a:r>
              <a:rPr lang="en-US" b="0" i="0" dirty="0">
                <a:solidFill>
                  <a:srgbClr val="D1D5DB"/>
                </a:solidFill>
                <a:effectLst/>
                <a:latin typeface="Söhne"/>
              </a:rPr>
              <a:t>The sum of the squared step-sizes converges (sum αt^2 &lt; ∞).</a:t>
            </a:r>
          </a:p>
          <a:p>
            <a:pPr marL="742950" lvl="1" indent="-285750" algn="l">
              <a:buFont typeface="+mj-lt"/>
              <a:buAutoNum type="arabicPeriod"/>
            </a:pPr>
            <a:endParaRPr lang="en-US" b="0" i="0" dirty="0">
              <a:solidFill>
                <a:srgbClr val="D1D5DB"/>
              </a:solidFill>
              <a:effectLst/>
              <a:latin typeface="Söhne"/>
            </a:endParaRPr>
          </a:p>
          <a:p>
            <a:r>
              <a:rPr lang="en-US" b="1" i="0" dirty="0">
                <a:effectLst/>
                <a:latin typeface="Söhne"/>
              </a:rPr>
              <a:t>2.Convergence</a:t>
            </a:r>
            <a:r>
              <a:rPr lang="en-US" b="0" i="0" dirty="0">
                <a:solidFill>
                  <a:srgbClr val="D1D5DB"/>
                </a:solidFill>
                <a:effectLst/>
                <a:latin typeface="Söhne"/>
              </a:rPr>
              <a:t>: Under these conditions, if the step-size sequence αt is properly chosen and the objective function being optimized satisfies certain regularity conditions, then the stochastic approximation algorithm can be proven to converge to the desired solution, even in the presence of noise or uncertainty.</a:t>
            </a:r>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22</a:t>
            </a:fld>
            <a:endParaRPr lang="en-US"/>
          </a:p>
        </p:txBody>
      </p:sp>
    </p:spTree>
    <p:extLst>
      <p:ext uri="{BB962C8B-B14F-4D97-AF65-F5344CB8AC3E}">
        <p14:creationId xmlns:p14="http://schemas.microsoft.com/office/powerpoint/2010/main" val="1368496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λ (lambda) in SARSA(λ) is a parameter that takes a value between 0 and 1. It controls the balance between short-term and long-term rewards in the learning process.</a:t>
            </a:r>
          </a:p>
          <a:p>
            <a:pPr marL="628650" lvl="1" indent="-171450" algn="l">
              <a:buFont typeface="Arial" panose="020B0604020202020204" pitchFamily="34" charset="0"/>
              <a:buChar char="•"/>
            </a:pPr>
            <a:r>
              <a:rPr lang="en-US" b="0" i="0" dirty="0">
                <a:solidFill>
                  <a:srgbClr val="D1D5DB"/>
                </a:solidFill>
                <a:effectLst/>
                <a:latin typeface="Söhne"/>
              </a:rPr>
              <a:t>When λ = 0: The agent focuses solely on one-step updates, similar to the basic SARSA algorithm. The eligibility traces have no effect, and only the immediate reward and the value of the next state-action pair are considered in the update.</a:t>
            </a:r>
          </a:p>
          <a:p>
            <a:pPr marL="628650" lvl="1" indent="-171450" algn="l">
              <a:buFont typeface="Arial" panose="020B0604020202020204" pitchFamily="34" charset="0"/>
              <a:buChar char="•"/>
            </a:pPr>
            <a:r>
              <a:rPr lang="en-US" b="0" i="0" dirty="0">
                <a:solidFill>
                  <a:srgbClr val="D1D5DB"/>
                </a:solidFill>
                <a:effectLst/>
                <a:latin typeface="Söhne"/>
              </a:rPr>
              <a:t>When λ = 1: The agent considers full Monte Carlo updates, incorporating rewards from the entire episode. The eligibility traces become persistent, and all past actions contribute to the update.</a:t>
            </a:r>
          </a:p>
          <a:p>
            <a:pPr marL="628650" lvl="1" indent="-171450" algn="l">
              <a:buFont typeface="Arial" panose="020B0604020202020204" pitchFamily="34" charset="0"/>
              <a:buChar char="•"/>
            </a:pPr>
            <a:r>
              <a:rPr lang="en-US" b="0" i="0" dirty="0">
                <a:solidFill>
                  <a:srgbClr val="D1D5DB"/>
                </a:solidFill>
                <a:effectLst/>
                <a:latin typeface="Söhne"/>
              </a:rPr>
              <a:t>When 0 &lt; λ &lt; 1: The agent blends both short-term and long-term effects. The eligibility traces decay over time, allowing the agent to balance between recent and distant experiences.</a:t>
            </a:r>
          </a:p>
          <a:p>
            <a:endParaRPr lang="en-US" b="0" i="0" dirty="0">
              <a:solidFill>
                <a:srgbClr val="D1D5DB"/>
              </a:solidFill>
              <a:effectLst/>
              <a:latin typeface="Söhne"/>
            </a:endParaRPr>
          </a:p>
          <a:p>
            <a:r>
              <a:rPr lang="en-US" b="0" i="0" dirty="0">
                <a:solidFill>
                  <a:srgbClr val="D1D5DB"/>
                </a:solidFill>
                <a:effectLst/>
                <a:latin typeface="Söhne"/>
              </a:rPr>
              <a:t>SARSA(λ), is an extension of the SARSA algorithm that incorporates eligibility traces to provide a trade-off between one-step TD updates (as in standard SARSA) and full Monte Carlo updates. The λ parameter in SARSA(λ) controls the balance between these two extremes.</a:t>
            </a:r>
          </a:p>
          <a:p>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SARSA(λ) - Eligibility Traces</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In SARSA(λ), the key addition is the use of eligibility traces. Eligibility traces keep track of the recent history of state-action pairs visited by the agent.</a:t>
            </a:r>
          </a:p>
          <a:p>
            <a:pPr marL="742950" lvl="1" indent="-285750" algn="l">
              <a:buFont typeface="+mj-lt"/>
              <a:buAutoNum type="arabicPeriod"/>
            </a:pPr>
            <a:r>
              <a:rPr lang="en-US" b="0" i="0" dirty="0">
                <a:solidFill>
                  <a:srgbClr val="D1D5DB"/>
                </a:solidFill>
                <a:effectLst/>
                <a:latin typeface="Söhne"/>
              </a:rPr>
              <a:t>These traces help in incorporating information from multiple time steps into the learning process. The λ parameter determines the decay rate of eligibility traces, controlling the balance between immediate and delayed rewards.</a:t>
            </a:r>
          </a:p>
          <a:p>
            <a:pPr marL="742950" lvl="1" indent="-285750" algn="l">
              <a:buFont typeface="+mj-lt"/>
              <a:buAutoNum type="arabicPeriod"/>
            </a:pPr>
            <a:r>
              <a:rPr lang="en-US" b="0" i="0" dirty="0">
                <a:solidFill>
                  <a:srgbClr val="D1D5DB"/>
                </a:solidFill>
                <a:effectLst/>
                <a:latin typeface="Söhne"/>
              </a:rPr>
              <a:t>SARSA(λ) updates value estimates using TD updates that involve the eligibility trace and are a blend of one-step TD updates (as in basic SARSA) and full Monte Carlo updates.</a:t>
            </a:r>
          </a:p>
          <a:p>
            <a:pPr marL="742950" lvl="1" indent="-285750" algn="l">
              <a:buFont typeface="+mj-lt"/>
              <a:buAutoNum type="arabicPeriod"/>
            </a:pPr>
            <a:r>
              <a:rPr lang="en-US" b="0" i="0" dirty="0">
                <a:solidFill>
                  <a:srgbClr val="D1D5DB"/>
                </a:solidFill>
                <a:effectLst/>
                <a:latin typeface="Söhne"/>
              </a:rPr>
              <a:t>SARSA(λ) allows for a smooth trade-off between short-term learning and long-term planning by controlling the λ parameter. It helps address the bias-variance trade-off present in basic SARSA.</a:t>
            </a:r>
          </a:p>
          <a:p>
            <a:pPr algn="l">
              <a:buFont typeface="+mj-lt"/>
              <a:buAutoNum type="arabicPeriod"/>
            </a:pPr>
            <a:r>
              <a:rPr lang="en-US" b="1" i="0" dirty="0">
                <a:solidFill>
                  <a:srgbClr val="D1D5DB"/>
                </a:solidFill>
                <a:effectLst/>
                <a:latin typeface="Söhne"/>
              </a:rPr>
              <a:t>n-step SARSA</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n-step SARSA extends the basic SARSA algorithm by considering n consecutive time steps in the update process.</a:t>
            </a:r>
          </a:p>
          <a:p>
            <a:pPr marL="742950" lvl="1" indent="-285750" algn="l">
              <a:buFont typeface="+mj-lt"/>
              <a:buAutoNum type="arabicPeriod"/>
            </a:pPr>
            <a:r>
              <a:rPr lang="en-US" b="0" i="0" dirty="0">
                <a:solidFill>
                  <a:srgbClr val="D1D5DB"/>
                </a:solidFill>
                <a:effectLst/>
                <a:latin typeface="Söhne"/>
              </a:rPr>
              <a:t>Instead of just updating based on one-step returns, n-step SARSA computes n-step returns, which sum up rewards and values over n consecutive steps.</a:t>
            </a:r>
          </a:p>
          <a:p>
            <a:pPr marL="742950" lvl="1" indent="-285750" algn="l">
              <a:buFont typeface="+mj-lt"/>
              <a:buAutoNum type="arabicPeriod"/>
            </a:pPr>
            <a:r>
              <a:rPr lang="en-US" b="0" i="0" dirty="0">
                <a:solidFill>
                  <a:srgbClr val="D1D5DB"/>
                </a:solidFill>
                <a:effectLst/>
                <a:latin typeface="Söhne"/>
              </a:rPr>
              <a:t>This allows n-step SARSA to incorporate both short-term and longer-term effects of actions.</a:t>
            </a:r>
          </a:p>
          <a:p>
            <a:pPr marL="742950" lvl="1" indent="-285750" algn="l">
              <a:buFont typeface="+mj-lt"/>
              <a:buAutoNum type="arabicPeriod"/>
            </a:pPr>
            <a:r>
              <a:rPr lang="en-US" b="0" i="0" dirty="0">
                <a:solidFill>
                  <a:srgbClr val="D1D5DB"/>
                </a:solidFill>
                <a:effectLst/>
                <a:latin typeface="Söhne"/>
              </a:rPr>
              <a:t>As n increases, the algorithm considers a longer sequence of future actions, potentially capturing more complex interactions and dependencies between states and actions.</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23</a:t>
            </a:fld>
            <a:endParaRPr lang="en-US"/>
          </a:p>
        </p:txBody>
      </p:sp>
    </p:spTree>
    <p:extLst>
      <p:ext uri="{BB962C8B-B14F-4D97-AF65-F5344CB8AC3E}">
        <p14:creationId xmlns:p14="http://schemas.microsoft.com/office/powerpoint/2010/main" val="34220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On-policy learning and off-policy learning are two fundamental concepts in the field of reinforcement learning that relate to how an agent interacts with its environment, collects data, and updates its value estimates.</a:t>
            </a:r>
          </a:p>
          <a:p>
            <a:pPr algn="l">
              <a:buFont typeface="+mj-lt"/>
              <a:buAutoNum type="arabicPeriod"/>
            </a:pPr>
            <a:r>
              <a:rPr lang="en-US" b="1" i="0" dirty="0">
                <a:solidFill>
                  <a:srgbClr val="D1D5DB"/>
                </a:solidFill>
                <a:effectLst/>
                <a:latin typeface="Söhne"/>
              </a:rPr>
              <a:t>On-Policy Learning</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In on-policy learning, the agent's policy (strategy) for selecting actions is the same policy that is being updated and evaluated.</a:t>
            </a:r>
          </a:p>
          <a:p>
            <a:pPr marL="742950" lvl="1" indent="-285750" algn="l">
              <a:buFont typeface="+mj-lt"/>
              <a:buAutoNum type="arabicPeriod"/>
            </a:pPr>
            <a:r>
              <a:rPr lang="en-US" b="0" i="0" dirty="0">
                <a:solidFill>
                  <a:srgbClr val="D1D5DB"/>
                </a:solidFill>
                <a:effectLst/>
                <a:latin typeface="Söhne"/>
              </a:rPr>
              <a:t>The agent learns by interacting with the environment using its current policy, collecting experiences (state-action-reward-next state tuples) and updating its value estimates based on those experiences.</a:t>
            </a:r>
          </a:p>
          <a:p>
            <a:pPr marL="742950" lvl="1" indent="-285750" algn="l">
              <a:buFont typeface="+mj-lt"/>
              <a:buAutoNum type="arabicPeriod"/>
            </a:pPr>
            <a:r>
              <a:rPr lang="en-US" b="0" i="0" dirty="0">
                <a:solidFill>
                  <a:srgbClr val="D1D5DB"/>
                </a:solidFill>
                <a:effectLst/>
                <a:latin typeface="Söhne"/>
              </a:rPr>
              <a:t>The agent explores the environment and makes updates based on the actual actions it takes under its current policy.</a:t>
            </a:r>
          </a:p>
          <a:p>
            <a:pPr marL="742950" lvl="1" indent="-285750" algn="l">
              <a:buFont typeface="+mj-lt"/>
              <a:buAutoNum type="arabicPeriod"/>
            </a:pPr>
            <a:r>
              <a:rPr lang="en-US" b="0" i="0" dirty="0">
                <a:solidFill>
                  <a:srgbClr val="D1D5DB"/>
                </a:solidFill>
                <a:effectLst/>
                <a:latin typeface="Söhne"/>
              </a:rPr>
              <a:t>Example algorithms: SARSA (State-Action-Reward-State-Action), Expected SARSA, A2C (Advantage Actor-Critic).</a:t>
            </a:r>
          </a:p>
          <a:p>
            <a:pPr algn="l">
              <a:buFont typeface="+mj-lt"/>
              <a:buAutoNum type="arabicPeriod"/>
            </a:pPr>
            <a:r>
              <a:rPr lang="en-US" b="1" i="0" dirty="0">
                <a:solidFill>
                  <a:srgbClr val="D1D5DB"/>
                </a:solidFill>
                <a:effectLst/>
                <a:latin typeface="Söhne"/>
              </a:rPr>
              <a:t>Off-Policy Learning</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In off-policy learning, the agent learns by observing and interacting with data generated by a different policy, called the behavior policy, while updating a target policy.</a:t>
            </a:r>
          </a:p>
          <a:p>
            <a:pPr marL="742950" lvl="1" indent="-285750" algn="l">
              <a:buFont typeface="+mj-lt"/>
              <a:buAutoNum type="arabicPeriod"/>
            </a:pPr>
            <a:r>
              <a:rPr lang="en-US" b="0" i="0" dirty="0">
                <a:solidFill>
                  <a:srgbClr val="D1D5DB"/>
                </a:solidFill>
                <a:effectLst/>
                <a:latin typeface="Söhne"/>
              </a:rPr>
              <a:t>The behavior policy generates exploratory actions to gather data, while the target policy is being updated based on the observed data to improve the agent's decision-making.</a:t>
            </a:r>
          </a:p>
          <a:p>
            <a:pPr marL="742950" lvl="1" indent="-285750" algn="l">
              <a:buFont typeface="+mj-lt"/>
              <a:buAutoNum type="arabicPeriod"/>
            </a:pPr>
            <a:r>
              <a:rPr lang="en-US" b="0" i="0" dirty="0">
                <a:solidFill>
                  <a:srgbClr val="D1D5DB"/>
                </a:solidFill>
                <a:effectLst/>
                <a:latin typeface="Söhne"/>
              </a:rPr>
              <a:t>The agent can learn from past experiences generated by different policies, allowing for more efficient exploration and better convergence.</a:t>
            </a:r>
          </a:p>
          <a:p>
            <a:pPr marL="742950" lvl="1" indent="-285750" algn="l">
              <a:buFont typeface="+mj-lt"/>
              <a:buAutoNum type="arabicPeriod"/>
            </a:pPr>
            <a:r>
              <a:rPr lang="en-US" b="0" i="0" dirty="0">
                <a:solidFill>
                  <a:srgbClr val="D1D5DB"/>
                </a:solidFill>
                <a:effectLst/>
                <a:latin typeface="Söhne"/>
              </a:rPr>
              <a:t>Example algorithms: Q-learning, DDPG (Deep Deterministic Policy Gradient), TD3 (Twin Delayed Deep Deterministic Policy Gradient), SAC (Soft Actor-Critic).</a:t>
            </a:r>
          </a:p>
          <a:p>
            <a:endParaRPr lang="en-US" dirty="0"/>
          </a:p>
        </p:txBody>
      </p:sp>
      <p:sp>
        <p:nvSpPr>
          <p:cNvPr id="4" name="Slide Number Placeholder 3"/>
          <p:cNvSpPr>
            <a:spLocks noGrp="1"/>
          </p:cNvSpPr>
          <p:nvPr>
            <p:ph type="sldNum" sz="quarter" idx="5"/>
          </p:nvPr>
        </p:nvSpPr>
        <p:spPr/>
        <p:txBody>
          <a:bodyPr/>
          <a:lstStyle/>
          <a:p>
            <a:fld id="{374CE9F8-7CB3-4745-B340-AB0CAA843864}" type="slidenum">
              <a:rPr lang="en-US" smtClean="0"/>
              <a:t>27</a:t>
            </a:fld>
            <a:endParaRPr lang="en-US"/>
          </a:p>
        </p:txBody>
      </p:sp>
    </p:spTree>
    <p:extLst>
      <p:ext uri="{BB962C8B-B14F-4D97-AF65-F5344CB8AC3E}">
        <p14:creationId xmlns:p14="http://schemas.microsoft.com/office/powerpoint/2010/main" val="3155557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600" b="0"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1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7" y="-1587"/>
            <a:ext cx="9147175"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ne 2022"/>
          <p:cNvSpPr txBox="1"/>
          <p:nvPr/>
        </p:nvSpPr>
        <p:spPr>
          <a:xfrm>
            <a:off x="6224239" y="6473973"/>
            <a:ext cx="2369008"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June 2022</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4407098" y="6388100"/>
            <a:ext cx="329804" cy="393700"/>
          </a:xfrm>
          <a:prstGeom prst="rect">
            <a:avLst/>
          </a:prstGeom>
        </p:spPr>
        <p:txBody>
          <a:bodyPr/>
          <a:lstStyle>
            <a:lvl1pPr>
              <a:defRPr sz="1600">
                <a:latin typeface="Comic Sans MS"/>
                <a:ea typeface="Comic Sans MS"/>
                <a:cs typeface="Comic Sans MS"/>
                <a:sym typeface="Comic Sans MS"/>
              </a:defRPr>
            </a:lvl1pPr>
          </a:lstStyle>
          <a:p>
            <a:fld id="{86CB4B4D-7CA3-9044-876B-883B54F8677D}" type="slidenum">
              <a:t>‹#›</a:t>
            </a:fld>
            <a:endParaRPr/>
          </a:p>
        </p:txBody>
      </p:sp>
    </p:spTree>
    <p:extLst>
      <p:ext uri="{BB962C8B-B14F-4D97-AF65-F5344CB8AC3E}">
        <p14:creationId xmlns:p14="http://schemas.microsoft.com/office/powerpoint/2010/main" val="166707843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xfrm>
            <a:off x="4432300" y="6489700"/>
            <a:ext cx="266700" cy="279400"/>
          </a:xfrm>
          <a:prstGeom prst="rect">
            <a:avLst/>
          </a:prstGeom>
        </p:spPr>
        <p:txBody>
          <a:bodyPr/>
          <a:lstStyle>
            <a:lvl1pPr defTabSz="406400">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210321954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56" name="Slide Number"/>
          <p:cNvSpPr txBox="1">
            <a:spLocks noGrp="1"/>
          </p:cNvSpPr>
          <p:nvPr>
            <p:ph type="sldNum" sz="quarter" idx="2"/>
          </p:nvPr>
        </p:nvSpPr>
        <p:spPr>
          <a:xfrm>
            <a:off x="8862980" y="6587419"/>
            <a:ext cx="320602" cy="318036"/>
          </a:xfrm>
          <a:prstGeom prst="rect">
            <a:avLst/>
          </a:prstGeom>
        </p:spPr>
        <p:txBody>
          <a:bodyPr/>
          <a:lstStyle>
            <a:lvl1pPr defTabSz="584200">
              <a:defRPr sz="1400">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8537875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30AB6918-3722-B44C-B546-9F5EA570800D}"/>
              </a:ext>
            </a:extLst>
          </p:cNvPr>
          <p:cNvSpPr txBox="1">
            <a:spLocks noGrp="1"/>
          </p:cNvSpPr>
          <p:nvPr>
            <p:ph type="sldNum" sz="quarter" idx="2"/>
          </p:nvPr>
        </p:nvSpPr>
        <p:spPr>
          <a:xfrm>
            <a:off x="8878209" y="6633139"/>
            <a:ext cx="290144" cy="287258"/>
          </a:xfrm>
          <a:prstGeom prst="rect">
            <a:avLst/>
          </a:prstGeom>
        </p:spPr>
        <p:txBody>
          <a:bodyPr/>
          <a:lstStyle>
            <a:lvl1pPr defTabSz="584200">
              <a:defRPr sz="1200">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6553605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80" name="Slide Number"/>
          <p:cNvSpPr txBox="1">
            <a:spLocks noGrp="1"/>
          </p:cNvSpPr>
          <p:nvPr>
            <p:ph type="sldNum" sz="quarter" idx="2"/>
          </p:nvPr>
        </p:nvSpPr>
        <p:spPr>
          <a:xfrm>
            <a:off x="4450777" y="5736208"/>
            <a:ext cx="235748" cy="231379"/>
          </a:xfrm>
          <a:prstGeom prst="rect">
            <a:avLst/>
          </a:prstGeom>
        </p:spPr>
        <p:txBody>
          <a:bodyPr lIns="26789" tIns="26789" rIns="26789" bIns="26789"/>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12394525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88"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785765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ne 2022"/>
          <p:cNvSpPr txBox="1"/>
          <p:nvPr/>
        </p:nvSpPr>
        <p:spPr>
          <a:xfrm>
            <a:off x="6224239" y="6473973"/>
            <a:ext cx="2369008"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June 2022</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4407098" y="6388100"/>
            <a:ext cx="329804" cy="393700"/>
          </a:xfrm>
          <a:prstGeom prst="rect">
            <a:avLst/>
          </a:prstGeom>
        </p:spPr>
        <p:txBody>
          <a:bodyPr/>
          <a:lstStyle>
            <a:lvl1pPr>
              <a:defRPr sz="1600">
                <a:latin typeface="Comic Sans MS"/>
                <a:ea typeface="Comic Sans MS"/>
                <a:cs typeface="Comic Sans MS"/>
                <a:sym typeface="Comic Sans MS"/>
              </a:defRPr>
            </a:lvl1pPr>
          </a:lstStyle>
          <a:p>
            <a:fld id="{86CB4B4D-7CA3-9044-876B-883B54F8677D}" type="slidenum">
              <a:t>‹#›</a:t>
            </a:fld>
            <a:endParaRPr/>
          </a:p>
        </p:txBody>
      </p:sp>
    </p:spTree>
    <p:extLst>
      <p:ext uri="{BB962C8B-B14F-4D97-AF65-F5344CB8AC3E}">
        <p14:creationId xmlns:p14="http://schemas.microsoft.com/office/powerpoint/2010/main" val="26445497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xfrm>
            <a:off x="4432300" y="6489700"/>
            <a:ext cx="266700" cy="279400"/>
          </a:xfrm>
          <a:prstGeom prst="rect">
            <a:avLst/>
          </a:prstGeom>
        </p:spPr>
        <p:txBody>
          <a:bodyPr/>
          <a:lstStyle>
            <a:lvl1pPr defTabSz="406400">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315406658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56" name="Slide Number"/>
          <p:cNvSpPr txBox="1">
            <a:spLocks noGrp="1"/>
          </p:cNvSpPr>
          <p:nvPr>
            <p:ph type="sldNum" sz="quarter" idx="2"/>
          </p:nvPr>
        </p:nvSpPr>
        <p:spPr>
          <a:xfrm>
            <a:off x="8862980" y="6587419"/>
            <a:ext cx="320602" cy="318036"/>
          </a:xfrm>
          <a:prstGeom prst="rect">
            <a:avLst/>
          </a:prstGeom>
        </p:spPr>
        <p:txBody>
          <a:bodyPr/>
          <a:lstStyle>
            <a:lvl1pPr defTabSz="584200">
              <a:defRPr sz="1400">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1633644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30AB6918-3722-B44C-B546-9F5EA570800D}"/>
              </a:ext>
            </a:extLst>
          </p:cNvPr>
          <p:cNvSpPr txBox="1">
            <a:spLocks noGrp="1"/>
          </p:cNvSpPr>
          <p:nvPr>
            <p:ph type="sldNum" sz="quarter" idx="2"/>
          </p:nvPr>
        </p:nvSpPr>
        <p:spPr>
          <a:xfrm>
            <a:off x="8878209" y="6633139"/>
            <a:ext cx="290144" cy="287258"/>
          </a:xfrm>
          <a:prstGeom prst="rect">
            <a:avLst/>
          </a:prstGeom>
        </p:spPr>
        <p:txBody>
          <a:bodyPr/>
          <a:lstStyle>
            <a:lvl1pPr defTabSz="584200">
              <a:defRPr sz="1200">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9520429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80" name="Slide Number"/>
          <p:cNvSpPr txBox="1">
            <a:spLocks noGrp="1"/>
          </p:cNvSpPr>
          <p:nvPr>
            <p:ph type="sldNum" sz="quarter" idx="2"/>
          </p:nvPr>
        </p:nvSpPr>
        <p:spPr>
          <a:xfrm>
            <a:off x="4450777" y="5736208"/>
            <a:ext cx="235748" cy="231379"/>
          </a:xfrm>
          <a:prstGeom prst="rect">
            <a:avLst/>
          </a:prstGeom>
        </p:spPr>
        <p:txBody>
          <a:bodyPr lIns="26789" tIns="26789" rIns="26789" bIns="26789"/>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404885351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88"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42421860"/>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monash.edu.au/" TargetMode="Externa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monash.edu.au/" TargetMode="External"/><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7" y="-1587"/>
            <a:ext cx="9147175"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a:p>
        </p:txBody>
      </p:sp>
      <p:sp>
        <p:nvSpPr>
          <p:cNvPr id="17" name="bg object 17"/>
          <p:cNvSpPr/>
          <p:nvPr/>
        </p:nvSpPr>
        <p:spPr>
          <a:xfrm>
            <a:off x="0" y="1031785"/>
            <a:ext cx="9144000" cy="5826760"/>
          </a:xfrm>
          <a:custGeom>
            <a:avLst/>
            <a:gdLst/>
            <a:ahLst/>
            <a:cxnLst/>
            <a:rect l="l" t="t" r="r" b="b"/>
            <a:pathLst>
              <a:path w="9144000" h="5826759">
                <a:moveTo>
                  <a:pt x="9144000" y="0"/>
                </a:moveTo>
                <a:lnTo>
                  <a:pt x="0" y="0"/>
                </a:lnTo>
                <a:lnTo>
                  <a:pt x="0" y="1445285"/>
                </a:lnTo>
                <a:lnTo>
                  <a:pt x="0" y="5015979"/>
                </a:lnTo>
                <a:lnTo>
                  <a:pt x="0" y="5826214"/>
                </a:lnTo>
                <a:lnTo>
                  <a:pt x="3246031" y="5826214"/>
                </a:lnTo>
                <a:lnTo>
                  <a:pt x="3974655" y="5826214"/>
                </a:lnTo>
                <a:lnTo>
                  <a:pt x="9144000" y="5826214"/>
                </a:lnTo>
                <a:lnTo>
                  <a:pt x="9144000" y="3655707"/>
                </a:lnTo>
                <a:lnTo>
                  <a:pt x="9144000" y="0"/>
                </a:lnTo>
                <a:close/>
              </a:path>
            </a:pathLst>
          </a:custGeom>
          <a:solidFill>
            <a:srgbClr val="E7E7E7"/>
          </a:solidFill>
        </p:spPr>
        <p:txBody>
          <a:bodyPr wrap="square" lIns="0" tIns="0" rIns="0" bIns="0" rtlCol="0"/>
          <a:lstStyle/>
          <a:p>
            <a:endParaRPr/>
          </a:p>
        </p:txBody>
      </p:sp>
      <p:sp>
        <p:nvSpPr>
          <p:cNvPr id="18" name="bg object 18"/>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2" name="Holder 2"/>
          <p:cNvSpPr>
            <a:spLocks noGrp="1"/>
          </p:cNvSpPr>
          <p:nvPr>
            <p:ph type="title"/>
          </p:nvPr>
        </p:nvSpPr>
        <p:spPr>
          <a:xfrm>
            <a:off x="311150" y="370737"/>
            <a:ext cx="8521700" cy="421640"/>
          </a:xfrm>
          <a:prstGeom prst="rect">
            <a:avLst/>
          </a:prstGeom>
        </p:spPr>
        <p:txBody>
          <a:bodyPr wrap="square" lIns="0" tIns="0" rIns="0" bIns="0">
            <a:spAutoFit/>
          </a:bodyPr>
          <a:lstStyle>
            <a:lvl1pPr>
              <a:defRPr sz="2600" b="0" i="0">
                <a:solidFill>
                  <a:schemeClr val="tx1"/>
                </a:solidFill>
                <a:latin typeface="Arial"/>
                <a:cs typeface="Arial"/>
              </a:defRPr>
            </a:lvl1pPr>
          </a:lstStyle>
          <a:p>
            <a:endParaRPr/>
          </a:p>
        </p:txBody>
      </p:sp>
      <p:sp>
        <p:nvSpPr>
          <p:cNvPr id="3" name="Holder 3"/>
          <p:cNvSpPr>
            <a:spLocks noGrp="1"/>
          </p:cNvSpPr>
          <p:nvPr>
            <p:ph type="body" idx="1"/>
          </p:nvPr>
        </p:nvSpPr>
        <p:spPr>
          <a:xfrm>
            <a:off x="231930" y="1045419"/>
            <a:ext cx="5774055" cy="2708910"/>
          </a:xfrm>
          <a:prstGeom prst="rect">
            <a:avLst/>
          </a:prstGeom>
        </p:spPr>
        <p:txBody>
          <a:bodyPr wrap="square" lIns="0" tIns="0" rIns="0" bIns="0">
            <a:spAutoFit/>
          </a:bodyPr>
          <a:lstStyle>
            <a:lvl1pPr>
              <a:defRPr sz="21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8"/>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9"/>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7530318" y="6400800"/>
            <a:ext cx="255564" cy="237146"/>
          </a:xfrm>
          <a:prstGeom prst="rect">
            <a:avLst/>
          </a:prstGeom>
          <a:ln w="12700">
            <a:miter lim="400000"/>
          </a:ln>
        </p:spPr>
        <p:txBody>
          <a:bodyPr wrap="none" lIns="50800" tIns="50800" rIns="50800" bIns="50800">
            <a:spAutoFit/>
          </a:bodyPr>
          <a:lstStyle>
            <a:lvl1pPr defTabSz="584200">
              <a:defRPr sz="1000">
                <a:uFill>
                  <a:solidFill>
                    <a:srgbClr val="000000"/>
                  </a:solidFill>
                </a:uFill>
                <a:latin typeface="+mn-lt"/>
                <a:ea typeface="+mn-ea"/>
                <a:cs typeface="+mn-cs"/>
                <a:sym typeface="Arial"/>
              </a:defRPr>
            </a:lvl1pPr>
          </a:lstStyle>
          <a:p>
            <a:fld id="{86CB4B4D-7CA3-9044-876B-883B54F8677D}" type="slidenum">
              <a:t>‹#›</a:t>
            </a:fld>
            <a:endParaRPr/>
          </a:p>
        </p:txBody>
      </p:sp>
    </p:spTree>
    <p:extLst>
      <p:ext uri="{BB962C8B-B14F-4D97-AF65-F5344CB8AC3E}">
        <p14:creationId xmlns:p14="http://schemas.microsoft.com/office/powerpoint/2010/main" val="171279380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8"/>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9"/>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7530318" y="6400800"/>
            <a:ext cx="255564" cy="237146"/>
          </a:xfrm>
          <a:prstGeom prst="rect">
            <a:avLst/>
          </a:prstGeom>
          <a:ln w="12700">
            <a:miter lim="400000"/>
          </a:ln>
        </p:spPr>
        <p:txBody>
          <a:bodyPr wrap="none" lIns="50800" tIns="50800" rIns="50800" bIns="50800">
            <a:spAutoFit/>
          </a:bodyPr>
          <a:lstStyle>
            <a:lvl1pPr defTabSz="584200">
              <a:defRPr sz="1000">
                <a:uFill>
                  <a:solidFill>
                    <a:srgbClr val="000000"/>
                  </a:solidFill>
                </a:uFill>
                <a:latin typeface="+mn-lt"/>
                <a:ea typeface="+mn-ea"/>
                <a:cs typeface="+mn-cs"/>
                <a:sym typeface="Arial"/>
              </a:defRPr>
            </a:lvl1pPr>
          </a:lstStyle>
          <a:p>
            <a:fld id="{86CB4B4D-7CA3-9044-876B-883B54F8677D}" type="slidenum">
              <a:t>‹#›</a:t>
            </a:fld>
            <a:endParaRPr/>
          </a:p>
        </p:txBody>
      </p:sp>
    </p:spTree>
    <p:extLst>
      <p:ext uri="{BB962C8B-B14F-4D97-AF65-F5344CB8AC3E}">
        <p14:creationId xmlns:p14="http://schemas.microsoft.com/office/powerpoint/2010/main" val="138152833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51.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s://www.davidsilver.uk/teaching/"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3167603"/>
            <a:chOff x="-1" y="2861721"/>
            <a:chExt cx="8515351" cy="3167603"/>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836126"/>
              <a:ext cx="8515350" cy="1193198"/>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4-1: </a:t>
              </a:r>
              <a:r>
                <a:rPr kumimoji="0" lang="en-US" sz="3200" b="0" i="0" u="none" strike="noStrike" kern="0" cap="none" spc="0" normalizeH="0" baseline="0" noProof="0" dirty="0">
                  <a:ln>
                    <a:noFill/>
                  </a:ln>
                  <a:solidFill>
                    <a:srgbClr val="00669D"/>
                  </a:solidFill>
                  <a:effectLst/>
                  <a:uLnTx/>
                  <a:uFillTx/>
                  <a:latin typeface="Arial"/>
                  <a:cs typeface="Arial"/>
                  <a:sym typeface="Gill Sans"/>
                </a:rPr>
                <a:t>GLIE, SARSA and Q-Learning</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sym typeface="Gill Sans"/>
              </a:rPr>
              <a:t>FIT3155 S2 2024 </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2639" y="472337"/>
            <a:ext cx="7086600" cy="421640"/>
          </a:xfrm>
          <a:prstGeom prst="rect">
            <a:avLst/>
          </a:prstGeom>
        </p:spPr>
        <p:txBody>
          <a:bodyPr vert="horz" wrap="square" lIns="0" tIns="12700" rIns="0" bIns="0" rtlCol="0">
            <a:spAutoFit/>
          </a:bodyPr>
          <a:lstStyle/>
          <a:p>
            <a:pPr marL="12700">
              <a:lnSpc>
                <a:spcPct val="100000"/>
              </a:lnSpc>
              <a:spcBef>
                <a:spcPts val="100"/>
              </a:spcBef>
            </a:pPr>
            <a:r>
              <a:rPr spc="-65" dirty="0"/>
              <a:t>From</a:t>
            </a:r>
            <a:r>
              <a:rPr spc="-130" dirty="0"/>
              <a:t> </a:t>
            </a:r>
            <a:r>
              <a:rPr spc="-75" dirty="0"/>
              <a:t>Model-</a:t>
            </a:r>
            <a:r>
              <a:rPr spc="-60" dirty="0"/>
              <a:t>based</a:t>
            </a:r>
            <a:r>
              <a:rPr spc="-130" dirty="0"/>
              <a:t> </a:t>
            </a:r>
            <a:r>
              <a:rPr spc="-70" dirty="0"/>
              <a:t>Prediction</a:t>
            </a:r>
            <a:r>
              <a:rPr spc="-130" dirty="0"/>
              <a:t> </a:t>
            </a:r>
            <a:r>
              <a:rPr spc="-40" dirty="0"/>
              <a:t>to</a:t>
            </a:r>
            <a:r>
              <a:rPr spc="-130" dirty="0"/>
              <a:t> </a:t>
            </a:r>
            <a:r>
              <a:rPr spc="-75" dirty="0"/>
              <a:t>Model-</a:t>
            </a:r>
            <a:r>
              <a:rPr spc="-65" dirty="0"/>
              <a:t>free</a:t>
            </a:r>
            <a:r>
              <a:rPr spc="-130" dirty="0"/>
              <a:t> </a:t>
            </a:r>
            <a:r>
              <a:rPr spc="-70" dirty="0"/>
              <a:t>Control</a:t>
            </a:r>
          </a:p>
        </p:txBody>
      </p:sp>
      <mc:AlternateContent xmlns:mc="http://schemas.openxmlformats.org/markup-compatibility/2006" xmlns:a14="http://schemas.microsoft.com/office/drawing/2010/main">
        <mc:Choice Requires="a14">
          <p:sp>
            <p:nvSpPr>
              <p:cNvPr id="3" name="object 3"/>
              <p:cNvSpPr txBox="1"/>
              <p:nvPr/>
            </p:nvSpPr>
            <p:spPr>
              <a:xfrm>
                <a:off x="1333560" y="1673059"/>
                <a:ext cx="5988050" cy="983615"/>
              </a:xfrm>
              <a:prstGeom prst="rect">
                <a:avLst/>
              </a:prstGeom>
            </p:spPr>
            <p:txBody>
              <a:bodyPr vert="horz" wrap="square" lIns="0" tIns="66040" rIns="0" bIns="0" rtlCol="0">
                <a:spAutoFit/>
              </a:bodyPr>
              <a:lstStyle/>
              <a:p>
                <a:pPr marL="12700">
                  <a:lnSpc>
                    <a:spcPct val="100000"/>
                  </a:lnSpc>
                  <a:spcBef>
                    <a:spcPts val="520"/>
                  </a:spcBef>
                </a:pPr>
                <a:r>
                  <a:rPr sz="1800" spc="-40" dirty="0">
                    <a:latin typeface="Arial"/>
                    <a:cs typeface="Arial"/>
                  </a:rPr>
                  <a:t>So</a:t>
                </a:r>
                <a:r>
                  <a:rPr sz="1800" spc="-114" dirty="0">
                    <a:latin typeface="Arial"/>
                    <a:cs typeface="Arial"/>
                  </a:rPr>
                  <a:t> </a:t>
                </a:r>
                <a:r>
                  <a:rPr sz="1800" spc="-20" dirty="0">
                    <a:latin typeface="Arial"/>
                    <a:cs typeface="Arial"/>
                  </a:rPr>
                  <a:t>far:</a:t>
                </a:r>
                <a:endParaRPr sz="1800" dirty="0">
                  <a:latin typeface="Arial"/>
                  <a:cs typeface="Arial"/>
                </a:endParaRPr>
              </a:p>
              <a:p>
                <a:pPr marL="12700">
                  <a:lnSpc>
                    <a:spcPct val="100000"/>
                  </a:lnSpc>
                  <a:spcBef>
                    <a:spcPts val="420"/>
                  </a:spcBef>
                </a:pPr>
                <a:r>
                  <a:rPr sz="1800" spc="-65" dirty="0">
                    <a:solidFill>
                      <a:srgbClr val="FF0000"/>
                    </a:solidFill>
                    <a:latin typeface="Arial"/>
                    <a:cs typeface="Arial"/>
                  </a:rPr>
                  <a:t>Model-</a:t>
                </a:r>
                <a:r>
                  <a:rPr sz="1800" spc="-25" dirty="0">
                    <a:solidFill>
                      <a:srgbClr val="FF0000"/>
                    </a:solidFill>
                    <a:latin typeface="Arial"/>
                    <a:cs typeface="Arial"/>
                  </a:rPr>
                  <a:t>based</a:t>
                </a:r>
                <a:r>
                  <a:rPr sz="1800" spc="-85" dirty="0">
                    <a:solidFill>
                      <a:srgbClr val="FF0000"/>
                    </a:solidFill>
                    <a:latin typeface="Arial"/>
                    <a:cs typeface="Arial"/>
                  </a:rPr>
                  <a:t> </a:t>
                </a:r>
                <a:r>
                  <a:rPr sz="1800" spc="-10" dirty="0">
                    <a:solidFill>
                      <a:srgbClr val="FF0000"/>
                    </a:solidFill>
                    <a:latin typeface="Arial"/>
                    <a:cs typeface="Arial"/>
                  </a:rPr>
                  <a:t>prediction</a:t>
                </a:r>
                <a:endParaRPr sz="1800" dirty="0">
                  <a:latin typeface="Arial"/>
                  <a:cs typeface="Arial"/>
                </a:endParaRPr>
              </a:p>
              <a:p>
                <a:pPr marL="12700">
                  <a:lnSpc>
                    <a:spcPct val="100000"/>
                  </a:lnSpc>
                  <a:spcBef>
                    <a:spcPts val="225"/>
                  </a:spcBef>
                </a:pPr>
                <a:r>
                  <a:rPr sz="1800" i="1" spc="-40" dirty="0">
                    <a:latin typeface="Arial"/>
                    <a:cs typeface="Arial"/>
                  </a:rPr>
                  <a:t>Estimate</a:t>
                </a:r>
                <a:r>
                  <a:rPr sz="1800" i="1" spc="-85" dirty="0">
                    <a:latin typeface="Arial"/>
                    <a:cs typeface="Arial"/>
                  </a:rPr>
                  <a:t> </a:t>
                </a:r>
                <a:r>
                  <a:rPr sz="1800" dirty="0">
                    <a:latin typeface="Arial"/>
                    <a:cs typeface="Arial"/>
                  </a:rPr>
                  <a:t>the</a:t>
                </a:r>
                <a:r>
                  <a:rPr sz="1800" spc="-50" dirty="0">
                    <a:latin typeface="Arial"/>
                    <a:cs typeface="Arial"/>
                  </a:rPr>
                  <a:t> </a:t>
                </a:r>
                <a:r>
                  <a:rPr sz="1800" spc="-55" dirty="0">
                    <a:latin typeface="Arial"/>
                    <a:cs typeface="Arial"/>
                  </a:rPr>
                  <a:t>value</a:t>
                </a:r>
                <a:r>
                  <a:rPr sz="1800" spc="-90" dirty="0">
                    <a:latin typeface="Arial"/>
                    <a:cs typeface="Arial"/>
                  </a:rPr>
                  <a:t> </a:t>
                </a:r>
                <a:r>
                  <a:rPr sz="1800" spc="-10" dirty="0">
                    <a:latin typeface="Arial"/>
                    <a:cs typeface="Arial"/>
                  </a:rPr>
                  <a:t>function</a:t>
                </a:r>
                <a:r>
                  <a:rPr sz="1800" spc="-55" dirty="0">
                    <a:latin typeface="Arial"/>
                    <a:cs typeface="Arial"/>
                  </a:rPr>
                  <a:t> </a:t>
                </a:r>
                <a:r>
                  <a:rPr sz="1800" dirty="0">
                    <a:latin typeface="Arial"/>
                    <a:cs typeface="Arial"/>
                  </a:rPr>
                  <a:t>of</a:t>
                </a:r>
                <a:r>
                  <a:rPr sz="1800" spc="-40" dirty="0">
                    <a:latin typeface="Arial"/>
                    <a:cs typeface="Arial"/>
                  </a:rPr>
                  <a:t> </a:t>
                </a:r>
                <a:r>
                  <a:rPr sz="1800" dirty="0">
                    <a:latin typeface="Arial"/>
                    <a:cs typeface="Arial"/>
                  </a:rPr>
                  <a:t>a</a:t>
                </a:r>
                <a:r>
                  <a:rPr lang="en-US" sz="1800" dirty="0">
                    <a:latin typeface="Arial"/>
                    <a:cs typeface="Arial"/>
                  </a:rPr>
                  <a:t>n</a:t>
                </a:r>
                <a:r>
                  <a:rPr sz="1800" spc="-55" dirty="0">
                    <a:latin typeface="Arial"/>
                    <a:cs typeface="Arial"/>
                  </a:rPr>
                  <a:t> </a:t>
                </a:r>
                <a:r>
                  <a:rPr sz="1800" i="1" spc="-65" dirty="0">
                    <a:latin typeface="Arial"/>
                    <a:cs typeface="Arial"/>
                  </a:rPr>
                  <a:t>known</a:t>
                </a:r>
                <a:r>
                  <a:rPr sz="1800" i="1" spc="-110" dirty="0">
                    <a:latin typeface="Arial"/>
                    <a:cs typeface="Arial"/>
                  </a:rPr>
                  <a:t> </a:t>
                </a:r>
                <a:r>
                  <a:rPr sz="1800" spc="-30" dirty="0">
                    <a:latin typeface="Arial"/>
                    <a:cs typeface="Arial"/>
                  </a:rPr>
                  <a:t>MDP</a:t>
                </a:r>
                <a:r>
                  <a:rPr sz="1800" spc="-125" dirty="0">
                    <a:latin typeface="Arial"/>
                    <a:cs typeface="Arial"/>
                  </a:rPr>
                  <a:t> </a:t>
                </a:r>
                <a:r>
                  <a:rPr sz="1800" spc="-40" dirty="0">
                    <a:latin typeface="Arial"/>
                    <a:cs typeface="Arial"/>
                  </a:rPr>
                  <a:t>(given</a:t>
                </a:r>
                <a:r>
                  <a:rPr sz="1800" spc="-90" dirty="0">
                    <a:latin typeface="Arial"/>
                    <a:cs typeface="Arial"/>
                  </a:rPr>
                  <a:t> </a:t>
                </a:r>
                <a14:m>
                  <m:oMath xmlns:m="http://schemas.openxmlformats.org/officeDocument/2006/math">
                    <m:r>
                      <a:rPr lang="en-US" sz="1800" i="1" dirty="0" smtClean="0">
                        <a:latin typeface="Cambria Math" panose="02040503050406030204" pitchFamily="18" charset="0"/>
                        <a:cs typeface="Arial"/>
                      </a:rPr>
                      <m:t>𝑃</m:t>
                    </m:r>
                  </m:oMath>
                </a14:m>
                <a:r>
                  <a:rPr sz="1800" spc="-125" dirty="0">
                    <a:latin typeface="Arial"/>
                    <a:cs typeface="Arial"/>
                  </a:rPr>
                  <a:t> </a:t>
                </a:r>
                <a:r>
                  <a:rPr sz="1800" spc="-40" dirty="0">
                    <a:latin typeface="Arial"/>
                    <a:cs typeface="Arial"/>
                  </a:rPr>
                  <a:t>and</a:t>
                </a:r>
                <a:r>
                  <a:rPr sz="1800" spc="-95" dirty="0">
                    <a:latin typeface="Arial"/>
                    <a:cs typeface="Arial"/>
                  </a:rPr>
                  <a:t> </a:t>
                </a:r>
                <a14:m>
                  <m:oMath xmlns:m="http://schemas.openxmlformats.org/officeDocument/2006/math">
                    <m:r>
                      <a:rPr lang="en-US" sz="1800" i="1" spc="-25" dirty="0" smtClean="0">
                        <a:latin typeface="Cambria Math" panose="02040503050406030204" pitchFamily="18" charset="0"/>
                        <a:cs typeface="Arial"/>
                      </a:rPr>
                      <m:t>𝑅</m:t>
                    </m:r>
                  </m:oMath>
                </a14:m>
                <a:r>
                  <a:rPr sz="1800" spc="-25" dirty="0">
                    <a:latin typeface="Arial"/>
                    <a:cs typeface="Arial"/>
                  </a:rPr>
                  <a:t>)</a:t>
                </a:r>
                <a:endParaRPr sz="1800" dirty="0">
                  <a:latin typeface="Arial"/>
                  <a:cs typeface="Arial"/>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333560" y="1673059"/>
                <a:ext cx="5988050" cy="983615"/>
              </a:xfrm>
              <a:prstGeom prst="rect">
                <a:avLst/>
              </a:prstGeom>
              <a:blipFill>
                <a:blip r:embed="rId3"/>
                <a:stretch>
                  <a:fillRect l="-2240" t="-1235" r="-1731" b="-12963"/>
                </a:stretch>
              </a:blipFill>
            </p:spPr>
            <p:txBody>
              <a:bodyPr/>
              <a:lstStyle/>
              <a:p>
                <a:r>
                  <a:rPr lang="en-US">
                    <a:noFill/>
                  </a:rPr>
                  <a:t> </a:t>
                </a:r>
              </a:p>
            </p:txBody>
          </p:sp>
        </mc:Fallback>
      </mc:AlternateContent>
      <p:sp>
        <p:nvSpPr>
          <p:cNvPr id="4" name="object 4"/>
          <p:cNvSpPr txBox="1"/>
          <p:nvPr/>
        </p:nvSpPr>
        <p:spPr>
          <a:xfrm>
            <a:off x="1333560" y="4133015"/>
            <a:ext cx="4683125" cy="1009650"/>
          </a:xfrm>
          <a:prstGeom prst="rect">
            <a:avLst/>
          </a:prstGeom>
        </p:spPr>
        <p:txBody>
          <a:bodyPr vert="horz" wrap="square" lIns="0" tIns="66040" rIns="0" bIns="0" rtlCol="0">
            <a:spAutoFit/>
          </a:bodyPr>
          <a:lstStyle/>
          <a:p>
            <a:pPr marL="12700">
              <a:lnSpc>
                <a:spcPct val="100000"/>
              </a:lnSpc>
              <a:spcBef>
                <a:spcPts val="520"/>
              </a:spcBef>
            </a:pPr>
            <a:r>
              <a:rPr sz="2000" spc="-55" dirty="0">
                <a:latin typeface="Arial"/>
                <a:cs typeface="Arial"/>
              </a:rPr>
              <a:t>The</a:t>
            </a:r>
            <a:r>
              <a:rPr sz="2000" spc="-114" dirty="0">
                <a:latin typeface="Arial"/>
                <a:cs typeface="Arial"/>
              </a:rPr>
              <a:t> </a:t>
            </a:r>
            <a:r>
              <a:rPr sz="2000" spc="-10" dirty="0">
                <a:latin typeface="Arial"/>
                <a:cs typeface="Arial"/>
              </a:rPr>
              <a:t>goal:</a:t>
            </a:r>
            <a:endParaRPr sz="2000" dirty="0">
              <a:latin typeface="Arial"/>
              <a:cs typeface="Arial"/>
            </a:endParaRPr>
          </a:p>
          <a:p>
            <a:pPr marL="12700">
              <a:lnSpc>
                <a:spcPct val="100000"/>
              </a:lnSpc>
              <a:spcBef>
                <a:spcPts val="384"/>
              </a:spcBef>
            </a:pPr>
            <a:r>
              <a:rPr sz="1800" spc="-65" dirty="0">
                <a:solidFill>
                  <a:srgbClr val="FF0000"/>
                </a:solidFill>
                <a:latin typeface="Arial"/>
                <a:cs typeface="Arial"/>
              </a:rPr>
              <a:t>Model-</a:t>
            </a:r>
            <a:r>
              <a:rPr sz="1800" spc="-20" dirty="0">
                <a:solidFill>
                  <a:srgbClr val="FF0000"/>
                </a:solidFill>
                <a:latin typeface="Arial"/>
                <a:cs typeface="Arial"/>
              </a:rPr>
              <a:t>free</a:t>
            </a:r>
            <a:r>
              <a:rPr sz="1800" spc="-85" dirty="0">
                <a:solidFill>
                  <a:srgbClr val="FF0000"/>
                </a:solidFill>
                <a:latin typeface="Arial"/>
                <a:cs typeface="Arial"/>
              </a:rPr>
              <a:t> </a:t>
            </a:r>
            <a:r>
              <a:rPr sz="1800" spc="-10" dirty="0">
                <a:solidFill>
                  <a:srgbClr val="FF0000"/>
                </a:solidFill>
                <a:latin typeface="Arial"/>
                <a:cs typeface="Arial"/>
              </a:rPr>
              <a:t>control</a:t>
            </a:r>
            <a:endParaRPr sz="1800" dirty="0">
              <a:latin typeface="Arial"/>
              <a:cs typeface="Arial"/>
            </a:endParaRPr>
          </a:p>
          <a:p>
            <a:pPr marL="12700">
              <a:lnSpc>
                <a:spcPct val="100000"/>
              </a:lnSpc>
              <a:spcBef>
                <a:spcPts val="220"/>
              </a:spcBef>
            </a:pPr>
            <a:r>
              <a:rPr sz="1800" i="1" spc="-50" dirty="0">
                <a:latin typeface="Arial"/>
                <a:cs typeface="Arial"/>
              </a:rPr>
              <a:t>Optimise</a:t>
            </a:r>
            <a:r>
              <a:rPr sz="1800" i="1" spc="-95" dirty="0">
                <a:latin typeface="Arial"/>
                <a:cs typeface="Arial"/>
              </a:rPr>
              <a:t> </a:t>
            </a:r>
            <a:r>
              <a:rPr sz="1800" dirty="0">
                <a:latin typeface="Arial"/>
                <a:cs typeface="Arial"/>
              </a:rPr>
              <a:t>the</a:t>
            </a:r>
            <a:r>
              <a:rPr sz="1800" spc="-30" dirty="0">
                <a:latin typeface="Arial"/>
                <a:cs typeface="Arial"/>
              </a:rPr>
              <a:t> </a:t>
            </a:r>
            <a:r>
              <a:rPr sz="1800" spc="-60" dirty="0">
                <a:latin typeface="Arial"/>
                <a:cs typeface="Arial"/>
              </a:rPr>
              <a:t>value</a:t>
            </a:r>
            <a:r>
              <a:rPr sz="1800" spc="-85" dirty="0">
                <a:latin typeface="Arial"/>
                <a:cs typeface="Arial"/>
              </a:rPr>
              <a:t> </a:t>
            </a:r>
            <a:r>
              <a:rPr sz="1800" spc="-10" dirty="0">
                <a:latin typeface="Arial"/>
                <a:cs typeface="Arial"/>
              </a:rPr>
              <a:t>function</a:t>
            </a:r>
            <a:r>
              <a:rPr sz="1800" spc="-45"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an</a:t>
            </a:r>
            <a:r>
              <a:rPr sz="1800" spc="-50" dirty="0">
                <a:latin typeface="Arial"/>
                <a:cs typeface="Arial"/>
              </a:rPr>
              <a:t> </a:t>
            </a:r>
            <a:r>
              <a:rPr sz="1800" i="1" spc="-70" dirty="0">
                <a:latin typeface="Arial"/>
                <a:cs typeface="Arial"/>
              </a:rPr>
              <a:t>unknown</a:t>
            </a:r>
            <a:r>
              <a:rPr sz="1800" i="1" spc="-95" dirty="0">
                <a:latin typeface="Arial"/>
                <a:cs typeface="Arial"/>
              </a:rPr>
              <a:t> </a:t>
            </a:r>
            <a:r>
              <a:rPr sz="1800" spc="-25" dirty="0">
                <a:latin typeface="Arial"/>
                <a:cs typeface="Arial"/>
              </a:rPr>
              <a:t>MDP</a:t>
            </a:r>
            <a:endParaRPr sz="1800" dirty="0">
              <a:latin typeface="Arial"/>
              <a:cs typeface="Arial"/>
            </a:endParaRPr>
          </a:p>
        </p:txBody>
      </p:sp>
      <p:sp>
        <p:nvSpPr>
          <p:cNvPr id="5" name="object 5"/>
          <p:cNvSpPr txBox="1"/>
          <p:nvPr/>
        </p:nvSpPr>
        <p:spPr>
          <a:xfrm>
            <a:off x="2332669" y="3204684"/>
            <a:ext cx="389890" cy="261620"/>
          </a:xfrm>
          <a:prstGeom prst="rect">
            <a:avLst/>
          </a:prstGeom>
        </p:spPr>
        <p:txBody>
          <a:bodyPr vert="horz" wrap="square" lIns="0" tIns="12065" rIns="0" bIns="0" rtlCol="0">
            <a:spAutoFit/>
          </a:bodyPr>
          <a:lstStyle/>
          <a:p>
            <a:pPr marL="12700">
              <a:lnSpc>
                <a:spcPct val="100000"/>
              </a:lnSpc>
              <a:spcBef>
                <a:spcPts val="95"/>
              </a:spcBef>
            </a:pPr>
            <a:r>
              <a:rPr sz="1550" spc="25" dirty="0">
                <a:latin typeface="Cambria"/>
                <a:cs typeface="Cambria"/>
              </a:rPr>
              <a:t>a∈A</a:t>
            </a:r>
            <a:endParaRPr sz="1550">
              <a:latin typeface="Cambria"/>
              <a:cs typeface="Cambria"/>
            </a:endParaRPr>
          </a:p>
        </p:txBody>
      </p:sp>
      <p:sp>
        <p:nvSpPr>
          <p:cNvPr id="6" name="object 6"/>
          <p:cNvSpPr txBox="1"/>
          <p:nvPr/>
        </p:nvSpPr>
        <p:spPr>
          <a:xfrm>
            <a:off x="2971074" y="3063154"/>
            <a:ext cx="102235" cy="261620"/>
          </a:xfrm>
          <a:prstGeom prst="rect">
            <a:avLst/>
          </a:prstGeom>
        </p:spPr>
        <p:txBody>
          <a:bodyPr vert="horz" wrap="square" lIns="0" tIns="12065" rIns="0" bIns="0" rtlCol="0">
            <a:spAutoFit/>
          </a:bodyPr>
          <a:lstStyle/>
          <a:p>
            <a:pPr marL="12700">
              <a:lnSpc>
                <a:spcPct val="100000"/>
              </a:lnSpc>
              <a:spcBef>
                <a:spcPts val="95"/>
              </a:spcBef>
            </a:pPr>
            <a:r>
              <a:rPr sz="1550" i="1" spc="-5" dirty="0">
                <a:latin typeface="Times New Roman"/>
                <a:cs typeface="Times New Roman"/>
              </a:rPr>
              <a:t>s</a:t>
            </a:r>
            <a:endParaRPr sz="1550">
              <a:latin typeface="Times New Roman"/>
              <a:cs typeface="Times New Roman"/>
            </a:endParaRPr>
          </a:p>
        </p:txBody>
      </p:sp>
      <mc:AlternateContent xmlns:mc="http://schemas.openxmlformats.org/markup-compatibility/2006" xmlns:a14="http://schemas.microsoft.com/office/drawing/2010/main">
        <mc:Choice Requires="a14">
          <p:sp>
            <p:nvSpPr>
              <p:cNvPr id="7" name="object 7"/>
              <p:cNvSpPr txBox="1"/>
              <p:nvPr/>
            </p:nvSpPr>
            <p:spPr>
              <a:xfrm>
                <a:off x="1333560" y="2913592"/>
                <a:ext cx="2356248" cy="347531"/>
              </a:xfrm>
              <a:prstGeom prst="rect">
                <a:avLst/>
              </a:prstGeom>
            </p:spPr>
            <p:txBody>
              <a:bodyPr vert="horz" wrap="square" lIns="0" tIns="16510" rIns="0" bIns="0" rtlCol="0">
                <a:spAutoFit/>
              </a:bodyPr>
              <a:lstStyle/>
              <a:p>
                <a:pPr marL="12700">
                  <a:lnSpc>
                    <a:spcPct val="100000"/>
                  </a:lnSpc>
                  <a:spcBef>
                    <a:spcPts val="130"/>
                  </a:spcBef>
                  <a:tabLst>
                    <a:tab pos="1833880" algn="l"/>
                  </a:tabLst>
                </a:pPr>
                <a:r>
                  <a:rPr sz="2150" i="1" spc="-20" dirty="0">
                    <a:latin typeface="Times New Roman"/>
                    <a:cs typeface="Times New Roman"/>
                  </a:rPr>
                  <a:t>v</a:t>
                </a:r>
                <a:r>
                  <a:rPr sz="2150" spc="-20" dirty="0">
                    <a:latin typeface="Cambria"/>
                    <a:cs typeface="Cambria"/>
                  </a:rPr>
                  <a:t>′(</a:t>
                </a:r>
                <a:r>
                  <a:rPr sz="2150" i="1" spc="-20" dirty="0">
                    <a:latin typeface="Times New Roman"/>
                    <a:cs typeface="Times New Roman"/>
                  </a:rPr>
                  <a:t>s</a:t>
                </a:r>
                <a:r>
                  <a:rPr sz="2150" spc="-20" dirty="0">
                    <a:latin typeface="Cambria"/>
                    <a:cs typeface="Cambria"/>
                  </a:rPr>
                  <a:t>)</a:t>
                </a:r>
                <a:r>
                  <a:rPr sz="2150" spc="75" dirty="0">
                    <a:latin typeface="Cambria"/>
                    <a:cs typeface="Cambria"/>
                  </a:rPr>
                  <a:t> </a:t>
                </a:r>
                <a:r>
                  <a:rPr sz="2150" spc="215" dirty="0">
                    <a:latin typeface="Cambria"/>
                    <a:cs typeface="Cambria"/>
                  </a:rPr>
                  <a:t>→</a:t>
                </a:r>
                <a:r>
                  <a:rPr sz="2150" spc="75" dirty="0">
                    <a:latin typeface="Cambria"/>
                    <a:cs typeface="Cambria"/>
                  </a:rPr>
                  <a:t> </a:t>
                </a:r>
                <a:r>
                  <a:rPr sz="2150" i="1" spc="114" dirty="0">
                    <a:latin typeface="Times New Roman"/>
                    <a:cs typeface="Times New Roman"/>
                  </a:rPr>
                  <a:t>max</a:t>
                </a:r>
                <a:r>
                  <a:rPr sz="2150" i="1" spc="120" dirty="0">
                    <a:latin typeface="Times New Roman"/>
                    <a:cs typeface="Times New Roman"/>
                  </a:rPr>
                  <a:t> </a:t>
                </a:r>
                <a:r>
                  <a:rPr sz="2150" i="1" spc="-50" dirty="0">
                    <a:latin typeface="Times New Roman"/>
                    <a:cs typeface="Times New Roman"/>
                  </a:rPr>
                  <a:t>R</a:t>
                </a:r>
                <a:r>
                  <a:rPr sz="2150" i="1" dirty="0">
                    <a:latin typeface="Times New Roman"/>
                    <a:cs typeface="Times New Roman"/>
                  </a:rPr>
                  <a:t>	</a:t>
                </a:r>
                <a:r>
                  <a:rPr sz="2150" spc="295" dirty="0">
                    <a:latin typeface="Cambria"/>
                    <a:cs typeface="Cambria"/>
                  </a:rPr>
                  <a:t>+</a:t>
                </a:r>
                <a:r>
                  <a:rPr sz="2150" spc="10" dirty="0">
                    <a:latin typeface="Cambria"/>
                    <a:cs typeface="Cambria"/>
                  </a:rPr>
                  <a:t> </a:t>
                </a:r>
                <a14:m>
                  <m:oMath xmlns:m="http://schemas.openxmlformats.org/officeDocument/2006/math">
                    <m:r>
                      <a:rPr lang="en-US" sz="2150" i="1" spc="-125" dirty="0" smtClean="0">
                        <a:latin typeface="Cambria Math" panose="02040503050406030204" pitchFamily="18" charset="0"/>
                        <a:cs typeface="Arial"/>
                      </a:rPr>
                      <m:t>𝛾</m:t>
                    </m:r>
                  </m:oMath>
                </a14:m>
                <a:endParaRPr sz="2150" dirty="0">
                  <a:latin typeface="Arial"/>
                  <a:cs typeface="Arial"/>
                </a:endParaRPr>
              </a:p>
            </p:txBody>
          </p:sp>
        </mc:Choice>
        <mc:Fallback xmlns="">
          <p:sp>
            <p:nvSpPr>
              <p:cNvPr id="7" name="object 7"/>
              <p:cNvSpPr txBox="1">
                <a:spLocks noRot="1" noChangeAspect="1" noMove="1" noResize="1" noEditPoints="1" noAdjustHandles="1" noChangeArrowheads="1" noChangeShapeType="1" noTextEdit="1"/>
              </p:cNvSpPr>
              <p:nvPr/>
            </p:nvSpPr>
            <p:spPr>
              <a:xfrm>
                <a:off x="1333560" y="2913592"/>
                <a:ext cx="2356248" cy="347531"/>
              </a:xfrm>
              <a:prstGeom prst="rect">
                <a:avLst/>
              </a:prstGeom>
              <a:blipFill>
                <a:blip r:embed="rId4"/>
                <a:stretch>
                  <a:fillRect l="-6736" t="-21053" b="-47368"/>
                </a:stretch>
              </a:blipFill>
            </p:spPr>
            <p:txBody>
              <a:bodyPr/>
              <a:lstStyle/>
              <a:p>
                <a:r>
                  <a:rPr lang="en-US">
                    <a:noFill/>
                  </a:rPr>
                  <a:t> </a:t>
                </a:r>
              </a:p>
            </p:txBody>
          </p:sp>
        </mc:Fallback>
      </mc:AlternateContent>
      <p:sp>
        <p:nvSpPr>
          <p:cNvPr id="8" name="object 8"/>
          <p:cNvSpPr txBox="1"/>
          <p:nvPr/>
        </p:nvSpPr>
        <p:spPr>
          <a:xfrm>
            <a:off x="3550875" y="2895600"/>
            <a:ext cx="383540" cy="535940"/>
          </a:xfrm>
          <a:prstGeom prst="rect">
            <a:avLst/>
          </a:prstGeom>
        </p:spPr>
        <p:txBody>
          <a:bodyPr vert="horz" wrap="square" lIns="0" tIns="16510" rIns="0" bIns="0" rtlCol="0">
            <a:spAutoFit/>
          </a:bodyPr>
          <a:lstStyle/>
          <a:p>
            <a:pPr marL="12700">
              <a:lnSpc>
                <a:spcPts val="2355"/>
              </a:lnSpc>
              <a:spcBef>
                <a:spcPts val="130"/>
              </a:spcBef>
            </a:pPr>
            <a:r>
              <a:rPr sz="2150" spc="1280" dirty="0">
                <a:latin typeface="Arial"/>
                <a:cs typeface="Arial"/>
              </a:rPr>
              <a:t>∑</a:t>
            </a:r>
            <a:endParaRPr sz="2150" dirty="0">
              <a:latin typeface="Arial"/>
              <a:cs typeface="Arial"/>
            </a:endParaRPr>
          </a:p>
          <a:p>
            <a:pPr marL="15240">
              <a:lnSpc>
                <a:spcPts val="1635"/>
              </a:lnSpc>
            </a:pPr>
            <a:r>
              <a:rPr sz="1550" i="1" spc="-20" dirty="0">
                <a:latin typeface="Times New Roman"/>
                <a:cs typeface="Times New Roman"/>
              </a:rPr>
              <a:t>s</a:t>
            </a:r>
            <a:r>
              <a:rPr sz="1550" spc="-20" dirty="0">
                <a:latin typeface="Cambria"/>
                <a:cs typeface="Cambria"/>
              </a:rPr>
              <a:t>′∈</a:t>
            </a:r>
            <a:r>
              <a:rPr sz="1550" i="1" spc="-20" dirty="0">
                <a:latin typeface="Times New Roman"/>
                <a:cs typeface="Times New Roman"/>
              </a:rPr>
              <a:t>S</a:t>
            </a:r>
            <a:endParaRPr sz="1550" dirty="0">
              <a:latin typeface="Times New Roman"/>
              <a:cs typeface="Times New Roman"/>
            </a:endParaRPr>
          </a:p>
        </p:txBody>
      </p:sp>
      <p:sp>
        <p:nvSpPr>
          <p:cNvPr id="9" name="object 9"/>
          <p:cNvSpPr txBox="1"/>
          <p:nvPr/>
        </p:nvSpPr>
        <p:spPr>
          <a:xfrm>
            <a:off x="3954877" y="2913592"/>
            <a:ext cx="556895" cy="358140"/>
          </a:xfrm>
          <a:prstGeom prst="rect">
            <a:avLst/>
          </a:prstGeom>
        </p:spPr>
        <p:txBody>
          <a:bodyPr vert="horz" wrap="square" lIns="0" tIns="16510" rIns="0" bIns="0" rtlCol="0">
            <a:spAutoFit/>
          </a:bodyPr>
          <a:lstStyle/>
          <a:p>
            <a:pPr marL="12700">
              <a:lnSpc>
                <a:spcPct val="100000"/>
              </a:lnSpc>
              <a:spcBef>
                <a:spcPts val="130"/>
              </a:spcBef>
              <a:tabLst>
                <a:tab pos="420370" algn="l"/>
              </a:tabLst>
            </a:pPr>
            <a:r>
              <a:rPr sz="2150" i="1" spc="-50" dirty="0">
                <a:latin typeface="Times New Roman"/>
                <a:cs typeface="Times New Roman"/>
              </a:rPr>
              <a:t>P</a:t>
            </a:r>
            <a:r>
              <a:rPr sz="2150" i="1" dirty="0">
                <a:latin typeface="Times New Roman"/>
                <a:cs typeface="Times New Roman"/>
              </a:rPr>
              <a:t>	</a:t>
            </a:r>
            <a:r>
              <a:rPr sz="2150" i="1" spc="-50" dirty="0">
                <a:latin typeface="Times New Roman"/>
                <a:cs typeface="Times New Roman"/>
              </a:rPr>
              <a:t>v</a:t>
            </a:r>
            <a:endParaRPr sz="2150">
              <a:latin typeface="Times New Roman"/>
              <a:cs typeface="Times New Roman"/>
            </a:endParaRPr>
          </a:p>
        </p:txBody>
      </p:sp>
      <p:sp>
        <p:nvSpPr>
          <p:cNvPr id="10" name="object 10"/>
          <p:cNvSpPr txBox="1"/>
          <p:nvPr/>
        </p:nvSpPr>
        <p:spPr>
          <a:xfrm>
            <a:off x="2995207" y="2891434"/>
            <a:ext cx="1664335" cy="261620"/>
          </a:xfrm>
          <a:prstGeom prst="rect">
            <a:avLst/>
          </a:prstGeom>
        </p:spPr>
        <p:txBody>
          <a:bodyPr vert="horz" wrap="square" lIns="0" tIns="12065" rIns="0" bIns="0" rtlCol="0">
            <a:spAutoFit/>
          </a:bodyPr>
          <a:lstStyle/>
          <a:p>
            <a:pPr marL="12700">
              <a:lnSpc>
                <a:spcPct val="100000"/>
              </a:lnSpc>
              <a:spcBef>
                <a:spcPts val="95"/>
              </a:spcBef>
              <a:tabLst>
                <a:tab pos="1155700" algn="l"/>
                <a:tab pos="1517650" algn="l"/>
              </a:tabLst>
            </a:pPr>
            <a:r>
              <a:rPr sz="1550" i="1" spc="-50" dirty="0">
                <a:latin typeface="Times New Roman"/>
                <a:cs typeface="Times New Roman"/>
              </a:rPr>
              <a:t>a</a:t>
            </a:r>
            <a:r>
              <a:rPr sz="1550" i="1" dirty="0">
                <a:latin typeface="Times New Roman"/>
                <a:cs typeface="Times New Roman"/>
              </a:rPr>
              <a:t>	</a:t>
            </a:r>
            <a:r>
              <a:rPr sz="1550" i="1" spc="-50" dirty="0">
                <a:latin typeface="Times New Roman"/>
                <a:cs typeface="Times New Roman"/>
              </a:rPr>
              <a:t>a</a:t>
            </a:r>
            <a:r>
              <a:rPr sz="1550" i="1" dirty="0">
                <a:latin typeface="Times New Roman"/>
                <a:cs typeface="Times New Roman"/>
              </a:rPr>
              <a:t>	</a:t>
            </a:r>
            <a:r>
              <a:rPr sz="1550" i="1" spc="-25" dirty="0">
                <a:latin typeface="Times New Roman"/>
                <a:cs typeface="Times New Roman"/>
              </a:rPr>
              <a:t>s</a:t>
            </a:r>
            <a:r>
              <a:rPr sz="1550" spc="-25" dirty="0">
                <a:latin typeface="Cambria"/>
                <a:cs typeface="Cambria"/>
              </a:rPr>
              <a:t>′</a:t>
            </a:r>
            <a:endParaRPr sz="1550" dirty="0">
              <a:latin typeface="Cambria"/>
              <a:cs typeface="Cambria"/>
            </a:endParaRPr>
          </a:p>
        </p:txBody>
      </p:sp>
      <p:sp>
        <p:nvSpPr>
          <p:cNvPr id="11" name="object 11"/>
          <p:cNvSpPr txBox="1"/>
          <p:nvPr/>
        </p:nvSpPr>
        <p:spPr>
          <a:xfrm>
            <a:off x="4111757" y="3081763"/>
            <a:ext cx="527685" cy="261620"/>
          </a:xfrm>
          <a:prstGeom prst="rect">
            <a:avLst/>
          </a:prstGeom>
        </p:spPr>
        <p:txBody>
          <a:bodyPr vert="horz" wrap="square" lIns="0" tIns="12065" rIns="0" bIns="0" rtlCol="0">
            <a:spAutoFit/>
          </a:bodyPr>
          <a:lstStyle/>
          <a:p>
            <a:pPr marL="12700">
              <a:lnSpc>
                <a:spcPct val="100000"/>
              </a:lnSpc>
              <a:spcBef>
                <a:spcPts val="95"/>
              </a:spcBef>
            </a:pPr>
            <a:r>
              <a:rPr sz="1550" i="1" dirty="0">
                <a:latin typeface="Times New Roman"/>
                <a:cs typeface="Times New Roman"/>
              </a:rPr>
              <a:t>s</a:t>
            </a:r>
            <a:r>
              <a:rPr sz="1550" dirty="0">
                <a:latin typeface="Cambria"/>
                <a:cs typeface="Cambria"/>
              </a:rPr>
              <a:t>,</a:t>
            </a:r>
            <a:r>
              <a:rPr sz="1550" i="1" dirty="0">
                <a:latin typeface="Times New Roman"/>
                <a:cs typeface="Times New Roman"/>
              </a:rPr>
              <a:t>s</a:t>
            </a:r>
            <a:r>
              <a:rPr sz="1550" dirty="0">
                <a:latin typeface="Cambria"/>
                <a:cs typeface="Cambria"/>
              </a:rPr>
              <a:t>′</a:t>
            </a:r>
            <a:r>
              <a:rPr sz="1550" spc="120" dirty="0">
                <a:latin typeface="Cambria"/>
                <a:cs typeface="Cambria"/>
              </a:rPr>
              <a:t>  </a:t>
            </a:r>
            <a:r>
              <a:rPr sz="2325" spc="330" baseline="3584" dirty="0">
                <a:latin typeface="Cambria"/>
                <a:cs typeface="Cambria"/>
              </a:rPr>
              <a:t>⋆</a:t>
            </a:r>
            <a:endParaRPr sz="2325" baseline="3584" dirty="0">
              <a:latin typeface="Cambria"/>
              <a:cs typeface="Cambria"/>
            </a:endParaRPr>
          </a:p>
        </p:txBody>
      </p:sp>
      <p:grpSp>
        <p:nvGrpSpPr>
          <p:cNvPr id="12" name="object 12"/>
          <p:cNvGrpSpPr/>
          <p:nvPr/>
        </p:nvGrpSpPr>
        <p:grpSpPr>
          <a:xfrm>
            <a:off x="3867150" y="2749550"/>
            <a:ext cx="628650" cy="870585"/>
            <a:chOff x="3867150" y="2749550"/>
            <a:chExt cx="628650" cy="870585"/>
          </a:xfrm>
        </p:grpSpPr>
        <p:pic>
          <p:nvPicPr>
            <p:cNvPr id="13" name="object 13"/>
            <p:cNvPicPr/>
            <p:nvPr/>
          </p:nvPicPr>
          <p:blipFill>
            <a:blip r:embed="rId5" cstate="print"/>
            <a:stretch>
              <a:fillRect/>
            </a:stretch>
          </p:blipFill>
          <p:spPr>
            <a:xfrm>
              <a:off x="3867150" y="2749550"/>
              <a:ext cx="628536" cy="870170"/>
            </a:xfrm>
            <a:prstGeom prst="rect">
              <a:avLst/>
            </a:prstGeom>
          </p:spPr>
        </p:pic>
        <p:pic>
          <p:nvPicPr>
            <p:cNvPr id="14" name="object 14"/>
            <p:cNvPicPr/>
            <p:nvPr/>
          </p:nvPicPr>
          <p:blipFill>
            <a:blip r:embed="rId6" cstate="print"/>
            <a:stretch>
              <a:fillRect/>
            </a:stretch>
          </p:blipFill>
          <p:spPr>
            <a:xfrm>
              <a:off x="3906539" y="2767577"/>
              <a:ext cx="550067" cy="782320"/>
            </a:xfrm>
            <a:prstGeom prst="rect">
              <a:avLst/>
            </a:prstGeom>
          </p:spPr>
        </p:pic>
      </p:grpSp>
      <p:grpSp>
        <p:nvGrpSpPr>
          <p:cNvPr id="15" name="object 15"/>
          <p:cNvGrpSpPr/>
          <p:nvPr/>
        </p:nvGrpSpPr>
        <p:grpSpPr>
          <a:xfrm>
            <a:off x="2698750" y="2749550"/>
            <a:ext cx="628650" cy="870585"/>
            <a:chOff x="2698750" y="2749550"/>
            <a:chExt cx="628650" cy="870585"/>
          </a:xfrm>
        </p:grpSpPr>
        <p:pic>
          <p:nvPicPr>
            <p:cNvPr id="16" name="object 16"/>
            <p:cNvPicPr/>
            <p:nvPr/>
          </p:nvPicPr>
          <p:blipFill>
            <a:blip r:embed="rId5" cstate="print"/>
            <a:stretch>
              <a:fillRect/>
            </a:stretch>
          </p:blipFill>
          <p:spPr>
            <a:xfrm>
              <a:off x="2698750" y="2749550"/>
              <a:ext cx="628536" cy="870170"/>
            </a:xfrm>
            <a:prstGeom prst="rect">
              <a:avLst/>
            </a:prstGeom>
          </p:spPr>
        </p:pic>
        <p:pic>
          <p:nvPicPr>
            <p:cNvPr id="17" name="object 17"/>
            <p:cNvPicPr/>
            <p:nvPr/>
          </p:nvPicPr>
          <p:blipFill>
            <a:blip r:embed="rId7" cstate="print"/>
            <a:stretch>
              <a:fillRect/>
            </a:stretch>
          </p:blipFill>
          <p:spPr>
            <a:xfrm>
              <a:off x="2738139" y="2767577"/>
              <a:ext cx="550067" cy="782320"/>
            </a:xfrm>
            <a:prstGeom prst="rect">
              <a:avLst/>
            </a:prstGeom>
          </p:spPr>
        </p:pic>
      </p:grpSp>
      <p:sp>
        <p:nvSpPr>
          <p:cNvPr id="18" name="Date Placeholder 3">
            <a:extLst>
              <a:ext uri="{FF2B5EF4-FFF2-40B4-BE49-F238E27FC236}">
                <a16:creationId xmlns:a16="http://schemas.microsoft.com/office/drawing/2014/main" id="{6C21DBD4-5932-42A7-6C6A-CF0FC1EB032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ooter Placeholder 5">
            <a:extLst>
              <a:ext uri="{FF2B5EF4-FFF2-40B4-BE49-F238E27FC236}">
                <a16:creationId xmlns:a16="http://schemas.microsoft.com/office/drawing/2014/main" id="{25EF8173-50AA-B69E-EB78-095C0AB21DD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20" name="Slide Number Placeholder 7">
            <a:extLst>
              <a:ext uri="{FF2B5EF4-FFF2-40B4-BE49-F238E27FC236}">
                <a16:creationId xmlns:a16="http://schemas.microsoft.com/office/drawing/2014/main" id="{AA4AB8D8-4E28-8AE4-6B78-A8612D50FDAE}"/>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Group">
            <a:extLst>
              <a:ext uri="{FF2B5EF4-FFF2-40B4-BE49-F238E27FC236}">
                <a16:creationId xmlns:a16="http://schemas.microsoft.com/office/drawing/2014/main" id="{9F974068-6506-9422-FF35-1DAD27E81A97}"/>
              </a:ext>
            </a:extLst>
          </p:cNvPr>
          <p:cNvGrpSpPr/>
          <p:nvPr/>
        </p:nvGrpSpPr>
        <p:grpSpPr>
          <a:xfrm>
            <a:off x="-12700" y="1031778"/>
            <a:ext cx="9144001" cy="5826223"/>
            <a:chOff x="0" y="0"/>
            <a:chExt cx="10720961" cy="5866149"/>
          </a:xfrm>
        </p:grpSpPr>
        <p:sp>
          <p:nvSpPr>
            <p:cNvPr id="20" name="Rectangle">
              <a:extLst>
                <a:ext uri="{FF2B5EF4-FFF2-40B4-BE49-F238E27FC236}">
                  <a16:creationId xmlns:a16="http://schemas.microsoft.com/office/drawing/2014/main" id="{A52CA96A-7195-220A-F9CF-2188251CE460}"/>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1" name="Rounded Rectangle">
              <a:extLst>
                <a:ext uri="{FF2B5EF4-FFF2-40B4-BE49-F238E27FC236}">
                  <a16:creationId xmlns:a16="http://schemas.microsoft.com/office/drawing/2014/main" id="{93B9B0C4-A522-A71B-8F1F-D2C29BBA506C}"/>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2" name="Rectangle">
              <a:extLst>
                <a:ext uri="{FF2B5EF4-FFF2-40B4-BE49-F238E27FC236}">
                  <a16:creationId xmlns:a16="http://schemas.microsoft.com/office/drawing/2014/main" id="{C3B749E3-2E8C-8D86-F46A-2F6CC87D13DA}"/>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2" name="object 2"/>
          <p:cNvSpPr/>
          <p:nvPr/>
        </p:nvSpPr>
        <p:spPr>
          <a:xfrm>
            <a:off x="-1587" y="-1587"/>
            <a:ext cx="9147175"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a:p>
        </p:txBody>
      </p:sp>
      <p:sp>
        <p:nvSpPr>
          <p:cNvPr id="7" name="object 7"/>
          <p:cNvSpPr txBox="1">
            <a:spLocks noGrp="1"/>
          </p:cNvSpPr>
          <p:nvPr>
            <p:ph type="title"/>
          </p:nvPr>
        </p:nvSpPr>
        <p:spPr>
          <a:xfrm>
            <a:off x="563008" y="7620"/>
            <a:ext cx="8352391" cy="982980"/>
          </a:xfrm>
          <a:prstGeom prst="rect">
            <a:avLst/>
          </a:prstGeom>
        </p:spPr>
        <p:txBody>
          <a:bodyPr vert="horz" wrap="square" lIns="0" tIns="43180" rIns="0" bIns="0" rtlCol="0">
            <a:spAutoFit/>
          </a:bodyPr>
          <a:lstStyle/>
          <a:p>
            <a:pPr marL="1482725" marR="5080" indent="-1470660">
              <a:lnSpc>
                <a:spcPts val="3700"/>
              </a:lnSpc>
              <a:spcBef>
                <a:spcPts val="340"/>
              </a:spcBef>
            </a:pPr>
            <a:r>
              <a:rPr sz="3200" dirty="0"/>
              <a:t>Step</a:t>
            </a:r>
            <a:r>
              <a:rPr sz="3200" spc="-5" dirty="0"/>
              <a:t> </a:t>
            </a:r>
            <a:r>
              <a:rPr sz="3200" dirty="0"/>
              <a:t>1:</a:t>
            </a:r>
            <a:r>
              <a:rPr sz="3200" spc="-5" dirty="0"/>
              <a:t> </a:t>
            </a:r>
            <a:r>
              <a:rPr sz="3200" dirty="0"/>
              <a:t>From</a:t>
            </a:r>
            <a:r>
              <a:rPr sz="3200" spc="-10" dirty="0"/>
              <a:t> </a:t>
            </a:r>
            <a:r>
              <a:rPr sz="3200" dirty="0"/>
              <a:t>Model-based </a:t>
            </a:r>
            <a:r>
              <a:rPr sz="3200" spc="-10" dirty="0"/>
              <a:t>Prediction </a:t>
            </a:r>
            <a:r>
              <a:rPr sz="3200" dirty="0"/>
              <a:t>to</a:t>
            </a:r>
            <a:r>
              <a:rPr sz="3200" spc="40" dirty="0"/>
              <a:t> </a:t>
            </a:r>
            <a:r>
              <a:rPr sz="3200" dirty="0"/>
              <a:t>Model-</a:t>
            </a:r>
            <a:r>
              <a:rPr sz="3200" spc="-10" dirty="0"/>
              <a:t>free-Prediction</a:t>
            </a:r>
            <a:endParaRPr sz="3200" dirty="0"/>
          </a:p>
        </p:txBody>
      </p:sp>
      <p:sp>
        <p:nvSpPr>
          <p:cNvPr id="9" name="object 9"/>
          <p:cNvSpPr txBox="1"/>
          <p:nvPr/>
        </p:nvSpPr>
        <p:spPr>
          <a:xfrm>
            <a:off x="563009" y="2167347"/>
            <a:ext cx="6824980" cy="848360"/>
          </a:xfrm>
          <a:prstGeom prst="rect">
            <a:avLst/>
          </a:prstGeom>
        </p:spPr>
        <p:txBody>
          <a:bodyPr vert="horz" wrap="square" lIns="0" tIns="40640" rIns="0" bIns="0" rtlCol="0">
            <a:spAutoFit/>
          </a:bodyPr>
          <a:lstStyle/>
          <a:p>
            <a:pPr marL="12700" marR="5080">
              <a:lnSpc>
                <a:spcPts val="2100"/>
              </a:lnSpc>
              <a:spcBef>
                <a:spcPts val="320"/>
              </a:spcBef>
            </a:pPr>
            <a:r>
              <a:rPr sz="1900" spc="-150" dirty="0">
                <a:latin typeface="Gill Sans MT"/>
                <a:cs typeface="Gill Sans MT"/>
              </a:rPr>
              <a:t>To</a:t>
            </a:r>
            <a:r>
              <a:rPr sz="1900" dirty="0">
                <a:latin typeface="Gill Sans MT"/>
                <a:cs typeface="Gill Sans MT"/>
              </a:rPr>
              <a:t> achieve</a:t>
            </a:r>
            <a:r>
              <a:rPr sz="1900" spc="-30" dirty="0">
                <a:latin typeface="Gill Sans MT"/>
                <a:cs typeface="Gill Sans MT"/>
              </a:rPr>
              <a:t> </a:t>
            </a:r>
            <a:r>
              <a:rPr sz="1900" spc="-10" dirty="0">
                <a:latin typeface="Gill Sans MT"/>
                <a:cs typeface="Gill Sans MT"/>
              </a:rPr>
              <a:t>model-</a:t>
            </a:r>
            <a:r>
              <a:rPr sz="1900" dirty="0">
                <a:latin typeface="Gill Sans MT"/>
                <a:cs typeface="Gill Sans MT"/>
              </a:rPr>
              <a:t>free</a:t>
            </a:r>
            <a:r>
              <a:rPr sz="1900" spc="-20" dirty="0">
                <a:latin typeface="Gill Sans MT"/>
                <a:cs typeface="Gill Sans MT"/>
              </a:rPr>
              <a:t> </a:t>
            </a:r>
            <a:r>
              <a:rPr sz="1900" dirty="0">
                <a:latin typeface="Gill Sans MT"/>
                <a:cs typeface="Gill Sans MT"/>
              </a:rPr>
              <a:t>prediction</a:t>
            </a:r>
            <a:r>
              <a:rPr sz="1900" spc="-15" dirty="0">
                <a:latin typeface="Gill Sans MT"/>
                <a:cs typeface="Gill Sans MT"/>
              </a:rPr>
              <a:t> </a:t>
            </a:r>
            <a:r>
              <a:rPr sz="1900" dirty="0">
                <a:latin typeface="Gill Sans MT"/>
                <a:cs typeface="Gill Sans MT"/>
              </a:rPr>
              <a:t>(value</a:t>
            </a:r>
            <a:r>
              <a:rPr sz="1900" spc="-20" dirty="0">
                <a:latin typeface="Gill Sans MT"/>
                <a:cs typeface="Gill Sans MT"/>
              </a:rPr>
              <a:t> </a:t>
            </a:r>
            <a:r>
              <a:rPr sz="1900" dirty="0">
                <a:latin typeface="Gill Sans MT"/>
                <a:cs typeface="Gill Sans MT"/>
              </a:rPr>
              <a:t>estimation)</a:t>
            </a:r>
            <a:r>
              <a:rPr sz="1900" spc="-10" dirty="0">
                <a:latin typeface="Gill Sans MT"/>
                <a:cs typeface="Gill Sans MT"/>
              </a:rPr>
              <a:t> </a:t>
            </a:r>
            <a:r>
              <a:rPr sz="1900" dirty="0">
                <a:latin typeface="Gill Sans MT"/>
                <a:cs typeface="Gill Sans MT"/>
              </a:rPr>
              <a:t>we</a:t>
            </a:r>
            <a:r>
              <a:rPr sz="1900" spc="-20" dirty="0">
                <a:latin typeface="Gill Sans MT"/>
                <a:cs typeface="Gill Sans MT"/>
              </a:rPr>
              <a:t> </a:t>
            </a:r>
            <a:r>
              <a:rPr sz="1900" dirty="0">
                <a:latin typeface="Gill Sans MT"/>
                <a:cs typeface="Gill Sans MT"/>
              </a:rPr>
              <a:t>first</a:t>
            </a:r>
            <a:r>
              <a:rPr sz="1900" spc="-15" dirty="0">
                <a:latin typeface="Gill Sans MT"/>
                <a:cs typeface="Gill Sans MT"/>
              </a:rPr>
              <a:t> </a:t>
            </a:r>
            <a:r>
              <a:rPr sz="1900" dirty="0">
                <a:latin typeface="Gill Sans MT"/>
                <a:cs typeface="Gill Sans MT"/>
              </a:rPr>
              <a:t>need</a:t>
            </a:r>
            <a:r>
              <a:rPr sz="1900" spc="-20" dirty="0">
                <a:latin typeface="Gill Sans MT"/>
                <a:cs typeface="Gill Sans MT"/>
              </a:rPr>
              <a:t> </a:t>
            </a:r>
            <a:r>
              <a:rPr sz="1900" spc="-25" dirty="0">
                <a:latin typeface="Gill Sans MT"/>
                <a:cs typeface="Gill Sans MT"/>
              </a:rPr>
              <a:t>to </a:t>
            </a:r>
            <a:r>
              <a:rPr sz="1900" dirty="0">
                <a:latin typeface="Gill Sans MT"/>
                <a:cs typeface="Gill Sans MT"/>
              </a:rPr>
              <a:t>get</a:t>
            </a:r>
            <a:r>
              <a:rPr sz="1900" spc="-20" dirty="0">
                <a:latin typeface="Gill Sans MT"/>
                <a:cs typeface="Gill Sans MT"/>
              </a:rPr>
              <a:t> </a:t>
            </a:r>
            <a:r>
              <a:rPr sz="1900" dirty="0">
                <a:latin typeface="Gill Sans MT"/>
                <a:cs typeface="Gill Sans MT"/>
              </a:rPr>
              <a:t>rid</a:t>
            </a:r>
            <a:r>
              <a:rPr sz="1900" spc="-5" dirty="0">
                <a:latin typeface="Gill Sans MT"/>
                <a:cs typeface="Gill Sans MT"/>
              </a:rPr>
              <a:t> </a:t>
            </a:r>
            <a:r>
              <a:rPr sz="1900" dirty="0">
                <a:latin typeface="Gill Sans MT"/>
                <a:cs typeface="Gill Sans MT"/>
              </a:rPr>
              <a:t>of</a:t>
            </a:r>
            <a:r>
              <a:rPr sz="1900" spc="-5" dirty="0">
                <a:latin typeface="Gill Sans MT"/>
                <a:cs typeface="Gill Sans MT"/>
              </a:rPr>
              <a:t> </a:t>
            </a:r>
            <a:r>
              <a:rPr sz="1900" dirty="0">
                <a:latin typeface="Gill Sans MT"/>
                <a:cs typeface="Gill Sans MT"/>
              </a:rPr>
              <a:t>the</a:t>
            </a:r>
            <a:r>
              <a:rPr sz="1900" spc="-10" dirty="0">
                <a:latin typeface="Gill Sans MT"/>
                <a:cs typeface="Gill Sans MT"/>
              </a:rPr>
              <a:t> </a:t>
            </a:r>
            <a:r>
              <a:rPr sz="1900" dirty="0">
                <a:latin typeface="Gill Sans MT"/>
                <a:cs typeface="Gill Sans MT"/>
              </a:rPr>
              <a:t>transition</a:t>
            </a:r>
            <a:r>
              <a:rPr sz="1900" spc="-5" dirty="0">
                <a:latin typeface="Gill Sans MT"/>
                <a:cs typeface="Gill Sans MT"/>
              </a:rPr>
              <a:t> </a:t>
            </a:r>
            <a:r>
              <a:rPr sz="1900" dirty="0">
                <a:latin typeface="Gill Sans MT"/>
                <a:cs typeface="Gill Sans MT"/>
              </a:rPr>
              <a:t>matrix</a:t>
            </a:r>
            <a:r>
              <a:rPr sz="1900" spc="-10" dirty="0">
                <a:latin typeface="Gill Sans MT"/>
                <a:cs typeface="Gill Sans MT"/>
              </a:rPr>
              <a:t> </a:t>
            </a:r>
            <a:r>
              <a:rPr sz="1900" dirty="0">
                <a:latin typeface="Gill Sans MT"/>
                <a:cs typeface="Gill Sans MT"/>
              </a:rPr>
              <a:t>that</a:t>
            </a:r>
            <a:r>
              <a:rPr sz="1900" spc="-5" dirty="0">
                <a:latin typeface="Gill Sans MT"/>
                <a:cs typeface="Gill Sans MT"/>
              </a:rPr>
              <a:t> </a:t>
            </a:r>
            <a:r>
              <a:rPr sz="1900" dirty="0">
                <a:latin typeface="Gill Sans MT"/>
                <a:cs typeface="Gill Sans MT"/>
              </a:rPr>
              <a:t>we</a:t>
            </a:r>
            <a:r>
              <a:rPr sz="1900" spc="-10" dirty="0">
                <a:latin typeface="Gill Sans MT"/>
                <a:cs typeface="Gill Sans MT"/>
              </a:rPr>
              <a:t> </a:t>
            </a:r>
            <a:r>
              <a:rPr sz="1900" dirty="0">
                <a:latin typeface="Gill Sans MT"/>
                <a:cs typeface="Gill Sans MT"/>
              </a:rPr>
              <a:t>use</a:t>
            </a:r>
            <a:r>
              <a:rPr sz="1900" spc="-5" dirty="0">
                <a:latin typeface="Gill Sans MT"/>
                <a:cs typeface="Gill Sans MT"/>
              </a:rPr>
              <a:t> </a:t>
            </a:r>
            <a:r>
              <a:rPr sz="1900" dirty="0">
                <a:latin typeface="Gill Sans MT"/>
                <a:cs typeface="Gill Sans MT"/>
              </a:rPr>
              <a:t>in</a:t>
            </a:r>
            <a:r>
              <a:rPr sz="1900" spc="-10" dirty="0">
                <a:latin typeface="Gill Sans MT"/>
                <a:cs typeface="Gill Sans MT"/>
              </a:rPr>
              <a:t> model-</a:t>
            </a:r>
            <a:r>
              <a:rPr sz="1900" dirty="0">
                <a:latin typeface="Gill Sans MT"/>
                <a:cs typeface="Gill Sans MT"/>
              </a:rPr>
              <a:t>based</a:t>
            </a:r>
            <a:r>
              <a:rPr sz="1900" spc="-5" dirty="0">
                <a:latin typeface="Gill Sans MT"/>
                <a:cs typeface="Gill Sans MT"/>
              </a:rPr>
              <a:t> </a:t>
            </a:r>
            <a:r>
              <a:rPr sz="1900" spc="-10" dirty="0">
                <a:latin typeface="Gill Sans MT"/>
                <a:cs typeface="Gill Sans MT"/>
              </a:rPr>
              <a:t>prediction </a:t>
            </a:r>
            <a:r>
              <a:rPr sz="1900" dirty="0">
                <a:latin typeface="Gill Sans MT"/>
                <a:cs typeface="Gill Sans MT"/>
              </a:rPr>
              <a:t>to</a:t>
            </a:r>
            <a:r>
              <a:rPr sz="1900" spc="-10" dirty="0">
                <a:latin typeface="Gill Sans MT"/>
                <a:cs typeface="Gill Sans MT"/>
              </a:rPr>
              <a:t> </a:t>
            </a:r>
            <a:r>
              <a:rPr sz="1900" dirty="0">
                <a:latin typeface="Gill Sans MT"/>
                <a:cs typeface="Gill Sans MT"/>
              </a:rPr>
              <a:t>compute the</a:t>
            </a:r>
            <a:r>
              <a:rPr sz="1900" spc="-5" dirty="0">
                <a:latin typeface="Gill Sans MT"/>
                <a:cs typeface="Gill Sans MT"/>
              </a:rPr>
              <a:t> </a:t>
            </a:r>
            <a:r>
              <a:rPr sz="1900" spc="-10" dirty="0">
                <a:latin typeface="Gill Sans MT"/>
                <a:cs typeface="Gill Sans MT"/>
              </a:rPr>
              <a:t>expectation.</a:t>
            </a:r>
            <a:endParaRPr sz="1900" dirty="0">
              <a:latin typeface="Gill Sans MT"/>
              <a:cs typeface="Gill Sans MT"/>
            </a:endParaRPr>
          </a:p>
        </p:txBody>
      </p:sp>
      <p:sp>
        <p:nvSpPr>
          <p:cNvPr id="10" name="object 10"/>
          <p:cNvSpPr txBox="1"/>
          <p:nvPr/>
        </p:nvSpPr>
        <p:spPr>
          <a:xfrm>
            <a:off x="563009" y="4596890"/>
            <a:ext cx="4965065" cy="581660"/>
          </a:xfrm>
          <a:prstGeom prst="rect">
            <a:avLst/>
          </a:prstGeom>
        </p:spPr>
        <p:txBody>
          <a:bodyPr vert="horz" wrap="square" lIns="0" tIns="12700" rIns="0" bIns="0" rtlCol="0">
            <a:spAutoFit/>
          </a:bodyPr>
          <a:lstStyle/>
          <a:p>
            <a:pPr marL="12700">
              <a:lnSpc>
                <a:spcPts val="2190"/>
              </a:lnSpc>
              <a:spcBef>
                <a:spcPts val="100"/>
              </a:spcBef>
            </a:pPr>
            <a:r>
              <a:rPr sz="1900" spc="-50" dirty="0">
                <a:solidFill>
                  <a:srgbClr val="C82506"/>
                </a:solidFill>
                <a:latin typeface="Gill Sans MT"/>
                <a:cs typeface="Gill Sans MT"/>
              </a:rPr>
              <a:t>We</a:t>
            </a:r>
            <a:r>
              <a:rPr sz="1900" spc="-30" dirty="0">
                <a:solidFill>
                  <a:srgbClr val="C82506"/>
                </a:solidFill>
                <a:latin typeface="Gill Sans MT"/>
                <a:cs typeface="Gill Sans MT"/>
              </a:rPr>
              <a:t> </a:t>
            </a:r>
            <a:r>
              <a:rPr sz="1900" dirty="0">
                <a:solidFill>
                  <a:srgbClr val="C82506"/>
                </a:solidFill>
                <a:latin typeface="Gill Sans MT"/>
                <a:cs typeface="Gill Sans MT"/>
              </a:rPr>
              <a:t>can</a:t>
            </a:r>
            <a:r>
              <a:rPr sz="1900" spc="-25" dirty="0">
                <a:solidFill>
                  <a:srgbClr val="C82506"/>
                </a:solidFill>
                <a:latin typeface="Gill Sans MT"/>
                <a:cs typeface="Gill Sans MT"/>
              </a:rPr>
              <a:t> </a:t>
            </a:r>
            <a:r>
              <a:rPr sz="1900" dirty="0">
                <a:solidFill>
                  <a:srgbClr val="C82506"/>
                </a:solidFill>
                <a:latin typeface="Gill Sans MT"/>
                <a:cs typeface="Gill Sans MT"/>
              </a:rPr>
              <a:t>use</a:t>
            </a:r>
            <a:r>
              <a:rPr sz="1900" spc="-30" dirty="0">
                <a:solidFill>
                  <a:srgbClr val="C82506"/>
                </a:solidFill>
                <a:latin typeface="Gill Sans MT"/>
                <a:cs typeface="Gill Sans MT"/>
              </a:rPr>
              <a:t> </a:t>
            </a:r>
            <a:r>
              <a:rPr sz="1900" dirty="0">
                <a:solidFill>
                  <a:srgbClr val="C82506"/>
                </a:solidFill>
                <a:latin typeface="Gill Sans MT"/>
                <a:cs typeface="Gill Sans MT"/>
              </a:rPr>
              <a:t>sampling</a:t>
            </a:r>
            <a:r>
              <a:rPr sz="1900" spc="-25" dirty="0">
                <a:solidFill>
                  <a:srgbClr val="C82506"/>
                </a:solidFill>
                <a:latin typeface="Gill Sans MT"/>
                <a:cs typeface="Gill Sans MT"/>
              </a:rPr>
              <a:t> </a:t>
            </a:r>
            <a:r>
              <a:rPr sz="1900" spc="-10" dirty="0">
                <a:solidFill>
                  <a:srgbClr val="C82506"/>
                </a:solidFill>
                <a:latin typeface="Gill Sans MT"/>
                <a:cs typeface="Gill Sans MT"/>
              </a:rPr>
              <a:t>instead.</a:t>
            </a:r>
            <a:endParaRPr sz="1900" dirty="0">
              <a:latin typeface="Gill Sans MT"/>
              <a:cs typeface="Gill Sans MT"/>
            </a:endParaRPr>
          </a:p>
          <a:p>
            <a:pPr marL="12700">
              <a:lnSpc>
                <a:spcPts val="2190"/>
              </a:lnSpc>
            </a:pPr>
            <a:r>
              <a:rPr sz="1900" dirty="0">
                <a:latin typeface="Gill Sans MT"/>
                <a:cs typeface="Gill Sans MT"/>
              </a:rPr>
              <a:t>In</a:t>
            </a:r>
            <a:r>
              <a:rPr sz="1900" spc="-40" dirty="0">
                <a:latin typeface="Gill Sans MT"/>
                <a:cs typeface="Gill Sans MT"/>
              </a:rPr>
              <a:t> </a:t>
            </a:r>
            <a:r>
              <a:rPr sz="1900" dirty="0">
                <a:latin typeface="Gill Sans MT"/>
                <a:cs typeface="Gill Sans MT"/>
              </a:rPr>
              <a:t>this</a:t>
            </a:r>
            <a:r>
              <a:rPr sz="1900" spc="-25" dirty="0">
                <a:latin typeface="Gill Sans MT"/>
                <a:cs typeface="Gill Sans MT"/>
              </a:rPr>
              <a:t> </a:t>
            </a:r>
            <a:r>
              <a:rPr sz="1900" dirty="0">
                <a:latin typeface="Gill Sans MT"/>
                <a:cs typeface="Gill Sans MT"/>
              </a:rPr>
              <a:t>way</a:t>
            </a:r>
            <a:r>
              <a:rPr sz="1900" spc="-25" dirty="0">
                <a:latin typeface="Gill Sans MT"/>
                <a:cs typeface="Gill Sans MT"/>
              </a:rPr>
              <a:t> </a:t>
            </a:r>
            <a:r>
              <a:rPr sz="1900" dirty="0">
                <a:latin typeface="Gill Sans MT"/>
                <a:cs typeface="Gill Sans MT"/>
              </a:rPr>
              <a:t>we</a:t>
            </a:r>
            <a:r>
              <a:rPr sz="1900" spc="-30" dirty="0">
                <a:latin typeface="Gill Sans MT"/>
                <a:cs typeface="Gill Sans MT"/>
              </a:rPr>
              <a:t> </a:t>
            </a:r>
            <a:r>
              <a:rPr sz="1900" dirty="0">
                <a:latin typeface="Gill Sans MT"/>
                <a:cs typeface="Gill Sans MT"/>
              </a:rPr>
              <a:t>will</a:t>
            </a:r>
            <a:r>
              <a:rPr sz="1900" spc="-25" dirty="0">
                <a:latin typeface="Gill Sans MT"/>
                <a:cs typeface="Gill Sans MT"/>
              </a:rPr>
              <a:t> </a:t>
            </a:r>
            <a:r>
              <a:rPr sz="1900" dirty="0">
                <a:latin typeface="Gill Sans MT"/>
                <a:cs typeface="Gill Sans MT"/>
              </a:rPr>
              <a:t>arrive</a:t>
            </a:r>
            <a:r>
              <a:rPr sz="1900" spc="-30" dirty="0">
                <a:latin typeface="Gill Sans MT"/>
                <a:cs typeface="Gill Sans MT"/>
              </a:rPr>
              <a:t> </a:t>
            </a:r>
            <a:r>
              <a:rPr sz="1900" dirty="0">
                <a:latin typeface="Gill Sans MT"/>
                <a:cs typeface="Gill Sans MT"/>
              </a:rPr>
              <a:t>at</a:t>
            </a:r>
            <a:r>
              <a:rPr sz="1900" spc="-30" dirty="0">
                <a:latin typeface="Gill Sans MT"/>
                <a:cs typeface="Gill Sans MT"/>
              </a:rPr>
              <a:t> </a:t>
            </a:r>
            <a:r>
              <a:rPr sz="1900" spc="-10" dirty="0">
                <a:latin typeface="Gill Sans MT"/>
                <a:cs typeface="Gill Sans MT"/>
              </a:rPr>
              <a:t>model-</a:t>
            </a:r>
            <a:r>
              <a:rPr sz="1900" dirty="0">
                <a:latin typeface="Gill Sans MT"/>
                <a:cs typeface="Gill Sans MT"/>
              </a:rPr>
              <a:t>free</a:t>
            </a:r>
            <a:r>
              <a:rPr sz="1900" spc="-25" dirty="0">
                <a:latin typeface="Gill Sans MT"/>
                <a:cs typeface="Gill Sans MT"/>
              </a:rPr>
              <a:t> </a:t>
            </a:r>
            <a:r>
              <a:rPr sz="1900" spc="-10" dirty="0">
                <a:latin typeface="Gill Sans MT"/>
                <a:cs typeface="Gill Sans MT"/>
              </a:rPr>
              <a:t>estimation.</a:t>
            </a:r>
            <a:endParaRPr sz="1900" dirty="0">
              <a:latin typeface="Gill Sans MT"/>
              <a:cs typeface="Gill Sans MT"/>
            </a:endParaRPr>
          </a:p>
        </p:txBody>
      </p:sp>
      <p:sp>
        <p:nvSpPr>
          <p:cNvPr id="11" name="object 11"/>
          <p:cNvSpPr txBox="1"/>
          <p:nvPr/>
        </p:nvSpPr>
        <p:spPr>
          <a:xfrm>
            <a:off x="3443094" y="3791950"/>
            <a:ext cx="358775" cy="241935"/>
          </a:xfrm>
          <a:prstGeom prst="rect">
            <a:avLst/>
          </a:prstGeom>
        </p:spPr>
        <p:txBody>
          <a:bodyPr vert="horz" wrap="square" lIns="0" tIns="14604" rIns="0" bIns="0" rtlCol="0">
            <a:spAutoFit/>
          </a:bodyPr>
          <a:lstStyle/>
          <a:p>
            <a:pPr marL="12700">
              <a:lnSpc>
                <a:spcPct val="100000"/>
              </a:lnSpc>
              <a:spcBef>
                <a:spcPts val="114"/>
              </a:spcBef>
            </a:pPr>
            <a:r>
              <a:rPr sz="1400" spc="35" dirty="0">
                <a:latin typeface="Cambria"/>
                <a:cs typeface="Cambria"/>
              </a:rPr>
              <a:t>a∈A</a:t>
            </a:r>
            <a:endParaRPr sz="1400">
              <a:latin typeface="Cambria"/>
              <a:cs typeface="Cambria"/>
            </a:endParaRPr>
          </a:p>
        </p:txBody>
      </p:sp>
      <p:sp>
        <p:nvSpPr>
          <p:cNvPr id="12" name="object 12"/>
          <p:cNvSpPr txBox="1"/>
          <p:nvPr/>
        </p:nvSpPr>
        <p:spPr>
          <a:xfrm>
            <a:off x="4051764" y="3505197"/>
            <a:ext cx="116205" cy="241935"/>
          </a:xfrm>
          <a:prstGeom prst="rect">
            <a:avLst/>
          </a:prstGeom>
        </p:spPr>
        <p:txBody>
          <a:bodyPr vert="horz" wrap="square" lIns="0" tIns="14604" rIns="0" bIns="0" rtlCol="0">
            <a:spAutoFit/>
          </a:bodyPr>
          <a:lstStyle/>
          <a:p>
            <a:pPr marL="12700">
              <a:lnSpc>
                <a:spcPct val="100000"/>
              </a:lnSpc>
              <a:spcBef>
                <a:spcPts val="114"/>
              </a:spcBef>
            </a:pPr>
            <a:r>
              <a:rPr sz="1400" i="1" spc="10" dirty="0">
                <a:latin typeface="Times New Roman"/>
                <a:cs typeface="Times New Roman"/>
              </a:rPr>
              <a:t>a</a:t>
            </a:r>
            <a:endParaRPr sz="1400">
              <a:latin typeface="Times New Roman"/>
              <a:cs typeface="Times New Roman"/>
            </a:endParaRPr>
          </a:p>
        </p:txBody>
      </p:sp>
      <p:sp>
        <p:nvSpPr>
          <p:cNvPr id="13" name="object 13"/>
          <p:cNvSpPr txBox="1"/>
          <p:nvPr/>
        </p:nvSpPr>
        <p:spPr>
          <a:xfrm>
            <a:off x="4029671" y="3662391"/>
            <a:ext cx="95885" cy="241935"/>
          </a:xfrm>
          <a:prstGeom prst="rect">
            <a:avLst/>
          </a:prstGeom>
        </p:spPr>
        <p:txBody>
          <a:bodyPr vert="horz" wrap="square" lIns="0" tIns="14604" rIns="0" bIns="0" rtlCol="0">
            <a:spAutoFit/>
          </a:bodyPr>
          <a:lstStyle/>
          <a:p>
            <a:pPr marL="12700">
              <a:lnSpc>
                <a:spcPct val="100000"/>
              </a:lnSpc>
              <a:spcBef>
                <a:spcPts val="114"/>
              </a:spcBef>
            </a:pPr>
            <a:r>
              <a:rPr sz="1400" i="1" spc="5" dirty="0">
                <a:latin typeface="Times New Roman"/>
                <a:cs typeface="Times New Roman"/>
              </a:rPr>
              <a:t>s</a:t>
            </a:r>
            <a:endParaRPr sz="1400">
              <a:latin typeface="Times New Roman"/>
              <a:cs typeface="Times New Roman"/>
            </a:endParaRPr>
          </a:p>
        </p:txBody>
      </p:sp>
      <mc:AlternateContent xmlns:mc="http://schemas.openxmlformats.org/markup-compatibility/2006" xmlns:a14="http://schemas.microsoft.com/office/drawing/2010/main">
        <mc:Choice Requires="a14">
          <p:sp>
            <p:nvSpPr>
              <p:cNvPr id="14" name="object 14"/>
              <p:cNvSpPr txBox="1"/>
              <p:nvPr/>
            </p:nvSpPr>
            <p:spPr>
              <a:xfrm>
                <a:off x="2525250" y="3525481"/>
                <a:ext cx="2269931" cy="319959"/>
              </a:xfrm>
              <a:prstGeom prst="rect">
                <a:avLst/>
              </a:prstGeom>
            </p:spPr>
            <p:txBody>
              <a:bodyPr vert="horz" wrap="square" lIns="0" tIns="12065" rIns="0" bIns="0" rtlCol="0">
                <a:spAutoFit/>
              </a:bodyPr>
              <a:lstStyle/>
              <a:p>
                <a:pPr marL="12700">
                  <a:lnSpc>
                    <a:spcPct val="100000"/>
                  </a:lnSpc>
                  <a:spcBef>
                    <a:spcPts val="95"/>
                  </a:spcBef>
                  <a:tabLst>
                    <a:tab pos="1685289" algn="l"/>
                  </a:tabLst>
                </a:pPr>
                <a:r>
                  <a:rPr sz="2000" i="1" spc="-30" dirty="0">
                    <a:latin typeface="Times New Roman"/>
                    <a:cs typeface="Times New Roman"/>
                  </a:rPr>
                  <a:t>v</a:t>
                </a:r>
                <a:r>
                  <a:rPr sz="2000" spc="-30" dirty="0">
                    <a:latin typeface="Cambria"/>
                    <a:cs typeface="Cambria"/>
                  </a:rPr>
                  <a:t>′(</a:t>
                </a:r>
                <a:r>
                  <a:rPr sz="2000" i="1" spc="-30" dirty="0">
                    <a:latin typeface="Times New Roman"/>
                    <a:cs typeface="Times New Roman"/>
                  </a:rPr>
                  <a:t>s</a:t>
                </a:r>
                <a:r>
                  <a:rPr sz="2000" spc="-30" dirty="0">
                    <a:latin typeface="Cambria"/>
                    <a:cs typeface="Cambria"/>
                  </a:rPr>
                  <a:t>)</a:t>
                </a:r>
                <a:r>
                  <a:rPr sz="2000" spc="60" dirty="0">
                    <a:latin typeface="Cambria"/>
                    <a:cs typeface="Cambria"/>
                  </a:rPr>
                  <a:t> </a:t>
                </a:r>
                <a:r>
                  <a:rPr sz="2000" spc="165" dirty="0">
                    <a:latin typeface="Cambria"/>
                    <a:cs typeface="Cambria"/>
                  </a:rPr>
                  <a:t>→</a:t>
                </a:r>
                <a:r>
                  <a:rPr sz="2000" spc="65" dirty="0">
                    <a:latin typeface="Cambria"/>
                    <a:cs typeface="Cambria"/>
                  </a:rPr>
                  <a:t> </a:t>
                </a:r>
                <a:r>
                  <a:rPr sz="2000" i="1" spc="95" dirty="0">
                    <a:latin typeface="Times New Roman"/>
                    <a:cs typeface="Times New Roman"/>
                  </a:rPr>
                  <a:t>max</a:t>
                </a:r>
                <a:r>
                  <a:rPr sz="2000" i="1" spc="110" dirty="0">
                    <a:latin typeface="Times New Roman"/>
                    <a:cs typeface="Times New Roman"/>
                  </a:rPr>
                  <a:t> </a:t>
                </a:r>
                <a:r>
                  <a:rPr sz="2000" i="1" spc="-50" dirty="0">
                    <a:latin typeface="Times New Roman"/>
                    <a:cs typeface="Times New Roman"/>
                  </a:rPr>
                  <a:t>R</a:t>
                </a:r>
                <a:r>
                  <a:rPr sz="2000" i="1" dirty="0">
                    <a:latin typeface="Times New Roman"/>
                    <a:cs typeface="Times New Roman"/>
                  </a:rPr>
                  <a:t>	</a:t>
                </a:r>
                <a:r>
                  <a:rPr sz="2000" spc="250" dirty="0">
                    <a:latin typeface="Cambria"/>
                    <a:cs typeface="Cambria"/>
                  </a:rPr>
                  <a:t>+</a:t>
                </a:r>
                <a:r>
                  <a:rPr sz="2000" dirty="0">
                    <a:latin typeface="Cambria"/>
                    <a:cs typeface="Cambria"/>
                  </a:rPr>
                  <a:t> </a:t>
                </a:r>
                <a14:m>
                  <m:oMath xmlns:m="http://schemas.openxmlformats.org/officeDocument/2006/math">
                    <m:r>
                      <a:rPr lang="en-US" sz="2000" i="1" spc="-125" dirty="0" smtClean="0">
                        <a:latin typeface="Cambria Math" panose="02040503050406030204" pitchFamily="18" charset="0"/>
                        <a:cs typeface="Arial"/>
                      </a:rPr>
                      <m:t>𝛾</m:t>
                    </m:r>
                  </m:oMath>
                </a14:m>
                <a:endParaRPr sz="2000" dirty="0">
                  <a:latin typeface="Arial"/>
                  <a:cs typeface="Arial"/>
                </a:endParaRPr>
              </a:p>
            </p:txBody>
          </p:sp>
        </mc:Choice>
        <mc:Fallback xmlns="">
          <p:sp>
            <p:nvSpPr>
              <p:cNvPr id="14" name="object 14"/>
              <p:cNvSpPr txBox="1">
                <a:spLocks noRot="1" noChangeAspect="1" noMove="1" noResize="1" noEditPoints="1" noAdjustHandles="1" noChangeArrowheads="1" noChangeShapeType="1" noTextEdit="1"/>
              </p:cNvSpPr>
              <p:nvPr/>
            </p:nvSpPr>
            <p:spPr>
              <a:xfrm>
                <a:off x="2525250" y="3525481"/>
                <a:ext cx="2269931" cy="319959"/>
              </a:xfrm>
              <a:prstGeom prst="rect">
                <a:avLst/>
              </a:prstGeom>
              <a:blipFill>
                <a:blip r:embed="rId4"/>
                <a:stretch>
                  <a:fillRect l="-6166" t="-22642" b="-47170"/>
                </a:stretch>
              </a:blipFill>
            </p:spPr>
            <p:txBody>
              <a:bodyPr/>
              <a:lstStyle/>
              <a:p>
                <a:r>
                  <a:rPr lang="en-US">
                    <a:noFill/>
                  </a:rPr>
                  <a:t> </a:t>
                </a:r>
              </a:p>
            </p:txBody>
          </p:sp>
        </mc:Fallback>
      </mc:AlternateContent>
      <p:sp>
        <p:nvSpPr>
          <p:cNvPr id="15" name="object 15"/>
          <p:cNvSpPr txBox="1"/>
          <p:nvPr/>
        </p:nvSpPr>
        <p:spPr>
          <a:xfrm>
            <a:off x="4560429" y="3545841"/>
            <a:ext cx="353060" cy="492759"/>
          </a:xfrm>
          <a:prstGeom prst="rect">
            <a:avLst/>
          </a:prstGeom>
        </p:spPr>
        <p:txBody>
          <a:bodyPr vert="horz" wrap="square" lIns="0" tIns="12065" rIns="0" bIns="0" rtlCol="0">
            <a:spAutoFit/>
          </a:bodyPr>
          <a:lstStyle/>
          <a:p>
            <a:pPr marL="12700">
              <a:lnSpc>
                <a:spcPts val="2200"/>
              </a:lnSpc>
              <a:spcBef>
                <a:spcPts val="95"/>
              </a:spcBef>
            </a:pPr>
            <a:r>
              <a:rPr sz="2000" spc="1150" dirty="0">
                <a:latin typeface="Arial"/>
                <a:cs typeface="Arial"/>
              </a:rPr>
              <a:t>∑</a:t>
            </a:r>
            <a:endParaRPr sz="2000" dirty="0">
              <a:latin typeface="Arial"/>
              <a:cs typeface="Arial"/>
            </a:endParaRPr>
          </a:p>
          <a:p>
            <a:pPr marL="13970">
              <a:lnSpc>
                <a:spcPts val="1480"/>
              </a:lnSpc>
            </a:pPr>
            <a:r>
              <a:rPr sz="1400" i="1" spc="-20" dirty="0">
                <a:latin typeface="Times New Roman"/>
                <a:cs typeface="Times New Roman"/>
              </a:rPr>
              <a:t>s</a:t>
            </a:r>
            <a:r>
              <a:rPr sz="1400" spc="-20" dirty="0">
                <a:latin typeface="Cambria"/>
                <a:cs typeface="Cambria"/>
              </a:rPr>
              <a:t>′∈</a:t>
            </a:r>
            <a:r>
              <a:rPr sz="1400" i="1" spc="-20" dirty="0">
                <a:latin typeface="Times New Roman"/>
                <a:cs typeface="Times New Roman"/>
              </a:rPr>
              <a:t>S</a:t>
            </a:r>
            <a:endParaRPr sz="1400" dirty="0">
              <a:latin typeface="Times New Roman"/>
              <a:cs typeface="Times New Roman"/>
            </a:endParaRPr>
          </a:p>
        </p:txBody>
      </p:sp>
      <p:sp>
        <p:nvSpPr>
          <p:cNvPr id="16" name="object 16"/>
          <p:cNvSpPr txBox="1"/>
          <p:nvPr/>
        </p:nvSpPr>
        <p:spPr>
          <a:xfrm>
            <a:off x="4930256" y="3525481"/>
            <a:ext cx="513080" cy="330200"/>
          </a:xfrm>
          <a:prstGeom prst="rect">
            <a:avLst/>
          </a:prstGeom>
        </p:spPr>
        <p:txBody>
          <a:bodyPr vert="horz" wrap="square" lIns="0" tIns="12065" rIns="0" bIns="0" rtlCol="0">
            <a:spAutoFit/>
          </a:bodyPr>
          <a:lstStyle/>
          <a:p>
            <a:pPr marL="12700">
              <a:lnSpc>
                <a:spcPct val="100000"/>
              </a:lnSpc>
              <a:spcBef>
                <a:spcPts val="95"/>
              </a:spcBef>
              <a:tabLst>
                <a:tab pos="387350" algn="l"/>
              </a:tabLst>
            </a:pPr>
            <a:r>
              <a:rPr sz="2000" i="1" spc="-50" dirty="0">
                <a:latin typeface="Times New Roman"/>
                <a:cs typeface="Times New Roman"/>
              </a:rPr>
              <a:t>P</a:t>
            </a:r>
            <a:r>
              <a:rPr sz="2000" i="1" dirty="0">
                <a:latin typeface="Times New Roman"/>
                <a:cs typeface="Times New Roman"/>
              </a:rPr>
              <a:t>	</a:t>
            </a:r>
            <a:r>
              <a:rPr sz="2000" i="1" spc="-50" dirty="0">
                <a:latin typeface="Times New Roman"/>
                <a:cs typeface="Times New Roman"/>
              </a:rPr>
              <a:t>v</a:t>
            </a:r>
            <a:endParaRPr sz="2000">
              <a:latin typeface="Times New Roman"/>
              <a:cs typeface="Times New Roman"/>
            </a:endParaRPr>
          </a:p>
        </p:txBody>
      </p:sp>
      <p:sp>
        <p:nvSpPr>
          <p:cNvPr id="17" name="object 17"/>
          <p:cNvSpPr txBox="1"/>
          <p:nvPr/>
        </p:nvSpPr>
        <p:spPr>
          <a:xfrm>
            <a:off x="5098352" y="3505197"/>
            <a:ext cx="480059" cy="241935"/>
          </a:xfrm>
          <a:prstGeom prst="rect">
            <a:avLst/>
          </a:prstGeom>
        </p:spPr>
        <p:txBody>
          <a:bodyPr vert="horz" wrap="square" lIns="0" tIns="14604" rIns="0" bIns="0" rtlCol="0">
            <a:spAutoFit/>
          </a:bodyPr>
          <a:lstStyle/>
          <a:p>
            <a:pPr marL="12700">
              <a:lnSpc>
                <a:spcPct val="100000"/>
              </a:lnSpc>
              <a:spcBef>
                <a:spcPts val="114"/>
              </a:spcBef>
              <a:tabLst>
                <a:tab pos="344805" algn="l"/>
              </a:tabLst>
            </a:pPr>
            <a:r>
              <a:rPr sz="1400" i="1" spc="-50" dirty="0">
                <a:latin typeface="Times New Roman"/>
                <a:cs typeface="Times New Roman"/>
              </a:rPr>
              <a:t>a</a:t>
            </a:r>
            <a:r>
              <a:rPr sz="1400" i="1" dirty="0">
                <a:latin typeface="Times New Roman"/>
                <a:cs typeface="Times New Roman"/>
              </a:rPr>
              <a:t>	</a:t>
            </a:r>
            <a:r>
              <a:rPr sz="1400" i="1" spc="-25" dirty="0">
                <a:latin typeface="Times New Roman"/>
                <a:cs typeface="Times New Roman"/>
              </a:rPr>
              <a:t>s</a:t>
            </a:r>
            <a:r>
              <a:rPr sz="1400" spc="-25" dirty="0">
                <a:latin typeface="Cambria"/>
                <a:cs typeface="Cambria"/>
              </a:rPr>
              <a:t>′</a:t>
            </a:r>
            <a:endParaRPr sz="1400">
              <a:latin typeface="Cambria"/>
              <a:cs typeface="Cambria"/>
            </a:endParaRPr>
          </a:p>
        </p:txBody>
      </p:sp>
      <p:sp>
        <p:nvSpPr>
          <p:cNvPr id="18" name="object 18"/>
          <p:cNvSpPr txBox="1"/>
          <p:nvPr/>
        </p:nvSpPr>
        <p:spPr>
          <a:xfrm>
            <a:off x="5073865" y="3679426"/>
            <a:ext cx="486409" cy="241935"/>
          </a:xfrm>
          <a:prstGeom prst="rect">
            <a:avLst/>
          </a:prstGeom>
        </p:spPr>
        <p:txBody>
          <a:bodyPr vert="horz" wrap="square" lIns="0" tIns="14604" rIns="0" bIns="0" rtlCol="0">
            <a:spAutoFit/>
          </a:bodyPr>
          <a:lstStyle/>
          <a:p>
            <a:pPr marL="12700">
              <a:lnSpc>
                <a:spcPct val="100000"/>
              </a:lnSpc>
              <a:spcBef>
                <a:spcPts val="114"/>
              </a:spcBef>
            </a:pPr>
            <a:r>
              <a:rPr sz="1400" i="1" dirty="0">
                <a:latin typeface="Times New Roman"/>
                <a:cs typeface="Times New Roman"/>
              </a:rPr>
              <a:t>s</a:t>
            </a:r>
            <a:r>
              <a:rPr sz="1400" dirty="0">
                <a:latin typeface="Cambria"/>
                <a:cs typeface="Cambria"/>
              </a:rPr>
              <a:t>,</a:t>
            </a:r>
            <a:r>
              <a:rPr sz="1400" i="1" dirty="0">
                <a:latin typeface="Times New Roman"/>
                <a:cs typeface="Times New Roman"/>
              </a:rPr>
              <a:t>s</a:t>
            </a:r>
            <a:r>
              <a:rPr sz="1400" dirty="0">
                <a:latin typeface="Cambria"/>
                <a:cs typeface="Cambria"/>
              </a:rPr>
              <a:t>′</a:t>
            </a:r>
            <a:r>
              <a:rPr sz="1400" spc="135" dirty="0">
                <a:latin typeface="Cambria"/>
                <a:cs typeface="Cambria"/>
              </a:rPr>
              <a:t>  </a:t>
            </a:r>
            <a:r>
              <a:rPr sz="2100" spc="315" baseline="3968" dirty="0">
                <a:latin typeface="Cambria"/>
                <a:cs typeface="Cambria"/>
              </a:rPr>
              <a:t>⋆</a:t>
            </a:r>
            <a:endParaRPr sz="2100" baseline="3968">
              <a:latin typeface="Cambria"/>
              <a:cs typeface="Cambria"/>
            </a:endParaRPr>
          </a:p>
        </p:txBody>
      </p:sp>
      <p:sp>
        <p:nvSpPr>
          <p:cNvPr id="23" name="Line">
            <a:extLst>
              <a:ext uri="{FF2B5EF4-FFF2-40B4-BE49-F238E27FC236}">
                <a16:creationId xmlns:a16="http://schemas.microsoft.com/office/drawing/2014/main" id="{C21B6F6D-976B-F17F-25DA-8E11E00B1E65}"/>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6" name="Date Placeholder 3">
            <a:extLst>
              <a:ext uri="{FF2B5EF4-FFF2-40B4-BE49-F238E27FC236}">
                <a16:creationId xmlns:a16="http://schemas.microsoft.com/office/drawing/2014/main" id="{6F03DCC3-BA83-20BB-D35C-C0D86DBD66A9}"/>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C8CB1744-ECAF-EA04-D930-A7272FA23F7F}"/>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24" name="Slide Number Placeholder 7">
            <a:extLst>
              <a:ext uri="{FF2B5EF4-FFF2-40B4-BE49-F238E27FC236}">
                <a16:creationId xmlns:a16="http://schemas.microsoft.com/office/drawing/2014/main" id="{C0AEE5CD-1810-32F5-12AE-4E8BBC261CB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105600" y="2927180"/>
            <a:ext cx="6599881" cy="3827484"/>
          </a:xfrm>
          <a:prstGeom prst="rect">
            <a:avLst/>
          </a:prstGeom>
        </p:spPr>
      </p:pic>
      <p:sp>
        <p:nvSpPr>
          <p:cNvPr id="3" name="object 3"/>
          <p:cNvSpPr txBox="1">
            <a:spLocks noGrp="1"/>
          </p:cNvSpPr>
          <p:nvPr>
            <p:ph type="title"/>
          </p:nvPr>
        </p:nvSpPr>
        <p:spPr>
          <a:xfrm>
            <a:off x="325739" y="427093"/>
            <a:ext cx="6070600" cy="421640"/>
          </a:xfrm>
          <a:prstGeom prst="rect">
            <a:avLst/>
          </a:prstGeom>
        </p:spPr>
        <p:txBody>
          <a:bodyPr vert="horz" wrap="square" lIns="0" tIns="12700" rIns="0" bIns="0" rtlCol="0">
            <a:spAutoFit/>
          </a:bodyPr>
          <a:lstStyle/>
          <a:p>
            <a:pPr marL="12700">
              <a:lnSpc>
                <a:spcPct val="100000"/>
              </a:lnSpc>
              <a:spcBef>
                <a:spcPts val="100"/>
              </a:spcBef>
            </a:pPr>
            <a:r>
              <a:rPr spc="-70" dirty="0"/>
              <a:t>Sampling</a:t>
            </a:r>
            <a:r>
              <a:rPr spc="-135" dirty="0"/>
              <a:t> </a:t>
            </a:r>
            <a:r>
              <a:rPr spc="-75" dirty="0"/>
              <a:t>liberates</a:t>
            </a:r>
            <a:r>
              <a:rPr spc="-130" dirty="0"/>
              <a:t> </a:t>
            </a:r>
            <a:r>
              <a:rPr spc="-40" dirty="0"/>
              <a:t>us</a:t>
            </a:r>
            <a:r>
              <a:rPr spc="-130" dirty="0"/>
              <a:t> </a:t>
            </a:r>
            <a:r>
              <a:rPr spc="-65" dirty="0"/>
              <a:t>from</a:t>
            </a:r>
            <a:r>
              <a:rPr spc="-130" dirty="0"/>
              <a:t> </a:t>
            </a:r>
            <a:r>
              <a:rPr spc="-70" dirty="0"/>
              <a:t>needing</a:t>
            </a:r>
            <a:r>
              <a:rPr spc="-130" dirty="0"/>
              <a:t> </a:t>
            </a:r>
            <a:r>
              <a:rPr dirty="0"/>
              <a:t>a</a:t>
            </a:r>
            <a:r>
              <a:rPr spc="-130" dirty="0"/>
              <a:t> </a:t>
            </a:r>
            <a:r>
              <a:rPr spc="-55" dirty="0"/>
              <a:t>model</a:t>
            </a:r>
          </a:p>
        </p:txBody>
      </p:sp>
      <mc:AlternateContent xmlns:mc="http://schemas.openxmlformats.org/markup-compatibility/2006" xmlns:a14="http://schemas.microsoft.com/office/drawing/2010/main">
        <mc:Choice Requires="a14">
          <p:sp>
            <p:nvSpPr>
              <p:cNvPr id="4" name="object 4"/>
              <p:cNvSpPr txBox="1"/>
              <p:nvPr/>
            </p:nvSpPr>
            <p:spPr>
              <a:xfrm>
                <a:off x="288685" y="1332059"/>
                <a:ext cx="8335645" cy="3016210"/>
              </a:xfrm>
              <a:prstGeom prst="rect">
                <a:avLst/>
              </a:prstGeom>
            </p:spPr>
            <p:txBody>
              <a:bodyPr vert="horz" wrap="square" lIns="0" tIns="12700" rIns="0" bIns="0" rtlCol="0">
                <a:spAutoFit/>
              </a:bodyPr>
              <a:lstStyle/>
              <a:p>
                <a:pPr marL="50800">
                  <a:lnSpc>
                    <a:spcPct val="100000"/>
                  </a:lnSpc>
                  <a:spcBef>
                    <a:spcPts val="100"/>
                  </a:spcBef>
                </a:pPr>
                <a:r>
                  <a:rPr sz="2300" dirty="0">
                    <a:latin typeface="Gill Sans MT"/>
                    <a:cs typeface="Gill Sans MT"/>
                  </a:rPr>
                  <a:t>replace</a:t>
                </a:r>
                <a:r>
                  <a:rPr sz="2300" spc="-40" dirty="0">
                    <a:latin typeface="Gill Sans MT"/>
                    <a:cs typeface="Gill Sans MT"/>
                  </a:rPr>
                  <a:t> </a:t>
                </a:r>
                <a:r>
                  <a:rPr sz="2300" dirty="0">
                    <a:latin typeface="Gill Sans MT"/>
                    <a:cs typeface="Gill Sans MT"/>
                  </a:rPr>
                  <a:t>the</a:t>
                </a:r>
                <a:r>
                  <a:rPr sz="2300" spc="-30" dirty="0">
                    <a:latin typeface="Gill Sans MT"/>
                    <a:cs typeface="Gill Sans MT"/>
                  </a:rPr>
                  <a:t> </a:t>
                </a:r>
                <a:r>
                  <a:rPr sz="2300" dirty="0">
                    <a:latin typeface="Gill Sans MT"/>
                    <a:cs typeface="Gill Sans MT"/>
                  </a:rPr>
                  <a:t>expectation</a:t>
                </a:r>
                <a:r>
                  <a:rPr sz="2300" spc="-30" dirty="0">
                    <a:latin typeface="Gill Sans MT"/>
                    <a:cs typeface="Gill Sans MT"/>
                  </a:rPr>
                  <a:t> </a:t>
                </a:r>
                <a:r>
                  <a:rPr sz="2300" dirty="0">
                    <a:latin typeface="Gill Sans MT"/>
                    <a:cs typeface="Gill Sans MT"/>
                  </a:rPr>
                  <a:t>by</a:t>
                </a:r>
                <a:r>
                  <a:rPr sz="2300" spc="-30" dirty="0">
                    <a:latin typeface="Gill Sans MT"/>
                    <a:cs typeface="Gill Sans MT"/>
                  </a:rPr>
                  <a:t> </a:t>
                </a:r>
                <a:r>
                  <a:rPr sz="2300" dirty="0">
                    <a:latin typeface="Gill Sans MT"/>
                    <a:cs typeface="Gill Sans MT"/>
                  </a:rPr>
                  <a:t>an</a:t>
                </a:r>
                <a:r>
                  <a:rPr sz="2300" spc="-30" dirty="0">
                    <a:latin typeface="Gill Sans MT"/>
                    <a:cs typeface="Gill Sans MT"/>
                  </a:rPr>
                  <a:t> </a:t>
                </a:r>
                <a:r>
                  <a:rPr sz="2300" dirty="0">
                    <a:latin typeface="Gill Sans MT"/>
                    <a:cs typeface="Gill Sans MT"/>
                  </a:rPr>
                  <a:t>(incrementally</a:t>
                </a:r>
                <a:r>
                  <a:rPr sz="2300" spc="-25" dirty="0">
                    <a:latin typeface="Gill Sans MT"/>
                    <a:cs typeface="Gill Sans MT"/>
                  </a:rPr>
                  <a:t> </a:t>
                </a:r>
                <a:r>
                  <a:rPr sz="2300" dirty="0">
                    <a:latin typeface="Gill Sans MT"/>
                    <a:cs typeface="Gill Sans MT"/>
                  </a:rPr>
                  <a:t>computed)</a:t>
                </a:r>
                <a:r>
                  <a:rPr sz="2300" spc="-30" dirty="0">
                    <a:latin typeface="Gill Sans MT"/>
                    <a:cs typeface="Gill Sans MT"/>
                  </a:rPr>
                  <a:t> </a:t>
                </a:r>
                <a:r>
                  <a:rPr sz="2300" dirty="0">
                    <a:latin typeface="Gill Sans MT"/>
                    <a:cs typeface="Gill Sans MT"/>
                  </a:rPr>
                  <a:t>sample-</a:t>
                </a:r>
                <a:r>
                  <a:rPr sz="2300" spc="-20" dirty="0">
                    <a:latin typeface="Gill Sans MT"/>
                    <a:cs typeface="Gill Sans MT"/>
                  </a:rPr>
                  <a:t>mean</a:t>
                </a:r>
                <a:endParaRPr sz="2300" dirty="0">
                  <a:latin typeface="Gill Sans MT"/>
                  <a:cs typeface="Gill Sans MT"/>
                </a:endParaRPr>
              </a:p>
              <a:p>
                <a:pPr>
                  <a:lnSpc>
                    <a:spcPct val="100000"/>
                  </a:lnSpc>
                  <a:spcBef>
                    <a:spcPts val="15"/>
                  </a:spcBef>
                </a:pPr>
                <a:endParaRPr sz="2250" dirty="0">
                  <a:latin typeface="Gill Sans MT"/>
                  <a:cs typeface="Gill Sans MT"/>
                </a:endParaRPr>
              </a:p>
              <a:p>
                <a:pPr marR="506095" algn="ctr">
                  <a:lnSpc>
                    <a:spcPct val="100000"/>
                  </a:lnSpc>
                </a:pPr>
                <a:r>
                  <a:rPr sz="2400" i="1" spc="-10" dirty="0">
                    <a:latin typeface="Times New Roman"/>
                    <a:cs typeface="Times New Roman"/>
                  </a:rPr>
                  <a:t>V</a:t>
                </a:r>
                <a:r>
                  <a:rPr sz="2400" spc="-10" dirty="0">
                    <a:latin typeface="Cambria"/>
                    <a:cs typeface="Cambria"/>
                  </a:rPr>
                  <a:t>(</a:t>
                </a:r>
                <a:r>
                  <a:rPr sz="2400" i="1" spc="-10" dirty="0">
                    <a:latin typeface="Times New Roman"/>
                    <a:cs typeface="Times New Roman"/>
                  </a:rPr>
                  <a:t>S</a:t>
                </a:r>
                <a:r>
                  <a:rPr sz="2550" i="1" spc="-15" baseline="-19607" dirty="0">
                    <a:latin typeface="Times New Roman"/>
                    <a:cs typeface="Times New Roman"/>
                  </a:rPr>
                  <a:t>t</a:t>
                </a:r>
                <a:r>
                  <a:rPr sz="2400" spc="-10" dirty="0">
                    <a:latin typeface="Cambria"/>
                    <a:cs typeface="Cambria"/>
                  </a:rPr>
                  <a:t>)</a:t>
                </a:r>
                <a:r>
                  <a:rPr sz="2400" spc="85" dirty="0">
                    <a:latin typeface="Cambria"/>
                    <a:cs typeface="Cambria"/>
                  </a:rPr>
                  <a:t> </a:t>
                </a:r>
                <a:r>
                  <a:rPr sz="2400" spc="315" dirty="0">
                    <a:latin typeface="Cambria"/>
                    <a:cs typeface="Cambria"/>
                  </a:rPr>
                  <a:t>=</a:t>
                </a:r>
                <a:r>
                  <a:rPr sz="2400" spc="90" dirty="0">
                    <a:latin typeface="Cambria"/>
                    <a:cs typeface="Cambria"/>
                  </a:rPr>
                  <a:t> </a:t>
                </a:r>
                <a:r>
                  <a:rPr sz="2400" dirty="0">
                    <a:latin typeface="Cambria"/>
                    <a:cs typeface="Cambria"/>
                  </a:rPr>
                  <a:t>𝔼[</a:t>
                </a:r>
                <a:r>
                  <a:rPr sz="2400" i="1" dirty="0">
                    <a:latin typeface="Times New Roman"/>
                    <a:cs typeface="Times New Roman"/>
                  </a:rPr>
                  <a:t>R</a:t>
                </a:r>
                <a:r>
                  <a:rPr sz="2550" i="1" baseline="-19607" dirty="0">
                    <a:latin typeface="Times New Roman"/>
                    <a:cs typeface="Times New Roman"/>
                  </a:rPr>
                  <a:t>t</a:t>
                </a:r>
                <a:r>
                  <a:rPr sz="2550" baseline="-19607" dirty="0">
                    <a:latin typeface="Cambria"/>
                    <a:cs typeface="Cambria"/>
                  </a:rPr>
                  <a:t>+1</a:t>
                </a:r>
                <a:r>
                  <a:rPr sz="2550" spc="179" baseline="-19607" dirty="0">
                    <a:latin typeface="Cambria"/>
                    <a:cs typeface="Cambria"/>
                  </a:rPr>
                  <a:t> </a:t>
                </a:r>
                <a:r>
                  <a:rPr sz="2400" spc="315" dirty="0">
                    <a:latin typeface="Cambria"/>
                    <a:cs typeface="Cambria"/>
                  </a:rPr>
                  <a:t>+</a:t>
                </a:r>
                <a:r>
                  <a:rPr sz="2400" spc="-35" dirty="0">
                    <a:latin typeface="Cambria"/>
                    <a:cs typeface="Cambria"/>
                  </a:rPr>
                  <a:t> </a:t>
                </a:r>
                <a14:m>
                  <m:oMath xmlns:m="http://schemas.openxmlformats.org/officeDocument/2006/math">
                    <m:r>
                      <a:rPr lang="en-US" sz="2400" i="1" spc="-10" dirty="0" smtClean="0">
                        <a:latin typeface="Cambria Math" panose="02040503050406030204" pitchFamily="18" charset="0"/>
                        <a:cs typeface="Arial"/>
                      </a:rPr>
                      <m:t>𝛾</m:t>
                    </m:r>
                  </m:oMath>
                </a14:m>
                <a:r>
                  <a:rPr sz="2400" i="1" spc="-10" dirty="0">
                    <a:latin typeface="Times New Roman"/>
                    <a:cs typeface="Times New Roman"/>
                  </a:rPr>
                  <a:t>V</a:t>
                </a:r>
                <a:r>
                  <a:rPr sz="2400" spc="-10" dirty="0">
                    <a:latin typeface="Cambria"/>
                    <a:cs typeface="Cambria"/>
                  </a:rPr>
                  <a:t>(</a:t>
                </a:r>
                <a:r>
                  <a:rPr sz="2400" i="1" spc="-10" dirty="0">
                    <a:latin typeface="Times New Roman"/>
                    <a:cs typeface="Times New Roman"/>
                  </a:rPr>
                  <a:t>S</a:t>
                </a:r>
                <a:r>
                  <a:rPr sz="2550" i="1" spc="-15" baseline="-19607" dirty="0">
                    <a:latin typeface="Times New Roman"/>
                    <a:cs typeface="Times New Roman"/>
                  </a:rPr>
                  <a:t>t</a:t>
                </a:r>
                <a:r>
                  <a:rPr sz="2550" spc="-15" baseline="-19607" dirty="0">
                    <a:latin typeface="Cambria"/>
                    <a:cs typeface="Cambria"/>
                  </a:rPr>
                  <a:t>+1</a:t>
                </a:r>
                <a:r>
                  <a:rPr sz="2400" spc="-10" dirty="0">
                    <a:latin typeface="Cambria"/>
                    <a:cs typeface="Cambria"/>
                  </a:rPr>
                  <a:t>)]</a:t>
                </a:r>
                <a:endParaRPr sz="2400" dirty="0">
                  <a:latin typeface="Cambria"/>
                  <a:cs typeface="Cambria"/>
                </a:endParaRPr>
              </a:p>
              <a:p>
                <a:pPr marL="3901440">
                  <a:lnSpc>
                    <a:spcPct val="100000"/>
                  </a:lnSpc>
                  <a:spcBef>
                    <a:spcPts val="1370"/>
                  </a:spcBef>
                </a:pPr>
                <a:r>
                  <a:rPr sz="2400" i="1" spc="-25" dirty="0">
                    <a:latin typeface="Times New Roman"/>
                    <a:cs typeface="Times New Roman"/>
                  </a:rPr>
                  <a:t>s</a:t>
                </a:r>
                <a:r>
                  <a:rPr sz="1950" i="1" spc="-37" baseline="-14957" dirty="0">
                    <a:latin typeface="Times New Roman"/>
                    <a:cs typeface="Times New Roman"/>
                  </a:rPr>
                  <a:t>t</a:t>
                </a:r>
                <a:endParaRPr sz="1950" baseline="-14957" dirty="0">
                  <a:latin typeface="Times New Roman"/>
                  <a:cs typeface="Times New Roman"/>
                </a:endParaRPr>
              </a:p>
              <a:p>
                <a:pPr>
                  <a:lnSpc>
                    <a:spcPct val="100000"/>
                  </a:lnSpc>
                  <a:spcBef>
                    <a:spcPts val="55"/>
                  </a:spcBef>
                </a:pPr>
                <a:endParaRPr sz="3450" dirty="0">
                  <a:latin typeface="Times New Roman"/>
                  <a:cs typeface="Times New Roman"/>
                </a:endParaRPr>
              </a:p>
              <a:p>
                <a:pPr marL="4025900">
                  <a:lnSpc>
                    <a:spcPct val="100000"/>
                  </a:lnSpc>
                </a:pPr>
                <a:r>
                  <a:rPr sz="3975" i="1" spc="-30" baseline="10482" dirty="0">
                    <a:latin typeface="Times New Roman"/>
                    <a:cs typeface="Times New Roman"/>
                  </a:rPr>
                  <a:t>r</a:t>
                </a:r>
                <a:r>
                  <a:rPr sz="1400" i="1" spc="-20" dirty="0">
                    <a:latin typeface="Times New Roman"/>
                    <a:cs typeface="Times New Roman"/>
                  </a:rPr>
                  <a:t>t</a:t>
                </a:r>
                <a:r>
                  <a:rPr sz="1400" spc="-20" dirty="0">
                    <a:latin typeface="Symbol"/>
                    <a:cs typeface="Symbol"/>
                  </a:rPr>
                  <a:t></a:t>
                </a:r>
                <a:r>
                  <a:rPr sz="1400" spc="-20" dirty="0">
                    <a:latin typeface="Times New Roman"/>
                    <a:cs typeface="Times New Roman"/>
                  </a:rPr>
                  <a:t>1</a:t>
                </a:r>
                <a:endParaRPr sz="1400" dirty="0">
                  <a:latin typeface="Times New Roman"/>
                  <a:cs typeface="Times New Roman"/>
                </a:endParaRPr>
              </a:p>
              <a:p>
                <a:pPr marL="858519" algn="ctr">
                  <a:lnSpc>
                    <a:spcPct val="100000"/>
                  </a:lnSpc>
                  <a:spcBef>
                    <a:spcPts val="195"/>
                  </a:spcBef>
                </a:pPr>
                <a:r>
                  <a:rPr sz="3975" i="1" spc="-15" baseline="10482" dirty="0">
                    <a:latin typeface="Times New Roman"/>
                    <a:cs typeface="Times New Roman"/>
                  </a:rPr>
                  <a:t>s</a:t>
                </a:r>
                <a:r>
                  <a:rPr sz="1400" i="1" spc="-10" dirty="0">
                    <a:latin typeface="Times New Roman"/>
                    <a:cs typeface="Times New Roman"/>
                  </a:rPr>
                  <a:t>t</a:t>
                </a:r>
                <a:r>
                  <a:rPr sz="1400" i="1" spc="-185" dirty="0">
                    <a:latin typeface="Times New Roman"/>
                    <a:cs typeface="Times New Roman"/>
                  </a:rPr>
                  <a:t> </a:t>
                </a:r>
                <a:r>
                  <a:rPr sz="1400" spc="-35" dirty="0">
                    <a:latin typeface="Symbol"/>
                    <a:cs typeface="Symbol"/>
                  </a:rPr>
                  <a:t></a:t>
                </a:r>
                <a:r>
                  <a:rPr sz="1400" spc="-35" dirty="0">
                    <a:latin typeface="Times New Roman"/>
                    <a:cs typeface="Times New Roman"/>
                  </a:rPr>
                  <a:t>1</a:t>
                </a:r>
                <a:endParaRPr sz="1400" dirty="0">
                  <a:latin typeface="Times New Roman"/>
                  <a:cs typeface="Times New Roman"/>
                </a:endParaRPr>
              </a:p>
            </p:txBody>
          </p:sp>
        </mc:Choice>
        <mc:Fallback xmlns="">
          <p:sp>
            <p:nvSpPr>
              <p:cNvPr id="4" name="object 4"/>
              <p:cNvSpPr txBox="1">
                <a:spLocks noRot="1" noChangeAspect="1" noMove="1" noResize="1" noEditPoints="1" noAdjustHandles="1" noChangeArrowheads="1" noChangeShapeType="1" noTextEdit="1"/>
              </p:cNvSpPr>
              <p:nvPr/>
            </p:nvSpPr>
            <p:spPr>
              <a:xfrm>
                <a:off x="288685" y="1332059"/>
                <a:ext cx="8335645" cy="3016210"/>
              </a:xfrm>
              <a:prstGeom prst="rect">
                <a:avLst/>
              </a:prstGeom>
              <a:blipFill>
                <a:blip r:embed="rId4"/>
                <a:stretch>
                  <a:fillRect l="-1535" t="-2834" r="-1389" b="-4251"/>
                </a:stretch>
              </a:blipFill>
            </p:spPr>
            <p:txBody>
              <a:bodyPr/>
              <a:lstStyle/>
              <a:p>
                <a:r>
                  <a:rPr lang="en-US">
                    <a:noFill/>
                  </a:rPr>
                  <a:t> </a:t>
                </a:r>
              </a:p>
            </p:txBody>
          </p:sp>
        </mc:Fallback>
      </mc:AlternateContent>
      <p:sp>
        <p:nvSpPr>
          <p:cNvPr id="5" name="Date Placeholder 3">
            <a:extLst>
              <a:ext uri="{FF2B5EF4-FFF2-40B4-BE49-F238E27FC236}">
                <a16:creationId xmlns:a16="http://schemas.microsoft.com/office/drawing/2014/main" id="{0B3FEC87-7FF6-DB14-4769-1DA7E8F9ADB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5D15CEC1-5A26-EB20-75EA-FD0D471DD95E}"/>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6BC3A50F-6226-E408-33B4-2117A1AC0DB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20350" y="2114293"/>
            <a:ext cx="6932418" cy="3717088"/>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403860">
              <a:lnSpc>
                <a:spcPct val="100000"/>
              </a:lnSpc>
              <a:spcBef>
                <a:spcPts val="100"/>
              </a:spcBef>
            </a:pPr>
            <a:r>
              <a:rPr spc="-95" dirty="0"/>
              <a:t>Monte-</a:t>
            </a:r>
            <a:r>
              <a:rPr spc="-10" dirty="0"/>
              <a:t>Carlo</a:t>
            </a:r>
            <a:r>
              <a:rPr spc="-145" dirty="0"/>
              <a:t> </a:t>
            </a:r>
            <a:r>
              <a:rPr spc="-90" dirty="0"/>
              <a:t>Update</a:t>
            </a:r>
          </a:p>
        </p:txBody>
      </p:sp>
      <p:sp>
        <p:nvSpPr>
          <p:cNvPr id="4" name="object 4"/>
          <p:cNvSpPr txBox="1"/>
          <p:nvPr/>
        </p:nvSpPr>
        <p:spPr>
          <a:xfrm>
            <a:off x="3885753" y="1752667"/>
            <a:ext cx="265430" cy="452120"/>
          </a:xfrm>
          <a:prstGeom prst="rect">
            <a:avLst/>
          </a:prstGeom>
        </p:spPr>
        <p:txBody>
          <a:bodyPr vert="horz" wrap="square" lIns="0" tIns="12700" rIns="0" bIns="0" rtlCol="0">
            <a:spAutoFit/>
          </a:bodyPr>
          <a:lstStyle/>
          <a:p>
            <a:pPr marL="38100">
              <a:lnSpc>
                <a:spcPct val="100000"/>
              </a:lnSpc>
              <a:spcBef>
                <a:spcPts val="100"/>
              </a:spcBef>
            </a:pPr>
            <a:r>
              <a:rPr sz="2800" i="1" spc="-25" dirty="0">
                <a:latin typeface="Times New Roman"/>
                <a:cs typeface="Times New Roman"/>
              </a:rPr>
              <a:t>s</a:t>
            </a:r>
            <a:r>
              <a:rPr sz="2400" i="1" spc="-37" baseline="-13888" dirty="0">
                <a:latin typeface="Times New Roman"/>
                <a:cs typeface="Times New Roman"/>
              </a:rPr>
              <a:t>t</a:t>
            </a:r>
            <a:endParaRPr sz="2400" baseline="-13888">
              <a:latin typeface="Times New Roman"/>
              <a:cs typeface="Times New Roman"/>
            </a:endParaRPr>
          </a:p>
        </p:txBody>
      </p:sp>
      <p:sp>
        <p:nvSpPr>
          <p:cNvPr id="5" name="object 5"/>
          <p:cNvSpPr txBox="1"/>
          <p:nvPr/>
        </p:nvSpPr>
        <p:spPr>
          <a:xfrm>
            <a:off x="2537900" y="1156445"/>
            <a:ext cx="1014094" cy="381000"/>
          </a:xfrm>
          <a:prstGeom prst="rect">
            <a:avLst/>
          </a:prstGeom>
        </p:spPr>
        <p:txBody>
          <a:bodyPr vert="horz" wrap="square" lIns="0" tIns="16510" rIns="0" bIns="0" rtlCol="0">
            <a:spAutoFit/>
          </a:bodyPr>
          <a:lstStyle/>
          <a:p>
            <a:pPr marL="38100">
              <a:lnSpc>
                <a:spcPct val="100000"/>
              </a:lnSpc>
              <a:spcBef>
                <a:spcPts val="130"/>
              </a:spcBef>
            </a:pPr>
            <a:r>
              <a:rPr sz="2300" i="1" dirty="0">
                <a:latin typeface="Times New Roman"/>
                <a:cs typeface="Times New Roman"/>
              </a:rPr>
              <a:t>V</a:t>
            </a:r>
            <a:r>
              <a:rPr sz="2300" dirty="0">
                <a:latin typeface="Cambria"/>
                <a:cs typeface="Cambria"/>
              </a:rPr>
              <a:t>(</a:t>
            </a:r>
            <a:r>
              <a:rPr sz="2300" i="1" dirty="0">
                <a:latin typeface="Times New Roman"/>
                <a:cs typeface="Times New Roman"/>
              </a:rPr>
              <a:t>S</a:t>
            </a:r>
            <a:r>
              <a:rPr sz="2475" i="1" baseline="-20202" dirty="0">
                <a:latin typeface="Times New Roman"/>
                <a:cs typeface="Times New Roman"/>
              </a:rPr>
              <a:t>t</a:t>
            </a:r>
            <a:r>
              <a:rPr sz="2300" dirty="0">
                <a:latin typeface="Cambria"/>
                <a:cs typeface="Cambria"/>
              </a:rPr>
              <a:t>)</a:t>
            </a:r>
            <a:r>
              <a:rPr sz="2300" spc="-80" dirty="0">
                <a:latin typeface="Cambria"/>
                <a:cs typeface="Cambria"/>
              </a:rPr>
              <a:t> </a:t>
            </a:r>
            <a:r>
              <a:rPr sz="2300" spc="160" dirty="0">
                <a:latin typeface="Cambria"/>
                <a:cs typeface="Cambria"/>
              </a:rPr>
              <a:t>←</a:t>
            </a:r>
            <a:endParaRPr sz="2300">
              <a:latin typeface="Cambria"/>
              <a:cs typeface="Cambria"/>
            </a:endParaRPr>
          </a:p>
        </p:txBody>
      </p:sp>
      <p:sp>
        <p:nvSpPr>
          <p:cNvPr id="6" name="object 6"/>
          <p:cNvSpPr txBox="1"/>
          <p:nvPr/>
        </p:nvSpPr>
        <p:spPr>
          <a:xfrm>
            <a:off x="4149238" y="1156445"/>
            <a:ext cx="2533650" cy="381000"/>
          </a:xfrm>
          <a:prstGeom prst="rect">
            <a:avLst/>
          </a:prstGeom>
        </p:spPr>
        <p:txBody>
          <a:bodyPr vert="horz" wrap="square" lIns="0" tIns="16510" rIns="0" bIns="0" rtlCol="0">
            <a:spAutoFit/>
          </a:bodyPr>
          <a:lstStyle/>
          <a:p>
            <a:pPr marL="38100">
              <a:lnSpc>
                <a:spcPct val="100000"/>
              </a:lnSpc>
              <a:spcBef>
                <a:spcPts val="130"/>
              </a:spcBef>
            </a:pPr>
            <a:r>
              <a:rPr sz="2300" i="1" spc="-25" dirty="0">
                <a:latin typeface="Times New Roman"/>
                <a:cs typeface="Times New Roman"/>
              </a:rPr>
              <a:t>V</a:t>
            </a:r>
            <a:r>
              <a:rPr sz="2300" spc="-25" dirty="0">
                <a:latin typeface="Cambria"/>
                <a:cs typeface="Cambria"/>
              </a:rPr>
              <a:t>(</a:t>
            </a:r>
            <a:r>
              <a:rPr sz="2300" i="1" spc="-25" dirty="0">
                <a:latin typeface="Times New Roman"/>
                <a:cs typeface="Times New Roman"/>
              </a:rPr>
              <a:t>S</a:t>
            </a:r>
            <a:r>
              <a:rPr sz="2475" i="1" spc="-37" baseline="-20202" dirty="0">
                <a:latin typeface="Times New Roman"/>
                <a:cs typeface="Times New Roman"/>
              </a:rPr>
              <a:t>t</a:t>
            </a:r>
            <a:r>
              <a:rPr sz="2300" spc="-25" dirty="0">
                <a:latin typeface="Cambria"/>
                <a:cs typeface="Cambria"/>
              </a:rPr>
              <a:t>)</a:t>
            </a:r>
            <a:r>
              <a:rPr sz="2300" spc="-55" dirty="0">
                <a:latin typeface="Cambria"/>
                <a:cs typeface="Cambria"/>
              </a:rPr>
              <a:t> </a:t>
            </a:r>
            <a:r>
              <a:rPr sz="2300" spc="315" dirty="0">
                <a:latin typeface="Cambria"/>
                <a:cs typeface="Cambria"/>
              </a:rPr>
              <a:t>+</a:t>
            </a:r>
            <a:r>
              <a:rPr sz="2300" spc="-55" dirty="0">
                <a:latin typeface="Cambria"/>
                <a:cs typeface="Cambria"/>
              </a:rPr>
              <a:t> </a:t>
            </a:r>
            <a:r>
              <a:rPr sz="2300" i="1" dirty="0">
                <a:latin typeface="Arial"/>
                <a:cs typeface="Arial"/>
              </a:rPr>
              <a:t>α</a:t>
            </a:r>
            <a:r>
              <a:rPr sz="2300" dirty="0">
                <a:latin typeface="Cambria"/>
                <a:cs typeface="Cambria"/>
              </a:rPr>
              <a:t>(</a:t>
            </a:r>
            <a:r>
              <a:rPr sz="2300" i="1" dirty="0">
                <a:latin typeface="Times New Roman"/>
                <a:cs typeface="Times New Roman"/>
              </a:rPr>
              <a:t>G</a:t>
            </a:r>
            <a:r>
              <a:rPr sz="2475" i="1" baseline="-20202" dirty="0">
                <a:latin typeface="Times New Roman"/>
                <a:cs typeface="Times New Roman"/>
              </a:rPr>
              <a:t>t</a:t>
            </a:r>
            <a:r>
              <a:rPr sz="2475" i="1" spc="60" baseline="-20202" dirty="0">
                <a:latin typeface="Times New Roman"/>
                <a:cs typeface="Times New Roman"/>
              </a:rPr>
              <a:t> </a:t>
            </a:r>
            <a:r>
              <a:rPr sz="2300" spc="315" dirty="0">
                <a:latin typeface="Cambria"/>
                <a:cs typeface="Cambria"/>
              </a:rPr>
              <a:t>−</a:t>
            </a:r>
            <a:r>
              <a:rPr sz="2300" spc="-50" dirty="0">
                <a:latin typeface="Cambria"/>
                <a:cs typeface="Cambria"/>
              </a:rPr>
              <a:t> </a:t>
            </a:r>
            <a:r>
              <a:rPr sz="2300" i="1" spc="-10" dirty="0">
                <a:latin typeface="Times New Roman"/>
                <a:cs typeface="Times New Roman"/>
              </a:rPr>
              <a:t>V</a:t>
            </a:r>
            <a:r>
              <a:rPr sz="2300" spc="-10" dirty="0">
                <a:latin typeface="Cambria"/>
                <a:cs typeface="Cambria"/>
              </a:rPr>
              <a:t>(</a:t>
            </a:r>
            <a:r>
              <a:rPr sz="2300" i="1" spc="-10" dirty="0">
                <a:latin typeface="Times New Roman"/>
                <a:cs typeface="Times New Roman"/>
              </a:rPr>
              <a:t>S</a:t>
            </a:r>
            <a:r>
              <a:rPr sz="2475" i="1" spc="-15" baseline="-20202" dirty="0">
                <a:latin typeface="Times New Roman"/>
                <a:cs typeface="Times New Roman"/>
              </a:rPr>
              <a:t>t</a:t>
            </a:r>
            <a:r>
              <a:rPr sz="2300" spc="-10" dirty="0">
                <a:latin typeface="Cambria"/>
                <a:cs typeface="Cambria"/>
              </a:rPr>
              <a:t>))</a:t>
            </a:r>
            <a:endParaRPr sz="2300">
              <a:latin typeface="Cambria"/>
              <a:cs typeface="Cambria"/>
            </a:endParaRPr>
          </a:p>
        </p:txBody>
      </p:sp>
      <p:sp>
        <p:nvSpPr>
          <p:cNvPr id="7" name="object 7"/>
          <p:cNvSpPr txBox="1"/>
          <p:nvPr/>
        </p:nvSpPr>
        <p:spPr>
          <a:xfrm>
            <a:off x="1945382" y="6241210"/>
            <a:ext cx="52533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Gill Sans MT"/>
                <a:cs typeface="Gill Sans MT"/>
              </a:rPr>
              <a:t>RL</a:t>
            </a:r>
            <a:r>
              <a:rPr sz="1600" spc="-200" dirty="0">
                <a:latin typeface="Gill Sans MT"/>
                <a:cs typeface="Gill Sans MT"/>
              </a:rPr>
              <a:t> </a:t>
            </a:r>
            <a:r>
              <a:rPr sz="1600" spc="-25" dirty="0">
                <a:latin typeface="Gill Sans MT"/>
                <a:cs typeface="Gill Sans MT"/>
              </a:rPr>
              <a:t>Terminology:</a:t>
            </a:r>
            <a:r>
              <a:rPr sz="1600" spc="-160" dirty="0">
                <a:latin typeface="Gill Sans MT"/>
                <a:cs typeface="Gill Sans MT"/>
              </a:rPr>
              <a:t> </a:t>
            </a:r>
            <a:r>
              <a:rPr sz="1600" dirty="0">
                <a:latin typeface="Gill Sans MT"/>
                <a:cs typeface="Gill Sans MT"/>
              </a:rPr>
              <a:t>the structure</a:t>
            </a:r>
            <a:r>
              <a:rPr sz="1600" spc="-5" dirty="0">
                <a:latin typeface="Gill Sans MT"/>
                <a:cs typeface="Gill Sans MT"/>
              </a:rPr>
              <a:t> </a:t>
            </a:r>
            <a:r>
              <a:rPr sz="1600" dirty="0">
                <a:latin typeface="Gill Sans MT"/>
                <a:cs typeface="Gill Sans MT"/>
              </a:rPr>
              <a:t>of</a:t>
            </a:r>
            <a:r>
              <a:rPr sz="1600" spc="-5" dirty="0">
                <a:latin typeface="Gill Sans MT"/>
                <a:cs typeface="Gill Sans MT"/>
              </a:rPr>
              <a:t> </a:t>
            </a:r>
            <a:r>
              <a:rPr sz="1600" dirty="0">
                <a:latin typeface="Gill Sans MT"/>
                <a:cs typeface="Gill Sans MT"/>
              </a:rPr>
              <a:t>the update</a:t>
            </a:r>
            <a:r>
              <a:rPr sz="1600" spc="-5" dirty="0">
                <a:latin typeface="Gill Sans MT"/>
                <a:cs typeface="Gill Sans MT"/>
              </a:rPr>
              <a:t> </a:t>
            </a:r>
            <a:r>
              <a:rPr sz="1600" dirty="0">
                <a:latin typeface="Gill Sans MT"/>
                <a:cs typeface="Gill Sans MT"/>
              </a:rPr>
              <a:t>is</a:t>
            </a:r>
            <a:r>
              <a:rPr sz="1600" spc="5" dirty="0">
                <a:latin typeface="Gill Sans MT"/>
                <a:cs typeface="Gill Sans MT"/>
              </a:rPr>
              <a:t> </a:t>
            </a:r>
            <a:r>
              <a:rPr sz="1600" dirty="0">
                <a:latin typeface="Gill Sans MT"/>
                <a:cs typeface="Gill Sans MT"/>
              </a:rPr>
              <a:t>called</a:t>
            </a:r>
            <a:r>
              <a:rPr sz="1600" spc="-5" dirty="0">
                <a:latin typeface="Gill Sans MT"/>
                <a:cs typeface="Gill Sans MT"/>
              </a:rPr>
              <a:t> </a:t>
            </a:r>
            <a:r>
              <a:rPr sz="1600" dirty="0">
                <a:latin typeface="Gill Sans MT"/>
                <a:cs typeface="Gill Sans MT"/>
              </a:rPr>
              <a:t>a</a:t>
            </a:r>
            <a:r>
              <a:rPr sz="1600" spc="-160" dirty="0">
                <a:latin typeface="Gill Sans MT"/>
                <a:cs typeface="Gill Sans MT"/>
              </a:rPr>
              <a:t> </a:t>
            </a:r>
            <a:r>
              <a:rPr sz="1600" spc="-10" dirty="0">
                <a:latin typeface="Gill Sans MT"/>
                <a:cs typeface="Gill Sans MT"/>
              </a:rPr>
              <a:t>“backup”</a:t>
            </a:r>
            <a:endParaRPr sz="1600">
              <a:latin typeface="Gill Sans MT"/>
              <a:cs typeface="Gill Sans MT"/>
            </a:endParaRPr>
          </a:p>
        </p:txBody>
      </p:sp>
      <p:sp>
        <p:nvSpPr>
          <p:cNvPr id="8" name="Date Placeholder 3">
            <a:extLst>
              <a:ext uri="{FF2B5EF4-FFF2-40B4-BE49-F238E27FC236}">
                <a16:creationId xmlns:a16="http://schemas.microsoft.com/office/drawing/2014/main" id="{62A6F78E-6B38-CB93-503F-087B8D9517D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DC6F5687-E192-A1D2-16F3-D54C06C37EB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C2976CC2-1E21-CC5C-AF7E-69411A454D9E}"/>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227" y="304830"/>
            <a:ext cx="4282440" cy="421640"/>
          </a:xfrm>
          <a:prstGeom prst="rect">
            <a:avLst/>
          </a:prstGeom>
        </p:spPr>
        <p:txBody>
          <a:bodyPr vert="horz" wrap="square" lIns="0" tIns="12700" rIns="0" bIns="0" rtlCol="0">
            <a:spAutoFit/>
          </a:bodyPr>
          <a:lstStyle/>
          <a:p>
            <a:pPr marL="12700">
              <a:lnSpc>
                <a:spcPct val="100000"/>
              </a:lnSpc>
              <a:spcBef>
                <a:spcPts val="100"/>
              </a:spcBef>
            </a:pPr>
            <a:r>
              <a:rPr spc="-95" dirty="0"/>
              <a:t>Monte-</a:t>
            </a:r>
            <a:r>
              <a:rPr dirty="0"/>
              <a:t>Carlo</a:t>
            </a:r>
            <a:r>
              <a:rPr spc="-170" dirty="0"/>
              <a:t> </a:t>
            </a:r>
            <a:r>
              <a:rPr spc="-50" dirty="0"/>
              <a:t>Policy</a:t>
            </a:r>
            <a:r>
              <a:rPr spc="-130" dirty="0"/>
              <a:t> </a:t>
            </a:r>
            <a:r>
              <a:rPr spc="-10" dirty="0"/>
              <a:t>Evaluation</a:t>
            </a:r>
          </a:p>
        </p:txBody>
      </p:sp>
      <mc:AlternateContent xmlns:mc="http://schemas.openxmlformats.org/markup-compatibility/2006" xmlns:a14="http://schemas.microsoft.com/office/drawing/2010/main">
        <mc:Choice Requires="a14">
          <p:sp>
            <p:nvSpPr>
              <p:cNvPr id="3" name="object 3"/>
              <p:cNvSpPr txBox="1"/>
              <p:nvPr/>
            </p:nvSpPr>
            <p:spPr>
              <a:xfrm>
                <a:off x="680135" y="1369128"/>
                <a:ext cx="6697345" cy="5241819"/>
              </a:xfrm>
              <a:prstGeom prst="rect">
                <a:avLst/>
              </a:prstGeom>
            </p:spPr>
            <p:txBody>
              <a:bodyPr vert="horz" wrap="square" lIns="0" tIns="14604" rIns="0" bIns="0" rtlCol="0">
                <a:spAutoFit/>
              </a:bodyPr>
              <a:lstStyle/>
              <a:p>
                <a:pPr marL="50800">
                  <a:lnSpc>
                    <a:spcPct val="100000"/>
                  </a:lnSpc>
                  <a:spcBef>
                    <a:spcPts val="114"/>
                  </a:spcBef>
                </a:pPr>
                <a:r>
                  <a:rPr sz="2300" spc="-10" dirty="0">
                    <a:latin typeface="Gill Sans MT"/>
                    <a:cs typeface="Gill Sans MT"/>
                  </a:rPr>
                  <a:t>Goal:</a:t>
                </a:r>
                <a:r>
                  <a:rPr sz="2300" spc="-235" dirty="0">
                    <a:latin typeface="Gill Sans MT"/>
                    <a:cs typeface="Gill Sans MT"/>
                  </a:rPr>
                  <a:t> </a:t>
                </a:r>
                <a:r>
                  <a:rPr sz="2300" dirty="0">
                    <a:latin typeface="Gill Sans MT"/>
                    <a:cs typeface="Gill Sans MT"/>
                  </a:rPr>
                  <a:t>learn</a:t>
                </a:r>
                <a:r>
                  <a:rPr sz="2300" spc="-50" dirty="0">
                    <a:latin typeface="Gill Sans MT"/>
                    <a:cs typeface="Gill Sans MT"/>
                  </a:rPr>
                  <a:t> </a:t>
                </a:r>
                <a:r>
                  <a:rPr sz="2400" i="1" spc="-90" dirty="0">
                    <a:latin typeface="Times New Roman"/>
                    <a:cs typeface="Times New Roman"/>
                  </a:rPr>
                  <a:t>v</a:t>
                </a:r>
                <a:r>
                  <a:rPr sz="2550" i="1" spc="-135" baseline="-19607" dirty="0">
                    <a:latin typeface="Arial"/>
                    <a:cs typeface="Arial"/>
                  </a:rPr>
                  <a:t>π</a:t>
                </a:r>
                <a:r>
                  <a:rPr sz="2550" i="1" spc="202" baseline="-19607" dirty="0">
                    <a:latin typeface="Arial"/>
                    <a:cs typeface="Arial"/>
                  </a:rPr>
                  <a:t> </a:t>
                </a:r>
                <a:r>
                  <a:rPr sz="2300" dirty="0">
                    <a:latin typeface="Gill Sans MT"/>
                    <a:cs typeface="Gill Sans MT"/>
                  </a:rPr>
                  <a:t>from</a:t>
                </a:r>
                <a:r>
                  <a:rPr sz="2300" spc="-30" dirty="0">
                    <a:latin typeface="Gill Sans MT"/>
                    <a:cs typeface="Gill Sans MT"/>
                  </a:rPr>
                  <a:t> </a:t>
                </a:r>
                <a:r>
                  <a:rPr sz="2300" dirty="0">
                    <a:latin typeface="Gill Sans MT"/>
                    <a:cs typeface="Gill Sans MT"/>
                  </a:rPr>
                  <a:t>episodes</a:t>
                </a:r>
                <a:r>
                  <a:rPr sz="2300" spc="-35" dirty="0">
                    <a:latin typeface="Gill Sans MT"/>
                    <a:cs typeface="Gill Sans MT"/>
                  </a:rPr>
                  <a:t> </a:t>
                </a:r>
                <a:r>
                  <a:rPr sz="2300" dirty="0">
                    <a:latin typeface="Gill Sans MT"/>
                    <a:cs typeface="Gill Sans MT"/>
                  </a:rPr>
                  <a:t>of</a:t>
                </a:r>
                <a:r>
                  <a:rPr sz="2300" spc="-35" dirty="0">
                    <a:latin typeface="Gill Sans MT"/>
                    <a:cs typeface="Gill Sans MT"/>
                  </a:rPr>
                  <a:t> </a:t>
                </a:r>
                <a:r>
                  <a:rPr sz="2300" dirty="0">
                    <a:latin typeface="Gill Sans MT"/>
                    <a:cs typeface="Gill Sans MT"/>
                  </a:rPr>
                  <a:t>experience</a:t>
                </a:r>
                <a:r>
                  <a:rPr sz="2300" spc="-35" dirty="0">
                    <a:latin typeface="Gill Sans MT"/>
                    <a:cs typeface="Gill Sans MT"/>
                  </a:rPr>
                  <a:t> </a:t>
                </a:r>
                <a:r>
                  <a:rPr sz="2300" dirty="0">
                    <a:latin typeface="Gill Sans MT"/>
                    <a:cs typeface="Gill Sans MT"/>
                  </a:rPr>
                  <a:t>under</a:t>
                </a:r>
                <a:r>
                  <a:rPr sz="2300" spc="-30" dirty="0">
                    <a:latin typeface="Gill Sans MT"/>
                    <a:cs typeface="Gill Sans MT"/>
                  </a:rPr>
                  <a:t> </a:t>
                </a:r>
                <a:r>
                  <a:rPr sz="2300" spc="-10" dirty="0">
                    <a:latin typeface="Gill Sans MT"/>
                    <a:cs typeface="Gill Sans MT"/>
                  </a:rPr>
                  <a:t>policy</a:t>
                </a:r>
                <a:endParaRPr sz="2300" dirty="0">
                  <a:latin typeface="Gill Sans MT"/>
                  <a:cs typeface="Gill Sans MT"/>
                </a:endParaRPr>
              </a:p>
              <a:p>
                <a:pPr marL="50800">
                  <a:lnSpc>
                    <a:spcPct val="100000"/>
                  </a:lnSpc>
                  <a:spcBef>
                    <a:spcPts val="2575"/>
                  </a:spcBef>
                </a:pPr>
                <a:r>
                  <a:rPr sz="2400" i="1" dirty="0">
                    <a:latin typeface="Times New Roman"/>
                    <a:cs typeface="Times New Roman"/>
                  </a:rPr>
                  <a:t>S</a:t>
                </a:r>
                <a:r>
                  <a:rPr sz="2550" baseline="-19607" dirty="0">
                    <a:latin typeface="Cambria"/>
                    <a:cs typeface="Cambria"/>
                  </a:rPr>
                  <a:t>1</a:t>
                </a:r>
                <a:r>
                  <a:rPr sz="2400" dirty="0">
                    <a:latin typeface="Cambria"/>
                    <a:cs typeface="Cambria"/>
                  </a:rPr>
                  <a:t>,</a:t>
                </a:r>
                <a:r>
                  <a:rPr sz="2400" spc="-135" dirty="0">
                    <a:latin typeface="Cambria"/>
                    <a:cs typeface="Cambria"/>
                  </a:rPr>
                  <a:t> </a:t>
                </a:r>
                <a:r>
                  <a:rPr sz="2400" i="1" spc="-25" dirty="0">
                    <a:latin typeface="Times New Roman"/>
                    <a:cs typeface="Times New Roman"/>
                  </a:rPr>
                  <a:t>A</a:t>
                </a:r>
                <a:r>
                  <a:rPr sz="2550" spc="-37" baseline="-19607" dirty="0">
                    <a:latin typeface="Cambria"/>
                    <a:cs typeface="Cambria"/>
                  </a:rPr>
                  <a:t>1</a:t>
                </a:r>
                <a:r>
                  <a:rPr sz="2400" spc="-25" dirty="0">
                    <a:latin typeface="Cambria"/>
                    <a:cs typeface="Cambria"/>
                  </a:rPr>
                  <a:t>,</a:t>
                </a:r>
                <a:r>
                  <a:rPr sz="2400" spc="-130" dirty="0">
                    <a:latin typeface="Cambria"/>
                    <a:cs typeface="Cambria"/>
                  </a:rPr>
                  <a:t> </a:t>
                </a:r>
                <a:r>
                  <a:rPr sz="2400" i="1" spc="-25" dirty="0">
                    <a:latin typeface="Times New Roman"/>
                    <a:cs typeface="Times New Roman"/>
                  </a:rPr>
                  <a:t>R</a:t>
                </a:r>
                <a:r>
                  <a:rPr sz="2550" spc="-37" baseline="-19607" dirty="0">
                    <a:latin typeface="Cambria"/>
                    <a:cs typeface="Cambria"/>
                  </a:rPr>
                  <a:t>2</a:t>
                </a:r>
                <a:r>
                  <a:rPr sz="2400" spc="-25" dirty="0">
                    <a:latin typeface="Cambria"/>
                    <a:cs typeface="Cambria"/>
                  </a:rPr>
                  <a:t>,</a:t>
                </a:r>
                <a:r>
                  <a:rPr sz="2400" spc="-130" dirty="0">
                    <a:latin typeface="Cambria"/>
                    <a:cs typeface="Cambria"/>
                  </a:rPr>
                  <a:t> </a:t>
                </a:r>
                <a:r>
                  <a:rPr sz="2400" spc="350" dirty="0">
                    <a:latin typeface="Cambria"/>
                    <a:cs typeface="Cambria"/>
                  </a:rPr>
                  <a:t>…,</a:t>
                </a:r>
                <a:r>
                  <a:rPr sz="2400" spc="-130" dirty="0">
                    <a:latin typeface="Cambria"/>
                    <a:cs typeface="Cambria"/>
                  </a:rPr>
                  <a:t> </a:t>
                </a:r>
                <a:r>
                  <a:rPr sz="2400" i="1" dirty="0">
                    <a:latin typeface="Times New Roman"/>
                    <a:cs typeface="Times New Roman"/>
                  </a:rPr>
                  <a:t>S</a:t>
                </a:r>
                <a:r>
                  <a:rPr sz="2550" i="1" baseline="-19607" dirty="0">
                    <a:latin typeface="Times New Roman"/>
                    <a:cs typeface="Times New Roman"/>
                  </a:rPr>
                  <a:t>k</a:t>
                </a:r>
                <a:r>
                  <a:rPr sz="2550" i="1" spc="307" baseline="-19607" dirty="0">
                    <a:latin typeface="Times New Roman"/>
                    <a:cs typeface="Times New Roman"/>
                  </a:rPr>
                  <a:t> </a:t>
                </a:r>
                <a:r>
                  <a:rPr sz="2400" dirty="0">
                    <a:latin typeface="Cambria"/>
                    <a:cs typeface="Cambria"/>
                  </a:rPr>
                  <a:t>∼</a:t>
                </a:r>
                <a:r>
                  <a:rPr sz="2400" spc="100" dirty="0">
                    <a:latin typeface="Cambria"/>
                    <a:cs typeface="Cambria"/>
                  </a:rPr>
                  <a:t> </a:t>
                </a:r>
                <a14:m>
                  <m:oMath xmlns:m="http://schemas.openxmlformats.org/officeDocument/2006/math">
                    <m:r>
                      <a:rPr lang="en-US" sz="2400" i="1" spc="-455" dirty="0" smtClean="0">
                        <a:latin typeface="Cambria Math" panose="02040503050406030204" pitchFamily="18" charset="0"/>
                        <a:cs typeface="Arial"/>
                      </a:rPr>
                      <m:t>𝜋</m:t>
                    </m:r>
                  </m:oMath>
                </a14:m>
                <a:endParaRPr sz="2400" dirty="0">
                  <a:latin typeface="Arial"/>
                  <a:cs typeface="Arial"/>
                </a:endParaRPr>
              </a:p>
              <a:p>
                <a:pPr marL="50800">
                  <a:lnSpc>
                    <a:spcPct val="100000"/>
                  </a:lnSpc>
                  <a:spcBef>
                    <a:spcPts val="2510"/>
                  </a:spcBef>
                </a:pPr>
                <a:r>
                  <a:rPr sz="2300" dirty="0">
                    <a:latin typeface="Gill Sans MT"/>
                    <a:cs typeface="Gill Sans MT"/>
                  </a:rPr>
                  <a:t>Recall</a:t>
                </a:r>
                <a:r>
                  <a:rPr sz="2300" spc="-30" dirty="0">
                    <a:latin typeface="Gill Sans MT"/>
                    <a:cs typeface="Gill Sans MT"/>
                  </a:rPr>
                  <a:t> </a:t>
                </a:r>
                <a:r>
                  <a:rPr sz="2300" dirty="0">
                    <a:latin typeface="Gill Sans MT"/>
                    <a:cs typeface="Gill Sans MT"/>
                  </a:rPr>
                  <a:t>that</a:t>
                </a:r>
                <a:r>
                  <a:rPr sz="2300" spc="-15" dirty="0">
                    <a:latin typeface="Gill Sans MT"/>
                    <a:cs typeface="Gill Sans MT"/>
                  </a:rPr>
                  <a:t> </a:t>
                </a:r>
                <a:r>
                  <a:rPr sz="2300" dirty="0">
                    <a:latin typeface="Gill Sans MT"/>
                    <a:cs typeface="Gill Sans MT"/>
                  </a:rPr>
                  <a:t>the</a:t>
                </a:r>
                <a:r>
                  <a:rPr sz="2300" spc="-15" dirty="0">
                    <a:latin typeface="Gill Sans MT"/>
                    <a:cs typeface="Gill Sans MT"/>
                  </a:rPr>
                  <a:t> </a:t>
                </a:r>
                <a:r>
                  <a:rPr sz="2300" dirty="0">
                    <a:latin typeface="Gill Sans MT"/>
                    <a:cs typeface="Gill Sans MT"/>
                  </a:rPr>
                  <a:t>return</a:t>
                </a:r>
                <a:r>
                  <a:rPr sz="2300" spc="-15" dirty="0">
                    <a:latin typeface="Gill Sans MT"/>
                    <a:cs typeface="Gill Sans MT"/>
                  </a:rPr>
                  <a:t> </a:t>
                </a:r>
                <a:r>
                  <a:rPr sz="2300" dirty="0">
                    <a:latin typeface="Gill Sans MT"/>
                    <a:cs typeface="Gill Sans MT"/>
                  </a:rPr>
                  <a:t>is</a:t>
                </a:r>
                <a:r>
                  <a:rPr sz="2300" spc="-15" dirty="0">
                    <a:latin typeface="Gill Sans MT"/>
                    <a:cs typeface="Gill Sans MT"/>
                  </a:rPr>
                  <a:t> </a:t>
                </a:r>
                <a:r>
                  <a:rPr sz="2300" dirty="0">
                    <a:latin typeface="Gill Sans MT"/>
                    <a:cs typeface="Gill Sans MT"/>
                  </a:rPr>
                  <a:t>the</a:t>
                </a:r>
                <a:r>
                  <a:rPr sz="2300" spc="-15" dirty="0">
                    <a:latin typeface="Gill Sans MT"/>
                    <a:cs typeface="Gill Sans MT"/>
                  </a:rPr>
                  <a:t> </a:t>
                </a:r>
                <a:r>
                  <a:rPr sz="2300" dirty="0">
                    <a:latin typeface="Gill Sans MT"/>
                    <a:cs typeface="Gill Sans MT"/>
                  </a:rPr>
                  <a:t>total</a:t>
                </a:r>
                <a:r>
                  <a:rPr sz="2300" spc="-15" dirty="0">
                    <a:latin typeface="Gill Sans MT"/>
                    <a:cs typeface="Gill Sans MT"/>
                  </a:rPr>
                  <a:t> </a:t>
                </a:r>
                <a:r>
                  <a:rPr sz="2300" dirty="0">
                    <a:latin typeface="Gill Sans MT"/>
                    <a:cs typeface="Gill Sans MT"/>
                  </a:rPr>
                  <a:t>discounted</a:t>
                </a:r>
                <a:r>
                  <a:rPr sz="2300" spc="-15" dirty="0">
                    <a:latin typeface="Gill Sans MT"/>
                    <a:cs typeface="Gill Sans MT"/>
                  </a:rPr>
                  <a:t> </a:t>
                </a:r>
                <a:r>
                  <a:rPr sz="2300" spc="-10" dirty="0">
                    <a:latin typeface="Gill Sans MT"/>
                    <a:cs typeface="Gill Sans MT"/>
                  </a:rPr>
                  <a:t>reward:</a:t>
                </a:r>
                <a:endParaRPr sz="2300" dirty="0">
                  <a:latin typeface="Gill Sans MT"/>
                  <a:cs typeface="Gill Sans MT"/>
                </a:endParaRPr>
              </a:p>
              <a:p>
                <a:pPr>
                  <a:lnSpc>
                    <a:spcPct val="100000"/>
                  </a:lnSpc>
                  <a:spcBef>
                    <a:spcPts val="55"/>
                  </a:spcBef>
                </a:pPr>
                <a:endParaRPr sz="2100" dirty="0">
                  <a:latin typeface="Gill Sans MT"/>
                  <a:cs typeface="Gill Sans MT"/>
                </a:endParaRPr>
              </a:p>
              <a:p>
                <a:pPr marL="50800">
                  <a:lnSpc>
                    <a:spcPct val="100000"/>
                  </a:lnSpc>
                </a:pPr>
                <a:r>
                  <a:rPr sz="2400" i="1" dirty="0">
                    <a:latin typeface="Times New Roman"/>
                    <a:cs typeface="Times New Roman"/>
                  </a:rPr>
                  <a:t>G</a:t>
                </a:r>
                <a:r>
                  <a:rPr sz="2550" i="1" baseline="-19607" dirty="0">
                    <a:latin typeface="Times New Roman"/>
                    <a:cs typeface="Times New Roman"/>
                  </a:rPr>
                  <a:t>t</a:t>
                </a:r>
                <a:r>
                  <a:rPr sz="2550" i="1" spc="352" baseline="-19607" dirty="0">
                    <a:latin typeface="Times New Roman"/>
                    <a:cs typeface="Times New Roman"/>
                  </a:rPr>
                  <a:t> </a:t>
                </a:r>
                <a:r>
                  <a:rPr sz="2400" spc="315" dirty="0">
                    <a:latin typeface="Cambria"/>
                    <a:cs typeface="Cambria"/>
                  </a:rPr>
                  <a:t>=</a:t>
                </a:r>
                <a:r>
                  <a:rPr sz="2400" spc="114" dirty="0">
                    <a:latin typeface="Cambria"/>
                    <a:cs typeface="Cambria"/>
                  </a:rPr>
                  <a:t> </a:t>
                </a:r>
                <a:r>
                  <a:rPr sz="2400" i="1" dirty="0">
                    <a:latin typeface="Times New Roman"/>
                    <a:cs typeface="Times New Roman"/>
                  </a:rPr>
                  <a:t>R</a:t>
                </a:r>
                <a:r>
                  <a:rPr sz="2550" i="1" baseline="-19607" dirty="0">
                    <a:latin typeface="Times New Roman"/>
                    <a:cs typeface="Times New Roman"/>
                  </a:rPr>
                  <a:t>t</a:t>
                </a:r>
                <a:r>
                  <a:rPr sz="2550" baseline="-19607" dirty="0">
                    <a:latin typeface="Cambria"/>
                    <a:cs typeface="Cambria"/>
                  </a:rPr>
                  <a:t>+1</a:t>
                </a:r>
                <a:r>
                  <a:rPr sz="2550" spc="209" baseline="-19607" dirty="0">
                    <a:latin typeface="Cambria"/>
                    <a:cs typeface="Cambria"/>
                  </a:rPr>
                  <a:t> </a:t>
                </a:r>
                <a:r>
                  <a:rPr sz="2400" spc="315" dirty="0">
                    <a:latin typeface="Cambria"/>
                    <a:cs typeface="Cambria"/>
                  </a:rPr>
                  <a:t>+</a:t>
                </a:r>
                <a:r>
                  <a:rPr sz="2400" spc="-15" dirty="0">
                    <a:latin typeface="Cambria"/>
                    <a:cs typeface="Cambria"/>
                  </a:rPr>
                  <a:t> </a:t>
                </a:r>
                <a14:m>
                  <m:oMath xmlns:m="http://schemas.openxmlformats.org/officeDocument/2006/math">
                    <m:r>
                      <a:rPr lang="en-US" sz="2400" i="1" dirty="0" smtClean="0">
                        <a:latin typeface="Cambria Math" panose="02040503050406030204" pitchFamily="18" charset="0"/>
                        <a:cs typeface="Arial"/>
                      </a:rPr>
                      <m:t>𝛾</m:t>
                    </m:r>
                  </m:oMath>
                </a14:m>
                <a:r>
                  <a:rPr sz="2400" i="1" dirty="0">
                    <a:latin typeface="Times New Roman"/>
                    <a:cs typeface="Times New Roman"/>
                  </a:rPr>
                  <a:t>R</a:t>
                </a:r>
                <a:r>
                  <a:rPr sz="2550" i="1" baseline="-19607" dirty="0">
                    <a:latin typeface="Times New Roman"/>
                    <a:cs typeface="Times New Roman"/>
                  </a:rPr>
                  <a:t>t</a:t>
                </a:r>
                <a:r>
                  <a:rPr sz="2550" baseline="-19607" dirty="0">
                    <a:latin typeface="Cambria"/>
                    <a:cs typeface="Cambria"/>
                  </a:rPr>
                  <a:t>+2</a:t>
                </a:r>
                <a:r>
                  <a:rPr sz="2550" spc="209" baseline="-19607" dirty="0">
                    <a:latin typeface="Cambria"/>
                    <a:cs typeface="Cambria"/>
                  </a:rPr>
                  <a:t> </a:t>
                </a:r>
                <a:r>
                  <a:rPr sz="2400" spc="315" dirty="0">
                    <a:latin typeface="Cambria"/>
                    <a:cs typeface="Cambria"/>
                  </a:rPr>
                  <a:t>+</a:t>
                </a:r>
                <a:r>
                  <a:rPr sz="2400" spc="-15" dirty="0">
                    <a:latin typeface="Cambria"/>
                    <a:cs typeface="Cambria"/>
                  </a:rPr>
                  <a:t> </a:t>
                </a:r>
                <a14:m>
                  <m:oMath xmlns:m="http://schemas.openxmlformats.org/officeDocument/2006/math">
                    <m:r>
                      <a:rPr lang="en-US" sz="2400" i="1" dirty="0" smtClean="0">
                        <a:latin typeface="Cambria Math" panose="02040503050406030204" pitchFamily="18" charset="0"/>
                        <a:cs typeface="Arial"/>
                      </a:rPr>
                      <m:t>𝛾</m:t>
                    </m:r>
                  </m:oMath>
                </a14:m>
                <a:r>
                  <a:rPr sz="2550" baseline="29411" dirty="0">
                    <a:latin typeface="Cambria"/>
                    <a:cs typeface="Cambria"/>
                  </a:rPr>
                  <a:t>2</a:t>
                </a:r>
                <a:r>
                  <a:rPr sz="2400" i="1" dirty="0">
                    <a:latin typeface="Times New Roman"/>
                    <a:cs typeface="Times New Roman"/>
                  </a:rPr>
                  <a:t>R</a:t>
                </a:r>
                <a:r>
                  <a:rPr sz="2550" i="1" baseline="-19607" dirty="0">
                    <a:latin typeface="Times New Roman"/>
                    <a:cs typeface="Times New Roman"/>
                  </a:rPr>
                  <a:t>t</a:t>
                </a:r>
                <a:r>
                  <a:rPr sz="2550" baseline="-19607" dirty="0">
                    <a:latin typeface="Cambria"/>
                    <a:cs typeface="Cambria"/>
                  </a:rPr>
                  <a:t>+3</a:t>
                </a:r>
                <a:r>
                  <a:rPr sz="2550" spc="209" baseline="-19607" dirty="0">
                    <a:latin typeface="Cambria"/>
                    <a:cs typeface="Cambria"/>
                  </a:rPr>
                  <a:t> </a:t>
                </a:r>
                <a:r>
                  <a:rPr sz="2400" spc="315" dirty="0">
                    <a:latin typeface="Cambria"/>
                    <a:cs typeface="Cambria"/>
                  </a:rPr>
                  <a:t>+</a:t>
                </a:r>
                <a:r>
                  <a:rPr sz="2400" spc="-10" dirty="0">
                    <a:latin typeface="Cambria"/>
                    <a:cs typeface="Cambria"/>
                  </a:rPr>
                  <a:t> </a:t>
                </a:r>
                <a:r>
                  <a:rPr sz="2400" spc="595" dirty="0">
                    <a:latin typeface="Cambria"/>
                    <a:cs typeface="Cambria"/>
                  </a:rPr>
                  <a:t>…</a:t>
                </a:r>
                <a:r>
                  <a:rPr sz="2400" spc="-15" dirty="0">
                    <a:latin typeface="Cambria"/>
                    <a:cs typeface="Cambria"/>
                  </a:rPr>
                  <a:t> </a:t>
                </a:r>
                <a:r>
                  <a:rPr sz="2400" spc="315" dirty="0">
                    <a:latin typeface="Cambria"/>
                    <a:cs typeface="Cambria"/>
                  </a:rPr>
                  <a:t>+</a:t>
                </a:r>
                <a:r>
                  <a:rPr sz="2400" spc="-15" dirty="0">
                    <a:latin typeface="Cambria"/>
                    <a:cs typeface="Cambria"/>
                  </a:rPr>
                  <a:t> </a:t>
                </a:r>
                <a14:m>
                  <m:oMath xmlns:m="http://schemas.openxmlformats.org/officeDocument/2006/math">
                    <m:r>
                      <a:rPr lang="en-US" sz="2400" i="1" spc="-10" dirty="0" smtClean="0">
                        <a:latin typeface="Cambria Math" panose="02040503050406030204" pitchFamily="18" charset="0"/>
                        <a:cs typeface="Arial"/>
                      </a:rPr>
                      <m:t>𝛾</m:t>
                    </m:r>
                  </m:oMath>
                </a14:m>
                <a:r>
                  <a:rPr sz="2550" i="1" spc="-15" baseline="29411" dirty="0">
                    <a:latin typeface="Times New Roman"/>
                    <a:cs typeface="Times New Roman"/>
                  </a:rPr>
                  <a:t>T</a:t>
                </a:r>
                <a:r>
                  <a:rPr sz="2550" spc="-15" baseline="29411" dirty="0">
                    <a:latin typeface="Cambria"/>
                    <a:cs typeface="Cambria"/>
                  </a:rPr>
                  <a:t>−1</a:t>
                </a:r>
                <a:r>
                  <a:rPr sz="2400" i="1" spc="-10" dirty="0">
                    <a:latin typeface="Times New Roman"/>
                    <a:cs typeface="Times New Roman"/>
                  </a:rPr>
                  <a:t>R</a:t>
                </a:r>
                <a:r>
                  <a:rPr sz="2550" i="1" spc="-15" baseline="-19607" dirty="0">
                    <a:latin typeface="Times New Roman"/>
                    <a:cs typeface="Times New Roman"/>
                  </a:rPr>
                  <a:t>T</a:t>
                </a:r>
                <a:endParaRPr sz="2550" baseline="-19607" dirty="0">
                  <a:latin typeface="Times New Roman"/>
                  <a:cs typeface="Times New Roman"/>
                </a:endParaRPr>
              </a:p>
              <a:p>
                <a:pPr marL="50800" marR="231140">
                  <a:lnSpc>
                    <a:spcPts val="2600"/>
                  </a:lnSpc>
                  <a:spcBef>
                    <a:spcPts val="2785"/>
                  </a:spcBef>
                </a:pPr>
                <a:r>
                  <a:rPr sz="2300" dirty="0">
                    <a:latin typeface="Gill Sans MT"/>
                    <a:cs typeface="Gill Sans MT"/>
                  </a:rPr>
                  <a:t>Recall</a:t>
                </a:r>
                <a:r>
                  <a:rPr sz="2300" spc="-20" dirty="0">
                    <a:latin typeface="Gill Sans MT"/>
                    <a:cs typeface="Gill Sans MT"/>
                  </a:rPr>
                  <a:t> </a:t>
                </a:r>
                <a:r>
                  <a:rPr sz="2300" dirty="0">
                    <a:latin typeface="Gill Sans MT"/>
                    <a:cs typeface="Gill Sans MT"/>
                  </a:rPr>
                  <a:t>that</a:t>
                </a:r>
                <a:r>
                  <a:rPr sz="2300" spc="-10" dirty="0">
                    <a:latin typeface="Gill Sans MT"/>
                    <a:cs typeface="Gill Sans MT"/>
                  </a:rPr>
                  <a:t> </a:t>
                </a:r>
                <a:r>
                  <a:rPr sz="2300" dirty="0">
                    <a:latin typeface="Gill Sans MT"/>
                    <a:cs typeface="Gill Sans MT"/>
                  </a:rPr>
                  <a:t>the</a:t>
                </a:r>
                <a:r>
                  <a:rPr sz="2300" spc="-10" dirty="0">
                    <a:latin typeface="Gill Sans MT"/>
                    <a:cs typeface="Gill Sans MT"/>
                  </a:rPr>
                  <a:t> </a:t>
                </a:r>
                <a:r>
                  <a:rPr sz="2300" dirty="0">
                    <a:latin typeface="Gill Sans MT"/>
                    <a:cs typeface="Gill Sans MT"/>
                  </a:rPr>
                  <a:t>value</a:t>
                </a:r>
                <a:r>
                  <a:rPr sz="2300" spc="-10" dirty="0">
                    <a:latin typeface="Gill Sans MT"/>
                    <a:cs typeface="Gill Sans MT"/>
                  </a:rPr>
                  <a:t> </a:t>
                </a:r>
                <a:r>
                  <a:rPr sz="2300" dirty="0">
                    <a:latin typeface="Gill Sans MT"/>
                    <a:cs typeface="Gill Sans MT"/>
                  </a:rPr>
                  <a:t>function</a:t>
                </a:r>
                <a:r>
                  <a:rPr sz="2300" spc="-5" dirty="0">
                    <a:latin typeface="Gill Sans MT"/>
                    <a:cs typeface="Gill Sans MT"/>
                  </a:rPr>
                  <a:t> </a:t>
                </a:r>
                <a:r>
                  <a:rPr sz="2300" dirty="0">
                    <a:latin typeface="Gill Sans MT"/>
                    <a:cs typeface="Gill Sans MT"/>
                  </a:rPr>
                  <a:t>is</a:t>
                </a:r>
                <a:r>
                  <a:rPr sz="2300" spc="-5" dirty="0">
                    <a:latin typeface="Gill Sans MT"/>
                    <a:cs typeface="Gill Sans MT"/>
                  </a:rPr>
                  <a:t> </a:t>
                </a:r>
                <a:r>
                  <a:rPr sz="2300" dirty="0">
                    <a:latin typeface="Gill Sans MT"/>
                    <a:cs typeface="Gill Sans MT"/>
                  </a:rPr>
                  <a:t>the</a:t>
                </a:r>
                <a:r>
                  <a:rPr sz="2300" spc="-10" dirty="0">
                    <a:latin typeface="Gill Sans MT"/>
                    <a:cs typeface="Gill Sans MT"/>
                  </a:rPr>
                  <a:t> </a:t>
                </a:r>
                <a:r>
                  <a:rPr sz="2300" dirty="0">
                    <a:latin typeface="Gill Sans MT"/>
                    <a:cs typeface="Gill Sans MT"/>
                  </a:rPr>
                  <a:t>expectation</a:t>
                </a:r>
                <a:r>
                  <a:rPr sz="2300" spc="-10" dirty="0">
                    <a:latin typeface="Gill Sans MT"/>
                    <a:cs typeface="Gill Sans MT"/>
                  </a:rPr>
                  <a:t> </a:t>
                </a:r>
                <a:r>
                  <a:rPr sz="2300" dirty="0">
                    <a:latin typeface="Gill Sans MT"/>
                    <a:cs typeface="Gill Sans MT"/>
                  </a:rPr>
                  <a:t>of</a:t>
                </a:r>
                <a:r>
                  <a:rPr sz="2300" spc="-5" dirty="0">
                    <a:latin typeface="Gill Sans MT"/>
                    <a:cs typeface="Gill Sans MT"/>
                  </a:rPr>
                  <a:t> </a:t>
                </a:r>
                <a:r>
                  <a:rPr sz="2300" spc="-25" dirty="0">
                    <a:latin typeface="Gill Sans MT"/>
                    <a:cs typeface="Gill Sans MT"/>
                  </a:rPr>
                  <a:t>the </a:t>
                </a:r>
                <a:r>
                  <a:rPr sz="2300" spc="-10" dirty="0">
                    <a:latin typeface="Gill Sans MT"/>
                    <a:cs typeface="Gill Sans MT"/>
                  </a:rPr>
                  <a:t>return:</a:t>
                </a:r>
                <a:endParaRPr sz="2300" dirty="0">
                  <a:latin typeface="Gill Sans MT"/>
                  <a:cs typeface="Gill Sans MT"/>
                </a:endParaRPr>
              </a:p>
              <a:p>
                <a:pPr>
                  <a:lnSpc>
                    <a:spcPct val="100000"/>
                  </a:lnSpc>
                  <a:spcBef>
                    <a:spcPts val="50"/>
                  </a:spcBef>
                </a:pPr>
                <a:endParaRPr sz="2050" dirty="0">
                  <a:latin typeface="Gill Sans MT"/>
                  <a:cs typeface="Gill Sans MT"/>
                </a:endParaRPr>
              </a:p>
              <a:p>
                <a:pPr marL="50800">
                  <a:lnSpc>
                    <a:spcPct val="100000"/>
                  </a:lnSpc>
                </a:pPr>
                <a:r>
                  <a:rPr sz="2400" i="1" spc="-85" dirty="0">
                    <a:latin typeface="Times New Roman"/>
                    <a:cs typeface="Times New Roman"/>
                  </a:rPr>
                  <a:t>v</a:t>
                </a:r>
                <a14:m>
                  <m:oMath xmlns:m="http://schemas.openxmlformats.org/officeDocument/2006/math">
                    <m:r>
                      <a:rPr lang="en-US" sz="2550" i="1" spc="-127" baseline="-19607" dirty="0" smtClean="0">
                        <a:latin typeface="Cambria Math" panose="02040503050406030204" pitchFamily="18" charset="0"/>
                        <a:cs typeface="Arial"/>
                      </a:rPr>
                      <m:t>𝜋</m:t>
                    </m:r>
                  </m:oMath>
                </a14:m>
                <a:r>
                  <a:rPr sz="2400" spc="-85" dirty="0">
                    <a:latin typeface="Cambria"/>
                    <a:cs typeface="Cambria"/>
                  </a:rPr>
                  <a:t>(</a:t>
                </a:r>
                <a:r>
                  <a:rPr sz="2400" i="1" spc="-85" dirty="0">
                    <a:latin typeface="Times New Roman"/>
                    <a:cs typeface="Times New Roman"/>
                  </a:rPr>
                  <a:t>s</a:t>
                </a:r>
                <a:r>
                  <a:rPr sz="2400" spc="-85" dirty="0">
                    <a:latin typeface="Cambria"/>
                    <a:cs typeface="Cambria"/>
                  </a:rPr>
                  <a:t>)</a:t>
                </a:r>
                <a:r>
                  <a:rPr sz="2400" spc="15" dirty="0">
                    <a:latin typeface="Cambria"/>
                    <a:cs typeface="Cambria"/>
                  </a:rPr>
                  <a:t> </a:t>
                </a:r>
                <a:r>
                  <a:rPr sz="2400" spc="315" dirty="0">
                    <a:latin typeface="Cambria"/>
                    <a:cs typeface="Cambria"/>
                  </a:rPr>
                  <a:t>=</a:t>
                </a:r>
                <a:r>
                  <a:rPr sz="2400" spc="65" dirty="0">
                    <a:latin typeface="Cambria"/>
                    <a:cs typeface="Cambria"/>
                  </a:rPr>
                  <a:t> </a:t>
                </a:r>
                <a:r>
                  <a:rPr sz="2400" spc="-40" dirty="0">
                    <a:latin typeface="Cambria"/>
                    <a:cs typeface="Cambria"/>
                  </a:rPr>
                  <a:t>𝔼</a:t>
                </a:r>
                <a:r>
                  <a:rPr sz="2400" spc="-125" dirty="0">
                    <a:latin typeface="Cambria"/>
                    <a:cs typeface="Cambria"/>
                  </a:rPr>
                  <a:t> </a:t>
                </a:r>
                <a:r>
                  <a:rPr sz="3600" spc="-15" baseline="-11574" dirty="0">
                    <a:latin typeface="Verdana"/>
                    <a:cs typeface="Verdana"/>
                  </a:rPr>
                  <a:t>[</a:t>
                </a:r>
                <a:r>
                  <a:rPr sz="2400" i="1" spc="-10" dirty="0">
                    <a:latin typeface="Times New Roman"/>
                    <a:cs typeface="Times New Roman"/>
                  </a:rPr>
                  <a:t>G</a:t>
                </a:r>
                <a:r>
                  <a:rPr sz="2550" i="1" spc="-15" baseline="-19607" dirty="0">
                    <a:latin typeface="Times New Roman"/>
                    <a:cs typeface="Times New Roman"/>
                  </a:rPr>
                  <a:t>t</a:t>
                </a:r>
                <a:r>
                  <a:rPr sz="2550" i="1" spc="247" baseline="-19607" dirty="0">
                    <a:latin typeface="Times New Roman"/>
                    <a:cs typeface="Times New Roman"/>
                  </a:rPr>
                  <a:t> </a:t>
                </a:r>
                <a:r>
                  <a:rPr sz="2400" dirty="0">
                    <a:latin typeface="Cambria"/>
                    <a:cs typeface="Cambria"/>
                  </a:rPr>
                  <a:t>∣</a:t>
                </a:r>
                <a:r>
                  <a:rPr sz="2400" spc="65" dirty="0">
                    <a:latin typeface="Cambria"/>
                    <a:cs typeface="Cambria"/>
                  </a:rPr>
                  <a:t> </a:t>
                </a:r>
                <a:r>
                  <a:rPr sz="2400" i="1" dirty="0">
                    <a:latin typeface="Times New Roman"/>
                    <a:cs typeface="Times New Roman"/>
                  </a:rPr>
                  <a:t>S</a:t>
                </a:r>
                <a:r>
                  <a:rPr sz="2550" i="1" baseline="-19607" dirty="0">
                    <a:latin typeface="Times New Roman"/>
                    <a:cs typeface="Times New Roman"/>
                  </a:rPr>
                  <a:t>t</a:t>
                </a:r>
                <a:r>
                  <a:rPr sz="2550" i="1" spc="270" baseline="-19607" dirty="0">
                    <a:latin typeface="Times New Roman"/>
                    <a:cs typeface="Times New Roman"/>
                  </a:rPr>
                  <a:t> </a:t>
                </a:r>
                <a:r>
                  <a:rPr sz="2400" spc="315" dirty="0">
                    <a:latin typeface="Cambria"/>
                    <a:cs typeface="Cambria"/>
                  </a:rPr>
                  <a:t>=</a:t>
                </a:r>
                <a:r>
                  <a:rPr sz="2400" spc="65" dirty="0">
                    <a:latin typeface="Cambria"/>
                    <a:cs typeface="Cambria"/>
                  </a:rPr>
                  <a:t> </a:t>
                </a:r>
                <a:r>
                  <a:rPr sz="2400" i="1" spc="-25" dirty="0">
                    <a:latin typeface="Times New Roman"/>
                    <a:cs typeface="Times New Roman"/>
                  </a:rPr>
                  <a:t>s</a:t>
                </a:r>
                <a:r>
                  <a:rPr sz="3600" spc="-37" baseline="-11574" dirty="0">
                    <a:latin typeface="Verdana"/>
                    <a:cs typeface="Verdana"/>
                  </a:rPr>
                  <a:t>]</a:t>
                </a:r>
                <a:endParaRPr sz="3600" baseline="-11574" dirty="0">
                  <a:latin typeface="Verdana"/>
                  <a:cs typeface="Verdana"/>
                </a:endParaRPr>
              </a:p>
              <a:p>
                <a:pPr marL="50800" marR="593090">
                  <a:lnSpc>
                    <a:spcPts val="2600"/>
                  </a:lnSpc>
                  <a:spcBef>
                    <a:spcPts val="2985"/>
                  </a:spcBef>
                </a:pPr>
                <a:r>
                  <a:rPr sz="2300" dirty="0">
                    <a:solidFill>
                      <a:srgbClr val="C82506"/>
                    </a:solidFill>
                    <a:latin typeface="Gill Sans MT"/>
                    <a:cs typeface="Gill Sans MT"/>
                  </a:rPr>
                  <a:t>Monte-Carlo</a:t>
                </a:r>
                <a:r>
                  <a:rPr sz="2300" spc="-30" dirty="0">
                    <a:solidFill>
                      <a:srgbClr val="C82506"/>
                    </a:solidFill>
                    <a:latin typeface="Gill Sans MT"/>
                    <a:cs typeface="Gill Sans MT"/>
                  </a:rPr>
                  <a:t> </a:t>
                </a:r>
                <a:r>
                  <a:rPr sz="2300" dirty="0">
                    <a:solidFill>
                      <a:srgbClr val="C82506"/>
                    </a:solidFill>
                    <a:latin typeface="Gill Sans MT"/>
                    <a:cs typeface="Gill Sans MT"/>
                  </a:rPr>
                  <a:t>policy</a:t>
                </a:r>
                <a:r>
                  <a:rPr sz="2300" spc="-15" dirty="0">
                    <a:solidFill>
                      <a:srgbClr val="C82506"/>
                    </a:solidFill>
                    <a:latin typeface="Gill Sans MT"/>
                    <a:cs typeface="Gill Sans MT"/>
                  </a:rPr>
                  <a:t> </a:t>
                </a:r>
                <a:r>
                  <a:rPr sz="2300" dirty="0">
                    <a:solidFill>
                      <a:srgbClr val="C82506"/>
                    </a:solidFill>
                    <a:latin typeface="Gill Sans MT"/>
                    <a:cs typeface="Gill Sans MT"/>
                  </a:rPr>
                  <a:t>evaluation</a:t>
                </a:r>
                <a:r>
                  <a:rPr sz="2300" spc="-20" dirty="0">
                    <a:solidFill>
                      <a:srgbClr val="C82506"/>
                    </a:solidFill>
                    <a:latin typeface="Gill Sans MT"/>
                    <a:cs typeface="Gill Sans MT"/>
                  </a:rPr>
                  <a:t> </a:t>
                </a:r>
                <a:r>
                  <a:rPr sz="2300" dirty="0">
                    <a:solidFill>
                      <a:srgbClr val="C82506"/>
                    </a:solidFill>
                    <a:latin typeface="Gill Sans MT"/>
                    <a:cs typeface="Gill Sans MT"/>
                  </a:rPr>
                  <a:t>uses</a:t>
                </a:r>
                <a:r>
                  <a:rPr sz="2300" spc="-20" dirty="0">
                    <a:solidFill>
                      <a:srgbClr val="C82506"/>
                    </a:solidFill>
                    <a:latin typeface="Gill Sans MT"/>
                    <a:cs typeface="Gill Sans MT"/>
                  </a:rPr>
                  <a:t> </a:t>
                </a:r>
                <a:r>
                  <a:rPr sz="2300" dirty="0">
                    <a:solidFill>
                      <a:srgbClr val="C82506"/>
                    </a:solidFill>
                    <a:latin typeface="Gill Sans MT"/>
                    <a:cs typeface="Gill Sans MT"/>
                  </a:rPr>
                  <a:t>empirical</a:t>
                </a:r>
                <a:r>
                  <a:rPr sz="2300" spc="-20" dirty="0">
                    <a:solidFill>
                      <a:srgbClr val="C82506"/>
                    </a:solidFill>
                    <a:latin typeface="Gill Sans MT"/>
                    <a:cs typeface="Gill Sans MT"/>
                  </a:rPr>
                  <a:t> mean </a:t>
                </a:r>
                <a:r>
                  <a:rPr sz="2300" dirty="0">
                    <a:solidFill>
                      <a:srgbClr val="C82506"/>
                    </a:solidFill>
                    <a:latin typeface="Gill Sans MT"/>
                    <a:cs typeface="Gill Sans MT"/>
                  </a:rPr>
                  <a:t>return</a:t>
                </a:r>
                <a:r>
                  <a:rPr sz="2300" spc="-35" dirty="0">
                    <a:solidFill>
                      <a:srgbClr val="C82506"/>
                    </a:solidFill>
                    <a:latin typeface="Gill Sans MT"/>
                    <a:cs typeface="Gill Sans MT"/>
                  </a:rPr>
                  <a:t> </a:t>
                </a:r>
                <a:r>
                  <a:rPr sz="2300" dirty="0">
                    <a:solidFill>
                      <a:srgbClr val="C82506"/>
                    </a:solidFill>
                    <a:latin typeface="Gill Sans MT"/>
                    <a:cs typeface="Gill Sans MT"/>
                  </a:rPr>
                  <a:t>instead</a:t>
                </a:r>
                <a:r>
                  <a:rPr sz="2300" spc="-15" dirty="0">
                    <a:solidFill>
                      <a:srgbClr val="C82506"/>
                    </a:solidFill>
                    <a:latin typeface="Gill Sans MT"/>
                    <a:cs typeface="Gill Sans MT"/>
                  </a:rPr>
                  <a:t> </a:t>
                </a:r>
                <a:r>
                  <a:rPr sz="2300" dirty="0">
                    <a:solidFill>
                      <a:srgbClr val="C82506"/>
                    </a:solidFill>
                    <a:latin typeface="Gill Sans MT"/>
                    <a:cs typeface="Gill Sans MT"/>
                  </a:rPr>
                  <a:t>of</a:t>
                </a:r>
                <a:r>
                  <a:rPr sz="2300" spc="-20" dirty="0">
                    <a:solidFill>
                      <a:srgbClr val="C82506"/>
                    </a:solidFill>
                    <a:latin typeface="Gill Sans MT"/>
                    <a:cs typeface="Gill Sans MT"/>
                  </a:rPr>
                  <a:t> </a:t>
                </a:r>
                <a:r>
                  <a:rPr sz="2300" dirty="0">
                    <a:solidFill>
                      <a:srgbClr val="C82506"/>
                    </a:solidFill>
                    <a:latin typeface="Gill Sans MT"/>
                    <a:cs typeface="Gill Sans MT"/>
                  </a:rPr>
                  <a:t>expected</a:t>
                </a:r>
                <a:r>
                  <a:rPr sz="2300" spc="-20" dirty="0">
                    <a:solidFill>
                      <a:srgbClr val="C82506"/>
                    </a:solidFill>
                    <a:latin typeface="Gill Sans MT"/>
                    <a:cs typeface="Gill Sans MT"/>
                  </a:rPr>
                  <a:t> </a:t>
                </a:r>
                <a:r>
                  <a:rPr sz="2300" spc="-10" dirty="0">
                    <a:solidFill>
                      <a:srgbClr val="C82506"/>
                    </a:solidFill>
                    <a:latin typeface="Gill Sans MT"/>
                    <a:cs typeface="Gill Sans MT"/>
                  </a:rPr>
                  <a:t>return</a:t>
                </a:r>
                <a:endParaRPr sz="2300" dirty="0">
                  <a:latin typeface="Gill Sans MT"/>
                  <a:cs typeface="Gill Sans MT"/>
                </a:endParaRPr>
              </a:p>
            </p:txBody>
          </p:sp>
        </mc:Choice>
        <mc:Fallback xmlns="">
          <p:sp>
            <p:nvSpPr>
              <p:cNvPr id="3" name="object 3"/>
              <p:cNvSpPr txBox="1">
                <a:spLocks noRot="1" noChangeAspect="1" noMove="1" noResize="1" noEditPoints="1" noAdjustHandles="1" noChangeArrowheads="1" noChangeShapeType="1" noTextEdit="1"/>
              </p:cNvSpPr>
              <p:nvPr/>
            </p:nvSpPr>
            <p:spPr>
              <a:xfrm>
                <a:off x="680135" y="1369128"/>
                <a:ext cx="6697345" cy="5241819"/>
              </a:xfrm>
              <a:prstGeom prst="rect">
                <a:avLst/>
              </a:prstGeom>
              <a:blipFill>
                <a:blip r:embed="rId3"/>
                <a:stretch>
                  <a:fillRect l="-2095" t="-1630" r="-1821" b="-267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D98EDAB-2B33-01C6-0B27-0011090CBE26}"/>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70BCC0C-3CD1-038F-7677-8BB49E4F39A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9B26F9D-8F86-AB9D-E837-1257149C6BDB}"/>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8639" y="403280"/>
            <a:ext cx="5999480" cy="421640"/>
          </a:xfrm>
          <a:prstGeom prst="rect">
            <a:avLst/>
          </a:prstGeom>
        </p:spPr>
        <p:txBody>
          <a:bodyPr vert="horz" wrap="square" lIns="0" tIns="12700" rIns="0" bIns="0" rtlCol="0">
            <a:spAutoFit/>
          </a:bodyPr>
          <a:lstStyle/>
          <a:p>
            <a:pPr marL="12700">
              <a:lnSpc>
                <a:spcPct val="100000"/>
              </a:lnSpc>
              <a:spcBef>
                <a:spcPts val="100"/>
              </a:spcBef>
            </a:pPr>
            <a:r>
              <a:rPr sz="2600" b="1" spc="-95" dirty="0">
                <a:latin typeface="Arial"/>
                <a:cs typeface="Arial"/>
              </a:rPr>
              <a:t>Every-</a:t>
            </a:r>
            <a:r>
              <a:rPr sz="2600" b="1" dirty="0">
                <a:latin typeface="Arial"/>
                <a:cs typeface="Arial"/>
              </a:rPr>
              <a:t>Visit</a:t>
            </a:r>
            <a:r>
              <a:rPr sz="2600" b="1" spc="-170" dirty="0">
                <a:latin typeface="Arial"/>
                <a:cs typeface="Arial"/>
              </a:rPr>
              <a:t> </a:t>
            </a:r>
            <a:r>
              <a:rPr sz="2600" spc="-95" dirty="0">
                <a:latin typeface="Arial"/>
                <a:cs typeface="Arial"/>
              </a:rPr>
              <a:t>Monte-</a:t>
            </a:r>
            <a:r>
              <a:rPr sz="2600" dirty="0">
                <a:latin typeface="Arial"/>
                <a:cs typeface="Arial"/>
              </a:rPr>
              <a:t>Carlo</a:t>
            </a:r>
            <a:r>
              <a:rPr sz="2600" spc="-145" dirty="0">
                <a:latin typeface="Arial"/>
                <a:cs typeface="Arial"/>
              </a:rPr>
              <a:t> </a:t>
            </a:r>
            <a:r>
              <a:rPr sz="2600" spc="-40" dirty="0">
                <a:latin typeface="Arial"/>
                <a:cs typeface="Arial"/>
              </a:rPr>
              <a:t>Policy</a:t>
            </a:r>
            <a:r>
              <a:rPr sz="2600" spc="-140" dirty="0">
                <a:latin typeface="Arial"/>
                <a:cs typeface="Arial"/>
              </a:rPr>
              <a:t> </a:t>
            </a:r>
            <a:r>
              <a:rPr sz="2600" spc="-10" dirty="0">
                <a:latin typeface="Arial"/>
                <a:cs typeface="Arial"/>
              </a:rPr>
              <a:t>Evaluation</a:t>
            </a:r>
            <a:endParaRPr sz="2600">
              <a:latin typeface="Arial"/>
              <a:cs typeface="Arial"/>
            </a:endParaRPr>
          </a:p>
        </p:txBody>
      </p:sp>
      <p:sp>
        <p:nvSpPr>
          <p:cNvPr id="3" name="object 3"/>
          <p:cNvSpPr txBox="1">
            <a:spLocks noGrp="1"/>
          </p:cNvSpPr>
          <p:nvPr>
            <p:ph type="title"/>
          </p:nvPr>
        </p:nvSpPr>
        <p:spPr>
          <a:xfrm>
            <a:off x="605465" y="1543133"/>
            <a:ext cx="2670175" cy="452120"/>
          </a:xfrm>
          <a:prstGeom prst="rect">
            <a:avLst/>
          </a:prstGeom>
        </p:spPr>
        <p:txBody>
          <a:bodyPr vert="horz" wrap="square" lIns="0" tIns="12700" rIns="0" bIns="0" rtlCol="0">
            <a:spAutoFit/>
          </a:bodyPr>
          <a:lstStyle/>
          <a:p>
            <a:pPr marL="12700">
              <a:lnSpc>
                <a:spcPct val="100000"/>
              </a:lnSpc>
              <a:spcBef>
                <a:spcPts val="100"/>
              </a:spcBef>
            </a:pPr>
            <a:r>
              <a:rPr sz="2800" spc="-210" dirty="0">
                <a:latin typeface="Gill Sans MT"/>
                <a:cs typeface="Gill Sans MT"/>
              </a:rPr>
              <a:t>To</a:t>
            </a:r>
            <a:r>
              <a:rPr sz="2800" spc="-10" dirty="0">
                <a:latin typeface="Gill Sans MT"/>
                <a:cs typeface="Gill Sans MT"/>
              </a:rPr>
              <a:t> </a:t>
            </a:r>
            <a:r>
              <a:rPr sz="2800" dirty="0">
                <a:latin typeface="Gill Sans MT"/>
                <a:cs typeface="Gill Sans MT"/>
              </a:rPr>
              <a:t>evaluate</a:t>
            </a:r>
            <a:r>
              <a:rPr sz="2800" spc="-50" dirty="0">
                <a:latin typeface="Gill Sans MT"/>
                <a:cs typeface="Gill Sans MT"/>
              </a:rPr>
              <a:t> </a:t>
            </a:r>
            <a:r>
              <a:rPr sz="2800" dirty="0">
                <a:latin typeface="Gill Sans MT"/>
                <a:cs typeface="Gill Sans MT"/>
              </a:rPr>
              <a:t>state</a:t>
            </a:r>
            <a:r>
              <a:rPr sz="2800" spc="-20" dirty="0">
                <a:latin typeface="Gill Sans MT"/>
                <a:cs typeface="Gill Sans MT"/>
              </a:rPr>
              <a:t> </a:t>
            </a:r>
            <a:r>
              <a:rPr sz="2800" i="1" spc="-50" dirty="0">
                <a:latin typeface="Gill Sans MT"/>
                <a:cs typeface="Gill Sans MT"/>
              </a:rPr>
              <a:t>s</a:t>
            </a:r>
            <a:endParaRPr sz="2800" dirty="0">
              <a:latin typeface="Gill Sans MT"/>
              <a:cs typeface="Gill Sans MT"/>
            </a:endParaRPr>
          </a:p>
        </p:txBody>
      </p:sp>
      <p:sp>
        <p:nvSpPr>
          <p:cNvPr id="4" name="object 4"/>
          <p:cNvSpPr txBox="1"/>
          <p:nvPr/>
        </p:nvSpPr>
        <p:spPr>
          <a:xfrm>
            <a:off x="580065" y="2355933"/>
            <a:ext cx="7869555" cy="3397885"/>
          </a:xfrm>
          <a:prstGeom prst="rect">
            <a:avLst/>
          </a:prstGeom>
        </p:spPr>
        <p:txBody>
          <a:bodyPr vert="horz" wrap="square" lIns="0" tIns="27939" rIns="0" bIns="0" rtlCol="0">
            <a:spAutoFit/>
          </a:bodyPr>
          <a:lstStyle/>
          <a:p>
            <a:pPr marL="266065" marR="30480" indent="-228600">
              <a:lnSpc>
                <a:spcPts val="3350"/>
              </a:lnSpc>
              <a:spcBef>
                <a:spcPts val="219"/>
              </a:spcBef>
              <a:buClr>
                <a:srgbClr val="000000"/>
              </a:buClr>
              <a:buChar char="•"/>
              <a:tabLst>
                <a:tab pos="266700" algn="l"/>
              </a:tabLst>
            </a:pPr>
            <a:r>
              <a:rPr sz="2800" dirty="0">
                <a:solidFill>
                  <a:srgbClr val="C82506"/>
                </a:solidFill>
                <a:latin typeface="Gill Sans MT"/>
                <a:cs typeface="Gill Sans MT"/>
              </a:rPr>
              <a:t>Every</a:t>
            </a:r>
            <a:r>
              <a:rPr sz="2800" spc="-20" dirty="0">
                <a:solidFill>
                  <a:srgbClr val="C82506"/>
                </a:solidFill>
                <a:latin typeface="Gill Sans MT"/>
                <a:cs typeface="Gill Sans MT"/>
              </a:rPr>
              <a:t> </a:t>
            </a:r>
            <a:r>
              <a:rPr sz="2800" dirty="0">
                <a:latin typeface="Gill Sans MT"/>
                <a:cs typeface="Gill Sans MT"/>
              </a:rPr>
              <a:t>time-step</a:t>
            </a:r>
            <a:r>
              <a:rPr sz="2800" spc="-5" dirty="0">
                <a:latin typeface="Gill Sans MT"/>
                <a:cs typeface="Gill Sans MT"/>
              </a:rPr>
              <a:t> </a:t>
            </a:r>
            <a:r>
              <a:rPr sz="2800" i="1" dirty="0">
                <a:latin typeface="Gill Sans MT"/>
                <a:cs typeface="Gill Sans MT"/>
              </a:rPr>
              <a:t>t</a:t>
            </a:r>
            <a:r>
              <a:rPr sz="2800" i="1" spc="-5" dirty="0">
                <a:latin typeface="Gill Sans MT"/>
                <a:cs typeface="Gill Sans MT"/>
              </a:rPr>
              <a:t> </a:t>
            </a:r>
            <a:r>
              <a:rPr sz="2800" dirty="0">
                <a:latin typeface="Gill Sans MT"/>
                <a:cs typeface="Gill Sans MT"/>
              </a:rPr>
              <a:t>that</a:t>
            </a:r>
            <a:r>
              <a:rPr sz="2800" spc="-5" dirty="0">
                <a:latin typeface="Gill Sans MT"/>
                <a:cs typeface="Gill Sans MT"/>
              </a:rPr>
              <a:t> </a:t>
            </a:r>
            <a:r>
              <a:rPr sz="2800" dirty="0">
                <a:latin typeface="Gill Sans MT"/>
                <a:cs typeface="Gill Sans MT"/>
              </a:rPr>
              <a:t>state</a:t>
            </a:r>
            <a:r>
              <a:rPr sz="2800" spc="-5" dirty="0">
                <a:latin typeface="Gill Sans MT"/>
                <a:cs typeface="Gill Sans MT"/>
              </a:rPr>
              <a:t> </a:t>
            </a:r>
            <a:r>
              <a:rPr sz="2800" dirty="0">
                <a:latin typeface="Gill Sans MT"/>
                <a:cs typeface="Gill Sans MT"/>
              </a:rPr>
              <a:t>s is visited</a:t>
            </a:r>
            <a:r>
              <a:rPr sz="2800" spc="-5" dirty="0">
                <a:latin typeface="Gill Sans MT"/>
                <a:cs typeface="Gill Sans MT"/>
              </a:rPr>
              <a:t> </a:t>
            </a:r>
            <a:r>
              <a:rPr sz="2800" dirty="0">
                <a:latin typeface="Gill Sans MT"/>
                <a:cs typeface="Gill Sans MT"/>
              </a:rPr>
              <a:t>in</a:t>
            </a:r>
            <a:r>
              <a:rPr sz="2800" spc="-5" dirty="0">
                <a:latin typeface="Gill Sans MT"/>
                <a:cs typeface="Gill Sans MT"/>
              </a:rPr>
              <a:t> </a:t>
            </a:r>
            <a:r>
              <a:rPr sz="2800" dirty="0">
                <a:latin typeface="Gill Sans MT"/>
                <a:cs typeface="Gill Sans MT"/>
              </a:rPr>
              <a:t>an</a:t>
            </a:r>
            <a:r>
              <a:rPr sz="2800" spc="-5" dirty="0">
                <a:latin typeface="Gill Sans MT"/>
                <a:cs typeface="Gill Sans MT"/>
              </a:rPr>
              <a:t> </a:t>
            </a:r>
            <a:r>
              <a:rPr sz="2800" spc="-10" dirty="0">
                <a:latin typeface="Gill Sans MT"/>
                <a:cs typeface="Gill Sans MT"/>
              </a:rPr>
              <a:t>episode, </a:t>
            </a:r>
            <a:r>
              <a:rPr sz="2800" dirty="0">
                <a:latin typeface="Gill Sans MT"/>
                <a:cs typeface="Gill Sans MT"/>
              </a:rPr>
              <a:t>Increment</a:t>
            </a:r>
            <a:r>
              <a:rPr sz="2800" spc="-75" dirty="0">
                <a:latin typeface="Gill Sans MT"/>
                <a:cs typeface="Gill Sans MT"/>
              </a:rPr>
              <a:t> </a:t>
            </a:r>
            <a:r>
              <a:rPr sz="2800" dirty="0">
                <a:latin typeface="Gill Sans MT"/>
                <a:cs typeface="Gill Sans MT"/>
              </a:rPr>
              <a:t>counter</a:t>
            </a:r>
            <a:r>
              <a:rPr sz="2800" spc="-70" dirty="0">
                <a:latin typeface="Gill Sans MT"/>
                <a:cs typeface="Gill Sans MT"/>
              </a:rPr>
              <a:t> </a:t>
            </a:r>
            <a:r>
              <a:rPr sz="2950" i="1" spc="-25" dirty="0">
                <a:latin typeface="Times New Roman"/>
                <a:cs typeface="Times New Roman"/>
              </a:rPr>
              <a:t>N</a:t>
            </a:r>
            <a:r>
              <a:rPr sz="2950" spc="-25" dirty="0">
                <a:latin typeface="Cambria"/>
                <a:cs typeface="Cambria"/>
              </a:rPr>
              <a:t>(</a:t>
            </a:r>
            <a:r>
              <a:rPr sz="2950" i="1" spc="-25" dirty="0">
                <a:latin typeface="Times New Roman"/>
                <a:cs typeface="Times New Roman"/>
              </a:rPr>
              <a:t>s</a:t>
            </a:r>
            <a:r>
              <a:rPr sz="2950" spc="-25" dirty="0">
                <a:latin typeface="Cambria"/>
                <a:cs typeface="Cambria"/>
              </a:rPr>
              <a:t>)</a:t>
            </a:r>
            <a:r>
              <a:rPr sz="2950" spc="95" dirty="0">
                <a:latin typeface="Cambria"/>
                <a:cs typeface="Cambria"/>
              </a:rPr>
              <a:t> </a:t>
            </a:r>
            <a:r>
              <a:rPr sz="2950" spc="245" dirty="0">
                <a:latin typeface="Cambria"/>
                <a:cs typeface="Cambria"/>
              </a:rPr>
              <a:t>←</a:t>
            </a:r>
            <a:r>
              <a:rPr sz="2950" spc="90" dirty="0">
                <a:latin typeface="Cambria"/>
                <a:cs typeface="Cambria"/>
              </a:rPr>
              <a:t> </a:t>
            </a:r>
            <a:r>
              <a:rPr sz="2950" i="1" spc="-65" dirty="0">
                <a:latin typeface="Times New Roman"/>
                <a:cs typeface="Times New Roman"/>
              </a:rPr>
              <a:t>N</a:t>
            </a:r>
            <a:r>
              <a:rPr sz="2950" spc="-65" dirty="0">
                <a:latin typeface="Cambria"/>
                <a:cs typeface="Cambria"/>
              </a:rPr>
              <a:t>(</a:t>
            </a:r>
            <a:r>
              <a:rPr sz="2950" i="1" spc="-65" dirty="0">
                <a:latin typeface="Times New Roman"/>
                <a:cs typeface="Times New Roman"/>
              </a:rPr>
              <a:t>s</a:t>
            </a:r>
            <a:r>
              <a:rPr sz="2950" spc="-65" dirty="0">
                <a:latin typeface="Cambria"/>
                <a:cs typeface="Cambria"/>
              </a:rPr>
              <a:t>)</a:t>
            </a:r>
            <a:r>
              <a:rPr sz="2950" spc="-55" dirty="0">
                <a:latin typeface="Cambria"/>
                <a:cs typeface="Cambria"/>
              </a:rPr>
              <a:t> </a:t>
            </a:r>
            <a:r>
              <a:rPr sz="2950" spc="375" dirty="0">
                <a:latin typeface="Cambria"/>
                <a:cs typeface="Cambria"/>
              </a:rPr>
              <a:t>+</a:t>
            </a:r>
            <a:r>
              <a:rPr sz="2950" spc="-60" dirty="0">
                <a:latin typeface="Cambria"/>
                <a:cs typeface="Cambria"/>
              </a:rPr>
              <a:t> </a:t>
            </a:r>
            <a:r>
              <a:rPr sz="2950" spc="-50" dirty="0">
                <a:latin typeface="Cambria"/>
                <a:cs typeface="Cambria"/>
              </a:rPr>
              <a:t>1</a:t>
            </a:r>
            <a:endParaRPr sz="2950">
              <a:latin typeface="Cambria"/>
              <a:cs typeface="Cambria"/>
            </a:endParaRPr>
          </a:p>
          <a:p>
            <a:pPr marL="266700" indent="-228600">
              <a:lnSpc>
                <a:spcPct val="100000"/>
              </a:lnSpc>
              <a:spcBef>
                <a:spcPts val="3000"/>
              </a:spcBef>
              <a:buChar char="•"/>
              <a:tabLst>
                <a:tab pos="266700" algn="l"/>
              </a:tabLst>
            </a:pPr>
            <a:r>
              <a:rPr sz="2800" dirty="0">
                <a:latin typeface="Gill Sans MT"/>
                <a:cs typeface="Gill Sans MT"/>
              </a:rPr>
              <a:t>Increment</a:t>
            </a:r>
            <a:r>
              <a:rPr sz="2800" spc="-80" dirty="0">
                <a:latin typeface="Gill Sans MT"/>
                <a:cs typeface="Gill Sans MT"/>
              </a:rPr>
              <a:t> </a:t>
            </a:r>
            <a:r>
              <a:rPr sz="2800" dirty="0">
                <a:latin typeface="Gill Sans MT"/>
                <a:cs typeface="Gill Sans MT"/>
              </a:rPr>
              <a:t>total</a:t>
            </a:r>
            <a:r>
              <a:rPr sz="2800" spc="-75" dirty="0">
                <a:latin typeface="Gill Sans MT"/>
                <a:cs typeface="Gill Sans MT"/>
              </a:rPr>
              <a:t> </a:t>
            </a:r>
            <a:r>
              <a:rPr sz="2800" dirty="0">
                <a:latin typeface="Gill Sans MT"/>
                <a:cs typeface="Gill Sans MT"/>
              </a:rPr>
              <a:t>return</a:t>
            </a:r>
            <a:r>
              <a:rPr sz="2800" spc="-75" dirty="0">
                <a:latin typeface="Gill Sans MT"/>
                <a:cs typeface="Gill Sans MT"/>
              </a:rPr>
              <a:t> </a:t>
            </a:r>
            <a:r>
              <a:rPr sz="2950" i="1" spc="-20" dirty="0">
                <a:latin typeface="Times New Roman"/>
                <a:cs typeface="Times New Roman"/>
              </a:rPr>
              <a:t>S</a:t>
            </a:r>
            <a:r>
              <a:rPr sz="2950" spc="-20" dirty="0">
                <a:latin typeface="Cambria"/>
                <a:cs typeface="Cambria"/>
              </a:rPr>
              <a:t>(</a:t>
            </a:r>
            <a:r>
              <a:rPr sz="2950" i="1" spc="-20" dirty="0">
                <a:latin typeface="Times New Roman"/>
                <a:cs typeface="Times New Roman"/>
              </a:rPr>
              <a:t>s</a:t>
            </a:r>
            <a:r>
              <a:rPr sz="2950" spc="-20" dirty="0">
                <a:latin typeface="Cambria"/>
                <a:cs typeface="Cambria"/>
              </a:rPr>
              <a:t>)</a:t>
            </a:r>
            <a:r>
              <a:rPr sz="2950" spc="90" dirty="0">
                <a:latin typeface="Cambria"/>
                <a:cs typeface="Cambria"/>
              </a:rPr>
              <a:t> </a:t>
            </a:r>
            <a:r>
              <a:rPr sz="2950" spc="245" dirty="0">
                <a:latin typeface="Cambria"/>
                <a:cs typeface="Cambria"/>
              </a:rPr>
              <a:t>←</a:t>
            </a:r>
            <a:r>
              <a:rPr sz="2950" spc="90" dirty="0">
                <a:latin typeface="Cambria"/>
                <a:cs typeface="Cambria"/>
              </a:rPr>
              <a:t> </a:t>
            </a:r>
            <a:r>
              <a:rPr sz="2950" i="1" spc="-60" dirty="0">
                <a:latin typeface="Times New Roman"/>
                <a:cs typeface="Times New Roman"/>
              </a:rPr>
              <a:t>S</a:t>
            </a:r>
            <a:r>
              <a:rPr sz="2950" spc="-60" dirty="0">
                <a:latin typeface="Cambria"/>
                <a:cs typeface="Cambria"/>
              </a:rPr>
              <a:t>(</a:t>
            </a:r>
            <a:r>
              <a:rPr sz="2950" i="1" spc="-60" dirty="0">
                <a:latin typeface="Times New Roman"/>
                <a:cs typeface="Times New Roman"/>
              </a:rPr>
              <a:t>s</a:t>
            </a:r>
            <a:r>
              <a:rPr sz="2950" spc="-60" dirty="0">
                <a:latin typeface="Cambria"/>
                <a:cs typeface="Cambria"/>
              </a:rPr>
              <a:t>) </a:t>
            </a:r>
            <a:r>
              <a:rPr sz="2950" spc="375" dirty="0">
                <a:latin typeface="Cambria"/>
                <a:cs typeface="Cambria"/>
              </a:rPr>
              <a:t>+</a:t>
            </a:r>
            <a:r>
              <a:rPr sz="2950" spc="-65" dirty="0">
                <a:latin typeface="Cambria"/>
                <a:cs typeface="Cambria"/>
              </a:rPr>
              <a:t> </a:t>
            </a:r>
            <a:r>
              <a:rPr sz="2950" i="1" spc="-25" dirty="0">
                <a:latin typeface="Times New Roman"/>
                <a:cs typeface="Times New Roman"/>
              </a:rPr>
              <a:t>G</a:t>
            </a:r>
            <a:r>
              <a:rPr sz="3075" i="1" spc="-37" baseline="-18970" dirty="0">
                <a:latin typeface="Times New Roman"/>
                <a:cs typeface="Times New Roman"/>
              </a:rPr>
              <a:t>t</a:t>
            </a:r>
            <a:endParaRPr sz="3075" baseline="-18970">
              <a:latin typeface="Times New Roman"/>
              <a:cs typeface="Times New Roman"/>
            </a:endParaRPr>
          </a:p>
          <a:p>
            <a:pPr marL="266700" indent="-228600">
              <a:lnSpc>
                <a:spcPct val="100000"/>
              </a:lnSpc>
              <a:spcBef>
                <a:spcPts val="3080"/>
              </a:spcBef>
              <a:buChar char="•"/>
              <a:tabLst>
                <a:tab pos="266700" algn="l"/>
              </a:tabLst>
            </a:pPr>
            <a:r>
              <a:rPr sz="2800" dirty="0">
                <a:latin typeface="Gill Sans MT"/>
                <a:cs typeface="Gill Sans MT"/>
              </a:rPr>
              <a:t>Value</a:t>
            </a:r>
            <a:r>
              <a:rPr sz="2800" spc="-75" dirty="0">
                <a:latin typeface="Gill Sans MT"/>
                <a:cs typeface="Gill Sans MT"/>
              </a:rPr>
              <a:t> </a:t>
            </a:r>
            <a:r>
              <a:rPr sz="2800" dirty="0">
                <a:latin typeface="Gill Sans MT"/>
                <a:cs typeface="Gill Sans MT"/>
              </a:rPr>
              <a:t>is</a:t>
            </a:r>
            <a:r>
              <a:rPr sz="2800" spc="-70" dirty="0">
                <a:latin typeface="Gill Sans MT"/>
                <a:cs typeface="Gill Sans MT"/>
              </a:rPr>
              <a:t> </a:t>
            </a:r>
            <a:r>
              <a:rPr sz="2800" dirty="0">
                <a:latin typeface="Gill Sans MT"/>
                <a:cs typeface="Gill Sans MT"/>
              </a:rPr>
              <a:t>estimated</a:t>
            </a:r>
            <a:r>
              <a:rPr sz="2800" spc="-70" dirty="0">
                <a:latin typeface="Gill Sans MT"/>
                <a:cs typeface="Gill Sans MT"/>
              </a:rPr>
              <a:t> </a:t>
            </a:r>
            <a:r>
              <a:rPr sz="2800" dirty="0">
                <a:latin typeface="Gill Sans MT"/>
                <a:cs typeface="Gill Sans MT"/>
              </a:rPr>
              <a:t>by</a:t>
            </a:r>
            <a:r>
              <a:rPr sz="2800" spc="-70" dirty="0">
                <a:latin typeface="Gill Sans MT"/>
                <a:cs typeface="Gill Sans MT"/>
              </a:rPr>
              <a:t> </a:t>
            </a:r>
            <a:r>
              <a:rPr sz="2800" dirty="0">
                <a:latin typeface="Gill Sans MT"/>
                <a:cs typeface="Gill Sans MT"/>
              </a:rPr>
              <a:t>mean</a:t>
            </a:r>
            <a:r>
              <a:rPr sz="2800" spc="-70" dirty="0">
                <a:latin typeface="Gill Sans MT"/>
                <a:cs typeface="Gill Sans MT"/>
              </a:rPr>
              <a:t> </a:t>
            </a:r>
            <a:r>
              <a:rPr sz="2800" dirty="0">
                <a:latin typeface="Gill Sans MT"/>
                <a:cs typeface="Gill Sans MT"/>
              </a:rPr>
              <a:t>return</a:t>
            </a:r>
            <a:r>
              <a:rPr sz="2800" spc="-70" dirty="0">
                <a:latin typeface="Gill Sans MT"/>
                <a:cs typeface="Gill Sans MT"/>
              </a:rPr>
              <a:t> </a:t>
            </a:r>
            <a:r>
              <a:rPr sz="2950" i="1" spc="-20" dirty="0">
                <a:latin typeface="Times New Roman"/>
                <a:cs typeface="Times New Roman"/>
              </a:rPr>
              <a:t>V</a:t>
            </a:r>
            <a:r>
              <a:rPr sz="2950" spc="-20" dirty="0">
                <a:latin typeface="Cambria"/>
                <a:cs typeface="Cambria"/>
              </a:rPr>
              <a:t>(</a:t>
            </a:r>
            <a:r>
              <a:rPr sz="2950" i="1" spc="-20" dirty="0">
                <a:latin typeface="Times New Roman"/>
                <a:cs typeface="Times New Roman"/>
              </a:rPr>
              <a:t>s</a:t>
            </a:r>
            <a:r>
              <a:rPr sz="2950" spc="-20" dirty="0">
                <a:latin typeface="Cambria"/>
                <a:cs typeface="Cambria"/>
              </a:rPr>
              <a:t>)</a:t>
            </a:r>
            <a:r>
              <a:rPr sz="2950" spc="95" dirty="0">
                <a:latin typeface="Cambria"/>
                <a:cs typeface="Cambria"/>
              </a:rPr>
              <a:t> </a:t>
            </a:r>
            <a:r>
              <a:rPr sz="2950" spc="245" dirty="0">
                <a:latin typeface="Cambria"/>
                <a:cs typeface="Cambria"/>
              </a:rPr>
              <a:t>←</a:t>
            </a:r>
            <a:r>
              <a:rPr sz="2950" spc="95" dirty="0">
                <a:latin typeface="Cambria"/>
                <a:cs typeface="Cambria"/>
              </a:rPr>
              <a:t> </a:t>
            </a:r>
            <a:r>
              <a:rPr sz="2950" i="1" spc="-55" dirty="0">
                <a:latin typeface="Times New Roman"/>
                <a:cs typeface="Times New Roman"/>
              </a:rPr>
              <a:t>S</a:t>
            </a:r>
            <a:r>
              <a:rPr sz="2950" spc="-55" dirty="0">
                <a:latin typeface="Cambria"/>
                <a:cs typeface="Cambria"/>
              </a:rPr>
              <a:t>(</a:t>
            </a:r>
            <a:r>
              <a:rPr sz="2950" i="1" spc="-55" dirty="0">
                <a:latin typeface="Times New Roman"/>
                <a:cs typeface="Times New Roman"/>
              </a:rPr>
              <a:t>s</a:t>
            </a:r>
            <a:r>
              <a:rPr sz="2950" spc="-55" dirty="0">
                <a:latin typeface="Cambria"/>
                <a:cs typeface="Cambria"/>
              </a:rPr>
              <a:t>)/</a:t>
            </a:r>
            <a:r>
              <a:rPr sz="2950" i="1" spc="-55" dirty="0">
                <a:latin typeface="Times New Roman"/>
                <a:cs typeface="Times New Roman"/>
              </a:rPr>
              <a:t>N</a:t>
            </a:r>
            <a:r>
              <a:rPr sz="2950" spc="-55" dirty="0">
                <a:latin typeface="Cambria"/>
                <a:cs typeface="Cambria"/>
              </a:rPr>
              <a:t>(</a:t>
            </a:r>
            <a:r>
              <a:rPr sz="2950" i="1" spc="-55" dirty="0">
                <a:latin typeface="Times New Roman"/>
                <a:cs typeface="Times New Roman"/>
              </a:rPr>
              <a:t>s</a:t>
            </a:r>
            <a:r>
              <a:rPr sz="2950" spc="-55" dirty="0">
                <a:latin typeface="Cambria"/>
                <a:cs typeface="Cambria"/>
              </a:rPr>
              <a:t>)</a:t>
            </a:r>
            <a:endParaRPr sz="2950">
              <a:latin typeface="Cambria"/>
              <a:cs typeface="Cambria"/>
            </a:endParaRPr>
          </a:p>
          <a:p>
            <a:pPr marL="266700" indent="-228600">
              <a:lnSpc>
                <a:spcPct val="100000"/>
              </a:lnSpc>
              <a:spcBef>
                <a:spcPts val="3030"/>
              </a:spcBef>
              <a:buSzPct val="94915"/>
              <a:buFont typeface="Gill Sans MT"/>
              <a:buChar char="•"/>
              <a:tabLst>
                <a:tab pos="266700" algn="l"/>
              </a:tabLst>
            </a:pPr>
            <a:r>
              <a:rPr sz="2950" dirty="0">
                <a:solidFill>
                  <a:srgbClr val="C82506"/>
                </a:solidFill>
                <a:latin typeface="Cambria"/>
                <a:cs typeface="Cambria"/>
              </a:rPr>
              <a:t>lim</a:t>
            </a:r>
            <a:r>
              <a:rPr sz="3075" i="1" baseline="-20325" dirty="0">
                <a:solidFill>
                  <a:srgbClr val="C82506"/>
                </a:solidFill>
                <a:latin typeface="Times New Roman"/>
                <a:cs typeface="Times New Roman"/>
              </a:rPr>
              <a:t>N</a:t>
            </a:r>
            <a:r>
              <a:rPr sz="3075" baseline="-20325" dirty="0">
                <a:solidFill>
                  <a:srgbClr val="C82506"/>
                </a:solidFill>
                <a:latin typeface="Cambria"/>
                <a:cs typeface="Cambria"/>
              </a:rPr>
              <a:t>(</a:t>
            </a:r>
            <a:r>
              <a:rPr sz="3075" i="1" baseline="-20325" dirty="0">
                <a:solidFill>
                  <a:srgbClr val="C82506"/>
                </a:solidFill>
                <a:latin typeface="Times New Roman"/>
                <a:cs typeface="Times New Roman"/>
              </a:rPr>
              <a:t>s</a:t>
            </a:r>
            <a:r>
              <a:rPr sz="3075" baseline="-20325" dirty="0">
                <a:solidFill>
                  <a:srgbClr val="C82506"/>
                </a:solidFill>
                <a:latin typeface="Cambria"/>
                <a:cs typeface="Cambria"/>
              </a:rPr>
              <a:t>)→∞</a:t>
            </a:r>
            <a:r>
              <a:rPr sz="3075" spc="667" baseline="-20325" dirty="0">
                <a:solidFill>
                  <a:srgbClr val="C82506"/>
                </a:solidFill>
                <a:latin typeface="Cambria"/>
                <a:cs typeface="Cambria"/>
              </a:rPr>
              <a:t> </a:t>
            </a:r>
            <a:r>
              <a:rPr sz="2950" i="1" spc="-20" dirty="0">
                <a:solidFill>
                  <a:srgbClr val="C82506"/>
                </a:solidFill>
                <a:latin typeface="Times New Roman"/>
                <a:cs typeface="Times New Roman"/>
              </a:rPr>
              <a:t>V</a:t>
            </a:r>
            <a:r>
              <a:rPr sz="2950" spc="-20" dirty="0">
                <a:solidFill>
                  <a:srgbClr val="C82506"/>
                </a:solidFill>
                <a:latin typeface="Cambria"/>
                <a:cs typeface="Cambria"/>
              </a:rPr>
              <a:t>(</a:t>
            </a:r>
            <a:r>
              <a:rPr sz="2950" i="1" spc="-20" dirty="0">
                <a:solidFill>
                  <a:srgbClr val="C82506"/>
                </a:solidFill>
                <a:latin typeface="Times New Roman"/>
                <a:cs typeface="Times New Roman"/>
              </a:rPr>
              <a:t>s</a:t>
            </a:r>
            <a:r>
              <a:rPr sz="2950" spc="-20" dirty="0">
                <a:solidFill>
                  <a:srgbClr val="C82506"/>
                </a:solidFill>
                <a:latin typeface="Cambria"/>
                <a:cs typeface="Cambria"/>
              </a:rPr>
              <a:t>)</a:t>
            </a:r>
            <a:r>
              <a:rPr sz="2950" spc="95" dirty="0">
                <a:solidFill>
                  <a:srgbClr val="C82506"/>
                </a:solidFill>
                <a:latin typeface="Cambria"/>
                <a:cs typeface="Cambria"/>
              </a:rPr>
              <a:t> </a:t>
            </a:r>
            <a:r>
              <a:rPr sz="2950" spc="375" dirty="0">
                <a:solidFill>
                  <a:srgbClr val="C82506"/>
                </a:solidFill>
                <a:latin typeface="Cambria"/>
                <a:cs typeface="Cambria"/>
              </a:rPr>
              <a:t>=</a:t>
            </a:r>
            <a:r>
              <a:rPr sz="2950" spc="100" dirty="0">
                <a:solidFill>
                  <a:srgbClr val="C82506"/>
                </a:solidFill>
                <a:latin typeface="Cambria"/>
                <a:cs typeface="Cambria"/>
              </a:rPr>
              <a:t> </a:t>
            </a:r>
            <a:r>
              <a:rPr sz="2950" i="1" spc="-10" dirty="0">
                <a:solidFill>
                  <a:srgbClr val="C82506"/>
                </a:solidFill>
                <a:latin typeface="Times New Roman"/>
                <a:cs typeface="Times New Roman"/>
              </a:rPr>
              <a:t>v</a:t>
            </a:r>
            <a:r>
              <a:rPr sz="3075" i="1" spc="-15" baseline="-20325" dirty="0">
                <a:solidFill>
                  <a:srgbClr val="C82506"/>
                </a:solidFill>
                <a:latin typeface="Arial"/>
                <a:cs typeface="Arial"/>
              </a:rPr>
              <a:t>π</a:t>
            </a:r>
            <a:r>
              <a:rPr sz="2950" spc="-10" dirty="0">
                <a:solidFill>
                  <a:srgbClr val="C82506"/>
                </a:solidFill>
                <a:latin typeface="Cambria"/>
                <a:cs typeface="Cambria"/>
              </a:rPr>
              <a:t>(</a:t>
            </a:r>
            <a:r>
              <a:rPr sz="2950" i="1" spc="-10" dirty="0">
                <a:solidFill>
                  <a:srgbClr val="C82506"/>
                </a:solidFill>
                <a:latin typeface="Times New Roman"/>
                <a:cs typeface="Times New Roman"/>
              </a:rPr>
              <a:t>s</a:t>
            </a:r>
            <a:r>
              <a:rPr sz="2950" spc="-10" dirty="0">
                <a:solidFill>
                  <a:srgbClr val="C82506"/>
                </a:solidFill>
                <a:latin typeface="Cambria"/>
                <a:cs typeface="Cambria"/>
              </a:rPr>
              <a:t>)</a:t>
            </a:r>
            <a:endParaRPr sz="2950">
              <a:latin typeface="Cambria"/>
              <a:cs typeface="Cambria"/>
            </a:endParaRPr>
          </a:p>
        </p:txBody>
      </p:sp>
      <p:sp>
        <p:nvSpPr>
          <p:cNvPr id="5" name="Date Placeholder 3">
            <a:extLst>
              <a:ext uri="{FF2B5EF4-FFF2-40B4-BE49-F238E27FC236}">
                <a16:creationId xmlns:a16="http://schemas.microsoft.com/office/drawing/2014/main" id="{1360F59B-4497-7352-7442-13A95D33C680}"/>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51E9C57E-82CF-A658-2A11-9E711D58072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5086BEC9-7A1B-99C4-08E6-327006F66599}"/>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1125" y="351661"/>
            <a:ext cx="4749800" cy="421640"/>
          </a:xfrm>
          <a:prstGeom prst="rect">
            <a:avLst/>
          </a:prstGeom>
        </p:spPr>
        <p:txBody>
          <a:bodyPr vert="horz" wrap="square" lIns="0" tIns="12700" rIns="0" bIns="0" rtlCol="0">
            <a:spAutoFit/>
          </a:bodyPr>
          <a:lstStyle/>
          <a:p>
            <a:pPr marL="12700">
              <a:lnSpc>
                <a:spcPct val="100000"/>
              </a:lnSpc>
              <a:spcBef>
                <a:spcPts val="100"/>
              </a:spcBef>
            </a:pPr>
            <a:r>
              <a:rPr sz="2600" spc="-80" dirty="0">
                <a:latin typeface="Arial"/>
                <a:cs typeface="Arial"/>
              </a:rPr>
              <a:t>Incremental</a:t>
            </a:r>
            <a:r>
              <a:rPr sz="2600" spc="-150" dirty="0">
                <a:latin typeface="Arial"/>
                <a:cs typeface="Arial"/>
              </a:rPr>
              <a:t> </a:t>
            </a:r>
            <a:r>
              <a:rPr sz="2600" spc="-95" dirty="0">
                <a:latin typeface="Arial"/>
                <a:cs typeface="Arial"/>
              </a:rPr>
              <a:t>Monte-</a:t>
            </a:r>
            <a:r>
              <a:rPr sz="2600" dirty="0">
                <a:latin typeface="Arial"/>
                <a:cs typeface="Arial"/>
              </a:rPr>
              <a:t>Carlo</a:t>
            </a:r>
            <a:r>
              <a:rPr sz="2600" spc="-125" dirty="0">
                <a:latin typeface="Arial"/>
                <a:cs typeface="Arial"/>
              </a:rPr>
              <a:t> </a:t>
            </a:r>
            <a:r>
              <a:rPr sz="2600" spc="-10" dirty="0">
                <a:latin typeface="Arial"/>
                <a:cs typeface="Arial"/>
              </a:rPr>
              <a:t>Updates</a:t>
            </a:r>
            <a:endParaRPr sz="2600">
              <a:latin typeface="Arial"/>
              <a:cs typeface="Arial"/>
            </a:endParaRPr>
          </a:p>
        </p:txBody>
      </p:sp>
      <p:sp>
        <p:nvSpPr>
          <p:cNvPr id="3" name="object 3"/>
          <p:cNvSpPr txBox="1">
            <a:spLocks noGrp="1"/>
          </p:cNvSpPr>
          <p:nvPr>
            <p:ph type="title"/>
          </p:nvPr>
        </p:nvSpPr>
        <p:spPr>
          <a:xfrm>
            <a:off x="794793" y="1549250"/>
            <a:ext cx="7162800" cy="902969"/>
          </a:xfrm>
          <a:prstGeom prst="rect">
            <a:avLst/>
          </a:prstGeom>
        </p:spPr>
        <p:txBody>
          <a:bodyPr vert="horz" wrap="square" lIns="0" tIns="42545" rIns="0" bIns="0" rtlCol="0">
            <a:spAutoFit/>
          </a:bodyPr>
          <a:lstStyle/>
          <a:p>
            <a:pPr marL="25400" marR="17780">
              <a:lnSpc>
                <a:spcPts val="3379"/>
              </a:lnSpc>
              <a:spcBef>
                <a:spcPts val="335"/>
              </a:spcBef>
              <a:tabLst>
                <a:tab pos="4499610" algn="l"/>
              </a:tabLst>
            </a:pPr>
            <a:r>
              <a:rPr sz="2800" dirty="0">
                <a:latin typeface="Gill Sans MT"/>
                <a:cs typeface="Gill Sans MT"/>
              </a:rPr>
              <a:t>Update</a:t>
            </a:r>
            <a:r>
              <a:rPr sz="2800" spc="-20" dirty="0">
                <a:latin typeface="Gill Sans MT"/>
                <a:cs typeface="Gill Sans MT"/>
              </a:rPr>
              <a:t> </a:t>
            </a:r>
            <a:r>
              <a:rPr sz="2800" dirty="0">
                <a:latin typeface="Gill Sans MT"/>
                <a:cs typeface="Gill Sans MT"/>
              </a:rPr>
              <a:t>the</a:t>
            </a:r>
            <a:r>
              <a:rPr sz="2800" spc="-10" dirty="0">
                <a:latin typeface="Gill Sans MT"/>
                <a:cs typeface="Gill Sans MT"/>
              </a:rPr>
              <a:t> </a:t>
            </a:r>
            <a:r>
              <a:rPr sz="2800" dirty="0">
                <a:latin typeface="Gill Sans MT"/>
                <a:cs typeface="Gill Sans MT"/>
              </a:rPr>
              <a:t>empirical</a:t>
            </a:r>
            <a:r>
              <a:rPr sz="2800" spc="-10" dirty="0">
                <a:latin typeface="Gill Sans MT"/>
                <a:cs typeface="Gill Sans MT"/>
              </a:rPr>
              <a:t> </a:t>
            </a:r>
            <a:r>
              <a:rPr sz="2800" dirty="0">
                <a:latin typeface="Gill Sans MT"/>
                <a:cs typeface="Gill Sans MT"/>
              </a:rPr>
              <a:t>mean</a:t>
            </a:r>
            <a:r>
              <a:rPr sz="2800" spc="-5" dirty="0">
                <a:latin typeface="Gill Sans MT"/>
                <a:cs typeface="Gill Sans MT"/>
              </a:rPr>
              <a:t> </a:t>
            </a:r>
            <a:r>
              <a:rPr sz="2800" spc="-25" dirty="0">
                <a:latin typeface="Gill Sans MT"/>
                <a:cs typeface="Gill Sans MT"/>
              </a:rPr>
              <a:t>of</a:t>
            </a:r>
            <a:r>
              <a:rPr sz="2800" dirty="0">
                <a:latin typeface="Gill Sans MT"/>
                <a:cs typeface="Gill Sans MT"/>
              </a:rPr>
              <a:t>	</a:t>
            </a:r>
            <a:r>
              <a:rPr sz="2950" i="1" spc="-25" dirty="0">
                <a:latin typeface="Times New Roman"/>
                <a:cs typeface="Times New Roman"/>
              </a:rPr>
              <a:t>V</a:t>
            </a:r>
            <a:r>
              <a:rPr sz="2950" spc="-25" dirty="0">
                <a:latin typeface="Cambria"/>
                <a:cs typeface="Cambria"/>
              </a:rPr>
              <a:t>(</a:t>
            </a:r>
            <a:r>
              <a:rPr sz="2950" i="1" spc="-25" dirty="0">
                <a:latin typeface="Times New Roman"/>
                <a:cs typeface="Times New Roman"/>
              </a:rPr>
              <a:t>s</a:t>
            </a:r>
            <a:r>
              <a:rPr sz="2950" spc="-25" dirty="0">
                <a:latin typeface="Cambria"/>
                <a:cs typeface="Cambria"/>
              </a:rPr>
              <a:t>)</a:t>
            </a:r>
            <a:r>
              <a:rPr sz="2950" spc="-120" dirty="0">
                <a:latin typeface="Cambria"/>
                <a:cs typeface="Cambria"/>
              </a:rPr>
              <a:t> </a:t>
            </a:r>
            <a:r>
              <a:rPr sz="2800" spc="-10" dirty="0">
                <a:solidFill>
                  <a:srgbClr val="C82506"/>
                </a:solidFill>
                <a:latin typeface="Gill Sans MT"/>
                <a:cs typeface="Gill Sans MT"/>
              </a:rPr>
              <a:t>incrementally </a:t>
            </a:r>
            <a:r>
              <a:rPr sz="2800" dirty="0">
                <a:latin typeface="Gill Sans MT"/>
                <a:cs typeface="Gill Sans MT"/>
              </a:rPr>
              <a:t>after</a:t>
            </a:r>
            <a:r>
              <a:rPr sz="2800" spc="-30" dirty="0">
                <a:latin typeface="Gill Sans MT"/>
                <a:cs typeface="Gill Sans MT"/>
              </a:rPr>
              <a:t> </a:t>
            </a:r>
            <a:r>
              <a:rPr sz="2800" dirty="0">
                <a:latin typeface="Gill Sans MT"/>
                <a:cs typeface="Gill Sans MT"/>
              </a:rPr>
              <a:t>episode</a:t>
            </a:r>
            <a:r>
              <a:rPr sz="2800" spc="-15" dirty="0">
                <a:latin typeface="Gill Sans MT"/>
                <a:cs typeface="Gill Sans MT"/>
              </a:rPr>
              <a:t> </a:t>
            </a:r>
            <a:r>
              <a:rPr sz="2950" i="1" dirty="0">
                <a:latin typeface="Times New Roman"/>
                <a:cs typeface="Times New Roman"/>
              </a:rPr>
              <a:t>S</a:t>
            </a:r>
            <a:r>
              <a:rPr sz="3075" baseline="-20325" dirty="0">
                <a:latin typeface="Cambria"/>
                <a:cs typeface="Cambria"/>
              </a:rPr>
              <a:t>1</a:t>
            </a:r>
            <a:r>
              <a:rPr sz="2950" dirty="0">
                <a:latin typeface="Cambria"/>
                <a:cs typeface="Cambria"/>
              </a:rPr>
              <a:t>,</a:t>
            </a:r>
            <a:r>
              <a:rPr sz="2950" spc="-80" dirty="0">
                <a:latin typeface="Cambria"/>
                <a:cs typeface="Cambria"/>
              </a:rPr>
              <a:t> </a:t>
            </a:r>
            <a:r>
              <a:rPr sz="2950" i="1" spc="-35" dirty="0">
                <a:latin typeface="Times New Roman"/>
                <a:cs typeface="Times New Roman"/>
              </a:rPr>
              <a:t>A</a:t>
            </a:r>
            <a:r>
              <a:rPr sz="3075" spc="-52" baseline="-20325" dirty="0">
                <a:latin typeface="Cambria"/>
                <a:cs typeface="Cambria"/>
              </a:rPr>
              <a:t>1</a:t>
            </a:r>
            <a:r>
              <a:rPr sz="2950" spc="-35" dirty="0">
                <a:latin typeface="Cambria"/>
                <a:cs typeface="Cambria"/>
              </a:rPr>
              <a:t>,</a:t>
            </a:r>
            <a:r>
              <a:rPr sz="2950" spc="-160" dirty="0">
                <a:latin typeface="Cambria"/>
                <a:cs typeface="Cambria"/>
              </a:rPr>
              <a:t> </a:t>
            </a:r>
            <a:r>
              <a:rPr sz="2950" i="1" spc="-35" dirty="0">
                <a:latin typeface="Times New Roman"/>
                <a:cs typeface="Times New Roman"/>
              </a:rPr>
              <a:t>R</a:t>
            </a:r>
            <a:r>
              <a:rPr sz="3075" spc="-52" baseline="-20325" dirty="0">
                <a:latin typeface="Cambria"/>
                <a:cs typeface="Cambria"/>
              </a:rPr>
              <a:t>2</a:t>
            </a:r>
            <a:r>
              <a:rPr sz="2950" spc="-35" dirty="0">
                <a:latin typeface="Cambria"/>
                <a:cs typeface="Cambria"/>
              </a:rPr>
              <a:t>,</a:t>
            </a:r>
            <a:r>
              <a:rPr sz="2950" spc="-160" dirty="0">
                <a:latin typeface="Cambria"/>
                <a:cs typeface="Cambria"/>
              </a:rPr>
              <a:t> </a:t>
            </a:r>
            <a:r>
              <a:rPr sz="2950" spc="415" dirty="0">
                <a:latin typeface="Cambria"/>
                <a:cs typeface="Cambria"/>
              </a:rPr>
              <a:t>…,</a:t>
            </a:r>
            <a:r>
              <a:rPr sz="2950" spc="-165" dirty="0">
                <a:latin typeface="Cambria"/>
                <a:cs typeface="Cambria"/>
              </a:rPr>
              <a:t> </a:t>
            </a:r>
            <a:r>
              <a:rPr sz="2950" i="1" spc="-25" dirty="0">
                <a:latin typeface="Times New Roman"/>
                <a:cs typeface="Times New Roman"/>
              </a:rPr>
              <a:t>S</a:t>
            </a:r>
            <a:r>
              <a:rPr sz="3075" i="1" spc="-37" baseline="-20325" dirty="0">
                <a:latin typeface="Times New Roman"/>
                <a:cs typeface="Times New Roman"/>
              </a:rPr>
              <a:t>T</a:t>
            </a:r>
            <a:endParaRPr sz="3075" baseline="-20325" dirty="0">
              <a:latin typeface="Times New Roman"/>
              <a:cs typeface="Times New Roman"/>
            </a:endParaRPr>
          </a:p>
        </p:txBody>
      </p:sp>
      <p:sp>
        <p:nvSpPr>
          <p:cNvPr id="4" name="object 4"/>
          <p:cNvSpPr txBox="1"/>
          <p:nvPr/>
        </p:nvSpPr>
        <p:spPr>
          <a:xfrm>
            <a:off x="794793" y="2821141"/>
            <a:ext cx="4620260" cy="474345"/>
          </a:xfrm>
          <a:prstGeom prst="rect">
            <a:avLst/>
          </a:prstGeom>
        </p:spPr>
        <p:txBody>
          <a:bodyPr vert="horz" wrap="square" lIns="0" tIns="11430" rIns="0" bIns="0" rtlCol="0">
            <a:spAutoFit/>
          </a:bodyPr>
          <a:lstStyle/>
          <a:p>
            <a:pPr marL="25400">
              <a:lnSpc>
                <a:spcPct val="100000"/>
              </a:lnSpc>
              <a:spcBef>
                <a:spcPts val="90"/>
              </a:spcBef>
            </a:pPr>
            <a:r>
              <a:rPr sz="2800" dirty="0">
                <a:latin typeface="Gill Sans MT"/>
                <a:cs typeface="Gill Sans MT"/>
              </a:rPr>
              <a:t>For</a:t>
            </a:r>
            <a:r>
              <a:rPr sz="2800" spc="-40" dirty="0">
                <a:latin typeface="Gill Sans MT"/>
                <a:cs typeface="Gill Sans MT"/>
              </a:rPr>
              <a:t> </a:t>
            </a:r>
            <a:r>
              <a:rPr sz="2800" dirty="0">
                <a:latin typeface="Gill Sans MT"/>
                <a:cs typeface="Gill Sans MT"/>
              </a:rPr>
              <a:t>each</a:t>
            </a:r>
            <a:r>
              <a:rPr sz="2800" spc="-40" dirty="0">
                <a:latin typeface="Gill Sans MT"/>
                <a:cs typeface="Gill Sans MT"/>
              </a:rPr>
              <a:t> </a:t>
            </a:r>
            <a:r>
              <a:rPr sz="2800" dirty="0">
                <a:latin typeface="Gill Sans MT"/>
                <a:cs typeface="Gill Sans MT"/>
              </a:rPr>
              <a:t>state</a:t>
            </a:r>
            <a:r>
              <a:rPr sz="2800" spc="-40" dirty="0">
                <a:latin typeface="Gill Sans MT"/>
                <a:cs typeface="Gill Sans MT"/>
              </a:rPr>
              <a:t> </a:t>
            </a:r>
            <a:r>
              <a:rPr sz="2950" i="1" dirty="0">
                <a:latin typeface="Times New Roman"/>
                <a:cs typeface="Times New Roman"/>
              </a:rPr>
              <a:t>S</a:t>
            </a:r>
            <a:r>
              <a:rPr sz="3075" i="1" baseline="-20325" dirty="0">
                <a:latin typeface="Times New Roman"/>
                <a:cs typeface="Times New Roman"/>
              </a:rPr>
              <a:t>t</a:t>
            </a:r>
            <a:r>
              <a:rPr sz="3075" i="1" spc="330" baseline="-20325" dirty="0">
                <a:latin typeface="Times New Roman"/>
                <a:cs typeface="Times New Roman"/>
              </a:rPr>
              <a:t> </a:t>
            </a:r>
            <a:r>
              <a:rPr sz="2800" dirty="0">
                <a:latin typeface="Gill Sans MT"/>
                <a:cs typeface="Gill Sans MT"/>
              </a:rPr>
              <a:t>with</a:t>
            </a:r>
            <a:r>
              <a:rPr sz="2800" spc="-45" dirty="0">
                <a:latin typeface="Gill Sans MT"/>
                <a:cs typeface="Gill Sans MT"/>
              </a:rPr>
              <a:t> </a:t>
            </a:r>
            <a:r>
              <a:rPr sz="2800" dirty="0">
                <a:latin typeface="Gill Sans MT"/>
                <a:cs typeface="Gill Sans MT"/>
              </a:rPr>
              <a:t>return</a:t>
            </a:r>
            <a:r>
              <a:rPr sz="2800" spc="-40" dirty="0">
                <a:latin typeface="Gill Sans MT"/>
                <a:cs typeface="Gill Sans MT"/>
              </a:rPr>
              <a:t> </a:t>
            </a:r>
            <a:r>
              <a:rPr sz="2950" i="1" spc="-25" dirty="0">
                <a:latin typeface="Times New Roman"/>
                <a:cs typeface="Times New Roman"/>
              </a:rPr>
              <a:t>G</a:t>
            </a:r>
            <a:r>
              <a:rPr sz="3075" i="1" spc="-37" baseline="-20325" dirty="0">
                <a:latin typeface="Times New Roman"/>
                <a:cs typeface="Times New Roman"/>
              </a:rPr>
              <a:t>t</a:t>
            </a:r>
            <a:endParaRPr sz="3075" baseline="-20325">
              <a:latin typeface="Times New Roman"/>
              <a:cs typeface="Times New Roman"/>
            </a:endParaRPr>
          </a:p>
        </p:txBody>
      </p:sp>
      <p:sp>
        <p:nvSpPr>
          <p:cNvPr id="5" name="object 5"/>
          <p:cNvSpPr txBox="1"/>
          <p:nvPr/>
        </p:nvSpPr>
        <p:spPr>
          <a:xfrm>
            <a:off x="3566282" y="3576444"/>
            <a:ext cx="212725" cy="474345"/>
          </a:xfrm>
          <a:prstGeom prst="rect">
            <a:avLst/>
          </a:prstGeom>
        </p:spPr>
        <p:txBody>
          <a:bodyPr vert="horz" wrap="square" lIns="0" tIns="11430" rIns="0" bIns="0" rtlCol="0">
            <a:spAutoFit/>
          </a:bodyPr>
          <a:lstStyle/>
          <a:p>
            <a:pPr marL="12700">
              <a:lnSpc>
                <a:spcPct val="100000"/>
              </a:lnSpc>
              <a:spcBef>
                <a:spcPts val="90"/>
              </a:spcBef>
            </a:pPr>
            <a:r>
              <a:rPr sz="2950" spc="-165" dirty="0">
                <a:latin typeface="Cambria"/>
                <a:cs typeface="Cambria"/>
              </a:rPr>
              <a:t>1</a:t>
            </a:r>
            <a:endParaRPr sz="2950">
              <a:latin typeface="Cambria"/>
              <a:cs typeface="Cambria"/>
            </a:endParaRPr>
          </a:p>
        </p:txBody>
      </p:sp>
      <p:sp>
        <p:nvSpPr>
          <p:cNvPr id="6" name="object 6"/>
          <p:cNvSpPr/>
          <p:nvPr/>
        </p:nvSpPr>
        <p:spPr>
          <a:xfrm>
            <a:off x="3258173" y="4119332"/>
            <a:ext cx="828675" cy="24765"/>
          </a:xfrm>
          <a:custGeom>
            <a:avLst/>
            <a:gdLst/>
            <a:ahLst/>
            <a:cxnLst/>
            <a:rect l="l" t="t" r="r" b="b"/>
            <a:pathLst>
              <a:path w="828675" h="24764">
                <a:moveTo>
                  <a:pt x="828434" y="0"/>
                </a:moveTo>
                <a:lnTo>
                  <a:pt x="0" y="0"/>
                </a:lnTo>
                <a:lnTo>
                  <a:pt x="0" y="24660"/>
                </a:lnTo>
                <a:lnTo>
                  <a:pt x="828434" y="24660"/>
                </a:lnTo>
                <a:lnTo>
                  <a:pt x="828434" y="0"/>
                </a:lnTo>
                <a:close/>
              </a:path>
            </a:pathLst>
          </a:custGeom>
          <a:solidFill>
            <a:srgbClr val="000000"/>
          </a:solidFill>
        </p:spPr>
        <p:txBody>
          <a:bodyPr wrap="square" lIns="0" tIns="0" rIns="0" bIns="0" rtlCol="0"/>
          <a:lstStyle/>
          <a:p>
            <a:endParaRPr/>
          </a:p>
        </p:txBody>
      </p:sp>
      <p:sp>
        <p:nvSpPr>
          <p:cNvPr id="7" name="object 7"/>
          <p:cNvSpPr txBox="1"/>
          <p:nvPr/>
        </p:nvSpPr>
        <p:spPr>
          <a:xfrm>
            <a:off x="3257437" y="4120084"/>
            <a:ext cx="829944" cy="474345"/>
          </a:xfrm>
          <a:prstGeom prst="rect">
            <a:avLst/>
          </a:prstGeom>
        </p:spPr>
        <p:txBody>
          <a:bodyPr vert="horz" wrap="square" lIns="0" tIns="11430" rIns="0" bIns="0" rtlCol="0">
            <a:spAutoFit/>
          </a:bodyPr>
          <a:lstStyle/>
          <a:p>
            <a:pPr marL="38100">
              <a:lnSpc>
                <a:spcPct val="100000"/>
              </a:lnSpc>
              <a:spcBef>
                <a:spcPts val="90"/>
              </a:spcBef>
            </a:pPr>
            <a:r>
              <a:rPr sz="2950" i="1" spc="-25" dirty="0">
                <a:latin typeface="Times New Roman"/>
                <a:cs typeface="Times New Roman"/>
              </a:rPr>
              <a:t>N</a:t>
            </a:r>
            <a:r>
              <a:rPr sz="2950" spc="-25" dirty="0">
                <a:latin typeface="Cambria"/>
                <a:cs typeface="Cambria"/>
              </a:rPr>
              <a:t>(</a:t>
            </a:r>
            <a:r>
              <a:rPr sz="2950" i="1" spc="-25" dirty="0">
                <a:latin typeface="Times New Roman"/>
                <a:cs typeface="Times New Roman"/>
              </a:rPr>
              <a:t>S</a:t>
            </a:r>
            <a:r>
              <a:rPr sz="3075" i="1" spc="-37" baseline="-17615" dirty="0">
                <a:latin typeface="Times New Roman"/>
                <a:cs typeface="Times New Roman"/>
              </a:rPr>
              <a:t>t</a:t>
            </a:r>
            <a:r>
              <a:rPr sz="2950" spc="-25" dirty="0">
                <a:latin typeface="Cambria"/>
                <a:cs typeface="Cambria"/>
              </a:rPr>
              <a:t>)</a:t>
            </a:r>
            <a:endParaRPr sz="2950">
              <a:latin typeface="Cambria"/>
              <a:cs typeface="Cambria"/>
            </a:endParaRPr>
          </a:p>
        </p:txBody>
      </p:sp>
      <p:sp>
        <p:nvSpPr>
          <p:cNvPr id="8" name="object 8"/>
          <p:cNvSpPr txBox="1"/>
          <p:nvPr/>
        </p:nvSpPr>
        <p:spPr>
          <a:xfrm>
            <a:off x="4710906" y="4041621"/>
            <a:ext cx="1121410" cy="344170"/>
          </a:xfrm>
          <a:prstGeom prst="rect">
            <a:avLst/>
          </a:prstGeom>
        </p:spPr>
        <p:txBody>
          <a:bodyPr vert="horz" wrap="square" lIns="0" tIns="17145" rIns="0" bIns="0" rtlCol="0">
            <a:spAutoFit/>
          </a:bodyPr>
          <a:lstStyle/>
          <a:p>
            <a:pPr marL="12700">
              <a:lnSpc>
                <a:spcPct val="100000"/>
              </a:lnSpc>
              <a:spcBef>
                <a:spcPts val="135"/>
              </a:spcBef>
              <a:tabLst>
                <a:tab pos="1034415" algn="l"/>
              </a:tabLst>
            </a:pPr>
            <a:r>
              <a:rPr sz="2050" i="1" spc="-50" dirty="0">
                <a:latin typeface="Times New Roman"/>
                <a:cs typeface="Times New Roman"/>
              </a:rPr>
              <a:t>t</a:t>
            </a:r>
            <a:r>
              <a:rPr sz="2050" i="1" dirty="0">
                <a:latin typeface="Times New Roman"/>
                <a:cs typeface="Times New Roman"/>
              </a:rPr>
              <a:t>	</a:t>
            </a:r>
            <a:r>
              <a:rPr sz="2050" i="1" spc="-50" dirty="0">
                <a:latin typeface="Times New Roman"/>
                <a:cs typeface="Times New Roman"/>
              </a:rPr>
              <a:t>t</a:t>
            </a:r>
            <a:endParaRPr sz="2050">
              <a:latin typeface="Times New Roman"/>
              <a:cs typeface="Times New Roman"/>
            </a:endParaRPr>
          </a:p>
        </p:txBody>
      </p:sp>
      <p:sp>
        <p:nvSpPr>
          <p:cNvPr id="9" name="object 9"/>
          <p:cNvSpPr txBox="1"/>
          <p:nvPr/>
        </p:nvSpPr>
        <p:spPr>
          <a:xfrm>
            <a:off x="769393" y="3839857"/>
            <a:ext cx="5407025" cy="474345"/>
          </a:xfrm>
          <a:prstGeom prst="rect">
            <a:avLst/>
          </a:prstGeom>
        </p:spPr>
        <p:txBody>
          <a:bodyPr vert="horz" wrap="square" lIns="0" tIns="11430" rIns="0" bIns="0" rtlCol="0">
            <a:spAutoFit/>
          </a:bodyPr>
          <a:lstStyle/>
          <a:p>
            <a:pPr marL="50800">
              <a:lnSpc>
                <a:spcPct val="100000"/>
              </a:lnSpc>
              <a:spcBef>
                <a:spcPts val="90"/>
              </a:spcBef>
              <a:tabLst>
                <a:tab pos="3397885" algn="l"/>
                <a:tab pos="4110354" algn="l"/>
              </a:tabLst>
            </a:pPr>
            <a:r>
              <a:rPr sz="2950" i="1" spc="-30" dirty="0">
                <a:latin typeface="Times New Roman"/>
                <a:cs typeface="Times New Roman"/>
              </a:rPr>
              <a:t>V</a:t>
            </a:r>
            <a:r>
              <a:rPr sz="2950" spc="-30" dirty="0">
                <a:latin typeface="Cambria"/>
                <a:cs typeface="Cambria"/>
              </a:rPr>
              <a:t>(</a:t>
            </a:r>
            <a:r>
              <a:rPr sz="2950" i="1" spc="-30" dirty="0">
                <a:latin typeface="Times New Roman"/>
                <a:cs typeface="Times New Roman"/>
              </a:rPr>
              <a:t>S</a:t>
            </a:r>
            <a:r>
              <a:rPr sz="3075" i="1" spc="-44" baseline="-20325" dirty="0">
                <a:latin typeface="Times New Roman"/>
                <a:cs typeface="Times New Roman"/>
              </a:rPr>
              <a:t>t</a:t>
            </a:r>
            <a:r>
              <a:rPr sz="2950" spc="-30" dirty="0">
                <a:latin typeface="Cambria"/>
                <a:cs typeface="Cambria"/>
              </a:rPr>
              <a:t>)</a:t>
            </a:r>
            <a:r>
              <a:rPr sz="2950" spc="50" dirty="0">
                <a:latin typeface="Cambria"/>
                <a:cs typeface="Cambria"/>
              </a:rPr>
              <a:t> </a:t>
            </a:r>
            <a:r>
              <a:rPr sz="2950" spc="245" dirty="0">
                <a:latin typeface="Cambria"/>
                <a:cs typeface="Cambria"/>
              </a:rPr>
              <a:t>←</a:t>
            </a:r>
            <a:r>
              <a:rPr sz="2950" spc="50" dirty="0">
                <a:latin typeface="Cambria"/>
                <a:cs typeface="Cambria"/>
              </a:rPr>
              <a:t> </a:t>
            </a:r>
            <a:r>
              <a:rPr sz="2950" i="1" spc="-65" dirty="0">
                <a:latin typeface="Times New Roman"/>
                <a:cs typeface="Times New Roman"/>
              </a:rPr>
              <a:t>V</a:t>
            </a:r>
            <a:r>
              <a:rPr sz="2950" spc="-65" dirty="0">
                <a:latin typeface="Cambria"/>
                <a:cs typeface="Cambria"/>
              </a:rPr>
              <a:t>(</a:t>
            </a:r>
            <a:r>
              <a:rPr sz="2950" i="1" spc="-65" dirty="0">
                <a:latin typeface="Times New Roman"/>
                <a:cs typeface="Times New Roman"/>
              </a:rPr>
              <a:t>S</a:t>
            </a:r>
            <a:r>
              <a:rPr sz="3075" i="1" spc="-97" baseline="-20325" dirty="0">
                <a:latin typeface="Times New Roman"/>
                <a:cs typeface="Times New Roman"/>
              </a:rPr>
              <a:t>t</a:t>
            </a:r>
            <a:r>
              <a:rPr sz="2950" spc="-65" dirty="0">
                <a:latin typeface="Cambria"/>
                <a:cs typeface="Cambria"/>
              </a:rPr>
              <a:t>)</a:t>
            </a:r>
            <a:r>
              <a:rPr sz="2950" spc="-90" dirty="0">
                <a:latin typeface="Cambria"/>
                <a:cs typeface="Cambria"/>
              </a:rPr>
              <a:t> </a:t>
            </a:r>
            <a:r>
              <a:rPr sz="2950" spc="325" dirty="0">
                <a:latin typeface="Cambria"/>
                <a:cs typeface="Cambria"/>
              </a:rPr>
              <a:t>+</a:t>
            </a:r>
            <a:r>
              <a:rPr sz="2950" dirty="0">
                <a:latin typeface="Cambria"/>
                <a:cs typeface="Cambria"/>
              </a:rPr>
              <a:t>	</a:t>
            </a:r>
            <a:r>
              <a:rPr sz="4425" spc="-37" baseline="-11299" dirty="0">
                <a:latin typeface="Verdana"/>
                <a:cs typeface="Verdana"/>
              </a:rPr>
              <a:t>(</a:t>
            </a:r>
            <a:r>
              <a:rPr sz="2950" spc="-25" dirty="0">
                <a:latin typeface="Cambria"/>
                <a:cs typeface="Cambria"/>
              </a:rPr>
              <a:t>(</a:t>
            </a:r>
            <a:r>
              <a:rPr sz="2950" i="1" spc="-25" dirty="0">
                <a:latin typeface="Times New Roman"/>
                <a:cs typeface="Times New Roman"/>
              </a:rPr>
              <a:t>G</a:t>
            </a:r>
            <a:r>
              <a:rPr sz="2950" i="1" dirty="0">
                <a:latin typeface="Times New Roman"/>
                <a:cs typeface="Times New Roman"/>
              </a:rPr>
              <a:t>	</a:t>
            </a:r>
            <a:r>
              <a:rPr sz="2950" spc="375" dirty="0">
                <a:latin typeface="Cambria"/>
                <a:cs typeface="Cambria"/>
              </a:rPr>
              <a:t>−</a:t>
            </a:r>
            <a:r>
              <a:rPr sz="2950" spc="10" dirty="0">
                <a:latin typeface="Cambria"/>
                <a:cs typeface="Cambria"/>
              </a:rPr>
              <a:t> </a:t>
            </a:r>
            <a:r>
              <a:rPr sz="2950" i="1" spc="-70" dirty="0">
                <a:latin typeface="Times New Roman"/>
                <a:cs typeface="Times New Roman"/>
              </a:rPr>
              <a:t>V</a:t>
            </a:r>
            <a:r>
              <a:rPr sz="2950" spc="-70" dirty="0">
                <a:latin typeface="Cambria"/>
                <a:cs typeface="Cambria"/>
              </a:rPr>
              <a:t>(</a:t>
            </a:r>
            <a:r>
              <a:rPr sz="2950" i="1" spc="-70" dirty="0">
                <a:latin typeface="Times New Roman"/>
                <a:cs typeface="Times New Roman"/>
              </a:rPr>
              <a:t>S</a:t>
            </a:r>
            <a:r>
              <a:rPr sz="2950" i="1" spc="-200" dirty="0">
                <a:latin typeface="Times New Roman"/>
                <a:cs typeface="Times New Roman"/>
              </a:rPr>
              <a:t> </a:t>
            </a:r>
            <a:r>
              <a:rPr sz="2950" spc="-25" dirty="0">
                <a:latin typeface="Cambria"/>
                <a:cs typeface="Cambria"/>
              </a:rPr>
              <a:t>)</a:t>
            </a:r>
            <a:r>
              <a:rPr sz="4425" spc="-37" baseline="-11299" dirty="0">
                <a:latin typeface="Verdana"/>
                <a:cs typeface="Verdana"/>
              </a:rPr>
              <a:t>)</a:t>
            </a:r>
            <a:endParaRPr sz="4425" baseline="-11299">
              <a:latin typeface="Verdana"/>
              <a:cs typeface="Verdana"/>
            </a:endParaRPr>
          </a:p>
        </p:txBody>
      </p:sp>
      <p:sp>
        <p:nvSpPr>
          <p:cNvPr id="10" name="object 10"/>
          <p:cNvSpPr txBox="1"/>
          <p:nvPr/>
        </p:nvSpPr>
        <p:spPr>
          <a:xfrm>
            <a:off x="844185" y="4810132"/>
            <a:ext cx="6697345" cy="1693545"/>
          </a:xfrm>
          <a:prstGeom prst="rect">
            <a:avLst/>
          </a:prstGeom>
        </p:spPr>
        <p:txBody>
          <a:bodyPr vert="horz" wrap="square" lIns="0" tIns="43180" rIns="0" bIns="0" rtlCol="0">
            <a:spAutoFit/>
          </a:bodyPr>
          <a:lstStyle/>
          <a:p>
            <a:pPr marL="50800" marR="17780">
              <a:lnSpc>
                <a:spcPts val="3200"/>
              </a:lnSpc>
              <a:spcBef>
                <a:spcPts val="340"/>
              </a:spcBef>
            </a:pPr>
            <a:r>
              <a:rPr sz="2800" dirty="0">
                <a:latin typeface="Gill Sans MT"/>
                <a:cs typeface="Gill Sans MT"/>
              </a:rPr>
              <a:t>In</a:t>
            </a:r>
            <a:r>
              <a:rPr sz="2800" spc="10" dirty="0">
                <a:latin typeface="Gill Sans MT"/>
                <a:cs typeface="Gill Sans MT"/>
              </a:rPr>
              <a:t> </a:t>
            </a:r>
            <a:r>
              <a:rPr sz="2800" spc="-10" dirty="0">
                <a:latin typeface="Gill Sans MT"/>
                <a:cs typeface="Gill Sans MT"/>
              </a:rPr>
              <a:t>non-</a:t>
            </a:r>
            <a:r>
              <a:rPr sz="2800" dirty="0">
                <a:latin typeface="Gill Sans MT"/>
                <a:cs typeface="Gill Sans MT"/>
              </a:rPr>
              <a:t>stationary</a:t>
            </a:r>
            <a:r>
              <a:rPr sz="2800" spc="15" dirty="0">
                <a:latin typeface="Gill Sans MT"/>
                <a:cs typeface="Gill Sans MT"/>
              </a:rPr>
              <a:t> </a:t>
            </a:r>
            <a:r>
              <a:rPr sz="2800" spc="-10" dirty="0">
                <a:latin typeface="Gill Sans MT"/>
                <a:cs typeface="Gill Sans MT"/>
              </a:rPr>
              <a:t>problems,</a:t>
            </a:r>
            <a:r>
              <a:rPr sz="2800" spc="-275" dirty="0">
                <a:latin typeface="Gill Sans MT"/>
                <a:cs typeface="Gill Sans MT"/>
              </a:rPr>
              <a:t> </a:t>
            </a:r>
            <a:r>
              <a:rPr sz="2800" dirty="0">
                <a:latin typeface="Gill Sans MT"/>
                <a:cs typeface="Gill Sans MT"/>
              </a:rPr>
              <a:t>it</a:t>
            </a:r>
            <a:r>
              <a:rPr sz="2800" spc="10" dirty="0">
                <a:latin typeface="Gill Sans MT"/>
                <a:cs typeface="Gill Sans MT"/>
              </a:rPr>
              <a:t> </a:t>
            </a:r>
            <a:r>
              <a:rPr sz="2800" dirty="0">
                <a:latin typeface="Gill Sans MT"/>
                <a:cs typeface="Gill Sans MT"/>
              </a:rPr>
              <a:t>can</a:t>
            </a:r>
            <a:r>
              <a:rPr sz="2800" spc="10" dirty="0">
                <a:latin typeface="Gill Sans MT"/>
                <a:cs typeface="Gill Sans MT"/>
              </a:rPr>
              <a:t> </a:t>
            </a:r>
            <a:r>
              <a:rPr sz="2800" dirty="0">
                <a:latin typeface="Gill Sans MT"/>
                <a:cs typeface="Gill Sans MT"/>
              </a:rPr>
              <a:t>be</a:t>
            </a:r>
            <a:r>
              <a:rPr sz="2800" spc="10" dirty="0">
                <a:latin typeface="Gill Sans MT"/>
                <a:cs typeface="Gill Sans MT"/>
              </a:rPr>
              <a:t> </a:t>
            </a:r>
            <a:r>
              <a:rPr sz="2800" dirty="0">
                <a:latin typeface="Gill Sans MT"/>
                <a:cs typeface="Gill Sans MT"/>
              </a:rPr>
              <a:t>useful</a:t>
            </a:r>
            <a:r>
              <a:rPr sz="2800" spc="20" dirty="0">
                <a:latin typeface="Gill Sans MT"/>
                <a:cs typeface="Gill Sans MT"/>
              </a:rPr>
              <a:t> </a:t>
            </a:r>
            <a:r>
              <a:rPr sz="2800" spc="-25" dirty="0">
                <a:latin typeface="Gill Sans MT"/>
                <a:cs typeface="Gill Sans MT"/>
              </a:rPr>
              <a:t>to </a:t>
            </a:r>
            <a:r>
              <a:rPr sz="2800" dirty="0">
                <a:latin typeface="Gill Sans MT"/>
                <a:cs typeface="Gill Sans MT"/>
              </a:rPr>
              <a:t>track</a:t>
            </a:r>
            <a:r>
              <a:rPr sz="2800" spc="-5" dirty="0">
                <a:latin typeface="Gill Sans MT"/>
                <a:cs typeface="Gill Sans MT"/>
              </a:rPr>
              <a:t> </a:t>
            </a:r>
            <a:r>
              <a:rPr sz="2800" dirty="0">
                <a:latin typeface="Gill Sans MT"/>
                <a:cs typeface="Gill Sans MT"/>
              </a:rPr>
              <a:t>a</a:t>
            </a:r>
            <a:r>
              <a:rPr sz="2800" spc="5" dirty="0">
                <a:latin typeface="Gill Sans MT"/>
                <a:cs typeface="Gill Sans MT"/>
              </a:rPr>
              <a:t> </a:t>
            </a:r>
            <a:r>
              <a:rPr sz="2800" dirty="0">
                <a:latin typeface="Gill Sans MT"/>
                <a:cs typeface="Gill Sans MT"/>
              </a:rPr>
              <a:t>running</a:t>
            </a:r>
            <a:r>
              <a:rPr sz="2800" spc="5" dirty="0">
                <a:latin typeface="Gill Sans MT"/>
                <a:cs typeface="Gill Sans MT"/>
              </a:rPr>
              <a:t> </a:t>
            </a:r>
            <a:r>
              <a:rPr sz="2800" spc="-10" dirty="0">
                <a:latin typeface="Gill Sans MT"/>
                <a:cs typeface="Gill Sans MT"/>
              </a:rPr>
              <a:t>mean,</a:t>
            </a:r>
            <a:r>
              <a:rPr sz="2800" spc="-275" dirty="0">
                <a:latin typeface="Gill Sans MT"/>
                <a:cs typeface="Gill Sans MT"/>
              </a:rPr>
              <a:t> </a:t>
            </a:r>
            <a:r>
              <a:rPr sz="2800" dirty="0">
                <a:latin typeface="Gill Sans MT"/>
                <a:cs typeface="Gill Sans MT"/>
              </a:rPr>
              <a:t>i.e.</a:t>
            </a:r>
            <a:r>
              <a:rPr sz="2800" spc="-280" dirty="0">
                <a:latin typeface="Gill Sans MT"/>
                <a:cs typeface="Gill Sans MT"/>
              </a:rPr>
              <a:t> </a:t>
            </a:r>
            <a:r>
              <a:rPr sz="2800" dirty="0">
                <a:latin typeface="Gill Sans MT"/>
                <a:cs typeface="Gill Sans MT"/>
              </a:rPr>
              <a:t>forget old</a:t>
            </a:r>
            <a:r>
              <a:rPr sz="2800" spc="10" dirty="0">
                <a:latin typeface="Gill Sans MT"/>
                <a:cs typeface="Gill Sans MT"/>
              </a:rPr>
              <a:t> </a:t>
            </a:r>
            <a:r>
              <a:rPr sz="2800" spc="-10" dirty="0">
                <a:latin typeface="Gill Sans MT"/>
                <a:cs typeface="Gill Sans MT"/>
              </a:rPr>
              <a:t>episodes:</a:t>
            </a:r>
            <a:endParaRPr sz="2800">
              <a:latin typeface="Gill Sans MT"/>
              <a:cs typeface="Gill Sans MT"/>
            </a:endParaRPr>
          </a:p>
          <a:p>
            <a:pPr>
              <a:lnSpc>
                <a:spcPct val="100000"/>
              </a:lnSpc>
              <a:spcBef>
                <a:spcPts val="55"/>
              </a:spcBef>
            </a:pPr>
            <a:endParaRPr sz="2500">
              <a:latin typeface="Gill Sans MT"/>
              <a:cs typeface="Gill Sans MT"/>
            </a:endParaRPr>
          </a:p>
          <a:p>
            <a:pPr marL="50800">
              <a:lnSpc>
                <a:spcPct val="100000"/>
              </a:lnSpc>
            </a:pPr>
            <a:r>
              <a:rPr sz="2950" i="1" spc="-30" dirty="0">
                <a:latin typeface="Times New Roman"/>
                <a:cs typeface="Times New Roman"/>
              </a:rPr>
              <a:t>V</a:t>
            </a:r>
            <a:r>
              <a:rPr sz="2950" spc="-30" dirty="0">
                <a:latin typeface="Cambria"/>
                <a:cs typeface="Cambria"/>
              </a:rPr>
              <a:t>(</a:t>
            </a:r>
            <a:r>
              <a:rPr sz="2950" i="1" spc="-30" dirty="0">
                <a:latin typeface="Times New Roman"/>
                <a:cs typeface="Times New Roman"/>
              </a:rPr>
              <a:t>S</a:t>
            </a:r>
            <a:r>
              <a:rPr sz="3075" i="1" spc="-44" baseline="-20325" dirty="0">
                <a:latin typeface="Times New Roman"/>
                <a:cs typeface="Times New Roman"/>
              </a:rPr>
              <a:t>t</a:t>
            </a:r>
            <a:r>
              <a:rPr sz="2950" spc="-30" dirty="0">
                <a:latin typeface="Cambria"/>
                <a:cs typeface="Cambria"/>
              </a:rPr>
              <a:t>)</a:t>
            </a:r>
            <a:r>
              <a:rPr sz="2950" spc="60" dirty="0">
                <a:latin typeface="Cambria"/>
                <a:cs typeface="Cambria"/>
              </a:rPr>
              <a:t> </a:t>
            </a:r>
            <a:r>
              <a:rPr sz="2950" spc="245" dirty="0">
                <a:latin typeface="Cambria"/>
                <a:cs typeface="Cambria"/>
              </a:rPr>
              <a:t>←</a:t>
            </a:r>
            <a:r>
              <a:rPr sz="2950" spc="65" dirty="0">
                <a:latin typeface="Cambria"/>
                <a:cs typeface="Cambria"/>
              </a:rPr>
              <a:t> </a:t>
            </a:r>
            <a:r>
              <a:rPr sz="2950" i="1" spc="-65" dirty="0">
                <a:latin typeface="Times New Roman"/>
                <a:cs typeface="Times New Roman"/>
              </a:rPr>
              <a:t>V</a:t>
            </a:r>
            <a:r>
              <a:rPr sz="2950" spc="-65" dirty="0">
                <a:latin typeface="Cambria"/>
                <a:cs typeface="Cambria"/>
              </a:rPr>
              <a:t>(</a:t>
            </a:r>
            <a:r>
              <a:rPr sz="2950" i="1" spc="-65" dirty="0">
                <a:latin typeface="Times New Roman"/>
                <a:cs typeface="Times New Roman"/>
              </a:rPr>
              <a:t>S</a:t>
            </a:r>
            <a:r>
              <a:rPr sz="3075" i="1" spc="-97" baseline="-20325" dirty="0">
                <a:latin typeface="Times New Roman"/>
                <a:cs typeface="Times New Roman"/>
              </a:rPr>
              <a:t>t</a:t>
            </a:r>
            <a:r>
              <a:rPr sz="2950" spc="-65" dirty="0">
                <a:latin typeface="Cambria"/>
                <a:cs typeface="Cambria"/>
              </a:rPr>
              <a:t>)</a:t>
            </a:r>
            <a:r>
              <a:rPr sz="2950" spc="-80" dirty="0">
                <a:latin typeface="Cambria"/>
                <a:cs typeface="Cambria"/>
              </a:rPr>
              <a:t> </a:t>
            </a:r>
            <a:r>
              <a:rPr sz="2950" spc="375" dirty="0">
                <a:latin typeface="Cambria"/>
                <a:cs typeface="Cambria"/>
              </a:rPr>
              <a:t>+</a:t>
            </a:r>
            <a:r>
              <a:rPr sz="2950" spc="-80" dirty="0">
                <a:latin typeface="Cambria"/>
                <a:cs typeface="Cambria"/>
              </a:rPr>
              <a:t> </a:t>
            </a:r>
            <a:r>
              <a:rPr sz="2950" i="1" spc="-35" dirty="0">
                <a:latin typeface="Arial"/>
                <a:cs typeface="Arial"/>
              </a:rPr>
              <a:t>α</a:t>
            </a:r>
            <a:r>
              <a:rPr sz="2950" spc="-35" dirty="0">
                <a:latin typeface="Cambria"/>
                <a:cs typeface="Cambria"/>
              </a:rPr>
              <a:t>(</a:t>
            </a:r>
            <a:r>
              <a:rPr sz="2950" i="1" spc="-35" dirty="0">
                <a:latin typeface="Times New Roman"/>
                <a:cs typeface="Times New Roman"/>
              </a:rPr>
              <a:t>G</a:t>
            </a:r>
            <a:r>
              <a:rPr sz="3075" i="1" spc="-52" baseline="-20325" dirty="0">
                <a:latin typeface="Times New Roman"/>
                <a:cs typeface="Times New Roman"/>
              </a:rPr>
              <a:t>t</a:t>
            </a:r>
            <a:r>
              <a:rPr sz="3075" i="1" spc="89" baseline="-20325" dirty="0">
                <a:latin typeface="Times New Roman"/>
                <a:cs typeface="Times New Roman"/>
              </a:rPr>
              <a:t> </a:t>
            </a:r>
            <a:r>
              <a:rPr sz="2950" spc="375" dirty="0">
                <a:latin typeface="Cambria"/>
                <a:cs typeface="Cambria"/>
              </a:rPr>
              <a:t>−</a:t>
            </a:r>
            <a:r>
              <a:rPr sz="2950" spc="-80" dirty="0">
                <a:latin typeface="Cambria"/>
                <a:cs typeface="Cambria"/>
              </a:rPr>
              <a:t> </a:t>
            </a:r>
            <a:r>
              <a:rPr sz="2950" i="1" spc="-10" dirty="0">
                <a:latin typeface="Times New Roman"/>
                <a:cs typeface="Times New Roman"/>
              </a:rPr>
              <a:t>V</a:t>
            </a:r>
            <a:r>
              <a:rPr sz="2950" spc="-10" dirty="0">
                <a:latin typeface="Cambria"/>
                <a:cs typeface="Cambria"/>
              </a:rPr>
              <a:t>(</a:t>
            </a:r>
            <a:r>
              <a:rPr sz="2950" i="1" spc="-10" dirty="0">
                <a:latin typeface="Times New Roman"/>
                <a:cs typeface="Times New Roman"/>
              </a:rPr>
              <a:t>S</a:t>
            </a:r>
            <a:r>
              <a:rPr sz="3075" i="1" spc="-15" baseline="-20325" dirty="0">
                <a:latin typeface="Times New Roman"/>
                <a:cs typeface="Times New Roman"/>
              </a:rPr>
              <a:t>t</a:t>
            </a:r>
            <a:r>
              <a:rPr sz="2950" spc="-10" dirty="0">
                <a:latin typeface="Cambria"/>
                <a:cs typeface="Cambria"/>
              </a:rPr>
              <a:t>))</a:t>
            </a:r>
            <a:endParaRPr sz="2950">
              <a:latin typeface="Cambria"/>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875" y="415187"/>
            <a:ext cx="5172710" cy="421640"/>
          </a:xfrm>
          <a:prstGeom prst="rect">
            <a:avLst/>
          </a:prstGeom>
        </p:spPr>
        <p:txBody>
          <a:bodyPr vert="horz" wrap="square" lIns="0" tIns="12700" rIns="0" bIns="0" rtlCol="0">
            <a:spAutoFit/>
          </a:bodyPr>
          <a:lstStyle/>
          <a:p>
            <a:pPr marL="12700">
              <a:lnSpc>
                <a:spcPct val="100000"/>
              </a:lnSpc>
              <a:spcBef>
                <a:spcPts val="100"/>
              </a:spcBef>
            </a:pPr>
            <a:r>
              <a:rPr spc="-95" dirty="0"/>
              <a:t>Monte-</a:t>
            </a:r>
            <a:r>
              <a:rPr dirty="0"/>
              <a:t>Carlo</a:t>
            </a:r>
            <a:r>
              <a:rPr spc="-75" dirty="0"/>
              <a:t> </a:t>
            </a:r>
            <a:r>
              <a:rPr spc="-105" dirty="0"/>
              <a:t>Reinforcement</a:t>
            </a:r>
            <a:r>
              <a:rPr spc="-145" dirty="0"/>
              <a:t> </a:t>
            </a:r>
            <a:r>
              <a:rPr spc="-10" dirty="0"/>
              <a:t>Learning</a:t>
            </a:r>
          </a:p>
        </p:txBody>
      </p:sp>
      <p:sp>
        <p:nvSpPr>
          <p:cNvPr id="3" name="object 3"/>
          <p:cNvSpPr txBox="1"/>
          <p:nvPr/>
        </p:nvSpPr>
        <p:spPr>
          <a:xfrm>
            <a:off x="514569" y="1665680"/>
            <a:ext cx="7806690" cy="4429418"/>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300" dirty="0">
                <a:latin typeface="Gill Sans MT"/>
                <a:cs typeface="Gill Sans MT"/>
              </a:rPr>
              <a:t>MC</a:t>
            </a:r>
            <a:r>
              <a:rPr sz="2300" spc="-40" dirty="0">
                <a:latin typeface="Gill Sans MT"/>
                <a:cs typeface="Gill Sans MT"/>
              </a:rPr>
              <a:t> </a:t>
            </a:r>
            <a:r>
              <a:rPr sz="2300" dirty="0">
                <a:latin typeface="Gill Sans MT"/>
                <a:cs typeface="Gill Sans MT"/>
              </a:rPr>
              <a:t>methods</a:t>
            </a:r>
            <a:r>
              <a:rPr sz="2300" spc="-20" dirty="0">
                <a:latin typeface="Gill Sans MT"/>
                <a:cs typeface="Gill Sans MT"/>
              </a:rPr>
              <a:t> </a:t>
            </a:r>
            <a:r>
              <a:rPr sz="2300" dirty="0">
                <a:latin typeface="Gill Sans MT"/>
                <a:cs typeface="Gill Sans MT"/>
              </a:rPr>
              <a:t>learn</a:t>
            </a:r>
            <a:r>
              <a:rPr sz="2300" spc="-25" dirty="0">
                <a:latin typeface="Gill Sans MT"/>
                <a:cs typeface="Gill Sans MT"/>
              </a:rPr>
              <a:t> </a:t>
            </a:r>
            <a:r>
              <a:rPr sz="2300" dirty="0">
                <a:latin typeface="Gill Sans MT"/>
                <a:cs typeface="Gill Sans MT"/>
              </a:rPr>
              <a:t>directly</a:t>
            </a:r>
            <a:r>
              <a:rPr sz="2300" spc="-20" dirty="0">
                <a:latin typeface="Gill Sans MT"/>
                <a:cs typeface="Gill Sans MT"/>
              </a:rPr>
              <a:t> </a:t>
            </a:r>
            <a:r>
              <a:rPr sz="2300" dirty="0">
                <a:latin typeface="Gill Sans MT"/>
                <a:cs typeface="Gill Sans MT"/>
              </a:rPr>
              <a:t>from</a:t>
            </a:r>
            <a:r>
              <a:rPr sz="2300" spc="-25" dirty="0">
                <a:latin typeface="Gill Sans MT"/>
                <a:cs typeface="Gill Sans MT"/>
              </a:rPr>
              <a:t> </a:t>
            </a:r>
            <a:r>
              <a:rPr sz="2300" dirty="0">
                <a:latin typeface="Gill Sans MT"/>
                <a:cs typeface="Gill Sans MT"/>
              </a:rPr>
              <a:t>episodes</a:t>
            </a:r>
            <a:r>
              <a:rPr sz="2300" spc="-25" dirty="0">
                <a:latin typeface="Gill Sans MT"/>
                <a:cs typeface="Gill Sans MT"/>
              </a:rPr>
              <a:t> </a:t>
            </a:r>
            <a:r>
              <a:rPr sz="2300" dirty="0">
                <a:latin typeface="Gill Sans MT"/>
                <a:cs typeface="Gill Sans MT"/>
              </a:rPr>
              <a:t>of</a:t>
            </a:r>
            <a:r>
              <a:rPr sz="2300" spc="-25" dirty="0">
                <a:latin typeface="Gill Sans MT"/>
                <a:cs typeface="Gill Sans MT"/>
              </a:rPr>
              <a:t> </a:t>
            </a:r>
            <a:r>
              <a:rPr sz="2300" spc="-10" dirty="0">
                <a:latin typeface="Gill Sans MT"/>
                <a:cs typeface="Gill Sans MT"/>
              </a:rPr>
              <a:t>experience</a:t>
            </a:r>
            <a:endParaRPr sz="2300" dirty="0">
              <a:latin typeface="Gill Sans MT"/>
              <a:cs typeface="Gill Sans MT"/>
            </a:endParaRPr>
          </a:p>
          <a:p>
            <a:pPr>
              <a:lnSpc>
                <a:spcPct val="100000"/>
              </a:lnSpc>
              <a:buFont typeface="Gill Sans MT"/>
              <a:buChar char="•"/>
            </a:pPr>
            <a:endParaRPr sz="2100" dirty="0">
              <a:latin typeface="Gill Sans MT"/>
              <a:cs typeface="Gill Sans MT"/>
            </a:endParaRPr>
          </a:p>
          <a:p>
            <a:pPr marL="241300" indent="-228600">
              <a:lnSpc>
                <a:spcPct val="100000"/>
              </a:lnSpc>
              <a:spcBef>
                <a:spcPts val="5"/>
              </a:spcBef>
              <a:buChar char="•"/>
              <a:tabLst>
                <a:tab pos="241300" algn="l"/>
              </a:tabLst>
            </a:pPr>
            <a:r>
              <a:rPr sz="2300" dirty="0">
                <a:latin typeface="Gill Sans MT"/>
                <a:cs typeface="Gill Sans MT"/>
              </a:rPr>
              <a:t>MC</a:t>
            </a:r>
            <a:r>
              <a:rPr sz="2300" spc="-20" dirty="0">
                <a:latin typeface="Gill Sans MT"/>
                <a:cs typeface="Gill Sans MT"/>
              </a:rPr>
              <a:t> </a:t>
            </a:r>
            <a:r>
              <a:rPr sz="2300" dirty="0">
                <a:latin typeface="Gill Sans MT"/>
                <a:cs typeface="Gill Sans MT"/>
              </a:rPr>
              <a:t>is </a:t>
            </a:r>
            <a:r>
              <a:rPr sz="2300" spc="-10" dirty="0">
                <a:latin typeface="Gill Sans MT"/>
                <a:cs typeface="Gill Sans MT"/>
              </a:rPr>
              <a:t>model-free:</a:t>
            </a:r>
            <a:r>
              <a:rPr sz="2300" spc="-229" dirty="0">
                <a:latin typeface="Gill Sans MT"/>
                <a:cs typeface="Gill Sans MT"/>
              </a:rPr>
              <a:t> </a:t>
            </a:r>
            <a:r>
              <a:rPr sz="2300" dirty="0">
                <a:latin typeface="Gill Sans MT"/>
                <a:cs typeface="Gill Sans MT"/>
              </a:rPr>
              <a:t>no</a:t>
            </a:r>
            <a:r>
              <a:rPr sz="2300" spc="-5" dirty="0">
                <a:latin typeface="Gill Sans MT"/>
                <a:cs typeface="Gill Sans MT"/>
              </a:rPr>
              <a:t> </a:t>
            </a:r>
            <a:r>
              <a:rPr sz="2300" dirty="0">
                <a:latin typeface="Gill Sans MT"/>
                <a:cs typeface="Gill Sans MT"/>
              </a:rPr>
              <a:t>knowledge</a:t>
            </a:r>
            <a:r>
              <a:rPr sz="2300" spc="-10" dirty="0">
                <a:latin typeface="Gill Sans MT"/>
                <a:cs typeface="Gill Sans MT"/>
              </a:rPr>
              <a:t> </a:t>
            </a:r>
            <a:r>
              <a:rPr sz="2300" dirty="0">
                <a:latin typeface="Gill Sans MT"/>
                <a:cs typeface="Gill Sans MT"/>
              </a:rPr>
              <a:t>of</a:t>
            </a:r>
            <a:r>
              <a:rPr sz="2300" spc="-5" dirty="0">
                <a:latin typeface="Gill Sans MT"/>
                <a:cs typeface="Gill Sans MT"/>
              </a:rPr>
              <a:t> </a:t>
            </a:r>
            <a:r>
              <a:rPr sz="2300" dirty="0">
                <a:latin typeface="Gill Sans MT"/>
                <a:cs typeface="Gill Sans MT"/>
              </a:rPr>
              <a:t>MDP</a:t>
            </a:r>
            <a:r>
              <a:rPr sz="2300" spc="-5" dirty="0">
                <a:latin typeface="Gill Sans MT"/>
                <a:cs typeface="Gill Sans MT"/>
              </a:rPr>
              <a:t> </a:t>
            </a:r>
            <a:r>
              <a:rPr sz="2300" dirty="0">
                <a:latin typeface="Gill Sans MT"/>
                <a:cs typeface="Gill Sans MT"/>
              </a:rPr>
              <a:t>transitions</a:t>
            </a:r>
            <a:r>
              <a:rPr sz="2300" spc="-5" dirty="0">
                <a:latin typeface="Gill Sans MT"/>
                <a:cs typeface="Gill Sans MT"/>
              </a:rPr>
              <a:t> </a:t>
            </a:r>
            <a:r>
              <a:rPr sz="2300" dirty="0">
                <a:latin typeface="Gill Sans MT"/>
                <a:cs typeface="Gill Sans MT"/>
              </a:rPr>
              <a:t>or </a:t>
            </a:r>
            <a:r>
              <a:rPr sz="2300" spc="-10" dirty="0">
                <a:latin typeface="Gill Sans MT"/>
                <a:cs typeface="Gill Sans MT"/>
              </a:rPr>
              <a:t>rewards</a:t>
            </a:r>
            <a:endParaRPr sz="2300" dirty="0">
              <a:latin typeface="Gill Sans MT"/>
              <a:cs typeface="Gill Sans MT"/>
            </a:endParaRPr>
          </a:p>
          <a:p>
            <a:pPr>
              <a:lnSpc>
                <a:spcPct val="100000"/>
              </a:lnSpc>
              <a:buFont typeface="Gill Sans MT"/>
              <a:buChar char="•"/>
            </a:pPr>
            <a:endParaRPr sz="2100" dirty="0">
              <a:latin typeface="Gill Sans MT"/>
              <a:cs typeface="Gill Sans MT"/>
            </a:endParaRPr>
          </a:p>
          <a:p>
            <a:pPr marL="241300" indent="-228600">
              <a:lnSpc>
                <a:spcPct val="100000"/>
              </a:lnSpc>
              <a:spcBef>
                <a:spcPts val="5"/>
              </a:spcBef>
              <a:buChar char="•"/>
              <a:tabLst>
                <a:tab pos="241300" algn="l"/>
              </a:tabLst>
            </a:pPr>
            <a:r>
              <a:rPr sz="2300" dirty="0">
                <a:latin typeface="Gill Sans MT"/>
                <a:cs typeface="Gill Sans MT"/>
              </a:rPr>
              <a:t>MC</a:t>
            </a:r>
            <a:r>
              <a:rPr sz="2300" spc="-15" dirty="0">
                <a:latin typeface="Gill Sans MT"/>
                <a:cs typeface="Gill Sans MT"/>
              </a:rPr>
              <a:t> </a:t>
            </a:r>
            <a:r>
              <a:rPr sz="2300" dirty="0">
                <a:latin typeface="Gill Sans MT"/>
                <a:cs typeface="Gill Sans MT"/>
              </a:rPr>
              <a:t>learns</a:t>
            </a:r>
            <a:r>
              <a:rPr sz="2300" spc="-5" dirty="0">
                <a:latin typeface="Gill Sans MT"/>
                <a:cs typeface="Gill Sans MT"/>
              </a:rPr>
              <a:t> </a:t>
            </a:r>
            <a:r>
              <a:rPr sz="2300" dirty="0">
                <a:latin typeface="Gill Sans MT"/>
                <a:cs typeface="Gill Sans MT"/>
              </a:rPr>
              <a:t>from</a:t>
            </a:r>
            <a:r>
              <a:rPr sz="2300" spc="5" dirty="0">
                <a:latin typeface="Gill Sans MT"/>
                <a:cs typeface="Gill Sans MT"/>
              </a:rPr>
              <a:t> </a:t>
            </a:r>
            <a:r>
              <a:rPr sz="2300" dirty="0">
                <a:latin typeface="Gill Sans MT"/>
                <a:cs typeface="Gill Sans MT"/>
              </a:rPr>
              <a:t>complete</a:t>
            </a:r>
            <a:r>
              <a:rPr sz="2300" spc="-5" dirty="0">
                <a:latin typeface="Gill Sans MT"/>
                <a:cs typeface="Gill Sans MT"/>
              </a:rPr>
              <a:t> </a:t>
            </a:r>
            <a:r>
              <a:rPr sz="2300" spc="-10" dirty="0">
                <a:latin typeface="Gill Sans MT"/>
                <a:cs typeface="Gill Sans MT"/>
              </a:rPr>
              <a:t>episodes:</a:t>
            </a:r>
            <a:r>
              <a:rPr sz="2300" spc="-235" dirty="0">
                <a:latin typeface="Gill Sans MT"/>
                <a:cs typeface="Gill Sans MT"/>
              </a:rPr>
              <a:t> </a:t>
            </a:r>
            <a:r>
              <a:rPr sz="2300" dirty="0">
                <a:latin typeface="Gill Sans MT"/>
                <a:cs typeface="Gill Sans MT"/>
              </a:rPr>
              <a:t>no </a:t>
            </a:r>
            <a:r>
              <a:rPr sz="2300" spc="-10" dirty="0">
                <a:latin typeface="Gill Sans MT"/>
                <a:cs typeface="Gill Sans MT"/>
              </a:rPr>
              <a:t>bootstrapping</a:t>
            </a:r>
            <a:endParaRPr sz="2300" dirty="0">
              <a:latin typeface="Gill Sans MT"/>
              <a:cs typeface="Gill Sans MT"/>
            </a:endParaRPr>
          </a:p>
          <a:p>
            <a:pPr>
              <a:lnSpc>
                <a:spcPct val="100000"/>
              </a:lnSpc>
              <a:buFont typeface="Gill Sans MT"/>
              <a:buChar char="•"/>
            </a:pPr>
            <a:endParaRPr sz="2100" dirty="0">
              <a:latin typeface="Gill Sans MT"/>
              <a:cs typeface="Gill Sans MT"/>
            </a:endParaRPr>
          </a:p>
          <a:p>
            <a:pPr marL="241300" indent="-228600">
              <a:lnSpc>
                <a:spcPct val="100000"/>
              </a:lnSpc>
              <a:spcBef>
                <a:spcPts val="5"/>
              </a:spcBef>
              <a:buChar char="•"/>
              <a:tabLst>
                <a:tab pos="241300" algn="l"/>
              </a:tabLst>
            </a:pPr>
            <a:r>
              <a:rPr sz="2300" dirty="0">
                <a:latin typeface="Gill Sans MT"/>
                <a:cs typeface="Gill Sans MT"/>
              </a:rPr>
              <a:t>MC</a:t>
            </a:r>
            <a:r>
              <a:rPr sz="2300" spc="-15" dirty="0">
                <a:latin typeface="Gill Sans MT"/>
                <a:cs typeface="Gill Sans MT"/>
              </a:rPr>
              <a:t> </a:t>
            </a:r>
            <a:r>
              <a:rPr sz="2300" dirty="0">
                <a:latin typeface="Gill Sans MT"/>
                <a:cs typeface="Gill Sans MT"/>
              </a:rPr>
              <a:t>uses</a:t>
            </a:r>
            <a:r>
              <a:rPr sz="2300" spc="-5" dirty="0">
                <a:latin typeface="Gill Sans MT"/>
                <a:cs typeface="Gill Sans MT"/>
              </a:rPr>
              <a:t> </a:t>
            </a:r>
            <a:r>
              <a:rPr sz="2300" dirty="0">
                <a:latin typeface="Gill Sans MT"/>
                <a:cs typeface="Gill Sans MT"/>
              </a:rPr>
              <a:t>the</a:t>
            </a:r>
            <a:r>
              <a:rPr sz="2300" spc="-5" dirty="0">
                <a:latin typeface="Gill Sans MT"/>
                <a:cs typeface="Gill Sans MT"/>
              </a:rPr>
              <a:t> </a:t>
            </a:r>
            <a:r>
              <a:rPr sz="2300" dirty="0">
                <a:latin typeface="Gill Sans MT"/>
                <a:cs typeface="Gill Sans MT"/>
              </a:rPr>
              <a:t>simplest</a:t>
            </a:r>
            <a:r>
              <a:rPr sz="2300" spc="-5" dirty="0">
                <a:latin typeface="Gill Sans MT"/>
                <a:cs typeface="Gill Sans MT"/>
              </a:rPr>
              <a:t> </a:t>
            </a:r>
            <a:r>
              <a:rPr sz="2300" dirty="0">
                <a:latin typeface="Gill Sans MT"/>
                <a:cs typeface="Gill Sans MT"/>
              </a:rPr>
              <a:t>possible</a:t>
            </a:r>
            <a:r>
              <a:rPr sz="2300" spc="-5" dirty="0">
                <a:latin typeface="Gill Sans MT"/>
                <a:cs typeface="Gill Sans MT"/>
              </a:rPr>
              <a:t> </a:t>
            </a:r>
            <a:r>
              <a:rPr sz="2300" spc="-10" dirty="0">
                <a:latin typeface="Gill Sans MT"/>
                <a:cs typeface="Gill Sans MT"/>
              </a:rPr>
              <a:t>idea:</a:t>
            </a:r>
            <a:r>
              <a:rPr sz="2300" spc="-235" dirty="0">
                <a:latin typeface="Gill Sans MT"/>
                <a:cs typeface="Gill Sans MT"/>
              </a:rPr>
              <a:t> </a:t>
            </a:r>
            <a:r>
              <a:rPr sz="2300" dirty="0">
                <a:latin typeface="Gill Sans MT"/>
                <a:cs typeface="Gill Sans MT"/>
              </a:rPr>
              <a:t>value</a:t>
            </a:r>
            <a:r>
              <a:rPr sz="2300" spc="-5" dirty="0">
                <a:latin typeface="Gill Sans MT"/>
                <a:cs typeface="Gill Sans MT"/>
              </a:rPr>
              <a:t> </a:t>
            </a:r>
            <a:r>
              <a:rPr sz="2300" dirty="0">
                <a:latin typeface="Gill Sans MT"/>
                <a:cs typeface="Gill Sans MT"/>
              </a:rPr>
              <a:t>= mean</a:t>
            </a:r>
            <a:r>
              <a:rPr sz="2300" spc="-5" dirty="0">
                <a:latin typeface="Gill Sans MT"/>
                <a:cs typeface="Gill Sans MT"/>
              </a:rPr>
              <a:t> </a:t>
            </a:r>
            <a:r>
              <a:rPr sz="2300" spc="-10" dirty="0">
                <a:latin typeface="Gill Sans MT"/>
                <a:cs typeface="Gill Sans MT"/>
              </a:rPr>
              <a:t>return</a:t>
            </a:r>
            <a:endParaRPr sz="2300" dirty="0">
              <a:latin typeface="Gill Sans MT"/>
              <a:cs typeface="Gill Sans MT"/>
            </a:endParaRPr>
          </a:p>
          <a:p>
            <a:pPr>
              <a:lnSpc>
                <a:spcPct val="100000"/>
              </a:lnSpc>
              <a:buFont typeface="Gill Sans MT"/>
              <a:buChar char="•"/>
            </a:pPr>
            <a:endParaRPr sz="2100" dirty="0">
              <a:latin typeface="Gill Sans MT"/>
              <a:cs typeface="Gill Sans MT"/>
            </a:endParaRPr>
          </a:p>
          <a:p>
            <a:pPr marL="241300" indent="-228600">
              <a:lnSpc>
                <a:spcPct val="100000"/>
              </a:lnSpc>
              <a:buChar char="•"/>
              <a:tabLst>
                <a:tab pos="241300" algn="l"/>
              </a:tabLst>
            </a:pPr>
            <a:r>
              <a:rPr sz="2300" b="1" spc="-10" dirty="0">
                <a:latin typeface="Gill Sans MT"/>
                <a:cs typeface="Gill Sans MT"/>
              </a:rPr>
              <a:t>Caveat</a:t>
            </a:r>
            <a:r>
              <a:rPr sz="2300" spc="-10" dirty="0">
                <a:latin typeface="Gill Sans MT"/>
                <a:cs typeface="Gill Sans MT"/>
              </a:rPr>
              <a:t>:</a:t>
            </a:r>
            <a:endParaRPr sz="2300" dirty="0">
              <a:latin typeface="Gill Sans MT"/>
              <a:cs typeface="Gill Sans MT"/>
            </a:endParaRPr>
          </a:p>
          <a:p>
            <a:pPr>
              <a:lnSpc>
                <a:spcPct val="100000"/>
              </a:lnSpc>
              <a:spcBef>
                <a:spcPts val="5"/>
              </a:spcBef>
              <a:buFont typeface="Gill Sans MT"/>
              <a:buChar char="•"/>
            </a:pPr>
            <a:endParaRPr sz="2100" dirty="0">
              <a:latin typeface="Gill Sans MT"/>
              <a:cs typeface="Gill Sans MT"/>
            </a:endParaRPr>
          </a:p>
          <a:p>
            <a:pPr marL="584200" lvl="1" indent="-228600">
              <a:lnSpc>
                <a:spcPct val="100000"/>
              </a:lnSpc>
              <a:buChar char="•"/>
              <a:tabLst>
                <a:tab pos="584200" algn="l"/>
              </a:tabLst>
            </a:pPr>
            <a:r>
              <a:rPr sz="2300" b="1" dirty="0">
                <a:latin typeface="Gill Sans MT"/>
                <a:cs typeface="Gill Sans MT"/>
              </a:rPr>
              <a:t>MC</a:t>
            </a:r>
            <a:r>
              <a:rPr sz="2300" b="1" spc="-15" dirty="0">
                <a:latin typeface="Gill Sans MT"/>
                <a:cs typeface="Gill Sans MT"/>
              </a:rPr>
              <a:t> </a:t>
            </a:r>
            <a:r>
              <a:rPr sz="2300" b="1" dirty="0">
                <a:latin typeface="Gill Sans MT"/>
                <a:cs typeface="Gill Sans MT"/>
              </a:rPr>
              <a:t>can</a:t>
            </a:r>
            <a:r>
              <a:rPr sz="2300" b="1" spc="-15" dirty="0">
                <a:latin typeface="Gill Sans MT"/>
                <a:cs typeface="Gill Sans MT"/>
              </a:rPr>
              <a:t> </a:t>
            </a:r>
            <a:r>
              <a:rPr sz="2300" b="1" dirty="0">
                <a:latin typeface="Gill Sans MT"/>
                <a:cs typeface="Gill Sans MT"/>
              </a:rPr>
              <a:t>only</a:t>
            </a:r>
            <a:r>
              <a:rPr sz="2300" b="1" spc="-10" dirty="0">
                <a:latin typeface="Gill Sans MT"/>
                <a:cs typeface="Gill Sans MT"/>
              </a:rPr>
              <a:t> </a:t>
            </a:r>
            <a:r>
              <a:rPr sz="2300" b="1" dirty="0">
                <a:latin typeface="Gill Sans MT"/>
                <a:cs typeface="Gill Sans MT"/>
              </a:rPr>
              <a:t>be</a:t>
            </a:r>
            <a:r>
              <a:rPr sz="2300" b="1" spc="-15" dirty="0">
                <a:latin typeface="Gill Sans MT"/>
                <a:cs typeface="Gill Sans MT"/>
              </a:rPr>
              <a:t> </a:t>
            </a:r>
            <a:r>
              <a:rPr sz="2300" b="1" dirty="0">
                <a:latin typeface="Gill Sans MT"/>
                <a:cs typeface="Gill Sans MT"/>
              </a:rPr>
              <a:t>applied</a:t>
            </a:r>
            <a:r>
              <a:rPr sz="2300" b="1" spc="-15" dirty="0">
                <a:latin typeface="Gill Sans MT"/>
                <a:cs typeface="Gill Sans MT"/>
              </a:rPr>
              <a:t> </a:t>
            </a:r>
            <a:r>
              <a:rPr sz="2300" b="1" dirty="0">
                <a:latin typeface="Gill Sans MT"/>
                <a:cs typeface="Gill Sans MT"/>
              </a:rPr>
              <a:t>to</a:t>
            </a:r>
            <a:r>
              <a:rPr sz="2300" b="1" spc="-15" dirty="0">
                <a:latin typeface="Gill Sans MT"/>
                <a:cs typeface="Gill Sans MT"/>
              </a:rPr>
              <a:t> </a:t>
            </a:r>
            <a:r>
              <a:rPr sz="2300" b="1" dirty="0">
                <a:latin typeface="Gill Sans MT"/>
                <a:cs typeface="Gill Sans MT"/>
              </a:rPr>
              <a:t>episodic</a:t>
            </a:r>
            <a:r>
              <a:rPr sz="2300" b="1" spc="-5" dirty="0">
                <a:latin typeface="Gill Sans MT"/>
                <a:cs typeface="Gill Sans MT"/>
              </a:rPr>
              <a:t> </a:t>
            </a:r>
            <a:r>
              <a:rPr sz="2300" b="1" spc="-20" dirty="0">
                <a:latin typeface="Gill Sans MT"/>
                <a:cs typeface="Gill Sans MT"/>
              </a:rPr>
              <a:t>MDPs</a:t>
            </a:r>
            <a:endParaRPr sz="2300" b="1" dirty="0">
              <a:latin typeface="Gill Sans MT"/>
              <a:cs typeface="Gill Sans MT"/>
            </a:endParaRPr>
          </a:p>
          <a:p>
            <a:pPr lvl="1">
              <a:lnSpc>
                <a:spcPct val="100000"/>
              </a:lnSpc>
              <a:spcBef>
                <a:spcPts val="5"/>
              </a:spcBef>
              <a:buFont typeface="Gill Sans MT"/>
              <a:buChar char="•"/>
            </a:pPr>
            <a:endParaRPr sz="2100" dirty="0">
              <a:latin typeface="Gill Sans MT"/>
              <a:cs typeface="Gill Sans MT"/>
            </a:endParaRPr>
          </a:p>
          <a:p>
            <a:pPr marL="584200" lvl="1" indent="-228600">
              <a:lnSpc>
                <a:spcPct val="100000"/>
              </a:lnSpc>
              <a:buChar char="•"/>
              <a:tabLst>
                <a:tab pos="584200" algn="l"/>
              </a:tabLst>
            </a:pPr>
            <a:r>
              <a:rPr sz="2300" dirty="0">
                <a:latin typeface="Gill Sans MT"/>
                <a:cs typeface="Gill Sans MT"/>
              </a:rPr>
              <a:t>All</a:t>
            </a:r>
            <a:r>
              <a:rPr sz="2300" spc="-15" dirty="0">
                <a:latin typeface="Gill Sans MT"/>
                <a:cs typeface="Gill Sans MT"/>
              </a:rPr>
              <a:t> </a:t>
            </a:r>
            <a:r>
              <a:rPr sz="2300" dirty="0">
                <a:latin typeface="Gill Sans MT"/>
                <a:cs typeface="Gill Sans MT"/>
              </a:rPr>
              <a:t>episodes</a:t>
            </a:r>
            <a:r>
              <a:rPr sz="2300" spc="-15" dirty="0">
                <a:latin typeface="Gill Sans MT"/>
                <a:cs typeface="Gill Sans MT"/>
              </a:rPr>
              <a:t> </a:t>
            </a:r>
            <a:r>
              <a:rPr sz="2300" dirty="0">
                <a:latin typeface="Gill Sans MT"/>
                <a:cs typeface="Gill Sans MT"/>
              </a:rPr>
              <a:t>must</a:t>
            </a:r>
            <a:r>
              <a:rPr sz="2300" spc="-15" dirty="0">
                <a:latin typeface="Gill Sans MT"/>
                <a:cs typeface="Gill Sans MT"/>
              </a:rPr>
              <a:t> </a:t>
            </a:r>
            <a:r>
              <a:rPr sz="2300" spc="-10" dirty="0">
                <a:latin typeface="Gill Sans MT"/>
                <a:cs typeface="Gill Sans MT"/>
              </a:rPr>
              <a:t>terminate</a:t>
            </a:r>
            <a:endParaRPr sz="2300" dirty="0">
              <a:latin typeface="Gill Sans MT"/>
              <a:cs typeface="Gill Sans MT"/>
            </a:endParaRPr>
          </a:p>
        </p:txBody>
      </p:sp>
      <p:sp>
        <p:nvSpPr>
          <p:cNvPr id="4" name="Date Placeholder 3">
            <a:extLst>
              <a:ext uri="{FF2B5EF4-FFF2-40B4-BE49-F238E27FC236}">
                <a16:creationId xmlns:a16="http://schemas.microsoft.com/office/drawing/2014/main" id="{C8264822-3812-599E-8B9C-2F98FD5F915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2C9E0307-27B6-ABB4-B36F-7F45A9A8B5A2}"/>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B8BE813D-2A19-4749-5875-48F36AABA7F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30275"/>
            <a:ext cx="9144000" cy="5927725"/>
            <a:chOff x="0" y="930275"/>
            <a:chExt cx="9144000" cy="5927725"/>
          </a:xfrm>
        </p:grpSpPr>
        <p:sp>
          <p:nvSpPr>
            <p:cNvPr id="3" name="object 3"/>
            <p:cNvSpPr/>
            <p:nvPr/>
          </p:nvSpPr>
          <p:spPr>
            <a:xfrm>
              <a:off x="0" y="1031785"/>
              <a:ext cx="9144000" cy="5826760"/>
            </a:xfrm>
            <a:custGeom>
              <a:avLst/>
              <a:gdLst/>
              <a:ahLst/>
              <a:cxnLst/>
              <a:rect l="l" t="t" r="r" b="b"/>
              <a:pathLst>
                <a:path w="9144000" h="5826759">
                  <a:moveTo>
                    <a:pt x="9144000" y="0"/>
                  </a:moveTo>
                  <a:lnTo>
                    <a:pt x="0" y="0"/>
                  </a:lnTo>
                  <a:lnTo>
                    <a:pt x="0" y="1445285"/>
                  </a:lnTo>
                  <a:lnTo>
                    <a:pt x="0" y="5015979"/>
                  </a:lnTo>
                  <a:lnTo>
                    <a:pt x="0" y="5826214"/>
                  </a:lnTo>
                  <a:lnTo>
                    <a:pt x="3246031" y="5826214"/>
                  </a:lnTo>
                  <a:lnTo>
                    <a:pt x="3974655" y="5826214"/>
                  </a:lnTo>
                  <a:lnTo>
                    <a:pt x="9144000" y="5826214"/>
                  </a:lnTo>
                  <a:lnTo>
                    <a:pt x="9144000" y="3655707"/>
                  </a:lnTo>
                  <a:lnTo>
                    <a:pt x="9144000" y="0"/>
                  </a:lnTo>
                  <a:close/>
                </a:path>
              </a:pathLst>
            </a:custGeom>
            <a:solidFill>
              <a:srgbClr val="E7E7E7"/>
            </a:solidFill>
          </p:spPr>
          <p:txBody>
            <a:bodyPr wrap="square" lIns="0" tIns="0" rIns="0" bIns="0" rtlCol="0"/>
            <a:lstStyle/>
            <a:p>
              <a:endParaRPr/>
            </a:p>
          </p:txBody>
        </p:sp>
        <p:sp>
          <p:nvSpPr>
            <p:cNvPr id="4" name="object 4"/>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pic>
          <p:nvPicPr>
            <p:cNvPr id="5" name="object 5"/>
            <p:cNvPicPr/>
            <p:nvPr/>
          </p:nvPicPr>
          <p:blipFill>
            <a:blip r:embed="rId3" cstate="print"/>
            <a:stretch>
              <a:fillRect/>
            </a:stretch>
          </p:blipFill>
          <p:spPr>
            <a:xfrm>
              <a:off x="1095757" y="2300297"/>
              <a:ext cx="6927085" cy="4024335"/>
            </a:xfrm>
            <a:prstGeom prst="rect">
              <a:avLst/>
            </a:prstGeom>
          </p:spPr>
        </p:pic>
      </p:grpSp>
      <p:sp>
        <p:nvSpPr>
          <p:cNvPr id="6" name="object 6"/>
          <p:cNvSpPr txBox="1"/>
          <p:nvPr/>
        </p:nvSpPr>
        <p:spPr>
          <a:xfrm>
            <a:off x="738187" y="331843"/>
            <a:ext cx="3916679" cy="421640"/>
          </a:xfrm>
          <a:prstGeom prst="rect">
            <a:avLst/>
          </a:prstGeom>
        </p:spPr>
        <p:txBody>
          <a:bodyPr vert="horz" wrap="square" lIns="0" tIns="12700" rIns="0" bIns="0" rtlCol="0">
            <a:spAutoFit/>
          </a:bodyPr>
          <a:lstStyle/>
          <a:p>
            <a:pPr marL="12700">
              <a:lnSpc>
                <a:spcPct val="100000"/>
              </a:lnSpc>
              <a:spcBef>
                <a:spcPts val="100"/>
              </a:spcBef>
            </a:pPr>
            <a:r>
              <a:rPr sz="2600" spc="-145" dirty="0">
                <a:latin typeface="Arial"/>
                <a:cs typeface="Arial"/>
              </a:rPr>
              <a:t>Temporal-</a:t>
            </a:r>
            <a:r>
              <a:rPr sz="2600" spc="-85" dirty="0">
                <a:latin typeface="Arial"/>
                <a:cs typeface="Arial"/>
              </a:rPr>
              <a:t>Difference</a:t>
            </a:r>
            <a:r>
              <a:rPr sz="2600" spc="50" dirty="0">
                <a:latin typeface="Arial"/>
                <a:cs typeface="Arial"/>
              </a:rPr>
              <a:t> </a:t>
            </a:r>
            <a:r>
              <a:rPr sz="2600" spc="-10" dirty="0">
                <a:latin typeface="Arial"/>
                <a:cs typeface="Arial"/>
              </a:rPr>
              <a:t>Update</a:t>
            </a:r>
            <a:endParaRPr sz="2600">
              <a:latin typeface="Arial"/>
              <a:cs typeface="Arial"/>
            </a:endParaRPr>
          </a:p>
        </p:txBody>
      </p:sp>
      <p:sp>
        <p:nvSpPr>
          <p:cNvPr id="7" name="object 7"/>
          <p:cNvSpPr txBox="1"/>
          <p:nvPr/>
        </p:nvSpPr>
        <p:spPr>
          <a:xfrm>
            <a:off x="4760233" y="3517284"/>
            <a:ext cx="499745" cy="492759"/>
          </a:xfrm>
          <a:prstGeom prst="rect">
            <a:avLst/>
          </a:prstGeom>
        </p:spPr>
        <p:txBody>
          <a:bodyPr vert="horz" wrap="square" lIns="0" tIns="14604" rIns="0" bIns="0" rtlCol="0">
            <a:spAutoFit/>
          </a:bodyPr>
          <a:lstStyle/>
          <a:p>
            <a:pPr marL="38100">
              <a:lnSpc>
                <a:spcPct val="100000"/>
              </a:lnSpc>
              <a:spcBef>
                <a:spcPts val="114"/>
              </a:spcBef>
            </a:pPr>
            <a:r>
              <a:rPr sz="4575" i="1" spc="-15" baseline="10018" dirty="0">
                <a:latin typeface="Times New Roman"/>
                <a:cs typeface="Times New Roman"/>
              </a:rPr>
              <a:t>s</a:t>
            </a:r>
            <a:r>
              <a:rPr sz="1600" i="1" spc="-10" dirty="0">
                <a:latin typeface="Times New Roman"/>
                <a:cs typeface="Times New Roman"/>
              </a:rPr>
              <a:t>t</a:t>
            </a:r>
            <a:r>
              <a:rPr sz="1600" i="1" spc="-200" dirty="0">
                <a:latin typeface="Times New Roman"/>
                <a:cs typeface="Times New Roman"/>
              </a:rPr>
              <a:t> </a:t>
            </a:r>
            <a:r>
              <a:rPr sz="1600" spc="-25" dirty="0">
                <a:latin typeface="Symbol"/>
                <a:cs typeface="Symbol"/>
              </a:rPr>
              <a:t></a:t>
            </a:r>
            <a:r>
              <a:rPr sz="1600" spc="-25" dirty="0">
                <a:latin typeface="Times New Roman"/>
                <a:cs typeface="Times New Roman"/>
              </a:rPr>
              <a:t>1</a:t>
            </a:r>
            <a:endParaRPr sz="1600">
              <a:latin typeface="Times New Roman"/>
              <a:cs typeface="Times New Roman"/>
            </a:endParaRPr>
          </a:p>
        </p:txBody>
      </p:sp>
      <p:sp>
        <p:nvSpPr>
          <p:cNvPr id="8" name="object 8"/>
          <p:cNvSpPr txBox="1"/>
          <p:nvPr/>
        </p:nvSpPr>
        <p:spPr>
          <a:xfrm>
            <a:off x="5626586" y="3265845"/>
            <a:ext cx="551180" cy="513080"/>
          </a:xfrm>
          <a:prstGeom prst="rect">
            <a:avLst/>
          </a:prstGeom>
        </p:spPr>
        <p:txBody>
          <a:bodyPr vert="horz" wrap="square" lIns="0" tIns="12700" rIns="0" bIns="0" rtlCol="0">
            <a:spAutoFit/>
          </a:bodyPr>
          <a:lstStyle/>
          <a:p>
            <a:pPr marL="38100">
              <a:lnSpc>
                <a:spcPct val="100000"/>
              </a:lnSpc>
              <a:spcBef>
                <a:spcPts val="100"/>
              </a:spcBef>
            </a:pPr>
            <a:r>
              <a:rPr sz="4800" i="1" spc="-44" baseline="10416" dirty="0">
                <a:latin typeface="Times New Roman"/>
                <a:cs typeface="Times New Roman"/>
              </a:rPr>
              <a:t>R</a:t>
            </a:r>
            <a:r>
              <a:rPr sz="1600" i="1" spc="-30" dirty="0">
                <a:latin typeface="Times New Roman"/>
                <a:cs typeface="Times New Roman"/>
              </a:rPr>
              <a:t>t</a:t>
            </a:r>
            <a:r>
              <a:rPr sz="1600" spc="-30" dirty="0">
                <a:latin typeface="Symbol"/>
                <a:cs typeface="Symbol"/>
              </a:rPr>
              <a:t></a:t>
            </a:r>
            <a:r>
              <a:rPr sz="1600" spc="-30" dirty="0">
                <a:latin typeface="Times New Roman"/>
                <a:cs typeface="Times New Roman"/>
              </a:rPr>
              <a:t>1</a:t>
            </a:r>
            <a:endParaRPr sz="1600">
              <a:latin typeface="Times New Roman"/>
              <a:cs typeface="Times New Roman"/>
            </a:endParaRPr>
          </a:p>
        </p:txBody>
      </p:sp>
      <p:sp>
        <p:nvSpPr>
          <p:cNvPr id="9" name="object 9"/>
          <p:cNvSpPr txBox="1"/>
          <p:nvPr/>
        </p:nvSpPr>
        <p:spPr>
          <a:xfrm>
            <a:off x="1662282" y="1531269"/>
            <a:ext cx="5125085" cy="997585"/>
          </a:xfrm>
          <a:prstGeom prst="rect">
            <a:avLst/>
          </a:prstGeom>
        </p:spPr>
        <p:txBody>
          <a:bodyPr vert="horz" wrap="square" lIns="0" tIns="81280" rIns="0" bIns="0" rtlCol="0">
            <a:spAutoFit/>
          </a:bodyPr>
          <a:lstStyle/>
          <a:p>
            <a:pPr marL="38100">
              <a:lnSpc>
                <a:spcPct val="100000"/>
              </a:lnSpc>
              <a:spcBef>
                <a:spcPts val="640"/>
              </a:spcBef>
            </a:pPr>
            <a:r>
              <a:rPr sz="2000" i="1" dirty="0">
                <a:latin typeface="Arial"/>
                <a:cs typeface="Arial"/>
              </a:rPr>
              <a:t>V</a:t>
            </a:r>
            <a:r>
              <a:rPr sz="2000" i="1" spc="-254" dirty="0">
                <a:latin typeface="Arial"/>
                <a:cs typeface="Arial"/>
              </a:rPr>
              <a:t> </a:t>
            </a:r>
            <a:r>
              <a:rPr sz="2000" dirty="0">
                <a:latin typeface="Arial"/>
                <a:cs typeface="Arial"/>
              </a:rPr>
              <a:t>(</a:t>
            </a:r>
            <a:r>
              <a:rPr sz="2000" i="1" dirty="0">
                <a:latin typeface="Arial"/>
                <a:cs typeface="Arial"/>
              </a:rPr>
              <a:t>S</a:t>
            </a:r>
            <a:r>
              <a:rPr sz="2175" i="1" baseline="-7662" dirty="0">
                <a:latin typeface="Arial"/>
                <a:cs typeface="Arial"/>
              </a:rPr>
              <a:t>t</a:t>
            </a:r>
            <a:r>
              <a:rPr sz="2175" i="1" spc="-315" baseline="-7662" dirty="0">
                <a:latin typeface="Arial"/>
                <a:cs typeface="Arial"/>
              </a:rPr>
              <a:t> </a:t>
            </a:r>
            <a:r>
              <a:rPr sz="2000" dirty="0">
                <a:latin typeface="Arial"/>
                <a:cs typeface="Arial"/>
              </a:rPr>
              <a:t>)</a:t>
            </a:r>
            <a:r>
              <a:rPr sz="2000" spc="95" dirty="0">
                <a:latin typeface="Arial"/>
                <a:cs typeface="Arial"/>
              </a:rPr>
              <a:t> </a:t>
            </a:r>
            <a:r>
              <a:rPr sz="2000" dirty="0">
                <a:latin typeface="Arial Narrow"/>
                <a:cs typeface="Arial Narrow"/>
              </a:rPr>
              <a:t>←</a:t>
            </a:r>
            <a:r>
              <a:rPr sz="2000" spc="-20" dirty="0">
                <a:latin typeface="Arial Narrow"/>
                <a:cs typeface="Arial Narrow"/>
              </a:rPr>
              <a:t> </a:t>
            </a:r>
            <a:r>
              <a:rPr sz="2000" i="1" dirty="0">
                <a:latin typeface="Arial"/>
                <a:cs typeface="Arial"/>
              </a:rPr>
              <a:t>V</a:t>
            </a:r>
            <a:r>
              <a:rPr sz="2000" i="1" spc="-245" dirty="0">
                <a:latin typeface="Arial"/>
                <a:cs typeface="Arial"/>
              </a:rPr>
              <a:t> </a:t>
            </a:r>
            <a:r>
              <a:rPr sz="2000" dirty="0">
                <a:latin typeface="Arial"/>
                <a:cs typeface="Arial"/>
              </a:rPr>
              <a:t>(</a:t>
            </a:r>
            <a:r>
              <a:rPr sz="2000" i="1" dirty="0">
                <a:latin typeface="Arial"/>
                <a:cs typeface="Arial"/>
              </a:rPr>
              <a:t>S</a:t>
            </a:r>
            <a:r>
              <a:rPr sz="2175" i="1" baseline="-7662" dirty="0">
                <a:latin typeface="Arial"/>
                <a:cs typeface="Arial"/>
              </a:rPr>
              <a:t>t</a:t>
            </a:r>
            <a:r>
              <a:rPr sz="2175" i="1" spc="-322" baseline="-7662" dirty="0">
                <a:latin typeface="Arial"/>
                <a:cs typeface="Arial"/>
              </a:rPr>
              <a:t> </a:t>
            </a:r>
            <a:r>
              <a:rPr sz="2000" dirty="0">
                <a:latin typeface="Arial"/>
                <a:cs typeface="Arial"/>
              </a:rPr>
              <a:t>)</a:t>
            </a:r>
            <a:r>
              <a:rPr sz="2000" spc="-20" dirty="0">
                <a:latin typeface="Arial"/>
                <a:cs typeface="Arial"/>
              </a:rPr>
              <a:t> </a:t>
            </a:r>
            <a:r>
              <a:rPr sz="2000" dirty="0">
                <a:latin typeface="Arial"/>
                <a:cs typeface="Arial"/>
              </a:rPr>
              <a:t>+</a:t>
            </a:r>
            <a:r>
              <a:rPr sz="2000" spc="250" dirty="0">
                <a:latin typeface="Arial"/>
                <a:cs typeface="Arial"/>
              </a:rPr>
              <a:t> </a:t>
            </a:r>
            <a:r>
              <a:rPr sz="2000" i="1" dirty="0">
                <a:latin typeface="Times New Roman"/>
                <a:cs typeface="Times New Roman"/>
              </a:rPr>
              <a:t>α</a:t>
            </a:r>
            <a:r>
              <a:rPr sz="2000" i="1" spc="55" dirty="0">
                <a:latin typeface="Times New Roman"/>
                <a:cs typeface="Times New Roman"/>
              </a:rPr>
              <a:t> </a:t>
            </a:r>
            <a:r>
              <a:rPr sz="2000" spc="75" dirty="0">
                <a:latin typeface="Arial"/>
                <a:cs typeface="Arial"/>
              </a:rPr>
              <a:t>(</a:t>
            </a:r>
            <a:r>
              <a:rPr sz="2000" i="1" spc="75" dirty="0">
                <a:latin typeface="Arial"/>
                <a:cs typeface="Arial"/>
              </a:rPr>
              <a:t>R</a:t>
            </a:r>
            <a:r>
              <a:rPr sz="2175" i="1" spc="112" baseline="-7662" dirty="0">
                <a:latin typeface="Arial"/>
                <a:cs typeface="Arial"/>
              </a:rPr>
              <a:t>t</a:t>
            </a:r>
            <a:r>
              <a:rPr sz="2175" spc="112" baseline="-7662" dirty="0">
                <a:latin typeface="Arial"/>
                <a:cs typeface="Arial"/>
              </a:rPr>
              <a:t>+1</a:t>
            </a:r>
            <a:r>
              <a:rPr sz="2175" spc="359" baseline="-7662" dirty="0">
                <a:latin typeface="Arial"/>
                <a:cs typeface="Arial"/>
              </a:rPr>
              <a:t> </a:t>
            </a:r>
            <a:r>
              <a:rPr sz="2000" dirty="0">
                <a:latin typeface="Arial"/>
                <a:cs typeface="Arial"/>
              </a:rPr>
              <a:t>+</a:t>
            </a:r>
            <a:r>
              <a:rPr sz="2000" spc="250" dirty="0">
                <a:latin typeface="Arial"/>
                <a:cs typeface="Arial"/>
              </a:rPr>
              <a:t> </a:t>
            </a:r>
            <a:r>
              <a:rPr sz="2000" i="1" spc="80" dirty="0">
                <a:latin typeface="Times New Roman"/>
                <a:cs typeface="Times New Roman"/>
              </a:rPr>
              <a:t>γ</a:t>
            </a:r>
            <a:r>
              <a:rPr sz="2000" i="1" spc="80" dirty="0">
                <a:latin typeface="Arial"/>
                <a:cs typeface="Arial"/>
              </a:rPr>
              <a:t>V</a:t>
            </a:r>
            <a:r>
              <a:rPr sz="2000" i="1" spc="-60" dirty="0">
                <a:latin typeface="Arial"/>
                <a:cs typeface="Arial"/>
              </a:rPr>
              <a:t> </a:t>
            </a:r>
            <a:r>
              <a:rPr sz="2000" spc="75" dirty="0">
                <a:latin typeface="Arial"/>
                <a:cs typeface="Arial"/>
              </a:rPr>
              <a:t>(</a:t>
            </a:r>
            <a:r>
              <a:rPr sz="2000" i="1" spc="75" dirty="0">
                <a:latin typeface="Arial"/>
                <a:cs typeface="Arial"/>
              </a:rPr>
              <a:t>S</a:t>
            </a:r>
            <a:r>
              <a:rPr sz="2175" i="1" spc="112" baseline="-7662" dirty="0">
                <a:latin typeface="Arial"/>
                <a:cs typeface="Arial"/>
              </a:rPr>
              <a:t>t</a:t>
            </a:r>
            <a:r>
              <a:rPr sz="2175" spc="112" baseline="-7662" dirty="0">
                <a:latin typeface="Arial"/>
                <a:cs typeface="Arial"/>
              </a:rPr>
              <a:t>+1</a:t>
            </a:r>
            <a:r>
              <a:rPr sz="2000" spc="75" dirty="0">
                <a:latin typeface="Arial"/>
                <a:cs typeface="Arial"/>
              </a:rPr>
              <a:t>)</a:t>
            </a:r>
            <a:r>
              <a:rPr sz="2000" spc="-20" dirty="0">
                <a:latin typeface="Arial"/>
                <a:cs typeface="Arial"/>
              </a:rPr>
              <a:t> </a:t>
            </a:r>
            <a:r>
              <a:rPr sz="2000" i="1" dirty="0">
                <a:latin typeface="Arial"/>
                <a:cs typeface="Arial"/>
              </a:rPr>
              <a:t>−</a:t>
            </a:r>
            <a:r>
              <a:rPr sz="2000" i="1" spc="-325" dirty="0">
                <a:latin typeface="Arial"/>
                <a:cs typeface="Arial"/>
              </a:rPr>
              <a:t> </a:t>
            </a:r>
            <a:r>
              <a:rPr sz="2000" i="1" dirty="0">
                <a:latin typeface="Arial"/>
                <a:cs typeface="Arial"/>
              </a:rPr>
              <a:t>V</a:t>
            </a:r>
            <a:r>
              <a:rPr sz="2000" i="1" spc="-250" dirty="0">
                <a:latin typeface="Arial"/>
                <a:cs typeface="Arial"/>
              </a:rPr>
              <a:t> </a:t>
            </a:r>
            <a:r>
              <a:rPr sz="2000" dirty="0">
                <a:latin typeface="Arial"/>
                <a:cs typeface="Arial"/>
              </a:rPr>
              <a:t>(</a:t>
            </a:r>
            <a:r>
              <a:rPr sz="2000" i="1" dirty="0">
                <a:latin typeface="Arial"/>
                <a:cs typeface="Arial"/>
              </a:rPr>
              <a:t>S</a:t>
            </a:r>
            <a:r>
              <a:rPr sz="2175" i="1" baseline="-7662" dirty="0">
                <a:latin typeface="Arial"/>
                <a:cs typeface="Arial"/>
              </a:rPr>
              <a:t>t</a:t>
            </a:r>
            <a:r>
              <a:rPr sz="2175" i="1" spc="-322" baseline="-7662" dirty="0">
                <a:latin typeface="Arial"/>
                <a:cs typeface="Arial"/>
              </a:rPr>
              <a:t> </a:t>
            </a:r>
            <a:r>
              <a:rPr sz="2000" spc="-25" dirty="0">
                <a:latin typeface="Arial"/>
                <a:cs typeface="Arial"/>
              </a:rPr>
              <a:t>))</a:t>
            </a:r>
            <a:endParaRPr sz="2000">
              <a:latin typeface="Arial"/>
              <a:cs typeface="Arial"/>
            </a:endParaRPr>
          </a:p>
          <a:p>
            <a:pPr marR="202565" algn="ctr">
              <a:lnSpc>
                <a:spcPct val="100000"/>
              </a:lnSpc>
              <a:spcBef>
                <a:spcPts val="869"/>
              </a:spcBef>
            </a:pPr>
            <a:r>
              <a:rPr sz="3200" i="1" spc="-25" dirty="0">
                <a:latin typeface="Times New Roman"/>
                <a:cs typeface="Times New Roman"/>
              </a:rPr>
              <a:t>s</a:t>
            </a:r>
            <a:r>
              <a:rPr sz="2550" i="1" spc="-37" baseline="-14705" dirty="0">
                <a:latin typeface="Times New Roman"/>
                <a:cs typeface="Times New Roman"/>
              </a:rPr>
              <a:t>t</a:t>
            </a:r>
            <a:endParaRPr sz="2550" baseline="-14705">
              <a:latin typeface="Times New Roman"/>
              <a:cs typeface="Times New Roman"/>
            </a:endParaRPr>
          </a:p>
        </p:txBody>
      </p:sp>
      <p:sp>
        <p:nvSpPr>
          <p:cNvPr id="10" name="Date Placeholder 3">
            <a:extLst>
              <a:ext uri="{FF2B5EF4-FFF2-40B4-BE49-F238E27FC236}">
                <a16:creationId xmlns:a16="http://schemas.microsoft.com/office/drawing/2014/main" id="{87506DCC-959F-BB64-E649-B2581D9379FC}"/>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Footer Placeholder 5">
            <a:extLst>
              <a:ext uri="{FF2B5EF4-FFF2-40B4-BE49-F238E27FC236}">
                <a16:creationId xmlns:a16="http://schemas.microsoft.com/office/drawing/2014/main" id="{13BFF30A-8C52-3585-637C-550581F6D6B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0A859DF9-94EA-D405-2256-10BD1FD545A2}"/>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64769">
              <a:lnSpc>
                <a:spcPct val="100000"/>
              </a:lnSpc>
              <a:spcBef>
                <a:spcPts val="100"/>
              </a:spcBef>
            </a:pPr>
            <a:r>
              <a:rPr spc="-50" dirty="0"/>
              <a:t>Monte-</a:t>
            </a:r>
            <a:r>
              <a:rPr spc="-30" dirty="0"/>
              <a:t>Carlo</a:t>
            </a:r>
            <a:r>
              <a:rPr spc="-80" dirty="0"/>
              <a:t> </a:t>
            </a:r>
            <a:r>
              <a:rPr spc="-50" dirty="0"/>
              <a:t>versus</a:t>
            </a:r>
            <a:r>
              <a:rPr spc="-130" dirty="0"/>
              <a:t> </a:t>
            </a:r>
            <a:r>
              <a:rPr spc="-85" dirty="0"/>
              <a:t>Temporal</a:t>
            </a:r>
            <a:r>
              <a:rPr spc="-75" dirty="0"/>
              <a:t> </a:t>
            </a:r>
            <a:r>
              <a:rPr spc="-45" dirty="0"/>
              <a:t>Difference</a:t>
            </a:r>
          </a:p>
        </p:txBody>
      </p:sp>
      <p:sp>
        <p:nvSpPr>
          <p:cNvPr id="3" name="object 3"/>
          <p:cNvSpPr txBox="1"/>
          <p:nvPr/>
        </p:nvSpPr>
        <p:spPr>
          <a:xfrm>
            <a:off x="339196" y="1409706"/>
            <a:ext cx="6584950" cy="3662679"/>
          </a:xfrm>
          <a:prstGeom prst="rect">
            <a:avLst/>
          </a:prstGeom>
        </p:spPr>
        <p:txBody>
          <a:bodyPr vert="horz" wrap="square" lIns="0" tIns="12065" rIns="0" bIns="0" rtlCol="0">
            <a:spAutoFit/>
          </a:bodyPr>
          <a:lstStyle/>
          <a:p>
            <a:pPr marL="63500">
              <a:lnSpc>
                <a:spcPct val="100000"/>
              </a:lnSpc>
              <a:spcBef>
                <a:spcPts val="95"/>
              </a:spcBef>
            </a:pPr>
            <a:r>
              <a:rPr sz="1900" u="sng" spc="-10" dirty="0">
                <a:uFill>
                  <a:solidFill>
                    <a:srgbClr val="000000"/>
                  </a:solidFill>
                </a:uFill>
                <a:latin typeface="Gill Sans MT"/>
                <a:cs typeface="Gill Sans MT"/>
              </a:rPr>
              <a:t>Goal</a:t>
            </a:r>
            <a:r>
              <a:rPr sz="1900" spc="-10" dirty="0">
                <a:latin typeface="Gill Sans MT"/>
                <a:cs typeface="Gill Sans MT"/>
              </a:rPr>
              <a:t>:</a:t>
            </a:r>
            <a:r>
              <a:rPr sz="1900" spc="-195" dirty="0">
                <a:latin typeface="Gill Sans MT"/>
                <a:cs typeface="Gill Sans MT"/>
              </a:rPr>
              <a:t> </a:t>
            </a:r>
            <a:r>
              <a:rPr sz="1900" dirty="0">
                <a:latin typeface="Gill Sans MT"/>
                <a:cs typeface="Gill Sans MT"/>
              </a:rPr>
              <a:t>learn</a:t>
            </a:r>
            <a:r>
              <a:rPr sz="1900" spc="-45" dirty="0">
                <a:latin typeface="Gill Sans MT"/>
                <a:cs typeface="Gill Sans MT"/>
              </a:rPr>
              <a:t> </a:t>
            </a:r>
            <a:r>
              <a:rPr sz="2000" i="1" spc="-90" dirty="0">
                <a:latin typeface="Times New Roman"/>
                <a:cs typeface="Times New Roman"/>
              </a:rPr>
              <a:t>V</a:t>
            </a:r>
            <a:r>
              <a:rPr sz="2100" i="1" spc="-135" baseline="-19841" dirty="0">
                <a:latin typeface="Arial"/>
                <a:cs typeface="Arial"/>
              </a:rPr>
              <a:t>π</a:t>
            </a:r>
            <a:r>
              <a:rPr sz="2100" i="1" spc="165" baseline="-19841" dirty="0">
                <a:latin typeface="Arial"/>
                <a:cs typeface="Arial"/>
              </a:rPr>
              <a:t> </a:t>
            </a:r>
            <a:r>
              <a:rPr sz="1900" dirty="0">
                <a:latin typeface="Gill Sans MT"/>
                <a:cs typeface="Gill Sans MT"/>
              </a:rPr>
              <a:t>online</a:t>
            </a:r>
            <a:r>
              <a:rPr sz="1900" spc="-30" dirty="0">
                <a:latin typeface="Gill Sans MT"/>
                <a:cs typeface="Gill Sans MT"/>
              </a:rPr>
              <a:t> </a:t>
            </a:r>
            <a:r>
              <a:rPr sz="1900" dirty="0">
                <a:latin typeface="Gill Sans MT"/>
                <a:cs typeface="Gill Sans MT"/>
              </a:rPr>
              <a:t>from</a:t>
            </a:r>
            <a:r>
              <a:rPr sz="1900" spc="-25" dirty="0">
                <a:latin typeface="Gill Sans MT"/>
                <a:cs typeface="Gill Sans MT"/>
              </a:rPr>
              <a:t> </a:t>
            </a:r>
            <a:r>
              <a:rPr sz="1900" dirty="0">
                <a:latin typeface="Gill Sans MT"/>
                <a:cs typeface="Gill Sans MT"/>
              </a:rPr>
              <a:t>experience</a:t>
            </a:r>
            <a:r>
              <a:rPr sz="1900" spc="-30" dirty="0">
                <a:latin typeface="Gill Sans MT"/>
                <a:cs typeface="Gill Sans MT"/>
              </a:rPr>
              <a:t> </a:t>
            </a:r>
            <a:r>
              <a:rPr sz="1900" dirty="0">
                <a:latin typeface="Gill Sans MT"/>
                <a:cs typeface="Gill Sans MT"/>
              </a:rPr>
              <a:t>under</a:t>
            </a:r>
            <a:r>
              <a:rPr sz="1900" spc="-30" dirty="0">
                <a:latin typeface="Gill Sans MT"/>
                <a:cs typeface="Gill Sans MT"/>
              </a:rPr>
              <a:t> </a:t>
            </a:r>
            <a:r>
              <a:rPr sz="1900" spc="-10" dirty="0">
                <a:latin typeface="Gill Sans MT"/>
                <a:cs typeface="Gill Sans MT"/>
              </a:rPr>
              <a:t>policy</a:t>
            </a:r>
            <a:endParaRPr sz="1900" dirty="0">
              <a:latin typeface="Gill Sans MT"/>
              <a:cs typeface="Gill Sans MT"/>
            </a:endParaRPr>
          </a:p>
          <a:p>
            <a:pPr marL="291465" indent="-227965">
              <a:lnSpc>
                <a:spcPct val="100000"/>
              </a:lnSpc>
              <a:spcBef>
                <a:spcPts val="1985"/>
              </a:spcBef>
              <a:buChar char="•"/>
              <a:tabLst>
                <a:tab pos="291465" algn="l"/>
                <a:tab pos="292100" algn="l"/>
              </a:tabLst>
            </a:pPr>
            <a:r>
              <a:rPr sz="1900" dirty="0">
                <a:latin typeface="Gill Sans MT"/>
                <a:cs typeface="Gill Sans MT"/>
              </a:rPr>
              <a:t>Incremental</a:t>
            </a:r>
            <a:r>
              <a:rPr sz="1900" spc="-20" dirty="0">
                <a:latin typeface="Gill Sans MT"/>
                <a:cs typeface="Gill Sans MT"/>
              </a:rPr>
              <a:t> </a:t>
            </a:r>
            <a:r>
              <a:rPr sz="1900" spc="-10" dirty="0">
                <a:latin typeface="Gill Sans MT"/>
                <a:cs typeface="Gill Sans MT"/>
              </a:rPr>
              <a:t>every-</a:t>
            </a:r>
            <a:r>
              <a:rPr sz="1900" dirty="0">
                <a:latin typeface="Gill Sans MT"/>
                <a:cs typeface="Gill Sans MT"/>
              </a:rPr>
              <a:t>visit</a:t>
            </a:r>
            <a:r>
              <a:rPr sz="1900" spc="-5" dirty="0">
                <a:latin typeface="Gill Sans MT"/>
                <a:cs typeface="Gill Sans MT"/>
              </a:rPr>
              <a:t> </a:t>
            </a:r>
            <a:r>
              <a:rPr sz="1900" dirty="0">
                <a:solidFill>
                  <a:srgbClr val="C82506"/>
                </a:solidFill>
                <a:latin typeface="Gill Sans MT"/>
                <a:cs typeface="Gill Sans MT"/>
              </a:rPr>
              <a:t>Monte-</a:t>
            </a:r>
            <a:r>
              <a:rPr sz="1900" spc="-10" dirty="0">
                <a:solidFill>
                  <a:srgbClr val="C82506"/>
                </a:solidFill>
                <a:latin typeface="Gill Sans MT"/>
                <a:cs typeface="Gill Sans MT"/>
              </a:rPr>
              <a:t>Carlo</a:t>
            </a:r>
            <a:endParaRPr sz="1900" dirty="0">
              <a:latin typeface="Gill Sans MT"/>
              <a:cs typeface="Gill Sans MT"/>
            </a:endParaRPr>
          </a:p>
          <a:p>
            <a:pPr marL="634365" marR="1710055" lvl="1" indent="-227965">
              <a:lnSpc>
                <a:spcPts val="4450"/>
              </a:lnSpc>
              <a:spcBef>
                <a:spcPts val="430"/>
              </a:spcBef>
              <a:buChar char="•"/>
              <a:tabLst>
                <a:tab pos="635000" algn="l"/>
                <a:tab pos="749300" algn="l"/>
              </a:tabLst>
            </a:pPr>
            <a:r>
              <a:rPr sz="1900" dirty="0">
                <a:latin typeface="Gill Sans MT"/>
                <a:cs typeface="Gill Sans MT"/>
              </a:rPr>
              <a:t>Update</a:t>
            </a:r>
            <a:r>
              <a:rPr sz="1900" spc="-55" dirty="0">
                <a:latin typeface="Gill Sans MT"/>
                <a:cs typeface="Gill Sans MT"/>
              </a:rPr>
              <a:t> </a:t>
            </a:r>
            <a:r>
              <a:rPr sz="1900" dirty="0">
                <a:latin typeface="Gill Sans MT"/>
                <a:cs typeface="Gill Sans MT"/>
              </a:rPr>
              <a:t>value</a:t>
            </a:r>
            <a:r>
              <a:rPr sz="1900" spc="-45" dirty="0">
                <a:latin typeface="Gill Sans MT"/>
                <a:cs typeface="Gill Sans MT"/>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r>
              <a:rPr sz="2000" spc="40" dirty="0">
                <a:latin typeface="Cambria"/>
                <a:cs typeface="Cambria"/>
              </a:rPr>
              <a:t> </a:t>
            </a:r>
            <a:r>
              <a:rPr sz="1900" dirty="0">
                <a:solidFill>
                  <a:srgbClr val="C82506"/>
                </a:solidFill>
                <a:latin typeface="Gill Sans MT"/>
                <a:cs typeface="Gill Sans MT"/>
              </a:rPr>
              <a:t>toward</a:t>
            </a:r>
            <a:r>
              <a:rPr sz="1900" spc="-45" dirty="0">
                <a:solidFill>
                  <a:srgbClr val="C82506"/>
                </a:solidFill>
                <a:latin typeface="Gill Sans MT"/>
                <a:cs typeface="Gill Sans MT"/>
              </a:rPr>
              <a:t> </a:t>
            </a:r>
            <a:r>
              <a:rPr sz="1900" dirty="0">
                <a:solidFill>
                  <a:srgbClr val="C82506"/>
                </a:solidFill>
                <a:latin typeface="Gill Sans MT"/>
                <a:cs typeface="Gill Sans MT"/>
              </a:rPr>
              <a:t>actual</a:t>
            </a:r>
            <a:r>
              <a:rPr sz="1900" spc="-55" dirty="0">
                <a:solidFill>
                  <a:srgbClr val="C82506"/>
                </a:solidFill>
                <a:latin typeface="Gill Sans MT"/>
                <a:cs typeface="Gill Sans MT"/>
              </a:rPr>
              <a:t> </a:t>
            </a:r>
            <a:r>
              <a:rPr sz="1900" dirty="0">
                <a:solidFill>
                  <a:srgbClr val="C82506"/>
                </a:solidFill>
                <a:latin typeface="Gill Sans MT"/>
                <a:cs typeface="Gill Sans MT"/>
              </a:rPr>
              <a:t>return</a:t>
            </a:r>
            <a:r>
              <a:rPr sz="1900" spc="-45" dirty="0">
                <a:solidFill>
                  <a:srgbClr val="C82506"/>
                </a:solidFill>
                <a:latin typeface="Gill Sans MT"/>
                <a:cs typeface="Gill Sans MT"/>
              </a:rPr>
              <a:t> </a:t>
            </a:r>
            <a:r>
              <a:rPr sz="2000" i="1" spc="-25" dirty="0">
                <a:solidFill>
                  <a:srgbClr val="C82506"/>
                </a:solidFill>
                <a:latin typeface="Times New Roman"/>
                <a:cs typeface="Times New Roman"/>
              </a:rPr>
              <a:t>G</a:t>
            </a:r>
            <a:r>
              <a:rPr sz="2100" i="1" spc="-37" baseline="-19841" dirty="0">
                <a:solidFill>
                  <a:srgbClr val="C82506"/>
                </a:solidFill>
                <a:latin typeface="Times New Roman"/>
                <a:cs typeface="Times New Roman"/>
              </a:rPr>
              <a:t>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r>
              <a:rPr sz="2000" spc="40" dirty="0">
                <a:latin typeface="Cambria"/>
                <a:cs typeface="Cambria"/>
              </a:rPr>
              <a:t> </a:t>
            </a:r>
            <a:r>
              <a:rPr sz="2000" spc="165" dirty="0">
                <a:latin typeface="Cambria"/>
                <a:cs typeface="Cambria"/>
              </a:rPr>
              <a:t>←</a:t>
            </a:r>
            <a:r>
              <a:rPr sz="2000" spc="45" dirty="0">
                <a:latin typeface="Cambria"/>
                <a:cs typeface="Cambria"/>
              </a:rPr>
              <a:t> </a:t>
            </a:r>
            <a:r>
              <a:rPr sz="2000" i="1" spc="-30" dirty="0">
                <a:latin typeface="Times New Roman"/>
                <a:cs typeface="Times New Roman"/>
              </a:rPr>
              <a:t>V</a:t>
            </a:r>
            <a:r>
              <a:rPr sz="2000" spc="-30" dirty="0">
                <a:latin typeface="Cambria"/>
                <a:cs typeface="Cambria"/>
              </a:rPr>
              <a:t>(</a:t>
            </a:r>
            <a:r>
              <a:rPr sz="2000" i="1" spc="-30" dirty="0">
                <a:latin typeface="Times New Roman"/>
                <a:cs typeface="Times New Roman"/>
              </a:rPr>
              <a:t>S</a:t>
            </a:r>
            <a:r>
              <a:rPr sz="2100" i="1" spc="-44" baseline="-19841" dirty="0">
                <a:latin typeface="Times New Roman"/>
                <a:cs typeface="Times New Roman"/>
              </a:rPr>
              <a:t>t</a:t>
            </a:r>
            <a:r>
              <a:rPr sz="2000" spc="-30" dirty="0">
                <a:latin typeface="Cambria"/>
                <a:cs typeface="Cambria"/>
              </a:rPr>
              <a:t>)</a:t>
            </a:r>
            <a:r>
              <a:rPr sz="2000" spc="-50" dirty="0">
                <a:latin typeface="Cambria"/>
                <a:cs typeface="Cambria"/>
              </a:rPr>
              <a:t> </a:t>
            </a:r>
            <a:r>
              <a:rPr sz="2000" spc="250" dirty="0">
                <a:latin typeface="Cambria"/>
                <a:cs typeface="Cambria"/>
              </a:rPr>
              <a:t>+</a:t>
            </a:r>
            <a:r>
              <a:rPr sz="2000" spc="-55" dirty="0">
                <a:latin typeface="Cambria"/>
                <a:cs typeface="Cambria"/>
              </a:rPr>
              <a:t> </a:t>
            </a:r>
            <a:r>
              <a:rPr sz="2000" i="1" spc="-10" dirty="0">
                <a:latin typeface="Arial"/>
                <a:cs typeface="Arial"/>
              </a:rPr>
              <a:t>α</a:t>
            </a:r>
            <a:r>
              <a:rPr sz="2000" spc="-10" dirty="0">
                <a:latin typeface="Cambria"/>
                <a:cs typeface="Cambria"/>
              </a:rPr>
              <a:t>(</a:t>
            </a:r>
            <a:r>
              <a:rPr sz="2000" i="1" spc="-10" dirty="0">
                <a:latin typeface="Times New Roman"/>
                <a:cs typeface="Times New Roman"/>
              </a:rPr>
              <a:t>G</a:t>
            </a:r>
            <a:r>
              <a:rPr sz="2100" i="1" spc="-15" baseline="-19841" dirty="0">
                <a:latin typeface="Times New Roman"/>
                <a:cs typeface="Times New Roman"/>
              </a:rPr>
              <a:t>t</a:t>
            </a:r>
            <a:r>
              <a:rPr sz="2100" i="1" spc="60" baseline="-19841" dirty="0">
                <a:latin typeface="Times New Roman"/>
                <a:cs typeface="Times New Roman"/>
              </a:rPr>
              <a:t> </a:t>
            </a:r>
            <a:r>
              <a:rPr sz="2000" spc="250" dirty="0">
                <a:latin typeface="Cambria"/>
                <a:cs typeface="Cambria"/>
              </a:rPr>
              <a:t>−</a:t>
            </a:r>
            <a:r>
              <a:rPr sz="2000" spc="-55" dirty="0">
                <a:latin typeface="Cambria"/>
                <a:cs typeface="Cambria"/>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endParaRPr sz="2000" dirty="0">
              <a:latin typeface="Cambria"/>
              <a:cs typeface="Cambria"/>
            </a:endParaRPr>
          </a:p>
          <a:p>
            <a:pPr marL="291465" indent="-227965">
              <a:lnSpc>
                <a:spcPct val="100000"/>
              </a:lnSpc>
              <a:spcBef>
                <a:spcPts val="1485"/>
              </a:spcBef>
              <a:buChar char="•"/>
              <a:tabLst>
                <a:tab pos="291465" algn="l"/>
                <a:tab pos="292100" algn="l"/>
              </a:tabLst>
            </a:pPr>
            <a:r>
              <a:rPr sz="1900" dirty="0">
                <a:latin typeface="Gill Sans MT"/>
                <a:cs typeface="Gill Sans MT"/>
              </a:rPr>
              <a:t>Simplest</a:t>
            </a:r>
            <a:r>
              <a:rPr sz="1900" spc="-20" dirty="0">
                <a:latin typeface="Gill Sans MT"/>
                <a:cs typeface="Gill Sans MT"/>
              </a:rPr>
              <a:t> </a:t>
            </a:r>
            <a:r>
              <a:rPr sz="1900" spc="-10" dirty="0">
                <a:solidFill>
                  <a:srgbClr val="C82506"/>
                </a:solidFill>
                <a:latin typeface="Gill Sans MT"/>
                <a:cs typeface="Gill Sans MT"/>
              </a:rPr>
              <a:t>temporal-</a:t>
            </a:r>
            <a:r>
              <a:rPr sz="1900" dirty="0">
                <a:solidFill>
                  <a:srgbClr val="C82506"/>
                </a:solidFill>
                <a:latin typeface="Gill Sans MT"/>
                <a:cs typeface="Gill Sans MT"/>
              </a:rPr>
              <a:t>difference</a:t>
            </a:r>
            <a:r>
              <a:rPr sz="1900" spc="-5" dirty="0">
                <a:solidFill>
                  <a:srgbClr val="C82506"/>
                </a:solidFill>
                <a:latin typeface="Gill Sans MT"/>
                <a:cs typeface="Gill Sans MT"/>
              </a:rPr>
              <a:t> </a:t>
            </a:r>
            <a:r>
              <a:rPr sz="1900" dirty="0">
                <a:latin typeface="Gill Sans MT"/>
                <a:cs typeface="Gill Sans MT"/>
              </a:rPr>
              <a:t>learning</a:t>
            </a:r>
            <a:r>
              <a:rPr sz="1900" spc="-5" dirty="0">
                <a:latin typeface="Gill Sans MT"/>
                <a:cs typeface="Gill Sans MT"/>
              </a:rPr>
              <a:t> </a:t>
            </a:r>
            <a:r>
              <a:rPr sz="1900" spc="-10" dirty="0">
                <a:latin typeface="Gill Sans MT"/>
                <a:cs typeface="Gill Sans MT"/>
              </a:rPr>
              <a:t>algorithm:TD(0)</a:t>
            </a:r>
            <a:endParaRPr sz="1900" dirty="0">
              <a:latin typeface="Gill Sans MT"/>
              <a:cs typeface="Gill Sans MT"/>
            </a:endParaRPr>
          </a:p>
          <a:p>
            <a:pPr marL="634365" marR="43180" lvl="1" indent="-227965">
              <a:lnSpc>
                <a:spcPts val="4470"/>
              </a:lnSpc>
              <a:spcBef>
                <a:spcPts val="235"/>
              </a:spcBef>
              <a:buChar char="•"/>
              <a:tabLst>
                <a:tab pos="635000" algn="l"/>
                <a:tab pos="749300" algn="l"/>
              </a:tabLst>
            </a:pPr>
            <a:r>
              <a:rPr sz="1900" dirty="0">
                <a:latin typeface="Gill Sans MT"/>
                <a:cs typeface="Gill Sans MT"/>
              </a:rPr>
              <a:t>Update</a:t>
            </a:r>
            <a:r>
              <a:rPr sz="1900" spc="-35" dirty="0">
                <a:latin typeface="Gill Sans MT"/>
                <a:cs typeface="Gill Sans MT"/>
              </a:rPr>
              <a:t> </a:t>
            </a:r>
            <a:r>
              <a:rPr sz="1900" dirty="0">
                <a:latin typeface="Gill Sans MT"/>
                <a:cs typeface="Gill Sans MT"/>
              </a:rPr>
              <a:t>value</a:t>
            </a:r>
            <a:r>
              <a:rPr sz="1900" spc="-35" dirty="0">
                <a:latin typeface="Gill Sans MT"/>
                <a:cs typeface="Gill Sans MT"/>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r>
              <a:rPr sz="2000" spc="55" dirty="0">
                <a:latin typeface="Cambria"/>
                <a:cs typeface="Cambria"/>
              </a:rPr>
              <a:t> </a:t>
            </a:r>
            <a:r>
              <a:rPr sz="1900" dirty="0">
                <a:solidFill>
                  <a:srgbClr val="C82506"/>
                </a:solidFill>
                <a:latin typeface="Gill Sans MT"/>
                <a:cs typeface="Gill Sans MT"/>
              </a:rPr>
              <a:t>toward</a:t>
            </a:r>
            <a:r>
              <a:rPr sz="1900" spc="-30" dirty="0">
                <a:solidFill>
                  <a:srgbClr val="C82506"/>
                </a:solidFill>
                <a:latin typeface="Gill Sans MT"/>
                <a:cs typeface="Gill Sans MT"/>
              </a:rPr>
              <a:t> </a:t>
            </a:r>
            <a:r>
              <a:rPr sz="1900" dirty="0">
                <a:solidFill>
                  <a:srgbClr val="C82506"/>
                </a:solidFill>
                <a:latin typeface="Gill Sans MT"/>
                <a:cs typeface="Gill Sans MT"/>
              </a:rPr>
              <a:t>estimated</a:t>
            </a:r>
            <a:r>
              <a:rPr sz="1900" spc="-35" dirty="0">
                <a:solidFill>
                  <a:srgbClr val="C82506"/>
                </a:solidFill>
                <a:latin typeface="Gill Sans MT"/>
                <a:cs typeface="Gill Sans MT"/>
              </a:rPr>
              <a:t> </a:t>
            </a:r>
            <a:r>
              <a:rPr sz="1900" dirty="0">
                <a:solidFill>
                  <a:srgbClr val="C82506"/>
                </a:solidFill>
                <a:latin typeface="Gill Sans MT"/>
                <a:cs typeface="Gill Sans MT"/>
              </a:rPr>
              <a:t>return</a:t>
            </a:r>
            <a:r>
              <a:rPr sz="1900" spc="-30" dirty="0">
                <a:solidFill>
                  <a:srgbClr val="C82506"/>
                </a:solidFill>
                <a:latin typeface="Gill Sans MT"/>
                <a:cs typeface="Gill Sans MT"/>
              </a:rPr>
              <a:t> </a:t>
            </a:r>
            <a:r>
              <a:rPr sz="2000" i="1" dirty="0">
                <a:solidFill>
                  <a:srgbClr val="C82506"/>
                </a:solidFill>
                <a:latin typeface="Times New Roman"/>
                <a:cs typeface="Times New Roman"/>
              </a:rPr>
              <a:t>R</a:t>
            </a:r>
            <a:r>
              <a:rPr sz="2100" i="1" baseline="-19841" dirty="0">
                <a:solidFill>
                  <a:srgbClr val="C82506"/>
                </a:solidFill>
                <a:latin typeface="Times New Roman"/>
                <a:cs typeface="Times New Roman"/>
              </a:rPr>
              <a:t>t</a:t>
            </a:r>
            <a:r>
              <a:rPr sz="2100" baseline="-19841" dirty="0">
                <a:solidFill>
                  <a:srgbClr val="C82506"/>
                </a:solidFill>
                <a:latin typeface="Cambria"/>
                <a:cs typeface="Cambria"/>
              </a:rPr>
              <a:t>+1</a:t>
            </a:r>
            <a:r>
              <a:rPr sz="2100" spc="165" baseline="-19841" dirty="0">
                <a:solidFill>
                  <a:srgbClr val="C82506"/>
                </a:solidFill>
                <a:latin typeface="Cambria"/>
                <a:cs typeface="Cambria"/>
              </a:rPr>
              <a:t> </a:t>
            </a:r>
            <a:r>
              <a:rPr sz="2000" spc="250" dirty="0">
                <a:solidFill>
                  <a:srgbClr val="C82506"/>
                </a:solidFill>
                <a:latin typeface="Cambria"/>
                <a:cs typeface="Cambria"/>
              </a:rPr>
              <a:t>+</a:t>
            </a:r>
            <a:r>
              <a:rPr sz="2000" spc="-25" dirty="0">
                <a:solidFill>
                  <a:srgbClr val="C82506"/>
                </a:solidFill>
                <a:latin typeface="Cambria"/>
                <a:cs typeface="Cambria"/>
              </a:rPr>
              <a:t> </a:t>
            </a:r>
            <a:r>
              <a:rPr sz="2000" i="1" spc="-35" dirty="0">
                <a:solidFill>
                  <a:srgbClr val="C82506"/>
                </a:solidFill>
                <a:latin typeface="Arial"/>
                <a:cs typeface="Arial"/>
              </a:rPr>
              <a:t>γ</a:t>
            </a:r>
            <a:r>
              <a:rPr sz="2000" i="1" spc="-35" dirty="0">
                <a:solidFill>
                  <a:srgbClr val="C82506"/>
                </a:solidFill>
                <a:latin typeface="Times New Roman"/>
                <a:cs typeface="Times New Roman"/>
              </a:rPr>
              <a:t>V</a:t>
            </a:r>
            <a:r>
              <a:rPr sz="2000" spc="-35" dirty="0">
                <a:solidFill>
                  <a:srgbClr val="C82506"/>
                </a:solidFill>
                <a:latin typeface="Cambria"/>
                <a:cs typeface="Cambria"/>
              </a:rPr>
              <a:t>(</a:t>
            </a:r>
            <a:r>
              <a:rPr sz="2000" i="1" spc="-35" dirty="0">
                <a:solidFill>
                  <a:srgbClr val="C82506"/>
                </a:solidFill>
                <a:latin typeface="Times New Roman"/>
                <a:cs typeface="Times New Roman"/>
              </a:rPr>
              <a:t>S</a:t>
            </a:r>
            <a:r>
              <a:rPr sz="2100" i="1" spc="-52" baseline="-19841" dirty="0">
                <a:solidFill>
                  <a:srgbClr val="C82506"/>
                </a:solidFill>
                <a:latin typeface="Times New Roman"/>
                <a:cs typeface="Times New Roman"/>
              </a:rPr>
              <a:t>t</a:t>
            </a:r>
            <a:r>
              <a:rPr sz="2100" spc="-52" baseline="-19841" dirty="0">
                <a:solidFill>
                  <a:srgbClr val="C82506"/>
                </a:solidFill>
                <a:latin typeface="Cambria"/>
                <a:cs typeface="Cambria"/>
              </a:rPr>
              <a:t>+1</a:t>
            </a:r>
            <a:r>
              <a:rPr sz="2000" spc="-35" dirty="0">
                <a:solidFill>
                  <a:srgbClr val="C82506"/>
                </a:solidFill>
                <a:latin typeface="Cambria"/>
                <a:cs typeface="Cambria"/>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r>
              <a:rPr sz="2000" spc="60" dirty="0">
                <a:latin typeface="Cambria"/>
                <a:cs typeface="Cambria"/>
              </a:rPr>
              <a:t> </a:t>
            </a:r>
            <a:r>
              <a:rPr sz="2000" spc="165" dirty="0">
                <a:latin typeface="Cambria"/>
                <a:cs typeface="Cambria"/>
              </a:rPr>
              <a:t>←</a:t>
            </a:r>
            <a:r>
              <a:rPr sz="2000" spc="65" dirty="0">
                <a:latin typeface="Cambria"/>
                <a:cs typeface="Cambria"/>
              </a:rPr>
              <a:t> </a:t>
            </a:r>
            <a:r>
              <a:rPr sz="2000" i="1" spc="-30" dirty="0">
                <a:latin typeface="Times New Roman"/>
                <a:cs typeface="Times New Roman"/>
              </a:rPr>
              <a:t>V</a:t>
            </a:r>
            <a:r>
              <a:rPr sz="2000" spc="-30" dirty="0">
                <a:latin typeface="Cambria"/>
                <a:cs typeface="Cambria"/>
              </a:rPr>
              <a:t>(</a:t>
            </a:r>
            <a:r>
              <a:rPr sz="2000" i="1" spc="-30" dirty="0">
                <a:latin typeface="Times New Roman"/>
                <a:cs typeface="Times New Roman"/>
              </a:rPr>
              <a:t>S</a:t>
            </a:r>
            <a:r>
              <a:rPr sz="2100" i="1" spc="-44" baseline="-19841" dirty="0">
                <a:latin typeface="Times New Roman"/>
                <a:cs typeface="Times New Roman"/>
              </a:rPr>
              <a:t>t</a:t>
            </a:r>
            <a:r>
              <a:rPr sz="2000" spc="-30" dirty="0">
                <a:latin typeface="Cambria"/>
                <a:cs typeface="Cambria"/>
              </a:rPr>
              <a:t>)</a:t>
            </a:r>
            <a:r>
              <a:rPr sz="2000" spc="-35" dirty="0">
                <a:latin typeface="Cambria"/>
                <a:cs typeface="Cambria"/>
              </a:rPr>
              <a:t> </a:t>
            </a:r>
            <a:r>
              <a:rPr sz="2000" spc="250" dirty="0">
                <a:latin typeface="Cambria"/>
                <a:cs typeface="Cambria"/>
              </a:rPr>
              <a:t>+</a:t>
            </a:r>
            <a:r>
              <a:rPr sz="2000" spc="-35" dirty="0">
                <a:latin typeface="Cambria"/>
                <a:cs typeface="Cambria"/>
              </a:rPr>
              <a:t> </a:t>
            </a:r>
            <a:r>
              <a:rPr sz="2000" i="1" dirty="0">
                <a:latin typeface="Arial"/>
                <a:cs typeface="Arial"/>
              </a:rPr>
              <a:t>α</a:t>
            </a:r>
            <a:r>
              <a:rPr sz="2000" dirty="0">
                <a:latin typeface="Cambria"/>
                <a:cs typeface="Cambria"/>
              </a:rPr>
              <a:t>(</a:t>
            </a:r>
            <a:r>
              <a:rPr sz="2000" i="1" dirty="0">
                <a:latin typeface="Times New Roman"/>
                <a:cs typeface="Times New Roman"/>
              </a:rPr>
              <a:t>R</a:t>
            </a:r>
            <a:r>
              <a:rPr sz="2100" i="1" baseline="-19841" dirty="0">
                <a:latin typeface="Times New Roman"/>
                <a:cs typeface="Times New Roman"/>
              </a:rPr>
              <a:t>t</a:t>
            </a:r>
            <a:r>
              <a:rPr sz="2100" baseline="-19841" dirty="0">
                <a:latin typeface="Cambria"/>
                <a:cs typeface="Cambria"/>
              </a:rPr>
              <a:t>+1</a:t>
            </a:r>
            <a:r>
              <a:rPr sz="2100" spc="142" baseline="-19841" dirty="0">
                <a:latin typeface="Cambria"/>
                <a:cs typeface="Cambria"/>
              </a:rPr>
              <a:t> </a:t>
            </a:r>
            <a:r>
              <a:rPr sz="2000" spc="250" dirty="0">
                <a:latin typeface="Cambria"/>
                <a:cs typeface="Cambria"/>
              </a:rPr>
              <a:t>+</a:t>
            </a:r>
            <a:r>
              <a:rPr sz="2000" spc="-35" dirty="0">
                <a:latin typeface="Cambria"/>
                <a:cs typeface="Cambria"/>
              </a:rPr>
              <a:t> </a:t>
            </a:r>
            <a:r>
              <a:rPr sz="2000" i="1" spc="-35" dirty="0">
                <a:latin typeface="Arial"/>
                <a:cs typeface="Arial"/>
              </a:rPr>
              <a:t>γ</a:t>
            </a:r>
            <a:r>
              <a:rPr sz="2000" i="1" spc="-35" dirty="0">
                <a:latin typeface="Times New Roman"/>
                <a:cs typeface="Times New Roman"/>
              </a:rPr>
              <a:t>V</a:t>
            </a:r>
            <a:r>
              <a:rPr sz="2000" spc="-35" dirty="0">
                <a:latin typeface="Cambria"/>
                <a:cs typeface="Cambria"/>
              </a:rPr>
              <a:t>(</a:t>
            </a:r>
            <a:r>
              <a:rPr sz="2000" i="1" spc="-35" dirty="0">
                <a:latin typeface="Times New Roman"/>
                <a:cs typeface="Times New Roman"/>
              </a:rPr>
              <a:t>S</a:t>
            </a:r>
            <a:r>
              <a:rPr sz="2100" i="1" spc="-52" baseline="-19841" dirty="0">
                <a:latin typeface="Times New Roman"/>
                <a:cs typeface="Times New Roman"/>
              </a:rPr>
              <a:t>t</a:t>
            </a:r>
            <a:r>
              <a:rPr sz="2100" spc="-52" baseline="-19841" dirty="0">
                <a:latin typeface="Cambria"/>
                <a:cs typeface="Cambria"/>
              </a:rPr>
              <a:t>+1</a:t>
            </a:r>
            <a:r>
              <a:rPr sz="2000" spc="-35" dirty="0">
                <a:latin typeface="Cambria"/>
                <a:cs typeface="Cambria"/>
              </a:rPr>
              <a:t>) </a:t>
            </a:r>
            <a:r>
              <a:rPr sz="2000" spc="250" dirty="0">
                <a:latin typeface="Cambria"/>
                <a:cs typeface="Cambria"/>
              </a:rPr>
              <a:t>−</a:t>
            </a:r>
            <a:r>
              <a:rPr sz="2000" spc="-35" dirty="0">
                <a:latin typeface="Cambria"/>
                <a:cs typeface="Cambria"/>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endParaRPr sz="2000" dirty="0">
              <a:latin typeface="Cambria"/>
              <a:cs typeface="Cambria"/>
            </a:endParaRPr>
          </a:p>
        </p:txBody>
      </p:sp>
      <p:sp>
        <p:nvSpPr>
          <p:cNvPr id="4" name="object 4"/>
          <p:cNvSpPr txBox="1"/>
          <p:nvPr/>
        </p:nvSpPr>
        <p:spPr>
          <a:xfrm>
            <a:off x="364596" y="5848358"/>
            <a:ext cx="5251450" cy="633730"/>
          </a:xfrm>
          <a:prstGeom prst="rect">
            <a:avLst/>
          </a:prstGeom>
        </p:spPr>
        <p:txBody>
          <a:bodyPr vert="horz" wrap="square" lIns="0" tIns="12065" rIns="0" bIns="0" rtlCol="0">
            <a:spAutoFit/>
          </a:bodyPr>
          <a:lstStyle/>
          <a:p>
            <a:pPr marL="266065" indent="-227965">
              <a:lnSpc>
                <a:spcPts val="2395"/>
              </a:lnSpc>
              <a:spcBef>
                <a:spcPts val="95"/>
              </a:spcBef>
              <a:buSzPct val="95000"/>
              <a:buFont typeface="Gill Sans MT"/>
              <a:buChar char="•"/>
              <a:tabLst>
                <a:tab pos="266065" algn="l"/>
                <a:tab pos="266700" algn="l"/>
              </a:tabLst>
            </a:pPr>
            <a:r>
              <a:rPr sz="2000" i="1" dirty="0">
                <a:latin typeface="Times New Roman"/>
                <a:cs typeface="Times New Roman"/>
              </a:rPr>
              <a:t>R</a:t>
            </a:r>
            <a:r>
              <a:rPr sz="2100" i="1" baseline="-19841" dirty="0">
                <a:latin typeface="Times New Roman"/>
                <a:cs typeface="Times New Roman"/>
              </a:rPr>
              <a:t>t</a:t>
            </a:r>
            <a:r>
              <a:rPr sz="2100" baseline="-19841" dirty="0">
                <a:latin typeface="Cambria"/>
                <a:cs typeface="Cambria"/>
              </a:rPr>
              <a:t>+1</a:t>
            </a:r>
            <a:r>
              <a:rPr sz="2100" spc="157" baseline="-19841" dirty="0">
                <a:latin typeface="Cambria"/>
                <a:cs typeface="Cambria"/>
              </a:rPr>
              <a:t> </a:t>
            </a:r>
            <a:r>
              <a:rPr sz="2000" spc="250" dirty="0">
                <a:latin typeface="Cambria"/>
                <a:cs typeface="Cambria"/>
              </a:rPr>
              <a:t>+</a:t>
            </a:r>
            <a:r>
              <a:rPr sz="2000" spc="-15" dirty="0">
                <a:latin typeface="Cambria"/>
                <a:cs typeface="Cambria"/>
              </a:rPr>
              <a:t> </a:t>
            </a:r>
            <a:r>
              <a:rPr sz="2000" i="1" spc="-25" dirty="0">
                <a:latin typeface="Arial"/>
                <a:cs typeface="Arial"/>
              </a:rPr>
              <a:t>γ</a:t>
            </a:r>
            <a:r>
              <a:rPr sz="2000" i="1" spc="-25" dirty="0">
                <a:latin typeface="Times New Roman"/>
                <a:cs typeface="Times New Roman"/>
              </a:rPr>
              <a:t>V</a:t>
            </a:r>
            <a:r>
              <a:rPr sz="2000" spc="-25" dirty="0">
                <a:latin typeface="Cambria"/>
                <a:cs typeface="Cambria"/>
              </a:rPr>
              <a:t>(</a:t>
            </a:r>
            <a:r>
              <a:rPr sz="2000" i="1" spc="-25" dirty="0">
                <a:latin typeface="Times New Roman"/>
                <a:cs typeface="Times New Roman"/>
              </a:rPr>
              <a:t>S</a:t>
            </a:r>
            <a:r>
              <a:rPr sz="2100" i="1" spc="-37" baseline="-19841" dirty="0">
                <a:latin typeface="Times New Roman"/>
                <a:cs typeface="Times New Roman"/>
              </a:rPr>
              <a:t>t</a:t>
            </a:r>
            <a:r>
              <a:rPr sz="2100" spc="-37" baseline="-19841" dirty="0">
                <a:latin typeface="Cambria"/>
                <a:cs typeface="Cambria"/>
              </a:rPr>
              <a:t>+1</a:t>
            </a:r>
            <a:r>
              <a:rPr sz="2000" spc="-25" dirty="0">
                <a:latin typeface="Cambria"/>
                <a:cs typeface="Cambria"/>
              </a:rPr>
              <a:t>)</a:t>
            </a:r>
            <a:r>
              <a:rPr sz="2000" spc="70" dirty="0">
                <a:latin typeface="Cambria"/>
                <a:cs typeface="Cambria"/>
              </a:rPr>
              <a:t> </a:t>
            </a:r>
            <a:r>
              <a:rPr sz="1900" dirty="0">
                <a:latin typeface="Gill Sans MT"/>
                <a:cs typeface="Gill Sans MT"/>
              </a:rPr>
              <a:t>is</a:t>
            </a:r>
            <a:r>
              <a:rPr sz="1900" spc="-20" dirty="0">
                <a:latin typeface="Gill Sans MT"/>
                <a:cs typeface="Gill Sans MT"/>
              </a:rPr>
              <a:t> </a:t>
            </a:r>
            <a:r>
              <a:rPr sz="1900" dirty="0">
                <a:latin typeface="Gill Sans MT"/>
                <a:cs typeface="Gill Sans MT"/>
              </a:rPr>
              <a:t>called</a:t>
            </a:r>
            <a:r>
              <a:rPr sz="1900" spc="-20" dirty="0">
                <a:latin typeface="Gill Sans MT"/>
                <a:cs typeface="Gill Sans MT"/>
              </a:rPr>
              <a:t> </a:t>
            </a:r>
            <a:r>
              <a:rPr sz="1900" dirty="0">
                <a:latin typeface="Gill Sans MT"/>
                <a:cs typeface="Gill Sans MT"/>
              </a:rPr>
              <a:t>the</a:t>
            </a:r>
            <a:r>
              <a:rPr sz="1900" spc="-240" dirty="0">
                <a:latin typeface="Gill Sans MT"/>
                <a:cs typeface="Gill Sans MT"/>
              </a:rPr>
              <a:t> </a:t>
            </a:r>
            <a:r>
              <a:rPr sz="1900" dirty="0">
                <a:latin typeface="Gill Sans MT"/>
                <a:cs typeface="Gill Sans MT"/>
              </a:rPr>
              <a:t>TD</a:t>
            </a:r>
            <a:r>
              <a:rPr sz="1900" spc="-25" dirty="0">
                <a:latin typeface="Gill Sans MT"/>
                <a:cs typeface="Gill Sans MT"/>
              </a:rPr>
              <a:t> </a:t>
            </a:r>
            <a:r>
              <a:rPr sz="1900" spc="-10" dirty="0">
                <a:latin typeface="Gill Sans MT"/>
                <a:cs typeface="Gill Sans MT"/>
              </a:rPr>
              <a:t>target</a:t>
            </a:r>
            <a:endParaRPr sz="1900">
              <a:latin typeface="Gill Sans MT"/>
              <a:cs typeface="Gill Sans MT"/>
            </a:endParaRPr>
          </a:p>
          <a:p>
            <a:pPr marL="266065" indent="-227965">
              <a:lnSpc>
                <a:spcPts val="2395"/>
              </a:lnSpc>
              <a:buSzPct val="95000"/>
              <a:buFont typeface="Gill Sans MT"/>
              <a:buChar char="•"/>
              <a:tabLst>
                <a:tab pos="266065" algn="l"/>
                <a:tab pos="266700" algn="l"/>
              </a:tabLst>
            </a:pPr>
            <a:r>
              <a:rPr sz="2000" i="1" spc="-40" dirty="0">
                <a:latin typeface="Arial"/>
                <a:cs typeface="Arial"/>
              </a:rPr>
              <a:t>δ</a:t>
            </a:r>
            <a:r>
              <a:rPr sz="2100" i="1" spc="-60" baseline="-19841" dirty="0">
                <a:latin typeface="Times New Roman"/>
                <a:cs typeface="Times New Roman"/>
              </a:rPr>
              <a:t>t</a:t>
            </a:r>
            <a:r>
              <a:rPr sz="2100" i="1" spc="247" baseline="-19841" dirty="0">
                <a:latin typeface="Times New Roman"/>
                <a:cs typeface="Times New Roman"/>
              </a:rPr>
              <a:t> </a:t>
            </a:r>
            <a:r>
              <a:rPr sz="2000" spc="250" dirty="0">
                <a:latin typeface="Cambria"/>
                <a:cs typeface="Cambria"/>
              </a:rPr>
              <a:t>=</a:t>
            </a:r>
            <a:r>
              <a:rPr sz="2000" spc="70" dirty="0">
                <a:latin typeface="Cambria"/>
                <a:cs typeface="Cambria"/>
              </a:rPr>
              <a:t> </a:t>
            </a:r>
            <a:r>
              <a:rPr sz="2000" i="1" dirty="0">
                <a:latin typeface="Times New Roman"/>
                <a:cs typeface="Times New Roman"/>
              </a:rPr>
              <a:t>R</a:t>
            </a:r>
            <a:r>
              <a:rPr sz="2100" i="1" baseline="-19841" dirty="0">
                <a:latin typeface="Times New Roman"/>
                <a:cs typeface="Times New Roman"/>
              </a:rPr>
              <a:t>t</a:t>
            </a:r>
            <a:r>
              <a:rPr sz="2100" baseline="-19841" dirty="0">
                <a:latin typeface="Cambria"/>
                <a:cs typeface="Cambria"/>
              </a:rPr>
              <a:t>+1</a:t>
            </a:r>
            <a:r>
              <a:rPr sz="2100" spc="157" baseline="-19841" dirty="0">
                <a:latin typeface="Cambria"/>
                <a:cs typeface="Cambria"/>
              </a:rPr>
              <a:t> </a:t>
            </a:r>
            <a:r>
              <a:rPr sz="2000" spc="250" dirty="0">
                <a:latin typeface="Cambria"/>
                <a:cs typeface="Cambria"/>
              </a:rPr>
              <a:t>+</a:t>
            </a:r>
            <a:r>
              <a:rPr sz="2000" spc="-30" dirty="0">
                <a:latin typeface="Cambria"/>
                <a:cs typeface="Cambria"/>
              </a:rPr>
              <a:t> </a:t>
            </a:r>
            <a:r>
              <a:rPr sz="2000" i="1" spc="-35" dirty="0">
                <a:latin typeface="Arial"/>
                <a:cs typeface="Arial"/>
              </a:rPr>
              <a:t>γ</a:t>
            </a:r>
            <a:r>
              <a:rPr sz="2000" i="1" spc="-35" dirty="0">
                <a:latin typeface="Times New Roman"/>
                <a:cs typeface="Times New Roman"/>
              </a:rPr>
              <a:t>V</a:t>
            </a:r>
            <a:r>
              <a:rPr sz="2000" spc="-35" dirty="0">
                <a:latin typeface="Cambria"/>
                <a:cs typeface="Cambria"/>
              </a:rPr>
              <a:t>(</a:t>
            </a:r>
            <a:r>
              <a:rPr sz="2000" i="1" spc="-35" dirty="0">
                <a:latin typeface="Times New Roman"/>
                <a:cs typeface="Times New Roman"/>
              </a:rPr>
              <a:t>S</a:t>
            </a:r>
            <a:r>
              <a:rPr sz="2100" i="1" spc="-52" baseline="-19841" dirty="0">
                <a:latin typeface="Times New Roman"/>
                <a:cs typeface="Times New Roman"/>
              </a:rPr>
              <a:t>t</a:t>
            </a:r>
            <a:r>
              <a:rPr sz="2100" spc="-52" baseline="-19841" dirty="0">
                <a:latin typeface="Cambria"/>
                <a:cs typeface="Cambria"/>
              </a:rPr>
              <a:t>+1</a:t>
            </a:r>
            <a:r>
              <a:rPr sz="2000" spc="-35" dirty="0">
                <a:latin typeface="Cambria"/>
                <a:cs typeface="Cambria"/>
              </a:rPr>
              <a:t>) </a:t>
            </a:r>
            <a:r>
              <a:rPr sz="2000" spc="250" dirty="0">
                <a:latin typeface="Cambria"/>
                <a:cs typeface="Cambria"/>
              </a:rPr>
              <a:t>−</a:t>
            </a:r>
            <a:r>
              <a:rPr sz="2000" spc="-30" dirty="0">
                <a:latin typeface="Cambria"/>
                <a:cs typeface="Cambria"/>
              </a:rPr>
              <a:t> </a:t>
            </a:r>
            <a:r>
              <a:rPr sz="2000" i="1" spc="-10" dirty="0">
                <a:latin typeface="Times New Roman"/>
                <a:cs typeface="Times New Roman"/>
              </a:rPr>
              <a:t>V</a:t>
            </a:r>
            <a:r>
              <a:rPr sz="2000" spc="-10" dirty="0">
                <a:latin typeface="Cambria"/>
                <a:cs typeface="Cambria"/>
              </a:rPr>
              <a:t>(</a:t>
            </a:r>
            <a:r>
              <a:rPr sz="2000" i="1" spc="-10" dirty="0">
                <a:latin typeface="Times New Roman"/>
                <a:cs typeface="Times New Roman"/>
              </a:rPr>
              <a:t>S</a:t>
            </a:r>
            <a:r>
              <a:rPr sz="2100" i="1" spc="-15" baseline="-19841" dirty="0">
                <a:latin typeface="Times New Roman"/>
                <a:cs typeface="Times New Roman"/>
              </a:rPr>
              <a:t>t</a:t>
            </a:r>
            <a:r>
              <a:rPr sz="2000" spc="-10" dirty="0">
                <a:latin typeface="Cambria"/>
                <a:cs typeface="Cambria"/>
              </a:rPr>
              <a:t>)</a:t>
            </a:r>
            <a:r>
              <a:rPr sz="2000" spc="50" dirty="0">
                <a:latin typeface="Cambria"/>
                <a:cs typeface="Cambria"/>
              </a:rPr>
              <a:t> </a:t>
            </a:r>
            <a:r>
              <a:rPr sz="1900" dirty="0">
                <a:latin typeface="Gill Sans MT"/>
                <a:cs typeface="Gill Sans MT"/>
              </a:rPr>
              <a:t>is</a:t>
            </a:r>
            <a:r>
              <a:rPr sz="1900" spc="-40" dirty="0">
                <a:latin typeface="Gill Sans MT"/>
                <a:cs typeface="Gill Sans MT"/>
              </a:rPr>
              <a:t> </a:t>
            </a:r>
            <a:r>
              <a:rPr sz="1900" dirty="0">
                <a:latin typeface="Gill Sans MT"/>
                <a:cs typeface="Gill Sans MT"/>
              </a:rPr>
              <a:t>called</a:t>
            </a:r>
            <a:r>
              <a:rPr sz="1900" spc="-40" dirty="0">
                <a:latin typeface="Gill Sans MT"/>
                <a:cs typeface="Gill Sans MT"/>
              </a:rPr>
              <a:t> </a:t>
            </a:r>
            <a:r>
              <a:rPr sz="1900" dirty="0">
                <a:latin typeface="Gill Sans MT"/>
                <a:cs typeface="Gill Sans MT"/>
              </a:rPr>
              <a:t>the</a:t>
            </a:r>
            <a:r>
              <a:rPr sz="1900" spc="-240" dirty="0">
                <a:latin typeface="Gill Sans MT"/>
                <a:cs typeface="Gill Sans MT"/>
              </a:rPr>
              <a:t> </a:t>
            </a:r>
            <a:r>
              <a:rPr sz="1900" dirty="0">
                <a:latin typeface="Gill Sans MT"/>
                <a:cs typeface="Gill Sans MT"/>
              </a:rPr>
              <a:t>TD</a:t>
            </a:r>
            <a:r>
              <a:rPr sz="1900" spc="-45" dirty="0">
                <a:latin typeface="Gill Sans MT"/>
                <a:cs typeface="Gill Sans MT"/>
              </a:rPr>
              <a:t> </a:t>
            </a:r>
            <a:r>
              <a:rPr sz="1900" spc="-10" dirty="0">
                <a:latin typeface="Gill Sans MT"/>
                <a:cs typeface="Gill Sans MT"/>
              </a:rPr>
              <a:t>error</a:t>
            </a:r>
            <a:endParaRPr sz="1900">
              <a:latin typeface="Gill Sans MT"/>
              <a:cs typeface="Gill Sans MT"/>
            </a:endParaRPr>
          </a:p>
        </p:txBody>
      </p:sp>
      <p:sp>
        <p:nvSpPr>
          <p:cNvPr id="5" name="Date Placeholder 3">
            <a:extLst>
              <a:ext uri="{FF2B5EF4-FFF2-40B4-BE49-F238E27FC236}">
                <a16:creationId xmlns:a16="http://schemas.microsoft.com/office/drawing/2014/main" id="{3B790196-57C4-9E14-50E9-702846A33B23}"/>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FFD35EC5-51F8-DE82-97C3-FADA2156F82A}"/>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42CBCFFE-F518-BC0C-F1FD-7A827BE6B0A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25425">
              <a:lnSpc>
                <a:spcPct val="100000"/>
              </a:lnSpc>
              <a:spcBef>
                <a:spcPts val="100"/>
              </a:spcBef>
            </a:pPr>
            <a:r>
              <a:rPr spc="-120" dirty="0"/>
              <a:t>Advantages</a:t>
            </a:r>
            <a:r>
              <a:rPr spc="-150" dirty="0"/>
              <a:t> </a:t>
            </a:r>
            <a:r>
              <a:rPr spc="-45" dirty="0"/>
              <a:t>and</a:t>
            </a:r>
            <a:r>
              <a:rPr spc="-105" dirty="0"/>
              <a:t> </a:t>
            </a:r>
            <a:r>
              <a:rPr spc="-120" dirty="0"/>
              <a:t>Disadvantages</a:t>
            </a:r>
            <a:r>
              <a:rPr spc="-145" dirty="0"/>
              <a:t> </a:t>
            </a:r>
            <a:r>
              <a:rPr dirty="0"/>
              <a:t>of</a:t>
            </a:r>
            <a:r>
              <a:rPr spc="-20" dirty="0"/>
              <a:t> </a:t>
            </a:r>
            <a:r>
              <a:rPr dirty="0"/>
              <a:t>MC</a:t>
            </a:r>
            <a:r>
              <a:rPr spc="-25" dirty="0"/>
              <a:t> </a:t>
            </a:r>
            <a:r>
              <a:rPr dirty="0"/>
              <a:t>vs.</a:t>
            </a:r>
            <a:r>
              <a:rPr spc="145" dirty="0"/>
              <a:t> </a:t>
            </a:r>
            <a:r>
              <a:rPr spc="-25" dirty="0"/>
              <a:t>TD</a:t>
            </a:r>
          </a:p>
        </p:txBody>
      </p:sp>
      <p:sp>
        <p:nvSpPr>
          <p:cNvPr id="3" name="object 3"/>
          <p:cNvSpPr txBox="1"/>
          <p:nvPr/>
        </p:nvSpPr>
        <p:spPr>
          <a:xfrm>
            <a:off x="502663" y="1392021"/>
            <a:ext cx="8618220" cy="4846320"/>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700" dirty="0">
                <a:latin typeface="Gill Sans MT"/>
                <a:cs typeface="Gill Sans MT"/>
              </a:rPr>
              <a:t>TD</a:t>
            </a:r>
            <a:r>
              <a:rPr sz="2700" spc="-15" dirty="0">
                <a:latin typeface="Gill Sans MT"/>
                <a:cs typeface="Gill Sans MT"/>
              </a:rPr>
              <a:t> </a:t>
            </a:r>
            <a:r>
              <a:rPr sz="2700" dirty="0">
                <a:latin typeface="Gill Sans MT"/>
                <a:cs typeface="Gill Sans MT"/>
              </a:rPr>
              <a:t>can</a:t>
            </a:r>
            <a:r>
              <a:rPr sz="2700" spc="-10" dirty="0">
                <a:latin typeface="Gill Sans MT"/>
                <a:cs typeface="Gill Sans MT"/>
              </a:rPr>
              <a:t> </a:t>
            </a:r>
            <a:r>
              <a:rPr sz="2700" dirty="0">
                <a:latin typeface="Gill Sans MT"/>
                <a:cs typeface="Gill Sans MT"/>
              </a:rPr>
              <a:t>learn</a:t>
            </a:r>
            <a:r>
              <a:rPr sz="2700" spc="-5" dirty="0">
                <a:latin typeface="Gill Sans MT"/>
                <a:cs typeface="Gill Sans MT"/>
              </a:rPr>
              <a:t> </a:t>
            </a:r>
            <a:r>
              <a:rPr sz="2700" dirty="0">
                <a:latin typeface="Gill Sans MT"/>
                <a:cs typeface="Gill Sans MT"/>
              </a:rPr>
              <a:t>before</a:t>
            </a:r>
            <a:r>
              <a:rPr sz="2700" spc="-10" dirty="0">
                <a:latin typeface="Gill Sans MT"/>
                <a:cs typeface="Gill Sans MT"/>
              </a:rPr>
              <a:t> </a:t>
            </a:r>
            <a:r>
              <a:rPr sz="2700" dirty="0">
                <a:latin typeface="Gill Sans MT"/>
                <a:cs typeface="Gill Sans MT"/>
              </a:rPr>
              <a:t>and</a:t>
            </a:r>
            <a:r>
              <a:rPr sz="2700" spc="-10" dirty="0">
                <a:latin typeface="Gill Sans MT"/>
                <a:cs typeface="Gill Sans MT"/>
              </a:rPr>
              <a:t> </a:t>
            </a:r>
            <a:r>
              <a:rPr sz="2700" dirty="0">
                <a:latin typeface="Gill Sans MT"/>
                <a:cs typeface="Gill Sans MT"/>
              </a:rPr>
              <a:t>without</a:t>
            </a:r>
            <a:r>
              <a:rPr sz="2700" spc="-10" dirty="0">
                <a:latin typeface="Gill Sans MT"/>
                <a:cs typeface="Gill Sans MT"/>
              </a:rPr>
              <a:t> </a:t>
            </a:r>
            <a:r>
              <a:rPr sz="2700" dirty="0">
                <a:latin typeface="Gill Sans MT"/>
                <a:cs typeface="Gill Sans MT"/>
              </a:rPr>
              <a:t>the</a:t>
            </a:r>
            <a:r>
              <a:rPr sz="2700" spc="-5" dirty="0">
                <a:latin typeface="Gill Sans MT"/>
                <a:cs typeface="Gill Sans MT"/>
              </a:rPr>
              <a:t> </a:t>
            </a:r>
            <a:r>
              <a:rPr sz="2700" dirty="0">
                <a:latin typeface="Gill Sans MT"/>
                <a:cs typeface="Gill Sans MT"/>
              </a:rPr>
              <a:t>final</a:t>
            </a:r>
            <a:r>
              <a:rPr sz="2700" spc="-10" dirty="0">
                <a:latin typeface="Gill Sans MT"/>
                <a:cs typeface="Gill Sans MT"/>
              </a:rPr>
              <a:t> outcome</a:t>
            </a:r>
            <a:endParaRPr sz="2700">
              <a:latin typeface="Gill Sans MT"/>
              <a:cs typeface="Gill Sans MT"/>
            </a:endParaRPr>
          </a:p>
          <a:p>
            <a:pPr>
              <a:lnSpc>
                <a:spcPct val="100000"/>
              </a:lnSpc>
              <a:buFont typeface="Gill Sans MT"/>
              <a:buChar char="•"/>
            </a:pPr>
            <a:endParaRPr sz="3100">
              <a:latin typeface="Gill Sans MT"/>
              <a:cs typeface="Gill Sans MT"/>
            </a:endParaRPr>
          </a:p>
          <a:p>
            <a:pPr marL="241300" indent="-228600">
              <a:lnSpc>
                <a:spcPct val="100000"/>
              </a:lnSpc>
              <a:spcBef>
                <a:spcPts val="1845"/>
              </a:spcBef>
              <a:buChar char="•"/>
              <a:tabLst>
                <a:tab pos="241300" algn="l"/>
              </a:tabLst>
            </a:pPr>
            <a:r>
              <a:rPr sz="2700" dirty="0">
                <a:latin typeface="Gill Sans MT"/>
                <a:cs typeface="Gill Sans MT"/>
              </a:rPr>
              <a:t>TD</a:t>
            </a:r>
            <a:r>
              <a:rPr sz="2700" spc="-15" dirty="0">
                <a:latin typeface="Gill Sans MT"/>
                <a:cs typeface="Gill Sans MT"/>
              </a:rPr>
              <a:t> </a:t>
            </a:r>
            <a:r>
              <a:rPr sz="2700" dirty="0">
                <a:latin typeface="Gill Sans MT"/>
                <a:cs typeface="Gill Sans MT"/>
              </a:rPr>
              <a:t>can</a:t>
            </a:r>
            <a:r>
              <a:rPr sz="2700" spc="-10" dirty="0">
                <a:latin typeface="Gill Sans MT"/>
                <a:cs typeface="Gill Sans MT"/>
              </a:rPr>
              <a:t> </a:t>
            </a:r>
            <a:r>
              <a:rPr sz="2700" dirty="0">
                <a:latin typeface="Gill Sans MT"/>
                <a:cs typeface="Gill Sans MT"/>
              </a:rPr>
              <a:t>learn</a:t>
            </a:r>
            <a:r>
              <a:rPr sz="2700" spc="-5" dirty="0">
                <a:latin typeface="Gill Sans MT"/>
                <a:cs typeface="Gill Sans MT"/>
              </a:rPr>
              <a:t> </a:t>
            </a:r>
            <a:r>
              <a:rPr sz="2700" dirty="0">
                <a:latin typeface="Gill Sans MT"/>
                <a:cs typeface="Gill Sans MT"/>
              </a:rPr>
              <a:t>online</a:t>
            </a:r>
            <a:r>
              <a:rPr sz="2700" spc="-15" dirty="0">
                <a:latin typeface="Gill Sans MT"/>
                <a:cs typeface="Gill Sans MT"/>
              </a:rPr>
              <a:t> </a:t>
            </a:r>
            <a:r>
              <a:rPr sz="2700" dirty="0">
                <a:latin typeface="Gill Sans MT"/>
                <a:cs typeface="Gill Sans MT"/>
              </a:rPr>
              <a:t>after</a:t>
            </a:r>
            <a:r>
              <a:rPr sz="2700" spc="-10" dirty="0">
                <a:latin typeface="Gill Sans MT"/>
                <a:cs typeface="Gill Sans MT"/>
              </a:rPr>
              <a:t> </a:t>
            </a:r>
            <a:r>
              <a:rPr sz="2700" dirty="0">
                <a:latin typeface="Gill Sans MT"/>
                <a:cs typeface="Gill Sans MT"/>
              </a:rPr>
              <a:t>every</a:t>
            </a:r>
            <a:r>
              <a:rPr sz="2700" spc="-5" dirty="0">
                <a:latin typeface="Gill Sans MT"/>
                <a:cs typeface="Gill Sans MT"/>
              </a:rPr>
              <a:t> </a:t>
            </a:r>
            <a:r>
              <a:rPr sz="2700" spc="-20" dirty="0">
                <a:latin typeface="Gill Sans MT"/>
                <a:cs typeface="Gill Sans MT"/>
              </a:rPr>
              <a:t>step</a:t>
            </a:r>
            <a:endParaRPr sz="2700">
              <a:latin typeface="Gill Sans MT"/>
              <a:cs typeface="Gill Sans MT"/>
            </a:endParaRPr>
          </a:p>
          <a:p>
            <a:pPr marL="241300" indent="-228600">
              <a:lnSpc>
                <a:spcPct val="100000"/>
              </a:lnSpc>
              <a:spcBef>
                <a:spcPts val="1100"/>
              </a:spcBef>
              <a:buChar char="•"/>
              <a:tabLst>
                <a:tab pos="241300" algn="l"/>
              </a:tabLst>
            </a:pPr>
            <a:r>
              <a:rPr sz="2700" dirty="0">
                <a:latin typeface="Gill Sans MT"/>
                <a:cs typeface="Gill Sans MT"/>
              </a:rPr>
              <a:t>MC</a:t>
            </a:r>
            <a:r>
              <a:rPr sz="2700" spc="-35" dirty="0">
                <a:latin typeface="Gill Sans MT"/>
                <a:cs typeface="Gill Sans MT"/>
              </a:rPr>
              <a:t> </a:t>
            </a:r>
            <a:r>
              <a:rPr sz="2700" dirty="0">
                <a:latin typeface="Gill Sans MT"/>
                <a:cs typeface="Gill Sans MT"/>
              </a:rPr>
              <a:t>must</a:t>
            </a:r>
            <a:r>
              <a:rPr sz="2700" spc="-25" dirty="0">
                <a:latin typeface="Gill Sans MT"/>
                <a:cs typeface="Gill Sans MT"/>
              </a:rPr>
              <a:t> </a:t>
            </a:r>
            <a:r>
              <a:rPr sz="2700" dirty="0">
                <a:latin typeface="Gill Sans MT"/>
                <a:cs typeface="Gill Sans MT"/>
              </a:rPr>
              <a:t>wait</a:t>
            </a:r>
            <a:r>
              <a:rPr sz="2700" spc="-25" dirty="0">
                <a:latin typeface="Gill Sans MT"/>
                <a:cs typeface="Gill Sans MT"/>
              </a:rPr>
              <a:t> </a:t>
            </a:r>
            <a:r>
              <a:rPr sz="2700" dirty="0">
                <a:latin typeface="Gill Sans MT"/>
                <a:cs typeface="Gill Sans MT"/>
              </a:rPr>
              <a:t>until</a:t>
            </a:r>
            <a:r>
              <a:rPr sz="2700" spc="-25" dirty="0">
                <a:latin typeface="Gill Sans MT"/>
                <a:cs typeface="Gill Sans MT"/>
              </a:rPr>
              <a:t> </a:t>
            </a:r>
            <a:r>
              <a:rPr sz="2700" dirty="0">
                <a:latin typeface="Gill Sans MT"/>
                <a:cs typeface="Gill Sans MT"/>
              </a:rPr>
              <a:t>end</a:t>
            </a:r>
            <a:r>
              <a:rPr sz="2700" spc="-20" dirty="0">
                <a:latin typeface="Gill Sans MT"/>
                <a:cs typeface="Gill Sans MT"/>
              </a:rPr>
              <a:t> </a:t>
            </a:r>
            <a:r>
              <a:rPr sz="2700" dirty="0">
                <a:latin typeface="Gill Sans MT"/>
                <a:cs typeface="Gill Sans MT"/>
              </a:rPr>
              <a:t>of</a:t>
            </a:r>
            <a:r>
              <a:rPr sz="2700" spc="-25" dirty="0">
                <a:latin typeface="Gill Sans MT"/>
                <a:cs typeface="Gill Sans MT"/>
              </a:rPr>
              <a:t> </a:t>
            </a:r>
            <a:r>
              <a:rPr sz="2700" dirty="0">
                <a:latin typeface="Gill Sans MT"/>
                <a:cs typeface="Gill Sans MT"/>
              </a:rPr>
              <a:t>episode</a:t>
            </a:r>
            <a:r>
              <a:rPr sz="2700" spc="-25" dirty="0">
                <a:latin typeface="Gill Sans MT"/>
                <a:cs typeface="Gill Sans MT"/>
              </a:rPr>
              <a:t> </a:t>
            </a:r>
            <a:r>
              <a:rPr sz="2700" dirty="0">
                <a:latin typeface="Gill Sans MT"/>
                <a:cs typeface="Gill Sans MT"/>
              </a:rPr>
              <a:t>before</a:t>
            </a:r>
            <a:r>
              <a:rPr sz="2700" spc="-25" dirty="0">
                <a:latin typeface="Gill Sans MT"/>
                <a:cs typeface="Gill Sans MT"/>
              </a:rPr>
              <a:t> </a:t>
            </a:r>
            <a:r>
              <a:rPr sz="2700" dirty="0">
                <a:latin typeface="Gill Sans MT"/>
                <a:cs typeface="Gill Sans MT"/>
              </a:rPr>
              <a:t>return</a:t>
            </a:r>
            <a:r>
              <a:rPr sz="2700" spc="-25" dirty="0">
                <a:latin typeface="Gill Sans MT"/>
                <a:cs typeface="Gill Sans MT"/>
              </a:rPr>
              <a:t> </a:t>
            </a:r>
            <a:r>
              <a:rPr sz="2700" dirty="0">
                <a:latin typeface="Gill Sans MT"/>
                <a:cs typeface="Gill Sans MT"/>
              </a:rPr>
              <a:t>is</a:t>
            </a:r>
            <a:r>
              <a:rPr sz="2700" spc="-15" dirty="0">
                <a:latin typeface="Gill Sans MT"/>
                <a:cs typeface="Gill Sans MT"/>
              </a:rPr>
              <a:t> </a:t>
            </a:r>
            <a:r>
              <a:rPr sz="2700" spc="-10" dirty="0">
                <a:latin typeface="Gill Sans MT"/>
                <a:cs typeface="Gill Sans MT"/>
              </a:rPr>
              <a:t>known</a:t>
            </a:r>
            <a:endParaRPr sz="2700">
              <a:latin typeface="Gill Sans MT"/>
              <a:cs typeface="Gill Sans MT"/>
            </a:endParaRPr>
          </a:p>
          <a:p>
            <a:pPr>
              <a:lnSpc>
                <a:spcPct val="100000"/>
              </a:lnSpc>
              <a:spcBef>
                <a:spcPts val="45"/>
              </a:spcBef>
              <a:buFont typeface="Gill Sans MT"/>
              <a:buChar char="•"/>
            </a:pPr>
            <a:endParaRPr sz="3700">
              <a:latin typeface="Gill Sans MT"/>
              <a:cs typeface="Gill Sans MT"/>
            </a:endParaRPr>
          </a:p>
          <a:p>
            <a:pPr marL="241300" marR="5080" indent="-228600">
              <a:lnSpc>
                <a:spcPct val="134000"/>
              </a:lnSpc>
              <a:buChar char="•"/>
              <a:tabLst>
                <a:tab pos="241300" algn="l"/>
              </a:tabLst>
            </a:pPr>
            <a:r>
              <a:rPr sz="2700" dirty="0">
                <a:latin typeface="Gill Sans MT"/>
                <a:cs typeface="Gill Sans MT"/>
              </a:rPr>
              <a:t>TD</a:t>
            </a:r>
            <a:r>
              <a:rPr sz="2700" spc="-20" dirty="0">
                <a:latin typeface="Gill Sans MT"/>
                <a:cs typeface="Gill Sans MT"/>
              </a:rPr>
              <a:t> </a:t>
            </a:r>
            <a:r>
              <a:rPr sz="2700" dirty="0">
                <a:latin typeface="Gill Sans MT"/>
                <a:cs typeface="Gill Sans MT"/>
              </a:rPr>
              <a:t>can</a:t>
            </a:r>
            <a:r>
              <a:rPr sz="2700" spc="-20" dirty="0">
                <a:latin typeface="Gill Sans MT"/>
                <a:cs typeface="Gill Sans MT"/>
              </a:rPr>
              <a:t> </a:t>
            </a:r>
            <a:r>
              <a:rPr sz="2700" dirty="0">
                <a:latin typeface="Gill Sans MT"/>
                <a:cs typeface="Gill Sans MT"/>
              </a:rPr>
              <a:t>learn</a:t>
            </a:r>
            <a:r>
              <a:rPr sz="2700" spc="-15" dirty="0">
                <a:latin typeface="Gill Sans MT"/>
                <a:cs typeface="Gill Sans MT"/>
              </a:rPr>
              <a:t> </a:t>
            </a:r>
            <a:r>
              <a:rPr sz="2700" dirty="0">
                <a:latin typeface="Gill Sans MT"/>
                <a:cs typeface="Gill Sans MT"/>
              </a:rPr>
              <a:t>from</a:t>
            </a:r>
            <a:r>
              <a:rPr sz="2700" spc="-15" dirty="0">
                <a:latin typeface="Gill Sans MT"/>
                <a:cs typeface="Gill Sans MT"/>
              </a:rPr>
              <a:t> </a:t>
            </a:r>
            <a:r>
              <a:rPr sz="2700" dirty="0">
                <a:latin typeface="Gill Sans MT"/>
                <a:cs typeface="Gill Sans MT"/>
              </a:rPr>
              <a:t>incomplete</a:t>
            </a:r>
            <a:r>
              <a:rPr sz="2700" spc="-20" dirty="0">
                <a:latin typeface="Gill Sans MT"/>
                <a:cs typeface="Gill Sans MT"/>
              </a:rPr>
              <a:t> </a:t>
            </a:r>
            <a:r>
              <a:rPr sz="2700" dirty="0">
                <a:latin typeface="Gill Sans MT"/>
                <a:cs typeface="Gill Sans MT"/>
              </a:rPr>
              <a:t>sequences</a:t>
            </a:r>
            <a:r>
              <a:rPr sz="2700" spc="-20" dirty="0">
                <a:latin typeface="Gill Sans MT"/>
                <a:cs typeface="Gill Sans MT"/>
              </a:rPr>
              <a:t> </a:t>
            </a:r>
            <a:r>
              <a:rPr sz="2700" dirty="0">
                <a:latin typeface="Gill Sans MT"/>
                <a:cs typeface="Gill Sans MT"/>
              </a:rPr>
              <a:t>MC</a:t>
            </a:r>
            <a:r>
              <a:rPr sz="2700" spc="-20" dirty="0">
                <a:latin typeface="Gill Sans MT"/>
                <a:cs typeface="Gill Sans MT"/>
              </a:rPr>
              <a:t> </a:t>
            </a:r>
            <a:r>
              <a:rPr sz="2700" dirty="0">
                <a:latin typeface="Gill Sans MT"/>
                <a:cs typeface="Gill Sans MT"/>
              </a:rPr>
              <a:t>can</a:t>
            </a:r>
            <a:r>
              <a:rPr sz="2700" spc="-20" dirty="0">
                <a:latin typeface="Gill Sans MT"/>
                <a:cs typeface="Gill Sans MT"/>
              </a:rPr>
              <a:t> </a:t>
            </a:r>
            <a:r>
              <a:rPr sz="2700" dirty="0">
                <a:latin typeface="Gill Sans MT"/>
                <a:cs typeface="Gill Sans MT"/>
              </a:rPr>
              <a:t>only</a:t>
            </a:r>
            <a:r>
              <a:rPr sz="2700" spc="-10" dirty="0">
                <a:latin typeface="Gill Sans MT"/>
                <a:cs typeface="Gill Sans MT"/>
              </a:rPr>
              <a:t> learn </a:t>
            </a:r>
            <a:r>
              <a:rPr sz="2700" dirty="0">
                <a:latin typeface="Gill Sans MT"/>
                <a:cs typeface="Gill Sans MT"/>
              </a:rPr>
              <a:t>from</a:t>
            </a:r>
            <a:r>
              <a:rPr sz="2700" spc="-40" dirty="0">
                <a:latin typeface="Gill Sans MT"/>
                <a:cs typeface="Gill Sans MT"/>
              </a:rPr>
              <a:t> </a:t>
            </a:r>
            <a:r>
              <a:rPr sz="2700" dirty="0">
                <a:latin typeface="Gill Sans MT"/>
                <a:cs typeface="Gill Sans MT"/>
              </a:rPr>
              <a:t>complete</a:t>
            </a:r>
            <a:r>
              <a:rPr sz="2700" spc="-40" dirty="0">
                <a:latin typeface="Gill Sans MT"/>
                <a:cs typeface="Gill Sans MT"/>
              </a:rPr>
              <a:t> </a:t>
            </a:r>
            <a:r>
              <a:rPr sz="2700" spc="-10" dirty="0">
                <a:latin typeface="Gill Sans MT"/>
                <a:cs typeface="Gill Sans MT"/>
              </a:rPr>
              <a:t>sequences</a:t>
            </a:r>
            <a:endParaRPr sz="2700">
              <a:latin typeface="Gill Sans MT"/>
              <a:cs typeface="Gill Sans MT"/>
            </a:endParaRPr>
          </a:p>
          <a:p>
            <a:pPr marL="241300" indent="-228600">
              <a:lnSpc>
                <a:spcPct val="100000"/>
              </a:lnSpc>
              <a:spcBef>
                <a:spcPts val="1100"/>
              </a:spcBef>
              <a:buChar char="•"/>
              <a:tabLst>
                <a:tab pos="241300" algn="l"/>
              </a:tabLst>
            </a:pPr>
            <a:r>
              <a:rPr sz="2700" dirty="0">
                <a:latin typeface="Gill Sans MT"/>
                <a:cs typeface="Gill Sans MT"/>
              </a:rPr>
              <a:t>TD</a:t>
            </a:r>
            <a:r>
              <a:rPr sz="2700" spc="-30" dirty="0">
                <a:latin typeface="Gill Sans MT"/>
                <a:cs typeface="Gill Sans MT"/>
              </a:rPr>
              <a:t> </a:t>
            </a:r>
            <a:r>
              <a:rPr sz="2700" dirty="0">
                <a:latin typeface="Gill Sans MT"/>
                <a:cs typeface="Gill Sans MT"/>
              </a:rPr>
              <a:t>works</a:t>
            </a:r>
            <a:r>
              <a:rPr sz="2700" spc="-20" dirty="0">
                <a:latin typeface="Gill Sans MT"/>
                <a:cs typeface="Gill Sans MT"/>
              </a:rPr>
              <a:t> </a:t>
            </a:r>
            <a:r>
              <a:rPr sz="2700" dirty="0">
                <a:latin typeface="Gill Sans MT"/>
                <a:cs typeface="Gill Sans MT"/>
              </a:rPr>
              <a:t>in</a:t>
            </a:r>
            <a:r>
              <a:rPr sz="2700" spc="-15" dirty="0">
                <a:latin typeface="Gill Sans MT"/>
                <a:cs typeface="Gill Sans MT"/>
              </a:rPr>
              <a:t> </a:t>
            </a:r>
            <a:r>
              <a:rPr sz="2700" dirty="0">
                <a:latin typeface="Gill Sans MT"/>
                <a:cs typeface="Gill Sans MT"/>
              </a:rPr>
              <a:t>continuing</a:t>
            </a:r>
            <a:r>
              <a:rPr sz="2700" spc="-20" dirty="0">
                <a:latin typeface="Gill Sans MT"/>
                <a:cs typeface="Gill Sans MT"/>
              </a:rPr>
              <a:t> </a:t>
            </a:r>
            <a:r>
              <a:rPr sz="2700" spc="-10" dirty="0">
                <a:latin typeface="Gill Sans MT"/>
                <a:cs typeface="Gill Sans MT"/>
              </a:rPr>
              <a:t>(non-</a:t>
            </a:r>
            <a:r>
              <a:rPr sz="2700" dirty="0">
                <a:latin typeface="Gill Sans MT"/>
                <a:cs typeface="Gill Sans MT"/>
              </a:rPr>
              <a:t>terminating)</a:t>
            </a:r>
            <a:r>
              <a:rPr sz="2700" spc="-15" dirty="0">
                <a:latin typeface="Gill Sans MT"/>
                <a:cs typeface="Gill Sans MT"/>
              </a:rPr>
              <a:t> </a:t>
            </a:r>
            <a:r>
              <a:rPr sz="2700" spc="-10" dirty="0">
                <a:latin typeface="Gill Sans MT"/>
                <a:cs typeface="Gill Sans MT"/>
              </a:rPr>
              <a:t>environments</a:t>
            </a:r>
            <a:endParaRPr sz="2700">
              <a:latin typeface="Gill Sans MT"/>
              <a:cs typeface="Gill Sans MT"/>
            </a:endParaRPr>
          </a:p>
          <a:p>
            <a:pPr marL="241300" indent="-228600">
              <a:lnSpc>
                <a:spcPct val="100000"/>
              </a:lnSpc>
              <a:spcBef>
                <a:spcPts val="1100"/>
              </a:spcBef>
              <a:buChar char="•"/>
              <a:tabLst>
                <a:tab pos="241300" algn="l"/>
              </a:tabLst>
            </a:pPr>
            <a:r>
              <a:rPr sz="2700" dirty="0">
                <a:latin typeface="Gill Sans MT"/>
                <a:cs typeface="Gill Sans MT"/>
              </a:rPr>
              <a:t>MC</a:t>
            </a:r>
            <a:r>
              <a:rPr sz="2700" spc="-30" dirty="0">
                <a:latin typeface="Gill Sans MT"/>
                <a:cs typeface="Gill Sans MT"/>
              </a:rPr>
              <a:t> </a:t>
            </a:r>
            <a:r>
              <a:rPr sz="2700" dirty="0">
                <a:latin typeface="Gill Sans MT"/>
                <a:cs typeface="Gill Sans MT"/>
              </a:rPr>
              <a:t>only</a:t>
            </a:r>
            <a:r>
              <a:rPr sz="2700" spc="-20" dirty="0">
                <a:latin typeface="Gill Sans MT"/>
                <a:cs typeface="Gill Sans MT"/>
              </a:rPr>
              <a:t> </a:t>
            </a:r>
            <a:r>
              <a:rPr sz="2700" dirty="0">
                <a:latin typeface="Gill Sans MT"/>
                <a:cs typeface="Gill Sans MT"/>
              </a:rPr>
              <a:t>works</a:t>
            </a:r>
            <a:r>
              <a:rPr sz="2700" spc="-30" dirty="0">
                <a:latin typeface="Gill Sans MT"/>
                <a:cs typeface="Gill Sans MT"/>
              </a:rPr>
              <a:t> </a:t>
            </a:r>
            <a:r>
              <a:rPr sz="2700" dirty="0">
                <a:latin typeface="Gill Sans MT"/>
                <a:cs typeface="Gill Sans MT"/>
              </a:rPr>
              <a:t>for</a:t>
            </a:r>
            <a:r>
              <a:rPr sz="2700" spc="-20" dirty="0">
                <a:latin typeface="Gill Sans MT"/>
                <a:cs typeface="Gill Sans MT"/>
              </a:rPr>
              <a:t> </a:t>
            </a:r>
            <a:r>
              <a:rPr sz="2700" dirty="0">
                <a:latin typeface="Gill Sans MT"/>
                <a:cs typeface="Gill Sans MT"/>
              </a:rPr>
              <a:t>episodic</a:t>
            </a:r>
            <a:r>
              <a:rPr sz="2700" spc="-25" dirty="0">
                <a:latin typeface="Gill Sans MT"/>
                <a:cs typeface="Gill Sans MT"/>
              </a:rPr>
              <a:t> </a:t>
            </a:r>
            <a:r>
              <a:rPr sz="2700" dirty="0">
                <a:latin typeface="Gill Sans MT"/>
                <a:cs typeface="Gill Sans MT"/>
              </a:rPr>
              <a:t>(terminating)</a:t>
            </a:r>
            <a:r>
              <a:rPr sz="2700" spc="-25" dirty="0">
                <a:latin typeface="Gill Sans MT"/>
                <a:cs typeface="Gill Sans MT"/>
              </a:rPr>
              <a:t> </a:t>
            </a:r>
            <a:r>
              <a:rPr sz="2700" spc="-10" dirty="0">
                <a:latin typeface="Gill Sans MT"/>
                <a:cs typeface="Gill Sans MT"/>
              </a:rPr>
              <a:t>environments</a:t>
            </a:r>
            <a:endParaRPr sz="2700">
              <a:latin typeface="Gill Sans MT"/>
              <a:cs typeface="Gill Sans MT"/>
            </a:endParaRPr>
          </a:p>
        </p:txBody>
      </p:sp>
      <p:sp>
        <p:nvSpPr>
          <p:cNvPr id="4" name="Date Placeholder 3">
            <a:extLst>
              <a:ext uri="{FF2B5EF4-FFF2-40B4-BE49-F238E27FC236}">
                <a16:creationId xmlns:a16="http://schemas.microsoft.com/office/drawing/2014/main" id="{D2737ED9-AC12-59B9-66BB-1668AC188C9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A2179C5-C6B4-0DCE-F40C-3C8E7DF0E9F7}"/>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B83BC42-467B-8876-24D6-3BA0461DF000}"/>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30275"/>
            <a:ext cx="9144000" cy="5927725"/>
            <a:chOff x="0" y="930275"/>
            <a:chExt cx="9144000" cy="5927725"/>
          </a:xfrm>
        </p:grpSpPr>
        <p:sp>
          <p:nvSpPr>
            <p:cNvPr id="3" name="object 3"/>
            <p:cNvSpPr/>
            <p:nvPr/>
          </p:nvSpPr>
          <p:spPr>
            <a:xfrm>
              <a:off x="0" y="1031785"/>
              <a:ext cx="9144000" cy="5826760"/>
            </a:xfrm>
            <a:custGeom>
              <a:avLst/>
              <a:gdLst/>
              <a:ahLst/>
              <a:cxnLst/>
              <a:rect l="l" t="t" r="r" b="b"/>
              <a:pathLst>
                <a:path w="9144000" h="5826759">
                  <a:moveTo>
                    <a:pt x="9144000" y="0"/>
                  </a:moveTo>
                  <a:lnTo>
                    <a:pt x="0" y="0"/>
                  </a:lnTo>
                  <a:lnTo>
                    <a:pt x="0" y="1445285"/>
                  </a:lnTo>
                  <a:lnTo>
                    <a:pt x="0" y="5015979"/>
                  </a:lnTo>
                  <a:lnTo>
                    <a:pt x="0" y="5826214"/>
                  </a:lnTo>
                  <a:lnTo>
                    <a:pt x="3246031" y="5826214"/>
                  </a:lnTo>
                  <a:lnTo>
                    <a:pt x="3974655" y="5826214"/>
                  </a:lnTo>
                  <a:lnTo>
                    <a:pt x="9144000" y="5826214"/>
                  </a:lnTo>
                  <a:lnTo>
                    <a:pt x="9144000" y="3655707"/>
                  </a:lnTo>
                  <a:lnTo>
                    <a:pt x="9144000" y="0"/>
                  </a:lnTo>
                  <a:close/>
                </a:path>
              </a:pathLst>
            </a:custGeom>
            <a:solidFill>
              <a:srgbClr val="E7E7E7"/>
            </a:solidFill>
          </p:spPr>
          <p:txBody>
            <a:bodyPr wrap="square" lIns="0" tIns="0" rIns="0" bIns="0" rtlCol="0"/>
            <a:lstStyle/>
            <a:p>
              <a:endParaRPr/>
            </a:p>
          </p:txBody>
        </p:sp>
        <p:sp>
          <p:nvSpPr>
            <p:cNvPr id="4" name="object 4"/>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grpSp>
      <mc:AlternateContent xmlns:mc="http://schemas.openxmlformats.org/markup-compatibility/2006" xmlns:a14="http://schemas.microsoft.com/office/drawing/2010/main">
        <mc:Choice Requires="a14">
          <p:sp>
            <p:nvSpPr>
              <p:cNvPr id="5" name="object 5"/>
              <p:cNvSpPr txBox="1"/>
              <p:nvPr/>
            </p:nvSpPr>
            <p:spPr>
              <a:xfrm>
                <a:off x="511175" y="379468"/>
                <a:ext cx="7467600" cy="5475858"/>
              </a:xfrm>
              <a:prstGeom prst="rect">
                <a:avLst/>
              </a:prstGeom>
            </p:spPr>
            <p:txBody>
              <a:bodyPr vert="horz" wrap="square" lIns="0" tIns="12700" rIns="0" bIns="0" rtlCol="0">
                <a:spAutoFit/>
              </a:bodyPr>
              <a:lstStyle/>
              <a:p>
                <a:pPr marL="25400">
                  <a:lnSpc>
                    <a:spcPct val="100000"/>
                  </a:lnSpc>
                  <a:spcBef>
                    <a:spcPts val="100"/>
                  </a:spcBef>
                </a:pPr>
                <a:r>
                  <a:rPr sz="2600" spc="-120" dirty="0">
                    <a:latin typeface="Arial"/>
                    <a:cs typeface="Arial"/>
                  </a:rPr>
                  <a:t>Advantages</a:t>
                </a:r>
                <a:r>
                  <a:rPr sz="2600" spc="-160" dirty="0">
                    <a:latin typeface="Arial"/>
                    <a:cs typeface="Arial"/>
                  </a:rPr>
                  <a:t> </a:t>
                </a:r>
                <a:r>
                  <a:rPr sz="2600" spc="-45" dirty="0">
                    <a:latin typeface="Arial"/>
                    <a:cs typeface="Arial"/>
                  </a:rPr>
                  <a:t>and</a:t>
                </a:r>
                <a:r>
                  <a:rPr sz="2600" spc="-110" dirty="0">
                    <a:latin typeface="Arial"/>
                    <a:cs typeface="Arial"/>
                  </a:rPr>
                  <a:t> </a:t>
                </a:r>
                <a:r>
                  <a:rPr sz="2600" spc="-120" dirty="0">
                    <a:latin typeface="Arial"/>
                    <a:cs typeface="Arial"/>
                  </a:rPr>
                  <a:t>Disadvantages</a:t>
                </a:r>
                <a:r>
                  <a:rPr sz="2600" spc="-155" dirty="0">
                    <a:latin typeface="Arial"/>
                    <a:cs typeface="Arial"/>
                  </a:rPr>
                  <a:t> </a:t>
                </a:r>
                <a:r>
                  <a:rPr sz="2600" dirty="0">
                    <a:latin typeface="Arial"/>
                    <a:cs typeface="Arial"/>
                  </a:rPr>
                  <a:t>of</a:t>
                </a:r>
                <a:r>
                  <a:rPr sz="2600" spc="-25" dirty="0">
                    <a:latin typeface="Arial"/>
                    <a:cs typeface="Arial"/>
                  </a:rPr>
                  <a:t> </a:t>
                </a:r>
                <a:r>
                  <a:rPr sz="2600" dirty="0">
                    <a:latin typeface="Arial"/>
                    <a:cs typeface="Arial"/>
                  </a:rPr>
                  <a:t>MC</a:t>
                </a:r>
                <a:r>
                  <a:rPr sz="2600" spc="-35" dirty="0">
                    <a:latin typeface="Arial"/>
                    <a:cs typeface="Arial"/>
                  </a:rPr>
                  <a:t> </a:t>
                </a:r>
                <a:r>
                  <a:rPr sz="2600" dirty="0">
                    <a:latin typeface="Arial"/>
                    <a:cs typeface="Arial"/>
                  </a:rPr>
                  <a:t>vs.</a:t>
                </a:r>
                <a:r>
                  <a:rPr sz="2600" spc="130" dirty="0">
                    <a:latin typeface="Arial"/>
                    <a:cs typeface="Arial"/>
                  </a:rPr>
                  <a:t> </a:t>
                </a:r>
                <a:r>
                  <a:rPr sz="2600" dirty="0">
                    <a:latin typeface="Arial"/>
                    <a:cs typeface="Arial"/>
                  </a:rPr>
                  <a:t>TD</a:t>
                </a:r>
                <a:r>
                  <a:rPr sz="2600" spc="-90" dirty="0">
                    <a:latin typeface="Arial"/>
                    <a:cs typeface="Arial"/>
                  </a:rPr>
                  <a:t> </a:t>
                </a:r>
                <a:r>
                  <a:rPr sz="2600" spc="-20" dirty="0">
                    <a:latin typeface="Arial"/>
                    <a:cs typeface="Arial"/>
                  </a:rPr>
                  <a:t>(cont’d)</a:t>
                </a:r>
                <a:endParaRPr sz="2600" dirty="0">
                  <a:latin typeface="Arial"/>
                  <a:cs typeface="Arial"/>
                </a:endParaRPr>
              </a:p>
              <a:p>
                <a:pPr>
                  <a:lnSpc>
                    <a:spcPct val="100000"/>
                  </a:lnSpc>
                </a:pPr>
                <a:endParaRPr sz="2900" dirty="0">
                  <a:latin typeface="Arial"/>
                  <a:cs typeface="Arial"/>
                </a:endParaRPr>
              </a:p>
              <a:p>
                <a:pPr>
                  <a:lnSpc>
                    <a:spcPct val="100000"/>
                  </a:lnSpc>
                  <a:spcBef>
                    <a:spcPts val="50"/>
                  </a:spcBef>
                </a:pPr>
                <a:endParaRPr sz="2800" dirty="0">
                  <a:latin typeface="Arial"/>
                  <a:cs typeface="Arial"/>
                </a:endParaRPr>
              </a:p>
              <a:p>
                <a:pPr marL="228600" marR="2660650" indent="-228600" algn="r">
                  <a:lnSpc>
                    <a:spcPts val="3279"/>
                  </a:lnSpc>
                  <a:buChar char="•"/>
                  <a:tabLst>
                    <a:tab pos="228600" algn="l"/>
                  </a:tabLst>
                </a:pPr>
                <a:r>
                  <a:rPr sz="2800" dirty="0">
                    <a:solidFill>
                      <a:srgbClr val="C82506"/>
                    </a:solidFill>
                    <a:latin typeface="Gill Sans MT"/>
                    <a:cs typeface="Gill Sans MT"/>
                  </a:rPr>
                  <a:t>MC</a:t>
                </a:r>
                <a:r>
                  <a:rPr sz="2800" spc="-15" dirty="0">
                    <a:solidFill>
                      <a:srgbClr val="C82506"/>
                    </a:solidFill>
                    <a:latin typeface="Gill Sans MT"/>
                    <a:cs typeface="Gill Sans MT"/>
                  </a:rPr>
                  <a:t> </a:t>
                </a:r>
                <a:r>
                  <a:rPr sz="2800" dirty="0">
                    <a:solidFill>
                      <a:srgbClr val="C82506"/>
                    </a:solidFill>
                    <a:latin typeface="Gill Sans MT"/>
                    <a:cs typeface="Gill Sans MT"/>
                  </a:rPr>
                  <a:t>has</a:t>
                </a:r>
                <a:r>
                  <a:rPr sz="2800" spc="-5" dirty="0">
                    <a:solidFill>
                      <a:srgbClr val="C82506"/>
                    </a:solidFill>
                    <a:latin typeface="Gill Sans MT"/>
                    <a:cs typeface="Gill Sans MT"/>
                  </a:rPr>
                  <a:t> </a:t>
                </a:r>
                <a:r>
                  <a:rPr sz="2800" dirty="0">
                    <a:solidFill>
                      <a:srgbClr val="C82506"/>
                    </a:solidFill>
                    <a:latin typeface="Gill Sans MT"/>
                    <a:cs typeface="Gill Sans MT"/>
                  </a:rPr>
                  <a:t>high</a:t>
                </a:r>
                <a:r>
                  <a:rPr sz="2800" spc="-10" dirty="0">
                    <a:solidFill>
                      <a:srgbClr val="C82506"/>
                    </a:solidFill>
                    <a:latin typeface="Gill Sans MT"/>
                    <a:cs typeface="Gill Sans MT"/>
                  </a:rPr>
                  <a:t> </a:t>
                </a:r>
                <a:r>
                  <a:rPr sz="2800" dirty="0">
                    <a:solidFill>
                      <a:srgbClr val="C82506"/>
                    </a:solidFill>
                    <a:latin typeface="Gill Sans MT"/>
                    <a:cs typeface="Gill Sans MT"/>
                  </a:rPr>
                  <a:t>variance,</a:t>
                </a:r>
                <a:r>
                  <a:rPr sz="2800" spc="-285" dirty="0">
                    <a:solidFill>
                      <a:srgbClr val="C82506"/>
                    </a:solidFill>
                    <a:latin typeface="Gill Sans MT"/>
                    <a:cs typeface="Gill Sans MT"/>
                  </a:rPr>
                  <a:t> </a:t>
                </a:r>
                <a:r>
                  <a:rPr sz="2800" dirty="0">
                    <a:solidFill>
                      <a:srgbClr val="C82506"/>
                    </a:solidFill>
                    <a:latin typeface="Gill Sans MT"/>
                    <a:cs typeface="Gill Sans MT"/>
                  </a:rPr>
                  <a:t>zero</a:t>
                </a:r>
                <a:r>
                  <a:rPr sz="2800" spc="-5" dirty="0">
                    <a:solidFill>
                      <a:srgbClr val="C82506"/>
                    </a:solidFill>
                    <a:latin typeface="Gill Sans MT"/>
                    <a:cs typeface="Gill Sans MT"/>
                  </a:rPr>
                  <a:t> </a:t>
                </a:r>
                <a:r>
                  <a:rPr sz="2800" spc="-20" dirty="0">
                    <a:solidFill>
                      <a:srgbClr val="C82506"/>
                    </a:solidFill>
                    <a:latin typeface="Gill Sans MT"/>
                    <a:cs typeface="Gill Sans MT"/>
                  </a:rPr>
                  <a:t>bias</a:t>
                </a:r>
                <a:endParaRPr sz="2800" dirty="0">
                  <a:latin typeface="Gill Sans MT"/>
                  <a:cs typeface="Gill Sans MT"/>
                </a:endParaRPr>
              </a:p>
              <a:p>
                <a:pPr marL="228600" marR="2580005" lvl="1" indent="-228600" algn="r">
                  <a:lnSpc>
                    <a:spcPts val="3200"/>
                  </a:lnSpc>
                  <a:buChar char="•"/>
                  <a:tabLst>
                    <a:tab pos="228600" algn="l"/>
                  </a:tabLst>
                </a:pPr>
                <a:r>
                  <a:rPr sz="2800" dirty="0">
                    <a:latin typeface="Gill Sans MT"/>
                    <a:cs typeface="Gill Sans MT"/>
                  </a:rPr>
                  <a:t>good</a:t>
                </a:r>
                <a:r>
                  <a:rPr sz="2800" spc="-75" dirty="0">
                    <a:latin typeface="Gill Sans MT"/>
                    <a:cs typeface="Gill Sans MT"/>
                  </a:rPr>
                  <a:t> </a:t>
                </a:r>
                <a:r>
                  <a:rPr sz="2800" dirty="0">
                    <a:latin typeface="Gill Sans MT"/>
                    <a:cs typeface="Gill Sans MT"/>
                  </a:rPr>
                  <a:t>convergence</a:t>
                </a:r>
                <a:r>
                  <a:rPr sz="2800" spc="-75" dirty="0">
                    <a:latin typeface="Gill Sans MT"/>
                    <a:cs typeface="Gill Sans MT"/>
                  </a:rPr>
                  <a:t> </a:t>
                </a:r>
                <a:r>
                  <a:rPr sz="2800" spc="-10" dirty="0">
                    <a:latin typeface="Gill Sans MT"/>
                    <a:cs typeface="Gill Sans MT"/>
                  </a:rPr>
                  <a:t>properties</a:t>
                </a:r>
                <a:endParaRPr sz="2800" dirty="0">
                  <a:latin typeface="Gill Sans MT"/>
                  <a:cs typeface="Gill Sans MT"/>
                </a:endParaRPr>
              </a:p>
              <a:p>
                <a:pPr marL="643890" lvl="1" indent="-229235">
                  <a:lnSpc>
                    <a:spcPts val="3200"/>
                  </a:lnSpc>
                  <a:buChar char="•"/>
                  <a:tabLst>
                    <a:tab pos="644525" algn="l"/>
                  </a:tabLst>
                </a:pPr>
                <a:r>
                  <a:rPr sz="2800" dirty="0">
                    <a:latin typeface="Gill Sans MT"/>
                    <a:cs typeface="Gill Sans MT"/>
                  </a:rPr>
                  <a:t>not</a:t>
                </a:r>
                <a:r>
                  <a:rPr sz="2800" spc="-30" dirty="0">
                    <a:latin typeface="Gill Sans MT"/>
                    <a:cs typeface="Gill Sans MT"/>
                  </a:rPr>
                  <a:t> </a:t>
                </a:r>
                <a:r>
                  <a:rPr sz="2800" dirty="0">
                    <a:latin typeface="Gill Sans MT"/>
                    <a:cs typeface="Gill Sans MT"/>
                  </a:rPr>
                  <a:t>very</a:t>
                </a:r>
                <a:r>
                  <a:rPr sz="2800" spc="-10" dirty="0">
                    <a:latin typeface="Gill Sans MT"/>
                    <a:cs typeface="Gill Sans MT"/>
                  </a:rPr>
                  <a:t> </a:t>
                </a:r>
                <a:r>
                  <a:rPr sz="2800" dirty="0">
                    <a:latin typeface="Gill Sans MT"/>
                    <a:cs typeface="Gill Sans MT"/>
                  </a:rPr>
                  <a:t>sensitive</a:t>
                </a:r>
                <a:r>
                  <a:rPr sz="2800" spc="-20" dirty="0">
                    <a:latin typeface="Gill Sans MT"/>
                    <a:cs typeface="Gill Sans MT"/>
                  </a:rPr>
                  <a:t> </a:t>
                </a:r>
                <a:r>
                  <a:rPr sz="2800" dirty="0">
                    <a:latin typeface="Gill Sans MT"/>
                    <a:cs typeface="Gill Sans MT"/>
                  </a:rPr>
                  <a:t>to</a:t>
                </a:r>
                <a:r>
                  <a:rPr sz="2800" spc="-15" dirty="0">
                    <a:latin typeface="Gill Sans MT"/>
                    <a:cs typeface="Gill Sans MT"/>
                  </a:rPr>
                  <a:t> </a:t>
                </a:r>
                <a:r>
                  <a:rPr sz="2800" dirty="0">
                    <a:latin typeface="Gill Sans MT"/>
                    <a:cs typeface="Gill Sans MT"/>
                  </a:rPr>
                  <a:t>initial</a:t>
                </a:r>
                <a:r>
                  <a:rPr sz="2800" spc="-15" dirty="0">
                    <a:latin typeface="Gill Sans MT"/>
                    <a:cs typeface="Gill Sans MT"/>
                  </a:rPr>
                  <a:t> </a:t>
                </a:r>
                <a:r>
                  <a:rPr sz="2800" spc="-10" dirty="0">
                    <a:latin typeface="Gill Sans MT"/>
                    <a:cs typeface="Gill Sans MT"/>
                  </a:rPr>
                  <a:t>value</a:t>
                </a:r>
                <a:endParaRPr sz="2800" dirty="0">
                  <a:latin typeface="Gill Sans MT"/>
                  <a:cs typeface="Gill Sans MT"/>
                </a:endParaRPr>
              </a:p>
              <a:p>
                <a:pPr marL="643890" lvl="1" indent="-229235">
                  <a:lnSpc>
                    <a:spcPts val="3279"/>
                  </a:lnSpc>
                  <a:buChar char="•"/>
                  <a:tabLst>
                    <a:tab pos="644525" algn="l"/>
                  </a:tabLst>
                </a:pPr>
                <a:r>
                  <a:rPr sz="2800" dirty="0">
                    <a:latin typeface="Gill Sans MT"/>
                    <a:cs typeface="Gill Sans MT"/>
                  </a:rPr>
                  <a:t>very</a:t>
                </a:r>
                <a:r>
                  <a:rPr sz="2800" spc="-10" dirty="0">
                    <a:latin typeface="Gill Sans MT"/>
                    <a:cs typeface="Gill Sans MT"/>
                  </a:rPr>
                  <a:t> </a:t>
                </a:r>
                <a:r>
                  <a:rPr sz="2800" dirty="0">
                    <a:latin typeface="Gill Sans MT"/>
                    <a:cs typeface="Gill Sans MT"/>
                  </a:rPr>
                  <a:t>simple</a:t>
                </a:r>
                <a:r>
                  <a:rPr sz="2800" spc="-5" dirty="0">
                    <a:latin typeface="Gill Sans MT"/>
                    <a:cs typeface="Gill Sans MT"/>
                  </a:rPr>
                  <a:t> </a:t>
                </a:r>
                <a:r>
                  <a:rPr sz="2800" dirty="0">
                    <a:latin typeface="Gill Sans MT"/>
                    <a:cs typeface="Gill Sans MT"/>
                  </a:rPr>
                  <a:t>to</a:t>
                </a:r>
                <a:r>
                  <a:rPr sz="2800" spc="-5" dirty="0">
                    <a:latin typeface="Gill Sans MT"/>
                    <a:cs typeface="Gill Sans MT"/>
                  </a:rPr>
                  <a:t> </a:t>
                </a:r>
                <a:r>
                  <a:rPr sz="2800" dirty="0">
                    <a:latin typeface="Gill Sans MT"/>
                    <a:cs typeface="Gill Sans MT"/>
                  </a:rPr>
                  <a:t>understand</a:t>
                </a:r>
                <a:r>
                  <a:rPr sz="2800" spc="-5" dirty="0">
                    <a:latin typeface="Gill Sans MT"/>
                    <a:cs typeface="Gill Sans MT"/>
                  </a:rPr>
                  <a:t> </a:t>
                </a:r>
                <a:r>
                  <a:rPr sz="2800" dirty="0">
                    <a:latin typeface="Gill Sans MT"/>
                    <a:cs typeface="Gill Sans MT"/>
                  </a:rPr>
                  <a:t>and</a:t>
                </a:r>
                <a:r>
                  <a:rPr sz="2800" spc="-5" dirty="0">
                    <a:latin typeface="Gill Sans MT"/>
                    <a:cs typeface="Gill Sans MT"/>
                  </a:rPr>
                  <a:t> </a:t>
                </a:r>
                <a:r>
                  <a:rPr sz="2800" spc="-25" dirty="0">
                    <a:latin typeface="Gill Sans MT"/>
                    <a:cs typeface="Gill Sans MT"/>
                  </a:rPr>
                  <a:t>use</a:t>
                </a:r>
                <a:endParaRPr sz="2800" dirty="0">
                  <a:latin typeface="Gill Sans MT"/>
                  <a:cs typeface="Gill Sans MT"/>
                </a:endParaRPr>
              </a:p>
              <a:p>
                <a:pPr lvl="1">
                  <a:lnSpc>
                    <a:spcPct val="100000"/>
                  </a:lnSpc>
                  <a:buFont typeface="Gill Sans MT"/>
                  <a:buChar char="•"/>
                </a:pPr>
                <a:endParaRPr sz="3200" dirty="0">
                  <a:latin typeface="Gill Sans MT"/>
                  <a:cs typeface="Gill Sans MT"/>
                </a:endParaRPr>
              </a:p>
              <a:p>
                <a:pPr marL="300990" indent="-229235">
                  <a:lnSpc>
                    <a:spcPts val="3279"/>
                  </a:lnSpc>
                  <a:spcBef>
                    <a:spcPts val="2530"/>
                  </a:spcBef>
                  <a:buChar char="•"/>
                  <a:tabLst>
                    <a:tab pos="301625" algn="l"/>
                  </a:tabLst>
                </a:pPr>
                <a:r>
                  <a:rPr sz="2800" dirty="0">
                    <a:solidFill>
                      <a:srgbClr val="C82506"/>
                    </a:solidFill>
                    <a:latin typeface="Gill Sans MT"/>
                    <a:cs typeface="Gill Sans MT"/>
                  </a:rPr>
                  <a:t>TD</a:t>
                </a:r>
                <a:r>
                  <a:rPr sz="2800" spc="-15" dirty="0">
                    <a:solidFill>
                      <a:srgbClr val="C82506"/>
                    </a:solidFill>
                    <a:latin typeface="Gill Sans MT"/>
                    <a:cs typeface="Gill Sans MT"/>
                  </a:rPr>
                  <a:t> </a:t>
                </a:r>
                <a:r>
                  <a:rPr sz="2800" dirty="0">
                    <a:solidFill>
                      <a:srgbClr val="C82506"/>
                    </a:solidFill>
                    <a:latin typeface="Gill Sans MT"/>
                    <a:cs typeface="Gill Sans MT"/>
                  </a:rPr>
                  <a:t>has low variance,</a:t>
                </a:r>
                <a:r>
                  <a:rPr sz="2800" spc="-285" dirty="0">
                    <a:solidFill>
                      <a:srgbClr val="C82506"/>
                    </a:solidFill>
                    <a:latin typeface="Gill Sans MT"/>
                    <a:cs typeface="Gill Sans MT"/>
                  </a:rPr>
                  <a:t> </a:t>
                </a:r>
                <a:r>
                  <a:rPr sz="2800" dirty="0">
                    <a:solidFill>
                      <a:srgbClr val="C82506"/>
                    </a:solidFill>
                    <a:latin typeface="Gill Sans MT"/>
                    <a:cs typeface="Gill Sans MT"/>
                  </a:rPr>
                  <a:t>some</a:t>
                </a:r>
                <a:r>
                  <a:rPr sz="2800" spc="5" dirty="0">
                    <a:solidFill>
                      <a:srgbClr val="C82506"/>
                    </a:solidFill>
                    <a:latin typeface="Gill Sans MT"/>
                    <a:cs typeface="Gill Sans MT"/>
                  </a:rPr>
                  <a:t> </a:t>
                </a:r>
                <a:r>
                  <a:rPr sz="2800" spc="-20" dirty="0">
                    <a:solidFill>
                      <a:srgbClr val="C82506"/>
                    </a:solidFill>
                    <a:latin typeface="Gill Sans MT"/>
                    <a:cs typeface="Gill Sans MT"/>
                  </a:rPr>
                  <a:t>bias</a:t>
                </a:r>
                <a:endParaRPr sz="2800" dirty="0">
                  <a:latin typeface="Gill Sans MT"/>
                  <a:cs typeface="Gill Sans MT"/>
                </a:endParaRPr>
              </a:p>
              <a:p>
                <a:pPr marL="643890" lvl="1" indent="-229235">
                  <a:lnSpc>
                    <a:spcPts val="3225"/>
                  </a:lnSpc>
                  <a:buChar char="•"/>
                  <a:tabLst>
                    <a:tab pos="644525" algn="l"/>
                  </a:tabLst>
                </a:pPr>
                <a:r>
                  <a:rPr sz="2800" dirty="0">
                    <a:latin typeface="Gill Sans MT"/>
                    <a:cs typeface="Gill Sans MT"/>
                  </a:rPr>
                  <a:t>usually</a:t>
                </a:r>
                <a:r>
                  <a:rPr sz="2800" spc="-10" dirty="0">
                    <a:latin typeface="Gill Sans MT"/>
                    <a:cs typeface="Gill Sans MT"/>
                  </a:rPr>
                  <a:t> </a:t>
                </a:r>
                <a:r>
                  <a:rPr sz="2800" dirty="0">
                    <a:latin typeface="Gill Sans MT"/>
                    <a:cs typeface="Gill Sans MT"/>
                  </a:rPr>
                  <a:t>more</a:t>
                </a:r>
                <a:r>
                  <a:rPr sz="2800" spc="-15" dirty="0">
                    <a:latin typeface="Gill Sans MT"/>
                    <a:cs typeface="Gill Sans MT"/>
                  </a:rPr>
                  <a:t> </a:t>
                </a:r>
                <a:r>
                  <a:rPr sz="2800" dirty="0">
                    <a:latin typeface="Gill Sans MT"/>
                    <a:cs typeface="Gill Sans MT"/>
                  </a:rPr>
                  <a:t>efficient</a:t>
                </a:r>
                <a:r>
                  <a:rPr sz="2800" spc="-15" dirty="0">
                    <a:latin typeface="Gill Sans MT"/>
                    <a:cs typeface="Gill Sans MT"/>
                  </a:rPr>
                  <a:t> </a:t>
                </a:r>
                <a:r>
                  <a:rPr sz="2800" dirty="0">
                    <a:latin typeface="Gill Sans MT"/>
                    <a:cs typeface="Gill Sans MT"/>
                  </a:rPr>
                  <a:t>than</a:t>
                </a:r>
                <a:r>
                  <a:rPr sz="2800" spc="-15" dirty="0">
                    <a:latin typeface="Gill Sans MT"/>
                    <a:cs typeface="Gill Sans MT"/>
                  </a:rPr>
                  <a:t> </a:t>
                </a:r>
                <a:r>
                  <a:rPr sz="2800" spc="-25" dirty="0">
                    <a:latin typeface="Gill Sans MT"/>
                    <a:cs typeface="Gill Sans MT"/>
                  </a:rPr>
                  <a:t>MC</a:t>
                </a:r>
                <a:endParaRPr sz="2800" dirty="0">
                  <a:latin typeface="Gill Sans MT"/>
                  <a:cs typeface="Gill Sans MT"/>
                </a:endParaRPr>
              </a:p>
              <a:p>
                <a:pPr marL="643890" lvl="1" indent="-229235">
                  <a:lnSpc>
                    <a:spcPts val="3425"/>
                  </a:lnSpc>
                  <a:buChar char="•"/>
                  <a:tabLst>
                    <a:tab pos="644525" algn="l"/>
                  </a:tabLst>
                </a:pPr>
                <a:r>
                  <a:rPr sz="2800" dirty="0">
                    <a:latin typeface="Gill Sans MT"/>
                    <a:cs typeface="Gill Sans MT"/>
                  </a:rPr>
                  <a:t>TD(0)</a:t>
                </a:r>
                <a:r>
                  <a:rPr sz="2800" spc="-50" dirty="0">
                    <a:latin typeface="Gill Sans MT"/>
                    <a:cs typeface="Gill Sans MT"/>
                  </a:rPr>
                  <a:t> </a:t>
                </a:r>
                <a:r>
                  <a:rPr sz="2800" dirty="0">
                    <a:latin typeface="Gill Sans MT"/>
                    <a:cs typeface="Gill Sans MT"/>
                  </a:rPr>
                  <a:t>converges</a:t>
                </a:r>
                <a:r>
                  <a:rPr sz="2800" spc="-55" dirty="0">
                    <a:latin typeface="Gill Sans MT"/>
                    <a:cs typeface="Gill Sans MT"/>
                  </a:rPr>
                  <a:t> </a:t>
                </a:r>
                <a:r>
                  <a:rPr sz="2800" dirty="0">
                    <a:latin typeface="Gill Sans MT"/>
                    <a:cs typeface="Gill Sans MT"/>
                  </a:rPr>
                  <a:t>to</a:t>
                </a:r>
                <a:r>
                  <a:rPr sz="2800" spc="-45" dirty="0">
                    <a:latin typeface="Gill Sans MT"/>
                    <a:cs typeface="Gill Sans MT"/>
                  </a:rPr>
                  <a:t> </a:t>
                </a:r>
                <a:r>
                  <a:rPr sz="2950" i="1" spc="-120" dirty="0">
                    <a:latin typeface="Times New Roman"/>
                    <a:cs typeface="Times New Roman"/>
                  </a:rPr>
                  <a:t>v</a:t>
                </a:r>
                <a14:m>
                  <m:oMath xmlns:m="http://schemas.openxmlformats.org/officeDocument/2006/math">
                    <m:r>
                      <a:rPr lang="en-US" sz="3075" i="1" spc="-179" baseline="-18970" dirty="0" smtClean="0">
                        <a:latin typeface="Cambria Math" panose="02040503050406030204" pitchFamily="18" charset="0"/>
                        <a:cs typeface="Arial"/>
                      </a:rPr>
                      <m:t>𝜋</m:t>
                    </m:r>
                  </m:oMath>
                </a14:m>
                <a:r>
                  <a:rPr sz="2950" spc="-120" dirty="0">
                    <a:latin typeface="Cambria"/>
                    <a:cs typeface="Cambria"/>
                  </a:rPr>
                  <a:t>(</a:t>
                </a:r>
                <a:r>
                  <a:rPr sz="2950" i="1" spc="-120" dirty="0">
                    <a:latin typeface="Times New Roman"/>
                    <a:cs typeface="Times New Roman"/>
                  </a:rPr>
                  <a:t>s</a:t>
                </a:r>
                <a:r>
                  <a:rPr sz="2950" spc="-120" dirty="0">
                    <a:latin typeface="Cambria"/>
                    <a:cs typeface="Cambria"/>
                  </a:rPr>
                  <a:t>)</a:t>
                </a:r>
                <a:r>
                  <a:rPr sz="2950" spc="75" dirty="0">
                    <a:latin typeface="Cambria"/>
                    <a:cs typeface="Cambria"/>
                  </a:rPr>
                  <a:t> </a:t>
                </a:r>
                <a:r>
                  <a:rPr sz="2800" dirty="0">
                    <a:latin typeface="Gill Sans MT"/>
                    <a:cs typeface="Gill Sans MT"/>
                  </a:rPr>
                  <a:t>(with</a:t>
                </a:r>
                <a:r>
                  <a:rPr sz="2800" spc="-55" dirty="0">
                    <a:latin typeface="Gill Sans MT"/>
                    <a:cs typeface="Gill Sans MT"/>
                  </a:rPr>
                  <a:t> </a:t>
                </a:r>
                <a:r>
                  <a:rPr sz="2800" dirty="0">
                    <a:latin typeface="Gill Sans MT"/>
                    <a:cs typeface="Gill Sans MT"/>
                  </a:rPr>
                  <a:t>value</a:t>
                </a:r>
                <a:r>
                  <a:rPr sz="2800" spc="-50" dirty="0">
                    <a:latin typeface="Gill Sans MT"/>
                    <a:cs typeface="Gill Sans MT"/>
                  </a:rPr>
                  <a:t> </a:t>
                </a:r>
                <a:r>
                  <a:rPr sz="2800" spc="-10" dirty="0">
                    <a:latin typeface="Gill Sans MT"/>
                    <a:cs typeface="Gill Sans MT"/>
                  </a:rPr>
                  <a:t>tables)</a:t>
                </a:r>
                <a:endParaRPr sz="2800" dirty="0">
                  <a:latin typeface="Gill Sans MT"/>
                  <a:cs typeface="Gill Sans MT"/>
                </a:endParaRPr>
              </a:p>
              <a:p>
                <a:pPr marL="643890" lvl="1" indent="-229235">
                  <a:lnSpc>
                    <a:spcPts val="3300"/>
                  </a:lnSpc>
                  <a:buChar char="•"/>
                  <a:tabLst>
                    <a:tab pos="644525" algn="l"/>
                  </a:tabLst>
                </a:pPr>
                <a:r>
                  <a:rPr sz="2800" dirty="0">
                    <a:latin typeface="Gill Sans MT"/>
                    <a:cs typeface="Gill Sans MT"/>
                  </a:rPr>
                  <a:t>more</a:t>
                </a:r>
                <a:r>
                  <a:rPr sz="2800" spc="-50" dirty="0">
                    <a:latin typeface="Gill Sans MT"/>
                    <a:cs typeface="Gill Sans MT"/>
                  </a:rPr>
                  <a:t> </a:t>
                </a:r>
                <a:r>
                  <a:rPr sz="2800" dirty="0">
                    <a:latin typeface="Gill Sans MT"/>
                    <a:cs typeface="Gill Sans MT"/>
                  </a:rPr>
                  <a:t>sensitive</a:t>
                </a:r>
                <a:r>
                  <a:rPr sz="2800" spc="-40" dirty="0">
                    <a:latin typeface="Gill Sans MT"/>
                    <a:cs typeface="Gill Sans MT"/>
                  </a:rPr>
                  <a:t> </a:t>
                </a:r>
                <a:r>
                  <a:rPr sz="2800" dirty="0">
                    <a:latin typeface="Gill Sans MT"/>
                    <a:cs typeface="Gill Sans MT"/>
                  </a:rPr>
                  <a:t>to</a:t>
                </a:r>
                <a:r>
                  <a:rPr sz="2800" spc="-40" dirty="0">
                    <a:latin typeface="Gill Sans MT"/>
                    <a:cs typeface="Gill Sans MT"/>
                  </a:rPr>
                  <a:t> </a:t>
                </a:r>
                <a:r>
                  <a:rPr sz="2800" dirty="0">
                    <a:latin typeface="Gill Sans MT"/>
                    <a:cs typeface="Gill Sans MT"/>
                  </a:rPr>
                  <a:t>initial</a:t>
                </a:r>
                <a:r>
                  <a:rPr sz="2800" spc="-40" dirty="0">
                    <a:latin typeface="Gill Sans MT"/>
                    <a:cs typeface="Gill Sans MT"/>
                  </a:rPr>
                  <a:t> </a:t>
                </a:r>
                <a:r>
                  <a:rPr sz="2800" spc="-10" dirty="0">
                    <a:latin typeface="Gill Sans MT"/>
                    <a:cs typeface="Gill Sans MT"/>
                  </a:rPr>
                  <a:t>value</a:t>
                </a:r>
                <a:endParaRPr sz="2800" dirty="0">
                  <a:latin typeface="Gill Sans MT"/>
                  <a:cs typeface="Gill Sans MT"/>
                </a:endParaRPr>
              </a:p>
            </p:txBody>
          </p:sp>
        </mc:Choice>
        <mc:Fallback xmlns="">
          <p:sp>
            <p:nvSpPr>
              <p:cNvPr id="5" name="object 5"/>
              <p:cNvSpPr txBox="1">
                <a:spLocks noRot="1" noChangeAspect="1" noMove="1" noResize="1" noEditPoints="1" noAdjustHandles="1" noChangeArrowheads="1" noChangeShapeType="1" noTextEdit="1"/>
              </p:cNvSpPr>
              <p:nvPr/>
            </p:nvSpPr>
            <p:spPr>
              <a:xfrm>
                <a:off x="511175" y="379468"/>
                <a:ext cx="7467600" cy="5475858"/>
              </a:xfrm>
              <a:prstGeom prst="rect">
                <a:avLst/>
              </a:prstGeom>
              <a:blipFill>
                <a:blip r:embed="rId3"/>
                <a:stretch>
                  <a:fillRect l="-2367" t="-1557" r="-2694" b="-3003"/>
                </a:stretch>
              </a:blipFill>
            </p:spPr>
            <p:txBody>
              <a:bodyPr/>
              <a:lstStyle/>
              <a:p>
                <a:r>
                  <a:rPr lang="en-US">
                    <a:noFill/>
                  </a:rPr>
                  <a:t> </a:t>
                </a:r>
              </a:p>
            </p:txBody>
          </p:sp>
        </mc:Fallback>
      </mc:AlternateContent>
      <p:sp>
        <p:nvSpPr>
          <p:cNvPr id="6" name="Date Placeholder 3">
            <a:extLst>
              <a:ext uri="{FF2B5EF4-FFF2-40B4-BE49-F238E27FC236}">
                <a16:creationId xmlns:a16="http://schemas.microsoft.com/office/drawing/2014/main" id="{9C050172-774B-F20D-6CDB-72D83DE0070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5562F52D-7685-9B1E-A64E-A2FB5A9BA9F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A02C7C77-8232-3497-6E43-517330A0742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778066" y="1066800"/>
            <a:ext cx="7587496" cy="750638"/>
          </a:xfrm>
          <a:prstGeom prst="rect">
            <a:avLst/>
          </a:prstGeom>
        </p:spPr>
      </p:pic>
      <p:sp>
        <p:nvSpPr>
          <p:cNvPr id="5" name="object 5"/>
          <p:cNvSpPr txBox="1">
            <a:spLocks noGrp="1"/>
          </p:cNvSpPr>
          <p:nvPr>
            <p:ph type="title"/>
          </p:nvPr>
        </p:nvSpPr>
        <p:spPr>
          <a:xfrm>
            <a:off x="739283" y="177062"/>
            <a:ext cx="3735070" cy="421640"/>
          </a:xfrm>
          <a:prstGeom prst="rect">
            <a:avLst/>
          </a:prstGeom>
        </p:spPr>
        <p:txBody>
          <a:bodyPr vert="horz" wrap="square" lIns="0" tIns="12700" rIns="0" bIns="0" rtlCol="0">
            <a:spAutoFit/>
          </a:bodyPr>
          <a:lstStyle/>
          <a:p>
            <a:pPr marL="12700">
              <a:lnSpc>
                <a:spcPct val="100000"/>
              </a:lnSpc>
              <a:spcBef>
                <a:spcPts val="100"/>
              </a:spcBef>
            </a:pPr>
            <a:r>
              <a:rPr spc="-114" dirty="0"/>
              <a:t>Random</a:t>
            </a:r>
            <a:r>
              <a:rPr spc="-190" dirty="0"/>
              <a:t> </a:t>
            </a:r>
            <a:r>
              <a:rPr dirty="0"/>
              <a:t>Walk:</a:t>
            </a:r>
            <a:r>
              <a:rPr spc="114" dirty="0"/>
              <a:t> </a:t>
            </a:r>
            <a:r>
              <a:rPr dirty="0"/>
              <a:t>MC</a:t>
            </a:r>
            <a:r>
              <a:rPr spc="-75" dirty="0"/>
              <a:t> </a:t>
            </a:r>
            <a:r>
              <a:rPr dirty="0"/>
              <a:t>vs.</a:t>
            </a:r>
            <a:r>
              <a:rPr spc="75" dirty="0"/>
              <a:t> </a:t>
            </a:r>
            <a:r>
              <a:rPr spc="-25" dirty="0"/>
              <a:t>TD</a:t>
            </a:r>
          </a:p>
        </p:txBody>
      </p:sp>
      <p:pic>
        <p:nvPicPr>
          <p:cNvPr id="7" name="Picture 6">
            <a:extLst>
              <a:ext uri="{FF2B5EF4-FFF2-40B4-BE49-F238E27FC236}">
                <a16:creationId xmlns:a16="http://schemas.microsoft.com/office/drawing/2014/main" id="{90688A64-7378-54DE-F43A-F9EFCDC10409}"/>
              </a:ext>
            </a:extLst>
          </p:cNvPr>
          <p:cNvPicPr>
            <a:picLocks noChangeAspect="1"/>
          </p:cNvPicPr>
          <p:nvPr/>
        </p:nvPicPr>
        <p:blipFill rotWithShape="1">
          <a:blip r:embed="rId4"/>
          <a:srcRect t="3551"/>
          <a:stretch/>
        </p:blipFill>
        <p:spPr>
          <a:xfrm>
            <a:off x="1600200" y="1870710"/>
            <a:ext cx="5859984" cy="4682490"/>
          </a:xfrm>
          <a:prstGeom prst="rect">
            <a:avLst/>
          </a:prstGeom>
        </p:spPr>
      </p:pic>
      <p:sp>
        <p:nvSpPr>
          <p:cNvPr id="2" name="Date Placeholder 3">
            <a:extLst>
              <a:ext uri="{FF2B5EF4-FFF2-40B4-BE49-F238E27FC236}">
                <a16:creationId xmlns:a16="http://schemas.microsoft.com/office/drawing/2014/main" id="{B74B5239-D4C8-2453-506A-F64B4A3F1523}"/>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ooter Placeholder 5">
            <a:extLst>
              <a:ext uri="{FF2B5EF4-FFF2-40B4-BE49-F238E27FC236}">
                <a16:creationId xmlns:a16="http://schemas.microsoft.com/office/drawing/2014/main" id="{6031445F-F8E4-6952-EC6E-B37F5D9FDEF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9139743-E65B-BB75-B64E-D98971129C2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627" y="243483"/>
            <a:ext cx="8225155" cy="513080"/>
          </a:xfrm>
          <a:prstGeom prst="rect">
            <a:avLst/>
          </a:prstGeom>
        </p:spPr>
        <p:txBody>
          <a:bodyPr vert="horz" wrap="square" lIns="0" tIns="12700" rIns="0" bIns="0" rtlCol="0">
            <a:spAutoFit/>
          </a:bodyPr>
          <a:lstStyle/>
          <a:p>
            <a:pPr marL="12700">
              <a:lnSpc>
                <a:spcPct val="100000"/>
              </a:lnSpc>
              <a:spcBef>
                <a:spcPts val="100"/>
              </a:spcBef>
            </a:pPr>
            <a:r>
              <a:rPr sz="3200" dirty="0"/>
              <a:t>Step</a:t>
            </a:r>
            <a:r>
              <a:rPr sz="3200" spc="-5" dirty="0"/>
              <a:t> </a:t>
            </a:r>
            <a:r>
              <a:rPr sz="3200" dirty="0"/>
              <a:t>2:</a:t>
            </a:r>
            <a:r>
              <a:rPr sz="3200" spc="-10" dirty="0"/>
              <a:t> </a:t>
            </a:r>
            <a:r>
              <a:rPr sz="3200" dirty="0"/>
              <a:t>From</a:t>
            </a:r>
            <a:r>
              <a:rPr sz="3200" spc="-10" dirty="0"/>
              <a:t> </a:t>
            </a:r>
            <a:r>
              <a:rPr sz="3200" dirty="0"/>
              <a:t>Model-free</a:t>
            </a:r>
            <a:r>
              <a:rPr sz="3200" spc="-5" dirty="0"/>
              <a:t> </a:t>
            </a:r>
            <a:r>
              <a:rPr sz="3200" dirty="0"/>
              <a:t>Prediction</a:t>
            </a:r>
            <a:r>
              <a:rPr sz="3200" spc="-5" dirty="0"/>
              <a:t> </a:t>
            </a:r>
            <a:r>
              <a:rPr sz="3200" dirty="0"/>
              <a:t>to </a:t>
            </a:r>
            <a:r>
              <a:rPr sz="3200" spc="-10" dirty="0"/>
              <a:t>Control</a:t>
            </a:r>
            <a:endParaRPr sz="3200"/>
          </a:p>
        </p:txBody>
      </p:sp>
      <p:sp>
        <p:nvSpPr>
          <p:cNvPr id="3" name="object 3"/>
          <p:cNvSpPr txBox="1"/>
          <p:nvPr/>
        </p:nvSpPr>
        <p:spPr>
          <a:xfrm>
            <a:off x="352288" y="1117187"/>
            <a:ext cx="8607425" cy="1622425"/>
          </a:xfrm>
          <a:prstGeom prst="rect">
            <a:avLst/>
          </a:prstGeom>
        </p:spPr>
        <p:txBody>
          <a:bodyPr vert="horz" wrap="square" lIns="0" tIns="12700" rIns="0" bIns="0" rtlCol="0">
            <a:spAutoFit/>
          </a:bodyPr>
          <a:lstStyle/>
          <a:p>
            <a:pPr marL="12700">
              <a:lnSpc>
                <a:spcPts val="3185"/>
              </a:lnSpc>
              <a:spcBef>
                <a:spcPts val="100"/>
              </a:spcBef>
            </a:pPr>
            <a:r>
              <a:rPr sz="2700" spc="-30" dirty="0">
                <a:latin typeface="Gill Sans MT"/>
                <a:cs typeface="Gill Sans MT"/>
              </a:rPr>
              <a:t>Ultimately,</a:t>
            </a:r>
            <a:r>
              <a:rPr sz="2700" spc="-270" dirty="0">
                <a:latin typeface="Gill Sans MT"/>
                <a:cs typeface="Gill Sans MT"/>
              </a:rPr>
              <a:t> </a:t>
            </a:r>
            <a:r>
              <a:rPr sz="2700" dirty="0">
                <a:latin typeface="Gill Sans MT"/>
                <a:cs typeface="Gill Sans MT"/>
              </a:rPr>
              <a:t>we</a:t>
            </a:r>
            <a:r>
              <a:rPr sz="2700" spc="10" dirty="0">
                <a:latin typeface="Gill Sans MT"/>
                <a:cs typeface="Gill Sans MT"/>
              </a:rPr>
              <a:t> </a:t>
            </a:r>
            <a:r>
              <a:rPr sz="2700" dirty="0">
                <a:latin typeface="Gill Sans MT"/>
                <a:cs typeface="Gill Sans MT"/>
              </a:rPr>
              <a:t>need</a:t>
            </a:r>
            <a:r>
              <a:rPr sz="2700" spc="10" dirty="0">
                <a:latin typeface="Gill Sans MT"/>
                <a:cs typeface="Gill Sans MT"/>
              </a:rPr>
              <a:t> </a:t>
            </a:r>
            <a:r>
              <a:rPr sz="2700" dirty="0">
                <a:latin typeface="Gill Sans MT"/>
                <a:cs typeface="Gill Sans MT"/>
              </a:rPr>
              <a:t>to</a:t>
            </a:r>
            <a:r>
              <a:rPr sz="2700" spc="5" dirty="0">
                <a:latin typeface="Gill Sans MT"/>
                <a:cs typeface="Gill Sans MT"/>
              </a:rPr>
              <a:t> </a:t>
            </a:r>
            <a:r>
              <a:rPr sz="2700" dirty="0">
                <a:latin typeface="Gill Sans MT"/>
                <a:cs typeface="Gill Sans MT"/>
              </a:rPr>
              <a:t>find</a:t>
            </a:r>
            <a:r>
              <a:rPr sz="2700" spc="10" dirty="0">
                <a:latin typeface="Gill Sans MT"/>
                <a:cs typeface="Gill Sans MT"/>
              </a:rPr>
              <a:t> </a:t>
            </a:r>
            <a:r>
              <a:rPr sz="2700" dirty="0">
                <a:latin typeface="Gill Sans MT"/>
                <a:cs typeface="Gill Sans MT"/>
              </a:rPr>
              <a:t>the</a:t>
            </a:r>
            <a:r>
              <a:rPr sz="2700" spc="10" dirty="0">
                <a:latin typeface="Gill Sans MT"/>
                <a:cs typeface="Gill Sans MT"/>
              </a:rPr>
              <a:t> </a:t>
            </a:r>
            <a:r>
              <a:rPr sz="2700" dirty="0">
                <a:latin typeface="Gill Sans MT"/>
                <a:cs typeface="Gill Sans MT"/>
              </a:rPr>
              <a:t>optimal</a:t>
            </a:r>
            <a:r>
              <a:rPr sz="2700" spc="10" dirty="0">
                <a:latin typeface="Gill Sans MT"/>
                <a:cs typeface="Gill Sans MT"/>
              </a:rPr>
              <a:t> </a:t>
            </a:r>
            <a:r>
              <a:rPr sz="2700" spc="-10" dirty="0">
                <a:latin typeface="Gill Sans MT"/>
                <a:cs typeface="Gill Sans MT"/>
              </a:rPr>
              <a:t>policy</a:t>
            </a:r>
            <a:endParaRPr sz="2700" dirty="0">
              <a:latin typeface="Gill Sans MT"/>
              <a:cs typeface="Gill Sans MT"/>
            </a:endParaRPr>
          </a:p>
          <a:p>
            <a:pPr marL="12700">
              <a:lnSpc>
                <a:spcPts val="3185"/>
              </a:lnSpc>
            </a:pPr>
            <a:r>
              <a:rPr sz="2700" dirty="0">
                <a:latin typeface="Gill Sans MT"/>
                <a:cs typeface="Gill Sans MT"/>
              </a:rPr>
              <a:t>So</a:t>
            </a:r>
            <a:r>
              <a:rPr sz="2700" spc="-55" dirty="0">
                <a:latin typeface="Gill Sans MT"/>
                <a:cs typeface="Gill Sans MT"/>
              </a:rPr>
              <a:t> </a:t>
            </a:r>
            <a:r>
              <a:rPr sz="2700" dirty="0">
                <a:latin typeface="Gill Sans MT"/>
                <a:cs typeface="Gill Sans MT"/>
              </a:rPr>
              <a:t>far</a:t>
            </a:r>
            <a:r>
              <a:rPr sz="2700" spc="-35" dirty="0">
                <a:latin typeface="Gill Sans MT"/>
                <a:cs typeface="Gill Sans MT"/>
              </a:rPr>
              <a:t> </a:t>
            </a:r>
            <a:r>
              <a:rPr sz="2700" dirty="0">
                <a:latin typeface="Gill Sans MT"/>
                <a:cs typeface="Gill Sans MT"/>
              </a:rPr>
              <a:t>we</a:t>
            </a:r>
            <a:r>
              <a:rPr sz="2700" spc="-40" dirty="0">
                <a:latin typeface="Gill Sans MT"/>
                <a:cs typeface="Gill Sans MT"/>
              </a:rPr>
              <a:t> </a:t>
            </a:r>
            <a:r>
              <a:rPr sz="2700" dirty="0">
                <a:latin typeface="Gill Sans MT"/>
                <a:cs typeface="Gill Sans MT"/>
              </a:rPr>
              <a:t>have</a:t>
            </a:r>
            <a:r>
              <a:rPr sz="2700" spc="-40" dirty="0">
                <a:latin typeface="Gill Sans MT"/>
                <a:cs typeface="Gill Sans MT"/>
              </a:rPr>
              <a:t> </a:t>
            </a:r>
            <a:r>
              <a:rPr sz="2700" dirty="0">
                <a:latin typeface="Gill Sans MT"/>
                <a:cs typeface="Gill Sans MT"/>
              </a:rPr>
              <a:t>worked</a:t>
            </a:r>
            <a:r>
              <a:rPr sz="2700" spc="-40" dirty="0">
                <a:latin typeface="Gill Sans MT"/>
                <a:cs typeface="Gill Sans MT"/>
              </a:rPr>
              <a:t> </a:t>
            </a:r>
            <a:r>
              <a:rPr sz="2700" dirty="0">
                <a:latin typeface="Gill Sans MT"/>
                <a:cs typeface="Gill Sans MT"/>
              </a:rPr>
              <a:t>with</a:t>
            </a:r>
            <a:r>
              <a:rPr sz="2700" spc="-40" dirty="0">
                <a:latin typeface="Gill Sans MT"/>
                <a:cs typeface="Gill Sans MT"/>
              </a:rPr>
              <a:t> </a:t>
            </a:r>
            <a:r>
              <a:rPr sz="2700" dirty="0">
                <a:latin typeface="Gill Sans MT"/>
                <a:cs typeface="Gill Sans MT"/>
              </a:rPr>
              <a:t>the</a:t>
            </a:r>
            <a:r>
              <a:rPr sz="2700" spc="-40" dirty="0">
                <a:latin typeface="Gill Sans MT"/>
                <a:cs typeface="Gill Sans MT"/>
              </a:rPr>
              <a:t> </a:t>
            </a:r>
            <a:r>
              <a:rPr sz="2700" spc="-10" dirty="0">
                <a:latin typeface="Gill Sans MT"/>
                <a:cs typeface="Gill Sans MT"/>
              </a:rPr>
              <a:t>state-</a:t>
            </a:r>
            <a:r>
              <a:rPr sz="2700" dirty="0">
                <a:latin typeface="Gill Sans MT"/>
                <a:cs typeface="Gill Sans MT"/>
              </a:rPr>
              <a:t>value</a:t>
            </a:r>
            <a:r>
              <a:rPr sz="2700" spc="-40" dirty="0">
                <a:latin typeface="Gill Sans MT"/>
                <a:cs typeface="Gill Sans MT"/>
              </a:rPr>
              <a:t> </a:t>
            </a:r>
            <a:r>
              <a:rPr sz="2700" dirty="0">
                <a:latin typeface="Gill Sans MT"/>
                <a:cs typeface="Gill Sans MT"/>
              </a:rPr>
              <a:t>function</a:t>
            </a:r>
            <a:r>
              <a:rPr sz="2700" spc="-35" dirty="0">
                <a:latin typeface="Gill Sans MT"/>
                <a:cs typeface="Gill Sans MT"/>
              </a:rPr>
              <a:t> </a:t>
            </a:r>
            <a:r>
              <a:rPr sz="2700" i="1" spc="-20" dirty="0">
                <a:latin typeface="Gill Sans MT"/>
                <a:cs typeface="Gill Sans MT"/>
              </a:rPr>
              <a:t>V</a:t>
            </a:r>
            <a:r>
              <a:rPr sz="2700" spc="-20" dirty="0">
                <a:latin typeface="Gill Sans MT"/>
                <a:cs typeface="Gill Sans MT"/>
              </a:rPr>
              <a:t>(</a:t>
            </a:r>
            <a:r>
              <a:rPr sz="2700" i="1" spc="-20" dirty="0">
                <a:latin typeface="Gill Sans MT"/>
                <a:cs typeface="Gill Sans MT"/>
              </a:rPr>
              <a:t>s</a:t>
            </a:r>
            <a:r>
              <a:rPr sz="2700" spc="-20" dirty="0">
                <a:latin typeface="Gill Sans MT"/>
                <a:cs typeface="Gill Sans MT"/>
              </a:rPr>
              <a:t>)</a:t>
            </a:r>
            <a:endParaRPr sz="2700" dirty="0">
              <a:latin typeface="Gill Sans MT"/>
              <a:cs typeface="Gill Sans MT"/>
            </a:endParaRPr>
          </a:p>
          <a:p>
            <a:pPr>
              <a:lnSpc>
                <a:spcPct val="100000"/>
              </a:lnSpc>
            </a:pPr>
            <a:endParaRPr sz="2550" dirty="0">
              <a:latin typeface="Gill Sans MT"/>
              <a:cs typeface="Gill Sans MT"/>
            </a:endParaRPr>
          </a:p>
          <a:p>
            <a:pPr marL="12700">
              <a:lnSpc>
                <a:spcPct val="100000"/>
              </a:lnSpc>
              <a:spcBef>
                <a:spcPts val="5"/>
              </a:spcBef>
            </a:pPr>
            <a:r>
              <a:rPr sz="2700" dirty="0">
                <a:latin typeface="Gill Sans MT"/>
                <a:cs typeface="Gill Sans MT"/>
              </a:rPr>
              <a:t>Greedy</a:t>
            </a:r>
            <a:r>
              <a:rPr sz="2700" spc="-60" dirty="0">
                <a:latin typeface="Gill Sans MT"/>
                <a:cs typeface="Gill Sans MT"/>
              </a:rPr>
              <a:t> </a:t>
            </a:r>
            <a:r>
              <a:rPr sz="2700" dirty="0">
                <a:latin typeface="Gill Sans MT"/>
                <a:cs typeface="Gill Sans MT"/>
              </a:rPr>
              <a:t>policy</a:t>
            </a:r>
            <a:r>
              <a:rPr sz="2700" spc="-55" dirty="0">
                <a:latin typeface="Gill Sans MT"/>
                <a:cs typeface="Gill Sans MT"/>
              </a:rPr>
              <a:t> </a:t>
            </a:r>
            <a:r>
              <a:rPr sz="2700" dirty="0">
                <a:latin typeface="Gill Sans MT"/>
                <a:cs typeface="Gill Sans MT"/>
              </a:rPr>
              <a:t>improvement</a:t>
            </a:r>
            <a:r>
              <a:rPr sz="2700" spc="-60" dirty="0">
                <a:latin typeface="Gill Sans MT"/>
                <a:cs typeface="Gill Sans MT"/>
              </a:rPr>
              <a:t> </a:t>
            </a:r>
            <a:r>
              <a:rPr sz="2700" dirty="0">
                <a:latin typeface="Gill Sans MT"/>
                <a:cs typeface="Gill Sans MT"/>
              </a:rPr>
              <a:t>over</a:t>
            </a:r>
            <a:r>
              <a:rPr sz="2700" spc="-55" dirty="0">
                <a:latin typeface="Gill Sans MT"/>
                <a:cs typeface="Gill Sans MT"/>
              </a:rPr>
              <a:t> </a:t>
            </a:r>
            <a:r>
              <a:rPr sz="2700" i="1" dirty="0">
                <a:latin typeface="Gill Sans MT"/>
                <a:cs typeface="Gill Sans MT"/>
              </a:rPr>
              <a:t>V</a:t>
            </a:r>
            <a:r>
              <a:rPr sz="2700" dirty="0">
                <a:latin typeface="Gill Sans MT"/>
                <a:cs typeface="Gill Sans MT"/>
              </a:rPr>
              <a:t>(</a:t>
            </a:r>
            <a:r>
              <a:rPr sz="2700" i="1" dirty="0">
                <a:latin typeface="Gill Sans MT"/>
                <a:cs typeface="Gill Sans MT"/>
              </a:rPr>
              <a:t>s</a:t>
            </a:r>
            <a:r>
              <a:rPr sz="2700" dirty="0">
                <a:latin typeface="Gill Sans MT"/>
                <a:cs typeface="Gill Sans MT"/>
              </a:rPr>
              <a:t>)</a:t>
            </a:r>
            <a:r>
              <a:rPr sz="2700" spc="-60" dirty="0">
                <a:latin typeface="Gill Sans MT"/>
                <a:cs typeface="Gill Sans MT"/>
              </a:rPr>
              <a:t> </a:t>
            </a:r>
            <a:r>
              <a:rPr sz="2700" dirty="0">
                <a:latin typeface="Gill Sans MT"/>
                <a:cs typeface="Gill Sans MT"/>
              </a:rPr>
              <a:t>requires</a:t>
            </a:r>
            <a:r>
              <a:rPr sz="2700" spc="-55" dirty="0">
                <a:latin typeface="Gill Sans MT"/>
                <a:cs typeface="Gill Sans MT"/>
              </a:rPr>
              <a:t> </a:t>
            </a:r>
            <a:r>
              <a:rPr sz="2700" dirty="0">
                <a:latin typeface="Gill Sans MT"/>
                <a:cs typeface="Gill Sans MT"/>
              </a:rPr>
              <a:t>model</a:t>
            </a:r>
            <a:r>
              <a:rPr sz="2700" spc="-60" dirty="0">
                <a:latin typeface="Gill Sans MT"/>
                <a:cs typeface="Gill Sans MT"/>
              </a:rPr>
              <a:t> </a:t>
            </a:r>
            <a:r>
              <a:rPr sz="2700" dirty="0">
                <a:latin typeface="Gill Sans MT"/>
                <a:cs typeface="Gill Sans MT"/>
              </a:rPr>
              <a:t>of</a:t>
            </a:r>
            <a:r>
              <a:rPr sz="2700" spc="-55" dirty="0">
                <a:latin typeface="Gill Sans MT"/>
                <a:cs typeface="Gill Sans MT"/>
              </a:rPr>
              <a:t> </a:t>
            </a:r>
            <a:r>
              <a:rPr sz="2700" spc="-25" dirty="0">
                <a:latin typeface="Gill Sans MT"/>
                <a:cs typeface="Gill Sans MT"/>
              </a:rPr>
              <a:t>MDP</a:t>
            </a:r>
            <a:endParaRPr sz="2700" dirty="0">
              <a:latin typeface="Gill Sans MT"/>
              <a:cs typeface="Gill Sans MT"/>
            </a:endParaRPr>
          </a:p>
        </p:txBody>
      </p:sp>
      <p:sp>
        <p:nvSpPr>
          <p:cNvPr id="4" name="object 4"/>
          <p:cNvSpPr txBox="1"/>
          <p:nvPr/>
        </p:nvSpPr>
        <p:spPr>
          <a:xfrm>
            <a:off x="2845472" y="3283260"/>
            <a:ext cx="125095" cy="332740"/>
          </a:xfrm>
          <a:prstGeom prst="rect">
            <a:avLst/>
          </a:prstGeom>
        </p:spPr>
        <p:txBody>
          <a:bodyPr vert="horz" wrap="square" lIns="0" tIns="14605" rIns="0" bIns="0" rtlCol="0">
            <a:spAutoFit/>
          </a:bodyPr>
          <a:lstStyle/>
          <a:p>
            <a:pPr marL="12700">
              <a:lnSpc>
                <a:spcPct val="100000"/>
              </a:lnSpc>
              <a:spcBef>
                <a:spcPts val="115"/>
              </a:spcBef>
            </a:pPr>
            <a:r>
              <a:rPr sz="2000" i="1" spc="5" dirty="0">
                <a:latin typeface="Times New Roman"/>
                <a:cs typeface="Times New Roman"/>
              </a:rPr>
              <a:t>s</a:t>
            </a:r>
            <a:endParaRPr sz="2000">
              <a:latin typeface="Times New Roman"/>
              <a:cs typeface="Times New Roman"/>
            </a:endParaRPr>
          </a:p>
        </p:txBody>
      </p:sp>
      <p:sp>
        <p:nvSpPr>
          <p:cNvPr id="5" name="object 5"/>
          <p:cNvSpPr txBox="1"/>
          <p:nvPr/>
        </p:nvSpPr>
        <p:spPr>
          <a:xfrm>
            <a:off x="3616030" y="3307468"/>
            <a:ext cx="362585" cy="332740"/>
          </a:xfrm>
          <a:prstGeom prst="rect">
            <a:avLst/>
          </a:prstGeom>
        </p:spPr>
        <p:txBody>
          <a:bodyPr vert="horz" wrap="square" lIns="0" tIns="14605" rIns="0" bIns="0" rtlCol="0">
            <a:spAutoFit/>
          </a:bodyPr>
          <a:lstStyle/>
          <a:p>
            <a:pPr marL="12700">
              <a:lnSpc>
                <a:spcPct val="100000"/>
              </a:lnSpc>
              <a:spcBef>
                <a:spcPts val="115"/>
              </a:spcBef>
            </a:pPr>
            <a:r>
              <a:rPr sz="2000" i="1" spc="-20" dirty="0">
                <a:latin typeface="Times New Roman"/>
                <a:cs typeface="Times New Roman"/>
              </a:rPr>
              <a:t>s</a:t>
            </a:r>
            <a:r>
              <a:rPr sz="2000" spc="-20" dirty="0">
                <a:latin typeface="Cambria"/>
                <a:cs typeface="Cambria"/>
              </a:rPr>
              <a:t>,</a:t>
            </a:r>
            <a:r>
              <a:rPr sz="2000" i="1" spc="-20" dirty="0">
                <a:latin typeface="Times New Roman"/>
                <a:cs typeface="Times New Roman"/>
              </a:rPr>
              <a:t>s</a:t>
            </a:r>
            <a:r>
              <a:rPr sz="2000" spc="-20" dirty="0">
                <a:latin typeface="Cambria"/>
                <a:cs typeface="Cambria"/>
              </a:rPr>
              <a:t>′</a:t>
            </a:r>
            <a:endParaRPr sz="2000">
              <a:latin typeface="Cambria"/>
              <a:cs typeface="Cambria"/>
            </a:endParaRPr>
          </a:p>
        </p:txBody>
      </p:sp>
      <p:sp>
        <p:nvSpPr>
          <p:cNvPr id="6" name="object 6"/>
          <p:cNvSpPr txBox="1"/>
          <p:nvPr/>
        </p:nvSpPr>
        <p:spPr>
          <a:xfrm>
            <a:off x="314188" y="3088702"/>
            <a:ext cx="4401185" cy="457834"/>
          </a:xfrm>
          <a:prstGeom prst="rect">
            <a:avLst/>
          </a:prstGeom>
        </p:spPr>
        <p:txBody>
          <a:bodyPr vert="horz" wrap="square" lIns="0" tIns="17145" rIns="0" bIns="0" rtlCol="0">
            <a:spAutoFit/>
          </a:bodyPr>
          <a:lstStyle/>
          <a:p>
            <a:pPr marL="50800">
              <a:lnSpc>
                <a:spcPct val="100000"/>
              </a:lnSpc>
              <a:spcBef>
                <a:spcPts val="135"/>
              </a:spcBef>
              <a:tabLst>
                <a:tab pos="2336165" algn="l"/>
                <a:tab pos="3683000" algn="l"/>
              </a:tabLst>
            </a:pPr>
            <a:r>
              <a:rPr sz="2800" i="1" spc="-135" dirty="0">
                <a:latin typeface="Arial"/>
                <a:cs typeface="Arial"/>
              </a:rPr>
              <a:t>π</a:t>
            </a:r>
            <a:r>
              <a:rPr sz="2800" spc="-135" dirty="0">
                <a:latin typeface="Cambria"/>
                <a:cs typeface="Cambria"/>
              </a:rPr>
              <a:t>′(</a:t>
            </a:r>
            <a:r>
              <a:rPr sz="2800" i="1" spc="-135" dirty="0">
                <a:latin typeface="Times New Roman"/>
                <a:cs typeface="Times New Roman"/>
              </a:rPr>
              <a:t>s</a:t>
            </a:r>
            <a:r>
              <a:rPr sz="2800" spc="-135" dirty="0">
                <a:latin typeface="Cambria"/>
                <a:cs typeface="Cambria"/>
              </a:rPr>
              <a:t>)</a:t>
            </a:r>
            <a:r>
              <a:rPr sz="2800" spc="80" dirty="0">
                <a:latin typeface="Cambria"/>
                <a:cs typeface="Cambria"/>
              </a:rPr>
              <a:t> </a:t>
            </a:r>
            <a:r>
              <a:rPr sz="2800" spc="385" dirty="0">
                <a:latin typeface="Cambria"/>
                <a:cs typeface="Cambria"/>
              </a:rPr>
              <a:t>=</a:t>
            </a:r>
            <a:r>
              <a:rPr sz="2800" spc="85" dirty="0">
                <a:latin typeface="Cambria"/>
                <a:cs typeface="Cambria"/>
              </a:rPr>
              <a:t> </a:t>
            </a:r>
            <a:r>
              <a:rPr sz="2800" spc="-10" dirty="0">
                <a:latin typeface="Cambria"/>
                <a:cs typeface="Cambria"/>
              </a:rPr>
              <a:t>argmax</a:t>
            </a:r>
            <a:r>
              <a:rPr sz="2800" dirty="0">
                <a:latin typeface="Cambria"/>
                <a:cs typeface="Cambria"/>
              </a:rPr>
              <a:t>	</a:t>
            </a:r>
            <a:r>
              <a:rPr sz="2800" i="1" spc="80" dirty="0">
                <a:latin typeface="Times New Roman"/>
                <a:cs typeface="Times New Roman"/>
              </a:rPr>
              <a:t>R</a:t>
            </a:r>
            <a:r>
              <a:rPr sz="3000" i="1" spc="120" baseline="29166" dirty="0">
                <a:latin typeface="Times New Roman"/>
                <a:cs typeface="Times New Roman"/>
              </a:rPr>
              <a:t>a</a:t>
            </a:r>
            <a:r>
              <a:rPr sz="3000" i="1" spc="195" baseline="29166" dirty="0">
                <a:latin typeface="Times New Roman"/>
                <a:cs typeface="Times New Roman"/>
              </a:rPr>
              <a:t> </a:t>
            </a:r>
            <a:r>
              <a:rPr sz="2800" spc="385" dirty="0">
                <a:latin typeface="Cambria"/>
                <a:cs typeface="Cambria"/>
              </a:rPr>
              <a:t>+</a:t>
            </a:r>
            <a:r>
              <a:rPr sz="2800" spc="10" dirty="0">
                <a:latin typeface="Cambria"/>
                <a:cs typeface="Cambria"/>
              </a:rPr>
              <a:t> </a:t>
            </a:r>
            <a:r>
              <a:rPr sz="2800" i="1" spc="55" dirty="0">
                <a:latin typeface="Times New Roman"/>
                <a:cs typeface="Times New Roman"/>
              </a:rPr>
              <a:t>P</a:t>
            </a:r>
            <a:r>
              <a:rPr sz="3000" i="1" spc="82" baseline="29166" dirty="0">
                <a:latin typeface="Times New Roman"/>
                <a:cs typeface="Times New Roman"/>
              </a:rPr>
              <a:t>a</a:t>
            </a:r>
            <a:r>
              <a:rPr sz="3000" i="1" baseline="29166" dirty="0">
                <a:latin typeface="Times New Roman"/>
                <a:cs typeface="Times New Roman"/>
              </a:rPr>
              <a:t>	</a:t>
            </a:r>
            <a:r>
              <a:rPr sz="2800" i="1" spc="-20" dirty="0">
                <a:latin typeface="Times New Roman"/>
                <a:cs typeface="Times New Roman"/>
              </a:rPr>
              <a:t>V</a:t>
            </a:r>
            <a:r>
              <a:rPr sz="2800" spc="-20" dirty="0">
                <a:latin typeface="Cambria"/>
                <a:cs typeface="Cambria"/>
              </a:rPr>
              <a:t>(</a:t>
            </a:r>
            <a:r>
              <a:rPr sz="2800" i="1" spc="-20" dirty="0">
                <a:latin typeface="Times New Roman"/>
                <a:cs typeface="Times New Roman"/>
              </a:rPr>
              <a:t>s</a:t>
            </a:r>
            <a:r>
              <a:rPr sz="2800" spc="-20" dirty="0">
                <a:latin typeface="Cambria"/>
                <a:cs typeface="Cambria"/>
              </a:rPr>
              <a:t>′)</a:t>
            </a:r>
            <a:endParaRPr sz="2800">
              <a:latin typeface="Cambria"/>
              <a:cs typeface="Cambria"/>
            </a:endParaRPr>
          </a:p>
        </p:txBody>
      </p:sp>
      <p:grpSp>
        <p:nvGrpSpPr>
          <p:cNvPr id="7" name="object 7"/>
          <p:cNvGrpSpPr/>
          <p:nvPr/>
        </p:nvGrpSpPr>
        <p:grpSpPr>
          <a:xfrm>
            <a:off x="2478760" y="2981214"/>
            <a:ext cx="1614170" cy="870585"/>
            <a:chOff x="2478760" y="2981214"/>
            <a:chExt cx="1614170" cy="870585"/>
          </a:xfrm>
        </p:grpSpPr>
        <p:pic>
          <p:nvPicPr>
            <p:cNvPr id="8" name="object 8"/>
            <p:cNvPicPr/>
            <p:nvPr/>
          </p:nvPicPr>
          <p:blipFill>
            <a:blip r:embed="rId3" cstate="print"/>
            <a:stretch>
              <a:fillRect/>
            </a:stretch>
          </p:blipFill>
          <p:spPr>
            <a:xfrm>
              <a:off x="3289793" y="2981214"/>
              <a:ext cx="802782" cy="870170"/>
            </a:xfrm>
            <a:prstGeom prst="rect">
              <a:avLst/>
            </a:prstGeom>
          </p:spPr>
        </p:pic>
        <p:pic>
          <p:nvPicPr>
            <p:cNvPr id="9" name="object 9"/>
            <p:cNvPicPr/>
            <p:nvPr/>
          </p:nvPicPr>
          <p:blipFill>
            <a:blip r:embed="rId4" cstate="print"/>
            <a:stretch>
              <a:fillRect/>
            </a:stretch>
          </p:blipFill>
          <p:spPr>
            <a:xfrm>
              <a:off x="3332839" y="2996201"/>
              <a:ext cx="721913" cy="785409"/>
            </a:xfrm>
            <a:prstGeom prst="rect">
              <a:avLst/>
            </a:prstGeom>
          </p:spPr>
        </p:pic>
        <p:pic>
          <p:nvPicPr>
            <p:cNvPr id="10" name="object 10"/>
            <p:cNvPicPr/>
            <p:nvPr/>
          </p:nvPicPr>
          <p:blipFill>
            <a:blip r:embed="rId3" cstate="print"/>
            <a:stretch>
              <a:fillRect/>
            </a:stretch>
          </p:blipFill>
          <p:spPr>
            <a:xfrm>
              <a:off x="2478760" y="2981214"/>
              <a:ext cx="802782" cy="870170"/>
            </a:xfrm>
            <a:prstGeom prst="rect">
              <a:avLst/>
            </a:prstGeom>
          </p:spPr>
        </p:pic>
        <p:pic>
          <p:nvPicPr>
            <p:cNvPr id="11" name="object 11"/>
            <p:cNvPicPr/>
            <p:nvPr/>
          </p:nvPicPr>
          <p:blipFill>
            <a:blip r:embed="rId5" cstate="print"/>
            <a:stretch>
              <a:fillRect/>
            </a:stretch>
          </p:blipFill>
          <p:spPr>
            <a:xfrm>
              <a:off x="2521807" y="2996201"/>
              <a:ext cx="721912" cy="785409"/>
            </a:xfrm>
            <a:prstGeom prst="rect">
              <a:avLst/>
            </a:prstGeom>
          </p:spPr>
        </p:pic>
      </p:grpSp>
      <p:sp>
        <p:nvSpPr>
          <p:cNvPr id="12" name="object 12"/>
          <p:cNvSpPr txBox="1"/>
          <p:nvPr/>
        </p:nvSpPr>
        <p:spPr>
          <a:xfrm>
            <a:off x="268944" y="3541948"/>
            <a:ext cx="8607425" cy="3128421"/>
          </a:xfrm>
          <a:prstGeom prst="rect">
            <a:avLst/>
          </a:prstGeom>
        </p:spPr>
        <p:txBody>
          <a:bodyPr vert="horz" wrap="square" lIns="0" tIns="14605" rIns="0" bIns="0" rtlCol="0">
            <a:spAutoFit/>
          </a:bodyPr>
          <a:lstStyle/>
          <a:p>
            <a:pPr marL="1478915">
              <a:lnSpc>
                <a:spcPts val="2265"/>
              </a:lnSpc>
              <a:spcBef>
                <a:spcPts val="115"/>
              </a:spcBef>
            </a:pPr>
            <a:r>
              <a:rPr sz="2000" i="1" spc="40" dirty="0">
                <a:latin typeface="Times New Roman"/>
                <a:cs typeface="Times New Roman"/>
              </a:rPr>
              <a:t>a</a:t>
            </a:r>
            <a:r>
              <a:rPr sz="2000" spc="40" dirty="0">
                <a:latin typeface="Cambria"/>
                <a:cs typeface="Cambria"/>
              </a:rPr>
              <a:t>∈</a:t>
            </a:r>
            <a:r>
              <a:rPr sz="2000" i="1" spc="40" dirty="0">
                <a:latin typeface="Times New Roman"/>
                <a:cs typeface="Times New Roman"/>
              </a:rPr>
              <a:t>A</a:t>
            </a:r>
            <a:endParaRPr sz="2000" dirty="0">
              <a:latin typeface="Times New Roman"/>
              <a:cs typeface="Times New Roman"/>
            </a:endParaRPr>
          </a:p>
          <a:p>
            <a:pPr marL="12700">
              <a:lnSpc>
                <a:spcPts val="3105"/>
              </a:lnSpc>
            </a:pPr>
            <a:r>
              <a:rPr sz="2400" spc="-65" dirty="0">
                <a:solidFill>
                  <a:srgbClr val="C82506"/>
                </a:solidFill>
                <a:latin typeface="Gill Sans MT"/>
                <a:cs typeface="Gill Sans MT"/>
              </a:rPr>
              <a:t>We</a:t>
            </a:r>
            <a:r>
              <a:rPr sz="2400" spc="-55" dirty="0">
                <a:solidFill>
                  <a:srgbClr val="C82506"/>
                </a:solidFill>
                <a:latin typeface="Gill Sans MT"/>
                <a:cs typeface="Gill Sans MT"/>
              </a:rPr>
              <a:t> </a:t>
            </a:r>
            <a:r>
              <a:rPr sz="2400" dirty="0">
                <a:solidFill>
                  <a:srgbClr val="C82506"/>
                </a:solidFill>
                <a:latin typeface="Gill Sans MT"/>
                <a:cs typeface="Gill Sans MT"/>
              </a:rPr>
              <a:t>can</a:t>
            </a:r>
            <a:r>
              <a:rPr sz="2400" spc="-40" dirty="0">
                <a:solidFill>
                  <a:srgbClr val="C82506"/>
                </a:solidFill>
                <a:latin typeface="Gill Sans MT"/>
                <a:cs typeface="Gill Sans MT"/>
              </a:rPr>
              <a:t> </a:t>
            </a:r>
            <a:r>
              <a:rPr sz="2400" dirty="0">
                <a:solidFill>
                  <a:srgbClr val="C82506"/>
                </a:solidFill>
                <a:latin typeface="Gill Sans MT"/>
                <a:cs typeface="Gill Sans MT"/>
              </a:rPr>
              <a:t>instead</a:t>
            </a:r>
            <a:r>
              <a:rPr sz="2400" spc="-40" dirty="0">
                <a:solidFill>
                  <a:srgbClr val="C82506"/>
                </a:solidFill>
                <a:latin typeface="Gill Sans MT"/>
                <a:cs typeface="Gill Sans MT"/>
              </a:rPr>
              <a:t> </a:t>
            </a:r>
            <a:r>
              <a:rPr sz="2400" dirty="0">
                <a:solidFill>
                  <a:srgbClr val="C82506"/>
                </a:solidFill>
                <a:latin typeface="Gill Sans MT"/>
                <a:cs typeface="Gill Sans MT"/>
              </a:rPr>
              <a:t>directly</a:t>
            </a:r>
            <a:r>
              <a:rPr sz="2400" spc="-40" dirty="0">
                <a:solidFill>
                  <a:srgbClr val="C82506"/>
                </a:solidFill>
                <a:latin typeface="Gill Sans MT"/>
                <a:cs typeface="Gill Sans MT"/>
              </a:rPr>
              <a:t> </a:t>
            </a:r>
            <a:r>
              <a:rPr sz="2400" dirty="0">
                <a:solidFill>
                  <a:srgbClr val="C82506"/>
                </a:solidFill>
                <a:latin typeface="Gill Sans MT"/>
                <a:cs typeface="Gill Sans MT"/>
              </a:rPr>
              <a:t>work</a:t>
            </a:r>
            <a:r>
              <a:rPr sz="2400" spc="-35" dirty="0">
                <a:solidFill>
                  <a:srgbClr val="C82506"/>
                </a:solidFill>
                <a:latin typeface="Gill Sans MT"/>
                <a:cs typeface="Gill Sans MT"/>
              </a:rPr>
              <a:t> </a:t>
            </a:r>
            <a:r>
              <a:rPr sz="2400" dirty="0">
                <a:solidFill>
                  <a:srgbClr val="C82506"/>
                </a:solidFill>
                <a:latin typeface="Gill Sans MT"/>
                <a:cs typeface="Gill Sans MT"/>
              </a:rPr>
              <a:t>with</a:t>
            </a:r>
            <a:r>
              <a:rPr sz="2400" spc="-45" dirty="0">
                <a:solidFill>
                  <a:srgbClr val="C82506"/>
                </a:solidFill>
                <a:latin typeface="Gill Sans MT"/>
                <a:cs typeface="Gill Sans MT"/>
              </a:rPr>
              <a:t> </a:t>
            </a:r>
            <a:r>
              <a:rPr sz="2400" dirty="0">
                <a:solidFill>
                  <a:srgbClr val="C82506"/>
                </a:solidFill>
                <a:latin typeface="Gill Sans MT"/>
                <a:cs typeface="Gill Sans MT"/>
              </a:rPr>
              <a:t>the</a:t>
            </a:r>
            <a:r>
              <a:rPr sz="2400" spc="-40" dirty="0">
                <a:solidFill>
                  <a:srgbClr val="C82506"/>
                </a:solidFill>
                <a:latin typeface="Gill Sans MT"/>
                <a:cs typeface="Gill Sans MT"/>
              </a:rPr>
              <a:t> </a:t>
            </a:r>
            <a:r>
              <a:rPr sz="2400" dirty="0">
                <a:solidFill>
                  <a:srgbClr val="C82506"/>
                </a:solidFill>
                <a:latin typeface="Gill Sans MT"/>
                <a:cs typeface="Gill Sans MT"/>
              </a:rPr>
              <a:t>action</a:t>
            </a:r>
            <a:r>
              <a:rPr lang="en-US" sz="2400" dirty="0">
                <a:solidFill>
                  <a:srgbClr val="C82506"/>
                </a:solidFill>
                <a:latin typeface="Gill Sans MT"/>
                <a:cs typeface="Gill Sans MT"/>
              </a:rPr>
              <a:t>-state</a:t>
            </a:r>
            <a:r>
              <a:rPr sz="2400" dirty="0">
                <a:solidFill>
                  <a:srgbClr val="C82506"/>
                </a:solidFill>
                <a:latin typeface="Gill Sans MT"/>
                <a:cs typeface="Gill Sans MT"/>
              </a:rPr>
              <a:t>-value</a:t>
            </a:r>
            <a:r>
              <a:rPr sz="2400" spc="-40" dirty="0">
                <a:solidFill>
                  <a:srgbClr val="C82506"/>
                </a:solidFill>
                <a:latin typeface="Gill Sans MT"/>
                <a:cs typeface="Gill Sans MT"/>
              </a:rPr>
              <a:t> </a:t>
            </a:r>
            <a:r>
              <a:rPr sz="2400" spc="-10" dirty="0">
                <a:solidFill>
                  <a:srgbClr val="C82506"/>
                </a:solidFill>
                <a:latin typeface="Gill Sans MT"/>
                <a:cs typeface="Gill Sans MT"/>
              </a:rPr>
              <a:t>function.</a:t>
            </a:r>
            <a:endParaRPr sz="2400" dirty="0">
              <a:latin typeface="Gill Sans MT"/>
              <a:cs typeface="Gill Sans MT"/>
            </a:endParaRPr>
          </a:p>
          <a:p>
            <a:pPr>
              <a:lnSpc>
                <a:spcPct val="100000"/>
              </a:lnSpc>
            </a:pPr>
            <a:endParaRPr sz="2550" dirty="0">
              <a:latin typeface="Gill Sans MT"/>
              <a:cs typeface="Gill Sans MT"/>
            </a:endParaRPr>
          </a:p>
          <a:p>
            <a:pPr marL="12700">
              <a:lnSpc>
                <a:spcPct val="100000"/>
              </a:lnSpc>
            </a:pPr>
            <a:r>
              <a:rPr sz="2700" dirty="0">
                <a:latin typeface="Gill Sans MT"/>
                <a:cs typeface="Gill Sans MT"/>
              </a:rPr>
              <a:t>Greedy</a:t>
            </a:r>
            <a:r>
              <a:rPr sz="2700" spc="-30" dirty="0">
                <a:latin typeface="Gill Sans MT"/>
                <a:cs typeface="Gill Sans MT"/>
              </a:rPr>
              <a:t> </a:t>
            </a:r>
            <a:r>
              <a:rPr sz="2700" spc="-10" dirty="0">
                <a:latin typeface="Gill Sans MT"/>
                <a:cs typeface="Gill Sans MT"/>
              </a:rPr>
              <a:t>policy</a:t>
            </a:r>
            <a:r>
              <a:rPr sz="2700" spc="-85" dirty="0">
                <a:latin typeface="Gill Sans MT"/>
                <a:cs typeface="Gill Sans MT"/>
              </a:rPr>
              <a:t> </a:t>
            </a:r>
            <a:r>
              <a:rPr sz="2700" spc="-125" dirty="0">
                <a:latin typeface="Gill Sans MT"/>
                <a:cs typeface="Gill Sans MT"/>
              </a:rPr>
              <a:t>improvement</a:t>
            </a:r>
            <a:r>
              <a:rPr sz="2700" spc="-105" dirty="0">
                <a:latin typeface="Gill Sans MT"/>
                <a:cs typeface="Gill Sans MT"/>
              </a:rPr>
              <a:t> </a:t>
            </a:r>
            <a:r>
              <a:rPr sz="2700" spc="-75" dirty="0">
                <a:latin typeface="Gill Sans MT"/>
                <a:cs typeface="Gill Sans MT"/>
              </a:rPr>
              <a:t>over</a:t>
            </a:r>
            <a:r>
              <a:rPr sz="2700" spc="-80" dirty="0">
                <a:latin typeface="Gill Sans MT"/>
                <a:cs typeface="Gill Sans MT"/>
              </a:rPr>
              <a:t> </a:t>
            </a:r>
            <a:r>
              <a:rPr sz="2700" i="1" dirty="0">
                <a:latin typeface="Arial"/>
                <a:cs typeface="Arial"/>
              </a:rPr>
              <a:t>Q</a:t>
            </a:r>
            <a:r>
              <a:rPr sz="2700" dirty="0">
                <a:latin typeface="Gill Sans MT"/>
                <a:cs typeface="Gill Sans MT"/>
              </a:rPr>
              <a:t>(</a:t>
            </a:r>
            <a:r>
              <a:rPr sz="2700" i="1" dirty="0">
                <a:latin typeface="Arial"/>
                <a:cs typeface="Arial"/>
              </a:rPr>
              <a:t>s</a:t>
            </a:r>
            <a:r>
              <a:rPr sz="2700" i="1" dirty="0">
                <a:latin typeface="Times New Roman"/>
                <a:cs typeface="Times New Roman"/>
              </a:rPr>
              <a:t>,</a:t>
            </a:r>
            <a:r>
              <a:rPr sz="2700" i="1" spc="-235" dirty="0">
                <a:latin typeface="Times New Roman"/>
                <a:cs typeface="Times New Roman"/>
              </a:rPr>
              <a:t> </a:t>
            </a:r>
            <a:r>
              <a:rPr sz="2700" i="1" dirty="0">
                <a:latin typeface="Arial"/>
                <a:cs typeface="Arial"/>
              </a:rPr>
              <a:t>a</a:t>
            </a:r>
            <a:r>
              <a:rPr sz="2700" dirty="0">
                <a:latin typeface="Gill Sans MT"/>
                <a:cs typeface="Gill Sans MT"/>
              </a:rPr>
              <a:t>) is</a:t>
            </a:r>
            <a:r>
              <a:rPr sz="2700" spc="10" dirty="0">
                <a:latin typeface="Gill Sans MT"/>
                <a:cs typeface="Gill Sans MT"/>
              </a:rPr>
              <a:t> </a:t>
            </a:r>
            <a:r>
              <a:rPr sz="2700" spc="-125" dirty="0">
                <a:latin typeface="Gill Sans MT"/>
                <a:cs typeface="Gill Sans MT"/>
              </a:rPr>
              <a:t>model-</a:t>
            </a:r>
            <a:r>
              <a:rPr sz="2700" spc="-20" dirty="0">
                <a:latin typeface="Gill Sans MT"/>
                <a:cs typeface="Gill Sans MT"/>
              </a:rPr>
              <a:t>free</a:t>
            </a:r>
            <a:endParaRPr sz="2700" dirty="0">
              <a:latin typeface="Gill Sans MT"/>
              <a:cs typeface="Gill Sans MT"/>
            </a:endParaRPr>
          </a:p>
          <a:p>
            <a:pPr>
              <a:lnSpc>
                <a:spcPct val="100000"/>
              </a:lnSpc>
              <a:spcBef>
                <a:spcPts val="30"/>
              </a:spcBef>
            </a:pPr>
            <a:endParaRPr sz="2650" dirty="0">
              <a:latin typeface="Gill Sans MT"/>
              <a:cs typeface="Gill Sans MT"/>
            </a:endParaRPr>
          </a:p>
          <a:p>
            <a:pPr marL="12700">
              <a:lnSpc>
                <a:spcPct val="100000"/>
              </a:lnSpc>
            </a:pPr>
            <a:r>
              <a:rPr sz="2800" i="1" spc="-135" dirty="0">
                <a:latin typeface="Arial"/>
                <a:cs typeface="Arial"/>
              </a:rPr>
              <a:t>π</a:t>
            </a:r>
            <a:r>
              <a:rPr sz="2800" spc="-135" dirty="0">
                <a:latin typeface="Cambria"/>
                <a:cs typeface="Cambria"/>
              </a:rPr>
              <a:t>′(</a:t>
            </a:r>
            <a:r>
              <a:rPr sz="2800" i="1" spc="-135" dirty="0">
                <a:latin typeface="Times New Roman"/>
                <a:cs typeface="Times New Roman"/>
              </a:rPr>
              <a:t>s</a:t>
            </a:r>
            <a:r>
              <a:rPr sz="2800" spc="-135" dirty="0">
                <a:latin typeface="Cambria"/>
                <a:cs typeface="Cambria"/>
              </a:rPr>
              <a:t>)</a:t>
            </a:r>
            <a:r>
              <a:rPr sz="2800" spc="5" dirty="0">
                <a:latin typeface="Cambria"/>
                <a:cs typeface="Cambria"/>
              </a:rPr>
              <a:t> </a:t>
            </a:r>
            <a:r>
              <a:rPr sz="2800" spc="385" dirty="0">
                <a:latin typeface="Cambria"/>
                <a:cs typeface="Cambria"/>
              </a:rPr>
              <a:t>=</a:t>
            </a:r>
            <a:r>
              <a:rPr sz="2800" spc="60" dirty="0">
                <a:latin typeface="Cambria"/>
                <a:cs typeface="Cambria"/>
              </a:rPr>
              <a:t> </a:t>
            </a:r>
            <a:r>
              <a:rPr sz="2800" spc="-50" dirty="0">
                <a:latin typeface="Cambria"/>
                <a:cs typeface="Cambria"/>
              </a:rPr>
              <a:t>argmax</a:t>
            </a:r>
            <a:r>
              <a:rPr sz="2800" spc="195" dirty="0">
                <a:latin typeface="Cambria"/>
                <a:cs typeface="Cambria"/>
              </a:rPr>
              <a:t> </a:t>
            </a:r>
            <a:r>
              <a:rPr sz="2800" i="1" dirty="0">
                <a:latin typeface="Times New Roman"/>
                <a:cs typeface="Times New Roman"/>
              </a:rPr>
              <a:t>Q</a:t>
            </a:r>
            <a:r>
              <a:rPr sz="2800" dirty="0">
                <a:latin typeface="Cambria"/>
                <a:cs typeface="Cambria"/>
              </a:rPr>
              <a:t>(</a:t>
            </a:r>
            <a:r>
              <a:rPr sz="2800" i="1" dirty="0">
                <a:latin typeface="Times New Roman"/>
                <a:cs typeface="Times New Roman"/>
              </a:rPr>
              <a:t>s</a:t>
            </a:r>
            <a:r>
              <a:rPr sz="2800" dirty="0">
                <a:latin typeface="Cambria"/>
                <a:cs typeface="Cambria"/>
              </a:rPr>
              <a:t>,</a:t>
            </a:r>
            <a:r>
              <a:rPr sz="2800" spc="-155" dirty="0">
                <a:latin typeface="Cambria"/>
                <a:cs typeface="Cambria"/>
              </a:rPr>
              <a:t> </a:t>
            </a:r>
            <a:r>
              <a:rPr sz="2800" i="1" spc="-35" dirty="0">
                <a:latin typeface="Times New Roman"/>
                <a:cs typeface="Times New Roman"/>
              </a:rPr>
              <a:t>a</a:t>
            </a:r>
            <a:r>
              <a:rPr sz="2800" spc="-35" dirty="0">
                <a:latin typeface="Cambria"/>
                <a:cs typeface="Cambria"/>
              </a:rPr>
              <a:t>)</a:t>
            </a:r>
            <a:endParaRPr sz="2800" dirty="0">
              <a:latin typeface="Cambria"/>
              <a:cs typeface="Cambria"/>
            </a:endParaRPr>
          </a:p>
          <a:p>
            <a:pPr marL="1395730">
              <a:lnSpc>
                <a:spcPct val="100000"/>
              </a:lnSpc>
              <a:spcBef>
                <a:spcPts val="185"/>
              </a:spcBef>
            </a:pPr>
            <a:r>
              <a:rPr sz="2000" i="1" spc="40" dirty="0">
                <a:latin typeface="Times New Roman"/>
                <a:cs typeface="Times New Roman"/>
              </a:rPr>
              <a:t>a</a:t>
            </a:r>
            <a:r>
              <a:rPr sz="2000" spc="40" dirty="0">
                <a:latin typeface="Cambria"/>
                <a:cs typeface="Cambria"/>
              </a:rPr>
              <a:t>∈</a:t>
            </a:r>
            <a:r>
              <a:rPr sz="2000" i="1" spc="40" dirty="0">
                <a:latin typeface="Times New Roman"/>
                <a:cs typeface="Times New Roman"/>
              </a:rPr>
              <a:t>A</a:t>
            </a:r>
            <a:endParaRPr sz="2000" dirty="0">
              <a:latin typeface="Times New Roman"/>
              <a:cs typeface="Times New Roman"/>
            </a:endParaRPr>
          </a:p>
          <a:p>
            <a:pPr marL="24130">
              <a:lnSpc>
                <a:spcPct val="100000"/>
              </a:lnSpc>
              <a:spcBef>
                <a:spcPts val="215"/>
              </a:spcBef>
            </a:pPr>
            <a:r>
              <a:rPr sz="2400" dirty="0">
                <a:solidFill>
                  <a:srgbClr val="C82506"/>
                </a:solidFill>
                <a:latin typeface="Gill Sans MT"/>
                <a:cs typeface="Gill Sans MT"/>
              </a:rPr>
              <a:t>But</a:t>
            </a:r>
            <a:r>
              <a:rPr sz="2400" spc="-5" dirty="0">
                <a:solidFill>
                  <a:srgbClr val="C82506"/>
                </a:solidFill>
                <a:latin typeface="Gill Sans MT"/>
                <a:cs typeface="Gill Sans MT"/>
              </a:rPr>
              <a:t> </a:t>
            </a:r>
            <a:r>
              <a:rPr sz="2400" dirty="0">
                <a:solidFill>
                  <a:srgbClr val="C82506"/>
                </a:solidFill>
                <a:latin typeface="Gill Sans MT"/>
                <a:cs typeface="Gill Sans MT"/>
              </a:rPr>
              <a:t>now</a:t>
            </a:r>
            <a:r>
              <a:rPr sz="2400" spc="-5" dirty="0">
                <a:solidFill>
                  <a:srgbClr val="C82506"/>
                </a:solidFill>
                <a:latin typeface="Gill Sans MT"/>
                <a:cs typeface="Gill Sans MT"/>
              </a:rPr>
              <a:t> </a:t>
            </a:r>
            <a:r>
              <a:rPr sz="2400" dirty="0">
                <a:solidFill>
                  <a:srgbClr val="C82506"/>
                </a:solidFill>
                <a:latin typeface="Gill Sans MT"/>
                <a:cs typeface="Gill Sans MT"/>
              </a:rPr>
              <a:t>we</a:t>
            </a:r>
            <a:r>
              <a:rPr sz="2400" spc="-10" dirty="0">
                <a:solidFill>
                  <a:srgbClr val="C82506"/>
                </a:solidFill>
                <a:latin typeface="Gill Sans MT"/>
                <a:cs typeface="Gill Sans MT"/>
              </a:rPr>
              <a:t> </a:t>
            </a:r>
            <a:r>
              <a:rPr sz="2400" dirty="0">
                <a:solidFill>
                  <a:srgbClr val="C82506"/>
                </a:solidFill>
                <a:latin typeface="Gill Sans MT"/>
                <a:cs typeface="Gill Sans MT"/>
              </a:rPr>
              <a:t>need</a:t>
            </a:r>
            <a:r>
              <a:rPr sz="2400" spc="-5" dirty="0">
                <a:solidFill>
                  <a:srgbClr val="C82506"/>
                </a:solidFill>
                <a:latin typeface="Gill Sans MT"/>
                <a:cs typeface="Gill Sans MT"/>
              </a:rPr>
              <a:t> </a:t>
            </a:r>
            <a:r>
              <a:rPr sz="2400" dirty="0">
                <a:solidFill>
                  <a:srgbClr val="C82506"/>
                </a:solidFill>
                <a:latin typeface="Gill Sans MT"/>
                <a:cs typeface="Gill Sans MT"/>
              </a:rPr>
              <a:t>to</a:t>
            </a:r>
            <a:r>
              <a:rPr sz="2400" spc="-5" dirty="0">
                <a:solidFill>
                  <a:srgbClr val="C82506"/>
                </a:solidFill>
                <a:latin typeface="Gill Sans MT"/>
                <a:cs typeface="Gill Sans MT"/>
              </a:rPr>
              <a:t> </a:t>
            </a:r>
            <a:r>
              <a:rPr sz="2400" dirty="0">
                <a:solidFill>
                  <a:srgbClr val="C82506"/>
                </a:solidFill>
                <a:latin typeface="Gill Sans MT"/>
                <a:cs typeface="Gill Sans MT"/>
              </a:rPr>
              <a:t>find </a:t>
            </a:r>
            <a:r>
              <a:rPr sz="2400" i="1" dirty="0">
                <a:solidFill>
                  <a:srgbClr val="C82506"/>
                </a:solidFill>
                <a:latin typeface="Gill Sans MT"/>
                <a:cs typeface="Gill Sans MT"/>
              </a:rPr>
              <a:t>Q</a:t>
            </a:r>
            <a:r>
              <a:rPr sz="2400" i="1" spc="-5" dirty="0">
                <a:solidFill>
                  <a:srgbClr val="C82506"/>
                </a:solidFill>
                <a:latin typeface="Gill Sans MT"/>
                <a:cs typeface="Gill Sans MT"/>
              </a:rPr>
              <a:t> </a:t>
            </a:r>
            <a:r>
              <a:rPr sz="2400" dirty="0">
                <a:solidFill>
                  <a:srgbClr val="C82506"/>
                </a:solidFill>
                <a:latin typeface="Gill Sans MT"/>
                <a:cs typeface="Gill Sans MT"/>
              </a:rPr>
              <a:t>instead of</a:t>
            </a:r>
            <a:r>
              <a:rPr sz="2400" spc="-5" dirty="0">
                <a:solidFill>
                  <a:srgbClr val="C82506"/>
                </a:solidFill>
                <a:latin typeface="Gill Sans MT"/>
                <a:cs typeface="Gill Sans MT"/>
              </a:rPr>
              <a:t> </a:t>
            </a:r>
            <a:r>
              <a:rPr sz="2400" i="1" dirty="0">
                <a:solidFill>
                  <a:srgbClr val="C82506"/>
                </a:solidFill>
                <a:latin typeface="Gill Sans MT"/>
                <a:cs typeface="Gill Sans MT"/>
              </a:rPr>
              <a:t>V</a:t>
            </a:r>
            <a:r>
              <a:rPr sz="2400" i="1" spc="-5" dirty="0">
                <a:solidFill>
                  <a:srgbClr val="C82506"/>
                </a:solidFill>
                <a:latin typeface="Gill Sans MT"/>
                <a:cs typeface="Gill Sans MT"/>
              </a:rPr>
              <a:t> </a:t>
            </a:r>
            <a:r>
              <a:rPr sz="2400" spc="-50" dirty="0">
                <a:solidFill>
                  <a:srgbClr val="C82506"/>
                </a:solidFill>
                <a:latin typeface="Gill Sans MT"/>
                <a:cs typeface="Gill Sans MT"/>
              </a:rPr>
              <a:t>!</a:t>
            </a:r>
            <a:endParaRPr sz="2400" dirty="0">
              <a:latin typeface="Gill Sans MT"/>
              <a:cs typeface="Gill Sans MT"/>
            </a:endParaRPr>
          </a:p>
        </p:txBody>
      </p:sp>
      <p:grpSp>
        <p:nvGrpSpPr>
          <p:cNvPr id="13" name="object 13"/>
          <p:cNvGrpSpPr/>
          <p:nvPr/>
        </p:nvGrpSpPr>
        <p:grpSpPr>
          <a:xfrm>
            <a:off x="2363356" y="5283117"/>
            <a:ext cx="1550670" cy="870585"/>
            <a:chOff x="2363356" y="5283117"/>
            <a:chExt cx="1550670" cy="870585"/>
          </a:xfrm>
        </p:grpSpPr>
        <p:pic>
          <p:nvPicPr>
            <p:cNvPr id="14" name="object 14"/>
            <p:cNvPicPr/>
            <p:nvPr/>
          </p:nvPicPr>
          <p:blipFill>
            <a:blip r:embed="rId6" cstate="print"/>
            <a:stretch>
              <a:fillRect/>
            </a:stretch>
          </p:blipFill>
          <p:spPr>
            <a:xfrm>
              <a:off x="2363356" y="5283117"/>
              <a:ext cx="1550315" cy="870170"/>
            </a:xfrm>
            <a:prstGeom prst="rect">
              <a:avLst/>
            </a:prstGeom>
          </p:spPr>
        </p:pic>
        <p:pic>
          <p:nvPicPr>
            <p:cNvPr id="15" name="object 15"/>
            <p:cNvPicPr/>
            <p:nvPr/>
          </p:nvPicPr>
          <p:blipFill>
            <a:blip r:embed="rId7" cstate="print"/>
            <a:stretch>
              <a:fillRect/>
            </a:stretch>
          </p:blipFill>
          <p:spPr>
            <a:xfrm>
              <a:off x="2404021" y="5298403"/>
              <a:ext cx="1470101" cy="789992"/>
            </a:xfrm>
            <a:prstGeom prst="rect">
              <a:avLst/>
            </a:prstGeom>
          </p:spPr>
        </p:pic>
      </p:grpSp>
      <p:sp>
        <p:nvSpPr>
          <p:cNvPr id="16" name="Date Placeholder 3">
            <a:extLst>
              <a:ext uri="{FF2B5EF4-FFF2-40B4-BE49-F238E27FC236}">
                <a16:creationId xmlns:a16="http://schemas.microsoft.com/office/drawing/2014/main" id="{0F8E7AB3-58E1-55B0-4611-66313549BD1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ooter Placeholder 5">
            <a:extLst>
              <a:ext uri="{FF2B5EF4-FFF2-40B4-BE49-F238E27FC236}">
                <a16:creationId xmlns:a16="http://schemas.microsoft.com/office/drawing/2014/main" id="{3B09B79D-209D-ACCF-5A41-4257625C564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8" name="Slide Number Placeholder 7">
            <a:extLst>
              <a:ext uri="{FF2B5EF4-FFF2-40B4-BE49-F238E27FC236}">
                <a16:creationId xmlns:a16="http://schemas.microsoft.com/office/drawing/2014/main" id="{D04360E8-98CA-C478-F677-3EC7F6C8D1DF}"/>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1150" y="370737"/>
            <a:ext cx="5180330" cy="421640"/>
          </a:xfrm>
          <a:prstGeom prst="rect">
            <a:avLst/>
          </a:prstGeom>
        </p:spPr>
        <p:txBody>
          <a:bodyPr vert="horz" wrap="square" lIns="0" tIns="12700" rIns="0" bIns="0" rtlCol="0">
            <a:spAutoFit/>
          </a:bodyPr>
          <a:lstStyle/>
          <a:p>
            <a:pPr marL="12700">
              <a:lnSpc>
                <a:spcPct val="100000"/>
              </a:lnSpc>
              <a:spcBef>
                <a:spcPts val="100"/>
              </a:spcBef>
            </a:pPr>
            <a:r>
              <a:rPr spc="-95" dirty="0"/>
              <a:t>Monte-</a:t>
            </a:r>
            <a:r>
              <a:rPr dirty="0"/>
              <a:t>Carlo</a:t>
            </a:r>
            <a:r>
              <a:rPr spc="-185" dirty="0"/>
              <a:t> </a:t>
            </a:r>
            <a:r>
              <a:rPr spc="-50" dirty="0"/>
              <a:t>Policy</a:t>
            </a:r>
            <a:r>
              <a:rPr spc="-130" dirty="0"/>
              <a:t> </a:t>
            </a:r>
            <a:r>
              <a:rPr spc="-10" dirty="0"/>
              <a:t>Iteration</a:t>
            </a:r>
            <a:r>
              <a:rPr spc="-95" dirty="0"/>
              <a:t> </a:t>
            </a:r>
            <a:r>
              <a:rPr spc="-10" dirty="0"/>
              <a:t>(simple)</a:t>
            </a:r>
          </a:p>
        </p:txBody>
      </p:sp>
      <mc:AlternateContent xmlns:mc="http://schemas.openxmlformats.org/markup-compatibility/2006" xmlns:a14="http://schemas.microsoft.com/office/drawing/2010/main">
        <mc:Choice Requires="a14">
          <p:sp>
            <p:nvSpPr>
              <p:cNvPr id="3" name="object 3"/>
              <p:cNvSpPr txBox="1"/>
              <p:nvPr/>
            </p:nvSpPr>
            <p:spPr>
              <a:xfrm>
                <a:off x="152400" y="1818507"/>
                <a:ext cx="8658070" cy="2094869"/>
              </a:xfrm>
              <a:prstGeom prst="rect">
                <a:avLst/>
              </a:prstGeom>
            </p:spPr>
            <p:txBody>
              <a:bodyPr vert="horz" wrap="square" lIns="0" tIns="189230" rIns="0" bIns="0" rtlCol="0">
                <a:spAutoFit/>
              </a:bodyPr>
              <a:lstStyle/>
              <a:p>
                <a:pPr marL="76200">
                  <a:lnSpc>
                    <a:spcPct val="100000"/>
                  </a:lnSpc>
                  <a:spcBef>
                    <a:spcPts val="600"/>
                  </a:spcBef>
                </a:pPr>
                <a:r>
                  <a:rPr sz="2100" dirty="0">
                    <a:solidFill>
                      <a:srgbClr val="C82506"/>
                    </a:solidFill>
                    <a:latin typeface="Gill Sans MT"/>
                    <a:cs typeface="Gill Sans MT"/>
                  </a:rPr>
                  <a:t>Policy</a:t>
                </a:r>
                <a:r>
                  <a:rPr sz="2100" spc="-20" dirty="0">
                    <a:solidFill>
                      <a:srgbClr val="C82506"/>
                    </a:solidFill>
                    <a:latin typeface="Gill Sans MT"/>
                    <a:cs typeface="Gill Sans MT"/>
                  </a:rPr>
                  <a:t> </a:t>
                </a:r>
                <a:r>
                  <a:rPr sz="2100" dirty="0">
                    <a:solidFill>
                      <a:srgbClr val="C82506"/>
                    </a:solidFill>
                    <a:latin typeface="Gill Sans MT"/>
                    <a:cs typeface="Gill Sans MT"/>
                  </a:rPr>
                  <a:t>evaluation</a:t>
                </a:r>
                <a:r>
                  <a:rPr sz="2100" spc="-10" dirty="0">
                    <a:solidFill>
                      <a:srgbClr val="C82506"/>
                    </a:solidFill>
                    <a:latin typeface="Gill Sans MT"/>
                    <a:cs typeface="Gill Sans MT"/>
                  </a:rPr>
                  <a:t> </a:t>
                </a:r>
                <a:r>
                  <a:rPr sz="2100" dirty="0">
                    <a:latin typeface="Gill Sans MT"/>
                    <a:cs typeface="Gill Sans MT"/>
                  </a:rPr>
                  <a:t>Monte-Carlo</a:t>
                </a:r>
                <a:r>
                  <a:rPr sz="2100" spc="-10" dirty="0">
                    <a:latin typeface="Gill Sans MT"/>
                    <a:cs typeface="Gill Sans MT"/>
                  </a:rPr>
                  <a:t> </a:t>
                </a:r>
                <a:r>
                  <a:rPr sz="2100" dirty="0">
                    <a:latin typeface="Gill Sans MT"/>
                    <a:cs typeface="Gill Sans MT"/>
                  </a:rPr>
                  <a:t>policy</a:t>
                </a:r>
                <a:r>
                  <a:rPr sz="2100" spc="-15" dirty="0">
                    <a:latin typeface="Gill Sans MT"/>
                    <a:cs typeface="Gill Sans MT"/>
                  </a:rPr>
                  <a:t> </a:t>
                </a:r>
                <a:r>
                  <a:rPr sz="2100" spc="-10" dirty="0">
                    <a:latin typeface="Gill Sans MT"/>
                    <a:cs typeface="Gill Sans MT"/>
                  </a:rPr>
                  <a:t>evaluation,</a:t>
                </a:r>
                <a:r>
                  <a:rPr sz="2100" spc="-210" dirty="0">
                    <a:latin typeface="Gill Sans MT"/>
                    <a:cs typeface="Gill Sans MT"/>
                  </a:rPr>
                  <a:t> </a:t>
                </a:r>
                <a:r>
                  <a:rPr sz="2200" i="1" dirty="0">
                    <a:latin typeface="Times New Roman"/>
                    <a:cs typeface="Times New Roman"/>
                  </a:rPr>
                  <a:t>Q</a:t>
                </a:r>
                <a:r>
                  <a:rPr sz="2200" i="1" spc="50" dirty="0">
                    <a:latin typeface="Times New Roman"/>
                    <a:cs typeface="Times New Roman"/>
                  </a:rPr>
                  <a:t> </a:t>
                </a:r>
                <a:r>
                  <a:rPr sz="2200" spc="290" dirty="0">
                    <a:latin typeface="Cambria"/>
                    <a:cs typeface="Cambria"/>
                  </a:rPr>
                  <a:t>≈</a:t>
                </a:r>
                <a:r>
                  <a:rPr sz="2200" spc="114" dirty="0">
                    <a:latin typeface="Cambria"/>
                    <a:cs typeface="Cambria"/>
                  </a:rPr>
                  <a:t> </a:t>
                </a:r>
                <a:r>
                  <a:rPr sz="2200" i="1" spc="-25" dirty="0">
                    <a:latin typeface="Times New Roman"/>
                    <a:cs typeface="Times New Roman"/>
                  </a:rPr>
                  <a:t>q</a:t>
                </a:r>
                <a14:m>
                  <m:oMath xmlns:m="http://schemas.openxmlformats.org/officeDocument/2006/math">
                    <m:r>
                      <a:rPr lang="en-US" sz="2325" i="1" spc="-37" baseline="-19713" dirty="0" smtClean="0">
                        <a:latin typeface="Cambria Math" panose="02040503050406030204" pitchFamily="18" charset="0"/>
                        <a:cs typeface="Arial"/>
                      </a:rPr>
                      <m:t>𝜋</m:t>
                    </m:r>
                  </m:oMath>
                </a14:m>
                <a:endParaRPr sz="2325" baseline="-19713" dirty="0">
                  <a:latin typeface="Arial"/>
                  <a:cs typeface="Arial"/>
                </a:endParaRPr>
              </a:p>
              <a:p>
                <a:pPr marL="492759" marR="443230" indent="-417195">
                  <a:spcBef>
                    <a:spcPts val="600"/>
                  </a:spcBef>
                  <a:tabLst>
                    <a:tab pos="2411095" algn="l"/>
                  </a:tabLst>
                </a:pPr>
                <a:r>
                  <a:rPr sz="2100" dirty="0">
                    <a:solidFill>
                      <a:srgbClr val="C82506"/>
                    </a:solidFill>
                    <a:latin typeface="Gill Sans MT"/>
                    <a:cs typeface="Gill Sans MT"/>
                  </a:rPr>
                  <a:t>Policy</a:t>
                </a:r>
                <a:r>
                  <a:rPr sz="2100" spc="-65" dirty="0">
                    <a:solidFill>
                      <a:srgbClr val="C82506"/>
                    </a:solidFill>
                    <a:latin typeface="Gill Sans MT"/>
                    <a:cs typeface="Gill Sans MT"/>
                  </a:rPr>
                  <a:t> </a:t>
                </a:r>
                <a:r>
                  <a:rPr sz="2100" spc="-10" dirty="0">
                    <a:solidFill>
                      <a:srgbClr val="C82506"/>
                    </a:solidFill>
                    <a:latin typeface="Gill Sans MT"/>
                    <a:cs typeface="Gill Sans MT"/>
                  </a:rPr>
                  <a:t>improvement</a:t>
                </a:r>
                <a:r>
                  <a:rPr lang="el-GR" sz="2400" dirty="0">
                    <a:cs typeface="Arial"/>
                  </a:rPr>
                  <a:t> </a:t>
                </a:r>
                <a14:m>
                  <m:oMath xmlns:m="http://schemas.openxmlformats.org/officeDocument/2006/math">
                    <m:r>
                      <a:rPr lang="el-GR" sz="2400" i="1" dirty="0" smtClean="0">
                        <a:latin typeface="Cambria Math" panose="02040503050406030204" pitchFamily="18" charset="0"/>
                        <a:cs typeface="Arial"/>
                      </a:rPr>
                      <m:t>𝜖</m:t>
                    </m:r>
                  </m:oMath>
                </a14:m>
                <a:r>
                  <a:rPr sz="2100" spc="-10" dirty="0">
                    <a:latin typeface="Gill Sans MT"/>
                    <a:cs typeface="Gill Sans MT"/>
                  </a:rPr>
                  <a:t>-</a:t>
                </a:r>
                <a:r>
                  <a:rPr sz="2100" dirty="0">
                    <a:latin typeface="Gill Sans MT"/>
                    <a:cs typeface="Gill Sans MT"/>
                  </a:rPr>
                  <a:t>greedy</a:t>
                </a:r>
                <a:r>
                  <a:rPr sz="2100" spc="-40" dirty="0">
                    <a:latin typeface="Gill Sans MT"/>
                    <a:cs typeface="Gill Sans MT"/>
                  </a:rPr>
                  <a:t> </a:t>
                </a:r>
                <a:r>
                  <a:rPr sz="2100" dirty="0">
                    <a:latin typeface="Gill Sans MT"/>
                    <a:cs typeface="Gill Sans MT"/>
                  </a:rPr>
                  <a:t>policy</a:t>
                </a:r>
                <a:r>
                  <a:rPr sz="2100" spc="-30" dirty="0">
                    <a:latin typeface="Gill Sans MT"/>
                    <a:cs typeface="Gill Sans MT"/>
                  </a:rPr>
                  <a:t> </a:t>
                </a:r>
                <a:r>
                  <a:rPr sz="2100" spc="-10" dirty="0">
                    <a:latin typeface="Gill Sans MT"/>
                    <a:cs typeface="Gill Sans MT"/>
                  </a:rPr>
                  <a:t>improvement </a:t>
                </a:r>
                <a:endParaRPr lang="en-US" sz="2100" spc="-10" dirty="0">
                  <a:latin typeface="Gill Sans MT"/>
                  <a:cs typeface="Gill Sans MT"/>
                </a:endParaRPr>
              </a:p>
              <a:p>
                <a:pPr marL="492759" marR="443230" indent="-417195">
                  <a:spcBef>
                    <a:spcPts val="600"/>
                  </a:spcBef>
                  <a:tabLst>
                    <a:tab pos="2411095" algn="l"/>
                  </a:tabLst>
                </a:pPr>
                <a:r>
                  <a:rPr lang="en-US" sz="2100" spc="-10" dirty="0">
                    <a:latin typeface="Gill Sans MT"/>
                    <a:cs typeface="Gill Sans MT"/>
                  </a:rPr>
                  <a:t>      </a:t>
                </a:r>
                <a:r>
                  <a:rPr sz="2100" dirty="0">
                    <a:latin typeface="Gill Sans MT"/>
                    <a:cs typeface="Gill Sans MT"/>
                  </a:rPr>
                  <a:t>with</a:t>
                </a:r>
                <a:r>
                  <a:rPr sz="2100" spc="-120" dirty="0">
                    <a:latin typeface="Gill Sans MT"/>
                    <a:cs typeface="Gill Sans MT"/>
                  </a:rPr>
                  <a:t> </a:t>
                </a:r>
                <a:r>
                  <a:rPr sz="2100" dirty="0">
                    <a:latin typeface="Gill Sans MT"/>
                    <a:cs typeface="Gill Sans MT"/>
                  </a:rPr>
                  <a:t>probability</a:t>
                </a:r>
                <a:r>
                  <a:rPr sz="2100" spc="-50" dirty="0">
                    <a:latin typeface="Gill Sans MT"/>
                    <a:cs typeface="Gill Sans MT"/>
                  </a:rPr>
                  <a:t> </a:t>
                </a:r>
                <a:r>
                  <a:rPr sz="2200" spc="-110" dirty="0">
                    <a:latin typeface="Cambria"/>
                    <a:cs typeface="Cambria"/>
                  </a:rPr>
                  <a:t>(1</a:t>
                </a:r>
                <a:r>
                  <a:rPr sz="2200" spc="-10" dirty="0">
                    <a:latin typeface="Cambria"/>
                    <a:cs typeface="Cambria"/>
                  </a:rPr>
                  <a:t> </a:t>
                </a:r>
                <a:r>
                  <a:rPr sz="2200" spc="290" dirty="0">
                    <a:latin typeface="Cambria"/>
                    <a:cs typeface="Cambria"/>
                  </a:rPr>
                  <a:t>−</a:t>
                </a:r>
                <a:r>
                  <a:rPr sz="2200" spc="-40" dirty="0">
                    <a:latin typeface="Cambria"/>
                    <a:cs typeface="Cambria"/>
                  </a:rPr>
                  <a:t> </a:t>
                </a:r>
                <a14:m>
                  <m:oMath xmlns:m="http://schemas.openxmlformats.org/officeDocument/2006/math">
                    <m:r>
                      <a:rPr lang="en-US" sz="2200" i="1" dirty="0" smtClean="0">
                        <a:latin typeface="Cambria Math" panose="02040503050406030204" pitchFamily="18" charset="0"/>
                        <a:cs typeface="Arial"/>
                      </a:rPr>
                      <m:t>𝜖</m:t>
                    </m:r>
                  </m:oMath>
                </a14:m>
                <a:r>
                  <a:rPr sz="2200" dirty="0">
                    <a:latin typeface="Cambria"/>
                    <a:cs typeface="Cambria"/>
                  </a:rPr>
                  <a:t>)</a:t>
                </a:r>
                <a:r>
                  <a:rPr sz="2200" spc="45" dirty="0">
                    <a:latin typeface="Cambria"/>
                    <a:cs typeface="Cambria"/>
                  </a:rPr>
                  <a:t> </a:t>
                </a:r>
                <a:r>
                  <a:rPr sz="2100" dirty="0">
                    <a:latin typeface="Gill Sans MT"/>
                    <a:cs typeface="Gill Sans MT"/>
                  </a:rPr>
                  <a:t>choose</a:t>
                </a:r>
                <a:r>
                  <a:rPr sz="2100" spc="-50" dirty="0">
                    <a:latin typeface="Gill Sans MT"/>
                    <a:cs typeface="Gill Sans MT"/>
                  </a:rPr>
                  <a:t> </a:t>
                </a:r>
                <a:r>
                  <a:rPr sz="2200" spc="-50" dirty="0">
                    <a:latin typeface="Cambria"/>
                    <a:cs typeface="Cambria"/>
                  </a:rPr>
                  <a:t>argmax</a:t>
                </a:r>
                <a:r>
                  <a:rPr sz="2200" spc="180" dirty="0">
                    <a:latin typeface="Cambria"/>
                    <a:cs typeface="Cambria"/>
                  </a:rPr>
                  <a:t> </a:t>
                </a:r>
                <a:r>
                  <a:rPr sz="2200" i="1" spc="-10" dirty="0">
                    <a:latin typeface="Times New Roman"/>
                    <a:cs typeface="Times New Roman"/>
                  </a:rPr>
                  <a:t>Q</a:t>
                </a:r>
                <a:r>
                  <a:rPr sz="2200" spc="-10" dirty="0">
                    <a:latin typeface="Cambria"/>
                    <a:cs typeface="Cambria"/>
                  </a:rPr>
                  <a:t>(</a:t>
                </a:r>
                <a:r>
                  <a:rPr sz="2200" i="1" spc="-10" dirty="0">
                    <a:latin typeface="Times New Roman"/>
                    <a:cs typeface="Times New Roman"/>
                  </a:rPr>
                  <a:t>S</a:t>
                </a:r>
                <a:r>
                  <a:rPr sz="2200" spc="-10" dirty="0">
                    <a:latin typeface="Cambria"/>
                    <a:cs typeface="Cambria"/>
                  </a:rPr>
                  <a:t>,</a:t>
                </a:r>
                <a:r>
                  <a:rPr sz="2200" spc="-120" dirty="0">
                    <a:latin typeface="Cambria"/>
                    <a:cs typeface="Cambria"/>
                  </a:rPr>
                  <a:t> </a:t>
                </a:r>
                <a:r>
                  <a:rPr sz="2200" i="1" spc="-25" dirty="0">
                    <a:latin typeface="Times New Roman"/>
                    <a:cs typeface="Times New Roman"/>
                  </a:rPr>
                  <a:t>a</a:t>
                </a:r>
                <a:r>
                  <a:rPr sz="2200" spc="-25" dirty="0">
                    <a:latin typeface="Cambria"/>
                    <a:cs typeface="Cambria"/>
                  </a:rPr>
                  <a:t>)</a:t>
                </a:r>
                <a:r>
                  <a:rPr sz="2100" spc="-25" dirty="0">
                    <a:latin typeface="Gill Sans MT"/>
                    <a:cs typeface="Gill Sans MT"/>
                  </a:rPr>
                  <a:t>;</a:t>
                </a:r>
                <a:r>
                  <a:rPr lang="en-US" sz="2100" spc="-25" dirty="0">
                    <a:latin typeface="Gill Sans MT"/>
                    <a:cs typeface="Gill Sans MT"/>
                  </a:rPr>
                  <a:t> </a:t>
                </a:r>
                <a:r>
                  <a:rPr lang="en-US" sz="2100" dirty="0">
                    <a:latin typeface="Gill Sans MT"/>
                    <a:cs typeface="Gill Sans MT"/>
                  </a:rPr>
                  <a:t>with</a:t>
                </a:r>
                <a:r>
                  <a:rPr lang="en-US" sz="2100" spc="-15" dirty="0">
                    <a:latin typeface="Gill Sans MT"/>
                    <a:cs typeface="Gill Sans MT"/>
                  </a:rPr>
                  <a:t> </a:t>
                </a:r>
                <a:r>
                  <a:rPr lang="en-US" sz="2100" spc="-10" dirty="0">
                    <a:latin typeface="Gill Sans MT"/>
                    <a:cs typeface="Gill Sans MT"/>
                  </a:rPr>
                  <a:t>probability </a:t>
                </a:r>
                <a14:m>
                  <m:oMath xmlns:m="http://schemas.openxmlformats.org/officeDocument/2006/math">
                    <m:r>
                      <a:rPr lang="en-US" sz="2000" i="1" dirty="0" smtClean="0">
                        <a:latin typeface="Cambria Math" panose="02040503050406030204" pitchFamily="18" charset="0"/>
                        <a:cs typeface="Arial"/>
                      </a:rPr>
                      <m:t>𝜖</m:t>
                    </m:r>
                  </m:oMath>
                </a14:m>
                <a:r>
                  <a:rPr lang="en-US" sz="2000" i="1" dirty="0">
                    <a:latin typeface="Arial"/>
                    <a:cs typeface="Arial"/>
                  </a:rPr>
                  <a:t> </a:t>
                </a:r>
                <a:r>
                  <a:rPr lang="en-US" sz="2100" dirty="0">
                    <a:latin typeface="Gill Sans MT"/>
                    <a:cs typeface="Gill Sans MT"/>
                  </a:rPr>
                  <a:t>is  chosen</a:t>
                </a:r>
                <a:r>
                  <a:rPr lang="en-US" sz="2100" spc="-20" dirty="0">
                    <a:latin typeface="Gill Sans MT"/>
                    <a:cs typeface="Gill Sans MT"/>
                  </a:rPr>
                  <a:t> </a:t>
                </a:r>
                <a:r>
                  <a:rPr lang="en-US" sz="2100" spc="-10" dirty="0">
                    <a:latin typeface="Gill Sans MT"/>
                    <a:cs typeface="Gill Sans MT"/>
                  </a:rPr>
                  <a:t>randomly                          </a:t>
                </a:r>
                <a:r>
                  <a:rPr lang="en-US" sz="1400" i="1" spc="40" dirty="0" err="1">
                    <a:latin typeface="Times New Roman"/>
                    <a:cs typeface="Times New Roman"/>
                  </a:rPr>
                  <a:t>a</a:t>
                </a:r>
                <a:r>
                  <a:rPr lang="en-US" sz="1400" spc="40" dirty="0" err="1">
                    <a:latin typeface="Cambria"/>
                    <a:cs typeface="Cambria"/>
                  </a:rPr>
                  <a:t>∈</a:t>
                </a:r>
                <a:r>
                  <a:rPr lang="en-US" sz="1400" i="1" spc="40" dirty="0" err="1">
                    <a:latin typeface="Times New Roman"/>
                    <a:cs typeface="Times New Roman"/>
                  </a:rPr>
                  <a:t>A</a:t>
                </a:r>
                <a:endParaRPr lang="en-US" dirty="0">
                  <a:latin typeface="Gill Sans MT"/>
                  <a:cs typeface="Gill Sans MT"/>
                </a:endParaRPr>
              </a:p>
              <a:p>
                <a:pPr marL="492759" marR="443230" indent="-417195">
                  <a:tabLst>
                    <a:tab pos="2411095" algn="l"/>
                  </a:tabLst>
                </a:pPr>
                <a:r>
                  <a:rPr lang="en-US" sz="2100" i="1" spc="40" dirty="0">
                    <a:latin typeface="Gill Sans MT"/>
                    <a:cs typeface="Times New Roman"/>
                  </a:rPr>
                  <a:t>                  </a:t>
                </a:r>
                <a:endParaRPr sz="1550" dirty="0">
                  <a:latin typeface="Times New Roman"/>
                  <a:cs typeface="Times New Roman"/>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52400" y="1818507"/>
                <a:ext cx="8658070" cy="2094869"/>
              </a:xfrm>
              <a:prstGeom prst="rect">
                <a:avLst/>
              </a:prstGeom>
              <a:blipFill>
                <a:blip r:embed="rId3"/>
                <a:stretch>
                  <a:fillRect l="-105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C33FF3C-4157-03C7-2D87-0B38BACF9EA2}"/>
              </a:ext>
            </a:extLst>
          </p:cNvPr>
          <p:cNvSpPr txBox="1"/>
          <p:nvPr/>
        </p:nvSpPr>
        <p:spPr>
          <a:xfrm>
            <a:off x="152401" y="4724400"/>
            <a:ext cx="8382000" cy="738664"/>
          </a:xfrm>
          <a:prstGeom prst="rect">
            <a:avLst/>
          </a:prstGeom>
          <a:noFill/>
        </p:spPr>
        <p:txBody>
          <a:bodyPr wrap="square" rtlCol="0">
            <a:spAutoFit/>
          </a:bodyPr>
          <a:lstStyle/>
          <a:p>
            <a:r>
              <a:rPr lang="en-US" sz="2100" dirty="0">
                <a:latin typeface="Gill Sans MT"/>
              </a:rPr>
              <a:t>There are alternative ways to handle the policy improvement but they must be </a:t>
            </a:r>
            <a:r>
              <a:rPr lang="en-US" sz="2100" b="1" dirty="0">
                <a:latin typeface="Gill Sans MT"/>
              </a:rPr>
              <a:t>GLIE</a:t>
            </a:r>
          </a:p>
        </p:txBody>
      </p:sp>
      <p:sp>
        <p:nvSpPr>
          <p:cNvPr id="6" name="TextBox 5">
            <a:extLst>
              <a:ext uri="{FF2B5EF4-FFF2-40B4-BE49-F238E27FC236}">
                <a16:creationId xmlns:a16="http://schemas.microsoft.com/office/drawing/2014/main" id="{C0ECBD13-199A-AAC2-CE39-7D1D75F107AC}"/>
              </a:ext>
            </a:extLst>
          </p:cNvPr>
          <p:cNvSpPr txBox="1"/>
          <p:nvPr/>
        </p:nvSpPr>
        <p:spPr>
          <a:xfrm>
            <a:off x="88900" y="1210270"/>
            <a:ext cx="8509001" cy="415498"/>
          </a:xfrm>
          <a:prstGeom prst="rect">
            <a:avLst/>
          </a:prstGeom>
          <a:noFill/>
        </p:spPr>
        <p:txBody>
          <a:bodyPr wrap="square">
            <a:spAutoFit/>
          </a:bodyPr>
          <a:lstStyle/>
          <a:p>
            <a:r>
              <a:rPr lang="en-US" sz="2100" b="0" i="0" dirty="0">
                <a:solidFill>
                  <a:srgbClr val="0070C0"/>
                </a:solidFill>
                <a:effectLst/>
                <a:latin typeface="Gill Sans MT" panose="020B0502020104020203" pitchFamily="34" charset="0"/>
              </a:rPr>
              <a:t>The goal is to find a policy that maximizes the expected cumulative reward.</a:t>
            </a:r>
            <a:endParaRPr lang="en-US" sz="2100" dirty="0">
              <a:solidFill>
                <a:srgbClr val="0070C0"/>
              </a:solidFill>
              <a:latin typeface="Gill Sans MT" panose="020B0502020104020203" pitchFamily="34" charset="0"/>
            </a:endParaRPr>
          </a:p>
        </p:txBody>
      </p:sp>
      <p:sp>
        <p:nvSpPr>
          <p:cNvPr id="7" name="Oval 6">
            <a:extLst>
              <a:ext uri="{FF2B5EF4-FFF2-40B4-BE49-F238E27FC236}">
                <a16:creationId xmlns:a16="http://schemas.microsoft.com/office/drawing/2014/main" id="{F725188D-0147-F251-EF30-C561C3083417}"/>
              </a:ext>
            </a:extLst>
          </p:cNvPr>
          <p:cNvSpPr/>
          <p:nvPr/>
        </p:nvSpPr>
        <p:spPr>
          <a:xfrm>
            <a:off x="8597901" y="6172200"/>
            <a:ext cx="393699" cy="4572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5" name="Date Placeholder 3">
            <a:extLst>
              <a:ext uri="{FF2B5EF4-FFF2-40B4-BE49-F238E27FC236}">
                <a16:creationId xmlns:a16="http://schemas.microsoft.com/office/drawing/2014/main" id="{5370D47E-C78B-8B11-3580-7AB584BDFAF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7FDC8D5C-E9B2-D864-5BD9-9D2C3A9A353E}"/>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75311E73-74AE-82CD-4253-BC995583C59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66700">
              <a:lnSpc>
                <a:spcPct val="100000"/>
              </a:lnSpc>
              <a:spcBef>
                <a:spcPts val="100"/>
              </a:spcBef>
            </a:pPr>
            <a:r>
              <a:rPr spc="-75" dirty="0"/>
              <a:t>GLIE</a:t>
            </a:r>
            <a:r>
              <a:rPr spc="-170" dirty="0"/>
              <a:t> </a:t>
            </a:r>
            <a:r>
              <a:rPr spc="-95" dirty="0"/>
              <a:t>Monte-</a:t>
            </a:r>
            <a:r>
              <a:rPr dirty="0"/>
              <a:t>Carlo</a:t>
            </a:r>
            <a:r>
              <a:rPr spc="-185" dirty="0"/>
              <a:t> </a:t>
            </a:r>
            <a:r>
              <a:rPr dirty="0"/>
              <a:t>Control</a:t>
            </a:r>
            <a:r>
              <a:rPr spc="-114" dirty="0"/>
              <a:t> </a:t>
            </a:r>
            <a:r>
              <a:rPr sz="1400" dirty="0"/>
              <a:t>(Greedy</a:t>
            </a:r>
            <a:r>
              <a:rPr sz="1400" spc="-60" dirty="0"/>
              <a:t> </a:t>
            </a:r>
            <a:r>
              <a:rPr sz="1400" dirty="0"/>
              <a:t>in</a:t>
            </a:r>
            <a:r>
              <a:rPr sz="1400" spc="-60" dirty="0"/>
              <a:t> </a:t>
            </a:r>
            <a:r>
              <a:rPr sz="1400" dirty="0"/>
              <a:t>the</a:t>
            </a:r>
            <a:r>
              <a:rPr sz="1400" spc="-60" dirty="0"/>
              <a:t> </a:t>
            </a:r>
            <a:r>
              <a:rPr sz="1400" dirty="0"/>
              <a:t>limit</a:t>
            </a:r>
            <a:r>
              <a:rPr sz="1400" spc="-60" dirty="0"/>
              <a:t> </a:t>
            </a:r>
            <a:r>
              <a:rPr sz="1400" dirty="0"/>
              <a:t>with</a:t>
            </a:r>
            <a:r>
              <a:rPr sz="1400" spc="-60" dirty="0"/>
              <a:t> </a:t>
            </a:r>
            <a:r>
              <a:rPr sz="1400" spc="-10" dirty="0"/>
              <a:t>infinite</a:t>
            </a:r>
            <a:r>
              <a:rPr sz="1400" spc="-60" dirty="0"/>
              <a:t> </a:t>
            </a:r>
            <a:r>
              <a:rPr sz="1400" spc="-10" dirty="0"/>
              <a:t>exploration)</a:t>
            </a:r>
            <a:endParaRPr sz="1400"/>
          </a:p>
        </p:txBody>
      </p:sp>
      <p:sp>
        <p:nvSpPr>
          <p:cNvPr id="3" name="object 3"/>
          <p:cNvSpPr txBox="1"/>
          <p:nvPr/>
        </p:nvSpPr>
        <p:spPr>
          <a:xfrm>
            <a:off x="538919" y="4002605"/>
            <a:ext cx="5505450"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C82506"/>
                </a:solidFill>
                <a:latin typeface="Gill Sans MT"/>
                <a:cs typeface="Gill Sans MT"/>
              </a:rPr>
              <a:t>Improve</a:t>
            </a:r>
            <a:r>
              <a:rPr sz="2100" spc="-40" dirty="0">
                <a:solidFill>
                  <a:srgbClr val="C82506"/>
                </a:solidFill>
                <a:latin typeface="Gill Sans MT"/>
                <a:cs typeface="Gill Sans MT"/>
              </a:rPr>
              <a:t> </a:t>
            </a:r>
            <a:r>
              <a:rPr sz="2100" dirty="0">
                <a:solidFill>
                  <a:srgbClr val="C82506"/>
                </a:solidFill>
                <a:latin typeface="Gill Sans MT"/>
                <a:cs typeface="Gill Sans MT"/>
              </a:rPr>
              <a:t>policy</a:t>
            </a:r>
            <a:r>
              <a:rPr sz="2100" spc="-30" dirty="0">
                <a:solidFill>
                  <a:srgbClr val="C82506"/>
                </a:solidFill>
                <a:latin typeface="Gill Sans MT"/>
                <a:cs typeface="Gill Sans MT"/>
              </a:rPr>
              <a:t> </a:t>
            </a:r>
            <a:r>
              <a:rPr sz="2100" dirty="0">
                <a:solidFill>
                  <a:srgbClr val="C82506"/>
                </a:solidFill>
                <a:latin typeface="Gill Sans MT"/>
                <a:cs typeface="Gill Sans MT"/>
              </a:rPr>
              <a:t>based</a:t>
            </a:r>
            <a:r>
              <a:rPr sz="2100" spc="-40" dirty="0">
                <a:solidFill>
                  <a:srgbClr val="C82506"/>
                </a:solidFill>
                <a:latin typeface="Gill Sans MT"/>
                <a:cs typeface="Gill Sans MT"/>
              </a:rPr>
              <a:t> </a:t>
            </a:r>
            <a:r>
              <a:rPr sz="2100" dirty="0">
                <a:solidFill>
                  <a:srgbClr val="C82506"/>
                </a:solidFill>
                <a:latin typeface="Gill Sans MT"/>
                <a:cs typeface="Gill Sans MT"/>
              </a:rPr>
              <a:t>on</a:t>
            </a:r>
            <a:r>
              <a:rPr sz="2100" spc="-35" dirty="0">
                <a:solidFill>
                  <a:srgbClr val="C82506"/>
                </a:solidFill>
                <a:latin typeface="Gill Sans MT"/>
                <a:cs typeface="Gill Sans MT"/>
              </a:rPr>
              <a:t> </a:t>
            </a:r>
            <a:r>
              <a:rPr sz="2100" dirty="0">
                <a:solidFill>
                  <a:srgbClr val="C82506"/>
                </a:solidFill>
                <a:latin typeface="Gill Sans MT"/>
                <a:cs typeface="Gill Sans MT"/>
              </a:rPr>
              <a:t>new</a:t>
            </a:r>
            <a:r>
              <a:rPr sz="2100" spc="-35" dirty="0">
                <a:solidFill>
                  <a:srgbClr val="C82506"/>
                </a:solidFill>
                <a:latin typeface="Gill Sans MT"/>
                <a:cs typeface="Gill Sans MT"/>
              </a:rPr>
              <a:t> </a:t>
            </a:r>
            <a:r>
              <a:rPr sz="2100" dirty="0">
                <a:solidFill>
                  <a:srgbClr val="C82506"/>
                </a:solidFill>
                <a:latin typeface="Gill Sans MT"/>
                <a:cs typeface="Gill Sans MT"/>
              </a:rPr>
              <a:t>action-value</a:t>
            </a:r>
            <a:r>
              <a:rPr sz="2100" spc="-35" dirty="0">
                <a:solidFill>
                  <a:srgbClr val="C82506"/>
                </a:solidFill>
                <a:latin typeface="Gill Sans MT"/>
                <a:cs typeface="Gill Sans MT"/>
              </a:rPr>
              <a:t> </a:t>
            </a:r>
            <a:r>
              <a:rPr sz="2100" spc="-10" dirty="0">
                <a:solidFill>
                  <a:srgbClr val="C82506"/>
                </a:solidFill>
                <a:latin typeface="Gill Sans MT"/>
                <a:cs typeface="Gill Sans MT"/>
              </a:rPr>
              <a:t>function</a:t>
            </a:r>
            <a:endParaRPr sz="2100" dirty="0">
              <a:latin typeface="Gill Sans MT"/>
              <a:cs typeface="Gill Sans MT"/>
            </a:endParaRPr>
          </a:p>
        </p:txBody>
      </p:sp>
      <mc:AlternateContent xmlns:mc="http://schemas.openxmlformats.org/markup-compatibility/2006" xmlns:a14="http://schemas.microsoft.com/office/drawing/2010/main">
        <mc:Choice Requires="a14">
          <p:sp>
            <p:nvSpPr>
              <p:cNvPr id="4" name="object 4"/>
              <p:cNvSpPr txBox="1"/>
              <p:nvPr/>
            </p:nvSpPr>
            <p:spPr>
              <a:xfrm>
                <a:off x="500819" y="1156760"/>
                <a:ext cx="6794500" cy="1628139"/>
              </a:xfrm>
              <a:prstGeom prst="rect">
                <a:avLst/>
              </a:prstGeom>
            </p:spPr>
            <p:txBody>
              <a:bodyPr vert="horz" wrap="square" lIns="0" tIns="13335" rIns="0" bIns="0" rtlCol="0">
                <a:spAutoFit/>
              </a:bodyPr>
              <a:lstStyle/>
              <a:p>
                <a:pPr marL="50800">
                  <a:lnSpc>
                    <a:spcPct val="100000"/>
                  </a:lnSpc>
                  <a:spcBef>
                    <a:spcPts val="105"/>
                  </a:spcBef>
                </a:pPr>
                <a:r>
                  <a:rPr sz="2100" dirty="0">
                    <a:latin typeface="Gill Sans MT"/>
                    <a:cs typeface="Gill Sans MT"/>
                  </a:rPr>
                  <a:t>Sample</a:t>
                </a:r>
                <a:r>
                  <a:rPr sz="2100" spc="5" dirty="0">
                    <a:latin typeface="Gill Sans MT"/>
                    <a:cs typeface="Gill Sans MT"/>
                  </a:rPr>
                  <a:t> </a:t>
                </a:r>
                <a:r>
                  <a:rPr sz="2100" i="1" spc="-10" dirty="0">
                    <a:latin typeface="Gill Sans MT"/>
                    <a:cs typeface="Gill Sans MT"/>
                  </a:rPr>
                  <a:t>k</a:t>
                </a:r>
                <a:r>
                  <a:rPr sz="2100" spc="-10" dirty="0">
                    <a:latin typeface="Gill Sans MT"/>
                    <a:cs typeface="Gill Sans MT"/>
                  </a:rPr>
                  <a:t>-</a:t>
                </a:r>
                <a:r>
                  <a:rPr sz="2100" dirty="0">
                    <a:latin typeface="Gill Sans MT"/>
                    <a:cs typeface="Gill Sans MT"/>
                  </a:rPr>
                  <a:t>th</a:t>
                </a:r>
                <a:r>
                  <a:rPr sz="2100" spc="5" dirty="0">
                    <a:latin typeface="Gill Sans MT"/>
                    <a:cs typeface="Gill Sans MT"/>
                  </a:rPr>
                  <a:t> </a:t>
                </a:r>
                <a:r>
                  <a:rPr sz="2100" dirty="0">
                    <a:latin typeface="Gill Sans MT"/>
                    <a:cs typeface="Gill Sans MT"/>
                  </a:rPr>
                  <a:t>episode using</a:t>
                </a:r>
                <a:r>
                  <a:rPr sz="2100" spc="5" dirty="0">
                    <a:latin typeface="Gill Sans MT"/>
                    <a:cs typeface="Gill Sans MT"/>
                  </a:rPr>
                  <a:t> </a:t>
                </a:r>
                <a:r>
                  <a:rPr sz="2100" dirty="0">
                    <a:latin typeface="Gill Sans MT"/>
                    <a:cs typeface="Gill Sans MT"/>
                  </a:rPr>
                  <a:t>current</a:t>
                </a:r>
                <a:r>
                  <a:rPr sz="2100" spc="5" dirty="0">
                    <a:latin typeface="Gill Sans MT"/>
                    <a:cs typeface="Gill Sans MT"/>
                  </a:rPr>
                  <a:t> </a:t>
                </a:r>
                <a:r>
                  <a:rPr sz="2200" i="1" spc="-370" dirty="0">
                    <a:latin typeface="Arial"/>
                    <a:cs typeface="Arial"/>
                  </a:rPr>
                  <a:t>π</a:t>
                </a:r>
                <a:r>
                  <a:rPr sz="2200" i="1" spc="95" dirty="0">
                    <a:latin typeface="Arial"/>
                    <a:cs typeface="Arial"/>
                  </a:rPr>
                  <a:t> </a:t>
                </a:r>
                <a:r>
                  <a:rPr sz="2200" dirty="0">
                    <a:latin typeface="Cambria"/>
                    <a:cs typeface="Cambria"/>
                  </a:rPr>
                  <a:t>:</a:t>
                </a:r>
                <a:r>
                  <a:rPr sz="2200" spc="135" dirty="0">
                    <a:latin typeface="Cambria"/>
                    <a:cs typeface="Cambria"/>
                  </a:rPr>
                  <a:t> </a:t>
                </a:r>
                <a:r>
                  <a:rPr sz="2200" dirty="0">
                    <a:latin typeface="Cambria"/>
                    <a:cs typeface="Cambria"/>
                  </a:rPr>
                  <a:t>{</a:t>
                </a:r>
                <a:r>
                  <a:rPr sz="2200" i="1" dirty="0">
                    <a:latin typeface="Times New Roman"/>
                    <a:cs typeface="Times New Roman"/>
                  </a:rPr>
                  <a:t>S</a:t>
                </a:r>
                <a:r>
                  <a:rPr sz="2325" baseline="-19713" dirty="0">
                    <a:latin typeface="Cambria"/>
                    <a:cs typeface="Cambria"/>
                  </a:rPr>
                  <a:t>1</a:t>
                </a:r>
                <a:r>
                  <a:rPr sz="2200" dirty="0">
                    <a:latin typeface="Cambria"/>
                    <a:cs typeface="Cambria"/>
                  </a:rPr>
                  <a:t>,</a:t>
                </a:r>
                <a:r>
                  <a:rPr sz="2200" spc="-25" dirty="0">
                    <a:latin typeface="Cambria"/>
                    <a:cs typeface="Cambria"/>
                  </a:rPr>
                  <a:t> </a:t>
                </a:r>
                <a:r>
                  <a:rPr sz="2200" i="1" spc="-25" dirty="0">
                    <a:latin typeface="Times New Roman"/>
                    <a:cs typeface="Times New Roman"/>
                  </a:rPr>
                  <a:t>A</a:t>
                </a:r>
                <a:r>
                  <a:rPr sz="2325" spc="-37" baseline="-19713" dirty="0">
                    <a:latin typeface="Cambria"/>
                    <a:cs typeface="Cambria"/>
                  </a:rPr>
                  <a:t>1</a:t>
                </a:r>
                <a:r>
                  <a:rPr sz="2200" spc="-25" dirty="0">
                    <a:latin typeface="Cambria"/>
                    <a:cs typeface="Cambria"/>
                  </a:rPr>
                  <a:t>,</a:t>
                </a:r>
                <a:r>
                  <a:rPr sz="2200" spc="-105" dirty="0">
                    <a:latin typeface="Cambria"/>
                    <a:cs typeface="Cambria"/>
                  </a:rPr>
                  <a:t> </a:t>
                </a:r>
                <a:r>
                  <a:rPr sz="2200" i="1" spc="-25" dirty="0">
                    <a:latin typeface="Times New Roman"/>
                    <a:cs typeface="Times New Roman"/>
                  </a:rPr>
                  <a:t>R</a:t>
                </a:r>
                <a:r>
                  <a:rPr sz="2325" spc="-37" baseline="-19713" dirty="0">
                    <a:latin typeface="Cambria"/>
                    <a:cs typeface="Cambria"/>
                  </a:rPr>
                  <a:t>2</a:t>
                </a:r>
                <a:r>
                  <a:rPr sz="2200" spc="-25" dirty="0">
                    <a:latin typeface="Cambria"/>
                    <a:cs typeface="Cambria"/>
                  </a:rPr>
                  <a:t>,</a:t>
                </a:r>
                <a:r>
                  <a:rPr sz="2200" spc="-114" dirty="0">
                    <a:latin typeface="Cambria"/>
                    <a:cs typeface="Cambria"/>
                  </a:rPr>
                  <a:t> </a:t>
                </a:r>
                <a:r>
                  <a:rPr sz="2200" spc="320" dirty="0">
                    <a:latin typeface="Cambria"/>
                    <a:cs typeface="Cambria"/>
                  </a:rPr>
                  <a:t>…,</a:t>
                </a:r>
                <a:r>
                  <a:rPr sz="2200" spc="-105" dirty="0">
                    <a:latin typeface="Cambria"/>
                    <a:cs typeface="Cambria"/>
                  </a:rPr>
                  <a:t> </a:t>
                </a:r>
                <a:r>
                  <a:rPr sz="2200" i="1" spc="105" dirty="0">
                    <a:latin typeface="Times New Roman"/>
                    <a:cs typeface="Times New Roman"/>
                  </a:rPr>
                  <a:t>R</a:t>
                </a:r>
                <a:r>
                  <a:rPr sz="2325" i="1" spc="157" baseline="28673" dirty="0">
                    <a:latin typeface="Times New Roman"/>
                    <a:cs typeface="Times New Roman"/>
                  </a:rPr>
                  <a:t>T</a:t>
                </a:r>
                <a:r>
                  <a:rPr sz="2200" spc="105" dirty="0">
                    <a:latin typeface="Cambria"/>
                    <a:cs typeface="Cambria"/>
                  </a:rPr>
                  <a:t>}</a:t>
                </a:r>
                <a:r>
                  <a:rPr sz="2200" spc="130" dirty="0">
                    <a:latin typeface="Cambria"/>
                    <a:cs typeface="Cambria"/>
                  </a:rPr>
                  <a:t> </a:t>
                </a:r>
                <a:r>
                  <a:rPr sz="2200" dirty="0">
                    <a:latin typeface="Cambria"/>
                    <a:cs typeface="Cambria"/>
                  </a:rPr>
                  <a:t>∼</a:t>
                </a:r>
                <a:r>
                  <a:rPr sz="2200" spc="135" dirty="0">
                    <a:latin typeface="Cambria"/>
                    <a:cs typeface="Cambria"/>
                  </a:rPr>
                  <a:t> </a:t>
                </a:r>
                <a14:m>
                  <m:oMath xmlns:m="http://schemas.openxmlformats.org/officeDocument/2006/math">
                    <m:r>
                      <a:rPr lang="en-US" sz="2200" i="1" spc="-420" dirty="0" smtClean="0">
                        <a:latin typeface="Cambria Math" panose="02040503050406030204" pitchFamily="18" charset="0"/>
                        <a:cs typeface="Arial"/>
                      </a:rPr>
                      <m:t>𝜋</m:t>
                    </m:r>
                  </m:oMath>
                </a14:m>
                <a:endParaRPr sz="2200" dirty="0">
                  <a:latin typeface="Arial"/>
                  <a:cs typeface="Arial"/>
                </a:endParaRPr>
              </a:p>
              <a:p>
                <a:pPr marL="50800">
                  <a:lnSpc>
                    <a:spcPct val="100000"/>
                  </a:lnSpc>
                  <a:spcBef>
                    <a:spcPts val="2335"/>
                  </a:spcBef>
                </a:pPr>
                <a:r>
                  <a:rPr sz="2100" dirty="0">
                    <a:latin typeface="Gill Sans MT"/>
                    <a:cs typeface="Gill Sans MT"/>
                  </a:rPr>
                  <a:t>For</a:t>
                </a:r>
                <a:r>
                  <a:rPr sz="2100" spc="-25" dirty="0">
                    <a:latin typeface="Gill Sans MT"/>
                    <a:cs typeface="Gill Sans MT"/>
                  </a:rPr>
                  <a:t> </a:t>
                </a:r>
                <a:r>
                  <a:rPr sz="2100" dirty="0">
                    <a:latin typeface="Gill Sans MT"/>
                    <a:cs typeface="Gill Sans MT"/>
                  </a:rPr>
                  <a:t>each</a:t>
                </a:r>
                <a:r>
                  <a:rPr sz="2100" spc="-20" dirty="0">
                    <a:latin typeface="Gill Sans MT"/>
                    <a:cs typeface="Gill Sans MT"/>
                  </a:rPr>
                  <a:t> </a:t>
                </a:r>
                <a:r>
                  <a:rPr sz="2100" dirty="0">
                    <a:latin typeface="Gill Sans MT"/>
                    <a:cs typeface="Gill Sans MT"/>
                  </a:rPr>
                  <a:t>state</a:t>
                </a:r>
                <a:r>
                  <a:rPr sz="2100" spc="-25" dirty="0">
                    <a:latin typeface="Gill Sans MT"/>
                    <a:cs typeface="Gill Sans MT"/>
                  </a:rPr>
                  <a:t> </a:t>
                </a:r>
                <a:r>
                  <a:rPr sz="2200" i="1" dirty="0">
                    <a:latin typeface="Times New Roman"/>
                    <a:cs typeface="Times New Roman"/>
                  </a:rPr>
                  <a:t>S</a:t>
                </a:r>
                <a:r>
                  <a:rPr sz="2325" i="1" baseline="-19713" dirty="0">
                    <a:latin typeface="Times New Roman"/>
                    <a:cs typeface="Times New Roman"/>
                  </a:rPr>
                  <a:t>t</a:t>
                </a:r>
                <a:r>
                  <a:rPr sz="2325" i="1" spc="254" baseline="-19713" dirty="0">
                    <a:latin typeface="Times New Roman"/>
                    <a:cs typeface="Times New Roman"/>
                  </a:rPr>
                  <a:t> </a:t>
                </a:r>
                <a:r>
                  <a:rPr sz="2100" dirty="0">
                    <a:latin typeface="Gill Sans MT"/>
                    <a:cs typeface="Gill Sans MT"/>
                  </a:rPr>
                  <a:t>and</a:t>
                </a:r>
                <a:r>
                  <a:rPr sz="2100" spc="-30" dirty="0">
                    <a:latin typeface="Gill Sans MT"/>
                    <a:cs typeface="Gill Sans MT"/>
                  </a:rPr>
                  <a:t> </a:t>
                </a:r>
                <a:r>
                  <a:rPr sz="2100" dirty="0">
                    <a:latin typeface="Gill Sans MT"/>
                    <a:cs typeface="Gill Sans MT"/>
                  </a:rPr>
                  <a:t>action</a:t>
                </a:r>
                <a:r>
                  <a:rPr sz="2100" spc="-25" dirty="0">
                    <a:latin typeface="Gill Sans MT"/>
                    <a:cs typeface="Gill Sans MT"/>
                  </a:rPr>
                  <a:t> </a:t>
                </a:r>
                <a:r>
                  <a:rPr sz="2200" i="1" dirty="0">
                    <a:latin typeface="Times New Roman"/>
                    <a:cs typeface="Times New Roman"/>
                  </a:rPr>
                  <a:t>A</a:t>
                </a:r>
                <a:r>
                  <a:rPr sz="2325" i="1" baseline="-19713" dirty="0">
                    <a:latin typeface="Times New Roman"/>
                    <a:cs typeface="Times New Roman"/>
                  </a:rPr>
                  <a:t>t</a:t>
                </a:r>
                <a:r>
                  <a:rPr sz="2325" i="1" spc="247" baseline="-19713" dirty="0">
                    <a:latin typeface="Times New Roman"/>
                    <a:cs typeface="Times New Roman"/>
                  </a:rPr>
                  <a:t> </a:t>
                </a:r>
                <a:r>
                  <a:rPr sz="2100" dirty="0">
                    <a:latin typeface="Gill Sans MT"/>
                    <a:cs typeface="Gill Sans MT"/>
                  </a:rPr>
                  <a:t>in</a:t>
                </a:r>
                <a:r>
                  <a:rPr sz="2100" spc="-25" dirty="0">
                    <a:latin typeface="Gill Sans MT"/>
                    <a:cs typeface="Gill Sans MT"/>
                  </a:rPr>
                  <a:t> </a:t>
                </a:r>
                <a:r>
                  <a:rPr sz="2100" dirty="0">
                    <a:latin typeface="Gill Sans MT"/>
                    <a:cs typeface="Gill Sans MT"/>
                  </a:rPr>
                  <a:t>the</a:t>
                </a:r>
                <a:r>
                  <a:rPr sz="2100" spc="-30" dirty="0">
                    <a:latin typeface="Gill Sans MT"/>
                    <a:cs typeface="Gill Sans MT"/>
                  </a:rPr>
                  <a:t> </a:t>
                </a:r>
                <a:r>
                  <a:rPr sz="2100" spc="-10" dirty="0">
                    <a:latin typeface="Gill Sans MT"/>
                    <a:cs typeface="Gill Sans MT"/>
                  </a:rPr>
                  <a:t>episode</a:t>
                </a:r>
                <a:endParaRPr sz="2100" dirty="0">
                  <a:latin typeface="Gill Sans MT"/>
                  <a:cs typeface="Gill Sans MT"/>
                </a:endParaRPr>
              </a:p>
              <a:p>
                <a:pPr marL="50800">
                  <a:lnSpc>
                    <a:spcPct val="100000"/>
                  </a:lnSpc>
                  <a:spcBef>
                    <a:spcPts val="2355"/>
                  </a:spcBef>
                </a:pPr>
                <a:r>
                  <a:rPr sz="2200" i="1" dirty="0">
                    <a:latin typeface="Times New Roman"/>
                    <a:cs typeface="Times New Roman"/>
                  </a:rPr>
                  <a:t>N</a:t>
                </a:r>
                <a:r>
                  <a:rPr sz="2200" dirty="0">
                    <a:latin typeface="Cambria"/>
                    <a:cs typeface="Cambria"/>
                  </a:rPr>
                  <a:t>(</a:t>
                </a:r>
                <a:r>
                  <a:rPr sz="2200" i="1" dirty="0">
                    <a:latin typeface="Times New Roman"/>
                    <a:cs typeface="Times New Roman"/>
                  </a:rPr>
                  <a:t>S</a:t>
                </a:r>
                <a:r>
                  <a:rPr sz="2325" i="1" baseline="-19713" dirty="0">
                    <a:latin typeface="Times New Roman"/>
                    <a:cs typeface="Times New Roman"/>
                  </a:rPr>
                  <a:t>t</a:t>
                </a:r>
                <a:r>
                  <a:rPr sz="2200" dirty="0">
                    <a:latin typeface="Cambria"/>
                    <a:cs typeface="Cambria"/>
                  </a:rPr>
                  <a:t>,</a:t>
                </a:r>
                <a:r>
                  <a:rPr sz="2200" spc="-90" dirty="0">
                    <a:latin typeface="Cambria"/>
                    <a:cs typeface="Cambria"/>
                  </a:rPr>
                  <a:t> </a:t>
                </a:r>
                <a:r>
                  <a:rPr sz="2200" i="1" dirty="0">
                    <a:latin typeface="Times New Roman"/>
                    <a:cs typeface="Times New Roman"/>
                  </a:rPr>
                  <a:t>A</a:t>
                </a:r>
                <a:r>
                  <a:rPr sz="2325" i="1" baseline="-19713" dirty="0">
                    <a:latin typeface="Times New Roman"/>
                    <a:cs typeface="Times New Roman"/>
                  </a:rPr>
                  <a:t>t</a:t>
                </a:r>
                <a:r>
                  <a:rPr sz="2200" dirty="0">
                    <a:latin typeface="Cambria"/>
                    <a:cs typeface="Cambria"/>
                  </a:rPr>
                  <a:t>)</a:t>
                </a:r>
                <a:r>
                  <a:rPr sz="2200" spc="45" dirty="0">
                    <a:latin typeface="Cambria"/>
                    <a:cs typeface="Cambria"/>
                  </a:rPr>
                  <a:t> </a:t>
                </a:r>
                <a:r>
                  <a:rPr sz="2200" spc="180" dirty="0">
                    <a:latin typeface="Cambria"/>
                    <a:cs typeface="Cambria"/>
                  </a:rPr>
                  <a:t>←</a:t>
                </a:r>
                <a:r>
                  <a:rPr sz="2200" spc="45" dirty="0">
                    <a:latin typeface="Cambria"/>
                    <a:cs typeface="Cambria"/>
                  </a:rPr>
                  <a:t> </a:t>
                </a:r>
                <a:r>
                  <a:rPr sz="2200" i="1" dirty="0">
                    <a:latin typeface="Times New Roman"/>
                    <a:cs typeface="Times New Roman"/>
                  </a:rPr>
                  <a:t>N</a:t>
                </a:r>
                <a:r>
                  <a:rPr sz="2200" dirty="0">
                    <a:latin typeface="Cambria"/>
                    <a:cs typeface="Cambria"/>
                  </a:rPr>
                  <a:t>(</a:t>
                </a:r>
                <a:r>
                  <a:rPr sz="2200" i="1" dirty="0">
                    <a:latin typeface="Times New Roman"/>
                    <a:cs typeface="Times New Roman"/>
                  </a:rPr>
                  <a:t>S</a:t>
                </a:r>
                <a:r>
                  <a:rPr sz="2325" i="1" baseline="-19713" dirty="0">
                    <a:latin typeface="Times New Roman"/>
                    <a:cs typeface="Times New Roman"/>
                  </a:rPr>
                  <a:t>t</a:t>
                </a:r>
                <a:r>
                  <a:rPr sz="2200" dirty="0">
                    <a:latin typeface="Cambria"/>
                    <a:cs typeface="Cambria"/>
                  </a:rPr>
                  <a:t>,</a:t>
                </a:r>
                <a:r>
                  <a:rPr sz="2200" spc="-90" dirty="0">
                    <a:latin typeface="Cambria"/>
                    <a:cs typeface="Cambria"/>
                  </a:rPr>
                  <a:t> </a:t>
                </a:r>
                <a:r>
                  <a:rPr sz="2200" i="1" dirty="0">
                    <a:latin typeface="Times New Roman"/>
                    <a:cs typeface="Times New Roman"/>
                  </a:rPr>
                  <a:t>A</a:t>
                </a:r>
                <a:r>
                  <a:rPr sz="2325" i="1" baseline="-19713" dirty="0">
                    <a:latin typeface="Times New Roman"/>
                    <a:cs typeface="Times New Roman"/>
                  </a:rPr>
                  <a:t>t</a:t>
                </a:r>
                <a:r>
                  <a:rPr sz="2200" dirty="0">
                    <a:latin typeface="Cambria"/>
                    <a:cs typeface="Cambria"/>
                  </a:rPr>
                  <a:t>)</a:t>
                </a:r>
                <a:r>
                  <a:rPr sz="2200" spc="-60" dirty="0">
                    <a:latin typeface="Cambria"/>
                    <a:cs typeface="Cambria"/>
                  </a:rPr>
                  <a:t> </a:t>
                </a:r>
                <a:r>
                  <a:rPr sz="2200" spc="290" dirty="0">
                    <a:latin typeface="Cambria"/>
                    <a:cs typeface="Cambria"/>
                  </a:rPr>
                  <a:t>+</a:t>
                </a:r>
                <a:r>
                  <a:rPr sz="2200" spc="-55" dirty="0">
                    <a:latin typeface="Cambria"/>
                    <a:cs typeface="Cambria"/>
                  </a:rPr>
                  <a:t> </a:t>
                </a:r>
                <a:r>
                  <a:rPr sz="2200" spc="-50" dirty="0">
                    <a:latin typeface="Cambria"/>
                    <a:cs typeface="Cambria"/>
                  </a:rPr>
                  <a:t>1</a:t>
                </a:r>
                <a:endParaRPr sz="2200" dirty="0">
                  <a:latin typeface="Cambria"/>
                  <a:cs typeface="Cambria"/>
                </a:endParaRPr>
              </a:p>
            </p:txBody>
          </p:sp>
        </mc:Choice>
        <mc:Fallback xmlns="">
          <p:sp>
            <p:nvSpPr>
              <p:cNvPr id="4" name="object 4"/>
              <p:cNvSpPr txBox="1">
                <a:spLocks noRot="1" noChangeAspect="1" noMove="1" noResize="1" noEditPoints="1" noAdjustHandles="1" noChangeArrowheads="1" noChangeShapeType="1" noTextEdit="1"/>
              </p:cNvSpPr>
              <p:nvPr/>
            </p:nvSpPr>
            <p:spPr>
              <a:xfrm>
                <a:off x="500819" y="1156760"/>
                <a:ext cx="6794500" cy="1628139"/>
              </a:xfrm>
              <a:prstGeom prst="rect">
                <a:avLst/>
              </a:prstGeom>
              <a:blipFill>
                <a:blip r:embed="rId3"/>
                <a:stretch>
                  <a:fillRect l="-1794" t="-4869" b="-9738"/>
                </a:stretch>
              </a:blipFill>
            </p:spPr>
            <p:txBody>
              <a:bodyPr/>
              <a:lstStyle/>
              <a:p>
                <a:r>
                  <a:rPr lang="en-US">
                    <a:noFill/>
                  </a:rPr>
                  <a:t> </a:t>
                </a:r>
              </a:p>
            </p:txBody>
          </p:sp>
        </mc:Fallback>
      </mc:AlternateContent>
      <p:sp>
        <p:nvSpPr>
          <p:cNvPr id="5" name="object 5"/>
          <p:cNvSpPr txBox="1"/>
          <p:nvPr/>
        </p:nvSpPr>
        <p:spPr>
          <a:xfrm>
            <a:off x="3544994" y="2684818"/>
            <a:ext cx="165735" cy="361950"/>
          </a:xfrm>
          <a:prstGeom prst="rect">
            <a:avLst/>
          </a:prstGeom>
        </p:spPr>
        <p:txBody>
          <a:bodyPr vert="horz" wrap="square" lIns="0" tIns="13335" rIns="0" bIns="0" rtlCol="0">
            <a:spAutoFit/>
          </a:bodyPr>
          <a:lstStyle/>
          <a:p>
            <a:pPr marL="12700">
              <a:lnSpc>
                <a:spcPct val="100000"/>
              </a:lnSpc>
              <a:spcBef>
                <a:spcPts val="105"/>
              </a:spcBef>
            </a:pPr>
            <a:r>
              <a:rPr sz="2200" spc="-114" dirty="0">
                <a:latin typeface="Cambria"/>
                <a:cs typeface="Cambria"/>
              </a:rPr>
              <a:t>1</a:t>
            </a:r>
            <a:endParaRPr sz="2200">
              <a:latin typeface="Cambria"/>
              <a:cs typeface="Cambria"/>
            </a:endParaRPr>
          </a:p>
        </p:txBody>
      </p:sp>
      <p:sp>
        <p:nvSpPr>
          <p:cNvPr id="6" name="object 6"/>
          <p:cNvSpPr/>
          <p:nvPr/>
        </p:nvSpPr>
        <p:spPr>
          <a:xfrm>
            <a:off x="3141963" y="3095160"/>
            <a:ext cx="972185" cy="19050"/>
          </a:xfrm>
          <a:custGeom>
            <a:avLst/>
            <a:gdLst/>
            <a:ahLst/>
            <a:cxnLst/>
            <a:rect l="l" t="t" r="r" b="b"/>
            <a:pathLst>
              <a:path w="972185" h="19050">
                <a:moveTo>
                  <a:pt x="971575" y="0"/>
                </a:moveTo>
                <a:lnTo>
                  <a:pt x="0" y="0"/>
                </a:lnTo>
                <a:lnTo>
                  <a:pt x="0" y="18495"/>
                </a:lnTo>
                <a:lnTo>
                  <a:pt x="971575" y="18495"/>
                </a:lnTo>
                <a:lnTo>
                  <a:pt x="971575" y="0"/>
                </a:lnTo>
                <a:close/>
              </a:path>
            </a:pathLst>
          </a:custGeom>
          <a:solidFill>
            <a:srgbClr val="000000"/>
          </a:solidFill>
        </p:spPr>
        <p:txBody>
          <a:bodyPr wrap="square" lIns="0" tIns="0" rIns="0" bIns="0" rtlCol="0"/>
          <a:lstStyle/>
          <a:p>
            <a:endParaRPr/>
          </a:p>
        </p:txBody>
      </p:sp>
      <p:sp>
        <p:nvSpPr>
          <p:cNvPr id="7" name="object 7"/>
          <p:cNvSpPr txBox="1"/>
          <p:nvPr/>
        </p:nvSpPr>
        <p:spPr>
          <a:xfrm>
            <a:off x="3131886" y="3092547"/>
            <a:ext cx="991869" cy="361950"/>
          </a:xfrm>
          <a:prstGeom prst="rect">
            <a:avLst/>
          </a:prstGeom>
        </p:spPr>
        <p:txBody>
          <a:bodyPr vert="horz" wrap="square" lIns="0" tIns="13335" rIns="0" bIns="0" rtlCol="0">
            <a:spAutoFit/>
          </a:bodyPr>
          <a:lstStyle/>
          <a:p>
            <a:pPr marL="38100">
              <a:lnSpc>
                <a:spcPct val="100000"/>
              </a:lnSpc>
              <a:spcBef>
                <a:spcPts val="105"/>
              </a:spcBef>
            </a:pPr>
            <a:r>
              <a:rPr sz="2200" i="1" dirty="0">
                <a:latin typeface="Times New Roman"/>
                <a:cs typeface="Times New Roman"/>
              </a:rPr>
              <a:t>N</a:t>
            </a:r>
            <a:r>
              <a:rPr sz="2200" dirty="0">
                <a:latin typeface="Cambria"/>
                <a:cs typeface="Cambria"/>
              </a:rPr>
              <a:t>(</a:t>
            </a:r>
            <a:r>
              <a:rPr sz="2200" i="1" dirty="0">
                <a:latin typeface="Times New Roman"/>
                <a:cs typeface="Times New Roman"/>
              </a:rPr>
              <a:t>S</a:t>
            </a:r>
            <a:r>
              <a:rPr sz="2325" i="1" baseline="-17921" dirty="0">
                <a:latin typeface="Times New Roman"/>
                <a:cs typeface="Times New Roman"/>
              </a:rPr>
              <a:t>t</a:t>
            </a:r>
            <a:r>
              <a:rPr sz="2200" dirty="0">
                <a:latin typeface="Cambria"/>
                <a:cs typeface="Cambria"/>
              </a:rPr>
              <a:t>,</a:t>
            </a:r>
            <a:r>
              <a:rPr sz="2200" spc="-105" dirty="0">
                <a:latin typeface="Cambria"/>
                <a:cs typeface="Cambria"/>
              </a:rPr>
              <a:t> </a:t>
            </a:r>
            <a:r>
              <a:rPr sz="2200" i="1" spc="-25" dirty="0">
                <a:latin typeface="Times New Roman"/>
                <a:cs typeface="Times New Roman"/>
              </a:rPr>
              <a:t>A</a:t>
            </a:r>
            <a:r>
              <a:rPr sz="2325" i="1" spc="-37" baseline="-17921" dirty="0">
                <a:latin typeface="Times New Roman"/>
                <a:cs typeface="Times New Roman"/>
              </a:rPr>
              <a:t>t</a:t>
            </a:r>
            <a:r>
              <a:rPr sz="2200" spc="-25" dirty="0">
                <a:latin typeface="Cambria"/>
                <a:cs typeface="Cambria"/>
              </a:rPr>
              <a:t>)</a:t>
            </a:r>
            <a:endParaRPr sz="2200">
              <a:latin typeface="Cambria"/>
              <a:cs typeface="Cambria"/>
            </a:endParaRPr>
          </a:p>
        </p:txBody>
      </p:sp>
      <p:sp>
        <p:nvSpPr>
          <p:cNvPr id="8" name="object 8"/>
          <p:cNvSpPr txBox="1"/>
          <p:nvPr/>
        </p:nvSpPr>
        <p:spPr>
          <a:xfrm>
            <a:off x="4485271" y="3033700"/>
            <a:ext cx="1225550" cy="264160"/>
          </a:xfrm>
          <a:prstGeom prst="rect">
            <a:avLst/>
          </a:prstGeom>
        </p:spPr>
        <p:txBody>
          <a:bodyPr vert="horz" wrap="square" lIns="0" tIns="14604" rIns="0" bIns="0" rtlCol="0">
            <a:spAutoFit/>
          </a:bodyPr>
          <a:lstStyle/>
          <a:p>
            <a:pPr marL="12700">
              <a:lnSpc>
                <a:spcPct val="100000"/>
              </a:lnSpc>
              <a:spcBef>
                <a:spcPts val="114"/>
              </a:spcBef>
              <a:tabLst>
                <a:tab pos="810895" algn="l"/>
                <a:tab pos="1156970" algn="l"/>
              </a:tabLst>
            </a:pPr>
            <a:r>
              <a:rPr sz="1550" i="1" spc="-50" dirty="0">
                <a:latin typeface="Times New Roman"/>
                <a:cs typeface="Times New Roman"/>
              </a:rPr>
              <a:t>t</a:t>
            </a:r>
            <a:r>
              <a:rPr sz="1550" i="1" dirty="0">
                <a:latin typeface="Times New Roman"/>
                <a:cs typeface="Times New Roman"/>
              </a:rPr>
              <a:t>	</a:t>
            </a:r>
            <a:r>
              <a:rPr sz="1550" i="1" spc="-50" dirty="0">
                <a:latin typeface="Times New Roman"/>
                <a:cs typeface="Times New Roman"/>
              </a:rPr>
              <a:t>t</a:t>
            </a:r>
            <a:r>
              <a:rPr sz="1550" i="1" dirty="0">
                <a:latin typeface="Times New Roman"/>
                <a:cs typeface="Times New Roman"/>
              </a:rPr>
              <a:t>	</a:t>
            </a:r>
            <a:r>
              <a:rPr sz="1550" i="1" spc="-50" dirty="0">
                <a:latin typeface="Times New Roman"/>
                <a:cs typeface="Times New Roman"/>
              </a:rPr>
              <a:t>t</a:t>
            </a:r>
            <a:endParaRPr sz="1550">
              <a:latin typeface="Times New Roman"/>
              <a:cs typeface="Times New Roman"/>
            </a:endParaRPr>
          </a:p>
        </p:txBody>
      </p:sp>
      <p:sp>
        <p:nvSpPr>
          <p:cNvPr id="9" name="object 9"/>
          <p:cNvSpPr txBox="1"/>
          <p:nvPr/>
        </p:nvSpPr>
        <p:spPr>
          <a:xfrm>
            <a:off x="500819" y="2882377"/>
            <a:ext cx="5480685" cy="361950"/>
          </a:xfrm>
          <a:prstGeom prst="rect">
            <a:avLst/>
          </a:prstGeom>
        </p:spPr>
        <p:txBody>
          <a:bodyPr vert="horz" wrap="square" lIns="0" tIns="13335" rIns="0" bIns="0" rtlCol="0">
            <a:spAutoFit/>
          </a:bodyPr>
          <a:lstStyle/>
          <a:p>
            <a:pPr marL="50800">
              <a:lnSpc>
                <a:spcPct val="100000"/>
              </a:lnSpc>
              <a:spcBef>
                <a:spcPts val="105"/>
              </a:spcBef>
              <a:tabLst>
                <a:tab pos="3672840" algn="l"/>
              </a:tabLst>
            </a:pPr>
            <a:r>
              <a:rPr sz="2200" i="1" dirty="0">
                <a:latin typeface="Times New Roman"/>
                <a:cs typeface="Times New Roman"/>
              </a:rPr>
              <a:t>Q</a:t>
            </a:r>
            <a:r>
              <a:rPr sz="2200" dirty="0">
                <a:latin typeface="Cambria"/>
                <a:cs typeface="Cambria"/>
              </a:rPr>
              <a:t>(</a:t>
            </a:r>
            <a:r>
              <a:rPr sz="2200" i="1" dirty="0">
                <a:latin typeface="Times New Roman"/>
                <a:cs typeface="Times New Roman"/>
              </a:rPr>
              <a:t>S</a:t>
            </a:r>
            <a:r>
              <a:rPr sz="2325" i="1" baseline="-19713" dirty="0">
                <a:latin typeface="Times New Roman"/>
                <a:cs typeface="Times New Roman"/>
              </a:rPr>
              <a:t>t</a:t>
            </a:r>
            <a:r>
              <a:rPr sz="2200" dirty="0">
                <a:latin typeface="Cambria"/>
                <a:cs typeface="Cambria"/>
              </a:rPr>
              <a:t>,</a:t>
            </a:r>
            <a:r>
              <a:rPr sz="2200" spc="-100" dirty="0">
                <a:latin typeface="Cambria"/>
                <a:cs typeface="Cambria"/>
              </a:rPr>
              <a:t> </a:t>
            </a:r>
            <a:r>
              <a:rPr sz="2200" i="1" dirty="0">
                <a:latin typeface="Times New Roman"/>
                <a:cs typeface="Times New Roman"/>
              </a:rPr>
              <a:t>A</a:t>
            </a:r>
            <a:r>
              <a:rPr sz="2325" i="1" baseline="-19713" dirty="0">
                <a:latin typeface="Times New Roman"/>
                <a:cs typeface="Times New Roman"/>
              </a:rPr>
              <a:t>t</a:t>
            </a:r>
            <a:r>
              <a:rPr sz="2200" dirty="0">
                <a:latin typeface="Cambria"/>
                <a:cs typeface="Cambria"/>
              </a:rPr>
              <a:t>)</a:t>
            </a:r>
            <a:r>
              <a:rPr sz="2200" spc="30" dirty="0">
                <a:latin typeface="Cambria"/>
                <a:cs typeface="Cambria"/>
              </a:rPr>
              <a:t> </a:t>
            </a:r>
            <a:r>
              <a:rPr sz="2200" spc="180" dirty="0">
                <a:latin typeface="Cambria"/>
                <a:cs typeface="Cambria"/>
              </a:rPr>
              <a:t>←</a:t>
            </a:r>
            <a:r>
              <a:rPr sz="2200" spc="35" dirty="0">
                <a:latin typeface="Cambria"/>
                <a:cs typeface="Cambria"/>
              </a:rPr>
              <a:t> </a:t>
            </a:r>
            <a:r>
              <a:rPr sz="2200" i="1" dirty="0">
                <a:latin typeface="Times New Roman"/>
                <a:cs typeface="Times New Roman"/>
              </a:rPr>
              <a:t>Q</a:t>
            </a:r>
            <a:r>
              <a:rPr sz="2200" dirty="0">
                <a:latin typeface="Cambria"/>
                <a:cs typeface="Cambria"/>
              </a:rPr>
              <a:t>(</a:t>
            </a:r>
            <a:r>
              <a:rPr sz="2200" i="1" dirty="0">
                <a:latin typeface="Times New Roman"/>
                <a:cs typeface="Times New Roman"/>
              </a:rPr>
              <a:t>S</a:t>
            </a:r>
            <a:r>
              <a:rPr sz="2325" i="1" baseline="-19713" dirty="0">
                <a:latin typeface="Times New Roman"/>
                <a:cs typeface="Times New Roman"/>
              </a:rPr>
              <a:t>t</a:t>
            </a:r>
            <a:r>
              <a:rPr sz="2200" dirty="0">
                <a:latin typeface="Cambria"/>
                <a:cs typeface="Cambria"/>
              </a:rPr>
              <a:t>,</a:t>
            </a:r>
            <a:r>
              <a:rPr sz="2200" spc="-100" dirty="0">
                <a:latin typeface="Cambria"/>
                <a:cs typeface="Cambria"/>
              </a:rPr>
              <a:t> </a:t>
            </a:r>
            <a:r>
              <a:rPr sz="2200" i="1" dirty="0">
                <a:latin typeface="Times New Roman"/>
                <a:cs typeface="Times New Roman"/>
              </a:rPr>
              <a:t>A</a:t>
            </a:r>
            <a:r>
              <a:rPr sz="2325" i="1" baseline="-19713" dirty="0">
                <a:latin typeface="Times New Roman"/>
                <a:cs typeface="Times New Roman"/>
              </a:rPr>
              <a:t>t</a:t>
            </a:r>
            <a:r>
              <a:rPr sz="2200" dirty="0">
                <a:latin typeface="Cambria"/>
                <a:cs typeface="Cambria"/>
              </a:rPr>
              <a:t>)</a:t>
            </a:r>
            <a:r>
              <a:rPr sz="2200" spc="-70" dirty="0">
                <a:latin typeface="Cambria"/>
                <a:cs typeface="Cambria"/>
              </a:rPr>
              <a:t> </a:t>
            </a:r>
            <a:r>
              <a:rPr sz="2200" spc="240" dirty="0">
                <a:latin typeface="Cambria"/>
                <a:cs typeface="Cambria"/>
              </a:rPr>
              <a:t>+</a:t>
            </a:r>
            <a:r>
              <a:rPr sz="2200" dirty="0">
                <a:latin typeface="Cambria"/>
                <a:cs typeface="Cambria"/>
              </a:rPr>
              <a:t>	</a:t>
            </a:r>
            <a:r>
              <a:rPr sz="3300" baseline="-11363" dirty="0">
                <a:latin typeface="Verdana"/>
                <a:cs typeface="Verdana"/>
              </a:rPr>
              <a:t>(</a:t>
            </a:r>
            <a:r>
              <a:rPr sz="2200" i="1" dirty="0">
                <a:latin typeface="Times New Roman"/>
                <a:cs typeface="Times New Roman"/>
              </a:rPr>
              <a:t>G</a:t>
            </a:r>
            <a:r>
              <a:rPr sz="2200" i="1" spc="310" dirty="0">
                <a:latin typeface="Times New Roman"/>
                <a:cs typeface="Times New Roman"/>
              </a:rPr>
              <a:t> </a:t>
            </a:r>
            <a:r>
              <a:rPr sz="2200" spc="290" dirty="0">
                <a:latin typeface="Cambria"/>
                <a:cs typeface="Cambria"/>
              </a:rPr>
              <a:t>−</a:t>
            </a:r>
            <a:r>
              <a:rPr sz="2200" spc="15" dirty="0">
                <a:latin typeface="Cambria"/>
                <a:cs typeface="Cambria"/>
              </a:rPr>
              <a:t> </a:t>
            </a:r>
            <a:r>
              <a:rPr sz="2200" i="1" spc="-40" dirty="0">
                <a:latin typeface="Times New Roman"/>
                <a:cs typeface="Times New Roman"/>
              </a:rPr>
              <a:t>Q</a:t>
            </a:r>
            <a:r>
              <a:rPr sz="2200" spc="-40" dirty="0">
                <a:latin typeface="Cambria"/>
                <a:cs typeface="Cambria"/>
              </a:rPr>
              <a:t>(</a:t>
            </a:r>
            <a:r>
              <a:rPr sz="2200" i="1" spc="-40" dirty="0">
                <a:latin typeface="Times New Roman"/>
                <a:cs typeface="Times New Roman"/>
              </a:rPr>
              <a:t>S</a:t>
            </a:r>
            <a:r>
              <a:rPr sz="2200" i="1" spc="-185" dirty="0">
                <a:latin typeface="Times New Roman"/>
                <a:cs typeface="Times New Roman"/>
              </a:rPr>
              <a:t> </a:t>
            </a:r>
            <a:r>
              <a:rPr sz="2200" spc="95" dirty="0">
                <a:latin typeface="Cambria"/>
                <a:cs typeface="Cambria"/>
              </a:rPr>
              <a:t>,</a:t>
            </a:r>
            <a:r>
              <a:rPr sz="2200" spc="-20" dirty="0">
                <a:latin typeface="Cambria"/>
                <a:cs typeface="Cambria"/>
              </a:rPr>
              <a:t> </a:t>
            </a:r>
            <a:r>
              <a:rPr sz="2200" i="1" dirty="0">
                <a:latin typeface="Times New Roman"/>
                <a:cs typeface="Times New Roman"/>
              </a:rPr>
              <a:t>A</a:t>
            </a:r>
            <a:r>
              <a:rPr sz="2200" i="1" spc="-120" dirty="0">
                <a:latin typeface="Times New Roman"/>
                <a:cs typeface="Times New Roman"/>
              </a:rPr>
              <a:t> </a:t>
            </a:r>
            <a:r>
              <a:rPr sz="2200" spc="-25" dirty="0">
                <a:latin typeface="Cambria"/>
                <a:cs typeface="Cambria"/>
              </a:rPr>
              <a:t>)</a:t>
            </a:r>
            <a:r>
              <a:rPr sz="3300" spc="-37" baseline="-11363" dirty="0">
                <a:latin typeface="Verdana"/>
                <a:cs typeface="Verdana"/>
              </a:rPr>
              <a:t>)</a:t>
            </a:r>
            <a:endParaRPr sz="3300" baseline="-11363">
              <a:latin typeface="Verdana"/>
              <a:cs typeface="Verdana"/>
            </a:endParaRPr>
          </a:p>
        </p:txBody>
      </p:sp>
      <mc:AlternateContent xmlns:mc="http://schemas.openxmlformats.org/markup-compatibility/2006" xmlns:a14="http://schemas.microsoft.com/office/drawing/2010/main">
        <mc:Choice Requires="a14">
          <p:sp>
            <p:nvSpPr>
              <p:cNvPr id="10" name="object 10"/>
              <p:cNvSpPr txBox="1"/>
              <p:nvPr/>
            </p:nvSpPr>
            <p:spPr>
              <a:xfrm>
                <a:off x="1885754" y="4504679"/>
                <a:ext cx="1819910" cy="827405"/>
              </a:xfrm>
              <a:prstGeom prst="rect">
                <a:avLst/>
              </a:prstGeom>
            </p:spPr>
            <p:txBody>
              <a:bodyPr vert="horz" wrap="square" lIns="0" tIns="13970" rIns="0" bIns="0" rtlCol="0">
                <a:spAutoFit/>
              </a:bodyPr>
              <a:lstStyle/>
              <a:p>
                <a:pPr marL="196850">
                  <a:lnSpc>
                    <a:spcPct val="100000"/>
                  </a:lnSpc>
                  <a:spcBef>
                    <a:spcPts val="110"/>
                  </a:spcBef>
                </a:pPr>
                <a14:m>
                  <m:oMath xmlns:m="http://schemas.openxmlformats.org/officeDocument/2006/math">
                    <m:r>
                      <a:rPr lang="el-GR" sz="2000" i="1" dirty="0" smtClean="0">
                        <a:solidFill>
                          <a:srgbClr val="C00000"/>
                        </a:solidFill>
                        <a:latin typeface="Cambria Math" panose="02040503050406030204" pitchFamily="18" charset="0"/>
                        <a:cs typeface="Arial"/>
                      </a:rPr>
                      <m:t>𝜖</m:t>
                    </m:r>
                    <m:r>
                      <a:rPr lang="el-GR" sz="2000" i="1" dirty="0" smtClean="0">
                        <a:solidFill>
                          <a:srgbClr val="C00000"/>
                        </a:solidFill>
                        <a:latin typeface="Cambria Math" panose="02040503050406030204" pitchFamily="18" charset="0"/>
                        <a:cs typeface="Arial"/>
                      </a:rPr>
                      <m:t> </m:t>
                    </m:r>
                  </m:oMath>
                </a14:m>
                <a:r>
                  <a:rPr sz="2000" spc="180" dirty="0">
                    <a:solidFill>
                      <a:srgbClr val="C82506"/>
                    </a:solidFill>
                    <a:latin typeface="Cambria"/>
                    <a:cs typeface="Cambria"/>
                  </a:rPr>
                  <a:t>←</a:t>
                </a:r>
                <a:r>
                  <a:rPr sz="2000" spc="114" dirty="0">
                    <a:solidFill>
                      <a:srgbClr val="C82506"/>
                    </a:solidFill>
                    <a:latin typeface="Cambria"/>
                    <a:cs typeface="Cambria"/>
                  </a:rPr>
                  <a:t> </a:t>
                </a:r>
                <a:r>
                  <a:rPr sz="2000" spc="-25" dirty="0">
                    <a:solidFill>
                      <a:srgbClr val="C82506"/>
                    </a:solidFill>
                    <a:latin typeface="Cambria"/>
                    <a:cs typeface="Cambria"/>
                  </a:rPr>
                  <a:t>1/</a:t>
                </a:r>
                <a:r>
                  <a:rPr sz="2000" i="1" spc="-25" dirty="0">
                    <a:solidFill>
                      <a:srgbClr val="C82506"/>
                    </a:solidFill>
                    <a:latin typeface="Times New Roman"/>
                    <a:cs typeface="Times New Roman"/>
                  </a:rPr>
                  <a:t>k</a:t>
                </a:r>
                <a:endParaRPr sz="2000" dirty="0">
                  <a:latin typeface="Times New Roman"/>
                  <a:cs typeface="Times New Roman"/>
                </a:endParaRPr>
              </a:p>
              <a:p>
                <a:pPr marL="12700">
                  <a:lnSpc>
                    <a:spcPct val="100000"/>
                  </a:lnSpc>
                  <a:spcBef>
                    <a:spcPts val="1500"/>
                  </a:spcBef>
                </a:pPr>
                <a14:m>
                  <m:oMath xmlns:m="http://schemas.openxmlformats.org/officeDocument/2006/math">
                    <m:r>
                      <a:rPr lang="en-US" sz="2000" i="1" spc="-335" dirty="0" smtClean="0">
                        <a:solidFill>
                          <a:srgbClr val="C82506"/>
                        </a:solidFill>
                        <a:latin typeface="Cambria Math" panose="02040503050406030204" pitchFamily="18" charset="0"/>
                        <a:cs typeface="Arial"/>
                      </a:rPr>
                      <m:t>𝜋</m:t>
                    </m:r>
                    <m:r>
                      <a:rPr lang="en-US" sz="2000" i="1" spc="35" dirty="0">
                        <a:solidFill>
                          <a:srgbClr val="C82506"/>
                        </a:solidFill>
                        <a:latin typeface="Cambria Math" panose="02040503050406030204" pitchFamily="18" charset="0"/>
                        <a:cs typeface="Arial"/>
                      </a:rPr>
                      <m:t> </m:t>
                    </m:r>
                  </m:oMath>
                </a14:m>
                <a:r>
                  <a:rPr sz="2000" spc="180" dirty="0">
                    <a:solidFill>
                      <a:srgbClr val="C82506"/>
                    </a:solidFill>
                    <a:latin typeface="Cambria"/>
                    <a:cs typeface="Cambria"/>
                  </a:rPr>
                  <a:t>←</a:t>
                </a:r>
                <a:r>
                  <a:rPr sz="2000" spc="114" dirty="0">
                    <a:solidFill>
                      <a:srgbClr val="C82506"/>
                    </a:solidFill>
                    <a:latin typeface="Cambria"/>
                    <a:cs typeface="Cambria"/>
                  </a:rPr>
                  <a:t> </a:t>
                </a:r>
                <a14:m>
                  <m:oMath xmlns:m="http://schemas.openxmlformats.org/officeDocument/2006/math">
                    <m:r>
                      <a:rPr lang="en-US" sz="2000" i="1" spc="-70" dirty="0" smtClean="0">
                        <a:solidFill>
                          <a:srgbClr val="C82506"/>
                        </a:solidFill>
                        <a:latin typeface="Cambria Math" panose="02040503050406030204" pitchFamily="18" charset="0"/>
                        <a:cs typeface="Arial"/>
                      </a:rPr>
                      <m:t>𝜖</m:t>
                    </m:r>
                  </m:oMath>
                </a14:m>
                <a:r>
                  <a:rPr sz="2000" spc="-70" dirty="0">
                    <a:solidFill>
                      <a:srgbClr val="C82506"/>
                    </a:solidFill>
                    <a:latin typeface="Cambria"/>
                    <a:cs typeface="Cambria"/>
                  </a:rPr>
                  <a:t>−greedy(</a:t>
                </a:r>
                <a:r>
                  <a:rPr sz="2000" i="1" spc="-70" dirty="0">
                    <a:solidFill>
                      <a:srgbClr val="C82506"/>
                    </a:solidFill>
                    <a:latin typeface="Times New Roman"/>
                    <a:cs typeface="Times New Roman"/>
                  </a:rPr>
                  <a:t>Q</a:t>
                </a:r>
                <a:r>
                  <a:rPr sz="2000" spc="-70" dirty="0">
                    <a:solidFill>
                      <a:srgbClr val="C82506"/>
                    </a:solidFill>
                    <a:latin typeface="Cambria"/>
                    <a:cs typeface="Cambria"/>
                  </a:rPr>
                  <a:t>)</a:t>
                </a:r>
                <a:endParaRPr sz="2000" dirty="0">
                  <a:latin typeface="Cambria"/>
                  <a:cs typeface="Cambria"/>
                </a:endParaRPr>
              </a:p>
            </p:txBody>
          </p:sp>
        </mc:Choice>
        <mc:Fallback xmlns="">
          <p:sp>
            <p:nvSpPr>
              <p:cNvPr id="10" name="object 10"/>
              <p:cNvSpPr txBox="1">
                <a:spLocks noRot="1" noChangeAspect="1" noMove="1" noResize="1" noEditPoints="1" noAdjustHandles="1" noChangeArrowheads="1" noChangeShapeType="1" noTextEdit="1"/>
              </p:cNvSpPr>
              <p:nvPr/>
            </p:nvSpPr>
            <p:spPr>
              <a:xfrm>
                <a:off x="1885754" y="4504679"/>
                <a:ext cx="1819910" cy="827405"/>
              </a:xfrm>
              <a:prstGeom prst="rect">
                <a:avLst/>
              </a:prstGeom>
              <a:blipFill>
                <a:blip r:embed="rId4"/>
                <a:stretch>
                  <a:fillRect l="-2676" t="-8824" r="-7692" b="-17647"/>
                </a:stretch>
              </a:blipFill>
            </p:spPr>
            <p:txBody>
              <a:bodyPr/>
              <a:lstStyle/>
              <a:p>
                <a:r>
                  <a:rPr lang="en-US">
                    <a:noFill/>
                  </a:rPr>
                  <a:t> </a:t>
                </a:r>
              </a:p>
            </p:txBody>
          </p:sp>
        </mc:Fallback>
      </mc:AlternateContent>
      <p:sp>
        <p:nvSpPr>
          <p:cNvPr id="11" name="object 11"/>
          <p:cNvSpPr txBox="1"/>
          <p:nvPr/>
        </p:nvSpPr>
        <p:spPr>
          <a:xfrm>
            <a:off x="622444" y="5491335"/>
            <a:ext cx="7896225" cy="283845"/>
          </a:xfrm>
          <a:prstGeom prst="rect">
            <a:avLst/>
          </a:prstGeom>
          <a:solidFill>
            <a:srgbClr val="262685"/>
          </a:solidFill>
        </p:spPr>
        <p:txBody>
          <a:bodyPr vert="horz" wrap="square" lIns="0" tIns="0" rIns="0" bIns="0" rtlCol="0">
            <a:spAutoFit/>
          </a:bodyPr>
          <a:lstStyle/>
          <a:p>
            <a:pPr marL="45720">
              <a:lnSpc>
                <a:spcPts val="2210"/>
              </a:lnSpc>
            </a:pPr>
            <a:r>
              <a:rPr sz="2000" spc="-10" dirty="0">
                <a:solidFill>
                  <a:srgbClr val="FFFFFF"/>
                </a:solidFill>
                <a:latin typeface="Arial"/>
                <a:cs typeface="Arial"/>
              </a:rPr>
              <a:t>Theorem</a:t>
            </a:r>
            <a:endParaRPr sz="2000">
              <a:latin typeface="Arial"/>
              <a:cs typeface="Arial"/>
            </a:endParaRPr>
          </a:p>
        </p:txBody>
      </p:sp>
      <p:sp>
        <p:nvSpPr>
          <p:cNvPr id="12" name="object 12"/>
          <p:cNvSpPr txBox="1"/>
          <p:nvPr/>
        </p:nvSpPr>
        <p:spPr>
          <a:xfrm>
            <a:off x="636784" y="5774511"/>
            <a:ext cx="7597775" cy="697865"/>
          </a:xfrm>
          <a:prstGeom prst="rect">
            <a:avLst/>
          </a:prstGeom>
        </p:spPr>
        <p:txBody>
          <a:bodyPr vert="horz" wrap="square" lIns="0" tIns="12700" rIns="0" bIns="0" rtlCol="0">
            <a:spAutoFit/>
          </a:bodyPr>
          <a:lstStyle/>
          <a:p>
            <a:pPr marL="38100">
              <a:lnSpc>
                <a:spcPts val="2585"/>
              </a:lnSpc>
              <a:spcBef>
                <a:spcPts val="100"/>
              </a:spcBef>
            </a:pPr>
            <a:r>
              <a:rPr sz="2200" i="1" dirty="0">
                <a:latin typeface="Gill Sans MT"/>
                <a:cs typeface="Gill Sans MT"/>
              </a:rPr>
              <a:t>GLIE</a:t>
            </a:r>
            <a:r>
              <a:rPr sz="2200" i="1" spc="-20" dirty="0">
                <a:latin typeface="Gill Sans MT"/>
                <a:cs typeface="Gill Sans MT"/>
              </a:rPr>
              <a:t> </a:t>
            </a:r>
            <a:r>
              <a:rPr sz="2200" i="1" spc="-10" dirty="0">
                <a:latin typeface="Gill Sans MT"/>
                <a:cs typeface="Gill Sans MT"/>
              </a:rPr>
              <a:t>Monte-</a:t>
            </a:r>
            <a:r>
              <a:rPr sz="2200" i="1" dirty="0">
                <a:latin typeface="Gill Sans MT"/>
                <a:cs typeface="Gill Sans MT"/>
              </a:rPr>
              <a:t>Carlo</a:t>
            </a:r>
            <a:r>
              <a:rPr sz="2200" i="1" spc="-5" dirty="0">
                <a:latin typeface="Gill Sans MT"/>
                <a:cs typeface="Gill Sans MT"/>
              </a:rPr>
              <a:t> </a:t>
            </a:r>
            <a:r>
              <a:rPr sz="2200" i="1" dirty="0">
                <a:latin typeface="Gill Sans MT"/>
                <a:cs typeface="Gill Sans MT"/>
              </a:rPr>
              <a:t>control</a:t>
            </a:r>
            <a:r>
              <a:rPr sz="2200" i="1" spc="-10" dirty="0">
                <a:latin typeface="Gill Sans MT"/>
                <a:cs typeface="Gill Sans MT"/>
              </a:rPr>
              <a:t> </a:t>
            </a:r>
            <a:r>
              <a:rPr sz="2200" i="1" dirty="0">
                <a:latin typeface="Gill Sans MT"/>
                <a:cs typeface="Gill Sans MT"/>
              </a:rPr>
              <a:t>converges</a:t>
            </a:r>
            <a:r>
              <a:rPr sz="2200" i="1" spc="-5" dirty="0">
                <a:latin typeface="Gill Sans MT"/>
                <a:cs typeface="Gill Sans MT"/>
              </a:rPr>
              <a:t> </a:t>
            </a:r>
            <a:r>
              <a:rPr sz="2200" i="1" dirty="0">
                <a:latin typeface="Gill Sans MT"/>
                <a:cs typeface="Gill Sans MT"/>
              </a:rPr>
              <a:t>to</a:t>
            </a:r>
            <a:r>
              <a:rPr sz="2200" i="1" spc="-15" dirty="0">
                <a:latin typeface="Gill Sans MT"/>
                <a:cs typeface="Gill Sans MT"/>
              </a:rPr>
              <a:t> </a:t>
            </a:r>
            <a:r>
              <a:rPr sz="2200" i="1" dirty="0">
                <a:latin typeface="Gill Sans MT"/>
                <a:cs typeface="Gill Sans MT"/>
              </a:rPr>
              <a:t>the</a:t>
            </a:r>
            <a:r>
              <a:rPr sz="2200" i="1" spc="-5" dirty="0">
                <a:latin typeface="Gill Sans MT"/>
                <a:cs typeface="Gill Sans MT"/>
              </a:rPr>
              <a:t> </a:t>
            </a:r>
            <a:r>
              <a:rPr sz="2200" i="1" dirty="0">
                <a:latin typeface="Gill Sans MT"/>
                <a:cs typeface="Gill Sans MT"/>
              </a:rPr>
              <a:t>optimal</a:t>
            </a:r>
            <a:r>
              <a:rPr sz="2200" i="1" spc="-10" dirty="0">
                <a:latin typeface="Gill Sans MT"/>
                <a:cs typeface="Gill Sans MT"/>
              </a:rPr>
              <a:t> action-</a:t>
            </a:r>
            <a:r>
              <a:rPr sz="2200" i="1" dirty="0">
                <a:latin typeface="Gill Sans MT"/>
                <a:cs typeface="Gill Sans MT"/>
              </a:rPr>
              <a:t>value</a:t>
            </a:r>
            <a:r>
              <a:rPr sz="2200" i="1" spc="-5" dirty="0">
                <a:latin typeface="Gill Sans MT"/>
                <a:cs typeface="Gill Sans MT"/>
              </a:rPr>
              <a:t> </a:t>
            </a:r>
            <a:r>
              <a:rPr sz="2200" i="1" spc="-10" dirty="0">
                <a:latin typeface="Gill Sans MT"/>
                <a:cs typeface="Gill Sans MT"/>
              </a:rPr>
              <a:t>function</a:t>
            </a:r>
            <a:endParaRPr sz="2200">
              <a:latin typeface="Gill Sans MT"/>
              <a:cs typeface="Gill Sans MT"/>
            </a:endParaRPr>
          </a:p>
          <a:p>
            <a:pPr marL="38100">
              <a:lnSpc>
                <a:spcPts val="2705"/>
              </a:lnSpc>
            </a:pPr>
            <a:r>
              <a:rPr sz="2300" i="1" spc="-10" dirty="0">
                <a:latin typeface="Times New Roman"/>
                <a:cs typeface="Times New Roman"/>
              </a:rPr>
              <a:t>Q</a:t>
            </a:r>
            <a:r>
              <a:rPr sz="2300" spc="-10" dirty="0">
                <a:latin typeface="Cambria"/>
                <a:cs typeface="Cambria"/>
              </a:rPr>
              <a:t>(</a:t>
            </a:r>
            <a:r>
              <a:rPr sz="2300" i="1" spc="-10" dirty="0">
                <a:latin typeface="Times New Roman"/>
                <a:cs typeface="Times New Roman"/>
              </a:rPr>
              <a:t>s</a:t>
            </a:r>
            <a:r>
              <a:rPr sz="2300" spc="-10" dirty="0">
                <a:latin typeface="Cambria"/>
                <a:cs typeface="Cambria"/>
              </a:rPr>
              <a:t>,</a:t>
            </a:r>
            <a:r>
              <a:rPr sz="2300" spc="-105" dirty="0">
                <a:latin typeface="Cambria"/>
                <a:cs typeface="Cambria"/>
              </a:rPr>
              <a:t> </a:t>
            </a:r>
            <a:r>
              <a:rPr sz="2300" i="1" dirty="0">
                <a:latin typeface="Times New Roman"/>
                <a:cs typeface="Times New Roman"/>
              </a:rPr>
              <a:t>a</a:t>
            </a:r>
            <a:r>
              <a:rPr sz="2300" dirty="0">
                <a:latin typeface="Cambria"/>
                <a:cs typeface="Cambria"/>
              </a:rPr>
              <a:t>)</a:t>
            </a:r>
            <a:r>
              <a:rPr sz="2300" spc="170" dirty="0">
                <a:latin typeface="Cambria"/>
                <a:cs typeface="Cambria"/>
              </a:rPr>
              <a:t> </a:t>
            </a:r>
            <a:r>
              <a:rPr sz="2300" spc="210" dirty="0">
                <a:latin typeface="Cambria"/>
                <a:cs typeface="Cambria"/>
              </a:rPr>
              <a:t>→</a:t>
            </a:r>
            <a:r>
              <a:rPr sz="2300" spc="170" dirty="0">
                <a:latin typeface="Cambria"/>
                <a:cs typeface="Cambria"/>
              </a:rPr>
              <a:t> </a:t>
            </a:r>
            <a:r>
              <a:rPr sz="2300" i="1" dirty="0">
                <a:latin typeface="Times New Roman"/>
                <a:cs typeface="Times New Roman"/>
              </a:rPr>
              <a:t>q</a:t>
            </a:r>
            <a:r>
              <a:rPr sz="2475" baseline="-20202" dirty="0">
                <a:latin typeface="Cambria"/>
                <a:cs typeface="Cambria"/>
              </a:rPr>
              <a:t>⋆</a:t>
            </a:r>
            <a:r>
              <a:rPr sz="2300" dirty="0">
                <a:latin typeface="Cambria"/>
                <a:cs typeface="Cambria"/>
              </a:rPr>
              <a:t>(</a:t>
            </a:r>
            <a:r>
              <a:rPr sz="2300" i="1" dirty="0">
                <a:latin typeface="Times New Roman"/>
                <a:cs typeface="Times New Roman"/>
              </a:rPr>
              <a:t>s</a:t>
            </a:r>
            <a:r>
              <a:rPr sz="2300" dirty="0">
                <a:latin typeface="Cambria"/>
                <a:cs typeface="Cambria"/>
              </a:rPr>
              <a:t>,</a:t>
            </a:r>
            <a:r>
              <a:rPr sz="2300" spc="-105" dirty="0">
                <a:latin typeface="Cambria"/>
                <a:cs typeface="Cambria"/>
              </a:rPr>
              <a:t> </a:t>
            </a:r>
            <a:r>
              <a:rPr sz="2300" i="1" spc="-25" dirty="0">
                <a:latin typeface="Times New Roman"/>
                <a:cs typeface="Times New Roman"/>
              </a:rPr>
              <a:t>a</a:t>
            </a:r>
            <a:r>
              <a:rPr sz="2300" spc="-25" dirty="0">
                <a:latin typeface="Cambria"/>
                <a:cs typeface="Cambria"/>
              </a:rPr>
              <a:t>)</a:t>
            </a:r>
            <a:endParaRPr sz="2300">
              <a:latin typeface="Cambria"/>
              <a:cs typeface="Cambria"/>
            </a:endParaRPr>
          </a:p>
        </p:txBody>
      </p:sp>
      <p:grpSp>
        <p:nvGrpSpPr>
          <p:cNvPr id="13" name="object 13"/>
          <p:cNvGrpSpPr/>
          <p:nvPr/>
        </p:nvGrpSpPr>
        <p:grpSpPr>
          <a:xfrm>
            <a:off x="4021973" y="4706699"/>
            <a:ext cx="1075055" cy="537210"/>
            <a:chOff x="4021973" y="4422140"/>
            <a:chExt cx="1075055" cy="537210"/>
          </a:xfrm>
        </p:grpSpPr>
        <p:sp>
          <p:nvSpPr>
            <p:cNvPr id="14" name="object 14"/>
            <p:cNvSpPr/>
            <p:nvPr/>
          </p:nvSpPr>
          <p:spPr>
            <a:xfrm>
              <a:off x="4131193" y="4483100"/>
              <a:ext cx="965835" cy="0"/>
            </a:xfrm>
            <a:custGeom>
              <a:avLst/>
              <a:gdLst/>
              <a:ahLst/>
              <a:cxnLst/>
              <a:rect l="l" t="t" r="r" b="b"/>
              <a:pathLst>
                <a:path w="965835">
                  <a:moveTo>
                    <a:pt x="965433" y="0"/>
                  </a:moveTo>
                  <a:lnTo>
                    <a:pt x="12699" y="0"/>
                  </a:lnTo>
                  <a:lnTo>
                    <a:pt x="0" y="0"/>
                  </a:lnTo>
                </a:path>
              </a:pathLst>
            </a:custGeom>
            <a:ln w="25400">
              <a:solidFill>
                <a:srgbClr val="000000"/>
              </a:solidFill>
            </a:ln>
          </p:spPr>
          <p:txBody>
            <a:bodyPr wrap="square" lIns="0" tIns="0" rIns="0" bIns="0" rtlCol="0"/>
            <a:lstStyle/>
            <a:p>
              <a:endParaRPr/>
            </a:p>
          </p:txBody>
        </p:sp>
        <p:sp>
          <p:nvSpPr>
            <p:cNvPr id="15" name="object 15"/>
            <p:cNvSpPr/>
            <p:nvPr/>
          </p:nvSpPr>
          <p:spPr>
            <a:xfrm>
              <a:off x="4021973" y="4422140"/>
              <a:ext cx="121920" cy="121920"/>
            </a:xfrm>
            <a:custGeom>
              <a:avLst/>
              <a:gdLst/>
              <a:ahLst/>
              <a:cxnLst/>
              <a:rect l="l" t="t" r="r" b="b"/>
              <a:pathLst>
                <a:path w="121920" h="121920">
                  <a:moveTo>
                    <a:pt x="121919" y="0"/>
                  </a:moveTo>
                  <a:lnTo>
                    <a:pt x="0" y="60960"/>
                  </a:lnTo>
                  <a:lnTo>
                    <a:pt x="121919" y="121920"/>
                  </a:lnTo>
                  <a:lnTo>
                    <a:pt x="121919" y="0"/>
                  </a:lnTo>
                  <a:close/>
                </a:path>
              </a:pathLst>
            </a:custGeom>
            <a:solidFill>
              <a:srgbClr val="000000"/>
            </a:solidFill>
          </p:spPr>
          <p:txBody>
            <a:bodyPr wrap="square" lIns="0" tIns="0" rIns="0" bIns="0" rtlCol="0"/>
            <a:lstStyle/>
            <a:p>
              <a:endParaRPr/>
            </a:p>
          </p:txBody>
        </p:sp>
        <p:sp>
          <p:nvSpPr>
            <p:cNvPr id="16" name="object 16"/>
            <p:cNvSpPr/>
            <p:nvPr/>
          </p:nvSpPr>
          <p:spPr>
            <a:xfrm>
              <a:off x="4131193" y="4898349"/>
              <a:ext cx="965835" cy="0"/>
            </a:xfrm>
            <a:custGeom>
              <a:avLst/>
              <a:gdLst/>
              <a:ahLst/>
              <a:cxnLst/>
              <a:rect l="l" t="t" r="r" b="b"/>
              <a:pathLst>
                <a:path w="965835">
                  <a:moveTo>
                    <a:pt x="965433" y="0"/>
                  </a:moveTo>
                  <a:lnTo>
                    <a:pt x="12699" y="0"/>
                  </a:lnTo>
                  <a:lnTo>
                    <a:pt x="0" y="0"/>
                  </a:lnTo>
                </a:path>
              </a:pathLst>
            </a:custGeom>
            <a:ln w="25400">
              <a:solidFill>
                <a:srgbClr val="000000"/>
              </a:solidFill>
            </a:ln>
          </p:spPr>
          <p:txBody>
            <a:bodyPr wrap="square" lIns="0" tIns="0" rIns="0" bIns="0" rtlCol="0"/>
            <a:lstStyle/>
            <a:p>
              <a:endParaRPr/>
            </a:p>
          </p:txBody>
        </p:sp>
        <p:sp>
          <p:nvSpPr>
            <p:cNvPr id="17" name="object 17"/>
            <p:cNvSpPr/>
            <p:nvPr/>
          </p:nvSpPr>
          <p:spPr>
            <a:xfrm>
              <a:off x="4021973" y="4837389"/>
              <a:ext cx="121920" cy="121920"/>
            </a:xfrm>
            <a:custGeom>
              <a:avLst/>
              <a:gdLst/>
              <a:ahLst/>
              <a:cxnLst/>
              <a:rect l="l" t="t" r="r" b="b"/>
              <a:pathLst>
                <a:path w="121920" h="121920">
                  <a:moveTo>
                    <a:pt x="121919" y="0"/>
                  </a:moveTo>
                  <a:lnTo>
                    <a:pt x="0" y="60960"/>
                  </a:lnTo>
                  <a:lnTo>
                    <a:pt x="121919" y="121920"/>
                  </a:lnTo>
                  <a:lnTo>
                    <a:pt x="121919" y="0"/>
                  </a:lnTo>
                  <a:close/>
                </a:path>
              </a:pathLst>
            </a:custGeom>
            <a:solidFill>
              <a:srgbClr val="000000"/>
            </a:solidFill>
          </p:spPr>
          <p:txBody>
            <a:bodyPr wrap="square" lIns="0" tIns="0" rIns="0" bIns="0" rtlCol="0"/>
            <a:lstStyle/>
            <a:p>
              <a:endParaRPr/>
            </a:p>
          </p:txBody>
        </p:sp>
      </p:grpSp>
      <p:sp>
        <p:nvSpPr>
          <p:cNvPr id="18" name="object 18"/>
          <p:cNvSpPr txBox="1"/>
          <p:nvPr/>
        </p:nvSpPr>
        <p:spPr>
          <a:xfrm>
            <a:off x="5200129" y="4478020"/>
            <a:ext cx="2052955" cy="855980"/>
          </a:xfrm>
          <a:prstGeom prst="rect">
            <a:avLst/>
          </a:prstGeom>
        </p:spPr>
        <p:txBody>
          <a:bodyPr vert="horz" wrap="square" lIns="0" tIns="12700" rIns="0" bIns="0" rtlCol="0">
            <a:spAutoFit/>
          </a:bodyPr>
          <a:lstStyle/>
          <a:p>
            <a:pPr marL="12700" marR="5080" indent="56515">
              <a:lnSpc>
                <a:spcPct val="136200"/>
              </a:lnSpc>
              <a:spcBef>
                <a:spcPts val="100"/>
              </a:spcBef>
            </a:pPr>
            <a:r>
              <a:rPr sz="2000" dirty="0">
                <a:solidFill>
                  <a:srgbClr val="C82506"/>
                </a:solidFill>
                <a:latin typeface="Gill Sans MT"/>
                <a:cs typeface="Gill Sans MT"/>
              </a:rPr>
              <a:t>Infinite</a:t>
            </a:r>
            <a:r>
              <a:rPr sz="2000" spc="50" dirty="0">
                <a:solidFill>
                  <a:srgbClr val="C82506"/>
                </a:solidFill>
                <a:latin typeface="Gill Sans MT"/>
                <a:cs typeface="Gill Sans MT"/>
              </a:rPr>
              <a:t> </a:t>
            </a:r>
            <a:r>
              <a:rPr sz="2000" spc="-10" dirty="0">
                <a:solidFill>
                  <a:srgbClr val="C82506"/>
                </a:solidFill>
                <a:latin typeface="Gill Sans MT"/>
                <a:cs typeface="Gill Sans MT"/>
              </a:rPr>
              <a:t>Exploration </a:t>
            </a:r>
            <a:r>
              <a:rPr sz="2000" dirty="0">
                <a:solidFill>
                  <a:srgbClr val="C82506"/>
                </a:solidFill>
                <a:latin typeface="Gill Sans MT"/>
                <a:cs typeface="Gill Sans MT"/>
              </a:rPr>
              <a:t>Greedy</a:t>
            </a:r>
            <a:r>
              <a:rPr sz="2000" spc="-20" dirty="0">
                <a:solidFill>
                  <a:srgbClr val="C82506"/>
                </a:solidFill>
                <a:latin typeface="Gill Sans MT"/>
                <a:cs typeface="Gill Sans MT"/>
              </a:rPr>
              <a:t> </a:t>
            </a:r>
            <a:r>
              <a:rPr sz="2000" dirty="0">
                <a:solidFill>
                  <a:srgbClr val="C82506"/>
                </a:solidFill>
                <a:latin typeface="Gill Sans MT"/>
                <a:cs typeface="Gill Sans MT"/>
              </a:rPr>
              <a:t>in</a:t>
            </a:r>
            <a:r>
              <a:rPr sz="2000" spc="-25" dirty="0">
                <a:solidFill>
                  <a:srgbClr val="C82506"/>
                </a:solidFill>
                <a:latin typeface="Gill Sans MT"/>
                <a:cs typeface="Gill Sans MT"/>
              </a:rPr>
              <a:t> </a:t>
            </a:r>
            <a:r>
              <a:rPr sz="2000" dirty="0">
                <a:solidFill>
                  <a:srgbClr val="C82506"/>
                </a:solidFill>
                <a:latin typeface="Gill Sans MT"/>
                <a:cs typeface="Gill Sans MT"/>
              </a:rPr>
              <a:t>the</a:t>
            </a:r>
            <a:r>
              <a:rPr sz="2000" spc="-20" dirty="0">
                <a:solidFill>
                  <a:srgbClr val="C82506"/>
                </a:solidFill>
                <a:latin typeface="Gill Sans MT"/>
                <a:cs typeface="Gill Sans MT"/>
              </a:rPr>
              <a:t> </a:t>
            </a:r>
            <a:r>
              <a:rPr sz="2000" spc="-10" dirty="0">
                <a:solidFill>
                  <a:srgbClr val="C82506"/>
                </a:solidFill>
                <a:latin typeface="Gill Sans MT"/>
                <a:cs typeface="Gill Sans MT"/>
              </a:rPr>
              <a:t>limit</a:t>
            </a:r>
            <a:endParaRPr sz="2000" dirty="0">
              <a:latin typeface="Gill Sans MT"/>
              <a:cs typeface="Gill Sans MT"/>
            </a:endParaRPr>
          </a:p>
        </p:txBody>
      </p:sp>
      <p:sp>
        <p:nvSpPr>
          <p:cNvPr id="20" name="TextBox 19">
            <a:extLst>
              <a:ext uri="{FF2B5EF4-FFF2-40B4-BE49-F238E27FC236}">
                <a16:creationId xmlns:a16="http://schemas.microsoft.com/office/drawing/2014/main" id="{394A6A60-E7A3-B6AD-7D66-77DBC38345FD}"/>
              </a:ext>
            </a:extLst>
          </p:cNvPr>
          <p:cNvSpPr txBox="1"/>
          <p:nvPr/>
        </p:nvSpPr>
        <p:spPr>
          <a:xfrm>
            <a:off x="7167245" y="2809164"/>
            <a:ext cx="2052955" cy="467436"/>
          </a:xfrm>
          <a:prstGeom prst="rect">
            <a:avLst/>
          </a:prstGeom>
          <a:noFill/>
        </p:spPr>
        <p:txBody>
          <a:bodyPr wrap="square">
            <a:spAutoFit/>
          </a:bodyPr>
          <a:lstStyle/>
          <a:p>
            <a:pPr marL="12700" marR="5080" indent="-12700">
              <a:lnSpc>
                <a:spcPct val="136200"/>
              </a:lnSpc>
              <a:spcBef>
                <a:spcPts val="100"/>
              </a:spcBef>
            </a:pPr>
            <a:r>
              <a:rPr lang="en-US" sz="2000" dirty="0">
                <a:solidFill>
                  <a:srgbClr val="C82506"/>
                </a:solidFill>
                <a:latin typeface="Gill Sans MT"/>
              </a:rPr>
              <a:t>running average</a:t>
            </a:r>
          </a:p>
        </p:txBody>
      </p:sp>
      <p:sp>
        <p:nvSpPr>
          <p:cNvPr id="22" name="object 14">
            <a:extLst>
              <a:ext uri="{FF2B5EF4-FFF2-40B4-BE49-F238E27FC236}">
                <a16:creationId xmlns:a16="http://schemas.microsoft.com/office/drawing/2014/main" id="{AC9D8062-DF56-D651-B288-2C1F442AD311}"/>
              </a:ext>
            </a:extLst>
          </p:cNvPr>
          <p:cNvSpPr/>
          <p:nvPr/>
        </p:nvSpPr>
        <p:spPr>
          <a:xfrm>
            <a:off x="6329485" y="3144408"/>
            <a:ext cx="643240" cy="45719"/>
          </a:xfrm>
          <a:custGeom>
            <a:avLst/>
            <a:gdLst/>
            <a:ahLst/>
            <a:cxnLst/>
            <a:rect l="l" t="t" r="r" b="b"/>
            <a:pathLst>
              <a:path w="965835">
                <a:moveTo>
                  <a:pt x="965433" y="0"/>
                </a:moveTo>
                <a:lnTo>
                  <a:pt x="12699" y="0"/>
                </a:lnTo>
                <a:lnTo>
                  <a:pt x="0" y="0"/>
                </a:lnTo>
              </a:path>
            </a:pathLst>
          </a:custGeom>
          <a:ln w="25400">
            <a:solidFill>
              <a:srgbClr val="000000"/>
            </a:solidFill>
          </a:ln>
        </p:spPr>
        <p:txBody>
          <a:bodyPr wrap="square" lIns="0" tIns="0" rIns="0" bIns="0" rtlCol="0"/>
          <a:lstStyle/>
          <a:p>
            <a:endParaRPr/>
          </a:p>
        </p:txBody>
      </p:sp>
      <p:sp>
        <p:nvSpPr>
          <p:cNvPr id="23" name="object 15">
            <a:extLst>
              <a:ext uri="{FF2B5EF4-FFF2-40B4-BE49-F238E27FC236}">
                <a16:creationId xmlns:a16="http://schemas.microsoft.com/office/drawing/2014/main" id="{69E623BC-50D6-297A-9202-ACE50A4BFE09}"/>
              </a:ext>
            </a:extLst>
          </p:cNvPr>
          <p:cNvSpPr/>
          <p:nvPr/>
        </p:nvSpPr>
        <p:spPr>
          <a:xfrm>
            <a:off x="6220264" y="3083449"/>
            <a:ext cx="121920" cy="121920"/>
          </a:xfrm>
          <a:custGeom>
            <a:avLst/>
            <a:gdLst/>
            <a:ahLst/>
            <a:cxnLst/>
            <a:rect l="l" t="t" r="r" b="b"/>
            <a:pathLst>
              <a:path w="121920" h="121920">
                <a:moveTo>
                  <a:pt x="121919" y="0"/>
                </a:moveTo>
                <a:lnTo>
                  <a:pt x="0" y="60960"/>
                </a:lnTo>
                <a:lnTo>
                  <a:pt x="121919" y="121920"/>
                </a:lnTo>
                <a:lnTo>
                  <a:pt x="121919" y="0"/>
                </a:lnTo>
                <a:close/>
              </a:path>
            </a:pathLst>
          </a:custGeom>
          <a:solidFill>
            <a:srgbClr val="000000"/>
          </a:solidFill>
        </p:spPr>
        <p:txBody>
          <a:bodyPr wrap="square" lIns="0" tIns="0" rIns="0" bIns="0" rtlCol="0"/>
          <a:lstStyle/>
          <a:p>
            <a:endParaRPr/>
          </a:p>
        </p:txBody>
      </p:sp>
      <p:sp>
        <p:nvSpPr>
          <p:cNvPr id="25" name="TextBox 24">
            <a:extLst>
              <a:ext uri="{FF2B5EF4-FFF2-40B4-BE49-F238E27FC236}">
                <a16:creationId xmlns:a16="http://schemas.microsoft.com/office/drawing/2014/main" id="{8BD06111-C056-6C54-2BC6-25E3950FF658}"/>
              </a:ext>
            </a:extLst>
          </p:cNvPr>
          <p:cNvSpPr txBox="1"/>
          <p:nvPr/>
        </p:nvSpPr>
        <p:spPr>
          <a:xfrm>
            <a:off x="457200" y="3386716"/>
            <a:ext cx="7896225" cy="369332"/>
          </a:xfrm>
          <a:prstGeom prst="rect">
            <a:avLst/>
          </a:prstGeom>
          <a:noFill/>
        </p:spPr>
        <p:txBody>
          <a:bodyPr wrap="square">
            <a:spAutoFit/>
          </a:bodyPr>
          <a:lstStyle/>
          <a:p>
            <a:r>
              <a:rPr lang="en-US" b="0" i="0" dirty="0" err="1">
                <a:solidFill>
                  <a:schemeClr val="tx2">
                    <a:lumMod val="40000"/>
                    <a:lumOff val="60000"/>
                  </a:schemeClr>
                </a:solidFill>
                <a:effectLst/>
                <a:latin typeface="Söhne Mono"/>
              </a:rPr>
              <a:t>NewEstimate</a:t>
            </a:r>
            <a:r>
              <a:rPr lang="en-US" b="0" i="0" dirty="0">
                <a:solidFill>
                  <a:schemeClr val="tx2">
                    <a:lumMod val="40000"/>
                    <a:lumOff val="60000"/>
                  </a:schemeClr>
                </a:solidFill>
                <a:effectLst/>
                <a:latin typeface="Söhne Mono"/>
              </a:rPr>
              <a:t> = </a:t>
            </a:r>
            <a:r>
              <a:rPr lang="en-US" b="0" i="0" dirty="0" err="1">
                <a:solidFill>
                  <a:schemeClr val="tx2">
                    <a:lumMod val="40000"/>
                    <a:lumOff val="60000"/>
                  </a:schemeClr>
                </a:solidFill>
                <a:effectLst/>
                <a:latin typeface="Söhne Mono"/>
              </a:rPr>
              <a:t>OldEstimate</a:t>
            </a:r>
            <a:r>
              <a:rPr lang="en-US" b="0" i="0" dirty="0">
                <a:solidFill>
                  <a:schemeClr val="tx2">
                    <a:lumMod val="40000"/>
                    <a:lumOff val="60000"/>
                  </a:schemeClr>
                </a:solidFill>
                <a:effectLst/>
                <a:latin typeface="Söhne Mono"/>
              </a:rPr>
              <a:t> + </a:t>
            </a:r>
            <a:r>
              <a:rPr lang="en-US" b="0" i="0" dirty="0" err="1">
                <a:solidFill>
                  <a:schemeClr val="tx2">
                    <a:lumMod val="40000"/>
                    <a:lumOff val="60000"/>
                  </a:schemeClr>
                </a:solidFill>
                <a:effectLst/>
                <a:latin typeface="Söhne Mono"/>
              </a:rPr>
              <a:t>StepSize</a:t>
            </a:r>
            <a:r>
              <a:rPr lang="en-US" b="0" i="0" dirty="0">
                <a:solidFill>
                  <a:schemeClr val="tx2">
                    <a:lumMod val="40000"/>
                    <a:lumOff val="60000"/>
                  </a:schemeClr>
                </a:solidFill>
                <a:effectLst/>
                <a:latin typeface="Söhne Mono"/>
              </a:rPr>
              <a:t> * (Target - </a:t>
            </a:r>
            <a:r>
              <a:rPr lang="en-US" b="0" i="0" dirty="0" err="1">
                <a:solidFill>
                  <a:schemeClr val="tx2">
                    <a:lumMod val="40000"/>
                    <a:lumOff val="60000"/>
                  </a:schemeClr>
                </a:solidFill>
                <a:effectLst/>
                <a:latin typeface="Söhne Mono"/>
              </a:rPr>
              <a:t>OldEstimate</a:t>
            </a:r>
            <a:r>
              <a:rPr lang="en-US" b="0" i="0" dirty="0">
                <a:solidFill>
                  <a:schemeClr val="tx2">
                    <a:lumMod val="40000"/>
                    <a:lumOff val="60000"/>
                  </a:schemeClr>
                </a:solidFill>
                <a:effectLst/>
                <a:latin typeface="Söhne Mono"/>
              </a:rPr>
              <a:t>)</a:t>
            </a:r>
            <a:endParaRPr lang="en-US" dirty="0">
              <a:solidFill>
                <a:schemeClr val="tx2">
                  <a:lumMod val="40000"/>
                  <a:lumOff val="60000"/>
                </a:schemeClr>
              </a:solidFill>
            </a:endParaRPr>
          </a:p>
        </p:txBody>
      </p:sp>
      <p:sp>
        <p:nvSpPr>
          <p:cNvPr id="27" name="TextBox 26">
            <a:extLst>
              <a:ext uri="{FF2B5EF4-FFF2-40B4-BE49-F238E27FC236}">
                <a16:creationId xmlns:a16="http://schemas.microsoft.com/office/drawing/2014/main" id="{5FA6C2D5-6EEF-B7ED-C2B6-45AFF6183039}"/>
              </a:ext>
            </a:extLst>
          </p:cNvPr>
          <p:cNvSpPr txBox="1"/>
          <p:nvPr/>
        </p:nvSpPr>
        <p:spPr>
          <a:xfrm>
            <a:off x="6651105" y="3423613"/>
            <a:ext cx="2371034" cy="307777"/>
          </a:xfrm>
          <a:prstGeom prst="rect">
            <a:avLst/>
          </a:prstGeom>
          <a:noFill/>
        </p:spPr>
        <p:txBody>
          <a:bodyPr wrap="square">
            <a:spAutoFit/>
          </a:bodyPr>
          <a:lstStyle/>
          <a:p>
            <a:r>
              <a:rPr lang="en-US" sz="1400" dirty="0">
                <a:solidFill>
                  <a:srgbClr val="C82506"/>
                </a:solidFill>
                <a:latin typeface="Gill Sans MT"/>
              </a:rPr>
              <a:t>Incremental Update Formula</a:t>
            </a:r>
          </a:p>
        </p:txBody>
      </p:sp>
      <p:cxnSp>
        <p:nvCxnSpPr>
          <p:cNvPr id="29" name="Straight Arrow Connector 28">
            <a:extLst>
              <a:ext uri="{FF2B5EF4-FFF2-40B4-BE49-F238E27FC236}">
                <a16:creationId xmlns:a16="http://schemas.microsoft.com/office/drawing/2014/main" id="{378145DD-CD7F-01B4-0E5B-5AA3DA66C9A8}"/>
              </a:ext>
            </a:extLst>
          </p:cNvPr>
          <p:cNvCxnSpPr>
            <a:cxnSpLocks/>
          </p:cNvCxnSpPr>
          <p:nvPr/>
        </p:nvCxnSpPr>
        <p:spPr>
          <a:xfrm flipH="1">
            <a:off x="6400800" y="3577502"/>
            <a:ext cx="3048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5312" y="379468"/>
            <a:ext cx="3227070" cy="421640"/>
          </a:xfrm>
          <a:prstGeom prst="rect">
            <a:avLst/>
          </a:prstGeom>
        </p:spPr>
        <p:txBody>
          <a:bodyPr vert="horz" wrap="square" lIns="0" tIns="12700" rIns="0" bIns="0" rtlCol="0">
            <a:spAutoFit/>
          </a:bodyPr>
          <a:lstStyle/>
          <a:p>
            <a:pPr marL="12700">
              <a:lnSpc>
                <a:spcPct val="100000"/>
              </a:lnSpc>
              <a:spcBef>
                <a:spcPts val="100"/>
              </a:spcBef>
            </a:pPr>
            <a:r>
              <a:rPr dirty="0"/>
              <a:t>MC</a:t>
            </a:r>
            <a:r>
              <a:rPr spc="10" dirty="0"/>
              <a:t> </a:t>
            </a:r>
            <a:r>
              <a:rPr dirty="0"/>
              <a:t>vs.</a:t>
            </a:r>
            <a:r>
              <a:rPr spc="204" dirty="0"/>
              <a:t> </a:t>
            </a:r>
            <a:r>
              <a:rPr dirty="0"/>
              <a:t>TD</a:t>
            </a:r>
            <a:r>
              <a:rPr spc="25" dirty="0"/>
              <a:t> </a:t>
            </a:r>
            <a:r>
              <a:rPr dirty="0"/>
              <a:t>for</a:t>
            </a:r>
            <a:r>
              <a:rPr spc="-55" dirty="0"/>
              <a:t> </a:t>
            </a:r>
            <a:r>
              <a:rPr spc="-10" dirty="0"/>
              <a:t>Control</a:t>
            </a:r>
          </a:p>
        </p:txBody>
      </p:sp>
      <mc:AlternateContent xmlns:mc="http://schemas.openxmlformats.org/markup-compatibility/2006" xmlns:a14="http://schemas.microsoft.com/office/drawing/2010/main">
        <mc:Choice Requires="a14">
          <p:sp>
            <p:nvSpPr>
              <p:cNvPr id="3" name="object 3"/>
              <p:cNvSpPr txBox="1"/>
              <p:nvPr/>
            </p:nvSpPr>
            <p:spPr>
              <a:xfrm>
                <a:off x="614109" y="1268049"/>
                <a:ext cx="8529891" cy="5450210"/>
              </a:xfrm>
              <a:prstGeom prst="rect">
                <a:avLst/>
              </a:prstGeom>
            </p:spPr>
            <p:txBody>
              <a:bodyPr vert="horz" wrap="square" lIns="0" tIns="43180" rIns="0" bIns="0" rtlCol="0">
                <a:spAutoFit/>
              </a:bodyPr>
              <a:lstStyle/>
              <a:p>
                <a:pPr marL="12700" marR="5080">
                  <a:lnSpc>
                    <a:spcPts val="3200"/>
                  </a:lnSpc>
                  <a:spcBef>
                    <a:spcPts val="340"/>
                  </a:spcBef>
                </a:pPr>
                <a:r>
                  <a:rPr sz="2800" spc="-55" dirty="0">
                    <a:latin typeface="Gill Sans MT"/>
                    <a:cs typeface="Gill Sans MT"/>
                  </a:rPr>
                  <a:t>Temporal-</a:t>
                </a:r>
                <a:r>
                  <a:rPr sz="2800" dirty="0">
                    <a:latin typeface="Gill Sans MT"/>
                    <a:cs typeface="Gill Sans MT"/>
                  </a:rPr>
                  <a:t>difference</a:t>
                </a:r>
                <a:r>
                  <a:rPr sz="2800" spc="-20" dirty="0">
                    <a:latin typeface="Gill Sans MT"/>
                    <a:cs typeface="Gill Sans MT"/>
                  </a:rPr>
                  <a:t> </a:t>
                </a:r>
                <a:r>
                  <a:rPr sz="2800" dirty="0">
                    <a:latin typeface="Gill Sans MT"/>
                    <a:cs typeface="Gill Sans MT"/>
                  </a:rPr>
                  <a:t>(TD)</a:t>
                </a:r>
                <a:r>
                  <a:rPr sz="2800" spc="-15" dirty="0">
                    <a:latin typeface="Gill Sans MT"/>
                    <a:cs typeface="Gill Sans MT"/>
                  </a:rPr>
                  <a:t> </a:t>
                </a:r>
                <a:r>
                  <a:rPr sz="2800" dirty="0">
                    <a:latin typeface="Gill Sans MT"/>
                    <a:cs typeface="Gill Sans MT"/>
                  </a:rPr>
                  <a:t>learning</a:t>
                </a:r>
                <a:r>
                  <a:rPr sz="2800" spc="-20" dirty="0">
                    <a:latin typeface="Gill Sans MT"/>
                    <a:cs typeface="Gill Sans MT"/>
                  </a:rPr>
                  <a:t> </a:t>
                </a:r>
                <a:r>
                  <a:rPr sz="2800" dirty="0">
                    <a:latin typeface="Gill Sans MT"/>
                    <a:cs typeface="Gill Sans MT"/>
                  </a:rPr>
                  <a:t>has</a:t>
                </a:r>
                <a:r>
                  <a:rPr sz="2800" spc="-15" dirty="0">
                    <a:latin typeface="Gill Sans MT"/>
                    <a:cs typeface="Gill Sans MT"/>
                  </a:rPr>
                  <a:t> </a:t>
                </a:r>
                <a:r>
                  <a:rPr sz="2800" spc="-20" dirty="0">
                    <a:latin typeface="Gill Sans MT"/>
                    <a:cs typeface="Gill Sans MT"/>
                  </a:rPr>
                  <a:t>several </a:t>
                </a:r>
                <a:r>
                  <a:rPr sz="2800" dirty="0">
                    <a:latin typeface="Gill Sans MT"/>
                    <a:cs typeface="Gill Sans MT"/>
                  </a:rPr>
                  <a:t>advantages</a:t>
                </a:r>
                <a:r>
                  <a:rPr sz="2800" spc="-40" dirty="0">
                    <a:latin typeface="Gill Sans MT"/>
                    <a:cs typeface="Gill Sans MT"/>
                  </a:rPr>
                  <a:t> </a:t>
                </a:r>
                <a:r>
                  <a:rPr sz="2800" dirty="0">
                    <a:latin typeface="Gill Sans MT"/>
                    <a:cs typeface="Gill Sans MT"/>
                  </a:rPr>
                  <a:t>over</a:t>
                </a:r>
                <a:r>
                  <a:rPr sz="2800" spc="-40" dirty="0">
                    <a:latin typeface="Gill Sans MT"/>
                    <a:cs typeface="Gill Sans MT"/>
                  </a:rPr>
                  <a:t> </a:t>
                </a:r>
                <a:r>
                  <a:rPr sz="2800" dirty="0">
                    <a:latin typeface="Gill Sans MT"/>
                    <a:cs typeface="Gill Sans MT"/>
                  </a:rPr>
                  <a:t>Monte-Carlo</a:t>
                </a:r>
                <a:r>
                  <a:rPr sz="2800" spc="-35" dirty="0">
                    <a:latin typeface="Gill Sans MT"/>
                    <a:cs typeface="Gill Sans MT"/>
                  </a:rPr>
                  <a:t> </a:t>
                </a:r>
                <a:r>
                  <a:rPr sz="2800" spc="-20" dirty="0">
                    <a:latin typeface="Gill Sans MT"/>
                    <a:cs typeface="Gill Sans MT"/>
                  </a:rPr>
                  <a:t>(MC)</a:t>
                </a:r>
                <a:endParaRPr sz="2800" dirty="0">
                  <a:latin typeface="Gill Sans MT"/>
                  <a:cs typeface="Gill Sans MT"/>
                </a:endParaRPr>
              </a:p>
              <a:p>
                <a:pPr>
                  <a:lnSpc>
                    <a:spcPct val="100000"/>
                  </a:lnSpc>
                </a:pPr>
                <a:endParaRPr sz="2550" dirty="0">
                  <a:latin typeface="Gill Sans MT"/>
                  <a:cs typeface="Gill Sans MT"/>
                </a:endParaRPr>
              </a:p>
              <a:p>
                <a:pPr marL="241300" indent="-228600">
                  <a:lnSpc>
                    <a:spcPts val="3279"/>
                  </a:lnSpc>
                  <a:buChar char="•"/>
                  <a:tabLst>
                    <a:tab pos="241300" algn="l"/>
                  </a:tabLst>
                </a:pPr>
                <a:r>
                  <a:rPr sz="2800" dirty="0">
                    <a:latin typeface="Gill Sans MT"/>
                    <a:cs typeface="Gill Sans MT"/>
                  </a:rPr>
                  <a:t>Lower</a:t>
                </a:r>
                <a:r>
                  <a:rPr sz="2800" spc="-100" dirty="0">
                    <a:latin typeface="Gill Sans MT"/>
                    <a:cs typeface="Gill Sans MT"/>
                  </a:rPr>
                  <a:t> </a:t>
                </a:r>
                <a:r>
                  <a:rPr sz="2800" spc="-10" dirty="0">
                    <a:latin typeface="Gill Sans MT"/>
                    <a:cs typeface="Gill Sans MT"/>
                  </a:rPr>
                  <a:t>variance</a:t>
                </a:r>
                <a:endParaRPr sz="2800" dirty="0">
                  <a:latin typeface="Gill Sans MT"/>
                  <a:cs typeface="Gill Sans MT"/>
                </a:endParaRPr>
              </a:p>
              <a:p>
                <a:pPr marL="241300" indent="-228600">
                  <a:lnSpc>
                    <a:spcPts val="3279"/>
                  </a:lnSpc>
                  <a:buChar char="•"/>
                  <a:tabLst>
                    <a:tab pos="241300" algn="l"/>
                  </a:tabLst>
                </a:pPr>
                <a:r>
                  <a:rPr sz="2800" dirty="0">
                    <a:latin typeface="Gill Sans MT"/>
                    <a:cs typeface="Gill Sans MT"/>
                  </a:rPr>
                  <a:t>can</a:t>
                </a:r>
                <a:r>
                  <a:rPr sz="2800" spc="-15" dirty="0">
                    <a:latin typeface="Gill Sans MT"/>
                    <a:cs typeface="Gill Sans MT"/>
                  </a:rPr>
                  <a:t> </a:t>
                </a:r>
                <a:r>
                  <a:rPr sz="2800" dirty="0">
                    <a:latin typeface="Gill Sans MT"/>
                    <a:cs typeface="Gill Sans MT"/>
                  </a:rPr>
                  <a:t>use</a:t>
                </a:r>
                <a:r>
                  <a:rPr sz="2800" spc="-10" dirty="0">
                    <a:latin typeface="Gill Sans MT"/>
                    <a:cs typeface="Gill Sans MT"/>
                  </a:rPr>
                  <a:t> </a:t>
                </a:r>
                <a:r>
                  <a:rPr sz="2800" dirty="0">
                    <a:latin typeface="Gill Sans MT"/>
                    <a:cs typeface="Gill Sans MT"/>
                  </a:rPr>
                  <a:t>incomplete</a:t>
                </a:r>
                <a:r>
                  <a:rPr sz="2800" spc="-10" dirty="0">
                    <a:latin typeface="Gill Sans MT"/>
                    <a:cs typeface="Gill Sans MT"/>
                  </a:rPr>
                  <a:t> sequences</a:t>
                </a:r>
                <a:endParaRPr sz="2800" dirty="0">
                  <a:latin typeface="Gill Sans MT"/>
                  <a:cs typeface="Gill Sans MT"/>
                </a:endParaRPr>
              </a:p>
              <a:p>
                <a:pPr>
                  <a:lnSpc>
                    <a:spcPct val="100000"/>
                  </a:lnSpc>
                </a:pPr>
                <a:endParaRPr sz="3200" dirty="0">
                  <a:latin typeface="Gill Sans MT"/>
                  <a:cs typeface="Gill Sans MT"/>
                </a:endParaRPr>
              </a:p>
              <a:p>
                <a:pPr marL="12700" marR="1015365">
                  <a:lnSpc>
                    <a:spcPts val="3200"/>
                  </a:lnSpc>
                  <a:spcBef>
                    <a:spcPts val="2770"/>
                  </a:spcBef>
                  <a:tabLst>
                    <a:tab pos="8115300" algn="l"/>
                  </a:tabLst>
                </a:pPr>
                <a:r>
                  <a:rPr lang="en-US" sz="2800" dirty="0">
                    <a:solidFill>
                      <a:srgbClr val="C82506"/>
                    </a:solidFill>
                    <a:latin typeface="Gill Sans MT"/>
                    <a:cs typeface="Gill Sans MT"/>
                  </a:rPr>
                  <a:t>Thus</a:t>
                </a:r>
                <a:r>
                  <a:rPr lang="en-US" sz="2800" spc="-70" dirty="0">
                    <a:solidFill>
                      <a:srgbClr val="C82506"/>
                    </a:solidFill>
                    <a:latin typeface="Gill Sans MT"/>
                    <a:cs typeface="Gill Sans MT"/>
                  </a:rPr>
                  <a:t> </a:t>
                </a:r>
                <a:r>
                  <a:rPr lang="en-US" sz="2800" dirty="0">
                    <a:solidFill>
                      <a:srgbClr val="C82506"/>
                    </a:solidFill>
                    <a:latin typeface="Gill Sans MT"/>
                    <a:cs typeface="Gill Sans MT"/>
                  </a:rPr>
                  <a:t>we</a:t>
                </a:r>
                <a:r>
                  <a:rPr lang="en-US" sz="2800" spc="-55" dirty="0">
                    <a:solidFill>
                      <a:srgbClr val="C82506"/>
                    </a:solidFill>
                    <a:latin typeface="Gill Sans MT"/>
                    <a:cs typeface="Gill Sans MT"/>
                  </a:rPr>
                  <a:t> </a:t>
                </a:r>
                <a:r>
                  <a:rPr lang="en-US" sz="2800" dirty="0">
                    <a:solidFill>
                      <a:srgbClr val="C82506"/>
                    </a:solidFill>
                    <a:latin typeface="Gill Sans MT"/>
                    <a:cs typeface="Gill Sans MT"/>
                  </a:rPr>
                  <a:t>expect</a:t>
                </a:r>
                <a:r>
                  <a:rPr lang="en-US" sz="2800" spc="-55" dirty="0">
                    <a:solidFill>
                      <a:srgbClr val="C82506"/>
                    </a:solidFill>
                    <a:latin typeface="Gill Sans MT"/>
                    <a:cs typeface="Gill Sans MT"/>
                  </a:rPr>
                  <a:t> </a:t>
                </a:r>
                <a:r>
                  <a:rPr lang="en-US" sz="2800" dirty="0">
                    <a:solidFill>
                      <a:srgbClr val="C82506"/>
                    </a:solidFill>
                    <a:latin typeface="Gill Sans MT"/>
                    <a:cs typeface="Gill Sans MT"/>
                  </a:rPr>
                  <a:t>improvement</a:t>
                </a:r>
                <a:r>
                  <a:rPr lang="en-US" sz="2800" spc="-55" dirty="0">
                    <a:solidFill>
                      <a:srgbClr val="C82506"/>
                    </a:solidFill>
                    <a:latin typeface="Gill Sans MT"/>
                    <a:cs typeface="Gill Sans MT"/>
                  </a:rPr>
                  <a:t> </a:t>
                </a:r>
                <a:r>
                  <a:rPr lang="en-US" sz="2800" dirty="0">
                    <a:solidFill>
                      <a:srgbClr val="C82506"/>
                    </a:solidFill>
                    <a:latin typeface="Gill Sans MT"/>
                    <a:cs typeface="Gill Sans MT"/>
                  </a:rPr>
                  <a:t>by</a:t>
                </a:r>
                <a:r>
                  <a:rPr lang="en-US" sz="2800" spc="-50" dirty="0">
                    <a:solidFill>
                      <a:srgbClr val="C82506"/>
                    </a:solidFill>
                    <a:latin typeface="Gill Sans MT"/>
                    <a:cs typeface="Gill Sans MT"/>
                  </a:rPr>
                  <a:t> </a:t>
                </a:r>
                <a:r>
                  <a:rPr lang="en-US" sz="2800" spc="-10" dirty="0">
                    <a:solidFill>
                      <a:srgbClr val="C82506"/>
                    </a:solidFill>
                    <a:latin typeface="Gill Sans MT"/>
                    <a:cs typeface="Gill Sans MT"/>
                  </a:rPr>
                  <a:t>using </a:t>
                </a:r>
                <a:r>
                  <a:rPr lang="en-US" sz="2800" dirty="0">
                    <a:solidFill>
                      <a:srgbClr val="C82506"/>
                    </a:solidFill>
                    <a:latin typeface="Gill Sans MT"/>
                    <a:cs typeface="Gill Sans MT"/>
                  </a:rPr>
                  <a:t>TD instead</a:t>
                </a:r>
                <a:r>
                  <a:rPr lang="en-US" sz="2800" spc="-15" dirty="0">
                    <a:solidFill>
                      <a:srgbClr val="C82506"/>
                    </a:solidFill>
                    <a:latin typeface="Gill Sans MT"/>
                    <a:cs typeface="Gill Sans MT"/>
                  </a:rPr>
                  <a:t> </a:t>
                </a:r>
                <a:r>
                  <a:rPr lang="en-US" sz="2800" dirty="0">
                    <a:solidFill>
                      <a:srgbClr val="C82506"/>
                    </a:solidFill>
                    <a:latin typeface="Gill Sans MT"/>
                    <a:cs typeface="Gill Sans MT"/>
                  </a:rPr>
                  <a:t>of</a:t>
                </a:r>
                <a:r>
                  <a:rPr lang="en-US" sz="2800" spc="-20" dirty="0">
                    <a:solidFill>
                      <a:srgbClr val="C82506"/>
                    </a:solidFill>
                    <a:latin typeface="Gill Sans MT"/>
                    <a:cs typeface="Gill Sans MT"/>
                  </a:rPr>
                  <a:t> </a:t>
                </a:r>
                <a:r>
                  <a:rPr lang="en-US" sz="2800" dirty="0">
                    <a:solidFill>
                      <a:srgbClr val="C82506"/>
                    </a:solidFill>
                    <a:latin typeface="Gill Sans MT"/>
                    <a:cs typeface="Gill Sans MT"/>
                  </a:rPr>
                  <a:t>MC</a:t>
                </a:r>
                <a:r>
                  <a:rPr lang="en-US" sz="2800" spc="-15" dirty="0">
                    <a:solidFill>
                      <a:srgbClr val="C82506"/>
                    </a:solidFill>
                    <a:latin typeface="Gill Sans MT"/>
                    <a:cs typeface="Gill Sans MT"/>
                  </a:rPr>
                  <a:t> </a:t>
                </a:r>
                <a:r>
                  <a:rPr lang="en-US" sz="2800" dirty="0">
                    <a:solidFill>
                      <a:srgbClr val="C82506"/>
                    </a:solidFill>
                    <a:latin typeface="Gill Sans MT"/>
                    <a:cs typeface="Gill Sans MT"/>
                  </a:rPr>
                  <a:t>in</a:t>
                </a:r>
                <a:r>
                  <a:rPr lang="en-US" sz="2800" spc="-20" dirty="0">
                    <a:solidFill>
                      <a:srgbClr val="C82506"/>
                    </a:solidFill>
                    <a:latin typeface="Gill Sans MT"/>
                    <a:cs typeface="Gill Sans MT"/>
                  </a:rPr>
                  <a:t> </a:t>
                </a:r>
                <a:r>
                  <a:rPr lang="en-US" sz="2800" dirty="0">
                    <a:solidFill>
                      <a:srgbClr val="C82506"/>
                    </a:solidFill>
                    <a:latin typeface="Gill Sans MT"/>
                    <a:cs typeface="Gill Sans MT"/>
                  </a:rPr>
                  <a:t>the</a:t>
                </a:r>
                <a:r>
                  <a:rPr lang="en-US" sz="2800" spc="-20" dirty="0">
                    <a:solidFill>
                      <a:srgbClr val="C82506"/>
                    </a:solidFill>
                    <a:latin typeface="Gill Sans MT"/>
                    <a:cs typeface="Gill Sans MT"/>
                  </a:rPr>
                  <a:t> </a:t>
                </a:r>
                <a:r>
                  <a:rPr lang="en-US" sz="2800" dirty="0">
                    <a:solidFill>
                      <a:srgbClr val="C82506"/>
                    </a:solidFill>
                    <a:latin typeface="Gill Sans MT"/>
                    <a:cs typeface="Gill Sans MT"/>
                  </a:rPr>
                  <a:t>control</a:t>
                </a:r>
                <a:r>
                  <a:rPr lang="en-US" sz="2800" spc="-15" dirty="0">
                    <a:solidFill>
                      <a:srgbClr val="C82506"/>
                    </a:solidFill>
                    <a:latin typeface="Gill Sans MT"/>
                    <a:cs typeface="Gill Sans MT"/>
                  </a:rPr>
                  <a:t> </a:t>
                </a:r>
                <a:r>
                  <a:rPr lang="en-US" sz="2800" spc="-20" dirty="0">
                    <a:solidFill>
                      <a:srgbClr val="C82506"/>
                    </a:solidFill>
                    <a:latin typeface="Gill Sans MT"/>
                    <a:cs typeface="Gill Sans MT"/>
                  </a:rPr>
                  <a:t>loop</a:t>
                </a:r>
                <a:endParaRPr lang="en-US" sz="2800" dirty="0">
                  <a:latin typeface="Gill Sans MT"/>
                  <a:cs typeface="Gill Sans MT"/>
                </a:endParaRPr>
              </a:p>
              <a:p>
                <a:pPr>
                  <a:lnSpc>
                    <a:spcPct val="100000"/>
                  </a:lnSpc>
                </a:pPr>
                <a:endParaRPr lang="en-US" sz="2550" dirty="0">
                  <a:latin typeface="Gill Sans MT"/>
                  <a:cs typeface="Gill Sans MT"/>
                </a:endParaRPr>
              </a:p>
              <a:p>
                <a:pPr marL="241300" indent="-228600">
                  <a:lnSpc>
                    <a:spcPts val="3354"/>
                  </a:lnSpc>
                  <a:spcBef>
                    <a:spcPts val="5"/>
                  </a:spcBef>
                  <a:buFont typeface="Lucida Sans Unicode"/>
                  <a:buChar char="‣"/>
                  <a:tabLst>
                    <a:tab pos="241300" algn="l"/>
                  </a:tabLst>
                </a:pPr>
                <a:r>
                  <a:rPr sz="2800" spc="-10" dirty="0">
                    <a:latin typeface="Gill Sans MT"/>
                    <a:cs typeface="Gill Sans MT"/>
                  </a:rPr>
                  <a:t>Apply</a:t>
                </a:r>
                <a:r>
                  <a:rPr sz="2800" spc="-355" dirty="0">
                    <a:latin typeface="Gill Sans MT"/>
                    <a:cs typeface="Gill Sans MT"/>
                  </a:rPr>
                  <a:t> </a:t>
                </a:r>
                <a:r>
                  <a:rPr sz="2800" dirty="0">
                    <a:latin typeface="Gill Sans MT"/>
                    <a:cs typeface="Gill Sans MT"/>
                  </a:rPr>
                  <a:t>TD</a:t>
                </a:r>
                <a:r>
                  <a:rPr sz="2800" spc="15" dirty="0">
                    <a:latin typeface="Gill Sans MT"/>
                    <a:cs typeface="Gill Sans MT"/>
                  </a:rPr>
                  <a:t> </a:t>
                </a:r>
                <a:r>
                  <a:rPr sz="2800" dirty="0">
                    <a:latin typeface="Gill Sans MT"/>
                    <a:cs typeface="Gill Sans MT"/>
                  </a:rPr>
                  <a:t>to</a:t>
                </a:r>
                <a:r>
                  <a:rPr sz="2800" spc="15" dirty="0">
                    <a:latin typeface="Gill Sans MT"/>
                    <a:cs typeface="Gill Sans MT"/>
                  </a:rPr>
                  <a:t> </a:t>
                </a:r>
                <a:r>
                  <a:rPr sz="2800" spc="-10" dirty="0">
                    <a:latin typeface="Gill Sans MT"/>
                    <a:cs typeface="Gill Sans MT"/>
                  </a:rPr>
                  <a:t>Q(S,</a:t>
                </a:r>
                <a:r>
                  <a:rPr sz="2800" spc="-560" dirty="0">
                    <a:latin typeface="Gill Sans MT"/>
                    <a:cs typeface="Gill Sans MT"/>
                  </a:rPr>
                  <a:t> </a:t>
                </a:r>
                <a:r>
                  <a:rPr sz="2800" spc="-25" dirty="0">
                    <a:latin typeface="Gill Sans MT"/>
                    <a:cs typeface="Gill Sans MT"/>
                  </a:rPr>
                  <a:t>A)</a:t>
                </a:r>
                <a:endParaRPr sz="2800" dirty="0">
                  <a:latin typeface="Gill Sans MT"/>
                  <a:cs typeface="Gill Sans MT"/>
                </a:endParaRPr>
              </a:p>
              <a:p>
                <a:pPr marL="241300" indent="-228600">
                  <a:lnSpc>
                    <a:spcPts val="3354"/>
                  </a:lnSpc>
                  <a:spcBef>
                    <a:spcPts val="5"/>
                  </a:spcBef>
                  <a:buFont typeface="Lucida Sans Unicode"/>
                  <a:buChar char="‣"/>
                  <a:tabLst>
                    <a:tab pos="241300" algn="l"/>
                  </a:tabLst>
                </a:pPr>
                <a14:m>
                  <m:oMath xmlns:m="http://schemas.openxmlformats.org/officeDocument/2006/math">
                    <m:r>
                      <a:rPr lang="en-US" sz="2800" spc="-10" dirty="0">
                        <a:latin typeface="Cambria Math" panose="02040503050406030204" pitchFamily="18" charset="0"/>
                        <a:cs typeface="Gill Sans MT"/>
                      </a:rPr>
                      <m:t>𝜖</m:t>
                    </m:r>
                    <m:r>
                      <a:rPr lang="en-US" sz="2800" spc="-10" dirty="0">
                        <a:latin typeface="Cambria Math" panose="02040503050406030204" pitchFamily="18" charset="0"/>
                        <a:cs typeface="Gill Sans MT"/>
                      </a:rPr>
                      <m:t> </m:t>
                    </m:r>
                  </m:oMath>
                </a14:m>
                <a:r>
                  <a:rPr sz="2800" spc="-10" dirty="0">
                    <a:latin typeface="Gill Sans MT"/>
                    <a:cs typeface="Gill Sans MT"/>
                  </a:rPr>
                  <a:t>-greedy policy improvement</a:t>
                </a:r>
              </a:p>
              <a:p>
                <a:pPr marL="241300" indent="-228600">
                  <a:lnSpc>
                    <a:spcPts val="3295"/>
                  </a:lnSpc>
                  <a:buFont typeface="Lucida Sans Unicode"/>
                  <a:buChar char="‣"/>
                  <a:tabLst>
                    <a:tab pos="241300" algn="l"/>
                  </a:tabLst>
                </a:pPr>
                <a:r>
                  <a:rPr sz="2800" dirty="0">
                    <a:latin typeface="Gill Sans MT"/>
                    <a:cs typeface="Gill Sans MT"/>
                  </a:rPr>
                  <a:t>update</a:t>
                </a:r>
                <a:r>
                  <a:rPr sz="2800" spc="-20" dirty="0">
                    <a:latin typeface="Gill Sans MT"/>
                    <a:cs typeface="Gill Sans MT"/>
                  </a:rPr>
                  <a:t> </a:t>
                </a:r>
                <a:r>
                  <a:rPr sz="2800" dirty="0">
                    <a:latin typeface="Gill Sans MT"/>
                    <a:cs typeface="Gill Sans MT"/>
                  </a:rPr>
                  <a:t>every</a:t>
                </a:r>
                <a:r>
                  <a:rPr sz="2800" spc="-15" dirty="0">
                    <a:latin typeface="Gill Sans MT"/>
                    <a:cs typeface="Gill Sans MT"/>
                  </a:rPr>
                  <a:t> </a:t>
                </a:r>
                <a:r>
                  <a:rPr sz="2800" dirty="0">
                    <a:latin typeface="Gill Sans MT"/>
                    <a:cs typeface="Gill Sans MT"/>
                  </a:rPr>
                  <a:t>time-</a:t>
                </a:r>
                <a:r>
                  <a:rPr sz="2800" spc="-20" dirty="0">
                    <a:latin typeface="Gill Sans MT"/>
                    <a:cs typeface="Gill Sans MT"/>
                  </a:rPr>
                  <a:t>step</a:t>
                </a:r>
                <a:endParaRPr sz="2800" dirty="0">
                  <a:latin typeface="Gill Sans MT"/>
                  <a:cs typeface="Gill Sans MT"/>
                </a:endParaRPr>
              </a:p>
            </p:txBody>
          </p:sp>
        </mc:Choice>
        <mc:Fallback xmlns="">
          <p:sp>
            <p:nvSpPr>
              <p:cNvPr id="3" name="object 3"/>
              <p:cNvSpPr txBox="1">
                <a:spLocks noRot="1" noChangeAspect="1" noMove="1" noResize="1" noEditPoints="1" noAdjustHandles="1" noChangeArrowheads="1" noChangeShapeType="1" noTextEdit="1"/>
              </p:cNvSpPr>
              <p:nvPr/>
            </p:nvSpPr>
            <p:spPr>
              <a:xfrm>
                <a:off x="614109" y="1268049"/>
                <a:ext cx="8529891" cy="5450210"/>
              </a:xfrm>
              <a:prstGeom prst="rect">
                <a:avLst/>
              </a:prstGeom>
              <a:blipFill>
                <a:blip r:embed="rId3"/>
                <a:stretch>
                  <a:fillRect l="-3145" t="-1566" b="-581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9893FBF-CF76-AABF-D055-DCFAEBBF7BFE}"/>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0CD6250F-647C-DBDF-03C3-5BCA59D1768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1404FCE-CE01-0166-B856-105A889691C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5" dirty="0"/>
              <a:t>Policy</a:t>
            </a:r>
            <a:r>
              <a:rPr spc="-180" dirty="0"/>
              <a:t> </a:t>
            </a:r>
            <a:r>
              <a:rPr spc="-90" dirty="0"/>
              <a:t>Iteration</a:t>
            </a:r>
            <a:r>
              <a:rPr spc="-175" dirty="0"/>
              <a:t> </a:t>
            </a:r>
            <a:r>
              <a:rPr spc="-60" dirty="0"/>
              <a:t>with</a:t>
            </a:r>
            <a:r>
              <a:rPr spc="-55" dirty="0"/>
              <a:t> </a:t>
            </a:r>
            <a:r>
              <a:rPr spc="-20" dirty="0"/>
              <a:t>Sarsa</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231930" y="1354253"/>
                <a:ext cx="5774055" cy="2837059"/>
              </a:xfrm>
              <a:prstGeom prst="rect">
                <a:avLst/>
              </a:prstGeom>
            </p:spPr>
            <p:txBody>
              <a:bodyPr vert="horz" wrap="square" lIns="0" tIns="143510" rIns="0" bIns="0" rtlCol="0">
                <a:spAutoFit/>
              </a:bodyPr>
              <a:lstStyle/>
              <a:p>
                <a:pPr marL="76200">
                  <a:lnSpc>
                    <a:spcPct val="100000"/>
                  </a:lnSpc>
                  <a:spcBef>
                    <a:spcPts val="1130"/>
                  </a:spcBef>
                </a:pPr>
                <a:r>
                  <a:rPr b="1" dirty="0"/>
                  <a:t>Every</a:t>
                </a:r>
                <a:r>
                  <a:rPr b="1" spc="5" dirty="0"/>
                  <a:t> </a:t>
                </a:r>
                <a:r>
                  <a:rPr b="1" dirty="0"/>
                  <a:t>time</a:t>
                </a:r>
                <a:r>
                  <a:rPr b="1" spc="10" dirty="0"/>
                  <a:t> </a:t>
                </a:r>
                <a:r>
                  <a:rPr b="1" spc="-20" dirty="0"/>
                  <a:t>step</a:t>
                </a:r>
              </a:p>
              <a:p>
                <a:pPr marL="76200">
                  <a:lnSpc>
                    <a:spcPct val="100000"/>
                  </a:lnSpc>
                  <a:spcBef>
                    <a:spcPts val="1090"/>
                  </a:spcBef>
                </a:pPr>
                <a:r>
                  <a:rPr dirty="0">
                    <a:solidFill>
                      <a:srgbClr val="C82506"/>
                    </a:solidFill>
                  </a:rPr>
                  <a:t>Policy</a:t>
                </a:r>
                <a:r>
                  <a:rPr spc="-25" dirty="0">
                    <a:solidFill>
                      <a:srgbClr val="C82506"/>
                    </a:solidFill>
                  </a:rPr>
                  <a:t> </a:t>
                </a:r>
                <a:r>
                  <a:rPr dirty="0">
                    <a:solidFill>
                      <a:srgbClr val="C82506"/>
                    </a:solidFill>
                  </a:rPr>
                  <a:t>evaluation</a:t>
                </a:r>
                <a:r>
                  <a:rPr spc="-10" dirty="0">
                    <a:solidFill>
                      <a:srgbClr val="C82506"/>
                    </a:solidFill>
                  </a:rPr>
                  <a:t> </a:t>
                </a:r>
                <a:r>
                  <a:rPr dirty="0"/>
                  <a:t>using</a:t>
                </a:r>
                <a:r>
                  <a:rPr spc="-20" dirty="0"/>
                  <a:t> </a:t>
                </a:r>
                <a:r>
                  <a:rPr spc="-10" dirty="0"/>
                  <a:t>Sarsa,</a:t>
                </a:r>
                <a:r>
                  <a:rPr spc="-210" dirty="0"/>
                  <a:t> </a:t>
                </a:r>
                <a:r>
                  <a:rPr sz="2200" i="1" dirty="0">
                    <a:latin typeface="Times New Roman"/>
                    <a:cs typeface="Times New Roman"/>
                  </a:rPr>
                  <a:t>Q</a:t>
                </a:r>
                <a:r>
                  <a:rPr sz="2200" i="1" spc="50" dirty="0">
                    <a:latin typeface="Times New Roman"/>
                    <a:cs typeface="Times New Roman"/>
                  </a:rPr>
                  <a:t> </a:t>
                </a:r>
                <a:r>
                  <a:rPr sz="2200" spc="290" dirty="0">
                    <a:latin typeface="Cambria"/>
                    <a:cs typeface="Cambria"/>
                  </a:rPr>
                  <a:t>≈</a:t>
                </a:r>
                <a:r>
                  <a:rPr sz="2200" spc="110" dirty="0">
                    <a:latin typeface="Cambria"/>
                    <a:cs typeface="Cambria"/>
                  </a:rPr>
                  <a:t> </a:t>
                </a:r>
                <a:r>
                  <a:rPr sz="2200" i="1" spc="-25" dirty="0">
                    <a:latin typeface="Times New Roman"/>
                    <a:cs typeface="Times New Roman"/>
                  </a:rPr>
                  <a:t>q</a:t>
                </a:r>
                <a14:m>
                  <m:oMath xmlns:m="http://schemas.openxmlformats.org/officeDocument/2006/math">
                    <m:r>
                      <a:rPr lang="en-US" sz="2325" i="1" spc="-37" baseline="-19713" dirty="0" smtClean="0">
                        <a:latin typeface="Cambria Math" panose="02040503050406030204" pitchFamily="18" charset="0"/>
                        <a:cs typeface="Arial"/>
                      </a:rPr>
                      <m:t>𝜋</m:t>
                    </m:r>
                  </m:oMath>
                </a14:m>
                <a:endParaRPr sz="2325" baseline="-19713" dirty="0">
                  <a:latin typeface="Arial"/>
                  <a:cs typeface="Arial"/>
                </a:endParaRPr>
              </a:p>
              <a:p>
                <a:pPr marL="492759" marR="43180" indent="-417195">
                  <a:lnSpc>
                    <a:spcPct val="144900"/>
                  </a:lnSpc>
                  <a:spcBef>
                    <a:spcPts val="185"/>
                  </a:spcBef>
                  <a:tabLst>
                    <a:tab pos="2411095" algn="l"/>
                  </a:tabLst>
                </a:pPr>
                <a:r>
                  <a:rPr dirty="0">
                    <a:solidFill>
                      <a:srgbClr val="C82506"/>
                    </a:solidFill>
                  </a:rPr>
                  <a:t>Policy</a:t>
                </a:r>
                <a:r>
                  <a:rPr spc="-65" dirty="0">
                    <a:solidFill>
                      <a:srgbClr val="C82506"/>
                    </a:solidFill>
                  </a:rPr>
                  <a:t> </a:t>
                </a:r>
                <a:r>
                  <a:rPr spc="-10" dirty="0">
                    <a:solidFill>
                      <a:srgbClr val="C82506"/>
                    </a:solidFill>
                  </a:rPr>
                  <a:t>improvement</a:t>
                </a:r>
                <a:r>
                  <a:rPr lang="en-US" dirty="0">
                    <a:solidFill>
                      <a:srgbClr val="C82506"/>
                    </a:solidFill>
                  </a:rPr>
                  <a:t> </a:t>
                </a:r>
                <a14:m>
                  <m:oMath xmlns:m="http://schemas.openxmlformats.org/officeDocument/2006/math">
                    <m:r>
                      <a:rPr lang="el-GR" sz="2400" i="1" dirty="0">
                        <a:latin typeface="Cambria Math" panose="02040503050406030204" pitchFamily="18" charset="0"/>
                        <a:cs typeface="Arial"/>
                      </a:rPr>
                      <m:t>𝜖</m:t>
                    </m:r>
                  </m:oMath>
                </a14:m>
                <a:r>
                  <a:rPr spc="-10" dirty="0"/>
                  <a:t>-</a:t>
                </a:r>
                <a:r>
                  <a:rPr dirty="0"/>
                  <a:t>greedy</a:t>
                </a:r>
                <a:r>
                  <a:rPr spc="-40" dirty="0"/>
                  <a:t> </a:t>
                </a:r>
                <a:r>
                  <a:rPr dirty="0"/>
                  <a:t>policy</a:t>
                </a:r>
                <a:r>
                  <a:rPr spc="-30" dirty="0"/>
                  <a:t> </a:t>
                </a:r>
                <a:r>
                  <a:rPr spc="-10" dirty="0"/>
                  <a:t>improvement </a:t>
                </a:r>
                <a:r>
                  <a:rPr dirty="0"/>
                  <a:t>with</a:t>
                </a:r>
                <a:r>
                  <a:rPr spc="-120" dirty="0"/>
                  <a:t> </a:t>
                </a:r>
                <a:r>
                  <a:rPr dirty="0"/>
                  <a:t>probability</a:t>
                </a:r>
                <a:r>
                  <a:rPr spc="-50" dirty="0"/>
                  <a:t> </a:t>
                </a:r>
                <a:r>
                  <a:rPr sz="2200" spc="-110" dirty="0">
                    <a:latin typeface="Cambria"/>
                    <a:cs typeface="Cambria"/>
                  </a:rPr>
                  <a:t>(1</a:t>
                </a:r>
                <a:r>
                  <a:rPr sz="2200" spc="-10" dirty="0">
                    <a:latin typeface="Cambria"/>
                    <a:cs typeface="Cambria"/>
                  </a:rPr>
                  <a:t> </a:t>
                </a:r>
                <a:r>
                  <a:rPr sz="2200" spc="290" dirty="0">
                    <a:latin typeface="Cambria"/>
                    <a:cs typeface="Cambria"/>
                  </a:rPr>
                  <a:t>−</a:t>
                </a:r>
                <a:r>
                  <a:rPr sz="2200" spc="-40" dirty="0">
                    <a:latin typeface="Cambria"/>
                    <a:cs typeface="Cambria"/>
                  </a:rPr>
                  <a:t> </a:t>
                </a:r>
                <a14:m>
                  <m:oMath xmlns:m="http://schemas.openxmlformats.org/officeDocument/2006/math">
                    <m:r>
                      <a:rPr lang="en-US" sz="2200" i="1" dirty="0" smtClean="0">
                        <a:latin typeface="Cambria Math" panose="02040503050406030204" pitchFamily="18" charset="0"/>
                        <a:cs typeface="Arial"/>
                      </a:rPr>
                      <m:t>𝜖</m:t>
                    </m:r>
                  </m:oMath>
                </a14:m>
                <a:r>
                  <a:rPr sz="2200" dirty="0">
                    <a:latin typeface="Cambria"/>
                    <a:cs typeface="Cambria"/>
                  </a:rPr>
                  <a:t>)</a:t>
                </a:r>
                <a:r>
                  <a:rPr sz="2200" spc="45" dirty="0">
                    <a:latin typeface="Cambria"/>
                    <a:cs typeface="Cambria"/>
                  </a:rPr>
                  <a:t> </a:t>
                </a:r>
                <a:r>
                  <a:rPr dirty="0"/>
                  <a:t>choose</a:t>
                </a:r>
                <a:r>
                  <a:rPr spc="-50" dirty="0"/>
                  <a:t> </a:t>
                </a:r>
                <a:r>
                  <a:rPr sz="2200" spc="-50" dirty="0">
                    <a:latin typeface="Cambria"/>
                    <a:cs typeface="Cambria"/>
                  </a:rPr>
                  <a:t>argmax</a:t>
                </a:r>
                <a:r>
                  <a:rPr sz="2200" spc="180" dirty="0">
                    <a:latin typeface="Cambria"/>
                    <a:cs typeface="Cambria"/>
                  </a:rPr>
                  <a:t> </a:t>
                </a:r>
                <a:r>
                  <a:rPr sz="2200" i="1" spc="-10" dirty="0">
                    <a:latin typeface="Times New Roman"/>
                    <a:cs typeface="Times New Roman"/>
                  </a:rPr>
                  <a:t>Q</a:t>
                </a:r>
                <a:r>
                  <a:rPr sz="2200" spc="-10" dirty="0">
                    <a:latin typeface="Cambria"/>
                    <a:cs typeface="Cambria"/>
                  </a:rPr>
                  <a:t>(</a:t>
                </a:r>
                <a:r>
                  <a:rPr sz="2200" i="1" spc="-10" dirty="0">
                    <a:latin typeface="Times New Roman"/>
                    <a:cs typeface="Times New Roman"/>
                  </a:rPr>
                  <a:t>S</a:t>
                </a:r>
                <a:r>
                  <a:rPr sz="2200" spc="-10" dirty="0">
                    <a:latin typeface="Cambria"/>
                    <a:cs typeface="Cambria"/>
                  </a:rPr>
                  <a:t>,</a:t>
                </a:r>
                <a:r>
                  <a:rPr sz="2200" spc="-120" dirty="0">
                    <a:latin typeface="Cambria"/>
                    <a:cs typeface="Cambria"/>
                  </a:rPr>
                  <a:t> </a:t>
                </a:r>
                <a:r>
                  <a:rPr sz="2200" i="1" spc="-25" dirty="0">
                    <a:latin typeface="Times New Roman"/>
                    <a:cs typeface="Times New Roman"/>
                  </a:rPr>
                  <a:t>a</a:t>
                </a:r>
                <a:r>
                  <a:rPr sz="2200" spc="-25" dirty="0">
                    <a:latin typeface="Cambria"/>
                    <a:cs typeface="Cambria"/>
                  </a:rPr>
                  <a:t>)</a:t>
                </a:r>
                <a:r>
                  <a:rPr spc="-25" dirty="0"/>
                  <a:t>;</a:t>
                </a:r>
                <a:endParaRPr sz="2200" dirty="0">
                  <a:latin typeface="Cambria"/>
                  <a:cs typeface="Cambria"/>
                </a:endParaRPr>
              </a:p>
              <a:p>
                <a:pPr marR="1217930" algn="r">
                  <a:lnSpc>
                    <a:spcPct val="100000"/>
                  </a:lnSpc>
                  <a:spcBef>
                    <a:spcPts val="145"/>
                  </a:spcBef>
                </a:pPr>
                <a:r>
                  <a:rPr sz="1550" i="1" spc="40" dirty="0">
                    <a:latin typeface="Times New Roman"/>
                    <a:cs typeface="Times New Roman"/>
                  </a:rPr>
                  <a:t>a</a:t>
                </a:r>
                <a:r>
                  <a:rPr sz="1550" spc="40" dirty="0">
                    <a:latin typeface="Cambria"/>
                    <a:cs typeface="Cambria"/>
                  </a:rPr>
                  <a:t>∈</a:t>
                </a:r>
                <a:r>
                  <a:rPr sz="1550" i="1" spc="40" dirty="0">
                    <a:latin typeface="Times New Roman"/>
                    <a:cs typeface="Times New Roman"/>
                  </a:rPr>
                  <a:t>A</a:t>
                </a:r>
                <a:endParaRPr sz="1550" dirty="0">
                  <a:latin typeface="Times New Roman"/>
                  <a:cs typeface="Times New Roman"/>
                </a:endParaRPr>
              </a:p>
              <a:p>
                <a:pPr marL="492759">
                  <a:lnSpc>
                    <a:spcPct val="100000"/>
                  </a:lnSpc>
                  <a:spcBef>
                    <a:spcPts val="1715"/>
                  </a:spcBef>
                  <a:tabLst>
                    <a:tab pos="2453005" algn="l"/>
                  </a:tabLst>
                </a:pPr>
                <a:r>
                  <a:rPr dirty="0"/>
                  <a:t>with</a:t>
                </a:r>
                <a:r>
                  <a:rPr spc="-15" dirty="0"/>
                  <a:t> </a:t>
                </a:r>
                <a:r>
                  <a:rPr spc="-10" dirty="0"/>
                  <a:t>probability</a:t>
                </a:r>
                <a:r>
                  <a:rPr lang="el-GR" sz="2400" dirty="0">
                    <a:cs typeface="Arial"/>
                  </a:rPr>
                  <a:t> </a:t>
                </a:r>
                <a14:m>
                  <m:oMath xmlns:m="http://schemas.openxmlformats.org/officeDocument/2006/math">
                    <m:r>
                      <a:rPr lang="el-GR" sz="2400" i="1" dirty="0" smtClean="0">
                        <a:latin typeface="Cambria Math" panose="02040503050406030204" pitchFamily="18" charset="0"/>
                        <a:cs typeface="Arial"/>
                      </a:rPr>
                      <m:t>𝜖</m:t>
                    </m:r>
                    <m:r>
                      <a:rPr lang="el-GR" sz="2400" i="1" dirty="0" smtClean="0">
                        <a:latin typeface="Cambria Math" panose="02040503050406030204" pitchFamily="18" charset="0"/>
                        <a:cs typeface="Arial"/>
                      </a:rPr>
                      <m:t> </m:t>
                    </m:r>
                  </m:oMath>
                </a14:m>
                <a:r>
                  <a:rPr dirty="0"/>
                  <a:t>chose</a:t>
                </a:r>
                <a:r>
                  <a:rPr lang="en-US" dirty="0"/>
                  <a:t>n</a:t>
                </a:r>
                <a:r>
                  <a:rPr spc="-20" dirty="0"/>
                  <a:t> </a:t>
                </a:r>
                <a:r>
                  <a:rPr spc="-10" dirty="0"/>
                  <a:t>randomly</a:t>
                </a:r>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231930" y="1354253"/>
                <a:ext cx="5774055" cy="2837059"/>
              </a:xfrm>
              <a:prstGeom prst="rect">
                <a:avLst/>
              </a:prstGeom>
              <a:blipFill>
                <a:blip r:embed="rId3"/>
                <a:stretch>
                  <a:fillRect l="-1584" r="-2006" b="-4292"/>
                </a:stretch>
              </a:blipFill>
            </p:spPr>
            <p:txBody>
              <a:bodyPr/>
              <a:lstStyle/>
              <a:p>
                <a:r>
                  <a:rPr lang="en-US">
                    <a:noFill/>
                  </a:rPr>
                  <a:t> </a:t>
                </a:r>
              </a:p>
            </p:txBody>
          </p:sp>
        </mc:Fallback>
      </mc:AlternateContent>
      <p:sp>
        <p:nvSpPr>
          <p:cNvPr id="4" name="object 4"/>
          <p:cNvSpPr txBox="1"/>
          <p:nvPr/>
        </p:nvSpPr>
        <p:spPr>
          <a:xfrm>
            <a:off x="390705" y="5088255"/>
            <a:ext cx="7452359" cy="474345"/>
          </a:xfrm>
          <a:prstGeom prst="rect">
            <a:avLst/>
          </a:prstGeom>
        </p:spPr>
        <p:txBody>
          <a:bodyPr vert="horz" wrap="square" lIns="0" tIns="11430" rIns="0" bIns="0" rtlCol="0">
            <a:spAutoFit/>
          </a:bodyPr>
          <a:lstStyle/>
          <a:p>
            <a:pPr marL="38100">
              <a:lnSpc>
                <a:spcPct val="100000"/>
              </a:lnSpc>
              <a:spcBef>
                <a:spcPts val="90"/>
              </a:spcBef>
            </a:pPr>
            <a:r>
              <a:rPr sz="2950" i="1" dirty="0">
                <a:latin typeface="Times New Roman"/>
                <a:cs typeface="Times New Roman"/>
              </a:rPr>
              <a:t>Q</a:t>
            </a:r>
            <a:r>
              <a:rPr sz="2950" dirty="0">
                <a:latin typeface="Cambria"/>
                <a:cs typeface="Cambria"/>
              </a:rPr>
              <a:t>(</a:t>
            </a:r>
            <a:r>
              <a:rPr sz="2950" i="1" dirty="0">
                <a:latin typeface="Times New Roman"/>
                <a:cs typeface="Times New Roman"/>
              </a:rPr>
              <a:t>S</a:t>
            </a:r>
            <a:r>
              <a:rPr sz="2950" dirty="0">
                <a:latin typeface="Cambria"/>
                <a:cs typeface="Cambria"/>
              </a:rPr>
              <a:t>,</a:t>
            </a:r>
            <a:r>
              <a:rPr sz="2950" spc="-165" dirty="0">
                <a:latin typeface="Cambria"/>
                <a:cs typeface="Cambria"/>
              </a:rPr>
              <a:t> </a:t>
            </a:r>
            <a:r>
              <a:rPr sz="2950" i="1" dirty="0">
                <a:latin typeface="Times New Roman"/>
                <a:cs typeface="Times New Roman"/>
              </a:rPr>
              <a:t>A</a:t>
            </a:r>
            <a:r>
              <a:rPr sz="2950" dirty="0">
                <a:latin typeface="Cambria"/>
                <a:cs typeface="Cambria"/>
              </a:rPr>
              <a:t>)</a:t>
            </a:r>
            <a:r>
              <a:rPr sz="2950" spc="85" dirty="0">
                <a:latin typeface="Cambria"/>
                <a:cs typeface="Cambria"/>
              </a:rPr>
              <a:t> </a:t>
            </a:r>
            <a:r>
              <a:rPr sz="2950" spc="245" dirty="0">
                <a:latin typeface="Cambria"/>
                <a:cs typeface="Cambria"/>
              </a:rPr>
              <a:t>←</a:t>
            </a:r>
            <a:r>
              <a:rPr sz="2950" spc="110" dirty="0">
                <a:latin typeface="Cambria"/>
                <a:cs typeface="Cambria"/>
              </a:rPr>
              <a:t> </a:t>
            </a:r>
            <a:r>
              <a:rPr sz="2950" i="1" dirty="0">
                <a:latin typeface="Times New Roman"/>
                <a:cs typeface="Times New Roman"/>
              </a:rPr>
              <a:t>Q</a:t>
            </a:r>
            <a:r>
              <a:rPr sz="2950" dirty="0">
                <a:latin typeface="Cambria"/>
                <a:cs typeface="Cambria"/>
              </a:rPr>
              <a:t>(</a:t>
            </a:r>
            <a:r>
              <a:rPr sz="2950" i="1" dirty="0">
                <a:solidFill>
                  <a:srgbClr val="C00000"/>
                </a:solidFill>
                <a:latin typeface="Times New Roman"/>
                <a:cs typeface="Times New Roman"/>
              </a:rPr>
              <a:t>S</a:t>
            </a:r>
            <a:r>
              <a:rPr sz="2950" dirty="0">
                <a:latin typeface="Cambria"/>
                <a:cs typeface="Cambria"/>
              </a:rPr>
              <a:t>,</a:t>
            </a:r>
            <a:r>
              <a:rPr sz="2950" spc="-110" dirty="0">
                <a:latin typeface="Cambria"/>
                <a:cs typeface="Cambria"/>
              </a:rPr>
              <a:t> </a:t>
            </a:r>
            <a:r>
              <a:rPr sz="2950" i="1" spc="-20" dirty="0">
                <a:solidFill>
                  <a:srgbClr val="C00000"/>
                </a:solidFill>
                <a:latin typeface="Times New Roman"/>
                <a:cs typeface="Times New Roman"/>
              </a:rPr>
              <a:t>A</a:t>
            </a:r>
            <a:r>
              <a:rPr sz="2950" spc="-20" dirty="0">
                <a:latin typeface="Cambria"/>
                <a:cs typeface="Cambria"/>
              </a:rPr>
              <a:t>)</a:t>
            </a:r>
            <a:r>
              <a:rPr sz="2950" spc="-45" dirty="0">
                <a:latin typeface="Cambria"/>
                <a:cs typeface="Cambria"/>
              </a:rPr>
              <a:t> </a:t>
            </a:r>
            <a:r>
              <a:rPr sz="2950" spc="375" dirty="0">
                <a:latin typeface="Cambria"/>
                <a:cs typeface="Cambria"/>
              </a:rPr>
              <a:t>+</a:t>
            </a:r>
            <a:r>
              <a:rPr sz="2950" spc="-45" dirty="0">
                <a:latin typeface="Cambria"/>
                <a:cs typeface="Cambria"/>
              </a:rPr>
              <a:t> </a:t>
            </a:r>
            <a:r>
              <a:rPr sz="2950" i="1" spc="-75" dirty="0">
                <a:latin typeface="Arial"/>
                <a:cs typeface="Arial"/>
              </a:rPr>
              <a:t>α</a:t>
            </a:r>
            <a:r>
              <a:rPr sz="2950" i="1" spc="-330" dirty="0">
                <a:latin typeface="Arial"/>
                <a:cs typeface="Arial"/>
              </a:rPr>
              <a:t> </a:t>
            </a:r>
            <a:r>
              <a:rPr sz="4425" baseline="-11299" dirty="0">
                <a:latin typeface="Verdana"/>
                <a:cs typeface="Verdana"/>
              </a:rPr>
              <a:t>(</a:t>
            </a:r>
            <a:r>
              <a:rPr sz="2950" i="1" dirty="0">
                <a:solidFill>
                  <a:srgbClr val="C00000"/>
                </a:solidFill>
                <a:latin typeface="Times New Roman"/>
                <a:cs typeface="Times New Roman"/>
              </a:rPr>
              <a:t>R</a:t>
            </a:r>
            <a:r>
              <a:rPr sz="2950" i="1" spc="-130" dirty="0">
                <a:latin typeface="Times New Roman"/>
                <a:cs typeface="Times New Roman"/>
              </a:rPr>
              <a:t> </a:t>
            </a:r>
            <a:r>
              <a:rPr sz="2950" spc="375" dirty="0">
                <a:latin typeface="Cambria"/>
                <a:cs typeface="Cambria"/>
              </a:rPr>
              <a:t>+</a:t>
            </a:r>
            <a:r>
              <a:rPr sz="2950" spc="-40" dirty="0">
                <a:latin typeface="Cambria"/>
                <a:cs typeface="Cambria"/>
              </a:rPr>
              <a:t> </a:t>
            </a:r>
            <a:r>
              <a:rPr sz="2950" i="1" spc="-95" dirty="0">
                <a:latin typeface="Arial"/>
                <a:cs typeface="Arial"/>
              </a:rPr>
              <a:t>γ</a:t>
            </a:r>
            <a:r>
              <a:rPr sz="2950" i="1" spc="-95" dirty="0">
                <a:latin typeface="Times New Roman"/>
                <a:cs typeface="Times New Roman"/>
              </a:rPr>
              <a:t>Q</a:t>
            </a:r>
            <a:r>
              <a:rPr sz="2950" spc="-95" dirty="0">
                <a:latin typeface="Cambria"/>
                <a:cs typeface="Cambria"/>
              </a:rPr>
              <a:t>(</a:t>
            </a:r>
            <a:r>
              <a:rPr sz="2950" i="1" spc="-95" dirty="0">
                <a:solidFill>
                  <a:srgbClr val="C00000"/>
                </a:solidFill>
                <a:latin typeface="Times New Roman"/>
                <a:cs typeface="Times New Roman"/>
              </a:rPr>
              <a:t>S</a:t>
            </a:r>
            <a:r>
              <a:rPr sz="2950" spc="-95" dirty="0">
                <a:solidFill>
                  <a:srgbClr val="C00000"/>
                </a:solidFill>
                <a:latin typeface="Cambria"/>
                <a:cs typeface="Cambria"/>
              </a:rPr>
              <a:t>′</a:t>
            </a:r>
            <a:r>
              <a:rPr sz="2950" spc="-95" dirty="0">
                <a:latin typeface="Cambria"/>
                <a:cs typeface="Cambria"/>
              </a:rPr>
              <a:t>,</a:t>
            </a:r>
            <a:r>
              <a:rPr sz="2950" spc="-75" dirty="0">
                <a:latin typeface="Cambria"/>
                <a:cs typeface="Cambria"/>
              </a:rPr>
              <a:t> </a:t>
            </a:r>
            <a:r>
              <a:rPr sz="2950" i="1" spc="-70" dirty="0">
                <a:solidFill>
                  <a:srgbClr val="C00000"/>
                </a:solidFill>
                <a:latin typeface="Times New Roman"/>
                <a:cs typeface="Times New Roman"/>
              </a:rPr>
              <a:t>A</a:t>
            </a:r>
            <a:r>
              <a:rPr sz="2950" spc="-70" dirty="0">
                <a:solidFill>
                  <a:srgbClr val="C00000"/>
                </a:solidFill>
                <a:latin typeface="Cambria"/>
                <a:cs typeface="Cambria"/>
              </a:rPr>
              <a:t>′</a:t>
            </a:r>
            <a:r>
              <a:rPr sz="2950" spc="-70" dirty="0">
                <a:latin typeface="Cambria"/>
                <a:cs typeface="Cambria"/>
              </a:rPr>
              <a:t>)</a:t>
            </a:r>
            <a:r>
              <a:rPr sz="2950" spc="-45" dirty="0">
                <a:latin typeface="Cambria"/>
                <a:cs typeface="Cambria"/>
              </a:rPr>
              <a:t> </a:t>
            </a:r>
            <a:r>
              <a:rPr sz="2950" spc="375" dirty="0">
                <a:latin typeface="Cambria"/>
                <a:cs typeface="Cambria"/>
              </a:rPr>
              <a:t>−</a:t>
            </a:r>
            <a:r>
              <a:rPr sz="2950" spc="-45" dirty="0">
                <a:latin typeface="Cambria"/>
                <a:cs typeface="Cambria"/>
              </a:rPr>
              <a:t> </a:t>
            </a:r>
            <a:r>
              <a:rPr sz="2950" i="1" dirty="0">
                <a:latin typeface="Times New Roman"/>
                <a:cs typeface="Times New Roman"/>
              </a:rPr>
              <a:t>Q</a:t>
            </a:r>
            <a:r>
              <a:rPr sz="2950" dirty="0">
                <a:latin typeface="Cambria"/>
                <a:cs typeface="Cambria"/>
              </a:rPr>
              <a:t>(</a:t>
            </a:r>
            <a:r>
              <a:rPr sz="2950" i="1" dirty="0">
                <a:latin typeface="Times New Roman"/>
                <a:cs typeface="Times New Roman"/>
              </a:rPr>
              <a:t>S</a:t>
            </a:r>
            <a:r>
              <a:rPr sz="2950" dirty="0">
                <a:latin typeface="Cambria"/>
                <a:cs typeface="Cambria"/>
              </a:rPr>
              <a:t>,</a:t>
            </a:r>
            <a:r>
              <a:rPr sz="2950" spc="-114" dirty="0">
                <a:latin typeface="Cambria"/>
                <a:cs typeface="Cambria"/>
              </a:rPr>
              <a:t> </a:t>
            </a:r>
            <a:r>
              <a:rPr sz="2950" i="1" spc="-25" dirty="0">
                <a:latin typeface="Times New Roman"/>
                <a:cs typeface="Times New Roman"/>
              </a:rPr>
              <a:t>A</a:t>
            </a:r>
            <a:r>
              <a:rPr sz="2950" spc="-25" dirty="0">
                <a:latin typeface="Cambria"/>
                <a:cs typeface="Cambria"/>
              </a:rPr>
              <a:t>)</a:t>
            </a:r>
            <a:r>
              <a:rPr sz="4425" spc="-37" baseline="-11299" dirty="0">
                <a:latin typeface="Verdana"/>
                <a:cs typeface="Verdana"/>
              </a:rPr>
              <a:t>)</a:t>
            </a:r>
            <a:endParaRPr sz="4425" baseline="-11299" dirty="0">
              <a:latin typeface="Verdana"/>
              <a:cs typeface="Verdana"/>
            </a:endParaRPr>
          </a:p>
        </p:txBody>
      </p:sp>
      <p:sp>
        <p:nvSpPr>
          <p:cNvPr id="5" name="Date Placeholder 3">
            <a:extLst>
              <a:ext uri="{FF2B5EF4-FFF2-40B4-BE49-F238E27FC236}">
                <a16:creationId xmlns:a16="http://schemas.microsoft.com/office/drawing/2014/main" id="{BF821259-A7A7-15F2-48BA-19E00A9EE522}"/>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121F3A5D-1C2D-B388-9773-3776C6D704AE}"/>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550234B9-2DE3-1DD7-6A2A-3F900F017297}"/>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30275"/>
            <a:ext cx="9144000" cy="5927725"/>
            <a:chOff x="0" y="930275"/>
            <a:chExt cx="9144000" cy="5927725"/>
          </a:xfrm>
        </p:grpSpPr>
        <p:pic>
          <p:nvPicPr>
            <p:cNvPr id="3" name="object 3"/>
            <p:cNvPicPr/>
            <p:nvPr/>
          </p:nvPicPr>
          <p:blipFill>
            <a:blip r:embed="rId2" cstate="print"/>
            <a:stretch>
              <a:fillRect/>
            </a:stretch>
          </p:blipFill>
          <p:spPr>
            <a:xfrm>
              <a:off x="775584" y="3321406"/>
              <a:ext cx="7592830" cy="2878260"/>
            </a:xfrm>
            <a:prstGeom prst="rect">
              <a:avLst/>
            </a:prstGeom>
          </p:spPr>
        </p:pic>
        <p:sp>
          <p:nvSpPr>
            <p:cNvPr id="4" name="object 4"/>
            <p:cNvSpPr/>
            <p:nvPr/>
          </p:nvSpPr>
          <p:spPr>
            <a:xfrm>
              <a:off x="790867" y="1569307"/>
              <a:ext cx="6586220" cy="1296670"/>
            </a:xfrm>
            <a:custGeom>
              <a:avLst/>
              <a:gdLst/>
              <a:ahLst/>
              <a:cxnLst/>
              <a:rect l="l" t="t" r="r" b="b"/>
              <a:pathLst>
                <a:path w="6586219" h="1296670">
                  <a:moveTo>
                    <a:pt x="0" y="0"/>
                  </a:moveTo>
                  <a:lnTo>
                    <a:pt x="6585946" y="0"/>
                  </a:lnTo>
                  <a:lnTo>
                    <a:pt x="6585946" y="1296605"/>
                  </a:lnTo>
                  <a:lnTo>
                    <a:pt x="0" y="1296605"/>
                  </a:lnTo>
                  <a:lnTo>
                    <a:pt x="0" y="0"/>
                  </a:lnTo>
                  <a:close/>
                </a:path>
              </a:pathLst>
            </a:custGeom>
            <a:ln w="63500">
              <a:solidFill>
                <a:srgbClr val="000000"/>
              </a:solidFill>
            </a:ln>
          </p:spPr>
          <p:txBody>
            <a:bodyPr wrap="square" lIns="0" tIns="0" rIns="0" bIns="0" rtlCol="0"/>
            <a:lstStyle/>
            <a:p>
              <a:endParaRPr/>
            </a:p>
          </p:txBody>
        </p:sp>
      </p:grpSp>
      <p:sp>
        <p:nvSpPr>
          <p:cNvPr id="5" name="object 5"/>
          <p:cNvSpPr txBox="1">
            <a:spLocks noGrp="1"/>
          </p:cNvSpPr>
          <p:nvPr>
            <p:ph type="title"/>
          </p:nvPr>
        </p:nvSpPr>
        <p:spPr>
          <a:xfrm>
            <a:off x="742950" y="281837"/>
            <a:ext cx="6800850" cy="412934"/>
          </a:xfrm>
          <a:prstGeom prst="rect">
            <a:avLst/>
          </a:prstGeom>
        </p:spPr>
        <p:txBody>
          <a:bodyPr vert="horz" wrap="square" lIns="0" tIns="12700" rIns="0" bIns="0" rtlCol="0">
            <a:spAutoFit/>
          </a:bodyPr>
          <a:lstStyle/>
          <a:p>
            <a:pPr marL="12700">
              <a:lnSpc>
                <a:spcPct val="100000"/>
              </a:lnSpc>
              <a:spcBef>
                <a:spcPts val="100"/>
              </a:spcBef>
            </a:pPr>
            <a:r>
              <a:rPr spc="-165" dirty="0"/>
              <a:t>S</a:t>
            </a:r>
            <a:r>
              <a:rPr lang="en-US" spc="-165" dirty="0"/>
              <a:t>ARSA</a:t>
            </a:r>
            <a:r>
              <a:rPr spc="-330" dirty="0"/>
              <a:t> </a:t>
            </a:r>
            <a:r>
              <a:rPr spc="-10" dirty="0"/>
              <a:t>Algorithm</a:t>
            </a:r>
            <a:r>
              <a:rPr spc="-114" dirty="0"/>
              <a:t> </a:t>
            </a:r>
            <a:r>
              <a:rPr dirty="0"/>
              <a:t>for</a:t>
            </a:r>
            <a:r>
              <a:rPr spc="-50" dirty="0"/>
              <a:t> </a:t>
            </a:r>
            <a:r>
              <a:rPr spc="-85" dirty="0"/>
              <a:t>On-</a:t>
            </a:r>
            <a:r>
              <a:rPr spc="-30" dirty="0"/>
              <a:t>Policy</a:t>
            </a:r>
            <a:r>
              <a:rPr spc="-90" dirty="0"/>
              <a:t> </a:t>
            </a:r>
            <a:r>
              <a:rPr spc="-10" dirty="0"/>
              <a:t>Control</a:t>
            </a:r>
          </a:p>
        </p:txBody>
      </p:sp>
      <mc:AlternateContent xmlns:mc="http://schemas.openxmlformats.org/markup-compatibility/2006" xmlns:a14="http://schemas.microsoft.com/office/drawing/2010/main">
        <mc:Choice Requires="a14">
          <p:sp>
            <p:nvSpPr>
              <p:cNvPr id="6" name="object 6"/>
              <p:cNvSpPr txBox="1"/>
              <p:nvPr/>
            </p:nvSpPr>
            <p:spPr>
              <a:xfrm>
                <a:off x="822617" y="1562783"/>
                <a:ext cx="6492583" cy="1263166"/>
              </a:xfrm>
              <a:prstGeom prst="rect">
                <a:avLst/>
              </a:prstGeom>
            </p:spPr>
            <p:txBody>
              <a:bodyPr vert="horz" wrap="square" lIns="0" tIns="62865" rIns="0" bIns="0" rtlCol="0">
                <a:spAutoFit/>
              </a:bodyPr>
              <a:lstStyle/>
              <a:p>
                <a:pPr marL="50800">
                  <a:lnSpc>
                    <a:spcPct val="100000"/>
                  </a:lnSpc>
                  <a:spcBef>
                    <a:spcPts val="495"/>
                  </a:spcBef>
                </a:pPr>
                <a:r>
                  <a:rPr sz="2200" dirty="0">
                    <a:solidFill>
                      <a:srgbClr val="C82506"/>
                    </a:solidFill>
                    <a:latin typeface="Gill Sans MT"/>
                    <a:cs typeface="Gill Sans MT"/>
                  </a:rPr>
                  <a:t>Every</a:t>
                </a:r>
                <a:r>
                  <a:rPr sz="2200" spc="20" dirty="0">
                    <a:solidFill>
                      <a:srgbClr val="C82506"/>
                    </a:solidFill>
                    <a:latin typeface="Gill Sans MT"/>
                    <a:cs typeface="Gill Sans MT"/>
                  </a:rPr>
                  <a:t> </a:t>
                </a:r>
                <a:r>
                  <a:rPr sz="2200" dirty="0">
                    <a:solidFill>
                      <a:srgbClr val="C82506"/>
                    </a:solidFill>
                    <a:latin typeface="Gill Sans MT"/>
                    <a:cs typeface="Gill Sans MT"/>
                  </a:rPr>
                  <a:t>time-</a:t>
                </a:r>
                <a:r>
                  <a:rPr sz="2200" spc="-20" dirty="0">
                    <a:solidFill>
                      <a:srgbClr val="C82506"/>
                    </a:solidFill>
                    <a:latin typeface="Gill Sans MT"/>
                    <a:cs typeface="Gill Sans MT"/>
                  </a:rPr>
                  <a:t>step</a:t>
                </a:r>
                <a:endParaRPr sz="2200" dirty="0">
                  <a:latin typeface="Gill Sans MT"/>
                  <a:cs typeface="Gill Sans MT"/>
                </a:endParaRPr>
              </a:p>
              <a:p>
                <a:pPr marL="278765" indent="-227965">
                  <a:lnSpc>
                    <a:spcPct val="100000"/>
                  </a:lnSpc>
                  <a:spcBef>
                    <a:spcPts val="425"/>
                  </a:spcBef>
                  <a:buChar char="•"/>
                  <a:tabLst>
                    <a:tab pos="278765" algn="l"/>
                    <a:tab pos="279400" algn="l"/>
                  </a:tabLst>
                </a:pPr>
                <a:r>
                  <a:rPr sz="3300" baseline="1262" dirty="0">
                    <a:latin typeface="Gill Sans MT"/>
                    <a:cs typeface="Gill Sans MT"/>
                  </a:rPr>
                  <a:t>Policy</a:t>
                </a:r>
                <a:r>
                  <a:rPr sz="3300" spc="-37" baseline="1262" dirty="0">
                    <a:latin typeface="Gill Sans MT"/>
                    <a:cs typeface="Gill Sans MT"/>
                  </a:rPr>
                  <a:t> </a:t>
                </a:r>
                <a:r>
                  <a:rPr sz="3300" baseline="1262" dirty="0">
                    <a:latin typeface="Gill Sans MT"/>
                    <a:cs typeface="Gill Sans MT"/>
                  </a:rPr>
                  <a:t>evaluation</a:t>
                </a:r>
                <a:r>
                  <a:rPr lang="en-US" sz="3300" baseline="1262" dirty="0">
                    <a:latin typeface="Gill Sans MT"/>
                    <a:cs typeface="Gill Sans MT"/>
                  </a:rPr>
                  <a:t>:</a:t>
                </a:r>
                <a:r>
                  <a:rPr sz="3300" spc="-44" baseline="1262" dirty="0">
                    <a:latin typeface="Gill Sans MT"/>
                    <a:cs typeface="Gill Sans MT"/>
                  </a:rPr>
                  <a:t> </a:t>
                </a:r>
                <a:r>
                  <a:rPr sz="3300" baseline="1262" dirty="0">
                    <a:latin typeface="Gill Sans MT"/>
                    <a:cs typeface="Gill Sans MT"/>
                  </a:rPr>
                  <a:t>Sarsa</a:t>
                </a:r>
                <a:r>
                  <a:rPr sz="3300" spc="-37" baseline="1262" dirty="0">
                    <a:latin typeface="Gill Sans MT"/>
                    <a:cs typeface="Gill Sans MT"/>
                  </a:rPr>
                  <a:t> </a:t>
                </a:r>
                <a:r>
                  <a:rPr sz="3450" i="1" baseline="1207" dirty="0">
                    <a:latin typeface="Times New Roman"/>
                    <a:cs typeface="Times New Roman"/>
                  </a:rPr>
                  <a:t>Q</a:t>
                </a:r>
                <a:r>
                  <a:rPr sz="3450" i="1" spc="60" baseline="1207" dirty="0">
                    <a:latin typeface="Times New Roman"/>
                    <a:cs typeface="Times New Roman"/>
                  </a:rPr>
                  <a:t> </a:t>
                </a:r>
                <a:r>
                  <a:rPr sz="3450" spc="457" baseline="1207" dirty="0">
                    <a:latin typeface="Cambria"/>
                    <a:cs typeface="Cambria"/>
                  </a:rPr>
                  <a:t>≈</a:t>
                </a:r>
                <a:r>
                  <a:rPr sz="3450" spc="165" baseline="1207" dirty="0">
                    <a:latin typeface="Cambria"/>
                    <a:cs typeface="Cambria"/>
                  </a:rPr>
                  <a:t> </a:t>
                </a:r>
                <a:r>
                  <a:rPr sz="3450" i="1" spc="-37" baseline="1207" dirty="0">
                    <a:latin typeface="Times New Roman"/>
                    <a:cs typeface="Times New Roman"/>
                  </a:rPr>
                  <a:t>q</a:t>
                </a:r>
                <a14:m>
                  <m:oMath xmlns:m="http://schemas.openxmlformats.org/officeDocument/2006/math">
                    <m:r>
                      <a:rPr lang="en-US" sz="2475" i="1" spc="-37" baseline="-18518" dirty="0" smtClean="0">
                        <a:latin typeface="Cambria Math" panose="02040503050406030204" pitchFamily="18" charset="0"/>
                        <a:cs typeface="Arial"/>
                      </a:rPr>
                      <m:t>𝜋</m:t>
                    </m:r>
                  </m:oMath>
                </a14:m>
                <a:endParaRPr sz="2475" baseline="-18518" dirty="0">
                  <a:latin typeface="Arial"/>
                  <a:cs typeface="Arial"/>
                </a:endParaRPr>
              </a:p>
              <a:p>
                <a:pPr marL="278765" indent="-227965">
                  <a:lnSpc>
                    <a:spcPct val="100000"/>
                  </a:lnSpc>
                  <a:spcBef>
                    <a:spcPts val="555"/>
                  </a:spcBef>
                  <a:buChar char="•"/>
                  <a:tabLst>
                    <a:tab pos="278765" algn="l"/>
                    <a:tab pos="279400" algn="l"/>
                    <a:tab pos="2725420" algn="l"/>
                  </a:tabLst>
                </a:pPr>
                <a:r>
                  <a:rPr sz="2200" dirty="0">
                    <a:latin typeface="Gill Sans MT"/>
                    <a:cs typeface="Gill Sans MT"/>
                  </a:rPr>
                  <a:t>Policy</a:t>
                </a:r>
                <a:r>
                  <a:rPr sz="2200" spc="-65" dirty="0">
                    <a:latin typeface="Gill Sans MT"/>
                    <a:cs typeface="Gill Sans MT"/>
                  </a:rPr>
                  <a:t> </a:t>
                </a:r>
                <a:r>
                  <a:rPr sz="2200" spc="-10" dirty="0">
                    <a:latin typeface="Gill Sans MT"/>
                    <a:cs typeface="Gill Sans MT"/>
                  </a:rPr>
                  <a:t>improvement</a:t>
                </a:r>
                <a:r>
                  <a:rPr lang="en-US" sz="2200" spc="-10" dirty="0">
                    <a:latin typeface="Gill Sans MT"/>
                    <a:cs typeface="Gill Sans MT"/>
                  </a:rPr>
                  <a:t>:</a:t>
                </a:r>
                <a:r>
                  <a:rPr lang="en-US" sz="2200" dirty="0">
                    <a:latin typeface="Gill Sans MT"/>
                    <a:cs typeface="Gill Sans MT"/>
                  </a:rPr>
                  <a:t> </a:t>
                </a:r>
                <a14:m>
                  <m:oMath xmlns:m="http://schemas.openxmlformats.org/officeDocument/2006/math">
                    <m:r>
                      <a:rPr lang="el-GR" sz="2400" i="1" dirty="0" smtClean="0">
                        <a:latin typeface="Cambria Math" panose="02040503050406030204" pitchFamily="18" charset="0"/>
                        <a:cs typeface="Arial"/>
                      </a:rPr>
                      <m:t>𝜖</m:t>
                    </m:r>
                  </m:oMath>
                </a14:m>
                <a:r>
                  <a:rPr sz="2200" spc="-10" dirty="0">
                    <a:latin typeface="Gill Sans MT"/>
                    <a:cs typeface="Gill Sans MT"/>
                  </a:rPr>
                  <a:t>-</a:t>
                </a:r>
                <a:r>
                  <a:rPr sz="2200" dirty="0">
                    <a:latin typeface="Gill Sans MT"/>
                    <a:cs typeface="Gill Sans MT"/>
                  </a:rPr>
                  <a:t>greedy</a:t>
                </a:r>
                <a:r>
                  <a:rPr sz="2200" spc="-40" dirty="0">
                    <a:latin typeface="Gill Sans MT"/>
                    <a:cs typeface="Gill Sans MT"/>
                  </a:rPr>
                  <a:t> </a:t>
                </a:r>
                <a:r>
                  <a:rPr sz="2200" dirty="0">
                    <a:latin typeface="Gill Sans MT"/>
                    <a:cs typeface="Gill Sans MT"/>
                  </a:rPr>
                  <a:t>policy</a:t>
                </a:r>
                <a:r>
                  <a:rPr sz="2200" spc="-30" dirty="0">
                    <a:latin typeface="Gill Sans MT"/>
                    <a:cs typeface="Gill Sans MT"/>
                  </a:rPr>
                  <a:t> </a:t>
                </a:r>
                <a:r>
                  <a:rPr sz="2200" spc="-10" dirty="0">
                    <a:latin typeface="Gill Sans MT"/>
                    <a:cs typeface="Gill Sans MT"/>
                  </a:rPr>
                  <a:t>improvement</a:t>
                </a:r>
                <a:endParaRPr sz="2200" dirty="0">
                  <a:latin typeface="Gill Sans MT"/>
                  <a:cs typeface="Gill Sans MT"/>
                </a:endParaRPr>
              </a:p>
            </p:txBody>
          </p:sp>
        </mc:Choice>
        <mc:Fallback xmlns="">
          <p:sp>
            <p:nvSpPr>
              <p:cNvPr id="6" name="object 6"/>
              <p:cNvSpPr txBox="1">
                <a:spLocks noRot="1" noChangeAspect="1" noMove="1" noResize="1" noEditPoints="1" noAdjustHandles="1" noChangeArrowheads="1" noChangeShapeType="1" noTextEdit="1"/>
              </p:cNvSpPr>
              <p:nvPr/>
            </p:nvSpPr>
            <p:spPr>
              <a:xfrm>
                <a:off x="822617" y="1562783"/>
                <a:ext cx="6492583" cy="1263166"/>
              </a:xfrm>
              <a:prstGeom prst="rect">
                <a:avLst/>
              </a:prstGeom>
              <a:blipFill>
                <a:blip r:embed="rId3"/>
                <a:stretch>
                  <a:fillRect l="-3099" t="-1923" b="-12500"/>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FAEDAB9B-A5E5-B008-97B6-319CAFBEB93F}"/>
              </a:ext>
            </a:extLst>
          </p:cNvPr>
          <p:cNvSpPr/>
          <p:nvPr/>
        </p:nvSpPr>
        <p:spPr>
          <a:xfrm>
            <a:off x="8597901" y="6172200"/>
            <a:ext cx="393699" cy="4572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8" name="Date Placeholder 3">
            <a:extLst>
              <a:ext uri="{FF2B5EF4-FFF2-40B4-BE49-F238E27FC236}">
                <a16:creationId xmlns:a16="http://schemas.microsoft.com/office/drawing/2014/main" id="{5BB66C8B-1833-B961-BDEB-B2ADC23097C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9AE57BED-B708-BC96-10D1-4C2B96A2CBF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EE8AFA66-C29B-9331-988F-C690BE21C348}"/>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350" y="319937"/>
            <a:ext cx="3001645" cy="421640"/>
          </a:xfrm>
          <a:prstGeom prst="rect">
            <a:avLst/>
          </a:prstGeom>
        </p:spPr>
        <p:txBody>
          <a:bodyPr vert="horz" wrap="square" lIns="0" tIns="12700" rIns="0" bIns="0" rtlCol="0">
            <a:spAutoFit/>
          </a:bodyPr>
          <a:lstStyle/>
          <a:p>
            <a:pPr marL="12700">
              <a:lnSpc>
                <a:spcPct val="100000"/>
              </a:lnSpc>
              <a:spcBef>
                <a:spcPts val="100"/>
              </a:spcBef>
            </a:pPr>
            <a:r>
              <a:rPr spc="-120" dirty="0"/>
              <a:t>SARSA</a:t>
            </a:r>
            <a:r>
              <a:rPr spc="-415" dirty="0"/>
              <a:t> </a:t>
            </a:r>
            <a:r>
              <a:rPr dirty="0"/>
              <a:t>-</a:t>
            </a:r>
            <a:r>
              <a:rPr spc="-320" dirty="0"/>
              <a:t> </a:t>
            </a:r>
            <a:r>
              <a:rPr spc="-70" dirty="0"/>
              <a:t>TD</a:t>
            </a:r>
            <a:r>
              <a:rPr spc="-265" dirty="0"/>
              <a:t> </a:t>
            </a:r>
            <a:r>
              <a:rPr spc="-10" dirty="0"/>
              <a:t>Backups</a:t>
            </a:r>
          </a:p>
        </p:txBody>
      </p:sp>
      <p:sp>
        <p:nvSpPr>
          <p:cNvPr id="3" name="object 3"/>
          <p:cNvSpPr txBox="1"/>
          <p:nvPr/>
        </p:nvSpPr>
        <p:spPr>
          <a:xfrm>
            <a:off x="292757" y="1351678"/>
            <a:ext cx="5525135" cy="406400"/>
          </a:xfrm>
          <a:prstGeom prst="rect">
            <a:avLst/>
          </a:prstGeom>
        </p:spPr>
        <p:txBody>
          <a:bodyPr vert="horz" wrap="square" lIns="0" tIns="12700" rIns="0" bIns="0" rtlCol="0">
            <a:spAutoFit/>
          </a:bodyPr>
          <a:lstStyle/>
          <a:p>
            <a:pPr marL="12700">
              <a:lnSpc>
                <a:spcPct val="100000"/>
              </a:lnSpc>
              <a:spcBef>
                <a:spcPts val="100"/>
              </a:spcBef>
            </a:pPr>
            <a:r>
              <a:rPr sz="2500" spc="-60" dirty="0">
                <a:latin typeface="Gill Sans MT"/>
                <a:cs typeface="Gill Sans MT"/>
              </a:rPr>
              <a:t>We</a:t>
            </a:r>
            <a:r>
              <a:rPr sz="2500" spc="-75" dirty="0">
                <a:latin typeface="Gill Sans MT"/>
                <a:cs typeface="Gill Sans MT"/>
              </a:rPr>
              <a:t> </a:t>
            </a:r>
            <a:r>
              <a:rPr sz="2500" dirty="0">
                <a:latin typeface="Gill Sans MT"/>
                <a:cs typeface="Gill Sans MT"/>
              </a:rPr>
              <a:t>now</a:t>
            </a:r>
            <a:r>
              <a:rPr sz="2500" spc="-45" dirty="0">
                <a:latin typeface="Gill Sans MT"/>
                <a:cs typeface="Gill Sans MT"/>
              </a:rPr>
              <a:t> </a:t>
            </a:r>
            <a:r>
              <a:rPr sz="2500" dirty="0">
                <a:latin typeface="Gill Sans MT"/>
                <a:cs typeface="Gill Sans MT"/>
              </a:rPr>
              <a:t>only</a:t>
            </a:r>
            <a:r>
              <a:rPr sz="2500" spc="-35" dirty="0">
                <a:latin typeface="Gill Sans MT"/>
                <a:cs typeface="Gill Sans MT"/>
              </a:rPr>
              <a:t> </a:t>
            </a:r>
            <a:r>
              <a:rPr sz="2500" dirty="0">
                <a:latin typeface="Gill Sans MT"/>
                <a:cs typeface="Gill Sans MT"/>
              </a:rPr>
              <a:t>consider</a:t>
            </a:r>
            <a:r>
              <a:rPr sz="2500" spc="-40" dirty="0">
                <a:latin typeface="Gill Sans MT"/>
                <a:cs typeface="Gill Sans MT"/>
              </a:rPr>
              <a:t> </a:t>
            </a:r>
            <a:r>
              <a:rPr sz="2500" dirty="0">
                <a:latin typeface="Gill Sans MT"/>
                <a:cs typeface="Gill Sans MT"/>
              </a:rPr>
              <a:t>sample</a:t>
            </a:r>
            <a:r>
              <a:rPr sz="2500" spc="-315" dirty="0">
                <a:latin typeface="Gill Sans MT"/>
                <a:cs typeface="Gill Sans MT"/>
              </a:rPr>
              <a:t> </a:t>
            </a:r>
            <a:r>
              <a:rPr sz="2500" dirty="0">
                <a:solidFill>
                  <a:srgbClr val="C00000"/>
                </a:solidFill>
                <a:latin typeface="Gill Sans MT"/>
                <a:cs typeface="Gill Sans MT"/>
              </a:rPr>
              <a:t>TD-</a:t>
            </a:r>
            <a:r>
              <a:rPr sz="2500" spc="-10" dirty="0">
                <a:solidFill>
                  <a:srgbClr val="C00000"/>
                </a:solidFill>
                <a:latin typeface="Gill Sans MT"/>
                <a:cs typeface="Gill Sans MT"/>
              </a:rPr>
              <a:t>backups</a:t>
            </a:r>
            <a:endParaRPr sz="2500" dirty="0">
              <a:solidFill>
                <a:srgbClr val="C00000"/>
              </a:solidFill>
              <a:latin typeface="Gill Sans MT"/>
              <a:cs typeface="Gill Sans MT"/>
            </a:endParaRPr>
          </a:p>
        </p:txBody>
      </p:sp>
      <p:sp>
        <p:nvSpPr>
          <p:cNvPr id="4" name="object 4"/>
          <p:cNvSpPr txBox="1"/>
          <p:nvPr/>
        </p:nvSpPr>
        <p:spPr>
          <a:xfrm>
            <a:off x="292757" y="2088278"/>
            <a:ext cx="5783580" cy="406400"/>
          </a:xfrm>
          <a:prstGeom prst="rect">
            <a:avLst/>
          </a:prstGeom>
        </p:spPr>
        <p:txBody>
          <a:bodyPr vert="horz" wrap="square" lIns="0" tIns="12700" rIns="0" bIns="0" rtlCol="0">
            <a:spAutoFit/>
          </a:bodyPr>
          <a:lstStyle/>
          <a:p>
            <a:pPr marL="12700">
              <a:lnSpc>
                <a:spcPct val="100000"/>
              </a:lnSpc>
              <a:spcBef>
                <a:spcPts val="100"/>
              </a:spcBef>
            </a:pPr>
            <a:r>
              <a:rPr sz="2500" dirty="0">
                <a:latin typeface="Gill Sans MT"/>
                <a:cs typeface="Gill Sans MT"/>
              </a:rPr>
              <a:t>Using</a:t>
            </a:r>
            <a:r>
              <a:rPr sz="2500" spc="-45" dirty="0">
                <a:latin typeface="Gill Sans MT"/>
                <a:cs typeface="Gill Sans MT"/>
              </a:rPr>
              <a:t> </a:t>
            </a:r>
            <a:r>
              <a:rPr sz="2500" dirty="0">
                <a:latin typeface="Gill Sans MT"/>
                <a:cs typeface="Gill Sans MT"/>
              </a:rPr>
              <a:t>sample</a:t>
            </a:r>
            <a:r>
              <a:rPr sz="2500" spc="-35" dirty="0">
                <a:latin typeface="Gill Sans MT"/>
                <a:cs typeface="Gill Sans MT"/>
              </a:rPr>
              <a:t> </a:t>
            </a:r>
            <a:r>
              <a:rPr sz="2500" dirty="0">
                <a:latin typeface="Gill Sans MT"/>
                <a:cs typeface="Gill Sans MT"/>
              </a:rPr>
              <a:t>rewards</a:t>
            </a:r>
            <a:r>
              <a:rPr sz="2500" spc="-30" dirty="0">
                <a:latin typeface="Gill Sans MT"/>
                <a:cs typeface="Gill Sans MT"/>
              </a:rPr>
              <a:t> </a:t>
            </a:r>
            <a:r>
              <a:rPr sz="2500" dirty="0">
                <a:latin typeface="Gill Sans MT"/>
                <a:cs typeface="Gill Sans MT"/>
              </a:rPr>
              <a:t>and</a:t>
            </a:r>
            <a:r>
              <a:rPr sz="2500" spc="-35" dirty="0">
                <a:latin typeface="Gill Sans MT"/>
                <a:cs typeface="Gill Sans MT"/>
              </a:rPr>
              <a:t> </a:t>
            </a:r>
            <a:r>
              <a:rPr sz="2500" dirty="0">
                <a:latin typeface="Gill Sans MT"/>
                <a:cs typeface="Gill Sans MT"/>
              </a:rPr>
              <a:t>sample</a:t>
            </a:r>
            <a:r>
              <a:rPr sz="2500" spc="-30" dirty="0">
                <a:latin typeface="Gill Sans MT"/>
                <a:cs typeface="Gill Sans MT"/>
              </a:rPr>
              <a:t> </a:t>
            </a:r>
            <a:r>
              <a:rPr sz="2500" spc="-10" dirty="0">
                <a:latin typeface="Gill Sans MT"/>
                <a:cs typeface="Gill Sans MT"/>
              </a:rPr>
              <a:t>transitions</a:t>
            </a:r>
            <a:endParaRPr sz="2500">
              <a:latin typeface="Gill Sans MT"/>
              <a:cs typeface="Gill Sans MT"/>
            </a:endParaRPr>
          </a:p>
        </p:txBody>
      </p:sp>
      <p:sp>
        <p:nvSpPr>
          <p:cNvPr id="5" name="object 5"/>
          <p:cNvSpPr txBox="1"/>
          <p:nvPr/>
        </p:nvSpPr>
        <p:spPr>
          <a:xfrm>
            <a:off x="292757" y="2824878"/>
            <a:ext cx="1360170" cy="406400"/>
          </a:xfrm>
          <a:prstGeom prst="rect">
            <a:avLst/>
          </a:prstGeom>
        </p:spPr>
        <p:txBody>
          <a:bodyPr vert="horz" wrap="square" lIns="0" tIns="12700" rIns="0" bIns="0" rtlCol="0">
            <a:spAutoFit/>
          </a:bodyPr>
          <a:lstStyle/>
          <a:p>
            <a:pPr marL="12700">
              <a:lnSpc>
                <a:spcPct val="100000"/>
              </a:lnSpc>
              <a:spcBef>
                <a:spcPts val="100"/>
              </a:spcBef>
            </a:pPr>
            <a:r>
              <a:rPr sz="2500" spc="-10" dirty="0">
                <a:latin typeface="Gill Sans MT"/>
                <a:cs typeface="Gill Sans MT"/>
              </a:rPr>
              <a:t>(S,</a:t>
            </a:r>
            <a:r>
              <a:rPr sz="2500" spc="-505" dirty="0">
                <a:latin typeface="Gill Sans MT"/>
                <a:cs typeface="Gill Sans MT"/>
              </a:rPr>
              <a:t> </a:t>
            </a:r>
            <a:r>
              <a:rPr sz="2500" dirty="0">
                <a:latin typeface="Gill Sans MT"/>
                <a:cs typeface="Gill Sans MT"/>
              </a:rPr>
              <a:t>A,</a:t>
            </a:r>
            <a:r>
              <a:rPr sz="2500" spc="-245" dirty="0">
                <a:latin typeface="Gill Sans MT"/>
                <a:cs typeface="Gill Sans MT"/>
              </a:rPr>
              <a:t> </a:t>
            </a:r>
            <a:r>
              <a:rPr sz="2500" dirty="0">
                <a:latin typeface="Gill Sans MT"/>
                <a:cs typeface="Gill Sans MT"/>
              </a:rPr>
              <a:t>R,</a:t>
            </a:r>
            <a:r>
              <a:rPr sz="2500" spc="-240" dirty="0">
                <a:latin typeface="Gill Sans MT"/>
                <a:cs typeface="Gill Sans MT"/>
              </a:rPr>
              <a:t> </a:t>
            </a:r>
            <a:r>
              <a:rPr sz="2500" dirty="0">
                <a:latin typeface="Gill Sans MT"/>
                <a:cs typeface="Gill Sans MT"/>
              </a:rPr>
              <a:t>S</a:t>
            </a:r>
            <a:r>
              <a:rPr sz="2500" spc="5" dirty="0">
                <a:latin typeface="Gill Sans MT"/>
                <a:cs typeface="Gill Sans MT"/>
              </a:rPr>
              <a:t> </a:t>
            </a:r>
            <a:r>
              <a:rPr sz="2500" spc="-50" dirty="0">
                <a:latin typeface="Gill Sans MT"/>
                <a:cs typeface="Gill Sans MT"/>
              </a:rPr>
              <a:t>)</a:t>
            </a:r>
            <a:endParaRPr sz="2500">
              <a:latin typeface="Gill Sans MT"/>
              <a:cs typeface="Gill Sans MT"/>
            </a:endParaRPr>
          </a:p>
        </p:txBody>
      </p:sp>
      <p:sp>
        <p:nvSpPr>
          <p:cNvPr id="6" name="object 6"/>
          <p:cNvSpPr txBox="1"/>
          <p:nvPr/>
        </p:nvSpPr>
        <p:spPr>
          <a:xfrm>
            <a:off x="292757" y="3561478"/>
            <a:ext cx="8434070" cy="2984500"/>
          </a:xfrm>
          <a:prstGeom prst="rect">
            <a:avLst/>
          </a:prstGeom>
        </p:spPr>
        <p:txBody>
          <a:bodyPr vert="horz" wrap="square" lIns="0" tIns="12700" rIns="0" bIns="0" rtlCol="0">
            <a:spAutoFit/>
          </a:bodyPr>
          <a:lstStyle/>
          <a:p>
            <a:pPr marL="12700">
              <a:lnSpc>
                <a:spcPct val="100000"/>
              </a:lnSpc>
              <a:spcBef>
                <a:spcPts val="100"/>
              </a:spcBef>
            </a:pPr>
            <a:r>
              <a:rPr sz="2500" spc="-60" dirty="0">
                <a:latin typeface="Gill Sans MT"/>
                <a:cs typeface="Gill Sans MT"/>
              </a:rPr>
              <a:t>We</a:t>
            </a:r>
            <a:r>
              <a:rPr sz="2500" spc="-30" dirty="0">
                <a:latin typeface="Gill Sans MT"/>
                <a:cs typeface="Gill Sans MT"/>
              </a:rPr>
              <a:t> </a:t>
            </a:r>
            <a:r>
              <a:rPr sz="2500" dirty="0">
                <a:latin typeface="Gill Sans MT"/>
                <a:cs typeface="Gill Sans MT"/>
              </a:rPr>
              <a:t>do</a:t>
            </a:r>
            <a:r>
              <a:rPr sz="2500" spc="-25" dirty="0">
                <a:latin typeface="Gill Sans MT"/>
                <a:cs typeface="Gill Sans MT"/>
              </a:rPr>
              <a:t> </a:t>
            </a:r>
            <a:r>
              <a:rPr sz="2500" dirty="0">
                <a:latin typeface="Gill Sans MT"/>
                <a:cs typeface="Gill Sans MT"/>
              </a:rPr>
              <a:t>not</a:t>
            </a:r>
            <a:r>
              <a:rPr sz="2500" spc="-30" dirty="0">
                <a:latin typeface="Gill Sans MT"/>
                <a:cs typeface="Gill Sans MT"/>
              </a:rPr>
              <a:t> </a:t>
            </a:r>
            <a:r>
              <a:rPr sz="2500" dirty="0">
                <a:latin typeface="Gill Sans MT"/>
                <a:cs typeface="Gill Sans MT"/>
              </a:rPr>
              <a:t>need</a:t>
            </a:r>
            <a:r>
              <a:rPr sz="2500" spc="-30" dirty="0">
                <a:latin typeface="Gill Sans MT"/>
                <a:cs typeface="Gill Sans MT"/>
              </a:rPr>
              <a:t> </a:t>
            </a:r>
            <a:r>
              <a:rPr sz="2500" dirty="0">
                <a:latin typeface="Gill Sans MT"/>
                <a:cs typeface="Gill Sans MT"/>
              </a:rPr>
              <a:t>the</a:t>
            </a:r>
            <a:r>
              <a:rPr sz="2500" spc="-30" dirty="0">
                <a:latin typeface="Gill Sans MT"/>
                <a:cs typeface="Gill Sans MT"/>
              </a:rPr>
              <a:t> </a:t>
            </a:r>
            <a:r>
              <a:rPr sz="2500" dirty="0">
                <a:latin typeface="Gill Sans MT"/>
                <a:cs typeface="Gill Sans MT"/>
              </a:rPr>
              <a:t>reward</a:t>
            </a:r>
            <a:r>
              <a:rPr sz="2500" spc="-20" dirty="0">
                <a:latin typeface="Gill Sans MT"/>
                <a:cs typeface="Gill Sans MT"/>
              </a:rPr>
              <a:t> </a:t>
            </a:r>
            <a:r>
              <a:rPr sz="2500" dirty="0">
                <a:latin typeface="Gill Sans MT"/>
                <a:cs typeface="Gill Sans MT"/>
              </a:rPr>
              <a:t>function</a:t>
            </a:r>
            <a:r>
              <a:rPr sz="2500" spc="-30" dirty="0">
                <a:latin typeface="Gill Sans MT"/>
                <a:cs typeface="Gill Sans MT"/>
              </a:rPr>
              <a:t> </a:t>
            </a:r>
            <a:r>
              <a:rPr sz="2500" dirty="0">
                <a:latin typeface="Gill Sans MT"/>
                <a:cs typeface="Gill Sans MT"/>
              </a:rPr>
              <a:t>R</a:t>
            </a:r>
            <a:r>
              <a:rPr sz="2500" spc="-30" dirty="0">
                <a:latin typeface="Gill Sans MT"/>
                <a:cs typeface="Gill Sans MT"/>
              </a:rPr>
              <a:t> </a:t>
            </a:r>
            <a:r>
              <a:rPr sz="2500" dirty="0">
                <a:latin typeface="Gill Sans MT"/>
                <a:cs typeface="Gill Sans MT"/>
              </a:rPr>
              <a:t>and</a:t>
            </a:r>
            <a:r>
              <a:rPr sz="2500" spc="-30" dirty="0">
                <a:latin typeface="Gill Sans MT"/>
                <a:cs typeface="Gill Sans MT"/>
              </a:rPr>
              <a:t> </a:t>
            </a:r>
            <a:r>
              <a:rPr sz="2500" dirty="0">
                <a:latin typeface="Gill Sans MT"/>
                <a:cs typeface="Gill Sans MT"/>
              </a:rPr>
              <a:t>transition</a:t>
            </a:r>
            <a:r>
              <a:rPr sz="2500" spc="-30" dirty="0">
                <a:latin typeface="Gill Sans MT"/>
                <a:cs typeface="Gill Sans MT"/>
              </a:rPr>
              <a:t> </a:t>
            </a:r>
            <a:r>
              <a:rPr sz="2500" dirty="0">
                <a:latin typeface="Gill Sans MT"/>
                <a:cs typeface="Gill Sans MT"/>
              </a:rPr>
              <a:t>dynamics</a:t>
            </a:r>
            <a:r>
              <a:rPr sz="2500" spc="-25" dirty="0">
                <a:latin typeface="Gill Sans MT"/>
                <a:cs typeface="Gill Sans MT"/>
              </a:rPr>
              <a:t> </a:t>
            </a:r>
            <a:r>
              <a:rPr sz="2500" spc="-50" dirty="0">
                <a:latin typeface="Gill Sans MT"/>
                <a:cs typeface="Gill Sans MT"/>
              </a:rPr>
              <a:t>P</a:t>
            </a:r>
            <a:endParaRPr sz="2500">
              <a:latin typeface="Gill Sans MT"/>
              <a:cs typeface="Gill Sans MT"/>
            </a:endParaRPr>
          </a:p>
          <a:p>
            <a:pPr>
              <a:lnSpc>
                <a:spcPct val="100000"/>
              </a:lnSpc>
            </a:pPr>
            <a:endParaRPr sz="2800">
              <a:latin typeface="Gill Sans MT"/>
              <a:cs typeface="Gill Sans MT"/>
            </a:endParaRPr>
          </a:p>
          <a:p>
            <a:pPr marL="12700">
              <a:lnSpc>
                <a:spcPct val="100000"/>
              </a:lnSpc>
              <a:spcBef>
                <a:spcPts val="2450"/>
              </a:spcBef>
            </a:pPr>
            <a:r>
              <a:rPr sz="2500" spc="-10" dirty="0">
                <a:latin typeface="Gill Sans MT"/>
                <a:cs typeface="Gill Sans MT"/>
              </a:rPr>
              <a:t>Advantages:</a:t>
            </a:r>
            <a:endParaRPr sz="2500">
              <a:latin typeface="Gill Sans MT"/>
              <a:cs typeface="Gill Sans MT"/>
            </a:endParaRPr>
          </a:p>
          <a:p>
            <a:pPr>
              <a:lnSpc>
                <a:spcPct val="100000"/>
              </a:lnSpc>
              <a:spcBef>
                <a:spcPts val="15"/>
              </a:spcBef>
            </a:pPr>
            <a:endParaRPr sz="2400">
              <a:latin typeface="Gill Sans MT"/>
              <a:cs typeface="Gill Sans MT"/>
            </a:endParaRPr>
          </a:p>
          <a:p>
            <a:pPr marL="241300" indent="-228600">
              <a:lnSpc>
                <a:spcPts val="2950"/>
              </a:lnSpc>
              <a:spcBef>
                <a:spcPts val="5"/>
              </a:spcBef>
              <a:buChar char="•"/>
              <a:tabLst>
                <a:tab pos="241300" algn="l"/>
              </a:tabLst>
            </a:pPr>
            <a:r>
              <a:rPr sz="2500" spc="-10" dirty="0">
                <a:latin typeface="Gill Sans MT"/>
                <a:cs typeface="Gill Sans MT"/>
              </a:rPr>
              <a:t>Model-free:</a:t>
            </a:r>
            <a:r>
              <a:rPr sz="2500" spc="-260" dirty="0">
                <a:latin typeface="Gill Sans MT"/>
                <a:cs typeface="Gill Sans MT"/>
              </a:rPr>
              <a:t> </a:t>
            </a:r>
            <a:r>
              <a:rPr sz="2500" dirty="0">
                <a:latin typeface="Gill Sans MT"/>
                <a:cs typeface="Gill Sans MT"/>
              </a:rPr>
              <a:t>no</a:t>
            </a:r>
            <a:r>
              <a:rPr sz="2500" spc="-5" dirty="0">
                <a:latin typeface="Gill Sans MT"/>
                <a:cs typeface="Gill Sans MT"/>
              </a:rPr>
              <a:t> </a:t>
            </a:r>
            <a:r>
              <a:rPr sz="2500" dirty="0">
                <a:latin typeface="Gill Sans MT"/>
                <a:cs typeface="Gill Sans MT"/>
              </a:rPr>
              <a:t>advance</a:t>
            </a:r>
            <a:r>
              <a:rPr sz="2500" spc="-5" dirty="0">
                <a:latin typeface="Gill Sans MT"/>
                <a:cs typeface="Gill Sans MT"/>
              </a:rPr>
              <a:t> </a:t>
            </a:r>
            <a:r>
              <a:rPr sz="2500" dirty="0">
                <a:latin typeface="Gill Sans MT"/>
                <a:cs typeface="Gill Sans MT"/>
              </a:rPr>
              <a:t>knowledge of</a:t>
            </a:r>
            <a:r>
              <a:rPr sz="2500" spc="-5" dirty="0">
                <a:latin typeface="Gill Sans MT"/>
                <a:cs typeface="Gill Sans MT"/>
              </a:rPr>
              <a:t> </a:t>
            </a:r>
            <a:r>
              <a:rPr sz="2500" dirty="0">
                <a:latin typeface="Gill Sans MT"/>
                <a:cs typeface="Gill Sans MT"/>
              </a:rPr>
              <a:t>MDP </a:t>
            </a:r>
            <a:r>
              <a:rPr sz="2500" spc="-10" dirty="0">
                <a:latin typeface="Gill Sans MT"/>
                <a:cs typeface="Gill Sans MT"/>
              </a:rPr>
              <a:t>required</a:t>
            </a:r>
            <a:endParaRPr sz="2500">
              <a:latin typeface="Gill Sans MT"/>
              <a:cs typeface="Gill Sans MT"/>
            </a:endParaRPr>
          </a:p>
          <a:p>
            <a:pPr marL="241300" indent="-228600">
              <a:lnSpc>
                <a:spcPts val="2900"/>
              </a:lnSpc>
              <a:buChar char="•"/>
              <a:tabLst>
                <a:tab pos="241300" algn="l"/>
              </a:tabLst>
            </a:pPr>
            <a:r>
              <a:rPr sz="2500" dirty="0">
                <a:latin typeface="Gill Sans MT"/>
                <a:cs typeface="Gill Sans MT"/>
              </a:rPr>
              <a:t>Breaks</a:t>
            </a:r>
            <a:r>
              <a:rPr sz="2500" spc="-45" dirty="0">
                <a:latin typeface="Gill Sans MT"/>
                <a:cs typeface="Gill Sans MT"/>
              </a:rPr>
              <a:t> </a:t>
            </a:r>
            <a:r>
              <a:rPr sz="2500" dirty="0">
                <a:latin typeface="Gill Sans MT"/>
                <a:cs typeface="Gill Sans MT"/>
              </a:rPr>
              <a:t>the</a:t>
            </a:r>
            <a:r>
              <a:rPr sz="2500" spc="-30" dirty="0">
                <a:latin typeface="Gill Sans MT"/>
                <a:cs typeface="Gill Sans MT"/>
              </a:rPr>
              <a:t> </a:t>
            </a:r>
            <a:r>
              <a:rPr sz="2500" dirty="0">
                <a:latin typeface="Gill Sans MT"/>
                <a:cs typeface="Gill Sans MT"/>
              </a:rPr>
              <a:t>curse</a:t>
            </a:r>
            <a:r>
              <a:rPr sz="2500" spc="-30" dirty="0">
                <a:latin typeface="Gill Sans MT"/>
                <a:cs typeface="Gill Sans MT"/>
              </a:rPr>
              <a:t> </a:t>
            </a:r>
            <a:r>
              <a:rPr sz="2500" dirty="0">
                <a:latin typeface="Gill Sans MT"/>
                <a:cs typeface="Gill Sans MT"/>
              </a:rPr>
              <a:t>of</a:t>
            </a:r>
            <a:r>
              <a:rPr sz="2500" spc="-35" dirty="0">
                <a:latin typeface="Gill Sans MT"/>
                <a:cs typeface="Gill Sans MT"/>
              </a:rPr>
              <a:t> </a:t>
            </a:r>
            <a:r>
              <a:rPr sz="2500" dirty="0">
                <a:latin typeface="Gill Sans MT"/>
                <a:cs typeface="Gill Sans MT"/>
              </a:rPr>
              <a:t>dimensionality</a:t>
            </a:r>
            <a:r>
              <a:rPr sz="2500" spc="-30" dirty="0">
                <a:latin typeface="Gill Sans MT"/>
                <a:cs typeface="Gill Sans MT"/>
              </a:rPr>
              <a:t> </a:t>
            </a:r>
            <a:r>
              <a:rPr sz="2500" dirty="0">
                <a:latin typeface="Gill Sans MT"/>
                <a:cs typeface="Gill Sans MT"/>
              </a:rPr>
              <a:t>through</a:t>
            </a:r>
            <a:r>
              <a:rPr sz="2500" spc="-30" dirty="0">
                <a:latin typeface="Gill Sans MT"/>
                <a:cs typeface="Gill Sans MT"/>
              </a:rPr>
              <a:t> </a:t>
            </a:r>
            <a:r>
              <a:rPr sz="2500" spc="-10" dirty="0">
                <a:latin typeface="Gill Sans MT"/>
                <a:cs typeface="Gill Sans MT"/>
              </a:rPr>
              <a:t>sampling</a:t>
            </a:r>
            <a:endParaRPr sz="2500">
              <a:latin typeface="Gill Sans MT"/>
              <a:cs typeface="Gill Sans MT"/>
            </a:endParaRPr>
          </a:p>
          <a:p>
            <a:pPr marL="241300" indent="-228600">
              <a:lnSpc>
                <a:spcPts val="2950"/>
              </a:lnSpc>
              <a:buChar char="•"/>
              <a:tabLst>
                <a:tab pos="241300" algn="l"/>
              </a:tabLst>
            </a:pPr>
            <a:r>
              <a:rPr sz="2500" dirty="0">
                <a:latin typeface="Gill Sans MT"/>
                <a:cs typeface="Gill Sans MT"/>
              </a:rPr>
              <a:t>Cost</a:t>
            </a:r>
            <a:r>
              <a:rPr sz="2500" spc="-15" dirty="0">
                <a:latin typeface="Gill Sans MT"/>
                <a:cs typeface="Gill Sans MT"/>
              </a:rPr>
              <a:t> </a:t>
            </a:r>
            <a:r>
              <a:rPr sz="2500" dirty="0">
                <a:latin typeface="Gill Sans MT"/>
                <a:cs typeface="Gill Sans MT"/>
              </a:rPr>
              <a:t>of</a:t>
            </a:r>
            <a:r>
              <a:rPr sz="2500" spc="-5" dirty="0">
                <a:latin typeface="Gill Sans MT"/>
                <a:cs typeface="Gill Sans MT"/>
              </a:rPr>
              <a:t> </a:t>
            </a:r>
            <a:r>
              <a:rPr sz="2500" dirty="0">
                <a:latin typeface="Gill Sans MT"/>
                <a:cs typeface="Gill Sans MT"/>
              </a:rPr>
              <a:t>an individual</a:t>
            </a:r>
            <a:r>
              <a:rPr sz="2500" spc="-5" dirty="0">
                <a:latin typeface="Gill Sans MT"/>
                <a:cs typeface="Gill Sans MT"/>
              </a:rPr>
              <a:t> </a:t>
            </a:r>
            <a:r>
              <a:rPr sz="2500" dirty="0">
                <a:latin typeface="Gill Sans MT"/>
                <a:cs typeface="Gill Sans MT"/>
              </a:rPr>
              <a:t>backup</a:t>
            </a:r>
            <a:r>
              <a:rPr sz="2500" spc="5" dirty="0">
                <a:latin typeface="Gill Sans MT"/>
                <a:cs typeface="Gill Sans MT"/>
              </a:rPr>
              <a:t> </a:t>
            </a:r>
            <a:r>
              <a:rPr sz="2500" dirty="0">
                <a:latin typeface="Gill Sans MT"/>
                <a:cs typeface="Gill Sans MT"/>
              </a:rPr>
              <a:t>is </a:t>
            </a:r>
            <a:r>
              <a:rPr sz="2500" spc="-10" dirty="0">
                <a:latin typeface="Gill Sans MT"/>
                <a:cs typeface="Gill Sans MT"/>
              </a:rPr>
              <a:t>constant,</a:t>
            </a:r>
            <a:r>
              <a:rPr sz="2500" spc="-245" dirty="0">
                <a:latin typeface="Gill Sans MT"/>
                <a:cs typeface="Gill Sans MT"/>
              </a:rPr>
              <a:t> </a:t>
            </a:r>
            <a:r>
              <a:rPr sz="2500" dirty="0">
                <a:latin typeface="Gill Sans MT"/>
                <a:cs typeface="Gill Sans MT"/>
              </a:rPr>
              <a:t>independent</a:t>
            </a:r>
            <a:r>
              <a:rPr sz="2500" spc="-5" dirty="0">
                <a:latin typeface="Gill Sans MT"/>
                <a:cs typeface="Gill Sans MT"/>
              </a:rPr>
              <a:t> </a:t>
            </a:r>
            <a:r>
              <a:rPr sz="2500" dirty="0">
                <a:latin typeface="Gill Sans MT"/>
                <a:cs typeface="Gill Sans MT"/>
              </a:rPr>
              <a:t>of n</a:t>
            </a:r>
            <a:r>
              <a:rPr sz="2500" spc="-5" dirty="0">
                <a:latin typeface="Gill Sans MT"/>
                <a:cs typeface="Gill Sans MT"/>
              </a:rPr>
              <a:t> </a:t>
            </a:r>
            <a:r>
              <a:rPr sz="2500" dirty="0">
                <a:latin typeface="Gill Sans MT"/>
                <a:cs typeface="Gill Sans MT"/>
              </a:rPr>
              <a:t>=</a:t>
            </a:r>
            <a:r>
              <a:rPr sz="2500" spc="5" dirty="0">
                <a:latin typeface="Gill Sans MT"/>
                <a:cs typeface="Gill Sans MT"/>
              </a:rPr>
              <a:t> </a:t>
            </a:r>
            <a:r>
              <a:rPr sz="2500" spc="-25" dirty="0">
                <a:latin typeface="Gill Sans MT"/>
                <a:cs typeface="Gill Sans MT"/>
              </a:rPr>
              <a:t>|S|</a:t>
            </a:r>
            <a:endParaRPr sz="2500">
              <a:latin typeface="Gill Sans MT"/>
              <a:cs typeface="Gill Sans MT"/>
            </a:endParaRPr>
          </a:p>
        </p:txBody>
      </p:sp>
      <p:pic>
        <p:nvPicPr>
          <p:cNvPr id="7" name="object 7"/>
          <p:cNvPicPr/>
          <p:nvPr/>
        </p:nvPicPr>
        <p:blipFill>
          <a:blip r:embed="rId3" cstate="print"/>
          <a:stretch>
            <a:fillRect/>
          </a:stretch>
        </p:blipFill>
        <p:spPr>
          <a:xfrm>
            <a:off x="8185415" y="2309741"/>
            <a:ext cx="199791" cy="862258"/>
          </a:xfrm>
          <a:prstGeom prst="rect">
            <a:avLst/>
          </a:prstGeom>
        </p:spPr>
      </p:pic>
      <p:sp>
        <p:nvSpPr>
          <p:cNvPr id="8" name="object 8"/>
          <p:cNvSpPr txBox="1"/>
          <p:nvPr/>
        </p:nvSpPr>
        <p:spPr>
          <a:xfrm>
            <a:off x="8462465" y="2223046"/>
            <a:ext cx="296545" cy="1011555"/>
          </a:xfrm>
          <a:prstGeom prst="rect">
            <a:avLst/>
          </a:prstGeom>
        </p:spPr>
        <p:txBody>
          <a:bodyPr vert="horz" wrap="square" lIns="0" tIns="12700" rIns="0" bIns="0" rtlCol="0">
            <a:spAutoFit/>
          </a:bodyPr>
          <a:lstStyle/>
          <a:p>
            <a:pPr marL="12700">
              <a:lnSpc>
                <a:spcPct val="100000"/>
              </a:lnSpc>
              <a:spcBef>
                <a:spcPts val="100"/>
              </a:spcBef>
            </a:pPr>
            <a:r>
              <a:rPr sz="1500" dirty="0">
                <a:latin typeface="Gill Sans MT"/>
                <a:cs typeface="Gill Sans MT"/>
              </a:rPr>
              <a:t>S,</a:t>
            </a:r>
            <a:r>
              <a:rPr sz="1500" spc="-305" dirty="0">
                <a:latin typeface="Gill Sans MT"/>
                <a:cs typeface="Gill Sans MT"/>
              </a:rPr>
              <a:t> </a:t>
            </a:r>
            <a:r>
              <a:rPr sz="1500" spc="-60" dirty="0">
                <a:latin typeface="Gill Sans MT"/>
                <a:cs typeface="Gill Sans MT"/>
              </a:rPr>
              <a:t>A</a:t>
            </a:r>
            <a:endParaRPr sz="1500">
              <a:latin typeface="Gill Sans MT"/>
              <a:cs typeface="Gill Sans MT"/>
            </a:endParaRPr>
          </a:p>
          <a:p>
            <a:pPr marL="83185" marR="75565" indent="6350">
              <a:lnSpc>
                <a:spcPct val="165600"/>
              </a:lnSpc>
            </a:pPr>
            <a:r>
              <a:rPr sz="1500" spc="-50" dirty="0">
                <a:latin typeface="Gill Sans MT"/>
                <a:cs typeface="Gill Sans MT"/>
              </a:rPr>
              <a:t>R </a:t>
            </a:r>
            <a:r>
              <a:rPr sz="1500" spc="-25" dirty="0">
                <a:latin typeface="Gill Sans MT"/>
                <a:cs typeface="Gill Sans MT"/>
              </a:rPr>
              <a:t>S’</a:t>
            </a:r>
            <a:endParaRPr sz="1500">
              <a:latin typeface="Gill Sans MT"/>
              <a:cs typeface="Gill Sans MT"/>
            </a:endParaRPr>
          </a:p>
        </p:txBody>
      </p:sp>
      <p:sp>
        <p:nvSpPr>
          <p:cNvPr id="9" name="Date Placeholder 3">
            <a:extLst>
              <a:ext uri="{FF2B5EF4-FFF2-40B4-BE49-F238E27FC236}">
                <a16:creationId xmlns:a16="http://schemas.microsoft.com/office/drawing/2014/main" id="{E1C351C6-AE83-9837-6E99-29490F5DD13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ooter Placeholder 5">
            <a:extLst>
              <a:ext uri="{FF2B5EF4-FFF2-40B4-BE49-F238E27FC236}">
                <a16:creationId xmlns:a16="http://schemas.microsoft.com/office/drawing/2014/main" id="{078F51BB-D49C-D598-CC47-7C912D5BFFB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1" name="Slide Number Placeholder 7">
            <a:extLst>
              <a:ext uri="{FF2B5EF4-FFF2-40B4-BE49-F238E27FC236}">
                <a16:creationId xmlns:a16="http://schemas.microsoft.com/office/drawing/2014/main" id="{F4169CCD-492B-635A-910E-EC9171D5B6C8}"/>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15900">
              <a:lnSpc>
                <a:spcPct val="100000"/>
              </a:lnSpc>
              <a:spcBef>
                <a:spcPts val="100"/>
              </a:spcBef>
            </a:pPr>
            <a:r>
              <a:rPr spc="-160" dirty="0"/>
              <a:t>Convergence</a:t>
            </a:r>
            <a:r>
              <a:rPr spc="-120" dirty="0"/>
              <a:t> </a:t>
            </a:r>
            <a:r>
              <a:rPr dirty="0"/>
              <a:t>of</a:t>
            </a:r>
            <a:r>
              <a:rPr spc="80" dirty="0"/>
              <a:t> </a:t>
            </a:r>
            <a:r>
              <a:rPr spc="-10" dirty="0"/>
              <a:t>Sarsa</a:t>
            </a:r>
          </a:p>
        </p:txBody>
      </p:sp>
      <mc:AlternateContent xmlns:mc="http://schemas.openxmlformats.org/markup-compatibility/2006" xmlns:a14="http://schemas.microsoft.com/office/drawing/2010/main">
        <mc:Choice Requires="a14">
          <p:sp>
            <p:nvSpPr>
              <p:cNvPr id="3" name="object 3"/>
              <p:cNvSpPr txBox="1"/>
              <p:nvPr/>
            </p:nvSpPr>
            <p:spPr>
              <a:xfrm>
                <a:off x="601350" y="1903260"/>
                <a:ext cx="6801484" cy="1740476"/>
              </a:xfrm>
              <a:prstGeom prst="rect">
                <a:avLst/>
              </a:prstGeom>
            </p:spPr>
            <p:txBody>
              <a:bodyPr vert="horz" wrap="square" lIns="0" tIns="12700" rIns="0" bIns="0" rtlCol="0">
                <a:spAutoFit/>
              </a:bodyPr>
              <a:lstStyle/>
              <a:p>
                <a:pPr marL="38100">
                  <a:lnSpc>
                    <a:spcPts val="2945"/>
                  </a:lnSpc>
                  <a:spcBef>
                    <a:spcPts val="100"/>
                  </a:spcBef>
                </a:pPr>
                <a:r>
                  <a:rPr sz="2500" dirty="0">
                    <a:latin typeface="Gill Sans MT"/>
                    <a:cs typeface="Gill Sans MT"/>
                  </a:rPr>
                  <a:t>Sarsa</a:t>
                </a:r>
                <a:r>
                  <a:rPr sz="2500" spc="-35" dirty="0">
                    <a:latin typeface="Gill Sans MT"/>
                    <a:cs typeface="Gill Sans MT"/>
                  </a:rPr>
                  <a:t> </a:t>
                </a:r>
                <a:r>
                  <a:rPr sz="2500" dirty="0">
                    <a:latin typeface="Gill Sans MT"/>
                    <a:cs typeface="Gill Sans MT"/>
                  </a:rPr>
                  <a:t>converges</a:t>
                </a:r>
                <a:r>
                  <a:rPr sz="2500" spc="-25" dirty="0">
                    <a:latin typeface="Gill Sans MT"/>
                    <a:cs typeface="Gill Sans MT"/>
                  </a:rPr>
                  <a:t> </a:t>
                </a:r>
                <a:r>
                  <a:rPr sz="2500" dirty="0">
                    <a:latin typeface="Gill Sans MT"/>
                    <a:cs typeface="Gill Sans MT"/>
                  </a:rPr>
                  <a:t>to</a:t>
                </a:r>
                <a:r>
                  <a:rPr sz="2500" spc="-25" dirty="0">
                    <a:latin typeface="Gill Sans MT"/>
                    <a:cs typeface="Gill Sans MT"/>
                  </a:rPr>
                  <a:t> </a:t>
                </a:r>
                <a:r>
                  <a:rPr sz="2500" dirty="0">
                    <a:latin typeface="Gill Sans MT"/>
                    <a:cs typeface="Gill Sans MT"/>
                  </a:rPr>
                  <a:t>the</a:t>
                </a:r>
                <a:r>
                  <a:rPr sz="2500" spc="-25" dirty="0">
                    <a:latin typeface="Gill Sans MT"/>
                    <a:cs typeface="Gill Sans MT"/>
                  </a:rPr>
                  <a:t> </a:t>
                </a:r>
                <a:r>
                  <a:rPr sz="2500" dirty="0">
                    <a:latin typeface="Gill Sans MT"/>
                    <a:cs typeface="Gill Sans MT"/>
                  </a:rPr>
                  <a:t>optimal</a:t>
                </a:r>
                <a:r>
                  <a:rPr sz="2500" spc="-25" dirty="0">
                    <a:latin typeface="Gill Sans MT"/>
                    <a:cs typeface="Gill Sans MT"/>
                  </a:rPr>
                  <a:t> </a:t>
                </a:r>
                <a:r>
                  <a:rPr sz="2500" dirty="0">
                    <a:latin typeface="Gill Sans MT"/>
                    <a:cs typeface="Gill Sans MT"/>
                  </a:rPr>
                  <a:t>action-value</a:t>
                </a:r>
                <a:r>
                  <a:rPr sz="2500" spc="-25" dirty="0">
                    <a:latin typeface="Gill Sans MT"/>
                    <a:cs typeface="Gill Sans MT"/>
                  </a:rPr>
                  <a:t> </a:t>
                </a:r>
                <a:r>
                  <a:rPr sz="2500" spc="-10" dirty="0">
                    <a:latin typeface="Gill Sans MT"/>
                    <a:cs typeface="Gill Sans MT"/>
                  </a:rPr>
                  <a:t>function</a:t>
                </a:r>
                <a:endParaRPr sz="2500" dirty="0">
                  <a:latin typeface="Gill Sans MT"/>
                  <a:cs typeface="Gill Sans MT"/>
                </a:endParaRPr>
              </a:p>
              <a:p>
                <a:pPr marL="38100">
                  <a:lnSpc>
                    <a:spcPts val="3065"/>
                  </a:lnSpc>
                </a:pPr>
                <a:r>
                  <a:rPr sz="2600" i="1" dirty="0">
                    <a:latin typeface="Times New Roman"/>
                    <a:cs typeface="Times New Roman"/>
                  </a:rPr>
                  <a:t>Q</a:t>
                </a:r>
                <a:r>
                  <a:rPr sz="2600" dirty="0">
                    <a:latin typeface="Cambria"/>
                    <a:cs typeface="Cambria"/>
                  </a:rPr>
                  <a:t>(</a:t>
                </a:r>
                <a:r>
                  <a:rPr sz="2600" i="1" dirty="0">
                    <a:latin typeface="Times New Roman"/>
                    <a:cs typeface="Times New Roman"/>
                  </a:rPr>
                  <a:t>s</a:t>
                </a:r>
                <a:r>
                  <a:rPr sz="2600" dirty="0">
                    <a:latin typeface="Cambria"/>
                    <a:cs typeface="Cambria"/>
                  </a:rPr>
                  <a:t>,</a:t>
                </a:r>
                <a:r>
                  <a:rPr sz="2600" spc="-145" dirty="0">
                    <a:latin typeface="Cambria"/>
                    <a:cs typeface="Cambria"/>
                  </a:rPr>
                  <a:t> </a:t>
                </a:r>
                <a:r>
                  <a:rPr sz="2600" i="1" dirty="0">
                    <a:latin typeface="Times New Roman"/>
                    <a:cs typeface="Times New Roman"/>
                  </a:rPr>
                  <a:t>a</a:t>
                </a:r>
                <a:r>
                  <a:rPr sz="2600" dirty="0">
                    <a:latin typeface="Cambria"/>
                    <a:cs typeface="Cambria"/>
                  </a:rPr>
                  <a:t>)</a:t>
                </a:r>
                <a:r>
                  <a:rPr sz="2600" spc="120" dirty="0">
                    <a:latin typeface="Cambria"/>
                    <a:cs typeface="Cambria"/>
                  </a:rPr>
                  <a:t> </a:t>
                </a:r>
                <a:r>
                  <a:rPr sz="2600" spc="235" dirty="0">
                    <a:latin typeface="Cambria"/>
                    <a:cs typeface="Cambria"/>
                  </a:rPr>
                  <a:t>→</a:t>
                </a:r>
                <a:r>
                  <a:rPr sz="2600" spc="140" dirty="0">
                    <a:latin typeface="Cambria"/>
                    <a:cs typeface="Cambria"/>
                  </a:rPr>
                  <a:t> </a:t>
                </a:r>
                <a:r>
                  <a:rPr sz="2600" i="1" spc="50" dirty="0">
                    <a:latin typeface="Times New Roman"/>
                    <a:cs typeface="Times New Roman"/>
                  </a:rPr>
                  <a:t>q</a:t>
                </a:r>
                <a:r>
                  <a:rPr sz="2775" spc="75" baseline="-19519" dirty="0">
                    <a:latin typeface="Cambria"/>
                    <a:cs typeface="Cambria"/>
                  </a:rPr>
                  <a:t>⋆</a:t>
                </a:r>
                <a:r>
                  <a:rPr sz="2600" spc="50" dirty="0">
                    <a:latin typeface="Cambria"/>
                    <a:cs typeface="Cambria"/>
                  </a:rPr>
                  <a:t>(</a:t>
                </a:r>
                <a:r>
                  <a:rPr sz="2600" i="1" spc="50" dirty="0">
                    <a:latin typeface="Times New Roman"/>
                    <a:cs typeface="Times New Roman"/>
                  </a:rPr>
                  <a:t>s</a:t>
                </a:r>
                <a:r>
                  <a:rPr sz="2600" spc="50" dirty="0">
                    <a:latin typeface="Cambria"/>
                    <a:cs typeface="Cambria"/>
                  </a:rPr>
                  <a:t>,</a:t>
                </a:r>
                <a:r>
                  <a:rPr sz="2600" spc="-145" dirty="0">
                    <a:latin typeface="Cambria"/>
                    <a:cs typeface="Cambria"/>
                  </a:rPr>
                  <a:t> </a:t>
                </a:r>
                <a:r>
                  <a:rPr sz="2600" i="1" spc="-45" dirty="0">
                    <a:latin typeface="Times New Roman"/>
                    <a:cs typeface="Times New Roman"/>
                  </a:rPr>
                  <a:t>a</a:t>
                </a:r>
                <a:r>
                  <a:rPr sz="2600" spc="-45" dirty="0">
                    <a:latin typeface="Cambria"/>
                    <a:cs typeface="Cambria"/>
                  </a:rPr>
                  <a:t>)</a:t>
                </a:r>
                <a:r>
                  <a:rPr sz="2500" spc="-45" dirty="0">
                    <a:latin typeface="Gill Sans MT"/>
                    <a:cs typeface="Gill Sans MT"/>
                  </a:rPr>
                  <a:t>,</a:t>
                </a:r>
                <a:r>
                  <a:rPr sz="2500" spc="-254" dirty="0">
                    <a:latin typeface="Gill Sans MT"/>
                    <a:cs typeface="Gill Sans MT"/>
                  </a:rPr>
                  <a:t> </a:t>
                </a:r>
                <a:r>
                  <a:rPr sz="2500" dirty="0">
                    <a:latin typeface="Gill Sans MT"/>
                    <a:cs typeface="Gill Sans MT"/>
                  </a:rPr>
                  <a:t>under</a:t>
                </a:r>
                <a:r>
                  <a:rPr sz="2500" spc="-20" dirty="0">
                    <a:latin typeface="Gill Sans MT"/>
                    <a:cs typeface="Gill Sans MT"/>
                  </a:rPr>
                  <a:t> </a:t>
                </a:r>
                <a:r>
                  <a:rPr sz="2500" dirty="0">
                    <a:latin typeface="Gill Sans MT"/>
                    <a:cs typeface="Gill Sans MT"/>
                  </a:rPr>
                  <a:t>the</a:t>
                </a:r>
                <a:r>
                  <a:rPr sz="2500" spc="-25" dirty="0">
                    <a:latin typeface="Gill Sans MT"/>
                    <a:cs typeface="Gill Sans MT"/>
                  </a:rPr>
                  <a:t> </a:t>
                </a:r>
                <a:r>
                  <a:rPr sz="2500" dirty="0">
                    <a:latin typeface="Gill Sans MT"/>
                    <a:cs typeface="Gill Sans MT"/>
                  </a:rPr>
                  <a:t>following</a:t>
                </a:r>
                <a:r>
                  <a:rPr sz="2500" spc="-20" dirty="0">
                    <a:latin typeface="Gill Sans MT"/>
                    <a:cs typeface="Gill Sans MT"/>
                  </a:rPr>
                  <a:t> </a:t>
                </a:r>
                <a:r>
                  <a:rPr sz="2500" spc="-10" dirty="0">
                    <a:latin typeface="Gill Sans MT"/>
                    <a:cs typeface="Gill Sans MT"/>
                  </a:rPr>
                  <a:t>conditions:</a:t>
                </a:r>
                <a:endParaRPr sz="2500" dirty="0">
                  <a:latin typeface="Gill Sans MT"/>
                  <a:cs typeface="Gill Sans MT"/>
                </a:endParaRPr>
              </a:p>
              <a:p>
                <a:pPr marL="266700" indent="-228600">
                  <a:lnSpc>
                    <a:spcPct val="100000"/>
                  </a:lnSpc>
                  <a:spcBef>
                    <a:spcPts val="2935"/>
                  </a:spcBef>
                  <a:buChar char="•"/>
                  <a:tabLst>
                    <a:tab pos="266700" algn="l"/>
                  </a:tabLst>
                </a:pPr>
                <a:r>
                  <a:rPr sz="3750" baseline="1111" dirty="0">
                    <a:latin typeface="Gill Sans MT"/>
                    <a:cs typeface="Gill Sans MT"/>
                  </a:rPr>
                  <a:t>GLIE</a:t>
                </a:r>
                <a:r>
                  <a:rPr sz="3750" spc="-52" baseline="1111" dirty="0">
                    <a:latin typeface="Gill Sans MT"/>
                    <a:cs typeface="Gill Sans MT"/>
                  </a:rPr>
                  <a:t> </a:t>
                </a:r>
                <a:r>
                  <a:rPr sz="3750" baseline="1111" dirty="0">
                    <a:latin typeface="Gill Sans MT"/>
                    <a:cs typeface="Gill Sans MT"/>
                  </a:rPr>
                  <a:t>sequence</a:t>
                </a:r>
                <a:r>
                  <a:rPr sz="3750" spc="-44" baseline="1111" dirty="0">
                    <a:latin typeface="Gill Sans MT"/>
                    <a:cs typeface="Gill Sans MT"/>
                  </a:rPr>
                  <a:t> </a:t>
                </a:r>
                <a:r>
                  <a:rPr sz="3750" baseline="1111" dirty="0">
                    <a:latin typeface="Gill Sans MT"/>
                    <a:cs typeface="Gill Sans MT"/>
                  </a:rPr>
                  <a:t>of</a:t>
                </a:r>
                <a:r>
                  <a:rPr sz="3750" spc="-52" baseline="1111" dirty="0">
                    <a:latin typeface="Gill Sans MT"/>
                    <a:cs typeface="Gill Sans MT"/>
                  </a:rPr>
                  <a:t> </a:t>
                </a:r>
                <a:r>
                  <a:rPr sz="3750" baseline="1111" dirty="0">
                    <a:latin typeface="Gill Sans MT"/>
                    <a:cs typeface="Gill Sans MT"/>
                  </a:rPr>
                  <a:t>policies</a:t>
                </a:r>
                <a:r>
                  <a:rPr sz="3750" spc="-37" baseline="1111" dirty="0">
                    <a:latin typeface="Gill Sans MT"/>
                    <a:cs typeface="Gill Sans MT"/>
                  </a:rPr>
                  <a:t> </a:t>
                </a:r>
                <a14:m>
                  <m:oMath xmlns:m="http://schemas.openxmlformats.org/officeDocument/2006/math">
                    <m:r>
                      <a:rPr lang="en-US" sz="3900" i="1" spc="-202" baseline="1068" dirty="0" smtClean="0">
                        <a:latin typeface="Cambria Math" panose="02040503050406030204" pitchFamily="18" charset="0"/>
                        <a:cs typeface="Arial"/>
                      </a:rPr>
                      <m:t>𝜋</m:t>
                    </m:r>
                    <m:r>
                      <a:rPr lang="en-US" sz="2775" i="1" spc="-202" baseline="-18018" dirty="0" smtClean="0">
                        <a:latin typeface="Cambria Math" panose="02040503050406030204" pitchFamily="18" charset="0"/>
                        <a:cs typeface="Times New Roman"/>
                      </a:rPr>
                      <m:t>𝑡</m:t>
                    </m:r>
                    <m:r>
                      <a:rPr lang="en-US" sz="3900" i="1" spc="-202" baseline="1068" dirty="0">
                        <a:latin typeface="Cambria Math" panose="02040503050406030204" pitchFamily="18" charset="0"/>
                        <a:cs typeface="Cambria"/>
                      </a:rPr>
                      <m:t>(</m:t>
                    </m:r>
                    <m:r>
                      <a:rPr lang="en-US" sz="3900" i="1" spc="-202" baseline="1068" dirty="0" smtClean="0">
                        <a:latin typeface="Cambria Math" panose="02040503050406030204" pitchFamily="18" charset="0"/>
                        <a:cs typeface="Times New Roman"/>
                      </a:rPr>
                      <m:t>𝑎</m:t>
                    </m:r>
                    <m:r>
                      <a:rPr lang="en-US" sz="3900" i="1" baseline="1068" dirty="0">
                        <a:latin typeface="Cambria Math" panose="02040503050406030204" pitchFamily="18" charset="0"/>
                        <a:cs typeface="Cambria"/>
                      </a:rPr>
                      <m:t>∣</m:t>
                    </m:r>
                    <m:r>
                      <a:rPr lang="en-US" sz="3900" i="1" spc="-37" baseline="1068" dirty="0">
                        <a:latin typeface="Cambria Math" panose="02040503050406030204" pitchFamily="18" charset="0"/>
                        <a:cs typeface="Times New Roman"/>
                      </a:rPr>
                      <m:t>𝑠</m:t>
                    </m:r>
                    <m:r>
                      <a:rPr lang="en-US" sz="3900" i="1" spc="-37" baseline="1068" dirty="0">
                        <a:latin typeface="Cambria Math" panose="02040503050406030204" pitchFamily="18" charset="0"/>
                        <a:cs typeface="Cambria"/>
                      </a:rPr>
                      <m:t>)</m:t>
                    </m:r>
                  </m:oMath>
                </a14:m>
                <a:endParaRPr sz="3900" baseline="1068" dirty="0">
                  <a:latin typeface="Cambria"/>
                  <a:cs typeface="Cambri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601350" y="1903260"/>
                <a:ext cx="6801484" cy="1740476"/>
              </a:xfrm>
              <a:prstGeom prst="rect">
                <a:avLst/>
              </a:prstGeom>
              <a:blipFill>
                <a:blip r:embed="rId3"/>
                <a:stretch>
                  <a:fillRect l="-3587" t="-5594" r="-2152" b="-15035"/>
                </a:stretch>
              </a:blipFill>
            </p:spPr>
            <p:txBody>
              <a:bodyPr/>
              <a:lstStyle/>
              <a:p>
                <a:r>
                  <a:rPr lang="en-US">
                    <a:noFill/>
                  </a:rPr>
                  <a:t> </a:t>
                </a:r>
              </a:p>
            </p:txBody>
          </p:sp>
        </mc:Fallback>
      </mc:AlternateContent>
      <p:sp>
        <p:nvSpPr>
          <p:cNvPr id="4" name="object 4"/>
          <p:cNvSpPr txBox="1"/>
          <p:nvPr/>
        </p:nvSpPr>
        <p:spPr>
          <a:xfrm>
            <a:off x="601350" y="3796379"/>
            <a:ext cx="5596890" cy="426084"/>
          </a:xfrm>
          <a:prstGeom prst="rect">
            <a:avLst/>
          </a:prstGeom>
        </p:spPr>
        <p:txBody>
          <a:bodyPr vert="horz" wrap="square" lIns="0" tIns="15875" rIns="0" bIns="0" rtlCol="0">
            <a:spAutoFit/>
          </a:bodyPr>
          <a:lstStyle/>
          <a:p>
            <a:pPr marL="266700" indent="-228600">
              <a:lnSpc>
                <a:spcPct val="100000"/>
              </a:lnSpc>
              <a:spcBef>
                <a:spcPts val="125"/>
              </a:spcBef>
              <a:buChar char="•"/>
              <a:tabLst>
                <a:tab pos="266700" algn="l"/>
              </a:tabLst>
            </a:pPr>
            <a:r>
              <a:rPr sz="3750" spc="-15" baseline="1111" dirty="0">
                <a:latin typeface="Gill Sans MT"/>
                <a:cs typeface="Gill Sans MT"/>
              </a:rPr>
              <a:t>Robbins-</a:t>
            </a:r>
            <a:r>
              <a:rPr sz="3750" baseline="1111" dirty="0">
                <a:latin typeface="Gill Sans MT"/>
                <a:cs typeface="Gill Sans MT"/>
              </a:rPr>
              <a:t>Monro</a:t>
            </a:r>
            <a:r>
              <a:rPr sz="3750" spc="-7" baseline="1111" dirty="0">
                <a:latin typeface="Gill Sans MT"/>
                <a:cs typeface="Gill Sans MT"/>
              </a:rPr>
              <a:t> </a:t>
            </a:r>
            <a:r>
              <a:rPr sz="3750" baseline="1111" dirty="0">
                <a:latin typeface="Gill Sans MT"/>
                <a:cs typeface="Gill Sans MT"/>
              </a:rPr>
              <a:t>sequence</a:t>
            </a:r>
            <a:r>
              <a:rPr sz="3750" spc="-7" baseline="1111" dirty="0">
                <a:latin typeface="Gill Sans MT"/>
                <a:cs typeface="Gill Sans MT"/>
              </a:rPr>
              <a:t> </a:t>
            </a:r>
            <a:r>
              <a:rPr sz="3750" baseline="1111" dirty="0">
                <a:latin typeface="Gill Sans MT"/>
                <a:cs typeface="Gill Sans MT"/>
              </a:rPr>
              <a:t>of</a:t>
            </a:r>
            <a:r>
              <a:rPr sz="3750" spc="-7" baseline="1111" dirty="0">
                <a:latin typeface="Gill Sans MT"/>
                <a:cs typeface="Gill Sans MT"/>
              </a:rPr>
              <a:t> </a:t>
            </a:r>
            <a:r>
              <a:rPr sz="3750" baseline="1111" dirty="0">
                <a:latin typeface="Gill Sans MT"/>
                <a:cs typeface="Gill Sans MT"/>
              </a:rPr>
              <a:t>step-sizes </a:t>
            </a:r>
            <a:r>
              <a:rPr sz="3900" i="1" spc="-37" baseline="1068" dirty="0">
                <a:latin typeface="Arial"/>
                <a:cs typeface="Arial"/>
              </a:rPr>
              <a:t>α</a:t>
            </a:r>
            <a:r>
              <a:rPr sz="2775" i="1" spc="-37" baseline="-18018" dirty="0">
                <a:latin typeface="Times New Roman"/>
                <a:cs typeface="Times New Roman"/>
              </a:rPr>
              <a:t>t</a:t>
            </a:r>
            <a:endParaRPr sz="2775" baseline="-18018" dirty="0">
              <a:latin typeface="Times New Roman"/>
              <a:cs typeface="Times New Roman"/>
            </a:endParaRPr>
          </a:p>
        </p:txBody>
      </p:sp>
      <p:sp>
        <p:nvSpPr>
          <p:cNvPr id="10" name="object 10"/>
          <p:cNvSpPr txBox="1"/>
          <p:nvPr/>
        </p:nvSpPr>
        <p:spPr>
          <a:xfrm>
            <a:off x="611384" y="1443042"/>
            <a:ext cx="7896225" cy="283845"/>
          </a:xfrm>
          <a:prstGeom prst="rect">
            <a:avLst/>
          </a:prstGeom>
          <a:solidFill>
            <a:srgbClr val="262685"/>
          </a:solidFill>
        </p:spPr>
        <p:txBody>
          <a:bodyPr vert="horz" wrap="square" lIns="0" tIns="0" rIns="0" bIns="0" rtlCol="0">
            <a:spAutoFit/>
          </a:bodyPr>
          <a:lstStyle/>
          <a:p>
            <a:pPr marL="45720">
              <a:lnSpc>
                <a:spcPts val="2210"/>
              </a:lnSpc>
            </a:pPr>
            <a:r>
              <a:rPr sz="2000" spc="-10" dirty="0">
                <a:solidFill>
                  <a:srgbClr val="FFFFFF"/>
                </a:solidFill>
                <a:latin typeface="Arial"/>
                <a:cs typeface="Arial"/>
              </a:rPr>
              <a:t>Theorem</a:t>
            </a:r>
            <a:endParaRPr sz="2000">
              <a:latin typeface="Arial"/>
              <a:cs typeface="Arial"/>
            </a:endParaRPr>
          </a:p>
        </p:txBody>
      </p:sp>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F8D5839E-5F57-443F-3448-3208327C7BAC}"/>
                  </a:ext>
                </a:extLst>
              </p:cNvPr>
              <p:cNvSpPr txBox="1"/>
              <p:nvPr/>
            </p:nvSpPr>
            <p:spPr>
              <a:xfrm>
                <a:off x="1371600" y="5334000"/>
                <a:ext cx="1790700" cy="854015"/>
              </a:xfrm>
              <a:prstGeom prst="rect">
                <a:avLst/>
              </a:prstGeom>
            </p:spPr>
            <p:txBody>
              <a:bodyPr vert="horz" wrap="square" lIns="0" tIns="14604" rIns="0" bIns="0" rtlCol="0">
                <a:spAutoFit/>
              </a:bodyPr>
              <a:lstStyle/>
              <a:p>
                <a:pPr marL="409575">
                  <a:lnSpc>
                    <a:spcPct val="100000"/>
                  </a:lnSpc>
                  <a:spcBef>
                    <a:spcPts val="114"/>
                  </a:spcBef>
                </a:pPr>
                <a14:m>
                  <m:oMathPara xmlns:m="http://schemas.openxmlformats.org/officeDocument/2006/math">
                    <m:oMathParaPr>
                      <m:jc m:val="centerGroup"/>
                    </m:oMathParaPr>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i="1" smtClean="0">
                              <a:latin typeface="Cambria Math" panose="02040503050406030204" pitchFamily="18" charset="0"/>
                              <a:ea typeface="Cambria Math" panose="02040503050406030204" pitchFamily="18" charset="0"/>
                            </a:rPr>
                            <m:t>∞</m:t>
                          </m:r>
                        </m:sup>
                        <m:e>
                          <m:sSubSup>
                            <m:sSubSupPr>
                              <m:ctrlPr>
                                <a:rPr lang="en-US" sz="2000" b="0" i="1" dirty="0" smtClean="0">
                                  <a:latin typeface="Cambria Math" panose="02040503050406030204" pitchFamily="18" charset="0"/>
                                  <a:cs typeface="Arial"/>
                                </a:rPr>
                              </m:ctrlPr>
                            </m:sSubSupPr>
                            <m:e>
                              <m:r>
                                <m:rPr>
                                  <m:nor/>
                                </m:rPr>
                                <a:rPr lang="el-GR" sz="2000" i="1" dirty="0" smtClean="0">
                                  <a:latin typeface="Arial"/>
                                  <a:cs typeface="Arial"/>
                                </a:rPr>
                                <m:t>α</m:t>
                              </m:r>
                            </m:e>
                            <m:sub>
                              <m:r>
                                <a:rPr lang="en-US" sz="2000" b="0" i="1" dirty="0" smtClean="0">
                                  <a:latin typeface="Cambria Math" panose="02040503050406030204" pitchFamily="18" charset="0"/>
                                  <a:cs typeface="Arial"/>
                                </a:rPr>
                                <m:t>𝑡</m:t>
                              </m:r>
                            </m:sub>
                            <m:sup>
                              <m:r>
                                <a:rPr lang="en-US" sz="2000" b="0" i="1" dirty="0" smtClean="0">
                                  <a:latin typeface="Cambria Math" panose="02040503050406030204" pitchFamily="18" charset="0"/>
                                  <a:cs typeface="Arial"/>
                                </a:rPr>
                                <m:t>2</m:t>
                              </m:r>
                            </m:sup>
                          </m:sSubSup>
                          <m:r>
                            <a:rPr lang="en-US" sz="2000" b="0" i="1" dirty="0" smtClean="0">
                              <a:latin typeface="Cambria Math" panose="02040503050406030204" pitchFamily="18" charset="0"/>
                              <a:cs typeface="Arial"/>
                            </a:rPr>
                            <m:t>&lt;</m:t>
                          </m:r>
                          <m:r>
                            <a:rPr lang="en-US" sz="2000" b="0" i="1" dirty="0" smtClean="0">
                              <a:latin typeface="Cambria Math" panose="02040503050406030204" pitchFamily="18" charset="0"/>
                              <a:ea typeface="Cambria Math" panose="02040503050406030204" pitchFamily="18" charset="0"/>
                              <a:cs typeface="Arial"/>
                            </a:rPr>
                            <m:t>∞</m:t>
                          </m:r>
                        </m:e>
                      </m:nary>
                    </m:oMath>
                  </m:oMathPara>
                </a14:m>
                <a:endParaRPr sz="2000" dirty="0">
                  <a:latin typeface="Cambria"/>
                  <a:cs typeface="Cambria"/>
                </a:endParaRPr>
              </a:p>
            </p:txBody>
          </p:sp>
        </mc:Choice>
        <mc:Fallback xmlns="">
          <p:sp>
            <p:nvSpPr>
              <p:cNvPr id="11" name="object 5">
                <a:extLst>
                  <a:ext uri="{FF2B5EF4-FFF2-40B4-BE49-F238E27FC236}">
                    <a16:creationId xmlns:a16="http://schemas.microsoft.com/office/drawing/2014/main" id="{F8D5839E-5F57-443F-3448-3208327C7BAC}"/>
                  </a:ext>
                </a:extLst>
              </p:cNvPr>
              <p:cNvSpPr txBox="1">
                <a:spLocks noRot="1" noChangeAspect="1" noMove="1" noResize="1" noEditPoints="1" noAdjustHandles="1" noChangeArrowheads="1" noChangeShapeType="1" noTextEdit="1"/>
              </p:cNvSpPr>
              <p:nvPr/>
            </p:nvSpPr>
            <p:spPr>
              <a:xfrm>
                <a:off x="1371600" y="5334000"/>
                <a:ext cx="1790700" cy="85401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B0CD2F35-1E1F-8692-C3A2-E9EFFB3083DE}"/>
                  </a:ext>
                </a:extLst>
              </p:cNvPr>
              <p:cNvSpPr txBox="1"/>
              <p:nvPr/>
            </p:nvSpPr>
            <p:spPr>
              <a:xfrm>
                <a:off x="1371600" y="4299879"/>
                <a:ext cx="1790700" cy="854015"/>
              </a:xfrm>
              <a:prstGeom prst="rect">
                <a:avLst/>
              </a:prstGeom>
            </p:spPr>
            <p:txBody>
              <a:bodyPr vert="horz" wrap="square" lIns="0" tIns="14604" rIns="0" bIns="0" rtlCol="0">
                <a:spAutoFit/>
              </a:bodyPr>
              <a:lstStyle/>
              <a:p>
                <a:pPr marL="409575">
                  <a:lnSpc>
                    <a:spcPct val="100000"/>
                  </a:lnSpc>
                  <a:spcBef>
                    <a:spcPts val="114"/>
                  </a:spcBef>
                </a:pPr>
                <a14:m>
                  <m:oMathPara xmlns:m="http://schemas.openxmlformats.org/officeDocument/2006/math">
                    <m:oMathParaPr>
                      <m:jc m:val="centerGroup"/>
                    </m:oMathParaPr>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i="1" smtClean="0">
                              <a:latin typeface="Cambria Math" panose="02040503050406030204" pitchFamily="18" charset="0"/>
                              <a:ea typeface="Cambria Math" panose="02040503050406030204" pitchFamily="18" charset="0"/>
                            </a:rPr>
                            <m:t>∞</m:t>
                          </m:r>
                        </m:sup>
                        <m:e>
                          <m:sSub>
                            <m:sSubPr>
                              <m:ctrlPr>
                                <a:rPr lang="en-US" sz="2000" b="0" i="1" dirty="0" smtClean="0">
                                  <a:latin typeface="Cambria Math" panose="02040503050406030204" pitchFamily="18" charset="0"/>
                                  <a:cs typeface="Arial"/>
                                </a:rPr>
                              </m:ctrlPr>
                            </m:sSubPr>
                            <m:e>
                              <m:r>
                                <m:rPr>
                                  <m:nor/>
                                </m:rPr>
                                <a:rPr lang="el-GR" sz="2000" i="1" dirty="0" smtClean="0">
                                  <a:latin typeface="Arial"/>
                                  <a:cs typeface="Arial"/>
                                </a:rPr>
                                <m:t>α</m:t>
                              </m:r>
                            </m:e>
                            <m:sub>
                              <m:r>
                                <a:rPr lang="en-US" sz="2000" b="0" i="1" dirty="0" smtClean="0">
                                  <a:latin typeface="Cambria Math" panose="02040503050406030204" pitchFamily="18" charset="0"/>
                                  <a:cs typeface="Arial"/>
                                </a:rPr>
                                <m:t>𝑡</m:t>
                              </m:r>
                            </m:sub>
                          </m:sSub>
                          <m:r>
                            <a:rPr lang="en-US" sz="2000" b="0" i="1" dirty="0" smtClean="0">
                              <a:latin typeface="Cambria Math" panose="02040503050406030204" pitchFamily="18" charset="0"/>
                              <a:cs typeface="Arial"/>
                            </a:rPr>
                            <m:t>=</m:t>
                          </m:r>
                          <m:r>
                            <a:rPr lang="en-US" sz="2000" b="0" i="1" dirty="0" smtClean="0">
                              <a:latin typeface="Cambria Math" panose="02040503050406030204" pitchFamily="18" charset="0"/>
                              <a:ea typeface="Cambria Math" panose="02040503050406030204" pitchFamily="18" charset="0"/>
                              <a:cs typeface="Arial"/>
                            </a:rPr>
                            <m:t>∞</m:t>
                          </m:r>
                        </m:e>
                      </m:nary>
                    </m:oMath>
                  </m:oMathPara>
                </a14:m>
                <a:endParaRPr sz="2000" dirty="0">
                  <a:latin typeface="Cambria"/>
                  <a:cs typeface="Cambria"/>
                </a:endParaRPr>
              </a:p>
            </p:txBody>
          </p:sp>
        </mc:Choice>
        <mc:Fallback xmlns="">
          <p:sp>
            <p:nvSpPr>
              <p:cNvPr id="12" name="object 5">
                <a:extLst>
                  <a:ext uri="{FF2B5EF4-FFF2-40B4-BE49-F238E27FC236}">
                    <a16:creationId xmlns:a16="http://schemas.microsoft.com/office/drawing/2014/main" id="{B0CD2F35-1E1F-8692-C3A2-E9EFFB3083DE}"/>
                  </a:ext>
                </a:extLst>
              </p:cNvPr>
              <p:cNvSpPr txBox="1">
                <a:spLocks noRot="1" noChangeAspect="1" noMove="1" noResize="1" noEditPoints="1" noAdjustHandles="1" noChangeArrowheads="1" noChangeShapeType="1" noTextEdit="1"/>
              </p:cNvSpPr>
              <p:nvPr/>
            </p:nvSpPr>
            <p:spPr>
              <a:xfrm>
                <a:off x="1371600" y="4299879"/>
                <a:ext cx="1790700" cy="854015"/>
              </a:xfrm>
              <a:prstGeom prst="rect">
                <a:avLst/>
              </a:prstGeom>
              <a:blipFill>
                <a:blip r:embed="rId5"/>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AE0A3225-5FEE-AC56-BF62-70771AECCE03}"/>
              </a:ext>
            </a:extLst>
          </p:cNvPr>
          <p:cNvSpPr txBox="1"/>
          <p:nvPr/>
        </p:nvSpPr>
        <p:spPr>
          <a:xfrm>
            <a:off x="1351503" y="4542220"/>
            <a:ext cx="312906" cy="369332"/>
          </a:xfrm>
          <a:prstGeom prst="rect">
            <a:avLst/>
          </a:prstGeom>
          <a:noFill/>
        </p:spPr>
        <p:txBody>
          <a:bodyPr wrap="none" rtlCol="0">
            <a:spAutoFit/>
          </a:bodyPr>
          <a:lstStyle/>
          <a:p>
            <a:r>
              <a:rPr lang="en-US" dirty="0">
                <a:sym typeface="Wingdings 2" panose="05020102010507070707" pitchFamily="18" charset="2"/>
              </a:rPr>
              <a:t></a:t>
            </a:r>
            <a:endParaRPr lang="en-US" dirty="0"/>
          </a:p>
        </p:txBody>
      </p:sp>
      <p:sp>
        <p:nvSpPr>
          <p:cNvPr id="15" name="TextBox 14">
            <a:extLst>
              <a:ext uri="{FF2B5EF4-FFF2-40B4-BE49-F238E27FC236}">
                <a16:creationId xmlns:a16="http://schemas.microsoft.com/office/drawing/2014/main" id="{6B598564-736F-70ED-C0F0-9AA442B9DF51}"/>
              </a:ext>
            </a:extLst>
          </p:cNvPr>
          <p:cNvSpPr txBox="1"/>
          <p:nvPr/>
        </p:nvSpPr>
        <p:spPr>
          <a:xfrm>
            <a:off x="1347886" y="5576341"/>
            <a:ext cx="312906" cy="369332"/>
          </a:xfrm>
          <a:prstGeom prst="rect">
            <a:avLst/>
          </a:prstGeom>
          <a:noFill/>
        </p:spPr>
        <p:txBody>
          <a:bodyPr wrap="none" rtlCol="0">
            <a:spAutoFit/>
          </a:bodyPr>
          <a:lstStyle/>
          <a:p>
            <a:r>
              <a:rPr lang="en-US" dirty="0">
                <a:sym typeface="Wingdings 2" panose="05020102010507070707" pitchFamily="18" charset="2"/>
              </a:rPr>
              <a:t></a:t>
            </a:r>
            <a:endParaRPr lang="en-US" dirty="0"/>
          </a:p>
        </p:txBody>
      </p:sp>
      <p:sp>
        <p:nvSpPr>
          <p:cNvPr id="5" name="Date Placeholder 3">
            <a:extLst>
              <a:ext uri="{FF2B5EF4-FFF2-40B4-BE49-F238E27FC236}">
                <a16:creationId xmlns:a16="http://schemas.microsoft.com/office/drawing/2014/main" id="{1E94C203-B6FC-C7CC-75B1-E879EAC4F8B0}"/>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D9C2A65F-E22A-B10C-737B-9D3A70D995D2}"/>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48A94F47-79B3-F26D-303A-AB5EA85BB19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
        <p:nvSpPr>
          <p:cNvPr id="8" name="Date Placeholder 3">
            <a:extLst>
              <a:ext uri="{FF2B5EF4-FFF2-40B4-BE49-F238E27FC236}">
                <a16:creationId xmlns:a16="http://schemas.microsoft.com/office/drawing/2014/main" id="{31CA6502-BFDE-D203-402D-052A5696D719}"/>
              </a:ext>
            </a:extLst>
          </p:cNvPr>
          <p:cNvSpPr txBox="1">
            <a:spLocks/>
          </p:cNvSpPr>
          <p:nvPr/>
        </p:nvSpPr>
        <p:spPr>
          <a:xfrm>
            <a:off x="183449" y="67491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E0A913C6-3A7E-0CE5-A747-27E00C023B2A}"/>
              </a:ext>
            </a:extLst>
          </p:cNvPr>
          <p:cNvSpPr txBox="1">
            <a:spLocks/>
          </p:cNvSpPr>
          <p:nvPr/>
        </p:nvSpPr>
        <p:spPr>
          <a:xfrm>
            <a:off x="3251453" y="67491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595F8FFC-0310-88CB-B366-C2B4E1C45B67}"/>
              </a:ext>
            </a:extLst>
          </p:cNvPr>
          <p:cNvSpPr txBox="1">
            <a:spLocks/>
          </p:cNvSpPr>
          <p:nvPr/>
        </p:nvSpPr>
        <p:spPr>
          <a:xfrm>
            <a:off x="6271173" y="67455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30275"/>
            <a:ext cx="9144000" cy="5927725"/>
            <a:chOff x="0" y="930275"/>
            <a:chExt cx="9144000" cy="5927725"/>
          </a:xfrm>
        </p:grpSpPr>
        <p:pic>
          <p:nvPicPr>
            <p:cNvPr id="3" name="object 3"/>
            <p:cNvPicPr/>
            <p:nvPr/>
          </p:nvPicPr>
          <p:blipFill>
            <a:blip r:embed="rId3" cstate="print"/>
            <a:stretch>
              <a:fillRect/>
            </a:stretch>
          </p:blipFill>
          <p:spPr>
            <a:xfrm>
              <a:off x="140130" y="1126154"/>
              <a:ext cx="3736466" cy="3513533"/>
            </a:xfrm>
            <a:prstGeom prst="rect">
              <a:avLst/>
            </a:prstGeom>
          </p:spPr>
        </p:pic>
        <p:sp>
          <p:nvSpPr>
            <p:cNvPr id="4" name="object 4"/>
            <p:cNvSpPr/>
            <p:nvPr/>
          </p:nvSpPr>
          <p:spPr>
            <a:xfrm>
              <a:off x="4191000" y="1130299"/>
              <a:ext cx="4920615" cy="2165985"/>
            </a:xfrm>
            <a:custGeom>
              <a:avLst/>
              <a:gdLst/>
              <a:ahLst/>
              <a:cxnLst/>
              <a:rect l="l" t="t" r="r" b="b"/>
              <a:pathLst>
                <a:path w="4920615" h="2165985">
                  <a:moveTo>
                    <a:pt x="4920132" y="0"/>
                  </a:moveTo>
                  <a:lnTo>
                    <a:pt x="1411884" y="0"/>
                  </a:lnTo>
                  <a:lnTo>
                    <a:pt x="574230" y="0"/>
                  </a:lnTo>
                  <a:lnTo>
                    <a:pt x="0" y="0"/>
                  </a:lnTo>
                  <a:lnTo>
                    <a:pt x="0" y="433184"/>
                  </a:lnTo>
                  <a:lnTo>
                    <a:pt x="0" y="866368"/>
                  </a:lnTo>
                  <a:lnTo>
                    <a:pt x="0" y="1299552"/>
                  </a:lnTo>
                  <a:lnTo>
                    <a:pt x="0" y="1732724"/>
                  </a:lnTo>
                  <a:lnTo>
                    <a:pt x="0" y="2165908"/>
                  </a:lnTo>
                  <a:lnTo>
                    <a:pt x="574230" y="2165908"/>
                  </a:lnTo>
                  <a:lnTo>
                    <a:pt x="1411884" y="2165908"/>
                  </a:lnTo>
                  <a:lnTo>
                    <a:pt x="4920132" y="2165908"/>
                  </a:lnTo>
                  <a:lnTo>
                    <a:pt x="4920132" y="1732724"/>
                  </a:lnTo>
                  <a:lnTo>
                    <a:pt x="4920132" y="1299552"/>
                  </a:lnTo>
                  <a:lnTo>
                    <a:pt x="4920132" y="866368"/>
                  </a:lnTo>
                  <a:lnTo>
                    <a:pt x="4920132" y="433184"/>
                  </a:lnTo>
                  <a:lnTo>
                    <a:pt x="4920132" y="0"/>
                  </a:lnTo>
                  <a:close/>
                </a:path>
              </a:pathLst>
            </a:custGeom>
            <a:solidFill>
              <a:srgbClr val="FFFFFF"/>
            </a:solidFill>
          </p:spPr>
          <p:txBody>
            <a:bodyPr wrap="square" lIns="0" tIns="0" rIns="0" bIns="0" rtlCol="0"/>
            <a:lstStyle/>
            <a:p>
              <a:endParaRPr/>
            </a:p>
          </p:txBody>
        </p:sp>
      </p:grpSp>
      <p:sp>
        <p:nvSpPr>
          <p:cNvPr id="5" name="object 5"/>
          <p:cNvSpPr txBox="1">
            <a:spLocks noGrp="1"/>
          </p:cNvSpPr>
          <p:nvPr>
            <p:ph type="title"/>
          </p:nvPr>
        </p:nvSpPr>
        <p:spPr>
          <a:xfrm>
            <a:off x="97139" y="421537"/>
            <a:ext cx="3817620" cy="421640"/>
          </a:xfrm>
          <a:prstGeom prst="rect">
            <a:avLst/>
          </a:prstGeom>
        </p:spPr>
        <p:txBody>
          <a:bodyPr vert="horz" wrap="square" lIns="0" tIns="12700" rIns="0" bIns="0" rtlCol="0">
            <a:spAutoFit/>
          </a:bodyPr>
          <a:lstStyle/>
          <a:p>
            <a:pPr marL="12700">
              <a:lnSpc>
                <a:spcPct val="100000"/>
              </a:lnSpc>
              <a:spcBef>
                <a:spcPts val="100"/>
              </a:spcBef>
            </a:pPr>
            <a:r>
              <a:rPr dirty="0"/>
              <a:t>Sarsa(</a:t>
            </a:r>
            <a:r>
              <a:rPr i="1" dirty="0">
                <a:latin typeface="Arial"/>
                <a:cs typeface="Arial"/>
              </a:rPr>
              <a:t>λ</a:t>
            </a:r>
            <a:r>
              <a:rPr dirty="0"/>
              <a:t>)</a:t>
            </a:r>
            <a:r>
              <a:rPr spc="-120" dirty="0"/>
              <a:t> </a:t>
            </a:r>
            <a:r>
              <a:rPr dirty="0"/>
              <a:t>and</a:t>
            </a:r>
            <a:r>
              <a:rPr spc="-120" dirty="0"/>
              <a:t> </a:t>
            </a:r>
            <a:r>
              <a:rPr spc="-20" dirty="0"/>
              <a:t>n-</a:t>
            </a:r>
            <a:r>
              <a:rPr dirty="0"/>
              <a:t>step</a:t>
            </a:r>
            <a:r>
              <a:rPr spc="-120" dirty="0"/>
              <a:t> </a:t>
            </a:r>
            <a:r>
              <a:rPr spc="-10" dirty="0"/>
              <a:t>Sarsa</a:t>
            </a:r>
          </a:p>
        </p:txBody>
      </p:sp>
      <p:sp>
        <p:nvSpPr>
          <p:cNvPr id="6" name="object 6"/>
          <p:cNvSpPr txBox="1"/>
          <p:nvPr/>
        </p:nvSpPr>
        <p:spPr>
          <a:xfrm>
            <a:off x="4241800" y="1625203"/>
            <a:ext cx="417830" cy="299720"/>
          </a:xfrm>
          <a:prstGeom prst="rect">
            <a:avLst/>
          </a:prstGeom>
        </p:spPr>
        <p:txBody>
          <a:bodyPr vert="horz" wrap="square" lIns="0" tIns="12700" rIns="0" bIns="0" rtlCol="0">
            <a:spAutoFit/>
          </a:bodyPr>
          <a:lstStyle/>
          <a:p>
            <a:pPr>
              <a:lnSpc>
                <a:spcPct val="100000"/>
              </a:lnSpc>
              <a:spcBef>
                <a:spcPts val="100"/>
              </a:spcBef>
            </a:pPr>
            <a:r>
              <a:rPr sz="1800" spc="-25" dirty="0">
                <a:latin typeface="Arial"/>
                <a:cs typeface="Arial"/>
              </a:rPr>
              <a:t>n=2</a:t>
            </a:r>
            <a:endParaRPr sz="1800">
              <a:latin typeface="Arial"/>
              <a:cs typeface="Arial"/>
            </a:endParaRPr>
          </a:p>
        </p:txBody>
      </p:sp>
      <p:sp>
        <p:nvSpPr>
          <p:cNvPr id="7" name="object 7"/>
          <p:cNvSpPr txBox="1"/>
          <p:nvPr/>
        </p:nvSpPr>
        <p:spPr>
          <a:xfrm>
            <a:off x="4363820" y="2058384"/>
            <a:ext cx="241300" cy="299720"/>
          </a:xfrm>
          <a:prstGeom prst="rect">
            <a:avLst/>
          </a:prstGeom>
        </p:spPr>
        <p:txBody>
          <a:bodyPr vert="horz" wrap="square" lIns="0" tIns="12700" rIns="0" bIns="0" rtlCol="0">
            <a:spAutoFit/>
          </a:bodyPr>
          <a:lstStyle/>
          <a:p>
            <a:pPr>
              <a:lnSpc>
                <a:spcPct val="100000"/>
              </a:lnSpc>
              <a:spcBef>
                <a:spcPts val="100"/>
              </a:spcBef>
            </a:pPr>
            <a:r>
              <a:rPr sz="1800" dirty="0">
                <a:latin typeface="Arial"/>
                <a:cs typeface="Arial"/>
              </a:rPr>
              <a:t>…</a:t>
            </a:r>
            <a:endParaRPr sz="1800">
              <a:latin typeface="Arial"/>
              <a:cs typeface="Arial"/>
            </a:endParaRPr>
          </a:p>
        </p:txBody>
      </p:sp>
      <p:sp>
        <p:nvSpPr>
          <p:cNvPr id="8" name="object 8"/>
          <p:cNvSpPr txBox="1"/>
          <p:nvPr/>
        </p:nvSpPr>
        <p:spPr>
          <a:xfrm>
            <a:off x="4241800" y="1179323"/>
            <a:ext cx="1489710" cy="314960"/>
          </a:xfrm>
          <a:prstGeom prst="rect">
            <a:avLst/>
          </a:prstGeom>
        </p:spPr>
        <p:txBody>
          <a:bodyPr vert="horz" wrap="square" lIns="0" tIns="12700" rIns="0" bIns="0" rtlCol="0">
            <a:spAutoFit/>
          </a:bodyPr>
          <a:lstStyle/>
          <a:p>
            <a:pPr>
              <a:lnSpc>
                <a:spcPct val="100000"/>
              </a:lnSpc>
              <a:spcBef>
                <a:spcPts val="100"/>
              </a:spcBef>
              <a:tabLst>
                <a:tab pos="649605" algn="l"/>
              </a:tabLst>
            </a:pPr>
            <a:r>
              <a:rPr sz="1800" spc="-25" dirty="0">
                <a:latin typeface="Arial"/>
                <a:cs typeface="Arial"/>
              </a:rPr>
              <a:t>n=1</a:t>
            </a:r>
            <a:r>
              <a:rPr sz="1800" dirty="0">
                <a:latin typeface="Arial"/>
                <a:cs typeface="Arial"/>
              </a:rPr>
              <a:t>	Sarsa</a:t>
            </a:r>
            <a:r>
              <a:rPr sz="1800" spc="310" dirty="0">
                <a:latin typeface="Arial"/>
                <a:cs typeface="Arial"/>
              </a:rPr>
              <a:t> </a:t>
            </a:r>
            <a:r>
              <a:rPr sz="2850" i="1" spc="-75" baseline="1461" dirty="0">
                <a:latin typeface="Times New Roman"/>
                <a:cs typeface="Times New Roman"/>
              </a:rPr>
              <a:t>q</a:t>
            </a:r>
            <a:endParaRPr sz="2850" baseline="1461">
              <a:latin typeface="Times New Roman"/>
              <a:cs typeface="Times New Roman"/>
            </a:endParaRPr>
          </a:p>
        </p:txBody>
      </p:sp>
      <p:sp>
        <p:nvSpPr>
          <p:cNvPr id="9" name="object 9"/>
          <p:cNvSpPr txBox="1"/>
          <p:nvPr/>
        </p:nvSpPr>
        <p:spPr>
          <a:xfrm>
            <a:off x="5731354" y="1152225"/>
            <a:ext cx="212725" cy="231140"/>
          </a:xfrm>
          <a:prstGeom prst="rect">
            <a:avLst/>
          </a:prstGeom>
        </p:spPr>
        <p:txBody>
          <a:bodyPr vert="horz" wrap="square" lIns="0" tIns="12700" rIns="0" bIns="0" rtlCol="0">
            <a:spAutoFit/>
          </a:bodyPr>
          <a:lstStyle/>
          <a:p>
            <a:pPr>
              <a:lnSpc>
                <a:spcPct val="100000"/>
              </a:lnSpc>
              <a:spcBef>
                <a:spcPts val="100"/>
              </a:spcBef>
            </a:pPr>
            <a:r>
              <a:rPr sz="1350" spc="-60" dirty="0">
                <a:latin typeface="Cambria"/>
                <a:cs typeface="Cambria"/>
              </a:rPr>
              <a:t>(1)</a:t>
            </a:r>
            <a:endParaRPr sz="1350">
              <a:latin typeface="Cambria"/>
              <a:cs typeface="Cambria"/>
            </a:endParaRPr>
          </a:p>
        </p:txBody>
      </p:sp>
      <p:sp>
        <p:nvSpPr>
          <p:cNvPr id="10" name="object 10"/>
          <p:cNvSpPr txBox="1"/>
          <p:nvPr/>
        </p:nvSpPr>
        <p:spPr>
          <a:xfrm>
            <a:off x="5707231" y="1323869"/>
            <a:ext cx="60325" cy="231140"/>
          </a:xfrm>
          <a:prstGeom prst="rect">
            <a:avLst/>
          </a:prstGeom>
        </p:spPr>
        <p:txBody>
          <a:bodyPr vert="horz" wrap="square" lIns="0" tIns="12700" rIns="0" bIns="0" rtlCol="0">
            <a:spAutoFit/>
          </a:bodyPr>
          <a:lstStyle/>
          <a:p>
            <a:pPr>
              <a:lnSpc>
                <a:spcPct val="100000"/>
              </a:lnSpc>
              <a:spcBef>
                <a:spcPts val="100"/>
              </a:spcBef>
            </a:pPr>
            <a:r>
              <a:rPr sz="1350" i="1" dirty="0">
                <a:latin typeface="Times New Roman"/>
                <a:cs typeface="Times New Roman"/>
              </a:rPr>
              <a:t>t</a:t>
            </a:r>
            <a:endParaRPr sz="1350">
              <a:latin typeface="Times New Roman"/>
              <a:cs typeface="Times New Roman"/>
            </a:endParaRPr>
          </a:p>
        </p:txBody>
      </p:sp>
      <p:sp>
        <p:nvSpPr>
          <p:cNvPr id="11" name="object 11"/>
          <p:cNvSpPr txBox="1"/>
          <p:nvPr/>
        </p:nvSpPr>
        <p:spPr>
          <a:xfrm>
            <a:off x="5998144" y="1175310"/>
            <a:ext cx="393065" cy="314960"/>
          </a:xfrm>
          <a:prstGeom prst="rect">
            <a:avLst/>
          </a:prstGeom>
        </p:spPr>
        <p:txBody>
          <a:bodyPr vert="horz" wrap="square" lIns="0" tIns="12700" rIns="0" bIns="0" rtlCol="0">
            <a:spAutoFit/>
          </a:bodyPr>
          <a:lstStyle/>
          <a:p>
            <a:pPr>
              <a:lnSpc>
                <a:spcPct val="100000"/>
              </a:lnSpc>
              <a:spcBef>
                <a:spcPts val="100"/>
              </a:spcBef>
            </a:pPr>
            <a:r>
              <a:rPr sz="1900" spc="240" dirty="0">
                <a:latin typeface="Cambria"/>
                <a:cs typeface="Cambria"/>
              </a:rPr>
              <a:t>=</a:t>
            </a:r>
            <a:r>
              <a:rPr sz="1900" spc="105" dirty="0">
                <a:latin typeface="Cambria"/>
                <a:cs typeface="Cambria"/>
              </a:rPr>
              <a:t> </a:t>
            </a:r>
            <a:r>
              <a:rPr sz="1900" i="1" spc="-50" dirty="0">
                <a:latin typeface="Times New Roman"/>
                <a:cs typeface="Times New Roman"/>
              </a:rPr>
              <a:t>R</a:t>
            </a:r>
            <a:endParaRPr sz="1900">
              <a:latin typeface="Times New Roman"/>
              <a:cs typeface="Times New Roman"/>
            </a:endParaRPr>
          </a:p>
        </p:txBody>
      </p:sp>
      <p:sp>
        <p:nvSpPr>
          <p:cNvPr id="12" name="object 12"/>
          <p:cNvSpPr txBox="1"/>
          <p:nvPr/>
        </p:nvSpPr>
        <p:spPr>
          <a:xfrm>
            <a:off x="6370144" y="1305612"/>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+1</a:t>
            </a:r>
            <a:endParaRPr sz="1350">
              <a:latin typeface="Cambria"/>
              <a:cs typeface="Cambria"/>
            </a:endParaRPr>
          </a:p>
        </p:txBody>
      </p:sp>
      <p:sp>
        <p:nvSpPr>
          <p:cNvPr id="13" name="object 13"/>
          <p:cNvSpPr txBox="1"/>
          <p:nvPr/>
        </p:nvSpPr>
        <p:spPr>
          <a:xfrm>
            <a:off x="7372798" y="1305612"/>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+1</a:t>
            </a:r>
            <a:endParaRPr sz="1350">
              <a:latin typeface="Cambria"/>
              <a:cs typeface="Cambria"/>
            </a:endParaRPr>
          </a:p>
        </p:txBody>
      </p:sp>
      <mc:AlternateContent xmlns:mc="http://schemas.openxmlformats.org/markup-compatibility/2006" xmlns:a14="http://schemas.microsoft.com/office/drawing/2010/main">
        <mc:Choice Requires="a14">
          <p:sp>
            <p:nvSpPr>
              <p:cNvPr id="14" name="object 14"/>
              <p:cNvSpPr txBox="1"/>
              <p:nvPr/>
            </p:nvSpPr>
            <p:spPr>
              <a:xfrm>
                <a:off x="6674412" y="1175310"/>
                <a:ext cx="1042669" cy="314960"/>
              </a:xfrm>
              <a:prstGeom prst="rect">
                <a:avLst/>
              </a:prstGeom>
            </p:spPr>
            <p:txBody>
              <a:bodyPr vert="horz" wrap="square" lIns="0" tIns="12700" rIns="0" bIns="0" rtlCol="0">
                <a:spAutoFit/>
              </a:bodyPr>
              <a:lstStyle/>
              <a:p>
                <a:pPr>
                  <a:lnSpc>
                    <a:spcPct val="100000"/>
                  </a:lnSpc>
                  <a:spcBef>
                    <a:spcPts val="100"/>
                  </a:spcBef>
                  <a:tabLst>
                    <a:tab pos="948690" algn="l"/>
                  </a:tabLst>
                </a:pPr>
                <a:r>
                  <a:rPr sz="1900" spc="240" dirty="0">
                    <a:latin typeface="Cambria"/>
                    <a:cs typeface="Cambria"/>
                  </a:rPr>
                  <a:t>+</a:t>
                </a:r>
                <a:r>
                  <a:rPr sz="1900" dirty="0">
                    <a:latin typeface="Cambria"/>
                    <a:cs typeface="Cambria"/>
                  </a:rPr>
                  <a:t> </a:t>
                </a:r>
                <a14:m>
                  <m:oMath xmlns:m="http://schemas.openxmlformats.org/officeDocument/2006/math">
                    <m:r>
                      <a:rPr lang="en-US" sz="1900" i="1" spc="-20" dirty="0" smtClean="0">
                        <a:latin typeface="Cambria Math" panose="02040503050406030204" pitchFamily="18" charset="0"/>
                        <a:cs typeface="Arial"/>
                      </a:rPr>
                      <m:t>𝛾</m:t>
                    </m:r>
                  </m:oMath>
                </a14:m>
                <a:r>
                  <a:rPr sz="1900" i="1" spc="-20" dirty="0">
                    <a:latin typeface="Times New Roman"/>
                    <a:cs typeface="Times New Roman"/>
                  </a:rPr>
                  <a:t>Q</a:t>
                </a:r>
                <a:r>
                  <a:rPr sz="1900" spc="-20" dirty="0">
                    <a:latin typeface="Cambria"/>
                    <a:cs typeface="Cambria"/>
                  </a:rPr>
                  <a:t>(</a:t>
                </a:r>
                <a:r>
                  <a:rPr sz="1900" i="1" spc="-20" dirty="0">
                    <a:latin typeface="Times New Roman"/>
                    <a:cs typeface="Times New Roman"/>
                  </a:rPr>
                  <a:t>S</a:t>
                </a:r>
                <a:r>
                  <a:rPr sz="1900" i="1" dirty="0">
                    <a:latin typeface="Times New Roman"/>
                    <a:cs typeface="Times New Roman"/>
                  </a:rPr>
                  <a:t>	</a:t>
                </a:r>
                <a:r>
                  <a:rPr sz="1900" spc="-50" dirty="0">
                    <a:latin typeface="Cambria"/>
                    <a:cs typeface="Cambria"/>
                  </a:rPr>
                  <a:t>)</a:t>
                </a:r>
                <a:endParaRPr sz="1900" dirty="0">
                  <a:latin typeface="Cambria"/>
                  <a:cs typeface="Cambria"/>
                </a:endParaRPr>
              </a:p>
            </p:txBody>
          </p:sp>
        </mc:Choice>
        <mc:Fallback xmlns="">
          <p:sp>
            <p:nvSpPr>
              <p:cNvPr id="14" name="object 14"/>
              <p:cNvSpPr txBox="1">
                <a:spLocks noRot="1" noChangeAspect="1" noMove="1" noResize="1" noEditPoints="1" noAdjustHandles="1" noChangeArrowheads="1" noChangeShapeType="1" noTextEdit="1"/>
              </p:cNvSpPr>
              <p:nvPr/>
            </p:nvSpPr>
            <p:spPr>
              <a:xfrm>
                <a:off x="6674412" y="1175310"/>
                <a:ext cx="1042669" cy="314960"/>
              </a:xfrm>
              <a:prstGeom prst="rect">
                <a:avLst/>
              </a:prstGeom>
              <a:blipFill>
                <a:blip r:embed="rId4"/>
                <a:stretch>
                  <a:fillRect l="-14620" t="-23529" r="-13450" b="-45098"/>
                </a:stretch>
              </a:blipFill>
            </p:spPr>
            <p:txBody>
              <a:bodyPr/>
              <a:lstStyle/>
              <a:p>
                <a:r>
                  <a:rPr lang="en-US">
                    <a:noFill/>
                  </a:rPr>
                  <a:t> </a:t>
                </a:r>
              </a:p>
            </p:txBody>
          </p:sp>
        </mc:Fallback>
      </mc:AlternateContent>
      <p:sp>
        <p:nvSpPr>
          <p:cNvPr id="15" name="object 15"/>
          <p:cNvSpPr txBox="1"/>
          <p:nvPr/>
        </p:nvSpPr>
        <p:spPr>
          <a:xfrm>
            <a:off x="5601327" y="1632869"/>
            <a:ext cx="133350" cy="314960"/>
          </a:xfrm>
          <a:prstGeom prst="rect">
            <a:avLst/>
          </a:prstGeom>
        </p:spPr>
        <p:txBody>
          <a:bodyPr vert="horz" wrap="square" lIns="0" tIns="12700" rIns="0" bIns="0" rtlCol="0">
            <a:spAutoFit/>
          </a:bodyPr>
          <a:lstStyle/>
          <a:p>
            <a:pPr>
              <a:lnSpc>
                <a:spcPct val="100000"/>
              </a:lnSpc>
              <a:spcBef>
                <a:spcPts val="100"/>
              </a:spcBef>
            </a:pPr>
            <a:r>
              <a:rPr sz="1900" i="1" dirty="0">
                <a:latin typeface="Times New Roman"/>
                <a:cs typeface="Times New Roman"/>
              </a:rPr>
              <a:t>q</a:t>
            </a:r>
            <a:endParaRPr sz="1900">
              <a:latin typeface="Times New Roman"/>
              <a:cs typeface="Times New Roman"/>
            </a:endParaRPr>
          </a:p>
        </p:txBody>
      </p:sp>
      <p:sp>
        <p:nvSpPr>
          <p:cNvPr id="16" name="object 16"/>
          <p:cNvSpPr txBox="1"/>
          <p:nvPr/>
        </p:nvSpPr>
        <p:spPr>
          <a:xfrm>
            <a:off x="5735056" y="1609783"/>
            <a:ext cx="212725" cy="231140"/>
          </a:xfrm>
          <a:prstGeom prst="rect">
            <a:avLst/>
          </a:prstGeom>
        </p:spPr>
        <p:txBody>
          <a:bodyPr vert="horz" wrap="square" lIns="0" tIns="12700" rIns="0" bIns="0" rtlCol="0">
            <a:spAutoFit/>
          </a:bodyPr>
          <a:lstStyle/>
          <a:p>
            <a:pPr>
              <a:lnSpc>
                <a:spcPct val="100000"/>
              </a:lnSpc>
              <a:spcBef>
                <a:spcPts val="100"/>
              </a:spcBef>
            </a:pPr>
            <a:r>
              <a:rPr sz="1350" spc="-60" dirty="0">
                <a:latin typeface="Cambria"/>
                <a:cs typeface="Cambria"/>
              </a:rPr>
              <a:t>(2)</a:t>
            </a:r>
            <a:endParaRPr sz="1350">
              <a:latin typeface="Cambria"/>
              <a:cs typeface="Cambria"/>
            </a:endParaRPr>
          </a:p>
        </p:txBody>
      </p:sp>
      <p:sp>
        <p:nvSpPr>
          <p:cNvPr id="17" name="object 17"/>
          <p:cNvSpPr txBox="1"/>
          <p:nvPr/>
        </p:nvSpPr>
        <p:spPr>
          <a:xfrm>
            <a:off x="5710933" y="1781428"/>
            <a:ext cx="60325" cy="231140"/>
          </a:xfrm>
          <a:prstGeom prst="rect">
            <a:avLst/>
          </a:prstGeom>
        </p:spPr>
        <p:txBody>
          <a:bodyPr vert="horz" wrap="square" lIns="0" tIns="12700" rIns="0" bIns="0" rtlCol="0">
            <a:spAutoFit/>
          </a:bodyPr>
          <a:lstStyle/>
          <a:p>
            <a:pPr>
              <a:lnSpc>
                <a:spcPct val="100000"/>
              </a:lnSpc>
              <a:spcBef>
                <a:spcPts val="100"/>
              </a:spcBef>
            </a:pPr>
            <a:r>
              <a:rPr sz="1350" i="1" dirty="0">
                <a:latin typeface="Times New Roman"/>
                <a:cs typeface="Times New Roman"/>
              </a:rPr>
              <a:t>t</a:t>
            </a:r>
            <a:endParaRPr sz="1350">
              <a:latin typeface="Times New Roman"/>
              <a:cs typeface="Times New Roman"/>
            </a:endParaRPr>
          </a:p>
        </p:txBody>
      </p:sp>
      <p:sp>
        <p:nvSpPr>
          <p:cNvPr id="18" name="object 18"/>
          <p:cNvSpPr txBox="1"/>
          <p:nvPr/>
        </p:nvSpPr>
        <p:spPr>
          <a:xfrm>
            <a:off x="6001846" y="1632869"/>
            <a:ext cx="393065" cy="314960"/>
          </a:xfrm>
          <a:prstGeom prst="rect">
            <a:avLst/>
          </a:prstGeom>
        </p:spPr>
        <p:txBody>
          <a:bodyPr vert="horz" wrap="square" lIns="0" tIns="12700" rIns="0" bIns="0" rtlCol="0">
            <a:spAutoFit/>
          </a:bodyPr>
          <a:lstStyle/>
          <a:p>
            <a:pPr>
              <a:lnSpc>
                <a:spcPct val="100000"/>
              </a:lnSpc>
              <a:spcBef>
                <a:spcPts val="100"/>
              </a:spcBef>
            </a:pPr>
            <a:r>
              <a:rPr sz="1900" spc="240" dirty="0">
                <a:latin typeface="Cambria"/>
                <a:cs typeface="Cambria"/>
              </a:rPr>
              <a:t>=</a:t>
            </a:r>
            <a:r>
              <a:rPr sz="1900" spc="105" dirty="0">
                <a:latin typeface="Cambria"/>
                <a:cs typeface="Cambria"/>
              </a:rPr>
              <a:t> </a:t>
            </a:r>
            <a:r>
              <a:rPr sz="1900" i="1" spc="-50" dirty="0">
                <a:latin typeface="Times New Roman"/>
                <a:cs typeface="Times New Roman"/>
              </a:rPr>
              <a:t>R</a:t>
            </a:r>
            <a:endParaRPr sz="1900">
              <a:latin typeface="Times New Roman"/>
              <a:cs typeface="Times New Roman"/>
            </a:endParaRPr>
          </a:p>
        </p:txBody>
      </p:sp>
      <p:sp>
        <p:nvSpPr>
          <p:cNvPr id="19" name="object 19"/>
          <p:cNvSpPr txBox="1"/>
          <p:nvPr/>
        </p:nvSpPr>
        <p:spPr>
          <a:xfrm>
            <a:off x="6373846" y="1763171"/>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+1</a:t>
            </a:r>
            <a:endParaRPr sz="1350">
              <a:latin typeface="Cambria"/>
              <a:cs typeface="Cambria"/>
            </a:endParaRPr>
          </a:p>
        </p:txBody>
      </p:sp>
      <mc:AlternateContent xmlns:mc="http://schemas.openxmlformats.org/markup-compatibility/2006" xmlns:a14="http://schemas.microsoft.com/office/drawing/2010/main">
        <mc:Choice Requires="a14">
          <p:sp>
            <p:nvSpPr>
              <p:cNvPr id="20" name="object 20"/>
              <p:cNvSpPr txBox="1"/>
              <p:nvPr/>
            </p:nvSpPr>
            <p:spPr>
              <a:xfrm>
                <a:off x="6675723" y="1632869"/>
                <a:ext cx="482937" cy="597599"/>
              </a:xfrm>
              <a:prstGeom prst="rect">
                <a:avLst/>
              </a:prstGeom>
            </p:spPr>
            <p:txBody>
              <a:bodyPr vert="horz" wrap="square" lIns="0" tIns="12700" rIns="0" bIns="0" rtlCol="0">
                <a:spAutoFit/>
              </a:bodyPr>
              <a:lstStyle/>
              <a:p>
                <a:pPr>
                  <a:lnSpc>
                    <a:spcPct val="100000"/>
                  </a:lnSpc>
                  <a:spcBef>
                    <a:spcPts val="100"/>
                  </a:spcBef>
                </a:pPr>
                <a:r>
                  <a:rPr sz="1900" spc="240" dirty="0">
                    <a:latin typeface="Cambria"/>
                    <a:cs typeface="Cambria"/>
                  </a:rPr>
                  <a:t>+</a:t>
                </a:r>
                <a:r>
                  <a:rPr sz="1900" dirty="0">
                    <a:latin typeface="Cambria"/>
                    <a:cs typeface="Cambria"/>
                  </a:rPr>
                  <a:t> </a:t>
                </a:r>
                <a14:m>
                  <m:oMath xmlns:m="http://schemas.openxmlformats.org/officeDocument/2006/math">
                    <m:r>
                      <a:rPr lang="en-US" sz="1900" i="1" spc="-60" dirty="0" smtClean="0">
                        <a:latin typeface="Cambria Math" panose="02040503050406030204" pitchFamily="18" charset="0"/>
                        <a:cs typeface="Arial"/>
                      </a:rPr>
                      <m:t>𝛾</m:t>
                    </m:r>
                  </m:oMath>
                </a14:m>
                <a:r>
                  <a:rPr sz="1900" i="1" spc="-60" dirty="0">
                    <a:latin typeface="Times New Roman"/>
                    <a:cs typeface="Times New Roman"/>
                  </a:rPr>
                  <a:t>R</a:t>
                </a:r>
                <a:endParaRPr sz="1900" dirty="0">
                  <a:latin typeface="Times New Roman"/>
                  <a:cs typeface="Times New Roman"/>
                </a:endParaRPr>
              </a:p>
            </p:txBody>
          </p:sp>
        </mc:Choice>
        <mc:Fallback xmlns="">
          <p:sp>
            <p:nvSpPr>
              <p:cNvPr id="20" name="object 20"/>
              <p:cNvSpPr txBox="1">
                <a:spLocks noRot="1" noChangeAspect="1" noMove="1" noResize="1" noEditPoints="1" noAdjustHandles="1" noChangeArrowheads="1" noChangeShapeType="1" noTextEdit="1"/>
              </p:cNvSpPr>
              <p:nvPr/>
            </p:nvSpPr>
            <p:spPr>
              <a:xfrm>
                <a:off x="6675723" y="1632869"/>
                <a:ext cx="482937" cy="597599"/>
              </a:xfrm>
              <a:prstGeom prst="rect">
                <a:avLst/>
              </a:prstGeom>
              <a:blipFill>
                <a:blip r:embed="rId5"/>
                <a:stretch>
                  <a:fillRect l="-30380" t="-12245" r="-31646"/>
                </a:stretch>
              </a:blipFill>
            </p:spPr>
            <p:txBody>
              <a:bodyPr/>
              <a:lstStyle/>
              <a:p>
                <a:r>
                  <a:rPr lang="en-US">
                    <a:noFill/>
                  </a:rPr>
                  <a:t> </a:t>
                </a:r>
              </a:p>
            </p:txBody>
          </p:sp>
        </mc:Fallback>
      </mc:AlternateContent>
      <p:sp>
        <p:nvSpPr>
          <p:cNvPr id="21" name="object 21"/>
          <p:cNvSpPr txBox="1"/>
          <p:nvPr/>
        </p:nvSpPr>
        <p:spPr>
          <a:xfrm>
            <a:off x="7135641" y="1763171"/>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+2</a:t>
            </a:r>
            <a:endParaRPr sz="1350">
              <a:latin typeface="Cambria"/>
              <a:cs typeface="Cambria"/>
            </a:endParaRPr>
          </a:p>
        </p:txBody>
      </p:sp>
      <p:sp>
        <p:nvSpPr>
          <p:cNvPr id="22" name="object 22"/>
          <p:cNvSpPr txBox="1"/>
          <p:nvPr/>
        </p:nvSpPr>
        <p:spPr>
          <a:xfrm>
            <a:off x="7770303" y="1613565"/>
            <a:ext cx="98425" cy="231140"/>
          </a:xfrm>
          <a:prstGeom prst="rect">
            <a:avLst/>
          </a:prstGeom>
        </p:spPr>
        <p:txBody>
          <a:bodyPr vert="horz" wrap="square" lIns="0" tIns="12700" rIns="0" bIns="0" rtlCol="0">
            <a:spAutoFit/>
          </a:bodyPr>
          <a:lstStyle/>
          <a:p>
            <a:pPr>
              <a:lnSpc>
                <a:spcPct val="100000"/>
              </a:lnSpc>
              <a:spcBef>
                <a:spcPts val="100"/>
              </a:spcBef>
            </a:pPr>
            <a:r>
              <a:rPr sz="1350" spc="-75" dirty="0">
                <a:latin typeface="Cambria"/>
                <a:cs typeface="Cambria"/>
              </a:rPr>
              <a:t>2</a:t>
            </a:r>
            <a:endParaRPr sz="1350">
              <a:latin typeface="Cambria"/>
              <a:cs typeface="Cambria"/>
            </a:endParaRPr>
          </a:p>
        </p:txBody>
      </p:sp>
      <p:sp>
        <p:nvSpPr>
          <p:cNvPr id="23" name="object 23"/>
          <p:cNvSpPr txBox="1"/>
          <p:nvPr/>
        </p:nvSpPr>
        <p:spPr>
          <a:xfrm>
            <a:off x="8226971" y="1763171"/>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+2</a:t>
            </a:r>
            <a:endParaRPr sz="1350">
              <a:latin typeface="Cambria"/>
              <a:cs typeface="Cambria"/>
            </a:endParaRPr>
          </a:p>
        </p:txBody>
      </p:sp>
      <mc:AlternateContent xmlns:mc="http://schemas.openxmlformats.org/markup-compatibility/2006" xmlns:a14="http://schemas.microsoft.com/office/drawing/2010/main">
        <mc:Choice Requires="a14">
          <p:sp>
            <p:nvSpPr>
              <p:cNvPr id="24" name="object 24"/>
              <p:cNvSpPr txBox="1"/>
              <p:nvPr/>
            </p:nvSpPr>
            <p:spPr>
              <a:xfrm>
                <a:off x="7439910" y="1632869"/>
                <a:ext cx="1132205" cy="314960"/>
              </a:xfrm>
              <a:prstGeom prst="rect">
                <a:avLst/>
              </a:prstGeom>
            </p:spPr>
            <p:txBody>
              <a:bodyPr vert="horz" wrap="square" lIns="0" tIns="12700" rIns="0" bIns="0" rtlCol="0">
                <a:spAutoFit/>
              </a:bodyPr>
              <a:lstStyle/>
              <a:p>
                <a:pPr>
                  <a:lnSpc>
                    <a:spcPct val="100000"/>
                  </a:lnSpc>
                  <a:spcBef>
                    <a:spcPts val="100"/>
                  </a:spcBef>
                  <a:tabLst>
                    <a:tab pos="1038860" algn="l"/>
                  </a:tabLst>
                </a:pPr>
                <a:r>
                  <a:rPr sz="1900" spc="240" dirty="0">
                    <a:latin typeface="Cambria"/>
                    <a:cs typeface="Cambria"/>
                  </a:rPr>
                  <a:t>+</a:t>
                </a:r>
                <a:r>
                  <a:rPr sz="1900" spc="-60" dirty="0">
                    <a:latin typeface="Cambria"/>
                    <a:cs typeface="Cambria"/>
                  </a:rPr>
                  <a:t> </a:t>
                </a:r>
                <a14:m>
                  <m:oMath xmlns:m="http://schemas.openxmlformats.org/officeDocument/2006/math">
                    <m:r>
                      <a:rPr lang="en-US" sz="1900" i="1" dirty="0" smtClean="0">
                        <a:latin typeface="Cambria Math" panose="02040503050406030204" pitchFamily="18" charset="0"/>
                        <a:cs typeface="Arial"/>
                      </a:rPr>
                      <m:t>𝛾</m:t>
                    </m:r>
                  </m:oMath>
                </a14:m>
                <a:r>
                  <a:rPr sz="1900" i="1" spc="135" dirty="0">
                    <a:latin typeface="Arial"/>
                    <a:cs typeface="Arial"/>
                  </a:rPr>
                  <a:t> </a:t>
                </a:r>
                <a:r>
                  <a:rPr sz="1900" i="1" spc="-25" dirty="0">
                    <a:latin typeface="Times New Roman"/>
                    <a:cs typeface="Times New Roman"/>
                  </a:rPr>
                  <a:t>Q</a:t>
                </a:r>
                <a:r>
                  <a:rPr sz="1900" spc="-25" dirty="0">
                    <a:latin typeface="Cambria"/>
                    <a:cs typeface="Cambria"/>
                  </a:rPr>
                  <a:t>(</a:t>
                </a:r>
                <a:r>
                  <a:rPr sz="1900" i="1" spc="-25" dirty="0">
                    <a:latin typeface="Times New Roman"/>
                    <a:cs typeface="Times New Roman"/>
                  </a:rPr>
                  <a:t>S</a:t>
                </a:r>
                <a:r>
                  <a:rPr sz="1900" i="1" dirty="0">
                    <a:latin typeface="Times New Roman"/>
                    <a:cs typeface="Times New Roman"/>
                  </a:rPr>
                  <a:t>	</a:t>
                </a:r>
                <a:r>
                  <a:rPr sz="1900" spc="-50" dirty="0">
                    <a:latin typeface="Cambria"/>
                    <a:cs typeface="Cambria"/>
                  </a:rPr>
                  <a:t>)</a:t>
                </a:r>
                <a:endParaRPr sz="1900" dirty="0">
                  <a:latin typeface="Cambria"/>
                  <a:cs typeface="Cambria"/>
                </a:endParaRPr>
              </a:p>
            </p:txBody>
          </p:sp>
        </mc:Choice>
        <mc:Fallback xmlns="">
          <p:sp>
            <p:nvSpPr>
              <p:cNvPr id="24" name="object 24"/>
              <p:cNvSpPr txBox="1">
                <a:spLocks noRot="1" noChangeAspect="1" noMove="1" noResize="1" noEditPoints="1" noAdjustHandles="1" noChangeArrowheads="1" noChangeShapeType="1" noTextEdit="1"/>
              </p:cNvSpPr>
              <p:nvPr/>
            </p:nvSpPr>
            <p:spPr>
              <a:xfrm>
                <a:off x="7439910" y="1632869"/>
                <a:ext cx="1132205" cy="314960"/>
              </a:xfrm>
              <a:prstGeom prst="rect">
                <a:avLst/>
              </a:prstGeom>
              <a:blipFill>
                <a:blip r:embed="rId6"/>
                <a:stretch>
                  <a:fillRect l="-12903" t="-23077" r="-12366" b="-42308"/>
                </a:stretch>
              </a:blipFill>
            </p:spPr>
            <p:txBody>
              <a:bodyPr/>
              <a:lstStyle/>
              <a:p>
                <a:r>
                  <a:rPr lang="en-US">
                    <a:noFill/>
                  </a:rPr>
                  <a:t> </a:t>
                </a:r>
              </a:p>
            </p:txBody>
          </p:sp>
        </mc:Fallback>
      </mc:AlternateContent>
      <p:sp>
        <p:nvSpPr>
          <p:cNvPr id="25" name="object 25"/>
          <p:cNvSpPr txBox="1"/>
          <p:nvPr/>
        </p:nvSpPr>
        <p:spPr>
          <a:xfrm>
            <a:off x="4241800" y="2486342"/>
            <a:ext cx="1495425" cy="314960"/>
          </a:xfrm>
          <a:prstGeom prst="rect">
            <a:avLst/>
          </a:prstGeom>
        </p:spPr>
        <p:txBody>
          <a:bodyPr vert="horz" wrap="square" lIns="0" tIns="12700" rIns="0" bIns="0" rtlCol="0">
            <a:spAutoFit/>
          </a:bodyPr>
          <a:lstStyle/>
          <a:p>
            <a:pPr>
              <a:lnSpc>
                <a:spcPct val="100000"/>
              </a:lnSpc>
              <a:spcBef>
                <a:spcPts val="100"/>
              </a:spcBef>
              <a:tabLst>
                <a:tab pos="763905" algn="l"/>
                <a:tab pos="1361440" algn="l"/>
              </a:tabLst>
            </a:pPr>
            <a:r>
              <a:rPr sz="2700" spc="89" baseline="1543" dirty="0">
                <a:latin typeface="Arial"/>
                <a:cs typeface="Arial"/>
              </a:rPr>
              <a:t>n=</a:t>
            </a:r>
            <a:r>
              <a:rPr sz="2700" spc="-30" baseline="1543" dirty="0">
                <a:latin typeface="Arial"/>
                <a:cs typeface="Arial"/>
              </a:rPr>
              <a:t> </a:t>
            </a:r>
            <a:r>
              <a:rPr sz="2850" spc="112" baseline="1461" dirty="0">
                <a:latin typeface="Cambria"/>
                <a:cs typeface="Cambria"/>
              </a:rPr>
              <a:t>∞</a:t>
            </a:r>
            <a:r>
              <a:rPr sz="2850" baseline="1461" dirty="0">
                <a:latin typeface="Cambria"/>
                <a:cs typeface="Cambria"/>
              </a:rPr>
              <a:t>	</a:t>
            </a:r>
            <a:r>
              <a:rPr sz="2700" spc="-37" baseline="1543" dirty="0">
                <a:latin typeface="Arial"/>
                <a:cs typeface="Arial"/>
              </a:rPr>
              <a:t>MC</a:t>
            </a:r>
            <a:r>
              <a:rPr sz="2700" baseline="1543" dirty="0">
                <a:latin typeface="Arial"/>
                <a:cs typeface="Arial"/>
              </a:rPr>
              <a:t>	</a:t>
            </a:r>
            <a:r>
              <a:rPr sz="1900" i="1" spc="-50" dirty="0">
                <a:latin typeface="Times New Roman"/>
                <a:cs typeface="Times New Roman"/>
              </a:rPr>
              <a:t>q</a:t>
            </a:r>
            <a:endParaRPr sz="1900">
              <a:latin typeface="Times New Roman"/>
              <a:cs typeface="Times New Roman"/>
            </a:endParaRPr>
          </a:p>
        </p:txBody>
      </p:sp>
      <p:sp>
        <p:nvSpPr>
          <p:cNvPr id="26" name="object 26"/>
          <p:cNvSpPr txBox="1"/>
          <p:nvPr/>
        </p:nvSpPr>
        <p:spPr>
          <a:xfrm>
            <a:off x="5737288" y="2463256"/>
            <a:ext cx="285750" cy="231140"/>
          </a:xfrm>
          <a:prstGeom prst="rect">
            <a:avLst/>
          </a:prstGeom>
        </p:spPr>
        <p:txBody>
          <a:bodyPr vert="horz" wrap="square" lIns="0" tIns="12700" rIns="0" bIns="0" rtlCol="0">
            <a:spAutoFit/>
          </a:bodyPr>
          <a:lstStyle/>
          <a:p>
            <a:pPr>
              <a:lnSpc>
                <a:spcPct val="100000"/>
              </a:lnSpc>
              <a:spcBef>
                <a:spcPts val="100"/>
              </a:spcBef>
            </a:pPr>
            <a:r>
              <a:rPr sz="1350" spc="-25" dirty="0">
                <a:latin typeface="Cambria"/>
                <a:cs typeface="Cambria"/>
              </a:rPr>
              <a:t>(∞)</a:t>
            </a:r>
            <a:endParaRPr sz="1350">
              <a:latin typeface="Cambria"/>
              <a:cs typeface="Cambria"/>
            </a:endParaRPr>
          </a:p>
        </p:txBody>
      </p:sp>
      <p:sp>
        <p:nvSpPr>
          <p:cNvPr id="27" name="object 27"/>
          <p:cNvSpPr txBox="1"/>
          <p:nvPr/>
        </p:nvSpPr>
        <p:spPr>
          <a:xfrm>
            <a:off x="5713166" y="2634901"/>
            <a:ext cx="60325" cy="231140"/>
          </a:xfrm>
          <a:prstGeom prst="rect">
            <a:avLst/>
          </a:prstGeom>
        </p:spPr>
        <p:txBody>
          <a:bodyPr vert="horz" wrap="square" lIns="0" tIns="12700" rIns="0" bIns="0" rtlCol="0">
            <a:spAutoFit/>
          </a:bodyPr>
          <a:lstStyle/>
          <a:p>
            <a:pPr>
              <a:lnSpc>
                <a:spcPct val="100000"/>
              </a:lnSpc>
              <a:spcBef>
                <a:spcPts val="100"/>
              </a:spcBef>
            </a:pPr>
            <a:r>
              <a:rPr sz="1350" i="1" dirty="0">
                <a:latin typeface="Times New Roman"/>
                <a:cs typeface="Times New Roman"/>
              </a:rPr>
              <a:t>t</a:t>
            </a:r>
            <a:endParaRPr sz="1350">
              <a:latin typeface="Times New Roman"/>
              <a:cs typeface="Times New Roman"/>
            </a:endParaRPr>
          </a:p>
        </p:txBody>
      </p:sp>
      <p:sp>
        <p:nvSpPr>
          <p:cNvPr id="28" name="object 28"/>
          <p:cNvSpPr txBox="1"/>
          <p:nvPr/>
        </p:nvSpPr>
        <p:spPr>
          <a:xfrm>
            <a:off x="6077063" y="2486342"/>
            <a:ext cx="393065" cy="314960"/>
          </a:xfrm>
          <a:prstGeom prst="rect">
            <a:avLst/>
          </a:prstGeom>
        </p:spPr>
        <p:txBody>
          <a:bodyPr vert="horz" wrap="square" lIns="0" tIns="12700" rIns="0" bIns="0" rtlCol="0">
            <a:spAutoFit/>
          </a:bodyPr>
          <a:lstStyle/>
          <a:p>
            <a:pPr>
              <a:lnSpc>
                <a:spcPct val="100000"/>
              </a:lnSpc>
              <a:spcBef>
                <a:spcPts val="100"/>
              </a:spcBef>
            </a:pPr>
            <a:r>
              <a:rPr sz="1900" spc="240" dirty="0">
                <a:latin typeface="Cambria"/>
                <a:cs typeface="Cambria"/>
              </a:rPr>
              <a:t>=</a:t>
            </a:r>
            <a:r>
              <a:rPr sz="1900" spc="105" dirty="0">
                <a:latin typeface="Cambria"/>
                <a:cs typeface="Cambria"/>
              </a:rPr>
              <a:t> </a:t>
            </a:r>
            <a:r>
              <a:rPr sz="1900" i="1" spc="-50" dirty="0">
                <a:latin typeface="Times New Roman"/>
                <a:cs typeface="Times New Roman"/>
              </a:rPr>
              <a:t>R</a:t>
            </a:r>
            <a:endParaRPr sz="1900">
              <a:latin typeface="Times New Roman"/>
              <a:cs typeface="Times New Roman"/>
            </a:endParaRPr>
          </a:p>
        </p:txBody>
      </p:sp>
      <p:sp>
        <p:nvSpPr>
          <p:cNvPr id="29" name="object 29"/>
          <p:cNvSpPr txBox="1"/>
          <p:nvPr/>
        </p:nvSpPr>
        <p:spPr>
          <a:xfrm>
            <a:off x="6449063" y="2616644"/>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+1</a:t>
            </a:r>
            <a:endParaRPr sz="1350">
              <a:latin typeface="Cambria"/>
              <a:cs typeface="Cambria"/>
            </a:endParaRPr>
          </a:p>
        </p:txBody>
      </p:sp>
      <p:sp>
        <p:nvSpPr>
          <p:cNvPr id="30" name="object 30"/>
          <p:cNvSpPr txBox="1"/>
          <p:nvPr/>
        </p:nvSpPr>
        <p:spPr>
          <a:xfrm>
            <a:off x="7210858" y="2616644"/>
            <a:ext cx="263525"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+2</a:t>
            </a:r>
            <a:endParaRPr sz="1350">
              <a:latin typeface="Cambria"/>
              <a:cs typeface="Cambria"/>
            </a:endParaRPr>
          </a:p>
        </p:txBody>
      </p:sp>
      <p:sp>
        <p:nvSpPr>
          <p:cNvPr id="31" name="object 31"/>
          <p:cNvSpPr txBox="1"/>
          <p:nvPr/>
        </p:nvSpPr>
        <p:spPr>
          <a:xfrm>
            <a:off x="8359354" y="2467038"/>
            <a:ext cx="311150" cy="231140"/>
          </a:xfrm>
          <a:prstGeom prst="rect">
            <a:avLst/>
          </a:prstGeom>
        </p:spPr>
        <p:txBody>
          <a:bodyPr vert="horz" wrap="square" lIns="0" tIns="12700" rIns="0" bIns="0" rtlCol="0">
            <a:spAutoFit/>
          </a:bodyPr>
          <a:lstStyle/>
          <a:p>
            <a:pPr>
              <a:lnSpc>
                <a:spcPct val="100000"/>
              </a:lnSpc>
              <a:spcBef>
                <a:spcPts val="100"/>
              </a:spcBef>
            </a:pPr>
            <a:r>
              <a:rPr sz="1350" i="1" spc="-25" dirty="0">
                <a:latin typeface="Times New Roman"/>
                <a:cs typeface="Times New Roman"/>
              </a:rPr>
              <a:t>T</a:t>
            </a:r>
            <a:r>
              <a:rPr sz="1350" spc="-25" dirty="0">
                <a:latin typeface="Cambria"/>
                <a:cs typeface="Cambria"/>
              </a:rPr>
              <a:t>−1</a:t>
            </a:r>
            <a:endParaRPr sz="1350">
              <a:latin typeface="Cambria"/>
              <a:cs typeface="Cambria"/>
            </a:endParaRPr>
          </a:p>
        </p:txBody>
      </p:sp>
      <mc:AlternateContent xmlns:mc="http://schemas.openxmlformats.org/markup-compatibility/2006" xmlns:a14="http://schemas.microsoft.com/office/drawing/2010/main">
        <mc:Choice Requires="a14">
          <p:sp>
            <p:nvSpPr>
              <p:cNvPr id="32" name="object 32"/>
              <p:cNvSpPr txBox="1"/>
              <p:nvPr/>
            </p:nvSpPr>
            <p:spPr>
              <a:xfrm>
                <a:off x="6753331" y="2486342"/>
                <a:ext cx="2065020" cy="314960"/>
              </a:xfrm>
              <a:prstGeom prst="rect">
                <a:avLst/>
              </a:prstGeom>
            </p:spPr>
            <p:txBody>
              <a:bodyPr vert="horz" wrap="square" lIns="0" tIns="12700" rIns="0" bIns="0" rtlCol="0">
                <a:spAutoFit/>
              </a:bodyPr>
              <a:lstStyle/>
              <a:p>
                <a:pPr>
                  <a:lnSpc>
                    <a:spcPct val="100000"/>
                  </a:lnSpc>
                  <a:spcBef>
                    <a:spcPts val="100"/>
                  </a:spcBef>
                  <a:tabLst>
                    <a:tab pos="761365" algn="l"/>
                    <a:tab pos="1903730" algn="l"/>
                  </a:tabLst>
                </a:pPr>
                <a:r>
                  <a:rPr sz="1900" spc="240" dirty="0">
                    <a:latin typeface="Cambria"/>
                    <a:cs typeface="Cambria"/>
                  </a:rPr>
                  <a:t>+</a:t>
                </a:r>
                <a:r>
                  <a:rPr sz="1900" dirty="0">
                    <a:latin typeface="Cambria"/>
                    <a:cs typeface="Cambria"/>
                  </a:rPr>
                  <a:t> </a:t>
                </a:r>
                <a14:m>
                  <m:oMath xmlns:m="http://schemas.openxmlformats.org/officeDocument/2006/math">
                    <m:r>
                      <a:rPr lang="en-US" sz="1900" i="1" spc="-25" dirty="0" smtClean="0">
                        <a:latin typeface="Cambria Math" panose="02040503050406030204" pitchFamily="18" charset="0"/>
                        <a:cs typeface="Arial"/>
                      </a:rPr>
                      <m:t>𝛾</m:t>
                    </m:r>
                  </m:oMath>
                </a14:m>
                <a:r>
                  <a:rPr sz="1900" i="1" spc="-25" dirty="0">
                    <a:latin typeface="Times New Roman"/>
                    <a:cs typeface="Times New Roman"/>
                  </a:rPr>
                  <a:t>R</a:t>
                </a:r>
                <a:r>
                  <a:rPr sz="1900" i="1" dirty="0">
                    <a:latin typeface="Times New Roman"/>
                    <a:cs typeface="Times New Roman"/>
                  </a:rPr>
                  <a:t>	</a:t>
                </a:r>
                <a:r>
                  <a:rPr sz="1900" spc="240" dirty="0">
                    <a:latin typeface="Cambria"/>
                    <a:cs typeface="Cambria"/>
                  </a:rPr>
                  <a:t>+</a:t>
                </a:r>
                <a:r>
                  <a:rPr sz="1900" dirty="0">
                    <a:latin typeface="Cambria"/>
                    <a:cs typeface="Cambria"/>
                  </a:rPr>
                  <a:t> </a:t>
                </a:r>
                <a:r>
                  <a:rPr sz="1900" spc="455" dirty="0">
                    <a:latin typeface="Cambria"/>
                    <a:cs typeface="Cambria"/>
                  </a:rPr>
                  <a:t>…</a:t>
                </a:r>
                <a:r>
                  <a:rPr sz="1900" dirty="0">
                    <a:latin typeface="Cambria"/>
                    <a:cs typeface="Cambria"/>
                  </a:rPr>
                  <a:t> </a:t>
                </a:r>
                <a:r>
                  <a:rPr sz="1900" spc="240" dirty="0">
                    <a:latin typeface="Cambria"/>
                    <a:cs typeface="Cambria"/>
                  </a:rPr>
                  <a:t>+</a:t>
                </a:r>
                <a:r>
                  <a:rPr sz="1900" spc="5" dirty="0">
                    <a:latin typeface="Cambria"/>
                    <a:cs typeface="Cambria"/>
                  </a:rPr>
                  <a:t> </a:t>
                </a:r>
                <a14:m>
                  <m:oMath xmlns:m="http://schemas.openxmlformats.org/officeDocument/2006/math">
                    <m:r>
                      <a:rPr lang="en-US" sz="1900" i="1" spc="-50" dirty="0" smtClean="0">
                        <a:latin typeface="Cambria Math" panose="02040503050406030204" pitchFamily="18" charset="0"/>
                        <a:cs typeface="Arial"/>
                      </a:rPr>
                      <m:t>𝛾</m:t>
                    </m:r>
                  </m:oMath>
                </a14:m>
                <a:r>
                  <a:rPr sz="1900" i="1" dirty="0">
                    <a:latin typeface="Arial"/>
                    <a:cs typeface="Arial"/>
                  </a:rPr>
                  <a:t>	</a:t>
                </a:r>
                <a:r>
                  <a:rPr sz="1900" i="1" spc="-50" dirty="0">
                    <a:latin typeface="Times New Roman"/>
                    <a:cs typeface="Times New Roman"/>
                  </a:rPr>
                  <a:t>R</a:t>
                </a:r>
                <a:endParaRPr sz="1900" dirty="0">
                  <a:latin typeface="Times New Roman"/>
                  <a:cs typeface="Times New Roman"/>
                </a:endParaRPr>
              </a:p>
            </p:txBody>
          </p:sp>
        </mc:Choice>
        <mc:Fallback xmlns="">
          <p:sp>
            <p:nvSpPr>
              <p:cNvPr id="32" name="object 32"/>
              <p:cNvSpPr txBox="1">
                <a:spLocks noRot="1" noChangeAspect="1" noMove="1" noResize="1" noEditPoints="1" noAdjustHandles="1" noChangeArrowheads="1" noChangeShapeType="1" noTextEdit="1"/>
              </p:cNvSpPr>
              <p:nvPr/>
            </p:nvSpPr>
            <p:spPr>
              <a:xfrm>
                <a:off x="6753331" y="2486342"/>
                <a:ext cx="2065020" cy="314960"/>
              </a:xfrm>
              <a:prstGeom prst="rect">
                <a:avLst/>
              </a:prstGeom>
              <a:blipFill>
                <a:blip r:embed="rId7"/>
                <a:stretch>
                  <a:fillRect l="-7375" t="-23077" r="-5900" b="-42308"/>
                </a:stretch>
              </a:blipFill>
            </p:spPr>
            <p:txBody>
              <a:bodyPr/>
              <a:lstStyle/>
              <a:p>
                <a:r>
                  <a:rPr lang="en-US">
                    <a:noFill/>
                  </a:rPr>
                  <a:t> </a:t>
                </a:r>
              </a:p>
            </p:txBody>
          </p:sp>
        </mc:Fallback>
      </mc:AlternateContent>
      <p:sp>
        <p:nvSpPr>
          <p:cNvPr id="33" name="object 33"/>
          <p:cNvSpPr txBox="1"/>
          <p:nvPr/>
        </p:nvSpPr>
        <p:spPr>
          <a:xfrm>
            <a:off x="8796583" y="2616644"/>
            <a:ext cx="107950" cy="231140"/>
          </a:xfrm>
          <a:prstGeom prst="rect">
            <a:avLst/>
          </a:prstGeom>
        </p:spPr>
        <p:txBody>
          <a:bodyPr vert="horz" wrap="square" lIns="0" tIns="12700" rIns="0" bIns="0" rtlCol="0">
            <a:spAutoFit/>
          </a:bodyPr>
          <a:lstStyle/>
          <a:p>
            <a:pPr>
              <a:lnSpc>
                <a:spcPct val="100000"/>
              </a:lnSpc>
              <a:spcBef>
                <a:spcPts val="100"/>
              </a:spcBef>
            </a:pPr>
            <a:r>
              <a:rPr sz="1350" i="1" spc="-5" dirty="0">
                <a:latin typeface="Times New Roman"/>
                <a:cs typeface="Times New Roman"/>
              </a:rPr>
              <a:t>T</a:t>
            </a:r>
            <a:endParaRPr sz="1350">
              <a:latin typeface="Times New Roman"/>
              <a:cs typeface="Times New Roman"/>
            </a:endParaRPr>
          </a:p>
        </p:txBody>
      </p:sp>
      <p:sp>
        <p:nvSpPr>
          <p:cNvPr id="34" name="object 34"/>
          <p:cNvSpPr txBox="1"/>
          <p:nvPr/>
        </p:nvSpPr>
        <p:spPr>
          <a:xfrm>
            <a:off x="7109151" y="4140127"/>
            <a:ext cx="163195" cy="377825"/>
          </a:xfrm>
          <a:prstGeom prst="rect">
            <a:avLst/>
          </a:prstGeom>
        </p:spPr>
        <p:txBody>
          <a:bodyPr vert="horz" wrap="square" lIns="0" tIns="13970" rIns="0" bIns="0" rtlCol="0">
            <a:spAutoFit/>
          </a:bodyPr>
          <a:lstStyle/>
          <a:p>
            <a:pPr marL="12700">
              <a:lnSpc>
                <a:spcPct val="100000"/>
              </a:lnSpc>
              <a:spcBef>
                <a:spcPts val="110"/>
              </a:spcBef>
            </a:pPr>
            <a:r>
              <a:rPr sz="2300" spc="35" dirty="0">
                <a:latin typeface="Verdana"/>
                <a:cs typeface="Verdana"/>
              </a:rPr>
              <a:t>(</a:t>
            </a:r>
            <a:endParaRPr sz="2300">
              <a:latin typeface="Verdana"/>
              <a:cs typeface="Verdana"/>
            </a:endParaRPr>
          </a:p>
        </p:txBody>
      </p:sp>
      <p:sp>
        <p:nvSpPr>
          <p:cNvPr id="35" name="object 35"/>
          <p:cNvSpPr txBox="1"/>
          <p:nvPr/>
        </p:nvSpPr>
        <p:spPr>
          <a:xfrm>
            <a:off x="4151495" y="4082000"/>
            <a:ext cx="3293110" cy="377825"/>
          </a:xfrm>
          <a:prstGeom prst="rect">
            <a:avLst/>
          </a:prstGeom>
        </p:spPr>
        <p:txBody>
          <a:bodyPr vert="horz" wrap="square" lIns="0" tIns="13970" rIns="0" bIns="0" rtlCol="0">
            <a:spAutoFit/>
          </a:bodyPr>
          <a:lstStyle/>
          <a:p>
            <a:pPr marL="50800">
              <a:lnSpc>
                <a:spcPct val="100000"/>
              </a:lnSpc>
              <a:spcBef>
                <a:spcPts val="110"/>
              </a:spcBef>
              <a:tabLst>
                <a:tab pos="3107690" algn="l"/>
              </a:tabLst>
            </a:pPr>
            <a:r>
              <a:rPr sz="2300" i="1" spc="-10" dirty="0">
                <a:latin typeface="Times New Roman"/>
                <a:cs typeface="Times New Roman"/>
              </a:rPr>
              <a:t>Q</a:t>
            </a:r>
            <a:r>
              <a:rPr sz="2300" spc="-10" dirty="0">
                <a:latin typeface="Cambria"/>
                <a:cs typeface="Cambria"/>
              </a:rPr>
              <a:t>(</a:t>
            </a:r>
            <a:r>
              <a:rPr sz="2300" i="1" spc="-10" dirty="0">
                <a:latin typeface="Times New Roman"/>
                <a:cs typeface="Times New Roman"/>
              </a:rPr>
              <a:t>S</a:t>
            </a:r>
            <a:r>
              <a:rPr sz="2475" i="1" spc="-15" baseline="-20202" dirty="0">
                <a:latin typeface="Times New Roman"/>
                <a:cs typeface="Times New Roman"/>
              </a:rPr>
              <a:t>t</a:t>
            </a:r>
            <a:r>
              <a:rPr sz="2300" spc="-10" dirty="0">
                <a:latin typeface="Cambria"/>
                <a:cs typeface="Cambria"/>
              </a:rPr>
              <a:t>,</a:t>
            </a:r>
            <a:r>
              <a:rPr sz="2300" spc="-90" dirty="0">
                <a:latin typeface="Cambria"/>
                <a:cs typeface="Cambria"/>
              </a:rPr>
              <a:t> </a:t>
            </a:r>
            <a:r>
              <a:rPr sz="2300" i="1" dirty="0">
                <a:latin typeface="Times New Roman"/>
                <a:cs typeface="Times New Roman"/>
              </a:rPr>
              <a:t>A</a:t>
            </a:r>
            <a:r>
              <a:rPr sz="2475" i="1" baseline="-20202" dirty="0">
                <a:latin typeface="Times New Roman"/>
                <a:cs typeface="Times New Roman"/>
              </a:rPr>
              <a:t>t</a:t>
            </a:r>
            <a:r>
              <a:rPr sz="2300" dirty="0">
                <a:latin typeface="Cambria"/>
                <a:cs typeface="Cambria"/>
              </a:rPr>
              <a:t>)</a:t>
            </a:r>
            <a:r>
              <a:rPr sz="2300" spc="65" dirty="0">
                <a:latin typeface="Cambria"/>
                <a:cs typeface="Cambria"/>
              </a:rPr>
              <a:t> </a:t>
            </a:r>
            <a:r>
              <a:rPr sz="2300" spc="210" dirty="0">
                <a:latin typeface="Cambria"/>
                <a:cs typeface="Cambria"/>
              </a:rPr>
              <a:t>←</a:t>
            </a:r>
            <a:r>
              <a:rPr sz="2300" spc="65" dirty="0">
                <a:latin typeface="Cambria"/>
                <a:cs typeface="Cambria"/>
              </a:rPr>
              <a:t> </a:t>
            </a:r>
            <a:r>
              <a:rPr sz="2300" i="1" spc="-10" dirty="0">
                <a:latin typeface="Times New Roman"/>
                <a:cs typeface="Times New Roman"/>
              </a:rPr>
              <a:t>Q</a:t>
            </a:r>
            <a:r>
              <a:rPr sz="2300" spc="-10" dirty="0">
                <a:latin typeface="Cambria"/>
                <a:cs typeface="Cambria"/>
              </a:rPr>
              <a:t>(</a:t>
            </a:r>
            <a:r>
              <a:rPr sz="2300" i="1" spc="-10" dirty="0">
                <a:latin typeface="Times New Roman"/>
                <a:cs typeface="Times New Roman"/>
              </a:rPr>
              <a:t>S</a:t>
            </a:r>
            <a:r>
              <a:rPr sz="2475" i="1" spc="-15" baseline="-20202" dirty="0">
                <a:latin typeface="Times New Roman"/>
                <a:cs typeface="Times New Roman"/>
              </a:rPr>
              <a:t>t</a:t>
            </a:r>
            <a:r>
              <a:rPr sz="2300" spc="-10" dirty="0">
                <a:latin typeface="Cambria"/>
                <a:cs typeface="Cambria"/>
              </a:rPr>
              <a:t>,</a:t>
            </a:r>
            <a:r>
              <a:rPr sz="2300" spc="-85" dirty="0">
                <a:latin typeface="Cambria"/>
                <a:cs typeface="Cambria"/>
              </a:rPr>
              <a:t> </a:t>
            </a:r>
            <a:r>
              <a:rPr sz="2300" i="1" spc="-10" dirty="0">
                <a:latin typeface="Times New Roman"/>
                <a:cs typeface="Times New Roman"/>
              </a:rPr>
              <a:t>A</a:t>
            </a:r>
            <a:r>
              <a:rPr sz="2475" i="1" spc="-15" baseline="-20202" dirty="0">
                <a:latin typeface="Times New Roman"/>
                <a:cs typeface="Times New Roman"/>
              </a:rPr>
              <a:t>t</a:t>
            </a:r>
            <a:r>
              <a:rPr sz="2300" spc="-10" dirty="0">
                <a:latin typeface="Cambria"/>
                <a:cs typeface="Cambria"/>
              </a:rPr>
              <a:t>)</a:t>
            </a:r>
            <a:r>
              <a:rPr sz="2300" spc="-50" dirty="0">
                <a:latin typeface="Cambria"/>
                <a:cs typeface="Cambria"/>
              </a:rPr>
              <a:t> </a:t>
            </a:r>
            <a:r>
              <a:rPr sz="2300" spc="305" dirty="0">
                <a:latin typeface="Cambria"/>
                <a:cs typeface="Cambria"/>
              </a:rPr>
              <a:t>+</a:t>
            </a:r>
            <a:r>
              <a:rPr sz="2300" spc="-50" dirty="0">
                <a:latin typeface="Cambria"/>
                <a:cs typeface="Cambria"/>
              </a:rPr>
              <a:t> </a:t>
            </a:r>
            <a:r>
              <a:rPr sz="2300" i="1" spc="-50" dirty="0">
                <a:latin typeface="Arial"/>
                <a:cs typeface="Arial"/>
              </a:rPr>
              <a:t>α</a:t>
            </a:r>
            <a:r>
              <a:rPr sz="2300" i="1" dirty="0">
                <a:latin typeface="Arial"/>
                <a:cs typeface="Arial"/>
              </a:rPr>
              <a:t>	</a:t>
            </a:r>
            <a:r>
              <a:rPr sz="2300" i="1" spc="-50" dirty="0">
                <a:latin typeface="Times New Roman"/>
                <a:cs typeface="Times New Roman"/>
              </a:rPr>
              <a:t>q</a:t>
            </a:r>
            <a:endParaRPr sz="2300">
              <a:latin typeface="Times New Roman"/>
              <a:cs typeface="Times New Roman"/>
            </a:endParaRPr>
          </a:p>
        </p:txBody>
      </p:sp>
      <p:sp>
        <p:nvSpPr>
          <p:cNvPr id="36" name="object 36"/>
          <p:cNvSpPr txBox="1"/>
          <p:nvPr/>
        </p:nvSpPr>
        <p:spPr>
          <a:xfrm>
            <a:off x="7409240" y="4053914"/>
            <a:ext cx="268605" cy="275590"/>
          </a:xfrm>
          <a:prstGeom prst="rect">
            <a:avLst/>
          </a:prstGeom>
        </p:spPr>
        <p:txBody>
          <a:bodyPr vert="horz" wrap="square" lIns="0" tIns="11430" rIns="0" bIns="0" rtlCol="0">
            <a:spAutoFit/>
          </a:bodyPr>
          <a:lstStyle/>
          <a:p>
            <a:pPr marL="12700">
              <a:lnSpc>
                <a:spcPct val="100000"/>
              </a:lnSpc>
              <a:spcBef>
                <a:spcPts val="90"/>
              </a:spcBef>
            </a:pPr>
            <a:r>
              <a:rPr sz="1650" spc="-50" dirty="0">
                <a:latin typeface="Cambria"/>
                <a:cs typeface="Cambria"/>
              </a:rPr>
              <a:t>(</a:t>
            </a:r>
            <a:r>
              <a:rPr sz="1650" i="1" spc="-50" dirty="0">
                <a:latin typeface="Times New Roman"/>
                <a:cs typeface="Times New Roman"/>
              </a:rPr>
              <a:t>n</a:t>
            </a:r>
            <a:r>
              <a:rPr sz="1650" spc="-50" dirty="0">
                <a:latin typeface="Cambria"/>
                <a:cs typeface="Cambria"/>
              </a:rPr>
              <a:t>)</a:t>
            </a:r>
            <a:endParaRPr sz="1650">
              <a:latin typeface="Cambria"/>
              <a:cs typeface="Cambria"/>
            </a:endParaRPr>
          </a:p>
        </p:txBody>
      </p:sp>
      <p:sp>
        <p:nvSpPr>
          <p:cNvPr id="37" name="object 37"/>
          <p:cNvSpPr txBox="1"/>
          <p:nvPr/>
        </p:nvSpPr>
        <p:spPr>
          <a:xfrm>
            <a:off x="7379891" y="4262740"/>
            <a:ext cx="83820" cy="275590"/>
          </a:xfrm>
          <a:prstGeom prst="rect">
            <a:avLst/>
          </a:prstGeom>
        </p:spPr>
        <p:txBody>
          <a:bodyPr vert="horz" wrap="square" lIns="0" tIns="11430" rIns="0" bIns="0" rtlCol="0">
            <a:spAutoFit/>
          </a:bodyPr>
          <a:lstStyle/>
          <a:p>
            <a:pPr marL="12700">
              <a:lnSpc>
                <a:spcPct val="100000"/>
              </a:lnSpc>
              <a:spcBef>
                <a:spcPts val="90"/>
              </a:spcBef>
            </a:pPr>
            <a:r>
              <a:rPr sz="1650" i="1" spc="-5" dirty="0">
                <a:latin typeface="Times New Roman"/>
                <a:cs typeface="Times New Roman"/>
              </a:rPr>
              <a:t>t</a:t>
            </a:r>
            <a:endParaRPr sz="1650">
              <a:latin typeface="Times New Roman"/>
              <a:cs typeface="Times New Roman"/>
            </a:endParaRPr>
          </a:p>
        </p:txBody>
      </p:sp>
      <p:sp>
        <p:nvSpPr>
          <p:cNvPr id="38" name="object 38"/>
          <p:cNvSpPr txBox="1"/>
          <p:nvPr/>
        </p:nvSpPr>
        <p:spPr>
          <a:xfrm>
            <a:off x="8430034" y="4240528"/>
            <a:ext cx="444500" cy="275590"/>
          </a:xfrm>
          <a:prstGeom prst="rect">
            <a:avLst/>
          </a:prstGeom>
        </p:spPr>
        <p:txBody>
          <a:bodyPr vert="horz" wrap="square" lIns="0" tIns="11430" rIns="0" bIns="0" rtlCol="0">
            <a:spAutoFit/>
          </a:bodyPr>
          <a:lstStyle/>
          <a:p>
            <a:pPr marL="12700">
              <a:lnSpc>
                <a:spcPct val="100000"/>
              </a:lnSpc>
              <a:spcBef>
                <a:spcPts val="90"/>
              </a:spcBef>
              <a:tabLst>
                <a:tab pos="373380" algn="l"/>
              </a:tabLst>
            </a:pPr>
            <a:r>
              <a:rPr sz="1650" i="1" spc="-50" dirty="0">
                <a:latin typeface="Times New Roman"/>
                <a:cs typeface="Times New Roman"/>
              </a:rPr>
              <a:t>t</a:t>
            </a:r>
            <a:r>
              <a:rPr sz="1650" i="1" dirty="0">
                <a:latin typeface="Times New Roman"/>
                <a:cs typeface="Times New Roman"/>
              </a:rPr>
              <a:t>	</a:t>
            </a:r>
            <a:r>
              <a:rPr sz="1650" i="1" spc="-50" dirty="0">
                <a:latin typeface="Times New Roman"/>
                <a:cs typeface="Times New Roman"/>
              </a:rPr>
              <a:t>t</a:t>
            </a:r>
            <a:endParaRPr sz="1650">
              <a:latin typeface="Times New Roman"/>
              <a:cs typeface="Times New Roman"/>
            </a:endParaRPr>
          </a:p>
        </p:txBody>
      </p:sp>
      <p:sp>
        <p:nvSpPr>
          <p:cNvPr id="39" name="object 39"/>
          <p:cNvSpPr txBox="1"/>
          <p:nvPr/>
        </p:nvSpPr>
        <p:spPr>
          <a:xfrm>
            <a:off x="7717513" y="4082000"/>
            <a:ext cx="1263015" cy="377825"/>
          </a:xfrm>
          <a:prstGeom prst="rect">
            <a:avLst/>
          </a:prstGeom>
        </p:spPr>
        <p:txBody>
          <a:bodyPr vert="horz" wrap="square" lIns="0" tIns="13970" rIns="0" bIns="0" rtlCol="0">
            <a:spAutoFit/>
          </a:bodyPr>
          <a:lstStyle/>
          <a:p>
            <a:pPr marL="12700">
              <a:lnSpc>
                <a:spcPct val="100000"/>
              </a:lnSpc>
              <a:spcBef>
                <a:spcPts val="110"/>
              </a:spcBef>
            </a:pPr>
            <a:r>
              <a:rPr sz="2300" spc="305" dirty="0">
                <a:latin typeface="Cambria"/>
                <a:cs typeface="Cambria"/>
              </a:rPr>
              <a:t>−</a:t>
            </a:r>
            <a:r>
              <a:rPr sz="2300" spc="10" dirty="0">
                <a:latin typeface="Cambria"/>
                <a:cs typeface="Cambria"/>
              </a:rPr>
              <a:t> </a:t>
            </a:r>
            <a:r>
              <a:rPr sz="2300" i="1" spc="-45" dirty="0">
                <a:latin typeface="Times New Roman"/>
                <a:cs typeface="Times New Roman"/>
              </a:rPr>
              <a:t>Q</a:t>
            </a:r>
            <a:r>
              <a:rPr sz="2300" spc="-45" dirty="0">
                <a:latin typeface="Cambria"/>
                <a:cs typeface="Cambria"/>
              </a:rPr>
              <a:t>(</a:t>
            </a:r>
            <a:r>
              <a:rPr sz="2300" i="1" spc="-45" dirty="0">
                <a:latin typeface="Times New Roman"/>
                <a:cs typeface="Times New Roman"/>
              </a:rPr>
              <a:t>S</a:t>
            </a:r>
            <a:r>
              <a:rPr sz="2300" i="1" spc="-195" dirty="0">
                <a:latin typeface="Times New Roman"/>
                <a:cs typeface="Times New Roman"/>
              </a:rPr>
              <a:t> </a:t>
            </a:r>
            <a:r>
              <a:rPr sz="2300" spc="100" dirty="0">
                <a:latin typeface="Cambria"/>
                <a:cs typeface="Cambria"/>
              </a:rPr>
              <a:t>,</a:t>
            </a:r>
            <a:r>
              <a:rPr sz="2300" spc="-30" dirty="0">
                <a:latin typeface="Cambria"/>
                <a:cs typeface="Cambria"/>
              </a:rPr>
              <a:t> </a:t>
            </a:r>
            <a:r>
              <a:rPr sz="2300" i="1" dirty="0">
                <a:latin typeface="Times New Roman"/>
                <a:cs typeface="Times New Roman"/>
              </a:rPr>
              <a:t>A</a:t>
            </a:r>
            <a:r>
              <a:rPr sz="2300" i="1" spc="-130" dirty="0">
                <a:latin typeface="Times New Roman"/>
                <a:cs typeface="Times New Roman"/>
              </a:rPr>
              <a:t> </a:t>
            </a:r>
            <a:r>
              <a:rPr sz="2300" spc="-50" dirty="0">
                <a:latin typeface="Cambria"/>
                <a:cs typeface="Cambria"/>
              </a:rPr>
              <a:t>)</a:t>
            </a:r>
            <a:endParaRPr sz="2300">
              <a:latin typeface="Cambria"/>
              <a:cs typeface="Cambria"/>
            </a:endParaRPr>
          </a:p>
        </p:txBody>
      </p:sp>
      <p:sp>
        <p:nvSpPr>
          <p:cNvPr id="40" name="object 40"/>
          <p:cNvSpPr txBox="1"/>
          <p:nvPr/>
        </p:nvSpPr>
        <p:spPr>
          <a:xfrm>
            <a:off x="8954830" y="4140127"/>
            <a:ext cx="163195" cy="377825"/>
          </a:xfrm>
          <a:prstGeom prst="rect">
            <a:avLst/>
          </a:prstGeom>
        </p:spPr>
        <p:txBody>
          <a:bodyPr vert="horz" wrap="square" lIns="0" tIns="13970" rIns="0" bIns="0" rtlCol="0">
            <a:spAutoFit/>
          </a:bodyPr>
          <a:lstStyle/>
          <a:p>
            <a:pPr marL="12700">
              <a:lnSpc>
                <a:spcPct val="100000"/>
              </a:lnSpc>
              <a:spcBef>
                <a:spcPts val="110"/>
              </a:spcBef>
            </a:pPr>
            <a:r>
              <a:rPr sz="2300" spc="35" dirty="0">
                <a:latin typeface="Verdana"/>
                <a:cs typeface="Verdana"/>
              </a:rPr>
              <a:t>)</a:t>
            </a:r>
            <a:endParaRPr sz="2300">
              <a:latin typeface="Verdana"/>
              <a:cs typeface="Verdana"/>
            </a:endParaRPr>
          </a:p>
        </p:txBody>
      </p:sp>
      <p:sp>
        <p:nvSpPr>
          <p:cNvPr id="41" name="object 41"/>
          <p:cNvSpPr txBox="1"/>
          <p:nvPr/>
        </p:nvSpPr>
        <p:spPr>
          <a:xfrm>
            <a:off x="703159" y="6298195"/>
            <a:ext cx="1851025" cy="275590"/>
          </a:xfrm>
          <a:prstGeom prst="rect">
            <a:avLst/>
          </a:prstGeom>
        </p:spPr>
        <p:txBody>
          <a:bodyPr vert="horz" wrap="square" lIns="0" tIns="11430" rIns="0" bIns="0" rtlCol="0">
            <a:spAutoFit/>
          </a:bodyPr>
          <a:lstStyle/>
          <a:p>
            <a:pPr marL="12700">
              <a:lnSpc>
                <a:spcPct val="100000"/>
              </a:lnSpc>
              <a:spcBef>
                <a:spcPts val="90"/>
              </a:spcBef>
              <a:tabLst>
                <a:tab pos="373380" algn="l"/>
                <a:tab pos="1417955" algn="l"/>
                <a:tab pos="1779270" algn="l"/>
              </a:tabLst>
            </a:pPr>
            <a:r>
              <a:rPr sz="1650" i="1" spc="-50" dirty="0">
                <a:latin typeface="Times New Roman"/>
                <a:cs typeface="Times New Roman"/>
              </a:rPr>
              <a:t>t</a:t>
            </a:r>
            <a:r>
              <a:rPr sz="1650" i="1" dirty="0">
                <a:latin typeface="Times New Roman"/>
                <a:cs typeface="Times New Roman"/>
              </a:rPr>
              <a:t>	</a:t>
            </a:r>
            <a:r>
              <a:rPr sz="1650" i="1" spc="-50" dirty="0">
                <a:latin typeface="Times New Roman"/>
                <a:cs typeface="Times New Roman"/>
              </a:rPr>
              <a:t>t</a:t>
            </a:r>
            <a:r>
              <a:rPr sz="1650" i="1" dirty="0">
                <a:latin typeface="Times New Roman"/>
                <a:cs typeface="Times New Roman"/>
              </a:rPr>
              <a:t>	</a:t>
            </a:r>
            <a:r>
              <a:rPr sz="1650" i="1" spc="-50" dirty="0">
                <a:latin typeface="Times New Roman"/>
                <a:cs typeface="Times New Roman"/>
              </a:rPr>
              <a:t>t</a:t>
            </a:r>
            <a:r>
              <a:rPr sz="1650" i="1" dirty="0">
                <a:latin typeface="Times New Roman"/>
                <a:cs typeface="Times New Roman"/>
              </a:rPr>
              <a:t>	</a:t>
            </a:r>
            <a:r>
              <a:rPr sz="1650" i="1" spc="-50" dirty="0">
                <a:latin typeface="Times New Roman"/>
                <a:cs typeface="Times New Roman"/>
              </a:rPr>
              <a:t>t</a:t>
            </a:r>
            <a:endParaRPr sz="1650">
              <a:latin typeface="Times New Roman"/>
              <a:cs typeface="Times New Roman"/>
            </a:endParaRPr>
          </a:p>
        </p:txBody>
      </p:sp>
      <p:sp>
        <p:nvSpPr>
          <p:cNvPr id="42" name="object 42"/>
          <p:cNvSpPr txBox="1"/>
          <p:nvPr/>
        </p:nvSpPr>
        <p:spPr>
          <a:xfrm>
            <a:off x="256972" y="6139667"/>
            <a:ext cx="2896235" cy="377825"/>
          </a:xfrm>
          <a:prstGeom prst="rect">
            <a:avLst/>
          </a:prstGeom>
        </p:spPr>
        <p:txBody>
          <a:bodyPr vert="horz" wrap="square" lIns="0" tIns="13970" rIns="0" bIns="0" rtlCol="0">
            <a:spAutoFit/>
          </a:bodyPr>
          <a:lstStyle/>
          <a:p>
            <a:pPr marL="12700">
              <a:lnSpc>
                <a:spcPct val="100000"/>
              </a:lnSpc>
              <a:spcBef>
                <a:spcPts val="110"/>
              </a:spcBef>
            </a:pPr>
            <a:r>
              <a:rPr sz="2300" i="1" spc="-45" dirty="0">
                <a:latin typeface="Times New Roman"/>
                <a:cs typeface="Times New Roman"/>
              </a:rPr>
              <a:t>Q</a:t>
            </a:r>
            <a:r>
              <a:rPr sz="2300" spc="-45" dirty="0">
                <a:latin typeface="Cambria"/>
                <a:cs typeface="Cambria"/>
              </a:rPr>
              <a:t>(</a:t>
            </a:r>
            <a:r>
              <a:rPr sz="2300" i="1" spc="-45" dirty="0">
                <a:latin typeface="Times New Roman"/>
                <a:cs typeface="Times New Roman"/>
              </a:rPr>
              <a:t>S</a:t>
            </a:r>
            <a:r>
              <a:rPr sz="2300" i="1" spc="-200" dirty="0">
                <a:latin typeface="Times New Roman"/>
                <a:cs typeface="Times New Roman"/>
              </a:rPr>
              <a:t> </a:t>
            </a:r>
            <a:r>
              <a:rPr sz="2300" spc="100" dirty="0">
                <a:latin typeface="Cambria"/>
                <a:cs typeface="Cambria"/>
              </a:rPr>
              <a:t>,</a:t>
            </a:r>
            <a:r>
              <a:rPr sz="2300" spc="-105" dirty="0">
                <a:latin typeface="Cambria"/>
                <a:cs typeface="Cambria"/>
              </a:rPr>
              <a:t> </a:t>
            </a:r>
            <a:r>
              <a:rPr sz="2300" i="1" dirty="0">
                <a:latin typeface="Times New Roman"/>
                <a:cs typeface="Times New Roman"/>
              </a:rPr>
              <a:t>A</a:t>
            </a:r>
            <a:r>
              <a:rPr sz="2300" i="1" spc="-145" dirty="0">
                <a:latin typeface="Times New Roman"/>
                <a:cs typeface="Times New Roman"/>
              </a:rPr>
              <a:t> </a:t>
            </a:r>
            <a:r>
              <a:rPr sz="2300" dirty="0">
                <a:latin typeface="Cambria"/>
                <a:cs typeface="Cambria"/>
              </a:rPr>
              <a:t>)</a:t>
            </a:r>
            <a:r>
              <a:rPr sz="2300" spc="110" dirty="0">
                <a:latin typeface="Cambria"/>
                <a:cs typeface="Cambria"/>
              </a:rPr>
              <a:t> </a:t>
            </a:r>
            <a:r>
              <a:rPr sz="2300" spc="210" dirty="0">
                <a:latin typeface="Cambria"/>
                <a:cs typeface="Cambria"/>
              </a:rPr>
              <a:t>←</a:t>
            </a:r>
            <a:r>
              <a:rPr sz="2300" spc="114" dirty="0">
                <a:latin typeface="Cambria"/>
                <a:cs typeface="Cambria"/>
              </a:rPr>
              <a:t> </a:t>
            </a:r>
            <a:r>
              <a:rPr sz="2300" i="1" spc="-45" dirty="0">
                <a:latin typeface="Times New Roman"/>
                <a:cs typeface="Times New Roman"/>
              </a:rPr>
              <a:t>Q</a:t>
            </a:r>
            <a:r>
              <a:rPr sz="2300" spc="-45" dirty="0">
                <a:latin typeface="Cambria"/>
                <a:cs typeface="Cambria"/>
              </a:rPr>
              <a:t>(</a:t>
            </a:r>
            <a:r>
              <a:rPr sz="2300" i="1" spc="-45" dirty="0">
                <a:latin typeface="Times New Roman"/>
                <a:cs typeface="Times New Roman"/>
              </a:rPr>
              <a:t>S</a:t>
            </a:r>
            <a:r>
              <a:rPr sz="2300" i="1" spc="-200" dirty="0">
                <a:latin typeface="Times New Roman"/>
                <a:cs typeface="Times New Roman"/>
              </a:rPr>
              <a:t> </a:t>
            </a:r>
            <a:r>
              <a:rPr sz="2300" spc="100" dirty="0">
                <a:latin typeface="Cambria"/>
                <a:cs typeface="Cambria"/>
              </a:rPr>
              <a:t>,</a:t>
            </a:r>
            <a:r>
              <a:rPr sz="2300" spc="-55" dirty="0">
                <a:latin typeface="Cambria"/>
                <a:cs typeface="Cambria"/>
              </a:rPr>
              <a:t> </a:t>
            </a:r>
            <a:r>
              <a:rPr sz="2300" i="1" dirty="0">
                <a:latin typeface="Times New Roman"/>
                <a:cs typeface="Times New Roman"/>
              </a:rPr>
              <a:t>A</a:t>
            </a:r>
            <a:r>
              <a:rPr sz="2300" i="1" spc="-140" dirty="0">
                <a:latin typeface="Times New Roman"/>
                <a:cs typeface="Times New Roman"/>
              </a:rPr>
              <a:t> </a:t>
            </a:r>
            <a:r>
              <a:rPr sz="2300" dirty="0">
                <a:latin typeface="Cambria"/>
                <a:cs typeface="Cambria"/>
              </a:rPr>
              <a:t>)</a:t>
            </a:r>
            <a:r>
              <a:rPr sz="2300" spc="-15" dirty="0">
                <a:latin typeface="Cambria"/>
                <a:cs typeface="Cambria"/>
              </a:rPr>
              <a:t> </a:t>
            </a:r>
            <a:r>
              <a:rPr sz="2300" spc="305" dirty="0">
                <a:latin typeface="Cambria"/>
                <a:cs typeface="Cambria"/>
              </a:rPr>
              <a:t>+</a:t>
            </a:r>
            <a:r>
              <a:rPr sz="2300" spc="-15" dirty="0">
                <a:latin typeface="Cambria"/>
                <a:cs typeface="Cambria"/>
              </a:rPr>
              <a:t> </a:t>
            </a:r>
            <a:r>
              <a:rPr sz="2300" i="1" spc="-50" dirty="0">
                <a:latin typeface="Arial"/>
                <a:cs typeface="Arial"/>
              </a:rPr>
              <a:t>α</a:t>
            </a:r>
            <a:endParaRPr sz="2300">
              <a:latin typeface="Arial"/>
              <a:cs typeface="Arial"/>
            </a:endParaRPr>
          </a:p>
        </p:txBody>
      </p:sp>
      <p:sp>
        <p:nvSpPr>
          <p:cNvPr id="43" name="object 43"/>
          <p:cNvSpPr txBox="1"/>
          <p:nvPr/>
        </p:nvSpPr>
        <p:spPr>
          <a:xfrm>
            <a:off x="3176528" y="6197794"/>
            <a:ext cx="163195" cy="377825"/>
          </a:xfrm>
          <a:prstGeom prst="rect">
            <a:avLst/>
          </a:prstGeom>
        </p:spPr>
        <p:txBody>
          <a:bodyPr vert="horz" wrap="square" lIns="0" tIns="13970" rIns="0" bIns="0" rtlCol="0">
            <a:spAutoFit/>
          </a:bodyPr>
          <a:lstStyle/>
          <a:p>
            <a:pPr marL="12700">
              <a:lnSpc>
                <a:spcPct val="100000"/>
              </a:lnSpc>
              <a:spcBef>
                <a:spcPts val="110"/>
              </a:spcBef>
            </a:pPr>
            <a:r>
              <a:rPr sz="2300" spc="35" dirty="0">
                <a:latin typeface="Verdana"/>
                <a:cs typeface="Verdana"/>
              </a:rPr>
              <a:t>(</a:t>
            </a:r>
            <a:endParaRPr sz="2300">
              <a:latin typeface="Verdana"/>
              <a:cs typeface="Verdana"/>
            </a:endParaRPr>
          </a:p>
        </p:txBody>
      </p:sp>
      <p:sp>
        <p:nvSpPr>
          <p:cNvPr id="44" name="object 44"/>
          <p:cNvSpPr txBox="1"/>
          <p:nvPr/>
        </p:nvSpPr>
        <p:spPr>
          <a:xfrm>
            <a:off x="3476618" y="6111581"/>
            <a:ext cx="259715" cy="275590"/>
          </a:xfrm>
          <a:prstGeom prst="rect">
            <a:avLst/>
          </a:prstGeom>
        </p:spPr>
        <p:txBody>
          <a:bodyPr vert="horz" wrap="square" lIns="0" tIns="11430" rIns="0" bIns="0" rtlCol="0">
            <a:spAutoFit/>
          </a:bodyPr>
          <a:lstStyle/>
          <a:p>
            <a:pPr marL="12700">
              <a:lnSpc>
                <a:spcPct val="100000"/>
              </a:lnSpc>
              <a:spcBef>
                <a:spcPts val="90"/>
              </a:spcBef>
            </a:pPr>
            <a:r>
              <a:rPr sz="1650" spc="-65" dirty="0">
                <a:latin typeface="Cambria"/>
                <a:cs typeface="Cambria"/>
              </a:rPr>
              <a:t>(</a:t>
            </a:r>
            <a:r>
              <a:rPr sz="1650" i="1" spc="-65" dirty="0">
                <a:latin typeface="Arial"/>
                <a:cs typeface="Arial"/>
              </a:rPr>
              <a:t>λ</a:t>
            </a:r>
            <a:r>
              <a:rPr sz="1650" spc="-65" dirty="0">
                <a:latin typeface="Cambria"/>
                <a:cs typeface="Cambria"/>
              </a:rPr>
              <a:t>)</a:t>
            </a:r>
            <a:endParaRPr sz="1650">
              <a:latin typeface="Cambria"/>
              <a:cs typeface="Cambria"/>
            </a:endParaRPr>
          </a:p>
        </p:txBody>
      </p:sp>
      <p:sp>
        <p:nvSpPr>
          <p:cNvPr id="45" name="object 45"/>
          <p:cNvSpPr txBox="1"/>
          <p:nvPr/>
        </p:nvSpPr>
        <p:spPr>
          <a:xfrm>
            <a:off x="3447268" y="6320407"/>
            <a:ext cx="83820" cy="275590"/>
          </a:xfrm>
          <a:prstGeom prst="rect">
            <a:avLst/>
          </a:prstGeom>
        </p:spPr>
        <p:txBody>
          <a:bodyPr vert="horz" wrap="square" lIns="0" tIns="11430" rIns="0" bIns="0" rtlCol="0">
            <a:spAutoFit/>
          </a:bodyPr>
          <a:lstStyle/>
          <a:p>
            <a:pPr marL="12700">
              <a:lnSpc>
                <a:spcPct val="100000"/>
              </a:lnSpc>
              <a:spcBef>
                <a:spcPts val="90"/>
              </a:spcBef>
            </a:pPr>
            <a:r>
              <a:rPr sz="1650" i="1" spc="-5" dirty="0">
                <a:latin typeface="Times New Roman"/>
                <a:cs typeface="Times New Roman"/>
              </a:rPr>
              <a:t>t</a:t>
            </a:r>
            <a:endParaRPr sz="1650">
              <a:latin typeface="Times New Roman"/>
              <a:cs typeface="Times New Roman"/>
            </a:endParaRPr>
          </a:p>
        </p:txBody>
      </p:sp>
      <p:sp>
        <p:nvSpPr>
          <p:cNvPr id="46" name="object 46"/>
          <p:cNvSpPr txBox="1"/>
          <p:nvPr/>
        </p:nvSpPr>
        <p:spPr>
          <a:xfrm>
            <a:off x="3313919" y="6139667"/>
            <a:ext cx="1064260" cy="377825"/>
          </a:xfrm>
          <a:prstGeom prst="rect">
            <a:avLst/>
          </a:prstGeom>
        </p:spPr>
        <p:txBody>
          <a:bodyPr vert="horz" wrap="square" lIns="0" tIns="13970" rIns="0" bIns="0" rtlCol="0">
            <a:spAutoFit/>
          </a:bodyPr>
          <a:lstStyle/>
          <a:p>
            <a:pPr marL="12700">
              <a:lnSpc>
                <a:spcPct val="100000"/>
              </a:lnSpc>
              <a:spcBef>
                <a:spcPts val="110"/>
              </a:spcBef>
              <a:tabLst>
                <a:tab pos="474345" algn="l"/>
              </a:tabLst>
            </a:pPr>
            <a:r>
              <a:rPr sz="2300" i="1" spc="-50" dirty="0">
                <a:latin typeface="Times New Roman"/>
                <a:cs typeface="Times New Roman"/>
              </a:rPr>
              <a:t>q</a:t>
            </a:r>
            <a:r>
              <a:rPr sz="2300" i="1" dirty="0">
                <a:latin typeface="Times New Roman"/>
                <a:cs typeface="Times New Roman"/>
              </a:rPr>
              <a:t>	</a:t>
            </a:r>
            <a:r>
              <a:rPr sz="2300" spc="305" dirty="0">
                <a:latin typeface="Cambria"/>
                <a:cs typeface="Cambria"/>
              </a:rPr>
              <a:t>−</a:t>
            </a:r>
            <a:r>
              <a:rPr sz="2300" spc="5" dirty="0">
                <a:latin typeface="Cambria"/>
                <a:cs typeface="Cambria"/>
              </a:rPr>
              <a:t> </a:t>
            </a:r>
            <a:r>
              <a:rPr sz="2300" i="1" spc="-25" dirty="0">
                <a:latin typeface="Times New Roman"/>
                <a:cs typeface="Times New Roman"/>
              </a:rPr>
              <a:t>Q</a:t>
            </a:r>
            <a:r>
              <a:rPr sz="2300" spc="-25" dirty="0">
                <a:latin typeface="Cambria"/>
                <a:cs typeface="Cambria"/>
              </a:rPr>
              <a:t>(</a:t>
            </a:r>
            <a:endParaRPr sz="2300" dirty="0">
              <a:latin typeface="Cambria"/>
              <a:cs typeface="Cambria"/>
            </a:endParaRPr>
          </a:p>
        </p:txBody>
      </p:sp>
      <p:sp>
        <p:nvSpPr>
          <p:cNvPr id="47" name="object 47"/>
          <p:cNvSpPr txBox="1"/>
          <p:nvPr/>
        </p:nvSpPr>
        <p:spPr>
          <a:xfrm>
            <a:off x="4488657" y="6298195"/>
            <a:ext cx="444500" cy="275590"/>
          </a:xfrm>
          <a:prstGeom prst="rect">
            <a:avLst/>
          </a:prstGeom>
        </p:spPr>
        <p:txBody>
          <a:bodyPr vert="horz" wrap="square" lIns="0" tIns="11430" rIns="0" bIns="0" rtlCol="0">
            <a:spAutoFit/>
          </a:bodyPr>
          <a:lstStyle/>
          <a:p>
            <a:pPr marL="12700">
              <a:lnSpc>
                <a:spcPct val="100000"/>
              </a:lnSpc>
              <a:spcBef>
                <a:spcPts val="90"/>
              </a:spcBef>
              <a:tabLst>
                <a:tab pos="373380" algn="l"/>
              </a:tabLst>
            </a:pPr>
            <a:r>
              <a:rPr sz="1650" i="1" spc="-50" dirty="0">
                <a:latin typeface="Times New Roman"/>
                <a:cs typeface="Times New Roman"/>
              </a:rPr>
              <a:t>t</a:t>
            </a:r>
            <a:r>
              <a:rPr sz="1650" i="1" dirty="0">
                <a:latin typeface="Times New Roman"/>
                <a:cs typeface="Times New Roman"/>
              </a:rPr>
              <a:t>	</a:t>
            </a:r>
            <a:r>
              <a:rPr sz="1650" i="1" spc="-50" dirty="0">
                <a:latin typeface="Times New Roman"/>
                <a:cs typeface="Times New Roman"/>
              </a:rPr>
              <a:t>t</a:t>
            </a:r>
            <a:endParaRPr sz="1650">
              <a:latin typeface="Times New Roman"/>
              <a:cs typeface="Times New Roman"/>
            </a:endParaRPr>
          </a:p>
        </p:txBody>
      </p:sp>
      <p:sp>
        <p:nvSpPr>
          <p:cNvPr id="48" name="object 48"/>
          <p:cNvSpPr txBox="1"/>
          <p:nvPr/>
        </p:nvSpPr>
        <p:spPr>
          <a:xfrm>
            <a:off x="4352186" y="6139667"/>
            <a:ext cx="687070" cy="377825"/>
          </a:xfrm>
          <a:prstGeom prst="rect">
            <a:avLst/>
          </a:prstGeom>
        </p:spPr>
        <p:txBody>
          <a:bodyPr vert="horz" wrap="square" lIns="0" tIns="13970" rIns="0" bIns="0" rtlCol="0">
            <a:spAutoFit/>
          </a:bodyPr>
          <a:lstStyle/>
          <a:p>
            <a:pPr marL="12700">
              <a:lnSpc>
                <a:spcPct val="100000"/>
              </a:lnSpc>
              <a:spcBef>
                <a:spcPts val="110"/>
              </a:spcBef>
            </a:pPr>
            <a:r>
              <a:rPr sz="2300" i="1" dirty="0">
                <a:latin typeface="Times New Roman"/>
                <a:cs typeface="Times New Roman"/>
              </a:rPr>
              <a:t>S</a:t>
            </a:r>
            <a:r>
              <a:rPr sz="2300" i="1" spc="-200" dirty="0">
                <a:latin typeface="Times New Roman"/>
                <a:cs typeface="Times New Roman"/>
              </a:rPr>
              <a:t> </a:t>
            </a:r>
            <a:r>
              <a:rPr sz="2300" spc="100" dirty="0">
                <a:latin typeface="Cambria"/>
                <a:cs typeface="Cambria"/>
              </a:rPr>
              <a:t>,</a:t>
            </a:r>
            <a:r>
              <a:rPr sz="2300" spc="-35" dirty="0">
                <a:latin typeface="Cambria"/>
                <a:cs typeface="Cambria"/>
              </a:rPr>
              <a:t> </a:t>
            </a:r>
            <a:r>
              <a:rPr sz="2300" i="1" dirty="0">
                <a:latin typeface="Times New Roman"/>
                <a:cs typeface="Times New Roman"/>
              </a:rPr>
              <a:t>A</a:t>
            </a:r>
            <a:r>
              <a:rPr sz="2300" i="1" spc="-140" dirty="0">
                <a:latin typeface="Times New Roman"/>
                <a:cs typeface="Times New Roman"/>
              </a:rPr>
              <a:t> </a:t>
            </a:r>
            <a:r>
              <a:rPr sz="2300" spc="-50" dirty="0">
                <a:latin typeface="Cambria"/>
                <a:cs typeface="Cambria"/>
              </a:rPr>
              <a:t>)</a:t>
            </a:r>
            <a:endParaRPr sz="2300">
              <a:latin typeface="Cambria"/>
              <a:cs typeface="Cambria"/>
            </a:endParaRPr>
          </a:p>
        </p:txBody>
      </p:sp>
      <p:sp>
        <p:nvSpPr>
          <p:cNvPr id="49" name="object 49"/>
          <p:cNvSpPr txBox="1"/>
          <p:nvPr/>
        </p:nvSpPr>
        <p:spPr>
          <a:xfrm>
            <a:off x="5013454" y="6197794"/>
            <a:ext cx="163195" cy="377825"/>
          </a:xfrm>
          <a:prstGeom prst="rect">
            <a:avLst/>
          </a:prstGeom>
        </p:spPr>
        <p:txBody>
          <a:bodyPr vert="horz" wrap="square" lIns="0" tIns="13970" rIns="0" bIns="0" rtlCol="0">
            <a:spAutoFit/>
          </a:bodyPr>
          <a:lstStyle/>
          <a:p>
            <a:pPr marL="12700">
              <a:lnSpc>
                <a:spcPct val="100000"/>
              </a:lnSpc>
              <a:spcBef>
                <a:spcPts val="110"/>
              </a:spcBef>
            </a:pPr>
            <a:r>
              <a:rPr sz="2300" spc="35" dirty="0">
                <a:latin typeface="Verdana"/>
                <a:cs typeface="Verdana"/>
              </a:rPr>
              <a:t>)</a:t>
            </a:r>
            <a:endParaRPr sz="2300" dirty="0">
              <a:latin typeface="Verdana"/>
              <a:cs typeface="Verdana"/>
            </a:endParaRPr>
          </a:p>
        </p:txBody>
      </p:sp>
      <p:sp>
        <p:nvSpPr>
          <p:cNvPr id="50" name="object 50"/>
          <p:cNvSpPr txBox="1"/>
          <p:nvPr/>
        </p:nvSpPr>
        <p:spPr>
          <a:xfrm>
            <a:off x="441263" y="5716443"/>
            <a:ext cx="83820" cy="275590"/>
          </a:xfrm>
          <a:prstGeom prst="rect">
            <a:avLst/>
          </a:prstGeom>
        </p:spPr>
        <p:txBody>
          <a:bodyPr vert="horz" wrap="square" lIns="0" tIns="11430" rIns="0" bIns="0" rtlCol="0">
            <a:spAutoFit/>
          </a:bodyPr>
          <a:lstStyle/>
          <a:p>
            <a:pPr marL="12700">
              <a:lnSpc>
                <a:spcPct val="100000"/>
              </a:lnSpc>
              <a:spcBef>
                <a:spcPts val="90"/>
              </a:spcBef>
            </a:pPr>
            <a:r>
              <a:rPr sz="1650" i="1" spc="-5" dirty="0">
                <a:latin typeface="Times New Roman"/>
                <a:cs typeface="Times New Roman"/>
              </a:rPr>
              <a:t>t</a:t>
            </a:r>
            <a:endParaRPr sz="1650">
              <a:latin typeface="Times New Roman"/>
              <a:cs typeface="Times New Roman"/>
            </a:endParaRPr>
          </a:p>
        </p:txBody>
      </p:sp>
      <mc:AlternateContent xmlns:mc="http://schemas.openxmlformats.org/markup-compatibility/2006" xmlns:a14="http://schemas.microsoft.com/office/drawing/2010/main">
        <mc:Choice Requires="a14">
          <p:sp>
            <p:nvSpPr>
              <p:cNvPr id="51" name="object 51"/>
              <p:cNvSpPr txBox="1"/>
              <p:nvPr/>
            </p:nvSpPr>
            <p:spPr>
              <a:xfrm>
                <a:off x="297511" y="5557915"/>
                <a:ext cx="1470616" cy="721993"/>
              </a:xfrm>
              <a:prstGeom prst="rect">
                <a:avLst/>
              </a:prstGeom>
            </p:spPr>
            <p:txBody>
              <a:bodyPr vert="horz" wrap="square" lIns="0" tIns="13970" rIns="0" bIns="0" rtlCol="0">
                <a:spAutoFit/>
              </a:bodyPr>
              <a:lstStyle/>
              <a:p>
                <a:pPr marL="12700">
                  <a:lnSpc>
                    <a:spcPct val="100000"/>
                  </a:lnSpc>
                  <a:spcBef>
                    <a:spcPts val="110"/>
                  </a:spcBef>
                  <a:tabLst>
                    <a:tab pos="351155" algn="l"/>
                  </a:tabLst>
                </a:pPr>
                <a:r>
                  <a:rPr sz="2300" i="1" spc="-50" dirty="0">
                    <a:latin typeface="Times New Roman"/>
                    <a:cs typeface="Times New Roman"/>
                  </a:rPr>
                  <a:t>q</a:t>
                </a:r>
                <a:r>
                  <a:rPr sz="2300" i="1" dirty="0">
                    <a:latin typeface="Times New Roman"/>
                    <a:cs typeface="Times New Roman"/>
                  </a:rPr>
                  <a:t>	</a:t>
                </a:r>
                <a:r>
                  <a:rPr sz="2300" spc="305" dirty="0">
                    <a:latin typeface="Cambria"/>
                    <a:cs typeface="Cambria"/>
                  </a:rPr>
                  <a:t>=</a:t>
                </a:r>
                <a:r>
                  <a:rPr sz="2300" spc="125" dirty="0">
                    <a:latin typeface="Cambria"/>
                    <a:cs typeface="Cambria"/>
                  </a:rPr>
                  <a:t> </a:t>
                </a:r>
                <a:r>
                  <a:rPr sz="2300" spc="-110" dirty="0">
                    <a:latin typeface="Cambria"/>
                    <a:cs typeface="Cambria"/>
                  </a:rPr>
                  <a:t>(1</a:t>
                </a:r>
                <a:r>
                  <a:rPr sz="2300" dirty="0">
                    <a:latin typeface="Cambria"/>
                    <a:cs typeface="Cambria"/>
                  </a:rPr>
                  <a:t> </a:t>
                </a:r>
                <a:r>
                  <a:rPr sz="2300" spc="305" dirty="0">
                    <a:latin typeface="Cambria"/>
                    <a:cs typeface="Cambria"/>
                  </a:rPr>
                  <a:t>−</a:t>
                </a:r>
                <a:r>
                  <a:rPr sz="2300" spc="-5" dirty="0">
                    <a:latin typeface="Cambria"/>
                    <a:cs typeface="Cambria"/>
                  </a:rPr>
                  <a:t> </a:t>
                </a:r>
                <a14:m>
                  <m:oMath xmlns:m="http://schemas.openxmlformats.org/officeDocument/2006/math">
                    <m:r>
                      <a:rPr lang="en-US" sz="2300" i="1" spc="-55" dirty="0" smtClean="0">
                        <a:latin typeface="Cambria Math" panose="02040503050406030204" pitchFamily="18" charset="0"/>
                        <a:cs typeface="Arial"/>
                      </a:rPr>
                      <m:t>𝜆</m:t>
                    </m:r>
                  </m:oMath>
                </a14:m>
                <a:r>
                  <a:rPr sz="2300" spc="-55" dirty="0">
                    <a:latin typeface="Cambria"/>
                    <a:cs typeface="Cambria"/>
                  </a:rPr>
                  <a:t>)</a:t>
                </a:r>
                <a:endParaRPr sz="2300" dirty="0">
                  <a:latin typeface="Cambria"/>
                  <a:cs typeface="Cambria"/>
                </a:endParaRPr>
              </a:p>
            </p:txBody>
          </p:sp>
        </mc:Choice>
        <mc:Fallback xmlns="">
          <p:sp>
            <p:nvSpPr>
              <p:cNvPr id="51" name="object 51"/>
              <p:cNvSpPr txBox="1">
                <a:spLocks noRot="1" noChangeAspect="1" noMove="1" noResize="1" noEditPoints="1" noAdjustHandles="1" noChangeArrowheads="1" noChangeShapeType="1" noTextEdit="1"/>
              </p:cNvSpPr>
              <p:nvPr/>
            </p:nvSpPr>
            <p:spPr>
              <a:xfrm>
                <a:off x="297511" y="5557915"/>
                <a:ext cx="1470616" cy="721993"/>
              </a:xfrm>
              <a:prstGeom prst="rect">
                <a:avLst/>
              </a:prstGeom>
              <a:blipFill>
                <a:blip r:embed="rId8"/>
                <a:stretch>
                  <a:fillRect l="-11618" t="-11864" r="-116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bject 52"/>
              <p:cNvSpPr txBox="1"/>
              <p:nvPr/>
            </p:nvSpPr>
            <p:spPr>
              <a:xfrm>
                <a:off x="293633" y="4901454"/>
                <a:ext cx="7859767" cy="679673"/>
              </a:xfrm>
              <a:prstGeom prst="rect">
                <a:avLst/>
              </a:prstGeom>
            </p:spPr>
            <p:txBody>
              <a:bodyPr vert="horz" wrap="square" lIns="0" tIns="12700" rIns="0" bIns="0" rtlCol="0">
                <a:spAutoFit/>
              </a:bodyPr>
              <a:lstStyle/>
              <a:p>
                <a:pPr marL="12700">
                  <a:lnSpc>
                    <a:spcPct val="100000"/>
                  </a:lnSpc>
                  <a:spcBef>
                    <a:spcPts val="100"/>
                  </a:spcBef>
                </a:pPr>
                <a:r>
                  <a:rPr sz="2600" dirty="0">
                    <a:solidFill>
                      <a:srgbClr val="C82506"/>
                    </a:solidFill>
                    <a:latin typeface="Arial"/>
                    <a:cs typeface="Arial"/>
                  </a:rPr>
                  <a:t>Sarsa(</a:t>
                </a:r>
                <a14:m>
                  <m:oMath xmlns:m="http://schemas.openxmlformats.org/officeDocument/2006/math">
                    <m:r>
                      <a:rPr lang="en-US" sz="2600" i="1" dirty="0" smtClean="0">
                        <a:solidFill>
                          <a:srgbClr val="C82506"/>
                        </a:solidFill>
                        <a:latin typeface="Cambria Math" panose="02040503050406030204" pitchFamily="18" charset="0"/>
                        <a:cs typeface="Arial"/>
                      </a:rPr>
                      <m:t>𝜆</m:t>
                    </m:r>
                  </m:oMath>
                </a14:m>
                <a:r>
                  <a:rPr sz="2600" dirty="0">
                    <a:solidFill>
                      <a:srgbClr val="C82506"/>
                    </a:solidFill>
                    <a:latin typeface="Arial"/>
                    <a:cs typeface="Arial"/>
                  </a:rPr>
                  <a:t>)</a:t>
                </a:r>
                <a:r>
                  <a:rPr sz="2600" spc="-120" dirty="0">
                    <a:solidFill>
                      <a:srgbClr val="C82506"/>
                    </a:solidFill>
                    <a:latin typeface="Arial"/>
                    <a:cs typeface="Arial"/>
                  </a:rPr>
                  <a:t> </a:t>
                </a:r>
                <a:r>
                  <a:rPr sz="2600" dirty="0">
                    <a:solidFill>
                      <a:srgbClr val="C82506"/>
                    </a:solidFill>
                    <a:latin typeface="Arial"/>
                    <a:cs typeface="Arial"/>
                  </a:rPr>
                  <a:t>combines</a:t>
                </a:r>
                <a:r>
                  <a:rPr sz="2600" spc="-120" dirty="0">
                    <a:solidFill>
                      <a:srgbClr val="C82506"/>
                    </a:solidFill>
                    <a:latin typeface="Arial"/>
                    <a:cs typeface="Arial"/>
                  </a:rPr>
                  <a:t> </a:t>
                </a:r>
                <a:r>
                  <a:rPr sz="2600" dirty="0">
                    <a:solidFill>
                      <a:srgbClr val="C82506"/>
                    </a:solidFill>
                    <a:latin typeface="Arial"/>
                    <a:cs typeface="Arial"/>
                  </a:rPr>
                  <a:t>all</a:t>
                </a:r>
                <a:r>
                  <a:rPr sz="2600" spc="-120" dirty="0">
                    <a:solidFill>
                      <a:srgbClr val="C82506"/>
                    </a:solidFill>
                    <a:latin typeface="Arial"/>
                    <a:cs typeface="Arial"/>
                  </a:rPr>
                  <a:t> </a:t>
                </a:r>
                <a:r>
                  <a:rPr sz="2600" i="1" spc="-20" dirty="0">
                    <a:solidFill>
                      <a:srgbClr val="C82506"/>
                    </a:solidFill>
                    <a:latin typeface="Arial"/>
                    <a:cs typeface="Arial"/>
                  </a:rPr>
                  <a:t>n-</a:t>
                </a:r>
                <a:r>
                  <a:rPr sz="2600" i="1" dirty="0">
                    <a:solidFill>
                      <a:srgbClr val="C82506"/>
                    </a:solidFill>
                    <a:latin typeface="Arial"/>
                    <a:cs typeface="Arial"/>
                  </a:rPr>
                  <a:t>step</a:t>
                </a:r>
                <a:r>
                  <a:rPr sz="2600" i="1" spc="-120" dirty="0">
                    <a:solidFill>
                      <a:srgbClr val="C82506"/>
                    </a:solidFill>
                    <a:latin typeface="Arial"/>
                    <a:cs typeface="Arial"/>
                  </a:rPr>
                  <a:t> </a:t>
                </a:r>
                <a:r>
                  <a:rPr sz="2600" spc="-20" dirty="0">
                    <a:solidFill>
                      <a:srgbClr val="C82506"/>
                    </a:solidFill>
                    <a:latin typeface="Arial"/>
                    <a:cs typeface="Arial"/>
                  </a:rPr>
                  <a:t>q-</a:t>
                </a:r>
                <a:r>
                  <a:rPr sz="2600" dirty="0">
                    <a:solidFill>
                      <a:srgbClr val="C82506"/>
                    </a:solidFill>
                    <a:latin typeface="Arial"/>
                    <a:cs typeface="Arial"/>
                  </a:rPr>
                  <a:t>returns</a:t>
                </a:r>
                <a:r>
                  <a:rPr sz="2600" spc="-120" dirty="0">
                    <a:solidFill>
                      <a:srgbClr val="C82506"/>
                    </a:solidFill>
                    <a:latin typeface="Arial"/>
                    <a:cs typeface="Arial"/>
                  </a:rPr>
                  <a:t> </a:t>
                </a:r>
                <a:r>
                  <a:rPr sz="2600" dirty="0">
                    <a:solidFill>
                      <a:srgbClr val="C82506"/>
                    </a:solidFill>
                    <a:latin typeface="Arial"/>
                    <a:cs typeface="Arial"/>
                  </a:rPr>
                  <a:t>in</a:t>
                </a:r>
                <a:r>
                  <a:rPr sz="2600" spc="-120" dirty="0">
                    <a:solidFill>
                      <a:srgbClr val="C82506"/>
                    </a:solidFill>
                    <a:latin typeface="Arial"/>
                    <a:cs typeface="Arial"/>
                  </a:rPr>
                  <a:t> </a:t>
                </a:r>
                <a:r>
                  <a:rPr sz="2600" dirty="0">
                    <a:solidFill>
                      <a:srgbClr val="C82506"/>
                    </a:solidFill>
                    <a:latin typeface="Arial"/>
                    <a:cs typeface="Arial"/>
                  </a:rPr>
                  <a:t>the</a:t>
                </a:r>
                <a:r>
                  <a:rPr sz="2600" spc="-114" dirty="0">
                    <a:solidFill>
                      <a:srgbClr val="C82506"/>
                    </a:solidFill>
                    <a:latin typeface="Arial"/>
                    <a:cs typeface="Arial"/>
                  </a:rPr>
                  <a:t> </a:t>
                </a:r>
                <a:r>
                  <a:rPr sz="2600" spc="-10" dirty="0">
                    <a:solidFill>
                      <a:srgbClr val="C82506"/>
                    </a:solidFill>
                    <a:latin typeface="Arial"/>
                    <a:cs typeface="Arial"/>
                  </a:rPr>
                  <a:t>episode</a:t>
                </a:r>
                <a:endParaRPr sz="2600" dirty="0">
                  <a:latin typeface="Arial"/>
                  <a:cs typeface="Arial"/>
                </a:endParaRPr>
              </a:p>
              <a:p>
                <a:pPr marL="1579245">
                  <a:lnSpc>
                    <a:spcPct val="100000"/>
                  </a:lnSpc>
                  <a:spcBef>
                    <a:spcPts val="75"/>
                  </a:spcBef>
                </a:pPr>
                <a:r>
                  <a:rPr sz="1650" spc="114" dirty="0">
                    <a:latin typeface="Cambria"/>
                    <a:cs typeface="Cambria"/>
                  </a:rPr>
                  <a:t>∞</a:t>
                </a:r>
                <a:endParaRPr sz="1650" dirty="0">
                  <a:latin typeface="Cambria"/>
                  <a:cs typeface="Cambria"/>
                </a:endParaRPr>
              </a:p>
            </p:txBody>
          </p:sp>
        </mc:Choice>
        <mc:Fallback xmlns="">
          <p:sp>
            <p:nvSpPr>
              <p:cNvPr id="52" name="object 52"/>
              <p:cNvSpPr txBox="1">
                <a:spLocks noRot="1" noChangeAspect="1" noMove="1" noResize="1" noEditPoints="1" noAdjustHandles="1" noChangeArrowheads="1" noChangeShapeType="1" noTextEdit="1"/>
              </p:cNvSpPr>
              <p:nvPr/>
            </p:nvSpPr>
            <p:spPr>
              <a:xfrm>
                <a:off x="293633" y="4901454"/>
                <a:ext cx="7859767" cy="679673"/>
              </a:xfrm>
              <a:prstGeom prst="rect">
                <a:avLst/>
              </a:prstGeom>
              <a:blipFill>
                <a:blip r:embed="rId9"/>
                <a:stretch>
                  <a:fillRect l="-2403" t="-13393" b="-17857"/>
                </a:stretch>
              </a:blipFill>
            </p:spPr>
            <p:txBody>
              <a:bodyPr/>
              <a:lstStyle/>
              <a:p>
                <a:r>
                  <a:rPr lang="en-US">
                    <a:noFill/>
                  </a:rPr>
                  <a:t> </a:t>
                </a:r>
              </a:p>
            </p:txBody>
          </p:sp>
        </mc:Fallback>
      </mc:AlternateContent>
      <p:sp>
        <p:nvSpPr>
          <p:cNvPr id="53" name="object 53"/>
          <p:cNvSpPr txBox="1"/>
          <p:nvPr/>
        </p:nvSpPr>
        <p:spPr>
          <a:xfrm>
            <a:off x="1828800" y="5471712"/>
            <a:ext cx="390997" cy="444994"/>
          </a:xfrm>
          <a:prstGeom prst="rect">
            <a:avLst/>
          </a:prstGeom>
        </p:spPr>
        <p:txBody>
          <a:bodyPr vert="horz" wrap="square" lIns="0" tIns="13970" rIns="0" bIns="0" rtlCol="0">
            <a:spAutoFit/>
          </a:bodyPr>
          <a:lstStyle/>
          <a:p>
            <a:pPr marL="12700">
              <a:lnSpc>
                <a:spcPct val="100000"/>
              </a:lnSpc>
              <a:spcBef>
                <a:spcPts val="110"/>
              </a:spcBef>
            </a:pPr>
            <a:r>
              <a:rPr sz="2800" spc="1345" dirty="0">
                <a:latin typeface="Arial"/>
                <a:cs typeface="Arial"/>
              </a:rPr>
              <a:t>∑</a:t>
            </a:r>
            <a:endParaRPr sz="2800" dirty="0">
              <a:latin typeface="Arial"/>
              <a:cs typeface="Arial"/>
            </a:endParaRPr>
          </a:p>
        </p:txBody>
      </p:sp>
      <p:sp>
        <p:nvSpPr>
          <p:cNvPr id="54" name="object 54"/>
          <p:cNvSpPr txBox="1"/>
          <p:nvPr/>
        </p:nvSpPr>
        <p:spPr>
          <a:xfrm>
            <a:off x="1832610" y="5820410"/>
            <a:ext cx="377190" cy="275590"/>
          </a:xfrm>
          <a:prstGeom prst="rect">
            <a:avLst/>
          </a:prstGeom>
        </p:spPr>
        <p:txBody>
          <a:bodyPr vert="horz" wrap="square" lIns="0" tIns="11430" rIns="0" bIns="0" rtlCol="0">
            <a:spAutoFit/>
          </a:bodyPr>
          <a:lstStyle/>
          <a:p>
            <a:pPr marL="12700">
              <a:lnSpc>
                <a:spcPct val="100000"/>
              </a:lnSpc>
              <a:spcBef>
                <a:spcPts val="90"/>
              </a:spcBef>
            </a:pPr>
            <a:r>
              <a:rPr sz="1650" i="1" spc="-25" dirty="0">
                <a:latin typeface="Times New Roman"/>
                <a:cs typeface="Times New Roman"/>
              </a:rPr>
              <a:t>n</a:t>
            </a:r>
            <a:r>
              <a:rPr sz="1650" spc="-25" dirty="0">
                <a:latin typeface="Cambria"/>
                <a:cs typeface="Cambria"/>
              </a:rPr>
              <a:t>=1</a:t>
            </a:r>
            <a:endParaRPr sz="1650" dirty="0">
              <a:latin typeface="Cambria"/>
              <a:cs typeface="Cambria"/>
            </a:endParaRPr>
          </a:p>
        </p:txBody>
      </p:sp>
      <mc:AlternateContent xmlns:mc="http://schemas.openxmlformats.org/markup-compatibility/2006" xmlns:a14="http://schemas.microsoft.com/office/drawing/2010/main">
        <mc:Choice Requires="a14">
          <p:sp>
            <p:nvSpPr>
              <p:cNvPr id="55" name="object 55"/>
              <p:cNvSpPr txBox="1"/>
              <p:nvPr/>
            </p:nvSpPr>
            <p:spPr>
              <a:xfrm>
                <a:off x="2195667" y="5557915"/>
                <a:ext cx="673735" cy="377825"/>
              </a:xfrm>
              <a:prstGeom prst="rect">
                <a:avLst/>
              </a:prstGeom>
            </p:spPr>
            <p:txBody>
              <a:bodyPr vert="horz" wrap="square" lIns="0" tIns="13970" rIns="0" bIns="0" rtlCol="0">
                <a:spAutoFit/>
              </a:bodyPr>
              <a:lstStyle/>
              <a:p>
                <a:pPr marL="12700">
                  <a:lnSpc>
                    <a:spcPct val="100000"/>
                  </a:lnSpc>
                  <a:spcBef>
                    <a:spcPts val="110"/>
                  </a:spcBef>
                  <a:tabLst>
                    <a:tab pos="513080" algn="l"/>
                  </a:tabLst>
                </a:pPr>
                <a14:m>
                  <m:oMath xmlns:m="http://schemas.openxmlformats.org/officeDocument/2006/math">
                    <m:r>
                      <a:rPr lang="en-US" sz="2300" i="1" spc="-50" dirty="0" smtClean="0">
                        <a:latin typeface="Cambria Math" panose="02040503050406030204" pitchFamily="18" charset="0"/>
                        <a:cs typeface="Arial"/>
                      </a:rPr>
                      <m:t>𝜆</m:t>
                    </m:r>
                  </m:oMath>
                </a14:m>
                <a:r>
                  <a:rPr sz="2300" i="1" dirty="0">
                    <a:latin typeface="Arial"/>
                    <a:cs typeface="Arial"/>
                  </a:rPr>
                  <a:t>	</a:t>
                </a:r>
                <a:r>
                  <a:rPr sz="2300" i="1" spc="-50" dirty="0">
                    <a:latin typeface="Times New Roman"/>
                    <a:cs typeface="Times New Roman"/>
                  </a:rPr>
                  <a:t>q</a:t>
                </a:r>
                <a:endParaRPr sz="2300" dirty="0">
                  <a:latin typeface="Times New Roman"/>
                  <a:cs typeface="Times New Roman"/>
                </a:endParaRPr>
              </a:p>
            </p:txBody>
          </p:sp>
        </mc:Choice>
        <mc:Fallback xmlns="">
          <p:sp>
            <p:nvSpPr>
              <p:cNvPr id="55" name="object 55"/>
              <p:cNvSpPr txBox="1">
                <a:spLocks noRot="1" noChangeAspect="1" noMove="1" noResize="1" noEditPoints="1" noAdjustHandles="1" noChangeArrowheads="1" noChangeShapeType="1" noTextEdit="1"/>
              </p:cNvSpPr>
              <p:nvPr/>
            </p:nvSpPr>
            <p:spPr>
              <a:xfrm>
                <a:off x="2195667" y="5557915"/>
                <a:ext cx="673735" cy="377825"/>
              </a:xfrm>
              <a:prstGeom prst="rect">
                <a:avLst/>
              </a:prstGeom>
              <a:blipFill>
                <a:blip r:embed="rId10"/>
                <a:stretch>
                  <a:fillRect l="-13514" t="-22581" r="-23423" b="-435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bject 56"/>
              <p:cNvSpPr txBox="1"/>
              <p:nvPr/>
            </p:nvSpPr>
            <p:spPr>
              <a:xfrm>
                <a:off x="466843" y="5534429"/>
                <a:ext cx="2661285" cy="275590"/>
              </a:xfrm>
              <a:prstGeom prst="rect">
                <a:avLst/>
              </a:prstGeom>
            </p:spPr>
            <p:txBody>
              <a:bodyPr vert="horz" wrap="square" lIns="0" tIns="11430" rIns="0" bIns="0" rtlCol="0">
                <a:spAutoFit/>
              </a:bodyPr>
              <a:lstStyle/>
              <a:p>
                <a:pPr marL="12700">
                  <a:lnSpc>
                    <a:spcPct val="100000"/>
                  </a:lnSpc>
                  <a:spcBef>
                    <a:spcPts val="90"/>
                  </a:spcBef>
                  <a:tabLst>
                    <a:tab pos="1891030" algn="l"/>
                    <a:tab pos="2404745" algn="l"/>
                  </a:tabLst>
                </a:pPr>
                <a14:m>
                  <m:oMath xmlns:m="http://schemas.openxmlformats.org/officeDocument/2006/math">
                    <m:r>
                      <a:rPr lang="en-US" sz="1650" i="1" spc="-50" dirty="0" smtClean="0">
                        <a:latin typeface="Cambria Math" panose="02040503050406030204" pitchFamily="18" charset="0"/>
                        <a:cs typeface="Arial"/>
                      </a:rPr>
                      <m:t>𝜆</m:t>
                    </m:r>
                  </m:oMath>
                </a14:m>
                <a:r>
                  <a:rPr sz="1650" i="1" dirty="0">
                    <a:latin typeface="Arial"/>
                    <a:cs typeface="Arial"/>
                  </a:rPr>
                  <a:t>	</a:t>
                </a:r>
                <a:r>
                  <a:rPr sz="1650" i="1" spc="-25" dirty="0">
                    <a:latin typeface="Times New Roman"/>
                    <a:cs typeface="Times New Roman"/>
                  </a:rPr>
                  <a:t>n</a:t>
                </a:r>
                <a:r>
                  <a:rPr sz="1650" spc="-25" dirty="0">
                    <a:latin typeface="Cambria"/>
                    <a:cs typeface="Cambria"/>
                  </a:rPr>
                  <a:t>−1</a:t>
                </a:r>
                <a:r>
                  <a:rPr sz="1650" dirty="0">
                    <a:latin typeface="Cambria"/>
                    <a:cs typeface="Cambria"/>
                  </a:rPr>
                  <a:t>	</a:t>
                </a:r>
                <a:r>
                  <a:rPr sz="2475" spc="-67" baseline="1683" dirty="0">
                    <a:latin typeface="Cambria"/>
                    <a:cs typeface="Cambria"/>
                  </a:rPr>
                  <a:t>(</a:t>
                </a:r>
                <a:r>
                  <a:rPr sz="2475" i="1" spc="-67" baseline="1683" dirty="0">
                    <a:latin typeface="Times New Roman"/>
                    <a:cs typeface="Times New Roman"/>
                  </a:rPr>
                  <a:t>n</a:t>
                </a:r>
                <a:r>
                  <a:rPr sz="2475" spc="-67" baseline="1683" dirty="0">
                    <a:latin typeface="Cambria"/>
                    <a:cs typeface="Cambria"/>
                  </a:rPr>
                  <a:t>)</a:t>
                </a:r>
                <a:endParaRPr sz="2475" baseline="1683" dirty="0">
                  <a:latin typeface="Cambria"/>
                  <a:cs typeface="Cambria"/>
                </a:endParaRPr>
              </a:p>
            </p:txBody>
          </p:sp>
        </mc:Choice>
        <mc:Fallback xmlns="">
          <p:sp>
            <p:nvSpPr>
              <p:cNvPr id="56" name="object 56"/>
              <p:cNvSpPr txBox="1">
                <a:spLocks noRot="1" noChangeAspect="1" noMove="1" noResize="1" noEditPoints="1" noAdjustHandles="1" noChangeArrowheads="1" noChangeShapeType="1" noTextEdit="1"/>
              </p:cNvSpPr>
              <p:nvPr/>
            </p:nvSpPr>
            <p:spPr>
              <a:xfrm>
                <a:off x="466843" y="5534429"/>
                <a:ext cx="2661285" cy="275590"/>
              </a:xfrm>
              <a:prstGeom prst="rect">
                <a:avLst/>
              </a:prstGeom>
              <a:blipFill>
                <a:blip r:embed="rId11"/>
                <a:stretch>
                  <a:fillRect l="-2523" t="-22222" r="-4358" b="-42222"/>
                </a:stretch>
              </a:blipFill>
            </p:spPr>
            <p:txBody>
              <a:bodyPr/>
              <a:lstStyle/>
              <a:p>
                <a:r>
                  <a:rPr lang="en-US">
                    <a:noFill/>
                  </a:rPr>
                  <a:t> </a:t>
                </a:r>
              </a:p>
            </p:txBody>
          </p:sp>
        </mc:Fallback>
      </mc:AlternateContent>
      <p:sp>
        <p:nvSpPr>
          <p:cNvPr id="57" name="object 57"/>
          <p:cNvSpPr txBox="1"/>
          <p:nvPr/>
        </p:nvSpPr>
        <p:spPr>
          <a:xfrm>
            <a:off x="2829950" y="5738654"/>
            <a:ext cx="83820" cy="275590"/>
          </a:xfrm>
          <a:prstGeom prst="rect">
            <a:avLst/>
          </a:prstGeom>
        </p:spPr>
        <p:txBody>
          <a:bodyPr vert="horz" wrap="square" lIns="0" tIns="11430" rIns="0" bIns="0" rtlCol="0">
            <a:spAutoFit/>
          </a:bodyPr>
          <a:lstStyle/>
          <a:p>
            <a:pPr marL="12700">
              <a:lnSpc>
                <a:spcPct val="100000"/>
              </a:lnSpc>
              <a:spcBef>
                <a:spcPts val="90"/>
              </a:spcBef>
            </a:pPr>
            <a:r>
              <a:rPr sz="1650" i="1" spc="-5" dirty="0">
                <a:latin typeface="Times New Roman"/>
                <a:cs typeface="Times New Roman"/>
              </a:rPr>
              <a:t>t</a:t>
            </a:r>
            <a:endParaRPr sz="1650">
              <a:latin typeface="Times New Roman"/>
              <a:cs typeface="Times New Roman"/>
            </a:endParaRPr>
          </a:p>
        </p:txBody>
      </p:sp>
      <p:sp>
        <p:nvSpPr>
          <p:cNvPr id="58" name="object 58"/>
          <p:cNvSpPr txBox="1"/>
          <p:nvPr/>
        </p:nvSpPr>
        <p:spPr>
          <a:xfrm>
            <a:off x="4192534" y="3459385"/>
            <a:ext cx="1729739" cy="421640"/>
          </a:xfrm>
          <a:prstGeom prst="rect">
            <a:avLst/>
          </a:prstGeom>
        </p:spPr>
        <p:txBody>
          <a:bodyPr vert="horz" wrap="square" lIns="0" tIns="12700" rIns="0" bIns="0" rtlCol="0">
            <a:spAutoFit/>
          </a:bodyPr>
          <a:lstStyle/>
          <a:p>
            <a:pPr marL="12700">
              <a:lnSpc>
                <a:spcPct val="100000"/>
              </a:lnSpc>
              <a:spcBef>
                <a:spcPts val="100"/>
              </a:spcBef>
            </a:pPr>
            <a:r>
              <a:rPr sz="2600" i="1" spc="-114" dirty="0">
                <a:solidFill>
                  <a:srgbClr val="C82506"/>
                </a:solidFill>
                <a:latin typeface="Arial"/>
                <a:cs typeface="Arial"/>
              </a:rPr>
              <a:t>n</a:t>
            </a:r>
            <a:r>
              <a:rPr sz="2600" spc="-114" dirty="0">
                <a:solidFill>
                  <a:srgbClr val="C82506"/>
                </a:solidFill>
                <a:latin typeface="Arial"/>
                <a:cs typeface="Arial"/>
              </a:rPr>
              <a:t>-</a:t>
            </a:r>
            <a:r>
              <a:rPr sz="2600" spc="-95" dirty="0">
                <a:solidFill>
                  <a:srgbClr val="C82506"/>
                </a:solidFill>
                <a:latin typeface="Arial"/>
                <a:cs typeface="Arial"/>
              </a:rPr>
              <a:t>step</a:t>
            </a:r>
            <a:r>
              <a:rPr sz="2600" spc="-190" dirty="0">
                <a:solidFill>
                  <a:srgbClr val="C82506"/>
                </a:solidFill>
                <a:latin typeface="Arial"/>
                <a:cs typeface="Arial"/>
              </a:rPr>
              <a:t> </a:t>
            </a:r>
            <a:r>
              <a:rPr sz="2600" spc="-100" dirty="0">
                <a:solidFill>
                  <a:srgbClr val="C82506"/>
                </a:solidFill>
                <a:latin typeface="Arial"/>
                <a:cs typeface="Arial"/>
              </a:rPr>
              <a:t>Sarsa</a:t>
            </a:r>
            <a:endParaRPr sz="2600">
              <a:latin typeface="Arial"/>
              <a:cs typeface="Arial"/>
            </a:endParaRPr>
          </a:p>
        </p:txBody>
      </p:sp>
      <p:sp>
        <p:nvSpPr>
          <p:cNvPr id="62" name="Date Placeholder 3">
            <a:extLst>
              <a:ext uri="{FF2B5EF4-FFF2-40B4-BE49-F238E27FC236}">
                <a16:creationId xmlns:a16="http://schemas.microsoft.com/office/drawing/2014/main" id="{1FDB0C65-D7FD-27AF-A811-F39957675B5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3" name="Footer Placeholder 5">
            <a:extLst>
              <a:ext uri="{FF2B5EF4-FFF2-40B4-BE49-F238E27FC236}">
                <a16:creationId xmlns:a16="http://schemas.microsoft.com/office/drawing/2014/main" id="{1FCFC806-DC90-09AC-A1D6-C5AE4F81B90F}"/>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4" name="Slide Number Placeholder 7">
            <a:extLst>
              <a:ext uri="{FF2B5EF4-FFF2-40B4-BE49-F238E27FC236}">
                <a16:creationId xmlns:a16="http://schemas.microsoft.com/office/drawing/2014/main" id="{F1C4025D-5AC4-9A57-7D99-693F650C1259}"/>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5899"/>
          <a:stretch/>
        </p:blipFill>
        <p:spPr>
          <a:xfrm>
            <a:off x="0" y="1600200"/>
            <a:ext cx="8902700" cy="4908208"/>
          </a:xfrm>
          <a:prstGeom prst="rect">
            <a:avLst/>
          </a:prstGeom>
        </p:spPr>
      </p:pic>
      <p:sp>
        <p:nvSpPr>
          <p:cNvPr id="3" name="object 3"/>
          <p:cNvSpPr txBox="1">
            <a:spLocks noGrp="1"/>
          </p:cNvSpPr>
          <p:nvPr>
            <p:ph type="title"/>
          </p:nvPr>
        </p:nvSpPr>
        <p:spPr>
          <a:xfrm>
            <a:off x="97139" y="421537"/>
            <a:ext cx="5172710" cy="421640"/>
          </a:xfrm>
          <a:prstGeom prst="rect">
            <a:avLst/>
          </a:prstGeom>
        </p:spPr>
        <p:txBody>
          <a:bodyPr vert="horz" wrap="square" lIns="0" tIns="12700" rIns="0" bIns="0" rtlCol="0">
            <a:spAutoFit/>
          </a:bodyPr>
          <a:lstStyle/>
          <a:p>
            <a:pPr marL="12700">
              <a:lnSpc>
                <a:spcPct val="100000"/>
              </a:lnSpc>
              <a:spcBef>
                <a:spcPts val="100"/>
              </a:spcBef>
            </a:pPr>
            <a:r>
              <a:rPr dirty="0"/>
              <a:t>Sarsa(</a:t>
            </a:r>
            <a:r>
              <a:rPr i="1" dirty="0">
                <a:latin typeface="Arial"/>
                <a:cs typeface="Arial"/>
              </a:rPr>
              <a:t>λ</a:t>
            </a:r>
            <a:r>
              <a:rPr dirty="0"/>
              <a:t>)</a:t>
            </a:r>
            <a:r>
              <a:rPr spc="-165" dirty="0"/>
              <a:t> </a:t>
            </a:r>
            <a:r>
              <a:rPr spc="-10" dirty="0"/>
              <a:t>Gridworld</a:t>
            </a:r>
            <a:r>
              <a:rPr spc="-150" dirty="0"/>
              <a:t> </a:t>
            </a:r>
            <a:r>
              <a:rPr dirty="0"/>
              <a:t>Example</a:t>
            </a:r>
            <a:r>
              <a:rPr spc="-160" dirty="0"/>
              <a:t> </a:t>
            </a:r>
            <a:r>
              <a:rPr sz="1300" dirty="0"/>
              <a:t>[Sutton</a:t>
            </a:r>
            <a:r>
              <a:rPr sz="1300" spc="-75" dirty="0"/>
              <a:t> </a:t>
            </a:r>
            <a:r>
              <a:rPr sz="1300" spc="-10" dirty="0"/>
              <a:t>Barto]</a:t>
            </a:r>
            <a:endParaRPr sz="1300">
              <a:latin typeface="Arial"/>
              <a:cs typeface="Arial"/>
            </a:endParaRPr>
          </a:p>
        </p:txBody>
      </p:sp>
      <p:sp>
        <p:nvSpPr>
          <p:cNvPr id="4" name="Date Placeholder 3">
            <a:extLst>
              <a:ext uri="{FF2B5EF4-FFF2-40B4-BE49-F238E27FC236}">
                <a16:creationId xmlns:a16="http://schemas.microsoft.com/office/drawing/2014/main" id="{6BB58D7D-4001-1F64-8A7F-320DB869DA5E}"/>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3D20998-F18D-AD40-1870-1CC5EE1AFEE6}"/>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9783800-59D8-E063-D1A6-8D4A50077E47}"/>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3896" y="1897278"/>
            <a:ext cx="7611689" cy="4293345"/>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431800">
              <a:lnSpc>
                <a:spcPct val="100000"/>
              </a:lnSpc>
              <a:spcBef>
                <a:spcPts val="100"/>
              </a:spcBef>
            </a:pPr>
            <a:r>
              <a:rPr spc="-50" dirty="0"/>
              <a:t>Sarsa(</a:t>
            </a:r>
            <a:r>
              <a:rPr i="1" spc="-50" dirty="0">
                <a:latin typeface="Arial"/>
                <a:cs typeface="Arial"/>
              </a:rPr>
              <a:t>λ</a:t>
            </a:r>
            <a:r>
              <a:rPr spc="-50" dirty="0"/>
              <a:t>)</a:t>
            </a:r>
            <a:r>
              <a:rPr spc="-215" dirty="0"/>
              <a:t> </a:t>
            </a:r>
            <a:r>
              <a:rPr spc="-20" dirty="0"/>
              <a:t>Algorithm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41300">
              <a:lnSpc>
                <a:spcPct val="100000"/>
              </a:lnSpc>
              <a:spcBef>
                <a:spcPts val="100"/>
              </a:spcBef>
            </a:pPr>
            <a:r>
              <a:rPr spc="-100" dirty="0"/>
              <a:t>Backward</a:t>
            </a:r>
            <a:r>
              <a:rPr spc="-135" dirty="0"/>
              <a:t> </a:t>
            </a:r>
            <a:r>
              <a:rPr spc="-50" dirty="0"/>
              <a:t>View</a:t>
            </a:r>
            <a:r>
              <a:rPr spc="-95" dirty="0"/>
              <a:t> </a:t>
            </a:r>
            <a:r>
              <a:rPr spc="75" dirty="0"/>
              <a:t>TD(</a:t>
            </a:r>
            <a:r>
              <a:rPr i="1" spc="75" dirty="0">
                <a:latin typeface="Arial"/>
                <a:cs typeface="Arial"/>
              </a:rPr>
              <a:t>λ</a:t>
            </a:r>
            <a:r>
              <a:rPr spc="75" dirty="0"/>
              <a:t>)</a:t>
            </a:r>
          </a:p>
        </p:txBody>
      </p:sp>
      <p:sp>
        <p:nvSpPr>
          <p:cNvPr id="3" name="object 3"/>
          <p:cNvSpPr txBox="1"/>
          <p:nvPr/>
        </p:nvSpPr>
        <p:spPr>
          <a:xfrm>
            <a:off x="539435" y="2701796"/>
            <a:ext cx="7768590" cy="2526333"/>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800" dirty="0">
                <a:latin typeface="Gill Sans MT"/>
                <a:cs typeface="Gill Sans MT"/>
              </a:rPr>
              <a:t>Forward</a:t>
            </a:r>
            <a:r>
              <a:rPr sz="2800" spc="-95" dirty="0">
                <a:latin typeface="Gill Sans MT"/>
                <a:cs typeface="Gill Sans MT"/>
              </a:rPr>
              <a:t> </a:t>
            </a:r>
            <a:r>
              <a:rPr sz="2800" dirty="0">
                <a:latin typeface="Gill Sans MT"/>
                <a:cs typeface="Gill Sans MT"/>
              </a:rPr>
              <a:t>view</a:t>
            </a:r>
            <a:r>
              <a:rPr sz="2800" spc="-85" dirty="0">
                <a:latin typeface="Gill Sans MT"/>
                <a:cs typeface="Gill Sans MT"/>
              </a:rPr>
              <a:t> </a:t>
            </a:r>
            <a:r>
              <a:rPr sz="2800" dirty="0">
                <a:latin typeface="Gill Sans MT"/>
                <a:cs typeface="Gill Sans MT"/>
              </a:rPr>
              <a:t>(above)</a:t>
            </a:r>
            <a:r>
              <a:rPr sz="2800" spc="-85" dirty="0">
                <a:latin typeface="Gill Sans MT"/>
                <a:cs typeface="Gill Sans MT"/>
              </a:rPr>
              <a:t> </a:t>
            </a:r>
            <a:r>
              <a:rPr sz="2800" dirty="0">
                <a:latin typeface="Gill Sans MT"/>
                <a:cs typeface="Gill Sans MT"/>
              </a:rPr>
              <a:t>provides</a:t>
            </a:r>
            <a:r>
              <a:rPr sz="2800" spc="-85" dirty="0">
                <a:latin typeface="Gill Sans MT"/>
                <a:cs typeface="Gill Sans MT"/>
              </a:rPr>
              <a:t> </a:t>
            </a:r>
            <a:r>
              <a:rPr sz="2800" spc="-10" dirty="0">
                <a:latin typeface="Gill Sans MT"/>
                <a:cs typeface="Gill Sans MT"/>
              </a:rPr>
              <a:t>theory</a:t>
            </a:r>
            <a:endParaRPr sz="2800" dirty="0">
              <a:latin typeface="Gill Sans MT"/>
              <a:cs typeface="Gill Sans MT"/>
            </a:endParaRPr>
          </a:p>
          <a:p>
            <a:pPr>
              <a:lnSpc>
                <a:spcPct val="100000"/>
              </a:lnSpc>
              <a:spcBef>
                <a:spcPts val="20"/>
              </a:spcBef>
              <a:buFont typeface="Gill Sans MT"/>
              <a:buChar char="•"/>
            </a:pPr>
            <a:endParaRPr sz="2600" dirty="0">
              <a:latin typeface="Gill Sans MT"/>
              <a:cs typeface="Gill Sans MT"/>
            </a:endParaRPr>
          </a:p>
          <a:p>
            <a:pPr marL="241300" indent="-228600">
              <a:lnSpc>
                <a:spcPct val="100000"/>
              </a:lnSpc>
              <a:spcBef>
                <a:spcPts val="5"/>
              </a:spcBef>
              <a:buChar char="•"/>
              <a:tabLst>
                <a:tab pos="241300" algn="l"/>
              </a:tabLst>
            </a:pPr>
            <a:r>
              <a:rPr sz="2800" dirty="0">
                <a:latin typeface="Gill Sans MT"/>
                <a:cs typeface="Gill Sans MT"/>
              </a:rPr>
              <a:t>Backward</a:t>
            </a:r>
            <a:r>
              <a:rPr sz="2800" spc="-65" dirty="0">
                <a:latin typeface="Gill Sans MT"/>
                <a:cs typeface="Gill Sans MT"/>
              </a:rPr>
              <a:t> </a:t>
            </a:r>
            <a:r>
              <a:rPr sz="2800" dirty="0">
                <a:latin typeface="Gill Sans MT"/>
                <a:cs typeface="Gill Sans MT"/>
              </a:rPr>
              <a:t>view</a:t>
            </a:r>
            <a:r>
              <a:rPr sz="2800" spc="-55" dirty="0">
                <a:latin typeface="Gill Sans MT"/>
                <a:cs typeface="Gill Sans MT"/>
              </a:rPr>
              <a:t> </a:t>
            </a:r>
            <a:r>
              <a:rPr sz="2800" dirty="0">
                <a:latin typeface="Gill Sans MT"/>
                <a:cs typeface="Gill Sans MT"/>
              </a:rPr>
              <a:t>provides</a:t>
            </a:r>
            <a:r>
              <a:rPr sz="2800" spc="-55" dirty="0">
                <a:latin typeface="Gill Sans MT"/>
                <a:cs typeface="Gill Sans MT"/>
              </a:rPr>
              <a:t> </a:t>
            </a:r>
            <a:r>
              <a:rPr sz="2800" dirty="0">
                <a:latin typeface="Gill Sans MT"/>
                <a:cs typeface="Gill Sans MT"/>
              </a:rPr>
              <a:t>implementation</a:t>
            </a:r>
            <a:r>
              <a:rPr sz="2800" spc="-55" dirty="0">
                <a:latin typeface="Gill Sans MT"/>
                <a:cs typeface="Gill Sans MT"/>
              </a:rPr>
              <a:t> </a:t>
            </a:r>
            <a:r>
              <a:rPr sz="2800" spc="-10" dirty="0">
                <a:latin typeface="Gill Sans MT"/>
                <a:cs typeface="Gill Sans MT"/>
              </a:rPr>
              <a:t>mechanism</a:t>
            </a:r>
            <a:endParaRPr sz="2800" dirty="0">
              <a:latin typeface="Gill Sans MT"/>
              <a:cs typeface="Gill Sans MT"/>
            </a:endParaRPr>
          </a:p>
          <a:p>
            <a:pPr>
              <a:lnSpc>
                <a:spcPct val="100000"/>
              </a:lnSpc>
              <a:spcBef>
                <a:spcPts val="30"/>
              </a:spcBef>
              <a:buFont typeface="Gill Sans MT"/>
              <a:buChar char="•"/>
            </a:pPr>
            <a:endParaRPr sz="2800" dirty="0">
              <a:latin typeface="Gill Sans MT"/>
              <a:cs typeface="Gill Sans MT"/>
            </a:endParaRPr>
          </a:p>
          <a:p>
            <a:pPr marL="583565" marR="3216910" lvl="1" indent="-228600">
              <a:lnSpc>
                <a:spcPts val="3200"/>
              </a:lnSpc>
              <a:buChar char="•"/>
              <a:tabLst>
                <a:tab pos="584200" algn="l"/>
              </a:tabLst>
            </a:pPr>
            <a:r>
              <a:rPr sz="2800" dirty="0">
                <a:latin typeface="Gill Sans MT"/>
                <a:cs typeface="Gill Sans MT"/>
              </a:rPr>
              <a:t>updates online,</a:t>
            </a:r>
            <a:r>
              <a:rPr sz="2800" spc="-280" dirty="0">
                <a:latin typeface="Gill Sans MT"/>
                <a:cs typeface="Gill Sans MT"/>
              </a:rPr>
              <a:t> </a:t>
            </a:r>
            <a:r>
              <a:rPr sz="2800" dirty="0">
                <a:latin typeface="Gill Sans MT"/>
                <a:cs typeface="Gill Sans MT"/>
              </a:rPr>
              <a:t>every</a:t>
            </a:r>
            <a:r>
              <a:rPr sz="2800" spc="10" dirty="0">
                <a:latin typeface="Gill Sans MT"/>
                <a:cs typeface="Gill Sans MT"/>
              </a:rPr>
              <a:t> </a:t>
            </a:r>
            <a:r>
              <a:rPr sz="2800" spc="-10" dirty="0">
                <a:latin typeface="Gill Sans MT"/>
                <a:cs typeface="Gill Sans MT"/>
              </a:rPr>
              <a:t>step,</a:t>
            </a:r>
            <a:r>
              <a:rPr lang="en-US" sz="2800" spc="-10" dirty="0">
                <a:latin typeface="Gill Sans MT"/>
                <a:cs typeface="Gill Sans MT"/>
              </a:rPr>
              <a:t> </a:t>
            </a:r>
            <a:r>
              <a:rPr sz="2800" dirty="0">
                <a:latin typeface="Gill Sans MT"/>
                <a:cs typeface="Gill Sans MT"/>
              </a:rPr>
              <a:t>from</a:t>
            </a:r>
            <a:r>
              <a:rPr sz="2800" spc="-45" dirty="0">
                <a:latin typeface="Gill Sans MT"/>
                <a:cs typeface="Gill Sans MT"/>
              </a:rPr>
              <a:t> </a:t>
            </a:r>
            <a:r>
              <a:rPr sz="2800" dirty="0">
                <a:latin typeface="Gill Sans MT"/>
                <a:cs typeface="Gill Sans MT"/>
              </a:rPr>
              <a:t>incomplete</a:t>
            </a:r>
            <a:r>
              <a:rPr sz="2800" spc="-40" dirty="0">
                <a:latin typeface="Gill Sans MT"/>
                <a:cs typeface="Gill Sans MT"/>
              </a:rPr>
              <a:t> </a:t>
            </a:r>
            <a:r>
              <a:rPr sz="2800" spc="-10" dirty="0">
                <a:latin typeface="Gill Sans MT"/>
                <a:cs typeface="Gill Sans MT"/>
              </a:rPr>
              <a:t>sequences</a:t>
            </a:r>
            <a:endParaRPr sz="2800" dirty="0">
              <a:latin typeface="Gill Sans MT"/>
              <a:cs typeface="Gill Sans MT"/>
            </a:endParaRPr>
          </a:p>
        </p:txBody>
      </p:sp>
      <p:sp>
        <p:nvSpPr>
          <p:cNvPr id="4" name="Date Placeholder 3">
            <a:extLst>
              <a:ext uri="{FF2B5EF4-FFF2-40B4-BE49-F238E27FC236}">
                <a16:creationId xmlns:a16="http://schemas.microsoft.com/office/drawing/2014/main" id="{13B0BDD0-449C-4EC9-C001-D1A3B6D8E20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D24D9BA4-E363-89F3-A47F-E80110DCEFD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7C9C9271-C5EC-0EB3-9649-DAA71C16AF2D}"/>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150" y="358037"/>
            <a:ext cx="4620260" cy="421640"/>
          </a:xfrm>
          <a:prstGeom prst="rect">
            <a:avLst/>
          </a:prstGeom>
        </p:spPr>
        <p:txBody>
          <a:bodyPr vert="horz" wrap="square" lIns="0" tIns="12700" rIns="0" bIns="0" rtlCol="0">
            <a:spAutoFit/>
          </a:bodyPr>
          <a:lstStyle/>
          <a:p>
            <a:pPr marL="12700">
              <a:lnSpc>
                <a:spcPct val="100000"/>
              </a:lnSpc>
              <a:spcBef>
                <a:spcPts val="100"/>
              </a:spcBef>
            </a:pPr>
            <a:r>
              <a:rPr spc="-30" dirty="0"/>
              <a:t>On-</a:t>
            </a:r>
            <a:r>
              <a:rPr spc="-35" dirty="0"/>
              <a:t>Policy</a:t>
            </a:r>
            <a:r>
              <a:rPr spc="-114" dirty="0"/>
              <a:t> </a:t>
            </a:r>
            <a:r>
              <a:rPr dirty="0"/>
              <a:t>vs</a:t>
            </a:r>
            <a:r>
              <a:rPr spc="-135" dirty="0"/>
              <a:t> </a:t>
            </a:r>
            <a:r>
              <a:rPr spc="-60" dirty="0"/>
              <a:t>Off-</a:t>
            </a:r>
            <a:r>
              <a:rPr spc="-40" dirty="0"/>
              <a:t>Policy</a:t>
            </a:r>
            <a:r>
              <a:rPr spc="-130" dirty="0"/>
              <a:t> </a:t>
            </a:r>
            <a:r>
              <a:rPr spc="-10" dirty="0"/>
              <a:t>Learning</a:t>
            </a:r>
          </a:p>
        </p:txBody>
      </p:sp>
      <p:sp>
        <p:nvSpPr>
          <p:cNvPr id="3" name="object 3"/>
          <p:cNvSpPr txBox="1"/>
          <p:nvPr/>
        </p:nvSpPr>
        <p:spPr>
          <a:xfrm>
            <a:off x="463769" y="1782359"/>
            <a:ext cx="2582545" cy="436880"/>
          </a:xfrm>
          <a:prstGeom prst="rect">
            <a:avLst/>
          </a:prstGeom>
        </p:spPr>
        <p:txBody>
          <a:bodyPr vert="horz" wrap="square" lIns="0" tIns="12700" rIns="0" bIns="0" rtlCol="0">
            <a:spAutoFit/>
          </a:bodyPr>
          <a:lstStyle/>
          <a:p>
            <a:pPr marL="12700">
              <a:lnSpc>
                <a:spcPct val="100000"/>
              </a:lnSpc>
              <a:spcBef>
                <a:spcPts val="100"/>
              </a:spcBef>
            </a:pPr>
            <a:r>
              <a:rPr sz="2700" spc="-10" dirty="0">
                <a:solidFill>
                  <a:srgbClr val="C82506"/>
                </a:solidFill>
                <a:latin typeface="Gill Sans MT"/>
                <a:cs typeface="Gill Sans MT"/>
              </a:rPr>
              <a:t>On-</a:t>
            </a:r>
            <a:r>
              <a:rPr sz="2700" dirty="0">
                <a:solidFill>
                  <a:srgbClr val="C82506"/>
                </a:solidFill>
                <a:latin typeface="Gill Sans MT"/>
                <a:cs typeface="Gill Sans MT"/>
              </a:rPr>
              <a:t>policy</a:t>
            </a:r>
            <a:r>
              <a:rPr sz="2700" spc="10" dirty="0">
                <a:solidFill>
                  <a:srgbClr val="C82506"/>
                </a:solidFill>
                <a:latin typeface="Gill Sans MT"/>
                <a:cs typeface="Gill Sans MT"/>
              </a:rPr>
              <a:t> </a:t>
            </a:r>
            <a:r>
              <a:rPr sz="2700" spc="-10" dirty="0">
                <a:solidFill>
                  <a:srgbClr val="C82506"/>
                </a:solidFill>
                <a:latin typeface="Gill Sans MT"/>
                <a:cs typeface="Gill Sans MT"/>
              </a:rPr>
              <a:t>learning</a:t>
            </a:r>
            <a:endParaRPr sz="2700">
              <a:latin typeface="Gill Sans MT"/>
              <a:cs typeface="Gill Sans MT"/>
            </a:endParaRPr>
          </a:p>
        </p:txBody>
      </p:sp>
      <mc:AlternateContent xmlns:mc="http://schemas.openxmlformats.org/markup-compatibility/2006" xmlns:a14="http://schemas.microsoft.com/office/drawing/2010/main">
        <mc:Choice Requires="a14">
          <p:sp>
            <p:nvSpPr>
              <p:cNvPr id="4" name="object 4"/>
              <p:cNvSpPr txBox="1"/>
              <p:nvPr/>
            </p:nvSpPr>
            <p:spPr>
              <a:xfrm>
                <a:off x="806668" y="2569927"/>
                <a:ext cx="3765331" cy="843821"/>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lang="en-US" sz="2700" i="1" dirty="0">
                    <a:latin typeface="Gill Sans MT"/>
                    <a:cs typeface="Gill Sans MT"/>
                  </a:rPr>
                  <a:t>Learn</a:t>
                </a:r>
                <a:r>
                  <a:rPr lang="en-US" sz="2700" i="1" spc="-5" dirty="0">
                    <a:latin typeface="Gill Sans MT"/>
                    <a:cs typeface="Gill Sans MT"/>
                  </a:rPr>
                  <a:t> </a:t>
                </a:r>
                <a:r>
                  <a:rPr lang="en-US" sz="2700" i="1" dirty="0">
                    <a:latin typeface="Gill Sans MT"/>
                    <a:cs typeface="Gill Sans MT"/>
                  </a:rPr>
                  <a:t>on</a:t>
                </a:r>
                <a:r>
                  <a:rPr lang="en-US" sz="2700" i="1" spc="-10" dirty="0">
                    <a:latin typeface="Gill Sans MT"/>
                    <a:cs typeface="Gill Sans MT"/>
                  </a:rPr>
                  <a:t> </a:t>
                </a:r>
                <a:r>
                  <a:rPr lang="en-US" sz="2700" i="1" dirty="0">
                    <a:latin typeface="Gill Sans MT"/>
                    <a:cs typeface="Gill Sans MT"/>
                  </a:rPr>
                  <a:t>the </a:t>
                </a:r>
                <a:r>
                  <a:rPr lang="en-US" sz="2700" i="1" spc="-25" dirty="0">
                    <a:latin typeface="Gill Sans MT"/>
                    <a:cs typeface="Gill Sans MT"/>
                  </a:rPr>
                  <a:t>job</a:t>
                </a:r>
                <a:endParaRPr lang="en-US" sz="2700" dirty="0">
                  <a:latin typeface="Gill Sans MT"/>
                  <a:cs typeface="Gill Sans MT"/>
                </a:endParaRPr>
              </a:p>
              <a:p>
                <a:pPr marL="241300" indent="-228600">
                  <a:lnSpc>
                    <a:spcPct val="100000"/>
                  </a:lnSpc>
                  <a:buChar char="•"/>
                  <a:tabLst>
                    <a:tab pos="241300" algn="l"/>
                  </a:tabLst>
                </a:pPr>
                <a:r>
                  <a:rPr lang="en-US" sz="2700" dirty="0">
                    <a:latin typeface="Gill Sans MT"/>
                    <a:cs typeface="Gill Sans MT"/>
                  </a:rPr>
                  <a:t>Learn</a:t>
                </a:r>
                <a:r>
                  <a:rPr lang="en-US" sz="2700" spc="-10" dirty="0">
                    <a:latin typeface="Gill Sans MT"/>
                    <a:cs typeface="Gill Sans MT"/>
                  </a:rPr>
                  <a:t> </a:t>
                </a:r>
                <a:r>
                  <a:rPr lang="en-US" sz="2700" dirty="0">
                    <a:latin typeface="Gill Sans MT"/>
                    <a:cs typeface="Gill Sans MT"/>
                  </a:rPr>
                  <a:t>about</a:t>
                </a:r>
                <a:r>
                  <a:rPr lang="en-US" sz="2700" spc="-10" dirty="0">
                    <a:latin typeface="Gill Sans MT"/>
                    <a:cs typeface="Gill Sans MT"/>
                  </a:rPr>
                  <a:t> policy </a:t>
                </a:r>
                <a14:m>
                  <m:oMath xmlns:m="http://schemas.openxmlformats.org/officeDocument/2006/math">
                    <m:r>
                      <a:rPr lang="en-US" sz="2700" b="0" i="1" spc="-10" smtClean="0">
                        <a:latin typeface="Cambria Math" panose="02040503050406030204" pitchFamily="18" charset="0"/>
                        <a:cs typeface="Gill Sans MT"/>
                      </a:rPr>
                      <m:t>𝜋</m:t>
                    </m:r>
                  </m:oMath>
                </a14:m>
                <a:endParaRPr sz="2700" dirty="0">
                  <a:latin typeface="Gill Sans MT"/>
                  <a:cs typeface="Gill Sans MT"/>
                </a:endParaRPr>
              </a:p>
            </p:txBody>
          </p:sp>
        </mc:Choice>
        <mc:Fallback xmlns="">
          <p:sp>
            <p:nvSpPr>
              <p:cNvPr id="4" name="object 4"/>
              <p:cNvSpPr txBox="1">
                <a:spLocks noRot="1" noChangeAspect="1" noMove="1" noResize="1" noEditPoints="1" noAdjustHandles="1" noChangeArrowheads="1" noChangeShapeType="1" noTextEdit="1"/>
              </p:cNvSpPr>
              <p:nvPr/>
            </p:nvSpPr>
            <p:spPr>
              <a:xfrm>
                <a:off x="806668" y="2569927"/>
                <a:ext cx="3765331" cy="843821"/>
              </a:xfrm>
              <a:prstGeom prst="rect">
                <a:avLst/>
              </a:prstGeom>
              <a:blipFill>
                <a:blip r:embed="rId3"/>
                <a:stretch>
                  <a:fillRect l="-5016" t="-11594" b="-23913"/>
                </a:stretch>
              </a:blipFill>
            </p:spPr>
            <p:txBody>
              <a:bodyPr/>
              <a:lstStyle/>
              <a:p>
                <a:r>
                  <a:rPr lang="en-US">
                    <a:noFill/>
                  </a:rPr>
                  <a:t> </a:t>
                </a:r>
              </a:p>
            </p:txBody>
          </p:sp>
        </mc:Fallback>
      </mc:AlternateContent>
      <p:sp>
        <p:nvSpPr>
          <p:cNvPr id="5" name="object 5"/>
          <p:cNvSpPr txBox="1"/>
          <p:nvPr/>
        </p:nvSpPr>
        <p:spPr>
          <a:xfrm>
            <a:off x="3988019" y="2992120"/>
            <a:ext cx="4305300" cy="436880"/>
          </a:xfrm>
          <a:prstGeom prst="rect">
            <a:avLst/>
          </a:prstGeom>
        </p:spPr>
        <p:txBody>
          <a:bodyPr vert="horz" wrap="square" lIns="0" tIns="12700" rIns="0" bIns="0" rtlCol="0">
            <a:spAutoFit/>
          </a:bodyPr>
          <a:lstStyle/>
          <a:p>
            <a:pPr marL="12700">
              <a:lnSpc>
                <a:spcPct val="100000"/>
              </a:lnSpc>
              <a:spcBef>
                <a:spcPts val="100"/>
              </a:spcBef>
            </a:pPr>
            <a:r>
              <a:rPr sz="2700" dirty="0">
                <a:latin typeface="Gill Sans MT"/>
                <a:cs typeface="Gill Sans MT"/>
              </a:rPr>
              <a:t>from</a:t>
            </a:r>
            <a:r>
              <a:rPr sz="2700" spc="-25" dirty="0">
                <a:latin typeface="Gill Sans MT"/>
                <a:cs typeface="Gill Sans MT"/>
              </a:rPr>
              <a:t> </a:t>
            </a:r>
            <a:r>
              <a:rPr sz="2700" dirty="0">
                <a:latin typeface="Gill Sans MT"/>
                <a:cs typeface="Gill Sans MT"/>
              </a:rPr>
              <a:t>experience</a:t>
            </a:r>
            <a:r>
              <a:rPr sz="2700" spc="-30" dirty="0">
                <a:latin typeface="Gill Sans MT"/>
                <a:cs typeface="Gill Sans MT"/>
              </a:rPr>
              <a:t> </a:t>
            </a:r>
            <a:r>
              <a:rPr sz="2700" dirty="0">
                <a:latin typeface="Gill Sans MT"/>
                <a:cs typeface="Gill Sans MT"/>
              </a:rPr>
              <a:t>sampled</a:t>
            </a:r>
            <a:r>
              <a:rPr sz="2700" spc="-25" dirty="0">
                <a:latin typeface="Gill Sans MT"/>
                <a:cs typeface="Gill Sans MT"/>
              </a:rPr>
              <a:t> </a:t>
            </a:r>
            <a:r>
              <a:rPr sz="2700" spc="-20" dirty="0">
                <a:latin typeface="Gill Sans MT"/>
                <a:cs typeface="Gill Sans MT"/>
              </a:rPr>
              <a:t>from</a:t>
            </a:r>
            <a:endParaRPr sz="2700" dirty="0">
              <a:latin typeface="Gill Sans MT"/>
              <a:cs typeface="Gill Sans MT"/>
            </a:endParaRPr>
          </a:p>
        </p:txBody>
      </p:sp>
      <mc:AlternateContent xmlns:mc="http://schemas.openxmlformats.org/markup-compatibility/2006" xmlns:a14="http://schemas.microsoft.com/office/drawing/2010/main">
        <mc:Choice Requires="a14">
          <p:sp>
            <p:nvSpPr>
              <p:cNvPr id="6" name="object 6"/>
              <p:cNvSpPr txBox="1"/>
              <p:nvPr/>
            </p:nvSpPr>
            <p:spPr>
              <a:xfrm>
                <a:off x="463769" y="3770932"/>
                <a:ext cx="7829550" cy="1651734"/>
              </a:xfrm>
              <a:prstGeom prst="rect">
                <a:avLst/>
              </a:prstGeom>
            </p:spPr>
            <p:txBody>
              <a:bodyPr vert="horz" wrap="square" lIns="0" tIns="12700" rIns="0" bIns="0" rtlCol="0">
                <a:spAutoFit/>
              </a:bodyPr>
              <a:lstStyle/>
              <a:p>
                <a:pPr marL="12700">
                  <a:lnSpc>
                    <a:spcPct val="100000"/>
                  </a:lnSpc>
                  <a:spcBef>
                    <a:spcPts val="100"/>
                  </a:spcBef>
                </a:pPr>
                <a:r>
                  <a:rPr lang="en-US" sz="2700" spc="-10" dirty="0">
                    <a:solidFill>
                      <a:srgbClr val="C82506"/>
                    </a:solidFill>
                    <a:latin typeface="Gill Sans MT"/>
                    <a:cs typeface="Gill Sans MT"/>
                  </a:rPr>
                  <a:t>Off-</a:t>
                </a:r>
                <a:r>
                  <a:rPr lang="en-US" sz="2700" dirty="0">
                    <a:solidFill>
                      <a:srgbClr val="C82506"/>
                    </a:solidFill>
                    <a:latin typeface="Gill Sans MT"/>
                    <a:cs typeface="Gill Sans MT"/>
                  </a:rPr>
                  <a:t>policy</a:t>
                </a:r>
                <a:r>
                  <a:rPr lang="en-US" sz="2700" spc="20" dirty="0">
                    <a:solidFill>
                      <a:srgbClr val="C82506"/>
                    </a:solidFill>
                    <a:latin typeface="Gill Sans MT"/>
                    <a:cs typeface="Gill Sans MT"/>
                  </a:rPr>
                  <a:t> </a:t>
                </a:r>
                <a:r>
                  <a:rPr lang="en-US" sz="2700" spc="-10" dirty="0">
                    <a:solidFill>
                      <a:srgbClr val="C82506"/>
                    </a:solidFill>
                    <a:latin typeface="Gill Sans MT"/>
                    <a:cs typeface="Gill Sans MT"/>
                  </a:rPr>
                  <a:t>learning</a:t>
                </a:r>
                <a:endParaRPr lang="en-US" sz="2700" dirty="0">
                  <a:latin typeface="Gill Sans MT"/>
                  <a:cs typeface="Gill Sans MT"/>
                </a:endParaRPr>
              </a:p>
              <a:p>
                <a:pPr>
                  <a:lnSpc>
                    <a:spcPct val="100000"/>
                  </a:lnSpc>
                </a:pPr>
                <a:endParaRPr lang="en-US" sz="2550" dirty="0">
                  <a:latin typeface="Gill Sans MT"/>
                  <a:cs typeface="Gill Sans MT"/>
                </a:endParaRPr>
              </a:p>
              <a:p>
                <a:pPr marL="584200" indent="-229235">
                  <a:lnSpc>
                    <a:spcPct val="100000"/>
                  </a:lnSpc>
                  <a:spcBef>
                    <a:spcPts val="5"/>
                  </a:spcBef>
                  <a:buChar char="•"/>
                  <a:tabLst>
                    <a:tab pos="584200" algn="l"/>
                  </a:tabLst>
                </a:pPr>
                <a:r>
                  <a:rPr lang="en-US" sz="2700" i="1" dirty="0">
                    <a:latin typeface="Gill Sans MT"/>
                    <a:cs typeface="Gill Sans MT"/>
                  </a:rPr>
                  <a:t>Look</a:t>
                </a:r>
                <a:r>
                  <a:rPr lang="en-US" sz="2700" i="1" spc="-75" dirty="0">
                    <a:latin typeface="Gill Sans MT"/>
                    <a:cs typeface="Gill Sans MT"/>
                  </a:rPr>
                  <a:t> </a:t>
                </a:r>
                <a:r>
                  <a:rPr lang="en-US" sz="2700" i="1" dirty="0">
                    <a:latin typeface="Gill Sans MT"/>
                    <a:cs typeface="Gill Sans MT"/>
                  </a:rPr>
                  <a:t>over</a:t>
                </a:r>
                <a:r>
                  <a:rPr lang="en-US" sz="2700" i="1" spc="-75" dirty="0">
                    <a:latin typeface="Gill Sans MT"/>
                    <a:cs typeface="Gill Sans MT"/>
                  </a:rPr>
                  <a:t> </a:t>
                </a:r>
                <a:r>
                  <a:rPr lang="en-US" sz="2700" i="1" dirty="0">
                    <a:latin typeface="Gill Sans MT"/>
                    <a:cs typeface="Gill Sans MT"/>
                  </a:rPr>
                  <a:t>someone’s</a:t>
                </a:r>
                <a:r>
                  <a:rPr lang="en-US" sz="2700" i="1" spc="-70" dirty="0">
                    <a:latin typeface="Gill Sans MT"/>
                    <a:cs typeface="Gill Sans MT"/>
                  </a:rPr>
                  <a:t> </a:t>
                </a:r>
                <a:r>
                  <a:rPr lang="en-US" sz="2700" i="1" spc="-10" dirty="0">
                    <a:latin typeface="Gill Sans MT"/>
                    <a:cs typeface="Gill Sans MT"/>
                  </a:rPr>
                  <a:t>shoulder</a:t>
                </a:r>
                <a:endParaRPr lang="en-US" sz="2700" dirty="0">
                  <a:latin typeface="Gill Sans MT"/>
                  <a:cs typeface="Gill Sans MT"/>
                </a:endParaRPr>
              </a:p>
              <a:p>
                <a:pPr marL="584200" indent="-229235">
                  <a:lnSpc>
                    <a:spcPct val="100000"/>
                  </a:lnSpc>
                  <a:buChar char="•"/>
                  <a:tabLst>
                    <a:tab pos="584200" algn="l"/>
                    <a:tab pos="3536315" algn="l"/>
                  </a:tabLst>
                </a:pPr>
                <a:r>
                  <a:rPr lang="en-US" sz="2700" dirty="0">
                    <a:latin typeface="Gill Sans MT"/>
                    <a:cs typeface="Gill Sans MT"/>
                  </a:rPr>
                  <a:t>Learn</a:t>
                </a:r>
                <a:r>
                  <a:rPr lang="en-US" sz="2700" spc="-10" dirty="0">
                    <a:latin typeface="Gill Sans MT"/>
                    <a:cs typeface="Gill Sans MT"/>
                  </a:rPr>
                  <a:t> </a:t>
                </a:r>
                <a:r>
                  <a:rPr lang="en-US" sz="2700" dirty="0">
                    <a:latin typeface="Gill Sans MT"/>
                    <a:cs typeface="Gill Sans MT"/>
                  </a:rPr>
                  <a:t>about</a:t>
                </a:r>
                <a:r>
                  <a:rPr lang="en-US" sz="2700" spc="-10" dirty="0">
                    <a:latin typeface="Gill Sans MT"/>
                    <a:cs typeface="Gill Sans MT"/>
                  </a:rPr>
                  <a:t> policy </a:t>
                </a:r>
                <a14:m>
                  <m:oMath xmlns:m="http://schemas.openxmlformats.org/officeDocument/2006/math">
                    <m:r>
                      <a:rPr lang="en-US" sz="2700" b="0" i="1" spc="-10" smtClean="0">
                        <a:latin typeface="Cambria Math" panose="02040503050406030204" pitchFamily="18" charset="0"/>
                        <a:cs typeface="Gill Sans MT"/>
                      </a:rPr>
                      <m:t>𝜋</m:t>
                    </m:r>
                  </m:oMath>
                </a14:m>
                <a:r>
                  <a:rPr lang="en-US" sz="2700" dirty="0">
                    <a:latin typeface="Gill Sans MT"/>
                    <a:cs typeface="Gill Sans MT"/>
                  </a:rPr>
                  <a:t>	from</a:t>
                </a:r>
                <a:r>
                  <a:rPr lang="en-US" sz="2700" spc="-35" dirty="0">
                    <a:latin typeface="Gill Sans MT"/>
                    <a:cs typeface="Gill Sans MT"/>
                  </a:rPr>
                  <a:t> </a:t>
                </a:r>
                <a:r>
                  <a:rPr lang="en-US" sz="2700" dirty="0">
                    <a:latin typeface="Gill Sans MT"/>
                    <a:cs typeface="Gill Sans MT"/>
                  </a:rPr>
                  <a:t>experience</a:t>
                </a:r>
                <a:r>
                  <a:rPr lang="en-US" sz="2700" spc="-30" dirty="0">
                    <a:latin typeface="Gill Sans MT"/>
                    <a:cs typeface="Gill Sans MT"/>
                  </a:rPr>
                  <a:t> </a:t>
                </a:r>
                <a:r>
                  <a:rPr lang="en-US" sz="2700" dirty="0">
                    <a:latin typeface="Gill Sans MT"/>
                    <a:cs typeface="Gill Sans MT"/>
                  </a:rPr>
                  <a:t>sampled</a:t>
                </a:r>
                <a:r>
                  <a:rPr lang="en-US" sz="2700" spc="-25" dirty="0">
                    <a:latin typeface="Gill Sans MT"/>
                    <a:cs typeface="Gill Sans MT"/>
                  </a:rPr>
                  <a:t> </a:t>
                </a:r>
                <a:r>
                  <a:rPr lang="en-US" sz="2700" spc="-20" dirty="0">
                    <a:latin typeface="Gill Sans MT"/>
                    <a:cs typeface="Gill Sans MT"/>
                  </a:rPr>
                  <a:t>from</a:t>
                </a:r>
                <a:endParaRPr sz="2700" dirty="0">
                  <a:latin typeface="Gill Sans MT"/>
                  <a:cs typeface="Gill Sans MT"/>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63769" y="3770932"/>
                <a:ext cx="7829550" cy="1651734"/>
              </a:xfrm>
              <a:prstGeom prst="rect">
                <a:avLst/>
              </a:prstGeom>
              <a:blipFill>
                <a:blip r:embed="rId4"/>
                <a:stretch>
                  <a:fillRect l="-2492" t="-5904" r="-2492" b="-11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42B921C-A3D4-1C2F-8298-B1F16A7CBF5C}"/>
                  </a:ext>
                </a:extLst>
              </p:cNvPr>
              <p:cNvSpPr txBox="1"/>
              <p:nvPr/>
            </p:nvSpPr>
            <p:spPr>
              <a:xfrm>
                <a:off x="1981200" y="6097293"/>
                <a:ext cx="4593430" cy="369332"/>
              </a:xfrm>
              <a:prstGeom prst="rect">
                <a:avLst/>
              </a:prstGeom>
              <a:noFill/>
            </p:spPr>
            <p:txBody>
              <a:bodyPr wrap="square">
                <a:spAutoFit/>
              </a:bodyPr>
              <a:lstStyle/>
              <a:p>
                <a:pPr marL="354965">
                  <a:lnSpc>
                    <a:spcPct val="100000"/>
                  </a:lnSpc>
                  <a:spcBef>
                    <a:spcPts val="5"/>
                  </a:spcBef>
                  <a:tabLst>
                    <a:tab pos="584200" algn="l"/>
                  </a:tabLst>
                </a:pPr>
                <a:r>
                  <a:rPr lang="en-US" sz="1800" i="1" dirty="0">
                    <a:latin typeface="Gill Sans MT"/>
                    <a:cs typeface="Gill Sans MT"/>
                  </a:rPr>
                  <a:t>someone’s</a:t>
                </a:r>
                <a:r>
                  <a:rPr lang="en-US" sz="1800" i="1" spc="-70" dirty="0">
                    <a:latin typeface="Gill Sans MT"/>
                    <a:cs typeface="Gill Sans MT"/>
                  </a:rPr>
                  <a:t> </a:t>
                </a:r>
                <a:r>
                  <a:rPr lang="en-US" sz="1800" i="1" spc="-10" dirty="0">
                    <a:latin typeface="Gill Sans MT"/>
                    <a:cs typeface="Gill Sans MT"/>
                  </a:rPr>
                  <a:t>shoulder = </a:t>
                </a:r>
                <a:r>
                  <a:rPr lang="en-US" sz="1800" i="1" spc="-10" dirty="0" err="1">
                    <a:latin typeface="Gill Sans MT"/>
                    <a:cs typeface="Gill Sans MT"/>
                  </a:rPr>
                  <a:t>behaviour</a:t>
                </a:r>
                <a:r>
                  <a:rPr lang="en-US" sz="1800" i="1" spc="-10" dirty="0">
                    <a:latin typeface="Gill Sans MT"/>
                    <a:cs typeface="Gill Sans MT"/>
                  </a:rPr>
                  <a:t> policy = </a:t>
                </a:r>
                <a14:m>
                  <m:oMath xmlns:m="http://schemas.openxmlformats.org/officeDocument/2006/math">
                    <m:r>
                      <a:rPr lang="en-US" sz="1800" b="0" i="1" spc="-10" smtClean="0">
                        <a:latin typeface="Cambria Math" panose="02040503050406030204" pitchFamily="18" charset="0"/>
                        <a:cs typeface="Gill Sans MT"/>
                      </a:rPr>
                      <m:t>𝜇</m:t>
                    </m:r>
                  </m:oMath>
                </a14:m>
                <a:endParaRPr lang="en-US" sz="1800" dirty="0">
                  <a:latin typeface="Gill Sans MT"/>
                  <a:cs typeface="Gill Sans MT"/>
                </a:endParaRPr>
              </a:p>
            </p:txBody>
          </p:sp>
        </mc:Choice>
        <mc:Fallback xmlns="">
          <p:sp>
            <p:nvSpPr>
              <p:cNvPr id="8" name="TextBox 7">
                <a:extLst>
                  <a:ext uri="{FF2B5EF4-FFF2-40B4-BE49-F238E27FC236}">
                    <a16:creationId xmlns:a16="http://schemas.microsoft.com/office/drawing/2014/main" id="{542B921C-A3D4-1C2F-8298-B1F16A7CBF5C}"/>
                  </a:ext>
                </a:extLst>
              </p:cNvPr>
              <p:cNvSpPr txBox="1">
                <a:spLocks noRot="1" noChangeAspect="1" noMove="1" noResize="1" noEditPoints="1" noAdjustHandles="1" noChangeArrowheads="1" noChangeShapeType="1" noTextEdit="1"/>
              </p:cNvSpPr>
              <p:nvPr/>
            </p:nvSpPr>
            <p:spPr>
              <a:xfrm>
                <a:off x="1981200" y="6097293"/>
                <a:ext cx="4593430" cy="369332"/>
              </a:xfrm>
              <a:prstGeom prst="rect">
                <a:avLst/>
              </a:prstGeom>
              <a:blipFill>
                <a:blip r:embed="rId5"/>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3AC7D1-008A-BFAF-2342-1F859E0DAC5B}"/>
                  </a:ext>
                </a:extLst>
              </p:cNvPr>
              <p:cNvSpPr txBox="1"/>
              <p:nvPr/>
            </p:nvSpPr>
            <p:spPr>
              <a:xfrm>
                <a:off x="8279031" y="2895600"/>
                <a:ext cx="67508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pc="-10" smtClean="0">
                          <a:latin typeface="Cambria Math" panose="02040503050406030204" pitchFamily="18" charset="0"/>
                          <a:cs typeface="Gill Sans MT"/>
                        </a:rPr>
                        <m:t>𝜋</m:t>
                      </m:r>
                    </m:oMath>
                  </m:oMathPara>
                </a14:m>
                <a:endParaRPr lang="en-US" sz="2800" dirty="0"/>
              </a:p>
            </p:txBody>
          </p:sp>
        </mc:Choice>
        <mc:Fallback xmlns="">
          <p:sp>
            <p:nvSpPr>
              <p:cNvPr id="10" name="TextBox 9">
                <a:extLst>
                  <a:ext uri="{FF2B5EF4-FFF2-40B4-BE49-F238E27FC236}">
                    <a16:creationId xmlns:a16="http://schemas.microsoft.com/office/drawing/2014/main" id="{A63AC7D1-008A-BFAF-2342-1F859E0DAC5B}"/>
                  </a:ext>
                </a:extLst>
              </p:cNvPr>
              <p:cNvSpPr txBox="1">
                <a:spLocks noRot="1" noChangeAspect="1" noMove="1" noResize="1" noEditPoints="1" noAdjustHandles="1" noChangeArrowheads="1" noChangeShapeType="1" noTextEdit="1"/>
              </p:cNvSpPr>
              <p:nvPr/>
            </p:nvSpPr>
            <p:spPr>
              <a:xfrm>
                <a:off x="8279031" y="2895600"/>
                <a:ext cx="675084"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F05E3C-9A21-E4D3-F54F-E8658D763E58}"/>
                  </a:ext>
                </a:extLst>
              </p:cNvPr>
              <p:cNvSpPr txBox="1"/>
              <p:nvPr/>
            </p:nvSpPr>
            <p:spPr>
              <a:xfrm>
                <a:off x="8279031" y="4951336"/>
                <a:ext cx="67508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pc="-10" smtClean="0">
                          <a:latin typeface="Cambria Math" panose="02040503050406030204" pitchFamily="18" charset="0"/>
                          <a:cs typeface="Gill Sans MT"/>
                        </a:rPr>
                        <m:t>𝜇</m:t>
                      </m:r>
                    </m:oMath>
                  </m:oMathPara>
                </a14:m>
                <a:endParaRPr lang="en-US" sz="2800" dirty="0"/>
              </a:p>
            </p:txBody>
          </p:sp>
        </mc:Choice>
        <mc:Fallback xmlns="">
          <p:sp>
            <p:nvSpPr>
              <p:cNvPr id="11" name="TextBox 10">
                <a:extLst>
                  <a:ext uri="{FF2B5EF4-FFF2-40B4-BE49-F238E27FC236}">
                    <a16:creationId xmlns:a16="http://schemas.microsoft.com/office/drawing/2014/main" id="{14F05E3C-9A21-E4D3-F54F-E8658D763E58}"/>
                  </a:ext>
                </a:extLst>
              </p:cNvPr>
              <p:cNvSpPr txBox="1">
                <a:spLocks noRot="1" noChangeAspect="1" noMove="1" noResize="1" noEditPoints="1" noAdjustHandles="1" noChangeArrowheads="1" noChangeShapeType="1" noTextEdit="1"/>
              </p:cNvSpPr>
              <p:nvPr/>
            </p:nvSpPr>
            <p:spPr>
              <a:xfrm>
                <a:off x="8279031" y="4951336"/>
                <a:ext cx="675084" cy="523220"/>
              </a:xfrm>
              <a:prstGeom prst="rect">
                <a:avLst/>
              </a:prstGeom>
              <a:blipFill>
                <a:blip r:embed="rId7"/>
                <a:stretch>
                  <a:fillRect/>
                </a:stretch>
              </a:blipFill>
            </p:spPr>
            <p:txBody>
              <a:bodyPr/>
              <a:lstStyle/>
              <a:p>
                <a:r>
                  <a:rPr 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2450" y="345337"/>
            <a:ext cx="2754630" cy="421640"/>
          </a:xfrm>
          <a:prstGeom prst="rect">
            <a:avLst/>
          </a:prstGeom>
        </p:spPr>
        <p:txBody>
          <a:bodyPr vert="horz" wrap="square" lIns="0" tIns="12700" rIns="0" bIns="0" rtlCol="0">
            <a:spAutoFit/>
          </a:bodyPr>
          <a:lstStyle/>
          <a:p>
            <a:pPr marL="12700">
              <a:lnSpc>
                <a:spcPct val="100000"/>
              </a:lnSpc>
              <a:spcBef>
                <a:spcPts val="100"/>
              </a:spcBef>
            </a:pPr>
            <a:r>
              <a:rPr sz="2600" spc="-60" dirty="0">
                <a:latin typeface="Arial"/>
                <a:cs typeface="Arial"/>
              </a:rPr>
              <a:t>Off-</a:t>
            </a:r>
            <a:r>
              <a:rPr sz="2600" spc="-25" dirty="0">
                <a:latin typeface="Arial"/>
                <a:cs typeface="Arial"/>
              </a:rPr>
              <a:t>Policy</a:t>
            </a:r>
            <a:r>
              <a:rPr sz="2600" spc="-114" dirty="0">
                <a:latin typeface="Arial"/>
                <a:cs typeface="Arial"/>
              </a:rPr>
              <a:t> </a:t>
            </a:r>
            <a:r>
              <a:rPr sz="2600" spc="-10" dirty="0">
                <a:latin typeface="Arial"/>
                <a:cs typeface="Arial"/>
              </a:rPr>
              <a:t>Learning</a:t>
            </a:r>
            <a:endParaRPr sz="2600">
              <a:latin typeface="Arial"/>
              <a:cs typeface="Arial"/>
            </a:endParaRPr>
          </a:p>
        </p:txBody>
      </p:sp>
      <mc:AlternateContent xmlns:mc="http://schemas.openxmlformats.org/markup-compatibility/2006" xmlns:a14="http://schemas.microsoft.com/office/drawing/2010/main">
        <mc:Choice Requires="a14">
          <p:sp>
            <p:nvSpPr>
              <p:cNvPr id="3" name="object 3"/>
              <p:cNvSpPr txBox="1">
                <a:spLocks noGrp="1"/>
              </p:cNvSpPr>
              <p:nvPr>
                <p:ph type="title"/>
              </p:nvPr>
            </p:nvSpPr>
            <p:spPr>
              <a:xfrm>
                <a:off x="440175" y="1503966"/>
                <a:ext cx="8541499" cy="1589405"/>
              </a:xfrm>
              <a:prstGeom prst="rect">
                <a:avLst/>
              </a:prstGeom>
            </p:spPr>
            <p:txBody>
              <a:bodyPr vert="horz" wrap="square" lIns="0" tIns="12700" rIns="0" bIns="0" rtlCol="0">
                <a:spAutoFit/>
              </a:bodyPr>
              <a:lstStyle/>
              <a:p>
                <a:pPr marL="25400" marR="17780">
                  <a:lnSpc>
                    <a:spcPct val="117000"/>
                  </a:lnSpc>
                  <a:spcBef>
                    <a:spcPts val="100"/>
                  </a:spcBef>
                </a:pPr>
                <a:r>
                  <a:rPr sz="2800" dirty="0">
                    <a:latin typeface="Gill Sans MT"/>
                    <a:cs typeface="Gill Sans MT"/>
                  </a:rPr>
                  <a:t>Evaluate</a:t>
                </a:r>
                <a:r>
                  <a:rPr sz="2800" spc="-85" dirty="0">
                    <a:latin typeface="Gill Sans MT"/>
                    <a:cs typeface="Gill Sans MT"/>
                  </a:rPr>
                  <a:t> </a:t>
                </a:r>
                <a:r>
                  <a:rPr sz="2800" dirty="0">
                    <a:latin typeface="Gill Sans MT"/>
                    <a:cs typeface="Gill Sans MT"/>
                  </a:rPr>
                  <a:t>target</a:t>
                </a:r>
                <a:r>
                  <a:rPr sz="2800" spc="-50" dirty="0">
                    <a:latin typeface="Gill Sans MT"/>
                    <a:cs typeface="Gill Sans MT"/>
                  </a:rPr>
                  <a:t> </a:t>
                </a:r>
                <a:r>
                  <a:rPr sz="2800" dirty="0">
                    <a:latin typeface="Gill Sans MT"/>
                    <a:cs typeface="Gill Sans MT"/>
                  </a:rPr>
                  <a:t>policy</a:t>
                </a:r>
                <a:r>
                  <a:rPr sz="2800" spc="-50" dirty="0">
                    <a:latin typeface="Gill Sans MT"/>
                    <a:cs typeface="Gill Sans MT"/>
                  </a:rPr>
                  <a:t> </a:t>
                </a:r>
                <a14:m>
                  <m:oMath xmlns:m="http://schemas.openxmlformats.org/officeDocument/2006/math">
                    <m:r>
                      <a:rPr lang="en-US" sz="2950" i="1" spc="-165" dirty="0" smtClean="0">
                        <a:latin typeface="Cambria Math" panose="02040503050406030204" pitchFamily="18" charset="0"/>
                        <a:cs typeface="Arial"/>
                      </a:rPr>
                      <m:t>𝜋</m:t>
                    </m:r>
                    <m:r>
                      <a:rPr lang="en-US" sz="2950" i="1" spc="-165" dirty="0">
                        <a:latin typeface="Cambria Math" panose="02040503050406030204" pitchFamily="18" charset="0"/>
                        <a:cs typeface="Cambria"/>
                      </a:rPr>
                      <m:t>(</m:t>
                    </m:r>
                    <m:r>
                      <a:rPr lang="en-US" sz="2950" i="1" spc="-165" dirty="0">
                        <a:latin typeface="Cambria Math" panose="02040503050406030204" pitchFamily="18" charset="0"/>
                        <a:cs typeface="Times New Roman"/>
                      </a:rPr>
                      <m:t>𝑎</m:t>
                    </m:r>
                    <m:r>
                      <a:rPr lang="en-US" sz="2950" i="1" dirty="0">
                        <a:latin typeface="Cambria Math" panose="02040503050406030204" pitchFamily="18" charset="0"/>
                        <a:cs typeface="Cambria"/>
                      </a:rPr>
                      <m:t>∣</m:t>
                    </m:r>
                    <m:r>
                      <a:rPr lang="en-US" sz="2950" i="1" dirty="0">
                        <a:latin typeface="Cambria Math" panose="02040503050406030204" pitchFamily="18" charset="0"/>
                        <a:cs typeface="Times New Roman"/>
                      </a:rPr>
                      <m:t>𝑠</m:t>
                    </m:r>
                    <m:r>
                      <a:rPr lang="en-US" sz="2950" i="1" dirty="0">
                        <a:latin typeface="Cambria Math" panose="02040503050406030204" pitchFamily="18" charset="0"/>
                        <a:cs typeface="Cambria"/>
                      </a:rPr>
                      <m:t>)</m:t>
                    </m:r>
                    <m:r>
                      <a:rPr lang="en-US" sz="2950" i="1" spc="75" dirty="0">
                        <a:latin typeface="Cambria Math" panose="02040503050406030204" pitchFamily="18" charset="0"/>
                        <a:cs typeface="Cambria"/>
                      </a:rPr>
                      <m:t> </m:t>
                    </m:r>
                  </m:oMath>
                </a14:m>
                <a:r>
                  <a:rPr sz="2800" dirty="0">
                    <a:latin typeface="Gill Sans MT"/>
                    <a:cs typeface="Gill Sans MT"/>
                  </a:rPr>
                  <a:t>to</a:t>
                </a:r>
                <a:r>
                  <a:rPr sz="2800" spc="-55" dirty="0">
                    <a:latin typeface="Gill Sans MT"/>
                    <a:cs typeface="Gill Sans MT"/>
                  </a:rPr>
                  <a:t> </a:t>
                </a:r>
                <a:r>
                  <a:rPr sz="2800" dirty="0">
                    <a:latin typeface="Gill Sans MT"/>
                    <a:cs typeface="Gill Sans MT"/>
                  </a:rPr>
                  <a:t>compute</a:t>
                </a:r>
                <a:r>
                  <a:rPr sz="2800" spc="-45" dirty="0">
                    <a:latin typeface="Gill Sans MT"/>
                    <a:cs typeface="Gill Sans MT"/>
                  </a:rPr>
                  <a:t> </a:t>
                </a:r>
                <a:r>
                  <a:rPr sz="2950" i="1" spc="-120" dirty="0">
                    <a:latin typeface="Times New Roman"/>
                    <a:cs typeface="Times New Roman"/>
                  </a:rPr>
                  <a:t>v</a:t>
                </a:r>
                <a14:m>
                  <m:oMath xmlns:m="http://schemas.openxmlformats.org/officeDocument/2006/math">
                    <m:r>
                      <a:rPr lang="en-US" sz="3075" i="1" spc="-179" baseline="-20325" dirty="0" smtClean="0">
                        <a:latin typeface="Cambria Math" panose="02040503050406030204" pitchFamily="18" charset="0"/>
                        <a:cs typeface="Arial"/>
                      </a:rPr>
                      <m:t>𝜋</m:t>
                    </m:r>
                  </m:oMath>
                </a14:m>
                <a:r>
                  <a:rPr sz="2950" spc="-120" dirty="0">
                    <a:latin typeface="Cambria"/>
                    <a:cs typeface="Cambria"/>
                  </a:rPr>
                  <a:t>(</a:t>
                </a:r>
                <a:r>
                  <a:rPr sz="2950" i="1" spc="-120" dirty="0">
                    <a:latin typeface="Times New Roman"/>
                    <a:cs typeface="Times New Roman"/>
                  </a:rPr>
                  <a:t>s</a:t>
                </a:r>
                <a:r>
                  <a:rPr sz="2950" spc="-120" dirty="0">
                    <a:latin typeface="Cambria"/>
                    <a:cs typeface="Cambria"/>
                  </a:rPr>
                  <a:t>)</a:t>
                </a:r>
                <a:r>
                  <a:rPr sz="2950" spc="80" dirty="0">
                    <a:latin typeface="Cambria"/>
                    <a:cs typeface="Cambria"/>
                  </a:rPr>
                  <a:t> </a:t>
                </a:r>
                <a:r>
                  <a:rPr sz="2800" dirty="0">
                    <a:latin typeface="Gill Sans MT"/>
                    <a:cs typeface="Gill Sans MT"/>
                  </a:rPr>
                  <a:t>or</a:t>
                </a:r>
                <a:r>
                  <a:rPr sz="2800" spc="-50" dirty="0">
                    <a:latin typeface="Gill Sans MT"/>
                    <a:cs typeface="Gill Sans MT"/>
                  </a:rPr>
                  <a:t> </a:t>
                </a:r>
                <a:r>
                  <a:rPr sz="2950" i="1" spc="-100" dirty="0">
                    <a:latin typeface="Times New Roman"/>
                    <a:cs typeface="Times New Roman"/>
                  </a:rPr>
                  <a:t>q</a:t>
                </a:r>
                <a14:m>
                  <m:oMath xmlns:m="http://schemas.openxmlformats.org/officeDocument/2006/math">
                    <m:r>
                      <a:rPr lang="en-US" sz="3075" i="1" spc="-150" baseline="-20325" dirty="0" smtClean="0">
                        <a:latin typeface="Cambria Math" panose="02040503050406030204" pitchFamily="18" charset="0"/>
                        <a:cs typeface="Arial"/>
                      </a:rPr>
                      <m:t>𝜋</m:t>
                    </m:r>
                  </m:oMath>
                </a14:m>
                <a:r>
                  <a:rPr sz="2950" spc="-100" dirty="0">
                    <a:latin typeface="Cambria"/>
                    <a:cs typeface="Cambria"/>
                  </a:rPr>
                  <a:t>(</a:t>
                </a:r>
                <a:r>
                  <a:rPr sz="2950" i="1" spc="-100" dirty="0">
                    <a:latin typeface="Times New Roman"/>
                    <a:cs typeface="Times New Roman"/>
                  </a:rPr>
                  <a:t>s</a:t>
                </a:r>
                <a:r>
                  <a:rPr sz="2950" spc="-100" dirty="0">
                    <a:latin typeface="Cambria"/>
                    <a:cs typeface="Cambria"/>
                  </a:rPr>
                  <a:t>,</a:t>
                </a:r>
                <a:r>
                  <a:rPr sz="2950" spc="-160" dirty="0">
                    <a:latin typeface="Cambria"/>
                    <a:cs typeface="Cambria"/>
                  </a:rPr>
                  <a:t> </a:t>
                </a:r>
                <a:r>
                  <a:rPr sz="2950" i="1" spc="-25" dirty="0">
                    <a:latin typeface="Times New Roman"/>
                    <a:cs typeface="Times New Roman"/>
                  </a:rPr>
                  <a:t>a</a:t>
                </a:r>
                <a:r>
                  <a:rPr sz="2950" spc="-25" dirty="0">
                    <a:latin typeface="Cambria"/>
                    <a:cs typeface="Cambria"/>
                  </a:rPr>
                  <a:t>) </a:t>
                </a:r>
                <a:r>
                  <a:rPr sz="2800" dirty="0">
                    <a:latin typeface="Gill Sans MT"/>
                    <a:cs typeface="Gill Sans MT"/>
                  </a:rPr>
                  <a:t>while</a:t>
                </a:r>
                <a:r>
                  <a:rPr sz="2800" spc="-95" dirty="0">
                    <a:latin typeface="Gill Sans MT"/>
                    <a:cs typeface="Gill Sans MT"/>
                  </a:rPr>
                  <a:t> </a:t>
                </a:r>
                <a:r>
                  <a:rPr sz="2800" dirty="0">
                    <a:latin typeface="Gill Sans MT"/>
                    <a:cs typeface="Gill Sans MT"/>
                  </a:rPr>
                  <a:t>following</a:t>
                </a:r>
                <a:r>
                  <a:rPr sz="2800" spc="-95" dirty="0">
                    <a:latin typeface="Gill Sans MT"/>
                    <a:cs typeface="Gill Sans MT"/>
                  </a:rPr>
                  <a:t> </a:t>
                </a:r>
                <a:r>
                  <a:rPr sz="2800" dirty="0">
                    <a:latin typeface="Gill Sans MT"/>
                    <a:cs typeface="Gill Sans MT"/>
                  </a:rPr>
                  <a:t>behaviour</a:t>
                </a:r>
                <a:r>
                  <a:rPr sz="2800" spc="-95" dirty="0">
                    <a:latin typeface="Gill Sans MT"/>
                    <a:cs typeface="Gill Sans MT"/>
                  </a:rPr>
                  <a:t> </a:t>
                </a:r>
                <a:r>
                  <a:rPr sz="2800" dirty="0">
                    <a:latin typeface="Gill Sans MT"/>
                    <a:cs typeface="Gill Sans MT"/>
                  </a:rPr>
                  <a:t>policy</a:t>
                </a:r>
                <a14:m>
                  <m:oMath xmlns:m="http://schemas.openxmlformats.org/officeDocument/2006/math">
                    <m:r>
                      <a:rPr lang="en-US" sz="2800" i="1" spc="-90" dirty="0" smtClean="0">
                        <a:latin typeface="Cambria Math" panose="02040503050406030204" pitchFamily="18" charset="0"/>
                        <a:cs typeface="Gill Sans MT"/>
                      </a:rPr>
                      <m:t> </m:t>
                    </m:r>
                    <m:r>
                      <a:rPr lang="en-US" sz="2950" i="1" dirty="0">
                        <a:latin typeface="Cambria Math" panose="02040503050406030204" pitchFamily="18" charset="0"/>
                        <a:cs typeface="Arial"/>
                      </a:rPr>
                      <m:t>𝜇</m:t>
                    </m:r>
                  </m:oMath>
                </a14:m>
                <a:r>
                  <a:rPr sz="2950" dirty="0">
                    <a:latin typeface="Cambria"/>
                    <a:cs typeface="Cambria"/>
                  </a:rPr>
                  <a:t>(</a:t>
                </a:r>
                <a:r>
                  <a:rPr sz="2950" i="1" dirty="0">
                    <a:latin typeface="Times New Roman"/>
                    <a:cs typeface="Times New Roman"/>
                  </a:rPr>
                  <a:t>a</a:t>
                </a:r>
                <a:r>
                  <a:rPr sz="2950" i="1" spc="-20" dirty="0">
                    <a:latin typeface="Times New Roman"/>
                    <a:cs typeface="Times New Roman"/>
                  </a:rPr>
                  <a:t> </a:t>
                </a:r>
                <a:r>
                  <a:rPr sz="2950" dirty="0">
                    <a:latin typeface="Cambria"/>
                    <a:cs typeface="Cambria"/>
                  </a:rPr>
                  <a:t>∣</a:t>
                </a:r>
                <a:r>
                  <a:rPr sz="2950" spc="75" dirty="0">
                    <a:latin typeface="Cambria"/>
                    <a:cs typeface="Cambria"/>
                  </a:rPr>
                  <a:t> </a:t>
                </a:r>
                <a:r>
                  <a:rPr sz="2950" i="1" spc="-25" dirty="0">
                    <a:latin typeface="Times New Roman"/>
                    <a:cs typeface="Times New Roman"/>
                  </a:rPr>
                  <a:t>s</a:t>
                </a:r>
                <a:r>
                  <a:rPr sz="2950" spc="-25" dirty="0">
                    <a:latin typeface="Cambria"/>
                    <a:cs typeface="Cambria"/>
                  </a:rPr>
                  <a:t>)</a:t>
                </a:r>
                <a:endParaRPr sz="2950" dirty="0">
                  <a:latin typeface="Cambria"/>
                  <a:cs typeface="Cambria"/>
                </a:endParaRPr>
              </a:p>
              <a:p>
                <a:pPr marL="25400">
                  <a:lnSpc>
                    <a:spcPct val="100000"/>
                  </a:lnSpc>
                  <a:spcBef>
                    <a:spcPts val="490"/>
                  </a:spcBef>
                  <a:tabLst>
                    <a:tab pos="2942590" algn="l"/>
                  </a:tabLst>
                </a:pPr>
                <a:r>
                  <a:rPr sz="2950" dirty="0">
                    <a:latin typeface="Cambria"/>
                    <a:cs typeface="Cambria"/>
                  </a:rPr>
                  <a:t>{</a:t>
                </a:r>
                <a:r>
                  <a:rPr sz="2950" i="1" dirty="0">
                    <a:latin typeface="Times New Roman"/>
                    <a:cs typeface="Times New Roman"/>
                  </a:rPr>
                  <a:t>S</a:t>
                </a:r>
                <a:r>
                  <a:rPr sz="3075" baseline="-20325" dirty="0">
                    <a:latin typeface="Cambria"/>
                    <a:cs typeface="Cambria"/>
                  </a:rPr>
                  <a:t>1</a:t>
                </a:r>
                <a:r>
                  <a:rPr sz="2950" dirty="0">
                    <a:latin typeface="Cambria"/>
                    <a:cs typeface="Cambria"/>
                  </a:rPr>
                  <a:t>,</a:t>
                </a:r>
                <a:r>
                  <a:rPr sz="2950" spc="-15" dirty="0">
                    <a:latin typeface="Cambria"/>
                    <a:cs typeface="Cambria"/>
                  </a:rPr>
                  <a:t> </a:t>
                </a:r>
                <a:r>
                  <a:rPr sz="2950" i="1" spc="-35" dirty="0">
                    <a:latin typeface="Times New Roman"/>
                    <a:cs typeface="Times New Roman"/>
                  </a:rPr>
                  <a:t>A</a:t>
                </a:r>
                <a:r>
                  <a:rPr sz="3075" spc="-52" baseline="-20325" dirty="0">
                    <a:latin typeface="Cambria"/>
                    <a:cs typeface="Cambria"/>
                  </a:rPr>
                  <a:t>1</a:t>
                </a:r>
                <a:r>
                  <a:rPr sz="2950" spc="-35" dirty="0">
                    <a:latin typeface="Cambria"/>
                    <a:cs typeface="Cambria"/>
                  </a:rPr>
                  <a:t>,</a:t>
                </a:r>
                <a:r>
                  <a:rPr sz="2950" spc="-105" dirty="0">
                    <a:latin typeface="Cambria"/>
                    <a:cs typeface="Cambria"/>
                  </a:rPr>
                  <a:t> </a:t>
                </a:r>
                <a:r>
                  <a:rPr sz="2950" i="1" spc="-35" dirty="0">
                    <a:latin typeface="Times New Roman"/>
                    <a:cs typeface="Times New Roman"/>
                  </a:rPr>
                  <a:t>R</a:t>
                </a:r>
                <a:r>
                  <a:rPr sz="3075" spc="-52" baseline="-20325" dirty="0">
                    <a:latin typeface="Cambria"/>
                    <a:cs typeface="Cambria"/>
                  </a:rPr>
                  <a:t>2</a:t>
                </a:r>
                <a:r>
                  <a:rPr sz="2950" spc="-35" dirty="0">
                    <a:latin typeface="Cambria"/>
                    <a:cs typeface="Cambria"/>
                  </a:rPr>
                  <a:t>,</a:t>
                </a:r>
                <a:r>
                  <a:rPr sz="2950" spc="-110" dirty="0">
                    <a:latin typeface="Cambria"/>
                    <a:cs typeface="Cambria"/>
                  </a:rPr>
                  <a:t> </a:t>
                </a:r>
                <a:r>
                  <a:rPr sz="2950" spc="415" dirty="0">
                    <a:latin typeface="Cambria"/>
                    <a:cs typeface="Cambria"/>
                  </a:rPr>
                  <a:t>…,</a:t>
                </a:r>
                <a:r>
                  <a:rPr sz="2950" spc="-105" dirty="0">
                    <a:latin typeface="Cambria"/>
                    <a:cs typeface="Cambria"/>
                  </a:rPr>
                  <a:t> </a:t>
                </a:r>
                <a:r>
                  <a:rPr sz="2950" i="1" spc="25" dirty="0">
                    <a:latin typeface="Times New Roman"/>
                    <a:cs typeface="Times New Roman"/>
                  </a:rPr>
                  <a:t>S</a:t>
                </a:r>
                <a:r>
                  <a:rPr sz="3075" i="1" spc="37" baseline="-20325" dirty="0">
                    <a:latin typeface="Times New Roman"/>
                    <a:cs typeface="Times New Roman"/>
                  </a:rPr>
                  <a:t>T</a:t>
                </a:r>
                <a:r>
                  <a:rPr sz="2950" spc="25" dirty="0">
                    <a:latin typeface="Cambria"/>
                    <a:cs typeface="Cambria"/>
                  </a:rPr>
                  <a:t>}</a:t>
                </a:r>
                <a:r>
                  <a:rPr sz="2950" dirty="0">
                    <a:latin typeface="Cambria"/>
                    <a:cs typeface="Cambria"/>
                  </a:rPr>
                  <a:t>	∼</a:t>
                </a:r>
                <a:r>
                  <a:rPr sz="2950" spc="50" dirty="0">
                    <a:latin typeface="Cambria"/>
                    <a:cs typeface="Cambria"/>
                  </a:rPr>
                  <a:t> </a:t>
                </a:r>
                <a14:m>
                  <m:oMath xmlns:m="http://schemas.openxmlformats.org/officeDocument/2006/math">
                    <m:r>
                      <a:rPr lang="en-US" sz="2950" i="1" spc="-50" dirty="0" smtClean="0">
                        <a:latin typeface="Cambria Math" panose="02040503050406030204" pitchFamily="18" charset="0"/>
                        <a:cs typeface="Arial"/>
                      </a:rPr>
                      <m:t>𝜇</m:t>
                    </m:r>
                  </m:oMath>
                </a14:m>
                <a:endParaRPr sz="2950" dirty="0">
                  <a:latin typeface="Arial"/>
                  <a:cs typeface="Arial"/>
                </a:endParaRPr>
              </a:p>
            </p:txBody>
          </p:sp>
        </mc:Choice>
        <mc:Fallback xmlns="">
          <p:sp>
            <p:nvSpPr>
              <p:cNvPr id="3" name="object 3"/>
              <p:cNvSpPr txBox="1">
                <a:spLocks noGrp="1" noRot="1" noChangeAspect="1" noMove="1" noResize="1" noEditPoints="1" noAdjustHandles="1" noChangeArrowheads="1" noChangeShapeType="1" noTextEdit="1"/>
              </p:cNvSpPr>
              <p:nvPr>
                <p:ph type="title"/>
              </p:nvPr>
            </p:nvSpPr>
            <p:spPr>
              <a:xfrm>
                <a:off x="440175" y="1503966"/>
                <a:ext cx="8541499" cy="1589405"/>
              </a:xfrm>
              <a:prstGeom prst="rect">
                <a:avLst/>
              </a:prstGeom>
              <a:blipFill>
                <a:blip r:embed="rId2"/>
                <a:stretch>
                  <a:fillRect l="-2355" t="-3846" r="-2855" b="-14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4"/>
              <p:cNvSpPr txBox="1"/>
              <p:nvPr/>
            </p:nvSpPr>
            <p:spPr>
              <a:xfrm>
                <a:off x="457059" y="3545651"/>
                <a:ext cx="8108315" cy="2695610"/>
              </a:xfrm>
              <a:prstGeom prst="rect">
                <a:avLst/>
              </a:prstGeom>
            </p:spPr>
            <p:txBody>
              <a:bodyPr vert="horz" wrap="square" lIns="0" tIns="12700" rIns="0" bIns="0" rtlCol="0">
                <a:spAutoFit/>
              </a:bodyPr>
              <a:lstStyle/>
              <a:p>
                <a:pPr marL="50800">
                  <a:lnSpc>
                    <a:spcPct val="100000"/>
                  </a:lnSpc>
                  <a:spcBef>
                    <a:spcPts val="100"/>
                  </a:spcBef>
                </a:pPr>
                <a:r>
                  <a:rPr lang="en-US" sz="2800" dirty="0">
                    <a:latin typeface="Gill Sans MT"/>
                    <a:cs typeface="Gill Sans MT"/>
                  </a:rPr>
                  <a:t>Why</a:t>
                </a:r>
                <a:r>
                  <a:rPr lang="en-US" sz="2800" spc="-25" dirty="0">
                    <a:latin typeface="Gill Sans MT"/>
                    <a:cs typeface="Gill Sans MT"/>
                  </a:rPr>
                  <a:t> </a:t>
                </a:r>
                <a:r>
                  <a:rPr lang="en-US" sz="2800" dirty="0">
                    <a:latin typeface="Gill Sans MT"/>
                    <a:cs typeface="Gill Sans MT"/>
                  </a:rPr>
                  <a:t>is</a:t>
                </a:r>
                <a:r>
                  <a:rPr lang="en-US" sz="2800" spc="-15" dirty="0">
                    <a:latin typeface="Gill Sans MT"/>
                    <a:cs typeface="Gill Sans MT"/>
                  </a:rPr>
                  <a:t> </a:t>
                </a:r>
                <a:r>
                  <a:rPr lang="en-US" sz="2800" dirty="0">
                    <a:latin typeface="Gill Sans MT"/>
                    <a:cs typeface="Gill Sans MT"/>
                  </a:rPr>
                  <a:t>this</a:t>
                </a:r>
                <a:r>
                  <a:rPr lang="en-US" sz="2800" spc="-10" dirty="0">
                    <a:latin typeface="Gill Sans MT"/>
                    <a:cs typeface="Gill Sans MT"/>
                  </a:rPr>
                  <a:t> </a:t>
                </a:r>
                <a:r>
                  <a:rPr lang="en-US" sz="2800" dirty="0">
                    <a:latin typeface="Gill Sans MT"/>
                    <a:cs typeface="Gill Sans MT"/>
                  </a:rPr>
                  <a:t>important</a:t>
                </a:r>
                <a:r>
                  <a:rPr lang="en-US" sz="2800" spc="-20" dirty="0">
                    <a:latin typeface="Gill Sans MT"/>
                    <a:cs typeface="Gill Sans MT"/>
                  </a:rPr>
                  <a:t> </a:t>
                </a:r>
                <a:r>
                  <a:rPr lang="en-US" sz="2800" dirty="0">
                    <a:latin typeface="Gill Sans MT"/>
                    <a:cs typeface="Gill Sans MT"/>
                  </a:rPr>
                  <a:t>or</a:t>
                </a:r>
                <a:r>
                  <a:rPr lang="en-US" sz="2800" spc="-10" dirty="0">
                    <a:latin typeface="Gill Sans MT"/>
                    <a:cs typeface="Gill Sans MT"/>
                  </a:rPr>
                  <a:t> useful?</a:t>
                </a:r>
                <a:endParaRPr lang="en-US" sz="2800" dirty="0">
                  <a:latin typeface="Gill Sans MT"/>
                  <a:cs typeface="Gill Sans MT"/>
                </a:endParaRPr>
              </a:p>
              <a:p>
                <a:pPr>
                  <a:lnSpc>
                    <a:spcPct val="100000"/>
                  </a:lnSpc>
                  <a:spcBef>
                    <a:spcPts val="20"/>
                  </a:spcBef>
                </a:pPr>
                <a:endParaRPr lang="en-US" sz="2600" dirty="0">
                  <a:latin typeface="Gill Sans MT"/>
                  <a:cs typeface="Gill Sans MT"/>
                </a:endParaRPr>
              </a:p>
              <a:p>
                <a:pPr marL="279400" indent="-228600">
                  <a:lnSpc>
                    <a:spcPct val="100000"/>
                  </a:lnSpc>
                  <a:spcBef>
                    <a:spcPts val="5"/>
                  </a:spcBef>
                  <a:buChar char="•"/>
                  <a:tabLst>
                    <a:tab pos="279400" algn="l"/>
                  </a:tabLst>
                </a:pPr>
                <a:r>
                  <a:rPr lang="en-US" sz="2800" dirty="0">
                    <a:latin typeface="Gill Sans MT"/>
                    <a:cs typeface="Gill Sans MT"/>
                  </a:rPr>
                  <a:t>Learn</a:t>
                </a:r>
                <a:r>
                  <a:rPr lang="en-US" sz="2800" spc="-25" dirty="0">
                    <a:latin typeface="Gill Sans MT"/>
                    <a:cs typeface="Gill Sans MT"/>
                  </a:rPr>
                  <a:t> </a:t>
                </a:r>
                <a:r>
                  <a:rPr lang="en-US" sz="2800" dirty="0">
                    <a:latin typeface="Gill Sans MT"/>
                    <a:cs typeface="Gill Sans MT"/>
                  </a:rPr>
                  <a:t>about</a:t>
                </a:r>
                <a:r>
                  <a:rPr lang="en-US" sz="2800" spc="-20" dirty="0">
                    <a:latin typeface="Gill Sans MT"/>
                    <a:cs typeface="Gill Sans MT"/>
                  </a:rPr>
                  <a:t> </a:t>
                </a:r>
                <a:r>
                  <a:rPr lang="en-US" sz="2800" dirty="0">
                    <a:latin typeface="Gill Sans MT"/>
                    <a:cs typeface="Gill Sans MT"/>
                  </a:rPr>
                  <a:t>optimal</a:t>
                </a:r>
                <a:r>
                  <a:rPr lang="en-US" sz="2800" spc="-20" dirty="0">
                    <a:latin typeface="Gill Sans MT"/>
                    <a:cs typeface="Gill Sans MT"/>
                  </a:rPr>
                  <a:t> </a:t>
                </a:r>
                <a:r>
                  <a:rPr lang="en-US" sz="2800" dirty="0">
                    <a:latin typeface="Gill Sans MT"/>
                    <a:cs typeface="Gill Sans MT"/>
                  </a:rPr>
                  <a:t>policy</a:t>
                </a:r>
                <a:r>
                  <a:rPr lang="en-US" sz="2800" spc="-15" dirty="0">
                    <a:latin typeface="Gill Sans MT"/>
                    <a:cs typeface="Gill Sans MT"/>
                  </a:rPr>
                  <a:t> </a:t>
                </a:r>
                <a:r>
                  <a:rPr lang="en-US" sz="2800" dirty="0">
                    <a:latin typeface="Gill Sans MT"/>
                    <a:cs typeface="Gill Sans MT"/>
                  </a:rPr>
                  <a:t>following</a:t>
                </a:r>
                <a:r>
                  <a:rPr lang="en-US" sz="2800" spc="-15" dirty="0">
                    <a:latin typeface="Gill Sans MT"/>
                    <a:cs typeface="Gill Sans MT"/>
                  </a:rPr>
                  <a:t> </a:t>
                </a:r>
                <a:r>
                  <a:rPr lang="en-US" sz="2800" i="1" dirty="0">
                    <a:latin typeface="Gill Sans MT"/>
                    <a:cs typeface="Gill Sans MT"/>
                  </a:rPr>
                  <a:t>exploratory</a:t>
                </a:r>
                <a:r>
                  <a:rPr lang="en-US" sz="2800" i="1" spc="-10" dirty="0">
                    <a:latin typeface="Gill Sans MT"/>
                    <a:cs typeface="Gill Sans MT"/>
                  </a:rPr>
                  <a:t> </a:t>
                </a:r>
                <a:r>
                  <a:rPr lang="en-US" sz="2800" spc="-10" dirty="0">
                    <a:latin typeface="Gill Sans MT"/>
                    <a:cs typeface="Gill Sans MT"/>
                  </a:rPr>
                  <a:t>policy</a:t>
                </a:r>
                <a:endParaRPr lang="en-US" sz="2800" dirty="0">
                  <a:latin typeface="Gill Sans MT"/>
                  <a:cs typeface="Gill Sans MT"/>
                </a:endParaRPr>
              </a:p>
              <a:p>
                <a:pPr marL="279400" indent="-228600">
                  <a:lnSpc>
                    <a:spcPct val="100000"/>
                  </a:lnSpc>
                  <a:spcBef>
                    <a:spcPts val="480"/>
                  </a:spcBef>
                  <a:buChar char="•"/>
                  <a:tabLst>
                    <a:tab pos="279400" algn="l"/>
                  </a:tabLst>
                </a:pPr>
                <a:r>
                  <a:rPr lang="en-US" sz="2800" dirty="0">
                    <a:latin typeface="Gill Sans MT"/>
                    <a:cs typeface="Gill Sans MT"/>
                  </a:rPr>
                  <a:t>Learn</a:t>
                </a:r>
                <a:r>
                  <a:rPr lang="en-US" sz="2800" spc="-15" dirty="0">
                    <a:latin typeface="Gill Sans MT"/>
                    <a:cs typeface="Gill Sans MT"/>
                  </a:rPr>
                  <a:t> </a:t>
                </a:r>
                <a:r>
                  <a:rPr lang="en-US" sz="2800" dirty="0">
                    <a:latin typeface="Gill Sans MT"/>
                    <a:cs typeface="Gill Sans MT"/>
                  </a:rPr>
                  <a:t>from observing</a:t>
                </a:r>
                <a:r>
                  <a:rPr lang="en-US" sz="2800" spc="-5" dirty="0">
                    <a:latin typeface="Gill Sans MT"/>
                    <a:cs typeface="Gill Sans MT"/>
                  </a:rPr>
                  <a:t> </a:t>
                </a:r>
                <a:r>
                  <a:rPr lang="en-US" sz="2800" dirty="0">
                    <a:latin typeface="Gill Sans MT"/>
                    <a:cs typeface="Gill Sans MT"/>
                  </a:rPr>
                  <a:t>humans</a:t>
                </a:r>
                <a:r>
                  <a:rPr lang="en-US" sz="2800" spc="-10" dirty="0">
                    <a:latin typeface="Gill Sans MT"/>
                    <a:cs typeface="Gill Sans MT"/>
                  </a:rPr>
                  <a:t> </a:t>
                </a:r>
                <a:r>
                  <a:rPr lang="en-US" sz="2800" dirty="0">
                    <a:latin typeface="Gill Sans MT"/>
                    <a:cs typeface="Gill Sans MT"/>
                  </a:rPr>
                  <a:t>or other</a:t>
                </a:r>
                <a:r>
                  <a:rPr lang="en-US" sz="2800" spc="-5" dirty="0">
                    <a:latin typeface="Gill Sans MT"/>
                    <a:cs typeface="Gill Sans MT"/>
                  </a:rPr>
                  <a:t> </a:t>
                </a:r>
                <a:r>
                  <a:rPr lang="en-US" sz="2800" spc="-10" dirty="0">
                    <a:latin typeface="Gill Sans MT"/>
                    <a:cs typeface="Gill Sans MT"/>
                  </a:rPr>
                  <a:t>agents</a:t>
                </a:r>
                <a:endParaRPr lang="en-US" sz="2800" dirty="0">
                  <a:latin typeface="Gill Sans MT"/>
                  <a:cs typeface="Gill Sans MT"/>
                </a:endParaRPr>
              </a:p>
              <a:p>
                <a:pPr marL="279400" indent="-228600" algn="l">
                  <a:lnSpc>
                    <a:spcPct val="100000"/>
                  </a:lnSpc>
                  <a:spcBef>
                    <a:spcPts val="480"/>
                  </a:spcBef>
                  <a:buChar char="•"/>
                  <a:tabLst>
                    <a:tab pos="279400" algn="l"/>
                  </a:tabLst>
                </a:pPr>
                <a:r>
                  <a:rPr lang="en-US" sz="2800" dirty="0">
                    <a:latin typeface="Gill Sans MT"/>
                    <a:cs typeface="Gill Sans MT"/>
                  </a:rPr>
                  <a:t>Re-use</a:t>
                </a:r>
                <a:r>
                  <a:rPr lang="en-US" sz="2800" spc="-35" dirty="0">
                    <a:latin typeface="Gill Sans MT"/>
                    <a:cs typeface="Gill Sans MT"/>
                  </a:rPr>
                  <a:t> </a:t>
                </a:r>
                <a:r>
                  <a:rPr lang="en-US" sz="2800" dirty="0">
                    <a:latin typeface="Gill Sans MT"/>
                    <a:cs typeface="Gill Sans MT"/>
                  </a:rPr>
                  <a:t>experience</a:t>
                </a:r>
                <a:r>
                  <a:rPr lang="en-US" sz="2800" spc="-20" dirty="0">
                    <a:latin typeface="Gill Sans MT"/>
                    <a:cs typeface="Gill Sans MT"/>
                  </a:rPr>
                  <a:t> </a:t>
                </a:r>
                <a:r>
                  <a:rPr lang="en-US" sz="2800" dirty="0">
                    <a:latin typeface="Gill Sans MT"/>
                    <a:cs typeface="Gill Sans MT"/>
                  </a:rPr>
                  <a:t>generated</a:t>
                </a:r>
                <a:r>
                  <a:rPr lang="en-US" sz="2800" spc="-25" dirty="0">
                    <a:latin typeface="Gill Sans MT"/>
                    <a:cs typeface="Gill Sans MT"/>
                  </a:rPr>
                  <a:t> </a:t>
                </a:r>
                <a:r>
                  <a:rPr lang="en-US" sz="2800" dirty="0">
                    <a:latin typeface="Gill Sans MT"/>
                    <a:cs typeface="Gill Sans MT"/>
                  </a:rPr>
                  <a:t>from</a:t>
                </a:r>
                <a:r>
                  <a:rPr lang="en-US" sz="2800" spc="-15" dirty="0">
                    <a:latin typeface="Gill Sans MT"/>
                    <a:cs typeface="Gill Sans MT"/>
                  </a:rPr>
                  <a:t> </a:t>
                </a:r>
                <a:r>
                  <a:rPr lang="en-US" sz="2800" dirty="0">
                    <a:latin typeface="Gill Sans MT"/>
                    <a:cs typeface="Gill Sans MT"/>
                  </a:rPr>
                  <a:t>old</a:t>
                </a:r>
                <a:r>
                  <a:rPr lang="en-US" sz="2800" spc="-15" dirty="0">
                    <a:latin typeface="Gill Sans MT"/>
                    <a:cs typeface="Gill Sans MT"/>
                  </a:rPr>
                  <a:t> </a:t>
                </a:r>
                <a:r>
                  <a:rPr lang="en-US" sz="2800" spc="-10" dirty="0">
                    <a:latin typeface="Gill Sans MT"/>
                    <a:cs typeface="Gill Sans MT"/>
                  </a:rPr>
                  <a:t>policies</a:t>
                </a:r>
                <a:br>
                  <a:rPr lang="en-US" sz="2800" spc="-10" dirty="0">
                    <a:latin typeface="Gill Sans MT"/>
                    <a:cs typeface="Gill Sans MT"/>
                  </a:rPr>
                </a:br>
                <a14:m>
                  <m:oMath xmlns:m="http://schemas.openxmlformats.org/officeDocument/2006/math">
                    <m:sSub>
                      <m:sSubPr>
                        <m:ctrlPr>
                          <a:rPr lang="en-US" sz="2800" b="0" i="1" spc="-10" smtClean="0">
                            <a:latin typeface="Cambria Math" panose="02040503050406030204" pitchFamily="18" charset="0"/>
                            <a:cs typeface="Gill Sans MT"/>
                          </a:rPr>
                        </m:ctrlPr>
                      </m:sSubPr>
                      <m:e>
                        <m:r>
                          <a:rPr lang="en-US" sz="2800" b="0" i="1" spc="-10" smtClean="0">
                            <a:latin typeface="Cambria Math" panose="02040503050406030204" pitchFamily="18" charset="0"/>
                            <a:cs typeface="Gill Sans MT"/>
                          </a:rPr>
                          <m:t>𝜋</m:t>
                        </m:r>
                      </m:e>
                      <m:sub>
                        <m:r>
                          <a:rPr lang="en-US" sz="2800" b="0" i="1" spc="-10" smtClean="0">
                            <a:latin typeface="Cambria Math" panose="02040503050406030204" pitchFamily="18" charset="0"/>
                            <a:cs typeface="Gill Sans MT"/>
                          </a:rPr>
                          <m:t>1</m:t>
                        </m:r>
                      </m:sub>
                    </m:sSub>
                    <m:r>
                      <a:rPr lang="en-US" sz="2800" b="0" i="1" spc="-10" smtClean="0">
                        <a:latin typeface="Cambria Math" panose="02040503050406030204" pitchFamily="18" charset="0"/>
                        <a:cs typeface="Gill Sans MT"/>
                      </a:rPr>
                      <m:t>, </m:t>
                    </m:r>
                    <m:sSub>
                      <m:sSubPr>
                        <m:ctrlPr>
                          <a:rPr lang="en-US" sz="2800" b="0" i="1" spc="-10" smtClean="0">
                            <a:latin typeface="Cambria Math" panose="02040503050406030204" pitchFamily="18" charset="0"/>
                            <a:cs typeface="Gill Sans MT"/>
                          </a:rPr>
                        </m:ctrlPr>
                      </m:sSubPr>
                      <m:e>
                        <m:r>
                          <a:rPr lang="en-US" sz="2800" b="0" i="1" spc="-10" smtClean="0">
                            <a:latin typeface="Cambria Math" panose="02040503050406030204" pitchFamily="18" charset="0"/>
                            <a:cs typeface="Gill Sans MT"/>
                          </a:rPr>
                          <m:t>𝜋</m:t>
                        </m:r>
                      </m:e>
                      <m:sub>
                        <m:r>
                          <a:rPr lang="en-US" sz="2800" b="0" i="1" spc="-10" smtClean="0">
                            <a:latin typeface="Cambria Math" panose="02040503050406030204" pitchFamily="18" charset="0"/>
                            <a:cs typeface="Gill Sans MT"/>
                          </a:rPr>
                          <m:t>2</m:t>
                        </m:r>
                      </m:sub>
                    </m:sSub>
                    <m:r>
                      <a:rPr lang="en-US" sz="2800" b="0" i="1" spc="-10" smtClean="0">
                        <a:latin typeface="Cambria Math" panose="02040503050406030204" pitchFamily="18" charset="0"/>
                        <a:cs typeface="Gill Sans MT"/>
                      </a:rPr>
                      <m:t>, …, </m:t>
                    </m:r>
                    <m:sSub>
                      <m:sSubPr>
                        <m:ctrlPr>
                          <a:rPr lang="en-US" sz="2800" b="0" i="1" spc="-10" smtClean="0">
                            <a:latin typeface="Cambria Math" panose="02040503050406030204" pitchFamily="18" charset="0"/>
                            <a:cs typeface="Gill Sans MT"/>
                          </a:rPr>
                        </m:ctrlPr>
                      </m:sSubPr>
                      <m:e>
                        <m:r>
                          <a:rPr lang="en-US" sz="2800" b="0" i="1" spc="-10" smtClean="0">
                            <a:latin typeface="Cambria Math" panose="02040503050406030204" pitchFamily="18" charset="0"/>
                            <a:cs typeface="Gill Sans MT"/>
                          </a:rPr>
                          <m:t>𝜋</m:t>
                        </m:r>
                      </m:e>
                      <m:sub>
                        <m:r>
                          <a:rPr lang="en-US" sz="2800" b="0" i="1" spc="-10" smtClean="0">
                            <a:latin typeface="Cambria Math" panose="02040503050406030204" pitchFamily="18" charset="0"/>
                            <a:cs typeface="Gill Sans MT"/>
                          </a:rPr>
                          <m:t>𝑡</m:t>
                        </m:r>
                        <m:r>
                          <a:rPr lang="en-US" sz="2800" b="0" i="1" spc="-10" smtClean="0">
                            <a:latin typeface="Cambria Math" panose="02040503050406030204" pitchFamily="18" charset="0"/>
                            <a:cs typeface="Gill Sans MT"/>
                          </a:rPr>
                          <m:t>−1</m:t>
                        </m:r>
                      </m:sub>
                    </m:sSub>
                  </m:oMath>
                </a14:m>
                <a:endParaRPr sz="2800" dirty="0">
                  <a:latin typeface="Gill Sans MT"/>
                  <a:cs typeface="Gill Sans MT"/>
                </a:endParaRPr>
              </a:p>
            </p:txBody>
          </p:sp>
        </mc:Choice>
        <mc:Fallback xmlns="">
          <p:sp>
            <p:nvSpPr>
              <p:cNvPr id="4" name="object 4"/>
              <p:cNvSpPr txBox="1">
                <a:spLocks noRot="1" noChangeAspect="1" noMove="1" noResize="1" noEditPoints="1" noAdjustHandles="1" noChangeArrowheads="1" noChangeShapeType="1" noTextEdit="1"/>
              </p:cNvSpPr>
              <p:nvPr/>
            </p:nvSpPr>
            <p:spPr>
              <a:xfrm>
                <a:off x="457059" y="3545651"/>
                <a:ext cx="8108315" cy="2695610"/>
              </a:xfrm>
              <a:prstGeom prst="rect">
                <a:avLst/>
              </a:prstGeom>
              <a:blipFill>
                <a:blip r:embed="rId3"/>
                <a:stretch>
                  <a:fillRect l="-2105" t="-3620" r="-1805"/>
                </a:stretch>
              </a:blipFill>
            </p:spPr>
            <p:txBody>
              <a:bodyPr/>
              <a:lstStyle/>
              <a:p>
                <a:r>
                  <a:rPr 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050" y="358037"/>
            <a:ext cx="1640205" cy="421640"/>
          </a:xfrm>
          <a:prstGeom prst="rect">
            <a:avLst/>
          </a:prstGeom>
        </p:spPr>
        <p:txBody>
          <a:bodyPr vert="horz" wrap="square" lIns="0" tIns="12700" rIns="0" bIns="0" rtlCol="0">
            <a:spAutoFit/>
          </a:bodyPr>
          <a:lstStyle/>
          <a:p>
            <a:pPr marL="12700">
              <a:lnSpc>
                <a:spcPct val="100000"/>
              </a:lnSpc>
              <a:spcBef>
                <a:spcPts val="100"/>
              </a:spcBef>
            </a:pPr>
            <a:r>
              <a:rPr sz="2600" spc="-75" dirty="0">
                <a:latin typeface="Arial"/>
                <a:cs typeface="Arial"/>
              </a:rPr>
              <a:t>Q-</a:t>
            </a:r>
            <a:r>
              <a:rPr sz="2600" spc="-20" dirty="0">
                <a:latin typeface="Arial"/>
                <a:cs typeface="Arial"/>
              </a:rPr>
              <a:t>Learning</a:t>
            </a:r>
            <a:endParaRPr sz="2600">
              <a:latin typeface="Arial"/>
              <a:cs typeface="Arial"/>
            </a:endParaRPr>
          </a:p>
        </p:txBody>
      </p:sp>
      <p:sp>
        <p:nvSpPr>
          <p:cNvPr id="3" name="object 3"/>
          <p:cNvSpPr txBox="1">
            <a:spLocks noGrp="1"/>
          </p:cNvSpPr>
          <p:nvPr>
            <p:ph type="title"/>
          </p:nvPr>
        </p:nvSpPr>
        <p:spPr>
          <a:xfrm>
            <a:off x="255811" y="1555789"/>
            <a:ext cx="8646160" cy="452120"/>
          </a:xfrm>
          <a:prstGeom prst="rect">
            <a:avLst/>
          </a:prstGeom>
        </p:spPr>
        <p:txBody>
          <a:bodyPr vert="horz" wrap="square" lIns="0" tIns="12700" rIns="0" bIns="0" rtlCol="0">
            <a:spAutoFit/>
          </a:bodyPr>
          <a:lstStyle/>
          <a:p>
            <a:pPr marL="12700">
              <a:lnSpc>
                <a:spcPct val="100000"/>
              </a:lnSpc>
              <a:spcBef>
                <a:spcPts val="100"/>
              </a:spcBef>
            </a:pPr>
            <a:r>
              <a:rPr sz="2800" spc="-75" dirty="0">
                <a:latin typeface="Gill Sans MT"/>
                <a:cs typeface="Gill Sans MT"/>
              </a:rPr>
              <a:t>We</a:t>
            </a:r>
            <a:r>
              <a:rPr sz="2800" spc="-50" dirty="0">
                <a:latin typeface="Gill Sans MT"/>
                <a:cs typeface="Gill Sans MT"/>
              </a:rPr>
              <a:t> </a:t>
            </a:r>
            <a:r>
              <a:rPr sz="2800" dirty="0">
                <a:latin typeface="Gill Sans MT"/>
                <a:cs typeface="Gill Sans MT"/>
              </a:rPr>
              <a:t>now</a:t>
            </a:r>
            <a:r>
              <a:rPr sz="2800" spc="-25" dirty="0">
                <a:latin typeface="Gill Sans MT"/>
                <a:cs typeface="Gill Sans MT"/>
              </a:rPr>
              <a:t> </a:t>
            </a:r>
            <a:r>
              <a:rPr sz="2800" dirty="0">
                <a:latin typeface="Gill Sans MT"/>
                <a:cs typeface="Gill Sans MT"/>
              </a:rPr>
              <a:t>consider</a:t>
            </a:r>
            <a:r>
              <a:rPr sz="2800" spc="-25" dirty="0">
                <a:latin typeface="Gill Sans MT"/>
                <a:cs typeface="Gill Sans MT"/>
              </a:rPr>
              <a:t> </a:t>
            </a:r>
            <a:r>
              <a:rPr sz="2800" dirty="0">
                <a:latin typeface="Gill Sans MT"/>
                <a:cs typeface="Gill Sans MT"/>
              </a:rPr>
              <a:t>off-policy</a:t>
            </a:r>
            <a:r>
              <a:rPr sz="2800" spc="-20" dirty="0">
                <a:latin typeface="Gill Sans MT"/>
                <a:cs typeface="Gill Sans MT"/>
              </a:rPr>
              <a:t> </a:t>
            </a:r>
            <a:r>
              <a:rPr sz="2800" dirty="0">
                <a:latin typeface="Gill Sans MT"/>
                <a:cs typeface="Gill Sans MT"/>
              </a:rPr>
              <a:t>learning</a:t>
            </a:r>
            <a:r>
              <a:rPr sz="2800" spc="-25" dirty="0">
                <a:latin typeface="Gill Sans MT"/>
                <a:cs typeface="Gill Sans MT"/>
              </a:rPr>
              <a:t> </a:t>
            </a:r>
            <a:r>
              <a:rPr sz="2800" dirty="0">
                <a:latin typeface="Gill Sans MT"/>
                <a:cs typeface="Gill Sans MT"/>
              </a:rPr>
              <a:t>of</a:t>
            </a:r>
            <a:r>
              <a:rPr sz="2800" spc="-25" dirty="0">
                <a:latin typeface="Gill Sans MT"/>
                <a:cs typeface="Gill Sans MT"/>
              </a:rPr>
              <a:t> </a:t>
            </a:r>
            <a:r>
              <a:rPr sz="2800" dirty="0">
                <a:latin typeface="Gill Sans MT"/>
                <a:cs typeface="Gill Sans MT"/>
              </a:rPr>
              <a:t>action-values</a:t>
            </a:r>
            <a:r>
              <a:rPr sz="2800" spc="-25" dirty="0">
                <a:latin typeface="Gill Sans MT"/>
                <a:cs typeface="Gill Sans MT"/>
              </a:rPr>
              <a:t> </a:t>
            </a:r>
            <a:r>
              <a:rPr sz="2800" spc="-10" dirty="0">
                <a:latin typeface="Gill Sans MT"/>
                <a:cs typeface="Gill Sans MT"/>
              </a:rPr>
              <a:t>Q(s,</a:t>
            </a:r>
            <a:r>
              <a:rPr sz="2800" spc="-285" dirty="0">
                <a:latin typeface="Gill Sans MT"/>
                <a:cs typeface="Gill Sans MT"/>
              </a:rPr>
              <a:t> </a:t>
            </a:r>
            <a:r>
              <a:rPr sz="2800" spc="-25" dirty="0">
                <a:latin typeface="Gill Sans MT"/>
                <a:cs typeface="Gill Sans MT"/>
              </a:rPr>
              <a:t>a)</a:t>
            </a:r>
            <a:endParaRPr sz="2800">
              <a:latin typeface="Gill Sans MT"/>
              <a:cs typeface="Gill Sans MT"/>
            </a:endParaRPr>
          </a:p>
        </p:txBody>
      </p:sp>
      <mc:AlternateContent xmlns:mc="http://schemas.openxmlformats.org/markup-compatibility/2006" xmlns:a14="http://schemas.microsoft.com/office/drawing/2010/main">
        <mc:Choice Requires="a14">
          <p:sp>
            <p:nvSpPr>
              <p:cNvPr id="4" name="object 4"/>
              <p:cNvSpPr txBox="1"/>
              <p:nvPr/>
            </p:nvSpPr>
            <p:spPr>
              <a:xfrm>
                <a:off x="356776" y="2310091"/>
                <a:ext cx="8545195" cy="4301177"/>
              </a:xfrm>
              <a:prstGeom prst="rect">
                <a:avLst/>
              </a:prstGeom>
            </p:spPr>
            <p:txBody>
              <a:bodyPr vert="horz" wrap="square" lIns="0" tIns="71120" rIns="0" bIns="0" rtlCol="0">
                <a:spAutoFit/>
              </a:bodyPr>
              <a:lstStyle/>
              <a:p>
                <a:pPr marL="393065" indent="-342265">
                  <a:lnSpc>
                    <a:spcPct val="100000"/>
                  </a:lnSpc>
                  <a:spcBef>
                    <a:spcPts val="560"/>
                  </a:spcBef>
                  <a:buChar char="•"/>
                  <a:tabLst>
                    <a:tab pos="393065" algn="l"/>
                    <a:tab pos="393700" algn="l"/>
                  </a:tabLst>
                </a:pPr>
                <a:r>
                  <a:rPr lang="en-US" sz="2400" dirty="0">
                    <a:latin typeface="Gill Sans MT"/>
                    <a:cs typeface="Gill Sans MT"/>
                  </a:rPr>
                  <a:t>The next</a:t>
                </a:r>
                <a:r>
                  <a:rPr lang="en-US" sz="2400" spc="-35" dirty="0">
                    <a:latin typeface="Gill Sans MT"/>
                    <a:cs typeface="Gill Sans MT"/>
                  </a:rPr>
                  <a:t> </a:t>
                </a:r>
                <a:r>
                  <a:rPr lang="en-US" sz="2400" dirty="0">
                    <a:latin typeface="Gill Sans MT"/>
                    <a:cs typeface="Gill Sans MT"/>
                  </a:rPr>
                  <a:t>action</a:t>
                </a:r>
                <a:r>
                  <a:rPr lang="en-US" sz="2400" spc="-25" dirty="0">
                    <a:latin typeface="Gill Sans MT"/>
                    <a:cs typeface="Gill Sans MT"/>
                  </a:rPr>
                  <a:t> </a:t>
                </a:r>
                <a:r>
                  <a:rPr lang="en-US" sz="2400" dirty="0">
                    <a:latin typeface="Gill Sans MT"/>
                    <a:cs typeface="Gill Sans MT"/>
                  </a:rPr>
                  <a:t>is</a:t>
                </a:r>
                <a:r>
                  <a:rPr lang="en-US" sz="2400" spc="-25" dirty="0">
                    <a:latin typeface="Gill Sans MT"/>
                    <a:cs typeface="Gill Sans MT"/>
                  </a:rPr>
                  <a:t> </a:t>
                </a:r>
                <a:r>
                  <a:rPr lang="en-US" sz="2400" dirty="0">
                    <a:latin typeface="Gill Sans MT"/>
                    <a:cs typeface="Gill Sans MT"/>
                  </a:rPr>
                  <a:t>chosen</a:t>
                </a:r>
                <a:r>
                  <a:rPr lang="en-US" sz="2400" spc="-20" dirty="0">
                    <a:latin typeface="Gill Sans MT"/>
                    <a:cs typeface="Gill Sans MT"/>
                  </a:rPr>
                  <a:t> </a:t>
                </a:r>
                <a:r>
                  <a:rPr lang="en-US" sz="2400" dirty="0">
                    <a:latin typeface="Gill Sans MT"/>
                    <a:cs typeface="Gill Sans MT"/>
                  </a:rPr>
                  <a:t>using</a:t>
                </a:r>
                <a:r>
                  <a:rPr lang="en-US" sz="2400" spc="-25" dirty="0">
                    <a:latin typeface="Gill Sans MT"/>
                    <a:cs typeface="Gill Sans MT"/>
                  </a:rPr>
                  <a:t> </a:t>
                </a:r>
                <a:r>
                  <a:rPr lang="en-US" sz="2400" b="1" dirty="0">
                    <a:latin typeface="Gill Sans MT"/>
                    <a:cs typeface="Gill Sans MT"/>
                  </a:rPr>
                  <a:t>behaviour</a:t>
                </a:r>
                <a:r>
                  <a:rPr lang="en-US" sz="2400" spc="-25" dirty="0">
                    <a:latin typeface="Gill Sans MT"/>
                    <a:cs typeface="Gill Sans MT"/>
                  </a:rPr>
                  <a:t> </a:t>
                </a:r>
                <a:r>
                  <a:rPr lang="en-US" sz="2400" spc="-10" dirty="0">
                    <a:latin typeface="Gill Sans MT"/>
                    <a:cs typeface="Gill Sans MT"/>
                  </a:rPr>
                  <a:t>policy</a:t>
                </a:r>
                <a:endParaRPr lang="en-US" sz="2400" dirty="0">
                  <a:latin typeface="Gill Sans MT"/>
                  <a:cs typeface="Gill Sans MT"/>
                </a:endParaRPr>
              </a:p>
              <a:p>
                <a:pPr marL="393700">
                  <a:lnSpc>
                    <a:spcPct val="100000"/>
                  </a:lnSpc>
                  <a:spcBef>
                    <a:spcPts val="475"/>
                  </a:spcBef>
                </a:pPr>
                <a:r>
                  <a:rPr lang="en-US" sz="2950" i="1" dirty="0">
                    <a:latin typeface="Times New Roman"/>
                    <a:cs typeface="Times New Roman"/>
                  </a:rPr>
                  <a:t>A</a:t>
                </a:r>
                <a:r>
                  <a:rPr lang="en-US" sz="3075" i="1" baseline="-20325" dirty="0">
                    <a:latin typeface="Times New Roman"/>
                    <a:cs typeface="Times New Roman"/>
                  </a:rPr>
                  <a:t>t</a:t>
                </a:r>
                <a:r>
                  <a:rPr lang="en-US" sz="3075" i="1" spc="337" baseline="-20325" dirty="0">
                    <a:latin typeface="Times New Roman"/>
                    <a:cs typeface="Times New Roman"/>
                  </a:rPr>
                  <a:t> </a:t>
                </a:r>
                <a:r>
                  <a:rPr lang="en-US" sz="2950" dirty="0">
                    <a:latin typeface="Cambria"/>
                    <a:cs typeface="Cambria"/>
                  </a:rPr>
                  <a:t>∼</a:t>
                </a:r>
                <a:r>
                  <a:rPr lang="en-US" sz="2950" spc="85" dirty="0">
                    <a:latin typeface="Cambria"/>
                    <a:cs typeface="Cambria"/>
                  </a:rPr>
                  <a:t> </a:t>
                </a:r>
                <a14:m>
                  <m:oMath xmlns:m="http://schemas.openxmlformats.org/officeDocument/2006/math">
                    <m:r>
                      <a:rPr lang="en-US" sz="2950" i="1" spc="-85" dirty="0" smtClean="0">
                        <a:latin typeface="Cambria Math" panose="02040503050406030204" pitchFamily="18" charset="0"/>
                        <a:cs typeface="Arial"/>
                      </a:rPr>
                      <m:t>𝜇</m:t>
                    </m:r>
                  </m:oMath>
                </a14:m>
                <a:r>
                  <a:rPr lang="en-US" sz="2950" spc="-85" dirty="0">
                    <a:latin typeface="Cambria"/>
                    <a:cs typeface="Cambria"/>
                  </a:rPr>
                  <a:t>(</a:t>
                </a:r>
                <a:r>
                  <a:rPr lang="en-US" sz="2950" spc="-65" dirty="0">
                    <a:latin typeface="Cambria"/>
                    <a:cs typeface="Cambria"/>
                  </a:rPr>
                  <a:t> </a:t>
                </a:r>
                <a:r>
                  <a:rPr lang="en-US" sz="2950" dirty="0">
                    <a:latin typeface="Cambria"/>
                    <a:cs typeface="Cambria"/>
                  </a:rPr>
                  <a:t>⋅</a:t>
                </a:r>
                <a:r>
                  <a:rPr lang="en-US" sz="2950" spc="95" dirty="0">
                    <a:latin typeface="Cambria"/>
                    <a:cs typeface="Cambria"/>
                  </a:rPr>
                  <a:t> </a:t>
                </a:r>
                <a:r>
                  <a:rPr lang="en-US" sz="2950" dirty="0">
                    <a:latin typeface="Cambria"/>
                    <a:cs typeface="Cambria"/>
                  </a:rPr>
                  <a:t>∣</a:t>
                </a:r>
                <a:r>
                  <a:rPr lang="en-US" sz="2950" spc="85" dirty="0">
                    <a:latin typeface="Cambria"/>
                    <a:cs typeface="Cambria"/>
                  </a:rPr>
                  <a:t> </a:t>
                </a:r>
                <a:r>
                  <a:rPr lang="en-US" sz="2950" i="1" spc="-25" dirty="0">
                    <a:latin typeface="Times New Roman"/>
                    <a:cs typeface="Times New Roman"/>
                  </a:rPr>
                  <a:t>S</a:t>
                </a:r>
                <a:r>
                  <a:rPr lang="en-US" sz="3075" i="1" spc="-37" baseline="-20325" dirty="0">
                    <a:latin typeface="Times New Roman"/>
                    <a:cs typeface="Times New Roman"/>
                  </a:rPr>
                  <a:t>t</a:t>
                </a:r>
                <a:r>
                  <a:rPr lang="en-US" sz="2950" spc="-25" dirty="0">
                    <a:latin typeface="Cambria"/>
                    <a:cs typeface="Cambria"/>
                  </a:rPr>
                  <a:t>) </a:t>
                </a:r>
                <a:r>
                  <a:rPr lang="en-US" sz="1600" spc="-25" dirty="0">
                    <a:latin typeface="Cambria"/>
                    <a:cs typeface="Cambria"/>
                  </a:rPr>
                  <a:t>typically </a:t>
                </a:r>
                <a14:m>
                  <m:oMath xmlns:m="http://schemas.openxmlformats.org/officeDocument/2006/math">
                    <m:r>
                      <a:rPr lang="en-US" sz="1600" b="0" i="1" spc="-25" smtClean="0">
                        <a:latin typeface="Cambria Math" panose="02040503050406030204" pitchFamily="18" charset="0"/>
                        <a:cs typeface="Cambria"/>
                      </a:rPr>
                      <m:t>𝜖</m:t>
                    </m:r>
                  </m:oMath>
                </a14:m>
                <a:r>
                  <a:rPr lang="en-US" sz="1600" dirty="0">
                    <a:latin typeface="Cambria"/>
                    <a:cs typeface="Cambria"/>
                  </a:rPr>
                  <a:t>- greedy w.r.t Q</a:t>
                </a:r>
              </a:p>
              <a:p>
                <a:pPr marL="393700">
                  <a:lnSpc>
                    <a:spcPct val="100000"/>
                  </a:lnSpc>
                  <a:spcBef>
                    <a:spcPts val="475"/>
                  </a:spcBef>
                </a:pPr>
                <a:r>
                  <a:rPr lang="en-US" sz="2800" i="1" dirty="0">
                    <a:solidFill>
                      <a:srgbClr val="C00000"/>
                    </a:solidFill>
                    <a:latin typeface="Times New Roman"/>
                    <a:cs typeface="Times New Roman"/>
                  </a:rPr>
                  <a:t>A</a:t>
                </a:r>
                <a:r>
                  <a:rPr lang="en-US" sz="2800" i="1" baseline="-20325" dirty="0">
                    <a:solidFill>
                      <a:srgbClr val="C00000"/>
                    </a:solidFill>
                    <a:latin typeface="Times New Roman"/>
                    <a:cs typeface="Times New Roman"/>
                  </a:rPr>
                  <a:t>t</a:t>
                </a:r>
                <a:r>
                  <a:rPr lang="en-US" sz="2800" spc="-70" dirty="0">
                    <a:solidFill>
                      <a:srgbClr val="C00000"/>
                    </a:solidFill>
                    <a:latin typeface="Gill Sans MT"/>
                    <a:cs typeface="Gill Sans MT"/>
                  </a:rPr>
                  <a:t> </a:t>
                </a:r>
                <a:r>
                  <a:rPr lang="en-US" sz="2800" dirty="0">
                    <a:solidFill>
                      <a:srgbClr val="C00000"/>
                    </a:solidFill>
                    <a:latin typeface="Gill Sans MT"/>
                    <a:cs typeface="Gill Sans MT"/>
                  </a:rPr>
                  <a:t>determines the next state </a:t>
                </a:r>
                <a:r>
                  <a:rPr lang="en-US" sz="2800" i="1" spc="-25" dirty="0">
                    <a:solidFill>
                      <a:srgbClr val="C00000"/>
                    </a:solidFill>
                    <a:latin typeface="Times New Roman"/>
                    <a:cs typeface="Times New Roman"/>
                  </a:rPr>
                  <a:t>S</a:t>
                </a:r>
                <a:r>
                  <a:rPr lang="en-US" sz="2800" i="1" spc="-37" baseline="-20325" dirty="0">
                    <a:solidFill>
                      <a:srgbClr val="C00000"/>
                    </a:solidFill>
                    <a:latin typeface="Times New Roman"/>
                    <a:cs typeface="Times New Roman"/>
                  </a:rPr>
                  <a:t>t+</a:t>
                </a:r>
                <a:r>
                  <a:rPr lang="en-US" sz="2800" spc="-37" baseline="-20325" dirty="0">
                    <a:solidFill>
                      <a:srgbClr val="C00000"/>
                    </a:solidFill>
                    <a:latin typeface="Times New Roman"/>
                    <a:cs typeface="Times New Roman"/>
                  </a:rPr>
                  <a:t>1</a:t>
                </a:r>
                <a:r>
                  <a:rPr lang="en-US" sz="2800" spc="-60" dirty="0">
                    <a:solidFill>
                      <a:srgbClr val="C00000"/>
                    </a:solidFill>
                    <a:latin typeface="Gill Sans MT"/>
                    <a:cs typeface="Gill Sans MT"/>
                  </a:rPr>
                  <a:t> and reward </a:t>
                </a:r>
                <a:r>
                  <a:rPr lang="en-US" sz="3200" i="1" spc="-25" dirty="0">
                    <a:solidFill>
                      <a:srgbClr val="C00000"/>
                    </a:solidFill>
                    <a:latin typeface="Times New Roman"/>
                    <a:cs typeface="Times New Roman"/>
                  </a:rPr>
                  <a:t>R</a:t>
                </a:r>
                <a:r>
                  <a:rPr lang="en-US" sz="3200" i="1" spc="-37" baseline="-20325" dirty="0">
                    <a:solidFill>
                      <a:srgbClr val="C00000"/>
                    </a:solidFill>
                    <a:latin typeface="Times New Roman"/>
                    <a:cs typeface="Times New Roman"/>
                  </a:rPr>
                  <a:t>t+</a:t>
                </a:r>
                <a:r>
                  <a:rPr lang="en-US" sz="3200" spc="-37" baseline="-20325" dirty="0">
                    <a:solidFill>
                      <a:srgbClr val="C00000"/>
                    </a:solidFill>
                    <a:latin typeface="Times New Roman"/>
                    <a:cs typeface="Times New Roman"/>
                  </a:rPr>
                  <a:t>1</a:t>
                </a:r>
              </a:p>
              <a:p>
                <a:pPr marL="457200" indent="-400050">
                  <a:lnSpc>
                    <a:spcPct val="100000"/>
                  </a:lnSpc>
                  <a:spcBef>
                    <a:spcPts val="475"/>
                  </a:spcBef>
                  <a:buFont typeface="Arial" panose="020B0604020202020204" pitchFamily="34" charset="0"/>
                  <a:buChar char="•"/>
                </a:pPr>
                <a:r>
                  <a:rPr lang="en-US" sz="2400" dirty="0">
                    <a:latin typeface="Gill Sans MT"/>
                    <a:cs typeface="Gill Sans MT"/>
                  </a:rPr>
                  <a:t>We then</a:t>
                </a:r>
                <a:r>
                  <a:rPr lang="en-US" sz="2400" spc="-25" dirty="0">
                    <a:latin typeface="Gill Sans MT"/>
                    <a:cs typeface="Gill Sans MT"/>
                  </a:rPr>
                  <a:t> </a:t>
                </a:r>
                <a:r>
                  <a:rPr lang="en-US" sz="2400" dirty="0">
                    <a:latin typeface="Gill Sans MT"/>
                    <a:cs typeface="Gill Sans MT"/>
                  </a:rPr>
                  <a:t>consider</a:t>
                </a:r>
                <a:r>
                  <a:rPr lang="en-US" sz="2400" spc="-20" dirty="0">
                    <a:latin typeface="Gill Sans MT"/>
                    <a:cs typeface="Gill Sans MT"/>
                  </a:rPr>
                  <a:t> </a:t>
                </a:r>
                <a:r>
                  <a:rPr lang="en-US" sz="2400" dirty="0">
                    <a:latin typeface="Gill Sans MT"/>
                    <a:cs typeface="Gill Sans MT"/>
                  </a:rPr>
                  <a:t>a</a:t>
                </a:r>
                <a:r>
                  <a:rPr lang="en-US" sz="2400" spc="-20" dirty="0">
                    <a:latin typeface="Gill Sans MT"/>
                    <a:cs typeface="Gill Sans MT"/>
                  </a:rPr>
                  <a:t> </a:t>
                </a:r>
                <a:r>
                  <a:rPr lang="en-US" sz="2400" dirty="0">
                    <a:latin typeface="Gill Sans MT"/>
                    <a:cs typeface="Gill Sans MT"/>
                  </a:rPr>
                  <a:t>successor</a:t>
                </a:r>
                <a:r>
                  <a:rPr lang="en-US" sz="2400" spc="-15" dirty="0">
                    <a:latin typeface="Gill Sans MT"/>
                    <a:cs typeface="Gill Sans MT"/>
                  </a:rPr>
                  <a:t> </a:t>
                </a:r>
                <a:r>
                  <a:rPr lang="en-US" sz="2400" dirty="0">
                    <a:latin typeface="Gill Sans MT"/>
                    <a:cs typeface="Gill Sans MT"/>
                  </a:rPr>
                  <a:t>action</a:t>
                </a:r>
                <a:r>
                  <a:rPr lang="en-US" sz="2400" spc="-25" dirty="0">
                    <a:latin typeface="Gill Sans MT"/>
                    <a:cs typeface="Gill Sans MT"/>
                  </a:rPr>
                  <a:t> </a:t>
                </a:r>
                <a:r>
                  <a:rPr lang="en-US" sz="2400" dirty="0">
                    <a:latin typeface="Gill Sans MT"/>
                    <a:cs typeface="Gill Sans MT"/>
                  </a:rPr>
                  <a:t>from</a:t>
                </a:r>
                <a:r>
                  <a:rPr lang="en-US" sz="2400" spc="-15" dirty="0">
                    <a:latin typeface="Gill Sans MT"/>
                    <a:cs typeface="Gill Sans MT"/>
                  </a:rPr>
                  <a:t> </a:t>
                </a:r>
                <a:r>
                  <a:rPr lang="en-US" sz="2400" dirty="0">
                    <a:latin typeface="Gill Sans MT"/>
                    <a:cs typeface="Gill Sans MT"/>
                  </a:rPr>
                  <a:t>the</a:t>
                </a:r>
                <a:r>
                  <a:rPr lang="en-US" sz="2400" spc="-25" dirty="0">
                    <a:latin typeface="Gill Sans MT"/>
                    <a:cs typeface="Gill Sans MT"/>
                  </a:rPr>
                  <a:t> </a:t>
                </a:r>
                <a:r>
                  <a:rPr lang="en-US" sz="2400" b="1" dirty="0">
                    <a:latin typeface="Gill Sans MT"/>
                    <a:cs typeface="Gill Sans MT"/>
                  </a:rPr>
                  <a:t>target</a:t>
                </a:r>
                <a:r>
                  <a:rPr lang="en-US" sz="2400" spc="-20" dirty="0">
                    <a:latin typeface="Gill Sans MT"/>
                    <a:cs typeface="Gill Sans MT"/>
                  </a:rPr>
                  <a:t> </a:t>
                </a:r>
                <a:r>
                  <a:rPr lang="en-US" sz="2400" spc="-10" dirty="0">
                    <a:latin typeface="Gill Sans MT"/>
                    <a:cs typeface="Gill Sans MT"/>
                  </a:rPr>
                  <a:t>policy</a:t>
                </a:r>
                <a:endParaRPr lang="en-US" sz="2400" dirty="0">
                  <a:latin typeface="Gill Sans MT"/>
                  <a:cs typeface="Gill Sans MT"/>
                </a:endParaRPr>
              </a:p>
              <a:p>
                <a:pPr marL="393700">
                  <a:lnSpc>
                    <a:spcPct val="100000"/>
                  </a:lnSpc>
                  <a:spcBef>
                    <a:spcPts val="475"/>
                  </a:spcBef>
                </a:pPr>
                <a14:m>
                  <m:oMath xmlns:m="http://schemas.openxmlformats.org/officeDocument/2006/math">
                    <m:sSup>
                      <m:sSupPr>
                        <m:ctrlPr>
                          <a:rPr lang="en-US" sz="2950" b="0" i="1" spc="-290" smtClean="0">
                            <a:latin typeface="Cambria Math" panose="02040503050406030204" pitchFamily="18" charset="0"/>
                            <a:cs typeface="Arial"/>
                          </a:rPr>
                        </m:ctrlPr>
                      </m:sSupPr>
                      <m:e>
                        <m:r>
                          <a:rPr lang="en-US" sz="2950" b="0" i="1" spc="-290" smtClean="0">
                            <a:latin typeface="Cambria Math" panose="02040503050406030204" pitchFamily="18" charset="0"/>
                            <a:cs typeface="Arial"/>
                          </a:rPr>
                          <m:t>𝐴</m:t>
                        </m:r>
                      </m:e>
                      <m:sup>
                        <m:r>
                          <a:rPr lang="en-US" sz="2950" b="0" i="1" spc="-290" smtClean="0">
                            <a:latin typeface="Cambria Math" panose="02040503050406030204" pitchFamily="18" charset="0"/>
                            <a:cs typeface="Arial"/>
                          </a:rPr>
                          <m:t>𝜋</m:t>
                        </m:r>
                      </m:sup>
                    </m:sSup>
                  </m:oMath>
                </a14:m>
                <a:r>
                  <a:rPr lang="en-US" sz="2950" spc="-290" dirty="0">
                    <a:cs typeface="Arial"/>
                  </a:rPr>
                  <a:t> </a:t>
                </a:r>
                <a:r>
                  <a:rPr lang="en-US" sz="2950" dirty="0">
                    <a:latin typeface="Cambria"/>
                    <a:cs typeface="Cambria"/>
                  </a:rPr>
                  <a:t>∼</a:t>
                </a:r>
                <a:r>
                  <a:rPr lang="en-US" sz="2950" spc="145" dirty="0">
                    <a:latin typeface="Cambria"/>
                    <a:cs typeface="Cambria"/>
                  </a:rPr>
                  <a:t> </a:t>
                </a:r>
                <a14:m>
                  <m:oMath xmlns:m="http://schemas.openxmlformats.org/officeDocument/2006/math">
                    <m:r>
                      <a:rPr lang="en-US" sz="2950" i="1" spc="-290" dirty="0" smtClean="0">
                        <a:latin typeface="Cambria Math" panose="02040503050406030204" pitchFamily="18" charset="0"/>
                        <a:cs typeface="Arial"/>
                      </a:rPr>
                      <m:t>𝜋</m:t>
                    </m:r>
                  </m:oMath>
                </a14:m>
                <a:r>
                  <a:rPr lang="en-US" sz="2950" spc="-290" dirty="0">
                    <a:latin typeface="Cambria"/>
                    <a:cs typeface="Cambria"/>
                  </a:rPr>
                  <a:t>(</a:t>
                </a:r>
                <a:r>
                  <a:rPr lang="en-US" sz="2950" spc="-5" dirty="0">
                    <a:latin typeface="Cambria"/>
                    <a:cs typeface="Cambria"/>
                  </a:rPr>
                  <a:t> </a:t>
                </a:r>
                <a:r>
                  <a:rPr lang="en-US" sz="2950" dirty="0">
                    <a:latin typeface="Cambria"/>
                    <a:cs typeface="Cambria"/>
                  </a:rPr>
                  <a:t>⋅</a:t>
                </a:r>
                <a:r>
                  <a:rPr lang="en-US" sz="2950" spc="145" dirty="0">
                    <a:latin typeface="Cambria"/>
                    <a:cs typeface="Cambria"/>
                  </a:rPr>
                  <a:t> </a:t>
                </a:r>
                <a:r>
                  <a:rPr lang="en-US" sz="2950" dirty="0">
                    <a:latin typeface="Cambria"/>
                    <a:cs typeface="Cambria"/>
                  </a:rPr>
                  <a:t>∣</a:t>
                </a:r>
                <a:r>
                  <a:rPr lang="en-US" sz="2950" spc="140" dirty="0">
                    <a:latin typeface="Cambria"/>
                    <a:cs typeface="Cambria"/>
                  </a:rPr>
                  <a:t> </a:t>
                </a:r>
                <a:r>
                  <a:rPr lang="en-US" sz="2950" i="1" spc="-25" dirty="0">
                    <a:latin typeface="Times New Roman"/>
                    <a:cs typeface="Times New Roman"/>
                  </a:rPr>
                  <a:t>S</a:t>
                </a:r>
                <a:r>
                  <a:rPr lang="en-US" sz="3075" i="1" spc="-37" baseline="-20325" dirty="0">
                    <a:latin typeface="Times New Roman"/>
                    <a:cs typeface="Times New Roman"/>
                  </a:rPr>
                  <a:t>t</a:t>
                </a:r>
                <a:r>
                  <a:rPr lang="en-US" sz="2950" spc="-25" dirty="0">
                    <a:latin typeface="Cambria"/>
                    <a:cs typeface="Cambria"/>
                  </a:rPr>
                  <a:t>) </a:t>
                </a:r>
                <a:r>
                  <a:rPr lang="en-US" sz="1600" spc="-25" dirty="0">
                    <a:latin typeface="Cambria"/>
                    <a:cs typeface="Cambria"/>
                  </a:rPr>
                  <a:t>typically </a:t>
                </a:r>
                <a:r>
                  <a:rPr lang="en-US" sz="1600" dirty="0">
                    <a:latin typeface="Cambria"/>
                    <a:cs typeface="Cambria"/>
                  </a:rPr>
                  <a:t>greedy w.r.t Q</a:t>
                </a:r>
                <a:br>
                  <a:rPr lang="en-US" sz="1600" dirty="0">
                    <a:latin typeface="Cambria"/>
                    <a:cs typeface="Cambria"/>
                  </a:rPr>
                </a:br>
                <a:r>
                  <a:rPr lang="en-US" sz="2800" dirty="0">
                    <a:solidFill>
                      <a:srgbClr val="C82506"/>
                    </a:solidFill>
                    <a:latin typeface="Gill Sans MT"/>
                    <a:cs typeface="Gill Sans MT"/>
                  </a:rPr>
                  <a:t>we</a:t>
                </a:r>
                <a:r>
                  <a:rPr lang="en-US" sz="2800" spc="-70" dirty="0">
                    <a:solidFill>
                      <a:srgbClr val="C82506"/>
                    </a:solidFill>
                    <a:latin typeface="Gill Sans MT"/>
                    <a:cs typeface="Gill Sans MT"/>
                  </a:rPr>
                  <a:t> determine the state value of this next state </a:t>
                </a:r>
                <a:r>
                  <a:rPr lang="en-US" sz="2800" i="1" spc="-25" dirty="0">
                    <a:solidFill>
                      <a:srgbClr val="C00000"/>
                    </a:solidFill>
                    <a:latin typeface="Times New Roman"/>
                    <a:cs typeface="Times New Roman"/>
                  </a:rPr>
                  <a:t>S</a:t>
                </a:r>
                <a:r>
                  <a:rPr lang="en-US" sz="2800" i="1" spc="-37" baseline="-20325" dirty="0">
                    <a:solidFill>
                      <a:srgbClr val="C00000"/>
                    </a:solidFill>
                    <a:latin typeface="Times New Roman"/>
                    <a:cs typeface="Times New Roman"/>
                  </a:rPr>
                  <a:t>t+</a:t>
                </a:r>
                <a:r>
                  <a:rPr lang="en-US" sz="2800" spc="-37" baseline="-20325" dirty="0">
                    <a:solidFill>
                      <a:srgbClr val="C00000"/>
                    </a:solidFill>
                    <a:latin typeface="Times New Roman"/>
                    <a:cs typeface="Times New Roman"/>
                  </a:rPr>
                  <a:t>1</a:t>
                </a:r>
                <a:r>
                  <a:rPr lang="en-US" sz="2800" spc="-60" dirty="0">
                    <a:solidFill>
                      <a:srgbClr val="C00000"/>
                    </a:solidFill>
                    <a:latin typeface="Gill Sans MT"/>
                    <a:cs typeface="Gill Sans MT"/>
                  </a:rPr>
                  <a:t> </a:t>
                </a:r>
                <a:r>
                  <a:rPr lang="en-US" sz="2800" spc="-70" dirty="0">
                    <a:solidFill>
                      <a:srgbClr val="C82506"/>
                    </a:solidFill>
                    <a:latin typeface="Gill Sans MT"/>
                    <a:cs typeface="Gill Sans MT"/>
                  </a:rPr>
                  <a:t>from its Q-values by choosing an action </a:t>
                </a:r>
                <a14:m>
                  <m:oMath xmlns:m="http://schemas.openxmlformats.org/officeDocument/2006/math">
                    <m:sSup>
                      <m:sSupPr>
                        <m:ctrlPr>
                          <a:rPr lang="en-US" sz="2800" i="1" spc="-70">
                            <a:solidFill>
                              <a:srgbClr val="C82506"/>
                            </a:solidFill>
                            <a:latin typeface="Cambria Math" panose="02040503050406030204" pitchFamily="18" charset="0"/>
                            <a:cs typeface="Gill Sans MT"/>
                          </a:rPr>
                        </m:ctrlPr>
                      </m:sSupPr>
                      <m:e>
                        <m:r>
                          <a:rPr lang="en-US" sz="2800" spc="-70">
                            <a:solidFill>
                              <a:srgbClr val="C82506"/>
                            </a:solidFill>
                            <a:latin typeface="Cambria Math" panose="02040503050406030204" pitchFamily="18" charset="0"/>
                            <a:cs typeface="Gill Sans MT"/>
                          </a:rPr>
                          <m:t>𝐴</m:t>
                        </m:r>
                      </m:e>
                      <m:sup>
                        <m:r>
                          <a:rPr lang="en-US" sz="2800" spc="-70">
                            <a:solidFill>
                              <a:srgbClr val="C82506"/>
                            </a:solidFill>
                            <a:latin typeface="Cambria Math" panose="02040503050406030204" pitchFamily="18" charset="0"/>
                            <a:cs typeface="Gill Sans MT"/>
                          </a:rPr>
                          <m:t>𝜋</m:t>
                        </m:r>
                      </m:sup>
                    </m:sSup>
                  </m:oMath>
                </a14:m>
                <a:r>
                  <a:rPr lang="en-US" sz="2800" spc="-70" dirty="0">
                    <a:solidFill>
                      <a:srgbClr val="C82506"/>
                    </a:solidFill>
                    <a:latin typeface="Gill Sans MT"/>
                    <a:cs typeface="Gill Sans MT"/>
                  </a:rPr>
                  <a:t> according to the target policy</a:t>
                </a:r>
              </a:p>
              <a:p>
                <a:pPr marL="393700">
                  <a:lnSpc>
                    <a:spcPct val="100000"/>
                  </a:lnSpc>
                  <a:spcBef>
                    <a:spcPts val="475"/>
                  </a:spcBef>
                </a:pPr>
                <a:endParaRPr lang="en-US" sz="300" dirty="0">
                  <a:latin typeface="Cambria"/>
                  <a:cs typeface="Cambria"/>
                </a:endParaRPr>
              </a:p>
              <a:p>
                <a:pPr marL="325755">
                  <a:lnSpc>
                    <a:spcPct val="100000"/>
                  </a:lnSpc>
                </a:pPr>
                <a:r>
                  <a:rPr lang="en-US" sz="2350" i="1" spc="-25" dirty="0">
                    <a:latin typeface="Times New Roman"/>
                    <a:cs typeface="Times New Roman"/>
                  </a:rPr>
                  <a:t>Q</a:t>
                </a:r>
                <a:r>
                  <a:rPr lang="en-US" sz="2350" spc="-25" dirty="0">
                    <a:latin typeface="Cambria"/>
                    <a:cs typeface="Cambria"/>
                  </a:rPr>
                  <a:t>(</a:t>
                </a:r>
                <a:r>
                  <a:rPr lang="en-US" sz="2350" i="1" spc="-25" dirty="0">
                    <a:latin typeface="Times New Roman"/>
                    <a:cs typeface="Times New Roman"/>
                  </a:rPr>
                  <a:t>S</a:t>
                </a:r>
                <a:r>
                  <a:rPr lang="en-US" sz="2475" i="1" spc="-37" baseline="-20202" dirty="0">
                    <a:latin typeface="Times New Roman"/>
                    <a:cs typeface="Times New Roman"/>
                  </a:rPr>
                  <a:t>t</a:t>
                </a:r>
                <a:r>
                  <a:rPr lang="en-US" sz="2350" spc="-25" dirty="0">
                    <a:latin typeface="Cambria"/>
                    <a:cs typeface="Cambria"/>
                  </a:rPr>
                  <a:t>,</a:t>
                </a:r>
                <a:r>
                  <a:rPr lang="en-US" sz="2350" spc="-105" dirty="0">
                    <a:latin typeface="Cambria"/>
                    <a:cs typeface="Cambria"/>
                  </a:rPr>
                  <a:t> </a:t>
                </a:r>
                <a:r>
                  <a:rPr lang="en-US" sz="2350" i="1" dirty="0">
                    <a:latin typeface="Times New Roman"/>
                    <a:cs typeface="Times New Roman"/>
                  </a:rPr>
                  <a:t>A</a:t>
                </a:r>
                <a:r>
                  <a:rPr lang="en-US" sz="2475" i="1" baseline="-20202" dirty="0">
                    <a:latin typeface="Times New Roman"/>
                    <a:cs typeface="Times New Roman"/>
                  </a:rPr>
                  <a:t>t</a:t>
                </a:r>
                <a:r>
                  <a:rPr lang="en-US" sz="2350" dirty="0">
                    <a:latin typeface="Cambria"/>
                    <a:cs typeface="Cambria"/>
                  </a:rPr>
                  <a:t>)</a:t>
                </a:r>
                <a:r>
                  <a:rPr lang="en-US" sz="2350" spc="45" dirty="0">
                    <a:latin typeface="Cambria"/>
                    <a:cs typeface="Cambria"/>
                  </a:rPr>
                  <a:t> </a:t>
                </a:r>
                <a:r>
                  <a:rPr lang="en-US" sz="2350" spc="195" dirty="0">
                    <a:latin typeface="Cambria"/>
                    <a:cs typeface="Cambria"/>
                  </a:rPr>
                  <a:t>←</a:t>
                </a:r>
                <a:r>
                  <a:rPr lang="en-US" sz="2350" spc="105" dirty="0">
                    <a:latin typeface="Cambria"/>
                    <a:cs typeface="Cambria"/>
                  </a:rPr>
                  <a:t> </a:t>
                </a:r>
                <a:r>
                  <a:rPr lang="en-US" sz="2350" i="1" spc="-25" dirty="0">
                    <a:latin typeface="Times New Roman"/>
                    <a:cs typeface="Times New Roman"/>
                  </a:rPr>
                  <a:t>Q</a:t>
                </a:r>
                <a:r>
                  <a:rPr lang="en-US" sz="2350" spc="-25" dirty="0">
                    <a:latin typeface="Cambria"/>
                    <a:cs typeface="Cambria"/>
                  </a:rPr>
                  <a:t>(</a:t>
                </a:r>
                <a:r>
                  <a:rPr lang="en-US" sz="2350" i="1" spc="-25" dirty="0">
                    <a:latin typeface="Times New Roman"/>
                    <a:cs typeface="Times New Roman"/>
                  </a:rPr>
                  <a:t>S</a:t>
                </a:r>
                <a:r>
                  <a:rPr lang="en-US" sz="2475" i="1" spc="-37" baseline="-20202" dirty="0">
                    <a:latin typeface="Times New Roman"/>
                    <a:cs typeface="Times New Roman"/>
                  </a:rPr>
                  <a:t>t</a:t>
                </a:r>
                <a:r>
                  <a:rPr lang="en-US" sz="2350" spc="-25" dirty="0">
                    <a:latin typeface="Cambria"/>
                    <a:cs typeface="Cambria"/>
                  </a:rPr>
                  <a:t>,</a:t>
                </a:r>
                <a:r>
                  <a:rPr lang="en-US" sz="2350" spc="-105" dirty="0">
                    <a:latin typeface="Cambria"/>
                    <a:cs typeface="Cambria"/>
                  </a:rPr>
                  <a:t> </a:t>
                </a:r>
                <a:r>
                  <a:rPr lang="en-US" sz="2350" i="1" spc="-45" dirty="0">
                    <a:latin typeface="Times New Roman"/>
                    <a:cs typeface="Times New Roman"/>
                  </a:rPr>
                  <a:t>A</a:t>
                </a:r>
                <a:r>
                  <a:rPr lang="en-US" sz="2475" i="1" spc="-67" baseline="-20202" dirty="0">
                    <a:latin typeface="Times New Roman"/>
                    <a:cs typeface="Times New Roman"/>
                  </a:rPr>
                  <a:t>t</a:t>
                </a:r>
                <a:r>
                  <a:rPr lang="en-US" sz="2350" spc="-45" dirty="0">
                    <a:latin typeface="Cambria"/>
                    <a:cs typeface="Cambria"/>
                  </a:rPr>
                  <a:t>)</a:t>
                </a:r>
                <a:r>
                  <a:rPr lang="en-US" sz="2350" spc="-15" dirty="0">
                    <a:latin typeface="Cambria"/>
                    <a:cs typeface="Cambria"/>
                  </a:rPr>
                  <a:t> </a:t>
                </a:r>
                <a:r>
                  <a:rPr lang="en-US" sz="2350" spc="295" dirty="0">
                    <a:latin typeface="Cambria"/>
                    <a:cs typeface="Cambria"/>
                  </a:rPr>
                  <a:t>+</a:t>
                </a:r>
                <a:r>
                  <a:rPr lang="en-US" sz="2350" spc="-20" dirty="0">
                    <a:latin typeface="Cambria"/>
                    <a:cs typeface="Cambria"/>
                  </a:rPr>
                  <a:t> </a:t>
                </a:r>
                <a:r>
                  <a:rPr lang="en-US" sz="2350" i="1" spc="-60" dirty="0">
                    <a:latin typeface="Arial"/>
                    <a:cs typeface="Arial"/>
                  </a:rPr>
                  <a:t>α</a:t>
                </a:r>
                <a:r>
                  <a:rPr lang="en-US" sz="2350" i="1" spc="-265" dirty="0">
                    <a:latin typeface="Arial"/>
                    <a:cs typeface="Arial"/>
                  </a:rPr>
                  <a:t> </a:t>
                </a:r>
                <a:r>
                  <a:rPr lang="en-US" sz="3525" baseline="-10638" dirty="0">
                    <a:latin typeface="Verdana"/>
                    <a:cs typeface="Verdana"/>
                  </a:rPr>
                  <a:t>(</a:t>
                </a:r>
                <a:r>
                  <a:rPr lang="en-US" sz="2350" i="1" dirty="0">
                    <a:latin typeface="Times New Roman"/>
                    <a:cs typeface="Times New Roman"/>
                  </a:rPr>
                  <a:t>R</a:t>
                </a:r>
                <a:r>
                  <a:rPr lang="en-US" sz="2475" i="1" baseline="-20202" dirty="0">
                    <a:latin typeface="Times New Roman"/>
                    <a:cs typeface="Times New Roman"/>
                  </a:rPr>
                  <a:t>t</a:t>
                </a:r>
                <a:r>
                  <a:rPr lang="en-US" sz="2475" baseline="-20202" dirty="0">
                    <a:latin typeface="Cambria"/>
                    <a:cs typeface="Cambria"/>
                  </a:rPr>
                  <a:t>+1</a:t>
                </a:r>
                <a:r>
                  <a:rPr lang="en-US" sz="2475" spc="202" baseline="-20202" dirty="0">
                    <a:latin typeface="Cambria"/>
                    <a:cs typeface="Cambria"/>
                  </a:rPr>
                  <a:t> </a:t>
                </a:r>
                <a:r>
                  <a:rPr lang="en-US" sz="2350" spc="295" dirty="0">
                    <a:latin typeface="Cambria"/>
                    <a:cs typeface="Cambria"/>
                  </a:rPr>
                  <a:t>+</a:t>
                </a:r>
                <a:r>
                  <a:rPr lang="en-US" sz="2350" spc="-20" dirty="0">
                    <a:latin typeface="Cambria"/>
                    <a:cs typeface="Cambria"/>
                  </a:rPr>
                  <a:t> </a:t>
                </a:r>
                <a14:m>
                  <m:oMath xmlns:m="http://schemas.openxmlformats.org/officeDocument/2006/math">
                    <m:r>
                      <a:rPr lang="en-US" sz="2350" i="1" spc="-30" dirty="0" smtClean="0">
                        <a:latin typeface="Cambria Math" panose="02040503050406030204" pitchFamily="18" charset="0"/>
                        <a:cs typeface="Arial"/>
                      </a:rPr>
                      <m:t>𝛾</m:t>
                    </m:r>
                  </m:oMath>
                </a14:m>
                <a:r>
                  <a:rPr lang="en-US" sz="2350" i="1" spc="-30" dirty="0">
                    <a:latin typeface="Times New Roman"/>
                    <a:cs typeface="Times New Roman"/>
                  </a:rPr>
                  <a:t>Q</a:t>
                </a:r>
                <a:r>
                  <a:rPr lang="en-US" sz="2350" spc="-30" dirty="0">
                    <a:latin typeface="Cambria"/>
                    <a:cs typeface="Cambria"/>
                  </a:rPr>
                  <a:t>(</a:t>
                </a:r>
                <a:r>
                  <a:rPr lang="en-US" sz="2350" i="1" spc="-30" dirty="0">
                    <a:latin typeface="Times New Roman"/>
                    <a:cs typeface="Times New Roman"/>
                  </a:rPr>
                  <a:t>S</a:t>
                </a:r>
                <a:r>
                  <a:rPr lang="en-US" sz="2475" i="1" spc="-44" baseline="-20202" dirty="0">
                    <a:latin typeface="Times New Roman"/>
                    <a:cs typeface="Times New Roman"/>
                  </a:rPr>
                  <a:t>t</a:t>
                </a:r>
                <a:r>
                  <a:rPr lang="en-US" sz="2475" spc="-44" baseline="-20202" dirty="0">
                    <a:latin typeface="Cambria"/>
                    <a:cs typeface="Cambria"/>
                  </a:rPr>
                  <a:t>+1</a:t>
                </a:r>
                <a:r>
                  <a:rPr lang="en-US" sz="2350" spc="-30" dirty="0">
                    <a:latin typeface="Cambria"/>
                    <a:cs typeface="Cambria"/>
                  </a:rPr>
                  <a:t>,</a:t>
                </a:r>
                <a:r>
                  <a:rPr lang="en-US" sz="2350" spc="-100" dirty="0">
                    <a:latin typeface="Cambria"/>
                    <a:cs typeface="Cambria"/>
                  </a:rPr>
                  <a:t> </a:t>
                </a:r>
                <a:r>
                  <a:rPr lang="en-US" sz="2400" i="1" spc="-25" dirty="0">
                    <a:latin typeface="Times New Roman"/>
                    <a:cs typeface="Times New Roman"/>
                  </a:rPr>
                  <a:t>A</a:t>
                </a:r>
                <a:r>
                  <a:rPr lang="en-US" sz="2400" i="1" spc="-25" baseline="30000" dirty="0">
                    <a:latin typeface="Times New Roman"/>
                    <a:cs typeface="Times New Roman"/>
                    <a:sym typeface="Symbol" panose="05050102010706020507" pitchFamily="18" charset="2"/>
                  </a:rPr>
                  <a:t></a:t>
                </a:r>
                <a:r>
                  <a:rPr lang="en-US" sz="2350" spc="-70" dirty="0">
                    <a:latin typeface="Cambria"/>
                    <a:cs typeface="Cambria"/>
                  </a:rPr>
                  <a:t>)</a:t>
                </a:r>
                <a:r>
                  <a:rPr lang="en-US" sz="2350" spc="-15" dirty="0">
                    <a:latin typeface="Cambria"/>
                    <a:cs typeface="Cambria"/>
                  </a:rPr>
                  <a:t> </a:t>
                </a:r>
                <a:r>
                  <a:rPr lang="en-US" sz="2350" spc="295" dirty="0">
                    <a:latin typeface="Cambria"/>
                    <a:cs typeface="Cambria"/>
                  </a:rPr>
                  <a:t>−</a:t>
                </a:r>
                <a:r>
                  <a:rPr lang="en-US" sz="2350" spc="-20" dirty="0">
                    <a:latin typeface="Cambria"/>
                    <a:cs typeface="Cambria"/>
                  </a:rPr>
                  <a:t> </a:t>
                </a:r>
                <a:r>
                  <a:rPr lang="en-US" sz="2350" i="1" spc="-25" dirty="0">
                    <a:latin typeface="Times New Roman"/>
                    <a:cs typeface="Times New Roman"/>
                  </a:rPr>
                  <a:t>Q</a:t>
                </a:r>
                <a:r>
                  <a:rPr lang="en-US" sz="2350" spc="-25" dirty="0">
                    <a:latin typeface="Cambria"/>
                    <a:cs typeface="Cambria"/>
                  </a:rPr>
                  <a:t>(</a:t>
                </a:r>
                <a:r>
                  <a:rPr lang="en-US" sz="2350" i="1" spc="-25" dirty="0">
                    <a:latin typeface="Times New Roman"/>
                    <a:cs typeface="Times New Roman"/>
                  </a:rPr>
                  <a:t>S</a:t>
                </a:r>
                <a:r>
                  <a:rPr lang="en-US" sz="2475" i="1" spc="-37" baseline="-20202" dirty="0">
                    <a:latin typeface="Times New Roman"/>
                    <a:cs typeface="Times New Roman"/>
                  </a:rPr>
                  <a:t>t</a:t>
                </a:r>
                <a:r>
                  <a:rPr lang="en-US" sz="2350" spc="-25" dirty="0">
                    <a:latin typeface="Cambria"/>
                    <a:cs typeface="Cambria"/>
                  </a:rPr>
                  <a:t>,</a:t>
                </a:r>
                <a:r>
                  <a:rPr lang="en-US" sz="2350" spc="-105"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lang="en-US" sz="2350" spc="-20" dirty="0">
                    <a:latin typeface="Cambria"/>
                    <a:cs typeface="Cambria"/>
                  </a:rPr>
                  <a:t>)</a:t>
                </a:r>
                <a:r>
                  <a:rPr lang="en-US" sz="3525" spc="-30" baseline="-10638" dirty="0">
                    <a:latin typeface="Verdana"/>
                    <a:cs typeface="Verdana"/>
                  </a:rPr>
                  <a:t>)</a:t>
                </a:r>
                <a:endParaRPr sz="3525" baseline="-10638" dirty="0">
                  <a:latin typeface="Verdana"/>
                  <a:cs typeface="Verdana"/>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56776" y="2310091"/>
                <a:ext cx="8545195" cy="4301177"/>
              </a:xfrm>
              <a:prstGeom prst="rect">
                <a:avLst/>
              </a:prstGeom>
              <a:blipFill>
                <a:blip r:embed="rId2"/>
                <a:stretch>
                  <a:fillRect l="-1570" t="-567" r="-2784" b="-2550"/>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8FC2E9A2-89D1-DEC1-CB10-8806D82A227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9768E292-0F1B-94D3-7FF8-2483A9043506}"/>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4DC6EE85-83C5-09FC-5856-EB5D37E3ABC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050" y="358037"/>
            <a:ext cx="4910455" cy="421640"/>
          </a:xfrm>
          <a:prstGeom prst="rect">
            <a:avLst/>
          </a:prstGeom>
        </p:spPr>
        <p:txBody>
          <a:bodyPr vert="horz" wrap="square" lIns="0" tIns="12700" rIns="0" bIns="0" rtlCol="0">
            <a:spAutoFit/>
          </a:bodyPr>
          <a:lstStyle/>
          <a:p>
            <a:pPr marL="12700">
              <a:lnSpc>
                <a:spcPct val="100000"/>
              </a:lnSpc>
              <a:spcBef>
                <a:spcPts val="100"/>
              </a:spcBef>
            </a:pPr>
            <a:r>
              <a:rPr spc="-60" dirty="0"/>
              <a:t>Off-</a:t>
            </a:r>
            <a:r>
              <a:rPr spc="-25" dirty="0"/>
              <a:t>Policy</a:t>
            </a:r>
            <a:r>
              <a:rPr spc="-114" dirty="0"/>
              <a:t> </a:t>
            </a:r>
            <a:r>
              <a:rPr dirty="0"/>
              <a:t>Control</a:t>
            </a:r>
            <a:r>
              <a:rPr spc="-70" dirty="0"/>
              <a:t> </a:t>
            </a:r>
            <a:r>
              <a:rPr dirty="0"/>
              <a:t>with</a:t>
            </a:r>
            <a:r>
              <a:rPr spc="-40" dirty="0"/>
              <a:t> </a:t>
            </a:r>
            <a:r>
              <a:rPr spc="-140" dirty="0"/>
              <a:t>Q-</a:t>
            </a:r>
            <a:r>
              <a:rPr spc="-10" dirty="0"/>
              <a:t>Learning</a:t>
            </a:r>
          </a:p>
        </p:txBody>
      </p:sp>
      <mc:AlternateContent xmlns:mc="http://schemas.openxmlformats.org/markup-compatibility/2006" xmlns:a14="http://schemas.microsoft.com/office/drawing/2010/main">
        <mc:Choice Requires="a14">
          <p:sp>
            <p:nvSpPr>
              <p:cNvPr id="3" name="object 3"/>
              <p:cNvSpPr txBox="1"/>
              <p:nvPr/>
            </p:nvSpPr>
            <p:spPr>
              <a:xfrm>
                <a:off x="353028" y="1208199"/>
                <a:ext cx="8425244" cy="1269578"/>
              </a:xfrm>
              <a:prstGeom prst="rect">
                <a:avLst/>
              </a:prstGeom>
            </p:spPr>
            <p:txBody>
              <a:bodyPr vert="horz" wrap="square" lIns="0" tIns="12700" rIns="0" bIns="0" rtlCol="0">
                <a:spAutoFit/>
              </a:bodyPr>
              <a:lstStyle/>
              <a:p>
                <a:pPr marL="12700">
                  <a:lnSpc>
                    <a:spcPct val="100000"/>
                  </a:lnSpc>
                  <a:spcBef>
                    <a:spcPts val="100"/>
                  </a:spcBef>
                </a:pPr>
                <a:r>
                  <a:rPr lang="en-US" sz="2600" spc="-60" dirty="0">
                    <a:latin typeface="Gill Sans MT"/>
                    <a:cs typeface="Gill Sans MT"/>
                  </a:rPr>
                  <a:t>We</a:t>
                </a:r>
                <a:r>
                  <a:rPr lang="en-US" sz="2600" spc="-75" dirty="0">
                    <a:latin typeface="Gill Sans MT"/>
                    <a:cs typeface="Gill Sans MT"/>
                  </a:rPr>
                  <a:t> </a:t>
                </a:r>
                <a:r>
                  <a:rPr lang="en-US" sz="2600" dirty="0">
                    <a:latin typeface="Gill Sans MT"/>
                    <a:cs typeface="Gill Sans MT"/>
                  </a:rPr>
                  <a:t>now</a:t>
                </a:r>
                <a:r>
                  <a:rPr lang="en-US" sz="2600" spc="-65" dirty="0">
                    <a:latin typeface="Gill Sans MT"/>
                    <a:cs typeface="Gill Sans MT"/>
                  </a:rPr>
                  <a:t> </a:t>
                </a:r>
                <a:r>
                  <a:rPr lang="en-US" sz="2600" dirty="0">
                    <a:latin typeface="Gill Sans MT"/>
                    <a:cs typeface="Gill Sans MT"/>
                  </a:rPr>
                  <a:t>improve</a:t>
                </a:r>
                <a:r>
                  <a:rPr lang="en-US" sz="2600" spc="-65" dirty="0">
                    <a:latin typeface="Gill Sans MT"/>
                    <a:cs typeface="Gill Sans MT"/>
                  </a:rPr>
                  <a:t> </a:t>
                </a:r>
                <a:r>
                  <a:rPr lang="en-US" sz="2600" dirty="0">
                    <a:latin typeface="Gill Sans MT"/>
                    <a:cs typeface="Gill Sans MT"/>
                  </a:rPr>
                  <a:t>both</a:t>
                </a:r>
                <a:r>
                  <a:rPr lang="en-US" sz="2600" spc="-60" dirty="0">
                    <a:latin typeface="Gill Sans MT"/>
                    <a:cs typeface="Gill Sans MT"/>
                  </a:rPr>
                  <a:t> </a:t>
                </a:r>
                <a:r>
                  <a:rPr lang="en-US" sz="2600" dirty="0">
                    <a:latin typeface="Gill Sans MT"/>
                    <a:cs typeface="Gill Sans MT"/>
                  </a:rPr>
                  <a:t>behaviour</a:t>
                </a:r>
                <a:r>
                  <a:rPr lang="en-US" sz="2600" spc="-65" dirty="0">
                    <a:latin typeface="Gill Sans MT"/>
                    <a:cs typeface="Gill Sans MT"/>
                  </a:rPr>
                  <a:t> </a:t>
                </a:r>
                <a:r>
                  <a:rPr lang="en-US" sz="2600" dirty="0">
                    <a:latin typeface="Gill Sans MT"/>
                    <a:cs typeface="Gill Sans MT"/>
                  </a:rPr>
                  <a:t>and</a:t>
                </a:r>
                <a:r>
                  <a:rPr lang="en-US" sz="2600" spc="-65" dirty="0">
                    <a:latin typeface="Gill Sans MT"/>
                    <a:cs typeface="Gill Sans MT"/>
                  </a:rPr>
                  <a:t> </a:t>
                </a:r>
                <a:r>
                  <a:rPr lang="en-US" sz="2600" dirty="0">
                    <a:latin typeface="Gill Sans MT"/>
                    <a:cs typeface="Gill Sans MT"/>
                  </a:rPr>
                  <a:t>target</a:t>
                </a:r>
                <a:r>
                  <a:rPr lang="en-US" sz="2600" spc="-60" dirty="0">
                    <a:latin typeface="Gill Sans MT"/>
                    <a:cs typeface="Gill Sans MT"/>
                  </a:rPr>
                  <a:t> </a:t>
                </a:r>
                <a:r>
                  <a:rPr lang="en-US" sz="2600" spc="-10" dirty="0">
                    <a:latin typeface="Gill Sans MT"/>
                    <a:cs typeface="Gill Sans MT"/>
                  </a:rPr>
                  <a:t>policies.</a:t>
                </a:r>
              </a:p>
              <a:p>
                <a:pPr marL="12700">
                  <a:spcBef>
                    <a:spcPts val="100"/>
                  </a:spcBef>
                </a:pPr>
                <a:r>
                  <a:rPr lang="en-US" sz="2600" dirty="0">
                    <a:latin typeface="Gill Sans MT"/>
                    <a:cs typeface="Gill Sans MT"/>
                  </a:rPr>
                  <a:t>The </a:t>
                </a:r>
                <a:r>
                  <a:rPr lang="en-US" sz="2600" dirty="0" err="1">
                    <a:latin typeface="Gill Sans MT"/>
                    <a:cs typeface="Gill Sans MT"/>
                  </a:rPr>
                  <a:t>behaviour</a:t>
                </a:r>
                <a:r>
                  <a:rPr lang="en-US" sz="2600" dirty="0">
                    <a:latin typeface="Gill Sans MT"/>
                    <a:cs typeface="Gill Sans MT"/>
                  </a:rPr>
                  <a:t> policy </a:t>
                </a:r>
                <a14:m>
                  <m:oMath xmlns:m="http://schemas.openxmlformats.org/officeDocument/2006/math">
                    <m:r>
                      <a:rPr lang="en-US" sz="2600" b="0" i="1" smtClean="0">
                        <a:latin typeface="Cambria Math" panose="02040503050406030204" pitchFamily="18" charset="0"/>
                        <a:cs typeface="Gill Sans MT"/>
                      </a:rPr>
                      <m:t>𝜇</m:t>
                    </m:r>
                  </m:oMath>
                </a14:m>
                <a:r>
                  <a:rPr lang="en-US" sz="2600" dirty="0">
                    <a:latin typeface="Gill Sans MT"/>
                    <a:cs typeface="Gill Sans MT"/>
                  </a:rPr>
                  <a:t> is e.g., </a:t>
                </a:r>
                <a14:m>
                  <m:oMath xmlns:m="http://schemas.openxmlformats.org/officeDocument/2006/math">
                    <m:r>
                      <a:rPr lang="en-US" sz="2800" b="0" i="1" spc="-25" smtClean="0">
                        <a:latin typeface="Cambria Math" panose="02040503050406030204" pitchFamily="18" charset="0"/>
                        <a:cs typeface="Cambria"/>
                      </a:rPr>
                      <m:t>𝜖</m:t>
                    </m:r>
                  </m:oMath>
                </a14:m>
                <a:r>
                  <a:rPr lang="en-US" sz="2800" dirty="0">
                    <a:latin typeface="Cambria"/>
                    <a:cs typeface="Cambria"/>
                  </a:rPr>
                  <a:t>- greedy w.r.t </a:t>
                </a:r>
                <a14:m>
                  <m:oMath xmlns:m="http://schemas.openxmlformats.org/officeDocument/2006/math">
                    <m:r>
                      <a:rPr lang="en-US" sz="2800" b="0" i="1" smtClean="0">
                        <a:latin typeface="Cambria Math" panose="02040503050406030204" pitchFamily="18" charset="0"/>
                        <a:cs typeface="Cambria"/>
                      </a:rPr>
                      <m:t>𝑄</m:t>
                    </m:r>
                    <m:d>
                      <m:dPr>
                        <m:ctrlPr>
                          <a:rPr lang="en-US" sz="2800" b="0" i="1" smtClean="0">
                            <a:latin typeface="Cambria Math" panose="02040503050406030204" pitchFamily="18" charset="0"/>
                            <a:cs typeface="Cambria"/>
                          </a:rPr>
                        </m:ctrlPr>
                      </m:dPr>
                      <m:e>
                        <m:r>
                          <a:rPr lang="en-US" sz="2800" b="0" i="1" smtClean="0">
                            <a:latin typeface="Cambria Math" panose="02040503050406030204" pitchFamily="18" charset="0"/>
                            <a:cs typeface="Cambria"/>
                          </a:rPr>
                          <m:t>𝑆</m:t>
                        </m:r>
                        <m:r>
                          <a:rPr lang="en-US" sz="2800" b="0" i="1" smtClean="0">
                            <a:latin typeface="Cambria Math" panose="02040503050406030204" pitchFamily="18" charset="0"/>
                            <a:cs typeface="Cambria"/>
                          </a:rPr>
                          <m:t>, </m:t>
                        </m:r>
                        <m:r>
                          <a:rPr lang="en-US" sz="2800" b="0" i="1" smtClean="0">
                            <a:latin typeface="Cambria Math" panose="02040503050406030204" pitchFamily="18" charset="0"/>
                            <a:cs typeface="Cambria"/>
                          </a:rPr>
                          <m:t>𝑎</m:t>
                        </m:r>
                      </m:e>
                    </m:d>
                  </m:oMath>
                </a14:m>
                <a:endParaRPr lang="en-US" sz="2800" dirty="0">
                  <a:latin typeface="Cambria"/>
                  <a:cs typeface="Cambria"/>
                </a:endParaRPr>
              </a:p>
              <a:p>
                <a:pPr marL="12700">
                  <a:lnSpc>
                    <a:spcPct val="100000"/>
                  </a:lnSpc>
                  <a:spcBef>
                    <a:spcPts val="100"/>
                  </a:spcBef>
                </a:pPr>
                <a:endParaRPr sz="2600" dirty="0">
                  <a:latin typeface="Gill Sans MT"/>
                  <a:cs typeface="Gill Sans MT"/>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53028" y="1208199"/>
                <a:ext cx="8425244" cy="1269578"/>
              </a:xfrm>
              <a:prstGeom prst="rect">
                <a:avLst/>
              </a:prstGeom>
              <a:blipFill>
                <a:blip r:embed="rId2"/>
                <a:stretch>
                  <a:fillRect l="-2243" t="-67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4"/>
              <p:cNvSpPr txBox="1"/>
              <p:nvPr/>
            </p:nvSpPr>
            <p:spPr>
              <a:xfrm>
                <a:off x="400050" y="2247212"/>
                <a:ext cx="2977515" cy="412934"/>
              </a:xfrm>
              <a:prstGeom prst="rect">
                <a:avLst/>
              </a:prstGeom>
            </p:spPr>
            <p:txBody>
              <a:bodyPr vert="horz" wrap="square" lIns="0" tIns="12700" rIns="0" bIns="0" rtlCol="0">
                <a:spAutoFit/>
              </a:bodyPr>
              <a:lstStyle/>
              <a:p>
                <a:pPr marL="12700">
                  <a:lnSpc>
                    <a:spcPct val="100000"/>
                  </a:lnSpc>
                  <a:spcBef>
                    <a:spcPts val="100"/>
                  </a:spcBef>
                </a:pPr>
                <a:r>
                  <a:rPr lang="en-US" sz="2600" b="1" dirty="0">
                    <a:latin typeface="Gill Sans MT"/>
                    <a:cs typeface="Gill Sans MT"/>
                  </a:rPr>
                  <a:t>The</a:t>
                </a:r>
                <a:r>
                  <a:rPr lang="en-US" sz="2600" b="1" spc="-10" dirty="0">
                    <a:latin typeface="Gill Sans MT"/>
                    <a:cs typeface="Gill Sans MT"/>
                  </a:rPr>
                  <a:t> </a:t>
                </a:r>
                <a:r>
                  <a:rPr lang="en-US" sz="2600" b="1" dirty="0">
                    <a:latin typeface="Gill Sans MT"/>
                    <a:cs typeface="Gill Sans MT"/>
                  </a:rPr>
                  <a:t>target</a:t>
                </a:r>
                <a:r>
                  <a:rPr lang="en-US" sz="2600" b="1" spc="-10" dirty="0">
                    <a:latin typeface="Gill Sans MT"/>
                    <a:cs typeface="Gill Sans MT"/>
                  </a:rPr>
                  <a:t> policy </a:t>
                </a:r>
                <a14:m>
                  <m:oMath xmlns:m="http://schemas.openxmlformats.org/officeDocument/2006/math">
                    <m:r>
                      <a:rPr lang="en-US" sz="2600" b="1" i="1" spc="-10" smtClean="0">
                        <a:latin typeface="Cambria Math" panose="02040503050406030204" pitchFamily="18" charset="0"/>
                        <a:cs typeface="Gill Sans MT"/>
                      </a:rPr>
                      <m:t>𝝅</m:t>
                    </m:r>
                  </m:oMath>
                </a14:m>
                <a:endParaRPr sz="2600" b="1" dirty="0">
                  <a:latin typeface="Gill Sans MT"/>
                  <a:cs typeface="Gill Sans MT"/>
                </a:endParaRPr>
              </a:p>
            </p:txBody>
          </p:sp>
        </mc:Choice>
        <mc:Fallback xmlns="">
          <p:sp>
            <p:nvSpPr>
              <p:cNvPr id="4" name="object 4"/>
              <p:cNvSpPr txBox="1">
                <a:spLocks noRot="1" noChangeAspect="1" noMove="1" noResize="1" noEditPoints="1" noAdjustHandles="1" noChangeArrowheads="1" noChangeShapeType="1" noTextEdit="1"/>
              </p:cNvSpPr>
              <p:nvPr/>
            </p:nvSpPr>
            <p:spPr>
              <a:xfrm>
                <a:off x="400050" y="2247212"/>
                <a:ext cx="2977515" cy="412934"/>
              </a:xfrm>
              <a:prstGeom prst="rect">
                <a:avLst/>
              </a:prstGeom>
              <a:blipFill>
                <a:blip r:embed="rId3"/>
                <a:stretch>
                  <a:fillRect l="-6352" t="-22388" b="-49254"/>
                </a:stretch>
              </a:blipFill>
            </p:spPr>
            <p:txBody>
              <a:bodyPr/>
              <a:lstStyle/>
              <a:p>
                <a:r>
                  <a:rPr lang="en-US">
                    <a:noFill/>
                  </a:rPr>
                  <a:t> </a:t>
                </a:r>
              </a:p>
            </p:txBody>
          </p:sp>
        </mc:Fallback>
      </mc:AlternateContent>
      <p:sp>
        <p:nvSpPr>
          <p:cNvPr id="6" name="object 6"/>
          <p:cNvSpPr txBox="1"/>
          <p:nvPr/>
        </p:nvSpPr>
        <p:spPr>
          <a:xfrm>
            <a:off x="353028" y="3581400"/>
            <a:ext cx="4959985"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Gill Sans MT"/>
                <a:cs typeface="Gill Sans MT"/>
              </a:rPr>
              <a:t>The</a:t>
            </a:r>
            <a:r>
              <a:rPr sz="2600" spc="-15" dirty="0">
                <a:latin typeface="Gill Sans MT"/>
                <a:cs typeface="Gill Sans MT"/>
              </a:rPr>
              <a:t> </a:t>
            </a:r>
            <a:r>
              <a:rPr sz="2600" i="1" spc="-10" dirty="0">
                <a:latin typeface="Gill Sans MT"/>
                <a:cs typeface="Gill Sans MT"/>
              </a:rPr>
              <a:t>Q</a:t>
            </a:r>
            <a:r>
              <a:rPr sz="2600" spc="-10" dirty="0">
                <a:latin typeface="Gill Sans MT"/>
                <a:cs typeface="Gill Sans MT"/>
              </a:rPr>
              <a:t>-</a:t>
            </a:r>
            <a:r>
              <a:rPr sz="2600" dirty="0">
                <a:latin typeface="Gill Sans MT"/>
                <a:cs typeface="Gill Sans MT"/>
              </a:rPr>
              <a:t>learning</a:t>
            </a:r>
            <a:r>
              <a:rPr sz="2600" spc="-5" dirty="0">
                <a:latin typeface="Gill Sans MT"/>
                <a:cs typeface="Gill Sans MT"/>
              </a:rPr>
              <a:t> </a:t>
            </a:r>
            <a:r>
              <a:rPr sz="2600" dirty="0">
                <a:latin typeface="Gill Sans MT"/>
                <a:cs typeface="Gill Sans MT"/>
              </a:rPr>
              <a:t>target</a:t>
            </a:r>
            <a:r>
              <a:rPr sz="2600" spc="-5" dirty="0">
                <a:latin typeface="Gill Sans MT"/>
                <a:cs typeface="Gill Sans MT"/>
              </a:rPr>
              <a:t> </a:t>
            </a:r>
            <a:r>
              <a:rPr sz="2600" dirty="0">
                <a:latin typeface="Gill Sans MT"/>
                <a:cs typeface="Gill Sans MT"/>
              </a:rPr>
              <a:t>then</a:t>
            </a:r>
            <a:r>
              <a:rPr sz="2600" spc="-5" dirty="0">
                <a:latin typeface="Gill Sans MT"/>
                <a:cs typeface="Gill Sans MT"/>
              </a:rPr>
              <a:t> </a:t>
            </a:r>
            <a:r>
              <a:rPr sz="2600" spc="-10" dirty="0">
                <a:latin typeface="Gill Sans MT"/>
                <a:cs typeface="Gill Sans MT"/>
              </a:rPr>
              <a:t>simplifies:</a:t>
            </a:r>
            <a:endParaRPr sz="2600" dirty="0">
              <a:latin typeface="Gill Sans MT"/>
              <a:cs typeface="Gill Sans MT"/>
            </a:endParaRPr>
          </a:p>
        </p:txBody>
      </p:sp>
      <p:sp>
        <p:nvSpPr>
          <p:cNvPr id="7" name="object 7"/>
          <p:cNvSpPr txBox="1"/>
          <p:nvPr/>
        </p:nvSpPr>
        <p:spPr>
          <a:xfrm>
            <a:off x="3519242" y="2234830"/>
            <a:ext cx="3719758" cy="432170"/>
          </a:xfrm>
          <a:prstGeom prst="rect">
            <a:avLst/>
          </a:prstGeom>
        </p:spPr>
        <p:txBody>
          <a:bodyPr vert="horz" wrap="square" lIns="0" tIns="16510" rIns="0" bIns="0" rtlCol="0">
            <a:spAutoFit/>
          </a:bodyPr>
          <a:lstStyle/>
          <a:p>
            <a:pPr marL="12700">
              <a:lnSpc>
                <a:spcPct val="100000"/>
              </a:lnSpc>
              <a:spcBef>
                <a:spcPts val="130"/>
              </a:spcBef>
            </a:pPr>
            <a:r>
              <a:rPr sz="2600" b="1" dirty="0">
                <a:latin typeface="Gill Sans MT"/>
                <a:cs typeface="Gill Sans MT"/>
              </a:rPr>
              <a:t>is</a:t>
            </a:r>
            <a:r>
              <a:rPr sz="2600" b="1" spc="5" dirty="0">
                <a:latin typeface="Gill Sans MT"/>
                <a:cs typeface="Gill Sans MT"/>
              </a:rPr>
              <a:t> </a:t>
            </a:r>
            <a:r>
              <a:rPr sz="2600" b="1" dirty="0">
                <a:latin typeface="Gill Sans MT"/>
                <a:cs typeface="Gill Sans MT"/>
              </a:rPr>
              <a:t>greedy</a:t>
            </a:r>
            <a:r>
              <a:rPr sz="2600" b="1" spc="5" dirty="0">
                <a:latin typeface="Gill Sans MT"/>
                <a:cs typeface="Gill Sans MT"/>
              </a:rPr>
              <a:t> </a:t>
            </a:r>
            <a:r>
              <a:rPr sz="2600" b="1" spc="-80" dirty="0">
                <a:latin typeface="Gill Sans MT"/>
                <a:cs typeface="Gill Sans MT"/>
              </a:rPr>
              <a:t>w.r.t.</a:t>
            </a:r>
            <a:r>
              <a:rPr sz="2600" b="1" spc="-260" dirty="0">
                <a:latin typeface="Gill Sans MT"/>
                <a:cs typeface="Gill Sans MT"/>
              </a:rPr>
              <a:t> </a:t>
            </a:r>
            <a:r>
              <a:rPr sz="2700" i="1" dirty="0">
                <a:latin typeface="Times New Roman"/>
                <a:cs typeface="Times New Roman"/>
              </a:rPr>
              <a:t>Q</a:t>
            </a:r>
            <a:r>
              <a:rPr sz="2700" dirty="0">
                <a:latin typeface="Cambria"/>
                <a:cs typeface="Cambria"/>
              </a:rPr>
              <a:t>(</a:t>
            </a:r>
            <a:r>
              <a:rPr sz="2700" i="1" dirty="0">
                <a:latin typeface="Times New Roman"/>
                <a:cs typeface="Times New Roman"/>
              </a:rPr>
              <a:t>S</a:t>
            </a:r>
            <a:r>
              <a:rPr sz="2700" dirty="0">
                <a:latin typeface="Cambria"/>
                <a:cs typeface="Cambria"/>
              </a:rPr>
              <a:t>,</a:t>
            </a:r>
            <a:r>
              <a:rPr sz="2700" spc="-135" dirty="0">
                <a:latin typeface="Cambria"/>
                <a:cs typeface="Cambria"/>
              </a:rPr>
              <a:t> </a:t>
            </a:r>
            <a:r>
              <a:rPr sz="2700" i="1" spc="-25" dirty="0">
                <a:latin typeface="Times New Roman"/>
                <a:cs typeface="Times New Roman"/>
              </a:rPr>
              <a:t>a</a:t>
            </a:r>
            <a:r>
              <a:rPr sz="2700" spc="-25" dirty="0">
                <a:latin typeface="Cambria"/>
                <a:cs typeface="Cambria"/>
              </a:rPr>
              <a:t>)</a:t>
            </a:r>
            <a:endParaRPr sz="2700" dirty="0">
              <a:latin typeface="Cambria"/>
              <a:cs typeface="Cambria"/>
            </a:endParaRPr>
          </a:p>
        </p:txBody>
      </p:sp>
      <p:sp>
        <p:nvSpPr>
          <p:cNvPr id="8" name="object 8"/>
          <p:cNvSpPr txBox="1"/>
          <p:nvPr/>
        </p:nvSpPr>
        <p:spPr>
          <a:xfrm>
            <a:off x="353028" y="2822685"/>
            <a:ext cx="5514372" cy="753411"/>
          </a:xfrm>
          <a:prstGeom prst="rect">
            <a:avLst/>
          </a:prstGeom>
        </p:spPr>
        <p:txBody>
          <a:bodyPr vert="horz" wrap="square" lIns="0" tIns="45085" rIns="0" bIns="0" rtlCol="0">
            <a:spAutoFit/>
          </a:bodyPr>
          <a:lstStyle/>
          <a:p>
            <a:pPr marL="2000250" indent="-1962150">
              <a:lnSpc>
                <a:spcPct val="100000"/>
              </a:lnSpc>
              <a:spcBef>
                <a:spcPts val="355"/>
              </a:spcBef>
            </a:pPr>
            <a:r>
              <a:rPr lang="en-US" sz="2700" i="1" spc="-40" dirty="0">
                <a:latin typeface="Arial"/>
                <a:cs typeface="Arial"/>
                <a:sym typeface="Symbol" panose="05050102010706020507" pitchFamily="18" charset="2"/>
              </a:rPr>
              <a:t> </a:t>
            </a:r>
            <a:r>
              <a:rPr sz="2700" spc="-40" dirty="0">
                <a:latin typeface="Cambria"/>
                <a:cs typeface="Cambria"/>
              </a:rPr>
              <a:t>(</a:t>
            </a:r>
            <a:r>
              <a:rPr sz="2700" i="1" spc="-40" dirty="0">
                <a:latin typeface="Times New Roman"/>
                <a:cs typeface="Times New Roman"/>
              </a:rPr>
              <a:t>S</a:t>
            </a:r>
            <a:r>
              <a:rPr sz="2850" i="1" spc="-60" baseline="-20467" dirty="0">
                <a:latin typeface="Times New Roman"/>
                <a:cs typeface="Times New Roman"/>
              </a:rPr>
              <a:t>t</a:t>
            </a:r>
            <a:r>
              <a:rPr sz="2850" spc="-60" baseline="-20467" dirty="0">
                <a:latin typeface="Cambria"/>
                <a:cs typeface="Cambria"/>
              </a:rPr>
              <a:t>+1</a:t>
            </a:r>
            <a:r>
              <a:rPr sz="2700" spc="-40" dirty="0">
                <a:latin typeface="Cambria"/>
                <a:cs typeface="Cambria"/>
              </a:rPr>
              <a:t>)</a:t>
            </a:r>
            <a:r>
              <a:rPr sz="2700" spc="25" dirty="0">
                <a:latin typeface="Cambria"/>
                <a:cs typeface="Cambria"/>
              </a:rPr>
              <a:t> </a:t>
            </a:r>
            <a:r>
              <a:rPr sz="2700" spc="370" dirty="0">
                <a:latin typeface="Cambria"/>
                <a:cs typeface="Cambria"/>
              </a:rPr>
              <a:t>=</a:t>
            </a:r>
            <a:r>
              <a:rPr sz="2700" spc="70" dirty="0">
                <a:latin typeface="Cambria"/>
                <a:cs typeface="Cambria"/>
              </a:rPr>
              <a:t> </a:t>
            </a:r>
            <a:r>
              <a:rPr sz="2700" spc="-45" dirty="0">
                <a:latin typeface="Cambria"/>
                <a:cs typeface="Cambria"/>
              </a:rPr>
              <a:t>argmax</a:t>
            </a:r>
            <a:r>
              <a:rPr sz="2700" spc="204" dirty="0">
                <a:latin typeface="Cambria"/>
                <a:cs typeface="Cambria"/>
              </a:rPr>
              <a:t> </a:t>
            </a:r>
            <a:r>
              <a:rPr sz="2700" i="1" dirty="0">
                <a:latin typeface="Times New Roman"/>
                <a:cs typeface="Times New Roman"/>
              </a:rPr>
              <a:t>Q</a:t>
            </a:r>
            <a:r>
              <a:rPr sz="2700" dirty="0">
                <a:latin typeface="Cambria"/>
                <a:cs typeface="Cambria"/>
              </a:rPr>
              <a:t>(</a:t>
            </a:r>
            <a:r>
              <a:rPr sz="2700" i="1" dirty="0">
                <a:latin typeface="Times New Roman"/>
                <a:cs typeface="Times New Roman"/>
              </a:rPr>
              <a:t>S</a:t>
            </a:r>
            <a:r>
              <a:rPr sz="2850" i="1" baseline="-20467" dirty="0">
                <a:latin typeface="Times New Roman"/>
                <a:cs typeface="Times New Roman"/>
              </a:rPr>
              <a:t>t</a:t>
            </a:r>
            <a:r>
              <a:rPr sz="2850" baseline="-20467" dirty="0">
                <a:latin typeface="Cambria"/>
                <a:cs typeface="Cambria"/>
              </a:rPr>
              <a:t>+1</a:t>
            </a:r>
            <a:r>
              <a:rPr sz="2700" dirty="0">
                <a:latin typeface="Cambria"/>
                <a:cs typeface="Cambria"/>
              </a:rPr>
              <a:t>,</a:t>
            </a:r>
            <a:r>
              <a:rPr sz="2700" spc="-150" dirty="0">
                <a:latin typeface="Cambria"/>
                <a:cs typeface="Cambria"/>
              </a:rPr>
              <a:t> </a:t>
            </a:r>
            <a:r>
              <a:rPr sz="2700" i="1" spc="-25" dirty="0">
                <a:latin typeface="Times New Roman"/>
                <a:cs typeface="Times New Roman"/>
              </a:rPr>
              <a:t>a</a:t>
            </a:r>
            <a:r>
              <a:rPr sz="2700" spc="-25" dirty="0">
                <a:latin typeface="Cambria"/>
                <a:cs typeface="Cambria"/>
              </a:rPr>
              <a:t>′)</a:t>
            </a:r>
            <a:br>
              <a:rPr lang="en-US" sz="2700" spc="-25" dirty="0">
                <a:latin typeface="Cambria"/>
                <a:cs typeface="Cambria"/>
              </a:rPr>
            </a:br>
            <a:r>
              <a:rPr lang="en-US" sz="1900" i="1" spc="-25" dirty="0">
                <a:latin typeface="Times New Roman"/>
                <a:cs typeface="Times New Roman"/>
              </a:rPr>
              <a:t>a</a:t>
            </a:r>
            <a:r>
              <a:rPr lang="en-US" sz="1900" spc="-25" dirty="0">
                <a:latin typeface="Cambria"/>
                <a:cs typeface="Cambria"/>
              </a:rPr>
              <a:t>′</a:t>
            </a:r>
            <a:endParaRPr lang="en-US" sz="1900" dirty="0">
              <a:latin typeface="Cambria"/>
              <a:cs typeface="Cambria"/>
            </a:endParaRPr>
          </a:p>
        </p:txBody>
      </p:sp>
      <p:sp>
        <p:nvSpPr>
          <p:cNvPr id="10" name="object 10"/>
          <p:cNvSpPr txBox="1"/>
          <p:nvPr/>
        </p:nvSpPr>
        <p:spPr>
          <a:xfrm>
            <a:off x="564935" y="4762524"/>
            <a:ext cx="263525" cy="441959"/>
          </a:xfrm>
          <a:prstGeom prst="rect">
            <a:avLst/>
          </a:prstGeom>
        </p:spPr>
        <p:txBody>
          <a:bodyPr vert="horz" wrap="square" lIns="0" tIns="16510" rIns="0" bIns="0" rtlCol="0">
            <a:spAutoFit/>
          </a:bodyPr>
          <a:lstStyle/>
          <a:p>
            <a:pPr marL="12700">
              <a:lnSpc>
                <a:spcPct val="100000"/>
              </a:lnSpc>
              <a:spcBef>
                <a:spcPts val="130"/>
              </a:spcBef>
            </a:pPr>
            <a:r>
              <a:rPr sz="2700" spc="375" dirty="0">
                <a:latin typeface="Cambria"/>
                <a:cs typeface="Cambria"/>
              </a:rPr>
              <a:t>=</a:t>
            </a:r>
            <a:endParaRPr sz="2700">
              <a:latin typeface="Cambria"/>
              <a:cs typeface="Cambria"/>
            </a:endParaRPr>
          </a:p>
        </p:txBody>
      </p:sp>
      <mc:AlternateContent xmlns:mc="http://schemas.openxmlformats.org/markup-compatibility/2006" xmlns:a14="http://schemas.microsoft.com/office/drawing/2010/main">
        <mc:Choice Requires="a14">
          <p:sp>
            <p:nvSpPr>
              <p:cNvPr id="11" name="object 11"/>
              <p:cNvSpPr txBox="1"/>
              <p:nvPr/>
            </p:nvSpPr>
            <p:spPr>
              <a:xfrm>
                <a:off x="1567462" y="4167781"/>
                <a:ext cx="4927600" cy="1352550"/>
              </a:xfrm>
              <a:prstGeom prst="rect">
                <a:avLst/>
              </a:prstGeom>
            </p:spPr>
            <p:txBody>
              <a:bodyPr vert="horz" wrap="square" lIns="0" tIns="106045" rIns="0" bIns="0" rtlCol="0">
                <a:spAutoFit/>
              </a:bodyPr>
              <a:lstStyle/>
              <a:p>
                <a:pPr marR="30480" algn="r">
                  <a:lnSpc>
                    <a:spcPct val="100000"/>
                  </a:lnSpc>
                  <a:spcBef>
                    <a:spcPts val="835"/>
                  </a:spcBef>
                </a:pPr>
                <a:r>
                  <a:rPr sz="2700" i="1" dirty="0">
                    <a:latin typeface="Times New Roman"/>
                    <a:cs typeface="Times New Roman"/>
                  </a:rPr>
                  <a:t>R</a:t>
                </a:r>
                <a:r>
                  <a:rPr sz="2850" i="1" baseline="-20467" dirty="0">
                    <a:latin typeface="Times New Roman"/>
                    <a:cs typeface="Times New Roman"/>
                  </a:rPr>
                  <a:t>t</a:t>
                </a:r>
                <a:r>
                  <a:rPr sz="2850" baseline="-20467" dirty="0">
                    <a:latin typeface="Cambria"/>
                    <a:cs typeface="Cambria"/>
                  </a:rPr>
                  <a:t>+1</a:t>
                </a:r>
                <a:r>
                  <a:rPr sz="2850" spc="330" baseline="-20467" dirty="0">
                    <a:latin typeface="Cambria"/>
                    <a:cs typeface="Cambria"/>
                  </a:rPr>
                  <a:t> </a:t>
                </a:r>
                <a:r>
                  <a:rPr sz="2700" spc="370" dirty="0">
                    <a:latin typeface="Cambria"/>
                    <a:cs typeface="Cambria"/>
                  </a:rPr>
                  <a:t>+</a:t>
                </a:r>
                <a:r>
                  <a:rPr sz="2700" spc="45" dirty="0">
                    <a:latin typeface="Cambria"/>
                    <a:cs typeface="Cambria"/>
                  </a:rPr>
                  <a:t> </a:t>
                </a:r>
                <a14:m>
                  <m:oMath xmlns:m="http://schemas.openxmlformats.org/officeDocument/2006/math">
                    <m:r>
                      <a:rPr lang="en-US" sz="2700" i="1" spc="-10" dirty="0" smtClean="0">
                        <a:latin typeface="Cambria Math" panose="02040503050406030204" pitchFamily="18" charset="0"/>
                        <a:cs typeface="Arial"/>
                      </a:rPr>
                      <m:t>𝛾</m:t>
                    </m:r>
                  </m:oMath>
                </a14:m>
                <a:r>
                  <a:rPr sz="2700" i="1" spc="-10" dirty="0">
                    <a:latin typeface="Times New Roman"/>
                    <a:cs typeface="Times New Roman"/>
                  </a:rPr>
                  <a:t>Q</a:t>
                </a:r>
                <a:r>
                  <a:rPr sz="2700" spc="-10" dirty="0">
                    <a:latin typeface="Cambria"/>
                    <a:cs typeface="Cambria"/>
                  </a:rPr>
                  <a:t>(</a:t>
                </a:r>
                <a:r>
                  <a:rPr sz="2700" i="1" spc="-10" dirty="0">
                    <a:latin typeface="Times New Roman"/>
                    <a:cs typeface="Times New Roman"/>
                  </a:rPr>
                  <a:t>S</a:t>
                </a:r>
                <a:r>
                  <a:rPr sz="2850" i="1" spc="-15" baseline="-20467" dirty="0">
                    <a:latin typeface="Times New Roman"/>
                    <a:cs typeface="Times New Roman"/>
                  </a:rPr>
                  <a:t>t</a:t>
                </a:r>
                <a:r>
                  <a:rPr sz="2850" spc="-15" baseline="-20467" dirty="0">
                    <a:latin typeface="Cambria"/>
                    <a:cs typeface="Cambria"/>
                  </a:rPr>
                  <a:t>+1</a:t>
                </a:r>
                <a:r>
                  <a:rPr sz="2700" spc="-10" dirty="0">
                    <a:latin typeface="Cambria"/>
                    <a:cs typeface="Cambria"/>
                  </a:rPr>
                  <a:t>,</a:t>
                </a:r>
                <a:r>
                  <a:rPr sz="2700" spc="-25" dirty="0">
                    <a:latin typeface="Cambria"/>
                    <a:cs typeface="Cambria"/>
                  </a:rPr>
                  <a:t> </a:t>
                </a:r>
                <a:r>
                  <a:rPr sz="2700" i="1" spc="-25" dirty="0">
                    <a:latin typeface="Times New Roman"/>
                    <a:cs typeface="Times New Roman"/>
                  </a:rPr>
                  <a:t>A</a:t>
                </a:r>
                <a:r>
                  <a:rPr lang="en-US" sz="2700" i="1" spc="-25" baseline="30000" dirty="0">
                    <a:latin typeface="Times New Roman"/>
                    <a:cs typeface="Times New Roman"/>
                    <a:sym typeface="Symbol" panose="05050102010706020507" pitchFamily="18" charset="2"/>
                  </a:rPr>
                  <a:t></a:t>
                </a:r>
                <a:r>
                  <a:rPr sz="2700" spc="-25" dirty="0">
                    <a:latin typeface="Cambria"/>
                    <a:cs typeface="Cambria"/>
                  </a:rPr>
                  <a:t>)</a:t>
                </a:r>
                <a:endParaRPr sz="2700" dirty="0">
                  <a:latin typeface="Cambria"/>
                  <a:cs typeface="Cambria"/>
                </a:endParaRPr>
              </a:p>
              <a:p>
                <a:pPr marR="30480" algn="r">
                  <a:lnSpc>
                    <a:spcPct val="100000"/>
                  </a:lnSpc>
                  <a:spcBef>
                    <a:spcPts val="740"/>
                  </a:spcBef>
                </a:pPr>
                <a:r>
                  <a:rPr sz="2700" i="1" dirty="0">
                    <a:latin typeface="Times New Roman"/>
                    <a:cs typeface="Times New Roman"/>
                  </a:rPr>
                  <a:t>R</a:t>
                </a:r>
                <a:r>
                  <a:rPr sz="2850" i="1" baseline="-20467" dirty="0">
                    <a:latin typeface="Times New Roman"/>
                    <a:cs typeface="Times New Roman"/>
                  </a:rPr>
                  <a:t>t</a:t>
                </a:r>
                <a:r>
                  <a:rPr sz="2850" baseline="-20467" dirty="0">
                    <a:latin typeface="Cambria"/>
                    <a:cs typeface="Cambria"/>
                  </a:rPr>
                  <a:t>+1</a:t>
                </a:r>
                <a:r>
                  <a:rPr sz="2850" spc="307" baseline="-20467" dirty="0">
                    <a:latin typeface="Cambria"/>
                    <a:cs typeface="Cambria"/>
                  </a:rPr>
                  <a:t> </a:t>
                </a:r>
                <a:r>
                  <a:rPr sz="2700" spc="370" dirty="0">
                    <a:latin typeface="Cambria"/>
                    <a:cs typeface="Cambria"/>
                  </a:rPr>
                  <a:t>+</a:t>
                </a:r>
                <a:r>
                  <a:rPr sz="2700" spc="30" dirty="0">
                    <a:latin typeface="Cambria"/>
                    <a:cs typeface="Cambria"/>
                  </a:rPr>
                  <a:t> </a:t>
                </a:r>
                <a:r>
                  <a:rPr sz="2700" i="1" spc="-250" dirty="0">
                    <a:latin typeface="Arial"/>
                    <a:cs typeface="Arial"/>
                  </a:rPr>
                  <a:t>γ</a:t>
                </a:r>
                <a:r>
                  <a:rPr sz="2700" i="1" spc="-265" dirty="0">
                    <a:latin typeface="Arial"/>
                    <a:cs typeface="Arial"/>
                  </a:rPr>
                  <a:t> </a:t>
                </a:r>
                <a:r>
                  <a:rPr sz="2700" i="1" dirty="0">
                    <a:latin typeface="Times New Roman"/>
                    <a:cs typeface="Times New Roman"/>
                  </a:rPr>
                  <a:t>Q</a:t>
                </a:r>
                <a:r>
                  <a:rPr sz="2700" dirty="0">
                    <a:latin typeface="Cambria"/>
                    <a:cs typeface="Cambria"/>
                  </a:rPr>
                  <a:t>(</a:t>
                </a:r>
                <a:r>
                  <a:rPr sz="2700" i="1" dirty="0">
                    <a:latin typeface="Times New Roman"/>
                    <a:cs typeface="Times New Roman"/>
                  </a:rPr>
                  <a:t>S</a:t>
                </a:r>
                <a:r>
                  <a:rPr sz="2850" i="1" baseline="-20467" dirty="0">
                    <a:latin typeface="Times New Roman"/>
                    <a:cs typeface="Times New Roman"/>
                  </a:rPr>
                  <a:t>t</a:t>
                </a:r>
                <a:r>
                  <a:rPr sz="2850" baseline="-20467" dirty="0">
                    <a:latin typeface="Cambria"/>
                    <a:cs typeface="Cambria"/>
                  </a:rPr>
                  <a:t>+1</a:t>
                </a:r>
                <a:r>
                  <a:rPr sz="2700" dirty="0">
                    <a:latin typeface="Cambria"/>
                    <a:cs typeface="Cambria"/>
                  </a:rPr>
                  <a:t>,</a:t>
                </a:r>
                <a:r>
                  <a:rPr sz="2700" spc="-125" dirty="0">
                    <a:latin typeface="Cambria"/>
                    <a:cs typeface="Cambria"/>
                  </a:rPr>
                  <a:t> </a:t>
                </a:r>
                <a:r>
                  <a:rPr sz="2700" spc="-45" dirty="0">
                    <a:latin typeface="Cambria"/>
                    <a:cs typeface="Cambria"/>
                  </a:rPr>
                  <a:t>argmax</a:t>
                </a:r>
                <a:r>
                  <a:rPr sz="2700" spc="345" dirty="0">
                    <a:latin typeface="Cambria"/>
                    <a:cs typeface="Cambria"/>
                  </a:rPr>
                  <a:t> </a:t>
                </a:r>
                <a:r>
                  <a:rPr sz="2700" i="1" dirty="0">
                    <a:latin typeface="Times New Roman"/>
                    <a:cs typeface="Times New Roman"/>
                  </a:rPr>
                  <a:t>Q</a:t>
                </a:r>
                <a:r>
                  <a:rPr sz="2700" dirty="0">
                    <a:latin typeface="Cambria"/>
                    <a:cs typeface="Cambria"/>
                  </a:rPr>
                  <a:t>(</a:t>
                </a:r>
                <a:r>
                  <a:rPr sz="2700" i="1" dirty="0">
                    <a:latin typeface="Times New Roman"/>
                    <a:cs typeface="Times New Roman"/>
                  </a:rPr>
                  <a:t>S</a:t>
                </a:r>
                <a:r>
                  <a:rPr sz="2850" i="1" baseline="-20467" dirty="0">
                    <a:latin typeface="Times New Roman"/>
                    <a:cs typeface="Times New Roman"/>
                  </a:rPr>
                  <a:t>t</a:t>
                </a:r>
                <a:r>
                  <a:rPr sz="2850" baseline="-20467" dirty="0">
                    <a:latin typeface="Cambria"/>
                    <a:cs typeface="Cambria"/>
                  </a:rPr>
                  <a:t>+1</a:t>
                </a:r>
                <a:r>
                  <a:rPr sz="2700" dirty="0">
                    <a:latin typeface="Cambria"/>
                    <a:cs typeface="Cambria"/>
                  </a:rPr>
                  <a:t>,</a:t>
                </a:r>
                <a:r>
                  <a:rPr sz="2700" spc="-125" dirty="0">
                    <a:latin typeface="Cambria"/>
                    <a:cs typeface="Cambria"/>
                  </a:rPr>
                  <a:t> </a:t>
                </a:r>
                <a:r>
                  <a:rPr sz="2700" i="1" spc="-20" dirty="0">
                    <a:latin typeface="Times New Roman"/>
                    <a:cs typeface="Times New Roman"/>
                  </a:rPr>
                  <a:t>a</a:t>
                </a:r>
                <a:r>
                  <a:rPr sz="2700" spc="-20" dirty="0">
                    <a:latin typeface="Cambria"/>
                    <a:cs typeface="Cambria"/>
                  </a:rPr>
                  <a:t>′))</a:t>
                </a:r>
                <a:endParaRPr sz="2700" dirty="0">
                  <a:latin typeface="Cambria"/>
                  <a:cs typeface="Cambria"/>
                </a:endParaRPr>
              </a:p>
              <a:p>
                <a:pPr marL="583565" algn="ctr">
                  <a:lnSpc>
                    <a:spcPct val="100000"/>
                  </a:lnSpc>
                  <a:spcBef>
                    <a:spcPts val="204"/>
                  </a:spcBef>
                </a:pPr>
                <a:r>
                  <a:rPr sz="1900" i="1" spc="-25" dirty="0">
                    <a:latin typeface="Times New Roman"/>
                    <a:cs typeface="Times New Roman"/>
                  </a:rPr>
                  <a:t>a</a:t>
                </a:r>
                <a:r>
                  <a:rPr sz="1900" spc="-25" dirty="0">
                    <a:latin typeface="Cambria"/>
                    <a:cs typeface="Cambria"/>
                  </a:rPr>
                  <a:t>′</a:t>
                </a:r>
                <a:endParaRPr sz="1900" dirty="0">
                  <a:latin typeface="Cambria"/>
                  <a:cs typeface="Cambria"/>
                </a:endParaRPr>
              </a:p>
            </p:txBody>
          </p:sp>
        </mc:Choice>
        <mc:Fallback xmlns="">
          <p:sp>
            <p:nvSpPr>
              <p:cNvPr id="11" name="object 11"/>
              <p:cNvSpPr txBox="1">
                <a:spLocks noRot="1" noChangeAspect="1" noMove="1" noResize="1" noEditPoints="1" noAdjustHandles="1" noChangeArrowheads="1" noChangeShapeType="1" noTextEdit="1"/>
              </p:cNvSpPr>
              <p:nvPr/>
            </p:nvSpPr>
            <p:spPr>
              <a:xfrm>
                <a:off x="1567462" y="4167781"/>
                <a:ext cx="4927600" cy="1352550"/>
              </a:xfrm>
              <a:prstGeom prst="rect">
                <a:avLst/>
              </a:prstGeom>
              <a:blipFill>
                <a:blip r:embed="rId4"/>
                <a:stretch>
                  <a:fillRect l="-3465" t="-450" r="-3589" b="-9910"/>
                </a:stretch>
              </a:blipFill>
            </p:spPr>
            <p:txBody>
              <a:bodyPr/>
              <a:lstStyle/>
              <a:p>
                <a:r>
                  <a:rPr lang="en-US">
                    <a:noFill/>
                  </a:rPr>
                  <a:t> </a:t>
                </a:r>
              </a:p>
            </p:txBody>
          </p:sp>
        </mc:Fallback>
      </mc:AlternateContent>
      <p:sp>
        <p:nvSpPr>
          <p:cNvPr id="12" name="object 12"/>
          <p:cNvSpPr txBox="1"/>
          <p:nvPr/>
        </p:nvSpPr>
        <p:spPr>
          <a:xfrm>
            <a:off x="564935" y="5509781"/>
            <a:ext cx="263525" cy="441959"/>
          </a:xfrm>
          <a:prstGeom prst="rect">
            <a:avLst/>
          </a:prstGeom>
        </p:spPr>
        <p:txBody>
          <a:bodyPr vert="horz" wrap="square" lIns="0" tIns="16510" rIns="0" bIns="0" rtlCol="0">
            <a:spAutoFit/>
          </a:bodyPr>
          <a:lstStyle/>
          <a:p>
            <a:pPr marL="12700">
              <a:lnSpc>
                <a:spcPct val="100000"/>
              </a:lnSpc>
              <a:spcBef>
                <a:spcPts val="130"/>
              </a:spcBef>
            </a:pPr>
            <a:r>
              <a:rPr sz="2700" spc="375" dirty="0">
                <a:latin typeface="Cambria"/>
                <a:cs typeface="Cambria"/>
              </a:rPr>
              <a:t>=</a:t>
            </a:r>
            <a:endParaRPr sz="2700">
              <a:latin typeface="Cambria"/>
              <a:cs typeface="Cambria"/>
            </a:endParaRPr>
          </a:p>
        </p:txBody>
      </p:sp>
      <p:sp>
        <p:nvSpPr>
          <p:cNvPr id="13" name="object 13"/>
          <p:cNvSpPr txBox="1"/>
          <p:nvPr/>
        </p:nvSpPr>
        <p:spPr>
          <a:xfrm>
            <a:off x="4547322" y="5874076"/>
            <a:ext cx="220345" cy="321310"/>
          </a:xfrm>
          <a:prstGeom prst="rect">
            <a:avLst/>
          </a:prstGeom>
        </p:spPr>
        <p:txBody>
          <a:bodyPr vert="horz" wrap="square" lIns="0" tIns="17780" rIns="0" bIns="0" rtlCol="0">
            <a:spAutoFit/>
          </a:bodyPr>
          <a:lstStyle/>
          <a:p>
            <a:pPr marL="12700">
              <a:lnSpc>
                <a:spcPct val="100000"/>
              </a:lnSpc>
              <a:spcBef>
                <a:spcPts val="140"/>
              </a:spcBef>
            </a:pPr>
            <a:r>
              <a:rPr sz="1900" i="1" spc="-25" dirty="0">
                <a:latin typeface="Times New Roman"/>
                <a:cs typeface="Times New Roman"/>
              </a:rPr>
              <a:t>a</a:t>
            </a:r>
            <a:r>
              <a:rPr sz="1900" spc="-25" dirty="0">
                <a:latin typeface="Cambria"/>
                <a:cs typeface="Cambria"/>
              </a:rPr>
              <a:t>′</a:t>
            </a:r>
            <a:endParaRPr sz="1900">
              <a:latin typeface="Cambria"/>
              <a:cs typeface="Cambria"/>
            </a:endParaRPr>
          </a:p>
        </p:txBody>
      </p:sp>
      <mc:AlternateContent xmlns:mc="http://schemas.openxmlformats.org/markup-compatibility/2006" xmlns:a14="http://schemas.microsoft.com/office/drawing/2010/main">
        <mc:Choice Requires="a14">
          <p:sp>
            <p:nvSpPr>
              <p:cNvPr id="14" name="object 14"/>
              <p:cNvSpPr txBox="1"/>
              <p:nvPr/>
            </p:nvSpPr>
            <p:spPr>
              <a:xfrm>
                <a:off x="3127857" y="5509781"/>
                <a:ext cx="3366770" cy="441959"/>
              </a:xfrm>
              <a:prstGeom prst="rect">
                <a:avLst/>
              </a:prstGeom>
            </p:spPr>
            <p:txBody>
              <a:bodyPr vert="horz" wrap="square" lIns="0" tIns="16510" rIns="0" bIns="0" rtlCol="0">
                <a:spAutoFit/>
              </a:bodyPr>
              <a:lstStyle/>
              <a:p>
                <a:pPr marL="38100">
                  <a:lnSpc>
                    <a:spcPct val="100000"/>
                  </a:lnSpc>
                  <a:spcBef>
                    <a:spcPts val="130"/>
                  </a:spcBef>
                </a:pPr>
                <a:r>
                  <a:rPr sz="2700" i="1" dirty="0">
                    <a:latin typeface="Times New Roman"/>
                    <a:cs typeface="Times New Roman"/>
                  </a:rPr>
                  <a:t>R</a:t>
                </a:r>
                <a:r>
                  <a:rPr sz="2850" i="1" baseline="-20467" dirty="0">
                    <a:latin typeface="Times New Roman"/>
                    <a:cs typeface="Times New Roman"/>
                  </a:rPr>
                  <a:t>t</a:t>
                </a:r>
                <a:r>
                  <a:rPr sz="2850" baseline="-20467" dirty="0">
                    <a:latin typeface="Cambria"/>
                    <a:cs typeface="Cambria"/>
                  </a:rPr>
                  <a:t>+1</a:t>
                </a:r>
                <a:r>
                  <a:rPr sz="2850" spc="292" baseline="-20467" dirty="0">
                    <a:latin typeface="Cambria"/>
                    <a:cs typeface="Cambria"/>
                  </a:rPr>
                  <a:t> </a:t>
                </a:r>
                <a:r>
                  <a:rPr sz="2700" spc="370" dirty="0">
                    <a:latin typeface="Cambria"/>
                    <a:cs typeface="Cambria"/>
                  </a:rPr>
                  <a:t>+</a:t>
                </a:r>
                <a:r>
                  <a:rPr sz="2700" spc="25" dirty="0">
                    <a:latin typeface="Cambria"/>
                    <a:cs typeface="Cambria"/>
                  </a:rPr>
                  <a:t> </a:t>
                </a:r>
                <a14:m>
                  <m:oMath xmlns:m="http://schemas.openxmlformats.org/officeDocument/2006/math">
                    <m:r>
                      <a:rPr lang="en-US" sz="2700" i="1" spc="-250" dirty="0" smtClean="0">
                        <a:latin typeface="Cambria Math" panose="02040503050406030204" pitchFamily="18" charset="0"/>
                        <a:cs typeface="Arial"/>
                      </a:rPr>
                      <m:t>𝛾</m:t>
                    </m:r>
                  </m:oMath>
                </a14:m>
                <a:r>
                  <a:rPr sz="2700" i="1" spc="-75" dirty="0">
                    <a:latin typeface="Arial"/>
                    <a:cs typeface="Arial"/>
                  </a:rPr>
                  <a:t> </a:t>
                </a:r>
                <a:r>
                  <a:rPr sz="2700" dirty="0">
                    <a:latin typeface="Cambria"/>
                    <a:cs typeface="Cambria"/>
                  </a:rPr>
                  <a:t>max</a:t>
                </a:r>
                <a:r>
                  <a:rPr sz="2700" spc="330" dirty="0">
                    <a:latin typeface="Cambria"/>
                    <a:cs typeface="Cambria"/>
                  </a:rPr>
                  <a:t> </a:t>
                </a:r>
                <a:r>
                  <a:rPr sz="2700" i="1" dirty="0">
                    <a:latin typeface="Times New Roman"/>
                    <a:cs typeface="Times New Roman"/>
                  </a:rPr>
                  <a:t>Q</a:t>
                </a:r>
                <a:r>
                  <a:rPr sz="2700" dirty="0">
                    <a:latin typeface="Cambria"/>
                    <a:cs typeface="Cambria"/>
                  </a:rPr>
                  <a:t>(</a:t>
                </a:r>
                <a:r>
                  <a:rPr sz="2700" i="1" dirty="0">
                    <a:latin typeface="Times New Roman"/>
                    <a:cs typeface="Times New Roman"/>
                  </a:rPr>
                  <a:t>S</a:t>
                </a:r>
                <a:r>
                  <a:rPr sz="2850" i="1" baseline="-20467" dirty="0">
                    <a:latin typeface="Times New Roman"/>
                    <a:cs typeface="Times New Roman"/>
                  </a:rPr>
                  <a:t>t</a:t>
                </a:r>
                <a:r>
                  <a:rPr sz="2850" baseline="-20467" dirty="0">
                    <a:latin typeface="Cambria"/>
                    <a:cs typeface="Cambria"/>
                  </a:rPr>
                  <a:t>+1</a:t>
                </a:r>
                <a:r>
                  <a:rPr sz="2700" dirty="0">
                    <a:latin typeface="Cambria"/>
                    <a:cs typeface="Cambria"/>
                  </a:rPr>
                  <a:t>,</a:t>
                </a:r>
                <a:r>
                  <a:rPr sz="2700" spc="-130" dirty="0">
                    <a:latin typeface="Cambria"/>
                    <a:cs typeface="Cambria"/>
                  </a:rPr>
                  <a:t> </a:t>
                </a:r>
                <a:r>
                  <a:rPr sz="2700" i="1" spc="-25" dirty="0">
                    <a:latin typeface="Times New Roman"/>
                    <a:cs typeface="Times New Roman"/>
                  </a:rPr>
                  <a:t>a</a:t>
                </a:r>
                <a:r>
                  <a:rPr sz="2700" spc="-25" dirty="0">
                    <a:latin typeface="Cambria"/>
                    <a:cs typeface="Cambria"/>
                  </a:rPr>
                  <a:t>′)</a:t>
                </a:r>
                <a:endParaRPr sz="2700" dirty="0">
                  <a:latin typeface="Cambria"/>
                  <a:cs typeface="Cambria"/>
                </a:endParaRPr>
              </a:p>
            </p:txBody>
          </p:sp>
        </mc:Choice>
        <mc:Fallback xmlns="">
          <p:sp>
            <p:nvSpPr>
              <p:cNvPr id="14" name="object 14"/>
              <p:cNvSpPr txBox="1">
                <a:spLocks noRot="1" noChangeAspect="1" noMove="1" noResize="1" noEditPoints="1" noAdjustHandles="1" noChangeArrowheads="1" noChangeShapeType="1" noTextEdit="1"/>
              </p:cNvSpPr>
              <p:nvPr/>
            </p:nvSpPr>
            <p:spPr>
              <a:xfrm>
                <a:off x="3127857" y="5509781"/>
                <a:ext cx="3366770" cy="441959"/>
              </a:xfrm>
              <a:prstGeom prst="rect">
                <a:avLst/>
              </a:prstGeom>
              <a:blipFill>
                <a:blip r:embed="rId5"/>
                <a:stretch>
                  <a:fillRect l="-5072" t="-22222" r="-5072" b="-44444"/>
                </a:stretch>
              </a:blipFill>
            </p:spPr>
            <p:txBody>
              <a:bodyPr/>
              <a:lstStyle/>
              <a:p>
                <a:r>
                  <a:rPr lang="en-US">
                    <a:noFill/>
                  </a:rPr>
                  <a:t> </a:t>
                </a:r>
              </a:p>
            </p:txBody>
          </p:sp>
        </mc:Fallback>
      </mc:AlternateContent>
      <p:sp>
        <p:nvSpPr>
          <p:cNvPr id="18" name="object 14">
            <a:extLst>
              <a:ext uri="{FF2B5EF4-FFF2-40B4-BE49-F238E27FC236}">
                <a16:creationId xmlns:a16="http://schemas.microsoft.com/office/drawing/2014/main" id="{A02D538F-1B15-523D-8EEE-2A89F39D018B}"/>
              </a:ext>
            </a:extLst>
          </p:cNvPr>
          <p:cNvSpPr/>
          <p:nvPr/>
        </p:nvSpPr>
        <p:spPr>
          <a:xfrm>
            <a:off x="6682858" y="4457420"/>
            <a:ext cx="965835" cy="0"/>
          </a:xfrm>
          <a:custGeom>
            <a:avLst/>
            <a:gdLst/>
            <a:ahLst/>
            <a:cxnLst/>
            <a:rect l="l" t="t" r="r" b="b"/>
            <a:pathLst>
              <a:path w="965835">
                <a:moveTo>
                  <a:pt x="965433" y="0"/>
                </a:moveTo>
                <a:lnTo>
                  <a:pt x="12699" y="0"/>
                </a:lnTo>
                <a:lnTo>
                  <a:pt x="0" y="0"/>
                </a:lnTo>
              </a:path>
            </a:pathLst>
          </a:custGeom>
          <a:ln w="25400">
            <a:solidFill>
              <a:srgbClr val="000000"/>
            </a:solidFill>
          </a:ln>
        </p:spPr>
        <p:txBody>
          <a:bodyPr wrap="square" lIns="0" tIns="0" rIns="0" bIns="0" rtlCol="0"/>
          <a:lstStyle/>
          <a:p>
            <a:endParaRPr/>
          </a:p>
        </p:txBody>
      </p:sp>
      <p:sp>
        <p:nvSpPr>
          <p:cNvPr id="19" name="object 15">
            <a:extLst>
              <a:ext uri="{FF2B5EF4-FFF2-40B4-BE49-F238E27FC236}">
                <a16:creationId xmlns:a16="http://schemas.microsoft.com/office/drawing/2014/main" id="{10A776B8-C6A2-3497-9B42-DB5D4771BF08}"/>
              </a:ext>
            </a:extLst>
          </p:cNvPr>
          <p:cNvSpPr/>
          <p:nvPr/>
        </p:nvSpPr>
        <p:spPr>
          <a:xfrm>
            <a:off x="6573638" y="4396460"/>
            <a:ext cx="121920" cy="121920"/>
          </a:xfrm>
          <a:custGeom>
            <a:avLst/>
            <a:gdLst/>
            <a:ahLst/>
            <a:cxnLst/>
            <a:rect l="l" t="t" r="r" b="b"/>
            <a:pathLst>
              <a:path w="121920" h="121920">
                <a:moveTo>
                  <a:pt x="121919" y="0"/>
                </a:moveTo>
                <a:lnTo>
                  <a:pt x="0" y="60960"/>
                </a:lnTo>
                <a:lnTo>
                  <a:pt x="121919" y="121920"/>
                </a:lnTo>
                <a:lnTo>
                  <a:pt x="121919" y="0"/>
                </a:lnTo>
                <a:close/>
              </a:path>
            </a:pathLst>
          </a:custGeom>
          <a:solidFill>
            <a:srgbClr val="000000"/>
          </a:solidFill>
        </p:spPr>
        <p:txBody>
          <a:bodyPr wrap="square" lIns="0" tIns="0" rIns="0" bIns="0" rtlCol="0"/>
          <a:lstStyle/>
          <a:p>
            <a:endParaRPr/>
          </a:p>
        </p:txBody>
      </p:sp>
      <p:sp>
        <p:nvSpPr>
          <p:cNvPr id="22" name="object 18">
            <a:extLst>
              <a:ext uri="{FF2B5EF4-FFF2-40B4-BE49-F238E27FC236}">
                <a16:creationId xmlns:a16="http://schemas.microsoft.com/office/drawing/2014/main" id="{652F19CD-4356-8B61-6DAB-9A490C2C8770}"/>
              </a:ext>
            </a:extLst>
          </p:cNvPr>
          <p:cNvSpPr txBox="1"/>
          <p:nvPr/>
        </p:nvSpPr>
        <p:spPr>
          <a:xfrm>
            <a:off x="7757913" y="4202496"/>
            <a:ext cx="1233687" cy="387927"/>
          </a:xfrm>
          <a:prstGeom prst="rect">
            <a:avLst/>
          </a:prstGeom>
        </p:spPr>
        <p:txBody>
          <a:bodyPr vert="horz" wrap="square" lIns="0" tIns="12700" rIns="0" bIns="0" rtlCol="0">
            <a:spAutoFit/>
          </a:bodyPr>
          <a:lstStyle/>
          <a:p>
            <a:pPr marL="12700" marR="5080" indent="56515">
              <a:lnSpc>
                <a:spcPct val="136200"/>
              </a:lnSpc>
              <a:spcBef>
                <a:spcPts val="100"/>
              </a:spcBef>
            </a:pPr>
            <a:r>
              <a:rPr lang="en-US" sz="2000" dirty="0">
                <a:solidFill>
                  <a:srgbClr val="C00000"/>
                </a:solidFill>
                <a:latin typeface="Gill Sans MT"/>
                <a:cs typeface="Gill Sans MT"/>
              </a:rPr>
              <a:t>TD target</a:t>
            </a:r>
            <a:endParaRPr sz="2000" dirty="0">
              <a:solidFill>
                <a:srgbClr val="C00000"/>
              </a:solidFill>
              <a:latin typeface="Gill Sans MT"/>
              <a:cs typeface="Gill Sans MT"/>
            </a:endParaRPr>
          </a:p>
        </p:txBody>
      </p:sp>
      <mc:AlternateContent xmlns:mc="http://schemas.openxmlformats.org/markup-compatibility/2006" xmlns:a14="http://schemas.microsoft.com/office/drawing/2010/main">
        <mc:Choice Requires="a14">
          <p:sp>
            <p:nvSpPr>
              <p:cNvPr id="23" name="object 3">
                <a:extLst>
                  <a:ext uri="{FF2B5EF4-FFF2-40B4-BE49-F238E27FC236}">
                    <a16:creationId xmlns:a16="http://schemas.microsoft.com/office/drawing/2014/main" id="{F5C27826-BCD2-12DB-46BD-5ECB8BCFCAB9}"/>
                  </a:ext>
                </a:extLst>
              </p:cNvPr>
              <p:cNvSpPr txBox="1"/>
              <p:nvPr/>
            </p:nvSpPr>
            <p:spPr>
              <a:xfrm>
                <a:off x="564934" y="6263005"/>
                <a:ext cx="7893266" cy="590546"/>
              </a:xfrm>
              <a:prstGeom prst="rect">
                <a:avLst/>
              </a:prstGeom>
            </p:spPr>
            <p:txBody>
              <a:bodyPr vert="horz" wrap="square" lIns="0" tIns="13335" rIns="0" bIns="0" rtlCol="0">
                <a:spAutoFit/>
              </a:bodyPr>
              <a:lstStyle/>
              <a:p>
                <a:pPr marL="50800">
                  <a:lnSpc>
                    <a:spcPts val="2655"/>
                  </a:lnSpc>
                  <a:spcBef>
                    <a:spcPts val="105"/>
                  </a:spcBef>
                </a:pP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lang="en-US" sz="2350" dirty="0">
                    <a:latin typeface="Cambria"/>
                    <a:cs typeface="Cambria"/>
                  </a:rPr>
                  <a:t>,</a:t>
                </a:r>
                <a:r>
                  <a:rPr lang="en-US"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dirty="0">
                    <a:latin typeface="Cambria"/>
                    <a:cs typeface="Cambria"/>
                  </a:rPr>
                  <a:t>)</a:t>
                </a:r>
                <a:r>
                  <a:rPr sz="2350" spc="85" dirty="0">
                    <a:latin typeface="Cambria"/>
                    <a:cs typeface="Cambria"/>
                  </a:rPr>
                  <a:t> </a:t>
                </a:r>
                <a:r>
                  <a:rPr sz="2350" spc="195" dirty="0">
                    <a:latin typeface="Cambria"/>
                    <a:cs typeface="Cambria"/>
                  </a:rPr>
                  <a:t>←</a:t>
                </a:r>
                <a:r>
                  <a:rPr sz="2350" spc="90" dirty="0">
                    <a:latin typeface="Cambria"/>
                    <a:cs typeface="Cambria"/>
                  </a:rPr>
                  <a:t> </a:t>
                </a: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lang="en-US" sz="2350" dirty="0">
                    <a:latin typeface="Cambria"/>
                    <a:cs typeface="Cambria"/>
                  </a:rPr>
                  <a:t>,</a:t>
                </a:r>
                <a:r>
                  <a:rPr lang="en-US"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spc="-50" dirty="0">
                    <a:latin typeface="Arial"/>
                    <a:cs typeface="Arial"/>
                  </a:rPr>
                  <a:t>α</a:t>
                </a:r>
                <a:r>
                  <a:rPr sz="2350" i="1" spc="-260" dirty="0">
                    <a:latin typeface="Arial"/>
                    <a:cs typeface="Arial"/>
                  </a:rPr>
                  <a:t> </a:t>
                </a:r>
                <a:r>
                  <a:rPr lang="en-US" sz="2350" spc="-35" dirty="0">
                    <a:latin typeface="Cambria"/>
                    <a:cs typeface="Cambria"/>
                  </a:rPr>
                  <a:t>(</a:t>
                </a:r>
                <a:r>
                  <a:rPr lang="en-US" sz="2000" i="1" dirty="0">
                    <a:latin typeface="Times New Roman"/>
                    <a:cs typeface="Times New Roman"/>
                  </a:rPr>
                  <a:t>R</a:t>
                </a:r>
                <a:r>
                  <a:rPr lang="en-US" sz="2400" i="1" baseline="-20467" dirty="0">
                    <a:latin typeface="Times New Roman"/>
                    <a:cs typeface="Times New Roman"/>
                  </a:rPr>
                  <a:t>t</a:t>
                </a:r>
                <a:r>
                  <a:rPr lang="en-US" sz="2400" baseline="-20467" dirty="0">
                    <a:latin typeface="Cambria"/>
                    <a:cs typeface="Cambria"/>
                  </a:rPr>
                  <a:t>+1</a:t>
                </a:r>
                <a:r>
                  <a:rPr sz="2350" i="1" spc="-100" dirty="0">
                    <a:latin typeface="Times New Roman"/>
                    <a:cs typeface="Times New Roman"/>
                  </a:rPr>
                  <a:t> </a:t>
                </a:r>
                <a:r>
                  <a:rPr sz="2350" spc="310" dirty="0">
                    <a:latin typeface="Cambria"/>
                    <a:cs typeface="Cambria"/>
                  </a:rPr>
                  <a:t>+</a:t>
                </a:r>
                <a:r>
                  <a:rPr sz="2350" spc="-30" dirty="0">
                    <a:latin typeface="Cambria"/>
                    <a:cs typeface="Cambria"/>
                  </a:rPr>
                  <a:t> </a:t>
                </a:r>
                <a14:m>
                  <m:oMath xmlns:m="http://schemas.openxmlformats.org/officeDocument/2006/math">
                    <m:r>
                      <a:rPr lang="en-US" sz="2350" i="1" spc="-220" dirty="0" smtClean="0">
                        <a:latin typeface="Cambria Math" panose="02040503050406030204" pitchFamily="18" charset="0"/>
                        <a:cs typeface="Arial"/>
                      </a:rPr>
                      <m:t>𝛾</m:t>
                    </m:r>
                    <m:r>
                      <a:rPr lang="en-US" sz="2350" i="1" spc="-450" dirty="0">
                        <a:latin typeface="Cambria Math" panose="02040503050406030204" pitchFamily="18" charset="0"/>
                        <a:cs typeface="Arial"/>
                      </a:rPr>
                      <m:t> </m:t>
                    </m:r>
                  </m:oMath>
                </a14:m>
                <a:r>
                  <a:rPr lang="en-US" sz="2350" dirty="0">
                    <a:latin typeface="Cambria"/>
                    <a:cs typeface="Cambria"/>
                  </a:rPr>
                  <a:t> </a:t>
                </a:r>
                <a:r>
                  <a:rPr sz="2350" dirty="0">
                    <a:latin typeface="Cambria"/>
                    <a:cs typeface="Cambria"/>
                  </a:rPr>
                  <a:t>max</a:t>
                </a:r>
                <a:r>
                  <a:rPr sz="2350" spc="210" dirty="0">
                    <a:latin typeface="Cambria"/>
                    <a:cs typeface="Cambria"/>
                  </a:rPr>
                  <a:t> </a:t>
                </a:r>
                <a:r>
                  <a:rPr sz="2350" i="1" spc="-35" dirty="0">
                    <a:latin typeface="Times New Roman"/>
                    <a:cs typeface="Times New Roman"/>
                  </a:rPr>
                  <a:t>Q</a:t>
                </a:r>
                <a:r>
                  <a:rPr sz="2350" spc="-35" dirty="0">
                    <a:latin typeface="Cambria"/>
                    <a:cs typeface="Cambria"/>
                  </a:rPr>
                  <a:t>(</a:t>
                </a:r>
                <a:r>
                  <a:rPr lang="en-US" sz="2000" i="1" dirty="0">
                    <a:latin typeface="Times New Roman"/>
                    <a:cs typeface="Times New Roman"/>
                  </a:rPr>
                  <a:t>S</a:t>
                </a:r>
                <a:r>
                  <a:rPr lang="en-US" sz="2400" i="1" baseline="-20467" dirty="0">
                    <a:latin typeface="Times New Roman"/>
                    <a:cs typeface="Times New Roman"/>
                  </a:rPr>
                  <a:t>t</a:t>
                </a:r>
                <a:r>
                  <a:rPr lang="en-US" sz="2400" baseline="-20467" dirty="0">
                    <a:latin typeface="Cambria"/>
                    <a:cs typeface="Cambria"/>
                  </a:rPr>
                  <a:t>+1</a:t>
                </a:r>
                <a:r>
                  <a:rPr sz="2350" spc="-35" dirty="0">
                    <a:latin typeface="Cambria"/>
                    <a:cs typeface="Cambria"/>
                  </a:rPr>
                  <a:t>,</a:t>
                </a:r>
                <a:r>
                  <a:rPr sz="2350" spc="-125" dirty="0">
                    <a:latin typeface="Cambria"/>
                    <a:cs typeface="Cambria"/>
                  </a:rPr>
                  <a:t> </a:t>
                </a:r>
                <a:r>
                  <a:rPr sz="2350" i="1" spc="-35" dirty="0">
                    <a:latin typeface="Times New Roman"/>
                    <a:cs typeface="Times New Roman"/>
                  </a:rPr>
                  <a:t>a</a:t>
                </a:r>
                <a:r>
                  <a:rPr sz="2350" spc="-35"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dirty="0">
                    <a:latin typeface="Times New Roman"/>
                    <a:cs typeface="Times New Roman"/>
                  </a:rPr>
                  <a:t>Q</a:t>
                </a:r>
                <a:r>
                  <a:rPr sz="2350" dirty="0">
                    <a:latin typeface="Cambria"/>
                    <a:cs typeface="Cambria"/>
                  </a:rPr>
                  <a:t>(</a:t>
                </a:r>
                <a:r>
                  <a:rPr lang="en-US" sz="2400" i="1" dirty="0">
                    <a:latin typeface="Times New Roman"/>
                    <a:cs typeface="Times New Roman"/>
                  </a:rPr>
                  <a:t>S</a:t>
                </a:r>
                <a:r>
                  <a:rPr lang="en-US" sz="2800" i="1" baseline="-20467" dirty="0">
                    <a:latin typeface="Times New Roman"/>
                    <a:cs typeface="Times New Roman"/>
                  </a:rPr>
                  <a:t>t</a:t>
                </a:r>
                <a:r>
                  <a:rPr sz="2350" dirty="0">
                    <a:latin typeface="Cambria"/>
                    <a:cs typeface="Cambria"/>
                  </a:rPr>
                  <a:t>,</a:t>
                </a:r>
                <a:r>
                  <a:rPr sz="2350" spc="-70" dirty="0">
                    <a:latin typeface="Cambria"/>
                    <a:cs typeface="Cambria"/>
                  </a:rPr>
                  <a:t> </a:t>
                </a:r>
                <a:r>
                  <a:rPr lang="en-US" sz="2350" i="1" spc="-20" dirty="0">
                    <a:latin typeface="Times New Roman"/>
                    <a:cs typeface="Times New Roman"/>
                  </a:rPr>
                  <a:t>A</a:t>
                </a:r>
                <a:r>
                  <a:rPr lang="en-US" sz="2475" i="1" spc="-30" baseline="-20202" dirty="0">
                    <a:latin typeface="Times New Roman"/>
                    <a:cs typeface="Times New Roman"/>
                  </a:rPr>
                  <a:t>t</a:t>
                </a:r>
                <a:r>
                  <a:rPr sz="2350" spc="260" dirty="0">
                    <a:latin typeface="Cambria"/>
                    <a:cs typeface="Cambria"/>
                  </a:rPr>
                  <a:t>)</a:t>
                </a:r>
                <a:r>
                  <a:rPr lang="en-US" sz="2350" spc="260" dirty="0">
                    <a:latin typeface="Cambria"/>
                    <a:cs typeface="Cambria"/>
                  </a:rPr>
                  <a:t>)</a:t>
                </a:r>
                <a:endParaRPr lang="en-US" sz="3525" baseline="-31914" dirty="0">
                  <a:latin typeface="Arial"/>
                  <a:cs typeface="Arial"/>
                </a:endParaRPr>
              </a:p>
              <a:p>
                <a:pPr marL="971550" algn="ctr">
                  <a:lnSpc>
                    <a:spcPts val="1814"/>
                  </a:lnSpc>
                </a:pPr>
                <a:r>
                  <a:rPr lang="en-US" sz="1650" i="1" spc="-25" dirty="0">
                    <a:latin typeface="Times New Roman"/>
                    <a:cs typeface="Times New Roman"/>
                  </a:rPr>
                  <a:t>a</a:t>
                </a:r>
                <a:r>
                  <a:rPr lang="en-US" sz="1650" spc="-25" dirty="0">
                    <a:latin typeface="Cambria"/>
                    <a:cs typeface="Cambria"/>
                  </a:rPr>
                  <a:t>′</a:t>
                </a:r>
                <a:endParaRPr lang="en-US" sz="1650" dirty="0">
                  <a:latin typeface="Cambria"/>
                  <a:cs typeface="Cambria"/>
                </a:endParaRPr>
              </a:p>
            </p:txBody>
          </p:sp>
        </mc:Choice>
        <mc:Fallback xmlns="">
          <p:sp>
            <p:nvSpPr>
              <p:cNvPr id="23" name="object 3">
                <a:extLst>
                  <a:ext uri="{FF2B5EF4-FFF2-40B4-BE49-F238E27FC236}">
                    <a16:creationId xmlns:a16="http://schemas.microsoft.com/office/drawing/2014/main" id="{F5C27826-BCD2-12DB-46BD-5ECB8BCFCAB9}"/>
                  </a:ext>
                </a:extLst>
              </p:cNvPr>
              <p:cNvSpPr txBox="1">
                <a:spLocks noRot="1" noChangeAspect="1" noMove="1" noResize="1" noEditPoints="1" noAdjustHandles="1" noChangeArrowheads="1" noChangeShapeType="1" noTextEdit="1"/>
              </p:cNvSpPr>
              <p:nvPr/>
            </p:nvSpPr>
            <p:spPr>
              <a:xfrm>
                <a:off x="564934" y="6263005"/>
                <a:ext cx="7893266" cy="590546"/>
              </a:xfrm>
              <a:prstGeom prst="rect">
                <a:avLst/>
              </a:prstGeom>
              <a:blipFill>
                <a:blip r:embed="rId6"/>
                <a:stretch>
                  <a:fillRect l="-1699" t="-16495" b="-21649"/>
                </a:stretch>
              </a:blipFill>
            </p:spPr>
            <p:txBody>
              <a:bodyPr/>
              <a:lstStyle/>
              <a:p>
                <a:r>
                  <a:rPr lang="en-MY">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150" y="421537"/>
            <a:ext cx="2686685" cy="421640"/>
          </a:xfrm>
          <a:prstGeom prst="rect">
            <a:avLst/>
          </a:prstGeom>
        </p:spPr>
        <p:txBody>
          <a:bodyPr vert="horz" wrap="square" lIns="0" tIns="12700" rIns="0" bIns="0" rtlCol="0">
            <a:spAutoFit/>
          </a:bodyPr>
          <a:lstStyle/>
          <a:p>
            <a:pPr marL="12700">
              <a:lnSpc>
                <a:spcPct val="100000"/>
              </a:lnSpc>
              <a:spcBef>
                <a:spcPts val="100"/>
              </a:spcBef>
            </a:pPr>
            <a:r>
              <a:rPr spc="-75" dirty="0"/>
              <a:t>Q-</a:t>
            </a:r>
            <a:r>
              <a:rPr spc="-100" dirty="0"/>
              <a:t>Learning</a:t>
            </a:r>
            <a:r>
              <a:rPr spc="-105" dirty="0"/>
              <a:t> </a:t>
            </a:r>
            <a:r>
              <a:rPr spc="-10" dirty="0"/>
              <a:t>Control</a:t>
            </a:r>
          </a:p>
        </p:txBody>
      </p:sp>
      <mc:AlternateContent xmlns:mc="http://schemas.openxmlformats.org/markup-compatibility/2006" xmlns:a14="http://schemas.microsoft.com/office/drawing/2010/main">
        <mc:Choice Requires="a14">
          <p:sp>
            <p:nvSpPr>
              <p:cNvPr id="3" name="object 3"/>
              <p:cNvSpPr txBox="1"/>
              <p:nvPr/>
            </p:nvSpPr>
            <p:spPr>
              <a:xfrm>
                <a:off x="490869" y="1974270"/>
                <a:ext cx="6788784" cy="594995"/>
              </a:xfrm>
              <a:prstGeom prst="rect">
                <a:avLst/>
              </a:prstGeom>
            </p:spPr>
            <p:txBody>
              <a:bodyPr vert="horz" wrap="square" lIns="0" tIns="13335" rIns="0" bIns="0" rtlCol="0">
                <a:spAutoFit/>
              </a:bodyPr>
              <a:lstStyle/>
              <a:p>
                <a:pPr marL="50800">
                  <a:lnSpc>
                    <a:spcPts val="2655"/>
                  </a:lnSpc>
                  <a:spcBef>
                    <a:spcPts val="105"/>
                  </a:spcBef>
                </a:pPr>
                <a:r>
                  <a:rPr sz="2350" i="1" dirty="0">
                    <a:latin typeface="Times New Roman"/>
                    <a:cs typeface="Times New Roman"/>
                  </a:rPr>
                  <a:t>Q</a:t>
                </a:r>
                <a:r>
                  <a:rPr sz="2350" dirty="0">
                    <a:latin typeface="Cambria"/>
                    <a:cs typeface="Cambria"/>
                  </a:rPr>
                  <a:t>(</a:t>
                </a:r>
                <a:r>
                  <a:rPr sz="2350" i="1" dirty="0">
                    <a:latin typeface="Times New Roman"/>
                    <a:cs typeface="Times New Roman"/>
                  </a:rPr>
                  <a:t>S</a:t>
                </a:r>
                <a:r>
                  <a:rPr sz="2350" dirty="0">
                    <a:latin typeface="Cambria"/>
                    <a:cs typeface="Cambria"/>
                  </a:rPr>
                  <a:t>,</a:t>
                </a:r>
                <a:r>
                  <a:rPr sz="2350" spc="-130" dirty="0">
                    <a:latin typeface="Cambria"/>
                    <a:cs typeface="Cambria"/>
                  </a:rPr>
                  <a:t> </a:t>
                </a:r>
                <a:r>
                  <a:rPr sz="2350" i="1" dirty="0">
                    <a:latin typeface="Times New Roman"/>
                    <a:cs typeface="Times New Roman"/>
                  </a:rPr>
                  <a:t>A</a:t>
                </a:r>
                <a:r>
                  <a:rPr sz="2350" dirty="0">
                    <a:latin typeface="Cambria"/>
                    <a:cs typeface="Cambria"/>
                  </a:rPr>
                  <a:t>)</a:t>
                </a:r>
                <a:r>
                  <a:rPr sz="2350" spc="85" dirty="0">
                    <a:latin typeface="Cambria"/>
                    <a:cs typeface="Cambria"/>
                  </a:rPr>
                  <a:t> </a:t>
                </a:r>
                <a:r>
                  <a:rPr sz="2350" spc="195" dirty="0">
                    <a:latin typeface="Cambria"/>
                    <a:cs typeface="Cambria"/>
                  </a:rPr>
                  <a:t>←</a:t>
                </a:r>
                <a:r>
                  <a:rPr sz="2350" spc="90" dirty="0">
                    <a:latin typeface="Cambria"/>
                    <a:cs typeface="Cambria"/>
                  </a:rPr>
                  <a:t> </a:t>
                </a:r>
                <a:r>
                  <a:rPr sz="2350" i="1" dirty="0">
                    <a:latin typeface="Times New Roman"/>
                    <a:cs typeface="Times New Roman"/>
                  </a:rPr>
                  <a:t>Q</a:t>
                </a:r>
                <a:r>
                  <a:rPr sz="2350" dirty="0">
                    <a:latin typeface="Cambria"/>
                    <a:cs typeface="Cambria"/>
                  </a:rPr>
                  <a:t>(</a:t>
                </a:r>
                <a:r>
                  <a:rPr sz="2350" i="1" dirty="0">
                    <a:latin typeface="Times New Roman"/>
                    <a:cs typeface="Times New Roman"/>
                  </a:rPr>
                  <a:t>S</a:t>
                </a:r>
                <a:r>
                  <a:rPr sz="2350" dirty="0">
                    <a:latin typeface="Cambria"/>
                    <a:cs typeface="Cambria"/>
                  </a:rPr>
                  <a:t>,</a:t>
                </a:r>
                <a:r>
                  <a:rPr sz="2350" spc="-70" dirty="0">
                    <a:latin typeface="Cambria"/>
                    <a:cs typeface="Cambria"/>
                  </a:rPr>
                  <a:t> </a:t>
                </a:r>
                <a:r>
                  <a:rPr sz="2350" i="1" dirty="0">
                    <a:latin typeface="Times New Roman"/>
                    <a:cs typeface="Times New Roman"/>
                  </a:rPr>
                  <a:t>A</a:t>
                </a:r>
                <a:r>
                  <a:rPr sz="2350"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spc="-50" dirty="0">
                    <a:latin typeface="Arial"/>
                    <a:cs typeface="Arial"/>
                  </a:rPr>
                  <a:t>α</a:t>
                </a:r>
                <a:r>
                  <a:rPr sz="2350" i="1" spc="-260" dirty="0">
                    <a:latin typeface="Arial"/>
                    <a:cs typeface="Arial"/>
                  </a:rPr>
                  <a:t> </a:t>
                </a:r>
                <a:r>
                  <a:rPr lang="en-US" sz="2350" spc="-35" dirty="0">
                    <a:latin typeface="Cambria"/>
                    <a:cs typeface="Cambria"/>
                  </a:rPr>
                  <a:t>(</a:t>
                </a:r>
                <a:r>
                  <a:rPr sz="2350" i="1" spc="484" dirty="0">
                    <a:latin typeface="Times New Roman"/>
                    <a:cs typeface="Times New Roman"/>
                  </a:rPr>
                  <a:t>R</a:t>
                </a:r>
                <a:r>
                  <a:rPr sz="2350" i="1" spc="-100" dirty="0">
                    <a:latin typeface="Times New Roman"/>
                    <a:cs typeface="Times New Roman"/>
                  </a:rPr>
                  <a:t> </a:t>
                </a:r>
                <a:r>
                  <a:rPr sz="2350" spc="310" dirty="0">
                    <a:latin typeface="Cambria"/>
                    <a:cs typeface="Cambria"/>
                  </a:rPr>
                  <a:t>+</a:t>
                </a:r>
                <a:r>
                  <a:rPr sz="2350" spc="-30" dirty="0">
                    <a:latin typeface="Cambria"/>
                    <a:cs typeface="Cambria"/>
                  </a:rPr>
                  <a:t> </a:t>
                </a:r>
                <a14:m>
                  <m:oMath xmlns:m="http://schemas.openxmlformats.org/officeDocument/2006/math">
                    <m:r>
                      <a:rPr lang="en-US" sz="2350" i="1" spc="-220" dirty="0" smtClean="0">
                        <a:latin typeface="Cambria Math" panose="02040503050406030204" pitchFamily="18" charset="0"/>
                        <a:cs typeface="Arial"/>
                      </a:rPr>
                      <m:t>𝛾</m:t>
                    </m:r>
                    <m:r>
                      <a:rPr lang="en-US" sz="2350" i="1" spc="-450" dirty="0">
                        <a:latin typeface="Cambria Math" panose="02040503050406030204" pitchFamily="18" charset="0"/>
                        <a:cs typeface="Arial"/>
                      </a:rPr>
                      <m:t> </m:t>
                    </m:r>
                  </m:oMath>
                </a14:m>
                <a:r>
                  <a:rPr sz="2350" dirty="0">
                    <a:latin typeface="Cambria"/>
                    <a:cs typeface="Cambria"/>
                  </a:rPr>
                  <a:t>max</a:t>
                </a:r>
                <a:r>
                  <a:rPr sz="2350" spc="210" dirty="0">
                    <a:latin typeface="Cambria"/>
                    <a:cs typeface="Cambria"/>
                  </a:rPr>
                  <a:t> </a:t>
                </a:r>
                <a:r>
                  <a:rPr sz="2350" i="1" spc="-35" dirty="0">
                    <a:latin typeface="Times New Roman"/>
                    <a:cs typeface="Times New Roman"/>
                  </a:rPr>
                  <a:t>Q</a:t>
                </a:r>
                <a:r>
                  <a:rPr sz="2350" spc="-35" dirty="0">
                    <a:latin typeface="Cambria"/>
                    <a:cs typeface="Cambria"/>
                  </a:rPr>
                  <a:t>(</a:t>
                </a:r>
                <a:r>
                  <a:rPr sz="2350" i="1" spc="-35" dirty="0">
                    <a:latin typeface="Times New Roman"/>
                    <a:cs typeface="Times New Roman"/>
                  </a:rPr>
                  <a:t>S</a:t>
                </a:r>
                <a:r>
                  <a:rPr sz="2350" spc="-35" dirty="0">
                    <a:latin typeface="Cambria"/>
                    <a:cs typeface="Cambria"/>
                  </a:rPr>
                  <a:t>′,</a:t>
                </a:r>
                <a:r>
                  <a:rPr sz="2350" spc="-125" dirty="0">
                    <a:latin typeface="Cambria"/>
                    <a:cs typeface="Cambria"/>
                  </a:rPr>
                  <a:t> </a:t>
                </a:r>
                <a:r>
                  <a:rPr sz="2350" i="1" spc="-35" dirty="0">
                    <a:latin typeface="Times New Roman"/>
                    <a:cs typeface="Times New Roman"/>
                  </a:rPr>
                  <a:t>a</a:t>
                </a:r>
                <a:r>
                  <a:rPr sz="2350" spc="-35" dirty="0">
                    <a:latin typeface="Cambria"/>
                    <a:cs typeface="Cambria"/>
                  </a:rPr>
                  <a:t>′)</a:t>
                </a:r>
                <a:r>
                  <a:rPr sz="2350" spc="-30" dirty="0">
                    <a:latin typeface="Cambria"/>
                    <a:cs typeface="Cambria"/>
                  </a:rPr>
                  <a:t> </a:t>
                </a:r>
                <a:r>
                  <a:rPr sz="2350" spc="310" dirty="0">
                    <a:latin typeface="Cambria"/>
                    <a:cs typeface="Cambria"/>
                  </a:rPr>
                  <a:t>−</a:t>
                </a:r>
                <a:r>
                  <a:rPr sz="2350" spc="-30" dirty="0">
                    <a:latin typeface="Cambria"/>
                    <a:cs typeface="Cambria"/>
                  </a:rPr>
                  <a:t> </a:t>
                </a:r>
                <a:r>
                  <a:rPr sz="2350" i="1" dirty="0">
                    <a:latin typeface="Times New Roman"/>
                    <a:cs typeface="Times New Roman"/>
                  </a:rPr>
                  <a:t>Q</a:t>
                </a:r>
                <a:r>
                  <a:rPr sz="2350" dirty="0">
                    <a:latin typeface="Cambria"/>
                    <a:cs typeface="Cambria"/>
                  </a:rPr>
                  <a:t>(</a:t>
                </a:r>
                <a:r>
                  <a:rPr sz="2350" i="1" dirty="0">
                    <a:latin typeface="Times New Roman"/>
                    <a:cs typeface="Times New Roman"/>
                  </a:rPr>
                  <a:t>S</a:t>
                </a:r>
                <a:r>
                  <a:rPr sz="2350" dirty="0">
                    <a:latin typeface="Cambria"/>
                    <a:cs typeface="Cambria"/>
                  </a:rPr>
                  <a:t>,</a:t>
                </a:r>
                <a:r>
                  <a:rPr sz="2350" spc="-70" dirty="0">
                    <a:latin typeface="Cambria"/>
                    <a:cs typeface="Cambria"/>
                  </a:rPr>
                  <a:t> </a:t>
                </a:r>
                <a:r>
                  <a:rPr sz="2350" i="1" spc="260" dirty="0">
                    <a:latin typeface="Times New Roman"/>
                    <a:cs typeface="Times New Roman"/>
                  </a:rPr>
                  <a:t>A</a:t>
                </a:r>
                <a:r>
                  <a:rPr sz="2350" spc="260" dirty="0">
                    <a:latin typeface="Cambria"/>
                    <a:cs typeface="Cambria"/>
                  </a:rPr>
                  <a:t>)</a:t>
                </a:r>
                <a:r>
                  <a:rPr lang="en-US" sz="2350" spc="260" dirty="0">
                    <a:latin typeface="Cambria"/>
                    <a:cs typeface="Cambria"/>
                  </a:rPr>
                  <a:t>)</a:t>
                </a:r>
                <a:endParaRPr sz="3525" baseline="-31914" dirty="0">
                  <a:latin typeface="Arial"/>
                  <a:cs typeface="Arial"/>
                </a:endParaRPr>
              </a:p>
              <a:p>
                <a:pPr marL="1168400" algn="ctr">
                  <a:lnSpc>
                    <a:spcPts val="1814"/>
                  </a:lnSpc>
                </a:pPr>
                <a:r>
                  <a:rPr sz="1650" i="1" spc="-25" dirty="0">
                    <a:latin typeface="Times New Roman"/>
                    <a:cs typeface="Times New Roman"/>
                  </a:rPr>
                  <a:t>a</a:t>
                </a:r>
                <a:r>
                  <a:rPr sz="1650" spc="-25" dirty="0">
                    <a:latin typeface="Cambria"/>
                    <a:cs typeface="Cambria"/>
                  </a:rPr>
                  <a:t>′</a:t>
                </a:r>
                <a:endParaRPr sz="1650" dirty="0">
                  <a:latin typeface="Cambria"/>
                  <a:cs typeface="Cambri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90869" y="1974270"/>
                <a:ext cx="6788784" cy="594995"/>
              </a:xfrm>
              <a:prstGeom prst="rect">
                <a:avLst/>
              </a:prstGeom>
              <a:blipFill>
                <a:blip r:embed="rId2"/>
                <a:stretch>
                  <a:fillRect l="-1977" t="-16495" r="-898" b="-20619"/>
                </a:stretch>
              </a:blipFill>
            </p:spPr>
            <p:txBody>
              <a:bodyPr/>
              <a:lstStyle/>
              <a:p>
                <a:r>
                  <a:rPr lang="en-US">
                    <a:noFill/>
                  </a:rPr>
                  <a:t> </a:t>
                </a:r>
              </a:p>
            </p:txBody>
          </p:sp>
        </mc:Fallback>
      </mc:AlternateContent>
      <p:sp>
        <p:nvSpPr>
          <p:cNvPr id="4" name="object 4"/>
          <p:cNvSpPr txBox="1"/>
          <p:nvPr/>
        </p:nvSpPr>
        <p:spPr>
          <a:xfrm>
            <a:off x="457344" y="3678543"/>
            <a:ext cx="7896225" cy="283845"/>
          </a:xfrm>
          <a:prstGeom prst="rect">
            <a:avLst/>
          </a:prstGeom>
          <a:solidFill>
            <a:srgbClr val="262685"/>
          </a:solidFill>
        </p:spPr>
        <p:txBody>
          <a:bodyPr vert="horz" wrap="square" lIns="0" tIns="0" rIns="0" bIns="0" rtlCol="0">
            <a:spAutoFit/>
          </a:bodyPr>
          <a:lstStyle/>
          <a:p>
            <a:pPr marL="45720">
              <a:lnSpc>
                <a:spcPts val="2210"/>
              </a:lnSpc>
            </a:pPr>
            <a:r>
              <a:rPr sz="2000" spc="-10" dirty="0">
                <a:solidFill>
                  <a:srgbClr val="FFFFFF"/>
                </a:solidFill>
                <a:latin typeface="Arial"/>
                <a:cs typeface="Arial"/>
              </a:rPr>
              <a:t>Theorem</a:t>
            </a:r>
            <a:endParaRPr sz="2000">
              <a:latin typeface="Arial"/>
              <a:cs typeface="Arial"/>
            </a:endParaRPr>
          </a:p>
        </p:txBody>
      </p:sp>
      <p:sp>
        <p:nvSpPr>
          <p:cNvPr id="5" name="object 5"/>
          <p:cNvSpPr/>
          <p:nvPr/>
        </p:nvSpPr>
        <p:spPr>
          <a:xfrm>
            <a:off x="457344" y="4039998"/>
            <a:ext cx="7896225" cy="915669"/>
          </a:xfrm>
          <a:custGeom>
            <a:avLst/>
            <a:gdLst/>
            <a:ahLst/>
            <a:cxnLst/>
            <a:rect l="l" t="t" r="r" b="b"/>
            <a:pathLst>
              <a:path w="7896225" h="915670">
                <a:moveTo>
                  <a:pt x="7895831" y="0"/>
                </a:moveTo>
                <a:lnTo>
                  <a:pt x="0" y="0"/>
                </a:lnTo>
                <a:lnTo>
                  <a:pt x="0" y="915158"/>
                </a:lnTo>
                <a:lnTo>
                  <a:pt x="7895831" y="915158"/>
                </a:lnTo>
                <a:lnTo>
                  <a:pt x="7895831" y="0"/>
                </a:lnTo>
                <a:close/>
              </a:path>
            </a:pathLst>
          </a:custGeom>
          <a:solidFill>
            <a:srgbClr val="E9E9F2"/>
          </a:solidFill>
        </p:spPr>
        <p:txBody>
          <a:bodyPr wrap="square" lIns="0" tIns="0" rIns="0" bIns="0" rtlCol="0"/>
          <a:lstStyle/>
          <a:p>
            <a:endParaRPr/>
          </a:p>
        </p:txBody>
      </p:sp>
      <p:sp>
        <p:nvSpPr>
          <p:cNvPr id="6" name="object 6"/>
          <p:cNvSpPr txBox="1"/>
          <p:nvPr/>
        </p:nvSpPr>
        <p:spPr>
          <a:xfrm>
            <a:off x="464964" y="4059643"/>
            <a:ext cx="7573009" cy="875665"/>
          </a:xfrm>
          <a:prstGeom prst="rect">
            <a:avLst/>
          </a:prstGeom>
        </p:spPr>
        <p:txBody>
          <a:bodyPr vert="horz" wrap="square" lIns="0" tIns="12700" rIns="0" bIns="0" rtlCol="0">
            <a:spAutoFit/>
          </a:bodyPr>
          <a:lstStyle/>
          <a:p>
            <a:pPr marL="38100">
              <a:lnSpc>
                <a:spcPts val="2690"/>
              </a:lnSpc>
              <a:spcBef>
                <a:spcPts val="100"/>
              </a:spcBef>
            </a:pPr>
            <a:r>
              <a:rPr sz="2300" spc="-10" dirty="0">
                <a:latin typeface="Gill Sans MT"/>
                <a:cs typeface="Gill Sans MT"/>
              </a:rPr>
              <a:t>Q-</a:t>
            </a:r>
            <a:r>
              <a:rPr sz="2300" dirty="0">
                <a:latin typeface="Gill Sans MT"/>
                <a:cs typeface="Gill Sans MT"/>
              </a:rPr>
              <a:t>learning</a:t>
            </a:r>
            <a:r>
              <a:rPr sz="2300" spc="-65" dirty="0">
                <a:latin typeface="Gill Sans MT"/>
                <a:cs typeface="Gill Sans MT"/>
              </a:rPr>
              <a:t> </a:t>
            </a:r>
            <a:r>
              <a:rPr sz="2300" spc="-10" dirty="0">
                <a:latin typeface="Gill Sans MT"/>
                <a:cs typeface="Gill Sans MT"/>
              </a:rPr>
              <a:t>control</a:t>
            </a:r>
            <a:r>
              <a:rPr sz="2300" spc="-45" dirty="0">
                <a:latin typeface="Gill Sans MT"/>
                <a:cs typeface="Gill Sans MT"/>
              </a:rPr>
              <a:t> </a:t>
            </a:r>
            <a:r>
              <a:rPr sz="2300" spc="-165" dirty="0">
                <a:latin typeface="Gill Sans MT"/>
                <a:cs typeface="Gill Sans MT"/>
              </a:rPr>
              <a:t>converges</a:t>
            </a:r>
            <a:r>
              <a:rPr sz="2300" spc="-150" dirty="0">
                <a:latin typeface="Gill Sans MT"/>
                <a:cs typeface="Gill Sans MT"/>
              </a:rPr>
              <a:t> </a:t>
            </a:r>
            <a:r>
              <a:rPr sz="2300" dirty="0">
                <a:latin typeface="Gill Sans MT"/>
                <a:cs typeface="Gill Sans MT"/>
              </a:rPr>
              <a:t>to</a:t>
            </a:r>
            <a:r>
              <a:rPr sz="2300" spc="-20" dirty="0">
                <a:latin typeface="Gill Sans MT"/>
                <a:cs typeface="Gill Sans MT"/>
              </a:rPr>
              <a:t> </a:t>
            </a:r>
            <a:r>
              <a:rPr sz="2300" dirty="0">
                <a:latin typeface="Gill Sans MT"/>
                <a:cs typeface="Gill Sans MT"/>
              </a:rPr>
              <a:t>the</a:t>
            </a:r>
            <a:r>
              <a:rPr sz="2300" spc="-20" dirty="0">
                <a:latin typeface="Gill Sans MT"/>
                <a:cs typeface="Gill Sans MT"/>
              </a:rPr>
              <a:t> </a:t>
            </a:r>
            <a:r>
              <a:rPr sz="2300" dirty="0">
                <a:latin typeface="Gill Sans MT"/>
                <a:cs typeface="Gill Sans MT"/>
              </a:rPr>
              <a:t>optimal</a:t>
            </a:r>
            <a:r>
              <a:rPr sz="2300" spc="-45" dirty="0">
                <a:latin typeface="Gill Sans MT"/>
                <a:cs typeface="Gill Sans MT"/>
              </a:rPr>
              <a:t> </a:t>
            </a:r>
            <a:r>
              <a:rPr sz="2300" spc="-105" dirty="0">
                <a:latin typeface="Gill Sans MT"/>
                <a:cs typeface="Gill Sans MT"/>
              </a:rPr>
              <a:t>action-</a:t>
            </a:r>
            <a:r>
              <a:rPr sz="2300" spc="-25" dirty="0">
                <a:latin typeface="Gill Sans MT"/>
                <a:cs typeface="Gill Sans MT"/>
              </a:rPr>
              <a:t>value</a:t>
            </a:r>
            <a:r>
              <a:rPr sz="2300" spc="-70" dirty="0">
                <a:latin typeface="Gill Sans MT"/>
                <a:cs typeface="Gill Sans MT"/>
              </a:rPr>
              <a:t> </a:t>
            </a:r>
            <a:r>
              <a:rPr sz="2300" spc="-10" dirty="0">
                <a:latin typeface="Gill Sans MT"/>
                <a:cs typeface="Gill Sans MT"/>
              </a:rPr>
              <a:t>function,</a:t>
            </a:r>
            <a:endParaRPr sz="2300">
              <a:latin typeface="Gill Sans MT"/>
              <a:cs typeface="Gill Sans MT"/>
            </a:endParaRPr>
          </a:p>
          <a:p>
            <a:pPr marL="38100">
              <a:lnSpc>
                <a:spcPts val="4010"/>
              </a:lnSpc>
            </a:pPr>
            <a:r>
              <a:rPr sz="3400" i="1" spc="-20" dirty="0">
                <a:latin typeface="Times New Roman"/>
                <a:cs typeface="Times New Roman"/>
              </a:rPr>
              <a:t>Q</a:t>
            </a:r>
            <a:r>
              <a:rPr sz="3400" spc="-20" dirty="0">
                <a:latin typeface="Cambria"/>
                <a:cs typeface="Cambria"/>
              </a:rPr>
              <a:t>(</a:t>
            </a:r>
            <a:r>
              <a:rPr sz="3400" i="1" spc="-20" dirty="0">
                <a:latin typeface="Times New Roman"/>
                <a:cs typeface="Times New Roman"/>
              </a:rPr>
              <a:t>s</a:t>
            </a:r>
            <a:r>
              <a:rPr sz="3400" spc="-20" dirty="0">
                <a:latin typeface="Cambria"/>
                <a:cs typeface="Cambria"/>
              </a:rPr>
              <a:t>,</a:t>
            </a:r>
            <a:r>
              <a:rPr sz="3400" spc="-185" dirty="0">
                <a:latin typeface="Cambria"/>
                <a:cs typeface="Cambria"/>
              </a:rPr>
              <a:t> </a:t>
            </a:r>
            <a:r>
              <a:rPr sz="3400" i="1" dirty="0">
                <a:latin typeface="Times New Roman"/>
                <a:cs typeface="Times New Roman"/>
              </a:rPr>
              <a:t>a</a:t>
            </a:r>
            <a:r>
              <a:rPr sz="3400" dirty="0">
                <a:latin typeface="Cambria"/>
                <a:cs typeface="Cambria"/>
              </a:rPr>
              <a:t>)</a:t>
            </a:r>
            <a:r>
              <a:rPr sz="3400" spc="90" dirty="0">
                <a:latin typeface="Cambria"/>
                <a:cs typeface="Cambria"/>
              </a:rPr>
              <a:t> </a:t>
            </a:r>
            <a:r>
              <a:rPr sz="3400" spc="280" dirty="0">
                <a:latin typeface="Cambria"/>
                <a:cs typeface="Cambria"/>
              </a:rPr>
              <a:t>→</a:t>
            </a:r>
            <a:r>
              <a:rPr sz="3400" spc="140" dirty="0">
                <a:latin typeface="Cambria"/>
                <a:cs typeface="Cambria"/>
              </a:rPr>
              <a:t> </a:t>
            </a:r>
            <a:r>
              <a:rPr sz="3400" i="1" spc="50" dirty="0">
                <a:latin typeface="Times New Roman"/>
                <a:cs typeface="Times New Roman"/>
              </a:rPr>
              <a:t>q</a:t>
            </a:r>
            <a:r>
              <a:rPr sz="3600" spc="75" baseline="-19675" dirty="0">
                <a:latin typeface="Cambria"/>
                <a:cs typeface="Cambria"/>
              </a:rPr>
              <a:t>⋆</a:t>
            </a:r>
            <a:r>
              <a:rPr sz="3400" spc="50" dirty="0">
                <a:latin typeface="Cambria"/>
                <a:cs typeface="Cambria"/>
              </a:rPr>
              <a:t>(</a:t>
            </a:r>
            <a:r>
              <a:rPr sz="3400" i="1" spc="50" dirty="0">
                <a:latin typeface="Times New Roman"/>
                <a:cs typeface="Times New Roman"/>
              </a:rPr>
              <a:t>s</a:t>
            </a:r>
            <a:r>
              <a:rPr sz="3400" spc="50" dirty="0">
                <a:latin typeface="Cambria"/>
                <a:cs typeface="Cambria"/>
              </a:rPr>
              <a:t>,</a:t>
            </a:r>
            <a:r>
              <a:rPr sz="3400" spc="-185" dirty="0">
                <a:latin typeface="Cambria"/>
                <a:cs typeface="Cambria"/>
              </a:rPr>
              <a:t> </a:t>
            </a:r>
            <a:r>
              <a:rPr sz="3400" i="1" spc="-25" dirty="0">
                <a:latin typeface="Times New Roman"/>
                <a:cs typeface="Times New Roman"/>
              </a:rPr>
              <a:t>a</a:t>
            </a:r>
            <a:r>
              <a:rPr sz="3400" spc="-25" dirty="0">
                <a:latin typeface="Cambria"/>
                <a:cs typeface="Cambria"/>
              </a:rPr>
              <a:t>)</a:t>
            </a:r>
            <a:endParaRPr sz="3400">
              <a:latin typeface="Cambria"/>
              <a:cs typeface="Cambria"/>
            </a:endParaRPr>
          </a:p>
        </p:txBody>
      </p:sp>
      <p:sp>
        <p:nvSpPr>
          <p:cNvPr id="7" name="Date Placeholder 3">
            <a:extLst>
              <a:ext uri="{FF2B5EF4-FFF2-40B4-BE49-F238E27FC236}">
                <a16:creationId xmlns:a16="http://schemas.microsoft.com/office/drawing/2014/main" id="{8EE321EA-E09E-64D0-3C14-D6A9C02ED3B9}"/>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ED79F206-AD90-00E9-3172-00933CF5AE97}"/>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8E0B8395-3B40-1FEA-1E35-58F1ABC4B99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5828" y="2581821"/>
            <a:ext cx="7623605" cy="2605077"/>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304800">
              <a:lnSpc>
                <a:spcPct val="100000"/>
              </a:lnSpc>
              <a:spcBef>
                <a:spcPts val="100"/>
              </a:spcBef>
            </a:pPr>
            <a:r>
              <a:rPr spc="-75" dirty="0"/>
              <a:t>Q-</a:t>
            </a:r>
            <a:r>
              <a:rPr spc="-100" dirty="0"/>
              <a:t>Learning</a:t>
            </a:r>
            <a:r>
              <a:rPr spc="-260" dirty="0"/>
              <a:t> </a:t>
            </a:r>
            <a:r>
              <a:rPr dirty="0"/>
              <a:t>Algorithm</a:t>
            </a:r>
            <a:r>
              <a:rPr spc="-100" dirty="0"/>
              <a:t> </a:t>
            </a:r>
            <a:r>
              <a:rPr dirty="0"/>
              <a:t>for</a:t>
            </a:r>
            <a:r>
              <a:rPr spc="-55" dirty="0"/>
              <a:t> </a:t>
            </a:r>
            <a:r>
              <a:rPr spc="-60" dirty="0"/>
              <a:t>Off-</a:t>
            </a:r>
            <a:r>
              <a:rPr spc="-25" dirty="0"/>
              <a:t>Policy</a:t>
            </a:r>
            <a:r>
              <a:rPr spc="-85" dirty="0"/>
              <a:t> </a:t>
            </a:r>
            <a:r>
              <a:rPr spc="-10" dirty="0"/>
              <a:t>Control</a:t>
            </a:r>
          </a:p>
        </p:txBody>
      </p:sp>
      <p:sp>
        <p:nvSpPr>
          <p:cNvPr id="4" name="Date Placeholder 3">
            <a:extLst>
              <a:ext uri="{FF2B5EF4-FFF2-40B4-BE49-F238E27FC236}">
                <a16:creationId xmlns:a16="http://schemas.microsoft.com/office/drawing/2014/main" id="{C860C4CD-5739-7DB7-5375-DA4801969B4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9A20C9E-CE9A-1E84-7054-AE995C9E1B7D}"/>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B984F540-9FCE-9426-6818-9F9A5351B672}"/>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372" y="307237"/>
            <a:ext cx="4647565" cy="412934"/>
          </a:xfrm>
          <a:prstGeom prst="rect">
            <a:avLst/>
          </a:prstGeom>
        </p:spPr>
        <p:txBody>
          <a:bodyPr vert="horz" wrap="square" lIns="0" tIns="12700" rIns="0" bIns="0" rtlCol="0">
            <a:spAutoFit/>
          </a:bodyPr>
          <a:lstStyle/>
          <a:p>
            <a:pPr marL="12700">
              <a:lnSpc>
                <a:spcPct val="100000"/>
              </a:lnSpc>
              <a:spcBef>
                <a:spcPts val="100"/>
              </a:spcBef>
            </a:pPr>
            <a:r>
              <a:rPr spc="-80" dirty="0"/>
              <a:t>Relationship</a:t>
            </a:r>
            <a:r>
              <a:rPr spc="-100" dirty="0"/>
              <a:t> </a:t>
            </a:r>
            <a:r>
              <a:rPr spc="-110" dirty="0"/>
              <a:t>Between</a:t>
            </a:r>
            <a:r>
              <a:rPr spc="-130" dirty="0"/>
              <a:t> </a:t>
            </a:r>
            <a:r>
              <a:rPr dirty="0"/>
              <a:t>DP</a:t>
            </a:r>
            <a:r>
              <a:rPr spc="-50" dirty="0"/>
              <a:t> </a:t>
            </a:r>
            <a:r>
              <a:rPr spc="-55" dirty="0"/>
              <a:t>and</a:t>
            </a:r>
            <a:r>
              <a:rPr spc="-125" dirty="0"/>
              <a:t> </a:t>
            </a:r>
            <a:r>
              <a:rPr spc="-25" dirty="0"/>
              <a:t>TD</a:t>
            </a:r>
            <a:endParaRPr sz="2400" spc="-25" dirty="0"/>
          </a:p>
        </p:txBody>
      </p:sp>
      <p:sp>
        <p:nvSpPr>
          <p:cNvPr id="3" name="object 3"/>
          <p:cNvSpPr/>
          <p:nvPr/>
        </p:nvSpPr>
        <p:spPr>
          <a:xfrm>
            <a:off x="12700" y="1244599"/>
            <a:ext cx="9131300" cy="4805045"/>
          </a:xfrm>
          <a:custGeom>
            <a:avLst/>
            <a:gdLst/>
            <a:ahLst/>
            <a:cxnLst/>
            <a:rect l="l" t="t" r="r" b="b"/>
            <a:pathLst>
              <a:path w="9131300" h="4805045">
                <a:moveTo>
                  <a:pt x="9131300" y="0"/>
                </a:moveTo>
                <a:lnTo>
                  <a:pt x="5066487" y="0"/>
                </a:lnTo>
                <a:lnTo>
                  <a:pt x="3495395" y="0"/>
                </a:lnTo>
                <a:lnTo>
                  <a:pt x="2053336" y="0"/>
                </a:lnTo>
                <a:lnTo>
                  <a:pt x="0" y="0"/>
                </a:lnTo>
                <a:lnTo>
                  <a:pt x="0" y="499465"/>
                </a:lnTo>
                <a:lnTo>
                  <a:pt x="0" y="1880425"/>
                </a:lnTo>
                <a:lnTo>
                  <a:pt x="0" y="3214332"/>
                </a:lnTo>
                <a:lnTo>
                  <a:pt x="0" y="4804575"/>
                </a:lnTo>
                <a:lnTo>
                  <a:pt x="2053336" y="4804575"/>
                </a:lnTo>
                <a:lnTo>
                  <a:pt x="3495395" y="4804575"/>
                </a:lnTo>
                <a:lnTo>
                  <a:pt x="5066487" y="4804575"/>
                </a:lnTo>
                <a:lnTo>
                  <a:pt x="9131300" y="4804575"/>
                </a:lnTo>
                <a:lnTo>
                  <a:pt x="9131300" y="3214332"/>
                </a:lnTo>
                <a:lnTo>
                  <a:pt x="9131300" y="1880425"/>
                </a:lnTo>
                <a:lnTo>
                  <a:pt x="9131300" y="499465"/>
                </a:lnTo>
                <a:lnTo>
                  <a:pt x="9131300" y="0"/>
                </a:lnTo>
                <a:close/>
              </a:path>
            </a:pathLst>
          </a:custGeom>
          <a:solidFill>
            <a:srgbClr val="FFFFFF"/>
          </a:solidFill>
        </p:spPr>
        <p:txBody>
          <a:bodyPr wrap="square" lIns="0" tIns="0" rIns="0" bIns="0" rtlCol="0"/>
          <a:lstStyle/>
          <a:p>
            <a:endParaRPr/>
          </a:p>
        </p:txBody>
      </p:sp>
      <mc:AlternateContent xmlns:mc="http://schemas.openxmlformats.org/markup-compatibility/2006" xmlns:a14="http://schemas.microsoft.com/office/drawing/2010/main">
        <mc:Choice Requires="a14">
          <p:graphicFrame>
            <p:nvGraphicFramePr>
              <p:cNvPr id="4" name="object 4"/>
              <p:cNvGraphicFramePr>
                <a:graphicFrameLocks noGrp="1"/>
              </p:cNvGraphicFramePr>
              <p:nvPr>
                <p:extLst>
                  <p:ext uri="{D42A27DB-BD31-4B8C-83A1-F6EECF244321}">
                    <p14:modId xmlns:p14="http://schemas.microsoft.com/office/powerpoint/2010/main" val="2578356502"/>
                  </p:ext>
                </p:extLst>
              </p:nvPr>
            </p:nvGraphicFramePr>
            <p:xfrm>
              <a:off x="0" y="1238250"/>
              <a:ext cx="9143998" cy="4815839"/>
            </p:xfrm>
            <a:graphic>
              <a:graphicData uri="http://schemas.openxmlformats.org/drawingml/2006/table">
                <a:tbl>
                  <a:tblPr firstRow="1" bandRow="1">
                    <a:tableStyleId>{2D5ABB26-0587-4C30-8999-92F81FD0307C}</a:tableStyleId>
                  </a:tblPr>
                  <a:tblGrid>
                    <a:gridCol w="2066289">
                      <a:extLst>
                        <a:ext uri="{9D8B030D-6E8A-4147-A177-3AD203B41FA5}">
                          <a16:colId xmlns:a16="http://schemas.microsoft.com/office/drawing/2014/main" val="20000"/>
                        </a:ext>
                      </a:extLst>
                    </a:gridCol>
                    <a:gridCol w="1442085">
                      <a:extLst>
                        <a:ext uri="{9D8B030D-6E8A-4147-A177-3AD203B41FA5}">
                          <a16:colId xmlns:a16="http://schemas.microsoft.com/office/drawing/2014/main" val="20001"/>
                        </a:ext>
                      </a:extLst>
                    </a:gridCol>
                    <a:gridCol w="1570989">
                      <a:extLst>
                        <a:ext uri="{9D8B030D-6E8A-4147-A177-3AD203B41FA5}">
                          <a16:colId xmlns:a16="http://schemas.microsoft.com/office/drawing/2014/main" val="20002"/>
                        </a:ext>
                      </a:extLst>
                    </a:gridCol>
                    <a:gridCol w="4064635">
                      <a:extLst>
                        <a:ext uri="{9D8B030D-6E8A-4147-A177-3AD203B41FA5}">
                          <a16:colId xmlns:a16="http://schemas.microsoft.com/office/drawing/2014/main" val="20005"/>
                        </a:ext>
                      </a:extLst>
                    </a:gridCol>
                  </a:tblGrid>
                  <a:tr h="505459">
                    <a:tc>
                      <a:txBody>
                        <a:bodyPr/>
                        <a:lstStyle/>
                        <a:p>
                          <a:pPr>
                            <a:lnSpc>
                              <a:spcPct val="100000"/>
                            </a:lnSpc>
                          </a:pPr>
                          <a:endParaRPr sz="1600">
                            <a:latin typeface="Times New Roman"/>
                            <a:cs typeface="Times New Roman"/>
                          </a:endParaRPr>
                        </a:p>
                      </a:txBody>
                      <a:tcPr marL="0" marR="0" marT="0" marB="0">
                        <a:lnR w="3175">
                          <a:solidFill>
                            <a:srgbClr val="BFBFBF"/>
                          </a:solidFill>
                          <a:prstDash val="solid"/>
                        </a:lnR>
                        <a:lnB w="3175">
                          <a:solidFill>
                            <a:srgbClr val="BFBFBF"/>
                          </a:solidFill>
                          <a:prstDash val="solid"/>
                        </a:lnB>
                        <a:solidFill>
                          <a:srgbClr val="FFFFFF"/>
                        </a:solidFill>
                      </a:tcPr>
                    </a:tc>
                    <a:tc>
                      <a:txBody>
                        <a:bodyPr/>
                        <a:lstStyle/>
                        <a:p>
                          <a:pPr algn="ctr">
                            <a:lnSpc>
                              <a:spcPct val="100000"/>
                            </a:lnSpc>
                            <a:spcBef>
                              <a:spcPts val="285"/>
                            </a:spcBef>
                          </a:pPr>
                          <a:r>
                            <a:rPr sz="1400" i="1" spc="-75" dirty="0">
                              <a:latin typeface="Arial"/>
                              <a:cs typeface="Arial"/>
                            </a:rPr>
                            <a:t>Full </a:t>
                          </a:r>
                          <a:r>
                            <a:rPr sz="1400" i="1" spc="-45" dirty="0">
                              <a:latin typeface="Arial"/>
                              <a:cs typeface="Arial"/>
                            </a:rPr>
                            <a:t>Backup</a:t>
                          </a:r>
                          <a:r>
                            <a:rPr sz="1400" i="1" spc="-5" dirty="0">
                              <a:latin typeface="Arial"/>
                              <a:cs typeface="Arial"/>
                            </a:rPr>
                            <a:t> </a:t>
                          </a:r>
                          <a:r>
                            <a:rPr sz="1400" i="1" spc="-20" dirty="0">
                              <a:latin typeface="Arial"/>
                              <a:cs typeface="Arial"/>
                            </a:rPr>
                            <a:t>(DP)</a:t>
                          </a:r>
                          <a:endParaRPr sz="1400">
                            <a:latin typeface="Arial"/>
                            <a:cs typeface="Arial"/>
                          </a:endParaRPr>
                        </a:p>
                      </a:txBody>
                      <a:tcPr marL="0" marR="0" marT="36195"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pPr marL="616585" marR="205740" indent="-400050">
                            <a:lnSpc>
                              <a:spcPts val="1989"/>
                            </a:lnSpc>
                          </a:pPr>
                          <a:r>
                            <a:rPr sz="1400" i="1" spc="-85" dirty="0">
                              <a:latin typeface="Arial"/>
                              <a:cs typeface="Arial"/>
                            </a:rPr>
                            <a:t>Sample</a:t>
                          </a:r>
                          <a:r>
                            <a:rPr sz="1400" i="1" spc="-45" dirty="0">
                              <a:latin typeface="Arial"/>
                              <a:cs typeface="Arial"/>
                            </a:rPr>
                            <a:t> </a:t>
                          </a:r>
                          <a:r>
                            <a:rPr sz="1400" i="1" spc="-60" dirty="0">
                              <a:latin typeface="Arial"/>
                              <a:cs typeface="Arial"/>
                            </a:rPr>
                            <a:t>Backup </a:t>
                          </a:r>
                          <a:r>
                            <a:rPr sz="1400" i="1" spc="-20" dirty="0">
                              <a:latin typeface="Arial"/>
                              <a:cs typeface="Arial"/>
                            </a:rPr>
                            <a:t>(TD)</a:t>
                          </a:r>
                          <a:endParaRPr sz="1400">
                            <a:latin typeface="Arial"/>
                            <a:cs typeface="Arial"/>
                          </a:endParaRPr>
                        </a:p>
                      </a:txBody>
                      <a:tcPr marL="0" marR="0" marT="0"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pPr marL="1905" algn="ctr">
                            <a:lnSpc>
                              <a:spcPts val="2050"/>
                            </a:lnSpc>
                          </a:pPr>
                          <a:r>
                            <a:rPr sz="1800" i="1" spc="-10" dirty="0">
                              <a:latin typeface="Arial"/>
                              <a:cs typeface="Arial"/>
                            </a:rPr>
                            <a:t>Update</a:t>
                          </a:r>
                          <a:endParaRPr sz="1800" dirty="0">
                            <a:latin typeface="Arial"/>
                            <a:cs typeface="Arial"/>
                          </a:endParaRPr>
                        </a:p>
                      </a:txBody>
                      <a:tcPr marL="0" marR="0" marT="0" marB="0" anchor="ctr">
                        <a:lnL w="3175" cap="flat" cmpd="sng" algn="ctr">
                          <a:solidFill>
                            <a:srgbClr val="BFBFBF"/>
                          </a:solidFill>
                          <a:prstDash val="solid"/>
                          <a:round/>
                          <a:headEnd type="none" w="med" len="med"/>
                          <a:tailEnd type="none" w="med" len="med"/>
                        </a:lnL>
                        <a:lnB w="317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80490">
                    <a:tc>
                      <a:txBody>
                        <a:bodyPr/>
                        <a:lstStyle/>
                        <a:p>
                          <a:pPr>
                            <a:lnSpc>
                              <a:spcPct val="100000"/>
                            </a:lnSpc>
                          </a:pPr>
                          <a:endParaRPr lang="en-US" sz="1900" dirty="0">
                            <a:latin typeface="Times New Roman"/>
                            <a:cs typeface="Times New Roman"/>
                          </a:endParaRPr>
                        </a:p>
                        <a:p>
                          <a:pPr marL="120014" marR="205740">
                            <a:lnSpc>
                              <a:spcPct val="100000"/>
                            </a:lnSpc>
                            <a:spcBef>
                              <a:spcPts val="1135"/>
                            </a:spcBef>
                          </a:pPr>
                          <a:r>
                            <a:rPr lang="en-US" sz="1600" spc="-40" dirty="0">
                              <a:latin typeface="Arial"/>
                              <a:cs typeface="Arial"/>
                            </a:rPr>
                            <a:t>Bellman</a:t>
                          </a:r>
                          <a:r>
                            <a:rPr lang="en-US" sz="1600" spc="-50" dirty="0">
                              <a:latin typeface="Arial"/>
                              <a:cs typeface="Arial"/>
                            </a:rPr>
                            <a:t> </a:t>
                          </a:r>
                          <a:r>
                            <a:rPr lang="en-US" sz="1600" spc="-65" dirty="0">
                              <a:latin typeface="Arial"/>
                              <a:cs typeface="Arial"/>
                            </a:rPr>
                            <a:t>Expectation </a:t>
                          </a:r>
                          <a:r>
                            <a:rPr lang="en-US" sz="1600" spc="-45" dirty="0">
                              <a:latin typeface="Arial"/>
                              <a:cs typeface="Arial"/>
                            </a:rPr>
                            <a:t>Equation</a:t>
                          </a:r>
                          <a:r>
                            <a:rPr lang="en-US" sz="1600" spc="-60" dirty="0">
                              <a:latin typeface="Arial"/>
                              <a:cs typeface="Arial"/>
                            </a:rPr>
                            <a:t> </a:t>
                          </a:r>
                          <a:r>
                            <a:rPr lang="en-US" sz="1600" dirty="0">
                              <a:latin typeface="Arial"/>
                              <a:cs typeface="Arial"/>
                            </a:rPr>
                            <a:t>for</a:t>
                          </a:r>
                          <a:r>
                            <a:rPr lang="en-US" sz="1600" spc="20" dirty="0">
                              <a:latin typeface="Arial"/>
                              <a:cs typeface="Arial"/>
                            </a:rPr>
                            <a:t> </a:t>
                          </a:r>
                          <a14:m>
                            <m:oMath xmlns:m="http://schemas.openxmlformats.org/officeDocument/2006/math">
                              <m:sSub>
                                <m:sSubPr>
                                  <m:ctrlPr>
                                    <a:rPr lang="en-US" sz="1600" b="0" i="1" spc="-20" dirty="0" smtClean="0">
                                      <a:latin typeface="Cambria Math" panose="02040503050406030204" pitchFamily="18" charset="0"/>
                                      <a:cs typeface="Arial"/>
                                    </a:rPr>
                                  </m:ctrlPr>
                                </m:sSubPr>
                                <m:e>
                                  <m:r>
                                    <a:rPr lang="en-US" sz="1600" i="1" spc="-20" dirty="0" smtClean="0">
                                      <a:latin typeface="Cambria Math" panose="02040503050406030204" pitchFamily="18" charset="0"/>
                                      <a:cs typeface="Arial"/>
                                    </a:rPr>
                                    <m:t>𝑣</m:t>
                                  </m:r>
                                </m:e>
                                <m:sub>
                                  <m:r>
                                    <a:rPr lang="en-US" sz="1575" i="1" spc="-30" baseline="-10582" dirty="0" smtClean="0">
                                      <a:latin typeface="Cambria Math" panose="02040503050406030204" pitchFamily="18" charset="0"/>
                                      <a:cs typeface="Arial"/>
                                    </a:rPr>
                                    <m:t>𝜋</m:t>
                                  </m:r>
                                </m:sub>
                              </m:sSub>
                              <m:r>
                                <a:rPr lang="en-US" sz="1600" i="1" spc="-20" dirty="0" smtClean="0">
                                  <a:latin typeface="Cambria Math" panose="02040503050406030204" pitchFamily="18" charset="0"/>
                                  <a:cs typeface="Arial"/>
                                </a:rPr>
                                <m:t>(</m:t>
                              </m:r>
                              <m:r>
                                <a:rPr lang="en-US" sz="1600" i="1" spc="-20" dirty="0" smtClean="0">
                                  <a:latin typeface="Cambria Math" panose="02040503050406030204" pitchFamily="18" charset="0"/>
                                  <a:cs typeface="Arial"/>
                                </a:rPr>
                                <m:t>𝑠</m:t>
                              </m:r>
                              <m:r>
                                <a:rPr lang="en-US" sz="1600" i="1" spc="-20" dirty="0" smtClean="0">
                                  <a:latin typeface="Cambria Math" panose="02040503050406030204" pitchFamily="18" charset="0"/>
                                  <a:cs typeface="Arial"/>
                                </a:rPr>
                                <m:t>)</m:t>
                              </m:r>
                            </m:oMath>
                          </a14:m>
                          <a:endParaRPr sz="1600" dirty="0">
                            <a:latin typeface="Arial"/>
                            <a:cs typeface="Arial"/>
                          </a:endParaRPr>
                        </a:p>
                      </a:txBody>
                      <a:tcPr marL="0" marR="0" marT="0" marB="0">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gn="ctr">
                            <a:lnSpc>
                              <a:spcPct val="100000"/>
                            </a:lnSpc>
                          </a:pPr>
                          <a:endParaRPr sz="1500" dirty="0">
                            <a:latin typeface="Times New Roman"/>
                            <a:cs typeface="Times New Roman"/>
                          </a:endParaRPr>
                        </a:p>
                        <a:p>
                          <a:pPr algn="ctr">
                            <a:lnSpc>
                              <a:spcPct val="100000"/>
                            </a:lnSpc>
                            <a:spcBef>
                              <a:spcPts val="1345"/>
                            </a:spcBef>
                          </a:pPr>
                          <a:r>
                            <a:rPr sz="1400" dirty="0">
                              <a:latin typeface="Arial"/>
                              <a:cs typeface="Arial"/>
                            </a:rPr>
                            <a:t>Policy </a:t>
                          </a:r>
                          <a:r>
                            <a:rPr sz="1400" spc="-10" dirty="0">
                              <a:latin typeface="Arial"/>
                              <a:cs typeface="Arial"/>
                            </a:rPr>
                            <a:t>Evaluation</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gn="ctr">
                            <a:lnSpc>
                              <a:spcPct val="100000"/>
                            </a:lnSpc>
                          </a:pPr>
                          <a:endParaRPr lang="en-US" sz="1500" dirty="0">
                            <a:latin typeface="Times New Roman"/>
                            <a:cs typeface="Times New Roman"/>
                          </a:endParaRPr>
                        </a:p>
                        <a:p>
                          <a:pPr marL="53975" algn="ctr">
                            <a:lnSpc>
                              <a:spcPct val="100000"/>
                            </a:lnSpc>
                            <a:spcBef>
                              <a:spcPts val="1345"/>
                            </a:spcBef>
                          </a:pPr>
                          <a:r>
                            <a:rPr lang="en-US" sz="1400" spc="-25" dirty="0">
                              <a:latin typeface="Arial"/>
                              <a:cs typeface="Arial"/>
                            </a:rPr>
                            <a:t>TD </a:t>
                          </a:r>
                          <a:r>
                            <a:rPr sz="1400" spc="-10" dirty="0">
                              <a:latin typeface="Arial"/>
                              <a:cs typeface="Arial"/>
                            </a:rPr>
                            <a:t>Learning</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nSpc>
                              <a:spcPct val="100000"/>
                            </a:lnSpc>
                            <a:spcBef>
                              <a:spcPts val="55"/>
                            </a:spcBef>
                          </a:pPr>
                          <a:endParaRPr sz="3000" dirty="0">
                            <a:latin typeface="Times New Roman"/>
                            <a:cs typeface="Times New Roman"/>
                          </a:endParaRPr>
                        </a:p>
                        <a:p>
                          <a:pPr marL="499109">
                            <a:lnSpc>
                              <a:spcPts val="1380"/>
                            </a:lnSpc>
                            <a:tabLst>
                              <a:tab pos="1196340" algn="l"/>
                              <a:tab pos="1470025" algn="l"/>
                            </a:tabLst>
                          </a:pPr>
                          <a:r>
                            <a:rPr sz="2300" i="1" spc="-20" dirty="0">
                              <a:latin typeface="Times New Roman"/>
                              <a:cs typeface="Times New Roman"/>
                            </a:rPr>
                            <a:t>V</a:t>
                          </a:r>
                          <a:r>
                            <a:rPr sz="2300" spc="-20" dirty="0">
                              <a:latin typeface="Cambria"/>
                              <a:cs typeface="Cambria"/>
                            </a:rPr>
                            <a:t>(</a:t>
                          </a:r>
                          <a:r>
                            <a:rPr sz="2300" i="1" spc="-20" dirty="0">
                              <a:latin typeface="Times New Roman"/>
                              <a:cs typeface="Times New Roman"/>
                            </a:rPr>
                            <a:t>S</a:t>
                          </a:r>
                          <a:r>
                            <a:rPr sz="2300" spc="-20" dirty="0">
                              <a:latin typeface="Cambria"/>
                              <a:cs typeface="Cambria"/>
                            </a:rPr>
                            <a:t>)</a:t>
                          </a:r>
                          <a:r>
                            <a:rPr lang="en-US" sz="2400" spc="-25" dirty="0"/>
                            <a:t>  </a:t>
                          </a:r>
                          <a14:m>
                            <m:oMath xmlns:m="http://schemas.openxmlformats.org/officeDocument/2006/math">
                              <m:groupChr>
                                <m:groupChrPr>
                                  <m:chr m:val="←"/>
                                  <m:vertJc m:val="bot"/>
                                  <m:ctrlPr>
                                    <a:rPr lang="en-US" sz="2400" i="1" spc="-25" smtClean="0">
                                      <a:latin typeface="Cambria Math" panose="02040503050406030204" pitchFamily="18" charset="0"/>
                                    </a:rPr>
                                  </m:ctrlPr>
                                </m:groupChrPr>
                                <m:e>
                                  <m:r>
                                    <m:rPr>
                                      <m:nor/>
                                    </m:rPr>
                                    <a:rPr lang="el-GR" sz="2400" i="1" spc="-75" dirty="0"/>
                                    <m:t>α</m:t>
                                  </m:r>
                                </m:e>
                              </m:groupChr>
                            </m:oMath>
                          </a14:m>
                          <a:r>
                            <a:rPr lang="en-US" sz="2300" i="1" dirty="0">
                              <a:latin typeface="Times New Roman"/>
                              <a:cs typeface="Times New Roman"/>
                            </a:rPr>
                            <a:t> </a:t>
                          </a:r>
                          <a:r>
                            <a:rPr sz="2300" i="1" dirty="0">
                              <a:latin typeface="Times New Roman"/>
                              <a:cs typeface="Times New Roman"/>
                            </a:rPr>
                            <a:t>R</a:t>
                          </a:r>
                          <a:r>
                            <a:rPr sz="2300" i="1" spc="-65" dirty="0">
                              <a:latin typeface="Times New Roman"/>
                              <a:cs typeface="Times New Roman"/>
                            </a:rPr>
                            <a:t> </a:t>
                          </a:r>
                          <a:r>
                            <a:rPr sz="2300" spc="290" dirty="0">
                              <a:latin typeface="Cambria"/>
                              <a:cs typeface="Cambria"/>
                            </a:rPr>
                            <a:t>+</a:t>
                          </a:r>
                          <a:r>
                            <a:rPr sz="2300" spc="5" dirty="0">
                              <a:latin typeface="Cambria"/>
                              <a:cs typeface="Cambria"/>
                            </a:rPr>
                            <a:t> </a:t>
                          </a:r>
                          <a14:m>
                            <m:oMath xmlns:m="http://schemas.openxmlformats.org/officeDocument/2006/math">
                              <m:r>
                                <a:rPr lang="en-US" sz="2300" i="1" spc="-215" dirty="0" smtClean="0">
                                  <a:latin typeface="Cambria Math" panose="02040503050406030204" pitchFamily="18" charset="0"/>
                                  <a:cs typeface="Arial"/>
                                </a:rPr>
                                <m:t>𝛾</m:t>
                              </m:r>
                            </m:oMath>
                          </a14:m>
                          <a:r>
                            <a:rPr sz="2300" i="1" spc="-250" dirty="0">
                              <a:latin typeface="Arial"/>
                              <a:cs typeface="Arial"/>
                            </a:rPr>
                            <a:t> </a:t>
                          </a:r>
                          <a:r>
                            <a:rPr sz="2300" i="1" spc="-20" dirty="0">
                              <a:latin typeface="Times New Roman"/>
                              <a:cs typeface="Times New Roman"/>
                            </a:rPr>
                            <a:t>V</a:t>
                          </a:r>
                          <a:r>
                            <a:rPr sz="2300" spc="-20" dirty="0">
                              <a:latin typeface="Cambria"/>
                              <a:cs typeface="Cambria"/>
                            </a:rPr>
                            <a:t>(</a:t>
                          </a:r>
                          <a:r>
                            <a:rPr sz="2300" i="1" spc="-20" dirty="0">
                              <a:latin typeface="Times New Roman"/>
                              <a:cs typeface="Times New Roman"/>
                            </a:rPr>
                            <a:t>S</a:t>
                          </a:r>
                          <a:r>
                            <a:rPr sz="2300" spc="-20" dirty="0">
                              <a:latin typeface="Cambria"/>
                              <a:cs typeface="Cambria"/>
                            </a:rPr>
                            <a:t>′)</a:t>
                          </a:r>
                          <a:endParaRPr sz="2300" dirty="0">
                            <a:latin typeface="Cambria"/>
                            <a:cs typeface="Cambria"/>
                          </a:endParaRPr>
                        </a:p>
                      </a:txBody>
                      <a:tcPr marL="0" marR="0" marT="6985"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2130">
                    <a:tc>
                      <a:txBody>
                        <a:bodyPr/>
                        <a:lstStyle/>
                        <a:p>
                          <a:pPr>
                            <a:lnSpc>
                              <a:spcPct val="100000"/>
                            </a:lnSpc>
                          </a:pPr>
                          <a:endParaRPr sz="1600">
                            <a:latin typeface="Times New Roman"/>
                            <a:cs typeface="Times New Roman"/>
                          </a:endParaRPr>
                        </a:p>
                      </a:txBody>
                      <a:tcPr marL="0" marR="0" marT="0" marB="0">
                        <a:lnR w="3175">
                          <a:solidFill>
                            <a:srgbClr val="BFBFBF"/>
                          </a:solidFill>
                          <a:prstDash val="solid"/>
                        </a:lnR>
                        <a:lnT w="3175">
                          <a:solidFill>
                            <a:srgbClr val="BFBFBF"/>
                          </a:solidFill>
                          <a:prstDash val="solid"/>
                        </a:lnT>
                        <a:solidFill>
                          <a:srgbClr val="FFFFFF"/>
                        </a:solidFill>
                      </a:tcPr>
                    </a:tc>
                    <a:tc rowSpan="2">
                      <a:txBody>
                        <a:bodyPr/>
                        <a:lstStyle/>
                        <a:p>
                          <a:pPr marL="109220" algn="ctr">
                            <a:lnSpc>
                              <a:spcPts val="110"/>
                            </a:lnSpc>
                          </a:pPr>
                          <a:r>
                            <a:rPr sz="100" spc="-25" dirty="0">
                              <a:latin typeface="Times New Roman"/>
                              <a:cs typeface="Times New Roman"/>
                            </a:rPr>
                            <a:t>,A</a:t>
                          </a:r>
                          <a:endParaRPr sz="100" dirty="0">
                            <a:latin typeface="Times New Roman"/>
                            <a:cs typeface="Times New Roman"/>
                          </a:endParaRPr>
                        </a:p>
                        <a:p>
                          <a:pPr marL="171450" algn="ctr">
                            <a:lnSpc>
                              <a:spcPts val="110"/>
                            </a:lnSpc>
                          </a:pPr>
                          <a:r>
                            <a:rPr sz="100" dirty="0">
                              <a:latin typeface="Times New Roman"/>
                              <a:cs typeface="Times New Roman"/>
                            </a:rPr>
                            <a:t>R</a:t>
                          </a:r>
                          <a:r>
                            <a:rPr sz="100" spc="150" dirty="0">
                              <a:latin typeface="Times New Roman"/>
                              <a:cs typeface="Times New Roman"/>
                            </a:rPr>
                            <a:t> </a:t>
                          </a:r>
                          <a:r>
                            <a:rPr sz="100" spc="-25" dirty="0">
                              <a:latin typeface="Times New Roman"/>
                              <a:cs typeface="Times New Roman"/>
                            </a:rPr>
                            <a:t>S’</a:t>
                          </a: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spcBef>
                              <a:spcPts val="20"/>
                            </a:spcBef>
                          </a:pPr>
                          <a:endParaRPr sz="100" dirty="0">
                            <a:latin typeface="Times New Roman"/>
                            <a:cs typeface="Times New Roman"/>
                          </a:endParaRPr>
                        </a:p>
                        <a:p>
                          <a:pPr marL="107950" algn="ctr">
                            <a:lnSpc>
                              <a:spcPts val="100"/>
                            </a:lnSpc>
                          </a:pPr>
                          <a:r>
                            <a:rPr sz="100" spc="-25" dirty="0">
                              <a:latin typeface="Times New Roman"/>
                              <a:cs typeface="Times New Roman"/>
                            </a:rPr>
                            <a:t>A’</a:t>
                          </a:r>
                          <a:endParaRPr sz="100" dirty="0">
                            <a:latin typeface="Times New Roman"/>
                            <a:cs typeface="Times New Roman"/>
                          </a:endParaRPr>
                        </a:p>
                        <a:p>
                          <a:pPr marL="151765" algn="ctr">
                            <a:lnSpc>
                              <a:spcPts val="1660"/>
                            </a:lnSpc>
                          </a:pPr>
                          <a:r>
                            <a:rPr sz="1400" spc="-10" dirty="0">
                              <a:latin typeface="Arial"/>
                              <a:cs typeface="Arial"/>
                            </a:rPr>
                            <a:t>Policy</a:t>
                          </a:r>
                          <a:r>
                            <a:rPr sz="1400" spc="-45" dirty="0">
                              <a:latin typeface="Arial"/>
                              <a:cs typeface="Arial"/>
                            </a:rPr>
                            <a:t> </a:t>
                          </a:r>
                          <a:r>
                            <a:rPr sz="1400" spc="-10" dirty="0">
                              <a:latin typeface="Arial"/>
                              <a:cs typeface="Arial"/>
                            </a:rPr>
                            <a:t>Iteration</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rowSpan="2">
                      <a:txBody>
                        <a:bodyPr/>
                        <a:lstStyle/>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87020" algn="ctr">
                            <a:lnSpc>
                              <a:spcPct val="100000"/>
                            </a:lnSpc>
                          </a:pPr>
                          <a:r>
                            <a:rPr sz="100" spc="-25" dirty="0">
                              <a:latin typeface="Times New Roman"/>
                              <a:cs typeface="Times New Roman"/>
                            </a:rPr>
                            <a:t>S,A</a:t>
                          </a: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90195" algn="ctr">
                            <a:lnSpc>
                              <a:spcPts val="100"/>
                            </a:lnSpc>
                            <a:spcBef>
                              <a:spcPts val="75"/>
                            </a:spcBef>
                          </a:pPr>
                          <a:r>
                            <a:rPr sz="100" spc="-25" dirty="0">
                              <a:latin typeface="Times New Roman"/>
                              <a:cs typeface="Times New Roman"/>
                            </a:rPr>
                            <a:t>A’</a:t>
                          </a:r>
                          <a:endParaRPr sz="100" dirty="0">
                            <a:latin typeface="Times New Roman"/>
                            <a:cs typeface="Times New Roman"/>
                          </a:endParaRPr>
                        </a:p>
                        <a:p>
                          <a:pPr marL="12700" algn="ctr">
                            <a:lnSpc>
                              <a:spcPts val="1660"/>
                            </a:lnSpc>
                          </a:pPr>
                          <a:r>
                            <a:rPr sz="1400" spc="-10" dirty="0">
                              <a:latin typeface="Arial"/>
                              <a:cs typeface="Arial"/>
                            </a:rPr>
                            <a:t>Sarsa</a:t>
                          </a:r>
                          <a:endParaRPr sz="1400" dirty="0">
                            <a:latin typeface="Arial"/>
                            <a:cs typeface="Arial"/>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nSpc>
                              <a:spcPct val="100000"/>
                            </a:lnSpc>
                          </a:pPr>
                          <a:endParaRPr sz="1600" dirty="0">
                            <a:latin typeface="Times New Roman"/>
                            <a:cs typeface="Times New Roman"/>
                          </a:endParaRPr>
                        </a:p>
                      </a:txBody>
                      <a:tcPr marL="0" marR="0" marT="0"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solidFill>
                          <a:srgbClr val="FFFFFF"/>
                        </a:solidFill>
                      </a:tcPr>
                    </a:tc>
                    <a:extLst>
                      <a:ext uri="{0D108BD9-81ED-4DB2-BD59-A6C34878D82A}">
                        <a16:rowId xmlns:a16="http://schemas.microsoft.com/office/drawing/2014/main" val="10002"/>
                      </a:ext>
                    </a:extLst>
                  </a:tr>
                  <a:tr h="801370">
                    <a:tc>
                      <a:txBody>
                        <a:bodyPr/>
                        <a:lstStyle/>
                        <a:p>
                          <a:pPr marL="120014" marR="194945">
                            <a:lnSpc>
                              <a:spcPct val="100000"/>
                            </a:lnSpc>
                            <a:spcBef>
                              <a:spcPts val="30"/>
                            </a:spcBef>
                          </a:pPr>
                          <a:r>
                            <a:rPr lang="en-US" sz="1600" spc="-40" dirty="0">
                              <a:latin typeface="Arial"/>
                              <a:cs typeface="Arial"/>
                            </a:rPr>
                            <a:t>Bellman</a:t>
                          </a:r>
                          <a:r>
                            <a:rPr lang="en-US" sz="1600" spc="-50" dirty="0">
                              <a:latin typeface="Arial"/>
                              <a:cs typeface="Arial"/>
                            </a:rPr>
                            <a:t> </a:t>
                          </a:r>
                          <a:r>
                            <a:rPr lang="en-US" sz="1600" spc="-60" dirty="0">
                              <a:latin typeface="Arial"/>
                              <a:cs typeface="Arial"/>
                            </a:rPr>
                            <a:t>Expectation </a:t>
                          </a:r>
                          <a:r>
                            <a:rPr lang="en-US" sz="1600" spc="-40" dirty="0">
                              <a:latin typeface="Arial"/>
                              <a:cs typeface="Arial"/>
                            </a:rPr>
                            <a:t>Equation</a:t>
                          </a:r>
                          <a:r>
                            <a:rPr lang="en-US" sz="1600" spc="-45" dirty="0">
                              <a:latin typeface="Arial"/>
                              <a:cs typeface="Arial"/>
                            </a:rPr>
                            <a:t> </a:t>
                          </a:r>
                          <a:r>
                            <a:rPr lang="en-US" sz="1600" dirty="0">
                              <a:latin typeface="Arial"/>
                              <a:cs typeface="Arial"/>
                            </a:rPr>
                            <a:t>for</a:t>
                          </a:r>
                          <a14:m>
                            <m:oMath xmlns:m="http://schemas.openxmlformats.org/officeDocument/2006/math">
                              <m:r>
                                <a:rPr lang="en-US" sz="1600" i="1" spc="50" dirty="0" smtClean="0">
                                  <a:latin typeface="Cambria Math" panose="02040503050406030204" pitchFamily="18" charset="0"/>
                                  <a:cs typeface="Arial"/>
                                </a:rPr>
                                <m:t> </m:t>
                              </m:r>
                              <m:sSub>
                                <m:sSubPr>
                                  <m:ctrlPr>
                                    <a:rPr lang="en-US" sz="1600" b="0" i="1" spc="-30" dirty="0" smtClean="0">
                                      <a:latin typeface="Cambria Math" panose="02040503050406030204" pitchFamily="18" charset="0"/>
                                      <a:cs typeface="Arial"/>
                                    </a:rPr>
                                  </m:ctrlPr>
                                </m:sSubPr>
                                <m:e>
                                  <m:r>
                                    <a:rPr lang="en-US" sz="1600" i="1" spc="-30" dirty="0">
                                      <a:latin typeface="Cambria Math" panose="02040503050406030204" pitchFamily="18" charset="0"/>
                                      <a:cs typeface="Arial"/>
                                    </a:rPr>
                                    <m:t>𝑞</m:t>
                                  </m:r>
                                </m:e>
                                <m:sub>
                                  <m:r>
                                    <a:rPr lang="en-US" sz="1575" i="1" spc="-44" baseline="-10582" dirty="0" smtClean="0">
                                      <a:latin typeface="Cambria Math" panose="02040503050406030204" pitchFamily="18" charset="0"/>
                                      <a:cs typeface="Arial"/>
                                    </a:rPr>
                                    <m:t>𝜋</m:t>
                                  </m:r>
                                </m:sub>
                              </m:sSub>
                              <m:r>
                                <a:rPr lang="en-US" sz="1600" i="1" spc="-30" dirty="0" smtClean="0">
                                  <a:latin typeface="Cambria Math" panose="02040503050406030204" pitchFamily="18" charset="0"/>
                                  <a:cs typeface="Arial"/>
                                </a:rPr>
                                <m:t>(</m:t>
                              </m:r>
                              <m:r>
                                <a:rPr lang="en-US" sz="1600" i="1" spc="-30" dirty="0" smtClean="0">
                                  <a:latin typeface="Cambria Math" panose="02040503050406030204" pitchFamily="18" charset="0"/>
                                  <a:cs typeface="Arial"/>
                                </a:rPr>
                                <m:t>𝑠</m:t>
                              </m:r>
                              <m:r>
                                <a:rPr lang="en-US" sz="1600" i="1" spc="-30" dirty="0">
                                  <a:latin typeface="Cambria Math" panose="02040503050406030204" pitchFamily="18" charset="0"/>
                                  <a:cs typeface="Times New Roman"/>
                                </a:rPr>
                                <m:t>,</m:t>
                              </m:r>
                              <m:r>
                                <a:rPr lang="en-US" sz="1600" i="1" spc="-140" dirty="0">
                                  <a:latin typeface="Cambria Math" panose="02040503050406030204" pitchFamily="18" charset="0"/>
                                  <a:cs typeface="Times New Roman"/>
                                </a:rPr>
                                <m:t> </m:t>
                              </m:r>
                              <m:r>
                                <a:rPr lang="en-US" sz="1600" i="1" spc="-25" dirty="0">
                                  <a:latin typeface="Cambria Math" panose="02040503050406030204" pitchFamily="18" charset="0"/>
                                  <a:cs typeface="Arial"/>
                                </a:rPr>
                                <m:t>𝑎</m:t>
                              </m:r>
                              <m:r>
                                <a:rPr lang="en-US" sz="1600" i="1" spc="-25" dirty="0">
                                  <a:latin typeface="Cambria Math" panose="02040503050406030204" pitchFamily="18" charset="0"/>
                                  <a:cs typeface="Arial"/>
                                </a:rPr>
                                <m:t>)</m:t>
                              </m:r>
                            </m:oMath>
                          </a14:m>
                          <a:endParaRPr sz="1600" dirty="0">
                            <a:latin typeface="Arial"/>
                            <a:cs typeface="Arial"/>
                          </a:endParaRPr>
                        </a:p>
                      </a:txBody>
                      <a:tcPr marL="0" marR="0" marT="3810" marB="0">
                        <a:lnR w="3175">
                          <a:solidFill>
                            <a:srgbClr val="BFBFBF"/>
                          </a:solidFill>
                          <a:prstDash val="solid"/>
                        </a:lnR>
                        <a:lnB w="3175">
                          <a:solidFill>
                            <a:srgbClr val="BFBFBF"/>
                          </a:solidFill>
                          <a:prstDash val="solid"/>
                        </a:lnB>
                        <a:solidFill>
                          <a:srgbClr val="FFFFFF"/>
                        </a:solidFill>
                      </a:tcPr>
                    </a:tc>
                    <a:tc vMerge="1">
                      <a:txBody>
                        <a:bodyPr/>
                        <a:lstStyle/>
                        <a:p>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vMerge="1">
                      <a:txBody>
                        <a:bodyPr/>
                        <a:lstStyle/>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90195" algn="ctr">
                            <a:lnSpc>
                              <a:spcPts val="100"/>
                            </a:lnSpc>
                            <a:spcBef>
                              <a:spcPts val="75"/>
                            </a:spcBef>
                          </a:pPr>
                          <a:r>
                            <a:rPr sz="100" spc="-25" dirty="0">
                              <a:latin typeface="Times New Roman"/>
                              <a:cs typeface="Times New Roman"/>
                            </a:rPr>
                            <a:t>A’</a:t>
                          </a:r>
                          <a:endParaRPr sz="100" dirty="0">
                            <a:latin typeface="Times New Roman"/>
                            <a:cs typeface="Times New Roman"/>
                          </a:endParaRPr>
                        </a:p>
                        <a:p>
                          <a:pPr marL="12700" algn="ctr">
                            <a:lnSpc>
                              <a:spcPts val="1660"/>
                            </a:lnSpc>
                          </a:pPr>
                          <a:r>
                            <a:rPr sz="1400" spc="-10" dirty="0">
                              <a:latin typeface="Arial"/>
                              <a:cs typeface="Arial"/>
                            </a:rPr>
                            <a:t>Sarsa</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pPr marR="255904" algn="ctr">
                            <a:lnSpc>
                              <a:spcPts val="1320"/>
                            </a:lnSpc>
                            <a:spcBef>
                              <a:spcPts val="334"/>
                            </a:spcBef>
                            <a:tabLst>
                              <a:tab pos="979169" algn="l"/>
                              <a:tab pos="1240790" algn="l"/>
                            </a:tabLst>
                          </a:pPr>
                          <a:r>
                            <a:rPr sz="2200" i="1" dirty="0">
                              <a:latin typeface="Times New Roman"/>
                              <a:cs typeface="Times New Roman"/>
                            </a:rPr>
                            <a:t>Q</a:t>
                          </a:r>
                          <a:r>
                            <a:rPr sz="2200" dirty="0">
                              <a:latin typeface="Cambria"/>
                              <a:cs typeface="Cambria"/>
                            </a:rPr>
                            <a:t>(</a:t>
                          </a:r>
                          <a:r>
                            <a:rPr sz="2200" i="1" dirty="0">
                              <a:latin typeface="Times New Roman"/>
                              <a:cs typeface="Times New Roman"/>
                            </a:rPr>
                            <a:t>S</a:t>
                          </a:r>
                          <a:r>
                            <a:rPr sz="2200" dirty="0">
                              <a:latin typeface="Cambria"/>
                              <a:cs typeface="Cambria"/>
                            </a:rPr>
                            <a:t>,</a:t>
                          </a:r>
                          <a:r>
                            <a:rPr sz="2200" spc="-60" dirty="0">
                              <a:latin typeface="Cambria"/>
                              <a:cs typeface="Cambria"/>
                            </a:rPr>
                            <a:t> </a:t>
                          </a:r>
                          <a:r>
                            <a:rPr sz="2200" i="1" spc="-25" dirty="0">
                              <a:latin typeface="Times New Roman"/>
                              <a:cs typeface="Times New Roman"/>
                            </a:rPr>
                            <a:t>A</a:t>
                          </a:r>
                          <a:r>
                            <a:rPr sz="2200" spc="-25" dirty="0">
                              <a:latin typeface="Cambria"/>
                              <a:cs typeface="Cambria"/>
                            </a:rPr>
                            <a:t>)</a:t>
                          </a:r>
                          <a:r>
                            <a:rPr lang="en-US" sz="2400" spc="-25" dirty="0"/>
                            <a:t> </a:t>
                          </a:r>
                          <a14:m>
                            <m:oMath xmlns:m="http://schemas.openxmlformats.org/officeDocument/2006/math">
                              <m:groupChr>
                                <m:groupChrPr>
                                  <m:chr m:val="←"/>
                                  <m:vertJc m:val="bot"/>
                                  <m:ctrlPr>
                                    <a:rPr lang="en-US" sz="2400" i="1" spc="-25" smtClean="0">
                                      <a:latin typeface="Cambria Math" panose="02040503050406030204" pitchFamily="18" charset="0"/>
                                    </a:rPr>
                                  </m:ctrlPr>
                                </m:groupChrPr>
                                <m:e>
                                  <m:r>
                                    <m:rPr>
                                      <m:nor/>
                                    </m:rPr>
                                    <a:rPr lang="el-GR" sz="2400" i="1" spc="-75" dirty="0"/>
                                    <m:t>α</m:t>
                                  </m:r>
                                </m:e>
                              </m:groupChr>
                            </m:oMath>
                          </a14:m>
                          <a:r>
                            <a:rPr lang="en-US" sz="2200" i="1" dirty="0">
                              <a:latin typeface="Times New Roman"/>
                              <a:cs typeface="Times New Roman"/>
                            </a:rPr>
                            <a:t> </a:t>
                          </a:r>
                          <a:r>
                            <a:rPr sz="2200" i="1" dirty="0">
                              <a:latin typeface="Times New Roman"/>
                              <a:cs typeface="Times New Roman"/>
                            </a:rPr>
                            <a:t>R</a:t>
                          </a:r>
                          <a:r>
                            <a:rPr sz="2200" i="1" spc="-90" dirty="0">
                              <a:latin typeface="Times New Roman"/>
                              <a:cs typeface="Times New Roman"/>
                            </a:rPr>
                            <a:t> </a:t>
                          </a:r>
                          <a:r>
                            <a:rPr sz="2200" spc="280" dirty="0">
                              <a:latin typeface="Cambria"/>
                              <a:cs typeface="Cambria"/>
                            </a:rPr>
                            <a:t>+</a:t>
                          </a:r>
                          <a14:m>
                            <m:oMath xmlns:m="http://schemas.openxmlformats.org/officeDocument/2006/math">
                              <m:r>
                                <a:rPr lang="en-US" sz="2200" i="1" spc="-10" dirty="0" smtClean="0">
                                  <a:latin typeface="Cambria Math" panose="02040503050406030204" pitchFamily="18" charset="0"/>
                                  <a:cs typeface="Cambria"/>
                                </a:rPr>
                                <m:t> </m:t>
                              </m:r>
                              <m:r>
                                <a:rPr lang="en-US" sz="2200" i="1" spc="-204" dirty="0">
                                  <a:latin typeface="Cambria Math" panose="02040503050406030204" pitchFamily="18" charset="0"/>
                                  <a:cs typeface="Arial"/>
                                </a:rPr>
                                <m:t>𝛾</m:t>
                              </m:r>
                              <m:r>
                                <a:rPr lang="en-US" sz="2200" i="1" spc="-195" dirty="0">
                                  <a:latin typeface="Cambria Math" panose="02040503050406030204" pitchFamily="18" charset="0"/>
                                  <a:cs typeface="Arial"/>
                                </a:rPr>
                                <m:t> </m:t>
                              </m:r>
                            </m:oMath>
                          </a14:m>
                          <a:r>
                            <a:rPr sz="2200" i="1" spc="-20" dirty="0">
                              <a:latin typeface="Times New Roman"/>
                              <a:cs typeface="Times New Roman"/>
                            </a:rPr>
                            <a:t>Q</a:t>
                          </a:r>
                          <a:r>
                            <a:rPr sz="2200" spc="-20" dirty="0">
                              <a:latin typeface="Cambria"/>
                              <a:cs typeface="Cambria"/>
                            </a:rPr>
                            <a:t>(</a:t>
                          </a:r>
                          <a:r>
                            <a:rPr sz="2200" i="1" spc="-20" dirty="0">
                              <a:latin typeface="Times New Roman"/>
                              <a:cs typeface="Times New Roman"/>
                            </a:rPr>
                            <a:t>S</a:t>
                          </a:r>
                          <a:r>
                            <a:rPr sz="2200" spc="-20" dirty="0">
                              <a:latin typeface="Cambria"/>
                              <a:cs typeface="Cambria"/>
                            </a:rPr>
                            <a:t>′,</a:t>
                          </a:r>
                          <a:r>
                            <a:rPr sz="2200" spc="-45" dirty="0">
                              <a:latin typeface="Cambria"/>
                              <a:cs typeface="Cambria"/>
                            </a:rPr>
                            <a:t> </a:t>
                          </a:r>
                          <a:r>
                            <a:rPr sz="2200" i="1" spc="-25" dirty="0">
                              <a:latin typeface="Times New Roman"/>
                              <a:cs typeface="Times New Roman"/>
                            </a:rPr>
                            <a:t>A</a:t>
                          </a:r>
                          <a:r>
                            <a:rPr sz="2200" spc="-25" dirty="0">
                              <a:latin typeface="Cambria"/>
                              <a:cs typeface="Cambria"/>
                            </a:rPr>
                            <a:t>′)</a:t>
                          </a:r>
                          <a:endParaRPr sz="2200" dirty="0">
                            <a:latin typeface="Cambria"/>
                            <a:cs typeface="Cambria"/>
                          </a:endParaRPr>
                        </a:p>
                        <a:p>
                          <a:pPr marR="1031875" algn="ctr">
                            <a:lnSpc>
                              <a:spcPts val="1320"/>
                            </a:lnSpc>
                          </a:pPr>
                          <a:endParaRPr sz="2200" dirty="0">
                            <a:latin typeface="Cambria"/>
                            <a:cs typeface="Cambria"/>
                          </a:endParaRPr>
                        </a:p>
                      </a:txBody>
                      <a:tcPr marL="0" marR="0" marT="42544" marB="0" anchor="ctr">
                        <a:lnL w="3175" cap="flat" cmpd="sng" algn="ctr">
                          <a:solidFill>
                            <a:srgbClr val="BFBFBF"/>
                          </a:solidFill>
                          <a:prstDash val="solid"/>
                          <a:round/>
                          <a:headEnd type="none" w="med" len="med"/>
                          <a:tailEnd type="none" w="med" len="med"/>
                        </a:lnL>
                        <a:lnB w="317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96390">
                    <a:tc>
                      <a:txBody>
                        <a:bodyPr/>
                        <a:lstStyle/>
                        <a:p>
                          <a:pPr>
                            <a:lnSpc>
                              <a:spcPct val="100000"/>
                            </a:lnSpc>
                          </a:pPr>
                          <a:endParaRPr lang="en-US" sz="1900" dirty="0">
                            <a:latin typeface="Times New Roman"/>
                            <a:cs typeface="Times New Roman"/>
                          </a:endParaRPr>
                        </a:p>
                        <a:p>
                          <a:pPr>
                            <a:lnSpc>
                              <a:spcPct val="100000"/>
                            </a:lnSpc>
                          </a:pPr>
                          <a:endParaRPr lang="en-US" sz="1900" dirty="0">
                            <a:latin typeface="Times New Roman"/>
                            <a:cs typeface="Times New Roman"/>
                          </a:endParaRPr>
                        </a:p>
                        <a:p>
                          <a:pPr marL="120014" marR="217170">
                            <a:lnSpc>
                              <a:spcPts val="1800"/>
                            </a:lnSpc>
                            <a:spcBef>
                              <a:spcPts val="1510"/>
                            </a:spcBef>
                          </a:pPr>
                          <a:r>
                            <a:rPr lang="en-US" sz="1600" spc="-40" dirty="0">
                              <a:latin typeface="Arial"/>
                              <a:cs typeface="Arial"/>
                            </a:rPr>
                            <a:t>Bellman</a:t>
                          </a:r>
                          <a:r>
                            <a:rPr lang="en-US" sz="1600" spc="-50" dirty="0">
                              <a:latin typeface="Arial"/>
                              <a:cs typeface="Arial"/>
                            </a:rPr>
                            <a:t> </a:t>
                          </a:r>
                          <a:r>
                            <a:rPr lang="en-US" sz="1600" spc="-10" dirty="0">
                              <a:latin typeface="Arial"/>
                              <a:cs typeface="Arial"/>
                            </a:rPr>
                            <a:t>Optimality </a:t>
                          </a:r>
                          <a:r>
                            <a:rPr lang="en-US" sz="1600" spc="-45" dirty="0">
                              <a:latin typeface="Arial"/>
                              <a:cs typeface="Arial"/>
                            </a:rPr>
                            <a:t>Equation</a:t>
                          </a:r>
                          <a:r>
                            <a:rPr lang="en-US" sz="1600" spc="-50" dirty="0">
                              <a:latin typeface="Arial"/>
                              <a:cs typeface="Arial"/>
                            </a:rPr>
                            <a:t> </a:t>
                          </a:r>
                          <a:r>
                            <a:rPr lang="en-US" sz="1600" dirty="0">
                              <a:latin typeface="Arial"/>
                              <a:cs typeface="Arial"/>
                            </a:rPr>
                            <a:t>for</a:t>
                          </a:r>
                          <a:r>
                            <a:rPr lang="en-US" sz="1600" spc="60" dirty="0">
                              <a:latin typeface="Arial"/>
                              <a:cs typeface="Arial"/>
                            </a:rPr>
                            <a:t> </a:t>
                          </a:r>
                          <a14:m>
                            <m:oMath xmlns:m="http://schemas.openxmlformats.org/officeDocument/2006/math">
                              <m:sSub>
                                <m:sSubPr>
                                  <m:ctrlPr>
                                    <a:rPr lang="en-US" sz="1600" b="0" i="1" spc="-65" dirty="0" smtClean="0">
                                      <a:latin typeface="Cambria Math" panose="02040503050406030204" pitchFamily="18" charset="0"/>
                                      <a:cs typeface="Arial"/>
                                    </a:rPr>
                                  </m:ctrlPr>
                                </m:sSubPr>
                                <m:e>
                                  <m:r>
                                    <a:rPr lang="en-US" sz="1600" i="1" spc="-65" dirty="0" smtClean="0">
                                      <a:latin typeface="Cambria Math" panose="02040503050406030204" pitchFamily="18" charset="0"/>
                                      <a:cs typeface="Arial"/>
                                    </a:rPr>
                                    <m:t>𝑞</m:t>
                                  </m:r>
                                </m:e>
                                <m:sub>
                                  <m:r>
                                    <a:rPr lang="en-US" sz="1575" i="1" spc="-97" baseline="-10582" dirty="0">
                                      <a:latin typeface="Cambria Math" panose="02040503050406030204" pitchFamily="18" charset="0"/>
                                      <a:cs typeface="Lucida Sans Unicode"/>
                                    </a:rPr>
                                    <m:t>∗</m:t>
                                  </m:r>
                                </m:sub>
                              </m:sSub>
                              <m:r>
                                <a:rPr lang="en-US" sz="1600" i="1" spc="-65" dirty="0">
                                  <a:latin typeface="Cambria Math" panose="02040503050406030204" pitchFamily="18" charset="0"/>
                                  <a:cs typeface="Arial"/>
                                </a:rPr>
                                <m:t>(</m:t>
                              </m:r>
                              <m:r>
                                <a:rPr lang="en-US" sz="1600" i="1" spc="-65" dirty="0">
                                  <a:latin typeface="Cambria Math" panose="02040503050406030204" pitchFamily="18" charset="0"/>
                                  <a:cs typeface="Arial"/>
                                </a:rPr>
                                <m:t>𝑠</m:t>
                              </m:r>
                              <m:r>
                                <a:rPr lang="en-US" sz="1600" i="1" spc="-65" dirty="0">
                                  <a:latin typeface="Cambria Math" panose="02040503050406030204" pitchFamily="18" charset="0"/>
                                  <a:cs typeface="Times New Roman"/>
                                </a:rPr>
                                <m:t>,</m:t>
                              </m:r>
                              <m:r>
                                <a:rPr lang="en-US" sz="1600" i="1" spc="-130" dirty="0">
                                  <a:latin typeface="Cambria Math" panose="02040503050406030204" pitchFamily="18" charset="0"/>
                                  <a:cs typeface="Times New Roman"/>
                                </a:rPr>
                                <m:t> </m:t>
                              </m:r>
                              <m:r>
                                <a:rPr lang="en-US" sz="1600" i="1" spc="-25" dirty="0">
                                  <a:latin typeface="Cambria Math" panose="02040503050406030204" pitchFamily="18" charset="0"/>
                                  <a:cs typeface="Arial"/>
                                </a:rPr>
                                <m:t>𝑎</m:t>
                              </m:r>
                              <m:r>
                                <a:rPr lang="en-US" sz="1600" i="1" spc="-25" dirty="0">
                                  <a:latin typeface="Cambria Math" panose="02040503050406030204" pitchFamily="18" charset="0"/>
                                  <a:cs typeface="Arial"/>
                                </a:rPr>
                                <m:t>)</m:t>
                              </m:r>
                            </m:oMath>
                          </a14:m>
                          <a:endParaRPr sz="1600" dirty="0">
                            <a:latin typeface="Arial"/>
                            <a:cs typeface="Arial"/>
                          </a:endParaRPr>
                        </a:p>
                      </a:txBody>
                      <a:tcPr marL="0" marR="0" marT="0" marB="0">
                        <a:lnR w="3175">
                          <a:solidFill>
                            <a:srgbClr val="BFBFBF"/>
                          </a:solidFill>
                          <a:prstDash val="solid"/>
                        </a:lnR>
                        <a:lnT w="3175">
                          <a:solidFill>
                            <a:srgbClr val="BFBFBF"/>
                          </a:solidFill>
                          <a:prstDash val="solid"/>
                        </a:lnT>
                        <a:solidFill>
                          <a:srgbClr val="FFFFFF"/>
                        </a:solidFill>
                      </a:tcPr>
                    </a:tc>
                    <a:tc>
                      <a:txBody>
                        <a:bodyPr/>
                        <a:lstStyle/>
                        <a:p>
                          <a:pPr algn="ctr">
                            <a:lnSpc>
                              <a:spcPct val="100000"/>
                            </a:lnSpc>
                          </a:pPr>
                          <a:r>
                            <a:rPr lang="en-US" sz="1600" dirty="0">
                              <a:latin typeface="Times New Roman"/>
                              <a:cs typeface="Times New Roman"/>
                            </a:rPr>
                            <a:t>optimization</a:t>
                          </a:r>
                          <a:endParaRPr sz="1600" dirty="0">
                            <a:latin typeface="Times New Roman"/>
                            <a:cs typeface="Times New Roman"/>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solidFill>
                          <a:srgbClr val="FFFFFF"/>
                        </a:solidFill>
                      </a:tcPr>
                    </a:tc>
                    <a:tc>
                      <a:txBody>
                        <a:bodyPr/>
                        <a:lstStyle/>
                        <a:p>
                          <a:pPr marL="60325" indent="0" algn="ctr">
                            <a:lnSpc>
                              <a:spcPct val="100000"/>
                            </a:lnSpc>
                          </a:pPr>
                          <a:r>
                            <a:rPr sz="1400" spc="-50" dirty="0">
                              <a:latin typeface="Arial"/>
                              <a:cs typeface="Arial"/>
                            </a:rPr>
                            <a:t>Q-</a:t>
                          </a:r>
                          <a:r>
                            <a:rPr sz="1400" spc="-10" dirty="0">
                              <a:latin typeface="Arial"/>
                              <a:cs typeface="Arial"/>
                            </a:rPr>
                            <a:t>Learning</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solidFill>
                          <a:srgbClr val="FFFFFF"/>
                        </a:solidFill>
                      </a:tcPr>
                    </a:tc>
                    <a:tc>
                      <a:txBody>
                        <a:bodyPr/>
                        <a:lstStyle/>
                        <a:p>
                          <a:pPr>
                            <a:lnSpc>
                              <a:spcPct val="100000"/>
                            </a:lnSpc>
                            <a:spcBef>
                              <a:spcPts val="20"/>
                            </a:spcBef>
                          </a:pPr>
                          <a:endParaRPr lang="en-US" sz="3700" dirty="0">
                            <a:latin typeface="Times New Roman"/>
                            <a:cs typeface="Times New Roman"/>
                          </a:endParaRPr>
                        </a:p>
                        <a:p>
                          <a:pPr marL="452755">
                            <a:lnSpc>
                              <a:spcPts val="1320"/>
                            </a:lnSpc>
                            <a:tabLst>
                              <a:tab pos="1431925" algn="l"/>
                              <a:tab pos="1693545" algn="l"/>
                            </a:tabLst>
                          </a:pPr>
                          <a:r>
                            <a:rPr lang="en-US" sz="2200" i="1" dirty="0">
                              <a:latin typeface="Times New Roman"/>
                              <a:cs typeface="Times New Roman"/>
                            </a:rPr>
                            <a:t>Q</a:t>
                          </a:r>
                          <a:r>
                            <a:rPr lang="en-US" sz="2200" dirty="0">
                              <a:latin typeface="Cambria"/>
                              <a:cs typeface="Cambria"/>
                            </a:rPr>
                            <a:t>(</a:t>
                          </a:r>
                          <a:r>
                            <a:rPr lang="en-US" sz="2200" i="1" dirty="0">
                              <a:latin typeface="Times New Roman"/>
                              <a:cs typeface="Times New Roman"/>
                            </a:rPr>
                            <a:t>S</a:t>
                          </a:r>
                          <a:r>
                            <a:rPr lang="en-US" sz="2200" dirty="0">
                              <a:latin typeface="Cambria"/>
                              <a:cs typeface="Cambria"/>
                            </a:rPr>
                            <a:t>,</a:t>
                          </a:r>
                          <a:r>
                            <a:rPr lang="en-US" sz="2200" spc="-60" dirty="0">
                              <a:latin typeface="Cambria"/>
                              <a:cs typeface="Cambria"/>
                            </a:rPr>
                            <a:t> </a:t>
                          </a:r>
                          <a:r>
                            <a:rPr lang="en-US" sz="2200" i="1" spc="-25" dirty="0">
                              <a:latin typeface="Times New Roman"/>
                              <a:cs typeface="Times New Roman"/>
                            </a:rPr>
                            <a:t>A</a:t>
                          </a:r>
                          <a:r>
                            <a:rPr lang="en-US" sz="2200" spc="-25" dirty="0">
                              <a:latin typeface="Cambria"/>
                              <a:cs typeface="Cambria"/>
                            </a:rPr>
                            <a:t>) </a:t>
                          </a:r>
                          <a14:m>
                            <m:oMath xmlns:m="http://schemas.openxmlformats.org/officeDocument/2006/math">
                              <m:groupChr>
                                <m:groupChrPr>
                                  <m:chr m:val="←"/>
                                  <m:vertJc m:val="bot"/>
                                  <m:ctrlPr>
                                    <a:rPr lang="en-US" sz="2400" i="1" spc="-25" smtClean="0">
                                      <a:latin typeface="Cambria Math" panose="02040503050406030204" pitchFamily="18" charset="0"/>
                                    </a:rPr>
                                  </m:ctrlPr>
                                </m:groupChrPr>
                                <m:e>
                                  <m:r>
                                    <m:rPr>
                                      <m:nor/>
                                    </m:rPr>
                                    <a:rPr lang="el-GR" sz="2400" i="1" spc="-75" dirty="0"/>
                                    <m:t>α</m:t>
                                  </m:r>
                                </m:e>
                              </m:groupChr>
                            </m:oMath>
                          </a14:m>
                          <a:r>
                            <a:rPr lang="en-US" sz="2200" i="1" dirty="0">
                              <a:latin typeface="Times New Roman"/>
                              <a:cs typeface="Times New Roman"/>
                            </a:rPr>
                            <a:t> R</a:t>
                          </a:r>
                          <a:r>
                            <a:rPr lang="en-US" sz="2200" i="1" spc="-140" dirty="0">
                              <a:latin typeface="Times New Roman"/>
                              <a:cs typeface="Times New Roman"/>
                            </a:rPr>
                            <a:t> </a:t>
                          </a:r>
                          <a:r>
                            <a:rPr lang="en-US" sz="2200" spc="280" dirty="0">
                              <a:latin typeface="Cambria"/>
                              <a:cs typeface="Cambria"/>
                            </a:rPr>
                            <a:t>+</a:t>
                          </a:r>
                          <a:r>
                            <a:rPr lang="en-US" sz="2200" spc="-30" dirty="0">
                              <a:latin typeface="Cambria"/>
                              <a:cs typeface="Cambria"/>
                            </a:rPr>
                            <a:t> </a:t>
                          </a:r>
                          <a14:m>
                            <m:oMath xmlns:m="http://schemas.openxmlformats.org/officeDocument/2006/math">
                              <m:r>
                                <a:rPr lang="en-US" sz="2200" i="1" spc="-204" dirty="0" smtClean="0">
                                  <a:latin typeface="Cambria Math" panose="02040503050406030204" pitchFamily="18" charset="0"/>
                                  <a:cs typeface="Arial"/>
                                </a:rPr>
                                <m:t>𝛾</m:t>
                              </m:r>
                              <m:r>
                                <a:rPr lang="en-US" sz="2200" i="1" spc="-40" dirty="0">
                                  <a:latin typeface="Cambria Math" panose="02040503050406030204" pitchFamily="18" charset="0"/>
                                  <a:cs typeface="Arial"/>
                                </a:rPr>
                                <m:t> </m:t>
                              </m:r>
                            </m:oMath>
                          </a14:m>
                          <a:r>
                            <a:rPr lang="en-US" sz="2200" dirty="0">
                              <a:latin typeface="Cambria"/>
                              <a:cs typeface="Cambria"/>
                            </a:rPr>
                            <a:t>max</a:t>
                          </a:r>
                          <a:r>
                            <a:rPr lang="en-US" sz="2200" spc="200" dirty="0">
                              <a:latin typeface="Cambria"/>
                              <a:cs typeface="Cambria"/>
                            </a:rPr>
                            <a:t> </a:t>
                          </a:r>
                          <a:r>
                            <a:rPr lang="en-US" sz="2200" i="1" spc="-40" dirty="0">
                              <a:latin typeface="Times New Roman"/>
                              <a:cs typeface="Times New Roman"/>
                            </a:rPr>
                            <a:t>Q</a:t>
                          </a:r>
                          <a:r>
                            <a:rPr lang="en-US" sz="2200" spc="-40" dirty="0">
                              <a:latin typeface="Cambria"/>
                              <a:cs typeface="Cambria"/>
                            </a:rPr>
                            <a:t>(</a:t>
                          </a:r>
                          <a:r>
                            <a:rPr lang="en-US" sz="2200" i="1" spc="-40" dirty="0">
                              <a:latin typeface="Times New Roman"/>
                              <a:cs typeface="Times New Roman"/>
                            </a:rPr>
                            <a:t>S</a:t>
                          </a:r>
                          <a:r>
                            <a:rPr lang="en-US" sz="2200" spc="-40" dirty="0">
                              <a:latin typeface="Cambria"/>
                              <a:cs typeface="Cambria"/>
                            </a:rPr>
                            <a:t>′,</a:t>
                          </a:r>
                          <a:r>
                            <a:rPr lang="en-US" sz="2200" spc="-120" dirty="0">
                              <a:latin typeface="Cambria"/>
                              <a:cs typeface="Cambria"/>
                            </a:rPr>
                            <a:t> </a:t>
                          </a:r>
                          <a:r>
                            <a:rPr lang="en-US" sz="2200" i="1" spc="-25" dirty="0">
                              <a:latin typeface="Times New Roman"/>
                              <a:cs typeface="Times New Roman"/>
                            </a:rPr>
                            <a:t>a</a:t>
                          </a:r>
                          <a:r>
                            <a:rPr lang="en-US" sz="2200" spc="-25" dirty="0">
                              <a:latin typeface="Cambria"/>
                              <a:cs typeface="Cambria"/>
                            </a:rPr>
                            <a:t>′)</a:t>
                          </a:r>
                          <a:endParaRPr lang="en-US" sz="2200" dirty="0">
                            <a:latin typeface="Cambria"/>
                            <a:cs typeface="Cambria"/>
                          </a:endParaRPr>
                        </a:p>
                        <a:p>
                          <a:pPr marR="1082675" algn="ctr">
                            <a:lnSpc>
                              <a:spcPts val="1160"/>
                            </a:lnSpc>
                          </a:pPr>
                          <a:endParaRPr lang="en-US" sz="2200" dirty="0">
                            <a:latin typeface="Cambria"/>
                            <a:cs typeface="Cambria"/>
                          </a:endParaRPr>
                        </a:p>
                        <a:p>
                          <a:pPr marL="1152525" algn="ctr">
                            <a:lnSpc>
                              <a:spcPts val="1700"/>
                            </a:lnSpc>
                          </a:pPr>
                          <a:r>
                            <a:rPr lang="en-US" sz="1550" i="1" spc="-20" dirty="0">
                              <a:latin typeface="Times New Roman"/>
                              <a:cs typeface="Times New Roman"/>
                            </a:rPr>
                            <a:t>a</a:t>
                          </a:r>
                          <a:r>
                            <a:rPr lang="en-US" sz="1550" spc="-20" dirty="0">
                              <a:latin typeface="Cambria"/>
                              <a:cs typeface="Cambria"/>
                            </a:rPr>
                            <a:t>′∈</a:t>
                          </a:r>
                          <a:r>
                            <a:rPr lang="en-US" sz="1550" i="1" spc="-20" dirty="0">
                              <a:latin typeface="Times New Roman"/>
                              <a:cs typeface="Times New Roman"/>
                            </a:rPr>
                            <a:t>A</a:t>
                          </a:r>
                          <a:endParaRPr sz="1550" dirty="0">
                            <a:latin typeface="Times New Roman"/>
                            <a:cs typeface="Times New Roman"/>
                          </a:endParaRPr>
                        </a:p>
                      </a:txBody>
                      <a:tcPr marL="0" marR="0" marT="2540"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solidFill>
                          <a:srgbClr val="FFFFFF"/>
                        </a:solidFill>
                      </a:tcPr>
                    </a:tc>
                    <a:extLst>
                      <a:ext uri="{0D108BD9-81ED-4DB2-BD59-A6C34878D82A}">
                        <a16:rowId xmlns:a16="http://schemas.microsoft.com/office/drawing/2014/main" val="10004"/>
                      </a:ext>
                    </a:extLst>
                  </a:tr>
                </a:tbl>
              </a:graphicData>
            </a:graphic>
          </p:graphicFrame>
        </mc:Choice>
        <mc:Fallback xmlns="">
          <p:graphicFrame>
            <p:nvGraphicFramePr>
              <p:cNvPr id="4" name="object 4"/>
              <p:cNvGraphicFramePr>
                <a:graphicFrameLocks noGrp="1"/>
              </p:cNvGraphicFramePr>
              <p:nvPr>
                <p:extLst>
                  <p:ext uri="{D42A27DB-BD31-4B8C-83A1-F6EECF244321}">
                    <p14:modId xmlns:p14="http://schemas.microsoft.com/office/powerpoint/2010/main" val="2578356502"/>
                  </p:ext>
                </p:extLst>
              </p:nvPr>
            </p:nvGraphicFramePr>
            <p:xfrm>
              <a:off x="0" y="1238250"/>
              <a:ext cx="9143998" cy="4815839"/>
            </p:xfrm>
            <a:graphic>
              <a:graphicData uri="http://schemas.openxmlformats.org/drawingml/2006/table">
                <a:tbl>
                  <a:tblPr firstRow="1" bandRow="1">
                    <a:tableStyleId>{2D5ABB26-0587-4C30-8999-92F81FD0307C}</a:tableStyleId>
                  </a:tblPr>
                  <a:tblGrid>
                    <a:gridCol w="2066289">
                      <a:extLst>
                        <a:ext uri="{9D8B030D-6E8A-4147-A177-3AD203B41FA5}">
                          <a16:colId xmlns:a16="http://schemas.microsoft.com/office/drawing/2014/main" val="20000"/>
                        </a:ext>
                      </a:extLst>
                    </a:gridCol>
                    <a:gridCol w="1442085">
                      <a:extLst>
                        <a:ext uri="{9D8B030D-6E8A-4147-A177-3AD203B41FA5}">
                          <a16:colId xmlns:a16="http://schemas.microsoft.com/office/drawing/2014/main" val="20001"/>
                        </a:ext>
                      </a:extLst>
                    </a:gridCol>
                    <a:gridCol w="1570989">
                      <a:extLst>
                        <a:ext uri="{9D8B030D-6E8A-4147-A177-3AD203B41FA5}">
                          <a16:colId xmlns:a16="http://schemas.microsoft.com/office/drawing/2014/main" val="20002"/>
                        </a:ext>
                      </a:extLst>
                    </a:gridCol>
                    <a:gridCol w="4064635">
                      <a:extLst>
                        <a:ext uri="{9D8B030D-6E8A-4147-A177-3AD203B41FA5}">
                          <a16:colId xmlns:a16="http://schemas.microsoft.com/office/drawing/2014/main" val="20005"/>
                        </a:ext>
                      </a:extLst>
                    </a:gridCol>
                  </a:tblGrid>
                  <a:tr h="505459">
                    <a:tc>
                      <a:txBody>
                        <a:bodyPr/>
                        <a:lstStyle/>
                        <a:p>
                          <a:pPr>
                            <a:lnSpc>
                              <a:spcPct val="100000"/>
                            </a:lnSpc>
                          </a:pPr>
                          <a:endParaRPr sz="1600">
                            <a:latin typeface="Times New Roman"/>
                            <a:cs typeface="Times New Roman"/>
                          </a:endParaRPr>
                        </a:p>
                      </a:txBody>
                      <a:tcPr marL="0" marR="0" marT="0" marB="0">
                        <a:lnR w="3175">
                          <a:solidFill>
                            <a:srgbClr val="BFBFBF"/>
                          </a:solidFill>
                          <a:prstDash val="solid"/>
                        </a:lnR>
                        <a:lnB w="3175">
                          <a:solidFill>
                            <a:srgbClr val="BFBFBF"/>
                          </a:solidFill>
                          <a:prstDash val="solid"/>
                        </a:lnB>
                        <a:solidFill>
                          <a:srgbClr val="FFFFFF"/>
                        </a:solidFill>
                      </a:tcPr>
                    </a:tc>
                    <a:tc>
                      <a:txBody>
                        <a:bodyPr/>
                        <a:lstStyle/>
                        <a:p>
                          <a:pPr algn="ctr">
                            <a:lnSpc>
                              <a:spcPct val="100000"/>
                            </a:lnSpc>
                            <a:spcBef>
                              <a:spcPts val="285"/>
                            </a:spcBef>
                          </a:pPr>
                          <a:r>
                            <a:rPr sz="1400" i="1" spc="-75" dirty="0">
                              <a:latin typeface="Arial"/>
                              <a:cs typeface="Arial"/>
                            </a:rPr>
                            <a:t>Full </a:t>
                          </a:r>
                          <a:r>
                            <a:rPr sz="1400" i="1" spc="-45" dirty="0">
                              <a:latin typeface="Arial"/>
                              <a:cs typeface="Arial"/>
                            </a:rPr>
                            <a:t>Backup</a:t>
                          </a:r>
                          <a:r>
                            <a:rPr sz="1400" i="1" spc="-5" dirty="0">
                              <a:latin typeface="Arial"/>
                              <a:cs typeface="Arial"/>
                            </a:rPr>
                            <a:t> </a:t>
                          </a:r>
                          <a:r>
                            <a:rPr sz="1400" i="1" spc="-20" dirty="0">
                              <a:latin typeface="Arial"/>
                              <a:cs typeface="Arial"/>
                            </a:rPr>
                            <a:t>(DP)</a:t>
                          </a:r>
                          <a:endParaRPr sz="1400">
                            <a:latin typeface="Arial"/>
                            <a:cs typeface="Arial"/>
                          </a:endParaRPr>
                        </a:p>
                      </a:txBody>
                      <a:tcPr marL="0" marR="0" marT="36195"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pPr marL="616585" marR="205740" indent="-400050">
                            <a:lnSpc>
                              <a:spcPts val="1989"/>
                            </a:lnSpc>
                          </a:pPr>
                          <a:r>
                            <a:rPr sz="1400" i="1" spc="-85" dirty="0">
                              <a:latin typeface="Arial"/>
                              <a:cs typeface="Arial"/>
                            </a:rPr>
                            <a:t>Sample</a:t>
                          </a:r>
                          <a:r>
                            <a:rPr sz="1400" i="1" spc="-45" dirty="0">
                              <a:latin typeface="Arial"/>
                              <a:cs typeface="Arial"/>
                            </a:rPr>
                            <a:t> </a:t>
                          </a:r>
                          <a:r>
                            <a:rPr sz="1400" i="1" spc="-60" dirty="0">
                              <a:latin typeface="Arial"/>
                              <a:cs typeface="Arial"/>
                            </a:rPr>
                            <a:t>Backup </a:t>
                          </a:r>
                          <a:r>
                            <a:rPr sz="1400" i="1" spc="-20" dirty="0">
                              <a:latin typeface="Arial"/>
                              <a:cs typeface="Arial"/>
                            </a:rPr>
                            <a:t>(TD)</a:t>
                          </a:r>
                          <a:endParaRPr sz="1400">
                            <a:latin typeface="Arial"/>
                            <a:cs typeface="Arial"/>
                          </a:endParaRPr>
                        </a:p>
                      </a:txBody>
                      <a:tcPr marL="0" marR="0" marT="0"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pPr marL="1905" algn="ctr">
                            <a:lnSpc>
                              <a:spcPts val="2050"/>
                            </a:lnSpc>
                          </a:pPr>
                          <a:r>
                            <a:rPr sz="1800" i="1" spc="-10" dirty="0">
                              <a:latin typeface="Arial"/>
                              <a:cs typeface="Arial"/>
                            </a:rPr>
                            <a:t>Update</a:t>
                          </a:r>
                          <a:endParaRPr sz="1800" dirty="0">
                            <a:latin typeface="Arial"/>
                            <a:cs typeface="Arial"/>
                          </a:endParaRPr>
                        </a:p>
                      </a:txBody>
                      <a:tcPr marL="0" marR="0" marT="0" marB="0" anchor="ctr">
                        <a:lnL w="3175" cap="flat" cmpd="sng" algn="ctr">
                          <a:solidFill>
                            <a:srgbClr val="BFBFBF"/>
                          </a:solidFill>
                          <a:prstDash val="solid"/>
                          <a:round/>
                          <a:headEnd type="none" w="med" len="med"/>
                          <a:tailEnd type="none" w="med" len="med"/>
                        </a:lnL>
                        <a:lnB w="317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80490">
                    <a:tc>
                      <a:txBody>
                        <a:bodyPr/>
                        <a:lstStyle/>
                        <a:p>
                          <a:endParaRPr lang="en-US"/>
                        </a:p>
                      </a:txBody>
                      <a:tcPr marL="0" marR="0" marT="0" marB="0">
                        <a:lnR w="3175">
                          <a:solidFill>
                            <a:srgbClr val="BFBFBF"/>
                          </a:solidFill>
                          <a:prstDash val="solid"/>
                        </a:lnR>
                        <a:lnT w="3175">
                          <a:solidFill>
                            <a:srgbClr val="BFBFBF"/>
                          </a:solidFill>
                          <a:prstDash val="solid"/>
                        </a:lnT>
                        <a:lnB w="3175">
                          <a:solidFill>
                            <a:srgbClr val="BFBFBF"/>
                          </a:solidFill>
                          <a:prstDash val="solid"/>
                        </a:lnB>
                        <a:blipFill>
                          <a:blip r:embed="rId2"/>
                          <a:stretch>
                            <a:fillRect t="-38326" r="-342773" b="-211894"/>
                          </a:stretch>
                        </a:blipFill>
                      </a:tcPr>
                    </a:tc>
                    <a:tc>
                      <a:txBody>
                        <a:bodyPr/>
                        <a:lstStyle/>
                        <a:p>
                          <a:pPr algn="ctr">
                            <a:lnSpc>
                              <a:spcPct val="100000"/>
                            </a:lnSpc>
                          </a:pPr>
                          <a:endParaRPr sz="1500" dirty="0">
                            <a:latin typeface="Times New Roman"/>
                            <a:cs typeface="Times New Roman"/>
                          </a:endParaRPr>
                        </a:p>
                        <a:p>
                          <a:pPr algn="ctr">
                            <a:lnSpc>
                              <a:spcPct val="100000"/>
                            </a:lnSpc>
                            <a:spcBef>
                              <a:spcPts val="1345"/>
                            </a:spcBef>
                          </a:pPr>
                          <a:r>
                            <a:rPr sz="1400" dirty="0">
                              <a:latin typeface="Arial"/>
                              <a:cs typeface="Arial"/>
                            </a:rPr>
                            <a:t>Policy </a:t>
                          </a:r>
                          <a:r>
                            <a:rPr sz="1400" spc="-10" dirty="0">
                              <a:latin typeface="Arial"/>
                              <a:cs typeface="Arial"/>
                            </a:rPr>
                            <a:t>Evaluation</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gn="ctr">
                            <a:lnSpc>
                              <a:spcPct val="100000"/>
                            </a:lnSpc>
                          </a:pPr>
                          <a:endParaRPr lang="en-US" sz="1500" dirty="0">
                            <a:latin typeface="Times New Roman"/>
                            <a:cs typeface="Times New Roman"/>
                          </a:endParaRPr>
                        </a:p>
                        <a:p>
                          <a:pPr marL="53975" algn="ctr">
                            <a:lnSpc>
                              <a:spcPct val="100000"/>
                            </a:lnSpc>
                            <a:spcBef>
                              <a:spcPts val="1345"/>
                            </a:spcBef>
                          </a:pPr>
                          <a:r>
                            <a:rPr lang="en-US" sz="1400" spc="-25" dirty="0">
                              <a:latin typeface="Arial"/>
                              <a:cs typeface="Arial"/>
                            </a:rPr>
                            <a:t>TD </a:t>
                          </a:r>
                          <a:r>
                            <a:rPr sz="1400" spc="-10" dirty="0">
                              <a:latin typeface="Arial"/>
                              <a:cs typeface="Arial"/>
                            </a:rPr>
                            <a:t>Learning</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endParaRPr lang="en-US"/>
                        </a:p>
                      </a:txBody>
                      <a:tcPr marL="0" marR="0" marT="6985"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blipFill>
                          <a:blip r:embed="rId2"/>
                          <a:stretch>
                            <a:fillRect l="-124888" t="-38326" r="-150" b="-211894"/>
                          </a:stretch>
                        </a:blipFill>
                      </a:tcPr>
                    </a:tc>
                    <a:extLst>
                      <a:ext uri="{0D108BD9-81ED-4DB2-BD59-A6C34878D82A}">
                        <a16:rowId xmlns:a16="http://schemas.microsoft.com/office/drawing/2014/main" val="10001"/>
                      </a:ext>
                    </a:extLst>
                  </a:tr>
                  <a:tr h="532130">
                    <a:tc>
                      <a:txBody>
                        <a:bodyPr/>
                        <a:lstStyle/>
                        <a:p>
                          <a:pPr>
                            <a:lnSpc>
                              <a:spcPct val="100000"/>
                            </a:lnSpc>
                          </a:pPr>
                          <a:endParaRPr sz="1600">
                            <a:latin typeface="Times New Roman"/>
                            <a:cs typeface="Times New Roman"/>
                          </a:endParaRPr>
                        </a:p>
                      </a:txBody>
                      <a:tcPr marL="0" marR="0" marT="0" marB="0">
                        <a:lnR w="3175">
                          <a:solidFill>
                            <a:srgbClr val="BFBFBF"/>
                          </a:solidFill>
                          <a:prstDash val="solid"/>
                        </a:lnR>
                        <a:lnT w="3175">
                          <a:solidFill>
                            <a:srgbClr val="BFBFBF"/>
                          </a:solidFill>
                          <a:prstDash val="solid"/>
                        </a:lnT>
                        <a:solidFill>
                          <a:srgbClr val="FFFFFF"/>
                        </a:solidFill>
                      </a:tcPr>
                    </a:tc>
                    <a:tc rowSpan="2">
                      <a:txBody>
                        <a:bodyPr/>
                        <a:lstStyle/>
                        <a:p>
                          <a:pPr marL="109220" algn="ctr">
                            <a:lnSpc>
                              <a:spcPts val="110"/>
                            </a:lnSpc>
                          </a:pPr>
                          <a:r>
                            <a:rPr sz="100" spc="-25" dirty="0">
                              <a:latin typeface="Times New Roman"/>
                              <a:cs typeface="Times New Roman"/>
                            </a:rPr>
                            <a:t>,A</a:t>
                          </a:r>
                          <a:endParaRPr sz="100" dirty="0">
                            <a:latin typeface="Times New Roman"/>
                            <a:cs typeface="Times New Roman"/>
                          </a:endParaRPr>
                        </a:p>
                        <a:p>
                          <a:pPr marL="171450" algn="ctr">
                            <a:lnSpc>
                              <a:spcPts val="110"/>
                            </a:lnSpc>
                          </a:pPr>
                          <a:r>
                            <a:rPr sz="100" dirty="0">
                              <a:latin typeface="Times New Roman"/>
                              <a:cs typeface="Times New Roman"/>
                            </a:rPr>
                            <a:t>R</a:t>
                          </a:r>
                          <a:r>
                            <a:rPr sz="100" spc="150" dirty="0">
                              <a:latin typeface="Times New Roman"/>
                              <a:cs typeface="Times New Roman"/>
                            </a:rPr>
                            <a:t> </a:t>
                          </a:r>
                          <a:r>
                            <a:rPr sz="100" spc="-25" dirty="0">
                              <a:latin typeface="Times New Roman"/>
                              <a:cs typeface="Times New Roman"/>
                            </a:rPr>
                            <a:t>S’</a:t>
                          </a: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spcBef>
                              <a:spcPts val="20"/>
                            </a:spcBef>
                          </a:pPr>
                          <a:endParaRPr sz="100" dirty="0">
                            <a:latin typeface="Times New Roman"/>
                            <a:cs typeface="Times New Roman"/>
                          </a:endParaRPr>
                        </a:p>
                        <a:p>
                          <a:pPr marL="107950" algn="ctr">
                            <a:lnSpc>
                              <a:spcPts val="100"/>
                            </a:lnSpc>
                          </a:pPr>
                          <a:r>
                            <a:rPr sz="100" spc="-25" dirty="0">
                              <a:latin typeface="Times New Roman"/>
                              <a:cs typeface="Times New Roman"/>
                            </a:rPr>
                            <a:t>A’</a:t>
                          </a:r>
                          <a:endParaRPr sz="100" dirty="0">
                            <a:latin typeface="Times New Roman"/>
                            <a:cs typeface="Times New Roman"/>
                          </a:endParaRPr>
                        </a:p>
                        <a:p>
                          <a:pPr marL="151765" algn="ctr">
                            <a:lnSpc>
                              <a:spcPts val="1660"/>
                            </a:lnSpc>
                          </a:pPr>
                          <a:r>
                            <a:rPr sz="1400" spc="-10" dirty="0">
                              <a:latin typeface="Arial"/>
                              <a:cs typeface="Arial"/>
                            </a:rPr>
                            <a:t>Policy</a:t>
                          </a:r>
                          <a:r>
                            <a:rPr sz="1400" spc="-45" dirty="0">
                              <a:latin typeface="Arial"/>
                              <a:cs typeface="Arial"/>
                            </a:rPr>
                            <a:t> </a:t>
                          </a:r>
                          <a:r>
                            <a:rPr sz="1400" spc="-10" dirty="0">
                              <a:latin typeface="Arial"/>
                              <a:cs typeface="Arial"/>
                            </a:rPr>
                            <a:t>Iteration</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rowSpan="2">
                      <a:txBody>
                        <a:bodyPr/>
                        <a:lstStyle/>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87020" algn="ctr">
                            <a:lnSpc>
                              <a:spcPct val="100000"/>
                            </a:lnSpc>
                          </a:pPr>
                          <a:r>
                            <a:rPr sz="100" spc="-25" dirty="0">
                              <a:latin typeface="Times New Roman"/>
                              <a:cs typeface="Times New Roman"/>
                            </a:rPr>
                            <a:t>S,A</a:t>
                          </a: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90195" algn="ctr">
                            <a:lnSpc>
                              <a:spcPts val="100"/>
                            </a:lnSpc>
                            <a:spcBef>
                              <a:spcPts val="75"/>
                            </a:spcBef>
                          </a:pPr>
                          <a:r>
                            <a:rPr sz="100" spc="-25" dirty="0">
                              <a:latin typeface="Times New Roman"/>
                              <a:cs typeface="Times New Roman"/>
                            </a:rPr>
                            <a:t>A’</a:t>
                          </a:r>
                          <a:endParaRPr sz="100" dirty="0">
                            <a:latin typeface="Times New Roman"/>
                            <a:cs typeface="Times New Roman"/>
                          </a:endParaRPr>
                        </a:p>
                        <a:p>
                          <a:pPr marL="12700" algn="ctr">
                            <a:lnSpc>
                              <a:spcPts val="1660"/>
                            </a:lnSpc>
                          </a:pPr>
                          <a:r>
                            <a:rPr sz="1400" spc="-10" dirty="0">
                              <a:latin typeface="Arial"/>
                              <a:cs typeface="Arial"/>
                            </a:rPr>
                            <a:t>Sarsa</a:t>
                          </a:r>
                          <a:endParaRPr sz="1400" dirty="0">
                            <a:latin typeface="Arial"/>
                            <a:cs typeface="Arial"/>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a:txBody>
                        <a:bodyPr/>
                        <a:lstStyle/>
                        <a:p>
                          <a:pPr>
                            <a:lnSpc>
                              <a:spcPct val="100000"/>
                            </a:lnSpc>
                          </a:pPr>
                          <a:endParaRPr sz="1600" dirty="0">
                            <a:latin typeface="Times New Roman"/>
                            <a:cs typeface="Times New Roman"/>
                          </a:endParaRPr>
                        </a:p>
                      </a:txBody>
                      <a:tcPr marL="0" marR="0" marT="0"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solidFill>
                          <a:srgbClr val="FFFFFF"/>
                        </a:solidFill>
                      </a:tcPr>
                    </a:tc>
                    <a:extLst>
                      <a:ext uri="{0D108BD9-81ED-4DB2-BD59-A6C34878D82A}">
                        <a16:rowId xmlns:a16="http://schemas.microsoft.com/office/drawing/2014/main" val="10002"/>
                      </a:ext>
                    </a:extLst>
                  </a:tr>
                  <a:tr h="801370">
                    <a:tc>
                      <a:txBody>
                        <a:bodyPr/>
                        <a:lstStyle/>
                        <a:p>
                          <a:endParaRPr lang="en-US"/>
                        </a:p>
                      </a:txBody>
                      <a:tcPr marL="0" marR="0" marT="3810" marB="0">
                        <a:lnR w="3175">
                          <a:solidFill>
                            <a:srgbClr val="BFBFBF"/>
                          </a:solidFill>
                          <a:prstDash val="solid"/>
                        </a:lnR>
                        <a:lnB w="3175">
                          <a:solidFill>
                            <a:srgbClr val="BFBFBF"/>
                          </a:solidFill>
                          <a:prstDash val="solid"/>
                        </a:lnB>
                        <a:blipFill>
                          <a:blip r:embed="rId2"/>
                          <a:stretch>
                            <a:fillRect t="-303788" r="-342773" b="-198485"/>
                          </a:stretch>
                        </a:blipFill>
                      </a:tcPr>
                    </a:tc>
                    <a:tc vMerge="1">
                      <a:txBody>
                        <a:bodyPr/>
                        <a:lstStyle/>
                        <a:p>
                          <a:endParaRPr/>
                        </a:p>
                      </a:txBody>
                      <a:tcPr marL="0" marR="0" marT="0" marB="0">
                        <a:lnL w="3175">
                          <a:solidFill>
                            <a:srgbClr val="BFBFBF"/>
                          </a:solidFill>
                          <a:prstDash val="solid"/>
                        </a:lnL>
                        <a:lnR w="3175">
                          <a:solidFill>
                            <a:srgbClr val="BFBFBF"/>
                          </a:solidFill>
                          <a:prstDash val="solid"/>
                        </a:lnR>
                        <a:lnT w="3175">
                          <a:solidFill>
                            <a:srgbClr val="BFBFBF"/>
                          </a:solidFill>
                          <a:prstDash val="solid"/>
                        </a:lnT>
                        <a:lnB w="3175">
                          <a:solidFill>
                            <a:srgbClr val="BFBFBF"/>
                          </a:solidFill>
                          <a:prstDash val="solid"/>
                        </a:lnB>
                        <a:solidFill>
                          <a:srgbClr val="FFFFFF"/>
                        </a:solidFill>
                      </a:tcPr>
                    </a:tc>
                    <a:tc vMerge="1">
                      <a:txBody>
                        <a:bodyPr/>
                        <a:lstStyle/>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algn="ctr">
                            <a:lnSpc>
                              <a:spcPct val="100000"/>
                            </a:lnSpc>
                          </a:pPr>
                          <a:endParaRPr sz="100" dirty="0">
                            <a:latin typeface="Times New Roman"/>
                            <a:cs typeface="Times New Roman"/>
                          </a:endParaRPr>
                        </a:p>
                        <a:p>
                          <a:pPr marL="290195" algn="ctr">
                            <a:lnSpc>
                              <a:spcPts val="100"/>
                            </a:lnSpc>
                            <a:spcBef>
                              <a:spcPts val="75"/>
                            </a:spcBef>
                          </a:pPr>
                          <a:r>
                            <a:rPr sz="100" spc="-25" dirty="0">
                              <a:latin typeface="Times New Roman"/>
                              <a:cs typeface="Times New Roman"/>
                            </a:rPr>
                            <a:t>A’</a:t>
                          </a:r>
                          <a:endParaRPr sz="100" dirty="0">
                            <a:latin typeface="Times New Roman"/>
                            <a:cs typeface="Times New Roman"/>
                          </a:endParaRPr>
                        </a:p>
                        <a:p>
                          <a:pPr marL="12700" algn="ctr">
                            <a:lnSpc>
                              <a:spcPts val="1660"/>
                            </a:lnSpc>
                          </a:pPr>
                          <a:r>
                            <a:rPr sz="1400" spc="-10" dirty="0">
                              <a:latin typeface="Arial"/>
                              <a:cs typeface="Arial"/>
                            </a:rPr>
                            <a:t>Sarsa</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B w="3175">
                          <a:solidFill>
                            <a:srgbClr val="BFBFBF"/>
                          </a:solidFill>
                          <a:prstDash val="solid"/>
                        </a:lnB>
                        <a:solidFill>
                          <a:srgbClr val="FFFFFF"/>
                        </a:solidFill>
                      </a:tcPr>
                    </a:tc>
                    <a:tc>
                      <a:txBody>
                        <a:bodyPr/>
                        <a:lstStyle/>
                        <a:p>
                          <a:endParaRPr lang="en-US"/>
                        </a:p>
                      </a:txBody>
                      <a:tcPr marL="0" marR="0" marT="42544" marB="0" anchor="ctr">
                        <a:lnL w="3175" cap="flat" cmpd="sng" algn="ctr">
                          <a:solidFill>
                            <a:srgbClr val="BFBFBF"/>
                          </a:solidFill>
                          <a:prstDash val="solid"/>
                          <a:round/>
                          <a:headEnd type="none" w="med" len="med"/>
                          <a:tailEnd type="none" w="med" len="med"/>
                        </a:lnL>
                        <a:lnB w="3175" cap="flat" cmpd="sng" algn="ctr">
                          <a:solidFill>
                            <a:srgbClr val="BFBFBF"/>
                          </a:solidFill>
                          <a:prstDash val="solid"/>
                          <a:round/>
                          <a:headEnd type="none" w="med" len="med"/>
                          <a:tailEnd type="none" w="med" len="med"/>
                        </a:lnB>
                        <a:blipFill>
                          <a:blip r:embed="rId2"/>
                          <a:stretch>
                            <a:fillRect l="-124888" t="-303788" r="-150" b="-198485"/>
                          </a:stretch>
                        </a:blipFill>
                      </a:tcPr>
                    </a:tc>
                    <a:extLst>
                      <a:ext uri="{0D108BD9-81ED-4DB2-BD59-A6C34878D82A}">
                        <a16:rowId xmlns:a16="http://schemas.microsoft.com/office/drawing/2014/main" val="10003"/>
                      </a:ext>
                    </a:extLst>
                  </a:tr>
                  <a:tr h="1596390">
                    <a:tc>
                      <a:txBody>
                        <a:bodyPr/>
                        <a:lstStyle/>
                        <a:p>
                          <a:endParaRPr lang="en-US"/>
                        </a:p>
                      </a:txBody>
                      <a:tcPr marL="0" marR="0" marT="0" marB="0">
                        <a:lnR w="3175">
                          <a:solidFill>
                            <a:srgbClr val="BFBFBF"/>
                          </a:solidFill>
                          <a:prstDash val="solid"/>
                        </a:lnR>
                        <a:lnT w="3175">
                          <a:solidFill>
                            <a:srgbClr val="BFBFBF"/>
                          </a:solidFill>
                          <a:prstDash val="solid"/>
                        </a:lnT>
                        <a:blipFill>
                          <a:blip r:embed="rId2"/>
                          <a:stretch>
                            <a:fillRect t="-203435" r="-342773"/>
                          </a:stretch>
                        </a:blipFill>
                      </a:tcPr>
                    </a:tc>
                    <a:tc>
                      <a:txBody>
                        <a:bodyPr/>
                        <a:lstStyle/>
                        <a:p>
                          <a:pPr algn="ctr">
                            <a:lnSpc>
                              <a:spcPct val="100000"/>
                            </a:lnSpc>
                          </a:pPr>
                          <a:r>
                            <a:rPr lang="en-US" sz="1600" dirty="0">
                              <a:latin typeface="Times New Roman"/>
                              <a:cs typeface="Times New Roman"/>
                            </a:rPr>
                            <a:t>optimization</a:t>
                          </a:r>
                          <a:endParaRPr sz="1600" dirty="0">
                            <a:latin typeface="Times New Roman"/>
                            <a:cs typeface="Times New Roman"/>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solidFill>
                          <a:srgbClr val="FFFFFF"/>
                        </a:solidFill>
                      </a:tcPr>
                    </a:tc>
                    <a:tc>
                      <a:txBody>
                        <a:bodyPr/>
                        <a:lstStyle/>
                        <a:p>
                          <a:pPr marL="60325" indent="0" algn="ctr">
                            <a:lnSpc>
                              <a:spcPct val="100000"/>
                            </a:lnSpc>
                          </a:pPr>
                          <a:r>
                            <a:rPr sz="1400" spc="-50" dirty="0">
                              <a:latin typeface="Arial"/>
                              <a:cs typeface="Arial"/>
                            </a:rPr>
                            <a:t>Q-</a:t>
                          </a:r>
                          <a:r>
                            <a:rPr sz="1400" spc="-10" dirty="0">
                              <a:latin typeface="Arial"/>
                              <a:cs typeface="Arial"/>
                            </a:rPr>
                            <a:t>Learning</a:t>
                          </a:r>
                          <a:endParaRPr sz="1400" dirty="0">
                            <a:latin typeface="Arial"/>
                            <a:cs typeface="Arial"/>
                          </a:endParaRPr>
                        </a:p>
                      </a:txBody>
                      <a:tcPr marL="0" marR="0" marT="0" marB="0" anchor="ctr">
                        <a:lnL w="3175">
                          <a:solidFill>
                            <a:srgbClr val="BFBFBF"/>
                          </a:solidFill>
                          <a:prstDash val="solid"/>
                        </a:lnL>
                        <a:lnR w="3175">
                          <a:solidFill>
                            <a:srgbClr val="BFBFBF"/>
                          </a:solidFill>
                          <a:prstDash val="solid"/>
                        </a:lnR>
                        <a:lnT w="3175">
                          <a:solidFill>
                            <a:srgbClr val="BFBFBF"/>
                          </a:solidFill>
                          <a:prstDash val="solid"/>
                        </a:lnT>
                        <a:solidFill>
                          <a:srgbClr val="FFFFFF"/>
                        </a:solidFill>
                      </a:tcPr>
                    </a:tc>
                    <a:tc>
                      <a:txBody>
                        <a:bodyPr/>
                        <a:lstStyle/>
                        <a:p>
                          <a:endParaRPr lang="en-US"/>
                        </a:p>
                      </a:txBody>
                      <a:tcPr marL="0" marR="0" marT="2540" marB="0" anchor="ctr">
                        <a:lnL w="3175" cap="flat" cmpd="sng" algn="ctr">
                          <a:solidFill>
                            <a:srgbClr val="BFBFBF"/>
                          </a:solidFill>
                          <a:prstDash val="solid"/>
                          <a:round/>
                          <a:headEnd type="none" w="med" len="med"/>
                          <a:tailEnd type="none" w="med" len="med"/>
                        </a:lnL>
                        <a:lnT w="3175" cap="flat" cmpd="sng" algn="ctr">
                          <a:solidFill>
                            <a:srgbClr val="BFBFBF"/>
                          </a:solidFill>
                          <a:prstDash val="solid"/>
                          <a:round/>
                          <a:headEnd type="none" w="med" len="med"/>
                          <a:tailEnd type="none" w="med" len="med"/>
                        </a:lnT>
                        <a:blipFill>
                          <a:blip r:embed="rId2"/>
                          <a:stretch>
                            <a:fillRect l="-124888" t="-203435" r="-150"/>
                          </a:stretch>
                        </a:blipFill>
                      </a:tcPr>
                    </a:tc>
                    <a:extLst>
                      <a:ext uri="{0D108BD9-81ED-4DB2-BD59-A6C34878D82A}">
                        <a16:rowId xmlns:a16="http://schemas.microsoft.com/office/drawing/2014/main" val="10004"/>
                      </a:ext>
                    </a:extLst>
                  </a:tr>
                </a:tbl>
              </a:graphicData>
            </a:graphic>
          </p:graphicFrame>
        </mc:Fallback>
      </mc:AlternateContent>
      <p:sp>
        <p:nvSpPr>
          <p:cNvPr id="5" name="object 5"/>
          <p:cNvSpPr txBox="1"/>
          <p:nvPr/>
        </p:nvSpPr>
        <p:spPr>
          <a:xfrm>
            <a:off x="6269278" y="6215426"/>
            <a:ext cx="104139" cy="196215"/>
          </a:xfrm>
          <a:prstGeom prst="rect">
            <a:avLst/>
          </a:prstGeom>
        </p:spPr>
        <p:txBody>
          <a:bodyPr vert="horz" wrap="square" lIns="0" tIns="15240" rIns="0" bIns="0" rtlCol="0">
            <a:spAutoFit/>
          </a:bodyPr>
          <a:lstStyle/>
          <a:p>
            <a:pPr marL="12700">
              <a:lnSpc>
                <a:spcPct val="100000"/>
              </a:lnSpc>
              <a:spcBef>
                <a:spcPts val="120"/>
              </a:spcBef>
            </a:pPr>
            <a:r>
              <a:rPr sz="1100" i="1" spc="-10" dirty="0">
                <a:latin typeface="Arial"/>
                <a:cs typeface="Arial"/>
              </a:rPr>
              <a:t>α</a:t>
            </a:r>
            <a:endParaRPr sz="1100">
              <a:latin typeface="Arial"/>
              <a:cs typeface="Arial"/>
            </a:endParaRPr>
          </a:p>
        </p:txBody>
      </p:sp>
      <p:sp>
        <p:nvSpPr>
          <p:cNvPr id="6" name="object 6"/>
          <p:cNvSpPr txBox="1"/>
          <p:nvPr/>
        </p:nvSpPr>
        <p:spPr>
          <a:xfrm>
            <a:off x="5506518" y="6279577"/>
            <a:ext cx="2746375" cy="266065"/>
          </a:xfrm>
          <a:prstGeom prst="rect">
            <a:avLst/>
          </a:prstGeom>
        </p:spPr>
        <p:txBody>
          <a:bodyPr vert="horz" wrap="square" lIns="0" tIns="15875" rIns="0" bIns="0" rtlCol="0">
            <a:spAutoFit/>
          </a:bodyPr>
          <a:lstStyle/>
          <a:p>
            <a:pPr marL="12700">
              <a:lnSpc>
                <a:spcPct val="100000"/>
              </a:lnSpc>
              <a:spcBef>
                <a:spcPts val="125"/>
              </a:spcBef>
            </a:pPr>
            <a:r>
              <a:rPr sz="1550" spc="-40" dirty="0">
                <a:latin typeface="Cambria"/>
                <a:cs typeface="Cambria"/>
              </a:rPr>
              <a:t>where</a:t>
            </a:r>
            <a:r>
              <a:rPr sz="1550" spc="225" dirty="0">
                <a:latin typeface="Cambria"/>
                <a:cs typeface="Cambria"/>
              </a:rPr>
              <a:t> </a:t>
            </a:r>
            <a:r>
              <a:rPr sz="1550" i="1" dirty="0">
                <a:latin typeface="Times New Roman"/>
                <a:cs typeface="Times New Roman"/>
              </a:rPr>
              <a:t>x</a:t>
            </a:r>
            <a:r>
              <a:rPr sz="1550" i="1" spc="60" dirty="0">
                <a:latin typeface="Times New Roman"/>
                <a:cs typeface="Times New Roman"/>
              </a:rPr>
              <a:t> </a:t>
            </a:r>
            <a:r>
              <a:rPr sz="1550" spc="155" dirty="0">
                <a:latin typeface="Cambria"/>
                <a:cs typeface="Cambria"/>
              </a:rPr>
              <a:t>←</a:t>
            </a:r>
            <a:r>
              <a:rPr sz="1550" spc="85" dirty="0">
                <a:latin typeface="Cambria"/>
                <a:cs typeface="Cambria"/>
              </a:rPr>
              <a:t> </a:t>
            </a:r>
            <a:r>
              <a:rPr sz="1550" i="1" dirty="0">
                <a:latin typeface="Times New Roman"/>
                <a:cs typeface="Times New Roman"/>
              </a:rPr>
              <a:t>y</a:t>
            </a:r>
            <a:r>
              <a:rPr sz="1550" i="1" spc="260" dirty="0">
                <a:latin typeface="Times New Roman"/>
                <a:cs typeface="Times New Roman"/>
              </a:rPr>
              <a:t> </a:t>
            </a:r>
            <a:r>
              <a:rPr sz="1550" dirty="0">
                <a:latin typeface="Cambria"/>
                <a:cs typeface="Cambria"/>
              </a:rPr>
              <a:t>is</a:t>
            </a:r>
            <a:r>
              <a:rPr sz="1550" spc="225" dirty="0">
                <a:latin typeface="Cambria"/>
                <a:cs typeface="Cambria"/>
              </a:rPr>
              <a:t> </a:t>
            </a:r>
            <a:r>
              <a:rPr sz="1550" i="1" dirty="0">
                <a:latin typeface="Times New Roman"/>
                <a:cs typeface="Times New Roman"/>
              </a:rPr>
              <a:t>x</a:t>
            </a:r>
            <a:r>
              <a:rPr sz="1550" i="1" spc="60" dirty="0">
                <a:latin typeface="Times New Roman"/>
                <a:cs typeface="Times New Roman"/>
              </a:rPr>
              <a:t> </a:t>
            </a:r>
            <a:r>
              <a:rPr sz="1550" spc="155" dirty="0">
                <a:latin typeface="Cambria"/>
                <a:cs typeface="Cambria"/>
              </a:rPr>
              <a:t>←</a:t>
            </a:r>
            <a:r>
              <a:rPr sz="1550" spc="85" dirty="0">
                <a:latin typeface="Cambria"/>
                <a:cs typeface="Cambria"/>
              </a:rPr>
              <a:t> </a:t>
            </a:r>
            <a:r>
              <a:rPr sz="1550" i="1" dirty="0">
                <a:latin typeface="Times New Roman"/>
                <a:cs typeface="Times New Roman"/>
              </a:rPr>
              <a:t>x</a:t>
            </a:r>
            <a:r>
              <a:rPr sz="1550" i="1" spc="30" dirty="0">
                <a:latin typeface="Times New Roman"/>
                <a:cs typeface="Times New Roman"/>
              </a:rPr>
              <a:t> </a:t>
            </a:r>
            <a:r>
              <a:rPr sz="1550" spc="210" dirty="0">
                <a:latin typeface="Cambria"/>
                <a:cs typeface="Cambria"/>
              </a:rPr>
              <a:t>+</a:t>
            </a:r>
            <a:r>
              <a:rPr sz="1550" spc="-5" dirty="0">
                <a:latin typeface="Cambria"/>
                <a:cs typeface="Cambria"/>
              </a:rPr>
              <a:t> </a:t>
            </a:r>
            <a:r>
              <a:rPr sz="1550" i="1" dirty="0">
                <a:latin typeface="Arial"/>
                <a:cs typeface="Arial"/>
              </a:rPr>
              <a:t>α</a:t>
            </a:r>
            <a:r>
              <a:rPr sz="1550" dirty="0">
                <a:latin typeface="Cambria"/>
                <a:cs typeface="Cambria"/>
              </a:rPr>
              <a:t>(</a:t>
            </a:r>
            <a:r>
              <a:rPr sz="1550" i="1" dirty="0">
                <a:latin typeface="Times New Roman"/>
                <a:cs typeface="Times New Roman"/>
              </a:rPr>
              <a:t>y </a:t>
            </a:r>
            <a:r>
              <a:rPr sz="1550" spc="210" dirty="0">
                <a:latin typeface="Cambria"/>
                <a:cs typeface="Cambria"/>
              </a:rPr>
              <a:t>−</a:t>
            </a:r>
            <a:r>
              <a:rPr sz="1550" dirty="0">
                <a:latin typeface="Cambria"/>
                <a:cs typeface="Cambria"/>
              </a:rPr>
              <a:t> </a:t>
            </a:r>
            <a:r>
              <a:rPr sz="1550" i="1" spc="-25" dirty="0">
                <a:latin typeface="Times New Roman"/>
                <a:cs typeface="Times New Roman"/>
              </a:rPr>
              <a:t>x</a:t>
            </a:r>
            <a:r>
              <a:rPr sz="1550" spc="-25" dirty="0">
                <a:latin typeface="Cambria"/>
                <a:cs typeface="Cambria"/>
              </a:rPr>
              <a:t>)</a:t>
            </a:r>
            <a:endParaRPr sz="1550" dirty="0">
              <a:latin typeface="Cambria"/>
              <a:cs typeface="Cambria"/>
            </a:endParaRPr>
          </a:p>
        </p:txBody>
      </p:sp>
      <p:sp>
        <p:nvSpPr>
          <p:cNvPr id="7" name="Date Placeholder 3">
            <a:extLst>
              <a:ext uri="{FF2B5EF4-FFF2-40B4-BE49-F238E27FC236}">
                <a16:creationId xmlns:a16="http://schemas.microsoft.com/office/drawing/2014/main" id="{32717F0A-B070-D7D4-8F85-5741ECF8EB42}"/>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4A28F483-5756-1A40-4D21-BFEE6A7D6A4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1F7068E0-FFFE-72F7-8FD6-70E82AF1693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99022" y="1579185"/>
            <a:ext cx="5345955" cy="4771332"/>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300480">
              <a:lnSpc>
                <a:spcPct val="100000"/>
              </a:lnSpc>
              <a:spcBef>
                <a:spcPts val="100"/>
              </a:spcBef>
            </a:pPr>
            <a:r>
              <a:rPr spc="-35" dirty="0"/>
              <a:t>Unified</a:t>
            </a:r>
            <a:r>
              <a:rPr spc="-135" dirty="0"/>
              <a:t> </a:t>
            </a:r>
            <a:r>
              <a:rPr spc="-20" dirty="0"/>
              <a:t>View</a:t>
            </a:r>
            <a:r>
              <a:rPr spc="-90" dirty="0"/>
              <a:t> </a:t>
            </a:r>
            <a:r>
              <a:rPr dirty="0"/>
              <a:t>of</a:t>
            </a:r>
            <a:r>
              <a:rPr spc="-55" dirty="0"/>
              <a:t> </a:t>
            </a:r>
            <a:r>
              <a:rPr spc="-100" dirty="0"/>
              <a:t>Reinforcement</a:t>
            </a:r>
            <a:r>
              <a:rPr spc="-140" dirty="0"/>
              <a:t> </a:t>
            </a:r>
            <a:r>
              <a:rPr spc="-10" dirty="0"/>
              <a:t>Learning</a:t>
            </a:r>
          </a:p>
        </p:txBody>
      </p:sp>
      <p:sp>
        <p:nvSpPr>
          <p:cNvPr id="4" name="Date Placeholder 3">
            <a:extLst>
              <a:ext uri="{FF2B5EF4-FFF2-40B4-BE49-F238E27FC236}">
                <a16:creationId xmlns:a16="http://schemas.microsoft.com/office/drawing/2014/main" id="{F0A1B787-8ED1-3303-082B-12523EB39FD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9A770A7C-E861-F547-9C52-E44E7817898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21F83CB-67BD-25CD-7DF2-A03C337DE29C}"/>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lang="en-US" sz="3200" b="0" dirty="0">
                <a:uFill>
                  <a:solidFill>
                    <a:srgbClr val="000000"/>
                  </a:solidFill>
                </a:uFill>
                <a:latin typeface="+mn-lt"/>
                <a:ea typeface="+mn-ea"/>
                <a:cs typeface="+mn-cs"/>
                <a:sym typeface="Arial"/>
              </a:rPr>
              <a:t>Acknowledgments</a:t>
            </a:r>
            <a:endParaRPr sz="3200" b="0" dirty="0">
              <a:uFill>
                <a:solidFill>
                  <a:srgbClr val="000000"/>
                </a:solidFill>
              </a:uFill>
              <a:latin typeface="+mn-lt"/>
              <a:ea typeface="+mn-ea"/>
              <a:cs typeface="+mn-cs"/>
              <a:sym typeface="Arial"/>
            </a:endParaRPr>
          </a:p>
        </p:txBody>
      </p:sp>
      <p:sp>
        <p:nvSpPr>
          <p:cNvPr id="5" name="TextBox 4">
            <a:extLst>
              <a:ext uri="{FF2B5EF4-FFF2-40B4-BE49-F238E27FC236}">
                <a16:creationId xmlns:a16="http://schemas.microsoft.com/office/drawing/2014/main" id="{34BF768C-32D2-0C0E-04B7-54DD356B7413}"/>
              </a:ext>
            </a:extLst>
          </p:cNvPr>
          <p:cNvSpPr txBox="1"/>
          <p:nvPr/>
        </p:nvSpPr>
        <p:spPr>
          <a:xfrm>
            <a:off x="331788" y="2053079"/>
            <a:ext cx="8799513"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This material includes content adapted from instructional resources made available by David Silver as part of his Reinforcement Learning course at UCL under CC-BY-NC 4.0. </a:t>
            </a:r>
          </a:p>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Gill Sans"/>
              <a:sym typeface="Gill Sans"/>
            </a:endParaRPr>
          </a:p>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Refer to </a:t>
            </a:r>
            <a:r>
              <a:rPr kumimoji="0" lang="en-US" sz="2800" b="0" i="0" u="none" strike="noStrike" kern="0" cap="none" spc="0" normalizeH="0" baseline="0" noProof="0" dirty="0">
                <a:ln>
                  <a:noFill/>
                </a:ln>
                <a:solidFill>
                  <a:srgbClr val="000000"/>
                </a:solidFill>
                <a:effectLst/>
                <a:uLnTx/>
                <a:uFillTx/>
                <a:latin typeface="Gill Sans"/>
                <a:sym typeface="Gill Sans"/>
                <a:hlinkClick r:id="rId2"/>
              </a:rPr>
              <a:t>https://www.davidsilver.uk/teaching/ </a:t>
            </a:r>
            <a:r>
              <a:rPr kumimoji="0" lang="en-US" sz="2800" b="0" i="0" u="none" strike="noStrike" kern="0" cap="none" spc="0" normalizeH="0" baseline="0" noProof="0" dirty="0">
                <a:ln>
                  <a:noFill/>
                </a:ln>
                <a:solidFill>
                  <a:srgbClr val="000000"/>
                </a:solidFill>
                <a:effectLst/>
                <a:uLnTx/>
                <a:uFillTx/>
                <a:latin typeface="Gill Sans"/>
                <a:sym typeface="Gill Sans"/>
              </a:rPr>
              <a:t>for full details</a:t>
            </a:r>
          </a:p>
        </p:txBody>
      </p:sp>
      <p:sp>
        <p:nvSpPr>
          <p:cNvPr id="3" name="Slide Number Placeholder 2">
            <a:extLst>
              <a:ext uri="{FF2B5EF4-FFF2-40B4-BE49-F238E27FC236}">
                <a16:creationId xmlns:a16="http://schemas.microsoft.com/office/drawing/2014/main" id="{D96E6C31-FE07-9B34-FEEB-D9098C3CABF4}"/>
              </a:ext>
            </a:extLst>
          </p:cNvPr>
          <p:cNvSpPr>
            <a:spLocks noGrp="1"/>
          </p:cNvSpPr>
          <p:nvPr>
            <p:ph type="sldNum" sz="quarter" idx="2"/>
          </p:nvPr>
        </p:nvSpPr>
        <p:spPr/>
        <p:txBody>
          <a:bodyPr/>
          <a:lstStyle/>
          <a:p>
            <a:pPr marL="0" marR="0" lvl="0" indent="0" algn="ctr" defTabSz="410765"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200" b="0" i="0" u="none" strike="noStrike" kern="0" cap="none" spc="0" normalizeH="0" baseline="0" noProof="0" smtClean="0">
                <a:ln>
                  <a:noFill/>
                </a:ln>
                <a:solidFill>
                  <a:srgbClr val="000000"/>
                </a:solidFill>
                <a:effectLst/>
                <a:uLnTx/>
                <a:uFillTx/>
                <a:latin typeface="Helvetica Light"/>
                <a:sym typeface="Helvetica Light"/>
              </a:rPr>
              <a:pPr marL="0" marR="0" lvl="0" indent="0" algn="ctr" defTabSz="410765" rtl="0" eaLnBrk="1" fontAlgn="auto" latinLnBrk="0" hangingPunct="0">
                <a:lnSpc>
                  <a:spcPct val="100000"/>
                </a:lnSpc>
                <a:spcBef>
                  <a:spcPts val="0"/>
                </a:spcBef>
                <a:spcAft>
                  <a:spcPts val="0"/>
                </a:spcAft>
                <a:buClrTx/>
                <a:buSzTx/>
                <a:buFontTx/>
                <a:buNone/>
                <a:tabLst/>
                <a:defRPr/>
              </a:pPr>
              <a:t>35</a:t>
            </a:fld>
            <a:endParaRPr kumimoji="0" lang="en-US" sz="1200" b="0" i="0" u="none" strike="noStrike" kern="0" cap="none" spc="0" normalizeH="0" baseline="0" noProof="0">
              <a:ln>
                <a:noFill/>
              </a:ln>
              <a:solidFill>
                <a:srgbClr val="000000"/>
              </a:solidFill>
              <a:effectLst/>
              <a:uLnTx/>
              <a:uFillTx/>
              <a:latin typeface="Helvetica Light"/>
              <a:sym typeface="Helvetica Light"/>
            </a:endParaRPr>
          </a:p>
        </p:txBody>
      </p:sp>
      <p:sp>
        <p:nvSpPr>
          <p:cNvPr id="4" name="Date Placeholder 3">
            <a:extLst>
              <a:ext uri="{FF2B5EF4-FFF2-40B4-BE49-F238E27FC236}">
                <a16:creationId xmlns:a16="http://schemas.microsoft.com/office/drawing/2014/main" id="{A8284FC3-4E3A-E1F9-DDAF-D6F20D9C4AFC}"/>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8/15/2024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46B1D39F-F77D-A60E-A8F9-8E0CA9B0140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40DA006A-B20D-6944-6A61-7E4F54BA5C8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39530924"/>
      </p:ext>
    </p:extLst>
  </p:cSld>
  <p:clrMapOvr>
    <a:masterClrMapping/>
  </p:clrMapOvr>
  <p:transition spd="med"/>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4629</TotalTime>
  <Words>5668</Words>
  <Application>Microsoft Office PowerPoint</Application>
  <PresentationFormat>On-screen Show (4:3)</PresentationFormat>
  <Paragraphs>627</Paragraphs>
  <Slides>35</Slides>
  <Notes>20</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35</vt:i4>
      </vt:variant>
    </vt:vector>
  </HeadingPairs>
  <TitlesOfParts>
    <vt:vector size="55" baseType="lpstr">
      <vt:lpstr>Arial</vt:lpstr>
      <vt:lpstr>Arial Narrow</vt:lpstr>
      <vt:lpstr>Calibri</vt:lpstr>
      <vt:lpstr>Cambria</vt:lpstr>
      <vt:lpstr>Cambria Math</vt:lpstr>
      <vt:lpstr>Comic Sans MS</vt:lpstr>
      <vt:lpstr>Gill Sans</vt:lpstr>
      <vt:lpstr>Gill Sans MT</vt:lpstr>
      <vt:lpstr>Helvetica</vt:lpstr>
      <vt:lpstr>Helvetica Light</vt:lpstr>
      <vt:lpstr>Lucida Sans Unicode</vt:lpstr>
      <vt:lpstr>Söhne</vt:lpstr>
      <vt:lpstr>Söhne Mono</vt:lpstr>
      <vt:lpstr>Symbol</vt:lpstr>
      <vt:lpstr>Times New Roman</vt:lpstr>
      <vt:lpstr>Verdana</vt:lpstr>
      <vt:lpstr>Wingdings 2</vt:lpstr>
      <vt:lpstr>Office Theme</vt:lpstr>
      <vt:lpstr>White</vt:lpstr>
      <vt:lpstr>1_White</vt:lpstr>
      <vt:lpstr>PowerPoint Presentation</vt:lpstr>
      <vt:lpstr>From Model-based Prediction to Model-free Control</vt:lpstr>
      <vt:lpstr>Step 1: From Model-based Prediction to Model-free-Prediction</vt:lpstr>
      <vt:lpstr>Sampling liberates us from needing a model</vt:lpstr>
      <vt:lpstr>Monte-Carlo Update</vt:lpstr>
      <vt:lpstr>Monte-Carlo Policy Evaluation</vt:lpstr>
      <vt:lpstr>To evaluate state s</vt:lpstr>
      <vt:lpstr>Update the empirical mean of V(s) incrementally after episode S1, A1, R2, …, ST</vt:lpstr>
      <vt:lpstr>Monte-Carlo Reinforcement Learning</vt:lpstr>
      <vt:lpstr>PowerPoint Presentation</vt:lpstr>
      <vt:lpstr>Monte-Carlo versus Temporal Difference</vt:lpstr>
      <vt:lpstr>Advantages and Disadvantages of MC vs. TD</vt:lpstr>
      <vt:lpstr>PowerPoint Presentation</vt:lpstr>
      <vt:lpstr>Random Walk: MC vs. TD</vt:lpstr>
      <vt:lpstr>Step 2: From Model-free Prediction to Control</vt:lpstr>
      <vt:lpstr>Monte-Carlo Policy Iteration (simple)</vt:lpstr>
      <vt:lpstr>GLIE Monte-Carlo Control (Greedy in the limit with infinite exploration)</vt:lpstr>
      <vt:lpstr>MC vs. TD for Control</vt:lpstr>
      <vt:lpstr>Policy Iteration with Sarsa</vt:lpstr>
      <vt:lpstr>SARSA Algorithm for On-Policy Control</vt:lpstr>
      <vt:lpstr>SARSA - TD Backups</vt:lpstr>
      <vt:lpstr>Convergence of Sarsa</vt:lpstr>
      <vt:lpstr>Sarsa(λ) and n-step Sarsa</vt:lpstr>
      <vt:lpstr>Sarsa(λ) Gridworld Example [Sutton Barto]</vt:lpstr>
      <vt:lpstr>Sarsa(λ) Algorithm</vt:lpstr>
      <vt:lpstr>Backward View TD(λ)</vt:lpstr>
      <vt:lpstr>On-Policy vs Off-Policy Learning</vt:lpstr>
      <vt:lpstr>Evaluate target policy π(a∣s) to compute vπ(s) or qπ(s, a) while following behaviour policy μ(a ∣ s) {S1, A1, R2, …, ST} ∼ μ</vt:lpstr>
      <vt:lpstr>We now consider off-policy learning of action-values Q(s, a)</vt:lpstr>
      <vt:lpstr>Off-Policy Control with Q-Learning</vt:lpstr>
      <vt:lpstr>Q-Learning Control</vt:lpstr>
      <vt:lpstr>Q-Learning Algorithm for Off-Policy Control</vt:lpstr>
      <vt:lpstr>Relationship Between DP and TD</vt:lpstr>
      <vt:lpstr>Unified View of Reinforcement Learning</vt:lpstr>
      <vt:lpstr>Acknowledgments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4 GLIE, SARSA and Q-Learning copy</dc:title>
  <cp:lastModifiedBy>Fuad Noman</cp:lastModifiedBy>
  <cp:revision>39</cp:revision>
  <dcterms:created xsi:type="dcterms:W3CDTF">2023-06-30T00:47:00Z</dcterms:created>
  <dcterms:modified xsi:type="dcterms:W3CDTF">2024-08-15T09:28:16Z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2023-06-30T00:00:00Z</vt:filetime>
  </property>
  <property fmtid="{D5CDD505-2E9C-101B-9397-08002B2CF9AE}" pid="3" name="LastSaved">
    <vt:filetime>2023-06-30T00:00:00Z</vt:filetime>
  </property>
  <property fmtid="{D5CDD505-2E9C-101B-9397-08002B2CF9AE}" pid="4" name="Producer">
    <vt:lpwstr>macOS Version 12.6.4 (Build 21G526) Quartz PDFContext</vt:lpwstr>
  </property>
</Properties>
</file>
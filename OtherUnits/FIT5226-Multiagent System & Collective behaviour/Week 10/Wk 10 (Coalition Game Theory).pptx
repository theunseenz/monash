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26323" autoAdjust="0"/>
  </p:normalViewPr>
  <p:slideViewPr>
    <p:cSldViewPr>
      <p:cViewPr>
        <p:scale>
          <a:sx n="50" d="100"/>
          <a:sy n="50" d="100"/>
        </p:scale>
        <p:origin x="2981" y="-115"/>
      </p:cViewPr>
      <p:guideLst>
        <p:guide orient="horz" pos="2880"/>
        <p:guide pos="2160"/>
      </p:guideLst>
    </p:cSldViewPr>
  </p:slideViewPr>
  <p:notesTextViewPr>
    <p:cViewPr>
      <p:scale>
        <a:sx n="100" d="100"/>
        <a:sy n="100" d="100"/>
      </p:scale>
      <p:origin x="0" y="-116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AAFCEA51-C2ED-490A-BBC9-733BCB818509}" type="datetimeFigureOut">
              <a:rPr lang="en-MY" smtClean="0"/>
              <a:t>2/10/2024</a:t>
            </a:fld>
            <a:endParaRPr lang="en-MY"/>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64F17B5-AEBC-4DDC-A2E1-024551EDEE5F}" type="slidenum">
              <a:rPr lang="en-MY" smtClean="0"/>
              <a:t>‹#›</a:t>
            </a:fld>
            <a:endParaRPr lang="en-MY"/>
          </a:p>
        </p:txBody>
      </p:sp>
    </p:spTree>
    <p:extLst>
      <p:ext uri="{BB962C8B-B14F-4D97-AF65-F5344CB8AC3E}">
        <p14:creationId xmlns:p14="http://schemas.microsoft.com/office/powerpoint/2010/main" val="3243755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Coalitional Game Theory is a branch of game theory that focuses on the analysis of cooperative games, where players (agents) form coalitions or groups to maximize their collective benefits. In coalitional games, players collaborate to achieve specific goals and distribute the gains obtained from their cooperation among themselves.</a:t>
            </a:r>
          </a:p>
          <a:p>
            <a:endParaRPr lang="en-US" dirty="0"/>
          </a:p>
          <a:p>
            <a:r>
              <a:rPr lang="en-US" dirty="0"/>
              <a:t>Key concepts and elements in coalitional game theory include:</a:t>
            </a:r>
          </a:p>
          <a:p>
            <a:endParaRPr lang="en-US" dirty="0"/>
          </a:p>
          <a:p>
            <a:pPr marL="228600" indent="-228600">
              <a:buFont typeface="+mj-lt"/>
              <a:buAutoNum type="arabicPeriod"/>
            </a:pPr>
            <a:r>
              <a:rPr lang="en-US" b="1" dirty="0"/>
              <a:t>Coalitions</a:t>
            </a:r>
            <a:r>
              <a:rPr lang="en-US" dirty="0"/>
              <a:t>: A coalition is a group of players who work together to achieve common objectives. Coalitions can be of various sizes and compositions.</a:t>
            </a:r>
          </a:p>
          <a:p>
            <a:pPr marL="228600" indent="-228600">
              <a:buFont typeface="+mj-lt"/>
              <a:buAutoNum type="arabicPeriod"/>
            </a:pPr>
            <a:endParaRPr lang="en-US" dirty="0"/>
          </a:p>
          <a:p>
            <a:pPr marL="228600" indent="-228600">
              <a:buFont typeface="+mj-lt"/>
              <a:buAutoNum type="arabicPeriod"/>
            </a:pPr>
            <a:r>
              <a:rPr lang="en-US" b="1" dirty="0"/>
              <a:t>Characteristic Function</a:t>
            </a:r>
            <a:r>
              <a:rPr lang="en-US" dirty="0"/>
              <a:t>: The characteristic function of a coalitional game assigns a value to each possible coalition, representing the total worth or benefit that the coalition can generate. It defines the rationality of cooperation.</a:t>
            </a:r>
          </a:p>
          <a:p>
            <a:pPr marL="228600" indent="-228600">
              <a:buFont typeface="+mj-lt"/>
              <a:buAutoNum type="arabicPeriod"/>
            </a:pPr>
            <a:endParaRPr lang="en-US" dirty="0"/>
          </a:p>
          <a:p>
            <a:pPr marL="228600" indent="-228600">
              <a:buFont typeface="+mj-lt"/>
              <a:buAutoNum type="arabicPeriod"/>
            </a:pPr>
            <a:r>
              <a:rPr lang="en-US" b="1" dirty="0"/>
              <a:t>Core</a:t>
            </a:r>
            <a:r>
              <a:rPr lang="en-US" dirty="0"/>
              <a:t>: The core of a coalitional game contains all possible payoff allocations that are stable and satisfy certain properties. In other words, it represents a set of outcomes where no smaller coalition can obtain a better payoff by breaking away.</a:t>
            </a:r>
          </a:p>
          <a:p>
            <a:pPr marL="228600" indent="-228600">
              <a:buFont typeface="+mj-lt"/>
              <a:buAutoNum type="arabicPeriod"/>
            </a:pPr>
            <a:endParaRPr lang="en-US" dirty="0"/>
          </a:p>
          <a:p>
            <a:pPr marL="228600" indent="-228600">
              <a:buFont typeface="+mj-lt"/>
              <a:buAutoNum type="arabicPeriod"/>
            </a:pPr>
            <a:r>
              <a:rPr lang="en-US" b="1" dirty="0"/>
              <a:t>Shapley Value</a:t>
            </a:r>
            <a:r>
              <a:rPr lang="en-US" dirty="0"/>
              <a:t>: The Shapley value is a solution concept that assigns a value to each player based on their marginal contribution to each possible coalition. It represents a fair way to distribute the total worth among the players.</a:t>
            </a:r>
          </a:p>
          <a:p>
            <a:pPr marL="228600" indent="-228600">
              <a:buFont typeface="+mj-lt"/>
              <a:buAutoNum type="arabicPeriod"/>
            </a:pPr>
            <a:endParaRPr lang="en-US" dirty="0"/>
          </a:p>
          <a:p>
            <a:pPr marL="228600" indent="-228600">
              <a:buFont typeface="+mj-lt"/>
              <a:buAutoNum type="arabicPeriod"/>
            </a:pPr>
            <a:r>
              <a:rPr lang="en-US" b="1" dirty="0"/>
              <a:t>Nash Bargaining Solution</a:t>
            </a:r>
            <a:r>
              <a:rPr lang="en-US" dirty="0"/>
              <a:t>: This solution concept aims to find an outcome that maximizes the product of the players' gains and is a solution to a bargaining problem.</a:t>
            </a:r>
          </a:p>
          <a:p>
            <a:pPr marL="228600" indent="-228600">
              <a:buFont typeface="+mj-lt"/>
              <a:buAutoNum type="arabicPeriod"/>
            </a:pPr>
            <a:endParaRPr lang="en-US" dirty="0"/>
          </a:p>
          <a:p>
            <a:pPr marL="228600" indent="-228600">
              <a:buFont typeface="+mj-lt"/>
              <a:buAutoNum type="arabicPeriod"/>
            </a:pPr>
            <a:r>
              <a:rPr lang="en-US" b="1" dirty="0"/>
              <a:t>Cooperative Game Theory vs. Non-cooperative Game Theory</a:t>
            </a:r>
            <a:r>
              <a:rPr lang="en-US" dirty="0"/>
              <a:t>: Cooperative game theory focuses on how players can form coalitions and cooperate to achieve mutual benefits, while non-cooperative game theory (e.g., Nash equilibrium) emphasizes self-interested decision-making without formal cooperation.</a:t>
            </a:r>
          </a:p>
          <a:p>
            <a:pPr marL="228600" indent="-228600">
              <a:buFont typeface="+mj-lt"/>
              <a:buAutoNum type="arabicPeriod"/>
            </a:pPr>
            <a:endParaRPr lang="en-US" dirty="0"/>
          </a:p>
          <a:p>
            <a:pPr marL="228600" indent="-228600">
              <a:buFont typeface="+mj-lt"/>
              <a:buAutoNum type="arabicPeriod"/>
            </a:pPr>
            <a:r>
              <a:rPr lang="en-US" b="1" dirty="0"/>
              <a:t>Applications</a:t>
            </a:r>
            <a:r>
              <a:rPr lang="en-US" dirty="0"/>
              <a:t>: Coalitional game theory has applications in various fields, including economics, political science, and computer science. It is used to analyze scenarios where cooperation and coordination among multiple agents are essential, such as in coalition formation, resource allocation, and cost sharing.</a:t>
            </a:r>
          </a:p>
          <a:p>
            <a:endParaRPr lang="en-US" dirty="0"/>
          </a:p>
          <a:p>
            <a:r>
              <a:rPr lang="en-US" dirty="0"/>
              <a:t>Overall, coalitional game theory provides a framework for understanding and modeling cooperation among rational agents and offers solutions to problems where cooperation is a fundamental element. It helps to address questions of fairness, stability, and efficiency in cooperative settings.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a:t>
            </a:fld>
            <a:endParaRPr lang="en-MY"/>
          </a:p>
        </p:txBody>
      </p:sp>
    </p:spTree>
    <p:extLst>
      <p:ext uri="{BB962C8B-B14F-4D97-AF65-F5344CB8AC3E}">
        <p14:creationId xmlns:p14="http://schemas.microsoft.com/office/powerpoint/2010/main" val="305693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coalitional games, the focus shifts from individual players to groups (coalitions) of players working together to achieve common objectives. These games are characterized by cooperation, and payoffs are typically assigned to entire coalitions rather than to individual players. Here's a bit more detail about coalitional games:</a:t>
            </a:r>
          </a:p>
          <a:p>
            <a:endParaRPr lang="en-US" dirty="0"/>
          </a:p>
          <a:p>
            <a:pPr marL="228600" indent="-228600">
              <a:buFont typeface="+mj-lt"/>
              <a:buAutoNum type="arabicPeriod"/>
            </a:pPr>
            <a:r>
              <a:rPr lang="en-US" b="1" dirty="0"/>
              <a:t>Characteristics of Coalitional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Cooperative Nature: Coalitional games are inherently cooperative, as players collaborate within coalitions to maximize their joint payoffs.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 Formation: Players can form various coalitions, and the challenge often lies in determining which coalitions are stable and lead to equitable outcomes.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Transferable </a:t>
            </a:r>
            <a:r>
              <a:rPr lang="en-US" dirty="0"/>
              <a:t>Utility: Coalitional games assume that utility or payoff is transferable among coalition members. This means that players within a coalition can distribute their collective payoff among themselves in any way they see fit.</a:t>
            </a:r>
          </a:p>
          <a:p>
            <a:endParaRPr lang="en-US" dirty="0"/>
          </a:p>
          <a:p>
            <a:pPr marL="228600" indent="-228600">
              <a:buFont typeface="+mj-lt"/>
              <a:buAutoNum type="arabicPeriod" startAt="2"/>
            </a:pPr>
            <a:r>
              <a:rPr lang="en-US" b="1" dirty="0"/>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is a fundamental concept in coalitional games. It assigns a value to each possible coalition, representing the worth or benefit that the coalition can achieve. In other words, it quantifies the total gain achievable when a particular group of players cooperates.</a:t>
            </a:r>
          </a:p>
          <a:p>
            <a:endParaRPr lang="en-US" dirty="0"/>
          </a:p>
          <a:p>
            <a:pPr marL="228600" indent="-228600">
              <a:buFont typeface="+mj-lt"/>
              <a:buAutoNum type="arabicPeriod" startAt="3"/>
            </a:pPr>
            <a:r>
              <a:rPr lang="en-US" b="1" dirty="0"/>
              <a:t>Core and Stable Outcomes: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central goals in coalitional game theory is to identify the core, which is a set of outcomes where no smaller coalition can obtain a better payoff by breaking away. The core contains outcomes that are considered stable, ensuring that no group of players has an incentive to leave the coalition.</a:t>
            </a:r>
          </a:p>
          <a:p>
            <a:endParaRPr lang="en-US" dirty="0"/>
          </a:p>
          <a:p>
            <a:pPr marL="228600" indent="-228600">
              <a:buFont typeface="+mj-lt"/>
              <a:buAutoNum type="arabicPeriod" startAt="4"/>
            </a:pPr>
            <a:r>
              <a:rPr lang="en-US" b="1" dirty="0"/>
              <a:t>Solution Concepts: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Various solution concepts are used in coalitional games to distribute the coalition's total worth among its members fairly. Some well-known solution concepts include the Shapley value and the nucleolus.</a:t>
            </a:r>
          </a:p>
          <a:p>
            <a:endParaRPr lang="en-US" dirty="0"/>
          </a:p>
          <a:p>
            <a:pPr marL="228600" indent="-228600">
              <a:buFont typeface="+mj-lt"/>
              <a:buAutoNum type="arabicPeriod" startAt="5"/>
            </a:pPr>
            <a:r>
              <a:rPr lang="en-US" b="1" dirty="0"/>
              <a:t>Applications:</a:t>
            </a:r>
          </a:p>
          <a:p>
            <a:pPr marL="628650" lvl="1" indent="-171450">
              <a:buFont typeface="Arial" panose="020B0604020202020204" pitchFamily="34" charset="0"/>
              <a:buChar char="•"/>
            </a:pPr>
            <a:r>
              <a:rPr lang="en-US" dirty="0"/>
              <a:t>Coalitional game theory finds applications in fields such as economics, political science, and cooperative robotics. It is used to study scenarios involving cooperation, cost sharing, coalition formation, and resource allocation.</a:t>
            </a:r>
          </a:p>
          <a:p>
            <a:endParaRPr lang="en-US" dirty="0"/>
          </a:p>
          <a:p>
            <a:pPr marL="228600" indent="-228600">
              <a:buFont typeface="+mj-lt"/>
              <a:buAutoNum type="arabicPeriod" startAt="6"/>
            </a:pPr>
            <a:r>
              <a:rPr lang="en-US" b="1" dirty="0"/>
              <a:t>Comparison to Non-Cooperative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non-cooperative games, players act independently in their own self-interest, often resulting in Nash equilibria. In contrast, coalitional games focus on group dynamics, where players deliberately form alliances to maximize collective gains.</a:t>
            </a:r>
          </a:p>
          <a:p>
            <a:endParaRPr lang="en-US" dirty="0"/>
          </a:p>
          <a:p>
            <a:r>
              <a:rPr lang="en-US" dirty="0"/>
              <a:t>In summary, coalitional games provide a framework for analyzing and understanding cooperative behavior among rational agents. They are particularly useful in situations where players can achieve more by working together, and the challenge is to distribute the benefits fairly among the cooperating parties.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2</a:t>
            </a:fld>
            <a:endParaRPr lang="en-MY"/>
          </a:p>
        </p:txBody>
      </p:sp>
    </p:spTree>
    <p:extLst>
      <p:ext uri="{BB962C8B-B14F-4D97-AF65-F5344CB8AC3E}">
        <p14:creationId xmlns:p14="http://schemas.microsoft.com/office/powerpoint/2010/main" val="3409473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these games, the focus is on how a coalition of players (agents) can work together to achieve collective objectives while fairly distributing the benefits among its members. Here's a bit more detail on the key concepts:</a:t>
                </a:r>
              </a:p>
              <a:p>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Coalition and Grand Coalition: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coalition, denoted as 𝐶, is a group of agents or players selected from the set 𝑁. In other words, it's a subset of the entire player set.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grand coalition represents the entire set of players, 𝑁={1, . . . , 𝑛}. It includes all players in the game.</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Transferable Utility Assumption: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defining characteristics of these games is the transferable utility assumption. This assumption allows the payoff (utility) generated by a coalition to be distributed among its members in any way they choose.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essence, players within a coalition can negotiate and agree on how to distribute the benefits they collectively earn. This transferability makes it feasible for players to cooperate, as they can ensure they receive a fair share of the rewards.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𝑣 : </a:t>
                </a:r>
                <a14:m>
                  <m:oMath xmlns:m="http://schemas.openxmlformats.org/officeDocument/2006/math">
                    <m:sSup>
                      <m:sSupPr>
                        <m:ctrlPr>
                          <a:rPr lang="en-US" sz="1200" b="0" i="1" kern="1200" dirty="0" smtClean="0">
                            <a:solidFill>
                              <a:schemeClr val="tx1"/>
                            </a:solidFill>
                            <a:latin typeface="Cambria Math" panose="02040503050406030204" pitchFamily="18" charset="0"/>
                            <a:ea typeface="+mn-ea"/>
                            <a:cs typeface="+mn-cs"/>
                          </a:rPr>
                        </m:ctrlPr>
                      </m:sSupPr>
                      <m:e>
                        <m:r>
                          <a:rPr lang="en-US" sz="1200" i="1" kern="1200" dirty="0" smtClean="0">
                            <a:solidFill>
                              <a:schemeClr val="tx1"/>
                            </a:solidFill>
                            <a:latin typeface="Cambria Math" panose="02040503050406030204" pitchFamily="18" charset="0"/>
                            <a:ea typeface="+mn-ea"/>
                            <a:cs typeface="+mn-cs"/>
                          </a:rPr>
                          <m:t>2</m:t>
                        </m:r>
                      </m:e>
                      <m:sup>
                        <m:r>
                          <a:rPr lang="en-US" sz="1200" i="1" kern="1200" dirty="0" smtClean="0">
                            <a:solidFill>
                              <a:schemeClr val="tx1"/>
                            </a:solidFill>
                            <a:latin typeface="Cambria Math" panose="02040503050406030204" pitchFamily="18" charset="0"/>
                            <a:ea typeface="+mn-ea"/>
                            <a:cs typeface="+mn-cs"/>
                          </a:rPr>
                          <m:t>𝑁</m:t>
                        </m:r>
                      </m:sup>
                    </m:sSup>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 ℝ is a fundamental component of coalitional games with transferable utility. It assigns a real number (the worth or value) to every possible coalition formed by the players. </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quantifies the benefit or value that a coalition can achieve by working together.</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Shapley Value: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Shapley value is a widely used solution concept in these games. It assigns a fair distribution of the total worth to each player, considering all possible orders in which players could join a coalition. It ensures that each player's contribution to the coalition is properly recognized and rewarded.</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Applications: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Coalitional games with transferable utility are commonly applied in cooperative scenarios in various fields, such as economics (e.g., cost-sharing in cooperative production), operations research (e.g., resource allocation in project management), and political science (e.g., coalition formation in voting systems).</a:t>
                </a:r>
              </a:p>
              <a:p>
                <a:endParaRPr lang="en-US" dirty="0"/>
              </a:p>
              <a:p>
                <a:r>
                  <a:rPr lang="en-US" dirty="0"/>
                  <a:t>In summary, coalitional games with transferable utility provide a framework for modeling and analyzing cooperative behavior, where groups of players can form coalitions to maximize their collective gains. The transferable utility assumption allows for fair and flexible distribution of rewards, fostering collaboration among rational agents. The characteristic function plays a central role in assessing the value of different coalitions and guiding the allocation of benefits.</a:t>
                </a:r>
                <a:endParaRPr lang="en-MY" dirty="0"/>
              </a:p>
            </p:txBody>
          </p:sp>
        </mc:Choice>
        <mc:Fallback xmlns="">
          <p:sp>
            <p:nvSpPr>
              <p:cNvPr id="3" name="Notes Placeholder 2"/>
              <p:cNvSpPr>
                <a:spLocks noGrp="1"/>
              </p:cNvSpPr>
              <p:nvPr>
                <p:ph type="body" idx="1"/>
              </p:nvPr>
            </p:nvSpPr>
            <p:spPr/>
            <p:txBody>
              <a:bodyPr/>
              <a:lstStyle/>
              <a:p>
                <a:r>
                  <a:rPr lang="en-US" dirty="0"/>
                  <a:t>In these games, the focus is on how a coalition of players (agents) can work together to achieve collective objectives while fairly distributing the benefits among its members. Here's a bit more detail on the key concepts:</a:t>
                </a:r>
              </a:p>
              <a:p>
                <a:endParaRPr lang="en-US" dirty="0"/>
              </a:p>
              <a:p>
                <a:pPr marL="228600" indent="-228600" algn="l" defTabSz="914400" rtl="0" eaLnBrk="1" latinLnBrk="0" hangingPunct="1">
                  <a:buFont typeface="+mj-lt"/>
                  <a:buAutoNum type="arabicPeriod"/>
                </a:pPr>
                <a:r>
                  <a:rPr lang="en-US" sz="1200" b="1" kern="1200" dirty="0">
                    <a:solidFill>
                      <a:schemeClr val="tx1"/>
                    </a:solidFill>
                    <a:latin typeface="+mn-lt"/>
                    <a:ea typeface="+mn-ea"/>
                    <a:cs typeface="+mn-cs"/>
                  </a:rPr>
                  <a:t>Coalition and Grand Coalition: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coalition, denoted as 𝐶, is a group of agents or players selected from the set 𝑁. In other words, it's a subset of the entire player set.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grand coalition represents the entire set of players, 𝑁={1, . . . , 𝑛}. It includes all players in the game.</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Transferable Utility Assumption: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One of the defining characteristics of these games is the transferable utility assumption. This assumption allows the payoff (utility) generated by a coalition to be distributed among its members in any way they choose.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essence, players within a coalition can negotiate and agree on how to distribute the benefits they collectively earn. This transferability makes it feasible for players to cooperate, as they can ensure they receive a fair share of the rewards.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Characteristic Function: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𝑣 : </a:t>
                </a:r>
                <a:r>
                  <a:rPr lang="en-US" sz="1200" i="0" kern="1200" dirty="0">
                    <a:solidFill>
                      <a:schemeClr val="tx1"/>
                    </a:solidFill>
                    <a:latin typeface="Cambria Math" panose="02040503050406030204" pitchFamily="18" charset="0"/>
                    <a:ea typeface="+mn-ea"/>
                    <a:cs typeface="+mn-cs"/>
                  </a:rPr>
                  <a:t>2</a:t>
                </a:r>
                <a:r>
                  <a:rPr lang="en-US" sz="1200" b="0" i="0" kern="1200" dirty="0">
                    <a:solidFill>
                      <a:schemeClr val="tx1"/>
                    </a:solidFill>
                    <a:latin typeface="Cambria Math" panose="02040503050406030204" pitchFamily="18" charset="0"/>
                    <a:ea typeface="+mn-ea"/>
                    <a:cs typeface="+mn-cs"/>
                  </a:rPr>
                  <a:t>^</a:t>
                </a:r>
                <a:r>
                  <a:rPr lang="en-US" sz="1200" i="0" kern="1200" dirty="0">
                    <a:solidFill>
                      <a:schemeClr val="tx1"/>
                    </a:solidFill>
                    <a:latin typeface="Cambria Math" panose="02040503050406030204" pitchFamily="18" charset="0"/>
                    <a:ea typeface="+mn-ea"/>
                    <a:cs typeface="+mn-cs"/>
                  </a:rPr>
                  <a:t>𝑁  </a:t>
                </a:r>
                <a:r>
                  <a:rPr lang="en-US" sz="1200" kern="1200" dirty="0">
                    <a:solidFill>
                      <a:schemeClr val="tx1"/>
                    </a:solidFill>
                    <a:latin typeface="+mn-lt"/>
                    <a:ea typeface="+mn-ea"/>
                    <a:cs typeface="+mn-cs"/>
                  </a:rPr>
                  <a:t>→ ℝ is a fundamental component of coalitional games with transferable utility. It assigns a real number (the worth or value) to every possible coalition formed by the players. </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characteristic function quantifies the benefit or value that a coalition can achieve by working together.</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Shapley Value: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 Shapley value is a widely used solution concept in these games. It assigns a fair distribution of the total worth to each player, considering all possible orders in which players could join a coalition. It ensures that each player's contribution to the coalition is properly recognized and rewarded.</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Applications: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Coalitional games with transferable utility are commonly applied in cooperative scenarios in various fields, such as economics (e.g., cost-sharing in cooperative production), operations research (e.g., resource allocation in project management), and political science (e.g., coalition formation in voting systems).</a:t>
                </a:r>
              </a:p>
              <a:p>
                <a:endParaRPr lang="en-US" dirty="0"/>
              </a:p>
              <a:p>
                <a:r>
                  <a:rPr lang="en-US" dirty="0"/>
                  <a:t>In summary, coalitional games with transferable utility provide a framework for modeling and analyzing cooperative behavior, where groups of players can form coalitions to maximize their collective gains. The transferable utility assumption allows for fair and flexible distribution of rewards, fostering collaboration among rational agents. The characteristic function plays a central role in assessing the value of different coalitions and guiding the allocation of benefits.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3</a:t>
            </a:fld>
            <a:endParaRPr lang="en-MY"/>
          </a:p>
        </p:txBody>
      </p:sp>
    </p:spTree>
    <p:extLst>
      <p:ext uri="{BB962C8B-B14F-4D97-AF65-F5344CB8AC3E}">
        <p14:creationId xmlns:p14="http://schemas.microsoft.com/office/powerpoint/2010/main" val="443048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of a social choice or voting game, four political parties in a parliament are deciding the fate of a 100 million spending bill. Each party is represented by the number of parliament members they have, and they vote as a group. The bill requires at least 51 votes to pass, and when it does pass, the money is distributed among the parties. The characteristic function 𝑣 describes the worth or value of different coalitions.</a:t>
            </a:r>
          </a:p>
          <a:p>
            <a:endParaRPr lang="en-US" dirty="0"/>
          </a:p>
          <a:p>
            <a:r>
              <a:rPr lang="en-US" dirty="0"/>
              <a:t>Here's the breakdown of the coalitions and their associated values:</a:t>
            </a:r>
          </a:p>
          <a:p>
            <a:endParaRPr lang="en-US" dirty="0"/>
          </a:p>
          <a:p>
            <a:pPr marL="628650" lvl="1" indent="-171450">
              <a:buFont typeface="Arial" panose="020B0604020202020204" pitchFamily="34" charset="0"/>
              <a:buChar char="•"/>
            </a:pPr>
            <a:r>
              <a:rPr lang="en-US" dirty="0"/>
              <a:t>𝑣(∅) = 0: The empty coalition has no voting power or worth.</a:t>
            </a:r>
          </a:p>
          <a:p>
            <a:pPr marL="628650" lvl="1" indent="-171450">
              <a:buFont typeface="Arial" panose="020B0604020202020204" pitchFamily="34" charset="0"/>
              <a:buChar char="•"/>
            </a:pPr>
            <a:r>
              <a:rPr lang="en-US" dirty="0"/>
              <a:t>𝑣({1}) = 0, 𝑣({2}) = 0, 𝑣({3}) = 0, 𝑣({4}) = 0: Individual parties have no power on their own; they cannot pass the bill.</a:t>
            </a:r>
          </a:p>
          <a:p>
            <a:pPr marL="628650" lvl="1" indent="-171450">
              <a:buFont typeface="Arial" panose="020B0604020202020204" pitchFamily="34" charset="0"/>
              <a:buChar char="•"/>
            </a:pPr>
            <a:r>
              <a:rPr lang="en-US" dirty="0"/>
              <a:t>𝑣({1, 2}) = 1, 𝑣({1, 3}) = 1, 𝑣({1, 4}) = 1: When party 1 forms a coalition with any other party, they have the power to pass the bill. In this case, the value is 1.</a:t>
            </a:r>
          </a:p>
          <a:p>
            <a:pPr marL="628650" lvl="1" indent="-171450">
              <a:buFont typeface="Arial" panose="020B0604020202020204" pitchFamily="34" charset="0"/>
              <a:buChar char="•"/>
            </a:pPr>
            <a:r>
              <a:rPr lang="en-US" dirty="0"/>
              <a:t>𝑣({2, 3}) = 0, 𝑣({2, 4}) = 0, 𝑣({3, 4}) = 0: Parties 2, 3, and 4, when forming coalitions among themselves, do not have enough votes to pass the bill.</a:t>
            </a:r>
          </a:p>
          <a:p>
            <a:pPr marL="628650" lvl="1" indent="-171450">
              <a:buFont typeface="Arial" panose="020B0604020202020204" pitchFamily="34" charset="0"/>
              <a:buChar char="•"/>
            </a:pPr>
            <a:r>
              <a:rPr lang="en-US" dirty="0"/>
              <a:t>𝑣({1, 2, 3}) = 1, 𝑣({1, 2, 4}) = 1: Coalitions including party 1 and any combination of two other parties are able to pass the bill.</a:t>
            </a:r>
          </a:p>
          <a:p>
            <a:pPr marL="628650" lvl="1" indent="-171450">
              <a:buFont typeface="Arial" panose="020B0604020202020204" pitchFamily="34" charset="0"/>
              <a:buChar char="•"/>
            </a:pPr>
            <a:r>
              <a:rPr lang="en-US" dirty="0"/>
              <a:t>𝑣({1, 3, 4}) = 1, 𝑣({2, 3, 4}) = 1: Similar to the previous case, coalitions including party 1 along with two other parties have the power to pass the bill.</a:t>
            </a:r>
          </a:p>
          <a:p>
            <a:pPr marL="628650" lvl="1" indent="-171450">
              <a:buFont typeface="Arial" panose="020B0604020202020204" pitchFamily="34" charset="0"/>
              <a:buChar char="•"/>
            </a:pPr>
            <a:r>
              <a:rPr lang="en-US" dirty="0"/>
              <a:t>𝑣({1, 2, 3, 4}) = 1: The grand coalition, including all four parties, has the power to pass the bill.</a:t>
            </a:r>
          </a:p>
          <a:p>
            <a:endParaRPr lang="en-US" dirty="0"/>
          </a:p>
          <a:p>
            <a:r>
              <a:rPr lang="en-US" dirty="0"/>
              <a:t>This characteristic function represents the distribution of power among different coalitions and is essential for understanding how the parties can cooperate to pass the spending bill. In this specific example, it shows that party 1 holds the swing vote, as any coalition involving party 1 has the power to decide the bill's fate. This example illustrates the dynamics of cooperative decision-making in a political context.</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4</a:t>
            </a:fld>
            <a:endParaRPr lang="en-MY"/>
          </a:p>
        </p:txBody>
      </p:sp>
    </p:spTree>
    <p:extLst>
      <p:ext uri="{BB962C8B-B14F-4D97-AF65-F5344CB8AC3E}">
        <p14:creationId xmlns:p14="http://schemas.microsoft.com/office/powerpoint/2010/main" val="2419230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context of coalitional games with transferable utility, there are two main problems or questions that arise:</a:t>
            </a:r>
          </a:p>
          <a:p>
            <a:endParaRPr lang="en-US" dirty="0"/>
          </a:p>
          <a:p>
            <a:pPr marL="228600" indent="-228600">
              <a:buFont typeface="+mj-lt"/>
              <a:buAutoNum type="arabicPeriod"/>
            </a:pPr>
            <a:r>
              <a:rPr lang="en-US" b="1" dirty="0"/>
              <a:t>Coalition Formation (Stability):</a:t>
            </a:r>
          </a:p>
          <a:p>
            <a:pPr marL="628650" lvl="1" indent="-171450">
              <a:buFont typeface="Arial" panose="020B0604020202020204" pitchFamily="34" charset="0"/>
              <a:buChar char="•"/>
            </a:pPr>
            <a:r>
              <a:rPr lang="en-US" b="1" dirty="0"/>
              <a:t>Which Coalitions Will Form? </a:t>
            </a:r>
            <a:r>
              <a:rPr lang="en-US" dirty="0"/>
              <a:t>This is a question about the stability of coalitions. In a group of self-interested agents, the challenge is to determine which coalitions will be stable and enduring. Stability in this context means that no subset of agents within a coalition has an incentive to break away and form a new coalition. The study of coalition formation seeks to understand how rational agents cooperate and the conditions under which coalitions are likely to form and persist. Various cooperative game theory solutions, like the core or the Shapley value, provide insights into stable coalition formation.</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Payoff Division (Fair Distribution):</a:t>
            </a:r>
          </a:p>
          <a:p>
            <a:pPr marL="628650" lvl="1" indent="-171450" algn="l" defTabSz="914400" rtl="0" eaLnBrk="1" latinLnBrk="0" hangingPunct="1">
              <a:buFont typeface="Arial" panose="020B0604020202020204" pitchFamily="34" charset="0"/>
              <a:buChar char="•"/>
            </a:pPr>
            <a:r>
              <a:rPr lang="en-US" sz="1200" b="1" kern="1200" dirty="0">
                <a:solidFill>
                  <a:schemeClr val="tx1"/>
                </a:solidFill>
                <a:latin typeface="+mn-lt"/>
                <a:ea typeface="+mn-ea"/>
                <a:cs typeface="+mn-cs"/>
              </a:rPr>
              <a:t>How Should Coalitions' Payoffs Be Divided Amongst Members?</a:t>
            </a:r>
            <a:r>
              <a:rPr lang="en-US" sz="1200" b="0" kern="1200" dirty="0">
                <a:solidFill>
                  <a:schemeClr val="tx1"/>
                </a:solidFill>
                <a:latin typeface="+mn-lt"/>
                <a:ea typeface="+mn-ea"/>
                <a:cs typeface="+mn-cs"/>
              </a:rPr>
              <a:t> Once coalitions are formed and achieve a certain worth, the question of how to fairly distribute the payoffs among their members arises. This is a question about fair distribution. Cooperative game theory aims to address this issue by proposing different methods to distribute the value generated by a coalition among its members in a fair and rational way. Classical solutions include the Shapley value, the nucleolus, and other allocation rules, each with its own definition of fairness and properties.</a:t>
            </a:r>
          </a:p>
          <a:p>
            <a:endParaRPr lang="en-US" dirty="0"/>
          </a:p>
          <a:p>
            <a:r>
              <a:rPr lang="en-US" dirty="0"/>
              <a:t>These problems are central to understanding cooperative behavior among self-interested agents in various domains, including economics, political science, and multi-agent systems. Solutions to these problems help ensure that cooperation is stable and that the benefits are distributed fairly among the participants. The choice of solution concept often depends on the specific context and the fairness criteria that are considered most appropriate.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5</a:t>
            </a:fld>
            <a:endParaRPr lang="en-MY"/>
          </a:p>
        </p:txBody>
      </p:sp>
    </p:spTree>
    <p:extLst>
      <p:ext uri="{BB962C8B-B14F-4D97-AF65-F5344CB8AC3E}">
        <p14:creationId xmlns:p14="http://schemas.microsoft.com/office/powerpoint/2010/main" val="30221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Coalitional games are categorized into different classes based on the properties of their characteristic functions and the nature of cooperation among agents. Here are the five main classes of coalitional games:</a:t>
                </a:r>
              </a:p>
              <a:p>
                <a:endParaRPr lang="en-US" dirty="0"/>
              </a:p>
              <a:p>
                <a:pPr marL="228600" indent="-228600" algn="l" defTabSz="914400" rtl="0" eaLnBrk="1" latinLnBrk="0" hangingPunct="1">
                  <a:buFont typeface="+mj-lt"/>
                  <a:buAutoNum type="arabicPeriod"/>
                </a:pPr>
                <a:r>
                  <a:rPr lang="en-US" sz="1200" b="1" kern="1200" dirty="0" err="1">
                    <a:solidFill>
                      <a:schemeClr val="tx1"/>
                    </a:solidFill>
                    <a:latin typeface="+mn-lt"/>
                    <a:ea typeface="+mn-ea"/>
                    <a:cs typeface="+mn-cs"/>
                  </a:rPr>
                  <a:t>Superadditive</a:t>
                </a:r>
                <a:r>
                  <a:rPr lang="en-US" sz="1200" b="1" kern="1200" dirty="0">
                    <a:solidFill>
                      <a:schemeClr val="tx1"/>
                    </a:solidFill>
                    <a:latin typeface="+mn-lt"/>
                    <a:ea typeface="+mn-ea"/>
                    <a:cs typeface="+mn-cs"/>
                  </a:rPr>
                  <a:t>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 the worth of a coalition is greater than or equal to the sum of the individual values of its members. Mathematically, for all coalitions C and D, if C ∩ D = ∅ (i.e., they have no members in common), then v(C ∪ D) ≥ v(C) + v(D). This property reflects situations where cooperation results in synergies, and the total value created by a coalition is greater than the sum of its parts.</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an additive game, the worth of a coalition is precisely equal to the sum of the individual values of its members. Mathematically, for all coalitions C, </a:t>
                </a: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𝐶</m:t>
                    </m:r>
                    <m:r>
                      <a:rPr lang="en-US" sz="1200" i="1" kern="1200" dirty="0" smtClean="0">
                        <a:solidFill>
                          <a:schemeClr val="tx1"/>
                        </a:solidFill>
                        <a:latin typeface="Cambria Math" panose="02040503050406030204" pitchFamily="18" charset="0"/>
                        <a:ea typeface="+mn-ea"/>
                        <a:cs typeface="+mn-cs"/>
                      </a:rPr>
                      <m:t>)=</m:t>
                    </m:r>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err="1" smtClean="0">
                            <a:solidFill>
                              <a:schemeClr val="tx1"/>
                            </a:solidFill>
                            <a:latin typeface="Cambria Math" panose="02040503050406030204" pitchFamily="18" charset="0"/>
                            <a:ea typeface="+mn-ea"/>
                            <a:cs typeface="+mn-cs"/>
                          </a:rPr>
                          <m:t>𝑖</m:t>
                        </m:r>
                        <m:r>
                          <a:rPr lang="en-US" sz="1200" i="1" kern="1200" dirty="0" err="1" smtClean="0">
                            <a:solidFill>
                              <a:schemeClr val="tx1"/>
                            </a:solidFill>
                            <a:latin typeface="Cambria Math" panose="02040503050406030204" pitchFamily="18" charset="0"/>
                            <a:ea typeface="+mn-ea"/>
                            <a:cs typeface="+mn-cs"/>
                          </a:rPr>
                          <m:t>∈</m:t>
                        </m:r>
                        <m:r>
                          <a:rPr lang="en-US" sz="1200" i="1" kern="1200" dirty="0" err="1" smtClean="0">
                            <a:solidFill>
                              <a:schemeClr val="tx1"/>
                            </a:solidFill>
                            <a:latin typeface="Cambria Math" panose="02040503050406030204" pitchFamily="18" charset="0"/>
                            <a:ea typeface="+mn-ea"/>
                            <a:cs typeface="+mn-cs"/>
                          </a:rPr>
                          <m:t>𝐶</m:t>
                        </m:r>
                      </m:sub>
                      <m:sup/>
                      <m:e>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e>
                    </m:nary>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Additive games represent scenarios where cooperation does not lead to any additional value beyond the sum of individual contributions.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are a special case of coalitional games where the sum of payoffs remains constant, regardless of the coalition formed. In other words, the total worth of the grand coalition is always the same, and the distribution of payoffs may vary. Such games are often used to model competitive situations.</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are those in which the characteristic function exhibits convexity. Specifically, for all coalitions C and D, if C ⊆ D, then v(C) + v(D\C) ≤ v(D). Convexity implies that forming larger coalitions cannot lead to a decrease in total worth. These games are associated with situations where agents can cooperate in a non-diminishing manner.</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characterized by a binary characteristic function, where the worth of a coalition is either 0 (if the coalition is not winning) or 1 (if it is winning). These games are often used to model situations where the goal is to determine whether a coalition can achieve its objectives or not. Simple games have applications in voting theory and cooperative decision-making.</a:t>
                </a:r>
              </a:p>
              <a:p>
                <a:endParaRPr lang="en-US" dirty="0"/>
              </a:p>
              <a:p>
                <a:r>
                  <a:rPr lang="en-US" dirty="0"/>
                  <a:t>Each class of coalitional games provides a different framework for modeling and analyzing cooperation, and various solution concepts have been developed to address the questions of stability and fair payoff distribution within each class. These solution concepts, such as the core, Shapley value, and nucleolus, help capture different aspects of cooperative behavior and can be applied to specific classes of coalitional games.</a:t>
                </a:r>
                <a:endParaRPr lang="en-MY" dirty="0"/>
              </a:p>
            </p:txBody>
          </p:sp>
        </mc:Choice>
        <mc:Fallback xmlns="">
          <p:sp>
            <p:nvSpPr>
              <p:cNvPr id="3" name="Notes Placeholder 2"/>
              <p:cNvSpPr>
                <a:spLocks noGrp="1"/>
              </p:cNvSpPr>
              <p:nvPr>
                <p:ph type="body" idx="1"/>
              </p:nvPr>
            </p:nvSpPr>
            <p:spPr/>
            <p:txBody>
              <a:bodyPr/>
              <a:lstStyle/>
              <a:p>
                <a:r>
                  <a:rPr lang="en-US" dirty="0"/>
                  <a:t>Coalitional games are categorized into different classes based on the properties of their characteristic functions and the nature of cooperation among agents. Here are the five main classes of coalitional games:</a:t>
                </a:r>
              </a:p>
              <a:p>
                <a:endParaRPr lang="en-US" dirty="0"/>
              </a:p>
              <a:p>
                <a:pPr marL="228600" indent="-228600" algn="l" defTabSz="914400" rtl="0" eaLnBrk="1" latinLnBrk="0" hangingPunct="1">
                  <a:buFont typeface="+mj-lt"/>
                  <a:buAutoNum type="arabicPeriod"/>
                </a:pPr>
                <a:r>
                  <a:rPr lang="en-US" sz="1200" b="1" kern="1200" dirty="0" err="1">
                    <a:solidFill>
                      <a:schemeClr val="tx1"/>
                    </a:solidFill>
                    <a:latin typeface="+mn-lt"/>
                    <a:ea typeface="+mn-ea"/>
                    <a:cs typeface="+mn-cs"/>
                  </a:rPr>
                  <a:t>Superadditive</a:t>
                </a:r>
                <a:r>
                  <a:rPr lang="en-US" sz="1200" b="1" kern="1200" dirty="0">
                    <a:solidFill>
                      <a:schemeClr val="tx1"/>
                    </a:solidFill>
                    <a:latin typeface="+mn-lt"/>
                    <a:ea typeface="+mn-ea"/>
                    <a:cs typeface="+mn-cs"/>
                  </a:rPr>
                  <a:t>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 the worth of a coalition is greater than or equal to the sum of the individual values of its members. Mathematically, for all coalitions C and D, if C ∩ D = ∅ (i.e., they have no members in common), then v(C ∪ D) ≥ v(C) + v(D). This property reflects situations where cooperation results in synergies, and the total value created by a coalition is greater than the sum of its parts.</a:t>
                </a:r>
              </a:p>
              <a:p>
                <a:endParaRPr lang="en-US" dirty="0"/>
              </a:p>
              <a:p>
                <a:pPr marL="228600" indent="-228600" algn="l" defTabSz="914400" rtl="0" eaLnBrk="1" latinLnBrk="0" hangingPunct="1">
                  <a:buFont typeface="+mj-lt"/>
                  <a:buAutoNum type="arabicPeriod" startAt="2"/>
                </a:pPr>
                <a:r>
                  <a:rPr lang="en-US" sz="1200" b="1" kern="1200" dirty="0">
                    <a:solidFill>
                      <a:schemeClr val="tx1"/>
                    </a:solidFill>
                    <a:latin typeface="+mn-lt"/>
                    <a:ea typeface="+mn-ea"/>
                    <a:cs typeface="+mn-cs"/>
                  </a:rPr>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an additive game, the worth of a coalition is precisely equal to the sum of the individual values of its members. Mathematically, for all coalitions C, </a:t>
                </a:r>
                <a:r>
                  <a:rPr lang="en-US" sz="1200" i="0" kern="1200" dirty="0">
                    <a:solidFill>
                      <a:schemeClr val="tx1"/>
                    </a:solidFill>
                    <a:latin typeface="Cambria Math" panose="02040503050406030204" pitchFamily="18" charset="0"/>
                    <a:ea typeface="+mn-ea"/>
                    <a:cs typeface="+mn-cs"/>
                  </a:rPr>
                  <a:t>𝑣(𝐶)=∑8</a:t>
                </a:r>
                <a:r>
                  <a:rPr lang="en-US" sz="1200" i="0" kern="1200" dirty="0" err="1">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a:t>
                </a:r>
                <a:r>
                  <a:rPr lang="en-US" sz="1200" i="0" kern="1200" dirty="0" err="1">
                    <a:solidFill>
                      <a:schemeClr val="tx1"/>
                    </a:solidFill>
                    <a:latin typeface="Cambria Math" panose="02040503050406030204" pitchFamily="18" charset="0"/>
                    <a:ea typeface="+mn-ea"/>
                    <a:cs typeface="+mn-cs"/>
                  </a:rPr>
                  <a:t>𝑖∈𝐶</a:t>
                </a:r>
                <a:r>
                  <a:rPr lang="en-US" sz="1200" i="0" kern="1200" dirty="0">
                    <a:solidFill>
                      <a:schemeClr val="tx1"/>
                    </a:solidFill>
                    <a:latin typeface="Cambria Math" panose="02040503050406030204" pitchFamily="18" charset="0"/>
                    <a:ea typeface="+mn-ea"/>
                    <a:cs typeface="+mn-cs"/>
                  </a:rPr>
                  <a:t>)</a:t>
                </a:r>
                <a:r>
                  <a:rPr lang="en-US" sz="1200" b="0" i="0" kern="1200" dirty="0">
                    <a:solidFill>
                      <a:schemeClr val="tx1"/>
                    </a:solidFill>
                    <a:latin typeface="Cambria Math" panose="02040503050406030204" pitchFamily="18" charset="0"/>
                    <a:ea typeface="+mn-ea"/>
                    <a:cs typeface="+mn-cs"/>
                  </a:rPr>
                  <a:t>▒〖</a:t>
                </a:r>
                <a:r>
                  <a:rPr lang="en-US" sz="1200" i="0" kern="1200" dirty="0">
                    <a:solidFill>
                      <a:schemeClr val="tx1"/>
                    </a:solidFill>
                    <a:latin typeface="Cambria Math" panose="02040503050406030204" pitchFamily="18" charset="0"/>
                    <a:ea typeface="+mn-ea"/>
                    <a:cs typeface="+mn-cs"/>
                  </a:rPr>
                  <a:t>𝑣({𝑖})〗. </a:t>
                </a:r>
                <a:r>
                  <a:rPr lang="en-US" sz="1200" kern="1200" dirty="0">
                    <a:solidFill>
                      <a:schemeClr val="tx1"/>
                    </a:solidFill>
                    <a:latin typeface="+mn-lt"/>
                    <a:ea typeface="+mn-ea"/>
                    <a:cs typeface="+mn-cs"/>
                  </a:rPr>
                  <a:t>Additive games represent scenarios where cooperation does not lead to any additional value beyond the sum of individual contributions.</a:t>
                </a:r>
              </a:p>
              <a:p>
                <a:endParaRPr lang="en-US" dirty="0"/>
              </a:p>
              <a:p>
                <a:pPr marL="228600" indent="-228600" algn="l" defTabSz="914400" rtl="0" eaLnBrk="1" latinLnBrk="0" hangingPunct="1">
                  <a:buFont typeface="+mj-lt"/>
                  <a:buAutoNum type="arabicPeriod" startAt="3"/>
                </a:pPr>
                <a:r>
                  <a:rPr lang="en-US" sz="1200" b="1" kern="1200" dirty="0">
                    <a:solidFill>
                      <a:schemeClr val="tx1"/>
                    </a:solidFill>
                    <a:latin typeface="+mn-lt"/>
                    <a:ea typeface="+mn-ea"/>
                    <a:cs typeface="+mn-cs"/>
                  </a:rPr>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are a special case of coalitional games where the sum of payoffs remains constant, regardless of the coalition formed. In other words, the total worth of the grand coalition is always the same, and the distribution of payoffs may vary. Such games are often used to model competitive situations.</a:t>
                </a:r>
              </a:p>
              <a:p>
                <a:endParaRPr lang="en-US" dirty="0"/>
              </a:p>
              <a:p>
                <a:pPr marL="228600" indent="-228600" algn="l" defTabSz="914400" rtl="0" eaLnBrk="1" latinLnBrk="0" hangingPunct="1">
                  <a:buFont typeface="+mj-lt"/>
                  <a:buAutoNum type="arabicPeriod" startAt="4"/>
                </a:pPr>
                <a:r>
                  <a:rPr lang="en-US" sz="1200" b="1" kern="1200" dirty="0">
                    <a:solidFill>
                      <a:schemeClr val="tx1"/>
                    </a:solidFill>
                    <a:latin typeface="+mn-lt"/>
                    <a:ea typeface="+mn-ea"/>
                    <a:cs typeface="+mn-cs"/>
                  </a:rPr>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are those in which the characteristic function exhibits convexity. Specifically, for all coalitions C and D, if C ⊆ D, then v(C) + v(D\C) ≤ v(D). Convexity implies that forming larger coalitions cannot lead to a decrease in total worth. These games are associated with situations where agents can cooperate in a non-diminishing manner.</a:t>
                </a:r>
              </a:p>
              <a:p>
                <a:endParaRPr lang="en-US" dirty="0"/>
              </a:p>
              <a:p>
                <a:pPr marL="228600" indent="-228600" algn="l" defTabSz="914400" rtl="0" eaLnBrk="1" latinLnBrk="0" hangingPunct="1">
                  <a:buFont typeface="+mj-lt"/>
                  <a:buAutoNum type="arabicPeriod" startAt="5"/>
                </a:pPr>
                <a:r>
                  <a:rPr lang="en-US" sz="1200" b="1" kern="1200" dirty="0">
                    <a:solidFill>
                      <a:schemeClr val="tx1"/>
                    </a:solidFill>
                    <a:latin typeface="+mn-lt"/>
                    <a:ea typeface="+mn-ea"/>
                    <a:cs typeface="+mn-cs"/>
                  </a:rPr>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characterized by a binary characteristic function, where the worth of a coalition is either 0 (if the coalition is not winning) or 1 (if it is winning). These games are often used to model situations where the goal is to determine whether a coalition can achieve its objectives or not. Simple games have applications in voting theory and cooperative decision-making.</a:t>
                </a:r>
              </a:p>
              <a:p>
                <a:endParaRPr lang="en-US" dirty="0"/>
              </a:p>
              <a:p>
                <a:r>
                  <a:rPr lang="en-US" dirty="0"/>
                  <a:t>Each class of coalitional games provides a different framework for modeling and analyzing cooperation, and various solution concepts have been developed to address the questions of stability and fair payoff distribution within each class. These solution concepts, such as the core, Shapley value, and nucleolus, help capture different aspects of cooperative behavior and can be applied to specific classes of coalitional games.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6</a:t>
            </a:fld>
            <a:endParaRPr lang="en-MY"/>
          </a:p>
        </p:txBody>
      </p:sp>
    </p:spTree>
    <p:extLst>
      <p:ext uri="{BB962C8B-B14F-4D97-AF65-F5344CB8AC3E}">
        <p14:creationId xmlns:p14="http://schemas.microsoft.com/office/powerpoint/2010/main" val="3616249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Superadditive</a:t>
            </a:r>
            <a:r>
              <a:rPr lang="en-US" dirty="0"/>
              <a:t> games are characterized by their cooperative nature, where forming larger coalitions results in at least as much value as the sum of the values of their individual parts. Here's what it means:</a:t>
            </a:r>
          </a:p>
          <a:p>
            <a:endParaRPr lang="en-US" dirty="0"/>
          </a:p>
          <a:p>
            <a:pPr marL="228600" indent="-228600">
              <a:buFont typeface="+mj-lt"/>
              <a:buAutoNum type="arabicPeriod"/>
            </a:pPr>
            <a:r>
              <a:rPr lang="en-US" b="1" dirty="0"/>
              <a:t>Definition</a:t>
            </a:r>
            <a:r>
              <a:rPr lang="en-US" dirty="0"/>
              <a:t>: A game 𝐺 = (𝑁, 𝑣) is </a:t>
            </a:r>
            <a:r>
              <a:rPr lang="en-US" dirty="0" err="1"/>
              <a:t>superadditive</a:t>
            </a:r>
            <a:r>
              <a:rPr lang="en-US" dirty="0"/>
              <a:t> if, for all coalitions 𝐶₁ and 𝐶₂ ⊆ 𝑁 (the set of players), such that 𝐶₁ ∩ 𝐶₂ = ∅ (i.e., they have no members in common), the worth of the union of these coalitions is greater than or equal to the sum of the worth of the individual coalitions. Symbolically, if 𝐶₁ ∩ 𝐶₂ = ∅, then 𝑣(𝐶₁ ∪ 𝐶₂) ≥ 𝑣(𝐶₁) + 𝑣(𝐶₂).</a:t>
            </a:r>
          </a:p>
          <a:p>
            <a:pPr marL="228600" indent="-228600">
              <a:buFont typeface="+mj-lt"/>
              <a:buAutoNum type="arabicPeriod"/>
            </a:pPr>
            <a:endParaRPr lang="en-US" dirty="0"/>
          </a:p>
          <a:p>
            <a:pPr marL="228600" indent="-228600">
              <a:buFont typeface="+mj-lt"/>
              <a:buAutoNum type="arabicPeriod"/>
            </a:pPr>
            <a:r>
              <a:rPr lang="en-US" b="1" dirty="0"/>
              <a:t>Informal Interpretation</a:t>
            </a:r>
            <a:r>
              <a:rPr lang="en-US" dirty="0"/>
              <a:t>: In </a:t>
            </a:r>
            <a:r>
              <a:rPr lang="en-US" dirty="0" err="1"/>
              <a:t>superadditive</a:t>
            </a:r>
            <a:r>
              <a:rPr lang="en-US" dirty="0"/>
              <a:t> games, the principle is that cooperation is beneficial. When two disjoint coalitions come together to form a larger coalition, the value created by the larger coalition should be at least as much as the sum of the values of the smaller coalitions. This implies that players have an incentive to join forces and cooperate, as it increases the overall value.</a:t>
            </a:r>
          </a:p>
          <a:p>
            <a:pPr marL="228600" indent="-228600">
              <a:buFont typeface="+mj-lt"/>
              <a:buAutoNum type="arabicPeriod"/>
            </a:pPr>
            <a:endParaRPr lang="en-US" dirty="0"/>
          </a:p>
          <a:p>
            <a:pPr marL="228600" indent="-228600">
              <a:buFont typeface="+mj-lt"/>
              <a:buAutoNum type="arabicPeriod"/>
            </a:pPr>
            <a:r>
              <a:rPr lang="en-US" b="1" dirty="0"/>
              <a:t>Merging to the Grand Coalition</a:t>
            </a:r>
            <a:r>
              <a:rPr lang="en-US" dirty="0"/>
              <a:t>: Due to the </a:t>
            </a:r>
            <a:r>
              <a:rPr lang="en-US" dirty="0" err="1"/>
              <a:t>superadditive</a:t>
            </a:r>
            <a:r>
              <a:rPr lang="en-US" dirty="0"/>
              <a:t> property, it's always advantageous for players to merge into the grand coalition (the entire set of players, 𝑁). This is because the worth of the grand coalition is guaranteed to be at least as high as the sum of the worth of any combination of disjoint </a:t>
            </a:r>
            <a:r>
              <a:rPr lang="en-US" dirty="0" err="1"/>
              <a:t>subcoalitions</a:t>
            </a:r>
            <a:r>
              <a:rPr lang="en-US" dirty="0"/>
              <a:t>. As a result, in </a:t>
            </a:r>
            <a:r>
              <a:rPr lang="en-US" dirty="0" err="1"/>
              <a:t>superadditive</a:t>
            </a:r>
            <a:r>
              <a:rPr lang="en-US" dirty="0"/>
              <a:t> games, it is often assumed that players will cooperate and form the grand coalition to maximize their collective payoff.</a:t>
            </a:r>
          </a:p>
          <a:p>
            <a:endParaRPr lang="en-US" dirty="0"/>
          </a:p>
          <a:p>
            <a:r>
              <a:rPr lang="en-US" dirty="0" err="1"/>
              <a:t>Superadditive</a:t>
            </a:r>
            <a:r>
              <a:rPr lang="en-US" dirty="0"/>
              <a:t> games are commonly used to model cooperative situations where collaboration and the formation of larger groups lead to increased value, such as in joint ventures, production processes, or research efforts. This property makes them suitable for analyzing scenarios where cooperation is inherently advantageous, and players have a strong incentive to work together.</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7</a:t>
            </a:fld>
            <a:endParaRPr lang="en-MY"/>
          </a:p>
        </p:txBody>
      </p:sp>
    </p:spTree>
    <p:extLst>
      <p:ext uri="{BB962C8B-B14F-4D97-AF65-F5344CB8AC3E}">
        <p14:creationId xmlns:p14="http://schemas.microsoft.com/office/powerpoint/2010/main" val="1170730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Analyzing the example of a </a:t>
            </a:r>
            <a:r>
              <a:rPr lang="en-US" dirty="0" err="1"/>
              <a:t>superadditive</a:t>
            </a:r>
            <a:r>
              <a:rPr lang="en-US" dirty="0"/>
              <a:t> game with the given characteristic function:</a:t>
            </a:r>
          </a:p>
          <a:p>
            <a:endParaRPr lang="en-US" dirty="0"/>
          </a:p>
          <a:p>
            <a:pPr marL="171450" indent="-171450">
              <a:buFont typeface="Arial" panose="020B0604020202020204" pitchFamily="34" charset="0"/>
              <a:buChar char="•"/>
            </a:pPr>
            <a:r>
              <a:rPr lang="en-US" dirty="0"/>
              <a:t>- Players: 𝑁 = {1, 2, 3}</a:t>
            </a:r>
          </a:p>
          <a:p>
            <a:pPr marL="171450" indent="-171450">
              <a:buFont typeface="Arial" panose="020B0604020202020204" pitchFamily="34" charset="0"/>
              <a:buChar char="•"/>
            </a:pPr>
            <a:r>
              <a:rPr lang="en-US" dirty="0"/>
              <a:t>- Characteristic function 𝑣(𝐶), representing the worth of coalitions:</a:t>
            </a:r>
          </a:p>
          <a:p>
            <a:pPr marL="628650" lvl="1" indent="-171450">
              <a:buFont typeface="Arial" panose="020B0604020202020204" pitchFamily="34" charset="0"/>
              <a:buChar char="•"/>
            </a:pPr>
            <a:r>
              <a:rPr lang="en-US" dirty="0"/>
              <a:t>  𝑣(∅) = 0</a:t>
            </a:r>
          </a:p>
          <a:p>
            <a:pPr marL="628650" lvl="1" indent="-171450">
              <a:buFont typeface="Arial" panose="020B0604020202020204" pitchFamily="34" charset="0"/>
              <a:buChar char="•"/>
            </a:pPr>
            <a:r>
              <a:rPr lang="en-US" dirty="0"/>
              <a:t>  𝑣({1}) = 𝑣({2}) = 𝑣({3}) = 1</a:t>
            </a:r>
          </a:p>
          <a:p>
            <a:pPr marL="628650" lvl="1" indent="-171450">
              <a:buFont typeface="Arial" panose="020B0604020202020204" pitchFamily="34" charset="0"/>
              <a:buChar char="•"/>
            </a:pPr>
            <a:r>
              <a:rPr lang="en-US" dirty="0"/>
              <a:t>  𝑣({1, 2}) = 3</a:t>
            </a:r>
          </a:p>
          <a:p>
            <a:pPr marL="628650" lvl="1" indent="-171450">
              <a:buFont typeface="Arial" panose="020B0604020202020204" pitchFamily="34" charset="0"/>
              <a:buChar char="•"/>
            </a:pPr>
            <a:r>
              <a:rPr lang="en-US" dirty="0"/>
              <a:t>  𝑣({1, 3}) = 4</a:t>
            </a:r>
          </a:p>
          <a:p>
            <a:pPr marL="628650" lvl="1" indent="-171450">
              <a:buFont typeface="Arial" panose="020B0604020202020204" pitchFamily="34" charset="0"/>
              <a:buChar char="•"/>
            </a:pPr>
            <a:r>
              <a:rPr lang="en-US" dirty="0"/>
              <a:t>  𝑣({2, 3}) = 5</a:t>
            </a:r>
          </a:p>
          <a:p>
            <a:pPr marL="628650" lvl="1" indent="-171450">
              <a:buFont typeface="Arial" panose="020B0604020202020204" pitchFamily="34" charset="0"/>
              <a:buChar char="•"/>
            </a:pPr>
            <a:r>
              <a:rPr lang="en-US" dirty="0"/>
              <a:t>  𝑣({1, 2, 3}) = 6</a:t>
            </a:r>
          </a:p>
          <a:p>
            <a:endParaRPr lang="en-US" dirty="0"/>
          </a:p>
          <a:p>
            <a:r>
              <a:rPr lang="en-US" dirty="0"/>
              <a:t>Now, let's check if this game is </a:t>
            </a:r>
            <a:r>
              <a:rPr lang="en-US" dirty="0" err="1"/>
              <a:t>superadditive</a:t>
            </a:r>
            <a:r>
              <a:rPr lang="en-US" dirty="0"/>
              <a:t> by verifying that the worth of the union of disjoint coalitions is always greater than or equal to the sum of their individual worth.</a:t>
            </a:r>
          </a:p>
          <a:p>
            <a:endParaRPr lang="en-US" dirty="0"/>
          </a:p>
          <a:p>
            <a:pPr marL="228600" indent="-228600">
              <a:buFont typeface="+mj-lt"/>
              <a:buAutoNum type="arabicPeriod"/>
            </a:pPr>
            <a:r>
              <a:rPr lang="en-US" dirty="0"/>
              <a:t>Consider coalitions 𝐶₁ = {1} and 𝐶₂ = {2}. They are disjoint, and their union is {1, 2}. Does the </a:t>
            </a:r>
            <a:r>
              <a:rPr lang="en-US" dirty="0" err="1"/>
              <a:t>superadditive</a:t>
            </a:r>
            <a:r>
              <a:rPr lang="en-US" dirty="0"/>
              <a:t> condition hold?</a:t>
            </a:r>
          </a:p>
          <a:p>
            <a:endParaRPr lang="en-US" dirty="0"/>
          </a:p>
          <a:p>
            <a:r>
              <a:rPr lang="en-US" dirty="0"/>
              <a:t>      𝑣({1, 2}) = 3  </a:t>
            </a:r>
          </a:p>
          <a:p>
            <a:r>
              <a:rPr lang="en-US" dirty="0"/>
              <a:t>      𝑣({1}) + 𝑣({2}) = 1 + 1 = 2</a:t>
            </a:r>
          </a:p>
          <a:p>
            <a:endParaRPr lang="en-US" dirty="0"/>
          </a:p>
          <a:p>
            <a:r>
              <a:rPr lang="en-US" dirty="0"/>
              <a:t>      Since 𝑣({1, 2}) ≥ 𝑣({1}) + 𝑣({2}), the condition holds.</a:t>
            </a:r>
          </a:p>
          <a:p>
            <a:endParaRPr lang="en-US" dirty="0"/>
          </a:p>
          <a:p>
            <a:pPr marL="228600" indent="-228600">
              <a:buFont typeface="+mj-lt"/>
              <a:buAutoNum type="arabicPeriod" startAt="2"/>
            </a:pPr>
            <a:r>
              <a:rPr lang="en-US" dirty="0"/>
              <a:t>Consider coalitions 𝐶₁ = {1, 2} and 𝐶₂ = {3}. They are disjoint, and their union is {1, 2, 3}. Does the </a:t>
            </a:r>
            <a:r>
              <a:rPr lang="en-US" dirty="0" err="1"/>
              <a:t>superadditive</a:t>
            </a:r>
            <a:r>
              <a:rPr lang="en-US" dirty="0"/>
              <a:t> condition hold?</a:t>
            </a:r>
          </a:p>
          <a:p>
            <a:endParaRPr lang="en-US" dirty="0"/>
          </a:p>
          <a:p>
            <a:r>
              <a:rPr lang="en-US" dirty="0"/>
              <a:t>      𝑣({1, 2, 3}) = 6  </a:t>
            </a:r>
          </a:p>
          <a:p>
            <a:r>
              <a:rPr lang="en-US" dirty="0"/>
              <a:t>      𝑣({1, 2}) + 𝑣({3}) = 3 + 1 = 4</a:t>
            </a:r>
          </a:p>
          <a:p>
            <a:endParaRPr lang="en-US" dirty="0"/>
          </a:p>
          <a:p>
            <a:r>
              <a:rPr lang="en-US" dirty="0"/>
              <a:t>      Again, 𝑣({1, 2, 3}) ≥ 𝑣({1, 2}) + 𝑣({3}), so the condition holds.</a:t>
            </a:r>
          </a:p>
          <a:p>
            <a:endParaRPr lang="en-US" dirty="0"/>
          </a:p>
          <a:p>
            <a:pPr marL="228600" indent="-228600">
              <a:buFont typeface="+mj-lt"/>
              <a:buAutoNum type="arabicPeriod" startAt="3"/>
            </a:pPr>
            <a:r>
              <a:rPr lang="en-US" dirty="0"/>
              <a:t>Consider coalitions 𝐶₁ = {1} and 𝐶₂ = {2, 3}. They are disjoint, and their union is {1, 2, 3}. Does the </a:t>
            </a:r>
            <a:r>
              <a:rPr lang="en-US" dirty="0" err="1"/>
              <a:t>superadditive</a:t>
            </a:r>
            <a:r>
              <a:rPr lang="en-US" dirty="0"/>
              <a:t> condition hold?</a:t>
            </a:r>
          </a:p>
          <a:p>
            <a:endParaRPr lang="en-US" dirty="0"/>
          </a:p>
          <a:p>
            <a:r>
              <a:rPr lang="en-US" dirty="0"/>
              <a:t>      𝑣({1, 2, 3}) = 6  </a:t>
            </a:r>
          </a:p>
          <a:p>
            <a:r>
              <a:rPr lang="en-US" dirty="0"/>
              <a:t>      𝑣({1}) + 𝑣({2, 3}) = 1 + 5 = 6</a:t>
            </a:r>
          </a:p>
          <a:p>
            <a:endParaRPr lang="en-US" dirty="0"/>
          </a:p>
          <a:p>
            <a:r>
              <a:rPr lang="en-US" dirty="0"/>
              <a:t>      Once again, 𝑣({1, 2, 3}) ≥ 𝑣({1}) + 𝑣({2, 3}), so the condition holds.</a:t>
            </a:r>
          </a:p>
          <a:p>
            <a:endParaRPr lang="en-US" dirty="0"/>
          </a:p>
          <a:p>
            <a:r>
              <a:rPr lang="en-US" dirty="0"/>
              <a:t>Since the </a:t>
            </a:r>
            <a:r>
              <a:rPr lang="en-US" dirty="0" err="1"/>
              <a:t>superadditive</a:t>
            </a:r>
            <a:r>
              <a:rPr lang="en-US" dirty="0"/>
              <a:t> condition is satisfied for all possible combinations of disjoint coalitions, we can conclude that this game is indeed </a:t>
            </a:r>
            <a:r>
              <a:rPr lang="en-US" dirty="0" err="1"/>
              <a:t>superadditive</a:t>
            </a:r>
            <a:r>
              <a:rPr lang="en-US" dirty="0"/>
              <a:t>. Players are incentivized to cooperate and form the grand coalition {1, 2, 3} to maximize their total worth, as doing so always results in a worth at least as high as the sum of the worth of any smaller coalitions.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8</a:t>
            </a:fld>
            <a:endParaRPr lang="en-MY"/>
          </a:p>
        </p:txBody>
      </p:sp>
    </p:spTree>
    <p:extLst>
      <p:ext uri="{BB962C8B-B14F-4D97-AF65-F5344CB8AC3E}">
        <p14:creationId xmlns:p14="http://schemas.microsoft.com/office/powerpoint/2010/main" val="989916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an additive game, the worth of a coalition is exactly equal to the sum of the worth of its disjoint </a:t>
                </a:r>
                <a:r>
                  <a:rPr lang="en-US" dirty="0" err="1"/>
                  <a:t>subcoalitions</a:t>
                </a:r>
                <a:r>
                  <a:rPr lang="en-US" dirty="0"/>
                  <a:t>. This means that players have a strong incentive to form the grand coalition, as the worth of the grand coalition is the sum of the individual players' worth.</a:t>
                </a:r>
              </a:p>
              <a:p>
                <a:endParaRPr lang="en-US" dirty="0"/>
              </a:p>
              <a:p>
                <a:r>
                  <a:rPr lang="en-US" dirty="0"/>
                  <a:t>Mathematically, a game 𝐺=(𝑁, 𝑣 ) is additive if the following condition holds for all coalitions 𝐶₁ and 𝐶₂:</a:t>
                </a:r>
              </a:p>
              <a:p>
                <a:endParaRPr lang="en-US" dirty="0"/>
              </a:p>
              <a:p>
                <a:r>
                  <a:rPr lang="en-US" dirty="0"/>
                  <a:t>If 𝐶₁∩ 𝐶₂= ∅, then 𝑣 (𝐶₁∪ 𝐶₂) = 𝑣 (𝐶₁) + 𝑣 (𝐶₂)</a:t>
                </a:r>
              </a:p>
              <a:p>
                <a:endParaRPr lang="en-US" dirty="0"/>
              </a:p>
              <a:p>
                <a:r>
                  <a:rPr lang="en-US" dirty="0"/>
                  <a:t>This condition implies that no matter how you partition the grand coalition into disjoint </a:t>
                </a:r>
                <a:r>
                  <a:rPr lang="en-US" dirty="0" err="1"/>
                  <a:t>subcoalitions</a:t>
                </a:r>
                <a:r>
                  <a:rPr lang="en-US" dirty="0"/>
                  <a:t>, the worth of the grand coalition remains consistent, which encourages players to collaborate.</a:t>
                </a:r>
              </a:p>
              <a:p>
                <a:endParaRPr lang="en-US" dirty="0"/>
              </a:p>
              <a:p>
                <a:r>
                  <a:rPr lang="en-US" dirty="0"/>
                  <a:t>The worth of the grand coalition, denoted as 𝑣 (𝑁), is the sum of the worth of all individual players in the game:</a:t>
                </a:r>
              </a:p>
              <a:p>
                <a:endParaRPr lang="en-US" dirty="0"/>
              </a:p>
              <a:p>
                <a14:m>
                  <m:oMath xmlns:m="http://schemas.openxmlformats.org/officeDocument/2006/math">
                    <m:r>
                      <a:rPr lang="en-MY" sz="1200" i="1" spc="-55" dirty="0" smtClean="0">
                        <a:latin typeface="Cambria Math" panose="02040503050406030204" pitchFamily="18" charset="0"/>
                        <a:cs typeface="Arial"/>
                      </a:rPr>
                      <m:t>𝑣</m:t>
                    </m:r>
                    <m:r>
                      <a:rPr lang="en-MY" sz="1200" i="1" spc="-190" dirty="0" smtClean="0">
                        <a:latin typeface="Cambria Math" panose="02040503050406030204" pitchFamily="18" charset="0"/>
                        <a:cs typeface="Arial"/>
                      </a:rPr>
                      <m:t> </m:t>
                    </m:r>
                    <m:r>
                      <a:rPr lang="en-MY" sz="1200" i="1" dirty="0" smtClean="0">
                        <a:latin typeface="Cambria Math" panose="02040503050406030204" pitchFamily="18" charset="0"/>
                        <a:cs typeface="Tahoma"/>
                      </a:rPr>
                      <m:t>(</m:t>
                    </m:r>
                    <m:r>
                      <a:rPr lang="en-MY" sz="1200" i="1" dirty="0" smtClean="0">
                        <a:latin typeface="Cambria Math" panose="02040503050406030204" pitchFamily="18" charset="0"/>
                        <a:cs typeface="Arial"/>
                      </a:rPr>
                      <m:t>𝑁</m:t>
                    </m:r>
                    <m:r>
                      <a:rPr lang="en-MY" sz="1200" i="1" dirty="0" smtClean="0">
                        <a:latin typeface="Cambria Math" panose="02040503050406030204" pitchFamily="18" charset="0"/>
                        <a:cs typeface="Tahoma"/>
                      </a:rPr>
                      <m:t>)=</m:t>
                    </m:r>
                    <m:nary>
                      <m:naryPr>
                        <m:chr m:val="∑"/>
                        <m:limLoc m:val="subSup"/>
                        <m:supHide m:val="on"/>
                        <m:ctrlPr>
                          <a:rPr lang="ar-SA" sz="1200" i="1" spc="-50" dirty="0" smtClean="0">
                            <a:latin typeface="Cambria Math" panose="02040503050406030204" pitchFamily="18" charset="0"/>
                            <a:cs typeface="Tahoma"/>
                          </a:rPr>
                        </m:ctrlPr>
                      </m:naryPr>
                      <m:sub>
                        <m:r>
                          <m:rPr>
                            <m:brk m:alnAt="9"/>
                          </m:rPr>
                          <a:rPr lang="ar-SA" sz="1200" b="0" i="1" spc="-50" dirty="0" smtClean="0">
                            <a:latin typeface="Cambria Math" panose="02040503050406030204" pitchFamily="18" charset="0"/>
                            <a:cs typeface="Tahoma"/>
                          </a:rPr>
                          <m:t>𝑖</m:t>
                        </m:r>
                        <m:r>
                          <a:rPr lang="en-MY" sz="1200" b="0" i="1" spc="-50" dirty="0" smtClean="0">
                            <a:latin typeface="Cambria Math" panose="02040503050406030204" pitchFamily="18" charset="0"/>
                            <a:cs typeface="Tahoma"/>
                          </a:rPr>
                          <m:t>∈</m:t>
                        </m:r>
                        <m:r>
                          <a:rPr lang="en-MY" sz="1200" b="0" i="1" spc="-50" dirty="0" smtClean="0">
                            <a:latin typeface="Cambria Math" panose="02040503050406030204" pitchFamily="18" charset="0"/>
                            <a:cs typeface="Tahoma"/>
                          </a:rPr>
                          <m:t>𝑁</m:t>
                        </m:r>
                      </m:sub>
                      <m:sup/>
                      <m:e>
                        <m:r>
                          <a:rPr lang="en-MY" sz="1200" b="0" i="1" spc="-50" dirty="0" smtClean="0">
                            <a:latin typeface="Cambria Math" panose="02040503050406030204" pitchFamily="18" charset="0"/>
                            <a:cs typeface="Tahoma"/>
                          </a:rPr>
                          <m:t>𝑣</m:t>
                        </m:r>
                        <m:d>
                          <m:dPr>
                            <m:ctrlPr>
                              <a:rPr lang="en-MY" sz="1200" b="0" i="1" spc="-50" dirty="0" smtClean="0">
                                <a:latin typeface="Cambria Math" panose="02040503050406030204" pitchFamily="18" charset="0"/>
                                <a:cs typeface="Tahoma"/>
                              </a:rPr>
                            </m:ctrlPr>
                          </m:dPr>
                          <m:e>
                            <m:d>
                              <m:dPr>
                                <m:begChr m:val="{"/>
                                <m:endChr m:val="}"/>
                                <m:ctrlPr>
                                  <a:rPr lang="en-MY" sz="1200" b="0" i="1" spc="-50" dirty="0" smtClean="0">
                                    <a:latin typeface="Cambria Math" panose="02040503050406030204" pitchFamily="18" charset="0"/>
                                    <a:cs typeface="Tahoma"/>
                                  </a:rPr>
                                </m:ctrlPr>
                              </m:dPr>
                              <m:e>
                                <m:r>
                                  <a:rPr lang="en-MY" sz="1200" b="0" i="1" spc="-50" dirty="0" smtClean="0">
                                    <a:latin typeface="Cambria Math" panose="02040503050406030204" pitchFamily="18" charset="0"/>
                                    <a:cs typeface="Tahoma"/>
                                  </a:rPr>
                                  <m:t>𝑖</m:t>
                                </m:r>
                              </m:e>
                            </m:d>
                          </m:e>
                        </m:d>
                      </m:e>
                    </m:nary>
                  </m:oMath>
                </a14:m>
                <a:r>
                  <a:rPr lang="en-US" dirty="0"/>
                  <a:t> </a:t>
                </a:r>
              </a:p>
              <a:p>
                <a:endParaRPr lang="en-US" dirty="0"/>
              </a:p>
              <a:p>
                <a:r>
                  <a:rPr lang="en-US" dirty="0"/>
                  <a:t>Additive games are a special case of </a:t>
                </a:r>
                <a:r>
                  <a:rPr lang="en-US" dirty="0" err="1"/>
                  <a:t>superadditive</a:t>
                </a:r>
                <a:r>
                  <a:rPr lang="en-US" dirty="0"/>
                  <a:t> games, as in a </a:t>
                </a:r>
                <a:r>
                  <a:rPr lang="en-US" dirty="0" err="1"/>
                  <a:t>superadditive</a:t>
                </a:r>
                <a:r>
                  <a:rPr lang="en-US" dirty="0"/>
                  <a:t> game, the worth of a coalition is at least as much as the sum of the worth of its disjoint </a:t>
                </a:r>
                <a:r>
                  <a:rPr lang="en-US" dirty="0" err="1"/>
                  <a:t>subcoalitions</a:t>
                </a:r>
                <a:r>
                  <a:rPr lang="en-US" dirty="0"/>
                  <a:t>, while in an additive game, it's exactly equal. Both types of games encourage players to merge into the grand coalition, ensuring cooperation among players.</a:t>
                </a:r>
                <a:endParaRPr lang="en-MY" dirty="0"/>
              </a:p>
            </p:txBody>
          </p:sp>
        </mc:Choice>
        <mc:Fallback xmlns="">
          <p:sp>
            <p:nvSpPr>
              <p:cNvPr id="3" name="Notes Placeholder 2"/>
              <p:cNvSpPr>
                <a:spLocks noGrp="1"/>
              </p:cNvSpPr>
              <p:nvPr>
                <p:ph type="body" idx="1"/>
              </p:nvPr>
            </p:nvSpPr>
            <p:spPr/>
            <p:txBody>
              <a:bodyPr/>
              <a:lstStyle/>
              <a:p>
                <a:r>
                  <a:rPr lang="en-US" dirty="0"/>
                  <a:t>In an additive game, the worth of a coalition is exactly equal to the sum of the worth of its disjoint </a:t>
                </a:r>
                <a:r>
                  <a:rPr lang="en-US" dirty="0" err="1"/>
                  <a:t>subcoalitions</a:t>
                </a:r>
                <a:r>
                  <a:rPr lang="en-US" dirty="0"/>
                  <a:t>. This means that players have a strong incentive to form the grand coalition, as the worth of the grand coalition is the sum of the individual players' worth.</a:t>
                </a:r>
              </a:p>
              <a:p>
                <a:endParaRPr lang="en-US" dirty="0"/>
              </a:p>
              <a:p>
                <a:r>
                  <a:rPr lang="en-US" dirty="0"/>
                  <a:t>Mathematically, a game 𝐺=(𝑁, 𝑣 ) is additive if the following condition holds for all coalitions 𝐶₁ and 𝐶₂:</a:t>
                </a:r>
              </a:p>
              <a:p>
                <a:endParaRPr lang="en-US" dirty="0"/>
              </a:p>
              <a:p>
                <a:r>
                  <a:rPr lang="en-US" dirty="0"/>
                  <a:t>If 𝐶₁∩ 𝐶₂= ∅, then 𝑣 (𝐶₁∪ 𝐶₂) = 𝑣 (𝐶₁) + 𝑣 (𝐶₂)</a:t>
                </a:r>
              </a:p>
              <a:p>
                <a:endParaRPr lang="en-US" dirty="0"/>
              </a:p>
              <a:p>
                <a:r>
                  <a:rPr lang="en-US" dirty="0"/>
                  <a:t>This condition implies that no matter how you partition the grand coalition into disjoint </a:t>
                </a:r>
                <a:r>
                  <a:rPr lang="en-US" dirty="0" err="1"/>
                  <a:t>subcoalitions</a:t>
                </a:r>
                <a:r>
                  <a:rPr lang="en-US" dirty="0"/>
                  <a:t>, the worth of the grand coalition remains consistent, which encourages players to collaborate.</a:t>
                </a:r>
              </a:p>
              <a:p>
                <a:endParaRPr lang="en-US" dirty="0"/>
              </a:p>
              <a:p>
                <a:r>
                  <a:rPr lang="en-US" dirty="0"/>
                  <a:t>The worth of the grand coalition, denoted as 𝑣 (𝑁), is the sum of the worth of all individual players in the game:</a:t>
                </a:r>
              </a:p>
              <a:p>
                <a:endParaRPr lang="en-US" dirty="0"/>
              </a:p>
              <a:p>
                <a:r>
                  <a:rPr lang="en-MY" sz="1200" i="0" spc="-55" dirty="0">
                    <a:latin typeface="Cambria Math" panose="02040503050406030204" pitchFamily="18" charset="0"/>
                    <a:cs typeface="Arial"/>
                  </a:rPr>
                  <a:t>𝑣</a:t>
                </a:r>
                <a:r>
                  <a:rPr lang="en-MY" sz="1200" i="0" spc="-190" dirty="0">
                    <a:latin typeface="Cambria Math" panose="02040503050406030204" pitchFamily="18" charset="0"/>
                    <a:cs typeface="Arial"/>
                  </a:rPr>
                  <a:t> </a:t>
                </a:r>
                <a:r>
                  <a:rPr lang="en-MY" sz="1200" i="0" dirty="0">
                    <a:latin typeface="Cambria Math" panose="02040503050406030204" pitchFamily="18" charset="0"/>
                    <a:cs typeface="Tahoma"/>
                  </a:rPr>
                  <a:t>(</a:t>
                </a:r>
                <a:r>
                  <a:rPr lang="en-MY" sz="1200" i="0" dirty="0">
                    <a:latin typeface="Cambria Math" panose="02040503050406030204" pitchFamily="18" charset="0"/>
                    <a:cs typeface="Arial"/>
                  </a:rPr>
                  <a:t>𝑁</a:t>
                </a:r>
                <a:r>
                  <a:rPr lang="en-MY" sz="1200" i="0" dirty="0">
                    <a:latin typeface="Cambria Math" panose="02040503050406030204" pitchFamily="18" charset="0"/>
                    <a:cs typeface="Tahoma"/>
                  </a:rPr>
                  <a:t>)=</a:t>
                </a:r>
                <a:r>
                  <a:rPr lang="ar-SA" sz="1200" i="0" spc="-50" dirty="0">
                    <a:latin typeface="Cambria Math" panose="02040503050406030204" pitchFamily="18" charset="0"/>
                    <a:cs typeface="Tahoma"/>
                  </a:rPr>
                  <a:t>∑2</a:t>
                </a:r>
                <a:r>
                  <a:rPr lang="en-MY" sz="1200" b="0" i="0" spc="-50" dirty="0">
                    <a:latin typeface="Cambria Math" panose="02040503050406030204" pitchFamily="18" charset="0"/>
                    <a:cs typeface="Tahoma"/>
                  </a:rPr>
                  <a:t>_</a:t>
                </a:r>
                <a:r>
                  <a:rPr lang="ar-SA" sz="1200" b="0" i="0" spc="-50" dirty="0">
                    <a:latin typeface="Cambria Math" panose="02040503050406030204" pitchFamily="18" charset="0"/>
                    <a:cs typeface="Tahoma"/>
                  </a:rPr>
                  <a:t>(𝑖</a:t>
                </a:r>
                <a:r>
                  <a:rPr lang="en-MY" sz="1200" b="0" i="0" spc="-50" dirty="0">
                    <a:latin typeface="Cambria Math" panose="02040503050406030204" pitchFamily="18" charset="0"/>
                    <a:cs typeface="Tahoma"/>
                  </a:rPr>
                  <a:t>∈𝑁</a:t>
                </a:r>
                <a:r>
                  <a:rPr lang="ar-SA" sz="1200" b="0" i="0" spc="-50" dirty="0">
                    <a:latin typeface="Cambria Math" panose="02040503050406030204" pitchFamily="18" charset="0"/>
                    <a:cs typeface="Tahoma"/>
                  </a:rPr>
                  <a:t>)</a:t>
                </a:r>
                <a:r>
                  <a:rPr lang="en-MY" sz="1200" b="0" i="0" spc="-50" dirty="0">
                    <a:latin typeface="Cambria Math" panose="02040503050406030204" pitchFamily="18" charset="0"/>
                    <a:cs typeface="Tahoma"/>
                  </a:rPr>
                  <a:t>▒𝑣({𝑖}) </a:t>
                </a:r>
                <a:r>
                  <a:rPr lang="en-US" dirty="0"/>
                  <a:t> </a:t>
                </a:r>
              </a:p>
              <a:p>
                <a:endParaRPr lang="en-US" dirty="0"/>
              </a:p>
              <a:p>
                <a:r>
                  <a:rPr lang="en-US" dirty="0"/>
                  <a:t>Additive games are a special case of </a:t>
                </a:r>
                <a:r>
                  <a:rPr lang="en-US" dirty="0" err="1"/>
                  <a:t>superadditive</a:t>
                </a:r>
                <a:r>
                  <a:rPr lang="en-US" dirty="0"/>
                  <a:t> games, as in a </a:t>
                </a:r>
                <a:r>
                  <a:rPr lang="en-US" dirty="0" err="1"/>
                  <a:t>superadditive</a:t>
                </a:r>
                <a:r>
                  <a:rPr lang="en-US" dirty="0"/>
                  <a:t> game, the worth of a coalition is at least as much as the sum of the worth of its disjoint </a:t>
                </a:r>
                <a:r>
                  <a:rPr lang="en-US" dirty="0" err="1"/>
                  <a:t>subcoalitions</a:t>
                </a:r>
                <a:r>
                  <a:rPr lang="en-US" dirty="0"/>
                  <a:t>, while in an additive game, it's exactly equal. Both types of games encourage players to merge into the grand coalition, ensuring cooperation among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9</a:t>
            </a:fld>
            <a:endParaRPr lang="en-MY"/>
          </a:p>
        </p:txBody>
      </p:sp>
    </p:spTree>
    <p:extLst>
      <p:ext uri="{BB962C8B-B14F-4D97-AF65-F5344CB8AC3E}">
        <p14:creationId xmlns:p14="http://schemas.microsoft.com/office/powerpoint/2010/main" val="2701873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additive game, the worth of a coalition is equal to the sum of the worth of its individual members. Additive games promote cooperation and coalition formation, where the value of a coalition is precisely the sum of the values of its members.</a:t>
            </a:r>
          </a:p>
          <a:p>
            <a:endParaRPr lang="en-US" dirty="0"/>
          </a:p>
          <a:p>
            <a:r>
              <a:rPr lang="en-US" dirty="0"/>
              <a:t>Here's an example of an additive game:</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  𝑣 (∅) = 0</a:t>
            </a:r>
          </a:p>
          <a:p>
            <a:pPr marL="628650" lvl="1" indent="-171450">
              <a:buFont typeface="Arial" panose="020B0604020202020204" pitchFamily="34" charset="0"/>
              <a:buChar char="•"/>
            </a:pPr>
            <a:r>
              <a:rPr lang="en-US" dirty="0"/>
              <a:t>  𝑣 ({1}) = 𝑣 ({2}) = 𝑣 ({3}) = 1</a:t>
            </a:r>
          </a:p>
          <a:p>
            <a:pPr marL="628650" lvl="1" indent="-171450">
              <a:buFont typeface="Arial" panose="020B0604020202020204" pitchFamily="34" charset="0"/>
              <a:buChar char="•"/>
            </a:pPr>
            <a:r>
              <a:rPr lang="en-US" dirty="0"/>
              <a:t>  𝑣 ({1, 2}) = 2</a:t>
            </a:r>
          </a:p>
          <a:p>
            <a:pPr marL="628650" lvl="1" indent="-171450">
              <a:buFont typeface="Arial" panose="020B0604020202020204" pitchFamily="34" charset="0"/>
              <a:buChar char="•"/>
            </a:pPr>
            <a:r>
              <a:rPr lang="en-US" dirty="0"/>
              <a:t>  𝑣 ({1, 3}) = 2</a:t>
            </a:r>
          </a:p>
          <a:p>
            <a:pPr marL="628650" lvl="1" indent="-171450">
              <a:buFont typeface="Arial" panose="020B0604020202020204" pitchFamily="34" charset="0"/>
              <a:buChar char="•"/>
            </a:pPr>
            <a:r>
              <a:rPr lang="en-US" dirty="0"/>
              <a:t>  𝑣 ({2, 3}) = 2</a:t>
            </a:r>
          </a:p>
          <a:p>
            <a:pPr marL="628650" lvl="1" indent="-171450">
              <a:buFont typeface="Arial" panose="020B0604020202020204" pitchFamily="34" charset="0"/>
              <a:buChar char="•"/>
            </a:pPr>
            <a:r>
              <a:rPr lang="en-US" dirty="0"/>
              <a:t>  𝑣 ({1, 2, 3}) = 3</a:t>
            </a:r>
          </a:p>
          <a:p>
            <a:endParaRPr lang="en-US" dirty="0"/>
          </a:p>
          <a:p>
            <a:r>
              <a:rPr lang="en-US" dirty="0"/>
              <a:t>In this example, the worth of each individual player is 1. When players form coalitions, the worth of the coalition is simply the sum of the individual players' values. For instance, 𝑣 ({1, 2}) is 2 because the coalition's worth is the sum of the values of player 1 and player 2 (1 + 1 = 2). Similarly, the worth of the grand coalition ({1, 2, 3}) is 3, which is the sum of the values of all three players (1 + 1 + 1 = 3). This example demonstrates the additive nature of the game, where coalition worth is additive, and the total worth of the grand coalition is the sum of individual player values.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10</a:t>
            </a:fld>
            <a:endParaRPr lang="en-MY"/>
          </a:p>
        </p:txBody>
      </p:sp>
    </p:spTree>
    <p:extLst>
      <p:ext uri="{BB962C8B-B14F-4D97-AF65-F5344CB8AC3E}">
        <p14:creationId xmlns:p14="http://schemas.microsoft.com/office/powerpoint/2010/main" val="4119753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constant-sum game, the worth of any coalition plus the worth of its complement (the set of players not in the coalition) is always equal to the worth of the grand coalition. This means that the total worth of the entire set of players remains constant, regardless of how they are grouped into different coalitions.</a:t>
            </a:r>
          </a:p>
          <a:p>
            <a:endParaRPr lang="en-US" dirty="0"/>
          </a:p>
          <a:p>
            <a:r>
              <a:rPr lang="en-US" dirty="0"/>
              <a:t>Mathematically, a game 𝐺=(𝑁, 𝑣 ) is constant-sum if the following condition holds for all coalitions 𝐶:</a:t>
            </a:r>
          </a:p>
          <a:p>
            <a:endParaRPr lang="en-US" dirty="0"/>
          </a:p>
          <a:p>
            <a:r>
              <a:rPr lang="en-US" dirty="0"/>
              <a:t>𝑣 (𝐶 ) + 𝑣 (𝑁 \ 𝐶 ) = 𝑣 (𝑁)</a:t>
            </a:r>
          </a:p>
          <a:p>
            <a:endParaRPr lang="en-US" dirty="0"/>
          </a:p>
          <a:p>
            <a:r>
              <a:rPr lang="en-US" dirty="0"/>
              <a:t>This condition implies that the worth of any coalition, when added to the worth of its complement, is equal to the worth of the entire set of players. Constant-sum games are a special case of additive games.</a:t>
            </a:r>
          </a:p>
          <a:p>
            <a:endParaRPr lang="en-US" dirty="0"/>
          </a:p>
          <a:p>
            <a:r>
              <a:rPr lang="en-US" dirty="0"/>
              <a:t>The relationship between these types of games is as follows:</a:t>
            </a:r>
          </a:p>
          <a:p>
            <a:endParaRPr lang="en-US" dirty="0"/>
          </a:p>
          <a:p>
            <a:pPr marL="171450" indent="-171450">
              <a:buFont typeface="Arial" panose="020B0604020202020204" pitchFamily="34" charset="0"/>
              <a:buChar char="•"/>
            </a:pPr>
            <a:r>
              <a:rPr lang="en-US" dirty="0"/>
              <a:t>Constant-sum games are a subset of additive games, as they satisfy the additive condition.</a:t>
            </a:r>
          </a:p>
          <a:p>
            <a:pPr marL="171450" indent="-171450">
              <a:buFont typeface="Arial" panose="020B0604020202020204" pitchFamily="34" charset="0"/>
              <a:buChar char="•"/>
            </a:pPr>
            <a:r>
              <a:rPr lang="en-US" dirty="0"/>
              <a:t>Additive games, in turn, are a subset of </a:t>
            </a:r>
            <a:r>
              <a:rPr lang="en-US" dirty="0" err="1"/>
              <a:t>superadditive</a:t>
            </a:r>
            <a:r>
              <a:rPr lang="en-US" dirty="0"/>
              <a:t> games, as they satisfy the </a:t>
            </a:r>
            <a:r>
              <a:rPr lang="en-US" dirty="0" err="1"/>
              <a:t>superadditive</a:t>
            </a:r>
            <a:r>
              <a:rPr lang="en-US" dirty="0"/>
              <a:t> condition.</a:t>
            </a:r>
          </a:p>
          <a:p>
            <a:endParaRPr lang="en-US" dirty="0"/>
          </a:p>
          <a:p>
            <a:r>
              <a:rPr lang="en-US" dirty="0"/>
              <a:t>Constant-sum games are a particular class of coalitional games where the total value remains constant, promoting cooperation and coalition formation among players.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11</a:t>
            </a:fld>
            <a:endParaRPr lang="en-MY"/>
          </a:p>
        </p:txBody>
      </p:sp>
    </p:spTree>
    <p:extLst>
      <p:ext uri="{BB962C8B-B14F-4D97-AF65-F5344CB8AC3E}">
        <p14:creationId xmlns:p14="http://schemas.microsoft.com/office/powerpoint/2010/main" val="678841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constant-sum game, the worth of a coalition is such that the sum of its worth and the worth of its complement in the grand coalition is a constant value. These games are also known as zero-sum games, as the total worth of the grand coalition remains fixed.</a:t>
            </a:r>
          </a:p>
          <a:p>
            <a:endParaRPr lang="en-US" dirty="0"/>
          </a:p>
          <a:p>
            <a:r>
              <a:rPr lang="en-US" dirty="0"/>
              <a:t>Here's an example of a constant-sum game:</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  𝑣 (∅) = 0</a:t>
            </a:r>
          </a:p>
          <a:p>
            <a:pPr marL="628650" lvl="1" indent="-171450">
              <a:buFont typeface="Arial" panose="020B0604020202020204" pitchFamily="34" charset="0"/>
              <a:buChar char="•"/>
            </a:pPr>
            <a:r>
              <a:rPr lang="en-US" dirty="0"/>
              <a:t>  𝑣 ({1}) = 𝑣 ({2}) = 𝑣 ({3}) = 1</a:t>
            </a:r>
          </a:p>
          <a:p>
            <a:pPr marL="628650" lvl="1" indent="-171450">
              <a:buFont typeface="Arial" panose="020B0604020202020204" pitchFamily="34" charset="0"/>
              <a:buChar char="•"/>
            </a:pPr>
            <a:r>
              <a:rPr lang="en-US" dirty="0"/>
              <a:t>  𝑣 ({1, 2}) = 𝑣 ({1, 3}) = 𝑣 ({2, 3}) = 1</a:t>
            </a:r>
          </a:p>
          <a:p>
            <a:pPr marL="628650" lvl="1" indent="-171450">
              <a:buFont typeface="Arial" panose="020B0604020202020204" pitchFamily="34" charset="0"/>
              <a:buChar char="•"/>
            </a:pPr>
            <a:r>
              <a:rPr lang="en-US" dirty="0"/>
              <a:t>  𝑣 ({1, 2, 3}) = 2</a:t>
            </a:r>
          </a:p>
          <a:p>
            <a:endParaRPr lang="en-US" dirty="0"/>
          </a:p>
          <a:p>
            <a:r>
              <a:rPr lang="en-US" dirty="0"/>
              <a:t>In this example, the worth of each individual player is 1. When players form coalitions, the characteristic function ensures that the sum of the coalition's worth and the complement's worth in the grand coalition remains constant. For instance, 𝑣 ({1, 2}) = 1, and the complement of this coalition ({3}) also has a worth of 1, so the sum remains constant at 1. Similarly, 𝑣 ({1, 2, 3}) = 2, and the worth of the complement ({}) is 0, making the sum also equal to 2.</a:t>
            </a:r>
          </a:p>
          <a:p>
            <a:endParaRPr lang="en-US" dirty="0"/>
          </a:p>
          <a:p>
            <a:r>
              <a:rPr lang="en-US" dirty="0"/>
              <a:t>Constant-sum games have applications in various fields, including competitive games and economics, where one player's gain is matched by another player's loss. These games are important for understanding strategic interactions and finding optimal solutions in zero-sum situations.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12</a:t>
            </a:fld>
            <a:endParaRPr lang="en-MY"/>
          </a:p>
        </p:txBody>
      </p:sp>
    </p:spTree>
    <p:extLst>
      <p:ext uri="{BB962C8B-B14F-4D97-AF65-F5344CB8AC3E}">
        <p14:creationId xmlns:p14="http://schemas.microsoft.com/office/powerpoint/2010/main" val="3504858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Convex games are a type of coalitional game where the characteristic function exhibits a specific property. In convex games, the worth of a coalition formed by merging two disjoint coalitions is greater than or equal to the sum of the worth of those two disjoint coalitions, minus the worth of their intersection.</a:t>
                </a:r>
              </a:p>
              <a:p>
                <a:endParaRPr lang="en-US" dirty="0"/>
              </a:p>
              <a:p>
                <a:r>
                  <a:rPr lang="en-US" dirty="0"/>
                  <a:t>Mathematically, a game 𝐺=(𝑁, 𝑣) is considered convex if, for all coalitions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𝑁</m:t>
                    </m:r>
                  </m:oMath>
                </a14:m>
                <a:r>
                  <a:rPr lang="en-US" dirty="0"/>
                  <a:t>:</a:t>
                </a:r>
              </a:p>
              <a:p>
                <a:endParaRPr lang="en-US" dirty="0"/>
              </a:p>
              <a:p>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r>
                      <a:rPr lang="en-US" i="1" dirty="0" smtClean="0">
                        <a:latin typeface="Cambria Math" panose="02040503050406030204" pitchFamily="18" charset="0"/>
                      </a:rPr>
                      <m:t>𝑣</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r>
                  <a:rPr lang="en-US" dirty="0"/>
                  <a:t> </a:t>
                </a:r>
              </a:p>
              <a:p>
                <a:endParaRPr lang="en-US" dirty="0"/>
              </a:p>
              <a:p>
                <a:r>
                  <a:rPr lang="en-US" dirty="0"/>
                  <a:t>The concept of convex games implies that two disjoint coalitions can always merge together to form a larger coalition, and the payoff of this merged coalition is at least as much as the sum of the payoffs of the individual coalitions minus the worth of their intersection.</a:t>
                </a:r>
              </a:p>
              <a:p>
                <a:endParaRPr lang="en-US" dirty="0"/>
              </a:p>
              <a:p>
                <a:r>
                  <a:rPr lang="en-US" dirty="0"/>
                  <a:t>Convex games have applications in cooperative game theory, economics, and other fields where agents cooperate in various combinations. The property of convexity simplifies the analysis of cooperative behavior, as it ensures that the grand coalition (all players) can achieve at least the sum of what individual disjoint coalitions could achieve.</a:t>
                </a:r>
              </a:p>
              <a:p>
                <a:endParaRPr lang="en-US" dirty="0"/>
              </a:p>
              <a:p>
                <a:r>
                  <a:rPr lang="en-US" dirty="0"/>
                  <a:t>Convex games are part of a hierarchy of coalitional games, with constant-sum games and additive games being special cases of convex games. </a:t>
                </a:r>
                <a:r>
                  <a:rPr lang="en-US" dirty="0" err="1"/>
                  <a:t>Superadditive</a:t>
                </a:r>
                <a:r>
                  <a:rPr lang="en-US" dirty="0"/>
                  <a:t> games are a broader class that includes both convex and additive games. Understanding the properties of these games is essential for studying cooperative behavior, power allocation, and resource distribution among agents.</a:t>
                </a:r>
                <a:endParaRPr lang="en-MY" dirty="0"/>
              </a:p>
            </p:txBody>
          </p:sp>
        </mc:Choice>
        <mc:Fallback xmlns="">
          <p:sp>
            <p:nvSpPr>
              <p:cNvPr id="3" name="Notes Placeholder 2"/>
              <p:cNvSpPr>
                <a:spLocks noGrp="1"/>
              </p:cNvSpPr>
              <p:nvPr>
                <p:ph type="body" idx="1"/>
              </p:nvPr>
            </p:nvSpPr>
            <p:spPr/>
            <p:txBody>
              <a:bodyPr/>
              <a:lstStyle/>
              <a:p>
                <a:r>
                  <a:rPr lang="en-US" dirty="0"/>
                  <a:t>Convex games are a type of coalitional game where the characteristic function exhibits a specific property. In convex games, the worth of a coalition formed by merging two disjoint coalitions is greater than or equal to the sum of the worth of those two disjoint coalitions, minus the worth of their intersection.</a:t>
                </a:r>
              </a:p>
              <a:p>
                <a:endParaRPr lang="en-US" dirty="0"/>
              </a:p>
              <a:p>
                <a:r>
                  <a:rPr lang="en-US" dirty="0"/>
                  <a:t>Mathematically, a game 𝐺=(𝑁, 𝑣) is considered convex if, for all coalitions </a:t>
                </a:r>
                <a:r>
                  <a:rPr lang="en-US" i="0" dirty="0">
                    <a:latin typeface="Cambria Math" panose="02040503050406030204" pitchFamily="18" charset="0"/>
                  </a:rPr>
                  <a:t>𝐶_1, 𝐶_2⊂𝑁</a:t>
                </a:r>
                <a:r>
                  <a:rPr lang="en-US" dirty="0"/>
                  <a:t>:</a:t>
                </a:r>
              </a:p>
              <a:p>
                <a:endParaRPr lang="en-US" dirty="0"/>
              </a:p>
              <a:p>
                <a:r>
                  <a:rPr lang="en-US" i="0" dirty="0">
                    <a:latin typeface="Cambria Math" panose="02040503050406030204" pitchFamily="18" charset="0"/>
                  </a:rPr>
                  <a:t>𝑣(𝐶_1∪𝐶_2) ≥ 𝑣(𝐶_1) + 𝑣(𝐶_2) − 𝑣(𝐶_1∩𝐶_2)</a:t>
                </a:r>
                <a:r>
                  <a:rPr lang="en-US" dirty="0"/>
                  <a:t> </a:t>
                </a:r>
              </a:p>
              <a:p>
                <a:endParaRPr lang="en-US" dirty="0"/>
              </a:p>
              <a:p>
                <a:r>
                  <a:rPr lang="en-US" dirty="0"/>
                  <a:t>The concept of convex games implies that two disjoint coalitions can always merge together to form a larger coalition, and the payoff of this merged coalition is at least as much as the sum of the payoffs of the individual coalitions minus the worth of their intersection.</a:t>
                </a:r>
              </a:p>
              <a:p>
                <a:endParaRPr lang="en-US" dirty="0"/>
              </a:p>
              <a:p>
                <a:r>
                  <a:rPr lang="en-US" dirty="0"/>
                  <a:t>Convex games have applications in cooperative game theory, economics, and other fields where agents cooperate in various combinations. The property of convexity simplifies the analysis of cooperative behavior, as it ensures that the grand coalition (all players) can achieve at least the sum of what individual disjoint coalitions could achieve.</a:t>
                </a:r>
              </a:p>
              <a:p>
                <a:endParaRPr lang="en-US" dirty="0"/>
              </a:p>
              <a:p>
                <a:r>
                  <a:rPr lang="en-US" dirty="0"/>
                  <a:t>Convex games are part of a hierarchy of coalitional games, with constant-sum games and additive games being special cases of convex games. </a:t>
                </a:r>
                <a:r>
                  <a:rPr lang="en-US" dirty="0" err="1"/>
                  <a:t>Superadditive</a:t>
                </a:r>
                <a:r>
                  <a:rPr lang="en-US" dirty="0"/>
                  <a:t> games are a broader class that includes both convex and additive games. Understanding the properties of these games is essential for studying cooperative behavior, power allocation, and resource distribution among agents.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13</a:t>
            </a:fld>
            <a:endParaRPr lang="en-MY"/>
          </a:p>
        </p:txBody>
      </p:sp>
    </p:spTree>
    <p:extLst>
      <p:ext uri="{BB962C8B-B14F-4D97-AF65-F5344CB8AC3E}">
        <p14:creationId xmlns:p14="http://schemas.microsoft.com/office/powerpoint/2010/main" val="2833461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MY" dirty="0"/>
                  <a:t>Certainly, here's an example of a convex game:</a:t>
                </a:r>
              </a:p>
              <a:p>
                <a:endParaRPr lang="en-MY" dirty="0"/>
              </a:p>
              <a:p>
                <a:r>
                  <a:rPr lang="en-MY" dirty="0"/>
                  <a:t>Consider a set of players 𝑁={1, 2, 3}, and their characteristic function 𝑣:</a:t>
                </a:r>
              </a:p>
              <a:p>
                <a:endParaRPr lang="en-MY" dirty="0"/>
              </a:p>
              <a:p>
                <a:pPr marL="628650" lvl="1" indent="-171450">
                  <a:buFont typeface="Arial" panose="020B0604020202020204" pitchFamily="34" charset="0"/>
                  <a:buChar char="•"/>
                </a:pPr>
                <a:r>
                  <a:rPr lang="en-MY" dirty="0"/>
                  <a:t>𝑣(∅) = 0 (The empty coalition has a worth of 0)</a:t>
                </a:r>
              </a:p>
              <a:p>
                <a:pPr marL="628650" lvl="1" indent="-171450">
                  <a:buFont typeface="Arial" panose="020B0604020202020204" pitchFamily="34" charset="0"/>
                  <a:buChar char="•"/>
                </a:pPr>
                <a:r>
                  <a:rPr lang="en-MY" dirty="0"/>
                  <a:t>𝑣({1}) = 𝑣({2}) = 𝑣({3}) = 1 (Each individual player has a worth of 1)</a:t>
                </a:r>
              </a:p>
              <a:p>
                <a:pPr marL="628650" lvl="1" indent="-171450">
                  <a:buFont typeface="Arial" panose="020B0604020202020204" pitchFamily="34" charset="0"/>
                  <a:buChar char="•"/>
                </a:pPr>
                <a:r>
                  <a:rPr lang="en-MY" dirty="0"/>
                  <a:t>𝑣({1, 2}) = 3 (The coalition {1, 2} has a worth of 3)</a:t>
                </a:r>
              </a:p>
              <a:p>
                <a:pPr marL="628650" lvl="1" indent="-171450">
                  <a:buFont typeface="Arial" panose="020B0604020202020204" pitchFamily="34" charset="0"/>
                  <a:buChar char="•"/>
                </a:pPr>
                <a:r>
                  <a:rPr lang="en-MY" dirty="0"/>
                  <a:t>𝑣({1, 3}) = 4 (The coalition {1, 3} has a worth of 4)</a:t>
                </a:r>
              </a:p>
              <a:p>
                <a:pPr marL="628650" lvl="1" indent="-171450">
                  <a:buFont typeface="Arial" panose="020B0604020202020204" pitchFamily="34" charset="0"/>
                  <a:buChar char="•"/>
                </a:pPr>
                <a:r>
                  <a:rPr lang="en-MY" dirty="0"/>
                  <a:t>𝑣({2, 3}) = 5 (The coalition {2, 3} has a worth of 5)</a:t>
                </a:r>
              </a:p>
              <a:p>
                <a:pPr marL="628650" lvl="1" indent="-171450">
                  <a:buFont typeface="Arial" panose="020B0604020202020204" pitchFamily="34" charset="0"/>
                  <a:buChar char="•"/>
                </a:pPr>
                <a:r>
                  <a:rPr lang="en-MY" dirty="0"/>
                  <a:t>𝑣({1, 2, 3}) = 8 (The grand coalition {1, 2, 3} has a worth of 8)</a:t>
                </a:r>
              </a:p>
              <a:p>
                <a:endParaRPr lang="en-MY" dirty="0"/>
              </a:p>
              <a:p>
                <a:r>
                  <a:rPr lang="en-MY" dirty="0"/>
                  <a:t>Now, let's check if this game is convex:</a:t>
                </a:r>
              </a:p>
              <a:p>
                <a:endParaRPr lang="en-MY" dirty="0"/>
              </a:p>
              <a:p>
                <a:r>
                  <a:rPr lang="en-MY" dirty="0"/>
                  <a:t>For all coalitions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oMath>
                </a14:m>
                <a:r>
                  <a:rPr lang="en-MY" dirty="0"/>
                  <a:t>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𝑁</m:t>
                    </m:r>
                    <m:r>
                      <a:rPr lang="en-MY" i="1" dirty="0" smtClean="0">
                        <a:latin typeface="Cambria Math" panose="02040503050406030204" pitchFamily="18" charset="0"/>
                      </a:rPr>
                      <m:t> </m:t>
                    </m:r>
                  </m:oMath>
                </a14:m>
                <a:r>
                  <a:rPr lang="en-MY" dirty="0"/>
                  <a:t>such that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m:t>
                    </m:r>
                  </m:oMath>
                </a14:m>
                <a:r>
                  <a:rPr lang="en-MY" dirty="0"/>
                  <a:t>:</a:t>
                </a:r>
              </a:p>
              <a:p>
                <a:endParaRPr lang="en-MY" dirty="0"/>
              </a:p>
              <a:p>
                <a:pPr marL="171450" indent="-171450">
                  <a:buFont typeface="Arial" panose="020B0604020202020204" pitchFamily="34" charset="0"/>
                  <a:buChar char="•"/>
                </a:pPr>
                <a:r>
                  <a:rPr lang="en-MY" dirty="0"/>
                  <a:t>For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r>
                      <a:rPr lang="en-MY" i="1" dirty="0" smtClean="0">
                        <a:latin typeface="Cambria Math" panose="02040503050406030204" pitchFamily="18" charset="0"/>
                      </a:rPr>
                      <m:t>1</m:t>
                    </m:r>
                  </m:oMath>
                </a14:m>
                <a:r>
                  <a:rPr lang="en-MY" dirty="0"/>
                  <a:t>} 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endParaRPr lang="en-MY" dirty="0"/>
              </a:p>
              <a:p>
                <a:pPr marL="628650" lvl="1" indent="-171450">
                  <a:buFont typeface="Arial" panose="020B0604020202020204" pitchFamily="34" charset="0"/>
                  <a:buChar char="•"/>
                </a:pPr>
                <a:r>
                  <a:rPr lang="en-MY" dirty="0"/>
                  <a:t>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3</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0</m:t>
                    </m:r>
                    <m:r>
                      <a:rPr lang="en-MY" i="1" dirty="0" smtClean="0">
                        <a:latin typeface="Cambria Math" panose="02040503050406030204" pitchFamily="18" charset="0"/>
                      </a:rPr>
                      <m:t> = </m:t>
                    </m:r>
                    <m:r>
                      <a:rPr lang="en-MY" i="1" dirty="0" smtClean="0">
                        <a:latin typeface="Cambria Math" panose="02040503050406030204" pitchFamily="18" charset="0"/>
                      </a:rPr>
                      <m:t>2</m:t>
                    </m:r>
                  </m:oMath>
                </a14:m>
                <a:endParaRPr lang="en-MY" dirty="0"/>
              </a:p>
              <a:p>
                <a:pPr marL="628650" lvl="1" indent="-171450">
                  <a:buFont typeface="Arial" panose="020B0604020202020204" pitchFamily="34" charset="0"/>
                  <a:buChar char="•"/>
                </a:pPr>
                <a:r>
                  <a:rPr lang="en-MY" dirty="0"/>
                  <a:t> Since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oMath>
                </a14:m>
                <a:r>
                  <a:rPr lang="en-MY" dirty="0"/>
                  <a:t>the game is convex for this pair of coalitions.</a:t>
                </a:r>
              </a:p>
              <a:p>
                <a:endParaRPr lang="en-MY" dirty="0"/>
              </a:p>
              <a:p>
                <a:pPr marL="171450" indent="-171450">
                  <a:buFont typeface="Arial" panose="020B0604020202020204" pitchFamily="34" charset="0"/>
                  <a:buChar char="•"/>
                </a:pPr>
                <a:r>
                  <a:rPr lang="en-MY" dirty="0"/>
                  <a:t>For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m:t>
                    </m:r>
                  </m:oMath>
                </a14:m>
                <a:r>
                  <a:rPr lang="en-MY" dirty="0"/>
                  <a:t>and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8</m:t>
                    </m:r>
                  </m:oMath>
                </a14:m>
                <a:endParaRPr lang="en-MY" dirty="0"/>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3</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m:t>
                    </m:r>
                    <m:r>
                      <a:rPr lang="en-MY" i="1" dirty="0" smtClean="0">
                        <a:latin typeface="Cambria Math" panose="02040503050406030204" pitchFamily="18" charset="0"/>
                      </a:rPr>
                      <m:t>) = </m:t>
                    </m:r>
                    <m:r>
                      <a:rPr lang="en-MY" i="1" dirty="0" smtClean="0">
                        <a:latin typeface="Cambria Math" panose="02040503050406030204" pitchFamily="18" charset="0"/>
                      </a:rPr>
                      <m:t>4</m:t>
                    </m:r>
                    <m:r>
                      <a:rPr lang="en-MY" i="1" dirty="0" smtClean="0">
                        <a:latin typeface="Cambria Math" panose="02040503050406030204" pitchFamily="18" charset="0"/>
                      </a:rPr>
                      <m:t> + </m:t>
                    </m:r>
                    <m:r>
                      <a:rPr lang="en-MY" i="1" dirty="0" smtClean="0">
                        <a:latin typeface="Cambria Math" panose="02040503050406030204" pitchFamily="18" charset="0"/>
                      </a:rPr>
                      <m:t>1</m:t>
                    </m:r>
                    <m:r>
                      <a:rPr lang="en-MY" i="1" dirty="0" smtClean="0">
                        <a:latin typeface="Cambria Math" panose="02040503050406030204" pitchFamily="18" charset="0"/>
                      </a:rPr>
                      <m:t> − </m:t>
                    </m:r>
                    <m:r>
                      <a:rPr lang="en-MY" i="1" dirty="0" smtClean="0">
                        <a:latin typeface="Cambria Math" panose="02040503050406030204" pitchFamily="18" charset="0"/>
                      </a:rPr>
                      <m:t>0</m:t>
                    </m:r>
                    <m:r>
                      <a:rPr lang="en-MY" i="1" dirty="0" smtClean="0">
                        <a:latin typeface="Cambria Math" panose="02040503050406030204" pitchFamily="18" charset="0"/>
                      </a:rPr>
                      <m:t> = </m:t>
                    </m:r>
                    <m:r>
                      <a:rPr lang="en-MY" i="1" dirty="0" smtClean="0">
                        <a:latin typeface="Cambria Math" panose="02040503050406030204" pitchFamily="18" charset="0"/>
                      </a:rPr>
                      <m:t>5</m:t>
                    </m:r>
                  </m:oMath>
                </a14:m>
                <a:endParaRPr lang="en-MY" dirty="0"/>
              </a:p>
              <a:p>
                <a:pPr marL="628650" lvl="1" indent="-17145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 </m:t>
                    </m:r>
                    <m:r>
                      <a:rPr lang="en-MY" i="1" dirty="0" smtClean="0">
                        <a:latin typeface="Cambria Math" panose="02040503050406030204" pitchFamily="18" charset="0"/>
                      </a:rPr>
                      <m:t>𝑣</m:t>
                    </m:r>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1</m:t>
                        </m:r>
                      </m:sub>
                    </m:sSub>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𝐶</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oMath>
                </a14:m>
                <a:r>
                  <a:rPr lang="en-MY" dirty="0"/>
                  <a:t>the game is convex for this pair of coalitions.</a:t>
                </a:r>
              </a:p>
              <a:p>
                <a:endParaRPr lang="en-MY" dirty="0"/>
              </a:p>
              <a:p>
                <a:r>
                  <a:rPr lang="en-MY" dirty="0"/>
                  <a:t>Therefore, for all pairs of disjoint coalitions, the worth of the merged coalition is greater than or equal to the sum of the individual coalitions' worth minus the worth of their intersection, making this game an example of a convex game.</a:t>
                </a:r>
              </a:p>
            </p:txBody>
          </p:sp>
        </mc:Choice>
        <mc:Fallback xmlns="">
          <p:sp>
            <p:nvSpPr>
              <p:cNvPr id="3" name="Notes Placeholder 2"/>
              <p:cNvSpPr>
                <a:spLocks noGrp="1"/>
              </p:cNvSpPr>
              <p:nvPr>
                <p:ph type="body" idx="1"/>
              </p:nvPr>
            </p:nvSpPr>
            <p:spPr/>
            <p:txBody>
              <a:bodyPr/>
              <a:lstStyle/>
              <a:p>
                <a:r>
                  <a:rPr lang="en-MY" dirty="0"/>
                  <a:t>Certainly, here's an example of a convex game:</a:t>
                </a:r>
              </a:p>
              <a:p>
                <a:endParaRPr lang="en-MY" dirty="0"/>
              </a:p>
              <a:p>
                <a:r>
                  <a:rPr lang="en-MY" dirty="0"/>
                  <a:t>Consider a set of players 𝑁={1, 2, 3}, and their characteristic function 𝑣:</a:t>
                </a:r>
              </a:p>
              <a:p>
                <a:endParaRPr lang="en-MY" dirty="0"/>
              </a:p>
              <a:p>
                <a:pPr marL="628650" lvl="1" indent="-171450">
                  <a:buFont typeface="Arial" panose="020B0604020202020204" pitchFamily="34" charset="0"/>
                  <a:buChar char="•"/>
                </a:pPr>
                <a:r>
                  <a:rPr lang="en-MY" dirty="0"/>
                  <a:t>𝑣(∅) = 0 (The empty coalition has a worth of 0)</a:t>
                </a:r>
              </a:p>
              <a:p>
                <a:pPr marL="628650" lvl="1" indent="-171450">
                  <a:buFont typeface="Arial" panose="020B0604020202020204" pitchFamily="34" charset="0"/>
                  <a:buChar char="•"/>
                </a:pPr>
                <a:r>
                  <a:rPr lang="en-MY" dirty="0"/>
                  <a:t>𝑣({1}) = 𝑣({2}) = 𝑣({3}) = 1 (Each individual player has a worth of 1)</a:t>
                </a:r>
              </a:p>
              <a:p>
                <a:pPr marL="628650" lvl="1" indent="-171450">
                  <a:buFont typeface="Arial" panose="020B0604020202020204" pitchFamily="34" charset="0"/>
                  <a:buChar char="•"/>
                </a:pPr>
                <a:r>
                  <a:rPr lang="en-MY" dirty="0"/>
                  <a:t>𝑣({1, 2}) = 3 (The coalition {1, 2} has a worth of 3)</a:t>
                </a:r>
              </a:p>
              <a:p>
                <a:pPr marL="628650" lvl="1" indent="-171450">
                  <a:buFont typeface="Arial" panose="020B0604020202020204" pitchFamily="34" charset="0"/>
                  <a:buChar char="•"/>
                </a:pPr>
                <a:r>
                  <a:rPr lang="en-MY" dirty="0"/>
                  <a:t>𝑣({1, 3}) = 4 (The coalition {1, 3} has a worth of 4)</a:t>
                </a:r>
              </a:p>
              <a:p>
                <a:pPr marL="628650" lvl="1" indent="-171450">
                  <a:buFont typeface="Arial" panose="020B0604020202020204" pitchFamily="34" charset="0"/>
                  <a:buChar char="•"/>
                </a:pPr>
                <a:r>
                  <a:rPr lang="en-MY" dirty="0"/>
                  <a:t>𝑣({2, 3}) = 5 (The coalition {2, 3} has a worth of 5)</a:t>
                </a:r>
              </a:p>
              <a:p>
                <a:pPr marL="628650" lvl="1" indent="-171450">
                  <a:buFont typeface="Arial" panose="020B0604020202020204" pitchFamily="34" charset="0"/>
                  <a:buChar char="•"/>
                </a:pPr>
                <a:r>
                  <a:rPr lang="en-MY" dirty="0"/>
                  <a:t>𝑣({1, 2, 3}) = 8 (The grand coalition {1, 2, 3} has a worth of 8)</a:t>
                </a:r>
              </a:p>
              <a:p>
                <a:endParaRPr lang="en-MY" dirty="0"/>
              </a:p>
              <a:p>
                <a:r>
                  <a:rPr lang="en-MY" dirty="0"/>
                  <a:t>Now, let's check if this game is convex:</a:t>
                </a:r>
              </a:p>
              <a:p>
                <a:endParaRPr lang="en-MY" dirty="0"/>
              </a:p>
              <a:p>
                <a:r>
                  <a:rPr lang="en-MY" dirty="0"/>
                  <a:t>For all coalitions </a:t>
                </a:r>
                <a:r>
                  <a:rPr lang="en-MY" i="0" dirty="0">
                    <a:latin typeface="Cambria Math" panose="02040503050406030204" pitchFamily="18" charset="0"/>
                  </a:rPr>
                  <a:t>𝐶_1  </a:t>
                </a:r>
                <a:r>
                  <a:rPr lang="en-MY" dirty="0"/>
                  <a:t>and </a:t>
                </a:r>
                <a:r>
                  <a:rPr lang="en-MY" i="0" dirty="0">
                    <a:latin typeface="Cambria Math" panose="02040503050406030204" pitchFamily="18" charset="0"/>
                  </a:rPr>
                  <a:t>𝐶_2⊂𝑁 </a:t>
                </a:r>
                <a:r>
                  <a:rPr lang="en-MY" dirty="0"/>
                  <a:t>such that </a:t>
                </a:r>
                <a:r>
                  <a:rPr lang="en-MY" i="0" dirty="0">
                    <a:latin typeface="Cambria Math" panose="02040503050406030204" pitchFamily="18" charset="0"/>
                  </a:rPr>
                  <a:t>𝐶_1∩𝐶_2=∅</a:t>
                </a:r>
                <a:r>
                  <a:rPr lang="en-MY" dirty="0"/>
                  <a:t>:</a:t>
                </a:r>
              </a:p>
              <a:p>
                <a:endParaRPr lang="en-MY" dirty="0"/>
              </a:p>
              <a:p>
                <a:pPr marL="171450" indent="-171450">
                  <a:buFont typeface="Arial" panose="020B0604020202020204" pitchFamily="34" charset="0"/>
                  <a:buChar char="•"/>
                </a:pPr>
                <a:r>
                  <a:rPr lang="en-MY" dirty="0"/>
                  <a:t>For </a:t>
                </a:r>
                <a:r>
                  <a:rPr lang="en-MY" i="0" dirty="0">
                    <a:latin typeface="Cambria Math" panose="02040503050406030204" pitchFamily="18" charset="0"/>
                  </a:rPr>
                  <a:t>𝐶_1={1</a:t>
                </a:r>
                <a:r>
                  <a:rPr lang="en-MY" dirty="0"/>
                  <a:t>} and </a:t>
                </a:r>
                <a:r>
                  <a:rPr lang="en-MY" i="0" dirty="0">
                    <a:latin typeface="Cambria Math" panose="02040503050406030204" pitchFamily="18" charset="0"/>
                  </a:rPr>
                  <a:t>𝐶_2={2}:</a:t>
                </a:r>
                <a:endParaRPr lang="en-MY" dirty="0"/>
              </a:p>
              <a:p>
                <a:pPr marL="628650" lvl="1" indent="-171450">
                  <a:buFont typeface="Arial" panose="020B0604020202020204" pitchFamily="34" charset="0"/>
                  <a:buChar char="•"/>
                </a:pPr>
                <a:r>
                  <a:rPr lang="en-MY" dirty="0"/>
                  <a:t> </a:t>
                </a:r>
                <a:r>
                  <a:rPr lang="en-MY" i="0" dirty="0">
                    <a:latin typeface="Cambria Math" panose="02040503050406030204" pitchFamily="18" charset="0"/>
                  </a:rPr>
                  <a:t>𝑣(𝐶_1∪𝐶_2) = 𝑣({1, 2}) = 3</a:t>
                </a:r>
                <a:endParaRPr lang="en-MY" dirty="0"/>
              </a:p>
              <a:p>
                <a:pPr marL="628650" lvl="1" indent="-171450">
                  <a:buFont typeface="Arial" panose="020B0604020202020204" pitchFamily="34" charset="0"/>
                  <a:buChar char="•"/>
                </a:pPr>
                <a:r>
                  <a:rPr lang="en-MY" i="0" dirty="0">
                    <a:latin typeface="Cambria Math" panose="02040503050406030204" pitchFamily="18" charset="0"/>
                  </a:rPr>
                  <a:t> 𝑣(𝐶_1) + 𝑣(𝐶_2) − 𝑣(𝐶_1∩𝐶_2) = 𝑣({1}) + 𝑣({2}) − 𝑣(∅) = 1 + 1 − 0 = 2</a:t>
                </a:r>
                <a:endParaRPr lang="en-MY" dirty="0"/>
              </a:p>
              <a:p>
                <a:pPr marL="628650" lvl="1" indent="-171450">
                  <a:buFont typeface="Arial" panose="020B0604020202020204" pitchFamily="34" charset="0"/>
                  <a:buChar char="•"/>
                </a:pPr>
                <a:r>
                  <a:rPr lang="en-MY" dirty="0"/>
                  <a:t> Since </a:t>
                </a:r>
                <a:r>
                  <a:rPr lang="en-MY" i="0" dirty="0">
                    <a:latin typeface="Cambria Math" panose="02040503050406030204" pitchFamily="18" charset="0"/>
                  </a:rPr>
                  <a:t>𝑣(𝐶_1∪𝐶_2) ≥ 𝑣(𝐶_1) + 𝑣(𝐶_2) − 𝑣(𝐶_1∩𝐶_2), </a:t>
                </a:r>
                <a:r>
                  <a:rPr lang="en-MY" dirty="0"/>
                  <a:t>the game is convex for this pair of coalitions.</a:t>
                </a:r>
              </a:p>
              <a:p>
                <a:endParaRPr lang="en-MY" dirty="0"/>
              </a:p>
              <a:p>
                <a:pPr marL="171450" indent="-171450">
                  <a:buFont typeface="Arial" panose="020B0604020202020204" pitchFamily="34" charset="0"/>
                  <a:buChar char="•"/>
                </a:pPr>
                <a:r>
                  <a:rPr lang="en-MY" dirty="0"/>
                  <a:t>For </a:t>
                </a:r>
                <a:r>
                  <a:rPr lang="en-MY" i="0" dirty="0">
                    <a:latin typeface="Cambria Math" panose="02040503050406030204" pitchFamily="18" charset="0"/>
                  </a:rPr>
                  <a:t>𝐶_1={1, 3} </a:t>
                </a:r>
                <a:r>
                  <a:rPr lang="en-MY" dirty="0"/>
                  <a:t>and </a:t>
                </a:r>
                <a:r>
                  <a:rPr lang="en-MY" i="0" dirty="0">
                    <a:latin typeface="Cambria Math" panose="02040503050406030204" pitchFamily="18" charset="0"/>
                  </a:rPr>
                  <a:t>𝐶_2={2}:</a:t>
                </a:r>
                <a:endParaRPr lang="en-MY" dirty="0"/>
              </a:p>
              <a:p>
                <a:pPr marL="628650" lvl="1" indent="-171450">
                  <a:buFont typeface="Arial" panose="020B0604020202020204" pitchFamily="34" charset="0"/>
                  <a:buChar char="•"/>
                </a:pPr>
                <a:r>
                  <a:rPr lang="en-MY" i="0" dirty="0">
                    <a:latin typeface="Cambria Math" panose="02040503050406030204" pitchFamily="18" charset="0"/>
                  </a:rPr>
                  <a:t>𝑣(𝐶_1∪𝐶_2) = 𝑣({1, 3, 2}) = 8</a:t>
                </a:r>
                <a:endParaRPr lang="en-MY" dirty="0"/>
              </a:p>
              <a:p>
                <a:pPr marL="628650" lvl="1" indent="-171450">
                  <a:buFont typeface="Arial" panose="020B0604020202020204" pitchFamily="34" charset="0"/>
                  <a:buChar char="•"/>
                </a:pPr>
                <a:r>
                  <a:rPr lang="en-MY" i="0" dirty="0">
                    <a:latin typeface="Cambria Math" panose="02040503050406030204" pitchFamily="18" charset="0"/>
                  </a:rPr>
                  <a:t>𝑣(𝐶_1) + 𝑣(𝐶_2) − 𝑣(𝐶_1∩𝐶_2) = 𝑣({1, 3}) + 𝑣({2}) − 𝑣(∅) = 4 + 1 − 0 = 5</a:t>
                </a:r>
                <a:endParaRPr lang="en-MY" dirty="0"/>
              </a:p>
              <a:p>
                <a:pPr marL="628650" lvl="1" indent="-171450">
                  <a:buFont typeface="Arial" panose="020B0604020202020204" pitchFamily="34" charset="0"/>
                  <a:buChar char="•"/>
                </a:pPr>
                <a:r>
                  <a:rPr lang="en-MY" dirty="0"/>
                  <a:t>Since </a:t>
                </a:r>
                <a:r>
                  <a:rPr lang="en-MY" i="0" dirty="0">
                    <a:latin typeface="Cambria Math" panose="02040503050406030204" pitchFamily="18" charset="0"/>
                  </a:rPr>
                  <a:t>𝑣(𝐶_1∪𝐶_2) ≥ 𝑣(𝐶_1) + 𝑣(𝐶_2) − 𝑣(𝐶_1∩𝐶_2), </a:t>
                </a:r>
                <a:r>
                  <a:rPr lang="en-MY" dirty="0"/>
                  <a:t>the game is convex for this pair of coalitions.</a:t>
                </a:r>
              </a:p>
              <a:p>
                <a:endParaRPr lang="en-MY" dirty="0"/>
              </a:p>
              <a:p>
                <a:r>
                  <a:rPr lang="en-MY" dirty="0"/>
                  <a:t>Therefore, for all pairs of disjoint coalitions, the worth of the merged coalition is greater than or equal to the sum of the individual coalitions' worth minus the worth of their intersection, making this game an example of a convex game.</a:t>
                </a:r>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14</a:t>
            </a:fld>
            <a:endParaRPr lang="en-MY"/>
          </a:p>
        </p:txBody>
      </p:sp>
    </p:spTree>
    <p:extLst>
      <p:ext uri="{BB962C8B-B14F-4D97-AF65-F5344CB8AC3E}">
        <p14:creationId xmlns:p14="http://schemas.microsoft.com/office/powerpoint/2010/main" val="1105062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games are defined as follows:</a:t>
            </a:r>
          </a:p>
          <a:p>
            <a:endParaRPr lang="en-US" dirty="0"/>
          </a:p>
          <a:p>
            <a:r>
              <a:rPr lang="en-US" dirty="0"/>
              <a:t>A game 𝐺 = (𝑁, 𝑣) is simple if for all coalitions 𝐶⊂𝑁, the worth 𝑣(𝐶) can take only two values, 0 or 1. These games are particularly useful for modeling voting situations, where each member can vote (1) or not vote (0).</a:t>
            </a:r>
          </a:p>
          <a:p>
            <a:endParaRPr lang="en-US" dirty="0"/>
          </a:p>
          <a:p>
            <a:r>
              <a:rPr lang="en-US" dirty="0"/>
              <a:t>Furthermore, if these simple games satisfy the additional condition that for all coalitions 𝐶⊂𝑁, the sum of the worth of the coalition 𝑣(𝐶) and the worth of the complement of the coalition 𝑣(𝑁\𝐶) equals the worth of the grand coalition 𝑣(𝑁), then they are called Proper simple games.</a:t>
            </a:r>
          </a:p>
          <a:p>
            <a:endParaRPr lang="en-US" dirty="0"/>
          </a:p>
          <a:p>
            <a:r>
              <a:rPr lang="en-US" dirty="0"/>
              <a:t>In simpler terms, simple games are binary (0 or 1) and represent situations where agents are either in favor (1) or against (0) a particular decision or outcome. If these games also adhere to the "additivity" condition where the sum of the values of a coalition and its complement equals the worth of the entire group, they are classified as Proper simple games.</a:t>
            </a:r>
          </a:p>
          <a:p>
            <a:endParaRPr lang="en-US" dirty="0"/>
          </a:p>
          <a:p>
            <a:r>
              <a:rPr lang="en-US" dirty="0"/>
              <a:t>Proper simple games can be related to voting scenarios, where each member's vote is represented as 1 for a "yes" vote and 0 for a "no" vote. The additivity condition reflects the idea that the worth of the entire group should be conserved when considering the preferences of individual coalitions.</a:t>
            </a:r>
          </a:p>
          <a:p>
            <a:endParaRPr lang="en-US" dirty="0"/>
          </a:p>
          <a:p>
            <a:r>
              <a:rPr lang="en-US" dirty="0"/>
              <a:t>These simple games have implications in areas where decisions are made through voting or approval processes, and they provide a straightforward representation of individual preferences in a group setting.</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15</a:t>
            </a:fld>
            <a:endParaRPr lang="en-MY"/>
          </a:p>
        </p:txBody>
      </p:sp>
    </p:spTree>
    <p:extLst>
      <p:ext uri="{BB962C8B-B14F-4D97-AF65-F5344CB8AC3E}">
        <p14:creationId xmlns:p14="http://schemas.microsoft.com/office/powerpoint/2010/main" val="1133914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games are typically binary, where the worth of a coalition can take on only two values: 0 or 1. They are commonly used to model voting scenarios, where each agent can either be in favor (1) or against (0) a specific decision or outcome. Let's look at an example of simple games:</a:t>
            </a:r>
          </a:p>
          <a:p>
            <a:endParaRPr lang="en-US" dirty="0"/>
          </a:p>
          <a:p>
            <a:r>
              <a:rPr lang="en-US" b="1" dirty="0"/>
              <a:t>Example 1 - Simple Game:</a:t>
            </a:r>
          </a:p>
          <a:p>
            <a:pPr marL="628650" lvl="1" indent="-171450">
              <a:buFont typeface="Arial" panose="020B0604020202020204" pitchFamily="34" charset="0"/>
              <a:buChar char="•"/>
            </a:pPr>
            <a:r>
              <a:rPr lang="en-US" dirty="0"/>
              <a:t>𝑁 = {1, 2, 3}</a:t>
            </a:r>
          </a:p>
          <a:p>
            <a:pPr marL="628650" lvl="1" indent="-171450">
              <a:buFont typeface="Arial" panose="020B0604020202020204" pitchFamily="34" charset="0"/>
              <a:buChar char="•"/>
            </a:pPr>
            <a:r>
              <a:rPr lang="en-US" dirty="0"/>
              <a:t>The worth of an empty coalition 𝑣(∅) is 0.</a:t>
            </a:r>
          </a:p>
          <a:p>
            <a:pPr marL="628650" lvl="1" indent="-171450">
              <a:buFont typeface="Arial" panose="020B0604020202020204" pitchFamily="34" charset="0"/>
              <a:buChar char="•"/>
            </a:pPr>
            <a:r>
              <a:rPr lang="en-US" dirty="0"/>
              <a:t>Each individual agent's worth is 1: 𝑣({1}) = 𝑣({2}) = 𝑣({3}) = 1.</a:t>
            </a:r>
          </a:p>
          <a:p>
            <a:pPr marL="628650" lvl="1" indent="-171450">
              <a:buFont typeface="Arial" panose="020B0604020202020204" pitchFamily="34" charset="0"/>
              <a:buChar char="•"/>
            </a:pPr>
            <a:r>
              <a:rPr lang="en-US" dirty="0"/>
              <a:t>Worth of any pair of agents or all three together is 1: 𝑣({1, 2}) = 𝑣({1, 3}) = 𝑣({2, 3}) = 1.</a:t>
            </a:r>
          </a:p>
          <a:p>
            <a:pPr marL="628650" lvl="1" indent="-171450">
              <a:buFont typeface="Arial" panose="020B0604020202020204" pitchFamily="34" charset="0"/>
              <a:buChar char="•"/>
            </a:pPr>
            <a:r>
              <a:rPr lang="en-US" dirty="0"/>
              <a:t>The worth of the grand coalition, where all agents are together, is 1: 𝑣({1, 2, 3}) = 1.</a:t>
            </a:r>
          </a:p>
          <a:p>
            <a:endParaRPr lang="en-US" dirty="0"/>
          </a:p>
          <a:p>
            <a:r>
              <a:rPr lang="en-US" b="1" dirty="0"/>
              <a:t>Example 2 - Proper Simple Game:</a:t>
            </a:r>
          </a:p>
          <a:p>
            <a:pPr marL="628650" lvl="1" indent="-171450">
              <a:buFont typeface="Arial" panose="020B0604020202020204" pitchFamily="34" charset="0"/>
              <a:buChar char="•"/>
            </a:pPr>
            <a:r>
              <a:rPr lang="en-US" dirty="0"/>
              <a:t>𝑁 = {1, 2, 3}</a:t>
            </a:r>
          </a:p>
          <a:p>
            <a:pPr marL="628650" lvl="1" indent="-171450">
              <a:buFont typeface="Arial" panose="020B0604020202020204" pitchFamily="34" charset="0"/>
              <a:buChar char="•"/>
            </a:pPr>
            <a:r>
              <a:rPr lang="en-US" dirty="0"/>
              <a:t>The worth of an empty coalition 𝑣(∅) is 0.</a:t>
            </a:r>
          </a:p>
          <a:p>
            <a:pPr marL="628650" lvl="1" indent="-171450">
              <a:buFont typeface="Arial" panose="020B0604020202020204" pitchFamily="34" charset="0"/>
              <a:buChar char="•"/>
            </a:pPr>
            <a:r>
              <a:rPr lang="en-US" dirty="0"/>
              <a:t>In this case, each individual agent's worth is 0: 𝑣({1}) = 𝑣({2}) = 𝑣({3}) = 0.</a:t>
            </a:r>
          </a:p>
          <a:p>
            <a:pPr marL="628650" lvl="1" indent="-171450">
              <a:buFont typeface="Arial" panose="020B0604020202020204" pitchFamily="34" charset="0"/>
              <a:buChar char="•"/>
            </a:pPr>
            <a:r>
              <a:rPr lang="en-US" dirty="0"/>
              <a:t>Worth of any pair of agents or all three together is 1: 𝑣({1, 2}) = 𝑣({1, 3}) = 𝑣({2, 3}) = 1.</a:t>
            </a:r>
          </a:p>
          <a:p>
            <a:pPr marL="628650" lvl="1" indent="-171450">
              <a:buFont typeface="Arial" panose="020B0604020202020204" pitchFamily="34" charset="0"/>
              <a:buChar char="•"/>
            </a:pPr>
            <a:r>
              <a:rPr lang="en-US" dirty="0"/>
              <a:t>The worth of the grand coalition, where all agents are together, is 1: 𝑣({1, 2, 3}) = 1.</a:t>
            </a:r>
          </a:p>
          <a:p>
            <a:endParaRPr lang="en-US" dirty="0"/>
          </a:p>
          <a:p>
            <a:r>
              <a:rPr lang="en-US" dirty="0"/>
              <a:t>In these examples, all coalitions either have a total worth of 0 or 1, making them simple games. Proper simple games are a subset of simple games where the worth of all individual agents is 0, and the worth is 1 only for coalitions that include multiple agents. These games are commonly used to model scenarios where individuals can approve or disapprove of a decision or outcome, and the focus is on the collective preferences and outcomes.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16</a:t>
            </a:fld>
            <a:endParaRPr lang="en-MY"/>
          </a:p>
        </p:txBody>
      </p:sp>
    </p:spTree>
    <p:extLst>
      <p:ext uri="{BB962C8B-B14F-4D97-AF65-F5344CB8AC3E}">
        <p14:creationId xmlns:p14="http://schemas.microsoft.com/office/powerpoint/2010/main" val="2122430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Here's a summary of different classes of coalitional games based on their properties:</a:t>
                </a:r>
              </a:p>
              <a:p>
                <a:endParaRPr lang="en-US" dirty="0"/>
              </a:p>
              <a:p>
                <a:pPr marL="228600" indent="-228600">
                  <a:buFont typeface="+mj-lt"/>
                  <a:buAutoNum type="arabicPeriod"/>
                </a:pPr>
                <a:r>
                  <a:rPr lang="en-US" b="1" dirty="0" err="1"/>
                  <a:t>Superadditive</a:t>
                </a:r>
                <a:r>
                  <a:rPr lang="en-US" b="1" dirty="0"/>
                  <a:t> Games:</a:t>
                </a:r>
              </a:p>
              <a:p>
                <a:pPr marL="628650" lvl="1" indent="-171450">
                  <a:buFont typeface="Arial" panose="020B0604020202020204" pitchFamily="34" charset="0"/>
                  <a:buChar char="•"/>
                </a:pPr>
                <a:r>
                  <a:rPr lang="en-US" dirty="0"/>
                  <a:t>For all coalitions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𝑁</m:t>
                    </m:r>
                  </m:oMath>
                </a14:m>
                <a:r>
                  <a:rPr lang="en-US" dirty="0"/>
                  <a:t>:</a:t>
                </a:r>
              </a:p>
              <a:p>
                <a:pPr marL="628650" lvl="1" indent="-171450">
                  <a:buFont typeface="Arial" panose="020B0604020202020204" pitchFamily="34" charset="0"/>
                  <a:buChar char="•"/>
                </a:pPr>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m:t>
                    </m:r>
                  </m:oMath>
                </a14:m>
                <a:r>
                  <a:rPr lang="en-US" dirty="0"/>
                  <a:t>, then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r>
                      <a:rPr lang="en-US" i="1" dirty="0" smtClean="0">
                        <a:latin typeface="Cambria Math" panose="02040503050406030204" pitchFamily="18" charset="0"/>
                      </a:rPr>
                      <m:t>𝑣</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endParaRPr lang="en-US" dirty="0"/>
              </a:p>
              <a:p>
                <a:pPr marL="628650" lvl="1" indent="-171450">
                  <a:buFont typeface="Arial" panose="020B0604020202020204" pitchFamily="34" charset="0"/>
                  <a:buChar char="•"/>
                </a:pPr>
                <a:r>
                  <a:rPr lang="en-US" dirty="0"/>
                  <a:t>These games ensure that the worth of a coalition is at least as much as the sum of the worth of its disjoint </a:t>
                </a:r>
                <a:r>
                  <a:rPr lang="en-US" dirty="0" err="1"/>
                  <a:t>subcoalitions</a:t>
                </a:r>
                <a:r>
                  <a:rPr lang="en-US" dirty="0"/>
                  <a:t>.</a:t>
                </a:r>
              </a:p>
              <a:p>
                <a:endParaRPr lang="en-US" dirty="0"/>
              </a:p>
              <a:p>
                <a:pPr marL="228600" indent="-228600">
                  <a:buFont typeface="+mj-lt"/>
                  <a:buAutoNum type="arabicPeriod" startAt="2"/>
                </a:pPr>
                <a:r>
                  <a:rPr lang="en-US" b="1" dirty="0"/>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14:m>
                  <m:oMath xmlns:m="http://schemas.openxmlformats.org/officeDocument/2006/math">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These games are similar to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games but allow for a slight reduction in worth when two disjoint coalitions merge.</a:t>
                </a:r>
              </a:p>
              <a:p>
                <a:endParaRPr lang="en-US" dirty="0"/>
              </a:p>
              <a:p>
                <a:pPr marL="228600" indent="-228600">
                  <a:buFont typeface="+mj-lt"/>
                  <a:buAutoNum type="arabicPeriod" startAt="3"/>
                </a:pPr>
                <a:r>
                  <a:rPr lang="en-US" b="1" dirty="0"/>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14:m>
                  <m:oMath xmlns:m="http://schemas.openxmlformats.org/officeDocument/2006/math">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b="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If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𝑡</m:t>
                    </m:r>
                    <m:r>
                      <a:rPr lang="en-US" sz="1200" i="1" kern="1200" dirty="0" smtClean="0">
                        <a:solidFill>
                          <a:schemeClr val="tx1"/>
                        </a:solidFill>
                        <a:latin typeface="Cambria Math" panose="02040503050406030204" pitchFamily="18" charset="0"/>
                        <a:ea typeface="+mn-ea"/>
                        <a:cs typeface="+mn-cs"/>
                      </a:rPr>
                      <m:t>h</m:t>
                    </m:r>
                    <m:r>
                      <a:rPr lang="en-US" sz="1200" i="1" kern="1200" dirty="0" smtClean="0">
                        <a:solidFill>
                          <a:schemeClr val="tx1"/>
                        </a:solidFill>
                        <a:latin typeface="Cambria Math" panose="02040503050406030204" pitchFamily="18" charset="0"/>
                        <a:ea typeface="+mn-ea"/>
                        <a:cs typeface="+mn-cs"/>
                      </a:rPr>
                      <m:t>𝑒𝑛</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1</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𝐶</m:t>
                        </m:r>
                      </m:e>
                      <m:sub>
                        <m:r>
                          <a:rPr lang="en-US" sz="1200" i="1" kern="1200" dirty="0" smtClean="0">
                            <a:solidFill>
                              <a:schemeClr val="tx1"/>
                            </a:solidFill>
                            <a:latin typeface="Cambria Math" panose="02040503050406030204" pitchFamily="18" charset="0"/>
                            <a:ea typeface="+mn-ea"/>
                            <a:cs typeface="+mn-cs"/>
                          </a:rPr>
                          <m:t>2</m:t>
                        </m:r>
                      </m:sub>
                    </m:sSub>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additive games, the worth of a coalition is exactly equal to the sum of the worth of its disjoint </a:t>
                </a:r>
                <a:r>
                  <a:rPr lang="en-US" sz="1200" kern="1200" dirty="0" err="1">
                    <a:solidFill>
                      <a:schemeClr val="tx1"/>
                    </a:solidFill>
                    <a:latin typeface="+mn-lt"/>
                    <a:ea typeface="+mn-ea"/>
                    <a:cs typeface="+mn-cs"/>
                  </a:rPr>
                  <a:t>subcoalitions</a:t>
                </a:r>
                <a:r>
                  <a:rPr lang="en-US" sz="1200" kern="1200" dirty="0">
                    <a:solidFill>
                      <a:schemeClr val="tx1"/>
                    </a:solidFill>
                    <a:latin typeface="+mn-lt"/>
                    <a:ea typeface="+mn-ea"/>
                    <a:cs typeface="+mn-cs"/>
                  </a:rPr>
                  <a:t>.</a:t>
                </a:r>
              </a:p>
              <a:p>
                <a:endParaRPr lang="en-US" dirty="0"/>
              </a:p>
              <a:p>
                <a:pPr marL="228600" indent="-228600">
                  <a:buFont typeface="+mj-lt"/>
                  <a:buAutoNum type="arabicPeriod" startAt="4"/>
                </a:pPr>
                <a:r>
                  <a:rPr lang="en-US" b="1" dirty="0"/>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constant-sum games, the total worth of the grand coalition (all players) remains constant.</a:t>
                </a:r>
              </a:p>
              <a:p>
                <a:endParaRPr lang="en-US" dirty="0"/>
              </a:p>
              <a:p>
                <a:pPr marL="228600" indent="-228600">
                  <a:buFont typeface="+mj-lt"/>
                  <a:buAutoNum type="arabicPeriod" startAt="5"/>
                </a:pPr>
                <a:r>
                  <a:rPr lang="en-US" b="1" dirty="0"/>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binary, where the worth of a coalition can only be either 0 or 1, often used for modeling voting scenarios.</a:t>
                </a:r>
              </a:p>
              <a:p>
                <a:endParaRPr lang="en-US" dirty="0"/>
              </a:p>
              <a:p>
                <a:pPr marL="228600" indent="-228600">
                  <a:buFont typeface="+mj-lt"/>
                  <a:buAutoNum type="arabicPeriod" startAt="6"/>
                </a:pPr>
                <a:r>
                  <a:rPr lang="en-US" b="1" dirty="0"/>
                  <a:t>Proper 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Additionally, 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Proper simple games are a subset of simple games where the total worth of all coalitions is 0 or 1, and the worth of the grand coalition is 1.</a:t>
                </a:r>
              </a:p>
              <a:p>
                <a:endParaRPr lang="en-US" dirty="0"/>
              </a:p>
              <a:p>
                <a:r>
                  <a:rPr lang="en-US" dirty="0"/>
                  <a:t>These classes of coalitional games provide a framework for modeling various scenarios in cooperative game theory, each with different properties and characteristics.</a:t>
                </a:r>
                <a:endParaRPr lang="en-MY" dirty="0"/>
              </a:p>
            </p:txBody>
          </p:sp>
        </mc:Choice>
        <mc:Fallback xmlns="">
          <p:sp>
            <p:nvSpPr>
              <p:cNvPr id="3" name="Notes Placeholder 2"/>
              <p:cNvSpPr>
                <a:spLocks noGrp="1"/>
              </p:cNvSpPr>
              <p:nvPr>
                <p:ph type="body" idx="1"/>
              </p:nvPr>
            </p:nvSpPr>
            <p:spPr/>
            <p:txBody>
              <a:bodyPr/>
              <a:lstStyle/>
              <a:p>
                <a:r>
                  <a:rPr lang="en-US" dirty="0"/>
                  <a:t>Here's a summary of different classes of coalitional games based on their properties:</a:t>
                </a:r>
              </a:p>
              <a:p>
                <a:endParaRPr lang="en-US" dirty="0"/>
              </a:p>
              <a:p>
                <a:pPr marL="228600" indent="-228600">
                  <a:buFont typeface="+mj-lt"/>
                  <a:buAutoNum type="arabicPeriod"/>
                </a:pPr>
                <a:r>
                  <a:rPr lang="en-US" b="1" dirty="0" err="1"/>
                  <a:t>Superadditive</a:t>
                </a:r>
                <a:r>
                  <a:rPr lang="en-US" b="1" dirty="0"/>
                  <a:t> Games:</a:t>
                </a:r>
              </a:p>
              <a:p>
                <a:pPr marL="628650" lvl="1" indent="-171450">
                  <a:buFont typeface="Arial" panose="020B0604020202020204" pitchFamily="34" charset="0"/>
                  <a:buChar char="•"/>
                </a:pPr>
                <a:r>
                  <a:rPr lang="en-US" dirty="0"/>
                  <a:t>For all coalitions </a:t>
                </a:r>
                <a:r>
                  <a:rPr lang="en-US" i="0" dirty="0">
                    <a:latin typeface="Cambria Math" panose="02040503050406030204" pitchFamily="18" charset="0"/>
                  </a:rPr>
                  <a:t>𝐶</a:t>
                </a:r>
                <a:r>
                  <a:rPr lang="en-US" b="0" i="0" dirty="0">
                    <a:latin typeface="Cambria Math" panose="02040503050406030204" pitchFamily="18" charset="0"/>
                  </a:rPr>
                  <a:t>_</a:t>
                </a:r>
                <a:r>
                  <a:rPr lang="en-US" i="0" dirty="0">
                    <a:latin typeface="Cambria Math" panose="02040503050406030204" pitchFamily="18" charset="0"/>
                  </a:rPr>
                  <a:t>1, 𝐶</a:t>
                </a:r>
                <a:r>
                  <a:rPr lang="en-US" b="0" i="0" dirty="0">
                    <a:latin typeface="Cambria Math" panose="02040503050406030204" pitchFamily="18" charset="0"/>
                  </a:rPr>
                  <a:t>_</a:t>
                </a:r>
                <a:r>
                  <a:rPr lang="en-US" i="0" dirty="0">
                    <a:latin typeface="Cambria Math" panose="02040503050406030204" pitchFamily="18" charset="0"/>
                  </a:rPr>
                  <a:t>2⊂𝑁</a:t>
                </a:r>
                <a:r>
                  <a:rPr lang="en-US" dirty="0"/>
                  <a:t>:</a:t>
                </a:r>
              </a:p>
              <a:p>
                <a:pPr marL="628650" lvl="1" indent="-171450">
                  <a:buFont typeface="Arial" panose="020B0604020202020204" pitchFamily="34" charset="0"/>
                  <a:buChar char="•"/>
                </a:pPr>
                <a:r>
                  <a:rPr lang="en-US" dirty="0"/>
                  <a:t>If </a:t>
                </a:r>
                <a:r>
                  <a:rPr lang="en-US" i="0" dirty="0">
                    <a:latin typeface="Cambria Math" panose="02040503050406030204" pitchFamily="18" charset="0"/>
                  </a:rPr>
                  <a:t>𝐶_1∩ 𝐶_2=∅</a:t>
                </a:r>
                <a:r>
                  <a:rPr lang="en-US" dirty="0"/>
                  <a:t>, then </a:t>
                </a:r>
                <a:r>
                  <a:rPr lang="en-US" i="0" dirty="0">
                    <a:latin typeface="Cambria Math" panose="02040503050406030204" pitchFamily="18" charset="0"/>
                  </a:rPr>
                  <a:t>𝑣 (𝐶_1∪ 𝐶_2)≥𝑣 (𝐶_1)+𝑣 (𝐶_2)</a:t>
                </a:r>
                <a:endParaRPr lang="en-US" dirty="0"/>
              </a:p>
              <a:p>
                <a:pPr marL="628650" lvl="1" indent="-171450">
                  <a:buFont typeface="Arial" panose="020B0604020202020204" pitchFamily="34" charset="0"/>
                  <a:buChar char="•"/>
                </a:pPr>
                <a:r>
                  <a:rPr lang="en-US" dirty="0"/>
                  <a:t>These games ensure that the worth of a coalition is at least as much as the sum of the worth of its disjoint </a:t>
                </a:r>
                <a:r>
                  <a:rPr lang="en-US" dirty="0" err="1"/>
                  <a:t>subcoalitions</a:t>
                </a:r>
                <a:r>
                  <a:rPr lang="en-US" dirty="0"/>
                  <a:t>.</a:t>
                </a:r>
              </a:p>
              <a:p>
                <a:endParaRPr lang="en-US" dirty="0"/>
              </a:p>
              <a:p>
                <a:pPr marL="228600" indent="-228600">
                  <a:buFont typeface="+mj-lt"/>
                  <a:buAutoNum type="arabicPeriod" startAt="2"/>
                </a:pPr>
                <a:r>
                  <a:rPr lang="en-US" b="1" dirty="0"/>
                  <a:t>Convex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r>
                  <a:rPr lang="en-US" sz="1200" i="0" kern="1200" dirty="0">
                    <a:solidFill>
                      <a:schemeClr val="tx1"/>
                    </a:solidFill>
                    <a:latin typeface="Cambria Math" panose="02040503050406030204" pitchFamily="18" charset="0"/>
                    <a:ea typeface="+mn-ea"/>
                    <a:cs typeface="+mn-cs"/>
                  </a:rPr>
                  <a:t>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1, 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2⊂𝑁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i="0" kern="1200" dirty="0">
                    <a:solidFill>
                      <a:schemeClr val="tx1"/>
                    </a:solidFill>
                    <a:latin typeface="Cambria Math" panose="02040503050406030204" pitchFamily="18" charset="0"/>
                    <a:ea typeface="+mn-ea"/>
                    <a:cs typeface="+mn-cs"/>
                  </a:rPr>
                  <a:t>𝑣 (𝐶_1∪ 𝐶_2)≥𝑣 (𝐶_1)+𝑣 (𝐶_2)−𝑣 (𝐶_1∩ 𝐶_2)</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These games are similar to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games but allow for a slight reduction in worth when two disjoint coalitions merge.</a:t>
                </a:r>
              </a:p>
              <a:p>
                <a:endParaRPr lang="en-US" dirty="0"/>
              </a:p>
              <a:p>
                <a:pPr marL="228600" indent="-228600">
                  <a:buFont typeface="+mj-lt"/>
                  <a:buAutoNum type="arabicPeriod" startAt="3"/>
                </a:pPr>
                <a:r>
                  <a:rPr lang="en-US" b="1" dirty="0"/>
                  <a:t>Additive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a:t>
                </a:r>
                <a:r>
                  <a:rPr lang="en-US" sz="1200" i="0" kern="1200" dirty="0">
                    <a:solidFill>
                      <a:schemeClr val="tx1"/>
                    </a:solidFill>
                    <a:latin typeface="Cambria Math" panose="02040503050406030204" pitchFamily="18" charset="0"/>
                    <a:ea typeface="+mn-ea"/>
                    <a:cs typeface="+mn-cs"/>
                  </a:rPr>
                  <a:t>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1, 𝐶</a:t>
                </a:r>
                <a:r>
                  <a:rPr lang="en-US" sz="1200" b="0" i="0" kern="1200" dirty="0">
                    <a:solidFill>
                      <a:schemeClr val="tx1"/>
                    </a:solidFill>
                    <a:latin typeface="Cambria Math" panose="02040503050406030204" pitchFamily="18" charset="0"/>
                    <a:ea typeface="+mn-ea"/>
                    <a:cs typeface="+mn-cs"/>
                  </a:rPr>
                  <a:t>_</a:t>
                </a:r>
                <a:r>
                  <a:rPr lang="en-US" sz="1200" i="0" kern="1200" dirty="0">
                    <a:solidFill>
                      <a:schemeClr val="tx1"/>
                    </a:solidFill>
                    <a:latin typeface="Cambria Math" panose="02040503050406030204" pitchFamily="18" charset="0"/>
                    <a:ea typeface="+mn-ea"/>
                    <a:cs typeface="+mn-cs"/>
                  </a:rPr>
                  <a:t>2⊂𝑁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If </a:t>
                </a:r>
                <a:r>
                  <a:rPr lang="en-US" sz="1200" i="0" kern="1200" dirty="0">
                    <a:solidFill>
                      <a:schemeClr val="tx1"/>
                    </a:solidFill>
                    <a:latin typeface="Cambria Math" panose="02040503050406030204" pitchFamily="18" charset="0"/>
                    <a:ea typeface="+mn-ea"/>
                    <a:cs typeface="+mn-cs"/>
                  </a:rPr>
                  <a:t>𝐶_1∩ 𝐶_2=∅, 𝑡ℎ𝑒𝑛 𝑣 (𝐶_1∪ 𝐶_2)=𝑣 (𝐶_1)+𝑣 (𝐶_2)</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additive games, the worth of a coalition is exactly equal to the sum of the worth of its disjoint </a:t>
                </a:r>
                <a:r>
                  <a:rPr lang="en-US" sz="1200" kern="1200" dirty="0" err="1">
                    <a:solidFill>
                      <a:schemeClr val="tx1"/>
                    </a:solidFill>
                    <a:latin typeface="+mn-lt"/>
                    <a:ea typeface="+mn-ea"/>
                    <a:cs typeface="+mn-cs"/>
                  </a:rPr>
                  <a:t>subcoalitions</a:t>
                </a:r>
                <a:r>
                  <a:rPr lang="en-US" sz="1200" kern="1200" dirty="0">
                    <a:solidFill>
                      <a:schemeClr val="tx1"/>
                    </a:solidFill>
                    <a:latin typeface="+mn-lt"/>
                    <a:ea typeface="+mn-ea"/>
                    <a:cs typeface="+mn-cs"/>
                  </a:rPr>
                  <a:t>.</a:t>
                </a:r>
              </a:p>
              <a:p>
                <a:endParaRPr lang="en-US" dirty="0"/>
              </a:p>
              <a:p>
                <a:pPr marL="228600" indent="-228600">
                  <a:buFont typeface="+mj-lt"/>
                  <a:buAutoNum type="arabicPeriod" startAt="4"/>
                </a:pPr>
                <a:r>
                  <a:rPr lang="en-US" b="1" dirty="0"/>
                  <a:t>Constant-Sum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constant-sum games, the total worth of the grand coalition (all players) remains constant.</a:t>
                </a:r>
              </a:p>
              <a:p>
                <a:endParaRPr lang="en-US" dirty="0"/>
              </a:p>
              <a:p>
                <a:pPr marL="228600" indent="-228600">
                  <a:buFont typeface="+mj-lt"/>
                  <a:buAutoNum type="arabicPeriod" startAt="5"/>
                </a:pPr>
                <a:r>
                  <a:rPr lang="en-US" b="1" dirty="0"/>
                  <a:t>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are binary, where the worth of a coalition can only be either 0 or 1, often used for modeling voting scenarios.</a:t>
                </a:r>
              </a:p>
              <a:p>
                <a:endParaRPr lang="en-US" dirty="0"/>
              </a:p>
              <a:p>
                <a:pPr marL="228600" indent="-228600">
                  <a:buFont typeface="+mj-lt"/>
                  <a:buAutoNum type="arabicPeriod" startAt="6"/>
                </a:pPr>
                <a:r>
                  <a:rPr lang="en-US" b="1" dirty="0"/>
                  <a:t>Proper Simple Games:</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all coalitions 𝐶⊂𝑁: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𝑣 (𝐶 ) can only be 0 or 1.</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Additionally, 𝑣 (𝐶 )+𝑣 (𝑁\𝐶 )=𝑣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Proper simple games are a subset of simple games where the total worth of all coalitions is 0 or 1, and the worth of the grand coalition is 1.</a:t>
                </a:r>
              </a:p>
              <a:p>
                <a:endParaRPr lang="en-US" dirty="0"/>
              </a:p>
              <a:p>
                <a:r>
                  <a:rPr lang="en-US" dirty="0"/>
                  <a:t>These classes of coalitional games provide a framework for modeling various scenarios in cooperative game theory, each with different properties and characteristics.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17</a:t>
            </a:fld>
            <a:endParaRPr lang="en-MY"/>
          </a:p>
        </p:txBody>
      </p:sp>
    </p:spTree>
    <p:extLst>
      <p:ext uri="{BB962C8B-B14F-4D97-AF65-F5344CB8AC3E}">
        <p14:creationId xmlns:p14="http://schemas.microsoft.com/office/powerpoint/2010/main" val="1462708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demonstrate the hierarchy and show how each class is included within the other:</a:t>
            </a:r>
          </a:p>
          <a:p>
            <a:endParaRPr lang="en-US" dirty="0"/>
          </a:p>
          <a:p>
            <a:pPr marL="228600" indent="-228600">
              <a:buFont typeface="+mj-lt"/>
              <a:buAutoNum type="arabicPeriod"/>
            </a:pPr>
            <a:r>
              <a:rPr lang="en-US" b="1" dirty="0"/>
              <a:t>Proper Simple → Simple:</a:t>
            </a:r>
          </a:p>
          <a:p>
            <a:pPr marL="628650" lvl="1" indent="-171450">
              <a:buFont typeface="Arial" panose="020B0604020202020204" pitchFamily="34" charset="0"/>
              <a:buChar char="•"/>
            </a:pPr>
            <a:r>
              <a:rPr lang="en-US" dirty="0"/>
              <a:t>Proper simple games are a subset of simple games. All proper simple games are simple, but not all simple games are proper simple.</a:t>
            </a:r>
          </a:p>
          <a:p>
            <a:endParaRPr lang="en-US" dirty="0"/>
          </a:p>
          <a:p>
            <a:pPr marL="228600" indent="-228600">
              <a:buFont typeface="+mj-lt"/>
              <a:buAutoNum type="arabicPeriod" startAt="2"/>
            </a:pPr>
            <a:r>
              <a:rPr lang="en-US" b="1" dirty="0"/>
              <a:t>Simple → Additive: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Simple games can be additive. In a simple game, if you have two disjoint coalitions, their combined worth can be the sum of their individual worth, making it additive.</a:t>
            </a:r>
          </a:p>
          <a:p>
            <a:endParaRPr lang="en-US" dirty="0"/>
          </a:p>
          <a:p>
            <a:pPr marL="228600" indent="-228600">
              <a:buFont typeface="+mj-lt"/>
              <a:buAutoNum type="arabicPeriod" startAt="3"/>
            </a:pPr>
            <a:r>
              <a:rPr lang="en-US" b="1" dirty="0"/>
              <a:t>Additive → Convex:</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Additive games can be convex. If an additive game satisfies the condition for convexity, it becomes a convex game.</a:t>
            </a:r>
          </a:p>
          <a:p>
            <a:endParaRPr lang="en-US" dirty="0"/>
          </a:p>
          <a:p>
            <a:pPr marL="228600" indent="-228600">
              <a:buFont typeface="+mj-lt"/>
              <a:buAutoNum type="arabicPeriod" startAt="4"/>
            </a:pPr>
            <a:r>
              <a:rPr lang="en-US" b="1" dirty="0"/>
              <a:t>Convex → </a:t>
            </a:r>
            <a:r>
              <a:rPr lang="en-US" b="1" dirty="0" err="1"/>
              <a:t>Superadditive</a:t>
            </a:r>
            <a:r>
              <a:rPr lang="en-US" b="1" dirty="0"/>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Convex games can be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If a convex game satisfies the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condition, it becomes a </a:t>
            </a:r>
            <a:r>
              <a:rPr lang="en-US" sz="1200" kern="1200" dirty="0" err="1">
                <a:solidFill>
                  <a:schemeClr val="tx1"/>
                </a:solidFill>
                <a:latin typeface="+mn-lt"/>
                <a:ea typeface="+mn-ea"/>
                <a:cs typeface="+mn-cs"/>
              </a:rPr>
              <a:t>superadditive</a:t>
            </a:r>
            <a:r>
              <a:rPr lang="en-US" sz="1200" kern="1200" dirty="0">
                <a:solidFill>
                  <a:schemeClr val="tx1"/>
                </a:solidFill>
                <a:latin typeface="+mn-lt"/>
                <a:ea typeface="+mn-ea"/>
                <a:cs typeface="+mn-cs"/>
              </a:rPr>
              <a:t> game.</a:t>
            </a:r>
          </a:p>
          <a:p>
            <a:endParaRPr lang="en-US" dirty="0"/>
          </a:p>
          <a:p>
            <a:pPr marL="228600" indent="-228600">
              <a:buFont typeface="+mj-lt"/>
              <a:buAutoNum type="arabicPeriod" startAt="5"/>
            </a:pPr>
            <a:r>
              <a:rPr lang="en-US" b="1" dirty="0"/>
              <a:t>Constant-Sum → Additive: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Constant-sum games can be additive. If the total worth of the grand coalition in a constant-sum game can be divided into smaller coalitions without loss, it becomes additive.</a:t>
            </a:r>
          </a:p>
          <a:p>
            <a:endParaRPr lang="en-US" dirty="0"/>
          </a:p>
          <a:p>
            <a:r>
              <a:rPr lang="en-US" dirty="0"/>
              <a:t>This hierarchy demonstrates how each class of coalitional games encompasses or extends the properties of the previous class. Proper simple and simple games are the most restrictive, while constant-sum and </a:t>
            </a:r>
            <a:r>
              <a:rPr lang="en-US" dirty="0" err="1"/>
              <a:t>superadditive</a:t>
            </a:r>
            <a:r>
              <a:rPr lang="en-US" dirty="0"/>
              <a:t> games provide more flexibility and complexity in terms of worth distribution among coalitions.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18</a:t>
            </a:fld>
            <a:endParaRPr lang="en-MY"/>
          </a:p>
        </p:txBody>
      </p:sp>
    </p:spTree>
    <p:extLst>
      <p:ext uri="{BB962C8B-B14F-4D97-AF65-F5344CB8AC3E}">
        <p14:creationId xmlns:p14="http://schemas.microsoft.com/office/powerpoint/2010/main" val="2154529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When analyzing coalitional games, it's essential to understand how to distribute the payoff of the grand coalition, and various notations and concepts come into play:</a:t>
                </a:r>
              </a:p>
              <a:p>
                <a:endParaRPr lang="en-US" dirty="0"/>
              </a:p>
              <a:p>
                <a:pPr marL="228600" indent="-228600">
                  <a:buFont typeface="+mj-lt"/>
                  <a:buAutoNum type="arabicPeriod"/>
                </a:pPr>
                <a:r>
                  <a:rPr lang="en-US" b="1" dirty="0"/>
                  <a:t>Payoff Vector: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𝒙 or 𝜙(𝑁, 𝑣) or </a:t>
                </a:r>
                <a14:m>
                  <m:oMath xmlns:m="http://schemas.openxmlformats.org/officeDocument/2006/math">
                    <m:acc>
                      <m:accPr>
                        <m:chr m:val="⃗"/>
                        <m:ctrlPr>
                          <a:rPr lang="en-MY" sz="1200" i="1" kern="1200" spc="10" smtClean="0">
                            <a:solidFill>
                              <a:schemeClr val="tx1"/>
                            </a:solidFill>
                            <a:latin typeface="Cambria Math" panose="02040503050406030204" pitchFamily="18" charset="0"/>
                            <a:ea typeface="+mn-ea"/>
                            <a:cs typeface="Tahoma"/>
                          </a:rPr>
                        </m:ctrlPr>
                      </m:accPr>
                      <m:e>
                        <m:r>
                          <a:rPr lang="en-US" sz="1200" b="0" i="1" kern="1200" spc="10" smtClean="0">
                            <a:solidFill>
                              <a:schemeClr val="tx1"/>
                            </a:solidFill>
                            <a:latin typeface="Cambria Math" panose="02040503050406030204" pitchFamily="18" charset="0"/>
                            <a:ea typeface="+mn-ea"/>
                            <a:cs typeface="Tahoma"/>
                          </a:rPr>
                          <m:t>𝑥</m:t>
                        </m:r>
                      </m:e>
                    </m:acc>
                  </m:oMath>
                </a14:m>
                <a:r>
                  <a:rPr lang="en-US" sz="1200" kern="1200" dirty="0">
                    <a:solidFill>
                      <a:schemeClr val="tx1"/>
                    </a:solidFill>
                    <a:latin typeface="+mn-lt"/>
                    <a:ea typeface="+mn-ea"/>
                    <a:cs typeface="+mn-cs"/>
                  </a:rPr>
                  <a:t>, where </a:t>
                </a:r>
                <a14:m>
                  <m:oMath xmlns:m="http://schemas.openxmlformats.org/officeDocument/2006/math">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 ∈ </m:t>
                    </m:r>
                    <m:sSup>
                      <m:sSupPr>
                        <m:ctrlPr>
                          <a:rPr lang="en-US" sz="1200" i="1" kern="1200" dirty="0" smtClean="0">
                            <a:solidFill>
                              <a:schemeClr val="tx1"/>
                            </a:solidFill>
                            <a:latin typeface="Cambria Math" panose="02040503050406030204" pitchFamily="18" charset="0"/>
                            <a:ea typeface="+mn-ea"/>
                            <a:cs typeface="+mn-cs"/>
                          </a:rPr>
                        </m:ctrlPr>
                      </m:sSupPr>
                      <m:e>
                        <m:r>
                          <a:rPr lang="en-US" sz="1200" i="1" kern="1200" dirty="0" smtClean="0">
                            <a:solidFill>
                              <a:schemeClr val="tx1"/>
                            </a:solidFill>
                            <a:latin typeface="Cambria Math" panose="02040503050406030204" pitchFamily="18" charset="0"/>
                            <a:ea typeface="+mn-ea"/>
                            <a:cs typeface="+mn-cs"/>
                          </a:rPr>
                          <m:t>ℝ</m:t>
                        </m:r>
                      </m:e>
                      <m:sup>
                        <m:r>
                          <a:rPr lang="en-US" sz="1200" i="1" kern="1200" dirty="0" smtClean="0">
                            <a:solidFill>
                              <a:schemeClr val="tx1"/>
                            </a:solidFill>
                            <a:latin typeface="Cambria Math" panose="02040503050406030204" pitchFamily="18" charset="0"/>
                            <a:ea typeface="+mn-ea"/>
                            <a:cs typeface="+mn-cs"/>
                          </a:rPr>
                          <m:t>𝑁</m:t>
                        </m:r>
                      </m:sup>
                    </m:sSup>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distribution of payoffs among individual players.</a:t>
                </a:r>
              </a:p>
              <a:p>
                <a:endParaRPr lang="en-US" dirty="0"/>
              </a:p>
              <a:p>
                <a:pPr marL="228600" indent="-228600">
                  <a:buFont typeface="+mj-lt"/>
                  <a:buAutoNum type="arabicPeriod" startAt="2"/>
                </a:pPr>
                <a:r>
                  <a:rPr lang="en-US" b="1" dirty="0"/>
                  <a:t>Payoff of Player 𝑖:</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𝒙</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or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acc>
                          <m:accPr>
                            <m:chr m:val="⃗"/>
                            <m:ctrlPr>
                              <a:rPr lang="en-US" sz="1200" i="1" kern="1200" dirty="0" smtClean="0">
                                <a:solidFill>
                                  <a:schemeClr val="tx1"/>
                                </a:solidFill>
                                <a:latin typeface="Cambria Math" panose="02040503050406030204" pitchFamily="18" charset="0"/>
                                <a:ea typeface="+mn-ea"/>
                                <a:cs typeface="+mn-cs"/>
                              </a:rPr>
                            </m:ctrlPr>
                          </m:accPr>
                          <m:e>
                            <m:r>
                              <a:rPr lang="en-US" sz="1200" i="1" kern="1200" dirty="0" smtClean="0">
                                <a:solidFill>
                                  <a:schemeClr val="tx1"/>
                                </a:solidFill>
                                <a:latin typeface="Cambria Math" panose="02040503050406030204" pitchFamily="18" charset="0"/>
                                <a:ea typeface="+mn-ea"/>
                                <a:cs typeface="+mn-cs"/>
                              </a:rPr>
                              <m:t>𝑥</m:t>
                            </m:r>
                          </m:e>
                        </m:acc>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or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𝜙</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 </m:t>
                    </m:r>
                  </m:oMath>
                </a14:m>
                <a:r>
                  <a:rPr lang="en-US" sz="1200" kern="1200" dirty="0">
                    <a:solidFill>
                      <a:schemeClr val="tx1"/>
                    </a:solidFill>
                    <a:latin typeface="+mn-lt"/>
                    <a:ea typeface="+mn-ea"/>
                    <a:cs typeface="+mn-cs"/>
                  </a:rPr>
                  <a:t>where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𝒙</m:t>
                        </m:r>
                      </m:e>
                      <m:sub>
                        <m:r>
                          <a:rPr lang="en-US" sz="1200" i="1" kern="1200" dirty="0" smtClean="0">
                            <a:solidFill>
                              <a:schemeClr val="tx1"/>
                            </a:solidFill>
                            <a:latin typeface="Cambria Math" panose="02040503050406030204" pitchFamily="18" charset="0"/>
                            <a:ea typeface="+mn-ea"/>
                            <a:cs typeface="+mn-cs"/>
                          </a:rPr>
                          <m:t>𝒊</m:t>
                        </m:r>
                      </m:sub>
                    </m:sSub>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ℝ</m:t>
                    </m:r>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payoff received by a specific player 𝑖.</a:t>
                </a:r>
              </a:p>
              <a:p>
                <a:endParaRPr lang="en-US" dirty="0"/>
              </a:p>
              <a:p>
                <a:pPr marL="228600" indent="-228600">
                  <a:buFont typeface="+mj-lt"/>
                  <a:buAutoNum type="arabicPeriod" startAt="3"/>
                </a:pPr>
                <a:r>
                  <a:rPr lang="en-US" b="1" dirty="0"/>
                  <a:t>Feasible (F):</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considered feasible if it satisfies the condition </a:t>
                </a:r>
                <a14:m>
                  <m:oMath xmlns:m="http://schemas.openxmlformats.org/officeDocument/2006/math">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sub>
                      <m:sup/>
                      <m:e>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_</m:t>
                        </m:r>
                        <m:r>
                          <a:rPr lang="en-US" sz="1200" i="1" kern="1200" dirty="0" smtClean="0">
                            <a:solidFill>
                              <a:schemeClr val="tx1"/>
                            </a:solidFill>
                            <a:latin typeface="Cambria Math" panose="02040503050406030204" pitchFamily="18" charset="0"/>
                            <a:ea typeface="+mn-ea"/>
                            <a:cs typeface="+mn-cs"/>
                          </a:rPr>
                          <m:t>𝑖</m:t>
                        </m:r>
                      </m:e>
                    </m:nary>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Cambria Math" panose="02040503050406030204" pitchFamily="18" charset="0"/>
                        <a:cs typeface="+mn-cs"/>
                      </a:rPr>
                      <m:t>≥</m:t>
                    </m:r>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simpler terms, the total payoff allocated to individual players should not exceed the value of the grand coalition.</a:t>
                </a:r>
              </a:p>
              <a:p>
                <a:endParaRPr lang="en-US" dirty="0"/>
              </a:p>
              <a:p>
                <a:pPr marL="228600" indent="-228600">
                  <a:buFont typeface="+mj-lt"/>
                  <a:buAutoNum type="arabicPeriod" startAt="4"/>
                </a:pPr>
                <a:r>
                  <a:rPr lang="en-US" b="1" dirty="0"/>
                  <a:t>Efficient (E):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efficient if it satisfies the condition </a:t>
                </a:r>
                <a14:m>
                  <m:oMath xmlns:m="http://schemas.openxmlformats.org/officeDocument/2006/math">
                    <m:nary>
                      <m:naryPr>
                        <m:chr m:val="∑"/>
                        <m:supHide m:val="on"/>
                        <m:ctrlPr>
                          <a:rPr lang="en-US" sz="1200" i="1" kern="1200" dirty="0" smtClean="0">
                            <a:solidFill>
                              <a:schemeClr val="tx1"/>
                            </a:solidFill>
                            <a:latin typeface="Cambria Math" panose="02040503050406030204" pitchFamily="18" charset="0"/>
                            <a:ea typeface="+mn-ea"/>
                            <a:cs typeface="+mn-cs"/>
                          </a:rPr>
                        </m:ctrlPr>
                      </m:naryPr>
                      <m:sub>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sub>
                      <m:sup/>
                      <m:e>
                        <m:r>
                          <a:rPr lang="en-US" sz="1200" i="1" kern="1200" dirty="0" smtClean="0">
                            <a:solidFill>
                              <a:schemeClr val="tx1"/>
                            </a:solidFill>
                            <a:latin typeface="Cambria Math" panose="02040503050406030204" pitchFamily="18" charset="0"/>
                            <a:ea typeface="+mn-ea"/>
                            <a:cs typeface="+mn-cs"/>
                          </a:rPr>
                          <m:t>𝒙</m:t>
                        </m:r>
                        <m:r>
                          <a:rPr lang="en-US" sz="1200" i="1" kern="1200" dirty="0" smtClean="0">
                            <a:solidFill>
                              <a:schemeClr val="tx1"/>
                            </a:solidFill>
                            <a:latin typeface="Cambria Math" panose="02040503050406030204" pitchFamily="18" charset="0"/>
                            <a:ea typeface="+mn-ea"/>
                            <a:cs typeface="+mn-cs"/>
                          </a:rPr>
                          <m:t>_</m:t>
                        </m:r>
                        <m:r>
                          <a:rPr lang="en-US" sz="1200" i="1" kern="1200" dirty="0" smtClean="0">
                            <a:solidFill>
                              <a:schemeClr val="tx1"/>
                            </a:solidFill>
                            <a:latin typeface="Cambria Math" panose="02040503050406030204" pitchFamily="18" charset="0"/>
                            <a:ea typeface="+mn-ea"/>
                            <a:cs typeface="+mn-cs"/>
                          </a:rPr>
                          <m:t>𝑖</m:t>
                        </m:r>
                      </m:e>
                    </m:nary>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𝑁</m:t>
                    </m:r>
                  </m:oMath>
                </a14:m>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implies that the entire worth of the grand coalition is efficiently allocated among the players.</a:t>
                </a:r>
              </a:p>
              <a:p>
                <a:endParaRPr lang="en-US" dirty="0"/>
              </a:p>
              <a:p>
                <a:pPr marL="228600" indent="-228600">
                  <a:buFont typeface="+mj-lt"/>
                  <a:buAutoNum type="arabicPeriod" startAt="5"/>
                </a:pPr>
                <a:r>
                  <a:rPr lang="en-US" b="1" dirty="0"/>
                  <a:t>Individually Rational (IR):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individually rational if it satisfies the condition </a:t>
                </a:r>
                <a14:m>
                  <m:oMath xmlns:m="http://schemas.openxmlformats.org/officeDocument/2006/math">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m:t>
                    </m:r>
                    <m:r>
                      <a:rPr lang="en-US" sz="1200" i="1" kern="1200" dirty="0" smtClean="0">
                        <a:solidFill>
                          <a:schemeClr val="tx1"/>
                        </a:solidFill>
                        <a:latin typeface="Cambria Math" panose="02040503050406030204" pitchFamily="18" charset="0"/>
                        <a:ea typeface="+mn-ea"/>
                        <a:cs typeface="+mn-cs"/>
                      </a:rPr>
                      <m:t>𝑁</m:t>
                    </m:r>
                    <m:r>
                      <a:rPr lang="en-US" sz="1200" i="1" kern="1200" dirty="0" smtClean="0">
                        <a:solidFill>
                          <a:schemeClr val="tx1"/>
                        </a:solidFill>
                        <a:latin typeface="Cambria Math" panose="02040503050406030204" pitchFamily="18" charset="0"/>
                        <a:ea typeface="+mn-ea"/>
                        <a:cs typeface="+mn-cs"/>
                      </a:rPr>
                      <m:t>. </m:t>
                    </m:r>
                    <m:sSub>
                      <m:sSubPr>
                        <m:ctrlPr>
                          <a:rPr lang="en-US" sz="1200" i="1" kern="1200" dirty="0" smtClean="0">
                            <a:solidFill>
                              <a:schemeClr val="tx1"/>
                            </a:solidFill>
                            <a:latin typeface="Cambria Math" panose="02040503050406030204" pitchFamily="18" charset="0"/>
                            <a:ea typeface="+mn-ea"/>
                            <a:cs typeface="+mn-cs"/>
                          </a:rPr>
                        </m:ctrlPr>
                      </m:sSubPr>
                      <m:e>
                        <m:r>
                          <a:rPr lang="en-US" sz="1200" i="1" kern="1200" dirty="0" smtClean="0">
                            <a:solidFill>
                              <a:schemeClr val="tx1"/>
                            </a:solidFill>
                            <a:latin typeface="Cambria Math" panose="02040503050406030204" pitchFamily="18" charset="0"/>
                            <a:ea typeface="+mn-ea"/>
                            <a:cs typeface="+mn-cs"/>
                          </a:rPr>
                          <m:t>𝑥</m:t>
                        </m:r>
                      </m:e>
                      <m:sub>
                        <m:r>
                          <a:rPr lang="en-US" sz="1200" i="1" kern="1200" dirty="0" smtClean="0">
                            <a:solidFill>
                              <a:schemeClr val="tx1"/>
                            </a:solidFill>
                            <a:latin typeface="Cambria Math" panose="02040503050406030204" pitchFamily="18" charset="0"/>
                            <a:ea typeface="+mn-ea"/>
                            <a:cs typeface="+mn-cs"/>
                          </a:rPr>
                          <m:t>𝑖</m:t>
                        </m:r>
                      </m:sub>
                    </m:sSub>
                    <m:r>
                      <a:rPr lang="en-US" sz="1200" i="1" kern="1200" dirty="0" smtClean="0">
                        <a:solidFill>
                          <a:schemeClr val="tx1"/>
                        </a:solidFill>
                        <a:latin typeface="Cambria Math" panose="02040503050406030204" pitchFamily="18" charset="0"/>
                        <a:ea typeface="+mn-ea"/>
                        <a:cs typeface="+mn-cs"/>
                      </a:rPr>
                      <m:t> ≥ </m:t>
                    </m:r>
                    <m:r>
                      <a:rPr lang="en-US" sz="1200" i="1" kern="1200" dirty="0" smtClean="0">
                        <a:solidFill>
                          <a:schemeClr val="tx1"/>
                        </a:solidFill>
                        <a:latin typeface="Cambria Math" panose="02040503050406030204" pitchFamily="18" charset="0"/>
                        <a:ea typeface="+mn-ea"/>
                        <a:cs typeface="+mn-cs"/>
                      </a:rPr>
                      <m:t>𝑣</m:t>
                    </m:r>
                    <m:r>
                      <a:rPr lang="en-US" sz="1200" i="1" kern="1200" dirty="0" smtClean="0">
                        <a:solidFill>
                          <a:schemeClr val="tx1"/>
                        </a:solidFill>
                        <a:latin typeface="Cambria Math" panose="02040503050406030204" pitchFamily="18" charset="0"/>
                        <a:ea typeface="+mn-ea"/>
                        <a:cs typeface="+mn-cs"/>
                      </a:rPr>
                      <m:t>({</m:t>
                    </m:r>
                    <m:r>
                      <a:rPr lang="en-US" sz="1200" i="1" kern="1200" dirty="0" smtClean="0">
                        <a:solidFill>
                          <a:schemeClr val="tx1"/>
                        </a:solidFill>
                        <a:latin typeface="Cambria Math" panose="02040503050406030204" pitchFamily="18" charset="0"/>
                        <a:ea typeface="+mn-ea"/>
                        <a:cs typeface="+mn-cs"/>
                      </a:rPr>
                      <m:t>𝑖</m:t>
                    </m:r>
                    <m:r>
                      <a:rPr lang="en-US" sz="1200" i="1" kern="1200" dirty="0" smtClean="0">
                        <a:solidFill>
                          <a:schemeClr val="tx1"/>
                        </a:solidFill>
                        <a:latin typeface="Cambria Math" panose="02040503050406030204" pitchFamily="18" charset="0"/>
                        <a:ea typeface="+mn-ea"/>
                        <a:cs typeface="+mn-cs"/>
                      </a:rPr>
                      <m:t>}).</m:t>
                    </m:r>
                  </m:oMath>
                </a14:m>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Each player should receive at least the worth of their own coalition.</a:t>
                </a:r>
              </a:p>
              <a:p>
                <a:endParaRPr lang="en-US" dirty="0"/>
              </a:p>
              <a:p>
                <a:pPr marL="228600" indent="-228600">
                  <a:buFont typeface="+mj-lt"/>
                  <a:buAutoNum type="arabicPeriod" startAt="6"/>
                </a:pPr>
                <a:r>
                  <a:rPr lang="en-US" b="1" dirty="0"/>
                  <a:t>Imputation: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An imputation is a payoff that meets the criteria of both efficiency (E) and individual rationality (IR). In other words, it is both efficient and ensures that each player receives at least their individual worth.</a:t>
                </a:r>
              </a:p>
              <a:p>
                <a:endParaRPr lang="en-US" dirty="0"/>
              </a:p>
              <a:p>
                <a:r>
                  <a:rPr lang="en-US" dirty="0"/>
                  <a:t>In summary, these notations and concepts help in evaluating how payoffs are distributed in a coalitional game, ensuring fairness, efficiency, and individual rationality. An imputation is a particularly significant concept as it represents a fair and efficient payoff distribution.</a:t>
                </a:r>
                <a:endParaRPr lang="en-MY" dirty="0"/>
              </a:p>
            </p:txBody>
          </p:sp>
        </mc:Choice>
        <mc:Fallback xmlns="">
          <p:sp>
            <p:nvSpPr>
              <p:cNvPr id="3" name="Notes Placeholder 2"/>
              <p:cNvSpPr>
                <a:spLocks noGrp="1"/>
              </p:cNvSpPr>
              <p:nvPr>
                <p:ph type="body" idx="1"/>
              </p:nvPr>
            </p:nvSpPr>
            <p:spPr/>
            <p:txBody>
              <a:bodyPr/>
              <a:lstStyle/>
              <a:p>
                <a:r>
                  <a:rPr lang="en-US" dirty="0"/>
                  <a:t>When analyzing coalitional games, it's essential to understand how to distribute the payoff of the grand coalition, and various notations and concepts come into play:</a:t>
                </a:r>
              </a:p>
              <a:p>
                <a:endParaRPr lang="en-US" dirty="0"/>
              </a:p>
              <a:p>
                <a:pPr marL="228600" indent="-228600">
                  <a:buFont typeface="+mj-lt"/>
                  <a:buAutoNum type="arabicPeriod"/>
                </a:pPr>
                <a:r>
                  <a:rPr lang="en-US" b="1" dirty="0"/>
                  <a:t>Payoff Vector: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𝒙 or 𝜙(𝑁, 𝑣) or x, where </a:t>
                </a:r>
                <a:r>
                  <a:rPr lang="en-US" sz="1200" i="0" kern="1200" dirty="0">
                    <a:solidFill>
                      <a:schemeClr val="tx1"/>
                    </a:solidFill>
                    <a:latin typeface="Cambria Math" panose="02040503050406030204" pitchFamily="18" charset="0"/>
                    <a:ea typeface="+mn-ea"/>
                    <a:cs typeface="+mn-cs"/>
                  </a:rPr>
                  <a:t>𝒙 ∈ ℝ^𝑁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distribution of payoffs among individual players.</a:t>
                </a:r>
              </a:p>
              <a:p>
                <a:endParaRPr lang="en-US" dirty="0"/>
              </a:p>
              <a:p>
                <a:pPr marL="228600" indent="-228600">
                  <a:buFont typeface="+mj-lt"/>
                  <a:buAutoNum type="arabicPeriod" startAt="2"/>
                </a:pPr>
                <a:r>
                  <a:rPr lang="en-US" b="1" dirty="0"/>
                  <a:t>Payoff of Player 𝑖:</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Denoted as </a:t>
                </a:r>
                <a:r>
                  <a:rPr lang="en-US" sz="1200" i="0" kern="1200" dirty="0">
                    <a:solidFill>
                      <a:schemeClr val="tx1"/>
                    </a:solidFill>
                    <a:latin typeface="Cambria Math" panose="02040503050406030204" pitchFamily="18" charset="0"/>
                    <a:ea typeface="+mn-ea"/>
                    <a:cs typeface="+mn-cs"/>
                  </a:rPr>
                  <a:t>𝒙_𝑖  </a:t>
                </a:r>
                <a:r>
                  <a:rPr lang="en-US" sz="1200" kern="1200" dirty="0">
                    <a:solidFill>
                      <a:schemeClr val="tx1"/>
                    </a:solidFill>
                    <a:latin typeface="+mn-lt"/>
                    <a:ea typeface="+mn-ea"/>
                    <a:cs typeface="+mn-cs"/>
                  </a:rPr>
                  <a:t>or </a:t>
                </a:r>
                <a:r>
                  <a:rPr lang="en-US" sz="1200" i="0" kern="1200" dirty="0">
                    <a:solidFill>
                      <a:schemeClr val="tx1"/>
                    </a:solidFill>
                    <a:latin typeface="Cambria Math" panose="02040503050406030204" pitchFamily="18" charset="0"/>
                    <a:ea typeface="+mn-ea"/>
                    <a:cs typeface="+mn-cs"/>
                  </a:rPr>
                  <a:t>𝑥 ⃗_𝑖  </a:t>
                </a:r>
                <a:r>
                  <a:rPr lang="en-US" sz="1200" kern="1200" dirty="0">
                    <a:solidFill>
                      <a:schemeClr val="tx1"/>
                    </a:solidFill>
                    <a:latin typeface="+mn-lt"/>
                    <a:ea typeface="+mn-ea"/>
                    <a:cs typeface="+mn-cs"/>
                  </a:rPr>
                  <a:t>or </a:t>
                </a:r>
                <a:r>
                  <a:rPr lang="en-US" sz="1200" i="0" kern="1200" dirty="0">
                    <a:solidFill>
                      <a:schemeClr val="tx1"/>
                    </a:solidFill>
                    <a:latin typeface="Cambria Math" panose="02040503050406030204" pitchFamily="18" charset="0"/>
                    <a:ea typeface="+mn-ea"/>
                    <a:cs typeface="+mn-cs"/>
                  </a:rPr>
                  <a:t>𝜙_𝑖 (𝑁, 𝑣), </a:t>
                </a:r>
                <a:r>
                  <a:rPr lang="en-US" sz="1200" kern="1200" dirty="0">
                    <a:solidFill>
                      <a:schemeClr val="tx1"/>
                    </a:solidFill>
                    <a:latin typeface="+mn-lt"/>
                    <a:ea typeface="+mn-ea"/>
                    <a:cs typeface="+mn-cs"/>
                  </a:rPr>
                  <a:t>where </a:t>
                </a:r>
                <a:r>
                  <a:rPr lang="en-US" sz="1200" i="0" kern="1200" dirty="0">
                    <a:solidFill>
                      <a:schemeClr val="tx1"/>
                    </a:solidFill>
                    <a:latin typeface="Cambria Math" panose="02040503050406030204" pitchFamily="18" charset="0"/>
                    <a:ea typeface="+mn-ea"/>
                    <a:cs typeface="+mn-cs"/>
                  </a:rPr>
                  <a:t>𝒙_𝒊  ∈ ℝ.</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Represents the payoff received by a specific player 𝑖.</a:t>
                </a:r>
              </a:p>
              <a:p>
                <a:endParaRPr lang="en-US" dirty="0"/>
              </a:p>
              <a:p>
                <a:pPr marL="228600" indent="-228600">
                  <a:buFont typeface="+mj-lt"/>
                  <a:buAutoNum type="arabicPeriod" startAt="3"/>
                </a:pPr>
                <a:r>
                  <a:rPr lang="en-US" b="1" dirty="0"/>
                  <a:t>Feasible (F):</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considered feasible if it satisfies the condition </a:t>
                </a:r>
                <a:r>
                  <a:rPr lang="en-US" sz="1200" i="0" kern="1200" dirty="0">
                    <a:solidFill>
                      <a:schemeClr val="tx1"/>
                    </a:solidFill>
                    <a:latin typeface="Cambria Math" panose="02040503050406030204" pitchFamily="18" charset="0"/>
                    <a:ea typeface="+mn-ea"/>
                    <a:cs typeface="+mn-cs"/>
                  </a:rPr>
                  <a:t>∑_(𝑖∈𝑁)▒〖𝒙_𝑖〗  </a:t>
                </a:r>
                <a:r>
                  <a:rPr lang="en-US" sz="1200" i="0" kern="1200" dirty="0">
                    <a:solidFill>
                      <a:schemeClr val="tx1"/>
                    </a:solidFill>
                    <a:latin typeface="Cambria Math" panose="02040503050406030204" pitchFamily="18" charset="0"/>
                    <a:ea typeface="Cambria Math" panose="02040503050406030204" pitchFamily="18" charset="0"/>
                    <a:cs typeface="+mn-cs"/>
                  </a:rPr>
                  <a:t>≥</a:t>
                </a:r>
                <a:r>
                  <a:rPr lang="en-US" sz="1200" i="0" kern="1200" dirty="0">
                    <a:solidFill>
                      <a:schemeClr val="tx1"/>
                    </a:solidFill>
                    <a:latin typeface="Cambria Math" panose="02040503050406030204" pitchFamily="18" charset="0"/>
                    <a:ea typeface="+mn-ea"/>
                    <a:cs typeface="+mn-cs"/>
                  </a:rPr>
                  <a:t> 𝑣(𝑁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In simpler terms, the total payoff allocated to individual players should not exceed the value of the grand coalition.</a:t>
                </a:r>
              </a:p>
              <a:p>
                <a:endParaRPr lang="en-US" dirty="0"/>
              </a:p>
              <a:p>
                <a:pPr marL="228600" indent="-228600">
                  <a:buFont typeface="+mj-lt"/>
                  <a:buAutoNum type="arabicPeriod" startAt="4"/>
                </a:pPr>
                <a:r>
                  <a:rPr lang="en-US" b="1" dirty="0"/>
                  <a:t>Efficient (E):</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efficient if it satisfies the condition </a:t>
                </a:r>
                <a:r>
                  <a:rPr lang="en-US" sz="1200" i="0" kern="1200" dirty="0">
                    <a:solidFill>
                      <a:schemeClr val="tx1"/>
                    </a:solidFill>
                    <a:latin typeface="Cambria Math" panose="02040503050406030204" pitchFamily="18" charset="0"/>
                    <a:ea typeface="+mn-ea"/>
                    <a:cs typeface="+mn-cs"/>
                  </a:rPr>
                  <a:t>∑8_(𝑖∈𝑁)</a:t>
                </a:r>
                <a:r>
                  <a:rPr lang="en-US" sz="1200" b="0" i="0" kern="1200" dirty="0">
                    <a:solidFill>
                      <a:schemeClr val="tx1"/>
                    </a:solidFill>
                    <a:latin typeface="Cambria Math" panose="02040503050406030204" pitchFamily="18" charset="0"/>
                    <a:ea typeface="+mn-ea"/>
                    <a:cs typeface="+mn-cs"/>
                  </a:rPr>
                  <a:t>▒〖</a:t>
                </a:r>
                <a:r>
                  <a:rPr lang="en-US" sz="1200" i="0" kern="1200" dirty="0">
                    <a:solidFill>
                      <a:schemeClr val="tx1"/>
                    </a:solidFill>
                    <a:latin typeface="Cambria Math" panose="02040503050406030204" pitchFamily="18" charset="0"/>
                    <a:ea typeface="+mn-ea"/>
                    <a:cs typeface="+mn-cs"/>
                  </a:rPr>
                  <a:t>𝒙_𝑖〗  = 𝑣(𝑁</a:t>
                </a:r>
                <a:r>
                  <a:rPr lang="en-US" sz="1200" kern="1200" dirty="0">
                    <a:solidFill>
                      <a:schemeClr val="tx1"/>
                    </a:solidFill>
                    <a:latin typeface="+mn-lt"/>
                    <a:ea typeface="+mn-ea"/>
                    <a:cs typeface="+mn-cs"/>
                  </a:rPr>
                  <a:t>).</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This implies that the entire worth of the grand coalition is efficiently allocated among the players.</a:t>
                </a:r>
              </a:p>
              <a:p>
                <a:endParaRPr lang="en-US" dirty="0"/>
              </a:p>
              <a:p>
                <a:pPr marL="228600" indent="-228600">
                  <a:buFont typeface="+mj-lt"/>
                  <a:buAutoNum type="arabicPeriod" startAt="5"/>
                </a:pPr>
                <a:r>
                  <a:rPr lang="en-US" b="1" dirty="0"/>
                  <a:t>Individually Rational (IR):</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 payoff 𝒙 is individually rational if it satisfies the condition </a:t>
                </a:r>
                <a:r>
                  <a:rPr lang="en-US" sz="1200" i="0" kern="1200" dirty="0">
                    <a:solidFill>
                      <a:schemeClr val="tx1"/>
                    </a:solidFill>
                    <a:latin typeface="Cambria Math" panose="02040503050406030204" pitchFamily="18" charset="0"/>
                    <a:ea typeface="+mn-ea"/>
                    <a:cs typeface="+mn-cs"/>
                  </a:rPr>
                  <a:t>∀_𝑖∈ 𝑁. 𝑥_𝑖  ≥ 𝑣({𝑖}).</a:t>
                </a:r>
                <a:endParaRPr lang="en-US" sz="1200" kern="1200" dirty="0">
                  <a:solidFill>
                    <a:schemeClr val="tx1"/>
                  </a:solidFill>
                  <a:latin typeface="+mn-lt"/>
                  <a:ea typeface="+mn-ea"/>
                  <a:cs typeface="+mn-cs"/>
                </a:endParaRP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Each player should receive at least the worth of their own coalition.</a:t>
                </a:r>
              </a:p>
              <a:p>
                <a:endParaRPr lang="en-US" dirty="0"/>
              </a:p>
              <a:p>
                <a:pPr marL="228600" indent="-228600">
                  <a:buFont typeface="+mj-lt"/>
                  <a:buAutoNum type="arabicPeriod" startAt="6"/>
                </a:pPr>
                <a:r>
                  <a:rPr lang="en-US" b="1" dirty="0"/>
                  <a:t>Imputation:</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An imputation is a payoff that meets the criteria of both efficiency (E) and individual rationality (IR). In other words, it is both efficient and ensures that each player receives at least their individual worth.</a:t>
                </a:r>
              </a:p>
              <a:p>
                <a:endParaRPr lang="en-US" dirty="0"/>
              </a:p>
              <a:p>
                <a:r>
                  <a:rPr lang="en-US" dirty="0"/>
                  <a:t>In summary, these notations and concepts help in evaluating how payoffs are distributed in a coalitional game, ensuring fairness, efficiency, and individual rationality. An imputation is a particularly significant concept as it represents a fair and efficient payoff distribution.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19</a:t>
            </a:fld>
            <a:endParaRPr lang="en-MY"/>
          </a:p>
        </p:txBody>
      </p:sp>
    </p:spTree>
    <p:extLst>
      <p:ext uri="{BB962C8B-B14F-4D97-AF65-F5344CB8AC3E}">
        <p14:creationId xmlns:p14="http://schemas.microsoft.com/office/powerpoint/2010/main" val="2520684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 context of the Shapley value and fair division, the following definitions and principles are important:</a:t>
                </a:r>
              </a:p>
              <a:p>
                <a:endParaRPr lang="en-US" dirty="0"/>
              </a:p>
              <a:p>
                <a:r>
                  <a:rPr lang="en-US" b="1" dirty="0"/>
                  <a:t>Interchangeable Agents:</a:t>
                </a:r>
              </a:p>
              <a:p>
                <a:r>
                  <a:rPr lang="en-US" dirty="0"/>
                  <a:t>Agents 𝑖 and 𝑗 are considered interchangeable if, for all coalitions 𝐶⊆𝑁 that does not contain either 𝑖 or 𝑗, the worth of the coalition after adding agent 𝑖 is equal to the worth of the coalition after adding agent 𝑗:</a:t>
                </a:r>
              </a:p>
              <a:p>
                <a:r>
                  <a:rPr lang="en-US" dirty="0"/>
                  <a:t>𝑣 (𝐶∪ {𝑖}) = 𝑣 (𝐶∪ {𝑗}).</a:t>
                </a:r>
              </a:p>
              <a:p>
                <a:endParaRPr lang="en-US" dirty="0"/>
              </a:p>
              <a:p>
                <a:r>
                  <a:rPr lang="en-US" b="1" dirty="0"/>
                  <a:t>Dummy Player:</a:t>
                </a:r>
              </a:p>
              <a:p>
                <a:r>
                  <a:rPr lang="en-US" dirty="0"/>
                  <a:t>An agent 𝑖 is classified as a dummy player if, for all coalitions 𝐶 that do not include 𝑖 (𝑁 \ {𝑖}), the worth of the coalition after adding agent 𝑖 is equal to the worth of the original coalition 𝐶 plus the worth of agent 𝑖:</a:t>
                </a:r>
              </a:p>
              <a:p>
                <a:r>
                  <a:rPr lang="en-US" dirty="0"/>
                  <a:t>𝑣 (𝐶∪{𝑖}) = 𝑣 (𝐶) + 𝑣 ({𝑖}).</a:t>
                </a:r>
              </a:p>
              <a:p>
                <a:endParaRPr lang="en-US" dirty="0"/>
              </a:p>
              <a:p>
                <a:r>
                  <a:rPr lang="en-US" dirty="0"/>
                  <a:t>In the pursuit of fair division:</a:t>
                </a:r>
              </a:p>
              <a:p>
                <a:pPr marL="228600" indent="-228600">
                  <a:buFont typeface="+mj-lt"/>
                  <a:buAutoNum type="arabicPeriod"/>
                </a:pPr>
                <a:r>
                  <a:rPr lang="en-US" b="1" dirty="0"/>
                  <a:t>Interchangeable Agents: </a:t>
                </a:r>
                <a:r>
                  <a:rPr lang="en-US" dirty="0"/>
                  <a:t>Agents that are interchangeable should receive equal payoffs in a fair outcome, denoted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𝑗</m:t>
                        </m:r>
                      </m:sub>
                    </m:sSub>
                  </m:oMath>
                </a14:m>
                <a:r>
                  <a:rPr lang="en-US" dirty="0"/>
                  <a:t>.</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A dummy player 𝑖 should receive a payoff that is exactly equal to the payoff that they can achieve on their own, which is represented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 𝑣({𝑖}).</a:t>
                </a:r>
              </a:p>
              <a:p>
                <a:endParaRPr lang="en-US" dirty="0"/>
              </a:p>
              <a:p>
                <a:r>
                  <a:rPr lang="en-US" dirty="0"/>
                  <a:t>These principles ensure that agents are treated fairly, and each receives a share of the total value that accurately reflects their contributions and capabilities.</a:t>
                </a:r>
                <a:endParaRPr lang="en-MY" dirty="0"/>
              </a:p>
            </p:txBody>
          </p:sp>
        </mc:Choice>
        <mc:Fallback xmlns="">
          <p:sp>
            <p:nvSpPr>
              <p:cNvPr id="3" name="Notes Placeholder 2"/>
              <p:cNvSpPr>
                <a:spLocks noGrp="1"/>
              </p:cNvSpPr>
              <p:nvPr>
                <p:ph type="body" idx="1"/>
              </p:nvPr>
            </p:nvSpPr>
            <p:spPr/>
            <p:txBody>
              <a:bodyPr/>
              <a:lstStyle/>
              <a:p>
                <a:r>
                  <a:rPr lang="en-US" dirty="0"/>
                  <a:t>In the context of the Shapley value and fair division, the following definitions and principles are important:</a:t>
                </a:r>
              </a:p>
              <a:p>
                <a:endParaRPr lang="en-US" dirty="0"/>
              </a:p>
              <a:p>
                <a:r>
                  <a:rPr lang="en-US" b="1" dirty="0"/>
                  <a:t>Interchangeable Agents:</a:t>
                </a:r>
              </a:p>
              <a:p>
                <a:r>
                  <a:rPr lang="en-US" dirty="0"/>
                  <a:t>Agents 𝑖 and 𝑗 are considered interchangeable if, for all coalitions 𝐶⊆𝑁 that contain either 𝑖 or 𝑗, the worth of the coalition after adding agent 𝑖 is equal to the worth of the coalition after adding agent 𝑗:</a:t>
                </a:r>
              </a:p>
              <a:p>
                <a:r>
                  <a:rPr lang="en-US" dirty="0"/>
                  <a:t>𝑣 (𝐶∪ {𝑖}) = 𝑣 (𝐶∪ {𝑗}).</a:t>
                </a:r>
              </a:p>
              <a:p>
                <a:endParaRPr lang="en-US" dirty="0"/>
              </a:p>
              <a:p>
                <a:r>
                  <a:rPr lang="en-US" b="1" dirty="0"/>
                  <a:t>Dummy Player:</a:t>
                </a:r>
              </a:p>
              <a:p>
                <a:r>
                  <a:rPr lang="en-US" dirty="0"/>
                  <a:t>An agent 𝑖 is classified as a dummy player if, for all coalitions 𝐶 that do not include 𝑖 (𝑁 \ {𝑖}), the worth of the coalition after adding agent 𝑖 is equal to the worth of the original coalition 𝐶 plus the worth of agent 𝑖:</a:t>
                </a:r>
              </a:p>
              <a:p>
                <a:r>
                  <a:rPr lang="en-US" dirty="0"/>
                  <a:t>𝑣 (𝐶∪{𝑖}) = 𝑣 (𝐶) + 𝑣 ({𝑖}).</a:t>
                </a:r>
              </a:p>
              <a:p>
                <a:endParaRPr lang="en-US" dirty="0"/>
              </a:p>
              <a:p>
                <a:r>
                  <a:rPr lang="en-US" dirty="0"/>
                  <a:t>In the pursuit of fair division:</a:t>
                </a:r>
              </a:p>
              <a:p>
                <a:pPr marL="228600" indent="-228600">
                  <a:buFont typeface="+mj-lt"/>
                  <a:buAutoNum type="arabicPeriod"/>
                </a:pPr>
                <a:r>
                  <a:rPr lang="en-US" b="1" dirty="0"/>
                  <a:t>Interchangeable Agents: </a:t>
                </a:r>
                <a:r>
                  <a:rPr lang="en-US" dirty="0"/>
                  <a:t>Agents that are interchangeable should receive equal payoffs in a fair outcome, denoted as </a:t>
                </a:r>
                <a:r>
                  <a:rPr lang="en-US" i="0" dirty="0">
                    <a:latin typeface="Cambria Math" panose="02040503050406030204" pitchFamily="18" charset="0"/>
                  </a:rPr>
                  <a:t>𝒙_𝑖  = 𝒙_𝑗</a:t>
                </a:r>
                <a:r>
                  <a:rPr lang="en-US" dirty="0"/>
                  <a:t>.</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A dummy player 𝑖 should receive a payoff that is exactly equal to the payoff that they can achieve on their own, which is represented as </a:t>
                </a:r>
                <a:r>
                  <a:rPr lang="en-US" i="0" dirty="0">
                    <a:latin typeface="Cambria Math" panose="02040503050406030204" pitchFamily="18" charset="0"/>
                  </a:rPr>
                  <a:t>𝒙_𝑖  </a:t>
                </a:r>
                <a:r>
                  <a:rPr lang="en-US" dirty="0"/>
                  <a:t>= 𝑣({𝑖}).</a:t>
                </a:r>
              </a:p>
              <a:p>
                <a:endParaRPr lang="en-US" dirty="0"/>
              </a:p>
              <a:p>
                <a:r>
                  <a:rPr lang="en-US" dirty="0"/>
                  <a:t>These principles ensure that agents are treated fairly, and each receives a share of the total value that accurately reflects their contributions and capabilities.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20</a:t>
            </a:fld>
            <a:endParaRPr lang="en-MY"/>
          </a:p>
        </p:txBody>
      </p:sp>
    </p:spTree>
    <p:extLst>
      <p:ext uri="{BB962C8B-B14F-4D97-AF65-F5344CB8AC3E}">
        <p14:creationId xmlns:p14="http://schemas.microsoft.com/office/powerpoint/2010/main" val="3613991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Shapley value is a unique solution for fair division, characterized by its adherence to three fundamental axioms:</a:t>
                </a:r>
              </a:p>
              <a:p>
                <a:endParaRPr lang="en-US" dirty="0"/>
              </a:p>
              <a:p>
                <a:pPr marL="228600" indent="-228600">
                  <a:buFont typeface="+mj-lt"/>
                  <a:buAutoNum type="arabicPeriod"/>
                </a:pPr>
                <a:r>
                  <a:rPr lang="en-US" b="1" dirty="0"/>
                  <a:t>Symmetry: </a:t>
                </a:r>
                <a:r>
                  <a:rPr lang="en-US" dirty="0"/>
                  <a:t>The Shapley value exhibits symmetry, meaning that if two agents contribute equally to all possible coalitions, they should receive the same payoff. In mathematical terms, for agents 𝑖 and 𝑗, if 𝑣 (𝐶∪ {𝑖}) = 𝑣 (𝐶∪ {𝑗}) for all coalitions 𝐶 that does not contain either 𝑖 or 𝑗, then the Shapley value assigns equal payoffs to 𝑖 and 𝑗.</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The Shapley value respects the "dummy player" axiom. A player is considered a "dummy" if their contribution to any coalition that does not include them is zero. In this case, the Shapley value ensures that the dummy player receives a payoff equal to what they can achieve on their own, which is precisely the value of their individual contribution.</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The Shapley value satisfies the "additivity" axiom. This means that the value assigned to a coalition is the sum of the values assigned to its disjoint </a:t>
                </a:r>
                <a:r>
                  <a:rPr lang="en-US" dirty="0" err="1"/>
                  <a:t>subcoalitions</a:t>
                </a:r>
                <a:r>
                  <a:rPr lang="en-US" dirty="0"/>
                  <a:t>. In other words, for all coalitions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that are mutually exclusive (i.e.,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 ∅), the Shapley value assigns the total worth of the union of these coalitions as the sum of the worth of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2</m:t>
                        </m:r>
                      </m:sub>
                    </m:sSub>
                  </m:oMath>
                </a14:m>
                <a:r>
                  <a:rPr lang="en-US" dirty="0"/>
                  <a:t>.</a:t>
                </a:r>
              </a:p>
              <a:p>
                <a:endParaRPr lang="en-US" dirty="0"/>
              </a:p>
              <a:p>
                <a:r>
                  <a:rPr lang="en-US" dirty="0"/>
                  <a:t>The Shapley value adheres to these axioms to achieve fair division. It results in an efficient outcome, ensuring that the total value is distributed accurately among the agents. While it is efficient and feasible, it may not always be individually rational, and therefore, it may or may not be classified as an imputation.</a:t>
                </a:r>
                <a:endParaRPr lang="en-MY" dirty="0"/>
              </a:p>
            </p:txBody>
          </p:sp>
        </mc:Choice>
        <mc:Fallback xmlns="">
          <p:sp>
            <p:nvSpPr>
              <p:cNvPr id="3" name="Notes Placeholder 2"/>
              <p:cNvSpPr>
                <a:spLocks noGrp="1"/>
              </p:cNvSpPr>
              <p:nvPr>
                <p:ph type="body" idx="1"/>
              </p:nvPr>
            </p:nvSpPr>
            <p:spPr/>
            <p:txBody>
              <a:bodyPr/>
              <a:lstStyle/>
              <a:p>
                <a:r>
                  <a:rPr lang="en-US" dirty="0"/>
                  <a:t>The Shapley value is a unique solution for fair division, characterized by its adherence to three fundamental axioms:</a:t>
                </a:r>
              </a:p>
              <a:p>
                <a:endParaRPr lang="en-US" dirty="0"/>
              </a:p>
              <a:p>
                <a:pPr marL="228600" indent="-228600">
                  <a:buFont typeface="+mj-lt"/>
                  <a:buAutoNum type="arabicPeriod"/>
                </a:pPr>
                <a:r>
                  <a:rPr lang="en-US" b="1" dirty="0"/>
                  <a:t>Symmetry: </a:t>
                </a:r>
                <a:r>
                  <a:rPr lang="en-US" dirty="0"/>
                  <a:t>The Shapley value exhibits symmetry, meaning that if two agents contribute equally to all possible coalitions, they should receive the same payoff. In mathematical terms, for agents 𝑖 and 𝑗, if 𝑣 (𝐶∪ {𝑖}) = 𝑣 (𝐶∪ {𝑗}) for all coalitions 𝐶 that contain either 𝑖 or 𝑗, then the Shapley value assigns equal payoffs to 𝑖 and 𝑗.</a:t>
                </a:r>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The Shapley value respects the "dummy player" axiom. A player is considered a "dummy" if their contribution to any coalition that does not include them is zero. In this case, the Shapley value ensures that the dummy player receives a payoff equal to what they can achieve on their own, which is precisely the value of their individual contribution.</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The Shapley value satisfies the "additivity" axiom. This means that the value assigned to a coalition is the sum of the values assigned to its disjoint </a:t>
                </a:r>
                <a:r>
                  <a:rPr lang="en-US" dirty="0" err="1"/>
                  <a:t>subcoalitions</a:t>
                </a:r>
                <a:r>
                  <a:rPr lang="en-US" dirty="0"/>
                  <a:t>. In other words, for all coalitions </a:t>
                </a:r>
                <a:r>
                  <a:rPr lang="en-US" i="0" dirty="0">
                    <a:latin typeface="Cambria Math" panose="02040503050406030204" pitchFamily="18" charset="0"/>
                  </a:rPr>
                  <a:t>𝐶_1  </a:t>
                </a:r>
                <a:r>
                  <a:rPr lang="en-US" dirty="0"/>
                  <a:t>and </a:t>
                </a:r>
                <a:r>
                  <a:rPr lang="en-US" i="0" dirty="0">
                    <a:latin typeface="Cambria Math" panose="02040503050406030204" pitchFamily="18" charset="0"/>
                  </a:rPr>
                  <a:t>𝐶_2  </a:t>
                </a:r>
                <a:r>
                  <a:rPr lang="en-US" dirty="0"/>
                  <a:t>that are mutually exclusive (i.e., </a:t>
                </a:r>
                <a:r>
                  <a:rPr lang="en-US" i="0" dirty="0">
                    <a:latin typeface="Cambria Math" panose="02040503050406030204" pitchFamily="18" charset="0"/>
                  </a:rPr>
                  <a:t>𝐶_1∩ 𝐶_2  </a:t>
                </a:r>
                <a:r>
                  <a:rPr lang="en-US" dirty="0"/>
                  <a:t>= ∅), the Shapley value assigns the total worth of the union of these coalitions as the sum of the worth of </a:t>
                </a:r>
                <a:r>
                  <a:rPr lang="en-US" i="0" dirty="0">
                    <a:latin typeface="Cambria Math" panose="02040503050406030204" pitchFamily="18" charset="0"/>
                  </a:rPr>
                  <a:t>𝐶_1  </a:t>
                </a:r>
                <a:r>
                  <a:rPr lang="en-US" dirty="0"/>
                  <a:t>and </a:t>
                </a:r>
                <a:r>
                  <a:rPr lang="en-US" i="0" dirty="0">
                    <a:latin typeface="Cambria Math" panose="02040503050406030204" pitchFamily="18" charset="0"/>
                  </a:rPr>
                  <a:t>𝐶_2</a:t>
                </a:r>
                <a:r>
                  <a:rPr lang="en-US" dirty="0"/>
                  <a:t>.</a:t>
                </a:r>
              </a:p>
              <a:p>
                <a:endParaRPr lang="en-US" dirty="0"/>
              </a:p>
              <a:p>
                <a:r>
                  <a:rPr lang="en-US" dirty="0"/>
                  <a:t>The Shapley value adheres to these axioms to achieve fair division. It results in an efficient outcome, ensuring that the total value is distributed accurately among the agents. While it is efficient and feasible, it may not always be individually rational, and therefore, it may or may not be classified as an imputation.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21</a:t>
            </a:fld>
            <a:endParaRPr lang="en-MY"/>
          </a:p>
        </p:txBody>
      </p:sp>
    </p:spTree>
    <p:extLst>
      <p:ext uri="{BB962C8B-B14F-4D97-AF65-F5344CB8AC3E}">
        <p14:creationId xmlns:p14="http://schemas.microsoft.com/office/powerpoint/2010/main" val="9179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Shapley value adheres to three essential axioms for fair division:</a:t>
                </a:r>
              </a:p>
              <a:p>
                <a:endParaRPr lang="en-US" dirty="0"/>
              </a:p>
              <a:p>
                <a:pPr marL="228600" indent="-228600">
                  <a:buFont typeface="+mj-lt"/>
                  <a:buAutoNum type="arabicPeriod"/>
                </a:pPr>
                <a:r>
                  <a:rPr lang="en-US" b="1" dirty="0"/>
                  <a:t>Symmetry: </a:t>
                </a:r>
                <a:r>
                  <a:rPr lang="en-US" dirty="0"/>
                  <a:t>For any characteristic function 𝑣, if agents 𝑖 and 𝑗 are interchangeable within the set 𝑁, the Shapley value ensures that the payoff assigned to 𝑖 in the game (𝑁, 𝑣) is identical to the payoff assigned to 𝑗, denoted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𝑗</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r>
                      <a:rPr lang="en-US" i="1" dirty="0" smtClean="0">
                        <a:latin typeface="Cambria Math" panose="02040503050406030204" pitchFamily="18" charset="0"/>
                      </a:rPr>
                      <m:t>𝑣</m:t>
                    </m:r>
                    <m:r>
                      <a:rPr lang="en-US" i="1" dirty="0" smtClean="0">
                        <a:latin typeface="Cambria Math" panose="02040503050406030204" pitchFamily="18" charset="0"/>
                      </a:rPr>
                      <m:t>).</m:t>
                    </m:r>
                  </m:oMath>
                </a14:m>
                <a:endParaRPr lang="en-US" dirty="0"/>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If agent 𝑖 is considered a dummy player within the set 𝑁, the Shapley value guarantees that their payoff in the game (𝑁, 𝑣) is precisely equal to the value that they can achieve on their own, as expressed by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𝑖</m:t>
                        </m:r>
                      </m:sub>
                    </m:sSub>
                  </m:oMath>
                </a14:m>
                <a:r>
                  <a:rPr lang="en-US" dirty="0"/>
                  <a:t>(𝑁, 𝑣) = 𝑣 ({𝑖}).</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For any two characteristic functions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and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and any player 𝑖 ∈ 𝑁, the Shapley value retains the property of additivity. This means that the Shapley value for player 𝑖 in the game (</a:t>
                </a:r>
                <a14:m>
                  <m:oMath xmlns:m="http://schemas.openxmlformats.org/officeDocument/2006/math">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where the new characteristic function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is defined as the sum of the individual functions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is equal to the sum of the Shapley values for player 𝑖 in the games (𝑁,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oMath>
                </a14:m>
                <a:r>
                  <a:rPr lang="en-US" dirty="0"/>
                  <a:t>) and (𝑁,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oMath>
                </a14:m>
                <a:r>
                  <a:rPr lang="en-US" dirty="0"/>
                  <a:t>). Mathematically, it is represented as:</a:t>
                </a:r>
              </a:p>
              <a:p>
                <a:endParaRPr lang="en-US" dirty="0"/>
              </a:p>
              <a:p>
                <a:r>
                  <a:rPr lang="en-US" dirty="0"/>
                  <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1</m:t>
                        </m:r>
                      </m:sub>
                    </m:sSub>
                    <m:r>
                      <a:rPr lang="en-US" i="1" dirty="0" smtClean="0">
                        <a:latin typeface="Cambria Math" panose="02040503050406030204" pitchFamily="18" charset="0"/>
                      </a:rPr>
                      <m:t>) +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𝑁</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𝑣</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endParaRPr lang="en-US" dirty="0"/>
              </a:p>
              <a:p>
                <a:endParaRPr lang="en-US" dirty="0"/>
              </a:p>
              <a:p>
                <a:r>
                  <a:rPr lang="en-US" dirty="0"/>
                  <a:t>These axioms collectively define the Shapley value and ensure its fairness and consistency in the distribution of values among the agents in coalitional games.</a:t>
                </a:r>
                <a:endParaRPr lang="en-MY" dirty="0"/>
              </a:p>
            </p:txBody>
          </p:sp>
        </mc:Choice>
        <mc:Fallback xmlns="">
          <p:sp>
            <p:nvSpPr>
              <p:cNvPr id="3" name="Notes Placeholder 2"/>
              <p:cNvSpPr>
                <a:spLocks noGrp="1"/>
              </p:cNvSpPr>
              <p:nvPr>
                <p:ph type="body" idx="1"/>
              </p:nvPr>
            </p:nvSpPr>
            <p:spPr/>
            <p:txBody>
              <a:bodyPr/>
              <a:lstStyle/>
              <a:p>
                <a:r>
                  <a:rPr lang="en-US" dirty="0"/>
                  <a:t>The Shapley value adheres to three essential axioms for fair division:</a:t>
                </a:r>
              </a:p>
              <a:p>
                <a:endParaRPr lang="en-US" dirty="0"/>
              </a:p>
              <a:p>
                <a:pPr marL="228600" indent="-228600">
                  <a:buFont typeface="+mj-lt"/>
                  <a:buAutoNum type="arabicPeriod"/>
                </a:pPr>
                <a:r>
                  <a:rPr lang="en-US" b="1" dirty="0"/>
                  <a:t>Symmetry: </a:t>
                </a:r>
                <a:r>
                  <a:rPr lang="en-US" dirty="0"/>
                  <a:t>For any characteristic function 𝑣, if agents 𝑖 and 𝑗 are interchangeable within the set 𝑁, the Shapley value ensures that the payoff assigned to 𝑖 in the game (𝑁, 𝑣) is identical to the payoff assigned to 𝑗, denoted as </a:t>
                </a:r>
                <a:r>
                  <a:rPr lang="en-US" i="0" dirty="0">
                    <a:latin typeface="Cambria Math" panose="02040503050406030204" pitchFamily="18" charset="0"/>
                  </a:rPr>
                  <a:t>𝜙_𝑖  (𝑁, 𝑣) = 𝜙_𝑗 (𝑁, 𝑣).</a:t>
                </a:r>
                <a:endParaRPr lang="en-US" dirty="0"/>
              </a:p>
              <a:p>
                <a:pPr marL="228600" indent="-228600">
                  <a:buFont typeface="+mj-lt"/>
                  <a:buAutoNum type="arabicPeriod"/>
                </a:pPr>
                <a:endParaRPr lang="en-US" dirty="0"/>
              </a:p>
              <a:p>
                <a:pPr marL="228600" indent="-228600">
                  <a:buFont typeface="+mj-lt"/>
                  <a:buAutoNum type="arabicPeriod"/>
                </a:pPr>
                <a:r>
                  <a:rPr lang="en-US" b="1" dirty="0"/>
                  <a:t>Dummy Player: </a:t>
                </a:r>
                <a:r>
                  <a:rPr lang="en-US" dirty="0"/>
                  <a:t>If agent 𝑖 is considered a dummy player within the set 𝑁, the Shapley value guarantees that their payoff in the game (𝑁, 𝑣) is precisely equal to the value that they can achieve on their own, as expressed by </a:t>
                </a:r>
                <a:r>
                  <a:rPr lang="en-US" i="0" dirty="0">
                    <a:latin typeface="Cambria Math" panose="02040503050406030204" pitchFamily="18" charset="0"/>
                  </a:rPr>
                  <a:t>𝜙_𝑖</a:t>
                </a:r>
                <a:r>
                  <a:rPr lang="en-US" dirty="0"/>
                  <a:t>(𝑁, 𝑣) = 𝑣 ({𝑖}).</a:t>
                </a:r>
              </a:p>
              <a:p>
                <a:pPr marL="228600" indent="-228600">
                  <a:buFont typeface="+mj-lt"/>
                  <a:buAutoNum type="arabicPeriod"/>
                </a:pPr>
                <a:endParaRPr lang="en-US" dirty="0"/>
              </a:p>
              <a:p>
                <a:pPr marL="228600" indent="-228600">
                  <a:buFont typeface="+mj-lt"/>
                  <a:buAutoNum type="arabicPeriod"/>
                </a:pPr>
                <a:r>
                  <a:rPr lang="en-US" b="1" dirty="0"/>
                  <a:t>Additivity: </a:t>
                </a:r>
                <a:r>
                  <a:rPr lang="en-US" dirty="0"/>
                  <a:t>For any two characteristic functions </a:t>
                </a:r>
                <a:r>
                  <a:rPr lang="en-US" i="0" dirty="0">
                    <a:latin typeface="Cambria Math" panose="02040503050406030204" pitchFamily="18" charset="0"/>
                  </a:rPr>
                  <a:t>𝑣_1  </a:t>
                </a:r>
                <a:r>
                  <a:rPr lang="en-US" dirty="0"/>
                  <a:t>and </a:t>
                </a:r>
                <a:r>
                  <a:rPr lang="en-US" i="0" dirty="0">
                    <a:latin typeface="Cambria Math" panose="02040503050406030204" pitchFamily="18" charset="0"/>
                  </a:rPr>
                  <a:t>𝑣_2</a:t>
                </a:r>
                <a:r>
                  <a:rPr lang="en-US" dirty="0"/>
                  <a:t> and any player 𝑖 ∈ 𝑁, the Shapley value retains the property of additivity. This means that the Shapley value for player 𝑖 in the game (</a:t>
                </a:r>
                <a:r>
                  <a:rPr lang="en-US" i="0" dirty="0">
                    <a:latin typeface="Cambria Math" panose="02040503050406030204" pitchFamily="18" charset="0"/>
                  </a:rPr>
                  <a:t>𝑁, 𝑣_1+𝑣_2</a:t>
                </a:r>
                <a:r>
                  <a:rPr lang="en-US" dirty="0"/>
                  <a:t>), where the new characteristic function (</a:t>
                </a:r>
                <a:r>
                  <a:rPr lang="en-US" i="0" dirty="0">
                    <a:latin typeface="Cambria Math" panose="02040503050406030204" pitchFamily="18" charset="0"/>
                  </a:rPr>
                  <a:t>𝑣_1+𝑣_2</a:t>
                </a:r>
                <a:r>
                  <a:rPr lang="en-US" dirty="0"/>
                  <a:t>) is defined as the sum of the individual functions (</a:t>
                </a:r>
                <a:r>
                  <a:rPr lang="en-US" i="0" dirty="0">
                    <a:latin typeface="Cambria Math" panose="02040503050406030204" pitchFamily="18" charset="0"/>
                  </a:rPr>
                  <a:t>𝑣_1  + 𝑣_2</a:t>
                </a:r>
                <a:r>
                  <a:rPr lang="en-US" dirty="0"/>
                  <a:t>), is equal to the sum of the Shapley values for player 𝑖 in the games (𝑁, </a:t>
                </a:r>
                <a:r>
                  <a:rPr lang="en-US" i="0" dirty="0">
                    <a:latin typeface="Cambria Math" panose="02040503050406030204" pitchFamily="18" charset="0"/>
                  </a:rPr>
                  <a:t>𝑣_1</a:t>
                </a:r>
                <a:r>
                  <a:rPr lang="en-US" dirty="0"/>
                  <a:t>) and (𝑁, </a:t>
                </a:r>
                <a:r>
                  <a:rPr lang="en-US" i="0" dirty="0">
                    <a:latin typeface="Cambria Math" panose="02040503050406030204" pitchFamily="18" charset="0"/>
                  </a:rPr>
                  <a:t>𝑣_2</a:t>
                </a:r>
                <a:r>
                  <a:rPr lang="en-US" dirty="0"/>
                  <a:t>). Mathematically, it is represented as:</a:t>
                </a:r>
              </a:p>
              <a:p>
                <a:endParaRPr lang="en-US" dirty="0"/>
              </a:p>
              <a:p>
                <a:r>
                  <a:rPr lang="en-US" dirty="0"/>
                  <a:t>   </a:t>
                </a:r>
                <a:r>
                  <a:rPr lang="en-US" i="0" dirty="0">
                    <a:latin typeface="Cambria Math" panose="02040503050406030204" pitchFamily="18" charset="0"/>
                  </a:rPr>
                  <a:t>𝜙_𝑖 (𝑁, 𝑣_1+𝑣_2) = 𝜙_𝑖 (𝑁, 𝑣_1) + 𝜙_𝑖  (𝑁, 𝑣_2)</a:t>
                </a:r>
                <a:endParaRPr lang="en-US" dirty="0"/>
              </a:p>
              <a:p>
                <a:endParaRPr lang="en-US" dirty="0"/>
              </a:p>
              <a:p>
                <a:r>
                  <a:rPr lang="en-US" dirty="0"/>
                  <a:t>These axioms collectively define the Shapley value and ensure its fairness and consistency in the distribution of values among the agents in coalitional games.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22</a:t>
            </a:fld>
            <a:endParaRPr lang="en-MY"/>
          </a:p>
        </p:txBody>
      </p:sp>
    </p:spTree>
    <p:extLst>
      <p:ext uri="{BB962C8B-B14F-4D97-AF65-F5344CB8AC3E}">
        <p14:creationId xmlns:p14="http://schemas.microsoft.com/office/powerpoint/2010/main" val="330962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Shapley value of a player 𝑖 in a coalitional game 𝐺 = (𝑁, 𝑣) is formally defined as follows:</a:t>
                </a:r>
              </a:p>
              <a:p>
                <a:endParaRPr lang="en-US" dirty="0"/>
              </a:p>
              <a:p>
                <a:pPr marL="38100" marR="30480">
                  <a:lnSpc>
                    <a:spcPct val="102600"/>
                  </a:lnSpc>
                  <a:spcBef>
                    <a:spcPts val="55"/>
                  </a:spcBef>
                </a:pPr>
                <a14:m>
                  <m:oMath xmlns:m="http://schemas.openxmlformats.org/officeDocument/2006/math">
                    <m:sSub>
                      <m:sSubPr>
                        <m:ctrlPr>
                          <a:rPr lang="en-MY" sz="1200" b="0" i="1" smtClean="0">
                            <a:latin typeface="Cambria Math" panose="02040503050406030204" pitchFamily="18" charset="0"/>
                          </a:rPr>
                        </m:ctrlPr>
                      </m:sSubPr>
                      <m:e>
                        <m:r>
                          <a:rPr lang="en-MY" sz="1200" b="0" i="1" smtClean="0">
                            <a:latin typeface="Cambria Math" panose="02040503050406030204" pitchFamily="18" charset="0"/>
                          </a:rPr>
                          <m:t>𝜙</m:t>
                        </m:r>
                      </m:e>
                      <m:sub>
                        <m:r>
                          <a:rPr lang="en-MY" sz="1200" b="0" i="1" smtClean="0">
                            <a:latin typeface="Cambria Math" panose="02040503050406030204" pitchFamily="18" charset="0"/>
                          </a:rPr>
                          <m:t>𝑖</m:t>
                        </m:r>
                      </m:sub>
                    </m:sSub>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r>
                          <a:rPr lang="en-MY" sz="1200" b="0" i="1" smtClean="0">
                            <a:latin typeface="Cambria Math" panose="02040503050406030204" pitchFamily="18" charset="0"/>
                          </a:rPr>
                          <m:t>,</m:t>
                        </m:r>
                        <m:r>
                          <a:rPr lang="en-MY" sz="1200" b="0" i="1" smtClean="0">
                            <a:latin typeface="Cambria Math" panose="02040503050406030204" pitchFamily="18" charset="0"/>
                          </a:rPr>
                          <m:t>𝑣</m:t>
                        </m:r>
                      </m:e>
                    </m:d>
                    <m:r>
                      <a:rPr lang="en-MY" sz="1200" b="0" i="1" smtClean="0">
                        <a:latin typeface="Cambria Math" panose="02040503050406030204" pitchFamily="18" charset="0"/>
                      </a:rPr>
                      <m:t>=</m:t>
                    </m:r>
                    <m:f>
                      <m:fPr>
                        <m:ctrlPr>
                          <a:rPr lang="en-MY" sz="1200" b="0" i="1" smtClean="0">
                            <a:latin typeface="Cambria Math" panose="02040503050406030204" pitchFamily="18" charset="0"/>
                          </a:rPr>
                        </m:ctrlPr>
                      </m:fPr>
                      <m:num>
                        <m:r>
                          <a:rPr lang="en-MY" sz="1200" b="0" i="1" smtClean="0">
                            <a:latin typeface="Cambria Math" panose="02040503050406030204" pitchFamily="18" charset="0"/>
                          </a:rPr>
                          <m:t>1</m:t>
                        </m:r>
                      </m:num>
                      <m:den>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en>
                    </m:f>
                    <m:nary>
                      <m:naryPr>
                        <m:chr m:val="∑"/>
                        <m:limLoc m:val="subSup"/>
                        <m:supHide m:val="on"/>
                        <m:ctrlPr>
                          <a:rPr lang="en-MY" sz="1200" b="0" i="1" smtClean="0">
                            <a:latin typeface="Cambria Math" panose="02040503050406030204" pitchFamily="18" charset="0"/>
                          </a:rPr>
                        </m:ctrlPr>
                      </m:naryPr>
                      <m:sub>
                        <m:r>
                          <m:rPr>
                            <m:brk m:alnAt="9"/>
                          </m:rP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r>
                          <a:rPr lang="en-MY" sz="1200" b="0" i="1" smtClean="0">
                            <a:latin typeface="Cambria Math" panose="02040503050406030204" pitchFamily="18" charset="0"/>
                            <a:ea typeface="Cambria Math" panose="02040503050406030204" pitchFamily="18" charset="0"/>
                          </a:rPr>
                          <m:t>𝑁</m:t>
                        </m:r>
                        <m:r>
                          <a:rPr lang="en-US" sz="1200" b="0" i="1" smtClean="0">
                            <a:latin typeface="Cambria Math" panose="02040503050406030204" pitchFamily="18" charset="0"/>
                            <a:ea typeface="Cambria Math" panose="02040503050406030204" pitchFamily="18" charset="0"/>
                          </a:rPr>
                          <m:t>\</m:t>
                        </m:r>
                        <m:r>
                          <m:rPr>
                            <m:lit/>
                            <m:brk m:alnAt="9"/>
                          </m:rPr>
                          <a:rPr lang="en-MY" sz="1200" b="0" i="1" smtClean="0">
                            <a:latin typeface="Cambria Math" panose="02040503050406030204" pitchFamily="18" charset="0"/>
                            <a:ea typeface="Cambria Math" panose="02040503050406030204" pitchFamily="18" charset="0"/>
                          </a:rPr>
                          <m:t>{</m:t>
                        </m:r>
                        <m:r>
                          <m:rPr>
                            <m:brk m:alnAt="9"/>
                          </m:rPr>
                          <a:rPr lang="en-MY" sz="1200" b="0" i="1" smtClean="0">
                            <a:latin typeface="Cambria Math" panose="02040503050406030204" pitchFamily="18" charset="0"/>
                            <a:ea typeface="Cambria Math" panose="02040503050406030204" pitchFamily="18" charset="0"/>
                          </a:rPr>
                          <m:t>𝑖</m:t>
                        </m:r>
                        <m:r>
                          <a:rPr lang="en-MY" sz="1200" b="0" i="1" smtClean="0">
                            <a:latin typeface="Cambria Math" panose="02040503050406030204" pitchFamily="18" charset="0"/>
                            <a:ea typeface="Cambria Math" panose="02040503050406030204" pitchFamily="18" charset="0"/>
                          </a:rPr>
                          <m:t>}</m:t>
                        </m:r>
                      </m:sub>
                      <m:sup/>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d>
                          <m:dPr>
                            <m:ctrlPr>
                              <a:rPr lang="en-MY" sz="1200" b="0" i="1" smtClean="0">
                                <a:latin typeface="Cambria Math" panose="02040503050406030204" pitchFamily="18" charset="0"/>
                              </a:rPr>
                            </m:ctrlPr>
                          </m:dPr>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r>
                              <a:rPr lang="en-MY" sz="1200" b="0" i="1" smtClean="0">
                                <a:latin typeface="Cambria Math" panose="02040503050406030204" pitchFamily="18" charset="0"/>
                              </a:rPr>
                              <m:t>1</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d>
                                  <m:dPr>
                                    <m:begChr m:val="{"/>
                                    <m:endChr m:val="}"/>
                                    <m:ctrlPr>
                                      <a:rPr lang="en-MY" sz="1200" b="0" i="1" smtClean="0">
                                        <a:latin typeface="Cambria Math" panose="02040503050406030204" pitchFamily="18" charset="0"/>
                                        <a:ea typeface="Cambria Math" panose="02040503050406030204" pitchFamily="18" charset="0"/>
                                      </a:rPr>
                                    </m:ctrlPr>
                                  </m:dPr>
                                  <m:e>
                                    <m:r>
                                      <a:rPr lang="en-MY" sz="1200" b="0" i="1" smtClean="0">
                                        <a:latin typeface="Cambria Math" panose="02040503050406030204" pitchFamily="18" charset="0"/>
                                        <a:ea typeface="Cambria Math" panose="02040503050406030204" pitchFamily="18" charset="0"/>
                                      </a:rPr>
                                      <m:t>𝑖</m:t>
                                    </m:r>
                                  </m:e>
                                </m:d>
                              </m:e>
                            </m:d>
                            <m:r>
                              <a:rPr lang="en-MY" sz="1200" b="0" i="1" smtClean="0">
                                <a:latin typeface="Cambria Math" panose="02040503050406030204" pitchFamily="18" charset="0"/>
                              </a:rPr>
                              <m:t>−</m:t>
                            </m:r>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e>
                        </m:d>
                      </m:e>
                    </m:nary>
                  </m:oMath>
                </a14:m>
                <a:r>
                  <a:rPr lang="en-MY" sz="1200" dirty="0"/>
                  <a:t> </a:t>
                </a:r>
              </a:p>
              <a:p>
                <a:endParaRPr lang="en-US" dirty="0"/>
              </a:p>
              <a:p>
                <a:r>
                  <a:rPr lang="en-US" dirty="0"/>
                  <a:t>Key characteristics and properties of the Shapley value include:</a:t>
                </a:r>
              </a:p>
              <a:p>
                <a:endParaRPr lang="en-US" dirty="0"/>
              </a:p>
              <a:p>
                <a:pPr marL="228600" indent="-228600">
                  <a:buFont typeface="+mj-lt"/>
                  <a:buAutoNum type="arabicPeriod"/>
                </a:pPr>
                <a:r>
                  <a:rPr lang="en-US" b="1" dirty="0"/>
                  <a:t>Uniqueness: </a:t>
                </a:r>
                <a:r>
                  <a:rPr lang="en-US" dirty="0"/>
                  <a:t>The Shapley value is unique, meaning there is only one solution for each player in a given coalitional game. This uniqueness ensures consistency in the allocation of values.</a:t>
                </a:r>
              </a:p>
              <a:p>
                <a:pPr marL="228600" indent="-228600">
                  <a:buFont typeface="+mj-lt"/>
                  <a:buAutoNum type="arabicPeriod"/>
                </a:pPr>
                <a:endParaRPr lang="en-US" dirty="0"/>
              </a:p>
              <a:p>
                <a:pPr marL="228600" indent="-228600">
                  <a:buFont typeface="+mj-lt"/>
                  <a:buAutoNum type="arabicPeriod"/>
                </a:pPr>
                <a:r>
                  <a:rPr lang="en-US" b="1" dirty="0"/>
                  <a:t>Axiomatic Fairness: </a:t>
                </a:r>
                <a:r>
                  <a:rPr lang="en-US" dirty="0"/>
                  <a:t>The Shapley value is the only value that satisfies the axioms for fair division, as previously defined. These axioms include symmetry, dummy player, and additivity.</a:t>
                </a:r>
              </a:p>
              <a:p>
                <a:pPr marL="228600" indent="-228600">
                  <a:buFont typeface="+mj-lt"/>
                  <a:buAutoNum type="arabicPeriod"/>
                </a:pPr>
                <a:endParaRPr lang="en-US" dirty="0"/>
              </a:p>
              <a:p>
                <a:pPr marL="228600" indent="-228600">
                  <a:buFont typeface="+mj-lt"/>
                  <a:buAutoNum type="arabicPeriod"/>
                </a:pPr>
                <a:r>
                  <a:rPr lang="en-US" b="1" dirty="0"/>
                  <a:t>Marginal Contributions: </a:t>
                </a:r>
                <a:r>
                  <a:rPr lang="en-US" dirty="0"/>
                  <a:t>The Shapley value is calculated based on a player's marginal contributions to coalitions. It quantifies the impact of a player's participation in different coalitions within the game.</a:t>
                </a:r>
              </a:p>
              <a:p>
                <a:pPr marL="228600" indent="-228600">
                  <a:buFont typeface="+mj-lt"/>
                  <a:buAutoNum type="arabicPeriod"/>
                </a:pPr>
                <a:endParaRPr lang="en-US" dirty="0"/>
              </a:p>
              <a:p>
                <a:pPr marL="228600" indent="-228600">
                  <a:buFont typeface="+mj-lt"/>
                  <a:buAutoNum type="arabicPeriod"/>
                </a:pPr>
                <a:r>
                  <a:rPr lang="en-US" b="1" dirty="0"/>
                  <a:t>Average Value: </a:t>
                </a:r>
                <a:r>
                  <a:rPr lang="en-US" dirty="0"/>
                  <a:t>The Shapley value is computed as an average value over all possible permutations of the players in the set 𝑁. It considers all possible orders in which players can join the game.</a:t>
                </a:r>
              </a:p>
              <a:p>
                <a:endParaRPr lang="en-US" dirty="0"/>
              </a:p>
              <a:p>
                <a:r>
                  <a:rPr lang="en-US" dirty="0"/>
                  <a:t>The Shapley value is a powerful concept in coalitional game theory, providing a fair and consistent way to distribute the value generated by cooperative actions among the participating players.</a:t>
                </a:r>
                <a:endParaRPr lang="en-MY" dirty="0"/>
              </a:p>
            </p:txBody>
          </p:sp>
        </mc:Choice>
        <mc:Fallback xmlns="">
          <p:sp>
            <p:nvSpPr>
              <p:cNvPr id="3" name="Notes Placeholder 2"/>
              <p:cNvSpPr>
                <a:spLocks noGrp="1"/>
              </p:cNvSpPr>
              <p:nvPr>
                <p:ph type="body" idx="1"/>
              </p:nvPr>
            </p:nvSpPr>
            <p:spPr/>
            <p:txBody>
              <a:bodyPr/>
              <a:lstStyle/>
              <a:p>
                <a:r>
                  <a:rPr lang="en-US" dirty="0"/>
                  <a:t>The Shapley value of a player 𝑖 in a coalitional game 𝐺 = (𝑁, 𝑣) is formally defined as follows:</a:t>
                </a:r>
              </a:p>
              <a:p>
                <a:endParaRPr lang="en-US" dirty="0"/>
              </a:p>
              <a:p>
                <a:pPr marL="38100" marR="30480">
                  <a:lnSpc>
                    <a:spcPct val="102600"/>
                  </a:lnSpc>
                  <a:spcBef>
                    <a:spcPts val="55"/>
                  </a:spcBef>
                </a:pPr>
                <a:r>
                  <a:rPr lang="en-MY" sz="1200" b="0" i="0">
                    <a:latin typeface="Cambria Math" panose="02040503050406030204" pitchFamily="18" charset="0"/>
                  </a:rPr>
                  <a:t>𝜙_𝑖 (𝑁,𝑣)=1/|𝑁|! ∑2</a:t>
                </a:r>
                <a:r>
                  <a:rPr lang="en-MY" sz="1200" b="0" i="0">
                    <a:latin typeface="Cambria Math" panose="02040503050406030204" pitchFamily="18" charset="0"/>
                    <a:ea typeface="Cambria Math" panose="02040503050406030204" pitchFamily="18" charset="0"/>
                  </a:rPr>
                  <a:t>_(</a:t>
                </a:r>
                <a:r>
                  <a:rPr lang="en-MY" sz="1200" b="0" i="0">
                    <a:latin typeface="Cambria Math" panose="02040503050406030204" pitchFamily="18" charset="0"/>
                  </a:rPr>
                  <a:t>𝐶</a:t>
                </a:r>
                <a:r>
                  <a:rPr lang="en-MY" sz="1200" b="0" i="0">
                    <a:latin typeface="Cambria Math" panose="02040503050406030204" pitchFamily="18" charset="0"/>
                    <a:ea typeface="Cambria Math" panose="02040503050406030204" pitchFamily="18" charset="0"/>
                  </a:rPr>
                  <a:t>⊆𝑁\{𝑖})▒〖|</a:t>
                </a:r>
                <a:r>
                  <a:rPr lang="en-MY" sz="1200" b="0" i="0">
                    <a:latin typeface="Cambria Math" panose="02040503050406030204" pitchFamily="18" charset="0"/>
                  </a:rPr>
                  <a:t>𝐶|!∗(|𝑁|−|𝐶|−1)!∗[𝑣(𝐶</a:t>
                </a:r>
                <a:r>
                  <a:rPr lang="en-MY" sz="1200" b="0" i="0">
                    <a:latin typeface="Cambria Math" panose="02040503050406030204" pitchFamily="18" charset="0"/>
                    <a:ea typeface="Cambria Math" panose="02040503050406030204" pitchFamily="18" charset="0"/>
                  </a:rPr>
                  <a:t>∪{𝑖})</a:t>
                </a:r>
                <a:r>
                  <a:rPr lang="en-MY" sz="1200" b="0" i="0">
                    <a:latin typeface="Cambria Math" panose="02040503050406030204" pitchFamily="18" charset="0"/>
                  </a:rPr>
                  <a:t>−𝑣(𝐶)] 〗</a:t>
                </a:r>
                <a:r>
                  <a:rPr lang="en-MY" sz="1200" dirty="0"/>
                  <a:t> </a:t>
                </a:r>
              </a:p>
              <a:p>
                <a:endParaRPr lang="en-US" dirty="0"/>
              </a:p>
              <a:p>
                <a:r>
                  <a:rPr lang="en-US" dirty="0"/>
                  <a:t>Key characteristics and properties of the Shapley value include:</a:t>
                </a:r>
              </a:p>
              <a:p>
                <a:endParaRPr lang="en-US" dirty="0"/>
              </a:p>
              <a:p>
                <a:pPr marL="228600" indent="-228600">
                  <a:buFont typeface="+mj-lt"/>
                  <a:buAutoNum type="arabicPeriod"/>
                </a:pPr>
                <a:r>
                  <a:rPr lang="en-US" b="1" dirty="0"/>
                  <a:t>Uniqueness: </a:t>
                </a:r>
                <a:r>
                  <a:rPr lang="en-US" dirty="0"/>
                  <a:t>The Shapley value is unique, meaning there is only one solution for each player in a given coalitional game. This uniqueness ensures consistency in the allocation of values.</a:t>
                </a:r>
              </a:p>
              <a:p>
                <a:pPr marL="228600" indent="-228600">
                  <a:buFont typeface="+mj-lt"/>
                  <a:buAutoNum type="arabicPeriod"/>
                </a:pPr>
                <a:endParaRPr lang="en-US" dirty="0"/>
              </a:p>
              <a:p>
                <a:pPr marL="228600" indent="-228600">
                  <a:buFont typeface="+mj-lt"/>
                  <a:buAutoNum type="arabicPeriod"/>
                </a:pPr>
                <a:r>
                  <a:rPr lang="en-US" b="1" dirty="0"/>
                  <a:t>Axiomatic Fairness: </a:t>
                </a:r>
                <a:r>
                  <a:rPr lang="en-US" dirty="0"/>
                  <a:t>The Shapley value is the only value that satisfies the axioms for fair division, as previously defined. These axioms include symmetry, dummy player, and additivity.</a:t>
                </a:r>
              </a:p>
              <a:p>
                <a:pPr marL="228600" indent="-228600">
                  <a:buFont typeface="+mj-lt"/>
                  <a:buAutoNum type="arabicPeriod"/>
                </a:pPr>
                <a:endParaRPr lang="en-US" dirty="0"/>
              </a:p>
              <a:p>
                <a:pPr marL="228600" indent="-228600">
                  <a:buFont typeface="+mj-lt"/>
                  <a:buAutoNum type="arabicPeriod"/>
                </a:pPr>
                <a:r>
                  <a:rPr lang="en-US" b="1" dirty="0"/>
                  <a:t>Marginal Contributions: </a:t>
                </a:r>
                <a:r>
                  <a:rPr lang="en-US" dirty="0"/>
                  <a:t>The Shapley value is calculated based on a player's marginal contributions to coalitions. It quantifies the impact of a player's participation in different coalitions within the game.</a:t>
                </a:r>
              </a:p>
              <a:p>
                <a:pPr marL="228600" indent="-228600">
                  <a:buFont typeface="+mj-lt"/>
                  <a:buAutoNum type="arabicPeriod"/>
                </a:pPr>
                <a:endParaRPr lang="en-US" dirty="0"/>
              </a:p>
              <a:p>
                <a:pPr marL="228600" indent="-228600">
                  <a:buFont typeface="+mj-lt"/>
                  <a:buAutoNum type="arabicPeriod"/>
                </a:pPr>
                <a:r>
                  <a:rPr lang="en-US" b="1" dirty="0"/>
                  <a:t>Average Value: </a:t>
                </a:r>
                <a:r>
                  <a:rPr lang="en-US" dirty="0"/>
                  <a:t>The Shapley value is computed as an average value over all possible permutations of the players in the set 𝑁. It considers all possible orders in which players can join the game.</a:t>
                </a:r>
              </a:p>
              <a:p>
                <a:endParaRPr lang="en-US" dirty="0"/>
              </a:p>
              <a:p>
                <a:r>
                  <a:rPr lang="en-US" dirty="0"/>
                  <a:t>The Shapley value is a powerful concept in coalitional game theory, providing a fair and consistent way to distribute the value generated by cooperative actions among the participating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23</a:t>
            </a:fld>
            <a:endParaRPr lang="en-MY"/>
          </a:p>
        </p:txBody>
      </p:sp>
    </p:spTree>
    <p:extLst>
      <p:ext uri="{BB962C8B-B14F-4D97-AF65-F5344CB8AC3E}">
        <p14:creationId xmlns:p14="http://schemas.microsoft.com/office/powerpoint/2010/main" val="1562262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 the context of the voting game for the fair division of a 100 million spending bill among four parties (𝐴, 𝐵, 𝐶, 𝐷), the Shapley value can be calculated for each party. The characteristic function 𝑣 describes the worth of different coalitions in terms of whether they secure the passage of the bill and how the money is distributed.</a:t>
            </a:r>
          </a:p>
          <a:p>
            <a:endParaRPr lang="en-MY" dirty="0"/>
          </a:p>
          <a:p>
            <a:r>
              <a:rPr lang="en-MY" dirty="0"/>
              <a:t>Let's compute the Shapley value for each party:</a:t>
            </a:r>
          </a:p>
          <a:p>
            <a:endParaRPr lang="en-MY" dirty="0"/>
          </a:p>
          <a:p>
            <a:r>
              <a:rPr lang="en-MY" dirty="0"/>
              <a:t>1. Party 𝐴:</a:t>
            </a:r>
          </a:p>
          <a:p>
            <a:r>
              <a:rPr lang="en-MY" dirty="0"/>
              <a:t>   - When 𝐴 is added first: 𝑣 ({𝐴}) = 0</a:t>
            </a:r>
          </a:p>
          <a:p>
            <a:r>
              <a:rPr lang="en-MY" dirty="0"/>
              <a:t>   - When 𝐴 is added second (with 𝐵): 𝑣 ({𝐴, 𝐵}) = 100</a:t>
            </a:r>
          </a:p>
          <a:p>
            <a:r>
              <a:rPr lang="en-MY" dirty="0"/>
              <a:t>   - When 𝐴 is added second (with 𝐶): 𝑣 ({𝐴, 𝐶}) = 100</a:t>
            </a:r>
          </a:p>
          <a:p>
            <a:r>
              <a:rPr lang="en-MY" dirty="0"/>
              <a:t>   - When 𝐴 is added second (with 𝐷): 𝑣 ({𝐴, 𝐷}) = 100</a:t>
            </a:r>
          </a:p>
          <a:p>
            <a:r>
              <a:rPr lang="en-MY" dirty="0"/>
              <a:t>   - When 𝐴 is added third (with 𝐵 and 𝐶): 𝑣 ({𝐴, 𝐵, 𝐶}) = 100</a:t>
            </a:r>
          </a:p>
          <a:p>
            <a:r>
              <a:rPr lang="en-MY" dirty="0"/>
              <a:t>   - When 𝐴 is added third (with 𝐵 and 𝐷): 𝑣 ({𝐴, 𝐵, 𝐷}) = 100</a:t>
            </a:r>
          </a:p>
          <a:p>
            <a:r>
              <a:rPr lang="en-MY" dirty="0"/>
              <a:t>   - When 𝐴 is added third (with 𝐶 and 𝐷): 𝑣 ({𝐴, 𝐶, 𝐷}) = 100</a:t>
            </a:r>
          </a:p>
          <a:p>
            <a:r>
              <a:rPr lang="en-MY" dirty="0"/>
              <a:t>   - When 𝐴 is added fourth (with all parties): 𝑣 ({𝐴, 𝐵, 𝐶, 𝐷}) = 100</a:t>
            </a:r>
          </a:p>
          <a:p>
            <a:endParaRPr lang="en-MY" dirty="0"/>
          </a:p>
          <a:p>
            <a:r>
              <a:rPr lang="en-MY" dirty="0"/>
              <a:t>Now, calculate the Shapley value for 𝐴:</a:t>
            </a:r>
          </a:p>
          <a:p>
            <a:endParaRPr lang="en-MY" dirty="0"/>
          </a:p>
          <a:p>
            <a:r>
              <a:rPr lang="en-MY" dirty="0"/>
              <a:t>𝜙_𝐴 (𝑁, 𝑣) = 1/4! * [𝑣 ({𝐴}) + 3 * (𝑣 ({𝐴, 𝐵}) - 𝑣 ({𝐴})) + 3 * (𝑣 ({𝐴, 𝐶}) - 𝑣 ({𝐴})) + 3 * (𝑣 ({𝐴, 𝐷}) - 𝑣 ({𝐴})) + (𝑣 ({𝐴, 𝐵, 𝐶, 𝐷}) - 𝑣 ({𝐴}))]</a:t>
            </a:r>
          </a:p>
          <a:p>
            <a:endParaRPr lang="en-MY" dirty="0"/>
          </a:p>
          <a:p>
            <a:r>
              <a:rPr lang="en-MY" dirty="0"/>
              <a:t>Calculate this value to find the Shapley value for 𝐴. Repeat this process for parties 𝐵, 𝐶, and 𝐷 to determine their Shapley values. The Shapley value represents each party's fair share in the distribution of the 100 million based on their influence within different coalitions.</a:t>
            </a:r>
          </a:p>
        </p:txBody>
      </p:sp>
      <p:sp>
        <p:nvSpPr>
          <p:cNvPr id="4" name="Slide Number Placeholder 3"/>
          <p:cNvSpPr>
            <a:spLocks noGrp="1"/>
          </p:cNvSpPr>
          <p:nvPr>
            <p:ph type="sldNum" sz="quarter" idx="5"/>
          </p:nvPr>
        </p:nvSpPr>
        <p:spPr/>
        <p:txBody>
          <a:bodyPr/>
          <a:lstStyle/>
          <a:p>
            <a:fld id="{964F17B5-AEBC-4DDC-A2E1-024551EDEE5F}" type="slidenum">
              <a:rPr lang="en-MY" smtClean="0"/>
              <a:t>24</a:t>
            </a:fld>
            <a:endParaRPr lang="en-MY"/>
          </a:p>
        </p:txBody>
      </p:sp>
    </p:spTree>
    <p:extLst>
      <p:ext uri="{BB962C8B-B14F-4D97-AF65-F5344CB8AC3E}">
        <p14:creationId xmlns:p14="http://schemas.microsoft.com/office/powerpoint/2010/main" val="104099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 provided example, we are calculating the Shapley values for a fair division in a voting game where four parties are involved in deciding the distribution of a 100 million spending bill. Each party has a different number of parliament members. Let's break down the calculations for Shapley values for party A and party B (which is symmetrical for C and D):</a:t>
                </a:r>
              </a:p>
              <a:p>
                <a:endParaRPr lang="en-US" dirty="0"/>
              </a:p>
              <a:p>
                <a:r>
                  <a:rPr lang="en-US" b="1" dirty="0"/>
                  <a:t>Shapley Value for Party A (</a:t>
                </a:r>
                <a:r>
                  <a:rPr lang="en-US" b="1" dirty="0" err="1"/>
                  <a:t>φ_A</a:t>
                </a:r>
                <a:r>
                  <a:rPr lang="en-US" b="1" dirty="0"/>
                  <a:t>):</a:t>
                </a:r>
              </a:p>
              <a:p>
                <a:endParaRPr lang="en-US" dirty="0"/>
              </a:p>
              <a:p>
                <a:r>
                  <a:rPr lang="en-US" dirty="0"/>
                  <a:t>The formula used is:</a:t>
                </a:r>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err="1" smtClean="0">
                            <a:latin typeface="Cambria Math" panose="02040503050406030204" pitchFamily="18" charset="0"/>
                          </a:rPr>
                          <m:t>𝐴</m:t>
                        </m:r>
                      </m:sub>
                    </m:sSub>
                    <m:r>
                      <a:rPr lang="en-US" i="1" dirty="0" smtClean="0">
                        <a:latin typeface="Cambria Math" panose="02040503050406030204" pitchFamily="18" charset="0"/>
                      </a:rPr>
                      <m:t> =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m:t>
                        </m:r>
                        <m:r>
                          <a:rPr lang="en-US" b="0" i="1" dirty="0" smtClean="0">
                            <a:latin typeface="Cambria Math" panose="02040503050406030204" pitchFamily="18" charset="0"/>
                          </a:rPr>
                          <m:t>!</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e>
                    </m:d>
                    <m:r>
                      <a:rPr lang="en-US" b="0" i="1" dirty="0" smtClean="0">
                        <a:latin typeface="Cambria Math" panose="02040503050406030204" pitchFamily="18" charset="0"/>
                      </a:rPr>
                      <m:t> </m:t>
                    </m:r>
                  </m:oMath>
                </a14:m>
                <a:r>
                  <a:rPr lang="en-US" dirty="0"/>
                  <a:t> </a:t>
                </a:r>
              </a:p>
              <a:p>
                <a:endParaRPr lang="en-US" dirty="0"/>
              </a:p>
              <a:p>
                <a:r>
                  <a:rPr lang="en-US" dirty="0"/>
                  <a:t>Breaking down the calculation step by step:</a:t>
                </a:r>
              </a:p>
              <a:p>
                <a:endParaRPr lang="en-US" dirty="0"/>
              </a:p>
              <a:p>
                <a:pPr marL="171450" indent="-171450">
                  <a:buFont typeface="Arial" panose="020B0604020202020204" pitchFamily="34" charset="0"/>
                  <a:buChar char="•"/>
                </a:pPr>
                <a:r>
                  <a:rPr lang="en-US" dirty="0"/>
                  <a:t>For the case when party A arrives first, the worth doesn't change because it has no other players to join with (0).</a:t>
                </a:r>
              </a:p>
              <a:p>
                <a:pPr marL="171450" indent="-171450">
                  <a:buFont typeface="Arial" panose="020B0604020202020204" pitchFamily="34" charset="0"/>
                  <a:buChar char="•"/>
                </a:pPr>
                <a:r>
                  <a:rPr lang="en-US" dirty="0"/>
                  <a:t>For the case when party A arrives second (and there are three factorial ways to arrange the other parties), it joins party B, and together they have 3 members. In this case, the worth increases by 100.</a:t>
                </a:r>
              </a:p>
              <a:p>
                <a:pPr marL="171450" indent="-171450">
                  <a:buFont typeface="Arial" panose="020B0604020202020204" pitchFamily="34" charset="0"/>
                  <a:buChar char="•"/>
                </a:pPr>
                <a:r>
                  <a:rPr lang="en-US" dirty="0"/>
                  <a:t>For the case when party A arrives third (and there are three factorial ways to arrange the other parties), it joins parties B and C, and together they have 4 members. In this case, the worth increases by 100.</a:t>
                </a:r>
              </a:p>
              <a:p>
                <a:pPr marL="171450" indent="-171450">
                  <a:buFont typeface="Arial" panose="020B0604020202020204" pitchFamily="34" charset="0"/>
                  <a:buChar char="•"/>
                </a:pPr>
                <a:r>
                  <a:rPr lang="en-US" dirty="0"/>
                  <a:t>For the case when party A arrives last, it joins parties B, C, and D, and together they have 4 members. In this case, the worth doesn't change because the bill has already passed.</a:t>
                </a:r>
              </a:p>
              <a:p>
                <a:endParaRPr lang="en-US" dirty="0"/>
              </a:p>
              <a:p>
                <a:r>
                  <a:rPr lang="en-US" dirty="0"/>
                  <a:t>Now, let's calculate </a:t>
                </a:r>
                <a:r>
                  <a:rPr lang="en-US" dirty="0" err="1"/>
                  <a:t>φ_A</a:t>
                </a:r>
                <a:r>
                  <a:rPr lang="en-US" dirty="0"/>
                  <a:t>:</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err="1" smtClean="0">
                            <a:latin typeface="Cambria Math" panose="02040503050406030204" pitchFamily="18" charset="0"/>
                          </a:rPr>
                          <m:t>𝐴</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24</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600</m:t>
                        </m:r>
                        <m:r>
                          <a:rPr lang="en-US" i="1" dirty="0" smtClean="0">
                            <a:latin typeface="Cambria Math" panose="02040503050406030204" pitchFamily="18" charset="0"/>
                          </a:rPr>
                          <m:t> + </m:t>
                        </m:r>
                        <m:r>
                          <a:rPr lang="en-US" i="1" dirty="0" smtClean="0">
                            <a:latin typeface="Cambria Math" panose="02040503050406030204" pitchFamily="18" charset="0"/>
                          </a:rPr>
                          <m:t>600</m:t>
                        </m:r>
                        <m:r>
                          <a:rPr lang="en-US" i="1" dirty="0" smtClean="0">
                            <a:latin typeface="Cambria Math" panose="02040503050406030204" pitchFamily="18" charset="0"/>
                          </a:rPr>
                          <m:t> + </m:t>
                        </m:r>
                        <m:r>
                          <a:rPr lang="en-US" i="1" dirty="0" smtClean="0">
                            <a:latin typeface="Cambria Math" panose="02040503050406030204" pitchFamily="18" charset="0"/>
                          </a:rPr>
                          <m:t>0</m:t>
                        </m:r>
                      </m:e>
                    </m:d>
                    <m:r>
                      <a:rPr lang="en-US" i="1" dirty="0" smtClean="0">
                        <a:latin typeface="Cambria Math" panose="02040503050406030204" pitchFamily="18" charset="0"/>
                      </a:rPr>
                      <m:t> = $</m:t>
                    </m:r>
                    <m:r>
                      <a:rPr lang="en-US" i="1" dirty="0" smtClean="0">
                        <a:latin typeface="Cambria Math" panose="02040503050406030204" pitchFamily="18" charset="0"/>
                      </a:rPr>
                      <m:t>50</m:t>
                    </m:r>
                    <m:r>
                      <a:rPr lang="en-US" i="1" dirty="0" smtClean="0">
                        <a:latin typeface="Cambria Math" panose="02040503050406030204" pitchFamily="18" charset="0"/>
                      </a:rPr>
                      <m:t> </m:t>
                    </m:r>
                    <m:r>
                      <m:rPr>
                        <m:sty m:val="p"/>
                      </m:rPr>
                      <a:rPr lang="en-US" i="0" dirty="0" smtClean="0">
                        <a:latin typeface="Cambria Math" panose="02040503050406030204" pitchFamily="18" charset="0"/>
                      </a:rPr>
                      <m:t>million</m:t>
                    </m:r>
                  </m:oMath>
                </a14:m>
                <a:r>
                  <a:rPr lang="en-US" i="0" dirty="0"/>
                  <a:t> </a:t>
                </a:r>
              </a:p>
              <a:p>
                <a:endParaRPr lang="en-US" dirty="0"/>
              </a:p>
              <a:p>
                <a:r>
                  <a:rPr lang="en-US" b="1" dirty="0"/>
                  <a:t>Shapley Value for Party B (</a:t>
                </a:r>
                <a:r>
                  <a:rPr lang="en-US" b="1" dirty="0" err="1"/>
                  <a:t>φ_B</a:t>
                </a:r>
                <a:r>
                  <a:rPr lang="en-US" b="1" dirty="0"/>
                  <a:t>):</a:t>
                </a:r>
              </a:p>
              <a:p>
                <a:endParaRPr lang="en-US" dirty="0"/>
              </a:p>
              <a:p>
                <a:r>
                  <a:rPr lang="en-US" dirty="0"/>
                  <a:t>Using the same formula, we calculate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i="1" dirty="0" smtClean="0">
                            <a:latin typeface="Cambria Math" panose="02040503050406030204" pitchFamily="18" charset="0"/>
                          </a:rPr>
                          <m:t>𝐵</m:t>
                        </m:r>
                      </m:sub>
                    </m:sSub>
                  </m:oMath>
                </a14:m>
                <a:r>
                  <a:rPr lang="en-US" dirty="0"/>
                  <a:t>. The key difference is that party B arrives first and party A is the second to arrive. Here's the calculation:</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err="1" smtClean="0">
                            <a:latin typeface="Cambria Math" panose="02040503050406030204" pitchFamily="18" charset="0"/>
                          </a:rPr>
                          <m:t>𝐵</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41</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3</m:t>
                        </m:r>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100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100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 </m:t>
                        </m:r>
                        <m:r>
                          <a:rPr lang="en-US" i="1" dirty="0" smtClean="0">
                            <a:latin typeface="Cambria Math" panose="02040503050406030204" pitchFamily="18" charset="0"/>
                          </a:rPr>
                          <m:t>1</m:t>
                        </m:r>
                        <m:r>
                          <a:rPr lang="en-US" i="1" dirty="0" smtClean="0">
                            <a:latin typeface="Cambria Math" panose="02040503050406030204" pitchFamily="18" charset="0"/>
                          </a:rPr>
                          <m:t>!⋅ </m:t>
                        </m:r>
                        <m:r>
                          <a:rPr lang="en-US" i="1" dirty="0" smtClean="0">
                            <a:latin typeface="Cambria Math" panose="02040503050406030204" pitchFamily="18" charset="0"/>
                          </a:rPr>
                          <m:t>2</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r>
                          <a:rPr lang="en-US" i="1" dirty="0" smtClean="0">
                            <a:latin typeface="Cambria Math" panose="02040503050406030204" pitchFamily="18" charset="0"/>
                          </a:rPr>
                          <m:t>+ </m:t>
                        </m:r>
                        <m:r>
                          <a:rPr lang="en-US" i="1" dirty="0" smtClean="0">
                            <a:latin typeface="Cambria Math" panose="02040503050406030204" pitchFamily="18" charset="0"/>
                          </a:rPr>
                          <m:t>0</m:t>
                        </m:r>
                        <m:r>
                          <a:rPr lang="en-US" i="1" dirty="0" smtClean="0">
                            <a:latin typeface="Cambria Math" panose="02040503050406030204" pitchFamily="18" charset="0"/>
                          </a:rPr>
                          <m:t>!⋅ </m:t>
                        </m:r>
                        <m:r>
                          <a:rPr lang="en-US" i="1" dirty="0" smtClean="0">
                            <a:latin typeface="Cambria Math" panose="02040503050406030204" pitchFamily="18" charset="0"/>
                          </a:rPr>
                          <m:t>3</m:t>
                        </m:r>
                        <m:r>
                          <a:rPr lang="en-US" i="1" dirty="0" smtClean="0">
                            <a:latin typeface="Cambria Math" panose="02040503050406030204" pitchFamily="18" charset="0"/>
                          </a:rPr>
                          <m:t>!</m:t>
                        </m:r>
                        <m:d>
                          <m:dPr>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0</m:t>
                            </m:r>
                          </m:e>
                        </m:d>
                      </m:e>
                    </m:d>
                  </m:oMath>
                </a14:m>
                <a:r>
                  <a:rPr lang="en-US" dirty="0"/>
                  <a:t> </a:t>
                </a:r>
              </a:p>
              <a:p>
                <a:endParaRPr lang="en-US" dirty="0"/>
              </a:p>
              <a:p>
                <a:r>
                  <a:rPr lang="en-US" dirty="0"/>
                  <a:t>Simplifying step by step:</a:t>
                </a:r>
              </a:p>
              <a:p>
                <a:endParaRPr lang="en-US" dirty="0"/>
              </a:p>
              <a:p>
                <a:pPr marL="171450" indent="-171450">
                  <a:buFont typeface="Arial" panose="020B0604020202020204" pitchFamily="34" charset="0"/>
                  <a:buChar char="•"/>
                </a:pPr>
                <a:r>
                  <a:rPr lang="en-US" dirty="0"/>
                  <a:t>For the case when party B arrives first, the worth doesn't change because it has no other players to join with (0).</a:t>
                </a:r>
              </a:p>
              <a:p>
                <a:pPr marL="171450" indent="-171450">
                  <a:buFont typeface="Arial" panose="020B0604020202020204" pitchFamily="34" charset="0"/>
                  <a:buChar char="•"/>
                </a:pPr>
                <a:r>
                  <a:rPr lang="en-US" dirty="0"/>
                  <a:t>For the case when party B arrives second (and there are two factorial ways to arrange the other parties), it joins party A, and together they have 3 members. In this case, the worth doesn't change because the bill has already passed.</a:t>
                </a:r>
              </a:p>
              <a:p>
                <a:pPr marL="171450" indent="-171450">
                  <a:buFont typeface="Arial" panose="020B0604020202020204" pitchFamily="34" charset="0"/>
                  <a:buChar char="•"/>
                </a:pPr>
                <a:r>
                  <a:rPr lang="en-US" dirty="0"/>
                  <a:t>For the case when party B arrives third, it joins party A and either C or D. There are two possible arrangements (2 factorial) for the other parties. In this case, the worth increases by 100 for each arrangement.</a:t>
                </a:r>
              </a:p>
              <a:p>
                <a:endParaRPr lang="en-US" dirty="0"/>
              </a:p>
              <a:p>
                <a:r>
                  <a:rPr lang="en-US" dirty="0"/>
                  <a:t>Calculating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i="1" dirty="0" smtClean="0">
                            <a:latin typeface="Cambria Math" panose="02040503050406030204" pitchFamily="18" charset="0"/>
                          </a:rPr>
                          <m:t>𝐵</m:t>
                        </m:r>
                      </m:sub>
                    </m:sSub>
                  </m:oMath>
                </a14:m>
                <a:r>
                  <a:rPr lang="en-US" dirty="0"/>
                  <a:t>:</a:t>
                </a:r>
              </a:p>
              <a:p>
                <a:endParaRPr lang="en-US" dirty="0"/>
              </a:p>
              <a:p>
                <a14:m>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err="1" smtClean="0">
                            <a:latin typeface="Cambria Math" panose="02040503050406030204" pitchFamily="18" charset="0"/>
                          </a:rPr>
                          <m:t>𝐵</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24</m:t>
                        </m:r>
                      </m:den>
                    </m:f>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200</m:t>
                        </m:r>
                        <m:r>
                          <a:rPr lang="en-US" i="1" dirty="0" smtClean="0">
                            <a:latin typeface="Cambria Math" panose="02040503050406030204" pitchFamily="18" charset="0"/>
                          </a:rPr>
                          <m:t> + </m:t>
                        </m:r>
                        <m:r>
                          <a:rPr lang="en-US" i="1" dirty="0" smtClean="0">
                            <a:latin typeface="Cambria Math" panose="02040503050406030204" pitchFamily="18" charset="0"/>
                          </a:rPr>
                          <m:t>200</m:t>
                        </m:r>
                        <m:r>
                          <a:rPr lang="en-US" i="1" dirty="0" smtClean="0">
                            <a:latin typeface="Cambria Math" panose="02040503050406030204" pitchFamily="18" charset="0"/>
                          </a:rPr>
                          <m:t> + </m:t>
                        </m:r>
                        <m:r>
                          <a:rPr lang="en-US" i="1" dirty="0" smtClean="0">
                            <a:latin typeface="Cambria Math" panose="02040503050406030204" pitchFamily="18" charset="0"/>
                          </a:rPr>
                          <m:t>0</m:t>
                        </m:r>
                        <m:r>
                          <a:rPr lang="en-US" i="1" dirty="0" smtClean="0">
                            <a:latin typeface="Cambria Math" panose="02040503050406030204" pitchFamily="18" charset="0"/>
                          </a:rPr>
                          <m:t> + </m:t>
                        </m:r>
                        <m:r>
                          <a:rPr lang="en-US" i="1" dirty="0" smtClean="0">
                            <a:latin typeface="Cambria Math" panose="02040503050406030204" pitchFamily="18" charset="0"/>
                          </a:rPr>
                          <m:t>0</m:t>
                        </m:r>
                      </m:e>
                    </m:d>
                    <m:r>
                      <a:rPr lang="en-US" i="1" dirty="0" smtClean="0">
                        <a:latin typeface="Cambria Math" panose="02040503050406030204" pitchFamily="18" charset="0"/>
                      </a:rPr>
                      <m:t> = $</m:t>
                    </m:r>
                    <m:r>
                      <a:rPr lang="en-US" i="1" dirty="0" smtClean="0">
                        <a:latin typeface="Cambria Math" panose="02040503050406030204" pitchFamily="18" charset="0"/>
                      </a:rPr>
                      <m:t>16</m:t>
                    </m:r>
                    <m:r>
                      <a:rPr lang="en-US" i="1" dirty="0" smtClean="0">
                        <a:latin typeface="Cambria Math" panose="02040503050406030204" pitchFamily="18" charset="0"/>
                      </a:rPr>
                      <m:t>.</m:t>
                    </m:r>
                    <m:r>
                      <a:rPr lang="en-US" i="1" dirty="0" smtClean="0">
                        <a:latin typeface="Cambria Math" panose="02040503050406030204" pitchFamily="18" charset="0"/>
                      </a:rPr>
                      <m:t>67</m:t>
                    </m:r>
                    <m:r>
                      <a:rPr lang="en-US" i="1" dirty="0" smtClean="0">
                        <a:latin typeface="Cambria Math" panose="02040503050406030204" pitchFamily="18" charset="0"/>
                      </a:rPr>
                      <m:t> </m:t>
                    </m:r>
                    <m:r>
                      <m:rPr>
                        <m:sty m:val="p"/>
                      </m:rPr>
                      <a:rPr lang="en-US" i="0" dirty="0" smtClean="0">
                        <a:latin typeface="Cambria Math" panose="02040503050406030204" pitchFamily="18" charset="0"/>
                      </a:rPr>
                      <m:t>million</m:t>
                    </m:r>
                  </m:oMath>
                </a14:m>
                <a:r>
                  <a:rPr lang="en-US" i="0" dirty="0"/>
                  <a:t> </a:t>
                </a:r>
              </a:p>
              <a:p>
                <a:endParaRPr lang="en-US" dirty="0"/>
              </a:p>
              <a:p>
                <a:r>
                  <a:rPr lang="en-US" dirty="0"/>
                  <a:t>So, the Shapley value for Party A is $50 million, and the Shapley value for Party B (as well as Parties C and D) is approximately $16.67 million.</a:t>
                </a:r>
              </a:p>
              <a:p>
                <a:endParaRPr lang="en-US" dirty="0"/>
              </a:p>
              <a:p>
                <a:r>
                  <a:rPr lang="en-US" dirty="0"/>
                  <a:t>The Shapley value vector 𝒙 = </a:t>
                </a:r>
                <a14:m>
                  <m:oMath xmlns:m="http://schemas.openxmlformats.org/officeDocument/2006/math">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𝐴</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𝐵</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𝐶</m:t>
                        </m:r>
                      </m:sub>
                    </m:sSub>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𝐷</m:t>
                        </m:r>
                      </m:sub>
                    </m:sSub>
                    <m:r>
                      <a:rPr lang="en-US" i="1" dirty="0" smtClean="0">
                        <a:latin typeface="Cambria Math" panose="02040503050406030204" pitchFamily="18" charset="0"/>
                      </a:rPr>
                      <m:t>) </m:t>
                    </m:r>
                  </m:oMath>
                </a14:m>
                <a:r>
                  <a:rPr lang="en-US" dirty="0"/>
                  <a:t>= ($50 million, $16.67 million, $16.67 million, $16.67 million).</a:t>
                </a:r>
                <a:endParaRPr lang="en-MY" dirty="0"/>
              </a:p>
            </p:txBody>
          </p:sp>
        </mc:Choice>
        <mc:Fallback xmlns="">
          <p:sp>
            <p:nvSpPr>
              <p:cNvPr id="3" name="Notes Placeholder 2"/>
              <p:cNvSpPr>
                <a:spLocks noGrp="1"/>
              </p:cNvSpPr>
              <p:nvPr>
                <p:ph type="body" idx="1"/>
              </p:nvPr>
            </p:nvSpPr>
            <p:spPr/>
            <p:txBody>
              <a:bodyPr/>
              <a:lstStyle/>
              <a:p>
                <a:r>
                  <a:rPr lang="en-US" dirty="0"/>
                  <a:t>In the provided example, we are calculating the Shapley values for a fair division in a voting game where four parties are involved in deciding the distribution of a 100 million spending bill. Each party has a different number of parliament members. Let's break down the calculations for Shapley values for party A and party B (which is symmetrical for C and D):</a:t>
                </a:r>
              </a:p>
              <a:p>
                <a:endParaRPr lang="en-US" dirty="0"/>
              </a:p>
              <a:p>
                <a:r>
                  <a:rPr lang="en-US" b="1" dirty="0"/>
                  <a:t>Shapley Value for Party A (</a:t>
                </a:r>
                <a:r>
                  <a:rPr lang="en-US" b="1" dirty="0" err="1"/>
                  <a:t>φ_A</a:t>
                </a:r>
                <a:r>
                  <a:rPr lang="en-US" b="1" dirty="0"/>
                  <a:t>):</a:t>
                </a:r>
              </a:p>
              <a:p>
                <a:endParaRPr lang="en-US" dirty="0"/>
              </a:p>
              <a:p>
                <a:r>
                  <a:rPr lang="en-US" dirty="0"/>
                  <a:t>The formula used is:</a:t>
                </a:r>
              </a:p>
              <a:p>
                <a:r>
                  <a:rPr lang="en-US" i="0" dirty="0">
                    <a:latin typeface="Cambria Math" panose="02040503050406030204" pitchFamily="18" charset="0"/>
                  </a:rPr>
                  <a:t>𝜙</a:t>
                </a:r>
                <a:r>
                  <a:rPr lang="en-US" i="0" dirty="0" err="1">
                    <a:latin typeface="Cambria Math" panose="02040503050406030204" pitchFamily="18" charset="0"/>
                  </a:rPr>
                  <a:t>_𝐴</a:t>
                </a:r>
                <a:r>
                  <a:rPr lang="en-US" i="0" dirty="0">
                    <a:latin typeface="Cambria Math" panose="02040503050406030204" pitchFamily="18" charset="0"/>
                  </a:rPr>
                  <a:t>  = </a:t>
                </a:r>
                <a:r>
                  <a:rPr lang="en-US" b="0" i="0" dirty="0">
                    <a:latin typeface="Cambria Math" panose="02040503050406030204" pitchFamily="18" charset="0"/>
                  </a:rPr>
                  <a:t> 1/4! </a:t>
                </a:r>
                <a:r>
                  <a:rPr lang="en-US" i="0" dirty="0">
                    <a:latin typeface="Cambria Math" panose="02040503050406030204" pitchFamily="18" charset="0"/>
                  </a:rPr>
                  <a:t>[3!⋅ 0!(100−100)+ 3⋅ 2!⋅ 1!(100−0)+ 3⋅ 1!⋅ 2!(100−0)+ 0!⋅ 3!(0−0)]</a:t>
                </a:r>
                <a:r>
                  <a:rPr lang="en-US" b="0" i="0" dirty="0">
                    <a:latin typeface="Cambria Math" panose="02040503050406030204" pitchFamily="18" charset="0"/>
                  </a:rPr>
                  <a:t>  </a:t>
                </a:r>
                <a:r>
                  <a:rPr lang="en-US" dirty="0"/>
                  <a:t> </a:t>
                </a:r>
              </a:p>
              <a:p>
                <a:endParaRPr lang="en-US" dirty="0"/>
              </a:p>
              <a:p>
                <a:r>
                  <a:rPr lang="en-US" dirty="0"/>
                  <a:t>Breaking down the calculation step by step:</a:t>
                </a:r>
              </a:p>
              <a:p>
                <a:endParaRPr lang="en-US" dirty="0"/>
              </a:p>
              <a:p>
                <a:pPr marL="171450" indent="-171450">
                  <a:buFont typeface="Arial" panose="020B0604020202020204" pitchFamily="34" charset="0"/>
                  <a:buChar char="•"/>
                </a:pPr>
                <a:r>
                  <a:rPr lang="en-US" dirty="0"/>
                  <a:t>For the case when party A arrives first, the worth doesn't change because it has no other players to join with (0).</a:t>
                </a:r>
              </a:p>
              <a:p>
                <a:pPr marL="171450" indent="-171450">
                  <a:buFont typeface="Arial" panose="020B0604020202020204" pitchFamily="34" charset="0"/>
                  <a:buChar char="•"/>
                </a:pPr>
                <a:r>
                  <a:rPr lang="en-US" dirty="0"/>
                  <a:t>For the case when party A arrives second (and there are three factorial ways to arrange the other parties), it joins party B, and together they have 3 members. In this case, the worth increases by 100.</a:t>
                </a:r>
              </a:p>
              <a:p>
                <a:pPr marL="171450" indent="-171450">
                  <a:buFont typeface="Arial" panose="020B0604020202020204" pitchFamily="34" charset="0"/>
                  <a:buChar char="•"/>
                </a:pPr>
                <a:r>
                  <a:rPr lang="en-US" dirty="0"/>
                  <a:t>For the case when party A arrives third (and there are three factorial ways to arrange the other parties), it joins parties B and C, and together they have 4 members. In this case, the worth increases by 100.</a:t>
                </a:r>
              </a:p>
              <a:p>
                <a:pPr marL="171450" indent="-171450">
                  <a:buFont typeface="Arial" panose="020B0604020202020204" pitchFamily="34" charset="0"/>
                  <a:buChar char="•"/>
                </a:pPr>
                <a:r>
                  <a:rPr lang="en-US" dirty="0"/>
                  <a:t>For the case when party A arrives last, it joins parties B, C, and D, and together they have 4 members. In this case, the worth doesn't change because the bill has already passed.</a:t>
                </a:r>
              </a:p>
              <a:p>
                <a:endParaRPr lang="en-US" dirty="0"/>
              </a:p>
              <a:p>
                <a:r>
                  <a:rPr lang="en-US" dirty="0"/>
                  <a:t>Now, let's calculate </a:t>
                </a:r>
                <a:r>
                  <a:rPr lang="en-US" dirty="0" err="1"/>
                  <a:t>φ_A</a:t>
                </a:r>
                <a:r>
                  <a:rPr lang="en-US" dirty="0"/>
                  <a:t>:</a:t>
                </a:r>
              </a:p>
              <a:p>
                <a:endParaRPr lang="en-US" dirty="0"/>
              </a:p>
              <a:p>
                <a:r>
                  <a:rPr lang="en-US" i="0" dirty="0">
                    <a:latin typeface="Cambria Math" panose="02040503050406030204" pitchFamily="18" charset="0"/>
                  </a:rPr>
                  <a:t>𝜙</a:t>
                </a:r>
                <a:r>
                  <a:rPr lang="en-US" i="0" dirty="0" err="1">
                    <a:latin typeface="Cambria Math" panose="02040503050406030204" pitchFamily="18" charset="0"/>
                  </a:rPr>
                  <a:t>_𝐴</a:t>
                </a:r>
                <a:r>
                  <a:rPr lang="en-US" i="0" dirty="0">
                    <a:latin typeface="Cambria Math" panose="02040503050406030204" pitchFamily="18" charset="0"/>
                  </a:rPr>
                  <a:t>  = </a:t>
                </a:r>
                <a:r>
                  <a:rPr lang="en-US" b="0" i="0" dirty="0">
                    <a:latin typeface="Cambria Math" panose="02040503050406030204" pitchFamily="18" charset="0"/>
                  </a:rPr>
                  <a:t> 1/24 </a:t>
                </a:r>
                <a:r>
                  <a:rPr lang="en-US" i="0" dirty="0">
                    <a:latin typeface="Cambria Math" panose="02040503050406030204" pitchFamily="18" charset="0"/>
                  </a:rPr>
                  <a:t>[0 + 600 + 600 + 0]  = $50 million</a:t>
                </a:r>
                <a:r>
                  <a:rPr lang="en-US" i="0" dirty="0"/>
                  <a:t> </a:t>
                </a:r>
              </a:p>
              <a:p>
                <a:endParaRPr lang="en-US" dirty="0"/>
              </a:p>
              <a:p>
                <a:r>
                  <a:rPr lang="en-US" b="1" dirty="0"/>
                  <a:t>Shapley Value for Party B (</a:t>
                </a:r>
                <a:r>
                  <a:rPr lang="en-US" b="1" dirty="0" err="1"/>
                  <a:t>φ_B</a:t>
                </a:r>
                <a:r>
                  <a:rPr lang="en-US" b="1" dirty="0"/>
                  <a:t>):</a:t>
                </a:r>
              </a:p>
              <a:p>
                <a:endParaRPr lang="en-US" dirty="0"/>
              </a:p>
              <a:p>
                <a:r>
                  <a:rPr lang="en-US" dirty="0"/>
                  <a:t>Using the same formula, we calculate </a:t>
                </a:r>
                <a:r>
                  <a:rPr lang="en-US" b="0" i="0" dirty="0">
                    <a:latin typeface="Cambria Math" panose="02040503050406030204" pitchFamily="18" charset="0"/>
                  </a:rPr>
                  <a:t>𝜙_</a:t>
                </a:r>
                <a:r>
                  <a:rPr lang="en-US" i="0" dirty="0">
                    <a:latin typeface="Cambria Math" panose="02040503050406030204" pitchFamily="18" charset="0"/>
                  </a:rPr>
                  <a:t>𝐵</a:t>
                </a:r>
                <a:r>
                  <a:rPr lang="en-US" dirty="0"/>
                  <a:t>. The key difference is that party B arrives first and party A is the second to arrive. Here's the calculation:</a:t>
                </a:r>
              </a:p>
              <a:p>
                <a:endParaRPr lang="en-US" dirty="0"/>
              </a:p>
              <a:p>
                <a:r>
                  <a:rPr lang="en-US" i="0" dirty="0">
                    <a:latin typeface="Cambria Math" panose="02040503050406030204" pitchFamily="18" charset="0"/>
                  </a:rPr>
                  <a:t>𝜙</a:t>
                </a:r>
                <a:r>
                  <a:rPr lang="en-US" i="0" dirty="0" err="1">
                    <a:latin typeface="Cambria Math" panose="02040503050406030204" pitchFamily="18" charset="0"/>
                  </a:rPr>
                  <a:t>_𝐵</a:t>
                </a:r>
                <a:r>
                  <a:rPr lang="en-US" i="0" dirty="0">
                    <a:latin typeface="Cambria Math" panose="02040503050406030204" pitchFamily="18" charset="0"/>
                  </a:rPr>
                  <a:t>  = </a:t>
                </a:r>
                <a:r>
                  <a:rPr lang="en-US" b="0" i="0" dirty="0">
                    <a:latin typeface="Cambria Math" panose="02040503050406030204" pitchFamily="18" charset="0"/>
                  </a:rPr>
                  <a:t> 1/41 </a:t>
                </a:r>
                <a:r>
                  <a:rPr lang="en-US" i="0" dirty="0">
                    <a:latin typeface="Cambria Math" panose="02040503050406030204" pitchFamily="18" charset="0"/>
                  </a:rPr>
                  <a:t>[3!⋅ 0!(100−100)+ 2⋅ 2!⋅ 1!(100−100)+ 2!⋅ 1!(100−0)+ 1!⋅ 2!(100−0)+ 2⋅ 1!⋅ 2!(0−0)+ 0!⋅ 3!(0−0)]</a:t>
                </a:r>
                <a:r>
                  <a:rPr lang="en-US" dirty="0"/>
                  <a:t> </a:t>
                </a:r>
              </a:p>
              <a:p>
                <a:endParaRPr lang="en-US" dirty="0"/>
              </a:p>
              <a:p>
                <a:r>
                  <a:rPr lang="en-US" dirty="0"/>
                  <a:t>Simplifying step by step:</a:t>
                </a:r>
              </a:p>
              <a:p>
                <a:endParaRPr lang="en-US" dirty="0"/>
              </a:p>
              <a:p>
                <a:pPr marL="171450" indent="-171450">
                  <a:buFont typeface="Arial" panose="020B0604020202020204" pitchFamily="34" charset="0"/>
                  <a:buChar char="•"/>
                </a:pPr>
                <a:r>
                  <a:rPr lang="en-US" dirty="0"/>
                  <a:t>For the case when party B arrives first, the worth doesn't change because it has no other players to join with (0).</a:t>
                </a:r>
              </a:p>
              <a:p>
                <a:pPr marL="171450" indent="-171450">
                  <a:buFont typeface="Arial" panose="020B0604020202020204" pitchFamily="34" charset="0"/>
                  <a:buChar char="•"/>
                </a:pPr>
                <a:r>
                  <a:rPr lang="en-US" dirty="0"/>
                  <a:t>For the case when party B arrives second (and there are two factorial ways to arrange the other parties), it joins party A, and together they have 3 members. In this case, the worth doesn't change because the bill has already passed.</a:t>
                </a:r>
              </a:p>
              <a:p>
                <a:pPr marL="171450" indent="-171450">
                  <a:buFont typeface="Arial" panose="020B0604020202020204" pitchFamily="34" charset="0"/>
                  <a:buChar char="•"/>
                </a:pPr>
                <a:r>
                  <a:rPr lang="en-US" dirty="0"/>
                  <a:t>For the case when party B arrives third, it joins party A and either C or D. There are two possible arrangements (2 factorial) for the other parties. In this case, the worth increases by 100 for each arrangement.</a:t>
                </a:r>
              </a:p>
              <a:p>
                <a:endParaRPr lang="en-US" dirty="0"/>
              </a:p>
              <a:p>
                <a:r>
                  <a:rPr lang="en-US" dirty="0"/>
                  <a:t>Calculating </a:t>
                </a:r>
                <a:r>
                  <a:rPr lang="en-US" b="0" i="0" dirty="0">
                    <a:latin typeface="Cambria Math" panose="02040503050406030204" pitchFamily="18" charset="0"/>
                  </a:rPr>
                  <a:t>𝜙_</a:t>
                </a:r>
                <a:r>
                  <a:rPr lang="en-US" i="0" dirty="0">
                    <a:latin typeface="Cambria Math" panose="02040503050406030204" pitchFamily="18" charset="0"/>
                  </a:rPr>
                  <a:t>𝐵</a:t>
                </a:r>
                <a:r>
                  <a:rPr lang="en-US" dirty="0"/>
                  <a:t>:</a:t>
                </a:r>
              </a:p>
              <a:p>
                <a:endParaRPr lang="en-US" dirty="0"/>
              </a:p>
              <a:p>
                <a:r>
                  <a:rPr lang="en-US" i="0" dirty="0">
                    <a:latin typeface="Cambria Math" panose="02040503050406030204" pitchFamily="18" charset="0"/>
                  </a:rPr>
                  <a:t>𝜙</a:t>
                </a:r>
                <a:r>
                  <a:rPr lang="en-US" i="0" dirty="0" err="1">
                    <a:latin typeface="Cambria Math" panose="02040503050406030204" pitchFamily="18" charset="0"/>
                  </a:rPr>
                  <a:t>_𝐵</a:t>
                </a:r>
                <a:r>
                  <a:rPr lang="en-US" i="0" dirty="0">
                    <a:latin typeface="Cambria Math" panose="02040503050406030204" pitchFamily="18" charset="0"/>
                  </a:rPr>
                  <a:t>  = </a:t>
                </a:r>
                <a:r>
                  <a:rPr lang="en-US" b="0" i="0" dirty="0">
                    <a:latin typeface="Cambria Math" panose="02040503050406030204" pitchFamily="18" charset="0"/>
                  </a:rPr>
                  <a:t> 1/24 </a:t>
                </a:r>
                <a:r>
                  <a:rPr lang="en-US" i="0" dirty="0">
                    <a:latin typeface="Cambria Math" panose="02040503050406030204" pitchFamily="18" charset="0"/>
                  </a:rPr>
                  <a:t>[0 + 0 + 200 + 200 + 0 + 0]  = $16.67 million</a:t>
                </a:r>
                <a:r>
                  <a:rPr lang="en-US" i="0" dirty="0"/>
                  <a:t> </a:t>
                </a:r>
              </a:p>
              <a:p>
                <a:endParaRPr lang="en-US" dirty="0"/>
              </a:p>
              <a:p>
                <a:r>
                  <a:rPr lang="en-US" dirty="0"/>
                  <a:t>So, the Shapley value for Party A is $50 million, and the Shapley value for Party B (as well as Parties C and D) is approximately $16.67 million.</a:t>
                </a:r>
              </a:p>
              <a:p>
                <a:endParaRPr lang="en-US" dirty="0"/>
              </a:p>
              <a:p>
                <a:r>
                  <a:rPr lang="en-US" dirty="0"/>
                  <a:t>The Shapley value vector 𝒙 = </a:t>
                </a:r>
                <a:r>
                  <a:rPr lang="en-US" i="0" dirty="0">
                    <a:latin typeface="Cambria Math" panose="02040503050406030204" pitchFamily="18" charset="0"/>
                  </a:rPr>
                  <a:t>(𝜙_𝐴, 𝜙_𝐵, 𝜙_𝐶, 𝜙_𝐷) </a:t>
                </a:r>
                <a:r>
                  <a:rPr lang="en-US" dirty="0"/>
                  <a:t>= ($50 million, $16.67 million, $16.67 million, $16.67 million).</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25</a:t>
            </a:fld>
            <a:endParaRPr lang="en-MY"/>
          </a:p>
        </p:txBody>
      </p:sp>
    </p:spTree>
    <p:extLst>
      <p:ext uri="{BB962C8B-B14F-4D97-AF65-F5344CB8AC3E}">
        <p14:creationId xmlns:p14="http://schemas.microsoft.com/office/powerpoint/2010/main" val="926264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In the given example, we are computing the Shapley values for a convex game, where three players are involved. Here's the breakdown of the Shapley values using marginal contributions:</a:t>
                </a:r>
              </a:p>
              <a:p>
                <a:endParaRPr lang="en-US" dirty="0"/>
              </a:p>
              <a:p>
                <a:r>
                  <a:rPr lang="en-US" b="1" dirty="0"/>
                  <a:t>Game Characteristics:</a:t>
                </a:r>
              </a:p>
              <a:p>
                <a:pPr marL="171450" indent="-171450">
                  <a:buFont typeface="Arial" panose="020B0604020202020204" pitchFamily="34" charset="0"/>
                  <a:buChar char="•"/>
                </a:pPr>
                <a:r>
                  <a:rPr lang="en-US" dirty="0"/>
                  <a:t>Set of Players: 𝑁 = {1, 2, 3}</a:t>
                </a:r>
              </a:p>
              <a:p>
                <a:pPr marL="171450" indent="-171450">
                  <a:buFont typeface="Arial" panose="020B0604020202020204" pitchFamily="34" charset="0"/>
                  <a:buChar char="•"/>
                </a:pPr>
                <a:r>
                  <a:rPr lang="en-US" dirty="0"/>
                  <a:t>Characteristic Function: 𝑣 (∅) = 0, 𝑣 ({1}) = 𝑣 ({2}) = 𝑣 ({3}) = 1</a:t>
                </a:r>
              </a:p>
              <a:p>
                <a:pPr marL="171450" indent="-171450">
                  <a:buFont typeface="Arial" panose="020B0604020202020204" pitchFamily="34" charset="0"/>
                  <a:buChar char="•"/>
                </a:pPr>
                <a:r>
                  <a:rPr lang="en-US" dirty="0"/>
                  <a:t>Additional Values: 𝑣 ({1, 2}) = 3, 𝑣 ({1, 3}) = 4, 𝑣 ({2, 3}) = 5, 𝑣 ({1, 2, 3}) = 8</a:t>
                </a:r>
              </a:p>
              <a:p>
                <a:endParaRPr lang="en-US" dirty="0"/>
              </a:p>
              <a:p>
                <a:r>
                  <a:rPr lang="en-US" b="1" dirty="0"/>
                  <a:t>Calculation of Shapley Values:</a:t>
                </a:r>
              </a:p>
              <a:p>
                <a:endParaRPr lang="en-US" dirty="0"/>
              </a:p>
              <a:p>
                <a:pPr marL="228600" indent="-228600">
                  <a:buFont typeface="+mj-lt"/>
                  <a:buAutoNum type="arabicPeriod"/>
                </a:pPr>
                <a:r>
                  <a:rPr lang="en-US" dirty="0"/>
                  <a:t>First, we calculate the marginal contributions for each player by considering all possible permutations (orderings) of the players. For each permutation, we calculate the change in worth when a player joins the coalition. The permutations considered are [1, 2, 3], [1, 3, 2], [2, 1, 3], [2, 3, 1], [3, 1, 2], and [3, 2, 1].</a:t>
                </a:r>
              </a:p>
              <a:p>
                <a:pPr marL="228600" indent="-228600">
                  <a:buFont typeface="+mj-lt"/>
                  <a:buAutoNum type="arabicPeriod"/>
                </a:pPr>
                <a:endParaRPr lang="en-US" dirty="0"/>
              </a:p>
              <a:p>
                <a:pPr marL="228600" indent="-228600">
                  <a:buFont typeface="+mj-lt"/>
                  <a:buAutoNum type="arabicPeriod"/>
                </a:pPr>
                <a:r>
                  <a:rPr lang="en-US" dirty="0"/>
                  <a:t>For each permutation, we compute the change in worth for each player and then calculate the sum of these changes for each player.</a:t>
                </a:r>
              </a:p>
              <a:p>
                <a:pPr marL="228600" indent="-228600">
                  <a:buFont typeface="+mj-lt"/>
                  <a:buAutoNum type="arabicPeriod"/>
                </a:pPr>
                <a:endParaRPr lang="en-US" dirty="0"/>
              </a:p>
              <a:p>
                <a:pPr marL="228600" indent="-228600">
                  <a:buFont typeface="+mj-lt"/>
                  <a:buAutoNum type="arabicPeriod"/>
                </a:pPr>
                <a:r>
                  <a:rPr lang="en-US" dirty="0"/>
                  <a:t>The Shapley value for each player is obtained by averaging the sum of their marginal contributions over all possible permutations.</a:t>
                </a:r>
              </a:p>
              <a:p>
                <a:endParaRPr lang="en-US" dirty="0"/>
              </a:p>
              <a:p>
                <a:r>
                  <a:rPr lang="en-US" b="1" dirty="0"/>
                  <a:t>Detailed Calculation for Player 1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𝜙</m:t>
                        </m:r>
                      </m:e>
                      <m:sub>
                        <m:r>
                          <a:rPr lang="en-US" b="1" i="1" dirty="0" smtClean="0">
                            <a:latin typeface="Cambria Math" panose="02040503050406030204" pitchFamily="18" charset="0"/>
                          </a:rPr>
                          <m:t>𝟏</m:t>
                        </m:r>
                      </m:sub>
                    </m:sSub>
                  </m:oMath>
                </a14:m>
                <a:r>
                  <a:rPr lang="en-US" b="1" dirty="0"/>
                  <a:t>):</a:t>
                </a:r>
              </a:p>
              <a:p>
                <a:endParaRPr lang="en-US" dirty="0"/>
              </a:p>
              <a:p>
                <a:pPr marL="171450" indent="-171450">
                  <a:buFont typeface="Arial" panose="020B0604020202020204" pitchFamily="34" charset="0"/>
                  <a:buChar char="•"/>
                </a:pPr>
                <a:r>
                  <a:rPr lang="en-US" dirty="0"/>
                  <a:t>The change in worth when player 1 joins the coalition in permutation [1, 2, 3] is 1.</a:t>
                </a:r>
              </a:p>
              <a:p>
                <a:pPr marL="171450" indent="-171450">
                  <a:buFont typeface="Arial" panose="020B0604020202020204" pitchFamily="34" charset="0"/>
                  <a:buChar char="•"/>
                </a:pPr>
                <a:r>
                  <a:rPr lang="en-US" dirty="0"/>
                  <a:t>The change in worth when player 1 joins the coalition in permutation [1, 3, 2] is 1.</a:t>
                </a:r>
              </a:p>
              <a:p>
                <a:pPr marL="171450" indent="-171450">
                  <a:buFont typeface="Arial" panose="020B0604020202020204" pitchFamily="34" charset="0"/>
                  <a:buChar char="•"/>
                </a:pPr>
                <a:r>
                  <a:rPr lang="en-US" dirty="0"/>
                  <a:t>The change in worth when player 1 joins the coalition in permutation [2, 1, 3] is 2.</a:t>
                </a:r>
              </a:p>
              <a:p>
                <a:pPr marL="171450" indent="-171450">
                  <a:buFont typeface="Arial" panose="020B0604020202020204" pitchFamily="34" charset="0"/>
                  <a:buChar char="•"/>
                </a:pPr>
                <a:r>
                  <a:rPr lang="en-US" dirty="0"/>
                  <a:t>The change in worth when player 1 joins the coalition in permutation [2, 3, 1] is 3.</a:t>
                </a:r>
              </a:p>
              <a:p>
                <a:pPr marL="171450" indent="-171450">
                  <a:buFont typeface="Arial" panose="020B0604020202020204" pitchFamily="34" charset="0"/>
                  <a:buChar char="•"/>
                </a:pPr>
                <a:r>
                  <a:rPr lang="en-US" dirty="0"/>
                  <a:t>The change in worth when player 1 joins the coalition in permutation [3, 1, 2] is 3.</a:t>
                </a:r>
              </a:p>
              <a:p>
                <a:pPr marL="171450" indent="-171450">
                  <a:buFont typeface="Arial" panose="020B0604020202020204" pitchFamily="34" charset="0"/>
                  <a:buChar char="•"/>
                </a:pPr>
                <a:r>
                  <a:rPr lang="en-US" dirty="0"/>
                  <a:t>The change in worth when player 1 joins the coalition in permutation [3, 2, 1] is 3.</a:t>
                </a:r>
              </a:p>
              <a:p>
                <a:endParaRPr lang="en-US" dirty="0"/>
              </a:p>
              <a:p>
                <a:r>
                  <a:rPr lang="en-US" dirty="0"/>
                  <a:t>The sum of changes in worth for player 1 is 1 + 1 + 2 + 3 + 3 + 3 = 13.</a:t>
                </a:r>
              </a:p>
              <a:p>
                <a:endParaRPr lang="en-US" dirty="0"/>
              </a:p>
              <a:p>
                <a:r>
                  <a:rPr lang="en-US" dirty="0"/>
                  <a:t>To get the Shapley value for player 1, we take the average of these sums, which is 13 / 6 = 2.17.</a:t>
                </a:r>
              </a:p>
              <a:p>
                <a:endParaRPr lang="en-US" dirty="0"/>
              </a:p>
              <a:p>
                <a:r>
                  <a:rPr lang="en-US" b="1" dirty="0"/>
                  <a:t>Summary of Shapley Values:</a:t>
                </a:r>
              </a:p>
              <a:p>
                <a:endParaRPr lang="en-US" dirty="0"/>
              </a:p>
              <a:p>
                <a:r>
                  <a:rPr lang="en-US" dirty="0"/>
                  <a:t>The Shapley values for each player are as follows:</a:t>
                </a:r>
              </a:p>
              <a:p>
                <a:pPr marL="171450" indent="-171450">
                  <a:buFont typeface="Arial" panose="020B0604020202020204" pitchFamily="34" charset="0"/>
                  <a:buChar char="•"/>
                </a:pPr>
                <a:r>
                  <a:rPr lang="en-US" dirty="0"/>
                  <a:t>Player 1: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oMath>
                </a14:m>
                <a:r>
                  <a:rPr lang="en-US" dirty="0"/>
                  <a:t>= 2.17</a:t>
                </a:r>
              </a:p>
              <a:p>
                <a:pPr marL="171450" indent="-171450">
                  <a:buFont typeface="Arial" panose="020B0604020202020204" pitchFamily="34" charset="0"/>
                  <a:buChar char="•"/>
                </a:pPr>
                <a:r>
                  <a:rPr lang="en-US" dirty="0"/>
                  <a:t>Player 2: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2</m:t>
                        </m:r>
                      </m:sub>
                    </m:sSub>
                    <m:r>
                      <a:rPr lang="en-US" i="1" dirty="0" smtClean="0">
                        <a:latin typeface="Cambria Math" panose="02040503050406030204" pitchFamily="18" charset="0"/>
                      </a:rPr>
                      <m:t> </m:t>
                    </m:r>
                  </m:oMath>
                </a14:m>
                <a:r>
                  <a:rPr lang="en-US" dirty="0"/>
                  <a:t>= 2.67</a:t>
                </a:r>
              </a:p>
              <a:p>
                <a:pPr marL="171450" indent="-171450">
                  <a:buFont typeface="Arial" panose="020B0604020202020204" pitchFamily="34" charset="0"/>
                  <a:buChar char="•"/>
                </a:pPr>
                <a:r>
                  <a:rPr lang="en-US" dirty="0"/>
                  <a:t>Player 3: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𝜙</m:t>
                        </m:r>
                      </m:e>
                      <m:sub>
                        <m:r>
                          <a:rPr lang="en-US" i="1" dirty="0" smtClean="0">
                            <a:latin typeface="Cambria Math" panose="02040503050406030204" pitchFamily="18" charset="0"/>
                          </a:rPr>
                          <m:t>3</m:t>
                        </m:r>
                      </m:sub>
                    </m:sSub>
                    <m:r>
                      <a:rPr lang="en-US" i="1" dirty="0" smtClean="0">
                        <a:latin typeface="Cambria Math" panose="02040503050406030204" pitchFamily="18" charset="0"/>
                      </a:rPr>
                      <m:t> </m:t>
                    </m:r>
                  </m:oMath>
                </a14:m>
                <a:r>
                  <a:rPr lang="en-US" dirty="0"/>
                  <a:t>= 3.17</a:t>
                </a:r>
              </a:p>
              <a:p>
                <a:endParaRPr lang="en-US" dirty="0"/>
              </a:p>
              <a:p>
                <a:r>
                  <a:rPr lang="en-US" dirty="0"/>
                  <a:t>These Shapley values represent the fair distribution of the total worth of the coalition game among the players.</a:t>
                </a:r>
                <a:endParaRPr lang="en-MY" dirty="0"/>
              </a:p>
            </p:txBody>
          </p:sp>
        </mc:Choice>
        <mc:Fallback xmlns="">
          <p:sp>
            <p:nvSpPr>
              <p:cNvPr id="3" name="Notes Placeholder 2"/>
              <p:cNvSpPr>
                <a:spLocks noGrp="1"/>
              </p:cNvSpPr>
              <p:nvPr>
                <p:ph type="body" idx="1"/>
              </p:nvPr>
            </p:nvSpPr>
            <p:spPr/>
            <p:txBody>
              <a:bodyPr/>
              <a:lstStyle/>
              <a:p>
                <a:r>
                  <a:rPr lang="en-US" dirty="0"/>
                  <a:t>In the given example, we are computing the Shapley values for a convex game, where three players are involved. Here's the breakdown of the Shapley values using marginal contributions:</a:t>
                </a:r>
              </a:p>
              <a:p>
                <a:endParaRPr lang="en-US" dirty="0"/>
              </a:p>
              <a:p>
                <a:r>
                  <a:rPr lang="en-US" b="1" dirty="0"/>
                  <a:t>Game Characteristics:</a:t>
                </a:r>
              </a:p>
              <a:p>
                <a:pPr marL="171450" indent="-171450">
                  <a:buFont typeface="Arial" panose="020B0604020202020204" pitchFamily="34" charset="0"/>
                  <a:buChar char="•"/>
                </a:pPr>
                <a:r>
                  <a:rPr lang="en-US" dirty="0"/>
                  <a:t>Set of Players: 𝑁 = {1, 2, 3}</a:t>
                </a:r>
              </a:p>
              <a:p>
                <a:pPr marL="171450" indent="-171450">
                  <a:buFont typeface="Arial" panose="020B0604020202020204" pitchFamily="34" charset="0"/>
                  <a:buChar char="•"/>
                </a:pPr>
                <a:r>
                  <a:rPr lang="en-US" dirty="0"/>
                  <a:t>Characteristic Function: 𝑣 (∅) = 0, 𝑣 ({1}) = 𝑣 ({2}) = 𝑣 ({3}) = 1</a:t>
                </a:r>
              </a:p>
              <a:p>
                <a:pPr marL="171450" indent="-171450">
                  <a:buFont typeface="Arial" panose="020B0604020202020204" pitchFamily="34" charset="0"/>
                  <a:buChar char="•"/>
                </a:pPr>
                <a:r>
                  <a:rPr lang="en-US" dirty="0"/>
                  <a:t>Additional Values: 𝑣 ({1, 2}) = 3, 𝑣 ({1, 3}) = 4, 𝑣 ({2, 3}) = 5, 𝑣 ({1, 2, 3}) = 8</a:t>
                </a:r>
              </a:p>
              <a:p>
                <a:endParaRPr lang="en-US" dirty="0"/>
              </a:p>
              <a:p>
                <a:r>
                  <a:rPr lang="en-US" b="1" dirty="0"/>
                  <a:t>Calculation of Shapley Values:</a:t>
                </a:r>
              </a:p>
              <a:p>
                <a:endParaRPr lang="en-US" dirty="0"/>
              </a:p>
              <a:p>
                <a:pPr marL="228600" indent="-228600">
                  <a:buFont typeface="+mj-lt"/>
                  <a:buAutoNum type="arabicPeriod"/>
                </a:pPr>
                <a:r>
                  <a:rPr lang="en-US" dirty="0"/>
                  <a:t>First, we calculate the marginal contributions for each player by considering all possible permutations (orderings) of the players. For each permutation, we calculate the change in worth when a player joins the coalition. The permutations considered are [1, 2, 3], [1, 3, 2], [2, 1, 3], [2, 3, 1], [3, 1, 2], and [3, 2, 1].</a:t>
                </a:r>
              </a:p>
              <a:p>
                <a:pPr marL="228600" indent="-228600">
                  <a:buFont typeface="+mj-lt"/>
                  <a:buAutoNum type="arabicPeriod"/>
                </a:pPr>
                <a:endParaRPr lang="en-US" dirty="0"/>
              </a:p>
              <a:p>
                <a:pPr marL="228600" indent="-228600">
                  <a:buFont typeface="+mj-lt"/>
                  <a:buAutoNum type="arabicPeriod"/>
                </a:pPr>
                <a:r>
                  <a:rPr lang="en-US" dirty="0"/>
                  <a:t>For each permutation, we compute the change in worth for each player and then calculate the sum of these changes for each player.</a:t>
                </a:r>
              </a:p>
              <a:p>
                <a:pPr marL="228600" indent="-228600">
                  <a:buFont typeface="+mj-lt"/>
                  <a:buAutoNum type="arabicPeriod"/>
                </a:pPr>
                <a:endParaRPr lang="en-US" dirty="0"/>
              </a:p>
              <a:p>
                <a:pPr marL="228600" indent="-228600">
                  <a:buFont typeface="+mj-lt"/>
                  <a:buAutoNum type="arabicPeriod"/>
                </a:pPr>
                <a:r>
                  <a:rPr lang="en-US" dirty="0"/>
                  <a:t>The Shapley value for each player is obtained by averaging the sum of their marginal contributions over all possible permutations.</a:t>
                </a:r>
              </a:p>
              <a:p>
                <a:endParaRPr lang="en-US" dirty="0"/>
              </a:p>
              <a:p>
                <a:r>
                  <a:rPr lang="en-US" b="1" dirty="0"/>
                  <a:t>Detailed Calculation for Player 1 (𝜙_1):</a:t>
                </a:r>
              </a:p>
              <a:p>
                <a:endParaRPr lang="en-US" dirty="0"/>
              </a:p>
              <a:p>
                <a:pPr marL="171450" indent="-171450">
                  <a:buFont typeface="Arial" panose="020B0604020202020204" pitchFamily="34" charset="0"/>
                  <a:buChar char="•"/>
                </a:pPr>
                <a:r>
                  <a:rPr lang="en-US" dirty="0"/>
                  <a:t>The change in worth when player 1 joins the coalition in permutation [1, 2, 3] is 1.</a:t>
                </a:r>
              </a:p>
              <a:p>
                <a:pPr marL="171450" indent="-171450">
                  <a:buFont typeface="Arial" panose="020B0604020202020204" pitchFamily="34" charset="0"/>
                  <a:buChar char="•"/>
                </a:pPr>
                <a:r>
                  <a:rPr lang="en-US" dirty="0"/>
                  <a:t>The change in worth when player 1 joins the coalition in permutation [1, 3, 2] is 3.</a:t>
                </a:r>
              </a:p>
              <a:p>
                <a:pPr marL="171450" indent="-171450">
                  <a:buFont typeface="Arial" panose="020B0604020202020204" pitchFamily="34" charset="0"/>
                  <a:buChar char="•"/>
                </a:pPr>
                <a:r>
                  <a:rPr lang="en-US" dirty="0"/>
                  <a:t>The change in worth when player 1 joins the coalition in permutation [2, 1, 3] is 2.</a:t>
                </a:r>
              </a:p>
              <a:p>
                <a:pPr marL="171450" indent="-171450">
                  <a:buFont typeface="Arial" panose="020B0604020202020204" pitchFamily="34" charset="0"/>
                  <a:buChar char="•"/>
                </a:pPr>
                <a:r>
                  <a:rPr lang="en-US" dirty="0"/>
                  <a:t>The change in worth when player 1 joins the coalition in permutation [2, 3, 1] is 3.</a:t>
                </a:r>
              </a:p>
              <a:p>
                <a:pPr marL="171450" indent="-171450">
                  <a:buFont typeface="Arial" panose="020B0604020202020204" pitchFamily="34" charset="0"/>
                  <a:buChar char="•"/>
                </a:pPr>
                <a:r>
                  <a:rPr lang="en-US" dirty="0"/>
                  <a:t>The change in worth when player 1 joins the coalition in permutation [3, 1, 2] is 3.</a:t>
                </a:r>
              </a:p>
              <a:p>
                <a:pPr marL="171450" indent="-171450">
                  <a:buFont typeface="Arial" panose="020B0604020202020204" pitchFamily="34" charset="0"/>
                  <a:buChar char="•"/>
                </a:pPr>
                <a:r>
                  <a:rPr lang="en-US" dirty="0"/>
                  <a:t>The change in worth when player 1 joins the coalition in permutation [3, 2, 1] is 3.</a:t>
                </a:r>
              </a:p>
              <a:p>
                <a:endParaRPr lang="en-US" dirty="0"/>
              </a:p>
              <a:p>
                <a:r>
                  <a:rPr lang="en-US" dirty="0"/>
                  <a:t>The sum of changes in worth for player 1 is 1 + 3 + 2 + 3 + 3 + 3 = 15.</a:t>
                </a:r>
              </a:p>
              <a:p>
                <a:endParaRPr lang="en-US" dirty="0"/>
              </a:p>
              <a:p>
                <a:r>
                  <a:rPr lang="en-US" dirty="0"/>
                  <a:t>To get the Shapley value for player 1, we take the average of these sums, which is 15 / 6 = 2.5.</a:t>
                </a:r>
              </a:p>
              <a:p>
                <a:endParaRPr lang="en-US" dirty="0"/>
              </a:p>
              <a:p>
                <a:r>
                  <a:rPr lang="en-US" b="1" dirty="0"/>
                  <a:t>Summary of Shapley Values:</a:t>
                </a:r>
              </a:p>
              <a:p>
                <a:endParaRPr lang="en-US" dirty="0"/>
              </a:p>
              <a:p>
                <a:r>
                  <a:rPr lang="en-US" dirty="0"/>
                  <a:t>The Shapley values for each player are as follows:</a:t>
                </a:r>
              </a:p>
              <a:p>
                <a:pPr marL="171450" indent="-171450">
                  <a:buFont typeface="Arial" panose="020B0604020202020204" pitchFamily="34" charset="0"/>
                  <a:buChar char="•"/>
                </a:pPr>
                <a:r>
                  <a:rPr lang="en-US" dirty="0"/>
                  <a:t>Player 1: </a:t>
                </a:r>
                <a:r>
                  <a:rPr lang="en-US" i="0" dirty="0">
                    <a:latin typeface="Cambria Math" panose="02040503050406030204" pitchFamily="18" charset="0"/>
                  </a:rPr>
                  <a:t>𝜙_1  </a:t>
                </a:r>
                <a:r>
                  <a:rPr lang="en-US" dirty="0"/>
                  <a:t>= 2.17</a:t>
                </a:r>
              </a:p>
              <a:p>
                <a:pPr marL="171450" indent="-171450">
                  <a:buFont typeface="Arial" panose="020B0604020202020204" pitchFamily="34" charset="0"/>
                  <a:buChar char="•"/>
                </a:pPr>
                <a:r>
                  <a:rPr lang="en-US" dirty="0"/>
                  <a:t>Player 2: </a:t>
                </a:r>
                <a:r>
                  <a:rPr lang="en-US" i="0" dirty="0">
                    <a:latin typeface="Cambria Math" panose="02040503050406030204" pitchFamily="18" charset="0"/>
                  </a:rPr>
                  <a:t>𝜙_2  </a:t>
                </a:r>
                <a:r>
                  <a:rPr lang="en-US" dirty="0"/>
                  <a:t>= 2.67</a:t>
                </a:r>
              </a:p>
              <a:p>
                <a:pPr marL="171450" indent="-171450">
                  <a:buFont typeface="Arial" panose="020B0604020202020204" pitchFamily="34" charset="0"/>
                  <a:buChar char="•"/>
                </a:pPr>
                <a:r>
                  <a:rPr lang="en-US" dirty="0"/>
                  <a:t>Player 3: </a:t>
                </a:r>
                <a:r>
                  <a:rPr lang="en-US" i="0" dirty="0">
                    <a:latin typeface="Cambria Math" panose="02040503050406030204" pitchFamily="18" charset="0"/>
                  </a:rPr>
                  <a:t>𝜙_3  </a:t>
                </a:r>
                <a:r>
                  <a:rPr lang="en-US" dirty="0"/>
                  <a:t>= 3.17</a:t>
                </a:r>
              </a:p>
              <a:p>
                <a:endParaRPr lang="en-US" dirty="0"/>
              </a:p>
              <a:p>
                <a:r>
                  <a:rPr lang="en-US" dirty="0"/>
                  <a:t>These Shapley values represent the fair distribution of the total worth of the coalition game among the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26</a:t>
            </a:fld>
            <a:endParaRPr lang="en-MY"/>
          </a:p>
        </p:txBody>
      </p:sp>
    </p:spTree>
    <p:extLst>
      <p:ext uri="{BB962C8B-B14F-4D97-AF65-F5344CB8AC3E}">
        <p14:creationId xmlns:p14="http://schemas.microsoft.com/office/powerpoint/2010/main" val="1634893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To compute the Shapley values of the games in the slides, you can follow these steps:</a:t>
                </a:r>
              </a:p>
              <a:p>
                <a:endParaRPr lang="en-US" dirty="0"/>
              </a:p>
              <a:p>
                <a:pPr marL="228600" indent="-228600">
                  <a:buFont typeface="+mj-lt"/>
                  <a:buAutoNum type="arabicPeriod"/>
                </a:pPr>
                <a:r>
                  <a:rPr lang="en-US" b="1" dirty="0"/>
                  <a:t>Marginal Contributions Method:</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each player 𝑖, calculate their marginal contributions for all possible permutations of players in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Average these marginal contributions to determine the Shapley value for each player.</a:t>
                </a:r>
              </a:p>
              <a:p>
                <a:endParaRPr lang="en-US" dirty="0"/>
              </a:p>
              <a:p>
                <a:pPr marL="228600" indent="-228600">
                  <a:buFont typeface="+mj-lt"/>
                  <a:buAutoNum type="arabicPeriod" startAt="2"/>
                </a:pPr>
                <a:r>
                  <a:rPr lang="en-US" b="1" dirty="0"/>
                  <a:t>Formula 𝜙_𝑖 (𝑁, 𝑣):</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Use the Shapley value formula:</a:t>
                </a:r>
              </a:p>
              <a:p>
                <a:pPr marL="38100" marR="30480">
                  <a:lnSpc>
                    <a:spcPct val="102600"/>
                  </a:lnSpc>
                  <a:spcBef>
                    <a:spcPts val="55"/>
                  </a:spcBef>
                </a:pPr>
                <a:r>
                  <a:rPr lang="en-US" dirty="0"/>
                  <a:t>                </a:t>
                </a:r>
                <a14:m>
                  <m:oMath xmlns:m="http://schemas.openxmlformats.org/officeDocument/2006/math">
                    <m:sSub>
                      <m:sSubPr>
                        <m:ctrlPr>
                          <a:rPr lang="en-MY" sz="1200" b="0" i="1" smtClean="0">
                            <a:latin typeface="Cambria Math" panose="02040503050406030204" pitchFamily="18" charset="0"/>
                          </a:rPr>
                        </m:ctrlPr>
                      </m:sSubPr>
                      <m:e>
                        <m:r>
                          <a:rPr lang="en-MY" sz="1200" b="0" i="1" smtClean="0">
                            <a:latin typeface="Cambria Math" panose="02040503050406030204" pitchFamily="18" charset="0"/>
                          </a:rPr>
                          <m:t>𝜙</m:t>
                        </m:r>
                      </m:e>
                      <m:sub>
                        <m:r>
                          <a:rPr lang="en-MY" sz="1200" b="0" i="1" smtClean="0">
                            <a:latin typeface="Cambria Math" panose="02040503050406030204" pitchFamily="18" charset="0"/>
                          </a:rPr>
                          <m:t>𝑖</m:t>
                        </m:r>
                      </m:sub>
                    </m:sSub>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r>
                          <a:rPr lang="en-MY" sz="1200" b="0" i="1" smtClean="0">
                            <a:latin typeface="Cambria Math" panose="02040503050406030204" pitchFamily="18" charset="0"/>
                          </a:rPr>
                          <m:t>,</m:t>
                        </m:r>
                        <m:r>
                          <a:rPr lang="en-MY" sz="1200" b="0" i="1" smtClean="0">
                            <a:latin typeface="Cambria Math" panose="02040503050406030204" pitchFamily="18" charset="0"/>
                          </a:rPr>
                          <m:t>𝑣</m:t>
                        </m:r>
                      </m:e>
                    </m:d>
                    <m:r>
                      <a:rPr lang="en-MY" sz="1200" b="0" i="1" smtClean="0">
                        <a:latin typeface="Cambria Math" panose="02040503050406030204" pitchFamily="18" charset="0"/>
                      </a:rPr>
                      <m:t>=</m:t>
                    </m:r>
                    <m:f>
                      <m:fPr>
                        <m:ctrlPr>
                          <a:rPr lang="en-MY" sz="1200" b="0" i="1" smtClean="0">
                            <a:latin typeface="Cambria Math" panose="02040503050406030204" pitchFamily="18" charset="0"/>
                          </a:rPr>
                        </m:ctrlPr>
                      </m:fPr>
                      <m:num>
                        <m:r>
                          <a:rPr lang="en-MY" sz="1200" b="0" i="1" smtClean="0">
                            <a:latin typeface="Cambria Math" panose="02040503050406030204" pitchFamily="18" charset="0"/>
                          </a:rPr>
                          <m:t>1</m:t>
                        </m:r>
                      </m:num>
                      <m:den>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en>
                    </m:f>
                    <m:nary>
                      <m:naryPr>
                        <m:chr m:val="∑"/>
                        <m:limLoc m:val="subSup"/>
                        <m:supHide m:val="on"/>
                        <m:ctrlPr>
                          <a:rPr lang="en-MY" sz="1200" b="0" i="1" smtClean="0">
                            <a:latin typeface="Cambria Math" panose="02040503050406030204" pitchFamily="18" charset="0"/>
                          </a:rPr>
                        </m:ctrlPr>
                      </m:naryPr>
                      <m:sub>
                        <m:r>
                          <m:rPr>
                            <m:brk m:alnAt="9"/>
                          </m:rP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r>
                          <a:rPr lang="en-MY" sz="1200" b="0" i="1" smtClean="0">
                            <a:latin typeface="Cambria Math" panose="02040503050406030204" pitchFamily="18" charset="0"/>
                            <a:ea typeface="Cambria Math" panose="02040503050406030204" pitchFamily="18" charset="0"/>
                          </a:rPr>
                          <m:t>𝑁</m:t>
                        </m:r>
                        <m:r>
                          <m:rPr>
                            <m:lit/>
                            <m:brk m:alnAt="9"/>
                          </m:rPr>
                          <a:rPr lang="en-MY" sz="1200" b="0" i="1" smtClean="0">
                            <a:latin typeface="Cambria Math" panose="02040503050406030204" pitchFamily="18" charset="0"/>
                            <a:ea typeface="Cambria Math" panose="02040503050406030204" pitchFamily="18" charset="0"/>
                          </a:rPr>
                          <m:t>{</m:t>
                        </m:r>
                        <m:r>
                          <m:rPr>
                            <m:brk m:alnAt="9"/>
                          </m:rPr>
                          <a:rPr lang="en-MY" sz="1200" b="0" i="1" smtClean="0">
                            <a:latin typeface="Cambria Math" panose="02040503050406030204" pitchFamily="18" charset="0"/>
                            <a:ea typeface="Cambria Math" panose="02040503050406030204" pitchFamily="18" charset="0"/>
                          </a:rPr>
                          <m:t>𝑖</m:t>
                        </m:r>
                        <m:r>
                          <a:rPr lang="en-MY" sz="1200" b="0" i="1" smtClean="0">
                            <a:latin typeface="Cambria Math" panose="02040503050406030204" pitchFamily="18" charset="0"/>
                            <a:ea typeface="Cambria Math" panose="02040503050406030204" pitchFamily="18" charset="0"/>
                          </a:rPr>
                          <m:t>}</m:t>
                        </m:r>
                      </m:sub>
                      <m:sup/>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d>
                          <m:dPr>
                            <m:ctrlPr>
                              <a:rPr lang="en-MY" sz="1200" b="0" i="1" smtClean="0">
                                <a:latin typeface="Cambria Math" panose="02040503050406030204" pitchFamily="18" charset="0"/>
                              </a:rPr>
                            </m:ctrlPr>
                          </m:dPr>
                          <m:e>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𝑁</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r>
                              <a:rPr lang="en-MY" sz="1200" b="0" i="1" smtClean="0">
                                <a:latin typeface="Cambria Math" panose="02040503050406030204" pitchFamily="18" charset="0"/>
                              </a:rPr>
                              <m:t>−</m:t>
                            </m:r>
                            <m:r>
                              <a:rPr lang="en-MY" sz="1200" b="0" i="1" smtClean="0">
                                <a:latin typeface="Cambria Math" panose="02040503050406030204" pitchFamily="18" charset="0"/>
                              </a:rPr>
                              <m:t>1</m:t>
                            </m:r>
                          </m:e>
                        </m:d>
                        <m:r>
                          <a:rPr lang="en-MY" sz="1200" b="0" i="1" smtClean="0">
                            <a:latin typeface="Cambria Math" panose="02040503050406030204" pitchFamily="18" charset="0"/>
                          </a:rPr>
                          <m:t>!∗</m:t>
                        </m:r>
                        <m:d>
                          <m:dPr>
                            <m:begChr m:val="["/>
                            <m:endChr m:val="]"/>
                            <m:ctrlPr>
                              <a:rPr lang="en-MY" sz="1200" b="0" i="1" smtClean="0">
                                <a:latin typeface="Cambria Math" panose="02040503050406030204" pitchFamily="18" charset="0"/>
                              </a:rPr>
                            </m:ctrlPr>
                          </m:dPr>
                          <m:e>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r>
                                  <a:rPr lang="en-MY" sz="1200" b="0" i="1" smtClean="0">
                                    <a:latin typeface="Cambria Math" panose="02040503050406030204" pitchFamily="18" charset="0"/>
                                    <a:ea typeface="Cambria Math" panose="02040503050406030204" pitchFamily="18" charset="0"/>
                                  </a:rPr>
                                  <m:t>∪</m:t>
                                </m:r>
                                <m:d>
                                  <m:dPr>
                                    <m:begChr m:val="{"/>
                                    <m:endChr m:val="}"/>
                                    <m:ctrlPr>
                                      <a:rPr lang="en-MY" sz="1200" b="0" i="1" smtClean="0">
                                        <a:latin typeface="Cambria Math" panose="02040503050406030204" pitchFamily="18" charset="0"/>
                                        <a:ea typeface="Cambria Math" panose="02040503050406030204" pitchFamily="18" charset="0"/>
                                      </a:rPr>
                                    </m:ctrlPr>
                                  </m:dPr>
                                  <m:e>
                                    <m:r>
                                      <a:rPr lang="en-MY" sz="1200" b="0" i="1" smtClean="0">
                                        <a:latin typeface="Cambria Math" panose="02040503050406030204" pitchFamily="18" charset="0"/>
                                        <a:ea typeface="Cambria Math" panose="02040503050406030204" pitchFamily="18" charset="0"/>
                                      </a:rPr>
                                      <m:t>𝑖</m:t>
                                    </m:r>
                                  </m:e>
                                </m:d>
                              </m:e>
                            </m:d>
                            <m:r>
                              <a:rPr lang="en-MY" sz="1200" b="0" i="1" smtClean="0">
                                <a:latin typeface="Cambria Math" panose="02040503050406030204" pitchFamily="18" charset="0"/>
                              </a:rPr>
                              <m:t>−</m:t>
                            </m:r>
                            <m:r>
                              <a:rPr lang="en-MY" sz="1200" b="0" i="1" smtClean="0">
                                <a:latin typeface="Cambria Math" panose="02040503050406030204" pitchFamily="18" charset="0"/>
                              </a:rPr>
                              <m:t>𝑣</m:t>
                            </m:r>
                            <m:d>
                              <m:dPr>
                                <m:ctrlPr>
                                  <a:rPr lang="en-MY" sz="1200" b="0" i="1" smtClean="0">
                                    <a:latin typeface="Cambria Math" panose="02040503050406030204" pitchFamily="18" charset="0"/>
                                  </a:rPr>
                                </m:ctrlPr>
                              </m:dPr>
                              <m:e>
                                <m:r>
                                  <a:rPr lang="en-MY" sz="1200" b="0" i="1" smtClean="0">
                                    <a:latin typeface="Cambria Math" panose="02040503050406030204" pitchFamily="18" charset="0"/>
                                  </a:rPr>
                                  <m:t>𝐶</m:t>
                                </m:r>
                              </m:e>
                            </m:d>
                          </m:e>
                        </m:d>
                      </m:e>
                    </m:nary>
                  </m:oMath>
                </a14:m>
                <a:endParaRPr lang="en-MY" sz="1200" dirty="0"/>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Calculate the Shapley value for each player 𝑖 using this formula.</a:t>
                </a:r>
              </a:p>
              <a:p>
                <a:endParaRPr lang="en-US" dirty="0"/>
              </a:p>
              <a:p>
                <a:pPr marL="228600" indent="-228600">
                  <a:buFont typeface="+mj-lt"/>
                  <a:buAutoNum type="arabicPeriod" startAt="3"/>
                </a:pPr>
                <a:r>
                  <a:rPr lang="en-US" dirty="0"/>
                  <a:t>Online Tools:</a:t>
                </a:r>
              </a:p>
              <a:p>
                <a:pPr marL="628650" lvl="1" indent="-171450">
                  <a:buFont typeface="Arial" panose="020B0604020202020204" pitchFamily="34" charset="0"/>
                  <a:buChar char="•"/>
                </a:pPr>
                <a:r>
                  <a:rPr lang="en-US" dirty="0"/>
                  <a:t>You can use online Shapley value calculators like http://shapleyvalue.com/ to compute the Shapley values for the given characteristic functions. These tools often provide a user-friendly interface for entering the characteristic functions and obtaining the Shapley values.</a:t>
                </a:r>
              </a:p>
              <a:p>
                <a:endParaRPr lang="en-US" dirty="0"/>
              </a:p>
              <a:p>
                <a:r>
                  <a:rPr lang="en-US" dirty="0"/>
                  <a:t>It's important to ensure that the characteristic functions (𝑣) for each game are correctly defined, and then apply the chosen method to calculate the Shapley values.</a:t>
                </a:r>
                <a:endParaRPr lang="en-MY" dirty="0"/>
              </a:p>
            </p:txBody>
          </p:sp>
        </mc:Choice>
        <mc:Fallback xmlns="">
          <p:sp>
            <p:nvSpPr>
              <p:cNvPr id="3" name="Notes Placeholder 2"/>
              <p:cNvSpPr>
                <a:spLocks noGrp="1"/>
              </p:cNvSpPr>
              <p:nvPr>
                <p:ph type="body" idx="1"/>
              </p:nvPr>
            </p:nvSpPr>
            <p:spPr/>
            <p:txBody>
              <a:bodyPr/>
              <a:lstStyle/>
              <a:p>
                <a:r>
                  <a:rPr lang="en-US" dirty="0"/>
                  <a:t>To compute the Shapley values of the games in the slides, you can follow these steps:</a:t>
                </a:r>
              </a:p>
              <a:p>
                <a:endParaRPr lang="en-US" dirty="0"/>
              </a:p>
              <a:p>
                <a:pPr marL="228600" indent="-228600">
                  <a:buFont typeface="+mj-lt"/>
                  <a:buAutoNum type="arabicPeriod"/>
                </a:pPr>
                <a:r>
                  <a:rPr lang="en-US" b="1" dirty="0"/>
                  <a:t>Marginal Contributions Method:</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For each player 𝑖, calculate their marginal contributions for all possible permutations of players in 𝑁.</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Average these marginal contributions to determine the Shapley value for each player.</a:t>
                </a:r>
              </a:p>
              <a:p>
                <a:endParaRPr lang="en-US" dirty="0"/>
              </a:p>
              <a:p>
                <a:pPr marL="228600" indent="-228600">
                  <a:buFont typeface="+mj-lt"/>
                  <a:buAutoNum type="arabicPeriod" startAt="2"/>
                </a:pPr>
                <a:r>
                  <a:rPr lang="en-US" b="1" dirty="0"/>
                  <a:t>Formula 𝜙_𝑖 (𝑁, 𝑣):</a:t>
                </a:r>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Use the Shapley value formula:</a:t>
                </a:r>
              </a:p>
              <a:p>
                <a:pPr marL="38100" marR="30480">
                  <a:lnSpc>
                    <a:spcPct val="102600"/>
                  </a:lnSpc>
                  <a:spcBef>
                    <a:spcPts val="55"/>
                  </a:spcBef>
                </a:pPr>
                <a:r>
                  <a:rPr lang="en-US" dirty="0"/>
                  <a:t>                </a:t>
                </a:r>
                <a:r>
                  <a:rPr lang="en-MY" sz="1200" b="0" i="0">
                    <a:latin typeface="Cambria Math" panose="02040503050406030204" pitchFamily="18" charset="0"/>
                  </a:rPr>
                  <a:t>𝜙_𝑖 (𝑁,𝑣)=1/|𝑁|! ∑2</a:t>
                </a:r>
                <a:r>
                  <a:rPr lang="en-MY" sz="1200" b="0" i="0">
                    <a:latin typeface="Cambria Math" panose="02040503050406030204" pitchFamily="18" charset="0"/>
                    <a:ea typeface="Cambria Math" panose="02040503050406030204" pitchFamily="18" charset="0"/>
                  </a:rPr>
                  <a:t>_(</a:t>
                </a:r>
                <a:r>
                  <a:rPr lang="en-MY" sz="1200" b="0" i="0">
                    <a:latin typeface="Cambria Math" panose="02040503050406030204" pitchFamily="18" charset="0"/>
                  </a:rPr>
                  <a:t>𝐶</a:t>
                </a:r>
                <a:r>
                  <a:rPr lang="en-MY" sz="1200" b="0" i="0">
                    <a:latin typeface="Cambria Math" panose="02040503050406030204" pitchFamily="18" charset="0"/>
                    <a:ea typeface="Cambria Math" panose="02040503050406030204" pitchFamily="18" charset="0"/>
                  </a:rPr>
                  <a:t>⊆𝑁\{𝑖})▒〖|</a:t>
                </a:r>
                <a:r>
                  <a:rPr lang="en-MY" sz="1200" b="0" i="0">
                    <a:latin typeface="Cambria Math" panose="02040503050406030204" pitchFamily="18" charset="0"/>
                  </a:rPr>
                  <a:t>𝐶|!∗(|𝑁|−|𝐶|−1)!∗[𝑣(𝐶</a:t>
                </a:r>
                <a:r>
                  <a:rPr lang="en-MY" sz="1200" b="0" i="0">
                    <a:latin typeface="Cambria Math" panose="02040503050406030204" pitchFamily="18" charset="0"/>
                    <a:ea typeface="Cambria Math" panose="02040503050406030204" pitchFamily="18" charset="0"/>
                  </a:rPr>
                  <a:t>∪{𝑖})</a:t>
                </a:r>
                <a:r>
                  <a:rPr lang="en-MY" sz="1200" b="0" i="0">
                    <a:latin typeface="Cambria Math" panose="02040503050406030204" pitchFamily="18" charset="0"/>
                  </a:rPr>
                  <a:t>−𝑣(𝐶)] 〗</a:t>
                </a:r>
                <a:endParaRPr lang="en-MY" sz="1200" dirty="0"/>
              </a:p>
              <a:p>
                <a:pPr marL="628650" lvl="1" indent="-171450" algn="l" defTabSz="914400" rtl="0" eaLnBrk="1" latinLnBrk="0" hangingPunct="1">
                  <a:buFont typeface="Arial" panose="020B0604020202020204" pitchFamily="34" charset="0"/>
                  <a:buChar char="•"/>
                </a:pPr>
                <a:r>
                  <a:rPr lang="en-US" sz="1200" kern="1200" dirty="0">
                    <a:solidFill>
                      <a:schemeClr val="tx1"/>
                    </a:solidFill>
                    <a:latin typeface="+mn-lt"/>
                    <a:ea typeface="+mn-ea"/>
                    <a:cs typeface="+mn-cs"/>
                  </a:rPr>
                  <a:t>Calculate the Shapley value for each player 𝑖 using this formula.</a:t>
                </a:r>
              </a:p>
              <a:p>
                <a:endParaRPr lang="en-US" dirty="0"/>
              </a:p>
              <a:p>
                <a:pPr marL="228600" indent="-228600">
                  <a:buFont typeface="+mj-lt"/>
                  <a:buAutoNum type="arabicPeriod" startAt="3"/>
                </a:pPr>
                <a:r>
                  <a:rPr lang="en-US" dirty="0"/>
                  <a:t>Online Tools:</a:t>
                </a:r>
              </a:p>
              <a:p>
                <a:pPr marL="628650" lvl="1" indent="-171450">
                  <a:buFont typeface="Arial" panose="020B0604020202020204" pitchFamily="34" charset="0"/>
                  <a:buChar char="•"/>
                </a:pPr>
                <a:r>
                  <a:rPr lang="en-US" dirty="0"/>
                  <a:t>You can use online Shapley value calculators like http://shapleyvalue.com/ to compute the Shapley values for the given characteristic functions. These tools often provide a user-friendly interface for entering the characteristic functions and obtaining the Shapley values.</a:t>
                </a:r>
              </a:p>
              <a:p>
                <a:endParaRPr lang="en-US" dirty="0"/>
              </a:p>
              <a:p>
                <a:r>
                  <a:rPr lang="en-US" dirty="0"/>
                  <a:t>It's important to ensure that the characteristic functions (𝑣) for each game are correctly defined, and then apply the chosen method to calculate the Shapley values.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27</a:t>
            </a:fld>
            <a:endParaRPr lang="en-MY"/>
          </a:p>
        </p:txBody>
      </p:sp>
    </p:spTree>
    <p:extLst>
      <p:ext uri="{BB962C8B-B14F-4D97-AF65-F5344CB8AC3E}">
        <p14:creationId xmlns:p14="http://schemas.microsoft.com/office/powerpoint/2010/main" val="384632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a coalition game is a concept related to stable coalition structures. While the Shapley value focuses on the fair division of payoffs among players, the core is concerned with the stability of the coalitions that form. The core answers the question of which coalitions will form and whether they are stable.</a:t>
            </a:r>
          </a:p>
          <a:p>
            <a:endParaRPr lang="en-US" dirty="0"/>
          </a:p>
          <a:p>
            <a:r>
              <a:rPr lang="en-US" dirty="0"/>
              <a:t>Here are some key points about the core of a game:</a:t>
            </a:r>
          </a:p>
          <a:p>
            <a:endParaRPr lang="en-US" dirty="0"/>
          </a:p>
          <a:p>
            <a:pPr marL="228600" indent="-228600">
              <a:buFont typeface="+mj-lt"/>
              <a:buAutoNum type="arabicPeriod"/>
            </a:pPr>
            <a:r>
              <a:rPr lang="en-US" b="1" dirty="0"/>
              <a:t>Stability of Coalition Structures: </a:t>
            </a:r>
            <a:r>
              <a:rPr lang="en-US" dirty="0"/>
              <a:t>The core of a game addresses the stability of coalitions, which means it considers whether a group of agents (a coalition) would find it advantageous to cooperate and form a coalition structure.</a:t>
            </a:r>
          </a:p>
          <a:p>
            <a:pPr marL="228600" indent="-228600">
              <a:buFont typeface="+mj-lt"/>
              <a:buAutoNum type="arabicPeriod"/>
            </a:pPr>
            <a:endParaRPr lang="en-US" dirty="0"/>
          </a:p>
          <a:p>
            <a:pPr marL="228600" indent="-228600">
              <a:buFont typeface="+mj-lt"/>
              <a:buAutoNum type="arabicPeriod"/>
            </a:pPr>
            <a:r>
              <a:rPr lang="en-US" b="1" dirty="0"/>
              <a:t>Smaller Coalitions: </a:t>
            </a:r>
            <a:r>
              <a:rPr lang="en-US" dirty="0"/>
              <a:t>In some cases, it may be better for agents or a group of agents (denoted as 𝐶⊂𝑁) to form a coalition that is strictly smaller than the grand coalition 𝑁. This implies that not all agents may choose to join the grand coalition.</a:t>
            </a:r>
          </a:p>
          <a:p>
            <a:pPr marL="228600" indent="-228600">
              <a:buFont typeface="+mj-lt"/>
              <a:buAutoNum type="arabicPeriod"/>
            </a:pPr>
            <a:endParaRPr lang="en-US" dirty="0"/>
          </a:p>
          <a:p>
            <a:pPr marL="228600" indent="-228600">
              <a:buFont typeface="+mj-lt"/>
              <a:buAutoNum type="arabicPeriod"/>
            </a:pPr>
            <a:r>
              <a:rPr lang="en-US" b="1" dirty="0"/>
              <a:t>Example: </a:t>
            </a:r>
            <a:r>
              <a:rPr lang="en-US" dirty="0"/>
              <a:t>Think about a voting game where some agents may find it more advantageous to form smaller coalitions. For instance, a coalition like {𝐴, 𝐵} may be preferable to joining the grand coalition 𝑁. This choice is based on the perceived stability and benefit of the smaller coalition.</a:t>
            </a:r>
          </a:p>
          <a:p>
            <a:pPr marL="228600" indent="-228600">
              <a:buFont typeface="+mj-lt"/>
              <a:buAutoNum type="arabicPeriod"/>
            </a:pPr>
            <a:endParaRPr lang="en-US" dirty="0"/>
          </a:p>
          <a:p>
            <a:pPr marL="228600" indent="-228600">
              <a:buFont typeface="+mj-lt"/>
              <a:buAutoNum type="arabicPeriod"/>
            </a:pPr>
            <a:r>
              <a:rPr lang="en-US" b="1" dirty="0"/>
              <a:t>Set of Outcomes: </a:t>
            </a:r>
            <a:r>
              <a:rPr lang="en-US" dirty="0"/>
              <a:t>Unlike the Shapley value, which provides a single outcome (a payoff vector), the core is a set of outcomes. The core represents a collection of possible coalition structures that are considered stable.</a:t>
            </a:r>
          </a:p>
          <a:p>
            <a:pPr marL="228600" indent="-228600">
              <a:buFont typeface="+mj-lt"/>
              <a:buAutoNum type="arabicPeriod"/>
            </a:pPr>
            <a:endParaRPr lang="en-US" dirty="0"/>
          </a:p>
          <a:p>
            <a:pPr marL="228600" indent="-228600">
              <a:buFont typeface="+mj-lt"/>
              <a:buAutoNum type="arabicPeriod"/>
            </a:pPr>
            <a:r>
              <a:rPr lang="en-US" b="1" dirty="0"/>
              <a:t>Existence of the Core: </a:t>
            </a:r>
            <a:r>
              <a:rPr lang="en-US" dirty="0"/>
              <a:t>It's important to note that the core may or may not exist for a given coalition game. Whether the core exists depends on the specific characteristics and properties of the game.</a:t>
            </a:r>
          </a:p>
          <a:p>
            <a:pPr marL="228600" indent="-228600">
              <a:buFont typeface="+mj-lt"/>
              <a:buAutoNum type="arabicPeriod"/>
            </a:pPr>
            <a:endParaRPr lang="en-US" dirty="0"/>
          </a:p>
          <a:p>
            <a:pPr marL="228600" indent="-228600">
              <a:buFont typeface="+mj-lt"/>
              <a:buAutoNum type="arabicPeriod"/>
            </a:pPr>
            <a:r>
              <a:rPr lang="en-US" b="1" dirty="0"/>
              <a:t>Notation: </a:t>
            </a:r>
            <a:r>
              <a:rPr lang="en-US" dirty="0"/>
              <a:t>The core of a game 𝐺 is denoted as core(𝐺), and it represents the set of stable outcomes or coalition structures within the game.</a:t>
            </a:r>
          </a:p>
          <a:p>
            <a:endParaRPr lang="en-US" dirty="0"/>
          </a:p>
          <a:p>
            <a:r>
              <a:rPr lang="en-US" dirty="0"/>
              <a:t>In summary, the core is a concept in coalition game theory that addresses the stability of coalition structures and investigates which coalitions will form among the players in a game. It provides a set of possible outcomes that are considered stable and can be crucial in understanding how coalitions are likely to be structured in cooperative situations.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28</a:t>
            </a:fld>
            <a:endParaRPr lang="en-MY"/>
          </a:p>
        </p:txBody>
      </p:sp>
    </p:spTree>
    <p:extLst>
      <p:ext uri="{BB962C8B-B14F-4D97-AF65-F5344CB8AC3E}">
        <p14:creationId xmlns:p14="http://schemas.microsoft.com/office/powerpoint/2010/main" val="2840028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core of a game is formally defined as follows:</a:t>
                </a:r>
              </a:p>
              <a:p>
                <a:endParaRPr lang="en-US" dirty="0"/>
              </a:p>
              <a:p>
                <a:r>
                  <a:rPr lang="en-US" dirty="0"/>
                  <a:t>For a game 𝐺, the core is the set core(𝐺) of outcomes 𝒙 satisfying two conditions:</a:t>
                </a:r>
              </a:p>
              <a:p>
                <a:endParaRPr lang="en-US" dirty="0"/>
              </a:p>
              <a:p>
                <a:pPr marL="228600" indent="-228600">
                  <a:buFont typeface="+mj-lt"/>
                  <a:buAutoNum type="arabicPeriod"/>
                </a:pPr>
                <a:r>
                  <a:rPr lang="en-US" b="1" dirty="0"/>
                  <a:t>Grand Coalition Payoff: </a:t>
                </a:r>
                <a14:m>
                  <m:oMath xmlns:m="http://schemas.openxmlformats.org/officeDocument/2006/math">
                    <m:nary>
                      <m:naryPr>
                        <m:chr m:val="∑"/>
                        <m:supHide m:val="on"/>
                        <m:ctrlPr>
                          <a:rPr lang="en-MY" sz="1200" b="0" i="1" smtClean="0">
                            <a:latin typeface="Cambria Math" panose="02040503050406030204" pitchFamily="18" charset="0"/>
                            <a:cs typeface="Tahoma"/>
                          </a:rPr>
                        </m:ctrlPr>
                      </m:naryPr>
                      <m:sub>
                        <m:r>
                          <a:rPr lang="en-MY" sz="1200" b="0" i="1" smtClean="0">
                            <a:latin typeface="Cambria Math" panose="02040503050406030204" pitchFamily="18" charset="0"/>
                            <a:cs typeface="Tahoma"/>
                          </a:rPr>
                          <m:t>𝑖</m:t>
                        </m:r>
                        <m:r>
                          <a:rPr lang="en-MY" sz="1200" b="0" i="1" smtClean="0">
                            <a:latin typeface="Cambria Math" panose="02040503050406030204" pitchFamily="18" charset="0"/>
                            <a:cs typeface="Tahoma"/>
                          </a:rPr>
                          <m:t>∈</m:t>
                        </m:r>
                        <m:r>
                          <a:rPr lang="en-MY" sz="1200" b="0" i="1" smtClean="0">
                            <a:latin typeface="Cambria Math" panose="02040503050406030204" pitchFamily="18" charset="0"/>
                            <a:cs typeface="Tahoma"/>
                          </a:rPr>
                          <m:t>𝑁</m:t>
                        </m:r>
                      </m:sub>
                      <m:sup/>
                      <m:e>
                        <m:sSub>
                          <m:sSubPr>
                            <m:ctrlPr>
                              <a:rPr lang="en-MY" sz="1200" b="0" i="1" smtClean="0">
                                <a:latin typeface="Cambria Math" panose="02040503050406030204" pitchFamily="18" charset="0"/>
                                <a:cs typeface="Tahoma"/>
                              </a:rPr>
                            </m:ctrlPr>
                          </m:sSubPr>
                          <m:e>
                            <m:r>
                              <a:rPr lang="en-MY" sz="1200" b="1" i="1" smtClean="0">
                                <a:latin typeface="Cambria Math" panose="02040503050406030204" pitchFamily="18" charset="0"/>
                                <a:cs typeface="Tahoma"/>
                              </a:rPr>
                              <m:t>𝒙</m:t>
                            </m:r>
                          </m:e>
                          <m:sub>
                            <m:r>
                              <a:rPr lang="en-MY" sz="1200" b="0" i="1" smtClean="0">
                                <a:latin typeface="Cambria Math" panose="02040503050406030204" pitchFamily="18" charset="0"/>
                                <a:cs typeface="Tahoma"/>
                              </a:rPr>
                              <m:t>𝑖</m:t>
                            </m:r>
                          </m:sub>
                        </m:sSub>
                        <m:r>
                          <a:rPr lang="en-MY" sz="1200" b="0" i="1" smtClean="0">
                            <a:latin typeface="Cambria Math" panose="02040503050406030204" pitchFamily="18" charset="0"/>
                            <a:cs typeface="Tahoma"/>
                          </a:rPr>
                          <m:t>=</m:t>
                        </m:r>
                        <m:r>
                          <a:rPr lang="en-MY" sz="1200" b="0" i="1" smtClean="0">
                            <a:latin typeface="Cambria Math" panose="02040503050406030204" pitchFamily="18" charset="0"/>
                            <a:cs typeface="Tahoma"/>
                          </a:rPr>
                          <m:t>𝑣</m:t>
                        </m:r>
                        <m:d>
                          <m:dPr>
                            <m:ctrlPr>
                              <a:rPr lang="en-MY" sz="1200" b="0" i="1" smtClean="0">
                                <a:latin typeface="Cambria Math" panose="02040503050406030204" pitchFamily="18" charset="0"/>
                                <a:cs typeface="Tahoma"/>
                              </a:rPr>
                            </m:ctrlPr>
                          </m:dPr>
                          <m:e>
                            <m:r>
                              <a:rPr lang="en-MY" sz="1200" b="0" i="1" smtClean="0">
                                <a:latin typeface="Cambria Math" panose="02040503050406030204" pitchFamily="18" charset="0"/>
                                <a:cs typeface="Tahoma"/>
                              </a:rPr>
                              <m:t>𝑁</m:t>
                            </m:r>
                          </m:e>
                        </m:d>
                      </m:e>
                    </m:nary>
                  </m:oMath>
                </a14:m>
                <a:br>
                  <a:rPr lang="en-US" dirty="0"/>
                </a:br>
                <a:r>
                  <a:rPr lang="en-US" dirty="0"/>
                  <a:t>This condition ensures that the sum of the payoffs received by all players in the outcome 𝒙 equals the value of the grand coalition 𝑁. In other words, the total payoff distributed matches the total value of the coalition.</a:t>
                </a:r>
              </a:p>
              <a:p>
                <a:pPr marL="228600" indent="-228600">
                  <a:buFont typeface="+mj-lt"/>
                  <a:buAutoNum type="arabicPeriod"/>
                </a:pPr>
                <a:endParaRPr lang="en-US" dirty="0"/>
              </a:p>
              <a:p>
                <a:pPr marL="228600" indent="-228600">
                  <a:buFont typeface="+mj-lt"/>
                  <a:buAutoNum type="arabicPeriod"/>
                </a:pPr>
                <a:r>
                  <a:rPr lang="en-US" b="1" dirty="0"/>
                  <a:t>Coalitional Rationality: </a:t>
                </a:r>
                <a:r>
                  <a:rPr lang="en-US" dirty="0"/>
                  <a:t>For every 𝐶⊂𝑁:</a:t>
                </a:r>
                <a:br>
                  <a:rPr lang="en-US" dirty="0"/>
                </a:br>
                <a14:m>
                  <m:oMath xmlns:m="http://schemas.openxmlformats.org/officeDocument/2006/math">
                    <m:nary>
                      <m:naryPr>
                        <m:chr m:val="∑"/>
                        <m:limLoc m:val="subSup"/>
                        <m:supHide m:val="on"/>
                        <m:ctrlPr>
                          <a:rPr lang="ar-SA" sz="1200" i="1" dirty="0" smtClean="0">
                            <a:latin typeface="Cambria Math" panose="02040503050406030204" pitchFamily="18" charset="0"/>
                            <a:cs typeface="Tahoma"/>
                          </a:rPr>
                        </m:ctrlPr>
                      </m:naryPr>
                      <m:sub>
                        <m:r>
                          <m:rPr>
                            <m:brk m:alnAt="9"/>
                          </m:rPr>
                          <a:rPr lang="ar-SA" sz="1200" b="0" i="1" dirty="0" smtClean="0">
                            <a:latin typeface="Cambria Math" panose="02040503050406030204" pitchFamily="18" charset="0"/>
                            <a:cs typeface="Tahoma"/>
                          </a:rPr>
                          <m:t>𝑖</m:t>
                        </m:r>
                        <m:r>
                          <a:rPr lang="ar-SA" sz="1200" b="0" i="1" dirty="0" smtClean="0">
                            <a:latin typeface="Cambria Math" panose="02040503050406030204" pitchFamily="18" charset="0"/>
                            <a:cs typeface="Tahoma"/>
                          </a:rPr>
                          <m:t>∈</m:t>
                        </m:r>
                        <m:r>
                          <a:rPr lang="en-MY" sz="1200" b="0" i="1" dirty="0" smtClean="0">
                            <a:latin typeface="Cambria Math" panose="02040503050406030204" pitchFamily="18" charset="0"/>
                            <a:cs typeface="Tahoma"/>
                          </a:rPr>
                          <m:t>𝐶</m:t>
                        </m:r>
                      </m:sub>
                      <m:sup/>
                      <m:e>
                        <m:sSub>
                          <m:sSubPr>
                            <m:ctrlPr>
                              <a:rPr lang="ar-SA" sz="120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𝒙</m:t>
                            </m:r>
                          </m:e>
                          <m:sub>
                            <m:r>
                              <m:rPr>
                                <m:sty m:val="p"/>
                              </m:rPr>
                              <a:rPr lang="en-MY" sz="1200" kern="1200" spc="10" dirty="0">
                                <a:solidFill>
                                  <a:schemeClr val="tx1"/>
                                </a:solidFill>
                                <a:latin typeface="Cambria Math" panose="02040503050406030204" pitchFamily="18" charset="0"/>
                                <a:cs typeface="Tahoma"/>
                              </a:rPr>
                              <m:t>i</m:t>
                            </m:r>
                            <m:r>
                              <a:rPr lang="en-MY" sz="1200" kern="1200" spc="10" dirty="0">
                                <a:solidFill>
                                  <a:schemeClr val="tx1"/>
                                </a:solidFill>
                                <a:latin typeface="Cambria Math" panose="02040503050406030204" pitchFamily="18" charset="0"/>
                                <a:cs typeface="Tahoma"/>
                              </a:rPr>
                              <m:t> </m:t>
                            </m:r>
                          </m:sub>
                        </m:sSub>
                        <m:r>
                          <a:rPr lang="ar-SA" sz="1200" i="1" spc="-50" dirty="0" smtClean="0">
                            <a:latin typeface="Cambria Math" panose="02040503050406030204" pitchFamily="18" charset="0"/>
                            <a:cs typeface="Meiryo UI"/>
                          </a:rPr>
                          <m:t>≥</m:t>
                        </m:r>
                        <m:r>
                          <a:rPr lang="ar-SA" sz="1200" i="1" spc="-60" dirty="0" smtClean="0">
                            <a:latin typeface="Cambria Math" panose="02040503050406030204" pitchFamily="18" charset="0"/>
                            <a:cs typeface="Meiryo UI"/>
                          </a:rPr>
                          <m:t> </m:t>
                        </m:r>
                        <m:r>
                          <a:rPr lang="ar-SA" sz="1200" i="1" spc="-55" dirty="0" smtClean="0">
                            <a:latin typeface="Cambria Math" panose="02040503050406030204" pitchFamily="18" charset="0"/>
                            <a:cs typeface="Arial"/>
                          </a:rPr>
                          <m:t>𝑣</m:t>
                        </m:r>
                        <m:r>
                          <a:rPr lang="ar-SA" sz="1200" i="1" spc="-190" dirty="0" smtClean="0">
                            <a:latin typeface="Cambria Math" panose="02040503050406030204" pitchFamily="18" charset="0"/>
                            <a:cs typeface="Arial"/>
                          </a:rPr>
                          <m:t> </m:t>
                        </m:r>
                        <m:r>
                          <a:rPr lang="ar-SA" sz="1200" i="1" spc="-60" dirty="0" smtClean="0">
                            <a:latin typeface="Cambria Math" panose="02040503050406030204" pitchFamily="18" charset="0"/>
                            <a:cs typeface="Tahoma"/>
                          </a:rPr>
                          <m:t>(</m:t>
                        </m:r>
                        <m:r>
                          <a:rPr lang="ar-SA" sz="1200" i="1" spc="-60" dirty="0" smtClean="0">
                            <a:latin typeface="Cambria Math" panose="02040503050406030204" pitchFamily="18" charset="0"/>
                            <a:cs typeface="Arial"/>
                          </a:rPr>
                          <m:t>𝐶</m:t>
                        </m:r>
                        <m:r>
                          <a:rPr lang="ar-SA" sz="1200" i="1" spc="-170" dirty="0" smtClean="0">
                            <a:latin typeface="Cambria Math" panose="02040503050406030204" pitchFamily="18" charset="0"/>
                            <a:cs typeface="Arial"/>
                          </a:rPr>
                          <m:t> </m:t>
                        </m:r>
                        <m:r>
                          <a:rPr lang="ar-SA" sz="1200" i="1" spc="-50" dirty="0" smtClean="0">
                            <a:latin typeface="Cambria Math" panose="02040503050406030204" pitchFamily="18" charset="0"/>
                            <a:cs typeface="Tahoma"/>
                          </a:rPr>
                          <m:t>)</m:t>
                        </m:r>
                        <m:r>
                          <m:rPr>
                            <m:nor/>
                          </m:rPr>
                          <a:rPr lang="ar-SA" sz="1200" dirty="0">
                            <a:latin typeface="Tahoma"/>
                            <a:cs typeface="Tahoma"/>
                          </a:rPr>
                          <m:t> </m:t>
                        </m:r>
                      </m:e>
                    </m:nary>
                  </m:oMath>
                </a14:m>
                <a:r>
                  <a:rPr lang="en-US" dirty="0"/>
                  <a:t> </a:t>
                </a:r>
                <a:br>
                  <a:rPr lang="en-US" dirty="0"/>
                </a:br>
                <a:r>
                  <a:rPr lang="en-US" dirty="0"/>
                  <a:t>This condition ensures that for every possible coalition 𝐶 within the grand coalition 𝑁, the sum of payoffs received by the players in that coalition is greater than or equal to the value of the coalition itself. This condition reflects that no subgroup of players can improve their situation by forming a smaller coalition.</a:t>
                </a:r>
              </a:p>
              <a:p>
                <a:endParaRPr lang="en-US" dirty="0"/>
              </a:p>
              <a:p>
                <a:r>
                  <a:rPr lang="en-US" dirty="0"/>
                  <a:t>An element 𝒙 belonging to the core, when it exists, is referred to as an imputation. Such an outcome is efficient, as it satisfies the condition that the total payoff equals the value of the grand coalition, and it is individually rational, as it ensures that each player receives at least their share according to the value of the coalition they belong to.</a:t>
                </a:r>
              </a:p>
              <a:p>
                <a:endParaRPr lang="en-US" dirty="0"/>
              </a:p>
              <a:p>
                <a:r>
                  <a:rPr lang="en-US" dirty="0"/>
                  <a:t>The core represents a set of outcomes that are considered stable in the sense that no subgroup of players has an incentive to deviate from the coalition structure that leads to these outcomes. It is an important concept in cooperative game theory and provides insight into the stability of coalition structures and the distribution of payoffs among players.</a:t>
                </a:r>
                <a:endParaRPr lang="en-MY" dirty="0"/>
              </a:p>
            </p:txBody>
          </p:sp>
        </mc:Choice>
        <mc:Fallback xmlns="">
          <p:sp>
            <p:nvSpPr>
              <p:cNvPr id="3" name="Notes Placeholder 2"/>
              <p:cNvSpPr>
                <a:spLocks noGrp="1"/>
              </p:cNvSpPr>
              <p:nvPr>
                <p:ph type="body" idx="1"/>
              </p:nvPr>
            </p:nvSpPr>
            <p:spPr/>
            <p:txBody>
              <a:bodyPr/>
              <a:lstStyle/>
              <a:p>
                <a:r>
                  <a:rPr lang="en-US" dirty="0"/>
                  <a:t>The core of a game is formally defined as follows:</a:t>
                </a:r>
              </a:p>
              <a:p>
                <a:endParaRPr lang="en-US" dirty="0"/>
              </a:p>
              <a:p>
                <a:r>
                  <a:rPr lang="en-US" dirty="0"/>
                  <a:t>For a game 𝐺, the core is the set core(𝐺) of outcomes 𝒙 satisfying two conditions:</a:t>
                </a:r>
              </a:p>
              <a:p>
                <a:endParaRPr lang="en-US" dirty="0"/>
              </a:p>
              <a:p>
                <a:pPr marL="228600" indent="-228600">
                  <a:buFont typeface="+mj-lt"/>
                  <a:buAutoNum type="arabicPeriod"/>
                </a:pPr>
                <a:r>
                  <a:rPr lang="en-US" b="1" dirty="0"/>
                  <a:t>Grand Coalition Payoff: </a:t>
                </a:r>
                <a:r>
                  <a:rPr lang="en-MY" sz="1200" b="0" i="0">
                    <a:latin typeface="Cambria Math" panose="02040503050406030204" pitchFamily="18" charset="0"/>
                    <a:cs typeface="Tahoma"/>
                  </a:rPr>
                  <a:t>∑_(𝑖∈𝑁)▒〖</a:t>
                </a:r>
                <a:r>
                  <a:rPr lang="en-MY" sz="1200" b="1" i="0">
                    <a:latin typeface="Cambria Math" panose="02040503050406030204" pitchFamily="18" charset="0"/>
                    <a:cs typeface="Tahoma"/>
                  </a:rPr>
                  <a:t>𝒙</a:t>
                </a:r>
                <a:r>
                  <a:rPr lang="en-MY" sz="1200" b="0" i="0">
                    <a:latin typeface="Cambria Math" panose="02040503050406030204" pitchFamily="18" charset="0"/>
                    <a:cs typeface="Tahoma"/>
                  </a:rPr>
                  <a:t>_𝑖=𝑣(𝑁) 〗</a:t>
                </a:r>
                <a:br>
                  <a:rPr lang="en-US" dirty="0"/>
                </a:br>
                <a:r>
                  <a:rPr lang="en-US" dirty="0"/>
                  <a:t>This condition ensures that the sum of the payoffs received by all players in the outcome 𝒙 equals the value of the grand coalition 𝑁. In other words, the total payoff distributed matches the total value of the coalition.</a:t>
                </a:r>
              </a:p>
              <a:p>
                <a:pPr marL="228600" indent="-228600">
                  <a:buFont typeface="+mj-lt"/>
                  <a:buAutoNum type="arabicPeriod"/>
                </a:pPr>
                <a:endParaRPr lang="en-US" dirty="0"/>
              </a:p>
              <a:p>
                <a:pPr marL="228600" indent="-228600">
                  <a:buFont typeface="+mj-lt"/>
                  <a:buAutoNum type="arabicPeriod"/>
                </a:pPr>
                <a:r>
                  <a:rPr lang="en-US" b="1" dirty="0"/>
                  <a:t>Coalitional Rationality: </a:t>
                </a:r>
                <a:r>
                  <a:rPr lang="en-US" dirty="0"/>
                  <a:t>For every 𝐶⊂𝑁:</a:t>
                </a:r>
                <a:br>
                  <a:rPr lang="en-US" dirty="0"/>
                </a:br>
                <a:r>
                  <a:rPr lang="ar-SA" sz="1200" i="0" dirty="0">
                    <a:latin typeface="Cambria Math" panose="02040503050406030204" pitchFamily="18" charset="0"/>
                    <a:cs typeface="Tahoma"/>
                  </a:rPr>
                  <a:t>∑2</a:t>
                </a:r>
                <a:r>
                  <a:rPr lang="en-MY" sz="1200" b="0" i="0" dirty="0">
                    <a:latin typeface="Cambria Math" panose="02040503050406030204" pitchFamily="18" charset="0"/>
                    <a:cs typeface="Tahoma"/>
                  </a:rPr>
                  <a:t>_</a:t>
                </a:r>
                <a:r>
                  <a:rPr lang="ar-SA" sz="1200" b="0" i="0" dirty="0">
                    <a:latin typeface="Cambria Math" panose="02040503050406030204" pitchFamily="18" charset="0"/>
                    <a:cs typeface="Tahoma"/>
                  </a:rPr>
                  <a:t>(𝑖∈</a:t>
                </a:r>
                <a:r>
                  <a:rPr lang="en-MY" sz="1200" b="0" i="0" dirty="0">
                    <a:latin typeface="Cambria Math" panose="02040503050406030204" pitchFamily="18" charset="0"/>
                    <a:cs typeface="Tahoma"/>
                  </a:rPr>
                  <a:t>𝐶</a:t>
                </a:r>
                <a:r>
                  <a:rPr lang="ar-SA" sz="1200" b="0" i="0" dirty="0">
                    <a:latin typeface="Cambria Math" panose="02040503050406030204" pitchFamily="18" charset="0"/>
                    <a:cs typeface="Tahoma"/>
                  </a:rPr>
                  <a:t>)▒〖</a:t>
                </a:r>
                <a:r>
                  <a:rPr lang="ar-SA" sz="1200" i="0" kern="1200" spc="10" dirty="0">
                    <a:solidFill>
                      <a:schemeClr val="tx1"/>
                    </a:solidFill>
                    <a:latin typeface="Cambria Math" panose="02040503050406030204" pitchFamily="18" charset="0"/>
                    <a:cs typeface="Tahoma"/>
                  </a:rPr>
                  <a:t>𝒙_(</a:t>
                </a:r>
                <a:r>
                  <a:rPr lang="en-MY" sz="1200" i="0" kern="1200" spc="10" dirty="0">
                    <a:solidFill>
                      <a:schemeClr val="tx1"/>
                    </a:solidFill>
                    <a:latin typeface="Cambria Math" panose="02040503050406030204" pitchFamily="18" charset="0"/>
                    <a:cs typeface="Tahoma"/>
                  </a:rPr>
                  <a:t>i </a:t>
                </a:r>
                <a:r>
                  <a:rPr lang="ar-SA" sz="1200" i="0" kern="1200" spc="10" dirty="0">
                    <a:solidFill>
                      <a:schemeClr val="tx1"/>
                    </a:solidFill>
                    <a:latin typeface="Cambria Math" panose="02040503050406030204" pitchFamily="18" charset="0"/>
                    <a:cs typeface="Tahoma"/>
                  </a:rPr>
                  <a:t>)</a:t>
                </a:r>
                <a:r>
                  <a:rPr lang="ar-SA" sz="1200" i="0" spc="-50" dirty="0">
                    <a:latin typeface="Cambria Math" panose="02040503050406030204" pitchFamily="18" charset="0"/>
                    <a:cs typeface="Meiryo UI"/>
                  </a:rPr>
                  <a:t>≥</a:t>
                </a:r>
                <a:r>
                  <a:rPr lang="ar-SA" sz="1200" i="0" spc="-60" dirty="0">
                    <a:latin typeface="Cambria Math" panose="02040503050406030204" pitchFamily="18" charset="0"/>
                    <a:cs typeface="Meiryo UI"/>
                  </a:rPr>
                  <a:t> </a:t>
                </a:r>
                <a:r>
                  <a:rPr lang="ar-SA" sz="1200" i="0" spc="-55" dirty="0">
                    <a:latin typeface="Cambria Math" panose="02040503050406030204" pitchFamily="18" charset="0"/>
                    <a:cs typeface="Arial"/>
                  </a:rPr>
                  <a:t>𝑣</a:t>
                </a:r>
                <a:r>
                  <a:rPr lang="ar-SA" sz="1200" i="0" spc="-190" dirty="0">
                    <a:latin typeface="Cambria Math" panose="02040503050406030204" pitchFamily="18" charset="0"/>
                    <a:cs typeface="Arial"/>
                  </a:rPr>
                  <a:t> </a:t>
                </a:r>
                <a:r>
                  <a:rPr lang="ar-SA" sz="1200" i="0" spc="-60" dirty="0">
                    <a:latin typeface="Cambria Math" panose="02040503050406030204" pitchFamily="18" charset="0"/>
                    <a:cs typeface="Tahoma"/>
                  </a:rPr>
                  <a:t>(</a:t>
                </a:r>
                <a:r>
                  <a:rPr lang="ar-SA" sz="1200" i="0" spc="-60" dirty="0">
                    <a:latin typeface="Cambria Math" panose="02040503050406030204" pitchFamily="18" charset="0"/>
                    <a:cs typeface="Arial"/>
                  </a:rPr>
                  <a:t>𝐶</a:t>
                </a:r>
                <a:r>
                  <a:rPr lang="ar-SA" sz="1200" i="0" spc="-170" dirty="0">
                    <a:latin typeface="Cambria Math" panose="02040503050406030204" pitchFamily="18" charset="0"/>
                    <a:cs typeface="Arial"/>
                  </a:rPr>
                  <a:t> </a:t>
                </a:r>
                <a:r>
                  <a:rPr lang="ar-SA" sz="1200" i="0" spc="-50" dirty="0">
                    <a:latin typeface="Cambria Math" panose="02040503050406030204" pitchFamily="18" charset="0"/>
                    <a:cs typeface="Tahoma"/>
                  </a:rPr>
                  <a:t>)"</a:t>
                </a:r>
                <a:r>
                  <a:rPr lang="ar-SA" sz="1200" i="0" dirty="0">
                    <a:latin typeface="Tahoma"/>
                    <a:cs typeface="Tahoma"/>
                  </a:rPr>
                  <a:t> </a:t>
                </a:r>
                <a:r>
                  <a:rPr lang="ar-SA" sz="1200" i="0" dirty="0">
                    <a:latin typeface="Cambria Math" panose="02040503050406030204" pitchFamily="18" charset="0"/>
                    <a:cs typeface="Tahoma"/>
                  </a:rPr>
                  <a:t>" 〗</a:t>
                </a:r>
                <a:r>
                  <a:rPr lang="en-US" dirty="0"/>
                  <a:t> </a:t>
                </a:r>
                <a:br>
                  <a:rPr lang="en-US" dirty="0"/>
                </a:br>
                <a:r>
                  <a:rPr lang="en-US" dirty="0"/>
                  <a:t>This condition ensures that for every possible coalition 𝐶 within the grand coalition 𝑁, the sum of payoffs received by the players in that coalition is greater than or equal to the value of the coalition itself. This condition reflects that no subgroup of players can improve their situation by forming a smaller coalition.</a:t>
                </a:r>
              </a:p>
              <a:p>
                <a:endParaRPr lang="en-US" dirty="0"/>
              </a:p>
              <a:p>
                <a:r>
                  <a:rPr lang="en-US" dirty="0"/>
                  <a:t>An element 𝒙 belonging to the core, when it exists, is referred to as an imputation. Such an outcome is efficient, as it satisfies the condition that the total payoff equals the value of the grand coalition, and it is individually rational, as it ensures that each player receives at least their share according to the value of the coalition they belong to.</a:t>
                </a:r>
              </a:p>
              <a:p>
                <a:endParaRPr lang="en-US" dirty="0"/>
              </a:p>
              <a:p>
                <a:r>
                  <a:rPr lang="en-US" dirty="0"/>
                  <a:t>The core represents a set of outcomes that are considered stable in the sense that no subgroup of players has an incentive to deviate from the coalition structure that leads to these outcomes. It is an important concept in cooperative game theory and provides insight into the stability of coalition structures and the distribution of payoffs among players.</a:t>
                </a:r>
                <a:endParaRPr lang="en-MY"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29</a:t>
            </a:fld>
            <a:endParaRPr lang="en-MY"/>
          </a:p>
        </p:txBody>
      </p:sp>
    </p:spTree>
    <p:extLst>
      <p:ext uri="{BB962C8B-B14F-4D97-AF65-F5344CB8AC3E}">
        <p14:creationId xmlns:p14="http://schemas.microsoft.com/office/powerpoint/2010/main" val="6907837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example/exercise, we are considering a </a:t>
            </a:r>
            <a:r>
              <a:rPr lang="en-US" dirty="0" err="1"/>
              <a:t>superadditive</a:t>
            </a:r>
            <a:r>
              <a:rPr lang="en-US" dirty="0"/>
              <a:t> game 𝐺 with the following characteristics:</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𝑣 (∅) = 0</a:t>
            </a:r>
          </a:p>
          <a:p>
            <a:pPr marL="628650" lvl="1" indent="-171450">
              <a:buFont typeface="Arial" panose="020B0604020202020204" pitchFamily="34" charset="0"/>
              <a:buChar char="•"/>
            </a:pPr>
            <a:r>
              <a:rPr lang="en-US" dirty="0"/>
              <a:t>𝑣 ({1}) = 𝑣 ({2}) = 𝑣 ({3}) = 1</a:t>
            </a:r>
          </a:p>
          <a:p>
            <a:pPr marL="628650" lvl="1" indent="-171450">
              <a:buFont typeface="Arial" panose="020B0604020202020204" pitchFamily="34" charset="0"/>
              <a:buChar char="•"/>
            </a:pPr>
            <a:r>
              <a:rPr lang="en-US" dirty="0"/>
              <a:t>𝑣 ({1, 2}) = 3</a:t>
            </a:r>
          </a:p>
          <a:p>
            <a:pPr marL="628650" lvl="1" indent="-171450">
              <a:buFont typeface="Arial" panose="020B0604020202020204" pitchFamily="34" charset="0"/>
              <a:buChar char="•"/>
            </a:pPr>
            <a:r>
              <a:rPr lang="en-US" dirty="0"/>
              <a:t>𝑣 ({1, 3}) = 4</a:t>
            </a:r>
          </a:p>
          <a:p>
            <a:pPr marL="628650" lvl="1" indent="-171450">
              <a:buFont typeface="Arial" panose="020B0604020202020204" pitchFamily="34" charset="0"/>
              <a:buChar char="•"/>
            </a:pPr>
            <a:r>
              <a:rPr lang="en-US" dirty="0"/>
              <a:t>𝑣 ({2, 3}) = 5</a:t>
            </a:r>
          </a:p>
          <a:p>
            <a:pPr marL="628650" lvl="1" indent="-171450">
              <a:buFont typeface="Arial" panose="020B0604020202020204" pitchFamily="34" charset="0"/>
              <a:buChar char="•"/>
            </a:pPr>
            <a:r>
              <a:rPr lang="en-US" dirty="0"/>
              <a:t>𝑣 ({1, 2, 3}) = 6</a:t>
            </a:r>
          </a:p>
          <a:p>
            <a:endParaRPr lang="en-US" dirty="0"/>
          </a:p>
          <a:p>
            <a:r>
              <a:rPr lang="en-US" dirty="0"/>
              <a:t>The question is whether the core of this game 𝐺 is empty or not. The core is not empty if there exists an outcome 𝒙 that satisfies certain conditions for every possible coalition 𝐶⊆𝑁:</a:t>
            </a:r>
          </a:p>
          <a:p>
            <a:endParaRPr lang="en-US" dirty="0"/>
          </a:p>
          <a:p>
            <a:pPr marL="228600" indent="-228600">
              <a:buFont typeface="+mj-lt"/>
              <a:buAutoNum type="arabicPeriod"/>
            </a:pPr>
            <a:r>
              <a:rPr lang="en-US" dirty="0"/>
              <a:t>For every player 𝑖∈𝑁, 𝒙_𝑖 (the payoff of player 𝑖) is greater than or equal to 1.</a:t>
            </a:r>
          </a:p>
          <a:p>
            <a:pPr marL="228600" indent="-228600">
              <a:buFont typeface="+mj-lt"/>
              <a:buAutoNum type="arabicPeriod"/>
            </a:pPr>
            <a:r>
              <a:rPr lang="en-US" dirty="0"/>
              <a:t>For every coalition {1, 2}, the sum of the payoffs of players 1 and 2 is greater than or equal to 3.</a:t>
            </a:r>
          </a:p>
          <a:p>
            <a:pPr marL="228600" indent="-228600">
              <a:buFont typeface="+mj-lt"/>
              <a:buAutoNum type="arabicPeriod"/>
            </a:pPr>
            <a:r>
              <a:rPr lang="en-US" dirty="0"/>
              <a:t>For every coalition {1, 3}, the sum of the payoffs of players 1 and 3 is greater than or equal to 4.</a:t>
            </a:r>
          </a:p>
          <a:p>
            <a:pPr marL="228600" indent="-228600">
              <a:buFont typeface="+mj-lt"/>
              <a:buAutoNum type="arabicPeriod"/>
            </a:pPr>
            <a:r>
              <a:rPr lang="en-US" dirty="0"/>
              <a:t>For every coalition {2, 3}, the sum of the payoffs of players 2 and 3 is greater than or equal to 5.</a:t>
            </a:r>
          </a:p>
          <a:p>
            <a:pPr marL="228600" indent="-228600">
              <a:buFont typeface="+mj-lt"/>
              <a:buAutoNum type="arabicPeriod"/>
            </a:pPr>
            <a:r>
              <a:rPr lang="en-US" dirty="0"/>
              <a:t>For the grand coalition {1, 2, 3}, the sum of the payoffs of all three players is equal to 6.</a:t>
            </a:r>
          </a:p>
          <a:p>
            <a:endParaRPr lang="en-US" dirty="0"/>
          </a:p>
          <a:p>
            <a:r>
              <a:rPr lang="en-US" dirty="0"/>
              <a:t>The core of 𝐺 is not empty because there is an outcome 𝒙=(1, 2, 3) that satisfies all these conditions. This outcome is in the core of the game 𝐺, indicating that this coalition structure and payoff distribution are stable.</a:t>
            </a:r>
          </a:p>
          <a:p>
            <a:endParaRPr lang="en-US" dirty="0"/>
          </a:p>
          <a:p>
            <a:r>
              <a:rPr lang="en-US" dirty="0"/>
              <a:t>It's worth noting that the Shapley value of 𝐺 is 𝜙(𝑁, 𝑣) = (1.5, 2.0, 2.5), which represents a different way of distributing payoffs and may not necessarily be in the core. The core focuses on the stability of coalition structures, while the Shapley value focuses on the fairness of payoff distribution.</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30</a:t>
            </a:fld>
            <a:endParaRPr lang="en-MY"/>
          </a:p>
        </p:txBody>
      </p:sp>
    </p:spTree>
    <p:extLst>
      <p:ext uri="{BB962C8B-B14F-4D97-AF65-F5344CB8AC3E}">
        <p14:creationId xmlns:p14="http://schemas.microsoft.com/office/powerpoint/2010/main" val="3133681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example/exercise, we are considering an additive game 𝐺 with the following characteristics:</a:t>
            </a:r>
          </a:p>
          <a:p>
            <a:endParaRPr lang="en-US" dirty="0"/>
          </a:p>
          <a:p>
            <a:pPr marL="171450" indent="-171450">
              <a:buFont typeface="Arial" panose="020B0604020202020204" pitchFamily="34" charset="0"/>
              <a:buChar char="•"/>
            </a:pPr>
            <a:r>
              <a:rPr lang="en-US" dirty="0"/>
              <a:t>Players: 𝑁 = {1, 2, 3}</a:t>
            </a:r>
          </a:p>
          <a:p>
            <a:pPr marL="171450" indent="-171450">
              <a:buFont typeface="Arial" panose="020B0604020202020204" pitchFamily="34" charset="0"/>
              <a:buChar char="•"/>
            </a:pPr>
            <a:r>
              <a:rPr lang="en-US" dirty="0"/>
              <a:t>Characteristic Function: 𝑣</a:t>
            </a:r>
          </a:p>
          <a:p>
            <a:pPr marL="628650" lvl="1" indent="-171450">
              <a:buFont typeface="Arial" panose="020B0604020202020204" pitchFamily="34" charset="0"/>
              <a:buChar char="•"/>
            </a:pPr>
            <a:r>
              <a:rPr lang="en-US" dirty="0"/>
              <a:t>𝑣 (∅) = 0</a:t>
            </a:r>
          </a:p>
          <a:p>
            <a:pPr marL="628650" lvl="1" indent="-171450">
              <a:buFont typeface="Arial" panose="020B0604020202020204" pitchFamily="34" charset="0"/>
              <a:buChar char="•"/>
            </a:pPr>
            <a:r>
              <a:rPr lang="en-US" dirty="0"/>
              <a:t>𝑣 ({1}) = 𝑣 ({2}) = 𝑣 ({3}) = 1</a:t>
            </a:r>
          </a:p>
          <a:p>
            <a:pPr marL="628650" lvl="1" indent="-171450">
              <a:buFont typeface="Arial" panose="020B0604020202020204" pitchFamily="34" charset="0"/>
              <a:buChar char="•"/>
            </a:pPr>
            <a:r>
              <a:rPr lang="en-US" dirty="0"/>
              <a:t>𝑣 ({1, 2}) = 3</a:t>
            </a:r>
          </a:p>
          <a:p>
            <a:pPr marL="628650" lvl="1" indent="-171450">
              <a:buFont typeface="Arial" panose="020B0604020202020204" pitchFamily="34" charset="0"/>
              <a:buChar char="•"/>
            </a:pPr>
            <a:r>
              <a:rPr lang="en-US" dirty="0"/>
              <a:t>𝑣 ({1, 3}) = 4</a:t>
            </a:r>
          </a:p>
          <a:p>
            <a:pPr marL="628650" lvl="1" indent="-171450">
              <a:buFont typeface="Arial" panose="020B0604020202020204" pitchFamily="34" charset="0"/>
              <a:buChar char="•"/>
            </a:pPr>
            <a:r>
              <a:rPr lang="en-US" dirty="0"/>
              <a:t>𝑣 ({2, 3}) = 5</a:t>
            </a:r>
          </a:p>
          <a:p>
            <a:pPr marL="628650" lvl="1" indent="-171450">
              <a:buFont typeface="Arial" panose="020B0604020202020204" pitchFamily="34" charset="0"/>
              <a:buChar char="•"/>
            </a:pPr>
            <a:r>
              <a:rPr lang="en-US" dirty="0"/>
              <a:t>𝑣 ({1, 2, 3}) = 8</a:t>
            </a:r>
          </a:p>
          <a:p>
            <a:endParaRPr lang="en-US" dirty="0"/>
          </a:p>
          <a:p>
            <a:r>
              <a:rPr lang="en-US" dirty="0"/>
              <a:t>The question is whether the core of this game 𝐺 is empty or not. The core is not empty if there exists an outcome 𝒙 that satisfies certain conditions for every possible coalition 𝐶⊆𝑁:</a:t>
            </a:r>
          </a:p>
          <a:p>
            <a:endParaRPr lang="en-US" dirty="0"/>
          </a:p>
          <a:p>
            <a:pPr marL="228600" indent="-228600">
              <a:buFont typeface="+mj-lt"/>
              <a:buAutoNum type="arabicPeriod"/>
            </a:pPr>
            <a:r>
              <a:rPr lang="en-US" dirty="0"/>
              <a:t>For every player 𝑖∈𝑁, 𝒙_𝑖 (the payoff of player 𝑖) is greater than or equal to 1.</a:t>
            </a:r>
          </a:p>
          <a:p>
            <a:pPr marL="228600" indent="-228600">
              <a:buFont typeface="+mj-lt"/>
              <a:buAutoNum type="arabicPeriod"/>
            </a:pPr>
            <a:r>
              <a:rPr lang="en-US" dirty="0"/>
              <a:t>For every coalition {1, 2}, the sum of the payoffs of players 1 and 2 is greater than or equal to 3.</a:t>
            </a:r>
          </a:p>
          <a:p>
            <a:pPr marL="228600" indent="-228600">
              <a:buFont typeface="+mj-lt"/>
              <a:buAutoNum type="arabicPeriod"/>
            </a:pPr>
            <a:r>
              <a:rPr lang="en-US" dirty="0"/>
              <a:t>For every coalition {1, 3}, the sum of the payoffs of players 1 and 3 is greater than or equal to 4.</a:t>
            </a:r>
          </a:p>
          <a:p>
            <a:pPr marL="228600" indent="-228600">
              <a:buFont typeface="+mj-lt"/>
              <a:buAutoNum type="arabicPeriod"/>
            </a:pPr>
            <a:r>
              <a:rPr lang="en-US" dirty="0"/>
              <a:t>For every coalition {2, 3}, the sum of the payoffs of players 2 and 3 is greater than or equal to 5.</a:t>
            </a:r>
          </a:p>
          <a:p>
            <a:pPr marL="228600" indent="-228600">
              <a:buFont typeface="+mj-lt"/>
              <a:buAutoNum type="arabicPeriod"/>
            </a:pPr>
            <a:r>
              <a:rPr lang="en-US" dirty="0"/>
              <a:t>For the grand coalition {1, 2, 3}, the sum of the payoffs of all three players is equal to 8.</a:t>
            </a:r>
          </a:p>
          <a:p>
            <a:endParaRPr lang="en-US" dirty="0"/>
          </a:p>
          <a:p>
            <a:r>
              <a:rPr lang="en-US" dirty="0"/>
              <a:t>The core of 𝐺 is not empty because there is an outcome 𝒙=(2.17, 2.67, 3.17) that satisfies all these conditions. This outcome is in the core of the game 𝐺, indicating that this coalition structure and payoff distribution are stable.</a:t>
            </a:r>
          </a:p>
          <a:p>
            <a:endParaRPr lang="en-US" dirty="0"/>
          </a:p>
          <a:p>
            <a:r>
              <a:rPr lang="en-US" dirty="0"/>
              <a:t>It's also worth mentioning that the Shapley value 𝜙(𝑁, 𝑣) = (2.17, 2.67, 3.17) is within the core, demonstrating that it's a stable and fair outcome for this game.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31</a:t>
            </a:fld>
            <a:endParaRPr lang="en-MY"/>
          </a:p>
        </p:txBody>
      </p:sp>
    </p:spTree>
    <p:extLst>
      <p:ext uri="{BB962C8B-B14F-4D97-AF65-F5344CB8AC3E}">
        <p14:creationId xmlns:p14="http://schemas.microsoft.com/office/powerpoint/2010/main" val="2873628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case of the simple game 𝐺 with the following characteristic function:</a:t>
            </a:r>
          </a:p>
          <a:p>
            <a:endParaRPr lang="en-US" dirty="0"/>
          </a:p>
          <a:p>
            <a:r>
              <a:rPr lang="en-US" dirty="0"/>
              <a:t>𝑁={1, 2, 3}</a:t>
            </a:r>
          </a:p>
          <a:p>
            <a:r>
              <a:rPr lang="en-US" dirty="0"/>
              <a:t>𝑣 (∅)=0        	𝑣 ({1})=𝑣 ({2})=𝑣 ({3})=1</a:t>
            </a:r>
          </a:p>
          <a:p>
            <a:r>
              <a:rPr lang="en-US" dirty="0"/>
              <a:t>𝑣 ({1, 2})=𝑣 ({1, 3})=𝑣 ({2, 3})=𝑣 ({1, 2, 3})=1</a:t>
            </a:r>
          </a:p>
          <a:p>
            <a:endParaRPr lang="en-US" dirty="0"/>
          </a:p>
          <a:p>
            <a:r>
              <a:rPr lang="en-US" dirty="0"/>
              <a:t>The core is empty in this case because there is no way to distribute the payoff among the players in a manner that satisfies both the group and individual rationality conditions. The Shapley value, 𝜙(𝑁, 𝑣 )=(0.33, 0.33, 0.33), provides a fair distribution based on marginal contributions, but it does not satisfy the core conditions for this game.</a:t>
            </a:r>
          </a:p>
          <a:p>
            <a:endParaRPr lang="en-US" dirty="0"/>
          </a:p>
          <a:p>
            <a:r>
              <a:rPr lang="en-US" dirty="0"/>
              <a:t>This example illustrates that not all cooperative games have non-empty cores. The existence of the core depends on the specific characteristics of the game and its characteristic function. In cases where the core is empty, other solution concepts like the Shapley value may provide a fair distribution of payoffs.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32</a:t>
            </a:fld>
            <a:endParaRPr lang="en-MY"/>
          </a:p>
        </p:txBody>
      </p:sp>
    </p:spTree>
    <p:extLst>
      <p:ext uri="{BB962C8B-B14F-4D97-AF65-F5344CB8AC3E}">
        <p14:creationId xmlns:p14="http://schemas.microsoft.com/office/powerpoint/2010/main" val="25105255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properties provide insights into the existence of the core for different classes of coalitional games:</a:t>
            </a:r>
          </a:p>
          <a:p>
            <a:endParaRPr lang="en-US" dirty="0"/>
          </a:p>
          <a:p>
            <a:pPr marL="228600" indent="-228600">
              <a:buFont typeface="+mj-lt"/>
              <a:buAutoNum type="arabicPeriod"/>
            </a:pPr>
            <a:r>
              <a:rPr lang="en-US" b="1" dirty="0"/>
              <a:t>Convex Games: </a:t>
            </a:r>
            <a:r>
              <a:rPr lang="en-US" dirty="0"/>
              <a:t>If a game 𝐺 is convex, then it is guaranteed to have a non-empty core (</a:t>
            </a:r>
            <a:r>
              <a:rPr lang="en-US" b="1" dirty="0"/>
              <a:t>core</a:t>
            </a:r>
            <a:r>
              <a:rPr lang="en-US" dirty="0"/>
              <a:t>(𝐺)≠∅). Convex games inherently exhibit stability in the sense that players are incentivized to form coalitions that benefit them.</a:t>
            </a:r>
          </a:p>
          <a:p>
            <a:pPr marL="228600" indent="-228600">
              <a:buFont typeface="+mj-lt"/>
              <a:buAutoNum type="arabicPeriod"/>
            </a:pPr>
            <a:endParaRPr lang="en-US" dirty="0"/>
          </a:p>
          <a:p>
            <a:pPr marL="228600" indent="-228600">
              <a:buFont typeface="+mj-lt"/>
              <a:buAutoNum type="arabicPeriod"/>
            </a:pPr>
            <a:r>
              <a:rPr lang="en-US" b="1" dirty="0"/>
              <a:t>Additive Games: </a:t>
            </a:r>
            <a:r>
              <a:rPr lang="en-US" dirty="0"/>
              <a:t>If a game 𝐺 is additive, it implies that </a:t>
            </a:r>
            <a:r>
              <a:rPr lang="en-US" b="1" dirty="0"/>
              <a:t>core</a:t>
            </a:r>
            <a:r>
              <a:rPr lang="en-US" dirty="0"/>
              <a:t>(𝐺)≠∅ as well. The additivity property ensures that the core is not empty, which means there are stable coalition structures.</a:t>
            </a:r>
          </a:p>
          <a:p>
            <a:pPr marL="228600" indent="-228600">
              <a:buFont typeface="+mj-lt"/>
              <a:buAutoNum type="arabicPeriod"/>
            </a:pPr>
            <a:endParaRPr lang="en-US" dirty="0"/>
          </a:p>
          <a:p>
            <a:pPr marL="228600" indent="-228600">
              <a:buFont typeface="+mj-lt"/>
              <a:buAutoNum type="arabicPeriod"/>
            </a:pPr>
            <a:r>
              <a:rPr lang="en-US" b="1" dirty="0"/>
              <a:t>Constant-Sum Games: </a:t>
            </a:r>
            <a:r>
              <a:rPr lang="en-US" dirty="0"/>
              <a:t>For constant-sum games, if they are not additive, it doesn't necessarily imply that the core is empty. Some constant-sum games may have non-empty cores, so </a:t>
            </a:r>
            <a:r>
              <a:rPr lang="en-US" b="1" dirty="0"/>
              <a:t>core</a:t>
            </a:r>
            <a:r>
              <a:rPr lang="en-US" dirty="0"/>
              <a:t>(𝐺) can still be non-empty. The existence of the core in constant-sum games depends on the specific characteristics of the game.</a:t>
            </a:r>
          </a:p>
          <a:p>
            <a:pPr marL="228600" indent="-228600">
              <a:buFont typeface="+mj-lt"/>
              <a:buAutoNum type="arabicPeriod"/>
            </a:pPr>
            <a:endParaRPr lang="en-US" dirty="0"/>
          </a:p>
          <a:p>
            <a:pPr marL="228600" indent="-228600">
              <a:buFont typeface="+mj-lt"/>
              <a:buAutoNum type="arabicPeriod"/>
            </a:pPr>
            <a:r>
              <a:rPr lang="en-US" b="1" dirty="0"/>
              <a:t>Simple Games: </a:t>
            </a:r>
            <a:r>
              <a:rPr lang="en-US" dirty="0"/>
              <a:t>In simple games, </a:t>
            </a:r>
            <a:r>
              <a:rPr lang="en-US" b="1" dirty="0"/>
              <a:t>core</a:t>
            </a:r>
            <a:r>
              <a:rPr lang="en-US" dirty="0"/>
              <a:t>(𝐺)≠∅ if and only if there is a veto player. A veto player is a player whose agreement is required for the formation of any winning coalition. If a game has a veto player, it ensures the core is not empty.</a:t>
            </a:r>
          </a:p>
          <a:p>
            <a:endParaRPr lang="en-US" dirty="0"/>
          </a:p>
          <a:p>
            <a:r>
              <a:rPr lang="en-US" dirty="0"/>
              <a:t>These properties offer valuable insights into the core's existence and stability within different classes of coalitional games, helping us understand when stable coalition structures are more likely to form.</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33</a:t>
            </a:fld>
            <a:endParaRPr lang="en-MY"/>
          </a:p>
        </p:txBody>
      </p:sp>
    </p:spTree>
    <p:extLst>
      <p:ext uri="{BB962C8B-B14F-4D97-AF65-F5344CB8AC3E}">
        <p14:creationId xmlns:p14="http://schemas.microsoft.com/office/powerpoint/2010/main" val="26595345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summary nicely captures the relationships between different classes of coalitional games and their cores, as well as the Shapley value's presence in the core:</a:t>
            </a:r>
          </a:p>
          <a:p>
            <a:endParaRPr lang="en-US" dirty="0"/>
          </a:p>
          <a:p>
            <a:pPr marL="228600" indent="-228600">
              <a:buFont typeface="+mj-lt"/>
              <a:buAutoNum type="arabicPeriod"/>
            </a:pPr>
            <a:r>
              <a:rPr lang="en-US" b="1" dirty="0"/>
              <a:t>Games with a Non-Empty Core: </a:t>
            </a:r>
            <a:r>
              <a:rPr lang="en-US" dirty="0"/>
              <a:t>The core is guaranteed to be non-empty in the following types of games:</a:t>
            </a:r>
          </a:p>
          <a:p>
            <a:pPr marL="628650" lvl="1" indent="-171450">
              <a:buFont typeface="Arial" panose="020B0604020202020204" pitchFamily="34" charset="0"/>
              <a:buChar char="•"/>
            </a:pPr>
            <a:r>
              <a:rPr lang="en-US" dirty="0"/>
              <a:t>Convex games</a:t>
            </a:r>
          </a:p>
          <a:p>
            <a:pPr marL="628650" lvl="1" indent="-171450">
              <a:buFont typeface="Arial" panose="020B0604020202020204" pitchFamily="34" charset="0"/>
              <a:buChar char="•"/>
            </a:pPr>
            <a:r>
              <a:rPr lang="en-US" dirty="0"/>
              <a:t>Additive games</a:t>
            </a:r>
          </a:p>
          <a:p>
            <a:pPr marL="628650" lvl="1" indent="-171450">
              <a:buFont typeface="Arial" panose="020B0604020202020204" pitchFamily="34" charset="0"/>
              <a:buChar char="•"/>
            </a:pPr>
            <a:r>
              <a:rPr lang="en-US" dirty="0"/>
              <a:t>Constant-sum games, but only when they are additive</a:t>
            </a:r>
          </a:p>
          <a:p>
            <a:pPr marL="628650" lvl="1" indent="-171450">
              <a:buFont typeface="Arial" panose="020B0604020202020204" pitchFamily="34" charset="0"/>
              <a:buChar char="•"/>
            </a:pPr>
            <a:r>
              <a:rPr lang="en-US" dirty="0"/>
              <a:t>Simple (and proper simple) games that have a veto player</a:t>
            </a:r>
          </a:p>
          <a:p>
            <a:endParaRPr lang="en-US" dirty="0"/>
          </a:p>
          <a:p>
            <a:pPr marL="228600" indent="-228600">
              <a:buFont typeface="+mj-lt"/>
              <a:buAutoNum type="arabicPeriod" startAt="2"/>
            </a:pPr>
            <a:r>
              <a:rPr lang="en-US" b="1" dirty="0"/>
              <a:t>Shapley Value in the Core: </a:t>
            </a:r>
            <a:r>
              <a:rPr lang="en-US" dirty="0"/>
              <a:t>The Shapley value is in the core of specific game types:</a:t>
            </a:r>
          </a:p>
          <a:p>
            <a:pPr marL="628650" lvl="1" indent="-171450">
              <a:buFont typeface="Arial" panose="020B0604020202020204" pitchFamily="34" charset="0"/>
              <a:buChar char="•"/>
            </a:pPr>
            <a:r>
              <a:rPr lang="en-US" dirty="0"/>
              <a:t>The Shapley value is in the core of every convex game.</a:t>
            </a:r>
          </a:p>
          <a:p>
            <a:pPr marL="628650" lvl="1" indent="-171450">
              <a:buFont typeface="Arial" panose="020B0604020202020204" pitchFamily="34" charset="0"/>
              <a:buChar char="•"/>
            </a:pPr>
            <a:r>
              <a:rPr lang="en-US" dirty="0"/>
              <a:t>Therefore, the Shapley value is in the core of every additive game.</a:t>
            </a:r>
          </a:p>
          <a:p>
            <a:pPr marL="628650" lvl="1" indent="-171450">
              <a:buFont typeface="Arial" panose="020B0604020202020204" pitchFamily="34" charset="0"/>
              <a:buChar char="•"/>
            </a:pPr>
            <a:r>
              <a:rPr lang="en-US" dirty="0"/>
              <a:t>The Shapley value is in the core of every constant-sum game when the core is not empty, which occurs when the game is additive.</a:t>
            </a:r>
          </a:p>
          <a:p>
            <a:endParaRPr lang="en-US" dirty="0"/>
          </a:p>
          <a:p>
            <a:r>
              <a:rPr lang="en-US" dirty="0"/>
              <a:t>These insights help us understand the relationships between different classes of games, their core properties, and the Shapley value's position within those cores.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34</a:t>
            </a:fld>
            <a:endParaRPr lang="en-MY"/>
          </a:p>
        </p:txBody>
      </p:sp>
    </p:spTree>
    <p:extLst>
      <p:ext uri="{BB962C8B-B14F-4D97-AF65-F5344CB8AC3E}">
        <p14:creationId xmlns:p14="http://schemas.microsoft.com/office/powerpoint/2010/main" val="32989091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given simple game G with characteristic function v, we have:</a:t>
            </a:r>
          </a:p>
          <a:p>
            <a:endParaRPr lang="en-US" dirty="0"/>
          </a:p>
          <a:p>
            <a:pPr marL="628650" lvl="1" indent="-171450">
              <a:buFont typeface="Arial" panose="020B0604020202020204" pitchFamily="34" charset="0"/>
              <a:buChar char="•"/>
            </a:pPr>
            <a:r>
              <a:rPr lang="en-US" dirty="0"/>
              <a:t>N = {1, 2, 3}</a:t>
            </a:r>
          </a:p>
          <a:p>
            <a:pPr marL="628650" lvl="1" indent="-171450">
              <a:buFont typeface="Arial" panose="020B0604020202020204" pitchFamily="34" charset="0"/>
              <a:buChar char="•"/>
            </a:pPr>
            <a:r>
              <a:rPr lang="en-US" dirty="0"/>
              <a:t>v(∅) = v({2}) = v({3}) = v({2, 3}) = 0</a:t>
            </a:r>
          </a:p>
          <a:p>
            <a:pPr marL="628650" lvl="1" indent="-171450">
              <a:buFont typeface="Arial" panose="020B0604020202020204" pitchFamily="34" charset="0"/>
              <a:buChar char="•"/>
            </a:pPr>
            <a:r>
              <a:rPr lang="en-US" dirty="0"/>
              <a:t>v({1}) = v({1, 2}) = v({1, 3}) = v({1, 2, 3}) = 1</a:t>
            </a:r>
          </a:p>
          <a:p>
            <a:endParaRPr lang="en-US" dirty="0"/>
          </a:p>
          <a:p>
            <a:r>
              <a:rPr lang="en-US" dirty="0"/>
              <a:t>The core of G is not empty, which means there are feasible payoff vectors (x) that satisfy both the individual rationality and group rationality conditions. Specifically, for a feasible payoff vector to be in the core, it should satisfy:</a:t>
            </a:r>
          </a:p>
          <a:p>
            <a:endParaRPr lang="en-US" dirty="0"/>
          </a:p>
          <a:p>
            <a:pPr marL="628650" lvl="1" indent="-171450">
              <a:buFont typeface="Arial" panose="020B0604020202020204" pitchFamily="34" charset="0"/>
              <a:buChar char="•"/>
            </a:pPr>
            <a:r>
              <a:rPr lang="en-US" dirty="0"/>
              <a:t>For player 1: x1 ≥ 1</a:t>
            </a:r>
          </a:p>
          <a:p>
            <a:pPr marL="628650" lvl="1" indent="-171450">
              <a:buFont typeface="Arial" panose="020B0604020202020204" pitchFamily="34" charset="0"/>
              <a:buChar char="•"/>
            </a:pPr>
            <a:r>
              <a:rPr lang="en-US" dirty="0"/>
              <a:t>For player 2: x2 ≥ 0</a:t>
            </a:r>
          </a:p>
          <a:p>
            <a:pPr marL="628650" lvl="1" indent="-171450">
              <a:buFont typeface="Arial" panose="020B0604020202020204" pitchFamily="34" charset="0"/>
              <a:buChar char="•"/>
            </a:pPr>
            <a:r>
              <a:rPr lang="en-US" dirty="0"/>
              <a:t>For player 3: x3 ≥ 0</a:t>
            </a:r>
          </a:p>
          <a:p>
            <a:pPr marL="628650" lvl="1" indent="-171450">
              <a:buFont typeface="Arial" panose="020B0604020202020204" pitchFamily="34" charset="0"/>
              <a:buChar char="•"/>
            </a:pPr>
            <a:r>
              <a:rPr lang="en-US" dirty="0"/>
              <a:t>For the coalition {1, 2}: x1 + x2 ≥ 1</a:t>
            </a:r>
          </a:p>
          <a:p>
            <a:pPr marL="628650" lvl="1" indent="-171450">
              <a:buFont typeface="Arial" panose="020B0604020202020204" pitchFamily="34" charset="0"/>
              <a:buChar char="•"/>
            </a:pPr>
            <a:r>
              <a:rPr lang="en-US" dirty="0"/>
              <a:t>For the coalition {1, 3}: x1 + x3 ≥ 1</a:t>
            </a:r>
          </a:p>
          <a:p>
            <a:pPr marL="628650" lvl="1" indent="-171450">
              <a:buFont typeface="Arial" panose="020B0604020202020204" pitchFamily="34" charset="0"/>
              <a:buChar char="•"/>
            </a:pPr>
            <a:r>
              <a:rPr lang="en-US" dirty="0"/>
              <a:t>For the coalition {2, 3}: x2 + x3 ≥ 0</a:t>
            </a:r>
          </a:p>
          <a:p>
            <a:pPr marL="628650" lvl="1" indent="-171450">
              <a:buFont typeface="Arial" panose="020B0604020202020204" pitchFamily="34" charset="0"/>
              <a:buChar char="•"/>
            </a:pPr>
            <a:r>
              <a:rPr lang="en-US" dirty="0"/>
              <a:t>For the grand coalition {1, 2, 3}: x1 + x2 + x3 = 1</a:t>
            </a:r>
          </a:p>
          <a:p>
            <a:endParaRPr lang="en-US" dirty="0"/>
          </a:p>
          <a:p>
            <a:r>
              <a:rPr lang="en-US" dirty="0"/>
              <a:t>The core is not empty, which means there exist payoff vectors that satisfy these conditions. In this game, player 1 acts as a veto player because they have the power to block any coalition formation.</a:t>
            </a:r>
          </a:p>
          <a:p>
            <a:endParaRPr lang="en-US" dirty="0"/>
          </a:p>
          <a:p>
            <a:r>
              <a:rPr lang="en-US" dirty="0"/>
              <a:t>Additionally, the Shapley value of this game, denoted as φ(N, v), is (1, 0, 0), and it also belongs to the core of the game. This further highlights the presence of a veto player in the game.</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35</a:t>
            </a:fld>
            <a:endParaRPr lang="en-MY"/>
          </a:p>
        </p:txBody>
      </p:sp>
    </p:spTree>
    <p:extLst>
      <p:ext uri="{BB962C8B-B14F-4D97-AF65-F5344CB8AC3E}">
        <p14:creationId xmlns:p14="http://schemas.microsoft.com/office/powerpoint/2010/main" val="37633273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compact representation of a coalitional game can be achieved using a Marginal Contribution Net (MC-net). This approach allows for a concise and structured representation of the game. Here's the process to construct a coalitional game from an MC-net:</a:t>
            </a:r>
          </a:p>
          <a:p>
            <a:endParaRPr lang="en-US" dirty="0"/>
          </a:p>
          <a:p>
            <a:r>
              <a:rPr lang="en-US" b="1" dirty="0"/>
              <a:t>Output: </a:t>
            </a:r>
            <a:r>
              <a:rPr lang="en-US" dirty="0"/>
              <a:t>Game 𝐺 = (𝑁, 𝑣)</a:t>
            </a:r>
          </a:p>
          <a:p>
            <a:r>
              <a:rPr lang="en-US" b="1" dirty="0"/>
              <a:t>Input: </a:t>
            </a:r>
            <a:r>
              <a:rPr lang="en-US" dirty="0"/>
              <a:t>MC-net [(𝑝₁, 𝑤₁), (𝑝₂, 𝑤₂), ..., (𝑝ₖ, 𝑤ₖ)]</a:t>
            </a:r>
          </a:p>
          <a:p>
            <a:endParaRPr lang="en-US" dirty="0"/>
          </a:p>
          <a:p>
            <a:r>
              <a:rPr lang="en-US" dirty="0"/>
              <a:t>In the MC-net, each entry consists of a Boolean logic formula (𝑝ᵢ) and a corresponding weight (𝑤ᵢ), where 𝑖 ranges from 1 to 𝑘. These formulas are used to define the characteristic function of the game.</a:t>
            </a:r>
          </a:p>
          <a:p>
            <a:endParaRPr lang="en-US" dirty="0"/>
          </a:p>
          <a:p>
            <a:pPr marL="228600" indent="-228600">
              <a:buFont typeface="+mj-lt"/>
              <a:buAutoNum type="arabicPeriod"/>
            </a:pPr>
            <a:r>
              <a:rPr lang="en-US" b="1" dirty="0"/>
              <a:t>Player Set: </a:t>
            </a:r>
            <a:r>
              <a:rPr lang="en-US" dirty="0"/>
              <a:t>Define the player set 𝑁 as the union of variables present in the Boolean formulas: 𝑁 = ∪𝑖 𝑉𝑎𝑟𝑠(𝑝ᵢ) for 1 ≤ 𝑖 ≤ 𝑘.</a:t>
            </a:r>
          </a:p>
          <a:p>
            <a:pPr marL="228600" indent="-228600">
              <a:buFont typeface="+mj-lt"/>
              <a:buAutoNum type="arabicPeriod"/>
            </a:pPr>
            <a:endParaRPr lang="en-US" dirty="0"/>
          </a:p>
          <a:p>
            <a:pPr marL="228600" indent="-228600">
              <a:buFont typeface="+mj-lt"/>
              <a:buAutoNum type="arabicPeriod"/>
            </a:pPr>
            <a:r>
              <a:rPr lang="en-US" b="1" dirty="0"/>
              <a:t>Characteristic Function: </a:t>
            </a:r>
            <a:r>
              <a:rPr lang="en-US" dirty="0"/>
              <a:t>Define the characteristic function 𝑣(𝐶) for any coalition 𝐶 as follows:</a:t>
            </a:r>
          </a:p>
          <a:p>
            <a:pPr marL="628650" lvl="1" indent="-171450">
              <a:buFont typeface="Arial" panose="020B0604020202020204" pitchFamily="34" charset="0"/>
              <a:buChar char="•"/>
            </a:pPr>
            <a:r>
              <a:rPr lang="en-US" dirty="0"/>
              <a:t>𝑣(𝐶) = Σᵢ 𝑝ᵢ(𝐶) ⋅ 𝑤ᵢ</a:t>
            </a:r>
          </a:p>
          <a:p>
            <a:pPr marL="628650" lvl="1" indent="-171450">
              <a:buFont typeface="Arial" panose="020B0604020202020204" pitchFamily="34" charset="0"/>
              <a:buChar char="•"/>
            </a:pPr>
            <a:r>
              <a:rPr lang="en-US" dirty="0"/>
              <a:t>Here, 𝑝ᵢ(𝐶) evaluates to 1 if the coalition 𝐶 is a satisfying assignment for formula 𝑝ᵢ; otherwise, it evaluates to 0.</a:t>
            </a:r>
          </a:p>
          <a:p>
            <a:endParaRPr lang="en-US" dirty="0"/>
          </a:p>
          <a:p>
            <a:r>
              <a:rPr lang="en-US" dirty="0"/>
              <a:t>By defining the characteristic function in this way, you construct a coalitional game 𝐺 based on the given MC-net. This representation is more compact and structured, making it easier to work with and analyze the game. The MC-net approach offers a convenient way to represent complex games concisely using Boolean logic formulas and associated weights.</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36</a:t>
            </a:fld>
            <a:endParaRPr lang="en-MY"/>
          </a:p>
        </p:txBody>
      </p:sp>
    </p:spTree>
    <p:extLst>
      <p:ext uri="{BB962C8B-B14F-4D97-AF65-F5344CB8AC3E}">
        <p14:creationId xmlns:p14="http://schemas.microsoft.com/office/powerpoint/2010/main" val="42877691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Let's create a coalitional game based on the provided MC-net input [(1∧2, 5), (2, 7)]:</a:t>
                </a:r>
              </a:p>
              <a:p>
                <a:endParaRPr lang="en-US" dirty="0"/>
              </a:p>
              <a:p>
                <a:r>
                  <a:rPr lang="en-US" b="1" dirty="0"/>
                  <a:t>Input: </a:t>
                </a:r>
                <a:r>
                  <a:rPr lang="en-US" dirty="0"/>
                  <a:t>[(1∧2, 5), (2, 7)]</a:t>
                </a:r>
              </a:p>
              <a:p>
                <a:endParaRPr lang="en-US" dirty="0"/>
              </a:p>
              <a:p>
                <a:r>
                  <a:rPr lang="en-US" b="1" dirty="0"/>
                  <a:t>Output:</a:t>
                </a:r>
              </a:p>
              <a:p>
                <a:pPr marL="171450" indent="-171450">
                  <a:buFont typeface="Arial" panose="020B0604020202020204" pitchFamily="34" charset="0"/>
                  <a:buChar char="•"/>
                </a:pPr>
                <a:r>
                  <a:rPr lang="en-US" dirty="0"/>
                  <a:t>Player Set: 𝑁 = {1, 2}</a:t>
                </a:r>
              </a:p>
              <a:p>
                <a:pPr marL="171450" indent="-171450">
                  <a:buFont typeface="Arial" panose="020B0604020202020204" pitchFamily="34" charset="0"/>
                  <a:buChar char="•"/>
                </a:pPr>
                <a:r>
                  <a:rPr lang="en-US" dirty="0"/>
                  <a:t>Characteristic Function:</a:t>
                </a:r>
              </a:p>
              <a:p>
                <a:pPr marL="628650" lvl="1" indent="-171450">
                  <a:buFont typeface="Arial" panose="020B0604020202020204" pitchFamily="34" charset="0"/>
                  <a:buChar char="•"/>
                </a:pPr>
                <a:r>
                  <a:rPr lang="en-US" dirty="0"/>
                  <a:t>𝑣(∅) = 0 (The characteristic value of an empty coalition is always 0.)</a:t>
                </a:r>
              </a:p>
              <a:p>
                <a:pPr marL="628650" lvl="1" indent="-171450">
                  <a:buFont typeface="Arial" panose="020B0604020202020204" pitchFamily="34" charset="0"/>
                  <a:buChar char="•"/>
                </a:pPr>
                <a:r>
                  <a:rPr lang="en-US" dirty="0"/>
                  <a:t>𝑣({1}) = 0 (Using the first formula: 1∧2 evaluates to 0 when 1 is alone.)</a:t>
                </a:r>
              </a:p>
              <a:p>
                <a:pPr marL="628650" lvl="1" indent="-171450">
                  <a:buFont typeface="Arial" panose="020B0604020202020204" pitchFamily="34" charset="0"/>
                  <a:buChar char="•"/>
                </a:pPr>
                <a:r>
                  <a:rPr lang="en-US" dirty="0"/>
                  <a:t>𝑣({2}) = 7 (Using the second formula: 2 alone has a characteristic value of 7.)</a:t>
                </a:r>
              </a:p>
              <a:p>
                <a:pPr marL="628650" lvl="1" indent="-171450">
                  <a:buFont typeface="Arial" panose="020B0604020202020204" pitchFamily="34" charset="0"/>
                  <a:buChar char="•"/>
                </a:pPr>
                <a:r>
                  <a:rPr lang="en-US" dirty="0"/>
                  <a:t>𝑣({1, 2}) = 5 + 7 = 12 (Using the first formula, 1∧2 evaluates to 1 when both 1 and 2 are in the coalition.)</a:t>
                </a:r>
              </a:p>
              <a:p>
                <a:endParaRPr lang="en-MY" b="1" dirty="0"/>
              </a:p>
              <a:p>
                <a:r>
                  <a:rPr lang="en-MY" b="1" dirty="0"/>
                  <a:t>Step-by-Step Explanation:</a:t>
                </a: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MY" sz="1200" kern="1200" spc="10" dirty="0" smtClean="0">
                          <a:solidFill>
                            <a:schemeClr val="tx1"/>
                          </a:solidFill>
                          <a:latin typeface="Cambria Math" panose="02040503050406030204" pitchFamily="18" charset="0"/>
                          <a:ea typeface="+mn-ea"/>
                          <a:cs typeface="Tahoma"/>
                        </a:rPr>
                        <m:t>𝑣</m:t>
                      </m:r>
                      <m:r>
                        <a:rPr lang="en-MY" sz="1200" kern="1200" spc="10" dirty="0" smtClean="0">
                          <a:solidFill>
                            <a:schemeClr val="tx1"/>
                          </a:solidFill>
                          <a:latin typeface="Cambria Math" panose="02040503050406030204" pitchFamily="18" charset="0"/>
                          <a:ea typeface="+mn-ea"/>
                          <a:cs typeface="Tahoma"/>
                        </a:rPr>
                        <m:t>(</m:t>
                      </m:r>
                      <m:r>
                        <a:rPr lang="en-MY" sz="1200" kern="1200" spc="10" dirty="0" smtClean="0">
                          <a:solidFill>
                            <a:schemeClr val="tx1"/>
                          </a:solidFill>
                          <a:latin typeface="Cambria Math" panose="02040503050406030204" pitchFamily="18" charset="0"/>
                          <a:ea typeface="+mn-ea"/>
                          <a:cs typeface="Tahoma"/>
                        </a:rPr>
                        <m:t>𝐶</m:t>
                      </m:r>
                      <m:r>
                        <a:rPr lang="en-MY" sz="1200" kern="1200" spc="10" dirty="0" smtClean="0">
                          <a:solidFill>
                            <a:schemeClr val="tx1"/>
                          </a:solidFill>
                          <a:latin typeface="Cambria Math" panose="02040503050406030204" pitchFamily="18" charset="0"/>
                          <a:ea typeface="+mn-ea"/>
                          <a:cs typeface="Tahoma"/>
                        </a:rPr>
                        <m:t>)=</m:t>
                      </m:r>
                      <m:nary>
                        <m:naryPr>
                          <m:chr m:val="∑"/>
                          <m:supHide m:val="on"/>
                          <m:ctrlPr>
                            <a:rPr lang="ar-SA" sz="1200" b="0" i="1" kern="1200" spc="10" dirty="0" smtClean="0">
                              <a:solidFill>
                                <a:schemeClr val="tx1"/>
                              </a:solidFill>
                              <a:latin typeface="Cambria Math" panose="02040503050406030204" pitchFamily="18" charset="0"/>
                              <a:ea typeface="+mn-ea"/>
                              <a:cs typeface="Tahoma"/>
                            </a:rPr>
                          </m:ctrlPr>
                        </m:naryPr>
                        <m:sub>
                          <m:r>
                            <a:rPr lang="ar-SA" sz="1200" b="0" i="1" kern="1200" spc="10" dirty="0" smtClean="0">
                              <a:solidFill>
                                <a:schemeClr val="tx1"/>
                              </a:solidFill>
                              <a:latin typeface="Cambria Math" panose="02040503050406030204" pitchFamily="18" charset="0"/>
                              <a:ea typeface="+mn-ea"/>
                              <a:cs typeface="Tahoma"/>
                            </a:rPr>
                            <m:t>1</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𝑖</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𝑘</m:t>
                          </m:r>
                        </m:sub>
                        <m:sup/>
                        <m:e>
                          <m:sSub>
                            <m:sSubPr>
                              <m:ctrlPr>
                                <a:rPr lang="en-US" sz="1200" b="0" i="0"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e>
                      </m:nary>
                      <m:r>
                        <a:rPr lang="en-MY" i="1" dirty="0" smtClean="0">
                          <a:latin typeface="Cambria Math" panose="02040503050406030204" pitchFamily="18" charset="0"/>
                        </a:rPr>
                        <m:t>​</m:t>
                      </m:r>
                    </m:oMath>
                  </m:oMathPara>
                </a14:m>
                <a:endParaRPr lang="en-MY" b="1" dirty="0"/>
              </a:p>
              <a:p>
                <a:pPr marL="228600" indent="-228600">
                  <a:buFont typeface="+mj-lt"/>
                  <a:buAutoNum type="arabicPeriod"/>
                </a:pPr>
                <a:r>
                  <a:rPr lang="en-MY" b="1" dirty="0"/>
                  <a:t>Understand the Components</a:t>
                </a:r>
                <a:r>
                  <a:rPr lang="en-MY" dirty="0"/>
                  <a:t>:</a:t>
                </a:r>
              </a:p>
              <a:p>
                <a:pPr marL="628650" lvl="1" indent="-171450">
                  <a:buFont typeface="Arial" panose="020B0604020202020204" pitchFamily="34" charset="0"/>
                  <a:buChar char="•"/>
                </a:pPr>
                <a14:m>
                  <m:oMath xmlns:m="http://schemas.openxmlformats.org/officeDocument/2006/math">
                    <m:r>
                      <a:rPr lang="en-MY" i="1" dirty="0" smtClean="0">
                        <a:latin typeface="Cambria Math" panose="02040503050406030204" pitchFamily="18" charset="0"/>
                      </a:rPr>
                      <m:t>𝑣</m:t>
                    </m:r>
                    <m:r>
                      <a:rPr lang="en-MY" i="1" dirty="0" smtClean="0">
                        <a:latin typeface="Cambria Math" panose="02040503050406030204" pitchFamily="18" charset="0"/>
                      </a:rPr>
                      <m:t>(</m:t>
                    </m:r>
                    <m:r>
                      <a:rPr lang="en-MY" i="1" dirty="0" smtClean="0">
                        <a:latin typeface="Cambria Math" panose="02040503050406030204" pitchFamily="18" charset="0"/>
                      </a:rPr>
                      <m:t>𝐶</m:t>
                    </m:r>
                    <m:r>
                      <a:rPr lang="en-MY" i="1" dirty="0" smtClean="0">
                        <a:latin typeface="Cambria Math" panose="02040503050406030204" pitchFamily="18" charset="0"/>
                      </a:rPr>
                      <m:t>)</m:t>
                    </m:r>
                  </m:oMath>
                </a14:m>
                <a:r>
                  <a:rPr lang="en-MY" dirty="0"/>
                  <a:t>: The value of the coalition </a:t>
                </a:r>
                <a14:m>
                  <m:oMath xmlns:m="http://schemas.openxmlformats.org/officeDocument/2006/math">
                    <m:r>
                      <a:rPr lang="en-MY" i="1" dirty="0" smtClean="0">
                        <a:latin typeface="Cambria Math" panose="02040503050406030204" pitchFamily="18" charset="0"/>
                      </a:rPr>
                      <m:t>𝐶</m:t>
                    </m:r>
                  </m:oMath>
                </a14:m>
                <a:r>
                  <a:rPr lang="en-MY"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nary>
                      <m:naryPr>
                        <m:chr m:val="∑"/>
                        <m:supHide m:val="on"/>
                        <m:ctrlPr>
                          <a:rPr lang="ar-SA" sz="1200" b="0" i="1" kern="1200" spc="10" dirty="0" smtClean="0">
                            <a:solidFill>
                              <a:schemeClr val="tx1"/>
                            </a:solidFill>
                            <a:latin typeface="Cambria Math" panose="02040503050406030204" pitchFamily="18" charset="0"/>
                            <a:ea typeface="+mn-ea"/>
                            <a:cs typeface="Tahoma"/>
                          </a:rPr>
                        </m:ctrlPr>
                      </m:naryPr>
                      <m:sub>
                        <m:r>
                          <a:rPr lang="ar-SA" sz="1200" b="0" i="1" kern="1200" spc="10" dirty="0" smtClean="0">
                            <a:solidFill>
                              <a:schemeClr val="tx1"/>
                            </a:solidFill>
                            <a:latin typeface="Cambria Math" panose="02040503050406030204" pitchFamily="18" charset="0"/>
                            <a:ea typeface="+mn-ea"/>
                            <a:cs typeface="Tahoma"/>
                          </a:rPr>
                          <m:t>1</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𝑖</m:t>
                        </m:r>
                        <m:r>
                          <a:rPr lang="ar-SA" sz="1200" b="0" i="1" kern="1200" spc="10" dirty="0" smtClean="0">
                            <a:solidFill>
                              <a:schemeClr val="tx1"/>
                            </a:solidFill>
                            <a:latin typeface="Cambria Math" panose="02040503050406030204" pitchFamily="18" charset="0"/>
                            <a:ea typeface="+mn-ea"/>
                            <a:cs typeface="Tahoma"/>
                          </a:rPr>
                          <m:t>≤</m:t>
                        </m:r>
                        <m:r>
                          <a:rPr lang="ar-SA" sz="1200" b="0" i="1" kern="1200" spc="10" dirty="0" smtClean="0">
                            <a:solidFill>
                              <a:schemeClr val="tx1"/>
                            </a:solidFill>
                            <a:latin typeface="Cambria Math" panose="02040503050406030204" pitchFamily="18" charset="0"/>
                            <a:ea typeface="+mn-ea"/>
                            <a:cs typeface="Tahoma"/>
                          </a:rPr>
                          <m:t>𝑘</m:t>
                        </m:r>
                      </m:sub>
                      <m:sup/>
                      <m:e>
                        <m:sSub>
                          <m:sSubPr>
                            <m:ctrlPr>
                              <a:rPr lang="en-US" sz="1200" b="0" i="0"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e>
                    </m:nary>
                  </m:oMath>
                </a14:m>
                <a:r>
                  <a:rPr lang="en-MY" dirty="0"/>
                  <a:t>: This represents the sum of all weights</a:t>
                </a:r>
                <a14:m>
                  <m:oMath xmlns:m="http://schemas.openxmlformats.org/officeDocument/2006/math">
                    <m:r>
                      <a:rPr lang="en-MY" i="1" dirty="0" smtClean="0">
                        <a:latin typeface="Cambria Math" panose="02040503050406030204" pitchFamily="18" charset="0"/>
                      </a:rPr>
                      <m:t> </m:t>
                    </m:r>
                    <m:sSub>
                      <m:sSubPr>
                        <m:ctrlPr>
                          <a:rPr lang="en-MY" i="1" dirty="0" err="1" smtClean="0">
                            <a:latin typeface="Cambria Math" panose="02040503050406030204" pitchFamily="18" charset="0"/>
                          </a:rPr>
                        </m:ctrlPr>
                      </m:sSubPr>
                      <m:e>
                        <m:r>
                          <a:rPr lang="en-MY" i="1" dirty="0" err="1" smtClean="0">
                            <a:latin typeface="Cambria Math" panose="02040503050406030204" pitchFamily="18" charset="0"/>
                          </a:rPr>
                          <m:t>𝑤</m:t>
                        </m:r>
                      </m:e>
                      <m:sub>
                        <m:r>
                          <a:rPr lang="en-MY" i="1" dirty="0" err="1" smtClean="0">
                            <a:latin typeface="Cambria Math" panose="02040503050406030204" pitchFamily="18" charset="0"/>
                          </a:rPr>
                          <m:t>𝑖</m:t>
                        </m:r>
                      </m:sub>
                    </m:sSub>
                    <m:r>
                      <a:rPr lang="en-MY" i="1" dirty="0" smtClean="0">
                        <a:latin typeface="Cambria Math" panose="02040503050406030204" pitchFamily="18" charset="0"/>
                      </a:rPr>
                      <m:t> </m:t>
                    </m:r>
                  </m:oMath>
                </a14:m>
                <a:r>
                  <a:rPr lang="en-MY" dirty="0"/>
                  <a:t>where the Boolean condition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𝑖</m:t>
                        </m:r>
                      </m:sub>
                    </m:sSub>
                  </m:oMath>
                </a14:m>
                <a:r>
                  <a:rPr lang="en-MY" dirty="0"/>
                  <a:t>​ is satisfied for the coalition </a:t>
                </a:r>
                <a14:m>
                  <m:oMath xmlns:m="http://schemas.openxmlformats.org/officeDocument/2006/math">
                    <m:r>
                      <a:rPr lang="en-MY" i="1" dirty="0" smtClean="0">
                        <a:latin typeface="Cambria Math" panose="02040503050406030204" pitchFamily="18" charset="0"/>
                      </a:rPr>
                      <m:t>𝐶</m:t>
                    </m:r>
                  </m:oMath>
                </a14:m>
                <a:r>
                  <a:rPr lang="en-MY" dirty="0"/>
                  <a:t>.</a:t>
                </a:r>
              </a:p>
              <a:p>
                <a:pPr marL="628650" lvl="1" indent="-171450">
                  <a:buFont typeface="Arial" panose="020B0604020202020204" pitchFamily="34" charset="0"/>
                  <a:buChar char="•"/>
                </a:pP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 Evaluates to 1 if the coalition </a:t>
                </a:r>
                <a14:m>
                  <m:oMath xmlns:m="http://schemas.openxmlformats.org/officeDocument/2006/math">
                    <m:r>
                      <a:rPr lang="en-MY" i="1" dirty="0" smtClean="0">
                        <a:latin typeface="Cambria Math" panose="02040503050406030204" pitchFamily="18" charset="0"/>
                      </a:rPr>
                      <m:t>𝐶</m:t>
                    </m:r>
                  </m:oMath>
                </a14:m>
                <a:r>
                  <a:rPr lang="en-MY" dirty="0"/>
                  <a:t> satisfies the Boolean condition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𝑖</m:t>
                        </m:r>
                      </m:sub>
                    </m:sSub>
                  </m:oMath>
                </a14:m>
                <a:r>
                  <a:rPr lang="en-MY" dirty="0"/>
                  <a:t>, otherwise it evaluates to 0.</a:t>
                </a:r>
              </a:p>
              <a:p>
                <a:pPr marL="228600" indent="-228600">
                  <a:buFont typeface="+mj-lt"/>
                  <a:buAutoNum type="arabicPeriod"/>
                </a:pPr>
                <a:r>
                  <a:rPr lang="en-MY" b="1" dirty="0"/>
                  <a:t>Given Data</a:t>
                </a:r>
                <a:r>
                  <a:rPr lang="en-MY" dirty="0"/>
                  <a:t>:</a:t>
                </a:r>
              </a:p>
              <a:p>
                <a:pPr marL="628650" lvl="1" indent="-171450">
                  <a:buFont typeface="Arial" panose="020B0604020202020204" pitchFamily="34" charset="0"/>
                  <a:buChar char="•"/>
                </a:pPr>
                <a:r>
                  <a:rPr lang="en-MY" dirty="0"/>
                  <a:t>The input MC-net is </a:t>
                </a:r>
                <a14:m>
                  <m:oMath xmlns:m="http://schemas.openxmlformats.org/officeDocument/2006/math">
                    <m:d>
                      <m:dPr>
                        <m:begChr m:val="["/>
                        <m:endChr m:val="]"/>
                        <m:ctrlPr>
                          <a:rPr lang="en-MY" i="1" dirty="0" smtClean="0">
                            <a:latin typeface="Cambria Math" panose="02040503050406030204" pitchFamily="18" charset="0"/>
                          </a:rPr>
                        </m:ctrlPr>
                      </m:dPr>
                      <m:e>
                        <m:d>
                          <m:dPr>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m:t>
                            </m:r>
                            <m:r>
                              <a:rPr lang="en-MY" i="1" dirty="0" smtClean="0">
                                <a:latin typeface="Cambria Math" panose="02040503050406030204" pitchFamily="18" charset="0"/>
                              </a:rPr>
                              <m:t>5</m:t>
                            </m:r>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r>
                              <a:rPr lang="en-MY" i="1" dirty="0" smtClean="0">
                                <a:latin typeface="Cambria Math" panose="02040503050406030204" pitchFamily="18" charset="0"/>
                              </a:rPr>
                              <m:t>2</m:t>
                            </m:r>
                            <m:r>
                              <a:rPr lang="en-MY" i="1" dirty="0" smtClean="0">
                                <a:latin typeface="Cambria Math" panose="02040503050406030204" pitchFamily="18" charset="0"/>
                              </a:rPr>
                              <m:t>, </m:t>
                            </m:r>
                            <m:r>
                              <a:rPr lang="en-MY" i="1" dirty="0" smtClean="0">
                                <a:latin typeface="Cambria Math" panose="02040503050406030204" pitchFamily="18" charset="0"/>
                              </a:rPr>
                              <m:t>7</m:t>
                            </m:r>
                          </m:e>
                        </m:d>
                      </m:e>
                    </m:d>
                  </m:oMath>
                </a14:m>
                <a:r>
                  <a:rPr lang="en-MY" dirty="0"/>
                  <a:t>.</a:t>
                </a:r>
              </a:p>
              <a:p>
                <a:pPr marL="628650" lvl="1" indent="-171450">
                  <a:buFont typeface="Arial" panose="020B0604020202020204" pitchFamily="34" charset="0"/>
                  <a:buChar char="•"/>
                </a:pPr>
                <a:r>
                  <a:rPr lang="en-MY" dirty="0"/>
                  <a:t>This means we have two rules:</a:t>
                </a:r>
              </a:p>
              <a:p>
                <a:pPr marL="1143000" lvl="2" indent="-228600">
                  <a:buFont typeface="Arial" panose="020B0604020202020204" pitchFamily="34" charset="0"/>
                  <a:buChar char="•"/>
                </a:pP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 </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5</m:t>
                    </m:r>
                  </m:oMath>
                </a14:m>
                <a:endParaRPr lang="en-MY" dirty="0"/>
              </a:p>
              <a:p>
                <a:pPr marL="1143000" lvl="2" indent="-228600">
                  <a:buFont typeface="Arial" panose="020B0604020202020204" pitchFamily="34" charset="0"/>
                  <a:buChar char="•"/>
                </a:pP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2</m:t>
                    </m:r>
                    <m:r>
                      <a:rPr lang="en-MY" i="1" dirty="0" smtClean="0">
                        <a:latin typeface="Cambria Math" panose="02040503050406030204" pitchFamily="18" charset="0"/>
                      </a:rPr>
                      <m:t>, </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7</m:t>
                    </m:r>
                  </m:oMath>
                </a14:m>
                <a:endParaRPr lang="en-MY" dirty="0"/>
              </a:p>
              <a:p>
                <a:pPr marL="228600" indent="-228600">
                  <a:buFont typeface="+mj-lt"/>
                  <a:buAutoNum type="arabicPeriod"/>
                </a:pPr>
                <a:r>
                  <a:rPr lang="en-MY" b="1" dirty="0"/>
                  <a:t>Evaluate Each Condition</a:t>
                </a:r>
                <a:r>
                  <a:rPr lang="en-MY" dirty="0"/>
                  <a:t> for Coalition </a:t>
                </a:r>
                <a14:m>
                  <m:oMath xmlns:m="http://schemas.openxmlformats.org/officeDocument/2006/math">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a:t>
                </a:r>
              </a:p>
              <a:p>
                <a:pPr marL="742950" lvl="1" indent="-285750">
                  <a:buFont typeface="Arial" panose="020B0604020202020204" pitchFamily="34" charset="0"/>
                  <a:buChar char="•"/>
                </a:pPr>
                <a:r>
                  <a:rPr lang="en-MY" b="1" dirty="0"/>
                  <a:t>First Condition </a:t>
                </a:r>
                <a14:m>
                  <m:oMath xmlns:m="http://schemas.openxmlformats.org/officeDocument/2006/math">
                    <m:sSub>
                      <m:sSubPr>
                        <m:ctrlPr>
                          <a:rPr lang="en-MY" b="1" i="1" dirty="0" smtClean="0">
                            <a:latin typeface="Cambria Math" panose="02040503050406030204" pitchFamily="18" charset="0"/>
                          </a:rPr>
                        </m:ctrlPr>
                      </m:sSubPr>
                      <m:e>
                        <m:r>
                          <a:rPr lang="en-MY" b="1" i="1" dirty="0" smtClean="0">
                            <a:latin typeface="Cambria Math" panose="02040503050406030204" pitchFamily="18" charset="0"/>
                          </a:rPr>
                          <m:t>𝒑</m:t>
                        </m:r>
                      </m:e>
                      <m:sub>
                        <m:r>
                          <a:rPr lang="en-MY" b="1" i="1" dirty="0" smtClean="0">
                            <a:latin typeface="Cambria Math" panose="02040503050406030204" pitchFamily="18" charset="0"/>
                          </a:rPr>
                          <m:t>𝟏</m:t>
                        </m:r>
                      </m:sub>
                    </m:sSub>
                    <m:r>
                      <a:rPr lang="en-MY" b="1" i="1" dirty="0" smtClean="0">
                        <a:latin typeface="Cambria Math" panose="02040503050406030204" pitchFamily="18" charset="0"/>
                      </a:rPr>
                      <m:t>= </m:t>
                    </m:r>
                    <m:r>
                      <a:rPr lang="en-MY" b="1" i="1" dirty="0" smtClean="0">
                        <a:latin typeface="Cambria Math" panose="02040503050406030204" pitchFamily="18" charset="0"/>
                      </a:rPr>
                      <m:t>𝟏</m:t>
                    </m:r>
                    <m:r>
                      <a:rPr lang="en-MY" b="1" i="1" dirty="0" smtClean="0">
                        <a:latin typeface="Cambria Math" panose="02040503050406030204" pitchFamily="18" charset="0"/>
                      </a:rPr>
                      <m:t>∧</m:t>
                    </m:r>
                    <m:r>
                      <a:rPr lang="en-MY" b="1" i="1" dirty="0" smtClean="0">
                        <a:latin typeface="Cambria Math" panose="02040503050406030204" pitchFamily="18" charset="0"/>
                      </a:rPr>
                      <m:t>𝟐</m:t>
                    </m:r>
                  </m:oMath>
                </a14:m>
                <a:r>
                  <a:rPr lang="en-MY" dirty="0"/>
                  <a:t>:</a:t>
                </a:r>
              </a:p>
              <a:p>
                <a:pPr marL="1143000" lvl="2" indent="-228600">
                  <a:buFont typeface="Arial" panose="020B0604020202020204" pitchFamily="34" charset="0"/>
                  <a:buChar char="•"/>
                </a:pPr>
                <a:r>
                  <a:rPr lang="en-MY" dirty="0"/>
                  <a:t>This condition checks if both players 1 and 2 are in the coalition </a:t>
                </a: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a:t>
                </a:r>
              </a:p>
              <a:p>
                <a:pPr marL="1143000" lvl="2" indent="-22860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𝐶</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 the condition is satisfied, so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m:t>
                    </m:r>
                    <m:r>
                      <a:rPr lang="en-MY" i="1" dirty="0" smtClean="0">
                        <a:latin typeface="Cambria Math" panose="02040503050406030204" pitchFamily="18" charset="0"/>
                      </a:rPr>
                      <m:t>1</m:t>
                    </m:r>
                  </m:oMath>
                </a14:m>
                <a:r>
                  <a:rPr lang="en-MY" dirty="0"/>
                  <a:t>.</a:t>
                </a:r>
              </a:p>
              <a:p>
                <a:pPr marL="1143000" lvl="2" indent="-228600">
                  <a:buFont typeface="Arial" panose="020B0604020202020204" pitchFamily="34" charset="0"/>
                  <a:buChar char="•"/>
                </a:pPr>
                <a:r>
                  <a:rPr lang="en-MY" dirty="0"/>
                  <a:t>Therefore, the contribution from this condition is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5</m:t>
                    </m:r>
                    <m:r>
                      <a:rPr lang="en-MY" i="1" dirty="0" smtClean="0">
                        <a:latin typeface="Cambria Math" panose="02040503050406030204" pitchFamily="18" charset="0"/>
                      </a:rPr>
                      <m:t> = </m:t>
                    </m:r>
                    <m:r>
                      <a:rPr lang="en-MY" i="1" dirty="0" smtClean="0">
                        <a:latin typeface="Cambria Math" panose="02040503050406030204" pitchFamily="18" charset="0"/>
                      </a:rPr>
                      <m:t>5</m:t>
                    </m:r>
                    <m:r>
                      <a:rPr lang="en-MY" i="1" dirty="0" smtClean="0">
                        <a:latin typeface="Cambria Math" panose="02040503050406030204" pitchFamily="18" charset="0"/>
                      </a:rPr>
                      <m:t>.</m:t>
                    </m:r>
                  </m:oMath>
                </a14:m>
                <a:endParaRPr lang="en-MY" dirty="0"/>
              </a:p>
              <a:p>
                <a:pPr marL="742950" lvl="1" indent="-285750">
                  <a:buFont typeface="Arial" panose="020B0604020202020204" pitchFamily="34" charset="0"/>
                  <a:buChar char="•"/>
                </a:pPr>
                <a:r>
                  <a:rPr lang="en-MY" b="1" dirty="0"/>
                  <a:t>Second Condition </a:t>
                </a:r>
                <a14:m>
                  <m:oMath xmlns:m="http://schemas.openxmlformats.org/officeDocument/2006/math">
                    <m:sSub>
                      <m:sSubPr>
                        <m:ctrlPr>
                          <a:rPr lang="en-MY" b="1" i="1" dirty="0" smtClean="0">
                            <a:latin typeface="Cambria Math" panose="02040503050406030204" pitchFamily="18" charset="0"/>
                          </a:rPr>
                        </m:ctrlPr>
                      </m:sSubPr>
                      <m:e>
                        <m:r>
                          <a:rPr lang="en-MY" b="1" i="1" dirty="0" smtClean="0">
                            <a:latin typeface="Cambria Math" panose="02040503050406030204" pitchFamily="18" charset="0"/>
                          </a:rPr>
                          <m:t>𝒑</m:t>
                        </m:r>
                      </m:e>
                      <m:sub>
                        <m:r>
                          <a:rPr lang="en-MY" b="1" i="1" dirty="0" smtClean="0">
                            <a:latin typeface="Cambria Math" panose="02040503050406030204" pitchFamily="18" charset="0"/>
                          </a:rPr>
                          <m:t>𝟐</m:t>
                        </m:r>
                      </m:sub>
                    </m:sSub>
                    <m:r>
                      <a:rPr lang="en-MY" b="1" i="1" dirty="0" smtClean="0">
                        <a:latin typeface="Cambria Math" panose="02040503050406030204" pitchFamily="18" charset="0"/>
                      </a:rPr>
                      <m:t>= </m:t>
                    </m:r>
                    <m:r>
                      <a:rPr lang="en-MY" b="1" i="1" dirty="0" smtClean="0">
                        <a:latin typeface="Cambria Math" panose="02040503050406030204" pitchFamily="18" charset="0"/>
                      </a:rPr>
                      <m:t>𝟐</m:t>
                    </m:r>
                  </m:oMath>
                </a14:m>
                <a:r>
                  <a:rPr lang="en-MY" dirty="0"/>
                  <a:t>:</a:t>
                </a:r>
              </a:p>
              <a:p>
                <a:pPr marL="1143000" lvl="2" indent="-228600">
                  <a:buFont typeface="Arial" panose="020B0604020202020204" pitchFamily="34" charset="0"/>
                  <a:buChar char="•"/>
                </a:pPr>
                <a:r>
                  <a:rPr lang="en-MY" dirty="0"/>
                  <a:t>This condition checks if player 2 is in the coalition </a:t>
                </a:r>
                <a14:m>
                  <m:oMath xmlns:m="http://schemas.openxmlformats.org/officeDocument/2006/math">
                    <m:sSub>
                      <m:sSubPr>
                        <m:ctrlPr>
                          <a:rPr lang="en-US"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𝑝</m:t>
                        </m:r>
                      </m:e>
                      <m:sub>
                        <m:r>
                          <a:rPr lang="ar-SA" sz="1200" kern="1200" spc="10" dirty="0">
                            <a:solidFill>
                              <a:schemeClr val="tx1"/>
                            </a:solidFill>
                            <a:latin typeface="Cambria Math" panose="02040503050406030204" pitchFamily="18" charset="0"/>
                            <a:cs typeface="Tahoma"/>
                          </a:rPr>
                          <m:t>𝑖</m:t>
                        </m:r>
                      </m:sub>
                    </m:sSub>
                    <m:d>
                      <m:dPr>
                        <m:ctrlPr>
                          <a:rPr lang="ar-SA" sz="1200" i="1" kern="1200" spc="10" dirty="0">
                            <a:solidFill>
                              <a:schemeClr val="tx1"/>
                            </a:solidFill>
                            <a:latin typeface="Cambria Math" panose="02040503050406030204" pitchFamily="18" charset="0"/>
                            <a:cs typeface="Tahoma"/>
                          </a:rPr>
                        </m:ctrlPr>
                      </m:dPr>
                      <m:e>
                        <m:r>
                          <a:rPr lang="ar-SA" sz="1200" kern="1200" spc="10" dirty="0" smtClean="0">
                            <a:solidFill>
                              <a:schemeClr val="tx1"/>
                            </a:solidFill>
                            <a:latin typeface="Cambria Math" panose="02040503050406030204" pitchFamily="18" charset="0"/>
                            <a:cs typeface="Tahoma"/>
                          </a:rPr>
                          <m:t>𝐶</m:t>
                        </m:r>
                      </m:e>
                    </m:d>
                    <m:sSub>
                      <m:sSubPr>
                        <m:ctrlPr>
                          <a:rPr lang="ar-SA" sz="1200" b="0" i="1" kern="1200" spc="10" dirty="0" smtClean="0">
                            <a:solidFill>
                              <a:schemeClr val="tx1"/>
                            </a:solidFill>
                            <a:latin typeface="Cambria Math" panose="02040503050406030204" pitchFamily="18" charset="0"/>
                            <a:cs typeface="Tahoma"/>
                          </a:rPr>
                        </m:ctrlPr>
                      </m:sSubPr>
                      <m:e>
                        <m:r>
                          <a:rPr lang="ar-SA" sz="1200" kern="1200" spc="10" dirty="0">
                            <a:solidFill>
                              <a:schemeClr val="tx1"/>
                            </a:solidFill>
                            <a:latin typeface="Cambria Math" panose="02040503050406030204" pitchFamily="18" charset="0"/>
                            <a:cs typeface="Tahoma"/>
                          </a:rPr>
                          <m:t>𝑤</m:t>
                        </m:r>
                      </m:e>
                      <m:sub>
                        <m:r>
                          <a:rPr lang="ar-SA" sz="1200" kern="1200" spc="10" dirty="0">
                            <a:solidFill>
                              <a:schemeClr val="tx1"/>
                            </a:solidFill>
                            <a:latin typeface="Cambria Math" panose="02040503050406030204" pitchFamily="18" charset="0"/>
                            <a:cs typeface="Tahoma"/>
                          </a:rPr>
                          <m:t>𝑖</m:t>
                        </m:r>
                      </m:sub>
                    </m:sSub>
                  </m:oMath>
                </a14:m>
                <a:r>
                  <a:rPr lang="en-MY" dirty="0"/>
                  <a:t>.</a:t>
                </a:r>
              </a:p>
              <a:p>
                <a:pPr marL="1143000" lvl="2" indent="-228600">
                  <a:buFont typeface="Arial" panose="020B0604020202020204" pitchFamily="34" charset="0"/>
                  <a:buChar char="•"/>
                </a:pPr>
                <a:r>
                  <a:rPr lang="en-MY" dirty="0"/>
                  <a:t>Since </a:t>
                </a:r>
                <a14:m>
                  <m:oMath xmlns:m="http://schemas.openxmlformats.org/officeDocument/2006/math">
                    <m:r>
                      <a:rPr lang="en-MY" i="1" dirty="0" smtClean="0">
                        <a:latin typeface="Cambria Math" panose="02040503050406030204" pitchFamily="18" charset="0"/>
                      </a:rPr>
                      <m:t>𝐶</m:t>
                    </m:r>
                    <m: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m:t>
                    </m:r>
                    <m:r>
                      <a:rPr lang="en-MY" i="1" dirty="0" smtClean="0">
                        <a:latin typeface="Cambria Math" panose="02040503050406030204" pitchFamily="18" charset="0"/>
                      </a:rPr>
                      <m:t>2</m:t>
                    </m:r>
                    <m:r>
                      <a:rPr lang="en-MY" i="1" dirty="0" smtClean="0">
                        <a:latin typeface="Cambria Math" panose="02040503050406030204" pitchFamily="18" charset="0"/>
                      </a:rPr>
                      <m:t>}</m:t>
                    </m:r>
                  </m:oMath>
                </a14:m>
                <a:r>
                  <a:rPr lang="en-MY" dirty="0"/>
                  <a:t>, the condition is satisfied, so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d>
                          <m:dPr>
                            <m:begChr m:val="{"/>
                            <m:endChr m:val="}"/>
                            <m:ctrlPr>
                              <a:rPr lang="en-MY" i="1" dirty="0" smtClean="0">
                                <a:latin typeface="Cambria Math" panose="02040503050406030204" pitchFamily="18" charset="0"/>
                              </a:rPr>
                            </m:ctrlPr>
                          </m:dPr>
                          <m:e>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e>
                        </m:d>
                      </m:e>
                    </m:d>
                    <m:r>
                      <a:rPr lang="en-MY" i="1" dirty="0" smtClean="0">
                        <a:latin typeface="Cambria Math" panose="02040503050406030204" pitchFamily="18" charset="0"/>
                      </a:rPr>
                      <m:t>= </m:t>
                    </m:r>
                    <m:r>
                      <a:rPr lang="en-MY" i="1" dirty="0" smtClean="0">
                        <a:latin typeface="Cambria Math" panose="02040503050406030204" pitchFamily="18" charset="0"/>
                      </a:rPr>
                      <m:t>1</m:t>
                    </m:r>
                  </m:oMath>
                </a14:m>
                <a:r>
                  <a:rPr lang="en-MY" dirty="0"/>
                  <a:t>.</a:t>
                </a:r>
              </a:p>
              <a:p>
                <a:pPr marL="1143000" lvl="2" indent="-228600">
                  <a:buFont typeface="Arial" panose="020B0604020202020204" pitchFamily="34" charset="0"/>
                  <a:buChar char="•"/>
                </a:pPr>
                <a:r>
                  <a:rPr lang="en-MY" dirty="0"/>
                  <a:t>Therefore, the contribution from this condition is </a:t>
                </a:r>
                <a14:m>
                  <m:oMath xmlns:m="http://schemas.openxmlformats.org/officeDocument/2006/math">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r>
                      <a:rPr lang="en-MY" i="1" dirty="0" smtClean="0">
                        <a:latin typeface="Cambria Math" panose="02040503050406030204" pitchFamily="18" charset="0"/>
                      </a:rPr>
                      <m:t>= </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7</m:t>
                    </m:r>
                    <m:r>
                      <a:rPr lang="en-MY" i="1" dirty="0" smtClean="0">
                        <a:latin typeface="Cambria Math" panose="02040503050406030204" pitchFamily="18" charset="0"/>
                      </a:rPr>
                      <m:t> = </m:t>
                    </m:r>
                    <m:r>
                      <a:rPr lang="en-MY" i="1" dirty="0" smtClean="0">
                        <a:latin typeface="Cambria Math" panose="02040503050406030204" pitchFamily="18" charset="0"/>
                      </a:rPr>
                      <m:t>7</m:t>
                    </m:r>
                  </m:oMath>
                </a14:m>
                <a:r>
                  <a:rPr lang="en-MY" dirty="0"/>
                  <a:t>.</a:t>
                </a:r>
              </a:p>
              <a:p>
                <a:pPr marL="228600" indent="-228600">
                  <a:buFont typeface="+mj-lt"/>
                  <a:buAutoNum type="arabicPeriod"/>
                </a:pPr>
                <a:r>
                  <a:rPr lang="en-MY" b="1" dirty="0"/>
                  <a:t>Calculate </a:t>
                </a:r>
                <a14:m>
                  <m:oMath xmlns:m="http://schemas.openxmlformats.org/officeDocument/2006/math">
                    <m:r>
                      <a:rPr lang="en-MY" b="1" i="1" dirty="0" smtClean="0">
                        <a:latin typeface="Cambria Math" panose="02040503050406030204" pitchFamily="18" charset="0"/>
                      </a:rPr>
                      <m:t>𝒗</m:t>
                    </m:r>
                    <m:r>
                      <a:rPr lang="en-MY" b="1" i="1" dirty="0" smtClean="0">
                        <a:latin typeface="Cambria Math" panose="02040503050406030204" pitchFamily="18" charset="0"/>
                      </a:rPr>
                      <m:t>({</m:t>
                    </m:r>
                    <m:r>
                      <a:rPr lang="en-MY" b="1" i="1" dirty="0" smtClean="0">
                        <a:latin typeface="Cambria Math" panose="02040503050406030204" pitchFamily="18" charset="0"/>
                      </a:rPr>
                      <m:t>𝟏</m:t>
                    </m:r>
                    <m:r>
                      <a:rPr lang="en-MY" b="1" i="1" dirty="0" smtClean="0">
                        <a:latin typeface="Cambria Math" panose="02040503050406030204" pitchFamily="18" charset="0"/>
                      </a:rPr>
                      <m:t>, </m:t>
                    </m:r>
                    <m:r>
                      <a:rPr lang="en-MY" b="1" i="1" dirty="0" smtClean="0">
                        <a:latin typeface="Cambria Math" panose="02040503050406030204" pitchFamily="18" charset="0"/>
                      </a:rPr>
                      <m:t>𝟐</m:t>
                    </m:r>
                    <m:r>
                      <a:rPr lang="en-MY" b="1" i="1" dirty="0" smtClean="0">
                        <a:latin typeface="Cambria Math" panose="02040503050406030204" pitchFamily="18" charset="0"/>
                      </a:rPr>
                      <m:t>})</m:t>
                    </m:r>
                  </m:oMath>
                </a14:m>
                <a:r>
                  <a:rPr lang="en-MY" dirty="0"/>
                  <a:t>:</a:t>
                </a:r>
              </a:p>
              <a:p>
                <a:pPr marL="742950" lvl="1" indent="-285750">
                  <a:buFont typeface="Arial" panose="020B0604020202020204" pitchFamily="34" charset="0"/>
                  <a:buChar char="•"/>
                </a:pPr>
                <a:r>
                  <a:rPr lang="en-MY" dirty="0"/>
                  <a:t>Sum the contributions from all the conditions: </a:t>
                </a:r>
                <a14:m>
                  <m:oMath xmlns:m="http://schemas.openxmlformats.org/officeDocument/2006/math">
                    <m:r>
                      <a:rPr lang="en-MY" i="1" dirty="0" smtClean="0">
                        <a:latin typeface="Cambria Math" panose="02040503050406030204" pitchFamily="18" charset="0"/>
                      </a:rPr>
                      <m:t>𝑣</m:t>
                    </m:r>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1</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1</m:t>
                            </m:r>
                          </m:sub>
                        </m:sSub>
                      </m:e>
                    </m:d>
                    <m:r>
                      <a:rPr lang="en-MY" i="1" dirty="0" smtClean="0">
                        <a:latin typeface="Cambria Math" panose="02040503050406030204" pitchFamily="18" charset="0"/>
                      </a:rPr>
                      <m:t>+ </m:t>
                    </m:r>
                    <m:d>
                      <m:dPr>
                        <m:ctrlPr>
                          <a:rPr lang="en-MY" i="1" dirty="0" smtClean="0">
                            <a:latin typeface="Cambria Math" panose="02040503050406030204" pitchFamily="18" charset="0"/>
                          </a:rPr>
                        </m:ctrlPr>
                      </m:dPr>
                      <m:e>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𝑝</m:t>
                            </m:r>
                          </m:e>
                          <m:sub>
                            <m:r>
                              <a:rPr lang="en-MY" i="1" dirty="0" smtClean="0">
                                <a:latin typeface="Cambria Math" panose="02040503050406030204" pitchFamily="18" charset="0"/>
                              </a:rPr>
                              <m:t>2</m:t>
                            </m:r>
                          </m:sub>
                        </m:sSub>
                        <m:d>
                          <m:dPr>
                            <m:ctrlPr>
                              <a:rPr lang="en-MY" i="1" dirty="0" smtClean="0">
                                <a:latin typeface="Cambria Math" panose="02040503050406030204" pitchFamily="18" charset="0"/>
                              </a:rPr>
                            </m:ctrlPr>
                          </m:dPr>
                          <m:e>
                            <m:r>
                              <m:rPr>
                                <m:lit/>
                              </m:rPr>
                              <a:rPr lang="en-MY" i="1" dirty="0" smtClean="0">
                                <a:latin typeface="Cambria Math" panose="02040503050406030204" pitchFamily="18" charset="0"/>
                              </a:rPr>
                              <m:t>{</m:t>
                            </m:r>
                            <m:r>
                              <a:rPr lang="en-MY" i="1" dirty="0" smtClean="0">
                                <a:latin typeface="Cambria Math" panose="02040503050406030204" pitchFamily="18" charset="0"/>
                              </a:rPr>
                              <m:t>1</m:t>
                            </m:r>
                            <m:r>
                              <a:rPr lang="en-MY" i="1" dirty="0" smtClean="0">
                                <a:latin typeface="Cambria Math" panose="02040503050406030204" pitchFamily="18" charset="0"/>
                              </a:rPr>
                              <m:t>, </m:t>
                            </m:r>
                            <m:r>
                              <a:rPr lang="en-MY" i="1" dirty="0" smtClean="0">
                                <a:latin typeface="Cambria Math" panose="02040503050406030204" pitchFamily="18" charset="0"/>
                              </a:rPr>
                              <m:t>2</m:t>
                            </m:r>
                            <m:r>
                              <m:rPr>
                                <m:lit/>
                              </m:rPr>
                              <a:rPr lang="en-MY" i="1" dirty="0" smtClean="0">
                                <a:latin typeface="Cambria Math" panose="02040503050406030204" pitchFamily="18" charset="0"/>
                              </a:rPr>
                              <m:t>}</m:t>
                            </m:r>
                          </m:e>
                        </m:d>
                        <m:r>
                          <a:rPr lang="en-MY" i="1" dirty="0" smtClean="0">
                            <a:latin typeface="Cambria Math" panose="02040503050406030204" pitchFamily="18" charset="0"/>
                          </a:rPr>
                          <m:t>×</m:t>
                        </m:r>
                        <m:sSub>
                          <m:sSubPr>
                            <m:ctrlPr>
                              <a:rPr lang="en-MY" i="1" dirty="0" smtClean="0">
                                <a:latin typeface="Cambria Math" panose="02040503050406030204" pitchFamily="18" charset="0"/>
                              </a:rPr>
                            </m:ctrlPr>
                          </m:sSubPr>
                          <m:e>
                            <m:r>
                              <a:rPr lang="en-MY" i="1" dirty="0" smtClean="0">
                                <a:latin typeface="Cambria Math" panose="02040503050406030204" pitchFamily="18" charset="0"/>
                              </a:rPr>
                              <m:t>𝑤</m:t>
                            </m:r>
                          </m:e>
                          <m:sub>
                            <m:r>
                              <a:rPr lang="en-MY" i="1" dirty="0" smtClean="0">
                                <a:latin typeface="Cambria Math" panose="02040503050406030204" pitchFamily="18" charset="0"/>
                              </a:rPr>
                              <m:t>2</m:t>
                            </m:r>
                          </m:sub>
                        </m:sSub>
                      </m:e>
                    </m:d>
                    <m:r>
                      <a:rPr lang="en-MY" i="1" dirty="0" smtClean="0">
                        <a:latin typeface="Cambria Math" panose="02040503050406030204" pitchFamily="18" charset="0"/>
                      </a:rPr>
                      <m:t>= </m:t>
                    </m:r>
                    <m:r>
                      <a:rPr lang="en-MY" i="1" dirty="0" smtClean="0">
                        <a:latin typeface="Cambria Math" panose="02040503050406030204" pitchFamily="18" charset="0"/>
                      </a:rPr>
                      <m:t>5</m:t>
                    </m:r>
                    <m:r>
                      <a:rPr lang="en-MY" i="1" dirty="0" smtClean="0">
                        <a:latin typeface="Cambria Math" panose="02040503050406030204" pitchFamily="18" charset="0"/>
                      </a:rPr>
                      <m:t> + </m:t>
                    </m:r>
                    <m:r>
                      <a:rPr lang="en-MY" i="1" dirty="0" smtClean="0">
                        <a:latin typeface="Cambria Math" panose="02040503050406030204" pitchFamily="18" charset="0"/>
                      </a:rPr>
                      <m:t>7</m:t>
                    </m:r>
                    <m:r>
                      <a:rPr lang="en-MY" i="1" dirty="0" smtClean="0">
                        <a:latin typeface="Cambria Math" panose="02040503050406030204" pitchFamily="18" charset="0"/>
                      </a:rPr>
                      <m:t> = </m:t>
                    </m:r>
                    <m:r>
                      <a:rPr lang="en-MY" i="1" dirty="0" smtClean="0">
                        <a:latin typeface="Cambria Math" panose="02040503050406030204" pitchFamily="18" charset="0"/>
                      </a:rPr>
                      <m:t>12</m:t>
                    </m:r>
                  </m:oMath>
                </a14:m>
                <a:endParaRPr lang="en-MY" dirty="0"/>
              </a:p>
              <a:p>
                <a:endParaRPr lang="en-US" dirty="0"/>
              </a:p>
            </p:txBody>
          </p:sp>
        </mc:Choice>
        <mc:Fallback>
          <p:sp>
            <p:nvSpPr>
              <p:cNvPr id="3" name="Notes Placeholder 2"/>
              <p:cNvSpPr>
                <a:spLocks noGrp="1"/>
              </p:cNvSpPr>
              <p:nvPr>
                <p:ph type="body" idx="1"/>
              </p:nvPr>
            </p:nvSpPr>
            <p:spPr/>
            <p:txBody>
              <a:bodyPr/>
              <a:lstStyle/>
              <a:p>
                <a:r>
                  <a:rPr lang="en-US" dirty="0"/>
                  <a:t>Let's create a coalitional game based on the provided MC-net input [(1∧2, 5), (2, 7)]:</a:t>
                </a:r>
              </a:p>
              <a:p>
                <a:endParaRPr lang="en-US" dirty="0"/>
              </a:p>
              <a:p>
                <a:r>
                  <a:rPr lang="en-US" b="1" dirty="0"/>
                  <a:t>Input: </a:t>
                </a:r>
                <a:r>
                  <a:rPr lang="en-US" dirty="0"/>
                  <a:t>[(1∧2, 5), (2, 7)]</a:t>
                </a:r>
              </a:p>
              <a:p>
                <a:endParaRPr lang="en-US" dirty="0"/>
              </a:p>
              <a:p>
                <a:r>
                  <a:rPr lang="en-US" b="1" dirty="0"/>
                  <a:t>Output:</a:t>
                </a:r>
              </a:p>
              <a:p>
                <a:pPr marL="171450" indent="-171450">
                  <a:buFont typeface="Arial" panose="020B0604020202020204" pitchFamily="34" charset="0"/>
                  <a:buChar char="•"/>
                </a:pPr>
                <a:r>
                  <a:rPr lang="en-US" dirty="0"/>
                  <a:t>Player Set: 𝑁 = {1, 2}</a:t>
                </a:r>
              </a:p>
              <a:p>
                <a:pPr marL="171450" indent="-171450">
                  <a:buFont typeface="Arial" panose="020B0604020202020204" pitchFamily="34" charset="0"/>
                  <a:buChar char="•"/>
                </a:pPr>
                <a:r>
                  <a:rPr lang="en-US" dirty="0"/>
                  <a:t>Characteristic Function:</a:t>
                </a:r>
              </a:p>
              <a:p>
                <a:pPr marL="628650" lvl="1" indent="-171450">
                  <a:buFont typeface="Arial" panose="020B0604020202020204" pitchFamily="34" charset="0"/>
                  <a:buChar char="•"/>
                </a:pPr>
                <a:r>
                  <a:rPr lang="en-US" dirty="0"/>
                  <a:t>𝑣(∅) = 0 (The characteristic value of an empty coalition is always 0.)</a:t>
                </a:r>
              </a:p>
              <a:p>
                <a:pPr marL="628650" lvl="1" indent="-171450">
                  <a:buFont typeface="Arial" panose="020B0604020202020204" pitchFamily="34" charset="0"/>
                  <a:buChar char="•"/>
                </a:pPr>
                <a:r>
                  <a:rPr lang="en-US" dirty="0"/>
                  <a:t>𝑣({1}) = 0 (Using the first formula: 1∧2 evaluates to 0 when 1 is alone.)</a:t>
                </a:r>
              </a:p>
              <a:p>
                <a:pPr marL="628650" lvl="1" indent="-171450">
                  <a:buFont typeface="Arial" panose="020B0604020202020204" pitchFamily="34" charset="0"/>
                  <a:buChar char="•"/>
                </a:pPr>
                <a:r>
                  <a:rPr lang="en-US" dirty="0"/>
                  <a:t>𝑣({2}) = 7 (Using the second formula: 2 alone has a characteristic value of 7.)</a:t>
                </a:r>
              </a:p>
              <a:p>
                <a:pPr marL="628650" lvl="1" indent="-171450">
                  <a:buFont typeface="Arial" panose="020B0604020202020204" pitchFamily="34" charset="0"/>
                  <a:buChar char="•"/>
                </a:pPr>
                <a:r>
                  <a:rPr lang="en-US" dirty="0"/>
                  <a:t>𝑣({1, 2}) = 5 + 7 = 12 (Using the first formula, 1∧2 evaluates to 1 when both 1 and 2 are in the coalition.)</a:t>
                </a:r>
              </a:p>
              <a:p>
                <a:endParaRPr lang="en-MY" b="1" dirty="0"/>
              </a:p>
              <a:p>
                <a:r>
                  <a:rPr lang="en-MY" b="1" dirty="0"/>
                  <a:t>Step-by-Step Explanation: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MY" sz="1200" i="0" kern="1200" spc="10" dirty="0">
                    <a:solidFill>
                      <a:schemeClr val="tx1"/>
                    </a:solidFill>
                    <a:latin typeface="Cambria Math" panose="02040503050406030204" pitchFamily="18" charset="0"/>
                    <a:ea typeface="+mn-ea"/>
                    <a:cs typeface="Tahoma"/>
                  </a:rPr>
                  <a:t>𝑣(𝐶)=</a:t>
                </a:r>
                <a:r>
                  <a:rPr lang="ar-SA" sz="1200" b="0" i="0" kern="1200" spc="10" dirty="0">
                    <a:solidFill>
                      <a:schemeClr val="tx1"/>
                    </a:solidFill>
                    <a:latin typeface="Cambria Math" panose="02040503050406030204" pitchFamily="18" charset="0"/>
                    <a:ea typeface="+mn-ea"/>
                    <a:cs typeface="Tahoma"/>
                  </a:rPr>
                  <a:t>∑_(1≤𝑖≤𝑘)▒〖</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a:t>
                </a:r>
                <a:r>
                  <a:rPr lang="ar-SA" sz="1200" b="0" i="0" kern="1200" spc="10" dirty="0">
                    <a:solidFill>
                      <a:schemeClr val="tx1"/>
                    </a:solidFill>
                    <a:latin typeface="Cambria Math" panose="02040503050406030204" pitchFamily="18" charset="0"/>
                    <a:ea typeface="+mn-ea"/>
                    <a:cs typeface="Tahoma"/>
                  </a:rPr>
                  <a:t>〗</a:t>
                </a:r>
                <a:r>
                  <a:rPr lang="en-MY" sz="1200" b="0" i="0" kern="1200" spc="10" dirty="0">
                    <a:solidFill>
                      <a:schemeClr val="tx1"/>
                    </a:solidFill>
                    <a:latin typeface="Cambria Math" panose="02040503050406030204" pitchFamily="18" charset="0"/>
                    <a:ea typeface="+mn-ea"/>
                    <a:cs typeface="Tahoma"/>
                  </a:rPr>
                  <a:t> </a:t>
                </a:r>
                <a:r>
                  <a:rPr lang="en-MY" i="0" dirty="0">
                    <a:latin typeface="Cambria Math" panose="02040503050406030204" pitchFamily="18" charset="0"/>
                  </a:rPr>
                  <a:t>​</a:t>
                </a:r>
                <a:endParaRPr lang="en-MY" b="1" dirty="0"/>
              </a:p>
              <a:p>
                <a:pPr marL="228600" indent="-228600">
                  <a:buFont typeface="+mj-lt"/>
                  <a:buAutoNum type="arabicPeriod"/>
                </a:pPr>
                <a:r>
                  <a:rPr lang="en-MY" b="1" dirty="0"/>
                  <a:t>Understand the Components</a:t>
                </a:r>
                <a:r>
                  <a:rPr lang="en-MY" dirty="0"/>
                  <a:t>:</a:t>
                </a:r>
              </a:p>
              <a:p>
                <a:pPr marL="628650" lvl="1" indent="-171450">
                  <a:buFont typeface="Arial" panose="020B0604020202020204" pitchFamily="34" charset="0"/>
                  <a:buChar char="•"/>
                </a:pPr>
                <a:r>
                  <a:rPr lang="en-MY" i="0" dirty="0">
                    <a:latin typeface="Cambria Math" panose="02040503050406030204" pitchFamily="18" charset="0"/>
                  </a:rPr>
                  <a:t>𝑣(𝐶)</a:t>
                </a:r>
                <a:r>
                  <a:rPr lang="en-MY" dirty="0"/>
                  <a:t>: The value of the coalition </a:t>
                </a:r>
                <a:r>
                  <a:rPr lang="en-MY" i="0" dirty="0">
                    <a:latin typeface="Cambria Math" panose="02040503050406030204" pitchFamily="18" charset="0"/>
                  </a:rPr>
                  <a:t>𝐶</a:t>
                </a:r>
                <a:r>
                  <a:rPr lang="en-MY" dirty="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ar-SA" sz="1200" b="0" i="0" kern="1200" spc="10" dirty="0">
                    <a:solidFill>
                      <a:schemeClr val="tx1"/>
                    </a:solidFill>
                    <a:latin typeface="Cambria Math" panose="02040503050406030204" pitchFamily="18" charset="0"/>
                    <a:ea typeface="+mn-ea"/>
                    <a:cs typeface="Tahoma"/>
                  </a:rPr>
                  <a:t>∑_(1≤𝑖≤𝑘)▒〖</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a:t>
                </a:r>
                <a:r>
                  <a:rPr lang="ar-SA" sz="1200" b="0" i="0" kern="1200" spc="10" dirty="0">
                    <a:solidFill>
                      <a:schemeClr val="tx1"/>
                    </a:solidFill>
                    <a:latin typeface="Cambria Math" panose="02040503050406030204" pitchFamily="18" charset="0"/>
                    <a:ea typeface="+mn-ea"/>
                    <a:cs typeface="Tahoma"/>
                  </a:rPr>
                  <a:t>〗</a:t>
                </a:r>
                <a:r>
                  <a:rPr lang="en-MY" dirty="0"/>
                  <a:t>: This represents the sum of all weights</a:t>
                </a:r>
                <a:r>
                  <a:rPr lang="en-MY" i="0" dirty="0">
                    <a:latin typeface="Cambria Math" panose="02040503050406030204" pitchFamily="18" charset="0"/>
                  </a:rPr>
                  <a:t> </a:t>
                </a:r>
                <a:r>
                  <a:rPr lang="en-MY" i="0" dirty="0" err="1">
                    <a:latin typeface="Cambria Math" panose="02040503050406030204" pitchFamily="18" charset="0"/>
                  </a:rPr>
                  <a:t>𝑤_𝑖</a:t>
                </a:r>
                <a:r>
                  <a:rPr lang="en-MY" i="0" dirty="0">
                    <a:latin typeface="Cambria Math" panose="02040503050406030204" pitchFamily="18" charset="0"/>
                  </a:rPr>
                  <a:t>  </a:t>
                </a:r>
                <a:r>
                  <a:rPr lang="en-MY" dirty="0"/>
                  <a:t>where the Boolean condition </a:t>
                </a:r>
                <a:r>
                  <a:rPr lang="en-MY" i="0" dirty="0">
                    <a:latin typeface="Cambria Math" panose="02040503050406030204" pitchFamily="18" charset="0"/>
                  </a:rPr>
                  <a:t>𝑝_𝑖</a:t>
                </a:r>
                <a:r>
                  <a:rPr lang="en-MY" dirty="0"/>
                  <a:t>​ is satisfied for the coalition </a:t>
                </a:r>
                <a:r>
                  <a:rPr lang="en-MY" i="0" dirty="0">
                    <a:latin typeface="Cambria Math" panose="02040503050406030204" pitchFamily="18" charset="0"/>
                  </a:rPr>
                  <a:t>𝐶</a:t>
                </a:r>
                <a:r>
                  <a:rPr lang="en-MY" dirty="0"/>
                  <a:t>.</a:t>
                </a:r>
              </a:p>
              <a:p>
                <a:pPr marL="628650" lvl="1" indent="-171450">
                  <a:buFont typeface="Arial" panose="020B0604020202020204" pitchFamily="34" charset="0"/>
                  <a:buChar char="•"/>
                </a:pP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 Evaluates to 1 if the coalition </a:t>
                </a:r>
                <a:r>
                  <a:rPr lang="en-MY" i="0" dirty="0">
                    <a:latin typeface="Cambria Math" panose="02040503050406030204" pitchFamily="18" charset="0"/>
                  </a:rPr>
                  <a:t>𝐶</a:t>
                </a:r>
                <a:r>
                  <a:rPr lang="en-MY" dirty="0"/>
                  <a:t> satisfies the Boolean condition </a:t>
                </a:r>
                <a:r>
                  <a:rPr lang="en-MY" i="0" dirty="0">
                    <a:latin typeface="Cambria Math" panose="02040503050406030204" pitchFamily="18" charset="0"/>
                  </a:rPr>
                  <a:t>𝑝_𝑖</a:t>
                </a:r>
                <a:r>
                  <a:rPr lang="en-MY" dirty="0"/>
                  <a:t>, otherwise it evaluates to 0.</a:t>
                </a:r>
              </a:p>
              <a:p>
                <a:pPr marL="228600" indent="-228600">
                  <a:buFont typeface="+mj-lt"/>
                  <a:buAutoNum type="arabicPeriod"/>
                </a:pPr>
                <a:r>
                  <a:rPr lang="en-MY" b="1" dirty="0"/>
                  <a:t>Given Data</a:t>
                </a:r>
                <a:r>
                  <a:rPr lang="en-MY" dirty="0"/>
                  <a:t>:</a:t>
                </a:r>
              </a:p>
              <a:p>
                <a:pPr marL="628650" lvl="1" indent="-171450">
                  <a:buFont typeface="Arial" panose="020B0604020202020204" pitchFamily="34" charset="0"/>
                  <a:buChar char="•"/>
                </a:pPr>
                <a:r>
                  <a:rPr lang="en-MY" dirty="0"/>
                  <a:t>The input MC-net is </a:t>
                </a:r>
                <a:r>
                  <a:rPr lang="en-MY" i="0" dirty="0">
                    <a:latin typeface="Cambria Math" panose="02040503050406030204" pitchFamily="18" charset="0"/>
                  </a:rPr>
                  <a:t>[(1∧2, 5), (2, 7)]</a:t>
                </a:r>
                <a:r>
                  <a:rPr lang="en-MY" dirty="0"/>
                  <a:t>.</a:t>
                </a:r>
              </a:p>
              <a:p>
                <a:pPr marL="628650" lvl="1" indent="-171450">
                  <a:buFont typeface="Arial" panose="020B0604020202020204" pitchFamily="34" charset="0"/>
                  <a:buChar char="•"/>
                </a:pPr>
                <a:r>
                  <a:rPr lang="en-MY" dirty="0"/>
                  <a:t>This means we have two rules:</a:t>
                </a:r>
              </a:p>
              <a:p>
                <a:pPr marL="1143000" lvl="2" indent="-228600">
                  <a:buFont typeface="Arial" panose="020B0604020202020204" pitchFamily="34" charset="0"/>
                  <a:buChar char="•"/>
                </a:pPr>
                <a:r>
                  <a:rPr lang="en-MY" i="0" dirty="0">
                    <a:latin typeface="Cambria Math" panose="02040503050406030204" pitchFamily="18" charset="0"/>
                  </a:rPr>
                  <a:t>𝑝_1= 1∧2, 𝑤_1= 5</a:t>
                </a:r>
                <a:endParaRPr lang="en-MY" dirty="0"/>
              </a:p>
              <a:p>
                <a:pPr marL="1143000" lvl="2" indent="-228600">
                  <a:buFont typeface="Arial" panose="020B0604020202020204" pitchFamily="34" charset="0"/>
                  <a:buChar char="•"/>
                </a:pPr>
                <a:r>
                  <a:rPr lang="en-MY" i="0" dirty="0">
                    <a:latin typeface="Cambria Math" panose="02040503050406030204" pitchFamily="18" charset="0"/>
                  </a:rPr>
                  <a:t>𝑝_2= 2, 𝑤_2= 7</a:t>
                </a:r>
                <a:endParaRPr lang="en-MY" dirty="0"/>
              </a:p>
              <a:p>
                <a:pPr marL="228600" indent="-228600">
                  <a:buFont typeface="+mj-lt"/>
                  <a:buAutoNum type="arabicPeriod"/>
                </a:pPr>
                <a:r>
                  <a:rPr lang="en-MY" b="1" dirty="0"/>
                  <a:t>Evaluate Each Condition</a:t>
                </a:r>
                <a:r>
                  <a:rPr lang="en-MY" dirty="0"/>
                  <a:t> for Coalition </a:t>
                </a:r>
                <a:r>
                  <a:rPr lang="en-MY" i="0" dirty="0">
                    <a:latin typeface="Cambria Math" panose="02040503050406030204" pitchFamily="18" charset="0"/>
                  </a:rPr>
                  <a:t>{1,2}</a:t>
                </a:r>
                <a:r>
                  <a:rPr lang="en-MY" dirty="0"/>
                  <a:t>:</a:t>
                </a:r>
              </a:p>
              <a:p>
                <a:pPr marL="742950" lvl="1" indent="-285750">
                  <a:buFont typeface="Arial" panose="020B0604020202020204" pitchFamily="34" charset="0"/>
                  <a:buChar char="•"/>
                </a:pPr>
                <a:r>
                  <a:rPr lang="en-MY" b="1" dirty="0"/>
                  <a:t>First Condition </a:t>
                </a:r>
                <a:r>
                  <a:rPr lang="en-MY" b="1" i="0" dirty="0">
                    <a:latin typeface="Cambria Math" panose="02040503050406030204" pitchFamily="18" charset="0"/>
                  </a:rPr>
                  <a:t>𝒑_𝟏= 𝟏∧𝟐</a:t>
                </a:r>
                <a:r>
                  <a:rPr lang="en-MY" dirty="0"/>
                  <a:t>:</a:t>
                </a:r>
              </a:p>
              <a:p>
                <a:pPr marL="1143000" lvl="2" indent="-228600">
                  <a:buFont typeface="Arial" panose="020B0604020202020204" pitchFamily="34" charset="0"/>
                  <a:buChar char="•"/>
                </a:pPr>
                <a:r>
                  <a:rPr lang="en-MY" dirty="0"/>
                  <a:t>This condition checks if both players 1 and 2 are in the coalition </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a:t>
                </a:r>
              </a:p>
              <a:p>
                <a:pPr marL="1143000" lvl="2" indent="-228600">
                  <a:buFont typeface="Arial" panose="020B0604020202020204" pitchFamily="34" charset="0"/>
                  <a:buChar char="•"/>
                </a:pPr>
                <a:r>
                  <a:rPr lang="en-MY" dirty="0"/>
                  <a:t>Since </a:t>
                </a:r>
                <a:r>
                  <a:rPr lang="en-MY" i="0" dirty="0">
                    <a:latin typeface="Cambria Math" panose="02040503050406030204" pitchFamily="18" charset="0"/>
                  </a:rPr>
                  <a:t>𝐶={1,2}</a:t>
                </a:r>
                <a:r>
                  <a:rPr lang="en-MY" dirty="0"/>
                  <a:t>, the condition is satisfied, so </a:t>
                </a:r>
                <a:r>
                  <a:rPr lang="en-MY" i="0" dirty="0">
                    <a:latin typeface="Cambria Math" panose="02040503050406030204" pitchFamily="18" charset="0"/>
                  </a:rPr>
                  <a:t>𝑝_1 ({1, 2})=1</a:t>
                </a:r>
                <a:r>
                  <a:rPr lang="en-MY" dirty="0"/>
                  <a:t>.</a:t>
                </a:r>
              </a:p>
              <a:p>
                <a:pPr marL="1143000" lvl="2" indent="-228600">
                  <a:buFont typeface="Arial" panose="020B0604020202020204" pitchFamily="34" charset="0"/>
                  <a:buChar char="•"/>
                </a:pPr>
                <a:r>
                  <a:rPr lang="en-MY" dirty="0"/>
                  <a:t>Therefore, the contribution from this condition is </a:t>
                </a:r>
                <a:r>
                  <a:rPr lang="en-MY" i="0" dirty="0">
                    <a:latin typeface="Cambria Math" panose="02040503050406030204" pitchFamily="18" charset="0"/>
                  </a:rPr>
                  <a:t>𝑝_1 ({1, 2})×𝑤_1= 1 ×5 = 5.</a:t>
                </a:r>
                <a:endParaRPr lang="en-MY" dirty="0"/>
              </a:p>
              <a:p>
                <a:pPr marL="742950" lvl="1" indent="-285750">
                  <a:buFont typeface="Arial" panose="020B0604020202020204" pitchFamily="34" charset="0"/>
                  <a:buChar char="•"/>
                </a:pPr>
                <a:r>
                  <a:rPr lang="en-MY" b="1" dirty="0"/>
                  <a:t>Second Condition </a:t>
                </a:r>
                <a:r>
                  <a:rPr lang="en-MY" b="1" i="0" dirty="0">
                    <a:latin typeface="Cambria Math" panose="02040503050406030204" pitchFamily="18" charset="0"/>
                  </a:rPr>
                  <a:t>𝒑_𝟐= 𝟐</a:t>
                </a:r>
                <a:r>
                  <a:rPr lang="en-MY" dirty="0"/>
                  <a:t>:</a:t>
                </a:r>
              </a:p>
              <a:p>
                <a:pPr marL="1143000" lvl="2" indent="-228600">
                  <a:buFont typeface="Arial" panose="020B0604020202020204" pitchFamily="34" charset="0"/>
                  <a:buChar char="•"/>
                </a:pPr>
                <a:r>
                  <a:rPr lang="en-MY" dirty="0"/>
                  <a:t>This condition checks if player 2 is in the coalition </a:t>
                </a:r>
                <a:r>
                  <a:rPr lang="ar-SA" sz="1200" i="0" kern="1200" spc="10" dirty="0">
                    <a:solidFill>
                      <a:schemeClr val="tx1"/>
                    </a:solidFill>
                    <a:latin typeface="Cambria Math" panose="02040503050406030204" pitchFamily="18" charset="0"/>
                    <a:cs typeface="Tahoma"/>
                  </a:rPr>
                  <a:t>𝑝</a:t>
                </a:r>
                <a:r>
                  <a:rPr lang="en-US"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 (𝐶)</a:t>
                </a:r>
                <a:r>
                  <a:rPr lang="ar-SA" sz="1200" b="0" i="0" kern="1200" spc="10" dirty="0">
                    <a:solidFill>
                      <a:schemeClr val="tx1"/>
                    </a:solidFill>
                    <a:latin typeface="Cambria Math" panose="02040503050406030204" pitchFamily="18" charset="0"/>
                    <a:cs typeface="Tahoma"/>
                  </a:rPr>
                  <a:t> </a:t>
                </a:r>
                <a:r>
                  <a:rPr lang="ar-SA" sz="1200" i="0" kern="1200" spc="10" dirty="0">
                    <a:solidFill>
                      <a:schemeClr val="tx1"/>
                    </a:solidFill>
                    <a:latin typeface="Cambria Math" panose="02040503050406030204" pitchFamily="18" charset="0"/>
                    <a:cs typeface="Tahoma"/>
                  </a:rPr>
                  <a:t>𝑤</a:t>
                </a:r>
                <a:r>
                  <a:rPr lang="ar-SA" sz="1200" b="0" i="0" kern="1200" spc="10" dirty="0">
                    <a:solidFill>
                      <a:schemeClr val="tx1"/>
                    </a:solidFill>
                    <a:latin typeface="Cambria Math" panose="02040503050406030204" pitchFamily="18" charset="0"/>
                    <a:cs typeface="Tahoma"/>
                  </a:rPr>
                  <a:t>_</a:t>
                </a:r>
                <a:r>
                  <a:rPr lang="ar-SA" sz="1200" i="0" kern="1200" spc="10" dirty="0">
                    <a:solidFill>
                      <a:schemeClr val="tx1"/>
                    </a:solidFill>
                    <a:latin typeface="Cambria Math" panose="02040503050406030204" pitchFamily="18" charset="0"/>
                    <a:cs typeface="Tahoma"/>
                  </a:rPr>
                  <a:t>𝑖</a:t>
                </a:r>
                <a:r>
                  <a:rPr lang="en-MY" dirty="0"/>
                  <a:t>.</a:t>
                </a:r>
              </a:p>
              <a:p>
                <a:pPr marL="1143000" lvl="2" indent="-228600">
                  <a:buFont typeface="Arial" panose="020B0604020202020204" pitchFamily="34" charset="0"/>
                  <a:buChar char="•"/>
                </a:pPr>
                <a:r>
                  <a:rPr lang="en-MY" dirty="0"/>
                  <a:t>Since </a:t>
                </a:r>
                <a:r>
                  <a:rPr lang="en-MY" i="0" dirty="0">
                    <a:latin typeface="Cambria Math" panose="02040503050406030204" pitchFamily="18" charset="0"/>
                  </a:rPr>
                  <a:t>𝐶={1,2}</a:t>
                </a:r>
                <a:r>
                  <a:rPr lang="en-MY" dirty="0"/>
                  <a:t>, the condition is satisfied, so </a:t>
                </a:r>
                <a:r>
                  <a:rPr lang="en-MY" i="0" dirty="0">
                    <a:latin typeface="Cambria Math" panose="02040503050406030204" pitchFamily="18" charset="0"/>
                  </a:rPr>
                  <a:t>𝑝_2 ({1, 2})= 1</a:t>
                </a:r>
                <a:r>
                  <a:rPr lang="en-MY" dirty="0"/>
                  <a:t>.</a:t>
                </a:r>
              </a:p>
              <a:p>
                <a:pPr marL="1143000" lvl="2" indent="-228600">
                  <a:buFont typeface="Arial" panose="020B0604020202020204" pitchFamily="34" charset="0"/>
                  <a:buChar char="•"/>
                </a:pPr>
                <a:r>
                  <a:rPr lang="en-MY" dirty="0"/>
                  <a:t>Therefore, the contribution from this condition is </a:t>
                </a:r>
                <a:r>
                  <a:rPr lang="en-MY" i="0" dirty="0">
                    <a:latin typeface="Cambria Math" panose="02040503050406030204" pitchFamily="18" charset="0"/>
                  </a:rPr>
                  <a:t>𝑝_2 (\{1, 2\})×𝑤_2= 1 ×7 = 7</a:t>
                </a:r>
                <a:r>
                  <a:rPr lang="en-MY" dirty="0"/>
                  <a:t>.</a:t>
                </a:r>
              </a:p>
              <a:p>
                <a:pPr marL="228600" indent="-228600">
                  <a:buFont typeface="+mj-lt"/>
                  <a:buAutoNum type="arabicPeriod"/>
                </a:pPr>
                <a:r>
                  <a:rPr lang="en-MY" b="1" dirty="0"/>
                  <a:t>Calculate </a:t>
                </a:r>
                <a:r>
                  <a:rPr lang="en-MY" b="1" i="0" dirty="0">
                    <a:latin typeface="Cambria Math" panose="02040503050406030204" pitchFamily="18" charset="0"/>
                  </a:rPr>
                  <a:t>𝒗({𝟏, 𝟐})</a:t>
                </a:r>
                <a:r>
                  <a:rPr lang="en-MY" dirty="0"/>
                  <a:t>:</a:t>
                </a:r>
              </a:p>
              <a:p>
                <a:pPr marL="742950" lvl="1" indent="-285750">
                  <a:buFont typeface="Arial" panose="020B0604020202020204" pitchFamily="34" charset="0"/>
                  <a:buChar char="•"/>
                </a:pPr>
                <a:r>
                  <a:rPr lang="en-MY" dirty="0"/>
                  <a:t>Sum the contributions from all the conditions: </a:t>
                </a:r>
                <a:r>
                  <a:rPr lang="en-MY" i="0" dirty="0">
                    <a:latin typeface="Cambria Math" panose="02040503050406030204" pitchFamily="18" charset="0"/>
                  </a:rPr>
                  <a:t>𝑣(\{1, 2\})= (𝑝_1 (\{1, 2\})×𝑤_1 )+ (𝑝_2 (\{1, 2\})×𝑤_2 )= 5 + 7 = 12</a:t>
                </a:r>
                <a:endParaRPr lang="en-MY" dirty="0"/>
              </a:p>
              <a:p>
                <a:endParaRPr lang="en-US" dirty="0"/>
              </a:p>
            </p:txBody>
          </p:sp>
        </mc:Fallback>
      </mc:AlternateContent>
      <p:sp>
        <p:nvSpPr>
          <p:cNvPr id="4" name="Slide Number Placeholder 3"/>
          <p:cNvSpPr>
            <a:spLocks noGrp="1"/>
          </p:cNvSpPr>
          <p:nvPr>
            <p:ph type="sldNum" sz="quarter" idx="5"/>
          </p:nvPr>
        </p:nvSpPr>
        <p:spPr/>
        <p:txBody>
          <a:bodyPr/>
          <a:lstStyle/>
          <a:p>
            <a:fld id="{964F17B5-AEBC-4DDC-A2E1-024551EDEE5F}" type="slidenum">
              <a:rPr lang="en-MY" smtClean="0"/>
              <a:t>37</a:t>
            </a:fld>
            <a:endParaRPr lang="en-MY"/>
          </a:p>
        </p:txBody>
      </p:sp>
    </p:spTree>
    <p:extLst>
      <p:ext uri="{BB962C8B-B14F-4D97-AF65-F5344CB8AC3E}">
        <p14:creationId xmlns:p14="http://schemas.microsoft.com/office/powerpoint/2010/main" val="26880611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Exercise 1: Coalitional Games' Hierarchy</a:t>
            </a:r>
          </a:p>
          <a:p>
            <a:r>
              <a:rPr lang="en-US" dirty="0"/>
              <a:t>The hierarchy of coalitional games you've provided on page 18 shows the relationships between different classes of games. Let's analyze the inclusions:</a:t>
            </a:r>
          </a:p>
          <a:p>
            <a:endParaRPr lang="en-US" dirty="0"/>
          </a:p>
          <a:p>
            <a:pPr marL="171450" indent="-171450">
              <a:buFont typeface="Arial" panose="020B0604020202020204" pitchFamily="34" charset="0"/>
              <a:buChar char="•"/>
            </a:pPr>
            <a:r>
              <a:rPr lang="en-US" dirty="0"/>
              <a:t>Constant-sum games are a subset of additive games.</a:t>
            </a:r>
          </a:p>
          <a:p>
            <a:pPr marL="171450" indent="-171450">
              <a:buFont typeface="Arial" panose="020B0604020202020204" pitchFamily="34" charset="0"/>
              <a:buChar char="•"/>
            </a:pPr>
            <a:r>
              <a:rPr lang="en-US" dirty="0"/>
              <a:t>Additive games are a subset of convex games.</a:t>
            </a:r>
          </a:p>
          <a:p>
            <a:pPr marL="171450" indent="-171450">
              <a:buFont typeface="Arial" panose="020B0604020202020204" pitchFamily="34" charset="0"/>
              <a:buChar char="•"/>
            </a:pPr>
            <a:r>
              <a:rPr lang="en-US" dirty="0"/>
              <a:t>Convex games are a subset of </a:t>
            </a:r>
            <a:r>
              <a:rPr lang="en-US" dirty="0" err="1"/>
              <a:t>superadditive</a:t>
            </a:r>
            <a:r>
              <a:rPr lang="en-US" dirty="0"/>
              <a:t> games.</a:t>
            </a:r>
          </a:p>
          <a:p>
            <a:pPr marL="171450" indent="-171450">
              <a:buFont typeface="Arial" panose="020B0604020202020204" pitchFamily="34" charset="0"/>
              <a:buChar char="•"/>
            </a:pPr>
            <a:r>
              <a:rPr lang="en-US" dirty="0"/>
              <a:t>Proper simple games are a subset of simple games.</a:t>
            </a:r>
          </a:p>
          <a:p>
            <a:endParaRPr lang="en-US" dirty="0"/>
          </a:p>
          <a:p>
            <a:r>
              <a:rPr lang="en-US" dirty="0"/>
              <a:t>Let's break down these inclusions:</a:t>
            </a:r>
          </a:p>
          <a:p>
            <a:endParaRPr lang="en-US" dirty="0"/>
          </a:p>
          <a:p>
            <a:pPr marL="228600" indent="-228600">
              <a:buFont typeface="+mj-lt"/>
              <a:buAutoNum type="arabicPeriod"/>
            </a:pPr>
            <a:r>
              <a:rPr lang="en-US" b="1" dirty="0"/>
              <a:t>Constant-sum → Additive: </a:t>
            </a:r>
            <a:r>
              <a:rPr lang="en-US" dirty="0"/>
              <a:t>This is true. Every constant-sum game is additive. In a constant-sum game, the total value remains constant, and for any coalition, the sum of its value and the complement's value is constant. Therefore, it satisfies the properties of additive games.</a:t>
            </a:r>
          </a:p>
          <a:p>
            <a:pPr marL="228600" indent="-228600">
              <a:buFont typeface="+mj-lt"/>
              <a:buAutoNum type="arabicPeriod"/>
            </a:pPr>
            <a:endParaRPr lang="en-US" dirty="0"/>
          </a:p>
          <a:p>
            <a:pPr marL="228600" indent="-228600">
              <a:buFont typeface="+mj-lt"/>
              <a:buAutoNum type="arabicPeriod"/>
            </a:pPr>
            <a:r>
              <a:rPr lang="en-US" b="1" dirty="0"/>
              <a:t>Additive → Convex: </a:t>
            </a:r>
            <a:r>
              <a:rPr lang="en-US" dirty="0"/>
              <a:t>This is true. Every additive game is convex. In an additive game, the value of a coalition formed by merging two disjoint coalitions is equal to the sum of their individual values, which satisfies the convexity property.</a:t>
            </a:r>
          </a:p>
          <a:p>
            <a:pPr marL="228600" indent="-228600">
              <a:buFont typeface="+mj-lt"/>
              <a:buAutoNum type="arabicPeriod"/>
            </a:pPr>
            <a:endParaRPr lang="en-US" dirty="0"/>
          </a:p>
          <a:p>
            <a:pPr marL="228600" indent="-228600">
              <a:buFont typeface="+mj-lt"/>
              <a:buAutoNum type="arabicPeriod"/>
            </a:pPr>
            <a:r>
              <a:rPr lang="en-US" b="1" dirty="0"/>
              <a:t>Convex → </a:t>
            </a:r>
            <a:r>
              <a:rPr lang="en-US" b="1" dirty="0" err="1"/>
              <a:t>Superadditive</a:t>
            </a:r>
            <a:r>
              <a:rPr lang="en-US" b="1" dirty="0"/>
              <a:t>: </a:t>
            </a:r>
            <a:r>
              <a:rPr lang="en-US" dirty="0"/>
              <a:t>This is true. Every convex game is </a:t>
            </a:r>
            <a:r>
              <a:rPr lang="en-US" dirty="0" err="1"/>
              <a:t>superadditive</a:t>
            </a:r>
            <a:r>
              <a:rPr lang="en-US" dirty="0"/>
              <a:t>. The convexity property inherently implies that merging two disjoint coalitions cannot result in a value less than the sum of their individual values, which is a </a:t>
            </a:r>
            <a:r>
              <a:rPr lang="en-US" dirty="0" err="1"/>
              <a:t>superadditive</a:t>
            </a:r>
            <a:r>
              <a:rPr lang="en-US" dirty="0"/>
              <a:t> condition.</a:t>
            </a:r>
          </a:p>
          <a:p>
            <a:pPr marL="228600" indent="-228600">
              <a:buFont typeface="+mj-lt"/>
              <a:buAutoNum type="arabicPeriod"/>
            </a:pPr>
            <a:endParaRPr lang="en-US" dirty="0"/>
          </a:p>
          <a:p>
            <a:pPr marL="228600" indent="-228600">
              <a:buFont typeface="+mj-lt"/>
              <a:buAutoNum type="arabicPeriod"/>
            </a:pPr>
            <a:r>
              <a:rPr lang="en-US" b="1" dirty="0"/>
              <a:t>Proper Simple → Simple: </a:t>
            </a:r>
            <a:r>
              <a:rPr lang="en-US" dirty="0"/>
              <a:t>This is true. Every proper simple game is simple. Proper simple games are a subset of simple games, which means they also satisfy the conditions for simplicity.</a:t>
            </a:r>
          </a:p>
          <a:p>
            <a:endParaRPr lang="en-US" dirty="0"/>
          </a:p>
          <a:p>
            <a:r>
              <a:rPr lang="en-US" b="1" dirty="0"/>
              <a:t>Exercise 3: Veto Players and Additive Games</a:t>
            </a:r>
          </a:p>
          <a:p>
            <a:r>
              <a:rPr lang="en-US" dirty="0"/>
              <a:t>Now, let's address the statement about veto players and additive games: "G has a veto player </a:t>
            </a:r>
            <a:r>
              <a:rPr lang="en-US" dirty="0" err="1"/>
              <a:t>iff</a:t>
            </a:r>
            <a:r>
              <a:rPr lang="en-US" dirty="0"/>
              <a:t> G is additive."</a:t>
            </a:r>
          </a:p>
          <a:p>
            <a:endParaRPr lang="en-US" dirty="0"/>
          </a:p>
          <a:p>
            <a:r>
              <a:rPr lang="en-US" dirty="0"/>
              <a:t>This statement is </a:t>
            </a:r>
            <a:r>
              <a:rPr lang="en-US" b="1" dirty="0"/>
              <a:t>false</a:t>
            </a:r>
            <a:r>
              <a:rPr lang="en-US" dirty="0"/>
              <a:t>. A veto player in a simple game G is a player whose absence from a coalition guarantees that the coalition's value is zero. Additive games and veto players are not directly related. A game can be additive without having a veto player, and a game can have a veto player without being additive.</a:t>
            </a:r>
          </a:p>
          <a:p>
            <a:endParaRPr lang="en-US" dirty="0"/>
          </a:p>
          <a:p>
            <a:r>
              <a:rPr lang="en-US" dirty="0"/>
              <a:t>In an additive game, the key property is that the value of a coalition is equal to the sum of the values of its members. This doesn't necessarily imply the presence of a veto player.</a:t>
            </a:r>
          </a:p>
          <a:p>
            <a:endParaRPr lang="en-US" dirty="0"/>
          </a:p>
          <a:p>
            <a:r>
              <a:rPr lang="en-US" dirty="0"/>
              <a:t>A veto player is a player whose presence is essential to achieve a positive value for a coalition. This concept relates more to the structure of the game and specific players' power rather than the additive property.</a:t>
            </a:r>
          </a:p>
          <a:p>
            <a:endParaRPr lang="en-US" dirty="0"/>
          </a:p>
          <a:p>
            <a:r>
              <a:rPr lang="en-US" dirty="0"/>
              <a:t>If you have any specific examples or further questions, please feel free to ask.</a:t>
            </a:r>
            <a:endParaRPr lang="en-MY" dirty="0"/>
          </a:p>
        </p:txBody>
      </p:sp>
      <p:sp>
        <p:nvSpPr>
          <p:cNvPr id="4" name="Slide Number Placeholder 3"/>
          <p:cNvSpPr>
            <a:spLocks noGrp="1"/>
          </p:cNvSpPr>
          <p:nvPr>
            <p:ph type="sldNum" sz="quarter" idx="5"/>
          </p:nvPr>
        </p:nvSpPr>
        <p:spPr/>
        <p:txBody>
          <a:bodyPr/>
          <a:lstStyle/>
          <a:p>
            <a:fld id="{964F17B5-AEBC-4DDC-A2E1-024551EDEE5F}" type="slidenum">
              <a:rPr lang="en-MY" smtClean="0"/>
              <a:t>38</a:t>
            </a:fld>
            <a:endParaRPr lang="en-MY"/>
          </a:p>
        </p:txBody>
      </p:sp>
    </p:spTree>
    <p:extLst>
      <p:ext uri="{BB962C8B-B14F-4D97-AF65-F5344CB8AC3E}">
        <p14:creationId xmlns:p14="http://schemas.microsoft.com/office/powerpoint/2010/main" val="2454899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0" i="0">
                <a:solidFill>
                  <a:srgbClr val="CC0000"/>
                </a:solidFill>
                <a:latin typeface="Calibri"/>
                <a:cs typeface="Calibri"/>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
            <a:ext cx="4608195" cy="350520"/>
          </a:xfrm>
          <a:custGeom>
            <a:avLst/>
            <a:gdLst/>
            <a:ahLst/>
            <a:cxnLst/>
            <a:rect l="l" t="t" r="r" b="b"/>
            <a:pathLst>
              <a:path w="4608195" h="350520">
                <a:moveTo>
                  <a:pt x="4608004" y="0"/>
                </a:moveTo>
                <a:lnTo>
                  <a:pt x="0" y="0"/>
                </a:lnTo>
                <a:lnTo>
                  <a:pt x="0" y="350126"/>
                </a:lnTo>
                <a:lnTo>
                  <a:pt x="4608004" y="350126"/>
                </a:lnTo>
                <a:lnTo>
                  <a:pt x="4608004" y="0"/>
                </a:lnTo>
                <a:close/>
              </a:path>
            </a:pathLst>
          </a:custGeom>
          <a:solidFill>
            <a:srgbClr val="F2F2F2"/>
          </a:solidFill>
        </p:spPr>
        <p:txBody>
          <a:bodyPr wrap="square" lIns="0" tIns="0" rIns="0" bIns="0" rtlCol="0"/>
          <a:lstStyle/>
          <a:p>
            <a:endParaRPr/>
          </a:p>
        </p:txBody>
      </p:sp>
      <p:sp>
        <p:nvSpPr>
          <p:cNvPr id="2" name="Holder 2"/>
          <p:cNvSpPr>
            <a:spLocks noGrp="1"/>
          </p:cNvSpPr>
          <p:nvPr>
            <p:ph type="title"/>
          </p:nvPr>
        </p:nvSpPr>
        <p:spPr>
          <a:xfrm>
            <a:off x="69900" y="59878"/>
            <a:ext cx="4470298" cy="244475"/>
          </a:xfrm>
          <a:prstGeom prst="rect">
            <a:avLst/>
          </a:prstGeom>
        </p:spPr>
        <p:txBody>
          <a:bodyPr wrap="square" lIns="0" tIns="0" rIns="0" bIns="0">
            <a:spAutoFit/>
          </a:bodyPr>
          <a:lstStyle>
            <a:lvl1pPr>
              <a:defRPr sz="1400" b="0" i="0">
                <a:solidFill>
                  <a:srgbClr val="CC0000"/>
                </a:solidFill>
                <a:latin typeface="Calibri"/>
                <a:cs typeface="Calibri"/>
              </a:defRPr>
            </a:lvl1pPr>
          </a:lstStyle>
          <a:p>
            <a:endParaRPr/>
          </a:p>
        </p:txBody>
      </p:sp>
      <p:sp>
        <p:nvSpPr>
          <p:cNvPr id="3" name="Holder 3"/>
          <p:cNvSpPr>
            <a:spLocks noGrp="1"/>
          </p:cNvSpPr>
          <p:nvPr>
            <p:ph type="body" idx="1"/>
          </p:nvPr>
        </p:nvSpPr>
        <p:spPr>
          <a:xfrm>
            <a:off x="421957" y="1166505"/>
            <a:ext cx="2089150" cy="1075689"/>
          </a:xfrm>
          <a:prstGeom prst="rect">
            <a:avLst/>
          </a:prstGeom>
        </p:spPr>
        <p:txBody>
          <a:bodyPr wrap="square" lIns="0" tIns="0" rIns="0" bIns="0">
            <a:spAutoFit/>
          </a:bodyPr>
          <a:lstStyle>
            <a:lvl1pPr>
              <a:defRPr sz="1100" b="0" i="1">
                <a:solidFill>
                  <a:schemeClr val="tx1"/>
                </a:solidFill>
                <a:latin typeface="Tahoma"/>
                <a:cs typeface="Tahoma"/>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10/2/2024</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hyperlink" Target="http://shapleyvalue.co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12.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994" y="937552"/>
            <a:ext cx="3888104" cy="364490"/>
          </a:xfrm>
          <a:prstGeom prst="rect">
            <a:avLst/>
          </a:prstGeom>
          <a:solidFill>
            <a:srgbClr val="D8D8D8"/>
          </a:solidFill>
        </p:spPr>
        <p:txBody>
          <a:bodyPr vert="horz" wrap="square" lIns="0" tIns="49530" rIns="0" bIns="0" rtlCol="0">
            <a:spAutoFit/>
          </a:bodyPr>
          <a:lstStyle/>
          <a:p>
            <a:pPr marL="1019175">
              <a:lnSpc>
                <a:spcPct val="100000"/>
              </a:lnSpc>
              <a:spcBef>
                <a:spcPts val="390"/>
              </a:spcBef>
            </a:pPr>
            <a:r>
              <a:rPr dirty="0"/>
              <a:t>Coalitional</a:t>
            </a:r>
            <a:r>
              <a:rPr spc="160" dirty="0"/>
              <a:t> </a:t>
            </a:r>
            <a:r>
              <a:rPr dirty="0"/>
              <a:t>Game</a:t>
            </a:r>
            <a:r>
              <a:rPr spc="165" dirty="0"/>
              <a:t> </a:t>
            </a:r>
            <a:r>
              <a:rPr spc="-10" dirty="0"/>
              <a:t>Theory</a:t>
            </a:r>
          </a:p>
        </p:txBody>
      </p:sp>
      <p:sp>
        <p:nvSpPr>
          <p:cNvPr id="3" name="object 3"/>
          <p:cNvSpPr txBox="1"/>
          <p:nvPr/>
        </p:nvSpPr>
        <p:spPr>
          <a:xfrm>
            <a:off x="648766" y="1499322"/>
            <a:ext cx="3310890" cy="970779"/>
          </a:xfrm>
          <a:prstGeom prst="rect">
            <a:avLst/>
          </a:prstGeom>
        </p:spPr>
        <p:txBody>
          <a:bodyPr vert="horz" wrap="square" lIns="0" tIns="11430" rIns="0" bIns="0" rtlCol="0">
            <a:spAutoFit/>
          </a:bodyPr>
          <a:lstStyle/>
          <a:p>
            <a:pPr algn="ctr"/>
            <a:r>
              <a:rPr lang="en-US" sz="1100" spc="-20" dirty="0">
                <a:latin typeface="Tahoma"/>
                <a:cs typeface="Tahoma"/>
              </a:rPr>
              <a:t>Edited by: Fuad Noman</a:t>
            </a:r>
          </a:p>
          <a:p>
            <a:pPr algn="ctr">
              <a:lnSpc>
                <a:spcPct val="100000"/>
              </a:lnSpc>
            </a:pPr>
            <a:r>
              <a:rPr lang="en-US" sz="1100" spc="-20" dirty="0">
                <a:latin typeface="Tahoma"/>
                <a:cs typeface="Tahoma"/>
              </a:rPr>
              <a:t>Prepared by: Julian</a:t>
            </a:r>
            <a:r>
              <a:rPr lang="en-US" sz="1100" spc="20" dirty="0">
                <a:latin typeface="Tahoma"/>
                <a:cs typeface="Tahoma"/>
              </a:rPr>
              <a:t> </a:t>
            </a:r>
            <a:r>
              <a:rPr lang="en-US" sz="1100" spc="-40" dirty="0">
                <a:latin typeface="Tahoma"/>
                <a:cs typeface="Tahoma"/>
              </a:rPr>
              <a:t>Gutierrez</a:t>
            </a:r>
            <a:endParaRPr lang="en-US" sz="1100" dirty="0">
              <a:latin typeface="Tahoma"/>
              <a:cs typeface="Tahoma"/>
            </a:endParaRPr>
          </a:p>
          <a:p>
            <a:pPr marL="35560" algn="ctr">
              <a:lnSpc>
                <a:spcPct val="100000"/>
              </a:lnSpc>
              <a:spcBef>
                <a:spcPts val="1225"/>
              </a:spcBef>
            </a:pPr>
            <a:r>
              <a:rPr lang="en-US" sz="800" dirty="0">
                <a:latin typeface="Arial"/>
                <a:cs typeface="Arial"/>
              </a:rPr>
              <a:t>School</a:t>
            </a:r>
            <a:r>
              <a:rPr sz="800" spc="45" dirty="0">
                <a:latin typeface="Arial"/>
                <a:cs typeface="Arial"/>
              </a:rPr>
              <a:t> </a:t>
            </a:r>
            <a:r>
              <a:rPr sz="800" dirty="0">
                <a:latin typeface="Arial"/>
                <a:cs typeface="Arial"/>
              </a:rPr>
              <a:t>of</a:t>
            </a:r>
            <a:r>
              <a:rPr sz="800" spc="45" dirty="0">
                <a:latin typeface="Arial"/>
                <a:cs typeface="Arial"/>
              </a:rPr>
              <a:t> </a:t>
            </a:r>
            <a:r>
              <a:rPr sz="800" dirty="0">
                <a:latin typeface="Arial"/>
                <a:cs typeface="Arial"/>
              </a:rPr>
              <a:t>Information</a:t>
            </a:r>
            <a:r>
              <a:rPr sz="800" spc="45" dirty="0">
                <a:latin typeface="Arial"/>
                <a:cs typeface="Arial"/>
              </a:rPr>
              <a:t> </a:t>
            </a:r>
            <a:r>
              <a:rPr sz="800" spc="-25" dirty="0">
                <a:latin typeface="Arial"/>
                <a:cs typeface="Arial"/>
              </a:rPr>
              <a:t>Technology,</a:t>
            </a:r>
            <a:r>
              <a:rPr sz="800" spc="45" dirty="0">
                <a:latin typeface="Arial"/>
                <a:cs typeface="Arial"/>
              </a:rPr>
              <a:t> </a:t>
            </a:r>
            <a:r>
              <a:rPr sz="800" spc="-10" dirty="0">
                <a:latin typeface="Arial"/>
                <a:cs typeface="Arial"/>
              </a:rPr>
              <a:t>Monash</a:t>
            </a:r>
            <a:r>
              <a:rPr sz="800" spc="50" dirty="0">
                <a:latin typeface="Arial"/>
                <a:cs typeface="Arial"/>
              </a:rPr>
              <a:t> </a:t>
            </a:r>
            <a:r>
              <a:rPr sz="800" spc="-10" dirty="0">
                <a:latin typeface="Arial"/>
                <a:cs typeface="Arial"/>
              </a:rPr>
              <a:t>University</a:t>
            </a:r>
            <a:r>
              <a:rPr lang="en-US" sz="800" spc="-10" dirty="0">
                <a:latin typeface="Arial"/>
                <a:cs typeface="Arial"/>
              </a:rPr>
              <a:t> Malaysia</a:t>
            </a:r>
            <a:endParaRPr sz="800" dirty="0">
              <a:latin typeface="Arial"/>
              <a:cs typeface="Arial"/>
            </a:endParaRPr>
          </a:p>
          <a:p>
            <a:pPr>
              <a:lnSpc>
                <a:spcPct val="100000"/>
              </a:lnSpc>
              <a:spcBef>
                <a:spcPts val="425"/>
              </a:spcBef>
            </a:pPr>
            <a:endParaRPr sz="800" dirty="0">
              <a:latin typeface="Arial"/>
              <a:cs typeface="Arial"/>
            </a:endParaRPr>
          </a:p>
          <a:p>
            <a:pPr algn="ctr">
              <a:lnSpc>
                <a:spcPct val="100000"/>
              </a:lnSpc>
              <a:spcBef>
                <a:spcPts val="5"/>
              </a:spcBef>
            </a:pPr>
            <a:r>
              <a:rPr sz="1100" spc="-20" dirty="0">
                <a:latin typeface="Tahoma"/>
                <a:cs typeface="Tahoma"/>
              </a:rPr>
              <a:t>FIT5226:</a:t>
            </a:r>
            <a:r>
              <a:rPr sz="1100" spc="80" dirty="0">
                <a:latin typeface="Tahoma"/>
                <a:cs typeface="Tahoma"/>
              </a:rPr>
              <a:t> </a:t>
            </a:r>
            <a:r>
              <a:rPr sz="1100" spc="-10" dirty="0">
                <a:latin typeface="Tahoma"/>
                <a:cs typeface="Tahoma"/>
              </a:rPr>
              <a:t>Multi-</a:t>
            </a:r>
            <a:r>
              <a:rPr sz="1100" dirty="0">
                <a:latin typeface="Tahoma"/>
                <a:cs typeface="Tahoma"/>
              </a:rPr>
              <a:t>Agent</a:t>
            </a:r>
            <a:r>
              <a:rPr sz="1100" spc="-20" dirty="0">
                <a:latin typeface="Tahoma"/>
                <a:cs typeface="Tahoma"/>
              </a:rPr>
              <a:t> </a:t>
            </a:r>
            <a:r>
              <a:rPr sz="1100" spc="-40" dirty="0">
                <a:latin typeface="Tahoma"/>
                <a:cs typeface="Tahoma"/>
              </a:rPr>
              <a:t>Systems</a:t>
            </a:r>
            <a:r>
              <a:rPr sz="1100" spc="-30" dirty="0">
                <a:latin typeface="Tahoma"/>
                <a:cs typeface="Tahoma"/>
              </a:rPr>
              <a:t> </a:t>
            </a:r>
            <a:r>
              <a:rPr sz="1100" spc="-35" dirty="0">
                <a:latin typeface="Tahoma"/>
                <a:cs typeface="Tahoma"/>
              </a:rPr>
              <a:t>and</a:t>
            </a:r>
            <a:r>
              <a:rPr sz="1100" spc="-20" dirty="0">
                <a:latin typeface="Tahoma"/>
                <a:cs typeface="Tahoma"/>
              </a:rPr>
              <a:t> Collective</a:t>
            </a:r>
            <a:r>
              <a:rPr sz="1100" spc="-25" dirty="0">
                <a:latin typeface="Tahoma"/>
                <a:cs typeface="Tahoma"/>
              </a:rPr>
              <a:t> </a:t>
            </a:r>
            <a:r>
              <a:rPr sz="1100" spc="-10" dirty="0">
                <a:latin typeface="Tahoma"/>
                <a:cs typeface="Tahoma"/>
              </a:rPr>
              <a:t>Behaviour</a:t>
            </a:r>
            <a:endParaRPr sz="1100" dirty="0">
              <a:latin typeface="Tahoma"/>
              <a:cs typeface="Tahoma"/>
            </a:endParaRPr>
          </a:p>
        </p:txBody>
      </p:sp>
      <p:sp>
        <p:nvSpPr>
          <p:cNvPr id="4" name="Date Placeholder 3">
            <a:extLst>
              <a:ext uri="{FF2B5EF4-FFF2-40B4-BE49-F238E27FC236}">
                <a16:creationId xmlns:a16="http://schemas.microsoft.com/office/drawing/2014/main" id="{2C66C9AF-FFD9-4BBD-94A6-74AB19A6279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295A0EF-1C89-4548-978F-6E8D92C9369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1250CEE-4E02-4671-B269-FA9E04361D8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Coalitional</a:t>
            </a:r>
            <a:r>
              <a:rPr spc="210" dirty="0"/>
              <a:t> </a:t>
            </a:r>
            <a:r>
              <a:rPr spc="-10" dirty="0"/>
              <a:t>games</a:t>
            </a:r>
          </a:p>
        </p:txBody>
      </p:sp>
      <p:sp>
        <p:nvSpPr>
          <p:cNvPr id="3" name="object 3"/>
          <p:cNvSpPr txBox="1"/>
          <p:nvPr/>
        </p:nvSpPr>
        <p:spPr>
          <a:xfrm>
            <a:off x="309194" y="818347"/>
            <a:ext cx="3988435" cy="1878330"/>
          </a:xfrm>
          <a:prstGeom prst="rect">
            <a:avLst/>
          </a:prstGeom>
        </p:spPr>
        <p:txBody>
          <a:bodyPr vert="horz" wrap="square" lIns="0" tIns="55244" rIns="0" bIns="0" rtlCol="0">
            <a:spAutoFit/>
          </a:bodyPr>
          <a:lstStyle/>
          <a:p>
            <a:pPr marL="50800">
              <a:lnSpc>
                <a:spcPct val="100000"/>
              </a:lnSpc>
              <a:spcBef>
                <a:spcPts val="434"/>
              </a:spcBef>
            </a:pPr>
            <a:r>
              <a:rPr sz="1100" spc="-60" dirty="0">
                <a:latin typeface="Tahoma"/>
                <a:cs typeface="Tahoma"/>
              </a:rPr>
              <a:t>In</a:t>
            </a:r>
            <a:r>
              <a:rPr sz="1100" spc="-5" dirty="0">
                <a:latin typeface="Tahoma"/>
                <a:cs typeface="Tahoma"/>
              </a:rPr>
              <a:t> </a:t>
            </a:r>
            <a:r>
              <a:rPr sz="1100" dirty="0">
                <a:latin typeface="Tahoma"/>
                <a:cs typeface="Tahoma"/>
              </a:rPr>
              <a:t>a </a:t>
            </a:r>
            <a:r>
              <a:rPr sz="1100" spc="-60" dirty="0">
                <a:latin typeface="Tahoma"/>
                <a:cs typeface="Tahoma"/>
              </a:rPr>
              <a:t>non-</a:t>
            </a:r>
            <a:r>
              <a:rPr sz="1100" spc="-40" dirty="0">
                <a:latin typeface="Tahoma"/>
                <a:cs typeface="Tahoma"/>
              </a:rPr>
              <a:t>cooperative</a:t>
            </a:r>
            <a:r>
              <a:rPr sz="1100" spc="-5" dirty="0">
                <a:latin typeface="Tahoma"/>
                <a:cs typeface="Tahoma"/>
              </a:rPr>
              <a:t> </a:t>
            </a:r>
            <a:r>
              <a:rPr sz="1100" spc="-20" dirty="0">
                <a:latin typeface="Tahoma"/>
                <a:cs typeface="Tahoma"/>
              </a:rPr>
              <a:t>game:</a:t>
            </a:r>
            <a:endParaRPr sz="1100" dirty="0">
              <a:latin typeface="Tahoma"/>
              <a:cs typeface="Tahoma"/>
            </a:endParaRPr>
          </a:p>
          <a:p>
            <a:pPr marL="325755" indent="-175260">
              <a:lnSpc>
                <a:spcPct val="100000"/>
              </a:lnSpc>
              <a:spcBef>
                <a:spcPts val="334"/>
              </a:spcBef>
              <a:buClr>
                <a:srgbClr val="3333B2"/>
              </a:buClr>
              <a:buFont typeface="Arial"/>
              <a:buChar char="►"/>
              <a:tabLst>
                <a:tab pos="325755" algn="l"/>
              </a:tabLst>
            </a:pPr>
            <a:r>
              <a:rPr sz="1100" spc="-30" dirty="0">
                <a:latin typeface="Tahoma"/>
                <a:cs typeface="Tahoma"/>
              </a:rPr>
              <a:t>Players</a:t>
            </a:r>
            <a:r>
              <a:rPr sz="1100" spc="-10" dirty="0">
                <a:latin typeface="Tahoma"/>
                <a:cs typeface="Tahoma"/>
              </a:rPr>
              <a:t> </a:t>
            </a:r>
            <a:r>
              <a:rPr sz="1100" spc="-60" dirty="0">
                <a:latin typeface="Tahoma"/>
                <a:cs typeface="Tahoma"/>
              </a:rPr>
              <a:t>are</a:t>
            </a:r>
            <a:r>
              <a:rPr sz="1100" spc="-10" dirty="0">
                <a:latin typeface="Tahoma"/>
                <a:cs typeface="Tahoma"/>
              </a:rPr>
              <a:t> </a:t>
            </a:r>
            <a:r>
              <a:rPr sz="1100" spc="-45" dirty="0">
                <a:latin typeface="Tahoma"/>
                <a:cs typeface="Tahoma"/>
              </a:rPr>
              <a:t>self-</a:t>
            </a:r>
            <a:r>
              <a:rPr sz="1100" spc="-40" dirty="0">
                <a:latin typeface="Tahoma"/>
                <a:cs typeface="Tahoma"/>
              </a:rPr>
              <a:t>interested</a:t>
            </a:r>
            <a:r>
              <a:rPr sz="1100" spc="-10" dirty="0">
                <a:latin typeface="Tahoma"/>
                <a:cs typeface="Tahoma"/>
              </a:rPr>
              <a:t> agents</a:t>
            </a:r>
            <a:endParaRPr sz="1100" dirty="0">
              <a:latin typeface="Tahoma"/>
              <a:cs typeface="Tahoma"/>
            </a:endParaRPr>
          </a:p>
          <a:p>
            <a:pPr marL="325755" indent="-175260">
              <a:lnSpc>
                <a:spcPct val="100000"/>
              </a:lnSpc>
              <a:spcBef>
                <a:spcPts val="330"/>
              </a:spcBef>
              <a:buClr>
                <a:srgbClr val="3333B2"/>
              </a:buClr>
              <a:buFont typeface="Arial"/>
              <a:buChar char="►"/>
              <a:tabLst>
                <a:tab pos="325755" algn="l"/>
              </a:tabLst>
            </a:pPr>
            <a:r>
              <a:rPr sz="1100" spc="-30" dirty="0">
                <a:latin typeface="Tahoma"/>
                <a:cs typeface="Tahoma"/>
              </a:rPr>
              <a:t>Players</a:t>
            </a:r>
            <a:r>
              <a:rPr sz="1100" spc="-60" dirty="0">
                <a:latin typeface="Tahoma"/>
                <a:cs typeface="Tahoma"/>
              </a:rPr>
              <a:t> </a:t>
            </a:r>
            <a:r>
              <a:rPr sz="1100" spc="-45" dirty="0">
                <a:latin typeface="Tahoma"/>
                <a:cs typeface="Tahoma"/>
              </a:rPr>
              <a:t>choose</a:t>
            </a:r>
            <a:r>
              <a:rPr sz="1100" spc="-40" dirty="0">
                <a:latin typeface="Tahoma"/>
                <a:cs typeface="Tahoma"/>
              </a:rPr>
              <a:t> </a:t>
            </a:r>
            <a:r>
              <a:rPr sz="1100" spc="-10" dirty="0">
                <a:latin typeface="Tahoma"/>
                <a:cs typeface="Tahoma"/>
              </a:rPr>
              <a:t>their</a:t>
            </a:r>
            <a:r>
              <a:rPr sz="1100" spc="-40" dirty="0">
                <a:latin typeface="Tahoma"/>
                <a:cs typeface="Tahoma"/>
              </a:rPr>
              <a:t> </a:t>
            </a:r>
            <a:r>
              <a:rPr sz="1100" spc="-60" dirty="0">
                <a:latin typeface="Tahoma"/>
                <a:cs typeface="Tahoma"/>
              </a:rPr>
              <a:t>own</a:t>
            </a:r>
            <a:r>
              <a:rPr sz="1100" spc="-30" dirty="0">
                <a:latin typeface="Tahoma"/>
                <a:cs typeface="Tahoma"/>
              </a:rPr>
              <a:t> </a:t>
            </a:r>
            <a:r>
              <a:rPr sz="1100" spc="-10" dirty="0">
                <a:latin typeface="Tahoma"/>
                <a:cs typeface="Tahoma"/>
              </a:rPr>
              <a:t>actions</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5" dirty="0">
                <a:latin typeface="Tahoma"/>
                <a:cs typeface="Tahoma"/>
              </a:rPr>
              <a:t>Payoffs</a:t>
            </a:r>
            <a:r>
              <a:rPr sz="1100" spc="-25" dirty="0">
                <a:latin typeface="Tahoma"/>
                <a:cs typeface="Tahoma"/>
              </a:rPr>
              <a:t> </a:t>
            </a:r>
            <a:r>
              <a:rPr sz="1100" spc="-60" dirty="0">
                <a:latin typeface="Tahoma"/>
                <a:cs typeface="Tahoma"/>
              </a:rPr>
              <a:t>are</a:t>
            </a:r>
            <a:r>
              <a:rPr sz="1100" spc="-25" dirty="0">
                <a:latin typeface="Tahoma"/>
                <a:cs typeface="Tahoma"/>
              </a:rPr>
              <a:t> allocated</a:t>
            </a:r>
            <a:r>
              <a:rPr sz="1100" spc="-20" dirty="0">
                <a:latin typeface="Tahoma"/>
                <a:cs typeface="Tahoma"/>
              </a:rPr>
              <a:t> </a:t>
            </a:r>
            <a:r>
              <a:rPr sz="1100" dirty="0">
                <a:latin typeface="Tahoma"/>
                <a:cs typeface="Tahoma"/>
              </a:rPr>
              <a:t>to</a:t>
            </a:r>
            <a:r>
              <a:rPr sz="1100" spc="-25" dirty="0">
                <a:latin typeface="Tahoma"/>
                <a:cs typeface="Tahoma"/>
              </a:rPr>
              <a:t> individual</a:t>
            </a:r>
            <a:r>
              <a:rPr sz="1100" spc="-20" dirty="0">
                <a:latin typeface="Tahoma"/>
                <a:cs typeface="Tahoma"/>
              </a:rPr>
              <a:t> </a:t>
            </a:r>
            <a:r>
              <a:rPr sz="1100" spc="-10" dirty="0">
                <a:latin typeface="Tahoma"/>
                <a:cs typeface="Tahoma"/>
              </a:rPr>
              <a:t>players</a:t>
            </a:r>
            <a:endParaRPr sz="1100" dirty="0">
              <a:latin typeface="Tahoma"/>
              <a:cs typeface="Tahoma"/>
            </a:endParaRPr>
          </a:p>
          <a:p>
            <a:pPr>
              <a:lnSpc>
                <a:spcPct val="100000"/>
              </a:lnSpc>
              <a:spcBef>
                <a:spcPts val="360"/>
              </a:spcBef>
              <a:buClr>
                <a:srgbClr val="3333B2"/>
              </a:buClr>
              <a:buFont typeface="Arial"/>
              <a:buChar char="►"/>
            </a:pPr>
            <a:endParaRPr sz="1100" dirty="0">
              <a:latin typeface="Tahoma"/>
              <a:cs typeface="Tahoma"/>
            </a:endParaRPr>
          </a:p>
          <a:p>
            <a:pPr marL="50800">
              <a:lnSpc>
                <a:spcPct val="100000"/>
              </a:lnSpc>
            </a:pPr>
            <a:r>
              <a:rPr sz="1100" spc="-60" dirty="0">
                <a:latin typeface="Tahoma"/>
                <a:cs typeface="Tahoma"/>
              </a:rPr>
              <a:t>In</a:t>
            </a:r>
            <a:r>
              <a:rPr sz="1100" spc="-20" dirty="0">
                <a:latin typeface="Tahoma"/>
                <a:cs typeface="Tahoma"/>
              </a:rPr>
              <a:t> </a:t>
            </a:r>
            <a:r>
              <a:rPr sz="1100" dirty="0">
                <a:latin typeface="Tahoma"/>
                <a:cs typeface="Tahoma"/>
              </a:rPr>
              <a:t>a</a:t>
            </a:r>
            <a:r>
              <a:rPr sz="1100" spc="-20" dirty="0">
                <a:latin typeface="Tahoma"/>
                <a:cs typeface="Tahoma"/>
              </a:rPr>
              <a:t> coalitional </a:t>
            </a:r>
            <a:r>
              <a:rPr sz="1100" spc="-10" dirty="0">
                <a:latin typeface="Tahoma"/>
                <a:cs typeface="Tahoma"/>
              </a:rPr>
              <a:t>game:</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0" dirty="0">
                <a:latin typeface="Tahoma"/>
                <a:cs typeface="Tahoma"/>
              </a:rPr>
              <a:t>Players</a:t>
            </a:r>
            <a:r>
              <a:rPr sz="1100" spc="-20" dirty="0">
                <a:latin typeface="Tahoma"/>
                <a:cs typeface="Tahoma"/>
              </a:rPr>
              <a:t> </a:t>
            </a:r>
            <a:r>
              <a:rPr sz="1100" dirty="0">
                <a:latin typeface="Tahoma"/>
                <a:cs typeface="Tahoma"/>
              </a:rPr>
              <a:t>still</a:t>
            </a:r>
            <a:r>
              <a:rPr sz="1100" spc="-15" dirty="0">
                <a:latin typeface="Tahoma"/>
                <a:cs typeface="Tahoma"/>
              </a:rPr>
              <a:t> </a:t>
            </a:r>
            <a:r>
              <a:rPr sz="1100" spc="-60" dirty="0">
                <a:latin typeface="Tahoma"/>
                <a:cs typeface="Tahoma"/>
              </a:rPr>
              <a:t>are</a:t>
            </a:r>
            <a:r>
              <a:rPr sz="1100" spc="-20" dirty="0">
                <a:latin typeface="Tahoma"/>
                <a:cs typeface="Tahoma"/>
              </a:rPr>
              <a:t> </a:t>
            </a:r>
            <a:r>
              <a:rPr sz="1100" spc="-45" dirty="0">
                <a:latin typeface="Tahoma"/>
                <a:cs typeface="Tahoma"/>
              </a:rPr>
              <a:t>self-</a:t>
            </a:r>
            <a:r>
              <a:rPr sz="1100" spc="-40" dirty="0">
                <a:latin typeface="Tahoma"/>
                <a:cs typeface="Tahoma"/>
              </a:rPr>
              <a:t>interested</a:t>
            </a:r>
            <a:r>
              <a:rPr sz="1100" spc="-15" dirty="0">
                <a:latin typeface="Tahoma"/>
                <a:cs typeface="Tahoma"/>
              </a:rPr>
              <a:t> </a:t>
            </a:r>
            <a:r>
              <a:rPr sz="1100" spc="-45" dirty="0">
                <a:latin typeface="Tahoma"/>
                <a:cs typeface="Tahoma"/>
              </a:rPr>
              <a:t>agents,</a:t>
            </a:r>
            <a:r>
              <a:rPr sz="1100" spc="-20" dirty="0">
                <a:latin typeface="Tahoma"/>
                <a:cs typeface="Tahoma"/>
              </a:rPr>
              <a:t> </a:t>
            </a:r>
            <a:r>
              <a:rPr sz="1100" dirty="0">
                <a:latin typeface="Tahoma"/>
                <a:cs typeface="Tahoma"/>
              </a:rPr>
              <a:t>but</a:t>
            </a:r>
            <a:r>
              <a:rPr sz="1100" spc="-15" dirty="0">
                <a:latin typeface="Tahoma"/>
                <a:cs typeface="Tahoma"/>
              </a:rPr>
              <a:t> </a:t>
            </a:r>
            <a:r>
              <a:rPr sz="1100" spc="-25" dirty="0">
                <a:latin typeface="Tahoma"/>
                <a:cs typeface="Tahoma"/>
              </a:rPr>
              <a:t>...</a:t>
            </a:r>
            <a:endParaRPr sz="1100" dirty="0">
              <a:latin typeface="Tahoma"/>
              <a:cs typeface="Tahoma"/>
            </a:endParaRPr>
          </a:p>
          <a:p>
            <a:pPr marL="325755" indent="-175260">
              <a:lnSpc>
                <a:spcPct val="100000"/>
              </a:lnSpc>
              <a:spcBef>
                <a:spcPts val="335"/>
              </a:spcBef>
              <a:buClr>
                <a:srgbClr val="3333B2"/>
              </a:buClr>
              <a:buFont typeface="Arial"/>
              <a:buChar char="►"/>
              <a:tabLst>
                <a:tab pos="325755" algn="l"/>
              </a:tabLst>
            </a:pPr>
            <a:r>
              <a:rPr sz="1100" spc="-30" dirty="0">
                <a:latin typeface="Tahoma"/>
                <a:cs typeface="Tahoma"/>
              </a:rPr>
              <a:t>Players</a:t>
            </a:r>
            <a:r>
              <a:rPr sz="1100" spc="-55" dirty="0">
                <a:latin typeface="Tahoma"/>
                <a:cs typeface="Tahoma"/>
              </a:rPr>
              <a:t> </a:t>
            </a:r>
            <a:r>
              <a:rPr sz="1100" spc="-40" dirty="0">
                <a:latin typeface="Tahoma"/>
                <a:cs typeface="Tahoma"/>
              </a:rPr>
              <a:t>form</a:t>
            </a:r>
            <a:r>
              <a:rPr sz="1100" spc="-45" dirty="0">
                <a:latin typeface="Tahoma"/>
                <a:cs typeface="Tahoma"/>
              </a:rPr>
              <a:t> </a:t>
            </a:r>
            <a:r>
              <a:rPr sz="1100" i="1" spc="-30" dirty="0">
                <a:latin typeface="Arial"/>
                <a:cs typeface="Arial"/>
              </a:rPr>
              <a:t>coalitions</a:t>
            </a:r>
            <a:r>
              <a:rPr sz="1100" i="1" spc="-5" dirty="0">
                <a:latin typeface="Arial"/>
                <a:cs typeface="Arial"/>
              </a:rPr>
              <a:t> </a:t>
            </a:r>
            <a:r>
              <a:rPr sz="1100" spc="-40" dirty="0">
                <a:latin typeface="Tahoma"/>
                <a:cs typeface="Tahoma"/>
              </a:rPr>
              <a:t>(groups</a:t>
            </a:r>
            <a:r>
              <a:rPr sz="1100" spc="-45" dirty="0">
                <a:latin typeface="Tahoma"/>
                <a:cs typeface="Tahoma"/>
              </a:rPr>
              <a:t> </a:t>
            </a:r>
            <a:r>
              <a:rPr sz="1100" dirty="0">
                <a:latin typeface="Tahoma"/>
                <a:cs typeface="Tahoma"/>
              </a:rPr>
              <a:t>of</a:t>
            </a:r>
            <a:r>
              <a:rPr sz="1100" spc="-45" dirty="0">
                <a:latin typeface="Tahoma"/>
                <a:cs typeface="Tahoma"/>
              </a:rPr>
              <a:t> players), </a:t>
            </a:r>
            <a:r>
              <a:rPr sz="1100" spc="-25" dirty="0">
                <a:latin typeface="Tahoma"/>
                <a:cs typeface="Tahoma"/>
              </a:rPr>
              <a:t>which</a:t>
            </a:r>
            <a:r>
              <a:rPr sz="1100" spc="-45" dirty="0">
                <a:latin typeface="Tahoma"/>
                <a:cs typeface="Tahoma"/>
              </a:rPr>
              <a:t> </a:t>
            </a:r>
            <a:r>
              <a:rPr sz="1100" spc="-20" dirty="0">
                <a:latin typeface="Tahoma"/>
                <a:cs typeface="Tahoma"/>
              </a:rPr>
              <a:t>take</a:t>
            </a:r>
            <a:r>
              <a:rPr sz="1100" spc="-45" dirty="0">
                <a:latin typeface="Tahoma"/>
                <a:cs typeface="Tahoma"/>
              </a:rPr>
              <a:t> </a:t>
            </a:r>
            <a:r>
              <a:rPr sz="1100" spc="-10" dirty="0">
                <a:latin typeface="Tahoma"/>
                <a:cs typeface="Tahoma"/>
              </a:rPr>
              <a:t>actions</a:t>
            </a:r>
            <a:endParaRPr sz="1100" dirty="0">
              <a:latin typeface="Tahoma"/>
              <a:cs typeface="Tahoma"/>
            </a:endParaRPr>
          </a:p>
          <a:p>
            <a:pPr marL="325755" indent="-175260">
              <a:lnSpc>
                <a:spcPct val="100000"/>
              </a:lnSpc>
              <a:spcBef>
                <a:spcPts val="334"/>
              </a:spcBef>
              <a:buClr>
                <a:srgbClr val="3333B2"/>
              </a:buClr>
              <a:buFont typeface="Arial"/>
              <a:buChar char="►"/>
              <a:tabLst>
                <a:tab pos="325755" algn="l"/>
              </a:tabLst>
            </a:pPr>
            <a:r>
              <a:rPr sz="1100" spc="-35" dirty="0">
                <a:latin typeface="Tahoma"/>
                <a:cs typeface="Tahoma"/>
              </a:rPr>
              <a:t>Payoffs</a:t>
            </a:r>
            <a:r>
              <a:rPr sz="1100" spc="-30" dirty="0">
                <a:latin typeface="Tahoma"/>
                <a:cs typeface="Tahoma"/>
              </a:rPr>
              <a:t> </a:t>
            </a:r>
            <a:r>
              <a:rPr sz="1100" spc="-60" dirty="0">
                <a:latin typeface="Tahoma"/>
                <a:cs typeface="Tahoma"/>
              </a:rPr>
              <a:t>are</a:t>
            </a:r>
            <a:r>
              <a:rPr sz="1100" spc="-30" dirty="0">
                <a:latin typeface="Tahoma"/>
                <a:cs typeface="Tahoma"/>
              </a:rPr>
              <a:t> </a:t>
            </a:r>
            <a:r>
              <a:rPr sz="1100" spc="-25" dirty="0">
                <a:latin typeface="Tahoma"/>
                <a:cs typeface="Tahoma"/>
              </a:rPr>
              <a:t>allocated </a:t>
            </a:r>
            <a:r>
              <a:rPr sz="1100" dirty="0">
                <a:latin typeface="Tahoma"/>
                <a:cs typeface="Tahoma"/>
              </a:rPr>
              <a:t>to</a:t>
            </a:r>
            <a:r>
              <a:rPr sz="1100" spc="-30" dirty="0">
                <a:latin typeface="Tahoma"/>
                <a:cs typeface="Tahoma"/>
              </a:rPr>
              <a:t> </a:t>
            </a:r>
            <a:r>
              <a:rPr sz="1100" spc="-25" dirty="0">
                <a:latin typeface="Tahoma"/>
                <a:cs typeface="Tahoma"/>
              </a:rPr>
              <a:t>coalitions</a:t>
            </a:r>
            <a:r>
              <a:rPr sz="1100" spc="-30" dirty="0">
                <a:latin typeface="Tahoma"/>
                <a:cs typeface="Tahoma"/>
              </a:rPr>
              <a:t> rather</a:t>
            </a:r>
            <a:r>
              <a:rPr sz="1100" spc="-25" dirty="0">
                <a:latin typeface="Tahoma"/>
                <a:cs typeface="Tahoma"/>
              </a:rPr>
              <a:t> </a:t>
            </a:r>
            <a:r>
              <a:rPr sz="1100" spc="-20" dirty="0">
                <a:latin typeface="Tahoma"/>
                <a:cs typeface="Tahoma"/>
              </a:rPr>
              <a:t>than</a:t>
            </a:r>
            <a:r>
              <a:rPr sz="1100" spc="-25" dirty="0">
                <a:latin typeface="Tahoma"/>
                <a:cs typeface="Tahoma"/>
              </a:rPr>
              <a:t> </a:t>
            </a:r>
            <a:r>
              <a:rPr sz="1100" dirty="0">
                <a:latin typeface="Tahoma"/>
                <a:cs typeface="Tahoma"/>
              </a:rPr>
              <a:t>to</a:t>
            </a:r>
            <a:r>
              <a:rPr sz="1100" spc="-30" dirty="0">
                <a:latin typeface="Tahoma"/>
                <a:cs typeface="Tahoma"/>
              </a:rPr>
              <a:t> </a:t>
            </a:r>
            <a:r>
              <a:rPr sz="1100" spc="-35" dirty="0">
                <a:latin typeface="Tahoma"/>
                <a:cs typeface="Tahoma"/>
              </a:rPr>
              <a:t>single</a:t>
            </a:r>
            <a:r>
              <a:rPr sz="1100" spc="-25" dirty="0">
                <a:latin typeface="Tahoma"/>
                <a:cs typeface="Tahoma"/>
              </a:rPr>
              <a:t> </a:t>
            </a:r>
            <a:r>
              <a:rPr sz="1100" spc="-10" dirty="0">
                <a:latin typeface="Tahoma"/>
                <a:cs typeface="Tahoma"/>
              </a:rPr>
              <a:t>players</a:t>
            </a:r>
            <a:endParaRPr sz="1100" dirty="0">
              <a:latin typeface="Tahoma"/>
              <a:cs typeface="Tahoma"/>
            </a:endParaRPr>
          </a:p>
        </p:txBody>
      </p:sp>
      <p:sp>
        <p:nvSpPr>
          <p:cNvPr id="4" name="Date Placeholder 3">
            <a:extLst>
              <a:ext uri="{FF2B5EF4-FFF2-40B4-BE49-F238E27FC236}">
                <a16:creationId xmlns:a16="http://schemas.microsoft.com/office/drawing/2014/main" id="{60898EA1-5753-4295-8EBA-BF8A6687233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3CAF836-C1ED-4327-BA07-12188E468B6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0749860-5149-44C1-B5AE-98D9DCBAC04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Coalitional</a:t>
            </a:r>
            <a:r>
              <a:rPr spc="110" dirty="0"/>
              <a:t> </a:t>
            </a:r>
            <a:r>
              <a:rPr dirty="0"/>
              <a:t>games</a:t>
            </a:r>
            <a:r>
              <a:rPr spc="110" dirty="0"/>
              <a:t> </a:t>
            </a:r>
            <a:r>
              <a:rPr dirty="0"/>
              <a:t>with</a:t>
            </a:r>
            <a:r>
              <a:rPr spc="114" dirty="0"/>
              <a:t> </a:t>
            </a:r>
            <a:r>
              <a:rPr spc="-10" dirty="0"/>
              <a:t>transferable</a:t>
            </a:r>
            <a:r>
              <a:rPr spc="110" dirty="0"/>
              <a:t> </a:t>
            </a:r>
            <a:r>
              <a:rPr spc="-10" dirty="0"/>
              <a:t>utility</a:t>
            </a:r>
          </a:p>
        </p:txBody>
      </p:sp>
      <mc:AlternateContent xmlns:mc="http://schemas.openxmlformats.org/markup-compatibility/2006" xmlns:a14="http://schemas.microsoft.com/office/drawing/2010/main">
        <mc:Choice Requires="a14">
          <p:sp>
            <p:nvSpPr>
              <p:cNvPr id="3" name="object 3"/>
              <p:cNvSpPr txBox="1"/>
              <p:nvPr/>
            </p:nvSpPr>
            <p:spPr>
              <a:xfrm>
                <a:off x="309194" y="739775"/>
                <a:ext cx="3989704" cy="2002920"/>
              </a:xfrm>
              <a:prstGeom prst="rect">
                <a:avLst/>
              </a:prstGeom>
            </p:spPr>
            <p:txBody>
              <a:bodyPr vert="horz" wrap="square" lIns="0" tIns="55244" rIns="0" bIns="0" rtlCol="0">
                <a:spAutoFit/>
              </a:bodyPr>
              <a:lstStyle/>
              <a:p>
                <a:pPr marL="325755" indent="-175260">
                  <a:lnSpc>
                    <a:spcPct val="100000"/>
                  </a:lnSpc>
                  <a:spcBef>
                    <a:spcPts val="434"/>
                  </a:spcBef>
                  <a:buClr>
                    <a:srgbClr val="3333B2"/>
                  </a:buClr>
                  <a:buFont typeface="Arial"/>
                  <a:buChar char="►"/>
                  <a:tabLst>
                    <a:tab pos="325755" algn="l"/>
                  </a:tabLst>
                </a:pPr>
                <a:r>
                  <a:rPr lang="en-US" sz="1100" spc="-10" dirty="0">
                    <a:latin typeface="Tahoma"/>
                    <a:cs typeface="Tahoma"/>
                  </a:rPr>
                  <a:t>Coalition:</a:t>
                </a:r>
                <a:r>
                  <a:rPr lang="en-US" sz="1100" spc="5" dirty="0">
                    <a:latin typeface="Tahoma"/>
                    <a:cs typeface="Tahoma"/>
                  </a:rPr>
                  <a:t> </a:t>
                </a:r>
                <a:r>
                  <a:rPr lang="en-US" sz="1100" dirty="0">
                    <a:latin typeface="Tahoma"/>
                    <a:cs typeface="Tahoma"/>
                  </a:rPr>
                  <a:t>a</a:t>
                </a:r>
                <a:r>
                  <a:rPr lang="en-US" sz="1100" spc="-35" dirty="0">
                    <a:latin typeface="Tahoma"/>
                    <a:cs typeface="Tahoma"/>
                  </a:rPr>
                  <a:t> </a:t>
                </a:r>
                <a:r>
                  <a:rPr lang="en-US" sz="1100" spc="-45" dirty="0">
                    <a:latin typeface="Tahoma"/>
                    <a:cs typeface="Tahoma"/>
                  </a:rPr>
                  <a:t>group</a:t>
                </a:r>
                <a:r>
                  <a:rPr lang="en-US" sz="1100" spc="-40" dirty="0">
                    <a:latin typeface="Tahoma"/>
                    <a:cs typeface="Tahoma"/>
                  </a:rPr>
                  <a:t> </a:t>
                </a:r>
                <a:r>
                  <a:rPr lang="en-US" sz="1100" dirty="0">
                    <a:latin typeface="Tahoma"/>
                    <a:cs typeface="Tahoma"/>
                  </a:rPr>
                  <a:t>of</a:t>
                </a:r>
                <a:r>
                  <a:rPr lang="en-US" sz="1100" spc="-40" dirty="0">
                    <a:latin typeface="Tahoma"/>
                    <a:cs typeface="Tahoma"/>
                  </a:rPr>
                  <a:t> </a:t>
                </a:r>
                <a:r>
                  <a:rPr lang="en-US" sz="1100" spc="-45" dirty="0">
                    <a:latin typeface="Tahoma"/>
                    <a:cs typeface="Tahoma"/>
                  </a:rPr>
                  <a:t>agents,</a:t>
                </a:r>
                <a:r>
                  <a:rPr lang="en-US" sz="1100" spc="-4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r>
                      <a:rPr lang="en-US" sz="1100" i="1" spc="-50" dirty="0">
                        <a:latin typeface="Cambria Math" panose="02040503050406030204" pitchFamily="18" charset="0"/>
                        <a:cs typeface="Meiryo UI"/>
                      </a:rPr>
                      <m:t>⊆</m:t>
                    </m:r>
                    <m:r>
                      <a:rPr lang="en-US" sz="1100" i="1" spc="-50" dirty="0">
                        <a:latin typeface="Cambria Math" panose="02040503050406030204" pitchFamily="18" charset="0"/>
                        <a:cs typeface="Arial"/>
                      </a:rPr>
                      <m:t>𝑁</m:t>
                    </m:r>
                  </m:oMath>
                </a14:m>
                <a:endParaRPr lang="en-US" sz="1100" dirty="0">
                  <a:latin typeface="Arial"/>
                  <a:cs typeface="Arial"/>
                </a:endParaRPr>
              </a:p>
              <a:p>
                <a:pPr marL="325755" indent="-175260">
                  <a:lnSpc>
                    <a:spcPct val="100000"/>
                  </a:lnSpc>
                  <a:spcBef>
                    <a:spcPts val="334"/>
                  </a:spcBef>
                  <a:buClr>
                    <a:srgbClr val="3333B2"/>
                  </a:buClr>
                  <a:buFont typeface="Arial"/>
                  <a:buChar char="►"/>
                  <a:tabLst>
                    <a:tab pos="325755" algn="l"/>
                  </a:tabLst>
                </a:pPr>
                <a:r>
                  <a:rPr lang="en-US" sz="1100" spc="-25" dirty="0">
                    <a:latin typeface="Tahoma"/>
                    <a:cs typeface="Tahoma"/>
                  </a:rPr>
                  <a:t>Grand</a:t>
                </a:r>
                <a:r>
                  <a:rPr lang="en-US" sz="1100" spc="-45" dirty="0">
                    <a:latin typeface="Tahoma"/>
                    <a:cs typeface="Tahoma"/>
                  </a:rPr>
                  <a:t> </a:t>
                </a:r>
                <a:r>
                  <a:rPr lang="en-US" sz="1100" spc="-10" dirty="0">
                    <a:latin typeface="Tahoma"/>
                    <a:cs typeface="Tahoma"/>
                  </a:rPr>
                  <a:t>coalition:</a:t>
                </a:r>
                <a:r>
                  <a:rPr lang="en-US" sz="1100" spc="10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𝑁</m:t>
                    </m:r>
                    <m:r>
                      <a:rPr lang="en-US" sz="1100" i="1" dirty="0">
                        <a:latin typeface="Cambria Math" panose="02040503050406030204" pitchFamily="18" charset="0"/>
                        <a:cs typeface="Tahoma"/>
                      </a:rPr>
                      <m:t>=</m:t>
                    </m:r>
                    <m:r>
                      <a:rPr lang="en-US" sz="1100" i="1" spc="-65" dirty="0">
                        <a:latin typeface="Cambria Math" panose="02040503050406030204" pitchFamily="18" charset="0"/>
                        <a:cs typeface="Meiryo UI"/>
                      </a:rPr>
                      <m:t>{</m:t>
                    </m:r>
                    <m:r>
                      <a:rPr lang="en-US" sz="1100" i="1" spc="-65" dirty="0">
                        <a:latin typeface="Cambria Math" panose="02040503050406030204" pitchFamily="18" charset="0"/>
                        <a:cs typeface="Tahoma"/>
                      </a:rPr>
                      <m:t>1</m:t>
                    </m:r>
                    <m:r>
                      <a:rPr lang="en-US" sz="1100" i="1" spc="-65"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25" dirty="0">
                        <a:latin typeface="Cambria Math" panose="02040503050406030204" pitchFamily="18" charset="0"/>
                        <a:cs typeface="Arial"/>
                      </a:rPr>
                      <m:t>𝑛</m:t>
                    </m:r>
                    <m:r>
                      <a:rPr lang="en-US" sz="1100" i="1" spc="-25" dirty="0">
                        <a:latin typeface="Cambria Math" panose="02040503050406030204" pitchFamily="18" charset="0"/>
                        <a:cs typeface="Meiryo UI"/>
                      </a:rPr>
                      <m:t>}</m:t>
                    </m:r>
                  </m:oMath>
                </a14:m>
                <a:endParaRPr lang="en-US" sz="1100" dirty="0">
                  <a:latin typeface="Meiryo UI"/>
                  <a:cs typeface="Meiryo UI"/>
                </a:endParaRPr>
              </a:p>
              <a:p>
                <a:pPr marL="325755" marR="43180" indent="-175260">
                  <a:lnSpc>
                    <a:spcPct val="102600"/>
                  </a:lnSpc>
                  <a:spcBef>
                    <a:spcPts val="295"/>
                  </a:spcBef>
                  <a:buClr>
                    <a:srgbClr val="3333B2"/>
                  </a:buClr>
                  <a:buFont typeface="Arial"/>
                  <a:buChar char="►"/>
                  <a:tabLst>
                    <a:tab pos="327660" algn="l"/>
                  </a:tabLst>
                </a:pPr>
                <a:r>
                  <a:rPr lang="en-US" sz="1100" spc="-45" dirty="0">
                    <a:latin typeface="Tahoma"/>
                    <a:cs typeface="Tahoma"/>
                  </a:rPr>
                  <a:t>Transferable</a:t>
                </a:r>
                <a:r>
                  <a:rPr lang="en-US" sz="1100" spc="-35" dirty="0">
                    <a:latin typeface="Tahoma"/>
                    <a:cs typeface="Tahoma"/>
                  </a:rPr>
                  <a:t> </a:t>
                </a:r>
                <a:r>
                  <a:rPr lang="en-US" sz="1100" dirty="0">
                    <a:latin typeface="Tahoma"/>
                    <a:cs typeface="Tahoma"/>
                  </a:rPr>
                  <a:t>utility</a:t>
                </a:r>
                <a:r>
                  <a:rPr lang="en-US" sz="1100" spc="-30" dirty="0">
                    <a:latin typeface="Tahoma"/>
                    <a:cs typeface="Tahoma"/>
                  </a:rPr>
                  <a:t> </a:t>
                </a:r>
                <a:r>
                  <a:rPr lang="en-US" sz="1100" spc="-40" dirty="0">
                    <a:latin typeface="Tahoma"/>
                    <a:cs typeface="Tahoma"/>
                  </a:rPr>
                  <a:t>assumption:</a:t>
                </a:r>
                <a:r>
                  <a:rPr lang="en-US" sz="1100" spc="80" dirty="0">
                    <a:latin typeface="Tahoma"/>
                    <a:cs typeface="Tahoma"/>
                  </a:rPr>
                  <a:t> </a:t>
                </a:r>
                <a:r>
                  <a:rPr lang="en-US" sz="1100" spc="-60" dirty="0">
                    <a:latin typeface="Tahoma"/>
                    <a:cs typeface="Tahoma"/>
                  </a:rPr>
                  <a:t>payoff</a:t>
                </a:r>
                <a:r>
                  <a:rPr lang="en-US" sz="1100" spc="-25" dirty="0">
                    <a:latin typeface="Tahoma"/>
                    <a:cs typeface="Tahoma"/>
                  </a:rPr>
                  <a:t> </a:t>
                </a:r>
                <a:r>
                  <a:rPr lang="en-US" sz="1100" dirty="0">
                    <a:latin typeface="Tahoma"/>
                    <a:cs typeface="Tahoma"/>
                  </a:rPr>
                  <a:t>to</a:t>
                </a:r>
                <a:r>
                  <a:rPr lang="en-US" sz="1100" spc="-30" dirty="0">
                    <a:latin typeface="Tahoma"/>
                    <a:cs typeface="Tahoma"/>
                  </a:rPr>
                  <a:t> </a:t>
                </a:r>
                <a:r>
                  <a:rPr lang="en-US" sz="1100" dirty="0">
                    <a:latin typeface="Tahoma"/>
                    <a:cs typeface="Tahoma"/>
                  </a:rPr>
                  <a:t>a</a:t>
                </a:r>
                <a:r>
                  <a:rPr lang="en-US" sz="1100" spc="-30" dirty="0">
                    <a:latin typeface="Tahoma"/>
                    <a:cs typeface="Tahoma"/>
                  </a:rPr>
                  <a:t> </a:t>
                </a:r>
                <a:r>
                  <a:rPr lang="en-US" sz="1100" spc="-20" dirty="0">
                    <a:latin typeface="Tahoma"/>
                    <a:cs typeface="Tahoma"/>
                  </a:rPr>
                  <a:t>coalition</a:t>
                </a:r>
                <a:r>
                  <a:rPr lang="en-US" sz="1100" spc="-3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oMath>
                </a14:m>
                <a:r>
                  <a:rPr lang="en-US" sz="1100" i="1" spc="114" dirty="0">
                    <a:latin typeface="Arial"/>
                    <a:cs typeface="Arial"/>
                  </a:rPr>
                  <a:t> </a:t>
                </a:r>
                <a:r>
                  <a:rPr lang="en-US" sz="1100" spc="-20" dirty="0">
                    <a:latin typeface="Tahoma"/>
                    <a:cs typeface="Tahoma"/>
                  </a:rPr>
                  <a:t>can</a:t>
                </a:r>
                <a:r>
                  <a:rPr lang="en-US" sz="1100" spc="-30" dirty="0">
                    <a:latin typeface="Tahoma"/>
                    <a:cs typeface="Tahoma"/>
                  </a:rPr>
                  <a:t> </a:t>
                </a:r>
                <a:r>
                  <a:rPr lang="en-US" sz="1100" spc="-25" dirty="0">
                    <a:latin typeface="Tahoma"/>
                    <a:cs typeface="Tahoma"/>
                  </a:rPr>
                  <a:t>be 	distributed</a:t>
                </a:r>
                <a:r>
                  <a:rPr lang="en-US" sz="1100" spc="-20" dirty="0">
                    <a:latin typeface="Tahoma"/>
                    <a:cs typeface="Tahoma"/>
                  </a:rPr>
                  <a:t> </a:t>
                </a:r>
                <a:r>
                  <a:rPr lang="en-US" sz="1100" spc="-40" dirty="0">
                    <a:latin typeface="Tahoma"/>
                    <a:cs typeface="Tahoma"/>
                  </a:rPr>
                  <a:t>amongst</a:t>
                </a:r>
                <a:r>
                  <a:rPr lang="en-US" sz="1100" spc="-20" dirty="0">
                    <a:latin typeface="Tahoma"/>
                    <a:cs typeface="Tahoma"/>
                  </a:rPr>
                  <a:t> </a:t>
                </a:r>
                <a:r>
                  <a:rPr lang="en-US" sz="1100" spc="-10" dirty="0">
                    <a:latin typeface="Tahoma"/>
                    <a:cs typeface="Tahoma"/>
                  </a:rPr>
                  <a:t>the</a:t>
                </a:r>
                <a:r>
                  <a:rPr lang="en-US" sz="1100" spc="-20" dirty="0">
                    <a:latin typeface="Tahoma"/>
                    <a:cs typeface="Tahoma"/>
                  </a:rPr>
                  <a:t> </a:t>
                </a:r>
                <a:r>
                  <a:rPr lang="en-US" sz="1100" spc="-65" dirty="0">
                    <a:latin typeface="Tahoma"/>
                    <a:cs typeface="Tahoma"/>
                  </a:rPr>
                  <a:t>members</a:t>
                </a:r>
                <a:r>
                  <a:rPr lang="en-US" sz="1100" spc="-2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oMath>
                </a14:m>
                <a:r>
                  <a:rPr lang="en-US" sz="1100" i="1" spc="110" dirty="0">
                    <a:latin typeface="Arial"/>
                    <a:cs typeface="Arial"/>
                  </a:rPr>
                  <a:t> </a:t>
                </a:r>
                <a:r>
                  <a:rPr lang="en-US" sz="1100" dirty="0">
                    <a:latin typeface="Tahoma"/>
                    <a:cs typeface="Tahoma"/>
                  </a:rPr>
                  <a:t>of</a:t>
                </a:r>
                <a:r>
                  <a:rPr lang="en-US" sz="1100" spc="-20" dirty="0">
                    <a:latin typeface="Tahoma"/>
                    <a:cs typeface="Tahoma"/>
                  </a:rPr>
                  <a:t> </a:t>
                </a:r>
                <a:r>
                  <a:rPr lang="en-US" sz="1100" spc="-40" dirty="0">
                    <a:latin typeface="Tahoma"/>
                    <a:cs typeface="Tahoma"/>
                  </a:rPr>
                  <a:t>such</a:t>
                </a:r>
                <a:r>
                  <a:rPr lang="en-US" sz="1100" spc="-20" dirty="0">
                    <a:latin typeface="Tahoma"/>
                    <a:cs typeface="Tahoma"/>
                  </a:rPr>
                  <a:t> </a:t>
                </a:r>
                <a:r>
                  <a:rPr lang="en-US" sz="1100" dirty="0">
                    <a:latin typeface="Tahoma"/>
                    <a:cs typeface="Tahoma"/>
                  </a:rPr>
                  <a:t>a</a:t>
                </a:r>
                <a:r>
                  <a:rPr lang="en-US" sz="1100" spc="-20" dirty="0">
                    <a:latin typeface="Tahoma"/>
                    <a:cs typeface="Tahoma"/>
                  </a:rPr>
                  <a:t> </a:t>
                </a:r>
                <a:r>
                  <a:rPr lang="en-US" sz="1100" spc="-10" dirty="0">
                    <a:latin typeface="Tahoma"/>
                    <a:cs typeface="Tahoma"/>
                  </a:rPr>
                  <a:t>coalition</a:t>
                </a:r>
                <a:endParaRPr lang="en-US" sz="1100" dirty="0">
                  <a:latin typeface="Tahoma"/>
                  <a:cs typeface="Tahoma"/>
                </a:endParaRPr>
              </a:p>
              <a:p>
                <a:pPr>
                  <a:lnSpc>
                    <a:spcPct val="100000"/>
                  </a:lnSpc>
                  <a:spcBef>
                    <a:spcPts val="660"/>
                  </a:spcBef>
                  <a:buClr>
                    <a:srgbClr val="3333B2"/>
                  </a:buClr>
                  <a:buFont typeface="Arial"/>
                  <a:buChar char="►"/>
                </a:pPr>
                <a:endParaRPr lang="en-US" sz="1100" dirty="0">
                  <a:latin typeface="Tahoma"/>
                  <a:cs typeface="Tahoma"/>
                </a:endParaRPr>
              </a:p>
              <a:p>
                <a:pPr marL="50800">
                  <a:lnSpc>
                    <a:spcPct val="100000"/>
                  </a:lnSpc>
                </a:pPr>
                <a:r>
                  <a:rPr lang="en-US" sz="1100" spc="55" dirty="0">
                    <a:latin typeface="Tahoma"/>
                    <a:cs typeface="Tahoma"/>
                  </a:rPr>
                  <a:t>A</a:t>
                </a:r>
                <a:r>
                  <a:rPr lang="en-US" sz="1100" spc="-45" dirty="0">
                    <a:latin typeface="Tahoma"/>
                    <a:cs typeface="Tahoma"/>
                  </a:rPr>
                  <a:t> </a:t>
                </a:r>
                <a:r>
                  <a:rPr lang="en-US" sz="1100" spc="-20" dirty="0">
                    <a:latin typeface="Tahoma"/>
                    <a:cs typeface="Tahoma"/>
                  </a:rPr>
                  <a:t>coalitional </a:t>
                </a:r>
                <a:r>
                  <a:rPr lang="en-US" sz="1100" spc="-60" dirty="0">
                    <a:latin typeface="Tahoma"/>
                    <a:cs typeface="Tahoma"/>
                  </a:rPr>
                  <a:t>game</a:t>
                </a:r>
                <a:r>
                  <a:rPr lang="en-US" sz="1100" spc="-20" dirty="0">
                    <a:latin typeface="Tahoma"/>
                    <a:cs typeface="Tahoma"/>
                  </a:rPr>
                  <a:t> </a:t>
                </a:r>
                <a:r>
                  <a:rPr lang="en-US" sz="1100" dirty="0">
                    <a:latin typeface="Tahoma"/>
                    <a:cs typeface="Tahoma"/>
                  </a:rPr>
                  <a:t>with</a:t>
                </a:r>
                <a:r>
                  <a:rPr lang="en-US" sz="1100" spc="-25" dirty="0">
                    <a:latin typeface="Tahoma"/>
                    <a:cs typeface="Tahoma"/>
                  </a:rPr>
                  <a:t> </a:t>
                </a:r>
                <a:r>
                  <a:rPr lang="en-US" sz="1100" spc="-45" dirty="0">
                    <a:latin typeface="Tahoma"/>
                    <a:cs typeface="Tahoma"/>
                  </a:rPr>
                  <a:t>transferable</a:t>
                </a:r>
                <a:r>
                  <a:rPr lang="en-US" sz="1100" spc="-20" dirty="0">
                    <a:latin typeface="Tahoma"/>
                    <a:cs typeface="Tahoma"/>
                  </a:rPr>
                  <a:t> </a:t>
                </a:r>
                <a:r>
                  <a:rPr lang="en-US" sz="1100" dirty="0">
                    <a:latin typeface="Tahoma"/>
                    <a:cs typeface="Tahoma"/>
                  </a:rPr>
                  <a:t>utility</a:t>
                </a:r>
                <a:r>
                  <a:rPr lang="en-US" sz="1100" spc="-25" dirty="0">
                    <a:latin typeface="Tahoma"/>
                    <a:cs typeface="Tahoma"/>
                  </a:rPr>
                  <a:t> </a:t>
                </a:r>
                <a:r>
                  <a:rPr lang="en-US" sz="1100" dirty="0">
                    <a:latin typeface="Tahoma"/>
                    <a:cs typeface="Tahoma"/>
                  </a:rPr>
                  <a:t>is</a:t>
                </a:r>
                <a:r>
                  <a:rPr lang="en-US" sz="1100" spc="-20" dirty="0">
                    <a:latin typeface="Tahoma"/>
                    <a:cs typeface="Tahoma"/>
                  </a:rPr>
                  <a:t> </a:t>
                </a:r>
                <a:r>
                  <a:rPr lang="en-US" sz="1100" dirty="0">
                    <a:latin typeface="Tahoma"/>
                    <a:cs typeface="Tahoma"/>
                  </a:rPr>
                  <a:t>a</a:t>
                </a:r>
                <a:r>
                  <a:rPr lang="en-US" sz="1100" spc="-25" dirty="0">
                    <a:latin typeface="Tahoma"/>
                    <a:cs typeface="Tahoma"/>
                  </a:rPr>
                  <a:t> </a:t>
                </a:r>
                <a:r>
                  <a:rPr lang="en-US" sz="1100" spc="-20" dirty="0">
                    <a:latin typeface="Tahoma"/>
                    <a:cs typeface="Tahoma"/>
                  </a:rPr>
                  <a:t>pair </a:t>
                </a:r>
                <a14:m>
                  <m:oMath xmlns:m="http://schemas.openxmlformats.org/officeDocument/2006/math">
                    <m:r>
                      <a:rPr lang="en-US" sz="1100" i="1" dirty="0" smtClean="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oMath>
                </a14:m>
                <a:r>
                  <a:rPr lang="en-US" sz="1100" dirty="0">
                    <a:latin typeface="Tahoma"/>
                    <a:cs typeface="Tahoma"/>
                  </a:rPr>
                  <a:t>,</a:t>
                </a:r>
                <a:r>
                  <a:rPr lang="en-US" sz="1100" spc="-20" dirty="0">
                    <a:latin typeface="Tahoma"/>
                    <a:cs typeface="Tahoma"/>
                  </a:rPr>
                  <a:t> </a:t>
                </a:r>
                <a:r>
                  <a:rPr lang="en-US" sz="1100" spc="-10" dirty="0">
                    <a:latin typeface="Tahoma"/>
                    <a:cs typeface="Tahoma"/>
                  </a:rPr>
                  <a:t>where:</a:t>
                </a:r>
                <a:endParaRPr lang="en-US" sz="1100" dirty="0">
                  <a:latin typeface="Tahoma"/>
                  <a:cs typeface="Tahoma"/>
                </a:endParaRPr>
              </a:p>
              <a:p>
                <a:pPr marL="325755" indent="-175260">
                  <a:lnSpc>
                    <a:spcPct val="100000"/>
                  </a:lnSpc>
                  <a:spcBef>
                    <a:spcPts val="335"/>
                  </a:spcBef>
                  <a:buClr>
                    <a:srgbClr val="3333B2"/>
                  </a:buClr>
                  <a:buFont typeface="Arial"/>
                  <a:buChar char="►"/>
                  <a:tabLst>
                    <a:tab pos="325755" algn="l"/>
                  </a:tabLst>
                </a:pPr>
                <a14:m>
                  <m:oMath xmlns:m="http://schemas.openxmlformats.org/officeDocument/2006/math">
                    <m:r>
                      <a:rPr lang="en-US" sz="1100" i="1" dirty="0" smtClean="0">
                        <a:latin typeface="Cambria Math" panose="02040503050406030204" pitchFamily="18" charset="0"/>
                        <a:cs typeface="Arial"/>
                      </a:rPr>
                      <m:t>𝑁</m:t>
                    </m:r>
                  </m:oMath>
                </a14:m>
                <a:r>
                  <a:rPr lang="en-US" sz="1100" i="1" spc="70" dirty="0">
                    <a:latin typeface="Arial"/>
                    <a:cs typeface="Arial"/>
                  </a:rPr>
                  <a:t> </a:t>
                </a:r>
                <a:r>
                  <a:rPr lang="en-US" sz="1100" dirty="0">
                    <a:latin typeface="Tahoma"/>
                    <a:cs typeface="Tahoma"/>
                  </a:rPr>
                  <a:t>is</a:t>
                </a:r>
                <a:r>
                  <a:rPr lang="en-US" sz="1100" spc="-45" dirty="0">
                    <a:latin typeface="Tahoma"/>
                    <a:cs typeface="Tahoma"/>
                  </a:rPr>
                  <a:t> </a:t>
                </a:r>
                <a:r>
                  <a:rPr lang="en-US" sz="1100" dirty="0">
                    <a:latin typeface="Tahoma"/>
                    <a:cs typeface="Tahoma"/>
                  </a:rPr>
                  <a:t>a</a:t>
                </a:r>
                <a:r>
                  <a:rPr lang="en-US" sz="1100" spc="-40" dirty="0">
                    <a:latin typeface="Tahoma"/>
                    <a:cs typeface="Tahoma"/>
                  </a:rPr>
                  <a:t> </a:t>
                </a:r>
                <a:r>
                  <a:rPr lang="en-US" sz="1100" spc="-20" dirty="0">
                    <a:latin typeface="Tahoma"/>
                    <a:cs typeface="Tahoma"/>
                  </a:rPr>
                  <a:t>set</a:t>
                </a:r>
                <a:r>
                  <a:rPr lang="en-US" sz="1100" spc="-40" dirty="0">
                    <a:latin typeface="Tahoma"/>
                    <a:cs typeface="Tahoma"/>
                  </a:rPr>
                  <a:t> </a:t>
                </a:r>
                <a:r>
                  <a:rPr lang="en-US" sz="1100" dirty="0">
                    <a:latin typeface="Tahoma"/>
                    <a:cs typeface="Tahoma"/>
                  </a:rPr>
                  <a:t>of</a:t>
                </a:r>
                <a:r>
                  <a:rPr lang="en-US" sz="1100" spc="-40" dirty="0">
                    <a:latin typeface="Tahoma"/>
                    <a:cs typeface="Tahoma"/>
                  </a:rPr>
                  <a:t> </a:t>
                </a:r>
                <a:r>
                  <a:rPr lang="en-US" sz="1100" i="1" spc="-10" dirty="0">
                    <a:latin typeface="Arial"/>
                    <a:cs typeface="Arial"/>
                  </a:rPr>
                  <a:t>players</a:t>
                </a:r>
                <a:endParaRPr lang="en-US" sz="1100" dirty="0">
                  <a:latin typeface="Arial"/>
                  <a:cs typeface="Arial"/>
                </a:endParaRPr>
              </a:p>
              <a:p>
                <a:pPr marL="325755" marR="107314" indent="-175260">
                  <a:lnSpc>
                    <a:spcPct val="102699"/>
                  </a:lnSpc>
                  <a:spcBef>
                    <a:spcPts val="300"/>
                  </a:spcBef>
                  <a:buClr>
                    <a:srgbClr val="3333B2"/>
                  </a:buClr>
                  <a:buFont typeface="Arial"/>
                  <a:buChar char="►"/>
                  <a:tabLst>
                    <a:tab pos="327660" algn="l"/>
                  </a:tabLst>
                </a:pPr>
                <a14:m>
                  <m:oMath xmlns:m="http://schemas.openxmlformats.org/officeDocument/2006/math">
                    <m:r>
                      <a:rPr lang="en-US" sz="1100" i="1" dirty="0" smtClean="0">
                        <a:latin typeface="Cambria Math" panose="02040503050406030204" pitchFamily="18" charset="0"/>
                        <a:cs typeface="Arial"/>
                      </a:rPr>
                      <m:t>𝑣</m:t>
                    </m:r>
                    <m:r>
                      <a:rPr lang="en-US" sz="1100" i="1" spc="25" dirty="0">
                        <a:latin typeface="Cambria Math" panose="02040503050406030204" pitchFamily="18" charset="0"/>
                        <a:cs typeface="Arial"/>
                      </a:rPr>
                      <m:t> </m:t>
                    </m:r>
                    <m:r>
                      <a:rPr lang="en-US" sz="1100" i="1" spc="-90" dirty="0">
                        <a:latin typeface="Cambria Math" panose="02040503050406030204" pitchFamily="18" charset="0"/>
                        <a:cs typeface="Tahoma"/>
                      </a:rPr>
                      <m:t>:</m:t>
                    </m:r>
                    <m:r>
                      <a:rPr lang="en-US" sz="1100" i="1" spc="-40" dirty="0">
                        <a:latin typeface="Cambria Math" panose="02040503050406030204" pitchFamily="18" charset="0"/>
                        <a:cs typeface="Tahoma"/>
                      </a:rPr>
                      <m:t> </m:t>
                    </m:r>
                    <m:r>
                      <a:rPr lang="en-US" sz="1100" i="1" dirty="0">
                        <a:latin typeface="Cambria Math" panose="02040503050406030204" pitchFamily="18" charset="0"/>
                        <a:cs typeface="Tahoma"/>
                      </a:rPr>
                      <m:t>2</m:t>
                    </m:r>
                    <m:r>
                      <a:rPr lang="en-US" sz="1200" i="1" baseline="27777" dirty="0">
                        <a:latin typeface="Cambria Math" panose="02040503050406030204" pitchFamily="18" charset="0"/>
                        <a:cs typeface="Verdana"/>
                      </a:rPr>
                      <m:t>𝑁</m:t>
                    </m:r>
                    <m:r>
                      <a:rPr lang="en-US" sz="1200" i="1" spc="135" baseline="27777" dirty="0">
                        <a:latin typeface="Cambria Math" panose="02040503050406030204" pitchFamily="18" charset="0"/>
                        <a:cs typeface="Verdana"/>
                      </a:rPr>
                      <m:t> </m:t>
                    </m:r>
                    <m:r>
                      <a:rPr lang="en-US" sz="1100" i="1" dirty="0">
                        <a:latin typeface="Cambria Math" panose="02040503050406030204" pitchFamily="18" charset="0"/>
                        <a:cs typeface="Meiryo UI"/>
                      </a:rPr>
                      <m:t>→</m:t>
                    </m:r>
                    <m:r>
                      <a:rPr lang="en-US" sz="1100" i="1" spc="-95" dirty="0">
                        <a:latin typeface="Cambria Math" panose="02040503050406030204" pitchFamily="18" charset="0"/>
                        <a:cs typeface="Meiryo UI"/>
                      </a:rPr>
                      <m:t> </m:t>
                    </m:r>
                    <m:r>
                      <a:rPr lang="en-US" sz="1100" i="1" spc="-95" dirty="0" smtClean="0">
                        <a:latin typeface="Cambria Math" panose="02040503050406030204" pitchFamily="18" charset="0"/>
                        <a:ea typeface="Cambria Math" panose="02040503050406030204" pitchFamily="18" charset="0"/>
                        <a:cs typeface="Meiryo UI"/>
                      </a:rPr>
                      <m:t>ℝ</m:t>
                    </m:r>
                    <m:r>
                      <a:rPr lang="en-US" sz="1100" i="1" spc="15" dirty="0">
                        <a:latin typeface="Cambria Math" panose="02040503050406030204" pitchFamily="18" charset="0"/>
                        <a:cs typeface="Arial"/>
                      </a:rPr>
                      <m:t> </m:t>
                    </m:r>
                    <m:r>
                      <a:rPr lang="en-US" sz="1100" b="0" i="0" spc="15" dirty="0" smtClean="0">
                        <a:latin typeface="Cambria Math" panose="02040503050406030204" pitchFamily="18" charset="0"/>
                        <a:cs typeface="Arial"/>
                      </a:rPr>
                      <m:t> </m:t>
                    </m:r>
                  </m:oMath>
                </a14:m>
                <a:r>
                  <a:rPr lang="en-US" sz="1100" dirty="0">
                    <a:latin typeface="Tahoma"/>
                    <a:cs typeface="Tahoma"/>
                  </a:rPr>
                  <a:t>is</a:t>
                </a:r>
                <a:r>
                  <a:rPr lang="en-US" sz="1100" spc="-20" dirty="0">
                    <a:latin typeface="Tahoma"/>
                    <a:cs typeface="Tahoma"/>
                  </a:rPr>
                  <a:t> </a:t>
                </a:r>
                <a:r>
                  <a:rPr lang="en-US" sz="1100" dirty="0">
                    <a:latin typeface="Tahoma"/>
                    <a:cs typeface="Tahoma"/>
                  </a:rPr>
                  <a:t>a</a:t>
                </a:r>
                <a:r>
                  <a:rPr lang="en-US" sz="1100" spc="-20" dirty="0">
                    <a:latin typeface="Tahoma"/>
                    <a:cs typeface="Tahoma"/>
                  </a:rPr>
                  <a:t> </a:t>
                </a:r>
                <a:r>
                  <a:rPr lang="en-US" sz="1100" i="1" spc="-35" dirty="0">
                    <a:latin typeface="Arial"/>
                    <a:cs typeface="Arial"/>
                  </a:rPr>
                  <a:t>characteristic</a:t>
                </a:r>
                <a:r>
                  <a:rPr lang="en-US" sz="1100" i="1" spc="20" dirty="0">
                    <a:latin typeface="Arial"/>
                    <a:cs typeface="Arial"/>
                  </a:rPr>
                  <a:t> </a:t>
                </a:r>
                <a:r>
                  <a:rPr lang="en-US" sz="1100" i="1" spc="-20" dirty="0">
                    <a:latin typeface="Arial"/>
                    <a:cs typeface="Arial"/>
                  </a:rPr>
                  <a:t>function</a:t>
                </a:r>
                <a:r>
                  <a:rPr lang="en-US" sz="1100" spc="-20" dirty="0">
                    <a:latin typeface="Tahoma"/>
                    <a:cs typeface="Tahoma"/>
                  </a:rPr>
                  <a:t>, </a:t>
                </a:r>
                <a:r>
                  <a:rPr lang="en-US" sz="1100" spc="-25" dirty="0">
                    <a:latin typeface="Tahoma"/>
                    <a:cs typeface="Tahoma"/>
                  </a:rPr>
                  <a:t>which</a:t>
                </a:r>
                <a:r>
                  <a:rPr lang="en-US" sz="1100" spc="-20" dirty="0">
                    <a:latin typeface="Tahoma"/>
                    <a:cs typeface="Tahoma"/>
                  </a:rPr>
                  <a:t> </a:t>
                </a:r>
                <a:r>
                  <a:rPr lang="en-US" sz="1100" spc="-50" dirty="0">
                    <a:latin typeface="Tahoma"/>
                    <a:cs typeface="Tahoma"/>
                  </a:rPr>
                  <a:t>assigns</a:t>
                </a:r>
                <a:r>
                  <a:rPr lang="en-US" sz="1100" spc="-25" dirty="0">
                    <a:latin typeface="Tahoma"/>
                    <a:cs typeface="Tahoma"/>
                  </a:rPr>
                  <a:t> </a:t>
                </a:r>
                <a:r>
                  <a:rPr lang="en-US" sz="1100" spc="-50" dirty="0">
                    <a:latin typeface="Tahoma"/>
                    <a:cs typeface="Tahoma"/>
                  </a:rPr>
                  <a:t>payoffs </a:t>
                </a:r>
                <a:r>
                  <a:rPr lang="en-US" sz="1100" dirty="0">
                    <a:latin typeface="Tahoma"/>
                    <a:cs typeface="Tahoma"/>
                  </a:rPr>
                  <a:t>to</a:t>
                </a:r>
                <a:r>
                  <a:rPr lang="en-US" sz="1100" spc="-40" dirty="0">
                    <a:latin typeface="Tahoma"/>
                    <a:cs typeface="Tahoma"/>
                  </a:rPr>
                  <a:t> </a:t>
                </a:r>
                <a:r>
                  <a:rPr lang="en-US" sz="1100" spc="-30" dirty="0">
                    <a:latin typeface="Tahoma"/>
                    <a:cs typeface="Tahoma"/>
                  </a:rPr>
                  <a:t>coalitions; </a:t>
                </a:r>
                <a:r>
                  <a:rPr lang="en-US" sz="1100" spc="-10" dirty="0">
                    <a:latin typeface="Tahoma"/>
                    <a:cs typeface="Tahoma"/>
                  </a:rPr>
                  <a:t>the</a:t>
                </a:r>
                <a:r>
                  <a:rPr lang="en-US" sz="1100" spc="-30" dirty="0">
                    <a:latin typeface="Tahoma"/>
                    <a:cs typeface="Tahoma"/>
                  </a:rPr>
                  <a:t> </a:t>
                </a:r>
                <a:r>
                  <a:rPr lang="en-US" sz="1100" spc="-50" dirty="0">
                    <a:latin typeface="Tahoma"/>
                    <a:cs typeface="Tahoma"/>
                  </a:rPr>
                  <a:t>payoff</a:t>
                </a:r>
                <a:r>
                  <a:rPr lang="en-US" sz="1100" spc="-30" dirty="0">
                    <a:latin typeface="Tahoma"/>
                    <a:cs typeface="Tahoma"/>
                  </a:rPr>
                  <a:t> </a:t>
                </a:r>
                <a:r>
                  <a:rPr lang="en-US" sz="1100" dirty="0">
                    <a:latin typeface="Tahoma"/>
                    <a:cs typeface="Tahoma"/>
                  </a:rPr>
                  <a:t>of</a:t>
                </a:r>
                <a:r>
                  <a:rPr lang="en-US" sz="1100" spc="-30" dirty="0">
                    <a:latin typeface="Tahoma"/>
                    <a:cs typeface="Tahoma"/>
                  </a:rPr>
                  <a:t> </a:t>
                </a:r>
                <a:r>
                  <a:rPr lang="en-US" sz="1100" dirty="0">
                    <a:latin typeface="Tahoma"/>
                    <a:cs typeface="Tahoma"/>
                  </a:rPr>
                  <a:t>a</a:t>
                </a:r>
                <a:r>
                  <a:rPr lang="en-US" sz="1100" spc="-30" dirty="0">
                    <a:latin typeface="Tahoma"/>
                    <a:cs typeface="Tahoma"/>
                  </a:rPr>
                  <a:t> </a:t>
                </a:r>
                <a:r>
                  <a:rPr lang="en-US" sz="1100" spc="-20" dirty="0">
                    <a:latin typeface="Tahoma"/>
                    <a:cs typeface="Tahoma"/>
                  </a:rPr>
                  <a:t>coalition</a:t>
                </a:r>
                <a:r>
                  <a:rPr lang="en-US" sz="1100" spc="-30" dirty="0">
                    <a:latin typeface="Tahoma"/>
                    <a:cs typeface="Tahoma"/>
                  </a:rPr>
                  <a:t> </a:t>
                </a:r>
                <a:r>
                  <a:rPr lang="en-US" sz="1100" dirty="0">
                    <a:latin typeface="Tahoma"/>
                    <a:cs typeface="Tahoma"/>
                  </a:rPr>
                  <a:t>is</a:t>
                </a:r>
                <a:r>
                  <a:rPr lang="en-US" sz="1100" spc="-35" dirty="0">
                    <a:latin typeface="Tahoma"/>
                    <a:cs typeface="Tahoma"/>
                  </a:rPr>
                  <a:t> </a:t>
                </a:r>
                <a:r>
                  <a:rPr lang="en-US" sz="1100" spc="-25" dirty="0">
                    <a:latin typeface="Tahoma"/>
                    <a:cs typeface="Tahoma"/>
                  </a:rPr>
                  <a:t>called</a:t>
                </a:r>
                <a:r>
                  <a:rPr lang="en-US" sz="1100" spc="-35" dirty="0">
                    <a:latin typeface="Tahoma"/>
                    <a:cs typeface="Tahoma"/>
                  </a:rPr>
                  <a:t> </a:t>
                </a:r>
                <a:r>
                  <a:rPr lang="en-US" sz="1100" dirty="0">
                    <a:latin typeface="Tahoma"/>
                    <a:cs typeface="Tahoma"/>
                  </a:rPr>
                  <a:t>its</a:t>
                </a:r>
                <a:r>
                  <a:rPr lang="en-US" sz="1100" spc="-30" dirty="0">
                    <a:latin typeface="Tahoma"/>
                    <a:cs typeface="Tahoma"/>
                  </a:rPr>
                  <a:t> </a:t>
                </a:r>
                <a:r>
                  <a:rPr lang="en-US" sz="1100" spc="-10" dirty="0">
                    <a:latin typeface="Tahoma"/>
                    <a:cs typeface="Tahoma"/>
                  </a:rPr>
                  <a:t>worth</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739775"/>
                <a:ext cx="3989704" cy="2002920"/>
              </a:xfrm>
              <a:prstGeom prst="rect">
                <a:avLst/>
              </a:prstGeom>
              <a:blipFill>
                <a:blip r:embed="rId3"/>
                <a:stretch>
                  <a:fillRect l="-1070" r="-1223" b="-364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E4B74C8F-F26E-4548-A5DA-251E211F43BF}"/>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8AF012D-7CC5-46D3-B551-6CD79E45D3C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8DB4A65-3C93-46F1-BBB8-3D73E79FA7E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7AF6AA8-ACC3-1880-F0FE-51738CD80B16}"/>
                  </a:ext>
                </a:extLst>
              </p:cNvPr>
              <p:cNvSpPr txBox="1"/>
              <p:nvPr/>
            </p:nvSpPr>
            <p:spPr>
              <a:xfrm>
                <a:off x="464304" y="2952203"/>
                <a:ext cx="3822647" cy="307777"/>
              </a:xfrm>
              <a:prstGeom prst="rect">
                <a:avLst/>
              </a:prstGeom>
              <a:noFill/>
            </p:spPr>
            <p:txBody>
              <a:bodyPr wrap="square">
                <a:spAutoFit/>
              </a:bodyPr>
              <a:lstStyle/>
              <a:p>
                <a:r>
                  <a:rPr lang="en-US" sz="7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p>
                      <m:sSupPr>
                        <m:ctrlP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ctrlPr>
                      </m:sSupPr>
                      <m:e>
                        <m: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t>2</m:t>
                        </m:r>
                      </m:e>
                      <m:sup>
                        <m:r>
                          <a:rPr lang="en-US" sz="700" b="0" i="1" dirty="0" smtClean="0">
                            <a:solidFill>
                              <a:schemeClr val="tx1"/>
                            </a:solidFill>
                            <a:effectLst/>
                            <a:latin typeface="Cambria Math" panose="02040503050406030204" pitchFamily="18" charset="0"/>
                            <a:ea typeface="Tahoma" panose="020B0604030504040204" pitchFamily="34" charset="0"/>
                            <a:cs typeface="Tahoma" panose="020B0604030504040204" pitchFamily="34" charset="0"/>
                          </a:rPr>
                          <m:t>𝑁</m:t>
                        </m:r>
                      </m:sup>
                    </m:sSup>
                  </m:oMath>
                </a14:m>
                <a:r>
                  <a:rPr lang="en-US" sz="700" b="0" i="0" dirty="0">
                    <a:solidFill>
                      <a:schemeClr val="tx1"/>
                    </a:solidFill>
                    <a:effectLst/>
                    <a:latin typeface="Tahoma" panose="020B0604030504040204" pitchFamily="34" charset="0"/>
                    <a:ea typeface="Tahoma" panose="020B0604030504040204" pitchFamily="34" charset="0"/>
                    <a:cs typeface="Tahoma" panose="020B0604030504040204" pitchFamily="34" charset="0"/>
                  </a:rPr>
                  <a:t>" refers to the collection of all possible coalitions that can be formed by selecting various subsets of the player set 𝑁.</a:t>
                </a:r>
                <a:endParaRPr lang="en-MY" sz="7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0" name="TextBox 9">
                <a:extLst>
                  <a:ext uri="{FF2B5EF4-FFF2-40B4-BE49-F238E27FC236}">
                    <a16:creationId xmlns:a16="http://schemas.microsoft.com/office/drawing/2014/main" id="{77AF6AA8-ACC3-1880-F0FE-51738CD80B16}"/>
                  </a:ext>
                </a:extLst>
              </p:cNvPr>
              <p:cNvSpPr txBox="1">
                <a:spLocks noRot="1" noChangeAspect="1" noMove="1" noResize="1" noEditPoints="1" noAdjustHandles="1" noChangeArrowheads="1" noChangeShapeType="1" noTextEdit="1"/>
              </p:cNvSpPr>
              <p:nvPr/>
            </p:nvSpPr>
            <p:spPr>
              <a:xfrm>
                <a:off x="464304" y="2952203"/>
                <a:ext cx="3822647" cy="307777"/>
              </a:xfrm>
              <a:prstGeom prst="rect">
                <a:avLst/>
              </a:prstGeom>
              <a:blipFill>
                <a:blip r:embed="rId4"/>
                <a:stretch>
                  <a:fillRect b="-1961"/>
                </a:stretch>
              </a:blipFill>
            </p:spPr>
            <p:txBody>
              <a:bodyPr/>
              <a:lstStyle/>
              <a:p>
                <a:r>
                  <a:rPr lang="en-MY">
                    <a:noFill/>
                  </a:rPr>
                  <a:t> </a:t>
                </a:r>
              </a:p>
            </p:txBody>
          </p:sp>
        </mc:Fallback>
      </mc:AlternateContent>
      <p:cxnSp>
        <p:nvCxnSpPr>
          <p:cNvPr id="12" name="Straight Connector 11">
            <a:extLst>
              <a:ext uri="{FF2B5EF4-FFF2-40B4-BE49-F238E27FC236}">
                <a16:creationId xmlns:a16="http://schemas.microsoft.com/office/drawing/2014/main" id="{DA7533AE-8129-9229-E7E6-35C1632DBBDC}"/>
              </a:ext>
            </a:extLst>
          </p:cNvPr>
          <p:cNvCxnSpPr/>
          <p:nvPr/>
        </p:nvCxnSpPr>
        <p:spPr>
          <a:xfrm>
            <a:off x="464304" y="2952203"/>
            <a:ext cx="1307346"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5" dirty="0"/>
              <a:t> </a:t>
            </a:r>
            <a:r>
              <a:rPr dirty="0"/>
              <a:t>Social</a:t>
            </a:r>
            <a:r>
              <a:rPr spc="195" dirty="0"/>
              <a:t> </a:t>
            </a:r>
            <a:r>
              <a:rPr dirty="0"/>
              <a:t>choice</a:t>
            </a:r>
            <a:r>
              <a:rPr spc="190" dirty="0"/>
              <a:t> </a:t>
            </a:r>
            <a:r>
              <a:rPr dirty="0"/>
              <a:t>–</a:t>
            </a:r>
            <a:r>
              <a:rPr spc="195" dirty="0"/>
              <a:t> </a:t>
            </a:r>
            <a:r>
              <a:rPr dirty="0"/>
              <a:t>Voting</a:t>
            </a:r>
            <a:r>
              <a:rPr spc="195" dirty="0"/>
              <a:t> </a:t>
            </a:r>
            <a:r>
              <a:rPr spc="-20" dirty="0"/>
              <a:t>game</a:t>
            </a:r>
          </a:p>
        </p:txBody>
      </p:sp>
      <mc:AlternateContent xmlns:mc="http://schemas.openxmlformats.org/markup-compatibility/2006">
        <mc:Choice xmlns:a14="http://schemas.microsoft.com/office/drawing/2010/main" Requires="a14">
          <p:sp>
            <p:nvSpPr>
              <p:cNvPr id="3" name="object 3"/>
              <p:cNvSpPr txBox="1"/>
              <p:nvPr/>
            </p:nvSpPr>
            <p:spPr>
              <a:xfrm>
                <a:off x="347294" y="460375"/>
                <a:ext cx="3914140" cy="2797561"/>
              </a:xfrm>
              <a:prstGeom prst="rect">
                <a:avLst/>
              </a:prstGeom>
            </p:spPr>
            <p:txBody>
              <a:bodyPr vert="horz" wrap="square" lIns="0" tIns="6985" rIns="0" bIns="0" rtlCol="0">
                <a:spAutoFit/>
              </a:bodyPr>
              <a:lstStyle/>
              <a:p>
                <a:pPr marL="53975" marR="5080" algn="just" rtl="0">
                  <a:lnSpc>
                    <a:spcPts val="1400"/>
                  </a:lnSpc>
                  <a:spcBef>
                    <a:spcPts val="330"/>
                  </a:spcBef>
                  <a:buClr>
                    <a:srgbClr val="0000FF"/>
                  </a:buClr>
                </a:pPr>
                <a:r>
                  <a:rPr lang="en-MY" sz="1100" kern="1200" spc="10" dirty="0">
                    <a:solidFill>
                      <a:schemeClr val="tx1"/>
                    </a:solidFill>
                    <a:latin typeface="Tahoma"/>
                    <a:ea typeface="+mn-ea"/>
                    <a:cs typeface="Tahoma"/>
                  </a:rPr>
                  <a:t>Four parties at parliament need to decide if a 100 million spending bill is passed. The parties have 45, 25, 15, 15 parliament members, who vote as a group. A bill is passed if it receives at least 51 votes. When a bill passes, the money is distributed amongst parties.</a:t>
                </a:r>
              </a:p>
              <a:p>
                <a:pPr marL="53975" marR="5080" algn="just" rtl="0">
                  <a:lnSpc>
                    <a:spcPts val="1400"/>
                  </a:lnSpc>
                  <a:spcBef>
                    <a:spcPts val="330"/>
                  </a:spcBef>
                  <a:buClr>
                    <a:srgbClr val="0000FF"/>
                  </a:buClr>
                </a:pPr>
                <a:endParaRPr lang="en-MY" sz="1100" kern="1200" spc="10" dirty="0">
                  <a:solidFill>
                    <a:schemeClr val="tx1"/>
                  </a:solidFill>
                  <a:latin typeface="Tahoma"/>
                  <a:ea typeface="+mn-ea"/>
                  <a:cs typeface="Tahoma"/>
                </a:endParaRPr>
              </a:p>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en-MY" sz="1100" i="1" dirty="0" smtClean="0">
                        <a:latin typeface="Cambria Math" panose="02040503050406030204" pitchFamily="18" charset="0"/>
                        <a:cs typeface="Arial"/>
                      </a:rPr>
                      <m:t>𝑁</m:t>
                    </m:r>
                    <m:r>
                      <a:rPr lang="en-MY" sz="1100" i="1" spc="10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 </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30" dirty="0">
                        <a:latin typeface="Cambria Math" panose="02040503050406030204" pitchFamily="18" charset="0"/>
                        <a:cs typeface="Tahoma"/>
                      </a:rPr>
                      <m:t>3</m:t>
                    </m:r>
                    <m:r>
                      <a:rPr lang="en-MY" sz="1100" i="1" spc="-30"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5" dirty="0">
                        <a:latin typeface="Cambria Math" panose="02040503050406030204" pitchFamily="18" charset="0"/>
                        <a:cs typeface="Tahoma"/>
                      </a:rPr>
                      <m:t>4</m:t>
                    </m:r>
                    <m:r>
                      <a:rPr lang="en-MY" sz="1100" i="1" spc="-35" dirty="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0" dirty="0">
                        <a:latin typeface="Cambria Math" panose="02040503050406030204" pitchFamily="18" charset="0"/>
                        <a:cs typeface="Tahoma"/>
                      </a:rPr>
                      <m:t>0</m:t>
                    </m:r>
                  </m:oMath>
                </a14:m>
                <a:endParaRPr lang="en-MY" sz="1100" dirty="0">
                  <a:latin typeface="Tahoma"/>
                  <a:cs typeface="Tahoma"/>
                </a:endParaRPr>
              </a:p>
              <a:p>
                <a:pPr marL="214629">
                  <a:spcBef>
                    <a:spcPts val="330"/>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1</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b="0" i="1" spc="-5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2</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3</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10" dirty="0" smtClean="0">
                        <a:latin typeface="Cambria Math" panose="02040503050406030204" pitchFamily="18" charset="0"/>
                        <a:cs typeface="Tahoma"/>
                      </a:rPr>
                      <m:t> </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70" dirty="0" smtClean="0">
                        <a:latin typeface="Cambria Math" panose="02040503050406030204" pitchFamily="18" charset="0"/>
                        <a:cs typeface="Tahoma"/>
                      </a:rPr>
                      <m:t>(</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m:t>
                    </m:r>
                  </m:oMath>
                </a14:m>
                <a:r>
                  <a:rPr lang="en-MY" sz="1100" dirty="0">
                    <a:latin typeface="Tahoma"/>
                    <a:cs typeface="Tahoma"/>
                  </a:rPr>
                  <a:t> </a:t>
                </a:r>
              </a:p>
              <a:p>
                <a:pPr marL="214629">
                  <a:spcBef>
                    <a:spcPts val="3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60" dirty="0" smtClean="0">
                        <a:latin typeface="Cambria Math" panose="02040503050406030204" pitchFamily="18" charset="0"/>
                        <a:cs typeface="Tahoma"/>
                      </a:rPr>
                      <m:t>1             </m:t>
                    </m:r>
                    <m:r>
                      <a:rPr lang="en-MY" sz="1100" b="0" i="1" spc="-6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1</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3</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1</m:t>
                    </m:r>
                    <m:r>
                      <a:rPr lang="en-MY" sz="1100" i="1" spc="-50" dirty="0">
                        <a:latin typeface="Cambria Math" panose="02040503050406030204" pitchFamily="18" charset="0"/>
                        <a:cs typeface="Tahoma"/>
                      </a:rPr>
                      <m:t>  </m:t>
                    </m:r>
                    <m:r>
                      <a:rPr lang="en-MY" sz="1100" b="0" i="1" spc="-5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1</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1</m:t>
                    </m:r>
                  </m:oMath>
                </a14:m>
                <a:r>
                  <a:rPr lang="en-MY" sz="1100" dirty="0">
                    <a:latin typeface="Tahoma"/>
                    <a:cs typeface="Tahoma"/>
                  </a:rPr>
                  <a:t> </a:t>
                </a:r>
              </a:p>
              <a:p>
                <a:pPr marL="214629">
                  <a:spcBef>
                    <a:spcPts val="3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60" dirty="0" smtClean="0">
                        <a:latin typeface="Cambria Math" panose="02040503050406030204" pitchFamily="18" charset="0"/>
                        <a:cs typeface="Tahoma"/>
                      </a:rPr>
                      <m:t>0            </m:t>
                    </m:r>
                    <m:r>
                      <a:rPr lang="en-MY" sz="1100" b="0" i="1" spc="-60" dirty="0" smtClean="0">
                        <a:latin typeface="Cambria Math" panose="02040503050406030204" pitchFamily="18" charset="0"/>
                        <a:cs typeface="Tahoma"/>
                      </a:rPr>
                      <m:t>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2</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0          </m:t>
                    </m:r>
                    <m:r>
                      <a:rPr lang="en-MY" sz="1100" i="1" spc="-55" dirty="0" smtClean="0">
                        <a:latin typeface="Cambria Math" panose="02040503050406030204" pitchFamily="18" charset="0"/>
                        <a:cs typeface="Arial"/>
                      </a:rPr>
                      <m:t>𝑣</m:t>
                    </m:r>
                    <m:r>
                      <a:rPr lang="en-MY" sz="1100" i="1" spc="-180" dirty="0" smtClean="0">
                        <a:latin typeface="Cambria Math" panose="02040503050406030204" pitchFamily="18" charset="0"/>
                        <a:cs typeface="Arial"/>
                      </a:rPr>
                      <m:t> </m:t>
                    </m:r>
                    <m:r>
                      <a:rPr lang="en-MY" sz="1100" i="1" spc="-50" dirty="0" smtClean="0">
                        <a:latin typeface="Cambria Math" panose="02040503050406030204" pitchFamily="18" charset="0"/>
                        <a:cs typeface="Tahoma"/>
                      </a:rPr>
                      <m:t>(</m:t>
                    </m:r>
                    <m:r>
                      <a:rPr lang="en-MY" sz="1100" i="1" spc="-50" dirty="0" smtClean="0">
                        <a:latin typeface="Cambria Math" panose="02040503050406030204" pitchFamily="18" charset="0"/>
                        <a:cs typeface="Meiryo UI"/>
                      </a:rPr>
                      <m:t>{</m:t>
                    </m:r>
                    <m:r>
                      <a:rPr lang="en-MY" sz="1100" i="1" spc="-50" dirty="0" smtClean="0">
                        <a:latin typeface="Cambria Math" panose="02040503050406030204" pitchFamily="18" charset="0"/>
                        <a:cs typeface="Tahoma"/>
                      </a:rPr>
                      <m:t>3</m:t>
                    </m:r>
                    <m:r>
                      <a:rPr lang="en-MY" sz="1100" i="1" spc="-50" dirty="0" smtClean="0">
                        <a:latin typeface="Cambria Math" panose="02040503050406030204" pitchFamily="18" charset="0"/>
                        <a:cs typeface="Adobe Text Pro"/>
                      </a:rPr>
                      <m:t>,</m:t>
                    </m:r>
                    <m:r>
                      <a:rPr lang="en-MY" sz="1100" i="1" spc="-40" dirty="0" smtClean="0">
                        <a:latin typeface="Cambria Math" panose="02040503050406030204" pitchFamily="18" charset="0"/>
                        <a:cs typeface="Adobe Text Pro"/>
                      </a:rPr>
                      <m:t> </m:t>
                    </m:r>
                    <m:r>
                      <a:rPr lang="en-MY" sz="1100" i="1" spc="-70" dirty="0" smtClean="0">
                        <a:latin typeface="Cambria Math" panose="02040503050406030204" pitchFamily="18" charset="0"/>
                        <a:cs typeface="Tahoma"/>
                      </a:rPr>
                      <m:t>4</m:t>
                    </m:r>
                    <m:r>
                      <a:rPr lang="en-MY" sz="1100" i="1" spc="-70" dirty="0" smtClean="0">
                        <a:latin typeface="Cambria Math" panose="02040503050406030204" pitchFamily="18" charset="0"/>
                        <a:cs typeface="Meiryo UI"/>
                      </a:rPr>
                      <m:t>}</m:t>
                    </m:r>
                    <m:r>
                      <a:rPr lang="en-MY" sz="1100" i="1" spc="-70" dirty="0" smtClean="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0" dirty="0" smtClean="0">
                        <a:latin typeface="Cambria Math" panose="02040503050406030204" pitchFamily="18" charset="0"/>
                        <a:cs typeface="Tahoma"/>
                      </a:rPr>
                      <m:t>0</m:t>
                    </m:r>
                  </m:oMath>
                </a14:m>
                <a:r>
                  <a:rPr lang="en-MY" sz="1100" dirty="0">
                    <a:latin typeface="Tahoma"/>
                    <a:cs typeface="Tahoma"/>
                  </a:rPr>
                  <a:t> </a:t>
                </a:r>
              </a:p>
              <a:p>
                <a:pPr marL="214629">
                  <a:spcBef>
                    <a:spcPts val="334"/>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1</m:t>
                    </m:r>
                    <m:r>
                      <a:rPr lang="ar-SA" sz="1100" b="0" i="1" spc="-50" dirty="0" smtClean="0">
                        <a:latin typeface="Cambria Math" panose="02040503050406030204" pitchFamily="18" charset="0"/>
                        <a:cs typeface="Tahoma"/>
                      </a:rPr>
                      <m:t>       </m:t>
                    </m:r>
                    <m:r>
                      <a:rPr lang="ar-SA" sz="1100" i="1" spc="-50" dirty="0" smtClean="0">
                        <a:latin typeface="Cambria Math" panose="02040503050406030204" pitchFamily="18" charset="0"/>
                        <a:cs typeface="Tahoma"/>
                      </a:rPr>
                      <m:t> </m:t>
                    </m:r>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2</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dirty="0">
                    <a:latin typeface="Tahoma"/>
                    <a:cs typeface="Tahoma"/>
                  </a:rPr>
                  <a:t> </a:t>
                </a:r>
              </a:p>
              <a:p>
                <a:pPr marL="214629">
                  <a:spcBef>
                    <a:spcPts val="33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30" dirty="0">
                        <a:latin typeface="Cambria Math" panose="02040503050406030204" pitchFamily="18" charset="0"/>
                        <a:cs typeface="Tahoma"/>
                      </a:rPr>
                      <m:t>3</m:t>
                    </m:r>
                    <m:r>
                      <a:rPr lang="ar-SA" sz="1100" i="1" spc="-3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4</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Tahoma"/>
                      </a:rPr>
                      <m:t>         </m:t>
                    </m:r>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2</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3</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spc="-50" dirty="0">
                    <a:latin typeface="Tahoma"/>
                    <a:cs typeface="Tahoma"/>
                  </a:rPr>
                  <a:t> </a:t>
                </a:r>
              </a:p>
              <a:p>
                <a:pPr marL="214629">
                  <a:spcBef>
                    <a:spcPts val="33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a:rPr lang="ar-SA" sz="1100" i="1" spc="-50" dirty="0" smtClean="0">
                        <a:latin typeface="Cambria Math" panose="02040503050406030204" pitchFamily="18" charset="0"/>
                        <a:cs typeface="Meiryo UI"/>
                      </a:rPr>
                      <m:t>{</m:t>
                    </m:r>
                    <m:r>
                      <a:rPr lang="ar-SA" sz="1100" i="1" spc="-50" dirty="0" smtClean="0">
                        <a:latin typeface="Cambria Math" panose="02040503050406030204" pitchFamily="18" charset="0"/>
                        <a:cs typeface="Tahoma"/>
                      </a:rPr>
                      <m:t>1</m:t>
                    </m:r>
                    <m:r>
                      <a:rPr lang="ar-SA" sz="1100" i="1" spc="-5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2</m:t>
                    </m:r>
                    <m:r>
                      <a:rPr lang="ar-SA" sz="1100" i="1" spc="-30" dirty="0" smtClean="0">
                        <a:latin typeface="Cambria Math" panose="02040503050406030204" pitchFamily="18" charset="0"/>
                        <a:cs typeface="Adobe Text Pro"/>
                      </a:rPr>
                      <m:t>,</m:t>
                    </m:r>
                    <m:r>
                      <a:rPr lang="ar-SA" sz="1100" i="1" spc="-35" dirty="0" smtClean="0">
                        <a:latin typeface="Cambria Math" panose="02040503050406030204" pitchFamily="18" charset="0"/>
                        <a:cs typeface="Adobe Text Pro"/>
                      </a:rPr>
                      <m:t> </m:t>
                    </m:r>
                    <m:r>
                      <a:rPr lang="ar-SA" sz="1100" i="1" spc="-30" dirty="0" smtClean="0">
                        <a:latin typeface="Cambria Math" panose="02040503050406030204" pitchFamily="18" charset="0"/>
                        <a:cs typeface="Tahoma"/>
                      </a:rPr>
                      <m:t>3</m:t>
                    </m:r>
                    <m:r>
                      <a:rPr lang="ar-SA" sz="1100" i="1" spc="-30" dirty="0" smtClean="0">
                        <a:latin typeface="Cambria Math" panose="02040503050406030204" pitchFamily="18" charset="0"/>
                        <a:cs typeface="Adobe Text Pro"/>
                      </a:rPr>
                      <m:t>,</m:t>
                    </m:r>
                    <m:r>
                      <a:rPr lang="ar-SA" sz="1100" i="1" spc="-40" dirty="0" smtClean="0">
                        <a:latin typeface="Cambria Math" panose="02040503050406030204" pitchFamily="18" charset="0"/>
                        <a:cs typeface="Adobe Text Pro"/>
                      </a:rPr>
                      <m:t> </m:t>
                    </m:r>
                    <m:r>
                      <a:rPr lang="ar-SA" sz="1100" i="1" spc="-70" dirty="0" smtClean="0">
                        <a:latin typeface="Cambria Math" panose="02040503050406030204" pitchFamily="18" charset="0"/>
                        <a:cs typeface="Tahoma"/>
                      </a:rPr>
                      <m:t>4</m:t>
                    </m:r>
                    <m:r>
                      <a:rPr lang="ar-SA" sz="1100" i="1" spc="-70" dirty="0" smtClean="0">
                        <a:latin typeface="Cambria Math" panose="02040503050406030204" pitchFamily="18" charset="0"/>
                        <a:cs typeface="Meiryo UI"/>
                      </a:rPr>
                      <m:t>}</m:t>
                    </m:r>
                    <m:r>
                      <a:rPr lang="ar-SA" sz="1100" i="1" spc="-70" dirty="0" smtClean="0">
                        <a:latin typeface="Cambria Math" panose="02040503050406030204" pitchFamily="18" charset="0"/>
                        <a:cs typeface="Tahoma"/>
                      </a:rPr>
                      <m:t>)</m:t>
                    </m:r>
                    <m:r>
                      <a:rPr lang="ar-SA" sz="1100" i="1" dirty="0" smtClean="0">
                        <a:latin typeface="Cambria Math" panose="02040503050406030204" pitchFamily="18" charset="0"/>
                        <a:cs typeface="Tahoma"/>
                      </a:rPr>
                      <m:t>=</m:t>
                    </m:r>
                    <m:r>
                      <a:rPr lang="ar-SA" sz="1100" i="1" spc="-50" dirty="0" smtClean="0">
                        <a:latin typeface="Cambria Math" panose="02040503050406030204" pitchFamily="18" charset="0"/>
                        <a:cs typeface="Tahoma"/>
                      </a:rPr>
                      <m:t>1</m:t>
                    </m:r>
                  </m:oMath>
                </a14:m>
                <a:r>
                  <a:rPr lang="ar-SA" sz="1100" dirty="0">
                    <a:latin typeface="Tahoma"/>
                    <a:cs typeface="Tahoma"/>
                  </a:rPr>
                  <a:t> </a:t>
                </a:r>
                <a:endParaRPr lang="en-MY" sz="1100" dirty="0">
                  <a:latin typeface="Tahom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47294" y="460375"/>
                <a:ext cx="3914140" cy="2797561"/>
              </a:xfrm>
              <a:prstGeom prst="rect">
                <a:avLst/>
              </a:prstGeom>
              <a:blipFill>
                <a:blip r:embed="rId3"/>
                <a:stretch>
                  <a:fillRect l="-1246" t="-1747" r="-2025" b="-2183"/>
                </a:stretch>
              </a:blipFill>
            </p:spPr>
            <p:txBody>
              <a:bodyPr/>
              <a:lstStyle/>
              <a:p>
                <a:r>
                  <a:rPr lang="en-MY">
                    <a:noFill/>
                  </a:rPr>
                  <a:t> </a:t>
                </a:r>
              </a:p>
            </p:txBody>
          </p:sp>
        </mc:Fallback>
      </mc:AlternateContent>
      <p:sp>
        <p:nvSpPr>
          <p:cNvPr id="9" name="Date Placeholder 3">
            <a:extLst>
              <a:ext uri="{FF2B5EF4-FFF2-40B4-BE49-F238E27FC236}">
                <a16:creationId xmlns:a16="http://schemas.microsoft.com/office/drawing/2014/main" id="{3C990354-9B62-49A0-A160-BDDC32C5280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ooter Placeholder 5">
            <a:extLst>
              <a:ext uri="{FF2B5EF4-FFF2-40B4-BE49-F238E27FC236}">
                <a16:creationId xmlns:a16="http://schemas.microsoft.com/office/drawing/2014/main" id="{8FC7855C-65E7-41A3-BBCB-73B3ACAD15D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1" name="Slide Number Placeholder 7">
            <a:extLst>
              <a:ext uri="{FF2B5EF4-FFF2-40B4-BE49-F238E27FC236}">
                <a16:creationId xmlns:a16="http://schemas.microsoft.com/office/drawing/2014/main" id="{4EDA4E76-F6D8-4AF6-88F9-1760348DC55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Main</a:t>
            </a:r>
            <a:r>
              <a:rPr spc="150" dirty="0"/>
              <a:t> </a:t>
            </a:r>
            <a:r>
              <a:rPr spc="-10" dirty="0"/>
              <a:t>problems/questions</a:t>
            </a:r>
          </a:p>
        </p:txBody>
      </p:sp>
      <p:sp>
        <p:nvSpPr>
          <p:cNvPr id="3" name="object 3"/>
          <p:cNvSpPr txBox="1"/>
          <p:nvPr/>
        </p:nvSpPr>
        <p:spPr>
          <a:xfrm>
            <a:off x="434657" y="1255838"/>
            <a:ext cx="4173324" cy="965714"/>
          </a:xfrm>
          <a:prstGeom prst="rect">
            <a:avLst/>
          </a:prstGeom>
        </p:spPr>
        <p:txBody>
          <a:bodyPr vert="horz" wrap="square" lIns="0" tIns="6985" rIns="0" bIns="0" rtlCol="0">
            <a:spAutoFit/>
          </a:bodyPr>
          <a:lstStyle/>
          <a:p>
            <a:pPr marL="53975" marR="5080" indent="-175260" algn="l" rtl="0">
              <a:lnSpc>
                <a:spcPts val="1400"/>
              </a:lnSpc>
              <a:spcBef>
                <a:spcPts val="330"/>
              </a:spcBef>
              <a:buClr>
                <a:srgbClr val="0000FF"/>
              </a:buClr>
              <a:buFont typeface="Arial"/>
              <a:buChar char="►"/>
              <a:tabLst>
                <a:tab pos="201930" algn="l"/>
              </a:tabLst>
            </a:pPr>
            <a:r>
              <a:rPr sz="1100" kern="1200" spc="10" dirty="0">
                <a:solidFill>
                  <a:schemeClr val="tx1"/>
                </a:solidFill>
                <a:latin typeface="Tahoma"/>
                <a:ea typeface="+mn-ea"/>
                <a:cs typeface="Tahoma"/>
              </a:rPr>
              <a:t>Which coalitions will form? </a:t>
            </a:r>
            <a:br>
              <a:rPr lang="en-US" sz="1100" kern="1200" spc="10" dirty="0">
                <a:solidFill>
                  <a:schemeClr val="tx1"/>
                </a:solidFill>
                <a:latin typeface="Tahoma"/>
                <a:ea typeface="+mn-ea"/>
                <a:cs typeface="Tahoma"/>
              </a:rPr>
            </a:br>
            <a:r>
              <a:rPr sz="1100" kern="1200" spc="10" dirty="0">
                <a:solidFill>
                  <a:schemeClr val="tx1"/>
                </a:solidFill>
                <a:latin typeface="Tahoma"/>
                <a:ea typeface="+mn-ea"/>
                <a:cs typeface="Tahoma"/>
              </a:rPr>
              <a:t>(A question about </a:t>
            </a:r>
            <a:r>
              <a:rPr sz="1100" i="1" kern="1200" spc="10" dirty="0">
                <a:solidFill>
                  <a:schemeClr val="tx1"/>
                </a:solidFill>
                <a:latin typeface="Tahoma"/>
                <a:ea typeface="+mn-ea"/>
                <a:cs typeface="Tahoma"/>
              </a:rPr>
              <a:t>stability</a:t>
            </a:r>
            <a:r>
              <a:rPr sz="1100" kern="1200" spc="10" dirty="0">
                <a:solidFill>
                  <a:schemeClr val="tx1"/>
                </a:solidFill>
                <a:latin typeface="Tahoma"/>
                <a:ea typeface="+mn-ea"/>
                <a:cs typeface="Tahoma"/>
              </a:rPr>
              <a:t>)</a:t>
            </a:r>
          </a:p>
          <a:p>
            <a:pPr marL="53975" marR="5080" algn="l" rtl="0">
              <a:lnSpc>
                <a:spcPts val="1400"/>
              </a:lnSpc>
              <a:spcBef>
                <a:spcPts val="330"/>
              </a:spcBef>
              <a:buClr>
                <a:srgbClr val="0000FF"/>
              </a:buClr>
              <a:buFont typeface="Arial"/>
              <a:buChar char="►"/>
            </a:pPr>
            <a:endParaRPr sz="1100" kern="1200" spc="10" dirty="0">
              <a:solidFill>
                <a:schemeClr val="tx1"/>
              </a:solidFill>
              <a:latin typeface="Tahoma"/>
              <a:ea typeface="+mn-ea"/>
              <a:cs typeface="Tahoma"/>
            </a:endParaRPr>
          </a:p>
          <a:p>
            <a:pPr marL="53975" marR="5080" indent="-175260" algn="l" rtl="0">
              <a:lnSpc>
                <a:spcPts val="1400"/>
              </a:lnSpc>
              <a:spcBef>
                <a:spcPts val="330"/>
              </a:spcBef>
              <a:buClr>
                <a:srgbClr val="0000FF"/>
              </a:buClr>
              <a:buFont typeface="Arial"/>
              <a:buChar char="►"/>
              <a:tabLst>
                <a:tab pos="201930" algn="l"/>
              </a:tabLst>
            </a:pPr>
            <a:r>
              <a:rPr sz="1100" kern="1200" spc="10" dirty="0">
                <a:solidFill>
                  <a:schemeClr val="tx1"/>
                </a:solidFill>
                <a:latin typeface="Tahoma"/>
                <a:ea typeface="+mn-ea"/>
                <a:cs typeface="Tahoma"/>
              </a:rPr>
              <a:t>How should coalitions’ payoffs be divided amongst members?</a:t>
            </a:r>
            <a:br>
              <a:rPr lang="en-US" sz="1100" kern="1200" spc="10" dirty="0">
                <a:solidFill>
                  <a:schemeClr val="tx1"/>
                </a:solidFill>
                <a:latin typeface="Tahoma"/>
                <a:ea typeface="+mn-ea"/>
                <a:cs typeface="Tahoma"/>
              </a:rPr>
            </a:br>
            <a:r>
              <a:rPr sz="1100" kern="1200" spc="10" dirty="0">
                <a:solidFill>
                  <a:schemeClr val="tx1"/>
                </a:solidFill>
                <a:latin typeface="Tahoma"/>
                <a:ea typeface="+mn-ea"/>
                <a:cs typeface="Tahoma"/>
              </a:rPr>
              <a:t>(A question about </a:t>
            </a:r>
            <a:r>
              <a:rPr sz="1100" i="1" kern="1200" spc="10" dirty="0">
                <a:solidFill>
                  <a:schemeClr val="tx1"/>
                </a:solidFill>
                <a:latin typeface="Tahoma"/>
                <a:ea typeface="+mn-ea"/>
                <a:cs typeface="Tahoma"/>
              </a:rPr>
              <a:t>fair distribution</a:t>
            </a:r>
            <a:r>
              <a:rPr sz="1100" kern="1200" spc="10" dirty="0">
                <a:solidFill>
                  <a:schemeClr val="tx1"/>
                </a:solidFill>
                <a:latin typeface="Tahoma"/>
                <a:ea typeface="+mn-ea"/>
                <a:cs typeface="Tahoma"/>
              </a:rPr>
              <a:t>)</a:t>
            </a:r>
          </a:p>
        </p:txBody>
      </p:sp>
      <p:sp>
        <p:nvSpPr>
          <p:cNvPr id="4" name="Date Placeholder 3">
            <a:extLst>
              <a:ext uri="{FF2B5EF4-FFF2-40B4-BE49-F238E27FC236}">
                <a16:creationId xmlns:a16="http://schemas.microsoft.com/office/drawing/2014/main" id="{CE7E6B92-32AE-4426-86F0-F3E584DC5D6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BF4BA58-033B-40C4-9B2D-F8EFB09AE17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6A3A4C5-4570-4EE4-B559-AFB2730C160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59878"/>
            <a:ext cx="2088514"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Calibri"/>
                <a:cs typeface="Calibri"/>
              </a:rPr>
              <a:t>Classes</a:t>
            </a:r>
            <a:r>
              <a:rPr sz="1400" spc="114" dirty="0">
                <a:solidFill>
                  <a:srgbClr val="CC0000"/>
                </a:solidFill>
                <a:latin typeface="Calibri"/>
                <a:cs typeface="Calibri"/>
              </a:rPr>
              <a:t> </a:t>
            </a:r>
            <a:r>
              <a:rPr sz="1400" dirty="0">
                <a:solidFill>
                  <a:srgbClr val="CC0000"/>
                </a:solidFill>
                <a:latin typeface="Calibri"/>
                <a:cs typeface="Calibri"/>
              </a:rPr>
              <a:t>of</a:t>
            </a:r>
            <a:r>
              <a:rPr sz="1400" spc="120" dirty="0">
                <a:solidFill>
                  <a:srgbClr val="CC0000"/>
                </a:solidFill>
                <a:latin typeface="Calibri"/>
                <a:cs typeface="Calibri"/>
              </a:rPr>
              <a:t> </a:t>
            </a:r>
            <a:r>
              <a:rPr sz="1400" dirty="0">
                <a:solidFill>
                  <a:srgbClr val="CC0000"/>
                </a:solidFill>
                <a:latin typeface="Calibri"/>
                <a:cs typeface="Calibri"/>
              </a:rPr>
              <a:t>coalitional</a:t>
            </a:r>
            <a:r>
              <a:rPr sz="1400" spc="120" dirty="0">
                <a:solidFill>
                  <a:srgbClr val="CC0000"/>
                </a:solidFill>
                <a:latin typeface="Calibri"/>
                <a:cs typeface="Calibri"/>
              </a:rPr>
              <a:t> </a:t>
            </a:r>
            <a:r>
              <a:rPr sz="1400" spc="-10" dirty="0">
                <a:solidFill>
                  <a:srgbClr val="CC0000"/>
                </a:solidFill>
                <a:latin typeface="Calibri"/>
                <a:cs typeface="Calibri"/>
              </a:rPr>
              <a:t>games</a:t>
            </a:r>
            <a:endParaRPr sz="1400" dirty="0">
              <a:latin typeface="Calibri"/>
              <a:cs typeface="Calibri"/>
            </a:endParaRPr>
          </a:p>
        </p:txBody>
      </p:sp>
      <p:sp>
        <p:nvSpPr>
          <p:cNvPr id="3" name="object 3"/>
          <p:cNvSpPr txBox="1"/>
          <p:nvPr/>
        </p:nvSpPr>
        <p:spPr>
          <a:xfrm>
            <a:off x="421956" y="1169591"/>
            <a:ext cx="3788093" cy="1091388"/>
          </a:xfrm>
          <a:prstGeom prst="rect">
            <a:avLst/>
          </a:prstGeom>
        </p:spPr>
        <p:txBody>
          <a:bodyPr vert="horz" wrap="square" lIns="0" tIns="55244" rIns="0" bIns="0" rtlCol="0">
            <a:spAutoFit/>
          </a:bodyPr>
          <a:lstStyle/>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Superadditive</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Additive</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Constant-sum</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Convex</a:t>
            </a:r>
          </a:p>
          <a:p>
            <a:pPr marL="53975" marR="5080" indent="-175260" algn="l" rtl="0">
              <a:lnSpc>
                <a:spcPts val="1400"/>
              </a:lnSpc>
              <a:spcBef>
                <a:spcPts val="330"/>
              </a:spcBef>
              <a:buClr>
                <a:srgbClr val="0000FF"/>
              </a:buClr>
              <a:buFont typeface="Arial"/>
              <a:buChar char="►"/>
              <a:tabLst>
                <a:tab pos="213360" algn="l"/>
              </a:tabLst>
            </a:pPr>
            <a:r>
              <a:rPr sz="1100" kern="1200" spc="10" dirty="0">
                <a:solidFill>
                  <a:schemeClr val="tx1"/>
                </a:solidFill>
                <a:latin typeface="Tahoma"/>
                <a:ea typeface="+mn-ea"/>
                <a:cs typeface="Tahoma"/>
              </a:rPr>
              <a:t>Simple</a:t>
            </a:r>
          </a:p>
        </p:txBody>
      </p:sp>
      <p:sp>
        <p:nvSpPr>
          <p:cNvPr id="4" name="Date Placeholder 3">
            <a:extLst>
              <a:ext uri="{FF2B5EF4-FFF2-40B4-BE49-F238E27FC236}">
                <a16:creationId xmlns:a16="http://schemas.microsoft.com/office/drawing/2014/main" id="{B42E0FD0-705F-47CC-B420-BA71199A45A5}"/>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FA5744F-8F91-482A-AA9F-6C69E1846560}"/>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EC101BA-0F39-4450-84B7-F8D1B1C5028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Superadditive</a:t>
            </a:r>
            <a:r>
              <a:rPr spc="114"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848713"/>
                <a:ext cx="4129456" cy="1842876"/>
              </a:xfrm>
              <a:prstGeom prst="rect">
                <a:avLst/>
              </a:prstGeom>
            </p:spPr>
            <p:txBody>
              <a:bodyPr vert="horz" wrap="square" lIns="0" tIns="55244" rIns="0" bIns="0" rtlCol="0">
                <a:spAutoFit/>
              </a:bodyPr>
              <a:lstStyle/>
              <a:p>
                <a:pPr marL="50800">
                  <a:lnSpc>
                    <a:spcPct val="100000"/>
                  </a:lnSpc>
                  <a:spcBef>
                    <a:spcPts val="434"/>
                  </a:spcBef>
                </a:pPr>
                <a:r>
                  <a:rPr lang="en-US" sz="1100" kern="1200" spc="10" dirty="0">
                    <a:solidFill>
                      <a:schemeClr val="tx1"/>
                    </a:solidFill>
                    <a:latin typeface="Tahoma"/>
                    <a:ea typeface="+mn-ea"/>
                    <a:cs typeface="Tahoma"/>
                  </a:rPr>
                  <a:t>A game </a:t>
                </a:r>
                <a14:m>
                  <m:oMath xmlns:m="http://schemas.openxmlformats.org/officeDocument/2006/math">
                    <m:r>
                      <a:rPr lang="en-US" sz="1100" i="1" dirty="0" smtClean="0">
                        <a:latin typeface="Cambria Math" panose="02040503050406030204" pitchFamily="18" charset="0"/>
                        <a:cs typeface="Arial"/>
                      </a:rPr>
                      <m:t>𝐺</m:t>
                    </m:r>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r>
                      <a:rPr lang="en-US" sz="1100" i="1" spc="5" dirty="0">
                        <a:latin typeface="Cambria Math" panose="02040503050406030204" pitchFamily="18" charset="0"/>
                        <a:cs typeface="Tahoma"/>
                      </a:rPr>
                      <m:t> </m:t>
                    </m:r>
                  </m:oMath>
                </a14:m>
                <a:r>
                  <a:rPr lang="en-US" sz="1100" kern="1200" spc="10" dirty="0">
                    <a:solidFill>
                      <a:schemeClr val="tx1"/>
                    </a:solidFill>
                    <a:latin typeface="Tahoma"/>
                    <a:ea typeface="+mn-ea"/>
                    <a:cs typeface="Tahoma"/>
                  </a:rPr>
                  <a:t>is superadditive if</a:t>
                </a:r>
                <a:r>
                  <a:rPr lang="en-US" sz="1100" spc="-25" dirty="0">
                    <a:latin typeface="Tahoma"/>
                    <a:cs typeface="Tahoma"/>
                  </a:rPr>
                  <a:t>:</a:t>
                </a:r>
                <a:endParaRPr lang="en-US" sz="1100" dirty="0">
                  <a:latin typeface="Tahoma"/>
                  <a:cs typeface="Tahoma"/>
                </a:endParaRPr>
              </a:p>
              <a:p>
                <a:pPr marL="325755" marR="1975485" indent="-175260">
                  <a:lnSpc>
                    <a:spcPct val="125299"/>
                  </a:lnSpc>
                  <a:buClr>
                    <a:srgbClr val="3333B2"/>
                  </a:buClr>
                  <a:buFont typeface="Arial"/>
                  <a:buChar char="►"/>
                  <a:tabLst>
                    <a:tab pos="650875" algn="l"/>
                  </a:tabLst>
                </a:pPr>
                <a:r>
                  <a:rPr lang="en-US" sz="1100" kern="1200" spc="10" dirty="0">
                    <a:solidFill>
                      <a:schemeClr val="tx1"/>
                    </a:solidFill>
                    <a:latin typeface="Tahoma"/>
                    <a:ea typeface="+mn-ea"/>
                    <a:cs typeface="Tahoma"/>
                  </a:rPr>
                  <a:t>for all coalitions </a:t>
                </a:r>
                <a14:m>
                  <m:oMath xmlns:m="http://schemas.openxmlformats.org/officeDocument/2006/math">
                    <m:sSub>
                      <m:sSubPr>
                        <m:ctrlPr>
                          <a:rPr lang="en-MY" sz="1100" b="0" i="1" spc="-30" dirty="0" smtClean="0">
                            <a:latin typeface="Cambria Math" panose="02040503050406030204" pitchFamily="18" charset="0"/>
                            <a:cs typeface="Arial"/>
                          </a:rPr>
                        </m:ctrlPr>
                      </m:sSubPr>
                      <m:e>
                        <m:r>
                          <a:rPr lang="en-US" sz="1100" i="1" spc="-30" dirty="0" smtClean="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US" sz="1100" i="1" spc="-30" dirty="0" smtClean="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sSub>
                      <m:sSubPr>
                        <m:ctrlPr>
                          <a:rPr lang="en-MY" sz="1100" b="0" i="1" spc="-10" dirty="0" smtClean="0">
                            <a:latin typeface="Cambria Math" panose="02040503050406030204" pitchFamily="18" charset="0"/>
                            <a:cs typeface="Arial"/>
                          </a:rPr>
                        </m:ctrlPr>
                      </m:sSubPr>
                      <m:e>
                        <m:r>
                          <a:rPr lang="en-US"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US" sz="1100" i="1" spc="-50" dirty="0">
                        <a:latin typeface="Cambria Math" panose="02040503050406030204" pitchFamily="18" charset="0"/>
                        <a:cs typeface="Meiryo UI"/>
                      </a:rPr>
                      <m:t>⊂</m:t>
                    </m:r>
                    <m:r>
                      <a:rPr lang="en-US" sz="1100" i="1" spc="-25" dirty="0">
                        <a:latin typeface="Cambria Math" panose="02040503050406030204" pitchFamily="18" charset="0"/>
                        <a:cs typeface="Arial"/>
                      </a:rPr>
                      <m:t>𝑁</m:t>
                    </m:r>
                    <m:r>
                      <a:rPr lang="en-US" sz="1100" i="1" spc="-25" dirty="0">
                        <a:latin typeface="Cambria Math" panose="02040503050406030204" pitchFamily="18" charset="0"/>
                        <a:cs typeface="Tahoma"/>
                      </a:rPr>
                      <m:t>, </m:t>
                    </m:r>
                  </m:oMath>
                </a14:m>
                <a:r>
                  <a:rPr lang="en-US" sz="1100" spc="-25" dirty="0">
                    <a:latin typeface="Tahoma"/>
                    <a:cs typeface="Tahoma"/>
                  </a:rPr>
                  <a:t>	</a:t>
                </a:r>
                <a:r>
                  <a:rPr lang="en-US" sz="1100" dirty="0">
                    <a:latin typeface="Tahoma"/>
                    <a:cs typeface="Tahoma"/>
                  </a:rPr>
                  <a:t>if</a:t>
                </a:r>
                <a:r>
                  <a:rPr lang="en-US" sz="1100" spc="-50" dirty="0">
                    <a:latin typeface="Tahoma"/>
                    <a:cs typeface="Tahoma"/>
                  </a:rPr>
                  <a:t> </a:t>
                </a:r>
                <a14:m>
                  <m:oMath xmlns:m="http://schemas.openxmlformats.org/officeDocument/2006/math">
                    <m:sSub>
                      <m:sSubPr>
                        <m:ctrlPr>
                          <a:rPr lang="en-US" sz="1100" b="0" i="1" spc="-25" dirty="0" smtClean="0">
                            <a:latin typeface="Cambria Math" panose="02040503050406030204" pitchFamily="18" charset="0"/>
                            <a:cs typeface="Arial"/>
                          </a:rPr>
                        </m:ctrlPr>
                      </m:sSubPr>
                      <m:e>
                        <m:r>
                          <a:rPr lang="en-US"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US" sz="1100" i="1" spc="-175" dirty="0">
                        <a:latin typeface="Cambria Math" panose="02040503050406030204" pitchFamily="18" charset="0"/>
                        <a:cs typeface="Meiryo UI"/>
                      </a:rPr>
                      <m:t>∩</m:t>
                    </m:r>
                    <m:r>
                      <a:rPr lang="en-US"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US"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US" sz="1100" i="1" dirty="0">
                        <a:latin typeface="Cambria Math" panose="02040503050406030204" pitchFamily="18" charset="0"/>
                        <a:cs typeface="Tahoma"/>
                      </a:rPr>
                      <m:t>=</m:t>
                    </m:r>
                    <m:r>
                      <a:rPr lang="en-US" sz="1100" i="1" spc="-75" dirty="0">
                        <a:latin typeface="Cambria Math" panose="02040503050406030204" pitchFamily="18" charset="0"/>
                        <a:cs typeface="Tahoma"/>
                      </a:rPr>
                      <m:t> </m:t>
                    </m:r>
                    <m:r>
                      <a:rPr lang="en-US" sz="1100" i="1" spc="-25" dirty="0">
                        <a:latin typeface="Cambria Math" panose="02040503050406030204" pitchFamily="18" charset="0"/>
                        <a:cs typeface="Meiryo UI"/>
                      </a:rPr>
                      <m:t>∅</m:t>
                    </m:r>
                    <m:r>
                      <a:rPr lang="en-US" sz="1100" i="1" spc="-25" dirty="0">
                        <a:latin typeface="Cambria Math" panose="02040503050406030204" pitchFamily="18" charset="0"/>
                        <a:cs typeface="Tahoma"/>
                      </a:rPr>
                      <m:t>,</m:t>
                    </m:r>
                  </m:oMath>
                </a14:m>
                <a:r>
                  <a:rPr lang="en-US" sz="1100" dirty="0">
                    <a:latin typeface="Tahoma"/>
                    <a:cs typeface="Tahoma"/>
                  </a:rPr>
                  <a:t> </a:t>
                </a:r>
              </a:p>
              <a:p>
                <a:pPr marL="650875">
                  <a:lnSpc>
                    <a:spcPct val="100000"/>
                  </a:lnSpc>
                  <a:spcBef>
                    <a:spcPts val="334"/>
                  </a:spcBef>
                </a:pPr>
                <a:r>
                  <a:rPr lang="en-US" sz="1100" kern="1200" spc="10" dirty="0">
                    <a:solidFill>
                      <a:schemeClr val="tx1"/>
                    </a:solidFill>
                    <a:latin typeface="Tahoma"/>
                    <a:ea typeface="+mn-ea"/>
                    <a:cs typeface="Tahoma"/>
                  </a:rPr>
                  <a:t>then</a:t>
                </a:r>
                <a:r>
                  <a:rPr lang="en-US" sz="1100" spc="-30" dirty="0">
                    <a:latin typeface="Tahoma"/>
                    <a:cs typeface="Tahoma"/>
                  </a:rPr>
                  <a:t> </a:t>
                </a:r>
                <a14:m>
                  <m:oMath xmlns:m="http://schemas.openxmlformats.org/officeDocument/2006/math">
                    <m:r>
                      <a:rPr lang="en-US" sz="1100" i="1" spc="-55" dirty="0" smtClean="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US"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US" sz="1100" i="1" spc="-175" dirty="0">
                        <a:latin typeface="Cambria Math" panose="02040503050406030204" pitchFamily="18" charset="0"/>
                        <a:cs typeface="Meiryo UI"/>
                      </a:rPr>
                      <m:t>∪</m:t>
                    </m:r>
                    <m:r>
                      <a:rPr lang="en-US"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US"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US" sz="1100" i="1" spc="-30" dirty="0">
                        <a:latin typeface="Cambria Math" panose="02040503050406030204" pitchFamily="18" charset="0"/>
                        <a:cs typeface="Tahoma"/>
                      </a:rPr>
                      <m:t>)</m:t>
                    </m:r>
                    <m:r>
                      <a:rPr lang="en-US" sz="1100" i="1" spc="-45" dirty="0">
                        <a:latin typeface="Cambria Math" panose="02040503050406030204" pitchFamily="18" charset="0"/>
                        <a:cs typeface="Tahoma"/>
                      </a:rPr>
                      <m:t> </m:t>
                    </m:r>
                    <m:r>
                      <a:rPr lang="en-US" sz="1100" i="1" spc="-50" dirty="0">
                        <a:latin typeface="Cambria Math" panose="02040503050406030204" pitchFamily="18" charset="0"/>
                        <a:cs typeface="Meiryo UI"/>
                      </a:rPr>
                      <m:t>≥</m:t>
                    </m:r>
                    <m:r>
                      <a:rPr lang="en-US" sz="1100" i="1" spc="-70" dirty="0">
                        <a:latin typeface="Cambria Math" panose="02040503050406030204" pitchFamily="18" charset="0"/>
                        <a:cs typeface="Meiryo UI"/>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US"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US" sz="1100" i="1" spc="-30" dirty="0">
                        <a:latin typeface="Cambria Math" panose="02040503050406030204" pitchFamily="18" charset="0"/>
                        <a:cs typeface="Tahoma"/>
                      </a:rPr>
                      <m:t>)</m:t>
                    </m:r>
                    <m:r>
                      <a:rPr lang="en-US" sz="1100" i="1" dirty="0" smtClean="0">
                        <a:latin typeface="Cambria Math" panose="02040503050406030204" pitchFamily="18" charset="0"/>
                        <a:cs typeface="Tahoma"/>
                      </a:rPr>
                      <m:t>+</m:t>
                    </m:r>
                    <m:r>
                      <a:rPr lang="en-US" sz="1100" i="1" spc="-105" dirty="0">
                        <a:latin typeface="Cambria Math" panose="02040503050406030204" pitchFamily="18" charset="0"/>
                        <a:cs typeface="Tahoma"/>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US"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US" sz="1100" i="1" spc="-20" dirty="0">
                        <a:latin typeface="Cambria Math" panose="02040503050406030204" pitchFamily="18" charset="0"/>
                        <a:cs typeface="Tahoma"/>
                      </a:rPr>
                      <m:t>)</m:t>
                    </m:r>
                  </m:oMath>
                </a14:m>
                <a:endParaRPr lang="en-US" sz="1100" dirty="0">
                  <a:latin typeface="Tahoma"/>
                  <a:cs typeface="Tahoma"/>
                </a:endParaRPr>
              </a:p>
              <a:p>
                <a:pPr>
                  <a:lnSpc>
                    <a:spcPct val="100000"/>
                  </a:lnSpc>
                  <a:spcBef>
                    <a:spcPts val="320"/>
                  </a:spcBef>
                </a:pPr>
                <a:endParaRPr lang="en-US" sz="1100" dirty="0">
                  <a:latin typeface="Tahoma"/>
                  <a:cs typeface="Tahoma"/>
                </a:endParaRPr>
              </a:p>
              <a:p>
                <a:pPr marL="53975" marR="5080" indent="-175260" algn="l" rtl="0">
                  <a:lnSpc>
                    <a:spcPts val="1400"/>
                  </a:lnSpc>
                  <a:spcBef>
                    <a:spcPts val="330"/>
                  </a:spcBef>
                  <a:buClr>
                    <a:srgbClr val="0000FF"/>
                  </a:buClr>
                  <a:buFont typeface="Arial"/>
                  <a:buChar char="►"/>
                  <a:tabLst>
                    <a:tab pos="327660" algn="l"/>
                  </a:tabLst>
                </a:pPr>
                <a:r>
                  <a:rPr lang="en-US" sz="1100" kern="1200" spc="10" dirty="0">
                    <a:solidFill>
                      <a:schemeClr val="tx1"/>
                    </a:solidFill>
                    <a:latin typeface="Tahoma"/>
                    <a:ea typeface="+mn-ea"/>
                    <a:cs typeface="Tahoma"/>
                  </a:rPr>
                  <a:t>Informally, a coalition is always worth at least as much as the 	sum of the worth of any of its disjoint subcoalitions</a:t>
                </a:r>
              </a:p>
              <a:p>
                <a:pPr marL="53975" marR="5080" indent="-175260" algn="l" rtl="0">
                  <a:lnSpc>
                    <a:spcPts val="1400"/>
                  </a:lnSpc>
                  <a:spcBef>
                    <a:spcPts val="330"/>
                  </a:spcBef>
                  <a:buClr>
                    <a:srgbClr val="0000FF"/>
                  </a:buClr>
                  <a:buFont typeface="Arial"/>
                  <a:buChar char="►"/>
                  <a:tabLst>
                    <a:tab pos="327660" algn="l"/>
                  </a:tabLst>
                </a:pPr>
                <a:r>
                  <a:rPr lang="en-US" sz="1100" kern="1200" spc="10" dirty="0">
                    <a:solidFill>
                      <a:schemeClr val="tx1"/>
                    </a:solidFill>
                    <a:latin typeface="Tahoma"/>
                    <a:ea typeface="+mn-ea"/>
                    <a:cs typeface="Tahoma"/>
                  </a:rPr>
                  <a:t>Two disjoint coalitions can always merge together; hence,  can assume that players always form the grand coalition</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848713"/>
                <a:ext cx="4129456" cy="1842876"/>
              </a:xfrm>
              <a:prstGeom prst="rect">
                <a:avLst/>
              </a:prstGeom>
              <a:blipFill>
                <a:blip r:embed="rId3"/>
                <a:stretch>
                  <a:fillRect l="-2068" r="-1773" b="-3960"/>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C904D4DA-180E-4342-9171-6AABC583C15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D7B4930C-A30F-4CA6-A4F2-1C91EB6E0C3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7551184-54A8-44B3-A012-57E5384DCBB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7" name="TextBox 6">
            <a:extLst>
              <a:ext uri="{FF2B5EF4-FFF2-40B4-BE49-F238E27FC236}">
                <a16:creationId xmlns:a16="http://schemas.microsoft.com/office/drawing/2014/main" id="{7CC4B5D1-9003-5872-4D07-B4D33DE1AE98}"/>
              </a:ext>
            </a:extLst>
          </p:cNvPr>
          <p:cNvSpPr txBox="1"/>
          <p:nvPr/>
        </p:nvSpPr>
        <p:spPr>
          <a:xfrm>
            <a:off x="1811485" y="1314735"/>
            <a:ext cx="1295400" cy="169277"/>
          </a:xfrm>
          <a:prstGeom prst="rect">
            <a:avLst/>
          </a:prstGeom>
          <a:noFill/>
        </p:spPr>
        <p:txBody>
          <a:bodyPr wrap="square" rtlCol="0">
            <a:spAutoFit/>
          </a:bodyPr>
          <a:lstStyle/>
          <a:p>
            <a:r>
              <a:rPr lang="en-US" sz="500" dirty="0">
                <a:latin typeface="Tahoma" panose="020B0604030504040204" pitchFamily="34" charset="0"/>
                <a:ea typeface="Tahoma" panose="020B0604030504040204" pitchFamily="34" charset="0"/>
                <a:cs typeface="Tahoma" panose="020B0604030504040204" pitchFamily="34" charset="0"/>
              </a:rPr>
              <a:t>No member belongs to both coalitions</a:t>
            </a:r>
            <a:endParaRPr lang="en-MY" sz="5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10" dirty="0"/>
              <a:t> </a:t>
            </a:r>
            <a:r>
              <a:rPr dirty="0"/>
              <a:t>Superadditive</a:t>
            </a:r>
            <a:r>
              <a:rPr spc="155"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407094"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rPr>
                      <m:t>2</m:t>
                    </m:r>
                    <m:r>
                      <a:rPr lang="en-MY" sz="1100" i="1" spc="-30" dirty="0">
                        <a:latin typeface="Cambria Math" panose="02040503050406030204" pitchFamily="18" charset="0"/>
                        <a:cs typeface="Adobe Text Pro"/>
                      </a:rPr>
                      <m:t>,</m:t>
                    </m:r>
                    <m:r>
                      <a:rPr lang="en-MY" sz="1100" i="1" spc="-50" dirty="0" smtClean="0">
                        <a:latin typeface="Cambria Math" panose="02040503050406030204" pitchFamily="18" charset="0"/>
                        <a:cs typeface="Adobe Text Pro"/>
                      </a:rPr>
                      <m:t> </m:t>
                    </m:r>
                    <m:r>
                      <a:rPr lang="en-MY" sz="1100" i="1" spc="-25" dirty="0" smtClean="0">
                        <a:latin typeface="Cambria Math" panose="02040503050406030204" pitchFamily="18" charset="0"/>
                      </a:rPr>
                      <m:t>3</m:t>
                    </m:r>
                    <m:r>
                      <a:rPr lang="en-MY" sz="1100" i="1" spc="-25" dirty="0" smtClean="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rPr>
                      <m:t>)</m:t>
                    </m:r>
                    <m:r>
                      <a:rPr lang="en-MY" sz="1100" i="1" dirty="0">
                        <a:latin typeface="Cambria Math" panose="02040503050406030204" pitchFamily="18" charset="0"/>
                      </a:rPr>
                      <m:t>=</m:t>
                    </m:r>
                    <m:r>
                      <a:rPr lang="en-MY" sz="1100" i="1" spc="-10" dirty="0">
                        <a:latin typeface="Cambria Math" panose="02040503050406030204" pitchFamily="18" charset="0"/>
                      </a:rPr>
                      <m:t> </m:t>
                    </m:r>
                    <m:r>
                      <a:rPr lang="en-MY" sz="1100" i="1" spc="-50" dirty="0">
                        <a:latin typeface="Cambria Math" panose="02040503050406030204" pitchFamily="18" charset="0"/>
                      </a:rPr>
                      <m:t>0</m:t>
                    </m:r>
                  </m:oMath>
                </a14:m>
                <a:endParaRPr lang="en-MY" sz="1100" dirty="0">
                  <a:latin typeface="Meiryo UI"/>
                  <a:cs typeface="Meiryo UI"/>
                </a:endParaRPr>
              </a:p>
              <a:p>
                <a:pPr marL="214629">
                  <a:lnSpc>
                    <a:spcPct val="100000"/>
                  </a:lnSpc>
                  <a:spcBef>
                    <a:spcPts val="330"/>
                  </a:spcBef>
                  <a:spcAft>
                    <a:spcPts val="400"/>
                  </a:spcAft>
                </a:pPr>
                <a14:m>
                  <m:oMath xmlns:m="http://schemas.openxmlformats.org/officeDocument/2006/math">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1</m:t>
                            </m:r>
                          </m:e>
                        </m:d>
                      </m:e>
                    </m:d>
                    <m:r>
                      <a:rPr lang="en-MY" spc="-55" dirty="0">
                        <a:latin typeface="Cambria Math" panose="02040503050406030204" pitchFamily="18" charset="0"/>
                        <a:cs typeface="Arial"/>
                      </a:rPr>
                      <m:t>=</m:t>
                    </m:r>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2</m:t>
                            </m:r>
                          </m:e>
                        </m:d>
                      </m:e>
                    </m:d>
                    <m:r>
                      <a:rPr lang="en-MY" spc="-55" dirty="0">
                        <a:latin typeface="Cambria Math" panose="02040503050406030204" pitchFamily="18" charset="0"/>
                        <a:cs typeface="Arial"/>
                      </a:rPr>
                      <m:t>=</m:t>
                    </m:r>
                    <m:r>
                      <a:rPr lang="en-MY" spc="-55" dirty="0">
                        <a:latin typeface="Cambria Math" panose="02040503050406030204" pitchFamily="18" charset="0"/>
                        <a:cs typeface="Arial"/>
                      </a:rPr>
                      <m:t>𝑣</m:t>
                    </m:r>
                    <m:r>
                      <a:rPr lang="en-MY" spc="-55" dirty="0">
                        <a:latin typeface="Cambria Math" panose="02040503050406030204" pitchFamily="18" charset="0"/>
                        <a:cs typeface="Arial"/>
                      </a:rPr>
                      <m:t> </m:t>
                    </m:r>
                    <m:d>
                      <m:dPr>
                        <m:ctrlPr>
                          <a:rPr lang="en-MY" i="1" spc="-55" dirty="0">
                            <a:latin typeface="Cambria Math" panose="02040503050406030204" pitchFamily="18" charset="0"/>
                            <a:cs typeface="Arial"/>
                          </a:rPr>
                        </m:ctrlPr>
                      </m:dPr>
                      <m:e>
                        <m:d>
                          <m:dPr>
                            <m:begChr m:val="{"/>
                            <m:endChr m:val="}"/>
                            <m:ctrlPr>
                              <a:rPr lang="en-MY" i="1" spc="-55" dirty="0">
                                <a:latin typeface="Cambria Math" panose="02040503050406030204" pitchFamily="18" charset="0"/>
                                <a:cs typeface="Arial"/>
                              </a:rPr>
                            </m:ctrlPr>
                          </m:dPr>
                          <m:e>
                            <m:r>
                              <a:rPr lang="en-MY" spc="-55" dirty="0">
                                <a:latin typeface="Cambria Math" panose="02040503050406030204" pitchFamily="18" charset="0"/>
                                <a:cs typeface="Arial"/>
                              </a:rPr>
                              <m:t>3</m:t>
                            </m:r>
                          </m:e>
                        </m:d>
                      </m:e>
                    </m:d>
                    <m:r>
                      <a:rPr lang="en-MY" spc="-55" dirty="0">
                        <a:latin typeface="Cambria Math" panose="02040503050406030204" pitchFamily="18" charset="0"/>
                        <a:cs typeface="Arial"/>
                      </a:rPr>
                      <m:t>=1</m:t>
                    </m:r>
                  </m:oMath>
                </a14:m>
                <a:r>
                  <a:rPr lang="en-MY" spc="-55" dirty="0">
                    <a:latin typeface="Cambria Math" panose="02040503050406030204" pitchFamily="18" charset="0"/>
                    <a:cs typeface="Arial"/>
                  </a:rPr>
                  <a:t> </a:t>
                </a:r>
              </a:p>
              <a:p>
                <a:pPr marL="214629" rtl="0">
                  <a:spcBef>
                    <a:spcPts val="335"/>
                  </a:spcBef>
                  <a:tabLst>
                    <a:tab pos="1271270" algn="l"/>
                  </a:tabLst>
                </a:pPr>
                <a14:m>
                  <m:oMathPara xmlns:m="http://schemas.openxmlformats.org/officeDocument/2006/math">
                    <m:oMathParaPr>
                      <m:jc m:val="centerGroup"/>
                    </m:oMathParaPr>
                    <m:oMath xmlns:m="http://schemas.openxmlformats.org/officeDocument/2006/math">
                      <m:r>
                        <a:rPr lang="en-MY" i="1" spc="-55" dirty="0" smtClean="0">
                          <a:latin typeface="Cambria Math" panose="02040503050406030204" pitchFamily="18" charset="0"/>
                          <a:cs typeface="Arial"/>
                        </a:rPr>
                        <m:t>𝑣</m:t>
                      </m:r>
                      <m:r>
                        <a:rPr lang="en-MY" i="1"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35" dirty="0">
                                  <a:latin typeface="Cambria Math" panose="02040503050406030204" pitchFamily="18" charset="0"/>
                                  <a:cs typeface="Adobe Text Pro"/>
                                </a:rPr>
                                <m:t> </m:t>
                              </m:r>
                              <m:r>
                                <a:rPr lang="en-MY" i="1" spc="-70" dirty="0">
                                  <a:latin typeface="Cambria Math" panose="02040503050406030204" pitchFamily="18" charset="0"/>
                                </a:rPr>
                                <m:t>2</m:t>
                              </m:r>
                            </m:e>
                          </m:d>
                        </m:e>
                      </m:d>
                      <m:r>
                        <a:rPr lang="en-MY" i="1" dirty="0" smtClean="0">
                          <a:latin typeface="Cambria Math" panose="02040503050406030204" pitchFamily="18" charset="0"/>
                        </a:rPr>
                        <m:t>=</m:t>
                      </m:r>
                      <m:r>
                        <a:rPr lang="en-MY" i="1" spc="-60" dirty="0">
                          <a:latin typeface="Cambria Math" panose="02040503050406030204" pitchFamily="18" charset="0"/>
                        </a:rPr>
                        <m:t>3</m:t>
                      </m:r>
                      <m:r>
                        <a:rPr lang="en-MY" b="0" i="1" spc="-60" dirty="0" smtClean="0">
                          <a:latin typeface="Cambria Math" panose="02040503050406030204" pitchFamily="18" charset="0"/>
                        </a:rPr>
                        <m:t>           </m:t>
                      </m:r>
                      <m:r>
                        <a:rPr lang="en-MY" i="1" dirty="0">
                          <a:latin typeface="Cambria Math" panose="02040503050406030204" pitchFamily="18" charset="0"/>
                        </a:rPr>
                        <m:t>	</m:t>
                      </m:r>
                      <m:r>
                        <a:rPr lang="en-MY" i="1" spc="-55" dirty="0">
                          <a:latin typeface="Cambria Math" panose="02040503050406030204" pitchFamily="18" charset="0"/>
                          <a:cs typeface="Arial"/>
                        </a:rPr>
                        <m:t>𝑣</m:t>
                      </m:r>
                      <m:r>
                        <a:rPr lang="en-MY" i="1"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40" dirty="0">
                                  <a:latin typeface="Cambria Math" panose="02040503050406030204" pitchFamily="18" charset="0"/>
                                  <a:cs typeface="Adobe Text Pro"/>
                                </a:rPr>
                                <m:t> </m:t>
                              </m:r>
                              <m:r>
                                <a:rPr lang="en-MY" i="1" spc="-70" dirty="0">
                                  <a:latin typeface="Cambria Math" panose="02040503050406030204" pitchFamily="18" charset="0"/>
                                </a:rPr>
                                <m:t>3</m:t>
                              </m:r>
                            </m:e>
                          </m:d>
                        </m:e>
                      </m:d>
                      <m:r>
                        <a:rPr lang="en-MY" i="1" dirty="0" smtClean="0">
                          <a:latin typeface="Cambria Math" panose="02040503050406030204" pitchFamily="18" charset="0"/>
                        </a:rPr>
                        <m:t>=</m:t>
                      </m:r>
                      <m:r>
                        <a:rPr lang="en-MY" i="1" spc="-50" dirty="0">
                          <a:latin typeface="Cambria Math" panose="02040503050406030204" pitchFamily="18" charset="0"/>
                        </a:rPr>
                        <m:t>4</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r>
                        <a:rPr lang="en-MY" spc="-50" dirty="0">
                          <a:latin typeface="Cambria Math" panose="02040503050406030204" pitchFamily="18" charset="0"/>
                        </a:rPr>
                        <m:t>(</m:t>
                      </m:r>
                      <m:r>
                        <a:rPr lang="en-MY" spc="-50" dirty="0">
                          <a:latin typeface="Cambria Math" panose="02040503050406030204" pitchFamily="18" charset="0"/>
                          <a:cs typeface="Meiryo UI"/>
                        </a:rPr>
                        <m:t>{</m:t>
                      </m:r>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r>
                        <a:rPr lang="en-MY" spc="-70" dirty="0">
                          <a:latin typeface="Cambria Math" panose="02040503050406030204" pitchFamily="18" charset="0"/>
                          <a:cs typeface="Meiryo UI"/>
                        </a:rPr>
                        <m:t>}</m:t>
                      </m:r>
                      <m:r>
                        <a:rPr lang="en-MY" spc="-70" dirty="0">
                          <a:latin typeface="Cambria Math" panose="02040503050406030204" pitchFamily="18" charset="0"/>
                        </a:rPr>
                        <m:t>)</m:t>
                      </m:r>
                      <m:r>
                        <a:rPr lang="en-MY" dirty="0">
                          <a:latin typeface="Cambria Math" panose="02040503050406030204" pitchFamily="18" charset="0"/>
                        </a:rPr>
                        <m:t>=</m:t>
                      </m:r>
                      <m:r>
                        <a:rPr lang="en-MY" spc="-50" dirty="0">
                          <a:latin typeface="Cambria Math" panose="02040503050406030204" pitchFamily="18" charset="0"/>
                        </a:rPr>
                        <m:t>5</m:t>
                      </m:r>
                    </m:oMath>
                  </m:oMathPara>
                </a14:m>
                <a:endParaRPr lang="en-MY" spc="-180" dirty="0">
                  <a:latin typeface="Arial"/>
                  <a:cs typeface="Arial"/>
                </a:endParaRPr>
              </a:p>
              <a:p>
                <a:pPr marL="214629" rtl="0">
                  <a:lnSpc>
                    <a:spcPct val="100000"/>
                  </a:lnSpc>
                  <a:spcBef>
                    <a:spcPts val="335"/>
                  </a:spcBef>
                  <a:tabLst>
                    <a:tab pos="1271270" algn="l"/>
                  </a:tabLst>
                </a:pPr>
                <a14:m>
                  <m:oMath xmlns:m="http://schemas.openxmlformats.org/officeDocument/2006/math">
                    <m:r>
                      <a:rPr lang="en-MY" i="1" spc="-55" dirty="0" smtClean="0">
                        <a:latin typeface="Cambria Math" panose="02040503050406030204" pitchFamily="18" charset="0"/>
                        <a:cs typeface="Arial"/>
                      </a:rPr>
                      <m:t>𝑣</m:t>
                    </m:r>
                    <m:d>
                      <m:dPr>
                        <m:ctrlPr>
                          <a:rPr lang="en-MY" i="1" spc="-50" dirty="0" smtClean="0">
                            <a:latin typeface="Cambria Math" panose="02040503050406030204" pitchFamily="18" charset="0"/>
                            <a:cs typeface="Arial"/>
                          </a:rPr>
                        </m:ctrlPr>
                      </m:dPr>
                      <m:e>
                        <m:d>
                          <m:dPr>
                            <m:begChr m:val="{"/>
                            <m:endChr m:val="}"/>
                            <m:ctrlPr>
                              <a:rPr lang="en-MY" i="1" spc="-50" dirty="0" smtClean="0">
                                <a:latin typeface="Cambria Math" panose="02040503050406030204" pitchFamily="18" charset="0"/>
                                <a:cs typeface="Arial"/>
                              </a:rPr>
                            </m:ctrlPr>
                          </m:dPr>
                          <m:e>
                            <m:r>
                              <a:rPr lang="en-MY" i="1" spc="-50" dirty="0">
                                <a:latin typeface="Cambria Math" panose="02040503050406030204" pitchFamily="18" charset="0"/>
                              </a:rPr>
                              <m:t>1</m:t>
                            </m:r>
                            <m:r>
                              <a:rPr lang="en-MY" i="1" spc="-50" dirty="0">
                                <a:latin typeface="Cambria Math" panose="02040503050406030204" pitchFamily="18" charset="0"/>
                                <a:cs typeface="Adobe Text Pro"/>
                              </a:rPr>
                              <m:t>,</m:t>
                            </m:r>
                            <m:r>
                              <a:rPr lang="en-MY" i="1" spc="-35" dirty="0">
                                <a:latin typeface="Cambria Math" panose="02040503050406030204" pitchFamily="18" charset="0"/>
                                <a:cs typeface="Adobe Text Pro"/>
                              </a:rPr>
                              <m:t> </m:t>
                            </m:r>
                            <m:r>
                              <a:rPr lang="en-MY" i="1" spc="-30" dirty="0">
                                <a:latin typeface="Cambria Math" panose="02040503050406030204" pitchFamily="18" charset="0"/>
                              </a:rPr>
                              <m:t>2</m:t>
                            </m:r>
                            <m:r>
                              <a:rPr lang="en-MY" i="1" spc="-30" dirty="0">
                                <a:latin typeface="Cambria Math" panose="02040503050406030204" pitchFamily="18" charset="0"/>
                                <a:cs typeface="Adobe Text Pro"/>
                              </a:rPr>
                              <m:t>,</m:t>
                            </m:r>
                            <m:r>
                              <a:rPr lang="en-MY" i="1" spc="-40" dirty="0">
                                <a:latin typeface="Cambria Math" panose="02040503050406030204" pitchFamily="18" charset="0"/>
                                <a:cs typeface="Adobe Text Pro"/>
                              </a:rPr>
                              <m:t> </m:t>
                            </m:r>
                            <m:r>
                              <a:rPr lang="en-MY" i="1" spc="-70" dirty="0">
                                <a:latin typeface="Cambria Math" panose="02040503050406030204" pitchFamily="18" charset="0"/>
                              </a:rPr>
                              <m:t>3</m:t>
                            </m:r>
                          </m:e>
                        </m:d>
                      </m:e>
                    </m:d>
                    <m:r>
                      <a:rPr lang="en-MY" i="1" dirty="0">
                        <a:latin typeface="Cambria Math" panose="02040503050406030204" pitchFamily="18" charset="0"/>
                      </a:rPr>
                      <m:t>=</m:t>
                    </m:r>
                    <m:r>
                      <a:rPr lang="en-MY" i="1" spc="-50" dirty="0">
                        <a:latin typeface="Cambria Math" panose="02040503050406030204" pitchFamily="18" charset="0"/>
                      </a:rPr>
                      <m:t>6</m:t>
                    </m:r>
                  </m:oMath>
                </a14:m>
                <a:r>
                  <a:rPr lang="en-MY"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407094" cy="1068881"/>
              </a:xfrm>
              <a:prstGeom prst="rect">
                <a:avLst/>
              </a:prstGeom>
              <a:blipFill>
                <a:blip r:embed="rId3"/>
                <a:stretch>
                  <a:fillRect l="-1252" b="-568"/>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7196ABFD-1102-4321-AEDC-0DE6E1421F0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70541B0D-D759-419B-9850-C1FCB836EEC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2DB341AA-9CB9-4F29-9A76-80A98714C66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4" name="TextBox 3">
            <a:extLst>
              <a:ext uri="{FF2B5EF4-FFF2-40B4-BE49-F238E27FC236}">
                <a16:creationId xmlns:a16="http://schemas.microsoft.com/office/drawing/2014/main" id="{11CB7601-5C79-EDA4-9213-D0F71B001EAF}"/>
              </a:ext>
            </a:extLst>
          </p:cNvPr>
          <p:cNvSpPr txBox="1"/>
          <p:nvPr/>
        </p:nvSpPr>
        <p:spPr>
          <a:xfrm>
            <a:off x="1543050" y="2066109"/>
            <a:ext cx="1295400" cy="169277"/>
          </a:xfrm>
          <a:prstGeom prst="rect">
            <a:avLst/>
          </a:prstGeom>
          <a:noFill/>
        </p:spPr>
        <p:txBody>
          <a:bodyPr wrap="square" rtlCol="0">
            <a:spAutoFit/>
          </a:bodyPr>
          <a:lstStyle/>
          <a:p>
            <a:r>
              <a:rPr lang="en-US" sz="500" dirty="0">
                <a:latin typeface="Tahoma" panose="020B0604030504040204" pitchFamily="34" charset="0"/>
                <a:ea typeface="Tahoma" panose="020B0604030504040204" pitchFamily="34" charset="0"/>
                <a:cs typeface="Tahoma" panose="020B0604030504040204" pitchFamily="34" charset="0"/>
              </a:rPr>
              <a:t>Grand Coalition</a:t>
            </a:r>
            <a:endParaRPr lang="en-MY" sz="500"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Additive</a:t>
            </a:r>
            <a:r>
              <a:rPr spc="19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247650" y="680692"/>
                <a:ext cx="4470298" cy="2284727"/>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additive if:</a:t>
                </a:r>
              </a:p>
              <a:p>
                <a:pPr marL="325755" marR="1975485" indent="-175260">
                  <a:lnSpc>
                    <a:spcPct val="125299"/>
                  </a:lnSpc>
                  <a:buClr>
                    <a:srgbClr val="3333B2"/>
                  </a:buClr>
                  <a:buFont typeface="Arial"/>
                  <a:buChar char="►"/>
                  <a:tabLst>
                    <a:tab pos="650875" algn="l"/>
                  </a:tabLst>
                </a:pPr>
                <a:r>
                  <a:rPr lang="en-MY" sz="1100" kern="1200" spc="10" dirty="0">
                    <a:solidFill>
                      <a:schemeClr val="tx1"/>
                    </a:solidFill>
                    <a:latin typeface="Tahoma"/>
                    <a:ea typeface="+mn-ea"/>
                    <a:cs typeface="Tahoma"/>
                  </a:rPr>
                  <a:t>for all coalitions </a:t>
                </a:r>
                <a14:m>
                  <m:oMath xmlns:m="http://schemas.openxmlformats.org/officeDocument/2006/math">
                    <m:sSub>
                      <m:sSubPr>
                        <m:ctrlPr>
                          <a:rPr lang="en-MY"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MY"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lang="en-MY" sz="1100" spc="-25" dirty="0">
                    <a:latin typeface="Tahoma"/>
                    <a:cs typeface="Tahoma"/>
                  </a:rPr>
                  <a:t>, 	</a:t>
                </a:r>
                <a:r>
                  <a:rPr lang="en-MY" sz="1100" kern="1200" spc="10" dirty="0">
                    <a:solidFill>
                      <a:schemeClr val="tx1"/>
                    </a:solidFill>
                    <a:latin typeface="Tahoma"/>
                    <a:ea typeface="+mn-ea"/>
                    <a:cs typeface="Tahoma"/>
                  </a:rPr>
                  <a:t>if</a:t>
                </a:r>
                <a:r>
                  <a:rPr lang="en-MY" sz="1100" spc="-50" dirty="0">
                    <a:latin typeface="Tahoma"/>
                    <a:cs typeface="Tahoma"/>
                  </a:rPr>
                  <a:t> </a:t>
                </a:r>
                <a14:m>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dirty="0" smtClean="0">
                        <a:latin typeface="Cambria Math" panose="02040503050406030204" pitchFamily="18" charset="0"/>
                        <a:cs typeface="Tahoma"/>
                      </a:rPr>
                      <m:t>=</m:t>
                    </m:r>
                    <m:r>
                      <a:rPr lang="en-MY" sz="1100" i="1" spc="-75" dirty="0">
                        <a:latin typeface="Cambria Math" panose="02040503050406030204" pitchFamily="18" charset="0"/>
                        <a:cs typeface="Tahoma"/>
                      </a:rPr>
                      <m:t> </m:t>
                    </m:r>
                    <m:r>
                      <a:rPr lang="en-MY" sz="1100" i="1" spc="-25" dirty="0">
                        <a:latin typeface="Cambria Math" panose="02040503050406030204" pitchFamily="18" charset="0"/>
                        <a:cs typeface="Meiryo UI"/>
                      </a:rPr>
                      <m:t>∅</m:t>
                    </m:r>
                    <m:r>
                      <a:rPr lang="en-MY" sz="1100" i="1" spc="-25" dirty="0">
                        <a:latin typeface="Cambria Math" panose="02040503050406030204" pitchFamily="18" charset="0"/>
                        <a:cs typeface="Tahoma"/>
                      </a:rPr>
                      <m:t>,</m:t>
                    </m:r>
                  </m:oMath>
                </a14:m>
                <a:endParaRPr lang="en-MY" sz="1100" dirty="0">
                  <a:latin typeface="Tahoma"/>
                  <a:cs typeface="Tahoma"/>
                </a:endParaRPr>
              </a:p>
              <a:p>
                <a:pPr marL="650875">
                  <a:lnSpc>
                    <a:spcPct val="100000"/>
                  </a:lnSpc>
                  <a:spcBef>
                    <a:spcPts val="334"/>
                  </a:spcBef>
                </a:pPr>
                <a:r>
                  <a:rPr lang="en-MY" sz="1100" kern="1200" spc="10" dirty="0">
                    <a:solidFill>
                      <a:schemeClr val="tx1"/>
                    </a:solidFill>
                    <a:latin typeface="Tahoma"/>
                    <a:ea typeface="+mn-ea"/>
                    <a:cs typeface="Tahoma"/>
                  </a:rPr>
                  <a:t>then</a:t>
                </a:r>
                <a:r>
                  <a:rPr lang="en-MY" sz="1100" spc="-5" dirty="0">
                    <a:latin typeface="Tahoma"/>
                    <a:cs typeface="Tahoma"/>
                  </a:rPr>
                  <a:t>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smtClean="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45" dirty="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5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a14:m>
                <a:endParaRPr lang="en-MY" sz="1100" dirty="0">
                  <a:latin typeface="Tahoma"/>
                  <a:cs typeface="Tahoma"/>
                </a:endParaRPr>
              </a:p>
              <a:p>
                <a:pPr>
                  <a:lnSpc>
                    <a:spcPct val="100000"/>
                  </a:lnSpc>
                  <a:spcBef>
                    <a:spcPts val="325"/>
                  </a:spcBef>
                </a:pPr>
                <a:endParaRPr lang="en-MY" sz="1100" dirty="0">
                  <a:latin typeface="Tahoma"/>
                  <a:cs typeface="Tahoma"/>
                </a:endParaRPr>
              </a:p>
              <a:p>
                <a:pPr marL="53975" marR="5080" indent="-175260" algn="l" rtl="0">
                  <a:lnSpc>
                    <a:spcPts val="1400"/>
                  </a:lnSpc>
                  <a:spcBef>
                    <a:spcPts val="330"/>
                  </a:spcBef>
                  <a:buClr>
                    <a:srgbClr val="0000FF"/>
                  </a:buClr>
                  <a:buFont typeface="Arial"/>
                  <a:buChar char="►"/>
                  <a:tabLst>
                    <a:tab pos="327660" algn="l"/>
                  </a:tabLst>
                </a:pPr>
                <a:r>
                  <a:rPr lang="en-MY" sz="1100" kern="1200" spc="10" dirty="0">
                    <a:solidFill>
                      <a:schemeClr val="tx1"/>
                    </a:solidFill>
                    <a:latin typeface="Tahoma"/>
                    <a:ea typeface="+mn-ea"/>
                    <a:cs typeface="Tahoma"/>
                  </a:rPr>
                  <a:t>Informally, a coalition is always worth exactly as much as the 	sum of the worth of any of its disjoint subcoalitions</a:t>
                </a:r>
              </a:p>
              <a:p>
                <a:pPr marL="53975" marR="5080" indent="-175260" algn="l" rtl="0">
                  <a:lnSpc>
                    <a:spcPts val="1400"/>
                  </a:lnSpc>
                  <a:spcBef>
                    <a:spcPts val="330"/>
                  </a:spcBef>
                  <a:buClr>
                    <a:srgbClr val="0000FF"/>
                  </a:buClr>
                  <a:buFont typeface="Arial"/>
                  <a:buChar char="►"/>
                  <a:tabLst>
                    <a:tab pos="327660" algn="l"/>
                  </a:tabLst>
                </a:pPr>
                <a:r>
                  <a:rPr lang="en-MY" sz="1100" kern="1200" spc="10" dirty="0">
                    <a:solidFill>
                      <a:schemeClr val="tx1"/>
                    </a:solidFill>
                    <a:latin typeface="Tahoma"/>
                    <a:ea typeface="+mn-ea"/>
                    <a:cs typeface="Tahoma"/>
                  </a:rPr>
                  <a:t>Two disjoint coalitions can always merge together; hence, one 	can assume that players always form the grand coalition</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The payoff of the grand coalition is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smtClean="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dirty="0" smtClean="0">
                        <a:latin typeface="Cambria Math" panose="02040503050406030204" pitchFamily="18" charset="0"/>
                        <a:cs typeface="Arial"/>
                      </a:rPr>
                      <m:t>𝑁</m:t>
                    </m:r>
                    <m:r>
                      <a:rPr lang="en-MY" sz="1100" i="1" dirty="0" smtClean="0">
                        <a:latin typeface="Cambria Math" panose="02040503050406030204" pitchFamily="18" charset="0"/>
                        <a:cs typeface="Tahoma"/>
                      </a:rPr>
                      <m:t>)=</m:t>
                    </m:r>
                    <m:nary>
                      <m:naryPr>
                        <m:chr m:val="∑"/>
                        <m:limLoc m:val="subSup"/>
                        <m:supHide m:val="on"/>
                        <m:ctrlPr>
                          <a:rPr lang="ar-SA" sz="1100" i="1" spc="-50" dirty="0" smtClean="0">
                            <a:latin typeface="Cambria Math" panose="02040503050406030204" pitchFamily="18" charset="0"/>
                            <a:cs typeface="Tahoma"/>
                          </a:rPr>
                        </m:ctrlPr>
                      </m:naryPr>
                      <m:sub>
                        <m:r>
                          <m:rPr>
                            <m:brk m:alnAt="9"/>
                          </m:rPr>
                          <a:rPr lang="ar-SA" sz="1100" b="0" i="1" spc="-50" dirty="0" smtClean="0">
                            <a:latin typeface="Cambria Math" panose="02040503050406030204" pitchFamily="18" charset="0"/>
                            <a:cs typeface="Tahoma"/>
                          </a:rPr>
                          <m:t>𝑖</m:t>
                        </m:r>
                        <m:r>
                          <a:rPr lang="en-MY" sz="1100" b="0" i="1" spc="-50" dirty="0" smtClean="0">
                            <a:latin typeface="Cambria Math" panose="02040503050406030204" pitchFamily="18" charset="0"/>
                            <a:cs typeface="Tahoma"/>
                          </a:rPr>
                          <m:t>∈</m:t>
                        </m:r>
                        <m:r>
                          <a:rPr lang="en-MY" sz="1100" b="0" i="1" spc="-50" dirty="0" smtClean="0">
                            <a:latin typeface="Cambria Math" panose="02040503050406030204" pitchFamily="18" charset="0"/>
                            <a:cs typeface="Tahoma"/>
                          </a:rPr>
                          <m:t>𝑁</m:t>
                        </m:r>
                      </m:sub>
                      <m:sup/>
                      <m:e>
                        <m:r>
                          <a:rPr lang="en-MY" sz="1100" b="0" i="1" spc="-50" dirty="0" smtClean="0">
                            <a:latin typeface="Cambria Math" panose="02040503050406030204" pitchFamily="18" charset="0"/>
                            <a:cs typeface="Tahoma"/>
                          </a:rPr>
                          <m:t>𝑣</m:t>
                        </m:r>
                        <m:d>
                          <m:dPr>
                            <m:ctrlPr>
                              <a:rPr lang="en-MY" sz="1100" b="0" i="1" spc="-50" dirty="0" smtClean="0">
                                <a:latin typeface="Cambria Math" panose="02040503050406030204" pitchFamily="18" charset="0"/>
                                <a:cs typeface="Tahoma"/>
                              </a:rPr>
                            </m:ctrlPr>
                          </m:dPr>
                          <m:e>
                            <m:d>
                              <m:dPr>
                                <m:begChr m:val="{"/>
                                <m:endChr m:val="}"/>
                                <m:ctrlPr>
                                  <a:rPr lang="en-MY" sz="1100" b="0" i="1" spc="-50" dirty="0" smtClean="0">
                                    <a:latin typeface="Cambria Math" panose="02040503050406030204" pitchFamily="18" charset="0"/>
                                    <a:cs typeface="Tahoma"/>
                                  </a:rPr>
                                </m:ctrlPr>
                              </m:dPr>
                              <m:e>
                                <m:r>
                                  <a:rPr lang="en-MY" sz="1100" b="0" i="1" spc="-50" dirty="0" smtClean="0">
                                    <a:latin typeface="Cambria Math" panose="02040503050406030204" pitchFamily="18" charset="0"/>
                                    <a:cs typeface="Tahoma"/>
                                  </a:rPr>
                                  <m:t>𝑖</m:t>
                                </m:r>
                              </m:e>
                            </m:d>
                          </m:e>
                        </m:d>
                      </m:e>
                    </m:nary>
                  </m:oMath>
                </a14:m>
                <a:endParaRPr lang="el-GR" sz="1100" dirty="0">
                  <a:latin typeface="Tahoma"/>
                  <a:cs typeface="Tahoma"/>
                </a:endParaRP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Additive</a:t>
                </a:r>
                <a:r>
                  <a:rPr lang="en-MY" sz="1100" spc="-25" dirty="0">
                    <a:latin typeface="Tahoma"/>
                    <a:cs typeface="Tahoma"/>
                  </a:rPr>
                  <a:t> </a:t>
                </a:r>
                <a:r>
                  <a:rPr lang="en-MY" sz="1100" i="1" dirty="0">
                    <a:latin typeface="Meiryo UI"/>
                    <a:cs typeface="Meiryo UI"/>
                  </a:rPr>
                  <a:t>→</a:t>
                </a:r>
                <a:r>
                  <a:rPr lang="en-MY" sz="1100" i="1" spc="-60"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47650" y="680692"/>
                <a:ext cx="4470298" cy="2284727"/>
              </a:xfrm>
              <a:prstGeom prst="rect">
                <a:avLst/>
              </a:prstGeom>
              <a:blipFill>
                <a:blip r:embed="rId3"/>
                <a:stretch>
                  <a:fillRect l="-1910" b="-962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8A24F4F6-9578-42C7-B7F9-1C355AD8CA9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1548463-576C-4E1D-8642-088D56F7DBC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1CD74108-4EA9-464D-91B3-82647FF8F1F8}"/>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5" dirty="0"/>
              <a:t> </a:t>
            </a:r>
            <a:r>
              <a:rPr dirty="0"/>
              <a:t>Additive</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178493"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r>
                      <a:rPr lang="ar-SA" sz="1100" i="1" spc="-125" dirty="0">
                        <a:latin typeface="Cambria Math" panose="02040503050406030204" pitchFamily="18" charset="0"/>
                      </a:rPr>
                      <m:t>(</m:t>
                    </m:r>
                    <m:r>
                      <a:rPr lang="ar-SA" sz="1100" i="1" spc="-125" dirty="0">
                        <a:latin typeface="Cambria Math" panose="02040503050406030204" pitchFamily="18" charset="0"/>
                        <a:cs typeface="Meiryo UI"/>
                      </a:rPr>
                      <m:t>∅</m:t>
                    </m:r>
                    <m:r>
                      <a:rPr lang="ar-SA" sz="1100" i="1" spc="-125" dirty="0">
                        <a:latin typeface="Cambria Math" panose="02040503050406030204" pitchFamily="18" charset="0"/>
                      </a:rPr>
                      <m:t>)</m:t>
                    </m:r>
                    <m:r>
                      <a:rPr lang="ar-SA" sz="1100" i="1" dirty="0">
                        <a:latin typeface="Cambria Math" panose="02040503050406030204" pitchFamily="18" charset="0"/>
                      </a:rPr>
                      <m:t>=</m:t>
                    </m:r>
                    <m:r>
                      <a:rPr lang="ar-SA" sz="1100" i="1" spc="-50" dirty="0">
                        <a:latin typeface="Cambria Math" panose="02040503050406030204" pitchFamily="18" charset="0"/>
                      </a:rPr>
                      <m:t>0</m:t>
                    </m:r>
                  </m:oMath>
                </a14:m>
                <a:r>
                  <a:rPr lang="en-MY" sz="1100" dirty="0">
                    <a:latin typeface="Meiryo UI"/>
                    <a:cs typeface="Meiryo UI"/>
                  </a:rPr>
                  <a:t> </a:t>
                </a:r>
                <a:endParaRPr lang="ar-SA" sz="1100" dirty="0">
                  <a:latin typeface="Meiryo UI"/>
                  <a:cs typeface="Meiryo UI"/>
                </a:endParaRPr>
              </a:p>
              <a:p>
                <a:pPr marL="214629">
                  <a:lnSpc>
                    <a:spcPct val="100000"/>
                  </a:lnSpc>
                  <a:spcBef>
                    <a:spcPts val="330"/>
                  </a:spcBef>
                  <a:spcAft>
                    <a:spcPts val="400"/>
                  </a:spcAft>
                </a:pPr>
                <a14:m>
                  <m:oMath xmlns:m="http://schemas.openxmlformats.org/officeDocument/2006/math">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1</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2</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𝑣</m:t>
                    </m:r>
                    <m:r>
                      <a:rPr lang="ar-SA" spc="-55" dirty="0">
                        <a:latin typeface="Cambria Math" panose="02040503050406030204" pitchFamily="18" charset="0"/>
                        <a:cs typeface="Arial"/>
                      </a:rPr>
                      <m:t> </m:t>
                    </m:r>
                    <m:d>
                      <m:dPr>
                        <m:ctrlPr>
                          <a:rPr lang="ar-SA" i="1" spc="-55" dirty="0">
                            <a:latin typeface="Cambria Math" panose="02040503050406030204" pitchFamily="18" charset="0"/>
                            <a:cs typeface="Arial"/>
                          </a:rPr>
                        </m:ctrlPr>
                      </m:dPr>
                      <m:e>
                        <m:d>
                          <m:dPr>
                            <m:begChr m:val="{"/>
                            <m:endChr m:val="}"/>
                            <m:ctrlPr>
                              <a:rPr lang="ar-SA" i="1" spc="-55" dirty="0">
                                <a:latin typeface="Cambria Math" panose="02040503050406030204" pitchFamily="18" charset="0"/>
                                <a:cs typeface="Arial"/>
                              </a:rPr>
                            </m:ctrlPr>
                          </m:dPr>
                          <m:e>
                            <m:r>
                              <a:rPr lang="ar-SA" spc="-55" dirty="0">
                                <a:latin typeface="Cambria Math" panose="02040503050406030204" pitchFamily="18" charset="0"/>
                                <a:cs typeface="Arial"/>
                              </a:rPr>
                              <m:t>3</m:t>
                            </m:r>
                          </m:e>
                        </m:d>
                      </m:e>
                    </m:d>
                    <m:r>
                      <a:rPr lang="ar-SA" spc="-55" dirty="0">
                        <a:latin typeface="Cambria Math" panose="02040503050406030204" pitchFamily="18" charset="0"/>
                        <a:cs typeface="Arial"/>
                      </a:rPr>
                      <m:t>=</m:t>
                    </m:r>
                    <m:r>
                      <a:rPr lang="ar-SA" spc="-55" dirty="0">
                        <a:latin typeface="Cambria Math" panose="02040503050406030204" pitchFamily="18" charset="0"/>
                        <a:cs typeface="Arial"/>
                      </a:rPr>
                      <m:t>1</m:t>
                    </m:r>
                  </m:oMath>
                </a14:m>
                <a:r>
                  <a:rPr lang="en-MY" spc="-55" dirty="0">
                    <a:latin typeface="Cambria Math" panose="02040503050406030204" pitchFamily="18" charset="0"/>
                    <a:cs typeface="Arial"/>
                  </a:rPr>
                  <a:t> </a:t>
                </a:r>
                <a:endParaRPr lang="ar-SA" spc="-55" dirty="0">
                  <a:latin typeface="Cambria Math" panose="02040503050406030204" pitchFamily="18" charset="0"/>
                  <a:cs typeface="Arial"/>
                </a:endParaRPr>
              </a:p>
              <a:p>
                <a:pPr marL="214629">
                  <a:spcBef>
                    <a:spcPts val="335"/>
                  </a:spcBef>
                  <a:tabLst>
                    <a:tab pos="1271270" algn="l"/>
                  </a:tabLst>
                </a:pPr>
                <a14:m>
                  <m:oMathPara xmlns:m="http://schemas.openxmlformats.org/officeDocument/2006/math">
                    <m:oMathParaPr>
                      <m:jc m:val="centerGroup"/>
                    </m:oMathParaPr>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70" dirty="0">
                                  <a:latin typeface="Cambria Math" panose="02040503050406030204" pitchFamily="18" charset="0"/>
                                </a:rPr>
                                <m:t>2</m:t>
                              </m:r>
                            </m:e>
                          </m:d>
                        </m:e>
                      </m:d>
                      <m:r>
                        <a:rPr lang="ar-SA" i="1" dirty="0">
                          <a:latin typeface="Cambria Math" panose="02040503050406030204" pitchFamily="18" charset="0"/>
                        </a:rPr>
                        <m:t>=</m:t>
                      </m:r>
                      <m:r>
                        <a:rPr lang="ar-SA" i="1" spc="-60" dirty="0">
                          <a:latin typeface="Cambria Math" panose="02040503050406030204" pitchFamily="18" charset="0"/>
                        </a:rPr>
                        <m:t>2</m:t>
                      </m:r>
                      <m:r>
                        <a:rPr lang="en-MY" b="0" i="1" spc="-60" dirty="0" smtClean="0">
                          <a:latin typeface="Cambria Math" panose="02040503050406030204" pitchFamily="18" charset="0"/>
                        </a:rPr>
                        <m:t>               </m:t>
                      </m:r>
                      <m:r>
                        <a:rPr lang="ar-SA" i="1" dirty="0">
                          <a:latin typeface="Cambria Math" panose="02040503050406030204" pitchFamily="18" charset="0"/>
                        </a:rPr>
                        <m:t>	</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2</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d>
                        <m:dPr>
                          <m:ctrlPr>
                            <a:rPr lang="en-MY" i="1" spc="-50" dirty="0">
                              <a:latin typeface="Cambria Math" panose="02040503050406030204" pitchFamily="18" charset="0"/>
                            </a:rPr>
                          </m:ctrlPr>
                        </m:dPr>
                        <m:e>
                          <m:d>
                            <m:dPr>
                              <m:begChr m:val="{"/>
                              <m:endChr m:val="}"/>
                              <m:ctrlPr>
                                <a:rPr lang="en-MY" i="1" spc="-50" dirty="0">
                                  <a:latin typeface="Cambria Math" panose="02040503050406030204" pitchFamily="18" charset="0"/>
                                </a:rPr>
                              </m:ctrlPr>
                            </m:dPr>
                            <m:e>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e>
                          </m:d>
                        </m:e>
                      </m:d>
                      <m:r>
                        <a:rPr lang="en-MY" dirty="0">
                          <a:latin typeface="Cambria Math" panose="02040503050406030204" pitchFamily="18" charset="0"/>
                        </a:rPr>
                        <m:t>=</m:t>
                      </m:r>
                      <m:r>
                        <a:rPr lang="en-MY" spc="-10" dirty="0">
                          <a:latin typeface="Cambria Math" panose="02040503050406030204" pitchFamily="18" charset="0"/>
                        </a:rPr>
                        <m:t> </m:t>
                      </m:r>
                      <m:r>
                        <a:rPr lang="en-MY" spc="-50" dirty="0">
                          <a:latin typeface="Cambria Math" panose="02040503050406030204" pitchFamily="18" charset="0"/>
                        </a:rPr>
                        <m:t>2</m:t>
                      </m:r>
                    </m:oMath>
                  </m:oMathPara>
                </a14:m>
                <a:endParaRPr lang="ar-SA" i="0" spc="-50" dirty="0"/>
              </a:p>
              <a:p>
                <a:pPr marL="214629">
                  <a:lnSpc>
                    <a:spcPct val="100000"/>
                  </a:lnSpc>
                  <a:spcBef>
                    <a:spcPts val="335"/>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30" dirty="0">
                                <a:latin typeface="Cambria Math" panose="02040503050406030204" pitchFamily="18" charset="0"/>
                              </a:rPr>
                              <m:t>2</m:t>
                            </m:r>
                            <m:r>
                              <a:rPr lang="ar-SA" i="1" spc="-3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smtClean="0">
                        <a:latin typeface="Cambria Math" panose="02040503050406030204" pitchFamily="18" charset="0"/>
                      </a:rPr>
                      <m:t>=</m:t>
                    </m:r>
                    <m:r>
                      <a:rPr lang="ar-SA" i="1" spc="-50" dirty="0" smtClean="0">
                        <a:latin typeface="Cambria Math" panose="02040503050406030204" pitchFamily="18" charset="0"/>
                      </a:rPr>
                      <m:t>3</m:t>
                    </m:r>
                  </m:oMath>
                </a14:m>
                <a:r>
                  <a:rPr lang="ar-SA"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178493" cy="1068881"/>
              </a:xfrm>
              <a:prstGeom prst="rect">
                <a:avLst/>
              </a:prstGeom>
              <a:blipFill>
                <a:blip r:embed="rId3"/>
                <a:stretch>
                  <a:fillRect l="-1341" b="-7386"/>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C2BCBC1F-8644-4F94-A2E8-38F5D42CBD5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9880962D-F84A-45BB-B77A-D73650C299F1}"/>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EFB95D5E-D8EF-45DF-B049-7AAA38CD50F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Constant-sum</a:t>
            </a:r>
            <a:r>
              <a:rPr spc="22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1154402"/>
                <a:ext cx="3519856" cy="1002196"/>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60"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constant-sum if:</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650875">
                  <a:lnSpc>
                    <a:spcPct val="100000"/>
                  </a:lnSpc>
                  <a:spcBef>
                    <a:spcPts val="3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0"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spc="-95" dirty="0">
                          <a:latin typeface="Cambria Math" panose="02040503050406030204" pitchFamily="18" charset="0"/>
                          <a:cs typeface="Tahoma"/>
                        </a:rPr>
                        <m:t> </m:t>
                      </m:r>
                      <m:r>
                        <a:rPr lang="en-MY" sz="1100" i="1" dirty="0" smtClean="0">
                          <a:latin typeface="Cambria Math" panose="02040503050406030204" pitchFamily="18" charset="0"/>
                          <a:cs typeface="Tahoma"/>
                        </a:rPr>
                        <m:t>+</m:t>
                      </m:r>
                      <m:r>
                        <a:rPr lang="en-MY" sz="1100" i="1" spc="-9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spc="35" dirty="0" smtClean="0">
                          <a:latin typeface="Cambria Math" panose="02040503050406030204" pitchFamily="18" charset="0"/>
                          <a:cs typeface="Arial"/>
                        </a:rPr>
                        <m:t> </m:t>
                      </m:r>
                      <m:r>
                        <a:rPr lang="en-MY" sz="1100" b="0" i="1" spc="35" dirty="0" smtClean="0">
                          <a:latin typeface="Cambria Math" panose="02040503050406030204" pitchFamily="18" charset="0"/>
                          <a:cs typeface="Arial"/>
                        </a:rPr>
                        <m:t>\</m:t>
                      </m:r>
                      <m:r>
                        <m:rPr>
                          <m:lit/>
                        </m:rPr>
                        <a:rPr lang="en-MY" sz="1100" i="1" spc="-125" dirty="0" smtClean="0">
                          <a:latin typeface="Cambria Math" panose="02040503050406030204" pitchFamily="18" charset="0"/>
                          <a:cs typeface="Meiryo UI"/>
                        </a:rPr>
                        <m:t> </m:t>
                      </m:r>
                      <m:r>
                        <a:rPr lang="en-MY" sz="1100" i="1" spc="-110" dirty="0">
                          <a:latin typeface="Cambria Math" panose="02040503050406030204" pitchFamily="18" charset="0"/>
                          <a:cs typeface="Arial"/>
                        </a:rPr>
                        <m:t>𝐶</m:t>
                      </m:r>
                      <m:r>
                        <a:rPr lang="en-MY" sz="1100" i="1" spc="-170" dirty="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m:oMathPara>
                </a14:m>
                <a:endParaRPr lang="en-MY" sz="1100" dirty="0">
                  <a:latin typeface="Tahoma"/>
                  <a:cs typeface="Tahoma"/>
                </a:endParaRPr>
              </a:p>
              <a:p>
                <a:pPr>
                  <a:lnSpc>
                    <a:spcPct val="100000"/>
                  </a:lnSpc>
                  <a:spcBef>
                    <a:spcPts val="360"/>
                  </a:spcBef>
                </a:pPr>
                <a:endParaRPr lang="en-MY" sz="1100" dirty="0">
                  <a:latin typeface="Tahoma"/>
                  <a:cs typeface="Tahoma"/>
                </a:endParaRPr>
              </a:p>
              <a:p>
                <a:pPr marL="325755" indent="-175260">
                  <a:lnSpc>
                    <a:spcPct val="100000"/>
                  </a:lnSpc>
                  <a:spcBef>
                    <a:spcPts val="5"/>
                  </a:spcBef>
                  <a:buClr>
                    <a:srgbClr val="3333B2"/>
                  </a:buClr>
                  <a:buFont typeface="Arial"/>
                  <a:buChar char="►"/>
                  <a:tabLst>
                    <a:tab pos="325755" algn="l"/>
                  </a:tabLst>
                </a:pPr>
                <a:r>
                  <a:rPr lang="en-MY" sz="1100" kern="1200" spc="10" dirty="0">
                    <a:solidFill>
                      <a:schemeClr val="tx1"/>
                    </a:solidFill>
                    <a:latin typeface="Tahoma"/>
                    <a:ea typeface="+mn-ea"/>
                    <a:cs typeface="Tahoma"/>
                  </a:rPr>
                  <a:t>Constant-sum</a:t>
                </a:r>
                <a:r>
                  <a:rPr lang="en-MY" sz="1100" spc="-15" dirty="0">
                    <a:latin typeface="Tahoma"/>
                    <a:cs typeface="Tahoma"/>
                  </a:rPr>
                  <a:t> </a:t>
                </a:r>
                <a:r>
                  <a:rPr lang="en-MY" sz="1100" i="1" dirty="0">
                    <a:latin typeface="Meiryo UI"/>
                    <a:cs typeface="Meiryo UI"/>
                  </a:rPr>
                  <a:t>←</a:t>
                </a:r>
                <a:r>
                  <a:rPr lang="en-MY" sz="1100" kern="1200" spc="10" dirty="0">
                    <a:solidFill>
                      <a:schemeClr val="tx1"/>
                    </a:solidFill>
                    <a:latin typeface="Tahoma"/>
                    <a:ea typeface="+mn-ea"/>
                    <a:cs typeface="Tahoma"/>
                  </a:rPr>
                  <a:t> Additive </a:t>
                </a:r>
                <a:r>
                  <a:rPr lang="en-MY" sz="1100" i="1" dirty="0">
                    <a:latin typeface="Meiryo UI"/>
                    <a:cs typeface="Meiryo UI"/>
                  </a:rPr>
                  <a:t>→</a:t>
                </a:r>
                <a:r>
                  <a:rPr lang="en-MY" sz="1100" i="1" spc="-40"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1154402"/>
                <a:ext cx="3519856" cy="1002196"/>
              </a:xfrm>
              <a:prstGeom prst="rect">
                <a:avLst/>
              </a:prstGeom>
              <a:blipFill>
                <a:blip r:embed="rId3"/>
                <a:stretch>
                  <a:fillRect l="-1040" b="-7879"/>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1B44AE1D-0F02-410E-84AD-81897938586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388AC4A0-A4B2-4F55-9548-4E51E016AAA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C44C022A-5CB9-4428-A893-E8B6D520C2B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75" dirty="0"/>
              <a:t> </a:t>
            </a:r>
            <a:r>
              <a:rPr dirty="0"/>
              <a:t>Constant-sum</a:t>
            </a:r>
            <a:r>
              <a:rPr spc="204"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421957" y="1166505"/>
                <a:ext cx="2453005" cy="1068881"/>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cs typeface="Tahoma"/>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r>
                      <a:rPr lang="ar-SA" sz="1100" i="1" spc="-125" dirty="0">
                        <a:latin typeface="Cambria Math" panose="02040503050406030204" pitchFamily="18" charset="0"/>
                        <a:cs typeface="Tahoma"/>
                      </a:rPr>
                      <m:t>(</m:t>
                    </m:r>
                    <m:r>
                      <a:rPr lang="ar-SA" sz="1100" i="1" spc="-125" dirty="0">
                        <a:latin typeface="Cambria Math" panose="02040503050406030204" pitchFamily="18" charset="0"/>
                        <a:cs typeface="Meiryo UI"/>
                      </a:rPr>
                      <m:t>∅</m:t>
                    </m:r>
                    <m:r>
                      <a:rPr lang="ar-SA" sz="1100" i="1" spc="-125"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oMath>
                </a14:m>
                <a:endParaRPr lang="ar-SA" sz="1100" dirty="0">
                  <a:latin typeface="Tahoma"/>
                  <a:cs typeface="Tahoma"/>
                </a:endParaRPr>
              </a:p>
              <a:p>
                <a:pPr marL="214629">
                  <a:spcBef>
                    <a:spcPts val="330"/>
                  </a:spcBef>
                  <a:spcAft>
                    <a:spcPts val="400"/>
                  </a:spcAft>
                </a:pPr>
                <a14:m>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1</m:t>
                    </m:r>
                    <m:r>
                      <a:rPr lang="en-MY" sz="1100" b="0" i="1" spc="-55" dirty="0" smtClean="0">
                        <a:latin typeface="Cambria Math" panose="02040503050406030204" pitchFamily="18" charset="0"/>
                        <a:cs typeface="Arial"/>
                      </a:rPr>
                      <m:t> </m:t>
                    </m:r>
                  </m:oMath>
                </a14:m>
                <a:r>
                  <a:rPr lang="ar-SA" sz="1100" i="1" spc="-55" dirty="0">
                    <a:latin typeface="Cambria Math" panose="02040503050406030204" pitchFamily="18" charset="0"/>
                    <a:cs typeface="Arial"/>
                  </a:rPr>
                  <a:t> </a:t>
                </a:r>
              </a:p>
              <a:p>
                <a:pPr marL="214629">
                  <a:spcBef>
                    <a:spcPts val="330"/>
                  </a:spcBef>
                </a:pPr>
                <a14:m>
                  <m:oMathPara xmlns:m="http://schemas.openxmlformats.org/officeDocument/2006/math">
                    <m:oMathParaPr>
                      <m:jc m:val="centerGroup"/>
                    </m:oMathParaPr>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1</m:t>
                      </m:r>
                      <m:r>
                        <a:rPr lang="en-MY" sz="1100" b="0" i="1" spc="-55" dirty="0" smtClean="0">
                          <a:latin typeface="Cambria Math" panose="02040503050406030204" pitchFamily="18" charset="0"/>
                          <a:cs typeface="Arial"/>
                        </a:rPr>
                        <m:t> </m:t>
                      </m:r>
                    </m:oMath>
                  </m:oMathPara>
                </a14:m>
                <a:endParaRPr lang="ar-SA" sz="1100" i="1" spc="-55" dirty="0">
                  <a:latin typeface="Cambria Math" panose="02040503050406030204" pitchFamily="18" charset="0"/>
                  <a:cs typeface="Arial"/>
                </a:endParaRPr>
              </a:p>
              <a:p>
                <a:pPr marL="214629">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2</m:t>
                    </m:r>
                  </m:oMath>
                </a14:m>
                <a:r>
                  <a:rPr lang="en-MY" sz="1100" dirty="0">
                    <a:latin typeface="Tahoma"/>
                    <a:cs typeface="Tahoma"/>
                  </a:rPr>
                  <a:t> </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21957" y="1166505"/>
                <a:ext cx="2453005" cy="1068881"/>
              </a:xfrm>
              <a:prstGeom prst="rect">
                <a:avLst/>
              </a:prstGeom>
              <a:blipFill>
                <a:blip r:embed="rId3"/>
                <a:stretch>
                  <a:fillRect l="-1737" b="-56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DE0DF6E-62EA-4472-A05A-79E2C34E5A9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832796A5-9637-4804-8E2A-FF8E3468E9DA}"/>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AFD79219-B7A2-4169-AC0C-3061BA39FD3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Convex</a:t>
            </a:r>
            <a:r>
              <a:rPr spc="190"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309194" y="917547"/>
                <a:ext cx="4358056" cy="1612748"/>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A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m:t>
                    </m:r>
                    <m:r>
                      <a:rPr lang="en-MY" sz="1100" i="1" spc="-60" dirty="0">
                        <a:latin typeface="Cambria Math" panose="02040503050406030204" pitchFamily="18" charset="0"/>
                        <a:cs typeface="Adobe Text Pro"/>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oMath>
                </a14:m>
                <a:r>
                  <a:rPr lang="en-MY" sz="1100" kern="1200" spc="10" dirty="0">
                    <a:solidFill>
                      <a:schemeClr val="tx1"/>
                    </a:solidFill>
                    <a:latin typeface="Tahoma"/>
                    <a:ea typeface="+mn-ea"/>
                    <a:cs typeface="Tahoma"/>
                  </a:rPr>
                  <a:t>is convex if:</a:t>
                </a:r>
              </a:p>
              <a:p>
                <a:pPr marL="325755" indent="-175260">
                  <a:lnSpc>
                    <a:spcPct val="100000"/>
                  </a:lnSpc>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for all coalitions</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𝐶</m:t>
                        </m:r>
                      </m:e>
                      <m:sub>
                        <m:r>
                          <a:rPr lang="en-MY" sz="1100" kern="1200" spc="10" dirty="0">
                            <a:solidFill>
                              <a:schemeClr val="tx1"/>
                            </a:solidFill>
                            <a:latin typeface="Cambria Math" panose="02040503050406030204" pitchFamily="18" charset="0"/>
                            <a:ea typeface="+mn-ea"/>
                            <a:cs typeface="Tahoma"/>
                          </a:rPr>
                          <m:t>1</m:t>
                        </m:r>
                      </m:sub>
                    </m:sSub>
                    <m:r>
                      <a:rPr lang="en-MY" sz="1100" kern="1200" spc="10" dirty="0">
                        <a:solidFill>
                          <a:schemeClr val="tx1"/>
                        </a:solidFill>
                        <a:latin typeface="Cambria Math" panose="02040503050406030204" pitchFamily="18" charset="0"/>
                        <a:ea typeface="+mn-ea"/>
                        <a:cs typeface="Tahoma"/>
                      </a:rPr>
                      <m:t>, </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𝐶</m:t>
                        </m:r>
                      </m:e>
                      <m:sub>
                        <m:r>
                          <a:rPr lang="en-MY" sz="1100" kern="1200" spc="10" dirty="0">
                            <a:solidFill>
                              <a:schemeClr val="tx1"/>
                            </a:solidFill>
                            <a:latin typeface="Cambria Math" panose="02040503050406030204" pitchFamily="18" charset="0"/>
                            <a:ea typeface="+mn-ea"/>
                            <a:cs typeface="Tahoma"/>
                          </a:rPr>
                          <m:t>2</m:t>
                        </m:r>
                      </m:sub>
                    </m:sSub>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oMath>
                </a14:m>
                <a:r>
                  <a:rPr lang="en-MY" sz="1100" spc="-25" dirty="0">
                    <a:latin typeface="Tahoma"/>
                    <a:cs typeface="Tahoma"/>
                  </a:rPr>
                  <a:t>,</a:t>
                </a:r>
                <a:endParaRPr lang="en-MY" sz="1100" dirty="0">
                  <a:latin typeface="Tahoma"/>
                  <a:cs typeface="Tahoma"/>
                </a:endParaRPr>
              </a:p>
              <a:p>
                <a:pPr marL="650875">
                  <a:lnSpc>
                    <a:spcPct val="100000"/>
                  </a:lnSpc>
                  <a:spcBef>
                    <a:spcPts val="3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25" dirty="0" smtClean="0">
                              <a:latin typeface="Cambria Math" panose="02040503050406030204" pitchFamily="18" charset="0"/>
                              <a:cs typeface="Meiryo UI"/>
                            </a:rPr>
                          </m:ctrlPr>
                        </m:sSubPr>
                        <m:e>
                          <m:r>
                            <a:rPr lang="en-MY" sz="1100" i="1" spc="-25" dirty="0">
                              <a:latin typeface="Cambria Math" panose="02040503050406030204" pitchFamily="18" charset="0"/>
                              <a:cs typeface="Arial"/>
                            </a:rPr>
                            <m:t>𝐶</m:t>
                          </m:r>
                        </m:e>
                        <m:sub>
                          <m:r>
                            <a:rPr lang="en-MY" sz="1100" b="0" i="1" spc="-25" dirty="0" smtClean="0">
                              <a:latin typeface="Cambria Math" panose="02040503050406030204" pitchFamily="18" charset="0"/>
                              <a:cs typeface="Arial"/>
                            </a:rPr>
                            <m:t>2</m:t>
                          </m:r>
                        </m:sub>
                      </m:sSub>
                      <m:r>
                        <a:rPr lang="en-MY" sz="1100" i="1" spc="-25" dirty="0">
                          <a:latin typeface="Cambria Math" panose="02040503050406030204" pitchFamily="18" charset="0"/>
                          <a:cs typeface="Tahoma"/>
                        </a:rPr>
                        <m:t>)</m:t>
                      </m:r>
                    </m:oMath>
                  </m:oMathPara>
                </a14:m>
                <a:endParaRPr lang="en-MY" sz="1100" dirty="0">
                  <a:latin typeface="Tahoma"/>
                  <a:cs typeface="Tahoma"/>
                </a:endParaRPr>
              </a:p>
              <a:p>
                <a:pPr>
                  <a:lnSpc>
                    <a:spcPct val="100000"/>
                  </a:lnSpc>
                  <a:spcBef>
                    <a:spcPts val="325"/>
                  </a:spcBef>
                </a:pPr>
                <a:endParaRPr lang="en-MY" sz="1100" dirty="0">
                  <a:latin typeface="Tahoma"/>
                  <a:cs typeface="Tahoma"/>
                </a:endParaRPr>
              </a:p>
              <a:p>
                <a:pPr marL="325755" marR="5080" indent="-175260" algn="l" rtl="0">
                  <a:spcBef>
                    <a:spcPts val="334"/>
                  </a:spcBef>
                  <a:buClr>
                    <a:srgbClr val="3333B2"/>
                  </a:buClr>
                  <a:buFont typeface="Arial"/>
                  <a:buChar char="►"/>
                  <a:tabLst>
                    <a:tab pos="325755" algn="l"/>
                  </a:tabLst>
                </a:pPr>
                <a:r>
                  <a:rPr lang="en-MY" sz="1100" kern="1200" spc="10" dirty="0">
                    <a:solidFill>
                      <a:schemeClr val="tx1"/>
                    </a:solidFill>
                    <a:latin typeface="Tahoma"/>
                    <a:ea typeface="+mn-ea"/>
                    <a:cs typeface="Tahoma"/>
                  </a:rPr>
                  <a:t>Two disjoint coalitions can always merge together; hence, one can assume that players always form the grand coalition</a:t>
                </a: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The payoff of the grand coalition </a:t>
                </a:r>
                <a:r>
                  <a:rPr lang="en-MY" sz="1100" dirty="0">
                    <a:latin typeface="Tahoma"/>
                    <a:cs typeface="Tahoma"/>
                  </a:rPr>
                  <a:t>is</a:t>
                </a:r>
                <a:r>
                  <a:rPr lang="en-MY" sz="1100" spc="5" dirty="0">
                    <a:latin typeface="Tahoma"/>
                    <a:cs typeface="Tahoma"/>
                  </a:rPr>
                  <a:t>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en-MY" sz="1100" i="1" dirty="0">
                            <a:latin typeface="Cambria Math" panose="02040503050406030204" pitchFamily="18" charset="0"/>
                            <a:cs typeface="Tahoma"/>
                          </a:rPr>
                        </m:ctrlPr>
                      </m:dPr>
                      <m:e>
                        <m:r>
                          <a:rPr lang="en-MY" sz="1100" i="1" dirty="0">
                            <a:latin typeface="Cambria Math" panose="02040503050406030204" pitchFamily="18" charset="0"/>
                            <a:cs typeface="Arial"/>
                          </a:rPr>
                          <m:t>𝑁</m:t>
                        </m:r>
                      </m:e>
                    </m:d>
                    <m:r>
                      <a:rPr lang="en-MY" sz="1100" i="1" spc="-50" dirty="0">
                        <a:latin typeface="Cambria Math" panose="02040503050406030204" pitchFamily="18" charset="0"/>
                        <a:cs typeface="Meiryo UI"/>
                      </a:rPr>
                      <m:t>≥</m:t>
                    </m:r>
                    <m:nary>
                      <m:naryPr>
                        <m:chr m:val="∑"/>
                        <m:limLoc m:val="subSup"/>
                        <m:supHide m:val="on"/>
                        <m:ctrlPr>
                          <a:rPr lang="ar-SA" sz="1100" i="1" spc="-50" dirty="0" smtClean="0">
                            <a:latin typeface="Cambria Math" panose="02040503050406030204" pitchFamily="18" charset="0"/>
                            <a:cs typeface="Tahoma"/>
                          </a:rPr>
                        </m:ctrlPr>
                      </m:naryPr>
                      <m:sub>
                        <m:r>
                          <m:rPr>
                            <m:brk m:alnAt="9"/>
                          </m:rPr>
                          <a:rPr lang="ar-SA" sz="1100" b="0" i="1" spc="-50" dirty="0" smtClean="0">
                            <a:latin typeface="Cambria Math" panose="02040503050406030204" pitchFamily="18" charset="0"/>
                            <a:cs typeface="Tahoma"/>
                          </a:rPr>
                          <m:t>𝑖</m:t>
                        </m:r>
                        <m:r>
                          <a:rPr lang="en-MY" sz="1100" b="0" i="1" spc="-50" dirty="0" smtClean="0">
                            <a:latin typeface="Cambria Math" panose="02040503050406030204" pitchFamily="18" charset="0"/>
                            <a:cs typeface="Tahoma"/>
                          </a:rPr>
                          <m:t>∈</m:t>
                        </m:r>
                        <m:r>
                          <a:rPr lang="en-MY" sz="1100" b="0" i="1" spc="-50" dirty="0" smtClean="0">
                            <a:latin typeface="Cambria Math" panose="02040503050406030204" pitchFamily="18" charset="0"/>
                            <a:cs typeface="Tahoma"/>
                          </a:rPr>
                          <m:t>𝑁</m:t>
                        </m:r>
                      </m:sub>
                      <m:sup/>
                      <m:e>
                        <m:r>
                          <a:rPr lang="en-MY" sz="1100" b="0" i="1" spc="-50" dirty="0" smtClean="0">
                            <a:latin typeface="Cambria Math" panose="02040503050406030204" pitchFamily="18" charset="0"/>
                            <a:cs typeface="Tahoma"/>
                          </a:rPr>
                          <m:t>𝑣</m:t>
                        </m:r>
                        <m:d>
                          <m:dPr>
                            <m:ctrlPr>
                              <a:rPr lang="en-MY" sz="1100" b="0" i="1" spc="-50" dirty="0" smtClean="0">
                                <a:latin typeface="Cambria Math" panose="02040503050406030204" pitchFamily="18" charset="0"/>
                                <a:cs typeface="Tahoma"/>
                              </a:rPr>
                            </m:ctrlPr>
                          </m:dPr>
                          <m:e>
                            <m:d>
                              <m:dPr>
                                <m:begChr m:val="{"/>
                                <m:endChr m:val="}"/>
                                <m:ctrlPr>
                                  <a:rPr lang="en-MY" sz="1100" b="0" i="1" spc="-50" dirty="0" smtClean="0">
                                    <a:latin typeface="Cambria Math" panose="02040503050406030204" pitchFamily="18" charset="0"/>
                                    <a:cs typeface="Tahoma"/>
                                  </a:rPr>
                                </m:ctrlPr>
                              </m:dPr>
                              <m:e>
                                <m:r>
                                  <a:rPr lang="en-MY" sz="1100" b="0" i="1" spc="-50" dirty="0" smtClean="0">
                                    <a:latin typeface="Cambria Math" panose="02040503050406030204" pitchFamily="18" charset="0"/>
                                    <a:cs typeface="Tahoma"/>
                                  </a:rPr>
                                  <m:t>𝑖</m:t>
                                </m:r>
                              </m:e>
                            </m:d>
                          </m:e>
                        </m:d>
                      </m:e>
                    </m:nary>
                  </m:oMath>
                </a14:m>
                <a:endParaRPr lang="en-MY" sz="1100" spc="-40" dirty="0">
                  <a:latin typeface="Tahoma"/>
                  <a:cs typeface="Tahoma"/>
                </a:endParaRPr>
              </a:p>
              <a:p>
                <a:pPr marL="325755" indent="-175260">
                  <a:lnSpc>
                    <a:spcPct val="100000"/>
                  </a:lnSpc>
                  <a:spcBef>
                    <a:spcPts val="330"/>
                  </a:spcBef>
                  <a:buClr>
                    <a:srgbClr val="3333B2"/>
                  </a:buClr>
                  <a:buFont typeface="Arial"/>
                  <a:buChar char="►"/>
                  <a:tabLst>
                    <a:tab pos="325755" algn="l"/>
                  </a:tabLst>
                </a:pPr>
                <a:r>
                  <a:rPr lang="en-MY" sz="1100" kern="1200" spc="10" dirty="0">
                    <a:solidFill>
                      <a:schemeClr val="tx1"/>
                    </a:solidFill>
                    <a:latin typeface="Tahoma"/>
                    <a:ea typeface="+mn-ea"/>
                    <a:cs typeface="Tahoma"/>
                  </a:rPr>
                  <a:t>Constant-sum </a:t>
                </a:r>
                <a:r>
                  <a:rPr lang="en-MY" sz="1100" i="1" dirty="0">
                    <a:latin typeface="Meiryo UI"/>
                    <a:cs typeface="Meiryo UI"/>
                  </a:rPr>
                  <a:t>←</a:t>
                </a:r>
                <a:r>
                  <a:rPr lang="en-MY" sz="1100" kern="1200" spc="10" dirty="0">
                    <a:solidFill>
                      <a:schemeClr val="tx1"/>
                    </a:solidFill>
                    <a:latin typeface="Tahoma"/>
                    <a:ea typeface="+mn-ea"/>
                    <a:cs typeface="Tahoma"/>
                  </a:rPr>
                  <a:t> Additive </a:t>
                </a:r>
                <a:r>
                  <a:rPr lang="en-MY" sz="1100" i="1" dirty="0">
                    <a:latin typeface="Meiryo UI"/>
                    <a:cs typeface="Meiryo UI"/>
                  </a:rPr>
                  <a:t>→</a:t>
                </a:r>
                <a:r>
                  <a:rPr lang="en-MY" sz="1100" i="1" spc="-35" dirty="0">
                    <a:latin typeface="Meiryo UI"/>
                    <a:cs typeface="Meiryo UI"/>
                  </a:rPr>
                  <a:t> </a:t>
                </a:r>
                <a:r>
                  <a:rPr lang="en-MY" sz="1100" kern="1200" spc="10" dirty="0">
                    <a:solidFill>
                      <a:schemeClr val="tx1"/>
                    </a:solidFill>
                    <a:latin typeface="Tahoma"/>
                    <a:ea typeface="+mn-ea"/>
                    <a:cs typeface="Tahoma"/>
                  </a:rPr>
                  <a:t>Convex </a:t>
                </a:r>
                <a:r>
                  <a:rPr lang="en-MY" sz="1100" i="1" dirty="0">
                    <a:latin typeface="Meiryo UI"/>
                    <a:cs typeface="Meiryo UI"/>
                  </a:rPr>
                  <a:t>→</a:t>
                </a:r>
                <a:r>
                  <a:rPr lang="en-MY" sz="1100" i="1" spc="-35" dirty="0">
                    <a:latin typeface="Meiryo UI"/>
                    <a:cs typeface="Meiryo UI"/>
                  </a:rPr>
                  <a:t> </a:t>
                </a:r>
                <a:r>
                  <a:rPr lang="en-MY" sz="1100" kern="1200" spc="10" dirty="0">
                    <a:solidFill>
                      <a:schemeClr val="tx1"/>
                    </a:solidFill>
                    <a:latin typeface="Tahoma"/>
                    <a:ea typeface="+mn-ea"/>
                    <a:cs typeface="Tahoma"/>
                  </a:rPr>
                  <a:t>Superadditive</a:t>
                </a: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09194" y="917547"/>
                <a:ext cx="4358056" cy="1612748"/>
              </a:xfrm>
              <a:prstGeom prst="rect">
                <a:avLst/>
              </a:prstGeom>
              <a:blipFill>
                <a:blip r:embed="rId3"/>
                <a:stretch>
                  <a:fillRect l="-839" r="-699" b="-14015"/>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5CBC296-0CC0-4C29-8BC4-EDAA0625751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1A540E0-91D3-49F3-89CF-F82BD3A7792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8AE513E-8916-4EE7-9852-43ECE78C368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0" dirty="0"/>
              <a:t> </a:t>
            </a:r>
            <a:r>
              <a:rPr dirty="0"/>
              <a:t>Convex</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a:spLocks noGrp="1"/>
              </p:cNvSpPr>
              <p:nvPr>
                <p:ph type="body" idx="1"/>
              </p:nvPr>
            </p:nvSpPr>
            <p:spPr>
              <a:xfrm>
                <a:off x="421956" y="1166505"/>
                <a:ext cx="3330893" cy="1056057"/>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213360" indent="-175260">
                  <a:lnSpc>
                    <a:spcPct val="100000"/>
                  </a:lnSpc>
                  <a:spcBef>
                    <a:spcPts val="334"/>
                  </a:spcBef>
                  <a:buClr>
                    <a:srgbClr val="3333B2"/>
                  </a:buClr>
                  <a:buFont typeface="Arial"/>
                  <a:buChar char="►"/>
                  <a:tabLst>
                    <a:tab pos="213360"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Meiryo UI"/>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rPr>
                      <m:t>=</m:t>
                    </m:r>
                    <m:r>
                      <a:rPr lang="ar-SA" sz="1100" i="1" spc="-50" dirty="0">
                        <a:latin typeface="Cambria Math" panose="02040503050406030204" pitchFamily="18" charset="0"/>
                      </a:rPr>
                      <m:t>0</m:t>
                    </m:r>
                  </m:oMath>
                </a14:m>
                <a:endParaRPr lang="ar-SA" sz="1100" dirty="0">
                  <a:latin typeface="Meiryo UI"/>
                  <a:cs typeface="Meiryo UI"/>
                </a:endParaRPr>
              </a:p>
              <a:p>
                <a:pPr marL="214629">
                  <a:lnSpc>
                    <a:spcPct val="100000"/>
                  </a:lnSpc>
                  <a:spcBef>
                    <a:spcPts val="330"/>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70" dirty="0">
                            <a:latin typeface="Cambria Math" panose="02040503050406030204" pitchFamily="18" charset="0"/>
                          </a:rPr>
                        </m:ctrlPr>
                      </m:dPr>
                      <m:e>
                        <m:d>
                          <m:dPr>
                            <m:begChr m:val="{"/>
                            <m:endChr m:val="}"/>
                            <m:ctrlPr>
                              <a:rPr lang="ar-SA" i="1" spc="-70" dirty="0">
                                <a:latin typeface="Cambria Math" panose="02040503050406030204" pitchFamily="18" charset="0"/>
                              </a:rPr>
                            </m:ctrlPr>
                          </m:dPr>
                          <m:e>
                            <m:r>
                              <a:rPr lang="ar-SA" i="1" spc="-70" dirty="0">
                                <a:latin typeface="Cambria Math" panose="02040503050406030204" pitchFamily="18" charset="0"/>
                              </a:rPr>
                              <m:t>1</m:t>
                            </m:r>
                          </m:e>
                        </m:d>
                      </m:e>
                    </m:d>
                    <m:r>
                      <a:rPr lang="ar-SA" i="1" dirty="0">
                        <a:latin typeface="Cambria Math" panose="02040503050406030204" pitchFamily="18" charset="0"/>
                      </a:rPr>
                      <m:t>=</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70" dirty="0">
                            <a:latin typeface="Cambria Math" panose="02040503050406030204" pitchFamily="18" charset="0"/>
                            <a:cs typeface="Arial"/>
                          </a:rPr>
                        </m:ctrlPr>
                      </m:dPr>
                      <m:e>
                        <m:d>
                          <m:dPr>
                            <m:begChr m:val="{"/>
                            <m:endChr m:val="}"/>
                            <m:ctrlPr>
                              <a:rPr lang="ar-SA" i="1" spc="-70" dirty="0">
                                <a:latin typeface="Cambria Math" panose="02040503050406030204" pitchFamily="18" charset="0"/>
                                <a:cs typeface="Arial"/>
                              </a:rPr>
                            </m:ctrlPr>
                          </m:dPr>
                          <m:e>
                            <m:r>
                              <a:rPr lang="ar-SA" i="1" spc="-70" dirty="0">
                                <a:latin typeface="Cambria Math" panose="02040503050406030204" pitchFamily="18" charset="0"/>
                              </a:rPr>
                              <m:t>2</m:t>
                            </m:r>
                          </m:e>
                        </m:d>
                      </m:e>
                    </m:d>
                    <m:r>
                      <a:rPr lang="ar-SA" i="1" dirty="0">
                        <a:latin typeface="Cambria Math" panose="02040503050406030204" pitchFamily="18" charset="0"/>
                      </a:rPr>
                      <m:t>=</m:t>
                    </m:r>
                    <m:r>
                      <a:rPr lang="ar-SA" i="1" spc="-55" dirty="0">
                        <a:latin typeface="Cambria Math" panose="02040503050406030204" pitchFamily="18" charset="0"/>
                        <a:cs typeface="Arial"/>
                      </a:rPr>
                      <m:t>𝑣</m:t>
                    </m:r>
                    <m:r>
                      <a:rPr lang="ar-SA" i="1" spc="-175" dirty="0">
                        <a:latin typeface="Cambria Math" panose="02040503050406030204" pitchFamily="18" charset="0"/>
                        <a:cs typeface="Arial"/>
                      </a:rPr>
                      <m:t> </m:t>
                    </m:r>
                    <m:d>
                      <m:dPr>
                        <m:ctrlPr>
                          <a:rPr lang="ar-SA" i="1" spc="-70" dirty="0">
                            <a:latin typeface="Cambria Math" panose="02040503050406030204" pitchFamily="18" charset="0"/>
                            <a:cs typeface="Arial"/>
                          </a:rPr>
                        </m:ctrlPr>
                      </m:dPr>
                      <m:e>
                        <m:d>
                          <m:dPr>
                            <m:begChr m:val="{"/>
                            <m:endChr m:val="}"/>
                            <m:ctrlPr>
                              <a:rPr lang="ar-SA" i="1" spc="-70" dirty="0">
                                <a:latin typeface="Cambria Math" panose="02040503050406030204" pitchFamily="18" charset="0"/>
                                <a:cs typeface="Arial"/>
                              </a:rPr>
                            </m:ctrlPr>
                          </m:dPr>
                          <m:e>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1</m:t>
                    </m:r>
                    <m:r>
                      <a:rPr lang="en-MY" b="0" i="1" spc="-50" dirty="0" smtClean="0">
                        <a:latin typeface="Cambria Math" panose="02040503050406030204" pitchFamily="18" charset="0"/>
                      </a:rPr>
                      <m:t>  </m:t>
                    </m:r>
                  </m:oMath>
                </a14:m>
                <a:r>
                  <a:rPr lang="en-MY" i="0" spc="-50" dirty="0"/>
                  <a:t> </a:t>
                </a:r>
                <a:endParaRPr lang="ar-SA" i="0" spc="-50" dirty="0"/>
              </a:p>
              <a:p>
                <a:pPr marL="214629">
                  <a:spcBef>
                    <a:spcPts val="335"/>
                  </a:spcBef>
                  <a:tabLst>
                    <a:tab pos="1271270" algn="l"/>
                  </a:tabLst>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rPr>
                        </m:ctrlPr>
                      </m:dPr>
                      <m:e>
                        <m:d>
                          <m:dPr>
                            <m:begChr m:val="{"/>
                            <m:endChr m:val="}"/>
                            <m:ctrlPr>
                              <a:rPr lang="ar-SA" i="1" spc="-50" dirty="0">
                                <a:latin typeface="Cambria Math" panose="02040503050406030204" pitchFamily="18" charset="0"/>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70" dirty="0">
                                <a:latin typeface="Cambria Math" panose="02040503050406030204" pitchFamily="18" charset="0"/>
                              </a:rPr>
                              <m:t>2</m:t>
                            </m:r>
                          </m:e>
                        </m:d>
                      </m:e>
                    </m:d>
                    <m:r>
                      <a:rPr lang="ar-SA" i="1" dirty="0">
                        <a:latin typeface="Cambria Math" panose="02040503050406030204" pitchFamily="18" charset="0"/>
                      </a:rPr>
                      <m:t>=</m:t>
                    </m:r>
                    <m:r>
                      <a:rPr lang="ar-SA" i="1" spc="-60" dirty="0">
                        <a:latin typeface="Cambria Math" panose="02040503050406030204" pitchFamily="18" charset="0"/>
                      </a:rPr>
                      <m:t>3</m:t>
                    </m:r>
                    <m:r>
                      <a:rPr lang="ar-SA" i="1" dirty="0">
                        <a:latin typeface="Cambria Math" panose="02040503050406030204" pitchFamily="18" charset="0"/>
                      </a:rPr>
                      <m:t>	</m:t>
                    </m:r>
                    <m:r>
                      <a:rPr lang="en-MY" b="0" i="1" dirty="0" smtClean="0">
                        <a:latin typeface="Cambria Math" panose="02040503050406030204" pitchFamily="18" charset="0"/>
                      </a:rPr>
                      <m:t>            </m:t>
                    </m:r>
                    <m:r>
                      <a:rPr lang="ar-SA" i="1" spc="-55" dirty="0">
                        <a:latin typeface="Cambria Math" panose="02040503050406030204" pitchFamily="18" charset="0"/>
                        <a:cs typeface="Arial"/>
                      </a:rPr>
                      <m:t>𝑣</m:t>
                    </m:r>
                    <m:r>
                      <a:rPr lang="ar-SA" i="1" spc="-180" dirty="0">
                        <a:latin typeface="Cambria Math" panose="02040503050406030204" pitchFamily="18" charset="0"/>
                        <a:cs typeface="Arial"/>
                      </a:rPr>
                      <m:t> </m:t>
                    </m:r>
                    <m:d>
                      <m:dPr>
                        <m:ctrlPr>
                          <a:rPr lang="ar-SA" i="1" spc="-50" dirty="0">
                            <a:latin typeface="Cambria Math" panose="02040503050406030204" pitchFamily="18" charset="0"/>
                            <a:cs typeface="Arial"/>
                          </a:rPr>
                        </m:ctrlPr>
                      </m:dPr>
                      <m:e>
                        <m:d>
                          <m:dPr>
                            <m:begChr m:val="{"/>
                            <m:endChr m:val="}"/>
                            <m:ctrlPr>
                              <a:rPr lang="ar-SA" i="1" spc="-50" dirty="0">
                                <a:latin typeface="Cambria Math" panose="02040503050406030204" pitchFamily="18" charset="0"/>
                                <a:cs typeface="Arial"/>
                              </a:rPr>
                            </m:ctrlPr>
                          </m:dPr>
                          <m:e>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e>
                        </m:d>
                      </m:e>
                    </m:d>
                    <m:r>
                      <a:rPr lang="ar-SA" i="1" dirty="0">
                        <a:latin typeface="Cambria Math" panose="02040503050406030204" pitchFamily="18" charset="0"/>
                      </a:rPr>
                      <m:t>=</m:t>
                    </m:r>
                    <m:r>
                      <a:rPr lang="ar-SA" i="1" spc="-50" dirty="0">
                        <a:latin typeface="Cambria Math" panose="02040503050406030204" pitchFamily="18" charset="0"/>
                      </a:rPr>
                      <m:t>4</m:t>
                    </m:r>
                    <m:r>
                      <a:rPr lang="en-MY" b="0" i="1" spc="-50" dirty="0" smtClean="0">
                        <a:latin typeface="Cambria Math" panose="02040503050406030204" pitchFamily="18" charset="0"/>
                      </a:rPr>
                      <m:t>         </m:t>
                    </m:r>
                    <m:r>
                      <a:rPr lang="en-MY" spc="-55" dirty="0">
                        <a:latin typeface="Cambria Math" panose="02040503050406030204" pitchFamily="18" charset="0"/>
                        <a:cs typeface="Arial"/>
                      </a:rPr>
                      <m:t>𝑣</m:t>
                    </m:r>
                    <m:r>
                      <a:rPr lang="en-MY" spc="-180" dirty="0">
                        <a:latin typeface="Cambria Math" panose="02040503050406030204" pitchFamily="18" charset="0"/>
                        <a:cs typeface="Arial"/>
                      </a:rPr>
                      <m:t> </m:t>
                    </m:r>
                    <m:r>
                      <a:rPr lang="en-MY" spc="-50" dirty="0">
                        <a:latin typeface="Cambria Math" panose="02040503050406030204" pitchFamily="18" charset="0"/>
                      </a:rPr>
                      <m:t>(</m:t>
                    </m:r>
                    <m:r>
                      <a:rPr lang="en-MY" spc="-50" dirty="0">
                        <a:latin typeface="Cambria Math" panose="02040503050406030204" pitchFamily="18" charset="0"/>
                        <a:cs typeface="Meiryo UI"/>
                      </a:rPr>
                      <m:t>{</m:t>
                    </m:r>
                    <m:r>
                      <a:rPr lang="en-MY" spc="-50" dirty="0">
                        <a:latin typeface="Cambria Math" panose="02040503050406030204" pitchFamily="18" charset="0"/>
                      </a:rPr>
                      <m:t>2</m:t>
                    </m:r>
                    <m:r>
                      <a:rPr lang="en-MY" spc="-50" dirty="0">
                        <a:latin typeface="Cambria Math" panose="02040503050406030204" pitchFamily="18" charset="0"/>
                        <a:cs typeface="Adobe Text Pro"/>
                      </a:rPr>
                      <m:t>,</m:t>
                    </m:r>
                    <m:r>
                      <a:rPr lang="en-MY" spc="-40" dirty="0">
                        <a:latin typeface="Cambria Math" panose="02040503050406030204" pitchFamily="18" charset="0"/>
                        <a:cs typeface="Adobe Text Pro"/>
                      </a:rPr>
                      <m:t> </m:t>
                    </m:r>
                    <m:r>
                      <a:rPr lang="en-MY" spc="-70" dirty="0">
                        <a:latin typeface="Cambria Math" panose="02040503050406030204" pitchFamily="18" charset="0"/>
                      </a:rPr>
                      <m:t>3</m:t>
                    </m:r>
                    <m:r>
                      <a:rPr lang="en-MY" spc="-70" dirty="0">
                        <a:latin typeface="Cambria Math" panose="02040503050406030204" pitchFamily="18" charset="0"/>
                        <a:cs typeface="Meiryo UI"/>
                      </a:rPr>
                      <m:t>}</m:t>
                    </m:r>
                    <m:r>
                      <a:rPr lang="en-MY" spc="-70" dirty="0">
                        <a:latin typeface="Cambria Math" panose="02040503050406030204" pitchFamily="18" charset="0"/>
                      </a:rPr>
                      <m:t>)</m:t>
                    </m:r>
                    <m:r>
                      <a:rPr lang="en-MY" dirty="0">
                        <a:latin typeface="Cambria Math" panose="02040503050406030204" pitchFamily="18" charset="0"/>
                      </a:rPr>
                      <m:t>=</m:t>
                    </m:r>
                    <m:r>
                      <a:rPr lang="en-MY" spc="-50" dirty="0">
                        <a:latin typeface="Cambria Math" panose="02040503050406030204" pitchFamily="18" charset="0"/>
                      </a:rPr>
                      <m:t>5</m:t>
                    </m:r>
                  </m:oMath>
                </a14:m>
                <a:r>
                  <a:rPr lang="en-MY" dirty="0"/>
                  <a:t> </a:t>
                </a:r>
                <a:endParaRPr lang="ar-SA" i="0" spc="-50" dirty="0"/>
              </a:p>
              <a:p>
                <a:pPr marL="214629">
                  <a:lnSpc>
                    <a:spcPct val="100000"/>
                  </a:lnSpc>
                  <a:spcBef>
                    <a:spcPts val="335"/>
                  </a:spcBef>
                </a:pPr>
                <a14:m>
                  <m:oMath xmlns:m="http://schemas.openxmlformats.org/officeDocument/2006/math">
                    <m:r>
                      <a:rPr lang="ar-SA" i="1" spc="-55" dirty="0" smtClean="0">
                        <a:latin typeface="Cambria Math" panose="02040503050406030204" pitchFamily="18" charset="0"/>
                        <a:cs typeface="Arial"/>
                      </a:rPr>
                      <m:t>𝑣</m:t>
                    </m:r>
                    <m:r>
                      <a:rPr lang="ar-SA" i="1" spc="-180" dirty="0">
                        <a:latin typeface="Cambria Math" panose="02040503050406030204" pitchFamily="18" charset="0"/>
                        <a:cs typeface="Arial"/>
                      </a:rPr>
                      <m:t> </m:t>
                    </m:r>
                    <m:r>
                      <a:rPr lang="ar-SA" i="1" spc="-50" dirty="0">
                        <a:latin typeface="Cambria Math" panose="02040503050406030204" pitchFamily="18" charset="0"/>
                      </a:rPr>
                      <m:t>(</m:t>
                    </m:r>
                    <m:r>
                      <a:rPr lang="ar-SA" i="1" spc="-50" dirty="0">
                        <a:latin typeface="Cambria Math" panose="02040503050406030204" pitchFamily="18" charset="0"/>
                        <a:cs typeface="Meiryo UI"/>
                      </a:rPr>
                      <m:t>{</m:t>
                    </m:r>
                    <m:r>
                      <a:rPr lang="ar-SA" i="1" spc="-50" dirty="0">
                        <a:latin typeface="Cambria Math" panose="02040503050406030204" pitchFamily="18" charset="0"/>
                      </a:rPr>
                      <m:t>1</m:t>
                    </m:r>
                    <m:r>
                      <a:rPr lang="ar-SA" i="1" spc="-50" dirty="0">
                        <a:latin typeface="Cambria Math" panose="02040503050406030204" pitchFamily="18" charset="0"/>
                        <a:cs typeface="Adobe Text Pro"/>
                      </a:rPr>
                      <m:t>,</m:t>
                    </m:r>
                    <m:r>
                      <a:rPr lang="ar-SA" i="1" spc="-35" dirty="0">
                        <a:latin typeface="Cambria Math" panose="02040503050406030204" pitchFamily="18" charset="0"/>
                        <a:cs typeface="Adobe Text Pro"/>
                      </a:rPr>
                      <m:t> </m:t>
                    </m:r>
                    <m:r>
                      <a:rPr lang="ar-SA" i="1" spc="-30" dirty="0">
                        <a:latin typeface="Cambria Math" panose="02040503050406030204" pitchFamily="18" charset="0"/>
                      </a:rPr>
                      <m:t>2</m:t>
                    </m:r>
                    <m:r>
                      <a:rPr lang="ar-SA" i="1" spc="-30" dirty="0">
                        <a:latin typeface="Cambria Math" panose="02040503050406030204" pitchFamily="18" charset="0"/>
                        <a:cs typeface="Adobe Text Pro"/>
                      </a:rPr>
                      <m:t>,</m:t>
                    </m:r>
                    <m:r>
                      <a:rPr lang="ar-SA" i="1" spc="-40" dirty="0">
                        <a:latin typeface="Cambria Math" panose="02040503050406030204" pitchFamily="18" charset="0"/>
                        <a:cs typeface="Adobe Text Pro"/>
                      </a:rPr>
                      <m:t> </m:t>
                    </m:r>
                    <m:r>
                      <a:rPr lang="ar-SA" i="1" spc="-70" dirty="0">
                        <a:latin typeface="Cambria Math" panose="02040503050406030204" pitchFamily="18" charset="0"/>
                      </a:rPr>
                      <m:t>3</m:t>
                    </m:r>
                    <m:r>
                      <a:rPr lang="ar-SA" i="1" spc="-70" dirty="0">
                        <a:latin typeface="Cambria Math" panose="02040503050406030204" pitchFamily="18" charset="0"/>
                        <a:cs typeface="Meiryo UI"/>
                      </a:rPr>
                      <m:t>}</m:t>
                    </m:r>
                    <m:r>
                      <a:rPr lang="ar-SA" i="1" spc="-70" dirty="0">
                        <a:latin typeface="Cambria Math" panose="02040503050406030204" pitchFamily="18" charset="0"/>
                      </a:rPr>
                      <m:t>)</m:t>
                    </m:r>
                    <m:r>
                      <a:rPr lang="ar-SA" i="1" dirty="0">
                        <a:latin typeface="Cambria Math" panose="02040503050406030204" pitchFamily="18" charset="0"/>
                      </a:rPr>
                      <m:t>=</m:t>
                    </m:r>
                    <m:r>
                      <a:rPr lang="ar-SA" i="1" spc="-50" dirty="0">
                        <a:latin typeface="Cambria Math" panose="02040503050406030204" pitchFamily="18" charset="0"/>
                      </a:rPr>
                      <m:t>8</m:t>
                    </m:r>
                  </m:oMath>
                </a14:m>
                <a:r>
                  <a:rPr lang="en-MY" i="0" spc="-50" dirty="0"/>
                  <a:t> </a:t>
                </a:r>
                <a:endParaRPr i="0" spc="-50" dirty="0"/>
              </a:p>
            </p:txBody>
          </p:sp>
        </mc:Choice>
        <mc:Fallback xmlns="">
          <p:sp>
            <p:nvSpPr>
              <p:cNvPr id="3" name="object 3"/>
              <p:cNvSpPr txBox="1">
                <a:spLocks noGrp="1" noRot="1" noChangeAspect="1" noMove="1" noResize="1" noEditPoints="1" noAdjustHandles="1" noChangeArrowheads="1" noChangeShapeType="1" noTextEdit="1"/>
              </p:cNvSpPr>
              <p:nvPr>
                <p:ph type="body" idx="1"/>
              </p:nvPr>
            </p:nvSpPr>
            <p:spPr>
              <a:xfrm>
                <a:off x="421956" y="1166505"/>
                <a:ext cx="3330893" cy="1056057"/>
              </a:xfrm>
              <a:prstGeom prst="rect">
                <a:avLst/>
              </a:prstGeom>
              <a:blipFill>
                <a:blip r:embed="rId3"/>
                <a:stretch>
                  <a:fillRect l="-1280" b="-4598"/>
                </a:stretch>
              </a:blipFill>
            </p:spPr>
            <p:txBody>
              <a:bodyPr/>
              <a:lstStyle/>
              <a:p>
                <a:r>
                  <a:rPr lang="en-MY">
                    <a:noFill/>
                  </a:rPr>
                  <a:t> </a:t>
                </a:r>
              </a:p>
            </p:txBody>
          </p:sp>
        </mc:Fallback>
      </mc:AlternateContent>
      <p:sp>
        <p:nvSpPr>
          <p:cNvPr id="5" name="Date Placeholder 3">
            <a:extLst>
              <a:ext uri="{FF2B5EF4-FFF2-40B4-BE49-F238E27FC236}">
                <a16:creationId xmlns:a16="http://schemas.microsoft.com/office/drawing/2014/main" id="{6BEFC826-1E9C-489C-973F-C7F36A5DF9D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2489B563-6DFC-421B-8842-DC11A088BD75}"/>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47EEE9C7-4F69-4779-BB00-8F7D7665D10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Simple</a:t>
            </a:r>
            <a:r>
              <a:rPr spc="18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476250" y="685162"/>
                <a:ext cx="3581400" cy="2035813"/>
              </a:xfrm>
              <a:prstGeom prst="rect">
                <a:avLst/>
              </a:prstGeom>
            </p:spPr>
            <p:txBody>
              <a:bodyPr vert="horz" wrap="square" lIns="0" tIns="55244" rIns="0" bIns="0" rtlCol="0">
                <a:spAutoFit/>
              </a:bodyPr>
              <a:lstStyle/>
              <a:p>
                <a:pPr marL="53975" marR="5080" algn="l" rtl="0">
                  <a:lnSpc>
                    <a:spcPts val="1400"/>
                  </a:lnSpc>
                  <a:spcBef>
                    <a:spcPts val="330"/>
                  </a:spcBef>
                  <a:buClr>
                    <a:srgbClr val="0000FF"/>
                  </a:buClr>
                </a:pPr>
                <a:r>
                  <a:rPr lang="en-MY" sz="1100" spc="55" dirty="0">
                    <a:latin typeface="Tahoma"/>
                    <a:cs typeface="Tahoma"/>
                  </a:rPr>
                  <a:t>A</a:t>
                </a:r>
                <a:r>
                  <a:rPr lang="en-MY" sz="1100" spc="-20" dirty="0">
                    <a:latin typeface="Tahoma"/>
                    <a:cs typeface="Tahoma"/>
                  </a:rPr>
                  <a:t> </a:t>
                </a:r>
                <a:r>
                  <a:rPr lang="en-MY" sz="1100" spc="-60" dirty="0">
                    <a:latin typeface="Tahoma"/>
                    <a:cs typeface="Tahoma"/>
                  </a:rPr>
                  <a:t>game</a:t>
                </a:r>
                <a:r>
                  <a:rPr lang="en-MY" sz="1100" spc="-5" dirty="0">
                    <a:latin typeface="Tahoma"/>
                    <a:cs typeface="Tahoma"/>
                  </a:rPr>
                  <a:t> </a:t>
                </a:r>
                <a14:m>
                  <m:oMath xmlns:m="http://schemas.openxmlformats.org/officeDocument/2006/math">
                    <m:r>
                      <a:rPr lang="en-MY" sz="1100" i="1" dirty="0" smtClean="0">
                        <a:latin typeface="Cambria Math" panose="02040503050406030204" pitchFamily="18" charset="0"/>
                        <a:cs typeface="Arial"/>
                      </a:rPr>
                      <m:t>𝐺</m:t>
                    </m:r>
                    <m:r>
                      <a:rPr lang="en-MY" sz="1100" i="1" dirty="0" smtClean="0">
                        <a:latin typeface="Cambria Math" panose="02040503050406030204" pitchFamily="18" charset="0"/>
                        <a:cs typeface="Tahoma"/>
                      </a:rPr>
                      <m:t>=(</m:t>
                    </m:r>
                    <m:r>
                      <a:rPr lang="en-MY" sz="1100" i="1" dirty="0" smtClean="0">
                        <a:latin typeface="Cambria Math" panose="02040503050406030204" pitchFamily="18" charset="0"/>
                        <a:cs typeface="Arial"/>
                      </a:rPr>
                      <m:t>𝑁</m:t>
                    </m:r>
                    <m:r>
                      <a:rPr lang="en-MY" sz="1100" i="1" dirty="0" smtClean="0">
                        <a:latin typeface="Cambria Math" panose="02040503050406030204" pitchFamily="18" charset="0"/>
                        <a:cs typeface="Adobe Text Pro"/>
                      </a:rPr>
                      <m:t>,</m:t>
                    </m:r>
                    <m:r>
                      <a:rPr lang="en-MY" sz="1100" i="1" spc="-60" dirty="0" smtClean="0">
                        <a:latin typeface="Cambria Math" panose="02040503050406030204" pitchFamily="18" charset="0"/>
                        <a:cs typeface="Adobe Text Pro"/>
                      </a:rPr>
                      <m:t> </m:t>
                    </m:r>
                    <m:r>
                      <a:rPr lang="en-MY" sz="1100" i="1" spc="-55" dirty="0" smtClean="0">
                        <a:latin typeface="Cambria Math" panose="02040503050406030204" pitchFamily="18" charset="0"/>
                        <a:cs typeface="Arial"/>
                      </a:rPr>
                      <m:t>𝑣</m:t>
                    </m:r>
                    <m:r>
                      <a:rPr lang="en-MY" sz="1100" i="1" spc="-190" dirty="0" smtClean="0">
                        <a:latin typeface="Cambria Math" panose="02040503050406030204" pitchFamily="18" charset="0"/>
                        <a:cs typeface="Arial"/>
                      </a:rPr>
                      <m:t> </m:t>
                    </m:r>
                    <m:r>
                      <a:rPr lang="en-MY" sz="1100" i="1" dirty="0" smtClean="0">
                        <a:latin typeface="Cambria Math" panose="02040503050406030204" pitchFamily="18" charset="0"/>
                        <a:cs typeface="Tahoma"/>
                      </a:rPr>
                      <m:t>)</m:t>
                    </m:r>
                    <m:r>
                      <a:rPr lang="en-MY" sz="1100" i="1" spc="-5" dirty="0" smtClean="0">
                        <a:latin typeface="Cambria Math" panose="02040503050406030204" pitchFamily="18" charset="0"/>
                        <a:cs typeface="Tahoma"/>
                      </a:rPr>
                      <m:t> </m:t>
                    </m:r>
                  </m:oMath>
                </a14:m>
                <a:r>
                  <a:rPr lang="en-MY" sz="1100" kern="1200" spc="10" dirty="0">
                    <a:solidFill>
                      <a:schemeClr val="tx1"/>
                    </a:solidFill>
                    <a:latin typeface="Tahoma"/>
                    <a:ea typeface="+mn-ea"/>
                    <a:cs typeface="Tahoma"/>
                  </a:rPr>
                  <a:t>is simple if:</a:t>
                </a:r>
              </a:p>
              <a:p>
                <a:pPr marL="351155" indent="-175260" algn="l">
                  <a:lnSpc>
                    <a:spcPct val="100000"/>
                  </a:lnSpc>
                  <a:spcBef>
                    <a:spcPts val="334"/>
                  </a:spcBef>
                  <a:buClr>
                    <a:srgbClr val="3333B2"/>
                  </a:buClr>
                  <a:buFont typeface="Arial"/>
                  <a:buChar char="►"/>
                  <a:tabLst>
                    <a:tab pos="351155" algn="l"/>
                  </a:tabLst>
                </a:pPr>
                <a:r>
                  <a:rPr lang="en-MY" sz="1100" kern="1200" spc="10" dirty="0">
                    <a:solidFill>
                      <a:schemeClr val="tx1"/>
                    </a:solidFill>
                    <a:latin typeface="Tahoma"/>
                    <a:ea typeface="+mn-ea"/>
                    <a:cs typeface="Tahoma"/>
                  </a:rPr>
                  <a:t>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lang="en-MY" sz="1100" spc="-25" dirty="0">
                    <a:latin typeface="Tahoma"/>
                    <a:cs typeface="Tahoma"/>
                  </a:rPr>
                  <a:t>,</a:t>
                </a:r>
                <a:endParaRPr lang="en-MY" sz="1100" dirty="0">
                  <a:latin typeface="Tahoma"/>
                  <a:cs typeface="Tahoma"/>
                </a:endParaRPr>
              </a:p>
              <a:p>
                <a:pPr marL="676275">
                  <a:lnSpc>
                    <a:spcPct val="100000"/>
                  </a:lnSpc>
                  <a:spcBef>
                    <a:spcPts val="330"/>
                  </a:spcBef>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6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marR="5080" indent="-175260" algn="l" rtl="0">
                  <a:spcBef>
                    <a:spcPts val="334"/>
                  </a:spcBef>
                  <a:buClr>
                    <a:srgbClr val="3333B2"/>
                  </a:buClr>
                  <a:buFont typeface="Arial"/>
                  <a:buChar char="►"/>
                  <a:tabLst>
                    <a:tab pos="351155" algn="l"/>
                  </a:tabLst>
                </a:pPr>
                <a:r>
                  <a:rPr lang="en-MY" sz="1100" kern="1200" spc="10" dirty="0">
                    <a:solidFill>
                      <a:schemeClr val="tx1"/>
                    </a:solidFill>
                    <a:latin typeface="Tahoma"/>
                    <a:ea typeface="+mn-ea"/>
                    <a:cs typeface="Tahoma"/>
                  </a:rPr>
                  <a:t>Useful for modelling voting situations</a:t>
                </a:r>
              </a:p>
              <a:p>
                <a:pPr>
                  <a:lnSpc>
                    <a:spcPct val="100000"/>
                  </a:lnSpc>
                  <a:spcBef>
                    <a:spcPts val="360"/>
                  </a:spcBef>
                  <a:buClr>
                    <a:srgbClr val="3333B2"/>
                  </a:buClr>
                  <a:buFont typeface="Arial"/>
                  <a:buChar char="►"/>
                </a:pPr>
                <a:endParaRPr lang="en-MY" sz="1100" dirty="0">
                  <a:latin typeface="Tahoma"/>
                  <a:cs typeface="Tahoma"/>
                </a:endParaRPr>
              </a:p>
              <a:p>
                <a:pPr marL="351155" indent="-175260">
                  <a:lnSpc>
                    <a:spcPct val="100000"/>
                  </a:lnSpc>
                  <a:buClr>
                    <a:srgbClr val="3333B2"/>
                  </a:buClr>
                  <a:buFont typeface="Arial"/>
                  <a:buChar char="►"/>
                  <a:tabLst>
                    <a:tab pos="351155" algn="l"/>
                  </a:tabLst>
                </a:pPr>
                <a:r>
                  <a:rPr lang="en-MY" sz="1100" kern="1200" spc="10" dirty="0">
                    <a:solidFill>
                      <a:schemeClr val="tx1"/>
                    </a:solidFill>
                    <a:latin typeface="Tahoma"/>
                    <a:ea typeface="+mn-ea"/>
                    <a:cs typeface="Tahoma"/>
                  </a:rPr>
                  <a:t>If they also satisfy that for all coalitions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676275">
                  <a:lnSpc>
                    <a:spcPct val="100000"/>
                  </a:lnSpc>
                  <a:spcBef>
                    <a:spcPts val="335"/>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en-MY" sz="1100" i="1" spc="-60" dirty="0">
                              <a:latin typeface="Cambria Math" panose="02040503050406030204" pitchFamily="18" charset="0"/>
                              <a:cs typeface="Tahoma"/>
                            </a:rPr>
                          </m:ctrlPr>
                        </m:dPr>
                        <m:e>
                          <m:r>
                            <a:rPr lang="en-MY" sz="1100" i="1" spc="-60" dirty="0">
                              <a:latin typeface="Cambria Math" panose="02040503050406030204" pitchFamily="18" charset="0"/>
                              <a:cs typeface="Arial"/>
                            </a:rPr>
                            <m:t>𝐶</m:t>
                          </m:r>
                          <m:r>
                            <a:rPr lang="en-MY" sz="1100" i="1" spc="-170" dirty="0">
                              <a:latin typeface="Cambria Math" panose="02040503050406030204" pitchFamily="18" charset="0"/>
                              <a:cs typeface="Arial"/>
                            </a:rPr>
                            <m:t> </m:t>
                          </m:r>
                        </m:e>
                      </m:d>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en-MY" sz="1100" i="1" spc="-55" dirty="0">
                              <a:latin typeface="Cambria Math" panose="02040503050406030204" pitchFamily="18" charset="0"/>
                              <a:cs typeface="Arial"/>
                            </a:rPr>
                          </m:ctrlPr>
                        </m:dPr>
                        <m:e>
                          <m:r>
                            <a:rPr lang="en-MY" sz="1100" i="1" dirty="0">
                              <a:latin typeface="Cambria Math" panose="02040503050406030204" pitchFamily="18" charset="0"/>
                              <a:cs typeface="Arial"/>
                            </a:rPr>
                            <m:t>𝑁</m:t>
                          </m:r>
                          <m:r>
                            <a:rPr lang="en-MY" sz="1100" b="0" i="1" dirty="0" smtClean="0">
                              <a:latin typeface="Cambria Math" panose="02040503050406030204" pitchFamily="18" charset="0"/>
                              <a:cs typeface="Arial"/>
                            </a:rPr>
                            <m:t> </m:t>
                          </m:r>
                          <m:r>
                            <a:rPr lang="en-MY" sz="1100" b="0" i="1" spc="35" dirty="0" smtClean="0">
                              <a:latin typeface="Cambria Math" panose="02040503050406030204" pitchFamily="18" charset="0"/>
                              <a:cs typeface="Arial"/>
                            </a:rPr>
                            <m:t>\</m:t>
                          </m:r>
                          <m:r>
                            <a:rPr lang="en-MY" sz="1100" i="1" spc="-110" dirty="0">
                              <a:latin typeface="Cambria Math" panose="02040503050406030204" pitchFamily="18" charset="0"/>
                              <a:cs typeface="Arial"/>
                            </a:rPr>
                            <m:t>𝐶</m:t>
                          </m:r>
                          <m:r>
                            <a:rPr lang="en-MY" sz="1100" i="1" spc="-170" dirty="0">
                              <a:latin typeface="Cambria Math" panose="02040503050406030204" pitchFamily="18" charset="0"/>
                              <a:cs typeface="Arial"/>
                            </a:rPr>
                            <m:t> </m:t>
                          </m:r>
                        </m:e>
                      </m:d>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en-MY" sz="1100" i="1" spc="-25" dirty="0">
                              <a:latin typeface="Cambria Math" panose="02040503050406030204" pitchFamily="18" charset="0"/>
                              <a:cs typeface="Arial"/>
                            </a:rPr>
                          </m:ctrlPr>
                        </m:dPr>
                        <m:e>
                          <m:r>
                            <a:rPr lang="en-MY" sz="1100" i="1" spc="-25" dirty="0">
                              <a:latin typeface="Cambria Math" panose="02040503050406030204" pitchFamily="18" charset="0"/>
                              <a:cs typeface="Arial"/>
                            </a:rPr>
                            <m:t>𝑁</m:t>
                          </m:r>
                        </m:e>
                      </m:d>
                    </m:oMath>
                  </m:oMathPara>
                </a14:m>
                <a:endParaRPr lang="en-MY" sz="1100" dirty="0">
                  <a:latin typeface="Tahoma"/>
                  <a:cs typeface="Tahoma"/>
                </a:endParaRPr>
              </a:p>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      then they are called </a:t>
                </a:r>
                <a:r>
                  <a:rPr lang="en-MY" sz="1100" i="1" kern="1200" spc="10" dirty="0">
                    <a:solidFill>
                      <a:schemeClr val="tx1"/>
                    </a:solidFill>
                    <a:latin typeface="Tahoma"/>
                    <a:ea typeface="+mn-ea"/>
                    <a:cs typeface="Tahoma"/>
                  </a:rPr>
                  <a:t>Proper simple </a:t>
                </a:r>
                <a:r>
                  <a:rPr lang="en-MY" sz="1100" kern="1200" spc="10" dirty="0">
                    <a:solidFill>
                      <a:schemeClr val="tx1"/>
                    </a:solidFill>
                    <a:latin typeface="Tahoma"/>
                    <a:ea typeface="+mn-ea"/>
                    <a:cs typeface="Tahoma"/>
                  </a:rPr>
                  <a:t>games</a:t>
                </a:r>
              </a:p>
              <a:p>
                <a:pPr>
                  <a:lnSpc>
                    <a:spcPct val="100000"/>
                  </a:lnSpc>
                  <a:spcBef>
                    <a:spcPts val="360"/>
                  </a:spcBef>
                </a:pPr>
                <a:endParaRPr lang="en-MY" sz="1100" dirty="0">
                  <a:latin typeface="Tahoma"/>
                  <a:cs typeface="Tahoma"/>
                </a:endParaRPr>
              </a:p>
              <a:p>
                <a:pPr marL="351155" indent="-175260">
                  <a:lnSpc>
                    <a:spcPct val="100000"/>
                  </a:lnSpc>
                  <a:buClr>
                    <a:srgbClr val="3333B2"/>
                  </a:buClr>
                  <a:buFont typeface="Arial"/>
                  <a:buChar char="►"/>
                  <a:tabLst>
                    <a:tab pos="351155" algn="l"/>
                  </a:tabLst>
                </a:pPr>
                <a:r>
                  <a:rPr lang="en-MY" sz="1100" spc="-40" dirty="0">
                    <a:latin typeface="Tahoma"/>
                    <a:cs typeface="Tahoma"/>
                  </a:rPr>
                  <a:t>Constant-</a:t>
                </a:r>
                <a:r>
                  <a:rPr lang="en-MY" sz="1100" spc="-10" dirty="0">
                    <a:latin typeface="Tahoma"/>
                    <a:cs typeface="Tahoma"/>
                  </a:rPr>
                  <a:t>sum</a:t>
                </a:r>
                <a:r>
                  <a:rPr lang="en-MY" sz="1100" spc="-15" dirty="0">
                    <a:latin typeface="Tahoma"/>
                    <a:cs typeface="Tahoma"/>
                  </a:rPr>
                  <a:t> </a:t>
                </a:r>
                <a:r>
                  <a:rPr lang="en-MY" sz="1100" i="1" dirty="0">
                    <a:latin typeface="Meiryo UI"/>
                    <a:cs typeface="Meiryo UI"/>
                  </a:rPr>
                  <a:t>←</a:t>
                </a:r>
                <a:r>
                  <a:rPr lang="en-MY" sz="1100" i="1" spc="-45" dirty="0">
                    <a:latin typeface="Meiryo UI"/>
                    <a:cs typeface="Meiryo UI"/>
                  </a:rPr>
                  <a:t> </a:t>
                </a:r>
                <a:r>
                  <a:rPr lang="en-MY" sz="1100" kern="1200" spc="10" dirty="0">
                    <a:solidFill>
                      <a:schemeClr val="tx1"/>
                    </a:solidFill>
                    <a:latin typeface="Tahoma"/>
                    <a:ea typeface="+mn-ea"/>
                    <a:cs typeface="Tahoma"/>
                  </a:rPr>
                  <a:t>Proper simple </a:t>
                </a:r>
                <a:r>
                  <a:rPr lang="en-MY" sz="1100" i="1" dirty="0">
                    <a:latin typeface="Meiryo UI"/>
                    <a:cs typeface="Meiryo UI"/>
                  </a:rPr>
                  <a:t>→</a:t>
                </a:r>
                <a:r>
                  <a:rPr lang="en-MY" sz="1100" i="1" spc="-45" dirty="0">
                    <a:latin typeface="Meiryo UI"/>
                    <a:cs typeface="Meiryo UI"/>
                  </a:rPr>
                  <a:t> </a:t>
                </a:r>
                <a:r>
                  <a:rPr lang="en-MY" sz="1100" kern="1200" spc="10" dirty="0">
                    <a:solidFill>
                      <a:schemeClr val="tx1"/>
                    </a:solidFill>
                    <a:latin typeface="Tahoma"/>
                    <a:ea typeface="+mn-ea"/>
                    <a:cs typeface="Tahoma"/>
                  </a:rPr>
                  <a:t>Simple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76250" y="685162"/>
                <a:ext cx="3581400" cy="2035813"/>
              </a:xfrm>
              <a:prstGeom prst="rect">
                <a:avLst/>
              </a:prstGeom>
              <a:blipFill>
                <a:blip r:embed="rId3"/>
                <a:stretch>
                  <a:fillRect l="-850" b="-2994"/>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38D9389-FA1D-4EC8-AAC5-C74FCA7AF2C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A0564AD-780B-4037-A7FE-2F2796E2C44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0EA0D9B-D17C-4D86-BE02-D124F333410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350" dirty="0"/>
              <a:t> </a:t>
            </a:r>
            <a:r>
              <a:rPr dirty="0"/>
              <a:t>Simple</a:t>
            </a:r>
            <a:r>
              <a:rPr spc="190"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593595"/>
                <a:ext cx="2578100" cy="2597505"/>
              </a:xfrm>
              <a:prstGeom prst="rect">
                <a:avLst/>
              </a:prstGeom>
            </p:spPr>
            <p:txBody>
              <a:bodyPr vert="horz" wrap="square" lIns="0" tIns="55244" rIns="0" bIns="0" rtlCol="0">
                <a:spAutoFit/>
              </a:bodyPr>
              <a:lstStyle/>
              <a:p>
                <a:pPr marL="325755" indent="-175260">
                  <a:lnSpc>
                    <a:spcPct val="100000"/>
                  </a:lnSpc>
                  <a:spcBef>
                    <a:spcPts val="434"/>
                  </a:spcBef>
                  <a:buClr>
                    <a:srgbClr val="3333B2"/>
                  </a:buClr>
                  <a:buFont typeface="Arial"/>
                  <a:buChar char="►"/>
                  <a:tabLst>
                    <a:tab pos="325755" algn="l"/>
                  </a:tabLst>
                </a:pPr>
                <a14:m>
                  <m:oMath xmlns:m="http://schemas.openxmlformats.org/officeDocument/2006/math">
                    <m:r>
                      <a:rPr lang="ar-SA" sz="1100" i="1" dirty="0" smtClean="0">
                        <a:latin typeface="Cambria Math" panose="02040503050406030204" pitchFamily="18" charset="0"/>
                        <a:cs typeface="Arial"/>
                      </a:rPr>
                      <m:t>𝑁</m:t>
                    </m:r>
                    <m:r>
                      <a:rPr lang="ar-SA" sz="1100" i="1" dirty="0">
                        <a:latin typeface="Cambria Math" panose="02040503050406030204" pitchFamily="18" charset="0"/>
                        <a:cs typeface="Tahoma"/>
                      </a:rPr>
                      <m:t>=</m:t>
                    </m:r>
                    <m:r>
                      <a:rPr lang="ar-SA" sz="1100" i="1" spc="-65" dirty="0">
                        <a:latin typeface="Cambria Math" panose="02040503050406030204" pitchFamily="18" charset="0"/>
                        <a:cs typeface="Meiryo UI"/>
                      </a:rPr>
                      <m:t>{</m:t>
                    </m:r>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r>
                      <a:rPr lang="ar-SA" sz="1100" i="1" spc="-25" dirty="0">
                        <a:latin typeface="Cambria Math" panose="02040503050406030204" pitchFamily="18" charset="0"/>
                        <a:cs typeface="Meiryo UI"/>
                      </a:rPr>
                      <m:t>}</m:t>
                    </m:r>
                  </m:oMath>
                </a14:m>
                <a:endParaRPr lang="ar-SA" sz="1100" dirty="0">
                  <a:latin typeface="Meiryo UI"/>
                  <a:cs typeface="Meiryo UI"/>
                </a:endParaRPr>
              </a:p>
              <a:p>
                <a:pPr marL="325755" indent="-175260">
                  <a:lnSpc>
                    <a:spcPct val="100000"/>
                  </a:lnSpc>
                  <a:spcBef>
                    <a:spcPts val="334"/>
                  </a:spcBef>
                  <a:buClr>
                    <a:srgbClr val="3333B2"/>
                  </a:buClr>
                  <a:buFont typeface="Arial"/>
                  <a:buChar char="►"/>
                  <a:tabLst>
                    <a:tab pos="32575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oMath>
                </a14:m>
                <a:endParaRPr lang="ar-SA" sz="1100" dirty="0">
                  <a:latin typeface="Tahoma"/>
                  <a:cs typeface="Tahoma"/>
                </a:endParaRPr>
              </a:p>
              <a:p>
                <a:pPr marL="327660">
                  <a:lnSpc>
                    <a:spcPct val="100000"/>
                  </a:lnSpc>
                  <a:spcBef>
                    <a:spcPts val="330"/>
                  </a:spcBef>
                  <a:spcAft>
                    <a:spcPts val="400"/>
                  </a:spcAf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marL="327660" rtl="0">
                  <a:spcBef>
                    <a:spcPts val="600"/>
                  </a:spcBef>
                </a:pPr>
                <a14:m>
                  <m:oMathPara xmlns:m="http://schemas.openxmlformats.org/officeDocument/2006/math">
                    <m:oMathParaPr>
                      <m:jc m:val="centerGroup"/>
                    </m:oMathParaPr>
                    <m:oMath xmlns:m="http://schemas.openxmlformats.org/officeDocument/2006/math">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2</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1</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𝑣</m:t>
                      </m:r>
                      <m:r>
                        <a:rPr lang="ar-SA" sz="1100" i="1" spc="-55"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d>
                            <m:dPr>
                              <m:begChr m:val="{"/>
                              <m:endChr m:val="}"/>
                              <m:ctrlPr>
                                <a:rPr lang="ar-SA" sz="1100" i="1" spc="-55" dirty="0">
                                  <a:latin typeface="Cambria Math" panose="02040503050406030204" pitchFamily="18" charset="0"/>
                                  <a:cs typeface="Arial"/>
                                </a:rPr>
                              </m:ctrlPr>
                            </m:dPr>
                            <m:e>
                              <m:r>
                                <a:rPr lang="ar-SA" sz="1100" i="1" spc="-55" dirty="0">
                                  <a:latin typeface="Cambria Math" panose="02040503050406030204" pitchFamily="18" charset="0"/>
                                  <a:cs typeface="Arial"/>
                                </a:rPr>
                                <m:t>2</m:t>
                              </m:r>
                              <m:r>
                                <a:rPr lang="ar-SA" sz="1100" i="1" spc="-55" dirty="0">
                                  <a:latin typeface="Cambria Math" panose="02040503050406030204" pitchFamily="18" charset="0"/>
                                  <a:cs typeface="Arial"/>
                                </a:rPr>
                                <m:t>, </m:t>
                              </m:r>
                              <m:r>
                                <a:rPr lang="ar-SA" sz="1100" i="1" spc="-55" dirty="0">
                                  <a:latin typeface="Cambria Math" panose="02040503050406030204" pitchFamily="18" charset="0"/>
                                  <a:cs typeface="Arial"/>
                                </a:rPr>
                                <m:t>3</m:t>
                              </m:r>
                            </m:e>
                          </m:d>
                        </m:e>
                      </m:d>
                      <m:r>
                        <a:rPr lang="ar-SA" sz="1100" i="1" spc="-55" dirty="0">
                          <a:latin typeface="Cambria Math" panose="02040503050406030204" pitchFamily="18" charset="0"/>
                          <a:cs typeface="Arial"/>
                        </a:rPr>
                        <m:t>=</m:t>
                      </m:r>
                      <m:r>
                        <a:rPr lang="ar-SA" sz="1100" i="1" spc="-55" dirty="0">
                          <a:latin typeface="Cambria Math" panose="02040503050406030204" pitchFamily="18" charset="0"/>
                          <a:cs typeface="Arial"/>
                        </a:rPr>
                        <m:t>1</m:t>
                      </m:r>
                    </m:oMath>
                  </m:oMathPara>
                </a14:m>
                <a:endParaRPr lang="ar-SA" sz="1100" i="1" spc="-55" dirty="0">
                  <a:latin typeface="Cambria Math" panose="02040503050406030204" pitchFamily="18" charset="0"/>
                  <a:cs typeface="Arial"/>
                </a:endParaRPr>
              </a:p>
              <a:p>
                <a:pPr marL="327660">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a:lnSpc>
                    <a:spcPct val="100000"/>
                  </a:lnSpc>
                  <a:spcBef>
                    <a:spcPts val="660"/>
                  </a:spcBef>
                </a:pPr>
                <a:endParaRPr lang="ar-SA" sz="1100" dirty="0">
                  <a:latin typeface="Tahoma"/>
                  <a:cs typeface="Tahoma"/>
                </a:endParaRPr>
              </a:p>
              <a:p>
                <a:pPr marL="53975" marR="5080" algn="l" rtl="0">
                  <a:lnSpc>
                    <a:spcPts val="1400"/>
                  </a:lnSpc>
                  <a:spcBef>
                    <a:spcPts val="330"/>
                  </a:spcBef>
                  <a:buClr>
                    <a:srgbClr val="0000FF"/>
                  </a:buClr>
                </a:pPr>
                <a:r>
                  <a:rPr lang="en-MY" sz="1100" kern="1200" spc="10" dirty="0">
                    <a:solidFill>
                      <a:schemeClr val="tx1"/>
                    </a:solidFill>
                    <a:latin typeface="Tahoma"/>
                    <a:ea typeface="+mn-ea"/>
                    <a:cs typeface="Tahoma"/>
                  </a:rPr>
                  <a:t>Proper simple game:</a:t>
                </a:r>
              </a:p>
              <a:p>
                <a:pPr marL="325755" indent="-175260">
                  <a:lnSpc>
                    <a:spcPct val="100000"/>
                  </a:lnSpc>
                  <a:spcBef>
                    <a:spcPts val="334"/>
                  </a:spcBef>
                  <a:buClr>
                    <a:srgbClr val="3333B2"/>
                  </a:buClr>
                  <a:buFont typeface="Arial"/>
                  <a:buChar char="►"/>
                  <a:tabLst>
                    <a:tab pos="3257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325755" indent="-175260">
                  <a:lnSpc>
                    <a:spcPct val="100000"/>
                  </a:lnSpc>
                  <a:spcBef>
                    <a:spcPts val="330"/>
                  </a:spcBef>
                  <a:buClr>
                    <a:srgbClr val="3333B2"/>
                  </a:buClr>
                  <a:buFont typeface="Arial"/>
                  <a:buChar char="►"/>
                  <a:tabLst>
                    <a:tab pos="32575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0" dirty="0">
                        <a:latin typeface="Cambria Math" panose="02040503050406030204" pitchFamily="18" charset="0"/>
                        <a:cs typeface="Tahoma"/>
                      </a:rPr>
                      <m:t>0</m:t>
                    </m:r>
                  </m:oMath>
                </a14:m>
                <a:r>
                  <a:rPr lang="en-MY" sz="1100" dirty="0">
                    <a:latin typeface="Tahoma"/>
                    <a:cs typeface="Tahoma"/>
                  </a:rPr>
                  <a:t> </a:t>
                </a:r>
              </a:p>
              <a:p>
                <a:pPr marL="327660" rtl="0">
                  <a:spcBef>
                    <a:spcPts val="330"/>
                  </a:spcBef>
                  <a:spcAft>
                    <a:spcPts val="400"/>
                  </a:spcAft>
                </a:pPr>
                <a14:m>
                  <m:oMath xmlns:m="http://schemas.openxmlformats.org/officeDocument/2006/math">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d>
                      <m:dPr>
                        <m:ctrlPr>
                          <a:rPr lang="en-MY" sz="1100" i="1" spc="-55" dirty="0">
                            <a:latin typeface="Cambria Math" panose="02040503050406030204" pitchFamily="18" charset="0"/>
                            <a:cs typeface="Arial"/>
                          </a:rPr>
                        </m:ctrlPr>
                      </m:dPr>
                      <m:e>
                        <m:d>
                          <m:dPr>
                            <m:begChr m:val="{"/>
                            <m:endChr m:val="}"/>
                            <m:ctrlPr>
                              <a:rPr lang="en-MY" sz="1100" i="1" spc="-55" dirty="0">
                                <a:latin typeface="Cambria Math" panose="02040503050406030204" pitchFamily="18" charset="0"/>
                                <a:cs typeface="Arial"/>
                              </a:rPr>
                            </m:ctrlPr>
                          </m:dPr>
                          <m:e>
                            <m:r>
                              <a:rPr lang="en-MY" sz="1100" i="1" spc="-55" dirty="0">
                                <a:latin typeface="Cambria Math" panose="02040503050406030204" pitchFamily="18" charset="0"/>
                                <a:cs typeface="Arial"/>
                              </a:rPr>
                              <m:t>1</m:t>
                            </m:r>
                          </m:e>
                        </m:d>
                      </m:e>
                    </m:d>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r>
                      <a:rPr lang="en-MY" sz="1100" i="1" spc="-55" dirty="0">
                        <a:latin typeface="Cambria Math" panose="02040503050406030204" pitchFamily="18" charset="0"/>
                        <a:cs typeface="Arial"/>
                      </a:rPr>
                      <m:t>2</m:t>
                    </m:r>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𝑣</m:t>
                    </m:r>
                    <m:r>
                      <a:rPr lang="en-MY" sz="1100" i="1" spc="-55" dirty="0">
                        <a:latin typeface="Cambria Math" panose="02040503050406030204" pitchFamily="18" charset="0"/>
                        <a:cs typeface="Arial"/>
                      </a:rPr>
                      <m:t> ({</m:t>
                    </m:r>
                    <m:r>
                      <a:rPr lang="en-MY" sz="1100" i="1" spc="-55" dirty="0">
                        <a:latin typeface="Cambria Math" panose="02040503050406030204" pitchFamily="18" charset="0"/>
                        <a:cs typeface="Arial"/>
                      </a:rPr>
                      <m:t>3</m:t>
                    </m:r>
                    <m:r>
                      <a:rPr lang="en-MY" sz="1100" i="1" spc="-55" dirty="0">
                        <a:latin typeface="Cambria Math" panose="02040503050406030204" pitchFamily="18" charset="0"/>
                        <a:cs typeface="Arial"/>
                      </a:rPr>
                      <m:t>})=</m:t>
                    </m:r>
                    <m:r>
                      <a:rPr lang="en-MY" sz="1100" i="1" spc="-55" dirty="0">
                        <a:latin typeface="Cambria Math" panose="02040503050406030204" pitchFamily="18" charset="0"/>
                        <a:cs typeface="Arial"/>
                      </a:rPr>
                      <m:t>0</m:t>
                    </m:r>
                  </m:oMath>
                </a14:m>
                <a:r>
                  <a:rPr lang="en-MY" sz="1100" i="1" spc="-55" dirty="0">
                    <a:latin typeface="Cambria Math" panose="02040503050406030204" pitchFamily="18" charset="0"/>
                    <a:cs typeface="Arial"/>
                  </a:rPr>
                  <a:t> </a:t>
                </a:r>
              </a:p>
              <a:p>
                <a:pPr marL="327660">
                  <a:lnSpc>
                    <a:spcPct val="100000"/>
                  </a:lnSpc>
                  <a:spcBef>
                    <a:spcPts val="335"/>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en-MY" sz="1100" i="1" spc="-50" dirty="0">
                              <a:latin typeface="Cambria Math" panose="02040503050406030204" pitchFamily="18" charset="0"/>
                              <a:cs typeface="Tahoma"/>
                            </a:rPr>
                          </m:ctrlPr>
                        </m:dPr>
                        <m:e>
                          <m:d>
                            <m:dPr>
                              <m:begChr m:val="{"/>
                              <m:endChr m:val="}"/>
                              <m:ctrlPr>
                                <a:rPr lang="en-MY" sz="1100" i="1" spc="-50" dirty="0">
                                  <a:latin typeface="Cambria Math" panose="02040503050406030204" pitchFamily="18" charset="0"/>
                                  <a:cs typeface="Tahoma"/>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e>
                          </m:d>
                        </m:e>
                      </m:d>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d>
                        <m:dPr>
                          <m:ctrlPr>
                            <a:rPr lang="en-MY" sz="1100" i="1" spc="-50" dirty="0">
                              <a:latin typeface="Cambria Math" panose="02040503050406030204" pitchFamily="18" charset="0"/>
                              <a:cs typeface="Arial"/>
                            </a:rPr>
                          </m:ctrlPr>
                        </m:dPr>
                        <m:e>
                          <m:d>
                            <m:dPr>
                              <m:begChr m:val="{"/>
                              <m:endChr m:val="}"/>
                              <m:ctrlPr>
                                <a:rPr lang="en-MY" sz="1100" i="1" spc="-50" dirty="0">
                                  <a:latin typeface="Cambria Math" panose="02040503050406030204" pitchFamily="18" charset="0"/>
                                  <a:cs typeface="Arial"/>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d>
                        <m:dPr>
                          <m:ctrlPr>
                            <a:rPr lang="en-MY" sz="1100" i="1" spc="-50" dirty="0">
                              <a:latin typeface="Cambria Math" panose="02040503050406030204" pitchFamily="18" charset="0"/>
                              <a:cs typeface="Arial"/>
                            </a:rPr>
                          </m:ctrlPr>
                        </m:dPr>
                        <m:e>
                          <m:d>
                            <m:dPr>
                              <m:begChr m:val="{"/>
                              <m:endChr m:val="}"/>
                              <m:ctrlPr>
                                <a:rPr lang="en-MY" sz="1100" i="1" spc="-50" dirty="0">
                                  <a:latin typeface="Cambria Math" panose="02040503050406030204" pitchFamily="18" charset="0"/>
                                  <a:cs typeface="Arial"/>
                                </a:rPr>
                              </m:ctrlPr>
                            </m:dPr>
                            <m:e>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a:latin typeface="Cambria Math" panose="02040503050406030204" pitchFamily="18" charset="0"/>
                          <a:cs typeface="Tahoma"/>
                        </a:rPr>
                        <m:t>=</m:t>
                      </m:r>
                      <m:r>
                        <a:rPr lang="en-MY" sz="1100" i="1" spc="-50" dirty="0">
                          <a:latin typeface="Cambria Math" panose="02040503050406030204" pitchFamily="18" charset="0"/>
                          <a:cs typeface="Tahoma"/>
                        </a:rPr>
                        <m:t>1</m:t>
                      </m:r>
                    </m:oMath>
                  </m:oMathPara>
                </a14:m>
                <a:endParaRPr lang="en-MY" sz="1100" dirty="0">
                  <a:latin typeface="Tahoma"/>
                  <a:cs typeface="Tahoma"/>
                </a:endParaRPr>
              </a:p>
              <a:p>
                <a:pPr marL="327660">
                  <a:lnSpc>
                    <a:spcPct val="100000"/>
                  </a:lnSpc>
                  <a:spcBef>
                    <a:spcPts val="334"/>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d>
                      <m:dPr>
                        <m:ctrlPr>
                          <a:rPr lang="en-MY" sz="1100" i="1" spc="-50" dirty="0">
                            <a:latin typeface="Cambria Math" panose="02040503050406030204" pitchFamily="18" charset="0"/>
                            <a:cs typeface="Tahoma"/>
                          </a:rPr>
                        </m:ctrlPr>
                      </m:dPr>
                      <m:e>
                        <m:d>
                          <m:dPr>
                            <m:begChr m:val="{"/>
                            <m:endChr m:val="}"/>
                            <m:ctrlPr>
                              <a:rPr lang="en-MY" sz="1100" i="1" spc="-50" dirty="0">
                                <a:latin typeface="Cambria Math" panose="02040503050406030204" pitchFamily="18" charset="0"/>
                                <a:cs typeface="Tahoma"/>
                              </a:rPr>
                            </m:ctrlPr>
                          </m:dPr>
                          <m:e>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e>
                        </m:d>
                      </m:e>
                    </m:d>
                    <m:r>
                      <a:rPr lang="en-MY" sz="1100" i="1" dirty="0" smtClean="0">
                        <a:latin typeface="Cambria Math" panose="02040503050406030204" pitchFamily="18" charset="0"/>
                        <a:cs typeface="Tahoma"/>
                      </a:rPr>
                      <m:t>=</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09194" y="593595"/>
                <a:ext cx="2578100" cy="2597505"/>
              </a:xfrm>
              <a:prstGeom prst="rect">
                <a:avLst/>
              </a:prstGeom>
              <a:blipFill>
                <a:blip r:embed="rId3"/>
                <a:stretch>
                  <a:fillRect l="-141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84DEADBA-286A-44FC-98C0-BA2A634A1DE4}"/>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46C6693-2638-4781-A23C-860A96C6E36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A8CA602-14CB-42A1-A404-8F88982D50D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Summary:</a:t>
            </a:r>
            <a:r>
              <a:rPr spc="285" dirty="0"/>
              <a:t> </a:t>
            </a:r>
            <a:r>
              <a:rPr dirty="0"/>
              <a:t>Classes</a:t>
            </a:r>
            <a:r>
              <a:rPr spc="135" dirty="0"/>
              <a:t> </a:t>
            </a:r>
            <a:r>
              <a:rPr dirty="0"/>
              <a:t>of</a:t>
            </a:r>
            <a:r>
              <a:rPr spc="140" dirty="0"/>
              <a:t> </a:t>
            </a:r>
            <a:r>
              <a:rPr dirty="0"/>
              <a:t>coalitional</a:t>
            </a:r>
            <a:r>
              <a:rPr spc="140"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45757" y="668925"/>
                <a:ext cx="4321493" cy="2204450"/>
              </a:xfrm>
              <a:prstGeom prst="rect">
                <a:avLst/>
              </a:prstGeom>
            </p:spPr>
            <p:txBody>
              <a:bodyPr vert="horz" wrap="square" lIns="0" tIns="11430" rIns="0" bIns="0" rtlCol="0">
                <a:spAutoFit/>
              </a:bodyPr>
              <a:lstStyle/>
              <a:p>
                <a:pPr marL="289560" indent="-175260">
                  <a:lnSpc>
                    <a:spcPct val="100000"/>
                  </a:lnSpc>
                  <a:spcBef>
                    <a:spcPts val="90"/>
                  </a:spcBef>
                  <a:buClr>
                    <a:srgbClr val="3333B2"/>
                  </a:buClr>
                  <a:buFont typeface="Arial"/>
                  <a:buChar char="►"/>
                  <a:tabLst>
                    <a:tab pos="289560" algn="l"/>
                  </a:tabLst>
                </a:pPr>
                <a:r>
                  <a:rPr lang="en-MY" sz="1100" b="1" spc="-30" dirty="0">
                    <a:latin typeface="Arial"/>
                    <a:cs typeface="Arial"/>
                  </a:rPr>
                  <a:t>Superadditive.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1</m:t>
                          </m:r>
                        </m:sub>
                      </m:sSub>
                      <m:r>
                        <a:rPr lang="en-MY" sz="1100" i="1" dirty="0">
                          <a:latin typeface="Cambria Math" panose="02040503050406030204" pitchFamily="18" charset="0"/>
                          <a:cs typeface="Tahoma"/>
                        </a:rPr>
                        <m:t>=</m:t>
                      </m:r>
                      <m:r>
                        <a:rPr lang="en-MY" sz="1100" i="1" spc="-350" dirty="0">
                          <a:latin typeface="Cambria Math" panose="02040503050406030204" pitchFamily="18" charset="0"/>
                          <a:cs typeface="Meiryo UI"/>
                        </a:rPr>
                        <m:t>∅</m:t>
                      </m:r>
                      <m:r>
                        <a:rPr lang="en-MY" sz="1100" i="1" spc="-75" dirty="0">
                          <a:latin typeface="Cambria Math" panose="02040503050406030204" pitchFamily="18" charset="0"/>
                          <a:cs typeface="Meiryo UI"/>
                        </a:rPr>
                        <m:t> </m:t>
                      </m:r>
                      <m:r>
                        <a:rPr lang="en-MY" sz="1100" i="1"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0"/>
                  </a:spcBef>
                  <a:buClr>
                    <a:srgbClr val="3333B2"/>
                  </a:buClr>
                  <a:buFont typeface="Arial"/>
                  <a:buChar char="►"/>
                  <a:tabLst>
                    <a:tab pos="289560" algn="l"/>
                  </a:tabLst>
                </a:pPr>
                <a:r>
                  <a:rPr lang="en-MY" sz="1100" b="1" spc="-35" dirty="0">
                    <a:latin typeface="Arial"/>
                    <a:cs typeface="Arial"/>
                  </a:rPr>
                  <a:t>Convex.</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smtClean="0">
                        <a:latin typeface="Cambria Math" panose="02040503050406030204" pitchFamily="18" charset="0"/>
                        <a:cs typeface="Arial"/>
                      </a:rPr>
                      <m:t>𝑁</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25" dirty="0" smtClean="0">
                              <a:latin typeface="Cambria Math" panose="02040503050406030204" pitchFamily="18" charset="0"/>
                              <a:cs typeface="Meiryo UI"/>
                            </a:rPr>
                          </m:ctrlPr>
                        </m:sSubPr>
                        <m:e>
                          <m:r>
                            <a:rPr lang="en-MY" sz="1100" i="1" spc="-25" dirty="0">
                              <a:latin typeface="Cambria Math" panose="02040503050406030204" pitchFamily="18" charset="0"/>
                              <a:cs typeface="Arial"/>
                            </a:rPr>
                            <m:t>𝐶</m:t>
                          </m:r>
                        </m:e>
                        <m:sub>
                          <m:r>
                            <a:rPr lang="en-MY" sz="1100" b="0" i="1" spc="-25" dirty="0" smtClean="0">
                              <a:latin typeface="Cambria Math" panose="02040503050406030204" pitchFamily="18" charset="0"/>
                              <a:cs typeface="Arial"/>
                            </a:rPr>
                            <m:t>2</m:t>
                          </m:r>
                        </m:sub>
                      </m:sSub>
                      <m:r>
                        <a:rPr lang="en-MY" sz="1100" i="1" spc="-25"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5"/>
                  </a:spcBef>
                  <a:buClr>
                    <a:srgbClr val="3333B2"/>
                  </a:buClr>
                  <a:buFont typeface="Arial"/>
                  <a:buChar char="►"/>
                  <a:tabLst>
                    <a:tab pos="289560" algn="l"/>
                  </a:tabLst>
                </a:pPr>
                <a:r>
                  <a:rPr lang="en-MY" sz="1100" b="1" spc="-10" dirty="0">
                    <a:latin typeface="Arial"/>
                    <a:cs typeface="Arial"/>
                  </a:rPr>
                  <a:t>Additive.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sSub>
                      <m:sSubPr>
                        <m:ctrlPr>
                          <a:rPr lang="en-US" sz="1100" b="0" i="1" spc="-30" dirty="0" smtClean="0">
                            <a:latin typeface="Cambria Math" panose="02040503050406030204" pitchFamily="18" charset="0"/>
                            <a:cs typeface="Arial"/>
                          </a:rPr>
                        </m:ctrlPr>
                      </m:sSubPr>
                      <m:e>
                        <m:r>
                          <a:rPr lang="en-MY" sz="1100" i="1" spc="-30" dirty="0" smtClean="0">
                            <a:latin typeface="Cambria Math" panose="02040503050406030204" pitchFamily="18" charset="0"/>
                            <a:cs typeface="Arial"/>
                          </a:rPr>
                          <m:t>𝐶</m:t>
                        </m:r>
                      </m:e>
                      <m:sub>
                        <m:r>
                          <a:rPr lang="en-US"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sSub>
                      <m:sSubPr>
                        <m:ctrlPr>
                          <a:rPr lang="en-US" sz="1100" b="0" i="1" spc="-10" dirty="0" smtClean="0">
                            <a:latin typeface="Cambria Math" panose="02040503050406030204" pitchFamily="18" charset="0"/>
                            <a:cs typeface="Arial"/>
                          </a:rPr>
                        </m:ctrlPr>
                      </m:sSubPr>
                      <m:e>
                        <m:r>
                          <a:rPr lang="en-MY" sz="1100" i="1" spc="-10" dirty="0">
                            <a:latin typeface="Cambria Math" panose="02040503050406030204" pitchFamily="18" charset="0"/>
                            <a:cs typeface="Arial"/>
                          </a:rPr>
                          <m:t>𝐶</m:t>
                        </m:r>
                      </m:e>
                      <m:sub>
                        <m:r>
                          <a:rPr lang="en-US" sz="1100" b="0" i="1" spc="-10" dirty="0" smtClean="0">
                            <a:latin typeface="Cambria Math" panose="02040503050406030204" pitchFamily="18" charset="0"/>
                            <a:cs typeface="Arial"/>
                          </a:rPr>
                          <m:t>2</m:t>
                        </m:r>
                      </m:sub>
                    </m:sSub>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85" dirty="0">
                        <a:latin typeface="Cambria Math" panose="02040503050406030204" pitchFamily="18" charset="0"/>
                        <a:cs typeface="Arial"/>
                      </a:rPr>
                      <m:t> </m:t>
                    </m:r>
                  </m:oMath>
                </a14:m>
                <a:r>
                  <a:rPr lang="en-MY" sz="1100" spc="-50" dirty="0">
                    <a:latin typeface="Tahoma"/>
                    <a:cs typeface="Tahoma"/>
                  </a:rPr>
                  <a:t>:</a:t>
                </a:r>
                <a:endParaRPr lang="en-MY" sz="1100" dirty="0">
                  <a:latin typeface="Tahoma"/>
                  <a:cs typeface="Tahoma"/>
                </a:endParaRPr>
              </a:p>
              <a:p>
                <a:pPr marL="301625" algn="ctr">
                  <a:lnSpc>
                    <a:spcPct val="100000"/>
                  </a:lnSpc>
                  <a:spcBef>
                    <a:spcPts val="1130"/>
                  </a:spcBef>
                </a:pPr>
                <a14:m>
                  <m:oMathPara xmlns:m="http://schemas.openxmlformats.org/officeDocument/2006/math">
                    <m:oMathParaPr>
                      <m:jc m:val="centerGroup"/>
                    </m:oMathParaPr>
                    <m:oMath xmlns:m="http://schemas.openxmlformats.org/officeDocument/2006/math">
                      <m:sSub>
                        <m:sSubPr>
                          <m:ctrlPr>
                            <a:rPr lang="en-MY" sz="1100" b="0" i="1" spc="-25" dirty="0" smtClean="0">
                              <a:latin typeface="Cambria Math" panose="02040503050406030204" pitchFamily="18" charset="0"/>
                              <a:cs typeface="Arial"/>
                            </a:rPr>
                          </m:ctrlPr>
                        </m:sSubPr>
                        <m:e>
                          <m:r>
                            <a:rPr lang="en-MY" sz="1100" i="1" spc="-25" dirty="0" smtClean="0">
                              <a:latin typeface="Cambria Math" panose="02040503050406030204" pitchFamily="18" charset="0"/>
                              <a:cs typeface="Arial"/>
                            </a:rPr>
                            <m:t>𝐶</m:t>
                          </m:r>
                        </m:e>
                        <m:sub>
                          <m:r>
                            <a:rPr lang="en-MY" sz="1100" b="0" i="1" spc="-25"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10" dirty="0" smtClean="0">
                              <a:latin typeface="Cambria Math" panose="02040503050406030204" pitchFamily="18" charset="0"/>
                              <a:cs typeface="Meiryo UI"/>
                            </a:rPr>
                          </m:ctrlPr>
                        </m:sSubPr>
                        <m:e>
                          <m:r>
                            <a:rPr lang="en-MY" sz="1100" i="1" spc="-10" dirty="0">
                              <a:latin typeface="Cambria Math" panose="02040503050406030204" pitchFamily="18" charset="0"/>
                              <a:cs typeface="Arial"/>
                            </a:rPr>
                            <m:t>𝐶</m:t>
                          </m:r>
                        </m:e>
                        <m:sub>
                          <m:r>
                            <a:rPr lang="en-MY" sz="1100" b="0" i="1" spc="-10" dirty="0" smtClean="0">
                              <a:latin typeface="Cambria Math" panose="02040503050406030204" pitchFamily="18" charset="0"/>
                              <a:cs typeface="Arial"/>
                            </a:rPr>
                            <m:t>2</m:t>
                          </m:r>
                        </m:sub>
                      </m:sSub>
                      <m:r>
                        <a:rPr lang="en-MY" sz="1100" i="1" dirty="0">
                          <a:latin typeface="Cambria Math" panose="02040503050406030204" pitchFamily="18" charset="0"/>
                          <a:cs typeface="Tahoma"/>
                        </a:rPr>
                        <m:t>=</m:t>
                      </m:r>
                      <m:r>
                        <a:rPr lang="en-MY" sz="1100" i="1" spc="-350" dirty="0">
                          <a:latin typeface="Cambria Math" panose="02040503050406030204" pitchFamily="18" charset="0"/>
                          <a:cs typeface="Meiryo UI"/>
                        </a:rPr>
                        <m:t>∅</m:t>
                      </m:r>
                      <m:r>
                        <a:rPr lang="en-MY" sz="1100" i="1" spc="-75" dirty="0">
                          <a:latin typeface="Cambria Math" panose="02040503050406030204" pitchFamily="18" charset="0"/>
                          <a:cs typeface="Meiryo UI"/>
                        </a:rPr>
                        <m:t> </m:t>
                      </m:r>
                      <m:r>
                        <a:rPr lang="en-MY" sz="1100" i="1"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1</m:t>
                          </m:r>
                        </m:sub>
                      </m:sSub>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sSub>
                        <m:sSubPr>
                          <m:ctrlPr>
                            <a:rPr lang="en-MY" sz="1100" b="0" i="1" spc="-30" dirty="0" smtClean="0">
                              <a:latin typeface="Cambria Math" panose="02040503050406030204" pitchFamily="18" charset="0"/>
                              <a:cs typeface="Meiryo UI"/>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2</m:t>
                          </m:r>
                        </m:sub>
                      </m:sSub>
                      <m:r>
                        <a:rPr lang="en-MY" sz="1100" i="1" spc="-3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30" dirty="0">
                          <a:latin typeface="Cambria Math" panose="02040503050406030204" pitchFamily="18" charset="0"/>
                          <a:cs typeface="Tahoma"/>
                        </a:rPr>
                        <m:t>(</m:t>
                      </m:r>
                      <m:sSub>
                        <m:sSubPr>
                          <m:ctrlPr>
                            <a:rPr lang="en-MY" sz="1100" b="0" i="1" spc="-30" dirty="0" smtClean="0">
                              <a:latin typeface="Cambria Math" panose="02040503050406030204" pitchFamily="18" charset="0"/>
                              <a:cs typeface="Arial"/>
                            </a:rPr>
                          </m:ctrlPr>
                        </m:sSubPr>
                        <m:e>
                          <m:r>
                            <a:rPr lang="en-MY" sz="1100" i="1" spc="-30" dirty="0">
                              <a:latin typeface="Cambria Math" panose="02040503050406030204" pitchFamily="18" charset="0"/>
                              <a:cs typeface="Arial"/>
                            </a:rPr>
                            <m:t>𝐶</m:t>
                          </m:r>
                        </m:e>
                        <m:sub>
                          <m:r>
                            <a:rPr lang="en-MY" sz="1100" b="0" i="1" spc="-30" dirty="0" smtClean="0">
                              <a:latin typeface="Cambria Math" panose="02040503050406030204" pitchFamily="18" charset="0"/>
                              <a:cs typeface="Arial"/>
                            </a:rPr>
                            <m:t>1</m:t>
                          </m:r>
                        </m:sub>
                      </m:sSub>
                      <m:r>
                        <a:rPr lang="en-MY" sz="1100" i="1" spc="-30" dirty="0">
                          <a:latin typeface="Cambria Math" panose="02040503050406030204" pitchFamily="18" charset="0"/>
                          <a:cs typeface="Tahoma"/>
                        </a:rPr>
                        <m:t>)</m:t>
                      </m:r>
                      <m:r>
                        <a:rPr lang="en-MY" sz="1100" i="1" dirty="0" smtClean="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0" dirty="0">
                          <a:latin typeface="Cambria Math" panose="02040503050406030204" pitchFamily="18" charset="0"/>
                          <a:cs typeface="Tahoma"/>
                        </a:rPr>
                        <m:t>(</m:t>
                      </m:r>
                      <m:sSub>
                        <m:sSubPr>
                          <m:ctrlPr>
                            <a:rPr lang="en-MY" sz="1100" b="0" i="1" spc="-20" dirty="0" smtClean="0">
                              <a:latin typeface="Cambria Math" panose="02040503050406030204" pitchFamily="18" charset="0"/>
                              <a:cs typeface="Arial"/>
                            </a:rPr>
                          </m:ctrlPr>
                        </m:sSubPr>
                        <m:e>
                          <m:r>
                            <a:rPr lang="en-MY" sz="1100" i="1" spc="-20" dirty="0">
                              <a:latin typeface="Cambria Math" panose="02040503050406030204" pitchFamily="18" charset="0"/>
                              <a:cs typeface="Arial"/>
                            </a:rPr>
                            <m:t>𝐶</m:t>
                          </m:r>
                        </m:e>
                        <m:sub>
                          <m:r>
                            <a:rPr lang="en-MY" sz="1100" b="0" i="1" spc="-20" dirty="0" smtClean="0">
                              <a:latin typeface="Cambria Math" panose="02040503050406030204" pitchFamily="18" charset="0"/>
                              <a:cs typeface="Arial"/>
                            </a:rPr>
                            <m:t>2</m:t>
                          </m:r>
                        </m:sub>
                      </m:sSub>
                      <m:r>
                        <a:rPr lang="en-MY" sz="1100" i="1" spc="-20" dirty="0">
                          <a:latin typeface="Cambria Math" panose="02040503050406030204" pitchFamily="18" charset="0"/>
                          <a:cs typeface="Tahoma"/>
                        </a:rPr>
                        <m:t>)</m:t>
                      </m:r>
                    </m:oMath>
                  </m:oMathPara>
                </a14:m>
                <a:endParaRPr lang="en-MY" sz="1100" dirty="0">
                  <a:latin typeface="Tahoma"/>
                  <a:cs typeface="Tahoma"/>
                </a:endParaRPr>
              </a:p>
              <a:p>
                <a:pPr marL="289560" indent="-175260">
                  <a:lnSpc>
                    <a:spcPct val="100000"/>
                  </a:lnSpc>
                  <a:spcBef>
                    <a:spcPts val="1130"/>
                  </a:spcBef>
                  <a:buClr>
                    <a:srgbClr val="3333B2"/>
                  </a:buClr>
                  <a:buFont typeface="Arial"/>
                  <a:buChar char="►"/>
                  <a:tabLst>
                    <a:tab pos="289560" algn="l"/>
                  </a:tabLst>
                </a:pPr>
                <a:r>
                  <a:rPr lang="en-MY" sz="1100" b="1" spc="-40" dirty="0">
                    <a:latin typeface="Arial"/>
                    <a:cs typeface="Arial"/>
                  </a:rPr>
                  <a:t>Constant-</a:t>
                </a:r>
                <a:r>
                  <a:rPr lang="en-MY" sz="1100" b="1" dirty="0">
                    <a:latin typeface="Arial"/>
                    <a:cs typeface="Arial"/>
                  </a:rPr>
                  <a:t>sum.</a:t>
                </a:r>
                <a:r>
                  <a:rPr lang="en-MY" sz="1100" b="1" spc="2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95" dirty="0" smtClean="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114"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m:rPr>
                        <m:lit/>
                      </m:rPr>
                      <a:rPr lang="en-MY" sz="1100" b="0" i="1" dirty="0" smtClean="0">
                        <a:latin typeface="Cambria Math" panose="02040503050406030204" pitchFamily="18" charset="0"/>
                        <a:cs typeface="Arial"/>
                      </a:rPr>
                      <m:t> </m:t>
                    </m:r>
                    <m:r>
                      <a:rPr lang="en-MY" sz="1100" b="0" i="1" dirty="0" smtClean="0">
                        <a:latin typeface="Cambria Math" panose="02040503050406030204" pitchFamily="18" charset="0"/>
                        <a:cs typeface="Arial"/>
                      </a:rPr>
                      <m:t>\</m:t>
                    </m:r>
                    <m:r>
                      <m:rPr>
                        <m:lit/>
                      </m:rPr>
                      <a:rPr lang="en-MY" sz="1100" b="0" i="1" dirty="0" smtClean="0">
                        <a:latin typeface="Cambria Math" panose="02040503050406030204" pitchFamily="18" charset="0"/>
                        <a:cs typeface="Arial"/>
                      </a:rPr>
                      <m:t> </m:t>
                    </m:r>
                    <m:r>
                      <a:rPr lang="en-MY" sz="1100" i="1" spc="-11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lang="en-MY" sz="1100" dirty="0">
                  <a:latin typeface="Tahoma"/>
                  <a:cs typeface="Tahoma"/>
                </a:endParaRPr>
              </a:p>
              <a:p>
                <a:pPr marL="289560" indent="-175260">
                  <a:lnSpc>
                    <a:spcPct val="100000"/>
                  </a:lnSpc>
                  <a:spcBef>
                    <a:spcPts val="334"/>
                  </a:spcBef>
                  <a:buClr>
                    <a:srgbClr val="3333B2"/>
                  </a:buClr>
                  <a:buFont typeface="Arial"/>
                  <a:buChar char="►"/>
                  <a:tabLst>
                    <a:tab pos="289560" algn="l"/>
                  </a:tabLst>
                </a:pPr>
                <a:r>
                  <a:rPr lang="en-MY" sz="1100" b="1" spc="-10" dirty="0">
                    <a:latin typeface="Arial"/>
                    <a:cs typeface="Arial"/>
                  </a:rPr>
                  <a:t>Simple.</a:t>
                </a:r>
                <a:r>
                  <a:rPr lang="en-MY" sz="1100" b="1" spc="40" dirty="0">
                    <a:latin typeface="Arial"/>
                    <a:cs typeface="Arial"/>
                  </a:rPr>
                  <a:t> </a:t>
                </a: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dirty="0">
                        <a:latin typeface="Cambria Math" panose="02040503050406030204" pitchFamily="18" charset="0"/>
                        <a:cs typeface="Arial"/>
                      </a:rPr>
                      <m:t>𝑁</m:t>
                    </m:r>
                    <m:r>
                      <a:rPr lang="en-MY" sz="1100" i="1" spc="9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289560" indent="-175260">
                  <a:lnSpc>
                    <a:spcPct val="100000"/>
                  </a:lnSpc>
                  <a:spcBef>
                    <a:spcPts val="330"/>
                  </a:spcBef>
                  <a:buClr>
                    <a:srgbClr val="3333B2"/>
                  </a:buClr>
                  <a:buFont typeface="Arial"/>
                  <a:buChar char="►"/>
                  <a:tabLst>
                    <a:tab pos="289560" algn="l"/>
                  </a:tabLst>
                </a:pPr>
                <a:r>
                  <a:rPr lang="en-MY" sz="1100" b="1" spc="-20" dirty="0">
                    <a:latin typeface="Arial"/>
                    <a:cs typeface="Arial"/>
                  </a:rPr>
                  <a:t>Proper</a:t>
                </a:r>
                <a:r>
                  <a:rPr lang="en-MY" sz="1100" b="1" spc="5" dirty="0">
                    <a:latin typeface="Arial"/>
                    <a:cs typeface="Arial"/>
                  </a:rPr>
                  <a:t> </a:t>
                </a:r>
                <a:r>
                  <a:rPr lang="en-MY" sz="1100" b="1" spc="-10" dirty="0">
                    <a:latin typeface="Arial"/>
                    <a:cs typeface="Arial"/>
                  </a:rPr>
                  <a:t>simple.</a:t>
                </a:r>
                <a:endParaRPr lang="en-MY" sz="1100" dirty="0">
                  <a:latin typeface="Arial"/>
                  <a:cs typeface="Arial"/>
                </a:endParaRPr>
              </a:p>
              <a:p>
                <a:pPr marL="240029" algn="ctr">
                  <a:lnSpc>
                    <a:spcPct val="100000"/>
                  </a:lnSpc>
                  <a:spcBef>
                    <a:spcPts val="35"/>
                  </a:spcBef>
                </a:pPr>
                <a:r>
                  <a:rPr lang="en-MY" sz="1100" kern="1200" spc="10" dirty="0">
                    <a:solidFill>
                      <a:schemeClr val="tx1"/>
                    </a:solidFill>
                    <a:latin typeface="Tahoma"/>
                    <a:ea typeface="+mn-ea"/>
                    <a:cs typeface="Tahoma"/>
                  </a:rPr>
                  <a:t>For all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dirty="0">
                        <a:latin typeface="Cambria Math" panose="02040503050406030204" pitchFamily="18" charset="0"/>
                        <a:cs typeface="Arial"/>
                      </a:rPr>
                      <m:t>𝑁</m:t>
                    </m:r>
                    <m:r>
                      <a:rPr lang="en-MY" sz="1100" i="1" spc="13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0</m:t>
                    </m:r>
                    <m:r>
                      <a:rPr lang="en-MY" sz="1100" i="1" spc="-65"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100" dirty="0">
                        <a:latin typeface="Cambria Math" panose="02040503050406030204" pitchFamily="18" charset="0"/>
                        <a:cs typeface="Tahoma"/>
                      </a:rPr>
                      <m:t>1</m:t>
                    </m:r>
                    <m:r>
                      <a:rPr lang="en-MY" sz="1100" i="1" spc="-100" dirty="0">
                        <a:latin typeface="Cambria Math" panose="02040503050406030204" pitchFamily="18" charset="0"/>
                        <a:cs typeface="Meiryo UI"/>
                      </a:rPr>
                      <m:t>}</m:t>
                    </m:r>
                    <m:r>
                      <a:rPr lang="en-MY" sz="1100" i="1" spc="-15" dirty="0">
                        <a:latin typeface="Cambria Math" panose="02040503050406030204" pitchFamily="18" charset="0"/>
                        <a:cs typeface="Meiryo UI"/>
                      </a:rPr>
                      <m:t> </m:t>
                    </m:r>
                    <m:r>
                      <a:rPr lang="en-MY" sz="1100" i="1" spc="-35" dirty="0">
                        <a:latin typeface="Cambria Math" panose="02040503050406030204" pitchFamily="18" charset="0"/>
                        <a:cs typeface="Tahoma"/>
                      </a:rPr>
                      <m:t>𝑎𝑛𝑑</m:t>
                    </m:r>
                    <m:r>
                      <a:rPr lang="en-MY" sz="1100" i="1" spc="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60" dirty="0">
                        <a:latin typeface="Cambria Math" panose="02040503050406030204" pitchFamily="18" charset="0"/>
                        <a:cs typeface="Tahoma"/>
                      </a:rPr>
                      <m:t>(</m:t>
                    </m:r>
                    <m:r>
                      <a:rPr lang="en-MY" sz="1100" i="1" spc="-6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spc="-10" dirty="0">
                        <a:latin typeface="Cambria Math" panose="02040503050406030204" pitchFamily="18" charset="0"/>
                        <a:cs typeface="Tahoma"/>
                      </a:rPr>
                      <m:t>)</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spc="15" dirty="0">
                        <a:latin typeface="Cambria Math" panose="02040503050406030204" pitchFamily="18" charset="0"/>
                        <a:cs typeface="Arial"/>
                      </a:rPr>
                      <m:t> </m:t>
                    </m:r>
                    <m:r>
                      <a:rPr lang="en-MY" sz="1100" b="0" i="1" spc="15" dirty="0" smtClean="0">
                        <a:latin typeface="Cambria Math" panose="02040503050406030204" pitchFamily="18" charset="0"/>
                        <a:cs typeface="Arial"/>
                      </a:rPr>
                      <m:t>\</m:t>
                    </m:r>
                    <m:r>
                      <m:rPr>
                        <m:lit/>
                      </m:rPr>
                      <a:rPr lang="en-MY" sz="1100" i="1" spc="-135" dirty="0">
                        <a:latin typeface="Cambria Math" panose="02040503050406030204" pitchFamily="18" charset="0"/>
                        <a:cs typeface="Meiryo UI"/>
                      </a:rPr>
                      <m:t> </m:t>
                    </m:r>
                    <m:r>
                      <a:rPr lang="en-MY" sz="1100" i="1" spc="-110" dirty="0">
                        <a:latin typeface="Cambria Math" panose="02040503050406030204" pitchFamily="18" charset="0"/>
                        <a:cs typeface="Arial"/>
                      </a:rPr>
                      <m:t>𝐶</m:t>
                    </m:r>
                    <m:r>
                      <a:rPr lang="en-MY" sz="1100" i="1" spc="-175"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spc="-25" dirty="0">
                        <a:latin typeface="Cambria Math" panose="02040503050406030204" pitchFamily="18" charset="0"/>
                        <a:cs typeface="Tahoma"/>
                      </a:rPr>
                      <m:t>(</m:t>
                    </m:r>
                    <m:r>
                      <a:rPr lang="en-MY" sz="1100" i="1" spc="-25" dirty="0">
                        <a:latin typeface="Cambria Math" panose="02040503050406030204" pitchFamily="18" charset="0"/>
                        <a:cs typeface="Arial"/>
                      </a:rPr>
                      <m:t>𝑁</m:t>
                    </m:r>
                    <m:r>
                      <a:rPr lang="en-MY" sz="1100" i="1" spc="-25" dirty="0">
                        <a:latin typeface="Cambria Math" panose="02040503050406030204" pitchFamily="18" charset="0"/>
                        <a:cs typeface="Tahoma"/>
                      </a:rPr>
                      <m:t>)</m:t>
                    </m:r>
                  </m:oMath>
                </a14:m>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45757" y="668925"/>
                <a:ext cx="4321493" cy="2204450"/>
              </a:xfrm>
              <a:prstGeom prst="rect">
                <a:avLst/>
              </a:prstGeom>
              <a:blipFill>
                <a:blip r:embed="rId3"/>
                <a:stretch>
                  <a:fillRect t="-1939" b="-304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A62EEEB2-6F8E-4A97-8E01-4E24E4AEF8C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50D4A06C-44C2-4902-A2E8-28E69C4B225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30E8AB0-8F6E-4047-8171-1511DC763C2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10" dirty="0"/>
              <a:t>A</a:t>
            </a:r>
            <a:r>
              <a:rPr spc="85" dirty="0"/>
              <a:t> </a:t>
            </a:r>
            <a:r>
              <a:rPr dirty="0"/>
              <a:t>hierarchy</a:t>
            </a:r>
            <a:r>
              <a:rPr spc="85" dirty="0"/>
              <a:t> </a:t>
            </a:r>
            <a:r>
              <a:rPr dirty="0"/>
              <a:t>of</a:t>
            </a:r>
            <a:r>
              <a:rPr spc="85" dirty="0"/>
              <a:t> </a:t>
            </a:r>
            <a:r>
              <a:rPr dirty="0"/>
              <a:t>coalitional</a:t>
            </a:r>
            <a:r>
              <a:rPr spc="90" dirty="0"/>
              <a:t> </a:t>
            </a:r>
            <a:r>
              <a:rPr spc="-10" dirty="0"/>
              <a:t>games</a:t>
            </a:r>
          </a:p>
        </p:txBody>
      </p:sp>
      <p:sp>
        <p:nvSpPr>
          <p:cNvPr id="3" name="object 3"/>
          <p:cNvSpPr txBox="1"/>
          <p:nvPr/>
        </p:nvSpPr>
        <p:spPr>
          <a:xfrm>
            <a:off x="419416" y="1273175"/>
            <a:ext cx="4120782" cy="1252907"/>
          </a:xfrm>
          <a:prstGeom prst="rect">
            <a:avLst/>
          </a:prstGeom>
        </p:spPr>
        <p:txBody>
          <a:bodyPr vert="horz" wrap="square" lIns="0" tIns="11430" rIns="0" bIns="0" rtlCol="0">
            <a:spAutoFit/>
          </a:bodyPr>
          <a:lstStyle/>
          <a:p>
            <a:pPr marL="53975" marR="5080" algn="l" rtl="0">
              <a:lnSpc>
                <a:spcPts val="1400"/>
              </a:lnSpc>
              <a:spcBef>
                <a:spcPts val="330"/>
              </a:spcBef>
              <a:buClr>
                <a:srgbClr val="0000FF"/>
              </a:buClr>
              <a:tabLst>
                <a:tab pos="1004569" algn="l"/>
              </a:tabLst>
            </a:pPr>
            <a:r>
              <a:rPr sz="1100" kern="1200" spc="10" dirty="0">
                <a:solidFill>
                  <a:schemeClr val="tx1"/>
                </a:solidFill>
                <a:latin typeface="Tahoma"/>
                <a:ea typeface="+mn-ea"/>
                <a:cs typeface="Tahoma"/>
              </a:rPr>
              <a:t>Constant-sum</a:t>
            </a:r>
            <a:r>
              <a:rPr sz="1100" dirty="0">
                <a:latin typeface="Tahoma"/>
                <a:cs typeface="Tahoma"/>
              </a:rPr>
              <a:t>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Additive</a:t>
            </a:r>
            <a:r>
              <a:rPr sz="1100" spc="110" dirty="0">
                <a:latin typeface="Tahoma"/>
                <a:cs typeface="Tahoma"/>
              </a:rPr>
              <a:t>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 Convex  </a:t>
            </a:r>
            <a:r>
              <a:rPr sz="1100" i="1" dirty="0">
                <a:latin typeface="Meiryo UI"/>
                <a:cs typeface="Meiryo UI"/>
              </a:rPr>
              <a:t>→</a:t>
            </a:r>
            <a:r>
              <a:rPr sz="1100" i="1" spc="75" dirty="0">
                <a:latin typeface="Meiryo UI"/>
                <a:cs typeface="Meiryo UI"/>
              </a:rPr>
              <a:t>  </a:t>
            </a:r>
            <a:r>
              <a:rPr sz="1100" kern="1200" spc="10" dirty="0">
                <a:solidFill>
                  <a:schemeClr val="tx1"/>
                </a:solidFill>
                <a:latin typeface="Tahoma"/>
                <a:ea typeface="+mn-ea"/>
                <a:cs typeface="Tahoma"/>
              </a:rPr>
              <a:t>Superadditive</a:t>
            </a:r>
          </a:p>
          <a:p>
            <a:pPr marL="432434">
              <a:lnSpc>
                <a:spcPct val="100000"/>
              </a:lnSpc>
              <a:spcBef>
                <a:spcPts val="35"/>
              </a:spcBef>
            </a:pPr>
            <a:r>
              <a:rPr sz="1100" i="1" spc="-615" dirty="0">
                <a:latin typeface="Meiryo UI"/>
                <a:cs typeface="Meiryo UI"/>
              </a:rPr>
              <a:t>↑</a:t>
            </a:r>
            <a:endParaRPr sz="1100" dirty="0">
              <a:latin typeface="Meiryo UI"/>
              <a:cs typeface="Meiryo UI"/>
            </a:endParaRPr>
          </a:p>
          <a:p>
            <a:pPr marL="53975" marR="5080" algn="l" rtl="0">
              <a:lnSpc>
                <a:spcPts val="1400"/>
              </a:lnSpc>
              <a:spcBef>
                <a:spcPts val="330"/>
              </a:spcBef>
              <a:buClr>
                <a:srgbClr val="0000FF"/>
              </a:buClr>
              <a:tabLst>
                <a:tab pos="1315085" algn="l"/>
              </a:tabLst>
            </a:pPr>
            <a:r>
              <a:rPr sz="1100" kern="1200" spc="10" dirty="0">
                <a:solidFill>
                  <a:schemeClr val="tx1"/>
                </a:solidFill>
                <a:latin typeface="Tahoma"/>
                <a:ea typeface="+mn-ea"/>
                <a:cs typeface="Tahoma"/>
              </a:rPr>
              <a:t>Proper Simple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p>
          <a:p>
            <a:pPr>
              <a:lnSpc>
                <a:spcPct val="100000"/>
              </a:lnSpc>
              <a:spcBef>
                <a:spcPts val="1005"/>
              </a:spcBef>
            </a:pPr>
            <a:endParaRPr sz="1100" dirty="0">
              <a:latin typeface="Tahoma"/>
              <a:cs typeface="Tahoma"/>
            </a:endParaRPr>
          </a:p>
          <a:p>
            <a:pPr marL="226060" indent="-175260">
              <a:buClr>
                <a:srgbClr val="3333B2"/>
              </a:buClr>
              <a:buFont typeface="Arial"/>
              <a:buChar char="►"/>
              <a:tabLst>
                <a:tab pos="226060" algn="l"/>
              </a:tabLst>
            </a:pPr>
            <a:r>
              <a:rPr sz="1100" spc="-10" dirty="0">
                <a:latin typeface="Tahoma"/>
                <a:cs typeface="Tahoma"/>
              </a:rPr>
              <a:t>Additive and proper simple are the smallest classes</a:t>
            </a:r>
          </a:p>
          <a:p>
            <a:pPr marL="226060" indent="-175260">
              <a:spcBef>
                <a:spcPts val="335"/>
              </a:spcBef>
              <a:buClr>
                <a:srgbClr val="3333B2"/>
              </a:buClr>
              <a:buFont typeface="Arial"/>
              <a:buChar char="►"/>
              <a:tabLst>
                <a:tab pos="226060" algn="l"/>
              </a:tabLst>
            </a:pPr>
            <a:r>
              <a:rPr sz="1100" i="1" spc="-10" dirty="0">
                <a:latin typeface="Tahoma"/>
                <a:cs typeface="Tahoma"/>
              </a:rPr>
              <a:t>Exercise</a:t>
            </a:r>
            <a:r>
              <a:rPr sz="1100" spc="-10" dirty="0">
                <a:latin typeface="Tahoma"/>
                <a:cs typeface="Tahoma"/>
              </a:rPr>
              <a:t>: show every inclusion</a:t>
            </a:r>
          </a:p>
        </p:txBody>
      </p:sp>
      <p:sp>
        <p:nvSpPr>
          <p:cNvPr id="4" name="Date Placeholder 3">
            <a:extLst>
              <a:ext uri="{FF2B5EF4-FFF2-40B4-BE49-F238E27FC236}">
                <a16:creationId xmlns:a16="http://schemas.microsoft.com/office/drawing/2014/main" id="{6AE5BC8F-E240-4736-868E-88B1ABDBAD26}"/>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E73AAEF-8254-4EE4-8D25-77303F78C787}"/>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977514E1-00C2-4E53-8896-64B7370120C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Analysing</a:t>
            </a:r>
            <a:r>
              <a:rPr spc="185" dirty="0"/>
              <a:t> </a:t>
            </a:r>
            <a:r>
              <a:rPr dirty="0"/>
              <a:t>coalitional</a:t>
            </a:r>
            <a:r>
              <a:rPr spc="18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23850" y="809117"/>
                <a:ext cx="4286250" cy="2099934"/>
              </a:xfrm>
              <a:prstGeom prst="rect">
                <a:avLst/>
              </a:prstGeom>
            </p:spPr>
            <p:txBody>
              <a:bodyPr vert="horz" wrap="square" lIns="0" tIns="11430" rIns="0" bIns="0" rtlCol="0">
                <a:spAutoFit/>
              </a:bodyPr>
              <a:lstStyle/>
              <a:p>
                <a:pPr marL="539115">
                  <a:lnSpc>
                    <a:spcPct val="100000"/>
                  </a:lnSpc>
                  <a:spcBef>
                    <a:spcPts val="90"/>
                  </a:spcBef>
                </a:pPr>
                <a:r>
                  <a:rPr lang="en-MY" sz="1100" i="1" kern="1200" spc="10" dirty="0">
                    <a:solidFill>
                      <a:schemeClr val="tx1"/>
                    </a:solidFill>
                    <a:latin typeface="Tahoma"/>
                    <a:ea typeface="+mn-ea"/>
                    <a:cs typeface="Tahoma"/>
                  </a:rPr>
                  <a:t>How to distribute the payoff of the grand coalition?</a:t>
                </a:r>
              </a:p>
              <a:p>
                <a:pPr marL="183515">
                  <a:lnSpc>
                    <a:spcPct val="100000"/>
                  </a:lnSpc>
                  <a:spcBef>
                    <a:spcPts val="1230"/>
                  </a:spcBef>
                </a:pPr>
                <a:r>
                  <a:rPr lang="en-MY" sz="1100" kern="1200" spc="10" dirty="0">
                    <a:solidFill>
                      <a:schemeClr val="tx1"/>
                    </a:solidFill>
                    <a:latin typeface="Tahoma"/>
                    <a:ea typeface="+mn-ea"/>
                    <a:cs typeface="Tahoma"/>
                  </a:rPr>
                  <a:t>Notations:</a:t>
                </a:r>
              </a:p>
              <a:p>
                <a:pPr marL="366395" indent="-175260">
                  <a:lnSpc>
                    <a:spcPct val="100000"/>
                  </a:lnSpc>
                  <a:spcBef>
                    <a:spcPts val="335"/>
                  </a:spcBef>
                  <a:buClr>
                    <a:srgbClr val="3333B2"/>
                  </a:buClr>
                  <a:buFont typeface="Arial"/>
                  <a:buChar char="►"/>
                  <a:tabLst>
                    <a:tab pos="366395" algn="l"/>
                  </a:tabLst>
                </a:pPr>
                <a:r>
                  <a:rPr lang="en-MY" sz="1100" kern="1200" spc="10" dirty="0">
                    <a:solidFill>
                      <a:schemeClr val="tx1"/>
                    </a:solidFill>
                    <a:latin typeface="Tahoma"/>
                    <a:ea typeface="+mn-ea"/>
                    <a:cs typeface="Tahoma"/>
                  </a:rPr>
                  <a:t>Payoff vector: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or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𝜙</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or </a:t>
                </a:r>
                <a14:m>
                  <m:oMath xmlns:m="http://schemas.openxmlformats.org/officeDocument/2006/math">
                    <m:acc>
                      <m:accPr>
                        <m:chr m:val="⃗"/>
                        <m:ctrlPr>
                          <a:rPr lang="en-MY" sz="1100" i="1" kern="1200" spc="10" smtClean="0">
                            <a:solidFill>
                              <a:schemeClr val="tx1"/>
                            </a:solidFill>
                            <a:latin typeface="Cambria Math" panose="02040503050406030204" pitchFamily="18" charset="0"/>
                            <a:ea typeface="+mn-ea"/>
                            <a:cs typeface="Tahoma"/>
                          </a:rPr>
                        </m:ctrlPr>
                      </m:accPr>
                      <m:e>
                        <m:r>
                          <a:rPr lang="en-US" sz="1100" b="0" i="1" kern="1200" spc="10" smtClean="0">
                            <a:solidFill>
                              <a:schemeClr val="tx1"/>
                            </a:solidFill>
                            <a:latin typeface="Cambria Math" panose="02040503050406030204" pitchFamily="18" charset="0"/>
                            <a:ea typeface="+mn-ea"/>
                            <a:cs typeface="Tahoma"/>
                          </a:rPr>
                          <m:t>𝑥</m:t>
                        </m:r>
                      </m:e>
                    </m:acc>
                  </m:oMath>
                </a14:m>
                <a:r>
                  <a:rPr lang="en-MY" sz="1100" kern="1200" spc="10" dirty="0">
                    <a:solidFill>
                      <a:schemeClr val="tx1"/>
                    </a:solidFill>
                    <a:latin typeface="Tahoma"/>
                    <a:ea typeface="+mn-ea"/>
                    <a:cs typeface="Tahoma"/>
                  </a:rPr>
                  <a:t>, with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m:t>
                    </m:r>
                    <m:sSup>
                      <m:sSupPr>
                        <m:ctrlPr>
                          <a:rPr lang="en-MY" sz="1100" b="0" i="1" kern="1200" spc="10" dirty="0" smtClean="0">
                            <a:solidFill>
                              <a:schemeClr val="tx1"/>
                            </a:solidFill>
                            <a:latin typeface="Cambria Math" panose="02040503050406030204" pitchFamily="18" charset="0"/>
                            <a:ea typeface="+mn-ea"/>
                            <a:cs typeface="Tahoma"/>
                          </a:rPr>
                        </m:ctrlPr>
                      </m:sSupPr>
                      <m:e>
                        <m:r>
                          <a:rPr lang="en-MY" sz="1100" kern="1200" spc="10" dirty="0">
                            <a:solidFill>
                              <a:schemeClr val="tx1"/>
                            </a:solidFill>
                            <a:latin typeface="Cambria Math" panose="02040503050406030204" pitchFamily="18" charset="0"/>
                            <a:ea typeface="+mn-ea"/>
                            <a:cs typeface="Tahoma"/>
                          </a:rPr>
                          <m:t>ℝ</m:t>
                        </m:r>
                      </m:e>
                      <m:sup>
                        <m:r>
                          <m:rPr>
                            <m:sty m:val="p"/>
                          </m:rPr>
                          <a:rPr lang="en-MY" sz="1100" b="0" i="0" kern="1200" spc="10" dirty="0" smtClean="0">
                            <a:solidFill>
                              <a:schemeClr val="tx1"/>
                            </a:solidFill>
                            <a:latin typeface="Cambria Math" panose="02040503050406030204" pitchFamily="18" charset="0"/>
                            <a:ea typeface="+mn-ea"/>
                            <a:cs typeface="Tahoma"/>
                          </a:rPr>
                          <m:t>N</m:t>
                        </m:r>
                      </m:sup>
                    </m:sSup>
                  </m:oMath>
                </a14:m>
                <a:endParaRPr lang="en-MY" sz="1100" kern="1200" spc="10" dirty="0">
                  <a:solidFill>
                    <a:schemeClr val="tx1"/>
                  </a:solidFill>
                  <a:latin typeface="Tahoma"/>
                  <a:ea typeface="+mn-ea"/>
                  <a:cs typeface="Tahoma"/>
                </a:endParaRPr>
              </a:p>
              <a:p>
                <a:pPr marL="366395" indent="-175260" rtl="0">
                  <a:lnSpc>
                    <a:spcPct val="100000"/>
                  </a:lnSpc>
                  <a:spcBef>
                    <a:spcPts val="330"/>
                  </a:spcBef>
                  <a:buClr>
                    <a:srgbClr val="3333B2"/>
                  </a:buClr>
                  <a:buFont typeface="Arial"/>
                  <a:buChar char="►"/>
                  <a:tabLst>
                    <a:tab pos="366395" algn="l"/>
                  </a:tabLst>
                </a:pPr>
                <a:r>
                  <a:rPr lang="en-MY" sz="1100" kern="1200" spc="10" dirty="0">
                    <a:solidFill>
                      <a:schemeClr val="tx1"/>
                    </a:solidFill>
                    <a:latin typeface="Tahoma"/>
                    <a:ea typeface="+mn-ea"/>
                    <a:cs typeface="Tahoma"/>
                  </a:rPr>
                  <a:t>Payoff of player </a:t>
                </a:r>
                <a14:m>
                  <m:oMath xmlns:m="http://schemas.openxmlformats.org/officeDocument/2006/math">
                    <m:r>
                      <a:rPr lang="en-MY" sz="1100" i="1" dirty="0" smtClean="0">
                        <a:latin typeface="Cambria Math" panose="02040503050406030204" pitchFamily="18" charset="0"/>
                        <a:cs typeface="Arial"/>
                      </a:rPr>
                      <m:t>𝑖</m:t>
                    </m:r>
                  </m:oMath>
                </a14:m>
                <a:r>
                  <a:rPr lang="en-MY" sz="1100" i="1" spc="-200" dirty="0">
                    <a:latin typeface="Arial"/>
                    <a:cs typeface="Arial"/>
                  </a:rPr>
                  <a:t> </a:t>
                </a:r>
                <a:r>
                  <a:rPr lang="en-MY" sz="1100" dirty="0">
                    <a:latin typeface="Tahoma"/>
                    <a:cs typeface="Tahoma"/>
                  </a:rPr>
                  <a:t>:</a:t>
                </a:r>
                <a14:m>
                  <m:oMath xmlns:m="http://schemas.openxmlformats.org/officeDocument/2006/math">
                    <m:r>
                      <a:rPr lang="en-MY" sz="1100" i="1" spc="55" dirty="0" smtClean="0">
                        <a:latin typeface="Cambria Math" panose="02040503050406030204" pitchFamily="18" charset="0"/>
                        <a:cs typeface="Tahoma"/>
                      </a:rPr>
                      <m:t> </m:t>
                    </m:r>
                    <m:sSub>
                      <m:sSubPr>
                        <m:ctrlPr>
                          <a:rPr lang="en-MY" sz="1100" b="0"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100" b="0" i="1" dirty="0" smtClean="0">
                            <a:latin typeface="Cambria Math" panose="02040503050406030204" pitchFamily="18" charset="0"/>
                            <a:cs typeface="Arial"/>
                          </a:rPr>
                          <m:t>𝑖</m:t>
                        </m:r>
                      </m:sub>
                    </m:sSub>
                    <m:r>
                      <a:rPr lang="en-MY" sz="1200" i="1" spc="225" baseline="-10416" dirty="0">
                        <a:latin typeface="Cambria Math" panose="02040503050406030204" pitchFamily="18" charset="0"/>
                        <a:cs typeface="Verdana"/>
                      </a:rPr>
                      <m:t> </m:t>
                    </m:r>
                  </m:oMath>
                </a14:m>
                <a:r>
                  <a:rPr lang="en-MY" sz="1100" spc="-10" dirty="0">
                    <a:latin typeface="Tahoma"/>
                    <a:cs typeface="Tahoma"/>
                  </a:rPr>
                  <a:t>or </a:t>
                </a:r>
                <a14:m>
                  <m:oMath xmlns:m="http://schemas.openxmlformats.org/officeDocument/2006/math">
                    <m:sSub>
                      <m:sSubPr>
                        <m:ctrlPr>
                          <a:rPr lang="en-MY" sz="1100" b="0" i="1" spc="-10" smtClean="0">
                            <a:latin typeface="Cambria Math" panose="02040503050406030204" pitchFamily="18" charset="0"/>
                            <a:cs typeface="Tahoma"/>
                          </a:rPr>
                        </m:ctrlPr>
                      </m:sSubPr>
                      <m:e>
                        <m:acc>
                          <m:accPr>
                            <m:chr m:val="⃗"/>
                            <m:ctrlPr>
                              <a:rPr lang="en-MY" sz="1100" i="1" spc="-10" smtClean="0">
                                <a:latin typeface="Cambria Math" panose="02040503050406030204" pitchFamily="18" charset="0"/>
                                <a:cs typeface="Tahoma"/>
                              </a:rPr>
                            </m:ctrlPr>
                          </m:accPr>
                          <m:e>
                            <m:r>
                              <a:rPr lang="en-MY" sz="1100" b="0" i="1" spc="-10" smtClean="0">
                                <a:latin typeface="Cambria Math" panose="02040503050406030204" pitchFamily="18" charset="0"/>
                                <a:cs typeface="Tahoma"/>
                              </a:rPr>
                              <m:t>𝑥</m:t>
                            </m:r>
                          </m:e>
                        </m:acc>
                      </m:e>
                      <m:sub>
                        <m:r>
                          <a:rPr lang="en-MY" sz="1100" b="0" i="1" spc="-10" smtClean="0">
                            <a:latin typeface="Cambria Math" panose="02040503050406030204" pitchFamily="18" charset="0"/>
                            <a:cs typeface="Tahoma"/>
                          </a:rPr>
                          <m:t>𝑖</m:t>
                        </m:r>
                      </m:sub>
                    </m:sSub>
                  </m:oMath>
                </a14:m>
                <a:r>
                  <a:rPr lang="en-MY" sz="1100" spc="-45" dirty="0">
                    <a:latin typeface="Tahoma"/>
                    <a:cs typeface="Tahoma"/>
                  </a:rPr>
                  <a:t> </a:t>
                </a:r>
                <a:r>
                  <a:rPr lang="en-MY" sz="1100" spc="-10" dirty="0">
                    <a:latin typeface="Tahoma"/>
                    <a:cs typeface="Tahoma"/>
                  </a:rPr>
                  <a:t>or</a:t>
                </a:r>
                <a:r>
                  <a:rPr lang="en-MY" sz="1100" spc="-30" dirty="0">
                    <a:latin typeface="Tahoma"/>
                    <a:cs typeface="Tahoma"/>
                  </a:rPr>
                  <a:t> </a:t>
                </a:r>
                <a14:m>
                  <m:oMath xmlns:m="http://schemas.openxmlformats.org/officeDocument/2006/math">
                    <m:sSub>
                      <m:sSubPr>
                        <m:ctrlPr>
                          <a:rPr lang="en-MY" sz="1100" b="0" i="1" kern="1200" spc="10" dirty="0" smtClean="0">
                            <a:solidFill>
                              <a:schemeClr val="tx1"/>
                            </a:solidFill>
                            <a:latin typeface="Cambria Math" panose="02040503050406030204" pitchFamily="18" charset="0"/>
                            <a:cs typeface="Tahoma"/>
                          </a:rPr>
                        </m:ctrlPr>
                      </m:sSubPr>
                      <m:e>
                        <m:r>
                          <a:rPr lang="en-MY" sz="1100" kern="1200" spc="10" dirty="0">
                            <a:solidFill>
                              <a:schemeClr val="tx1"/>
                            </a:solidFill>
                            <a:latin typeface="Cambria Math" panose="02040503050406030204" pitchFamily="18" charset="0"/>
                            <a:cs typeface="Tahoma"/>
                          </a:rPr>
                          <m:t>𝜙</m:t>
                        </m:r>
                      </m:e>
                      <m:sub>
                        <m:r>
                          <m:rPr>
                            <m:sty m:val="p"/>
                          </m:rPr>
                          <a:rPr lang="en-MY" sz="1100" b="0" i="0" kern="1200" spc="10" dirty="0" smtClean="0">
                            <a:solidFill>
                              <a:schemeClr val="tx1"/>
                            </a:solidFill>
                            <a:latin typeface="Cambria Math" panose="02040503050406030204" pitchFamily="18" charset="0"/>
                            <a:cs typeface="Tahoma"/>
                          </a:rPr>
                          <m:t>i</m:t>
                        </m:r>
                      </m:sub>
                    </m:sSub>
                    <m:r>
                      <a:rPr lang="en-MY" sz="1100" spc="-10" dirty="0">
                        <a:latin typeface="Cambria Math" panose="02040503050406030204" pitchFamily="18" charset="0"/>
                        <a:cs typeface="Tahoma"/>
                      </a:rPr>
                      <m:t>(</m:t>
                    </m:r>
                    <m:r>
                      <a:rPr lang="en-MY" sz="1100" spc="-10" dirty="0">
                        <a:latin typeface="Cambria Math" panose="02040503050406030204" pitchFamily="18" charset="0"/>
                        <a:cs typeface="Tahoma"/>
                      </a:rPr>
                      <m:t>𝑁</m:t>
                    </m:r>
                    <m:r>
                      <a:rPr lang="en-MY" sz="1100" spc="-10" dirty="0">
                        <a:latin typeface="Cambria Math" panose="02040503050406030204" pitchFamily="18" charset="0"/>
                        <a:cs typeface="Tahoma"/>
                      </a:rPr>
                      <m:t>, </m:t>
                    </m:r>
                    <m:r>
                      <a:rPr lang="en-MY" sz="1100" spc="-10" dirty="0">
                        <a:latin typeface="Cambria Math" panose="02040503050406030204" pitchFamily="18" charset="0"/>
                        <a:cs typeface="Tahoma"/>
                      </a:rPr>
                      <m:t>𝑣</m:t>
                    </m:r>
                    <m:r>
                      <a:rPr lang="en-MY" sz="1100" spc="-10" dirty="0">
                        <a:latin typeface="Cambria Math" panose="02040503050406030204" pitchFamily="18" charset="0"/>
                        <a:cs typeface="Tahoma"/>
                      </a:rPr>
                      <m:t>), </m:t>
                    </m:r>
                  </m:oMath>
                </a14:m>
                <a:r>
                  <a:rPr lang="en-MY" sz="1100" spc="-10" dirty="0">
                    <a:latin typeface="Tahoma"/>
                    <a:cs typeface="Tahoma"/>
                  </a:rPr>
                  <a:t>with </a:t>
                </a:r>
                <a14:m>
                  <m:oMath xmlns:m="http://schemas.openxmlformats.org/officeDocument/2006/math">
                    <m:sSub>
                      <m:sSubPr>
                        <m:ctrlPr>
                          <a:rPr lang="en-MY"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100" b="1" i="1" dirty="0" smtClean="0">
                            <a:latin typeface="Cambria Math" panose="02040503050406030204" pitchFamily="18" charset="0"/>
                            <a:cs typeface="Arial"/>
                          </a:rPr>
                          <m:t>𝒊</m:t>
                        </m:r>
                      </m:sub>
                    </m:sSub>
                  </m:oMath>
                </a14:m>
                <a:r>
                  <a:rPr lang="en-MY" sz="1200" i="1" spc="142" baseline="-10416" dirty="0">
                    <a:latin typeface="Verdana"/>
                    <a:cs typeface="Verdana"/>
                  </a:rPr>
                  <a:t> </a:t>
                </a:r>
                <a14:m>
                  <m:oMath xmlns:m="http://schemas.openxmlformats.org/officeDocument/2006/math">
                    <m:r>
                      <a:rPr lang="en-MY" sz="1100" i="1" spc="-175" dirty="0" smtClean="0">
                        <a:latin typeface="Cambria Math" panose="02040503050406030204" pitchFamily="18" charset="0"/>
                        <a:cs typeface="Meiryo UI"/>
                      </a:rPr>
                      <m:t>∈</m:t>
                    </m:r>
                    <m:r>
                      <a:rPr lang="en-MY" sz="1100" b="0" i="1" spc="-175" dirty="0" smtClean="0">
                        <a:latin typeface="Cambria Math" panose="02040503050406030204" pitchFamily="18" charset="0"/>
                        <a:cs typeface="Meiryo UI"/>
                      </a:rPr>
                      <m:t>  </m:t>
                    </m:r>
                    <m:r>
                      <a:rPr lang="en-MY" sz="1100" i="1" spc="-50" dirty="0" smtClean="0">
                        <a:latin typeface="Cambria Math" panose="02040503050406030204" pitchFamily="18" charset="0"/>
                        <a:ea typeface="Cambria Math" panose="02040503050406030204" pitchFamily="18" charset="0"/>
                        <a:cs typeface="Arial"/>
                      </a:rPr>
                      <m:t>ℝ</m:t>
                    </m:r>
                  </m:oMath>
                </a14:m>
                <a:r>
                  <a:rPr lang="en-MY" sz="1100" dirty="0">
                    <a:latin typeface="Arial"/>
                    <a:cs typeface="Arial"/>
                  </a:rPr>
                  <a:t> </a:t>
                </a:r>
              </a:p>
              <a:p>
                <a:pPr marL="366395" indent="-175260">
                  <a:lnSpc>
                    <a:spcPct val="100000"/>
                  </a:lnSpc>
                  <a:spcBef>
                    <a:spcPts val="330"/>
                  </a:spcBef>
                  <a:buClr>
                    <a:srgbClr val="3333B2"/>
                  </a:buClr>
                  <a:buFont typeface="Arial"/>
                  <a:buChar char="►"/>
                  <a:tabLst>
                    <a:tab pos="366395" algn="l"/>
                  </a:tabLst>
                </a:pPr>
                <a:endParaRPr lang="en-MY" sz="1100" dirty="0">
                  <a:latin typeface="Arial"/>
                  <a:cs typeface="Arial"/>
                </a:endParaRPr>
              </a:p>
              <a:p>
                <a:pPr marL="90488" rtl="0">
                  <a:lnSpc>
                    <a:spcPct val="100000"/>
                  </a:lnSpc>
                </a:pPr>
                <a:r>
                  <a:rPr lang="en-MY" sz="1100" dirty="0">
                    <a:solidFill>
                      <a:srgbClr val="3333B2"/>
                    </a:solidFill>
                    <a:latin typeface="Tahoma"/>
                    <a:cs typeface="Tahoma"/>
                  </a:rPr>
                  <a:t>(F) </a:t>
                </a:r>
                <a:r>
                  <a:rPr lang="en-MY" sz="1100" spc="-10" dirty="0">
                    <a:latin typeface="Tahoma"/>
                    <a:cs typeface="Tahoma"/>
                  </a:rPr>
                  <a:t> </a:t>
                </a:r>
                <a:r>
                  <a:rPr lang="en-MY" sz="1100" kern="1200" spc="10" dirty="0">
                    <a:solidFill>
                      <a:schemeClr val="tx1"/>
                    </a:solidFill>
                    <a:latin typeface="Tahoma"/>
                    <a:ea typeface="+mn-ea"/>
                    <a:cs typeface="Tahoma"/>
                  </a:rPr>
                  <a:t>A payoff</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r>
                      <a:rPr lang="en-MY" sz="1100" b="1" i="1" kern="1200" spc="10" dirty="0" smtClean="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is </a:t>
                </a:r>
                <a:r>
                  <a:rPr lang="en-MY" sz="1100" i="1" kern="1200" spc="10" dirty="0">
                    <a:solidFill>
                      <a:schemeClr val="tx1"/>
                    </a:solidFill>
                    <a:latin typeface="Tahoma"/>
                    <a:ea typeface="+mn-ea"/>
                    <a:cs typeface="Tahoma"/>
                  </a:rPr>
                  <a:t>feasible</a:t>
                </a:r>
                <a:r>
                  <a:rPr lang="en-MY" sz="1100" kern="1200" spc="10" dirty="0">
                    <a:solidFill>
                      <a:schemeClr val="tx1"/>
                    </a:solidFill>
                    <a:latin typeface="Tahoma"/>
                    <a:ea typeface="+mn-ea"/>
                    <a:cs typeface="Tahoma"/>
                  </a:rPr>
                  <a:t> iff</a:t>
                </a:r>
                <a:r>
                  <a:rPr lang="el-GR" sz="1100" dirty="0">
                    <a:cs typeface="Tahoma"/>
                  </a:rPr>
                  <a:t> </a:t>
                </a:r>
                <a14:m>
                  <m:oMath xmlns:m="http://schemas.openxmlformats.org/officeDocument/2006/math">
                    <m:nary>
                      <m:naryPr>
                        <m:chr m:val="∑"/>
                        <m:limLoc m:val="subSup"/>
                        <m:supHide m:val="on"/>
                        <m:ctrlPr>
                          <a:rPr lang="el-GR" sz="1100" i="1" dirty="0" smtClean="0">
                            <a:latin typeface="Cambria Math" panose="02040503050406030204" pitchFamily="18" charset="0"/>
                            <a:cs typeface="Tahoma"/>
                          </a:rPr>
                        </m:ctrlPr>
                      </m:naryPr>
                      <m:sub>
                        <m:r>
                          <m:rPr>
                            <m:brk m:alnAt="9"/>
                          </m:rPr>
                          <a:rPr lang="en-MY" sz="1100" b="0" i="1" dirty="0" smtClean="0">
                            <a:latin typeface="Cambria Math" panose="02040503050406030204" pitchFamily="18" charset="0"/>
                            <a:cs typeface="Tahoma"/>
                          </a:rPr>
                          <m:t>𝑖</m:t>
                        </m:r>
                        <m:r>
                          <a:rPr lang="en-MY"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𝑁</m:t>
                        </m:r>
                      </m:sub>
                      <m:sup/>
                      <m:e>
                        <m:sSub>
                          <m:sSubPr>
                            <m:ctrlPr>
                              <a:rPr lang="en-MY" sz="1100" i="1" kern="1200" spc="10" dirty="0">
                                <a:solidFill>
                                  <a:schemeClr val="tx1"/>
                                </a:solidFill>
                                <a:latin typeface="Cambria Math" panose="02040503050406030204" pitchFamily="18" charset="0"/>
                                <a:cs typeface="Tahoma"/>
                              </a:rPr>
                            </m:ctrlPr>
                          </m:sSubPr>
                          <m:e>
                            <m:r>
                              <a:rPr lang="en-MY"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r>
                              <a:rPr lang="en-MY" sz="1100" kern="1200" spc="10" dirty="0">
                                <a:solidFill>
                                  <a:schemeClr val="tx1"/>
                                </a:solidFill>
                                <a:latin typeface="Cambria Math" panose="02040503050406030204" pitchFamily="18" charset="0"/>
                                <a:cs typeface="Tahoma"/>
                              </a:rPr>
                              <m:t> </m:t>
                            </m:r>
                          </m:sub>
                        </m:sSub>
                        <m:r>
                          <a:rPr lang="en-MY" sz="1100" kern="1200" spc="10" dirty="0">
                            <a:solidFill>
                              <a:schemeClr val="tx1"/>
                            </a:solidFill>
                            <a:latin typeface="Cambria Math" panose="02040503050406030204" pitchFamily="18" charset="0"/>
                            <a:cs typeface="Tahoma"/>
                          </a:rPr>
                          <m:t>≤</m:t>
                        </m:r>
                        <m:r>
                          <a:rPr lang="en-MY" sz="1100" kern="1200" spc="10" dirty="0">
                            <a:solidFill>
                              <a:schemeClr val="tx1"/>
                            </a:solidFill>
                            <a:latin typeface="Cambria Math" panose="02040503050406030204" pitchFamily="18" charset="0"/>
                            <a:cs typeface="Tahoma"/>
                          </a:rPr>
                          <m:t>𝑣</m:t>
                        </m:r>
                        <m:r>
                          <a:rPr lang="en-MY" sz="1100" kern="1200" spc="10" dirty="0">
                            <a:solidFill>
                              <a:schemeClr val="tx1"/>
                            </a:solidFill>
                            <a:latin typeface="Cambria Math" panose="02040503050406030204" pitchFamily="18" charset="0"/>
                            <a:cs typeface="Tahoma"/>
                          </a:rPr>
                          <m:t>(</m:t>
                        </m:r>
                        <m:r>
                          <a:rPr lang="en-MY" sz="1100" kern="1200" spc="10" dirty="0">
                            <a:solidFill>
                              <a:schemeClr val="tx1"/>
                            </a:solidFill>
                            <a:latin typeface="Cambria Math" panose="02040503050406030204" pitchFamily="18" charset="0"/>
                            <a:cs typeface="Tahoma"/>
                          </a:rPr>
                          <m:t>𝑁</m:t>
                        </m:r>
                        <m:r>
                          <a:rPr lang="en-MY" sz="1100" kern="1200" spc="10" dirty="0">
                            <a:solidFill>
                              <a:schemeClr val="tx1"/>
                            </a:solidFill>
                            <a:latin typeface="Cambria Math" panose="02040503050406030204" pitchFamily="18" charset="0"/>
                            <a:cs typeface="Tahoma"/>
                          </a:rPr>
                          <m:t>)</m:t>
                        </m:r>
                        <m:r>
                          <m:rPr>
                            <m:nor/>
                          </m:rPr>
                          <a:rPr lang="en-MY" sz="1100" kern="1200" spc="10" dirty="0">
                            <a:solidFill>
                              <a:schemeClr val="tx1"/>
                            </a:solidFill>
                            <a:latin typeface="Tahoma"/>
                            <a:cs typeface="Tahoma"/>
                          </a:rPr>
                          <m:t> </m:t>
                        </m:r>
                      </m:e>
                    </m:nary>
                  </m:oMath>
                </a14:m>
                <a:r>
                  <a:rPr lang="en-MY" sz="1200" i="1" spc="270" baseline="-13888" dirty="0">
                    <a:latin typeface="Verdana"/>
                    <a:cs typeface="Verdana"/>
                  </a:rPr>
                  <a:t> </a:t>
                </a:r>
              </a:p>
              <a:p>
                <a:pPr marL="90488" rtl="0">
                  <a:lnSpc>
                    <a:spcPct val="100000"/>
                  </a:lnSpc>
                </a:pPr>
                <a:r>
                  <a:rPr lang="en-MY" sz="1100" dirty="0">
                    <a:solidFill>
                      <a:srgbClr val="3333B2"/>
                    </a:solidFill>
                    <a:latin typeface="Tahoma"/>
                    <a:cs typeface="Tahoma"/>
                  </a:rPr>
                  <a:t>(E)  </a:t>
                </a:r>
                <a:r>
                  <a:rPr lang="en-MY" sz="1100" kern="1200" spc="10" dirty="0">
                    <a:solidFill>
                      <a:schemeClr val="tx1"/>
                    </a:solidFill>
                    <a:latin typeface="Tahoma"/>
                    <a:ea typeface="+mn-ea"/>
                    <a:cs typeface="Tahoma"/>
                  </a:rPr>
                  <a:t>A payoff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a:t>
                </a:r>
                <a:r>
                  <a:rPr lang="en-MY" sz="1100" i="1" kern="1200" spc="10" dirty="0">
                    <a:solidFill>
                      <a:schemeClr val="tx1"/>
                    </a:solidFill>
                    <a:latin typeface="Tahoma"/>
                    <a:ea typeface="+mn-ea"/>
                    <a:cs typeface="Tahoma"/>
                  </a:rPr>
                  <a:t>efficient</a:t>
                </a:r>
                <a:r>
                  <a:rPr lang="en-MY" sz="1100" kern="1200" spc="10" dirty="0">
                    <a:solidFill>
                      <a:schemeClr val="tx1"/>
                    </a:solidFill>
                    <a:latin typeface="Tahoma"/>
                    <a:ea typeface="+mn-ea"/>
                    <a:cs typeface="Tahoma"/>
                  </a:rPr>
                  <a:t> </a:t>
                </a:r>
                <a:r>
                  <a:rPr lang="en-MY" sz="1100" kern="1200" spc="10" dirty="0" err="1">
                    <a:solidFill>
                      <a:schemeClr val="tx1"/>
                    </a:solidFill>
                    <a:latin typeface="Tahoma"/>
                    <a:ea typeface="+mn-ea"/>
                    <a:cs typeface="Tahoma"/>
                  </a:rPr>
                  <a:t>iff</a:t>
                </a:r>
                <a:r>
                  <a:rPr lang="en-MY" sz="1100" kern="1200" spc="10" dirty="0">
                    <a:solidFill>
                      <a:schemeClr val="tx1"/>
                    </a:solidFill>
                    <a:latin typeface="Tahoma"/>
                    <a:ea typeface="+mn-ea"/>
                    <a:cs typeface="Tahoma"/>
                  </a:rPr>
                  <a:t> </a:t>
                </a:r>
                <a14:m>
                  <m:oMath xmlns:m="http://schemas.openxmlformats.org/officeDocument/2006/math">
                    <m:nary>
                      <m:naryPr>
                        <m:chr m:val="∑"/>
                        <m:limLoc m:val="subSup"/>
                        <m:supHide m:val="on"/>
                        <m:ctrlPr>
                          <a:rPr lang="el-GR" sz="1100" i="1" dirty="0" smtClean="0">
                            <a:latin typeface="Cambria Math" panose="02040503050406030204" pitchFamily="18" charset="0"/>
                            <a:cs typeface="Tahoma"/>
                          </a:rPr>
                        </m:ctrlPr>
                      </m:naryPr>
                      <m:sub>
                        <m:r>
                          <m:rPr>
                            <m:brk m:alnAt="9"/>
                          </m:rPr>
                          <a:rPr lang="en-MY" sz="1100" b="0" i="1" dirty="0" smtClean="0">
                            <a:latin typeface="Cambria Math" panose="02040503050406030204" pitchFamily="18" charset="0"/>
                            <a:cs typeface="Tahoma"/>
                          </a:rPr>
                          <m:t>𝑖</m:t>
                        </m:r>
                        <m:r>
                          <a:rPr lang="en-MY"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𝑁</m:t>
                        </m:r>
                      </m:sub>
                      <m:sup/>
                      <m:e>
                        <m:sSub>
                          <m:sSubPr>
                            <m:ctrlPr>
                              <a:rPr lang="en-MY" sz="1100" i="1" kern="1200" spc="10" dirty="0">
                                <a:solidFill>
                                  <a:schemeClr val="tx1"/>
                                </a:solidFill>
                                <a:latin typeface="Cambria Math" panose="02040503050406030204" pitchFamily="18" charset="0"/>
                                <a:cs typeface="Tahoma"/>
                              </a:rPr>
                            </m:ctrlPr>
                          </m:sSubPr>
                          <m:e>
                            <m:r>
                              <a:rPr lang="en-MY"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sub>
                        </m:sSub>
                        <m:r>
                          <a:rPr lang="en-MY" sz="1100" kern="1200" spc="10" dirty="0">
                            <a:solidFill>
                              <a:schemeClr val="tx1"/>
                            </a:solidFill>
                            <a:latin typeface="Cambria Math" panose="02040503050406030204" pitchFamily="18" charset="0"/>
                            <a:cs typeface="Tahoma"/>
                          </a:rPr>
                          <m:t> </m:t>
                        </m:r>
                        <m:r>
                          <m:rPr>
                            <m:nor/>
                          </m:rPr>
                          <a:rPr lang="en-MY" sz="1100" kern="1200" spc="10" dirty="0">
                            <a:solidFill>
                              <a:schemeClr val="tx1"/>
                            </a:solidFill>
                            <a:latin typeface="Tahoma"/>
                            <a:cs typeface="Tahoma"/>
                          </a:rPr>
                          <m:t>= </m:t>
                        </m:r>
                        <m:r>
                          <a:rPr lang="en-MY" sz="1100" kern="1200" spc="10" dirty="0">
                            <a:solidFill>
                              <a:schemeClr val="tx1"/>
                            </a:solidFill>
                            <a:latin typeface="Cambria Math" panose="02040503050406030204" pitchFamily="18" charset="0"/>
                            <a:cs typeface="Tahoma"/>
                          </a:rPr>
                          <m:t>𝑣</m:t>
                        </m:r>
                        <m:r>
                          <a:rPr lang="en-MY" sz="1100" kern="1200" spc="10" dirty="0">
                            <a:solidFill>
                              <a:schemeClr val="tx1"/>
                            </a:solidFill>
                            <a:latin typeface="Cambria Math" panose="02040503050406030204" pitchFamily="18" charset="0"/>
                            <a:cs typeface="Tahoma"/>
                          </a:rPr>
                          <m:t> (</m:t>
                        </m:r>
                        <m:r>
                          <a:rPr lang="en-MY" sz="1100" kern="1200" spc="10" dirty="0">
                            <a:solidFill>
                              <a:schemeClr val="tx1"/>
                            </a:solidFill>
                            <a:latin typeface="Cambria Math" panose="02040503050406030204" pitchFamily="18" charset="0"/>
                            <a:cs typeface="Tahoma"/>
                          </a:rPr>
                          <m:t>𝑁</m:t>
                        </m:r>
                        <m:r>
                          <a:rPr lang="en-MY" sz="1100" kern="1200" spc="10" dirty="0">
                            <a:solidFill>
                              <a:schemeClr val="tx1"/>
                            </a:solidFill>
                            <a:latin typeface="Cambria Math" panose="02040503050406030204" pitchFamily="18" charset="0"/>
                            <a:cs typeface="Tahoma"/>
                          </a:rPr>
                          <m:t>)</m:t>
                        </m:r>
                        <m:r>
                          <m:rPr>
                            <m:nor/>
                          </m:rPr>
                          <a:rPr lang="en-MY" sz="1100" kern="1200" spc="10" dirty="0">
                            <a:solidFill>
                              <a:schemeClr val="tx1"/>
                            </a:solidFill>
                            <a:latin typeface="Tahoma"/>
                            <a:cs typeface="Tahoma"/>
                          </a:rPr>
                          <m:t> </m:t>
                        </m:r>
                      </m:e>
                    </m:nary>
                    <m:r>
                      <a:rPr lang="en-MY" sz="1100" b="0" i="1" kern="1200" spc="10" dirty="0" smtClean="0">
                        <a:solidFill>
                          <a:schemeClr val="tx1"/>
                        </a:solidFill>
                        <a:latin typeface="Cambria Math" panose="02040503050406030204" pitchFamily="18" charset="0"/>
                        <a:ea typeface="+mn-ea"/>
                        <a:cs typeface="Tahoma"/>
                      </a:rPr>
                      <m:t> </m:t>
                    </m:r>
                  </m:oMath>
                </a14:m>
                <a:endParaRPr lang="en-MY" sz="1100" kern="1200" spc="10" dirty="0">
                  <a:solidFill>
                    <a:schemeClr val="tx1"/>
                  </a:solidFill>
                  <a:latin typeface="Tahoma"/>
                  <a:ea typeface="+mn-ea"/>
                  <a:cs typeface="Tahoma"/>
                </a:endParaRPr>
              </a:p>
              <a:p>
                <a:pPr marL="90488" rtl="0">
                  <a:lnSpc>
                    <a:spcPct val="100000"/>
                  </a:lnSpc>
                </a:pPr>
                <a:r>
                  <a:rPr lang="en-MY" sz="1100" dirty="0">
                    <a:solidFill>
                      <a:srgbClr val="3333B2"/>
                    </a:solidFill>
                    <a:latin typeface="Tahoma"/>
                    <a:cs typeface="Tahoma"/>
                  </a:rPr>
                  <a:t>(IR) </a:t>
                </a:r>
                <a:r>
                  <a:rPr lang="en-MY" sz="1100" kern="1200" spc="10" dirty="0">
                    <a:solidFill>
                      <a:schemeClr val="tx1"/>
                    </a:solidFill>
                    <a:latin typeface="Tahoma"/>
                    <a:ea typeface="+mn-ea"/>
                    <a:cs typeface="Tahoma"/>
                  </a:rPr>
                  <a:t>A payoff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a:t>
                </a:r>
                <a:r>
                  <a:rPr lang="en-MY" sz="1100" i="1" kern="1200" spc="10" dirty="0">
                    <a:solidFill>
                      <a:schemeClr val="tx1"/>
                    </a:solidFill>
                    <a:latin typeface="Tahoma"/>
                    <a:ea typeface="+mn-ea"/>
                    <a:cs typeface="Tahoma"/>
                  </a:rPr>
                  <a:t>individually</a:t>
                </a:r>
                <a:r>
                  <a:rPr lang="en-MY" sz="1100" kern="1200" spc="10" dirty="0">
                    <a:solidFill>
                      <a:schemeClr val="tx1"/>
                    </a:solidFill>
                    <a:latin typeface="Tahoma"/>
                    <a:ea typeface="+mn-ea"/>
                    <a:cs typeface="Tahoma"/>
                  </a:rPr>
                  <a:t> </a:t>
                </a:r>
                <a:r>
                  <a:rPr lang="en-MY" sz="1100" i="1" kern="1200" spc="10" dirty="0">
                    <a:solidFill>
                      <a:schemeClr val="tx1"/>
                    </a:solidFill>
                    <a:latin typeface="Tahoma"/>
                    <a:ea typeface="+mn-ea"/>
                    <a:cs typeface="Tahoma"/>
                  </a:rPr>
                  <a:t>rational</a:t>
                </a:r>
                <a:r>
                  <a:rPr lang="en-MY" sz="1100" kern="1200" spc="10" dirty="0">
                    <a:solidFill>
                      <a:schemeClr val="tx1"/>
                    </a:solidFill>
                    <a:latin typeface="Tahoma"/>
                    <a:ea typeface="+mn-ea"/>
                    <a:cs typeface="Tahoma"/>
                  </a:rPr>
                  <a:t> </a:t>
                </a:r>
                <a:r>
                  <a:rPr lang="en-MY" sz="1100" kern="1200" spc="10" dirty="0" err="1">
                    <a:solidFill>
                      <a:schemeClr val="tx1"/>
                    </a:solidFill>
                    <a:latin typeface="Tahoma"/>
                    <a:ea typeface="+mn-ea"/>
                    <a:cs typeface="Tahoma"/>
                  </a:rPr>
                  <a:t>iff</a:t>
                </a:r>
                <a:r>
                  <a:rPr lang="en-MY" sz="1100" kern="1200" spc="10" dirty="0">
                    <a:solidFill>
                      <a:schemeClr val="tx1"/>
                    </a:solidFill>
                    <a:latin typeface="Tahoma"/>
                    <a:ea typeface="+mn-ea"/>
                    <a:cs typeface="Tahoma"/>
                  </a:rPr>
                  <a:t> </a:t>
                </a:r>
                <a14:m>
                  <m:oMath xmlns:m="http://schemas.openxmlformats.org/officeDocument/2006/math">
                    <m:sSub>
                      <m:sSubPr>
                        <m:ctrlPr>
                          <a:rPr lang="en-MY" sz="1100" i="1" kern="1200" spc="10" dirty="0">
                            <a:solidFill>
                              <a:schemeClr val="tx1"/>
                            </a:solidFill>
                            <a:latin typeface="Cambria Math" panose="02040503050406030204" pitchFamily="18" charset="0"/>
                            <a:ea typeface="+mn-ea"/>
                            <a:cs typeface="Tahoma"/>
                          </a:rPr>
                        </m:ctrlPr>
                      </m:sSubPr>
                      <m:e>
                        <m:r>
                          <a:rPr lang="en-MY" sz="1100" kern="1200" spc="10" dirty="0">
                            <a:solidFill>
                              <a:schemeClr val="tx1"/>
                            </a:solidFill>
                            <a:latin typeface="Cambria Math" panose="02040503050406030204" pitchFamily="18" charset="0"/>
                            <a:ea typeface="+mn-ea"/>
                            <a:cs typeface="Tahoma"/>
                          </a:rPr>
                          <m:t>∀</m:t>
                        </m:r>
                      </m:e>
                      <m:sub>
                        <m:r>
                          <a:rPr lang="en-MY" sz="1100" kern="1200" spc="10" dirty="0">
                            <a:solidFill>
                              <a:schemeClr val="tx1"/>
                            </a:solidFill>
                            <a:latin typeface="Cambria Math" panose="02040503050406030204" pitchFamily="18" charset="0"/>
                            <a:ea typeface="+mn-ea"/>
                            <a:cs typeface="Tahoma"/>
                          </a:rPr>
                          <m:t>𝑖</m:t>
                        </m:r>
                      </m:sub>
                    </m:sSub>
                    <m:r>
                      <a:rPr lang="en-MY" sz="1100" kern="1200" spc="10" dirty="0" smtClean="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sSub>
                      <m:sSubPr>
                        <m:ctrlPr>
                          <a:rPr lang="en-MY" sz="1100" i="1" kern="1200" spc="10" dirty="0" err="1">
                            <a:solidFill>
                              <a:schemeClr val="tx1"/>
                            </a:solidFill>
                            <a:latin typeface="Cambria Math" panose="02040503050406030204" pitchFamily="18" charset="0"/>
                            <a:ea typeface="+mn-ea"/>
                            <a:cs typeface="Tahoma"/>
                          </a:rPr>
                        </m:ctrlPr>
                      </m:sSubPr>
                      <m:e>
                        <m:r>
                          <a:rPr lang="en-MY" sz="1100" b="1" i="1" kern="1200" spc="10" dirty="0" err="1">
                            <a:solidFill>
                              <a:schemeClr val="tx1"/>
                            </a:solidFill>
                            <a:latin typeface="Cambria Math" panose="02040503050406030204" pitchFamily="18" charset="0"/>
                            <a:ea typeface="+mn-ea"/>
                            <a:cs typeface="Tahoma"/>
                          </a:rPr>
                          <m:t>𝒙</m:t>
                        </m:r>
                      </m:e>
                      <m:sub>
                        <m:r>
                          <a:rPr lang="en-MY" sz="1100" kern="1200" spc="10" dirty="0" err="1">
                            <a:solidFill>
                              <a:schemeClr val="tx1"/>
                            </a:solidFill>
                            <a:latin typeface="Cambria Math" panose="02040503050406030204" pitchFamily="18" charset="0"/>
                            <a:ea typeface="+mn-ea"/>
                            <a:cs typeface="Tahoma"/>
                          </a:rPr>
                          <m:t>𝑖</m:t>
                        </m:r>
                      </m:sub>
                    </m:sSub>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𝑖</m:t>
                    </m:r>
                    <m:r>
                      <a:rPr lang="en-MY" sz="1100" kern="1200" spc="10" dirty="0">
                        <a:solidFill>
                          <a:schemeClr val="tx1"/>
                        </a:solidFill>
                        <a:latin typeface="Cambria Math" panose="02040503050406030204" pitchFamily="18" charset="0"/>
                        <a:ea typeface="+mn-ea"/>
                        <a:cs typeface="Tahoma"/>
                      </a:rPr>
                      <m:t>})</m:t>
                    </m:r>
                  </m:oMath>
                </a14:m>
                <a:endParaRPr lang="en-MY" sz="1100" kern="1200" spc="10" dirty="0">
                  <a:solidFill>
                    <a:schemeClr val="tx1"/>
                  </a:solidFill>
                  <a:latin typeface="Tahoma"/>
                  <a:ea typeface="+mn-ea"/>
                  <a:cs typeface="Tahoma"/>
                </a:endParaRPr>
              </a:p>
              <a:p>
                <a:pPr>
                  <a:lnSpc>
                    <a:spcPct val="100000"/>
                  </a:lnSpc>
                  <a:spcBef>
                    <a:spcPts val="655"/>
                  </a:spcBef>
                </a:pPr>
                <a:endParaRPr lang="en-MY" sz="1100" dirty="0">
                  <a:latin typeface="Tahoma"/>
                  <a:cs typeface="Tahoma"/>
                </a:endParaRPr>
              </a:p>
              <a:p>
                <a:pPr marL="226060" indent="-175260">
                  <a:spcBef>
                    <a:spcPts val="5"/>
                  </a:spcBef>
                  <a:buClr>
                    <a:srgbClr val="3333B2"/>
                  </a:buClr>
                  <a:buFont typeface="Arial"/>
                  <a:buChar char="►"/>
                  <a:tabLst>
                    <a:tab pos="226060" algn="l"/>
                  </a:tabLst>
                </a:pPr>
                <a:r>
                  <a:rPr lang="en-MY" sz="1100" kern="1200" spc="10" dirty="0">
                    <a:solidFill>
                      <a:schemeClr val="tx1"/>
                    </a:solidFill>
                    <a:latin typeface="Tahoma"/>
                    <a:ea typeface="+mn-ea"/>
                    <a:cs typeface="Tahoma"/>
                  </a:rPr>
                  <a:t>A payoff</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 </m:t>
                    </m:r>
                    <m:r>
                      <a:rPr lang="en-MY" sz="1100" b="1" i="1" kern="1200" spc="10" dirty="0">
                        <a:solidFill>
                          <a:schemeClr val="tx1"/>
                        </a:solidFill>
                        <a:latin typeface="Cambria Math" panose="02040503050406030204" pitchFamily="18" charset="0"/>
                        <a:ea typeface="+mn-ea"/>
                        <a:cs typeface="Tahoma"/>
                      </a:rPr>
                      <m:t>𝒙</m:t>
                    </m:r>
                    <m:r>
                      <a:rPr lang="en-MY" sz="1100"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is an</a:t>
                </a:r>
                <a:r>
                  <a:rPr lang="en-MY" sz="1100" i="1" kern="1200" spc="10" dirty="0">
                    <a:solidFill>
                      <a:schemeClr val="tx1"/>
                    </a:solidFill>
                    <a:latin typeface="Tahoma"/>
                    <a:ea typeface="+mn-ea"/>
                    <a:cs typeface="Tahoma"/>
                  </a:rPr>
                  <a:t> imputation </a:t>
                </a:r>
                <a:r>
                  <a:rPr lang="en-MY" sz="1100" kern="1200" spc="10" dirty="0">
                    <a:solidFill>
                      <a:schemeClr val="tx1"/>
                    </a:solidFill>
                    <a:latin typeface="Tahoma"/>
                    <a:ea typeface="+mn-ea"/>
                    <a:cs typeface="Tahoma"/>
                  </a:rPr>
                  <a:t>iff </a:t>
                </a:r>
                <a14:m>
                  <m:oMath xmlns:m="http://schemas.openxmlformats.org/officeDocument/2006/math">
                    <m:r>
                      <a:rPr lang="en-MY" sz="1100" b="1" i="1" kern="1200" spc="10" dirty="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is both (E) and (IR)</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23850" y="809117"/>
                <a:ext cx="4286250" cy="2099934"/>
              </a:xfrm>
              <a:prstGeom prst="rect">
                <a:avLst/>
              </a:prstGeom>
              <a:blipFill>
                <a:blip r:embed="rId3"/>
                <a:stretch>
                  <a:fillRect l="-711" t="-1744" b="-1744"/>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2C3B58E-358A-4040-8FA6-F5C2C1AA279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F8936C6-70EA-4571-BC12-DC596D2A37B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8BB4E12-F7D0-4C23-85C0-AB36A314677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19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12DC11-337C-C68D-81E5-4FEA905C1AE9}"/>
                  </a:ext>
                </a:extLst>
              </p:cNvPr>
              <p:cNvSpPr txBox="1"/>
              <p:nvPr/>
            </p:nvSpPr>
            <p:spPr>
              <a:xfrm>
                <a:off x="323850" y="3115131"/>
                <a:ext cx="2323970" cy="215444"/>
              </a:xfrm>
              <a:prstGeom prst="rect">
                <a:avLst/>
              </a:prstGeom>
              <a:noFill/>
            </p:spPr>
            <p:txBody>
              <a:bodyPr wrap="none" rtlCol="0">
                <a:spAutoFit/>
              </a:bodyPr>
              <a:lstStyle/>
              <a:p>
                <a14:m>
                  <m:oMath xmlns:m="http://schemas.openxmlformats.org/officeDocument/2006/math">
                    <m:r>
                      <a:rPr lang="en-US" sz="800" b="0" i="1" smtClean="0">
                        <a:latin typeface="Cambria Math" panose="02040503050406030204" pitchFamily="18" charset="0"/>
                      </a:rPr>
                      <m:t>𝑣</m:t>
                    </m:r>
                    <m:d>
                      <m:dPr>
                        <m:ctrlPr>
                          <a:rPr lang="en-US" sz="800" b="0" i="1" smtClean="0">
                            <a:latin typeface="Cambria Math" panose="02040503050406030204" pitchFamily="18" charset="0"/>
                          </a:rPr>
                        </m:ctrlPr>
                      </m:dPr>
                      <m:e>
                        <m:r>
                          <a:rPr lang="en-US" sz="800" b="0" i="1" smtClean="0">
                            <a:latin typeface="Cambria Math" panose="02040503050406030204" pitchFamily="18" charset="0"/>
                          </a:rPr>
                          <m:t>𝑁</m:t>
                        </m:r>
                      </m:e>
                    </m:d>
                  </m:oMath>
                </a14:m>
                <a:r>
                  <a:rPr lang="en-MY" sz="800" dirty="0">
                    <a:latin typeface="Tahoma" panose="020B0604030504040204" pitchFamily="34" charset="0"/>
                    <a:ea typeface="Tahoma" panose="020B0604030504040204" pitchFamily="34" charset="0"/>
                    <a:cs typeface="Tahoma" panose="020B0604030504040204" pitchFamily="34" charset="0"/>
                  </a:rPr>
                  <a:t>: the value of the grand coalition (budget)</a:t>
                </a:r>
              </a:p>
            </p:txBody>
          </p:sp>
        </mc:Choice>
        <mc:Fallback xmlns="">
          <p:sp>
            <p:nvSpPr>
              <p:cNvPr id="7" name="TextBox 6">
                <a:extLst>
                  <a:ext uri="{FF2B5EF4-FFF2-40B4-BE49-F238E27FC236}">
                    <a16:creationId xmlns:a16="http://schemas.microsoft.com/office/drawing/2014/main" id="{0312DC11-337C-C68D-81E5-4FEA905C1AE9}"/>
                  </a:ext>
                </a:extLst>
              </p:cNvPr>
              <p:cNvSpPr txBox="1">
                <a:spLocks noRot="1" noChangeAspect="1" noMove="1" noResize="1" noEditPoints="1" noAdjustHandles="1" noChangeArrowheads="1" noChangeShapeType="1" noTextEdit="1"/>
              </p:cNvSpPr>
              <p:nvPr/>
            </p:nvSpPr>
            <p:spPr>
              <a:xfrm>
                <a:off x="323850" y="3115131"/>
                <a:ext cx="2323970" cy="215444"/>
              </a:xfrm>
              <a:prstGeom prst="rect">
                <a:avLst/>
              </a:prstGeom>
              <a:blipFill>
                <a:blip r:embed="rId4"/>
                <a:stretch>
                  <a:fillRect b="-8571"/>
                </a:stretch>
              </a:blipFill>
            </p:spPr>
            <p:txBody>
              <a:bodyPr/>
              <a:lstStyle/>
              <a:p>
                <a:r>
                  <a:rPr lang="en-MY">
                    <a:noFill/>
                  </a:rPr>
                  <a:t> </a:t>
                </a:r>
              </a:p>
            </p:txBody>
          </p:sp>
        </mc:Fallback>
      </mc:AlternateContent>
      <p:cxnSp>
        <p:nvCxnSpPr>
          <p:cNvPr id="9" name="Straight Connector 8">
            <a:extLst>
              <a:ext uri="{FF2B5EF4-FFF2-40B4-BE49-F238E27FC236}">
                <a16:creationId xmlns:a16="http://schemas.microsoft.com/office/drawing/2014/main" id="{F90D14E1-7CCA-0F4D-515C-73A797E58371}"/>
              </a:ext>
            </a:extLst>
          </p:cNvPr>
          <p:cNvCxnSpPr/>
          <p:nvPr/>
        </p:nvCxnSpPr>
        <p:spPr>
          <a:xfrm>
            <a:off x="323850" y="3101975"/>
            <a:ext cx="14478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50" dirty="0"/>
              <a:t> </a:t>
            </a:r>
            <a:r>
              <a:rPr dirty="0"/>
              <a:t>Shapley</a:t>
            </a:r>
            <a:r>
              <a:rPr spc="150" dirty="0"/>
              <a:t> </a:t>
            </a:r>
            <a:r>
              <a:rPr dirty="0"/>
              <a:t>value:</a:t>
            </a:r>
            <a:r>
              <a:rPr spc="300" dirty="0"/>
              <a:t> </a:t>
            </a:r>
            <a:r>
              <a:rPr dirty="0"/>
              <a:t>Fair</a:t>
            </a:r>
            <a:r>
              <a:rPr spc="155" dirty="0"/>
              <a:t> </a:t>
            </a:r>
            <a:r>
              <a:rPr spc="-10" dirty="0"/>
              <a:t>division</a:t>
            </a:r>
          </a:p>
        </p:txBody>
      </p:sp>
      <mc:AlternateContent xmlns:mc="http://schemas.openxmlformats.org/markup-compatibility/2006">
        <mc:Choice xmlns:a14="http://schemas.microsoft.com/office/drawing/2010/main" Requires="a14">
          <p:sp>
            <p:nvSpPr>
              <p:cNvPr id="3" name="object 3"/>
              <p:cNvSpPr txBox="1"/>
              <p:nvPr/>
            </p:nvSpPr>
            <p:spPr>
              <a:xfrm>
                <a:off x="171450" y="587391"/>
                <a:ext cx="4368748" cy="2377894"/>
              </a:xfrm>
              <a:prstGeom prst="rect">
                <a:avLst/>
              </a:prstGeom>
            </p:spPr>
            <p:txBody>
              <a:bodyPr vert="horz" wrap="square" lIns="0" tIns="55244" rIns="0" bIns="0" rtlCol="0">
                <a:spAutoFit/>
              </a:bodyPr>
              <a:lstStyle/>
              <a:p>
                <a:pPr marL="88900">
                  <a:lnSpc>
                    <a:spcPct val="100000"/>
                  </a:lnSpc>
                  <a:spcBef>
                    <a:spcPts val="434"/>
                  </a:spcBef>
                </a:pPr>
                <a:r>
                  <a:rPr lang="en-MY" sz="1100" kern="1200" spc="10" dirty="0">
                    <a:solidFill>
                      <a:schemeClr val="tx1"/>
                    </a:solidFill>
                    <a:latin typeface="Tahoma"/>
                    <a:ea typeface="+mn-ea"/>
                    <a:cs typeface="Tahoma"/>
                  </a:rPr>
                  <a:t>Definitions:</a:t>
                </a:r>
              </a:p>
              <a:p>
                <a:pPr marL="363855" indent="-175260">
                  <a:lnSpc>
                    <a:spcPct val="100000"/>
                  </a:lnSpc>
                  <a:spcBef>
                    <a:spcPts val="334"/>
                  </a:spcBef>
                  <a:buClr>
                    <a:srgbClr val="3333B2"/>
                  </a:buClr>
                  <a:buFont typeface="Arial"/>
                  <a:buChar char="►"/>
                  <a:tabLst>
                    <a:tab pos="363855" algn="l"/>
                  </a:tabLst>
                </a:pPr>
                <a:r>
                  <a:rPr lang="en-MY" sz="1100" kern="1200" spc="10" dirty="0">
                    <a:solidFill>
                      <a:schemeClr val="tx1"/>
                    </a:solidFill>
                    <a:latin typeface="Tahoma"/>
                    <a:ea typeface="+mn-ea"/>
                    <a:cs typeface="Tahoma"/>
                  </a:rPr>
                  <a:t>Agents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and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𝑗</m:t>
                    </m:r>
                  </m:oMath>
                </a14:m>
                <a:r>
                  <a:rPr lang="en-MY" sz="1100" kern="1200" spc="10" dirty="0">
                    <a:solidFill>
                      <a:schemeClr val="tx1"/>
                    </a:solidFill>
                    <a:latin typeface="Tahoma"/>
                    <a:ea typeface="+mn-ea"/>
                    <a:cs typeface="Tahoma"/>
                  </a:rPr>
                  <a:t> are</a:t>
                </a:r>
                <a:r>
                  <a:rPr lang="en-MY" sz="1100" i="1" kern="1200" spc="10" dirty="0">
                    <a:solidFill>
                      <a:schemeClr val="tx1"/>
                    </a:solidFill>
                    <a:latin typeface="Tahoma"/>
                    <a:ea typeface="+mn-ea"/>
                    <a:cs typeface="Tahoma"/>
                  </a:rPr>
                  <a:t> interchangeable </a:t>
                </a:r>
                <a:r>
                  <a:rPr lang="en-MY" sz="1100" kern="1200" spc="10" dirty="0">
                    <a:solidFill>
                      <a:schemeClr val="tx1"/>
                    </a:solidFill>
                    <a:latin typeface="Tahoma"/>
                    <a:ea typeface="+mn-ea"/>
                    <a:cs typeface="Tahoma"/>
                  </a:rPr>
                  <a:t>iff for all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US" sz="1100" b="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 </m:t>
                    </m:r>
                    <m:d>
                      <m:dPr>
                        <m:begChr m:val="{"/>
                        <m:endChr m:val="}"/>
                        <m:ctrlPr>
                          <a:rPr lang="ar-SA" sz="1100" i="1" kern="1200" spc="10" dirty="0">
                            <a:solidFill>
                              <a:schemeClr val="tx1"/>
                            </a:solidFill>
                            <a:latin typeface="Cambria Math" panose="02040503050406030204" pitchFamily="18" charset="0"/>
                            <a:ea typeface="+mn-ea"/>
                            <a:cs typeface="Tahoma"/>
                          </a:rPr>
                        </m:ctrlPr>
                      </m:dPr>
                      <m:e>
                        <m:r>
                          <a:rPr lang="ar-SA" sz="1100" i="1" kern="1200" spc="10" dirty="0">
                            <a:solidFill>
                              <a:schemeClr val="tx1"/>
                            </a:solidFill>
                            <a:latin typeface="Cambria Math" panose="02040503050406030204" pitchFamily="18" charset="0"/>
                            <a:ea typeface="+mn-ea"/>
                            <a:cs typeface="Tahoma"/>
                          </a:rPr>
                          <m:t>𝑖</m:t>
                        </m:r>
                        <m:r>
                          <a:rPr lang="ar-SA" sz="1100" i="1" kern="1200" spc="10" dirty="0">
                            <a:solidFill>
                              <a:schemeClr val="tx1"/>
                            </a:solidFill>
                            <a:latin typeface="Cambria Math" panose="02040503050406030204" pitchFamily="18" charset="0"/>
                            <a:ea typeface="+mn-ea"/>
                            <a:cs typeface="Tahoma"/>
                          </a:rPr>
                          <m:t>, </m:t>
                        </m:r>
                        <m:r>
                          <a:rPr lang="ar-SA" sz="1100" i="1" kern="1200" spc="10" dirty="0">
                            <a:solidFill>
                              <a:schemeClr val="tx1"/>
                            </a:solidFill>
                            <a:latin typeface="Cambria Math" panose="02040503050406030204" pitchFamily="18" charset="0"/>
                            <a:ea typeface="+mn-ea"/>
                            <a:cs typeface="Tahoma"/>
                          </a:rPr>
                          <m:t>𝑗</m:t>
                        </m:r>
                      </m:e>
                    </m:d>
                    <m:r>
                      <a:rPr lang="ar-SA" sz="1100" i="1" kern="1200" spc="10" dirty="0" smtClean="0">
                        <a:solidFill>
                          <a:schemeClr val="tx1"/>
                        </a:solidFill>
                        <a:latin typeface="Cambria Math" panose="02040503050406030204" pitchFamily="18" charset="0"/>
                        <a:ea typeface="+mn-ea"/>
                        <a:cs typeface="Tahoma"/>
                      </a:rPr>
                      <m:t>,</m:t>
                    </m:r>
                    <m:r>
                      <a:rPr lang="en-MY" sz="1100" b="0" i="1" kern="1200" spc="10" dirty="0" smtClean="0">
                        <a:solidFill>
                          <a:schemeClr val="tx1"/>
                        </a:solidFill>
                        <a:latin typeface="Cambria Math" panose="02040503050406030204" pitchFamily="18" charset="0"/>
                        <a:ea typeface="+mn-ea"/>
                        <a:cs typeface="Tahoma"/>
                      </a:rPr>
                      <m:t> </m:t>
                    </m:r>
                  </m:oMath>
                </a14:m>
                <a:endParaRPr lang="en-MY" sz="1100" b="0" kern="1200" spc="10" dirty="0">
                  <a:solidFill>
                    <a:schemeClr val="tx1"/>
                  </a:solidFill>
                  <a:latin typeface="Tahoma"/>
                  <a:ea typeface="+mn-ea"/>
                  <a:cs typeface="Tahoma"/>
                </a:endParaRPr>
              </a:p>
              <a:p>
                <a:pPr marL="363855" indent="-175260">
                  <a:lnSpc>
                    <a:spcPct val="100000"/>
                  </a:lnSpc>
                  <a:spcBef>
                    <a:spcPts val="334"/>
                  </a:spcBef>
                  <a:buClr>
                    <a:srgbClr val="3333B2"/>
                  </a:buClr>
                  <a:buFont typeface="Arial"/>
                  <a:buChar char="►"/>
                  <a:tabLst>
                    <a:tab pos="363855" algn="l"/>
                  </a:tabLst>
                </a:pPr>
                <a:endParaRPr lang="ar-SA" sz="1100" kern="1200" spc="10" dirty="0">
                  <a:solidFill>
                    <a:schemeClr val="tx1"/>
                  </a:solidFill>
                  <a:latin typeface="Tahoma"/>
                  <a:ea typeface="+mn-ea"/>
                  <a:cs typeface="Tahoma"/>
                </a:endParaRPr>
              </a:p>
              <a:p>
                <a:pPr marL="314960" algn="ctr">
                  <a:lnSpc>
                    <a:spcPct val="100000"/>
                  </a:lnSpc>
                  <a:spcBef>
                    <a:spcPts val="1130"/>
                  </a:spcBef>
                </a:pPr>
                <a14:m>
                  <m:oMathPara xmlns:m="http://schemas.openxmlformats.org/officeDocument/2006/math">
                    <m:oMathParaPr>
                      <m:jc m:val="centerGroup"/>
                    </m:oMathParaPr>
                    <m:oMath xmlns:m="http://schemas.openxmlformats.org/officeDocument/2006/math">
                      <m:r>
                        <a:rPr lang="ar-SA" sz="1100" i="1" spc="-55" dirty="0" smtClean="0">
                          <a:latin typeface="Cambria Math" panose="02040503050406030204" pitchFamily="18" charset="0"/>
                          <a:cs typeface="Arial"/>
                        </a:rPr>
                        <m:t>𝑣</m:t>
                      </m:r>
                      <m:r>
                        <a:rPr lang="ar-SA" sz="1100" i="1" spc="-190" dirty="0">
                          <a:latin typeface="Cambria Math" panose="02040503050406030204" pitchFamily="18" charset="0"/>
                          <a:cs typeface="Arial"/>
                        </a:rPr>
                        <m:t> </m:t>
                      </m:r>
                      <m:d>
                        <m:dPr>
                          <m:ctrlPr>
                            <a:rPr lang="ar-SA" sz="1100" i="1" dirty="0">
                              <a:latin typeface="Cambria Math" panose="02040503050406030204" pitchFamily="18" charset="0"/>
                              <a:cs typeface="Tahoma"/>
                            </a:rPr>
                          </m:ctrlPr>
                        </m:dPr>
                        <m:e>
                          <m:r>
                            <a:rPr lang="ar-SA" sz="1100" i="1" dirty="0">
                              <a:latin typeface="Cambria Math" panose="02040503050406030204" pitchFamily="18" charset="0"/>
                              <a:cs typeface="Arial"/>
                            </a:rPr>
                            <m:t>𝐶</m:t>
                          </m:r>
                          <m:r>
                            <a:rPr lang="ar-SA" sz="1100" i="1" spc="-175" dirty="0">
                              <a:latin typeface="Cambria Math" panose="02040503050406030204" pitchFamily="18" charset="0"/>
                              <a:cs typeface="Meiryo UI"/>
                            </a:rPr>
                            <m:t>∪</m:t>
                          </m:r>
                          <m:r>
                            <a:rPr lang="ar-SA" sz="1100" i="1" spc="-135" dirty="0">
                              <a:latin typeface="Cambria Math" panose="02040503050406030204" pitchFamily="18" charset="0"/>
                              <a:cs typeface="Meiryo UI"/>
                            </a:rPr>
                            <m:t> </m:t>
                          </m:r>
                          <m:d>
                            <m:dPr>
                              <m:begChr m:val="{"/>
                              <m:endChr m:val="}"/>
                              <m:ctrlPr>
                                <a:rPr lang="ar-SA" sz="1100" i="1" spc="-30" dirty="0">
                                  <a:latin typeface="Cambria Math" panose="02040503050406030204" pitchFamily="18" charset="0"/>
                                  <a:cs typeface="Meiryo UI"/>
                                </a:rPr>
                              </m:ctrlPr>
                            </m:dPr>
                            <m:e>
                              <m:r>
                                <a:rPr lang="ar-SA" sz="1100" i="1" spc="-30" dirty="0">
                                  <a:latin typeface="Cambria Math" panose="02040503050406030204" pitchFamily="18" charset="0"/>
                                  <a:cs typeface="Arial"/>
                                </a:rPr>
                                <m:t>𝑖</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90" dirty="0">
                          <a:latin typeface="Cambria Math" panose="02040503050406030204" pitchFamily="18" charset="0"/>
                          <a:cs typeface="Arial"/>
                        </a:rPr>
                        <m:t> </m:t>
                      </m:r>
                      <m:d>
                        <m:dPr>
                          <m:ctrlPr>
                            <a:rPr lang="ar-SA" sz="1100" i="1" spc="-55" dirty="0">
                              <a:latin typeface="Cambria Math" panose="02040503050406030204" pitchFamily="18" charset="0"/>
                              <a:cs typeface="Arial"/>
                            </a:rPr>
                          </m:ctrlPr>
                        </m:dPr>
                        <m:e>
                          <m:r>
                            <a:rPr lang="ar-SA" sz="1100" i="1" dirty="0">
                              <a:latin typeface="Cambria Math" panose="02040503050406030204" pitchFamily="18" charset="0"/>
                              <a:cs typeface="Arial"/>
                            </a:rPr>
                            <m:t>𝐶</m:t>
                          </m:r>
                          <m:r>
                            <a:rPr lang="ar-SA" sz="1100" i="1" spc="-175" dirty="0">
                              <a:latin typeface="Cambria Math" panose="02040503050406030204" pitchFamily="18" charset="0"/>
                              <a:cs typeface="Meiryo UI"/>
                            </a:rPr>
                            <m:t>∪</m:t>
                          </m:r>
                          <m:r>
                            <a:rPr lang="ar-SA" sz="1100" i="1" spc="-135" dirty="0">
                              <a:latin typeface="Cambria Math" panose="02040503050406030204" pitchFamily="18" charset="0"/>
                              <a:cs typeface="Meiryo UI"/>
                            </a:rPr>
                            <m:t> </m:t>
                          </m:r>
                          <m:d>
                            <m:dPr>
                              <m:begChr m:val="{"/>
                              <m:endChr m:val="}"/>
                              <m:ctrlPr>
                                <a:rPr lang="ar-SA" sz="1100" i="1" spc="-20" dirty="0">
                                  <a:latin typeface="Cambria Math" panose="02040503050406030204" pitchFamily="18" charset="0"/>
                                  <a:cs typeface="Meiryo UI"/>
                                </a:rPr>
                              </m:ctrlPr>
                            </m:dPr>
                            <m:e>
                              <m:r>
                                <a:rPr lang="ar-SA" sz="1100" i="1" spc="-20" dirty="0">
                                  <a:latin typeface="Cambria Math" panose="02040503050406030204" pitchFamily="18" charset="0"/>
                                  <a:cs typeface="Arial"/>
                                </a:rPr>
                                <m:t>𝑗</m:t>
                              </m:r>
                            </m:e>
                          </m:d>
                        </m:e>
                      </m:d>
                    </m:oMath>
                  </m:oMathPara>
                </a14:m>
                <a:endParaRPr lang="ar-SA" sz="1100" dirty="0">
                  <a:latin typeface="Tahoma"/>
                  <a:cs typeface="Tahoma"/>
                </a:endParaRPr>
              </a:p>
              <a:p>
                <a:pPr marL="363855" indent="-175260">
                  <a:lnSpc>
                    <a:spcPct val="100000"/>
                  </a:lnSpc>
                  <a:spcBef>
                    <a:spcPts val="1130"/>
                  </a:spcBef>
                  <a:buClr>
                    <a:srgbClr val="3333B2"/>
                  </a:buClr>
                  <a:buFont typeface="Arial"/>
                  <a:buChar char="►"/>
                  <a:tabLst>
                    <a:tab pos="363855" algn="l"/>
                  </a:tabLst>
                </a:pPr>
                <a:r>
                  <a:rPr lang="en-MY" sz="1100" kern="1200" spc="10" dirty="0">
                    <a:solidFill>
                      <a:schemeClr val="tx1"/>
                    </a:solidFill>
                    <a:latin typeface="Tahoma"/>
                    <a:ea typeface="+mn-ea"/>
                    <a:cs typeface="Tahoma"/>
                  </a:rPr>
                  <a:t>Agent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is a </a:t>
                </a:r>
                <a:r>
                  <a:rPr lang="en-MY" sz="1100" i="1" kern="1200" spc="10" dirty="0">
                    <a:solidFill>
                      <a:schemeClr val="tx1"/>
                    </a:solidFill>
                    <a:latin typeface="Tahoma"/>
                    <a:ea typeface="+mn-ea"/>
                    <a:cs typeface="Tahoma"/>
                  </a:rPr>
                  <a:t>dummy player </a:t>
                </a:r>
                <a:r>
                  <a:rPr lang="en-MY" sz="1100" kern="1200" spc="10" dirty="0">
                    <a:solidFill>
                      <a:schemeClr val="tx1"/>
                    </a:solidFill>
                    <a:latin typeface="Tahoma"/>
                    <a:ea typeface="+mn-ea"/>
                    <a:cs typeface="Tahoma"/>
                  </a:rPr>
                  <a:t>iff for all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b="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a:solidFill>
                          <a:schemeClr val="tx1"/>
                        </a:solidFill>
                        <a:latin typeface="Cambria Math" panose="02040503050406030204" pitchFamily="18" charset="0"/>
                        <a:ea typeface="+mn-ea"/>
                        <a:cs typeface="Tahoma"/>
                      </a:rPr>
                      <m:t>{</m:t>
                    </m:r>
                    <m:r>
                      <a:rPr lang="en-MY" sz="1100" i="1" kern="1200" spc="10" dirty="0">
                        <a:solidFill>
                          <a:schemeClr val="tx1"/>
                        </a:solidFill>
                        <a:latin typeface="Cambria Math" panose="02040503050406030204" pitchFamily="18" charset="0"/>
                        <a:ea typeface="+mn-ea"/>
                        <a:cs typeface="Tahoma"/>
                      </a:rPr>
                      <m:t>𝑖</m:t>
                    </m:r>
                    <m:r>
                      <a:rPr lang="en-MY" sz="1100" i="1" kern="1200" spc="10" dirty="0">
                        <a:solidFill>
                          <a:schemeClr val="tx1"/>
                        </a:solidFill>
                        <a:latin typeface="Cambria Math" panose="02040503050406030204" pitchFamily="18" charset="0"/>
                        <a:ea typeface="+mn-ea"/>
                        <a:cs typeface="Tahoma"/>
                      </a:rPr>
                      <m:t>}</m:t>
                    </m:r>
                  </m:oMath>
                </a14:m>
                <a:r>
                  <a:rPr lang="en-MY" sz="1100" kern="1200" spc="10" dirty="0">
                    <a:solidFill>
                      <a:schemeClr val="tx1"/>
                    </a:solidFill>
                    <a:latin typeface="Tahoma"/>
                    <a:ea typeface="+mn-ea"/>
                    <a:cs typeface="Tahoma"/>
                  </a:rPr>
                  <a:t>,</a:t>
                </a:r>
              </a:p>
              <a:p>
                <a:pPr marL="314960" algn="ctr">
                  <a:lnSpc>
                    <a:spcPct val="100000"/>
                  </a:lnSpc>
                  <a:spcBef>
                    <a:spcPts val="1130"/>
                  </a:spcBef>
                </a:pPr>
                <a14:m>
                  <m:oMathPara xmlns:m="http://schemas.openxmlformats.org/officeDocument/2006/math">
                    <m:oMathParaPr>
                      <m:jc m:val="centerGroup"/>
                    </m:oMathParaPr>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oMath>
                  </m:oMathPara>
                </a14:m>
                <a:endParaRPr lang="en-MY" sz="1100" kern="1200" spc="10" dirty="0">
                  <a:solidFill>
                    <a:schemeClr val="tx1"/>
                  </a:solidFill>
                  <a:latin typeface="Tahoma"/>
                  <a:ea typeface="+mn-ea"/>
                  <a:cs typeface="Tahoma"/>
                </a:endParaRPr>
              </a:p>
              <a:p>
                <a:pPr>
                  <a:lnSpc>
                    <a:spcPct val="100000"/>
                  </a:lnSpc>
                  <a:spcBef>
                    <a:spcPts val="1155"/>
                  </a:spcBef>
                </a:pPr>
                <a:endParaRPr lang="en-MY" sz="1100" kern="1200" spc="10" dirty="0">
                  <a:solidFill>
                    <a:schemeClr val="tx1"/>
                  </a:solidFill>
                  <a:latin typeface="Tahoma"/>
                  <a:ea typeface="+mn-ea"/>
                  <a:cs typeface="Tahoma"/>
                </a:endParaRPr>
              </a:p>
              <a:p>
                <a:pPr marL="88265">
                  <a:lnSpc>
                    <a:spcPct val="100000"/>
                  </a:lnSpc>
                  <a:spcBef>
                    <a:spcPts val="5"/>
                  </a:spcBef>
                </a:pPr>
                <a:r>
                  <a:rPr lang="en-MY" sz="1100" kern="1200" spc="10" dirty="0">
                    <a:solidFill>
                      <a:schemeClr val="tx1"/>
                    </a:solidFill>
                    <a:latin typeface="Tahoma"/>
                    <a:ea typeface="+mn-ea"/>
                    <a:cs typeface="Tahoma"/>
                  </a:rPr>
                  <a:t>Towards fair division. In a fair outcome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a:t>
                </a:r>
              </a:p>
              <a:p>
                <a:pPr marL="363855" indent="-175260">
                  <a:lnSpc>
                    <a:spcPct val="100000"/>
                  </a:lnSpc>
                  <a:spcBef>
                    <a:spcPts val="330"/>
                  </a:spcBef>
                  <a:buClr>
                    <a:srgbClr val="3333B2"/>
                  </a:buClr>
                  <a:buFont typeface="Arial"/>
                  <a:buChar char="►"/>
                  <a:tabLst>
                    <a:tab pos="363855" algn="l"/>
                  </a:tabLst>
                </a:pPr>
                <a:r>
                  <a:rPr lang="en-MY" sz="1100" spc="-55" dirty="0">
                    <a:latin typeface="Tahoma"/>
                    <a:cs typeface="Tahoma"/>
                  </a:rPr>
                  <a:t>I</a:t>
                </a:r>
                <a:r>
                  <a:rPr lang="en-MY" sz="1100" kern="1200" spc="10" dirty="0">
                    <a:solidFill>
                      <a:schemeClr val="tx1"/>
                    </a:solidFill>
                    <a:latin typeface="Tahoma"/>
                    <a:ea typeface="+mn-ea"/>
                    <a:cs typeface="Tahoma"/>
                  </a:rPr>
                  <a:t>nterchangeable agents should receive equal payoff, </a:t>
                </a:r>
                <a14:m>
                  <m:oMath xmlns:m="http://schemas.openxmlformats.org/officeDocument/2006/math">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𝑖</m:t>
                        </m:r>
                      </m:sub>
                    </m:sSub>
                    <m:r>
                      <a:rPr lang="en-MY" sz="1100" i="1" kern="1200" spc="10" dirty="0" smtClean="0">
                        <a:solidFill>
                          <a:schemeClr val="tx1"/>
                        </a:solidFill>
                        <a:latin typeface="Cambria Math" panose="02040503050406030204" pitchFamily="18" charset="0"/>
                        <a:ea typeface="+mn-ea"/>
                        <a:cs typeface="Tahoma"/>
                      </a:rPr>
                      <m:t>=</m:t>
                    </m:r>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𝑗</m:t>
                        </m:r>
                      </m:sub>
                    </m:sSub>
                  </m:oMath>
                </a14:m>
                <a:endParaRPr lang="en-MY" sz="1100" kern="1200" spc="10" dirty="0">
                  <a:solidFill>
                    <a:schemeClr val="tx1"/>
                  </a:solidFill>
                  <a:latin typeface="Tahoma"/>
                  <a:ea typeface="+mn-ea"/>
                  <a:cs typeface="Tahoma"/>
                </a:endParaRPr>
              </a:p>
              <a:p>
                <a:pPr marL="363855" marR="43180" indent="-175260">
                  <a:lnSpc>
                    <a:spcPct val="102600"/>
                  </a:lnSpc>
                  <a:spcBef>
                    <a:spcPts val="300"/>
                  </a:spcBef>
                  <a:buClr>
                    <a:srgbClr val="3333B2"/>
                  </a:buClr>
                  <a:buFont typeface="Arial"/>
                  <a:buChar char="►"/>
                  <a:tabLst>
                    <a:tab pos="365760" algn="l"/>
                  </a:tabLst>
                </a:pPr>
                <a:r>
                  <a:rPr lang="en-MY" sz="1100" kern="1200" spc="10" dirty="0">
                    <a:solidFill>
                      <a:schemeClr val="tx1"/>
                    </a:solidFill>
                    <a:latin typeface="Tahoma"/>
                    <a:ea typeface="+mn-ea"/>
                    <a:cs typeface="Tahoma"/>
                  </a:rPr>
                  <a:t>A dummy player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should receive a payoff equal to exactly the</a:t>
                </a:r>
                <a:r>
                  <a:rPr lang="en-MY" sz="1100" spc="-25" dirty="0">
                    <a:latin typeface="Tahoma"/>
                    <a:cs typeface="Tahoma"/>
                  </a:rPr>
                  <a:t> 	</a:t>
                </a:r>
                <a:r>
                  <a:rPr lang="en-MY" sz="1100" kern="1200" spc="10" dirty="0">
                    <a:solidFill>
                      <a:schemeClr val="tx1"/>
                    </a:solidFill>
                    <a:latin typeface="Tahoma"/>
                    <a:ea typeface="+mn-ea"/>
                    <a:cs typeface="Tahoma"/>
                  </a:rPr>
                  <a:t>payoff that they can achieve on their own, namely, </a:t>
                </a:r>
                <a14:m>
                  <m:oMath xmlns:m="http://schemas.openxmlformats.org/officeDocument/2006/math">
                    <m:sSub>
                      <m:sSubPr>
                        <m:ctrlPr>
                          <a:rPr lang="en-MY" sz="1100" b="0" i="1" kern="1200" spc="10" dirty="0" smtClean="0">
                            <a:solidFill>
                              <a:schemeClr val="tx1"/>
                            </a:solidFill>
                            <a:latin typeface="Cambria Math" panose="02040503050406030204" pitchFamily="18" charset="0"/>
                            <a:ea typeface="+mn-ea"/>
                            <a:cs typeface="Tahoma"/>
                          </a:rPr>
                        </m:ctrlPr>
                      </m:sSubPr>
                      <m:e>
                        <m:r>
                          <a:rPr lang="en-MY" sz="1100" b="1" i="1" kern="1200" spc="10" dirty="0" smtClean="0">
                            <a:solidFill>
                              <a:schemeClr val="tx1"/>
                            </a:solidFill>
                            <a:latin typeface="Cambria Math" panose="02040503050406030204" pitchFamily="18" charset="0"/>
                            <a:ea typeface="+mn-ea"/>
                            <a:cs typeface="Tahoma"/>
                          </a:rPr>
                          <m:t>𝒙</m:t>
                        </m:r>
                      </m:e>
                      <m:sub>
                        <m:r>
                          <a:rPr lang="en-MY" sz="1100" i="1" kern="1200" spc="10" dirty="0" smtClean="0">
                            <a:solidFill>
                              <a:schemeClr val="tx1"/>
                            </a:solidFill>
                            <a:latin typeface="Cambria Math" panose="02040503050406030204" pitchFamily="18" charset="0"/>
                            <a:ea typeface="+mn-ea"/>
                            <a:cs typeface="Tahoma"/>
                          </a:rPr>
                          <m:t>𝑖</m:t>
                        </m:r>
                      </m:sub>
                    </m:sSub>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𝑖</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171450" y="587391"/>
                <a:ext cx="4368748" cy="2377894"/>
              </a:xfrm>
              <a:prstGeom prst="rect">
                <a:avLst/>
              </a:prstGeom>
              <a:blipFill>
                <a:blip r:embed="rId3"/>
                <a:stretch>
                  <a:fillRect b="-2821"/>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C0EBB8D2-FDBC-4D0B-B1D1-193A91256B4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9D135BE-39B2-4FEB-A266-AB2A9E30D00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64C5E951-A3A7-4FEB-AC96-530EEEC290C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20" dirty="0"/>
              <a:t> </a:t>
            </a:r>
            <a:r>
              <a:rPr dirty="0"/>
              <a:t>Shapley</a:t>
            </a:r>
            <a:r>
              <a:rPr spc="120" dirty="0"/>
              <a:t> </a:t>
            </a:r>
            <a:r>
              <a:rPr dirty="0"/>
              <a:t>value:</a:t>
            </a:r>
            <a:r>
              <a:rPr spc="260" dirty="0"/>
              <a:t> </a:t>
            </a:r>
            <a:r>
              <a:rPr spc="-10" dirty="0"/>
              <a:t>Axioms</a:t>
            </a:r>
          </a:p>
        </p:txBody>
      </p:sp>
      <mc:AlternateContent xmlns:mc="http://schemas.openxmlformats.org/markup-compatibility/2006" xmlns:a14="http://schemas.microsoft.com/office/drawing/2010/main">
        <mc:Choice Requires="a14">
          <p:sp>
            <p:nvSpPr>
              <p:cNvPr id="3" name="object 3"/>
              <p:cNvSpPr txBox="1"/>
              <p:nvPr/>
            </p:nvSpPr>
            <p:spPr>
              <a:xfrm>
                <a:off x="196952" y="892491"/>
                <a:ext cx="4470298" cy="1710468"/>
              </a:xfrm>
              <a:prstGeom prst="rect">
                <a:avLst/>
              </a:prstGeom>
            </p:spPr>
            <p:txBody>
              <a:bodyPr vert="horz" wrap="square" lIns="0" tIns="6985" rIns="0" bIns="0" rtlCol="0">
                <a:spAutoFit/>
              </a:bodyPr>
              <a:lstStyle/>
              <a:p>
                <a:pPr marL="12700" marR="41910">
                  <a:lnSpc>
                    <a:spcPct val="102600"/>
                  </a:lnSpc>
                  <a:spcBef>
                    <a:spcPts val="55"/>
                  </a:spcBef>
                </a:pPr>
                <a:r>
                  <a:rPr sz="1050" kern="1200" spc="10" dirty="0">
                    <a:solidFill>
                      <a:schemeClr val="tx1"/>
                    </a:solidFill>
                    <a:latin typeface="Tahoma"/>
                    <a:ea typeface="+mn-ea"/>
                    <a:cs typeface="Tahoma"/>
                  </a:rPr>
                  <a:t>The </a:t>
                </a:r>
                <a:r>
                  <a:rPr sz="1050" i="1" kern="1200" spc="10" dirty="0">
                    <a:solidFill>
                      <a:schemeClr val="tx1"/>
                    </a:solidFill>
                    <a:latin typeface="Tahoma"/>
                    <a:ea typeface="+mn-ea"/>
                    <a:cs typeface="Tahoma"/>
                  </a:rPr>
                  <a:t>Shapley</a:t>
                </a:r>
                <a:r>
                  <a:rPr sz="1050" kern="1200" spc="10" dirty="0">
                    <a:solidFill>
                      <a:schemeClr val="tx1"/>
                    </a:solidFill>
                    <a:latin typeface="Tahoma"/>
                    <a:ea typeface="+mn-ea"/>
                    <a:cs typeface="Tahoma"/>
                  </a:rPr>
                  <a:t> value is the only outcome, payoff vector </a:t>
                </a:r>
                <a14:m>
                  <m:oMath xmlns:m="http://schemas.openxmlformats.org/officeDocument/2006/math">
                    <m:r>
                      <a:rPr lang="en-MY" sz="1050" i="1" kern="1200" spc="10" dirty="0" smtClean="0">
                        <a:solidFill>
                          <a:schemeClr val="tx1"/>
                        </a:solidFill>
                        <a:latin typeface="Cambria Math" panose="02040503050406030204" pitchFamily="18" charset="0"/>
                        <a:ea typeface="+mn-ea"/>
                        <a:cs typeface="Tahoma"/>
                      </a:rPr>
                      <m:t>𝑥</m:t>
                    </m:r>
                    <m:r>
                      <a:rPr lang="en-MY" sz="1050" i="1" kern="1200" spc="10" dirty="0" smtClean="0">
                        <a:solidFill>
                          <a:schemeClr val="tx1"/>
                        </a:solidFill>
                        <a:latin typeface="Cambria Math" panose="02040503050406030204" pitchFamily="18" charset="0"/>
                        <a:ea typeface="+mn-ea"/>
                        <a:cs typeface="Tahoma"/>
                      </a:rPr>
                      <m:t>=</m:t>
                    </m:r>
                    <m:r>
                      <a:rPr lang="en-MY" sz="1050" i="1" kern="1200" spc="10" dirty="0" smtClean="0">
                        <a:solidFill>
                          <a:schemeClr val="tx1"/>
                        </a:solidFill>
                        <a:latin typeface="Cambria Math" panose="02040503050406030204" pitchFamily="18" charset="0"/>
                        <a:ea typeface="Cambria Math" panose="02040503050406030204" pitchFamily="18" charset="0"/>
                        <a:cs typeface="Tahoma"/>
                      </a:rPr>
                      <m:t>𝜙</m:t>
                    </m:r>
                    <m:r>
                      <a:rPr lang="en-MY" sz="1050" i="1" kern="1200" spc="10" dirty="0" smtClean="0">
                        <a:solidFill>
                          <a:schemeClr val="tx1"/>
                        </a:solidFill>
                        <a:latin typeface="Cambria Math" panose="02040503050406030204" pitchFamily="18" charset="0"/>
                        <a:ea typeface="+mn-ea"/>
                        <a:cs typeface="Tahoma"/>
                      </a:rPr>
                      <m:t>(</m:t>
                    </m:r>
                    <m:r>
                      <a:rPr lang="en-MY" sz="1050" i="1" kern="1200" spc="10" dirty="0" smtClean="0">
                        <a:solidFill>
                          <a:schemeClr val="tx1"/>
                        </a:solidFill>
                        <a:latin typeface="Cambria Math" panose="02040503050406030204" pitchFamily="18" charset="0"/>
                        <a:ea typeface="+mn-ea"/>
                        <a:cs typeface="Tahoma"/>
                      </a:rPr>
                      <m:t>𝑁</m:t>
                    </m:r>
                    <m:r>
                      <a:rPr lang="en-MY" sz="1050" i="1" kern="1200" spc="10" dirty="0" smtClean="0">
                        <a:solidFill>
                          <a:schemeClr val="tx1"/>
                        </a:solidFill>
                        <a:latin typeface="Cambria Math" panose="02040503050406030204" pitchFamily="18" charset="0"/>
                        <a:ea typeface="+mn-ea"/>
                        <a:cs typeface="Tahoma"/>
                      </a:rPr>
                      <m:t>, </m:t>
                    </m:r>
                    <m:r>
                      <a:rPr lang="en-MY" sz="1050" i="1" kern="1200" spc="10" dirty="0" smtClean="0">
                        <a:solidFill>
                          <a:schemeClr val="tx1"/>
                        </a:solidFill>
                        <a:latin typeface="Cambria Math" panose="02040503050406030204" pitchFamily="18" charset="0"/>
                        <a:ea typeface="+mn-ea"/>
                        <a:cs typeface="Tahoma"/>
                      </a:rPr>
                      <m:t>𝑣</m:t>
                    </m:r>
                    <m:r>
                      <a:rPr lang="en-MY" sz="1050" i="1" kern="1200" spc="10" dirty="0" smtClean="0">
                        <a:solidFill>
                          <a:schemeClr val="tx1"/>
                        </a:solidFill>
                        <a:latin typeface="Cambria Math" panose="02040503050406030204" pitchFamily="18" charset="0"/>
                        <a:ea typeface="+mn-ea"/>
                        <a:cs typeface="Tahoma"/>
                      </a:rPr>
                      <m:t>)</m:t>
                    </m:r>
                  </m:oMath>
                </a14:m>
                <a:r>
                  <a:rPr sz="1050" kern="1200" spc="10" dirty="0">
                    <a:solidFill>
                      <a:schemeClr val="tx1"/>
                    </a:solidFill>
                    <a:latin typeface="Tahoma"/>
                    <a:ea typeface="+mn-ea"/>
                    <a:cs typeface="Tahoma"/>
                  </a:rPr>
                  <a:t>, satisfying the following three axioms for fair division:</a:t>
                </a:r>
              </a:p>
              <a:p>
                <a:pPr>
                  <a:lnSpc>
                    <a:spcPct val="100000"/>
                  </a:lnSpc>
                  <a:spcBef>
                    <a:spcPts val="660"/>
                  </a:spcBef>
                </a:pPr>
                <a:endParaRPr sz="1050" dirty="0">
                  <a:latin typeface="Tahoma"/>
                  <a:cs typeface="Tahoma"/>
                </a:endParaRPr>
              </a:p>
              <a:p>
                <a:pPr marL="290195" indent="-177800">
                  <a:lnSpc>
                    <a:spcPct val="100000"/>
                  </a:lnSpc>
                  <a:buClr>
                    <a:srgbClr val="3333B2"/>
                  </a:buClr>
                  <a:buAutoNum type="arabicPeriod"/>
                  <a:tabLst>
                    <a:tab pos="290195" algn="l"/>
                  </a:tabLst>
                </a:pPr>
                <a:r>
                  <a:rPr sz="1050" kern="1200" spc="10" dirty="0">
                    <a:solidFill>
                      <a:schemeClr val="tx1"/>
                    </a:solidFill>
                    <a:latin typeface="Tahoma"/>
                    <a:ea typeface="+mn-ea"/>
                    <a:cs typeface="Tahoma"/>
                  </a:rPr>
                  <a:t>S</a:t>
                </a:r>
                <a:r>
                  <a:rPr lang="en-US" sz="1050" kern="1200" spc="10" dirty="0">
                    <a:solidFill>
                      <a:schemeClr val="tx1"/>
                    </a:solidFill>
                    <a:latin typeface="Tahoma"/>
                    <a:ea typeface="+mn-ea"/>
                    <a:cs typeface="Tahoma"/>
                  </a:rPr>
                  <a:t>y</a:t>
                </a:r>
                <a:r>
                  <a:rPr sz="1050" kern="1200" spc="10" dirty="0">
                    <a:solidFill>
                      <a:schemeClr val="tx1"/>
                    </a:solidFill>
                    <a:latin typeface="Tahoma"/>
                    <a:ea typeface="+mn-ea"/>
                    <a:cs typeface="Tahoma"/>
                  </a:rPr>
                  <a:t>mmetry</a:t>
                </a:r>
              </a:p>
              <a:p>
                <a:pPr marL="290195" indent="-177800">
                  <a:lnSpc>
                    <a:spcPct val="100000"/>
                  </a:lnSpc>
                  <a:spcBef>
                    <a:spcPts val="335"/>
                  </a:spcBef>
                  <a:buClr>
                    <a:srgbClr val="3333B2"/>
                  </a:buClr>
                  <a:buAutoNum type="arabicPeriod"/>
                  <a:tabLst>
                    <a:tab pos="290195" algn="l"/>
                  </a:tabLst>
                </a:pPr>
                <a:r>
                  <a:rPr sz="1050" kern="1200" spc="10" dirty="0">
                    <a:solidFill>
                      <a:schemeClr val="tx1"/>
                    </a:solidFill>
                    <a:latin typeface="Tahoma"/>
                    <a:ea typeface="+mn-ea"/>
                    <a:cs typeface="Tahoma"/>
                  </a:rPr>
                  <a:t>Dummy player</a:t>
                </a:r>
              </a:p>
              <a:p>
                <a:pPr marL="290195" indent="-177800">
                  <a:lnSpc>
                    <a:spcPct val="100000"/>
                  </a:lnSpc>
                  <a:spcBef>
                    <a:spcPts val="334"/>
                  </a:spcBef>
                  <a:buClr>
                    <a:srgbClr val="3333B2"/>
                  </a:buClr>
                  <a:buAutoNum type="arabicPeriod"/>
                  <a:tabLst>
                    <a:tab pos="290195" algn="l"/>
                  </a:tabLst>
                </a:pPr>
                <a:r>
                  <a:rPr sz="1050" kern="1200" spc="10" dirty="0">
                    <a:solidFill>
                      <a:schemeClr val="tx1"/>
                    </a:solidFill>
                    <a:latin typeface="Tahoma"/>
                    <a:ea typeface="+mn-ea"/>
                    <a:cs typeface="Tahoma"/>
                  </a:rPr>
                  <a:t>Additivity</a:t>
                </a:r>
              </a:p>
              <a:p>
                <a:pPr>
                  <a:lnSpc>
                    <a:spcPct val="100000"/>
                  </a:lnSpc>
                  <a:spcBef>
                    <a:spcPts val="620"/>
                  </a:spcBef>
                </a:pPr>
                <a:endParaRPr sz="1050" dirty="0">
                  <a:latin typeface="Tahoma"/>
                  <a:cs typeface="Tahoma"/>
                </a:endParaRPr>
              </a:p>
              <a:p>
                <a:pPr marL="12700" marR="5080">
                  <a:lnSpc>
                    <a:spcPct val="102699"/>
                  </a:lnSpc>
                </a:pPr>
                <a:r>
                  <a:rPr sz="1050" kern="1200" spc="10" dirty="0">
                    <a:solidFill>
                      <a:schemeClr val="tx1"/>
                    </a:solidFill>
                    <a:latin typeface="Tahoma"/>
                    <a:ea typeface="+mn-ea"/>
                    <a:cs typeface="Tahoma"/>
                  </a:rPr>
                  <a:t>Such an outcome is </a:t>
                </a:r>
                <a:r>
                  <a:rPr sz="1050" i="1" kern="1200" spc="10" dirty="0">
                    <a:solidFill>
                      <a:schemeClr val="tx1"/>
                    </a:solidFill>
                    <a:latin typeface="Tahoma"/>
                    <a:ea typeface="+mn-ea"/>
                    <a:cs typeface="Tahoma"/>
                  </a:rPr>
                  <a:t>efficient</a:t>
                </a:r>
                <a:r>
                  <a:rPr sz="1050" kern="1200" spc="10" dirty="0">
                    <a:solidFill>
                      <a:schemeClr val="tx1"/>
                    </a:solidFill>
                    <a:latin typeface="Tahoma"/>
                    <a:ea typeface="+mn-ea"/>
                    <a:cs typeface="Tahoma"/>
                  </a:rPr>
                  <a:t>, thus feasible too, but not necessarily it is</a:t>
                </a:r>
                <a:r>
                  <a:rPr sz="1050" i="1" kern="1200" spc="10" dirty="0">
                    <a:solidFill>
                      <a:schemeClr val="tx1"/>
                    </a:solidFill>
                    <a:latin typeface="Tahoma"/>
                    <a:ea typeface="+mn-ea"/>
                    <a:cs typeface="Tahoma"/>
                  </a:rPr>
                  <a:t> individually </a:t>
                </a:r>
                <a:r>
                  <a:rPr sz="1050" kern="1200" spc="10" dirty="0">
                    <a:solidFill>
                      <a:schemeClr val="tx1"/>
                    </a:solidFill>
                    <a:latin typeface="Tahoma"/>
                    <a:ea typeface="+mn-ea"/>
                    <a:cs typeface="Tahoma"/>
                  </a:rPr>
                  <a:t>rational; thus, it may or may not be an imputation.</a:t>
                </a:r>
              </a:p>
            </p:txBody>
          </p:sp>
        </mc:Choice>
        <mc:Fallback xmlns="">
          <p:sp>
            <p:nvSpPr>
              <p:cNvPr id="3" name="object 3"/>
              <p:cNvSpPr txBox="1">
                <a:spLocks noRot="1" noChangeAspect="1" noMove="1" noResize="1" noEditPoints="1" noAdjustHandles="1" noChangeArrowheads="1" noChangeShapeType="1" noTextEdit="1"/>
              </p:cNvSpPr>
              <p:nvPr/>
            </p:nvSpPr>
            <p:spPr>
              <a:xfrm>
                <a:off x="196952" y="892491"/>
                <a:ext cx="4470298" cy="1710468"/>
              </a:xfrm>
              <a:prstGeom prst="rect">
                <a:avLst/>
              </a:prstGeom>
              <a:blipFill>
                <a:blip r:embed="rId3"/>
                <a:stretch>
                  <a:fillRect l="-1499" t="-2135" b="-3915"/>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2F26545-1F60-48DB-9A79-4BBE17307B59}"/>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B9315A22-B020-4CB5-8373-3337CA69A68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B29E8CD-1583-46C9-8F61-49C9E8113786}"/>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20" dirty="0"/>
              <a:t> </a:t>
            </a:r>
            <a:r>
              <a:rPr dirty="0"/>
              <a:t>Shapley</a:t>
            </a:r>
            <a:r>
              <a:rPr spc="120" dirty="0"/>
              <a:t> </a:t>
            </a:r>
            <a:r>
              <a:rPr dirty="0"/>
              <a:t>value:</a:t>
            </a:r>
            <a:r>
              <a:rPr spc="260" dirty="0"/>
              <a:t> </a:t>
            </a:r>
            <a:r>
              <a:rPr spc="-10" dirty="0"/>
              <a:t>Axioms</a:t>
            </a:r>
          </a:p>
        </p:txBody>
      </p:sp>
      <mc:AlternateContent xmlns:mc="http://schemas.openxmlformats.org/markup-compatibility/2006" xmlns:a14="http://schemas.microsoft.com/office/drawing/2010/main">
        <mc:Choice Requires="a14">
          <p:sp>
            <p:nvSpPr>
              <p:cNvPr id="3" name="object 3"/>
              <p:cNvSpPr txBox="1"/>
              <p:nvPr/>
            </p:nvSpPr>
            <p:spPr>
              <a:xfrm>
                <a:off x="371157" y="785163"/>
                <a:ext cx="4169042" cy="1951560"/>
              </a:xfrm>
              <a:prstGeom prst="rect">
                <a:avLst/>
              </a:prstGeom>
            </p:spPr>
            <p:txBody>
              <a:bodyPr vert="horz" wrap="square" lIns="0" tIns="6985" rIns="0" bIns="0" rtlCol="0">
                <a:spAutoFit/>
              </a:bodyPr>
              <a:lstStyle/>
              <a:p>
                <a:pPr marL="265430" marR="117475" indent="-177165">
                  <a:lnSpc>
                    <a:spcPct val="102600"/>
                  </a:lnSpc>
                  <a:spcBef>
                    <a:spcPts val="55"/>
                  </a:spcBef>
                  <a:buClr>
                    <a:srgbClr val="3333B2"/>
                  </a:buClr>
                  <a:buFont typeface="Tahoma"/>
                  <a:buAutoNum type="arabicPeriod"/>
                  <a:tabLst>
                    <a:tab pos="265430" algn="l"/>
                  </a:tabLst>
                </a:pPr>
                <a:r>
                  <a:rPr lang="en-US" sz="1100" b="1" kern="1200" spc="10" dirty="0">
                    <a:solidFill>
                      <a:schemeClr val="tx1"/>
                    </a:solidFill>
                    <a:latin typeface="Tahoma"/>
                    <a:ea typeface="+mn-ea"/>
                    <a:cs typeface="Tahoma"/>
                  </a:rPr>
                  <a:t>Symmetry: </a:t>
                </a:r>
                <a:r>
                  <a:rPr lang="en-US" sz="1100" kern="1200" spc="10" dirty="0">
                    <a:solidFill>
                      <a:schemeClr val="tx1"/>
                    </a:solidFill>
                    <a:latin typeface="Tahoma"/>
                    <a:ea typeface="+mn-ea"/>
                    <a:cs typeface="Tahoma"/>
                  </a:rPr>
                  <a:t>For every characteristic function </a:t>
                </a:r>
                <a14:m>
                  <m:oMath xmlns:m="http://schemas.openxmlformats.org/officeDocument/2006/math">
                    <m:r>
                      <a:rPr lang="en-US" sz="1100" i="1" spc="-55" dirty="0" smtClean="0">
                        <a:latin typeface="Cambria Math" panose="02040503050406030204" pitchFamily="18" charset="0"/>
                        <a:cs typeface="Arial"/>
                      </a:rPr>
                      <m:t>𝑣</m:t>
                    </m:r>
                    <m:r>
                      <a:rPr lang="en-US" sz="1100" i="1" spc="-190" dirty="0">
                        <a:latin typeface="Cambria Math" panose="02040503050406030204" pitchFamily="18" charset="0"/>
                        <a:cs typeface="Arial"/>
                      </a:rPr>
                      <m:t> </m:t>
                    </m:r>
                  </m:oMath>
                </a14:m>
                <a:r>
                  <a:rPr lang="en-US" sz="1100" dirty="0">
                    <a:latin typeface="Tahoma"/>
                    <a:cs typeface="Tahoma"/>
                  </a:rPr>
                  <a:t>,</a:t>
                </a:r>
                <a:r>
                  <a:rPr lang="en-US" sz="1100" spc="-10" dirty="0">
                    <a:latin typeface="Tahoma"/>
                    <a:cs typeface="Tahoma"/>
                  </a:rPr>
                  <a:t> </a:t>
                </a:r>
                <a:r>
                  <a:rPr lang="en-US" sz="1100" dirty="0">
                    <a:latin typeface="Tahoma"/>
                    <a:cs typeface="Tahoma"/>
                  </a:rPr>
                  <a:t>if</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oMath>
                </a14:m>
                <a:r>
                  <a:rPr lang="en-US" sz="1100" i="1" spc="120" dirty="0">
                    <a:latin typeface="Arial"/>
                    <a:cs typeface="Arial"/>
                  </a:rPr>
                  <a:t> </a:t>
                </a:r>
                <a:r>
                  <a:rPr lang="en-US" sz="1100" kern="1200" spc="10" dirty="0">
                    <a:solidFill>
                      <a:schemeClr val="tx1"/>
                    </a:solidFill>
                    <a:latin typeface="Tahoma"/>
                    <a:ea typeface="+mn-ea"/>
                    <a:cs typeface="Tahoma"/>
                  </a:rPr>
                  <a:t>and</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𝑗</m:t>
                    </m:r>
                  </m:oMath>
                </a14:m>
                <a:r>
                  <a:rPr lang="en-US" sz="1100" i="1" spc="110" dirty="0">
                    <a:latin typeface="Arial"/>
                    <a:cs typeface="Arial"/>
                  </a:rPr>
                  <a:t> </a:t>
                </a:r>
                <a:r>
                  <a:rPr lang="en-US" sz="1100" kern="1200" spc="10" dirty="0">
                    <a:solidFill>
                      <a:schemeClr val="tx1"/>
                    </a:solidFill>
                    <a:latin typeface="Tahoma"/>
                    <a:ea typeface="+mn-ea"/>
                    <a:cs typeface="Tahoma"/>
                  </a:rPr>
                  <a:t>are interchangeable agents in </a:t>
                </a:r>
                <a14:m>
                  <m:oMath xmlns:m="http://schemas.openxmlformats.org/officeDocument/2006/math">
                    <m:r>
                      <a:rPr lang="en-US" sz="1100" i="1" dirty="0" smtClean="0">
                        <a:latin typeface="Cambria Math" panose="02040503050406030204" pitchFamily="18" charset="0"/>
                        <a:cs typeface="Arial"/>
                      </a:rPr>
                      <m:t>𝑁</m:t>
                    </m:r>
                  </m:oMath>
                </a14:m>
                <a:r>
                  <a:rPr lang="en-US" sz="1100" dirty="0">
                    <a:latin typeface="Tahoma"/>
                    <a:cs typeface="Tahoma"/>
                  </a:rPr>
                  <a:t>,</a:t>
                </a:r>
                <a:r>
                  <a:rPr lang="en-US" sz="1100" kern="1200" spc="10" dirty="0">
                    <a:solidFill>
                      <a:schemeClr val="tx1"/>
                    </a:solidFill>
                    <a:latin typeface="Tahoma"/>
                    <a:ea typeface="+mn-ea"/>
                    <a:cs typeface="Tahoma"/>
                  </a:rPr>
                  <a:t> then </a:t>
                </a:r>
                <a14:m>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US"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200" i="1" spc="-232" baseline="-10416" dirty="0" smtClean="0">
                        <a:latin typeface="Cambria Math" panose="02040503050406030204" pitchFamily="18" charset="0"/>
                        <a:cs typeface="Verdana"/>
                      </a:rPr>
                      <m:t> </m:t>
                    </m:r>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𝑁</m:t>
                    </m:r>
                    <m:r>
                      <a:rPr lang="en-US" sz="1100" i="1" dirty="0" smtClean="0">
                        <a:latin typeface="Cambria Math" panose="02040503050406030204" pitchFamily="18" charset="0"/>
                        <a:cs typeface="Adobe Text Pro"/>
                      </a:rPr>
                      <m:t>,</m:t>
                    </m:r>
                    <m:r>
                      <a:rPr lang="en-US" sz="1100" i="1" spc="-50" dirty="0" smtClean="0">
                        <a:latin typeface="Cambria Math" panose="02040503050406030204" pitchFamily="18" charset="0"/>
                        <a:cs typeface="Adobe Text Pro"/>
                      </a:rPr>
                      <m:t> </m:t>
                    </m:r>
                    <m:r>
                      <a:rPr lang="en-US" sz="1100" i="1" spc="-55" dirty="0" smtClean="0">
                        <a:latin typeface="Cambria Math" panose="02040503050406030204" pitchFamily="18" charset="0"/>
                        <a:cs typeface="Arial"/>
                      </a:rPr>
                      <m:t>𝑣</m:t>
                    </m:r>
                    <m:r>
                      <a:rPr lang="en-US" sz="1100" i="1" spc="-190"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US"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𝑁</m:t>
                    </m:r>
                    <m:r>
                      <a:rPr lang="en-US" sz="1100" i="1" dirty="0" smtClean="0">
                        <a:latin typeface="Cambria Math" panose="02040503050406030204" pitchFamily="18" charset="0"/>
                        <a:cs typeface="Adobe Text Pro"/>
                      </a:rPr>
                      <m:t>,</m:t>
                    </m:r>
                    <m:r>
                      <a:rPr lang="en-US" sz="1100" i="1" spc="-55" dirty="0" smtClean="0">
                        <a:latin typeface="Cambria Math" panose="02040503050406030204" pitchFamily="18" charset="0"/>
                        <a:cs typeface="Adobe Text Pro"/>
                      </a:rPr>
                      <m:t> </m:t>
                    </m:r>
                    <m:r>
                      <a:rPr lang="en-US" sz="1100" i="1" spc="-55" dirty="0" smtClean="0">
                        <a:latin typeface="Cambria Math" panose="02040503050406030204" pitchFamily="18" charset="0"/>
                        <a:cs typeface="Arial"/>
                      </a:rPr>
                      <m:t>𝑣</m:t>
                    </m:r>
                    <m:r>
                      <a:rPr lang="en-US" sz="1100" i="1" spc="-190" dirty="0" smtClean="0">
                        <a:latin typeface="Cambria Math" panose="02040503050406030204" pitchFamily="18" charset="0"/>
                        <a:cs typeface="Arial"/>
                      </a:rPr>
                      <m:t> </m:t>
                    </m:r>
                    <m:r>
                      <a:rPr lang="en-US" sz="1100" i="1" spc="-50" dirty="0" smtClean="0">
                        <a:latin typeface="Cambria Math" panose="02040503050406030204" pitchFamily="18" charset="0"/>
                        <a:cs typeface="Tahoma"/>
                      </a:rPr>
                      <m:t>)</m:t>
                    </m:r>
                  </m:oMath>
                </a14:m>
                <a:endParaRPr lang="en-US" sz="1100" dirty="0">
                  <a:latin typeface="Tahoma"/>
                  <a:cs typeface="Tahoma"/>
                </a:endParaRPr>
              </a:p>
              <a:p>
                <a:pPr>
                  <a:lnSpc>
                    <a:spcPct val="100000"/>
                  </a:lnSpc>
                  <a:spcBef>
                    <a:spcPts val="360"/>
                  </a:spcBef>
                  <a:buClr>
                    <a:srgbClr val="3333B2"/>
                  </a:buClr>
                  <a:buFont typeface="Tahoma"/>
                  <a:buAutoNum type="arabicPeriod"/>
                </a:pPr>
                <a:endParaRPr lang="en-US" sz="1100" i="1" kern="1200" spc="10" dirty="0">
                  <a:solidFill>
                    <a:schemeClr val="tx1"/>
                  </a:solidFill>
                  <a:latin typeface="Tahoma"/>
                  <a:ea typeface="+mn-ea"/>
                  <a:cs typeface="Tahoma"/>
                </a:endParaRPr>
              </a:p>
              <a:p>
                <a:pPr marL="177800" indent="-177800" algn="ctr">
                  <a:lnSpc>
                    <a:spcPct val="100000"/>
                  </a:lnSpc>
                  <a:buClr>
                    <a:srgbClr val="3333B2"/>
                  </a:buClr>
                  <a:buFont typeface="Tahoma"/>
                  <a:buAutoNum type="arabicPeriod"/>
                  <a:tabLst>
                    <a:tab pos="177800" algn="l"/>
                  </a:tabLst>
                </a:pPr>
                <a:r>
                  <a:rPr lang="en-US" sz="1100" b="1" kern="1200" spc="10" dirty="0">
                    <a:solidFill>
                      <a:schemeClr val="tx1"/>
                    </a:solidFill>
                    <a:latin typeface="Tahoma"/>
                    <a:ea typeface="+mn-ea"/>
                    <a:cs typeface="Tahoma"/>
                  </a:rPr>
                  <a:t>Dummy player: </a:t>
                </a:r>
                <a:r>
                  <a:rPr lang="en-US" sz="1100" kern="1200" spc="10" dirty="0">
                    <a:solidFill>
                      <a:schemeClr val="tx1"/>
                    </a:solidFill>
                    <a:latin typeface="Tahoma"/>
                    <a:ea typeface="+mn-ea"/>
                    <a:cs typeface="Tahoma"/>
                  </a:rPr>
                  <a:t>For every characteristic function </a:t>
                </a:r>
                <a14:m>
                  <m:oMath xmlns:m="http://schemas.openxmlformats.org/officeDocument/2006/math">
                    <m:r>
                      <a:rPr lang="en-US" sz="1100" i="1" spc="-55" dirty="0" smtClean="0">
                        <a:latin typeface="Cambria Math" panose="02040503050406030204" pitchFamily="18" charset="0"/>
                        <a:cs typeface="Arial"/>
                      </a:rPr>
                      <m:t>𝑣</m:t>
                    </m:r>
                  </m:oMath>
                </a14:m>
                <a:r>
                  <a:rPr lang="en-US" sz="1100" i="1" spc="-190" dirty="0">
                    <a:latin typeface="Arial"/>
                    <a:cs typeface="Arial"/>
                  </a:rPr>
                  <a:t> </a:t>
                </a:r>
                <a:r>
                  <a:rPr lang="en-US" sz="1100" dirty="0">
                    <a:latin typeface="Tahoma"/>
                    <a:cs typeface="Tahoma"/>
                  </a:rPr>
                  <a:t>,</a:t>
                </a:r>
                <a:r>
                  <a:rPr lang="en-US" sz="1100" spc="-30" dirty="0">
                    <a:latin typeface="Tahoma"/>
                    <a:cs typeface="Tahoma"/>
                  </a:rPr>
                  <a:t> </a:t>
                </a:r>
                <a:r>
                  <a:rPr lang="en-US" sz="1100" dirty="0">
                    <a:latin typeface="Tahoma"/>
                    <a:cs typeface="Tahoma"/>
                  </a:rPr>
                  <a:t>i</a:t>
                </a:r>
                <a:r>
                  <a:rPr lang="en-US" sz="1100" kern="1200" spc="10" dirty="0">
                    <a:solidFill>
                      <a:schemeClr val="tx1"/>
                    </a:solidFill>
                    <a:latin typeface="Tahoma"/>
                    <a:ea typeface="+mn-ea"/>
                    <a:cs typeface="Tahoma"/>
                  </a:rPr>
                  <a:t>f agent </a:t>
                </a:r>
                <a14:m>
                  <m:oMath xmlns:m="http://schemas.openxmlformats.org/officeDocument/2006/math">
                    <m:r>
                      <a:rPr lang="en-US" sz="1100" i="1" spc="-50" dirty="0" smtClean="0">
                        <a:latin typeface="Cambria Math" panose="02040503050406030204" pitchFamily="18" charset="0"/>
                        <a:cs typeface="Arial"/>
                      </a:rPr>
                      <m:t>𝑖</m:t>
                    </m:r>
                  </m:oMath>
                </a14:m>
                <a:endParaRPr lang="en-US" sz="1100" dirty="0">
                  <a:latin typeface="Arial"/>
                  <a:cs typeface="Arial"/>
                </a:endParaRPr>
              </a:p>
              <a:p>
                <a:pPr marR="45720" algn="ctr">
                  <a:lnSpc>
                    <a:spcPct val="100000"/>
                  </a:lnSpc>
                  <a:spcBef>
                    <a:spcPts val="35"/>
                  </a:spcBef>
                </a:pPr>
                <a:r>
                  <a:rPr lang="en-US" sz="1100" kern="1200" spc="10" dirty="0">
                    <a:solidFill>
                      <a:schemeClr val="tx1"/>
                    </a:solidFill>
                    <a:latin typeface="Tahoma"/>
                    <a:ea typeface="+mn-ea"/>
                    <a:cs typeface="Tahoma"/>
                  </a:rPr>
                  <a:t>is a dummy player in </a:t>
                </a:r>
                <a14:m>
                  <m:oMath xmlns:m="http://schemas.openxmlformats.org/officeDocument/2006/math">
                    <m:r>
                      <a:rPr lang="en-US" sz="1100" i="1" dirty="0" smtClean="0">
                        <a:latin typeface="Cambria Math" panose="02040503050406030204" pitchFamily="18" charset="0"/>
                        <a:cs typeface="Arial"/>
                      </a:rPr>
                      <m:t>𝑁</m:t>
                    </m:r>
                  </m:oMath>
                </a14:m>
                <a:r>
                  <a:rPr lang="en-US" sz="1100" dirty="0">
                    <a:latin typeface="Tahoma"/>
                    <a:cs typeface="Tahoma"/>
                  </a:rPr>
                  <a:t>,</a:t>
                </a:r>
                <a:r>
                  <a:rPr lang="en-US" sz="1100" spc="5" dirty="0">
                    <a:latin typeface="Tahoma"/>
                    <a:cs typeface="Tahoma"/>
                  </a:rPr>
                  <a:t> </a:t>
                </a:r>
                <a:r>
                  <a:rPr lang="en-US" sz="1100" kern="1200" spc="10" dirty="0">
                    <a:solidFill>
                      <a:schemeClr val="tx1"/>
                    </a:solidFill>
                    <a:latin typeface="Tahoma"/>
                    <a:ea typeface="+mn-ea"/>
                    <a:cs typeface="Tahoma"/>
                  </a:rPr>
                  <a:t>then we have </a:t>
                </a:r>
                <a14:m>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US"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60" dirty="0">
                        <a:latin typeface="Cambria Math" panose="02040503050406030204" pitchFamily="18" charset="0"/>
                        <a:cs typeface="Adobe Text Pro"/>
                      </a:rPr>
                      <m:t> </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dirty="0">
                        <a:latin typeface="Cambria Math" panose="02040503050406030204" pitchFamily="18" charset="0"/>
                        <a:cs typeface="Tahoma"/>
                      </a:rPr>
                      <m:t>)=</m:t>
                    </m:r>
                    <m:r>
                      <a:rPr lang="en-US" sz="1100" i="1" spc="-55" dirty="0">
                        <a:latin typeface="Cambria Math" panose="02040503050406030204" pitchFamily="18" charset="0"/>
                        <a:cs typeface="Arial"/>
                      </a:rPr>
                      <m:t>𝑣</m:t>
                    </m:r>
                    <m:r>
                      <a:rPr lang="en-US" sz="1100" i="1" spc="-190" dirty="0">
                        <a:latin typeface="Cambria Math" panose="02040503050406030204" pitchFamily="18" charset="0"/>
                        <a:cs typeface="Arial"/>
                      </a:rPr>
                      <m:t> </m:t>
                    </m:r>
                    <m:r>
                      <a:rPr lang="en-US" sz="1100" i="1" spc="-10" dirty="0">
                        <a:latin typeface="Cambria Math" panose="02040503050406030204" pitchFamily="18" charset="0"/>
                        <a:cs typeface="Tahoma"/>
                      </a:rPr>
                      <m:t>(</m:t>
                    </m:r>
                    <m:r>
                      <a:rPr lang="en-US" sz="1100" i="1" spc="-10" dirty="0">
                        <a:latin typeface="Cambria Math" panose="02040503050406030204" pitchFamily="18" charset="0"/>
                        <a:cs typeface="Meiryo UI"/>
                      </a:rPr>
                      <m:t>{</m:t>
                    </m:r>
                    <m:r>
                      <a:rPr lang="en-US" sz="1100" i="1" spc="-10" dirty="0">
                        <a:latin typeface="Cambria Math" panose="02040503050406030204" pitchFamily="18" charset="0"/>
                        <a:cs typeface="Arial"/>
                      </a:rPr>
                      <m:t>𝑖</m:t>
                    </m:r>
                    <m:r>
                      <a:rPr lang="en-US" sz="1100" i="1" spc="-10" dirty="0">
                        <a:latin typeface="Cambria Math" panose="02040503050406030204" pitchFamily="18" charset="0"/>
                        <a:cs typeface="Meiryo UI"/>
                      </a:rPr>
                      <m:t>}</m:t>
                    </m:r>
                    <m:r>
                      <a:rPr lang="en-US" sz="1100" i="1" spc="-10" dirty="0">
                        <a:latin typeface="Cambria Math" panose="02040503050406030204" pitchFamily="18" charset="0"/>
                        <a:cs typeface="Tahoma"/>
                      </a:rPr>
                      <m:t>)</m:t>
                    </m:r>
                  </m:oMath>
                </a14:m>
                <a:endParaRPr lang="en-US" sz="1100" dirty="0">
                  <a:latin typeface="Tahoma"/>
                  <a:cs typeface="Tahoma"/>
                </a:endParaRPr>
              </a:p>
              <a:p>
                <a:pPr>
                  <a:lnSpc>
                    <a:spcPct val="100000"/>
                  </a:lnSpc>
                  <a:spcBef>
                    <a:spcPts val="360"/>
                  </a:spcBef>
                </a:pPr>
                <a:endParaRPr lang="en-US" sz="1100" dirty="0">
                  <a:latin typeface="Tahoma"/>
                  <a:cs typeface="Tahoma"/>
                </a:endParaRPr>
              </a:p>
              <a:p>
                <a:pPr marL="266700" indent="-177800">
                  <a:lnSpc>
                    <a:spcPct val="100000"/>
                  </a:lnSpc>
                  <a:buClr>
                    <a:srgbClr val="3333B2"/>
                  </a:buClr>
                  <a:buFont typeface="Tahoma"/>
                  <a:buAutoNum type="arabicPeriod" startAt="3"/>
                  <a:tabLst>
                    <a:tab pos="266700" algn="l"/>
                  </a:tabLst>
                </a:pPr>
                <a:r>
                  <a:rPr lang="en-US" sz="1100" b="1" kern="1200" spc="10" dirty="0">
                    <a:solidFill>
                      <a:schemeClr val="tx1"/>
                    </a:solidFill>
                    <a:latin typeface="Tahoma"/>
                    <a:ea typeface="+mn-ea"/>
                    <a:cs typeface="Tahoma"/>
                  </a:rPr>
                  <a:t>Additivity: </a:t>
                </a:r>
                <a:r>
                  <a:rPr lang="en-US" sz="1100" kern="1200" spc="10" dirty="0">
                    <a:solidFill>
                      <a:schemeClr val="tx1"/>
                    </a:solidFill>
                    <a:latin typeface="Tahoma"/>
                    <a:ea typeface="+mn-ea"/>
                    <a:cs typeface="Tahoma"/>
                  </a:rPr>
                  <a:t>For every two </a:t>
                </a:r>
                <a14:m>
                  <m:oMath xmlns:m="http://schemas.openxmlformats.org/officeDocument/2006/math">
                    <m:sSub>
                      <m:sSubPr>
                        <m:ctrlPr>
                          <a:rPr lang="en-MY" sz="1100" b="0" i="1" spc="-10" dirty="0" smtClean="0">
                            <a:latin typeface="Cambria Math" panose="02040503050406030204" pitchFamily="18" charset="0"/>
                            <a:cs typeface="Arial"/>
                          </a:rPr>
                        </m:ctrlPr>
                      </m:sSubPr>
                      <m:e>
                        <m:r>
                          <a:rPr lang="en-US" sz="1100" i="1" spc="-10" dirty="0" smtClean="0">
                            <a:latin typeface="Cambria Math" panose="02040503050406030204" pitchFamily="18" charset="0"/>
                            <a:cs typeface="Arial"/>
                          </a:rPr>
                          <m:t>𝑣</m:t>
                        </m:r>
                      </m:e>
                      <m:sub>
                        <m:r>
                          <a:rPr lang="en-MY" sz="1100" b="0" i="1" spc="-10" dirty="0" smtClean="0">
                            <a:latin typeface="Cambria Math" panose="02040503050406030204" pitchFamily="18" charset="0"/>
                            <a:cs typeface="Arial"/>
                          </a:rPr>
                          <m:t>1</m:t>
                        </m:r>
                      </m:sub>
                    </m:sSub>
                    <m:r>
                      <a:rPr lang="en-US" sz="1100" i="1" spc="-10" dirty="0">
                        <a:latin typeface="Cambria Math" panose="02040503050406030204" pitchFamily="18" charset="0"/>
                        <a:cs typeface="Adobe Text Pro"/>
                      </a:rPr>
                      <m:t>,</m:t>
                    </m:r>
                    <m:r>
                      <a:rPr lang="en-US" sz="1100" i="1" spc="-55"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rial"/>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2</m:t>
                        </m:r>
                      </m:sub>
                    </m:sSub>
                    <m:r>
                      <a:rPr lang="en-US" sz="1200" i="1" spc="232" baseline="-10416" dirty="0">
                        <a:latin typeface="Cambria Math" panose="02040503050406030204" pitchFamily="18" charset="0"/>
                        <a:cs typeface="Arial"/>
                      </a:rPr>
                      <m:t> </m:t>
                    </m:r>
                  </m:oMath>
                </a14:m>
                <a:r>
                  <a:rPr lang="en-US" sz="1100" spc="-35" dirty="0">
                    <a:latin typeface="Tahoma"/>
                    <a:cs typeface="Tahoma"/>
                  </a:rPr>
                  <a:t>and</a:t>
                </a:r>
                <a:r>
                  <a:rPr lang="en-US" sz="1100" spc="-15" dirty="0">
                    <a:latin typeface="Tahoma"/>
                    <a:cs typeface="Tahoma"/>
                  </a:rPr>
                  <a:t> </a:t>
                </a:r>
                <a:r>
                  <a:rPr lang="en-US" sz="1100" spc="-55" dirty="0">
                    <a:latin typeface="Tahoma"/>
                    <a:cs typeface="Tahoma"/>
                  </a:rPr>
                  <a:t>player</a:t>
                </a:r>
                <a:r>
                  <a:rPr lang="en-US" sz="1100" spc="-15"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𝑖</m:t>
                    </m:r>
                    <m:r>
                      <a:rPr lang="en-US" sz="1100" i="1" spc="-175" dirty="0">
                        <a:latin typeface="Cambria Math" panose="02040503050406030204" pitchFamily="18" charset="0"/>
                        <a:cs typeface="Meiryo UI"/>
                      </a:rPr>
                      <m:t>∈</m:t>
                    </m:r>
                    <m:r>
                      <a:rPr lang="en-MY" sz="1100" b="0" i="1" spc="-175" dirty="0" smtClean="0">
                        <a:latin typeface="Cambria Math" panose="02040503050406030204" pitchFamily="18" charset="0"/>
                        <a:cs typeface="Meiryo UI"/>
                      </a:rPr>
                      <m:t>  </m:t>
                    </m:r>
                    <m:r>
                      <a:rPr lang="en-US" sz="1100" i="1" dirty="0">
                        <a:latin typeface="Cambria Math" panose="02040503050406030204" pitchFamily="18" charset="0"/>
                        <a:cs typeface="Arial"/>
                      </a:rPr>
                      <m:t>𝑁</m:t>
                    </m:r>
                  </m:oMath>
                </a14:m>
                <a:r>
                  <a:rPr lang="en-US" sz="1100" dirty="0">
                    <a:latin typeface="Tahoma"/>
                    <a:cs typeface="Tahoma"/>
                  </a:rPr>
                  <a:t>,</a:t>
                </a:r>
                <a:r>
                  <a:rPr lang="en-US" sz="1100" spc="-15" dirty="0">
                    <a:latin typeface="Tahoma"/>
                    <a:cs typeface="Tahoma"/>
                  </a:rPr>
                  <a:t> </a:t>
                </a:r>
                <a:r>
                  <a:rPr lang="en-US" sz="1100" kern="1200" spc="10" dirty="0">
                    <a:solidFill>
                      <a:schemeClr val="tx1"/>
                    </a:solidFill>
                    <a:latin typeface="Tahoma"/>
                    <a:ea typeface="+mn-ea"/>
                    <a:cs typeface="Tahoma"/>
                  </a:rPr>
                  <a:t>we have</a:t>
                </a:r>
              </a:p>
              <a:p>
                <a:pPr marL="956310">
                  <a:lnSpc>
                    <a:spcPct val="100000"/>
                  </a:lnSpc>
                  <a:spcBef>
                    <a:spcPts val="1135"/>
                  </a:spcBef>
                </a:pPr>
                <a14:m>
                  <m:oMathPara xmlns:m="http://schemas.openxmlformats.org/officeDocument/2006/math">
                    <m:oMathParaPr>
                      <m:jc m:val="centerGroup"/>
                    </m:oMathParaPr>
                    <m:oMath xmlns:m="http://schemas.openxmlformats.org/officeDocument/2006/math">
                      <m:sSub>
                        <m:sSubPr>
                          <m:ctrlPr>
                            <a:rPr lang="en-MY" sz="1100" b="0" i="1" spc="-70" dirty="0" smtClean="0">
                              <a:latin typeface="Cambria Math" panose="02040503050406030204" pitchFamily="18" charset="0"/>
                              <a:ea typeface="Cambria Math" panose="02040503050406030204" pitchFamily="18" charset="0"/>
                              <a:cs typeface="Adobe Text Pro"/>
                            </a:rPr>
                          </m:ctrlPr>
                        </m:sSubPr>
                        <m:e>
                          <m:r>
                            <a:rPr lang="en-MY"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1</m:t>
                          </m:r>
                        </m:sub>
                      </m:sSub>
                      <m:r>
                        <a:rPr lang="en-US" sz="1100" i="1" dirty="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US" sz="1100" i="1" dirty="0">
                              <a:latin typeface="Cambria Math" panose="02040503050406030204" pitchFamily="18" charset="0"/>
                              <a:cs typeface="Arial"/>
                            </a:rPr>
                            <m:t>𝑣</m:t>
                          </m:r>
                        </m:e>
                        <m:sub>
                          <m:r>
                            <a:rPr lang="en-MY" sz="1100" b="0" i="1" dirty="0" smtClean="0">
                              <a:latin typeface="Cambria Math" panose="02040503050406030204" pitchFamily="18" charset="0"/>
                              <a:cs typeface="Arial"/>
                            </a:rPr>
                            <m:t>2</m:t>
                          </m:r>
                        </m:sub>
                      </m:sSub>
                      <m:r>
                        <a:rPr lang="en-US" sz="1100" i="1" dirty="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MY"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spc="-20" dirty="0" smtClean="0">
                              <a:latin typeface="Cambria Math" panose="02040503050406030204" pitchFamily="18" charset="0"/>
                              <a:cs typeface="Adobe Text Pro"/>
                            </a:rPr>
                          </m:ctrlPr>
                        </m:sSubPr>
                        <m:e>
                          <m:r>
                            <a:rPr lang="en-US" sz="1100" i="1" spc="-20" dirty="0">
                              <a:latin typeface="Cambria Math" panose="02040503050406030204" pitchFamily="18" charset="0"/>
                              <a:cs typeface="Arial"/>
                            </a:rPr>
                            <m:t>𝑣</m:t>
                          </m:r>
                        </m:e>
                        <m:sub>
                          <m:r>
                            <a:rPr lang="en-MY" sz="1100" b="0" i="1" spc="-20" dirty="0" smtClean="0">
                              <a:latin typeface="Cambria Math" panose="02040503050406030204" pitchFamily="18" charset="0"/>
                              <a:cs typeface="Arial"/>
                            </a:rPr>
                            <m:t>1</m:t>
                          </m:r>
                        </m:sub>
                      </m:sSub>
                      <m:r>
                        <a:rPr lang="en-US" sz="1100" i="1" spc="-20" dirty="0">
                          <a:latin typeface="Cambria Math" panose="02040503050406030204" pitchFamily="18" charset="0"/>
                          <a:cs typeface="Tahoma"/>
                        </a:rPr>
                        <m:t>)</m:t>
                      </m:r>
                      <m:r>
                        <a:rPr lang="en-US" sz="1100" i="1" dirty="0" smtClean="0">
                          <a:latin typeface="Cambria Math" panose="02040503050406030204" pitchFamily="18" charset="0"/>
                          <a:cs typeface="Tahoma"/>
                        </a:rPr>
                        <m:t>+</m:t>
                      </m:r>
                      <m:sSub>
                        <m:sSubPr>
                          <m:ctrlPr>
                            <a:rPr lang="en-MY" sz="1100" b="0" i="1" spc="-70" dirty="0" smtClean="0">
                              <a:latin typeface="Cambria Math" panose="02040503050406030204" pitchFamily="18" charset="0"/>
                              <a:ea typeface="Cambria Math" panose="02040503050406030204" pitchFamily="18" charset="0"/>
                              <a:cs typeface="Arial"/>
                            </a:rPr>
                          </m:ctrlPr>
                        </m:sSubPr>
                        <m:e>
                          <m:r>
                            <a:rPr lang="en-MY" sz="1100" i="1" spc="-70" dirty="0" smtClean="0">
                              <a:latin typeface="Cambria Math" panose="02040503050406030204" pitchFamily="18" charset="0"/>
                              <a:ea typeface="Cambria Math" panose="02040503050406030204" pitchFamily="18" charset="0"/>
                              <a:cs typeface="Adobe Text Pro"/>
                            </a:rPr>
                            <m:t>𝜙</m:t>
                          </m:r>
                        </m:e>
                        <m:sub>
                          <m:r>
                            <a:rPr lang="en-MY" sz="1100" b="0" i="1" spc="-70" dirty="0" smtClean="0">
                              <a:latin typeface="Cambria Math" panose="02040503050406030204" pitchFamily="18" charset="0"/>
                              <a:ea typeface="Cambria Math" panose="02040503050406030204" pitchFamily="18" charset="0"/>
                              <a:cs typeface="Adobe Text Pro"/>
                            </a:rPr>
                            <m:t>𝑖</m:t>
                          </m:r>
                        </m:sub>
                      </m:sSub>
                      <m:r>
                        <a:rPr lang="en-US" sz="1100" i="1" dirty="0">
                          <a:latin typeface="Cambria Math" panose="02040503050406030204" pitchFamily="18" charset="0"/>
                          <a:cs typeface="Tahoma"/>
                        </a:rPr>
                        <m:t>(</m:t>
                      </m:r>
                      <m:r>
                        <a:rPr lang="en-US" sz="1100" i="1" dirty="0">
                          <a:latin typeface="Cambria Math" panose="02040503050406030204" pitchFamily="18" charset="0"/>
                          <a:cs typeface="Arial"/>
                        </a:rPr>
                        <m:t>𝑁</m:t>
                      </m:r>
                      <m:r>
                        <a:rPr lang="en-US" sz="1100" i="1" dirty="0">
                          <a:latin typeface="Cambria Math" panose="02040503050406030204" pitchFamily="18" charset="0"/>
                          <a:cs typeface="Adobe Text Pro"/>
                        </a:rPr>
                        <m:t>,</m:t>
                      </m:r>
                      <m:r>
                        <a:rPr lang="en-US" sz="1100" i="1" spc="-35" dirty="0">
                          <a:latin typeface="Cambria Math" panose="02040503050406030204" pitchFamily="18" charset="0"/>
                          <a:cs typeface="Adobe Text Pro"/>
                        </a:rPr>
                        <m:t> </m:t>
                      </m:r>
                      <m:sSub>
                        <m:sSubPr>
                          <m:ctrlPr>
                            <a:rPr lang="en-MY" sz="1100" b="0" i="1" spc="-25" dirty="0" smtClean="0">
                              <a:latin typeface="Cambria Math" panose="02040503050406030204" pitchFamily="18" charset="0"/>
                              <a:cs typeface="Adobe Text Pro"/>
                            </a:rPr>
                          </m:ctrlPr>
                        </m:sSubPr>
                        <m:e>
                          <m:r>
                            <a:rPr lang="en-US" sz="1100" i="1" spc="-25" dirty="0">
                              <a:latin typeface="Cambria Math" panose="02040503050406030204" pitchFamily="18" charset="0"/>
                              <a:cs typeface="Arial"/>
                            </a:rPr>
                            <m:t>𝑣</m:t>
                          </m:r>
                        </m:e>
                        <m:sub>
                          <m:r>
                            <a:rPr lang="en-MY" sz="1100" b="0" i="1" spc="-25" dirty="0" smtClean="0">
                              <a:latin typeface="Cambria Math" panose="02040503050406030204" pitchFamily="18" charset="0"/>
                              <a:cs typeface="Arial"/>
                            </a:rPr>
                            <m:t>2</m:t>
                          </m:r>
                        </m:sub>
                      </m:sSub>
                      <m:r>
                        <a:rPr lang="en-US" sz="1100" i="1" spc="-25" dirty="0">
                          <a:latin typeface="Cambria Math" panose="02040503050406030204" pitchFamily="18" charset="0"/>
                          <a:cs typeface="Tahoma"/>
                        </a:rPr>
                        <m:t>)</m:t>
                      </m:r>
                    </m:oMath>
                  </m:oMathPara>
                </a14:m>
                <a:endParaRPr lang="en-US" sz="1100" dirty="0">
                  <a:latin typeface="Tahoma"/>
                  <a:cs typeface="Tahoma"/>
                </a:endParaRPr>
              </a:p>
              <a:p>
                <a:pPr marL="265430" marR="220979">
                  <a:lnSpc>
                    <a:spcPct val="102600"/>
                  </a:lnSpc>
                  <a:spcBef>
                    <a:spcPts val="1095"/>
                  </a:spcBef>
                </a:pPr>
                <a:r>
                  <a:rPr lang="en-US" sz="1100" kern="1200" spc="10" dirty="0">
                    <a:solidFill>
                      <a:schemeClr val="tx1"/>
                    </a:solidFill>
                    <a:latin typeface="Tahoma"/>
                    <a:ea typeface="+mn-ea"/>
                    <a:cs typeface="Tahoma"/>
                  </a:rPr>
                  <a:t>where the new characteristic function </a:t>
                </a:r>
                <a14:m>
                  <m:oMath xmlns:m="http://schemas.openxmlformats.org/officeDocument/2006/math">
                    <m:r>
                      <a:rPr lang="en-US" sz="1100" i="1" dirty="0" smtClean="0">
                        <a:latin typeface="Cambria Math" panose="02040503050406030204" pitchFamily="18" charset="0"/>
                        <a:cs typeface="Arial"/>
                      </a:rPr>
                      <m:t>𝑣</m:t>
                    </m:r>
                    <m:r>
                      <a:rPr lang="en-US" sz="1200" i="1" baseline="-10416" dirty="0" smtClean="0">
                        <a:latin typeface="Cambria Math" panose="02040503050406030204" pitchFamily="18" charset="0"/>
                        <a:cs typeface="Arial"/>
                      </a:rPr>
                      <m:t>1</m:t>
                    </m:r>
                    <m:r>
                      <a:rPr lang="en-US" sz="1100" i="1" dirty="0" smtClean="0">
                        <a:latin typeface="Cambria Math" panose="02040503050406030204" pitchFamily="18" charset="0"/>
                        <a:cs typeface="Tahoma"/>
                      </a:rPr>
                      <m:t>+</m:t>
                    </m:r>
                    <m:r>
                      <a:rPr lang="en-US" sz="1100" i="1" dirty="0" smtClean="0">
                        <a:latin typeface="Cambria Math" panose="02040503050406030204" pitchFamily="18" charset="0"/>
                        <a:cs typeface="Arial"/>
                      </a:rPr>
                      <m:t>𝑣</m:t>
                    </m:r>
                    <m:r>
                      <a:rPr lang="en-US" sz="1200" i="1" baseline="-10416" dirty="0" smtClean="0">
                        <a:latin typeface="Cambria Math" panose="02040503050406030204" pitchFamily="18" charset="0"/>
                        <a:cs typeface="Arial"/>
                      </a:rPr>
                      <m:t>2</m:t>
                    </m:r>
                    <m:r>
                      <a:rPr lang="en-US" sz="1200" i="1" spc="209" baseline="-10416" dirty="0" smtClean="0">
                        <a:latin typeface="Cambria Math" panose="02040503050406030204" pitchFamily="18" charset="0"/>
                        <a:cs typeface="Arial"/>
                      </a:rPr>
                      <m:t> </m:t>
                    </m:r>
                  </m:oMath>
                </a14:m>
                <a:r>
                  <a:rPr lang="en-US" sz="1100" kern="1200" spc="10" dirty="0">
                    <a:solidFill>
                      <a:schemeClr val="tx1"/>
                    </a:solidFill>
                    <a:latin typeface="Tahoma"/>
                    <a:ea typeface="+mn-ea"/>
                    <a:cs typeface="Tahoma"/>
                  </a:rPr>
                  <a:t>is defined as </a:t>
                </a:r>
                <a14:m>
                  <m:oMath xmlns:m="http://schemas.openxmlformats.org/officeDocument/2006/math">
                    <m:r>
                      <a:rPr lang="en-US" sz="1100" i="1" dirty="0" smtClean="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US" sz="1100" i="1" dirty="0" smtClean="0">
                            <a:latin typeface="Cambria Math" panose="02040503050406030204" pitchFamily="18" charset="0"/>
                            <a:cs typeface="Arial"/>
                          </a:rPr>
                          <m:t>𝑣</m:t>
                        </m:r>
                      </m:e>
                      <m:sub>
                        <m:r>
                          <a:rPr lang="en-MY" sz="1100" b="0" i="1" dirty="0" smtClean="0">
                            <a:latin typeface="Cambria Math" panose="02040503050406030204" pitchFamily="18" charset="0"/>
                            <a:cs typeface="Arial"/>
                          </a:rPr>
                          <m:t>1</m:t>
                        </m:r>
                      </m:sub>
                    </m:sSub>
                    <m:r>
                      <a:rPr lang="en-US" sz="1100" i="1" dirty="0" smtClean="0">
                        <a:latin typeface="Cambria Math" panose="02040503050406030204" pitchFamily="18" charset="0"/>
                        <a:cs typeface="Tahoma"/>
                      </a:rPr>
                      <m:t>+</m:t>
                    </m:r>
                    <m:r>
                      <a:rPr lang="en-US" sz="1100" i="1" spc="-105" dirty="0" smtClean="0">
                        <a:latin typeface="Cambria Math" panose="02040503050406030204" pitchFamily="18" charset="0"/>
                        <a:cs typeface="Tahoma"/>
                      </a:rPr>
                      <m:t> </m:t>
                    </m:r>
                    <m:sSub>
                      <m:sSubPr>
                        <m:ctrlPr>
                          <a:rPr lang="en-MY" sz="1100" b="0" i="1" spc="-35" dirty="0" smtClean="0">
                            <a:latin typeface="Cambria Math" panose="02040503050406030204" pitchFamily="18" charset="0"/>
                            <a:cs typeface="Tahoma"/>
                          </a:rPr>
                        </m:ctrlPr>
                      </m:sSubPr>
                      <m:e>
                        <m:r>
                          <a:rPr lang="en-US" sz="1100" i="1" spc="-35" dirty="0" smtClean="0">
                            <a:latin typeface="Cambria Math" panose="02040503050406030204" pitchFamily="18" charset="0"/>
                            <a:cs typeface="Arial"/>
                          </a:rPr>
                          <m:t>𝑣</m:t>
                        </m:r>
                      </m:e>
                      <m:sub>
                        <m:r>
                          <a:rPr lang="en-MY" sz="1100" b="0" i="1" spc="-35" dirty="0" smtClean="0">
                            <a:latin typeface="Cambria Math" panose="02040503050406030204" pitchFamily="18" charset="0"/>
                            <a:cs typeface="Arial"/>
                          </a:rPr>
                          <m:t>2</m:t>
                        </m:r>
                      </m:sub>
                    </m:sSub>
                    <m:r>
                      <a:rPr lang="en-US" sz="1100" i="1" spc="-35" dirty="0" smtClean="0">
                        <a:latin typeface="Cambria Math" panose="02040503050406030204" pitchFamily="18" charset="0"/>
                        <a:cs typeface="Tahoma"/>
                      </a:rPr>
                      <m:t>)(</m:t>
                    </m:r>
                    <m:r>
                      <a:rPr lang="en-US" sz="1100" i="1" spc="-35"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sSub>
                      <m:sSubPr>
                        <m:ctrlPr>
                          <a:rPr lang="en-MY" sz="1100" b="0" i="1" spc="-40" dirty="0" smtClean="0">
                            <a:latin typeface="Cambria Math" panose="02040503050406030204" pitchFamily="18" charset="0"/>
                            <a:cs typeface="Arial"/>
                          </a:rPr>
                        </m:ctrlPr>
                      </m:sSubPr>
                      <m:e>
                        <m:r>
                          <a:rPr lang="en-US" sz="1100" i="1" spc="-40" dirty="0" smtClean="0">
                            <a:latin typeface="Cambria Math" panose="02040503050406030204" pitchFamily="18" charset="0"/>
                            <a:cs typeface="Arial"/>
                          </a:rPr>
                          <m:t>𝑣</m:t>
                        </m:r>
                      </m:e>
                      <m:sub>
                        <m:r>
                          <a:rPr lang="en-MY" sz="1100" b="0" i="1" spc="-40" dirty="0" smtClean="0">
                            <a:latin typeface="Cambria Math" panose="02040503050406030204" pitchFamily="18" charset="0"/>
                            <a:cs typeface="Arial"/>
                          </a:rPr>
                          <m:t>1</m:t>
                        </m:r>
                      </m:sub>
                    </m:sSub>
                    <m:r>
                      <a:rPr lang="en-US" sz="1100" i="1" spc="-40" dirty="0" smtClean="0">
                        <a:latin typeface="Cambria Math" panose="02040503050406030204" pitchFamily="18" charset="0"/>
                        <a:cs typeface="Tahoma"/>
                      </a:rPr>
                      <m:t>(</m:t>
                    </m:r>
                    <m:r>
                      <a:rPr lang="en-US" sz="1100" i="1" spc="-40"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spc="-10" dirty="0" smtClean="0">
                        <a:latin typeface="Cambria Math" panose="02040503050406030204" pitchFamily="18" charset="0"/>
                        <a:cs typeface="Tahoma"/>
                      </a:rPr>
                      <m:t>)</m:t>
                    </m:r>
                    <m:r>
                      <a:rPr lang="en-US" sz="1100" i="1" dirty="0" smtClean="0">
                        <a:latin typeface="Cambria Math" panose="02040503050406030204" pitchFamily="18" charset="0"/>
                        <a:cs typeface="Tahoma"/>
                      </a:rPr>
                      <m:t>+</m:t>
                    </m:r>
                    <m:sSub>
                      <m:sSubPr>
                        <m:ctrlPr>
                          <a:rPr lang="en-MY" sz="1100" b="0" i="1" spc="-40" dirty="0" smtClean="0">
                            <a:latin typeface="Cambria Math" panose="02040503050406030204" pitchFamily="18" charset="0"/>
                            <a:cs typeface="Arial"/>
                          </a:rPr>
                        </m:ctrlPr>
                      </m:sSubPr>
                      <m:e>
                        <m:r>
                          <a:rPr lang="en-US" sz="1100" i="1" spc="-40" dirty="0" smtClean="0">
                            <a:latin typeface="Cambria Math" panose="02040503050406030204" pitchFamily="18" charset="0"/>
                            <a:cs typeface="Arial"/>
                          </a:rPr>
                          <m:t>𝑣</m:t>
                        </m:r>
                      </m:e>
                      <m:sub>
                        <m:r>
                          <a:rPr lang="en-MY" sz="1100" b="0" i="1" spc="-40" dirty="0" smtClean="0">
                            <a:latin typeface="Cambria Math" panose="02040503050406030204" pitchFamily="18" charset="0"/>
                            <a:cs typeface="Arial"/>
                          </a:rPr>
                          <m:t>2</m:t>
                        </m:r>
                      </m:sub>
                    </m:sSub>
                    <m:r>
                      <a:rPr lang="en-US" sz="1100" i="1" spc="-40" dirty="0" smtClean="0">
                        <a:latin typeface="Cambria Math" panose="02040503050406030204" pitchFamily="18" charset="0"/>
                        <a:cs typeface="Tahoma"/>
                      </a:rPr>
                      <m:t>(</m:t>
                    </m:r>
                    <m:r>
                      <a:rPr lang="en-US" sz="1100" i="1" spc="-40" dirty="0" smtClean="0">
                        <a:latin typeface="Cambria Math" panose="02040503050406030204" pitchFamily="18" charset="0"/>
                        <a:cs typeface="Arial"/>
                      </a:rPr>
                      <m:t>𝐶</m:t>
                    </m:r>
                    <m:r>
                      <a:rPr lang="en-US" sz="1100" i="1" spc="-175" dirty="0" smtClean="0">
                        <a:latin typeface="Cambria Math" panose="02040503050406030204" pitchFamily="18" charset="0"/>
                        <a:cs typeface="Arial"/>
                      </a:rPr>
                      <m:t> </m:t>
                    </m:r>
                    <m:r>
                      <a:rPr lang="en-US" sz="1100" i="1" dirty="0" smtClean="0">
                        <a:latin typeface="Cambria Math" panose="02040503050406030204" pitchFamily="18" charset="0"/>
                        <a:cs typeface="Tahoma"/>
                      </a:rPr>
                      <m:t>)</m:t>
                    </m:r>
                  </m:oMath>
                </a14:m>
                <a:r>
                  <a:rPr lang="en-US" sz="1100" dirty="0">
                    <a:latin typeface="Tahoma"/>
                    <a:cs typeface="Tahoma"/>
                  </a:rPr>
                  <a:t>,</a:t>
                </a:r>
                <a:r>
                  <a:rPr lang="en-US" sz="1100" spc="5" dirty="0">
                    <a:latin typeface="Tahoma"/>
                    <a:cs typeface="Tahoma"/>
                  </a:rPr>
                  <a:t> </a:t>
                </a:r>
                <a:r>
                  <a:rPr lang="en-US" sz="1100" kern="1200" spc="10" dirty="0">
                    <a:solidFill>
                      <a:schemeClr val="tx1"/>
                    </a:solidFill>
                    <a:latin typeface="Tahoma"/>
                    <a:ea typeface="+mn-ea"/>
                    <a:cs typeface="Tahoma"/>
                  </a:rPr>
                  <a:t>for every coalition</a:t>
                </a:r>
                <a:r>
                  <a:rPr lang="en-US" sz="1100" spc="10" dirty="0">
                    <a:latin typeface="Tahoma"/>
                    <a:cs typeface="Tahoma"/>
                  </a:rPr>
                  <a:t> </a:t>
                </a:r>
                <a14:m>
                  <m:oMath xmlns:m="http://schemas.openxmlformats.org/officeDocument/2006/math">
                    <m:r>
                      <a:rPr lang="en-US" sz="1100" i="1" dirty="0" smtClean="0">
                        <a:latin typeface="Cambria Math" panose="02040503050406030204" pitchFamily="18" charset="0"/>
                        <a:cs typeface="Arial"/>
                      </a:rPr>
                      <m:t>𝐶</m:t>
                    </m:r>
                    <m:r>
                      <a:rPr lang="en-US" sz="1100" i="1" spc="-50" dirty="0" smtClean="0">
                        <a:latin typeface="Cambria Math" panose="02040503050406030204" pitchFamily="18" charset="0"/>
                        <a:cs typeface="Meiryo UI"/>
                      </a:rPr>
                      <m:t>⊆</m:t>
                    </m:r>
                    <m:r>
                      <a:rPr lang="en-US" sz="1100" i="1" spc="-70" dirty="0" smtClean="0">
                        <a:latin typeface="Cambria Math" panose="02040503050406030204" pitchFamily="18" charset="0"/>
                        <a:cs typeface="Meiryo UI"/>
                      </a:rPr>
                      <m:t> </m:t>
                    </m:r>
                    <m:r>
                      <a:rPr lang="en-US" sz="1100" i="1" spc="-25" dirty="0" smtClean="0">
                        <a:latin typeface="Cambria Math" panose="02040503050406030204" pitchFamily="18" charset="0"/>
                        <a:cs typeface="Arial"/>
                      </a:rPr>
                      <m:t>𝑁</m:t>
                    </m:r>
                  </m:oMath>
                </a14:m>
                <a:r>
                  <a:rPr lang="en-US" sz="1100" spc="-25" dirty="0">
                    <a:latin typeface="Tahoma"/>
                    <a:cs typeface="Tahoma"/>
                  </a:rPr>
                  <a:t>.</a:t>
                </a:r>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71157" y="785163"/>
                <a:ext cx="4169042" cy="1951560"/>
              </a:xfrm>
              <a:prstGeom prst="rect">
                <a:avLst/>
              </a:prstGeom>
              <a:blipFill>
                <a:blip r:embed="rId3"/>
                <a:stretch>
                  <a:fillRect l="-1462" t="-2813" r="-292" b="-3438"/>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7EF3F98E-3FFF-479A-A11A-32EAF923382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CFF5C47-5450-4AE0-8ACE-4AD8E9C54CC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489ED1E6-10C4-4336-90C4-3CD43530AC1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30" dirty="0"/>
              <a:t> </a:t>
            </a:r>
            <a:r>
              <a:rPr dirty="0"/>
              <a:t>Shapley</a:t>
            </a:r>
            <a:r>
              <a:rPr spc="130" dirty="0"/>
              <a:t> </a:t>
            </a:r>
            <a:r>
              <a:rPr dirty="0"/>
              <a:t>value:</a:t>
            </a:r>
            <a:r>
              <a:rPr spc="275" dirty="0"/>
              <a:t> </a:t>
            </a:r>
            <a:r>
              <a:rPr dirty="0"/>
              <a:t>Formal</a:t>
            </a:r>
            <a:r>
              <a:rPr spc="130" dirty="0"/>
              <a:t> </a:t>
            </a:r>
            <a:r>
              <a:rPr spc="-10" dirty="0"/>
              <a:t>definition</a:t>
            </a:r>
          </a:p>
        </p:txBody>
      </p:sp>
      <mc:AlternateContent xmlns:mc="http://schemas.openxmlformats.org/markup-compatibility/2006">
        <mc:Choice xmlns:a14="http://schemas.microsoft.com/office/drawing/2010/main" Requires="a14">
          <p:sp>
            <p:nvSpPr>
              <p:cNvPr id="3" name="object 3"/>
              <p:cNvSpPr txBox="1"/>
              <p:nvPr/>
            </p:nvSpPr>
            <p:spPr>
              <a:xfrm>
                <a:off x="321894" y="810893"/>
                <a:ext cx="4218304" cy="2119234"/>
              </a:xfrm>
              <a:prstGeom prst="rect">
                <a:avLst/>
              </a:prstGeom>
            </p:spPr>
            <p:txBody>
              <a:bodyPr vert="horz" wrap="square" lIns="0" tIns="6985" rIns="0" bIns="0" rtlCol="0">
                <a:spAutoFit/>
              </a:bodyPr>
              <a:lstStyle/>
              <a:p>
                <a:pPr marL="38100" marR="30480">
                  <a:lnSpc>
                    <a:spcPct val="102600"/>
                  </a:lnSpc>
                  <a:spcBef>
                    <a:spcPts val="55"/>
                  </a:spcBef>
                </a:pPr>
                <a:r>
                  <a:rPr lang="en-MY" sz="1100" kern="1200" spc="10" dirty="0">
                    <a:solidFill>
                      <a:schemeClr val="tx1"/>
                    </a:solidFill>
                    <a:latin typeface="Tahoma"/>
                    <a:ea typeface="+mn-ea"/>
                    <a:cs typeface="Tahoma"/>
                  </a:rPr>
                  <a:t>Given a coalitional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the Shapley value of player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r>
                  <a:rPr lang="en-MY" sz="1100" kern="1200" spc="10" dirty="0">
                    <a:solidFill>
                      <a:schemeClr val="tx1"/>
                    </a:solidFill>
                    <a:latin typeface="Tahoma"/>
                    <a:ea typeface="+mn-ea"/>
                    <a:cs typeface="Tahoma"/>
                  </a:rPr>
                  <a:t> , denoted </a:t>
                </a:r>
                <a14:m>
                  <m:oMath xmlns:m="http://schemas.openxmlformats.org/officeDocument/2006/math">
                    <m:sSub>
                      <m:sSubPr>
                        <m:ctrlPr>
                          <a:rPr lang="ar-AE" sz="1100" b="0" i="1" smtClean="0">
                            <a:latin typeface="Cambria Math" panose="02040503050406030204" pitchFamily="18" charset="0"/>
                          </a:rPr>
                        </m:ctrlPr>
                      </m:sSubPr>
                      <m:e>
                        <m:r>
                          <a:rPr lang="ar-AE" sz="1100" b="0" i="1" smtClean="0">
                            <a:latin typeface="Cambria Math" panose="02040503050406030204" pitchFamily="18" charset="0"/>
                          </a:rPr>
                          <m:t>𝜙</m:t>
                        </m:r>
                      </m:e>
                      <m:sub>
                        <m:r>
                          <a:rPr lang="ar-AE" sz="1100" b="0" i="1" smtClean="0">
                            <a:latin typeface="Cambria Math" panose="02040503050406030204" pitchFamily="18" charset="0"/>
                          </a:rPr>
                          <m:t>𝑖</m:t>
                        </m:r>
                      </m:sub>
                    </m:sSub>
                    <m:r>
                      <a:rPr lang="ar-AE" sz="1100" i="1" kern="1200" spc="10" dirty="0" smtClean="0">
                        <a:solidFill>
                          <a:schemeClr val="tx1"/>
                        </a:solidFill>
                        <a:latin typeface="Cambria Math" panose="02040503050406030204" pitchFamily="18" charset="0"/>
                        <a:ea typeface="+mn-ea"/>
                        <a:cs typeface="Tahoma"/>
                      </a:rPr>
                      <m:t>(</m:t>
                    </m:r>
                    <m:r>
                      <a:rPr lang="ar-AE" sz="1100" i="1" kern="1200" spc="10" dirty="0" smtClean="0">
                        <a:solidFill>
                          <a:schemeClr val="tx1"/>
                        </a:solidFill>
                        <a:latin typeface="Cambria Math" panose="02040503050406030204" pitchFamily="18" charset="0"/>
                        <a:ea typeface="+mn-ea"/>
                        <a:cs typeface="Tahoma"/>
                      </a:rPr>
                      <m:t>𝑁</m:t>
                    </m:r>
                    <m:r>
                      <a:rPr lang="ar-AE" sz="1100" i="1" kern="1200" spc="10" dirty="0" smtClean="0">
                        <a:solidFill>
                          <a:schemeClr val="tx1"/>
                        </a:solidFill>
                        <a:latin typeface="Cambria Math" panose="02040503050406030204" pitchFamily="18" charset="0"/>
                        <a:ea typeface="+mn-ea"/>
                        <a:cs typeface="Tahoma"/>
                      </a:rPr>
                      <m:t>, </m:t>
                    </m:r>
                    <m:r>
                      <a:rPr lang="ar-AE" sz="1100" i="1" kern="1200" spc="10" dirty="0" smtClean="0">
                        <a:solidFill>
                          <a:schemeClr val="tx1"/>
                        </a:solidFill>
                        <a:latin typeface="Cambria Math" panose="02040503050406030204" pitchFamily="18" charset="0"/>
                        <a:ea typeface="+mn-ea"/>
                        <a:cs typeface="Tahoma"/>
                      </a:rPr>
                      <m:t>𝑣</m:t>
                    </m:r>
                    <m:r>
                      <a:rPr lang="ar-AE" sz="1100" i="1" kern="1200" spc="10" dirty="0" smtClean="0">
                        <a:solidFill>
                          <a:schemeClr val="tx1"/>
                        </a:solidFill>
                        <a:latin typeface="Cambria Math" panose="02040503050406030204" pitchFamily="18" charset="0"/>
                        <a:ea typeface="+mn-ea"/>
                        <a:cs typeface="Tahoma"/>
                      </a:rPr>
                      <m:t>)</m:t>
                    </m:r>
                  </m:oMath>
                </a14:m>
                <a:r>
                  <a:rPr lang="ar-AE"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is given by the following formula:</a:t>
                </a:r>
              </a:p>
              <a:p>
                <a:pPr marL="38100" marR="30480">
                  <a:lnSpc>
                    <a:spcPct val="102600"/>
                  </a:lnSpc>
                  <a:spcBef>
                    <a:spcPts val="55"/>
                  </a:spcBef>
                </a:pPr>
                <a:endParaRPr lang="en-MY" sz="1100" kern="1200" spc="10" dirty="0">
                  <a:solidFill>
                    <a:schemeClr val="tx1"/>
                  </a:solidFill>
                  <a:latin typeface="Tahoma"/>
                  <a:ea typeface="+mn-ea"/>
                  <a:cs typeface="Tahoma"/>
                </a:endParaRPr>
              </a:p>
              <a:p>
                <a:pPr marL="38100" marR="30480">
                  <a:lnSpc>
                    <a:spcPct val="102600"/>
                  </a:lnSpc>
                  <a:spcBef>
                    <a:spcPts val="55"/>
                  </a:spcBef>
                </a:pPr>
                <a14:m>
                  <m:oMathPara xmlns:m="http://schemas.openxmlformats.org/officeDocument/2006/math">
                    <m:oMathParaPr>
                      <m:jc m:val="centerGroup"/>
                    </m:oMathParaPr>
                    <m:oMath xmlns:m="http://schemas.openxmlformats.org/officeDocument/2006/math">
                      <m:sSub>
                        <m:sSubPr>
                          <m:ctrlPr>
                            <a:rPr lang="ar-AE" sz="1100" b="0" i="1" smtClean="0">
                              <a:latin typeface="Cambria Math" panose="02040503050406030204" pitchFamily="18" charset="0"/>
                            </a:rPr>
                          </m:ctrlPr>
                        </m:sSubPr>
                        <m:e>
                          <m:r>
                            <a:rPr lang="ar-AE" sz="1100" b="0" i="1" smtClean="0">
                              <a:latin typeface="Cambria Math" panose="02040503050406030204" pitchFamily="18" charset="0"/>
                            </a:rPr>
                            <m:t>𝜙</m:t>
                          </m:r>
                        </m:e>
                        <m:sub>
                          <m:r>
                            <a:rPr lang="ar-AE" sz="1100" b="0" i="1" smtClean="0">
                              <a:latin typeface="Cambria Math" panose="02040503050406030204" pitchFamily="18" charset="0"/>
                            </a:rPr>
                            <m:t>𝑖</m:t>
                          </m:r>
                        </m:sub>
                      </m:sSub>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r>
                            <a:rPr lang="ar-AE" sz="1100" b="0" i="1" smtClean="0">
                              <a:latin typeface="Cambria Math" panose="02040503050406030204" pitchFamily="18" charset="0"/>
                            </a:rPr>
                            <m:t>,</m:t>
                          </m:r>
                          <m:r>
                            <a:rPr lang="ar-AE" sz="1100" b="0" i="1" smtClean="0">
                              <a:latin typeface="Cambria Math" panose="02040503050406030204" pitchFamily="18" charset="0"/>
                            </a:rPr>
                            <m:t>𝑣</m:t>
                          </m:r>
                        </m:e>
                      </m:d>
                      <m:r>
                        <a:rPr lang="ar-AE" sz="1100" b="0" i="1" smtClean="0">
                          <a:latin typeface="Cambria Math" panose="02040503050406030204" pitchFamily="18" charset="0"/>
                        </a:rPr>
                        <m:t>=</m:t>
                      </m:r>
                      <m:f>
                        <m:fPr>
                          <m:ctrlPr>
                            <a:rPr lang="ar-AE" sz="1100" b="0" i="1" smtClean="0">
                              <a:latin typeface="Cambria Math" panose="02040503050406030204" pitchFamily="18" charset="0"/>
                            </a:rPr>
                          </m:ctrlPr>
                        </m:fPr>
                        <m:num>
                          <m:r>
                            <a:rPr lang="ar-AE" sz="1100" b="0" i="1" smtClean="0">
                              <a:latin typeface="Cambria Math" panose="02040503050406030204" pitchFamily="18" charset="0"/>
                            </a:rPr>
                            <m:t>1</m:t>
                          </m:r>
                        </m:num>
                        <m:den>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e>
                          </m:d>
                          <m:r>
                            <a:rPr lang="ar-AE" sz="1100" b="0" i="1" smtClean="0">
                              <a:latin typeface="Cambria Math" panose="02040503050406030204" pitchFamily="18" charset="0"/>
                            </a:rPr>
                            <m:t>!</m:t>
                          </m:r>
                        </m:den>
                      </m:f>
                      <m:nary>
                        <m:naryPr>
                          <m:chr m:val="∑"/>
                          <m:limLoc m:val="subSup"/>
                          <m:supHide m:val="on"/>
                          <m:ctrlPr>
                            <a:rPr lang="ar-AE" sz="1100" b="0" i="1" smtClean="0">
                              <a:latin typeface="Cambria Math" panose="02040503050406030204" pitchFamily="18" charset="0"/>
                            </a:rPr>
                          </m:ctrlPr>
                        </m:naryPr>
                        <m:sub>
                          <m:r>
                            <m:rPr>
                              <m:brk m:alnAt="9"/>
                            </m:rPr>
                            <a:rPr lang="ar-AE" sz="1100" b="0" i="1" smtClean="0">
                              <a:latin typeface="Cambria Math" panose="02040503050406030204" pitchFamily="18" charset="0"/>
                            </a:rPr>
                            <m:t>𝐶</m:t>
                          </m:r>
                          <m:r>
                            <a:rPr lang="ar-AE" sz="1100" b="0" i="1" smtClean="0">
                              <a:latin typeface="Cambria Math" panose="02040503050406030204" pitchFamily="18" charset="0"/>
                              <a:ea typeface="Cambria Math" panose="02040503050406030204" pitchFamily="18" charset="0"/>
                            </a:rPr>
                            <m:t>⊆</m:t>
                          </m:r>
                          <m:r>
                            <a:rPr lang="ar-AE" sz="1100" b="0" i="1" smtClean="0">
                              <a:latin typeface="Cambria Math" panose="02040503050406030204" pitchFamily="18" charset="0"/>
                              <a:ea typeface="Cambria Math" panose="02040503050406030204" pitchFamily="18" charset="0"/>
                            </a:rPr>
                            <m:t>𝑁</m:t>
                          </m:r>
                          <m:r>
                            <a:rPr lang="ar-AE" sz="1100" b="0" i="1" smtClean="0">
                              <a:latin typeface="Cambria Math" panose="02040503050406030204" pitchFamily="18" charset="0"/>
                              <a:ea typeface="Cambria Math" panose="02040503050406030204" pitchFamily="18" charset="0"/>
                            </a:rPr>
                            <m:t>\</m:t>
                          </m:r>
                          <m:r>
                            <m:rPr>
                              <m:lit/>
                              <m:brk m:alnAt="9"/>
                            </m:rPr>
                            <a:rPr lang="ar-AE" sz="1100" b="0" i="1" smtClean="0">
                              <a:latin typeface="Cambria Math" panose="02040503050406030204" pitchFamily="18" charset="0"/>
                              <a:ea typeface="Cambria Math" panose="02040503050406030204" pitchFamily="18" charset="0"/>
                            </a:rPr>
                            <m:t>{</m:t>
                          </m:r>
                          <m:r>
                            <m:rPr>
                              <m:brk m:alnAt="9"/>
                            </m:rPr>
                            <a:rPr lang="ar-AE" sz="1100" b="0" i="1" smtClean="0">
                              <a:latin typeface="Cambria Math" panose="02040503050406030204" pitchFamily="18" charset="0"/>
                              <a:ea typeface="Cambria Math" panose="02040503050406030204" pitchFamily="18" charset="0"/>
                            </a:rPr>
                            <m:t>𝑖</m:t>
                          </m:r>
                          <m:r>
                            <a:rPr lang="ar-AE" sz="1100" b="0" i="1" smtClean="0">
                              <a:latin typeface="Cambria Math" panose="02040503050406030204" pitchFamily="18" charset="0"/>
                              <a:ea typeface="Cambria Math" panose="02040503050406030204" pitchFamily="18" charset="0"/>
                            </a:rPr>
                            <m:t>}</m:t>
                          </m:r>
                        </m:sub>
                        <m:sup/>
                        <m:e>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r>
                            <a:rPr lang="ar-AE" sz="1100" b="0" i="1" smtClean="0">
                              <a:latin typeface="Cambria Math" panose="02040503050406030204" pitchFamily="18" charset="0"/>
                            </a:rPr>
                            <m:t>!∗</m:t>
                          </m:r>
                          <m:d>
                            <m:dPr>
                              <m:ctrlPr>
                                <a:rPr lang="ar-AE" sz="1100" b="0" i="1" smtClean="0">
                                  <a:latin typeface="Cambria Math" panose="02040503050406030204" pitchFamily="18" charset="0"/>
                                </a:rPr>
                              </m:ctrlPr>
                            </m:dPr>
                            <m:e>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𝑁</m:t>
                                  </m:r>
                                </m:e>
                              </m:d>
                              <m:r>
                                <a:rPr lang="ar-AE" sz="1100" b="0" i="1" smtClean="0">
                                  <a:latin typeface="Cambria Math" panose="02040503050406030204" pitchFamily="18" charset="0"/>
                                </a:rPr>
                                <m:t>−</m:t>
                              </m:r>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r>
                                <a:rPr lang="ar-AE" sz="1100" b="0" i="1" smtClean="0">
                                  <a:latin typeface="Cambria Math" panose="02040503050406030204" pitchFamily="18" charset="0"/>
                                </a:rPr>
                                <m:t>−</m:t>
                              </m:r>
                              <m:r>
                                <a:rPr lang="ar-AE" sz="1100" b="0" i="1" smtClean="0">
                                  <a:latin typeface="Cambria Math" panose="02040503050406030204" pitchFamily="18" charset="0"/>
                                </a:rPr>
                                <m:t>1</m:t>
                              </m:r>
                            </m:e>
                          </m:d>
                          <m:r>
                            <a:rPr lang="ar-AE" sz="1100" b="0" i="1" smtClean="0">
                              <a:latin typeface="Cambria Math" panose="02040503050406030204" pitchFamily="18" charset="0"/>
                            </a:rPr>
                            <m:t>!∗</m:t>
                          </m:r>
                          <m:d>
                            <m:dPr>
                              <m:begChr m:val="["/>
                              <m:endChr m:val="]"/>
                              <m:ctrlPr>
                                <a:rPr lang="ar-AE" sz="1100" b="0" i="1" smtClean="0">
                                  <a:latin typeface="Cambria Math" panose="02040503050406030204" pitchFamily="18" charset="0"/>
                                </a:rPr>
                              </m:ctrlPr>
                            </m:dPr>
                            <m:e>
                              <m:r>
                                <a:rPr lang="ar-AE" sz="1100" b="0" i="1" smtClean="0">
                                  <a:latin typeface="Cambria Math" panose="02040503050406030204" pitchFamily="18" charset="0"/>
                                </a:rPr>
                                <m:t>𝑣</m:t>
                              </m:r>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r>
                                    <a:rPr lang="ar-AE" sz="1100" b="0" i="1" smtClean="0">
                                      <a:latin typeface="Cambria Math" panose="02040503050406030204" pitchFamily="18" charset="0"/>
                                      <a:ea typeface="Cambria Math" panose="02040503050406030204" pitchFamily="18" charset="0"/>
                                    </a:rPr>
                                    <m:t>∪</m:t>
                                  </m:r>
                                  <m:d>
                                    <m:dPr>
                                      <m:begChr m:val="{"/>
                                      <m:endChr m:val="}"/>
                                      <m:ctrlPr>
                                        <a:rPr lang="ar-AE" sz="1100" b="0" i="1" smtClean="0">
                                          <a:latin typeface="Cambria Math" panose="02040503050406030204" pitchFamily="18" charset="0"/>
                                          <a:ea typeface="Cambria Math" panose="02040503050406030204" pitchFamily="18" charset="0"/>
                                        </a:rPr>
                                      </m:ctrlPr>
                                    </m:dPr>
                                    <m:e>
                                      <m:r>
                                        <a:rPr lang="ar-AE" sz="1100" b="0" i="1" smtClean="0">
                                          <a:latin typeface="Cambria Math" panose="02040503050406030204" pitchFamily="18" charset="0"/>
                                          <a:ea typeface="Cambria Math" panose="02040503050406030204" pitchFamily="18" charset="0"/>
                                        </a:rPr>
                                        <m:t>𝑖</m:t>
                                      </m:r>
                                    </m:e>
                                  </m:d>
                                </m:e>
                              </m:d>
                              <m:r>
                                <a:rPr lang="ar-AE" sz="1100" b="0" i="1" smtClean="0">
                                  <a:latin typeface="Cambria Math" panose="02040503050406030204" pitchFamily="18" charset="0"/>
                                </a:rPr>
                                <m:t>−</m:t>
                              </m:r>
                              <m:r>
                                <a:rPr lang="ar-AE" sz="1100" b="0" i="1" smtClean="0">
                                  <a:latin typeface="Cambria Math" panose="02040503050406030204" pitchFamily="18" charset="0"/>
                                </a:rPr>
                                <m:t>𝑣</m:t>
                              </m:r>
                              <m:d>
                                <m:dPr>
                                  <m:ctrlPr>
                                    <a:rPr lang="ar-AE" sz="1100" b="0" i="1" smtClean="0">
                                      <a:latin typeface="Cambria Math" panose="02040503050406030204" pitchFamily="18" charset="0"/>
                                    </a:rPr>
                                  </m:ctrlPr>
                                </m:dPr>
                                <m:e>
                                  <m:r>
                                    <a:rPr lang="ar-AE" sz="1100" b="0" i="1" smtClean="0">
                                      <a:latin typeface="Cambria Math" panose="02040503050406030204" pitchFamily="18" charset="0"/>
                                    </a:rPr>
                                    <m:t>𝐶</m:t>
                                  </m:r>
                                </m:e>
                              </m:d>
                            </m:e>
                          </m:d>
                        </m:e>
                      </m:nary>
                    </m:oMath>
                  </m:oMathPara>
                </a14:m>
                <a:endParaRPr lang="ar-AE" sz="1100" dirty="0"/>
              </a:p>
              <a:p>
                <a:pPr marL="38100" marR="30480">
                  <a:lnSpc>
                    <a:spcPct val="102600"/>
                  </a:lnSpc>
                  <a:spcBef>
                    <a:spcPts val="55"/>
                  </a:spcBef>
                </a:pPr>
                <a:endParaRPr lang="ar-AE" sz="1100" dirty="0"/>
              </a:p>
              <a:p>
                <a:pPr marL="213360" indent="-175260">
                  <a:lnSpc>
                    <a:spcPct val="100000"/>
                  </a:lnSpc>
                  <a:spcBef>
                    <a:spcPts val="434"/>
                  </a:spcBef>
                  <a:buClr>
                    <a:srgbClr val="3333B2"/>
                  </a:buClr>
                  <a:buFont typeface="Arial"/>
                  <a:buChar char="►"/>
                  <a:tabLst>
                    <a:tab pos="213360" algn="l"/>
                  </a:tabLst>
                </a:pPr>
                <a:r>
                  <a:rPr lang="en-MY" sz="1100" kern="1200" spc="10" dirty="0">
                    <a:solidFill>
                      <a:schemeClr val="tx1"/>
                    </a:solidFill>
                    <a:latin typeface="Tahoma"/>
                    <a:ea typeface="+mn-ea"/>
                    <a:cs typeface="Tahoma"/>
                  </a:rPr>
                  <a:t>Because it is functional, the Shapley value is </a:t>
                </a:r>
                <a:r>
                  <a:rPr lang="en-MY" sz="1100" b="1" kern="1200" spc="10" dirty="0">
                    <a:solidFill>
                      <a:schemeClr val="tx1"/>
                    </a:solidFill>
                    <a:latin typeface="Tahoma"/>
                    <a:ea typeface="+mn-ea"/>
                    <a:cs typeface="Tahoma"/>
                  </a:rPr>
                  <a:t>unique</a:t>
                </a:r>
              </a:p>
              <a:p>
                <a:pPr marL="213360" indent="-175260">
                  <a:lnSpc>
                    <a:spcPct val="100000"/>
                  </a:lnSpc>
                  <a:spcBef>
                    <a:spcPts val="334"/>
                  </a:spcBef>
                  <a:buClr>
                    <a:srgbClr val="3333B2"/>
                  </a:buClr>
                  <a:buFont typeface="Arial"/>
                  <a:buChar char="►"/>
                  <a:tabLst>
                    <a:tab pos="213360" algn="l"/>
                  </a:tabLst>
                </a:pPr>
                <a:r>
                  <a:rPr lang="en-MY" sz="1100" kern="1200" spc="10" dirty="0">
                    <a:solidFill>
                      <a:schemeClr val="tx1"/>
                    </a:solidFill>
                    <a:latin typeface="Tahoma"/>
                    <a:ea typeface="+mn-ea"/>
                    <a:cs typeface="Tahoma"/>
                  </a:rPr>
                  <a:t>It is the </a:t>
                </a:r>
                <a:r>
                  <a:rPr lang="en-MY" sz="1100" i="1" kern="1200" spc="10" dirty="0">
                    <a:solidFill>
                      <a:schemeClr val="tx1"/>
                    </a:solidFill>
                    <a:latin typeface="Tahoma"/>
                    <a:ea typeface="+mn-ea"/>
                    <a:cs typeface="Tahoma"/>
                  </a:rPr>
                  <a:t>only</a:t>
                </a:r>
                <a:r>
                  <a:rPr lang="en-MY" sz="1100" kern="1200" spc="10" dirty="0">
                    <a:solidFill>
                      <a:schemeClr val="tx1"/>
                    </a:solidFill>
                    <a:latin typeface="Tahoma"/>
                    <a:ea typeface="+mn-ea"/>
                    <a:cs typeface="Tahoma"/>
                  </a:rPr>
                  <a:t> value that satisfies the axioms for fair division</a:t>
                </a:r>
              </a:p>
              <a:p>
                <a:pPr marL="213360" indent="-175260">
                  <a:lnSpc>
                    <a:spcPct val="100000"/>
                  </a:lnSpc>
                  <a:spcBef>
                    <a:spcPts val="330"/>
                  </a:spcBef>
                  <a:buClr>
                    <a:srgbClr val="3333B2"/>
                  </a:buClr>
                  <a:buFont typeface="Arial"/>
                  <a:buChar char="►"/>
                  <a:tabLst>
                    <a:tab pos="213360" algn="l"/>
                  </a:tabLst>
                </a:pPr>
                <a:r>
                  <a:rPr lang="en-MY" sz="1100" kern="1200" spc="10" dirty="0">
                    <a:solidFill>
                      <a:schemeClr val="tx1"/>
                    </a:solidFill>
                    <a:latin typeface="Tahoma"/>
                    <a:ea typeface="+mn-ea"/>
                    <a:cs typeface="Tahoma"/>
                  </a:rPr>
                  <a:t>Based</a:t>
                </a:r>
                <a:r>
                  <a:rPr lang="en-MY" sz="1100" spc="-65" dirty="0">
                    <a:latin typeface="Tahoma"/>
                    <a:cs typeface="Tahoma"/>
                  </a:rPr>
                  <a:t> </a:t>
                </a:r>
                <a:r>
                  <a:rPr lang="en-MY" sz="1100" kern="1200" spc="10" dirty="0">
                    <a:solidFill>
                      <a:schemeClr val="tx1"/>
                    </a:solidFill>
                    <a:latin typeface="Tahoma"/>
                    <a:ea typeface="+mn-ea"/>
                    <a:cs typeface="Tahoma"/>
                  </a:rPr>
                  <a:t>on a player’s </a:t>
                </a:r>
                <a:r>
                  <a:rPr lang="en-MY" sz="1100" i="1" kern="1200" spc="10" dirty="0">
                    <a:solidFill>
                      <a:schemeClr val="tx1"/>
                    </a:solidFill>
                    <a:latin typeface="Tahoma"/>
                    <a:ea typeface="+mn-ea"/>
                    <a:cs typeface="Tahoma"/>
                  </a:rPr>
                  <a:t>marginal contributions </a:t>
                </a:r>
                <a14:m>
                  <m:oMath xmlns:m="http://schemas.openxmlformats.org/officeDocument/2006/math">
                    <m:r>
                      <a:rPr lang="en-MY" sz="1100" i="1" spc="-55" dirty="0" smtClean="0">
                        <a:latin typeface="Cambria Math" panose="02040503050406030204" pitchFamily="18" charset="0"/>
                        <a:cs typeface="Arial"/>
                      </a:rPr>
                      <m:t>𝑣</m:t>
                    </m:r>
                    <m:r>
                      <a:rPr lang="en-MY" sz="1100" i="1" spc="-19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𝐶</m:t>
                    </m:r>
                    <m:r>
                      <a:rPr lang="en-MY" sz="1100" i="1" spc="-175" dirty="0">
                        <a:latin typeface="Cambria Math" panose="02040503050406030204" pitchFamily="18" charset="0"/>
                        <a:cs typeface="Meiryo UI"/>
                      </a:rPr>
                      <m:t>∪</m:t>
                    </m:r>
                    <m:r>
                      <a:rPr lang="en-MY" sz="1100" i="1" spc="-135" dirty="0">
                        <a:latin typeface="Cambria Math" panose="02040503050406030204" pitchFamily="18" charset="0"/>
                        <a:cs typeface="Meiryo UI"/>
                      </a:rPr>
                      <m:t> </m:t>
                    </m:r>
                    <m:r>
                      <a:rPr lang="en-MY" sz="1100" i="1" spc="-40" dirty="0">
                        <a:latin typeface="Cambria Math" panose="02040503050406030204" pitchFamily="18" charset="0"/>
                        <a:cs typeface="Meiryo UI"/>
                      </a:rPr>
                      <m:t>{</m:t>
                    </m:r>
                    <m:r>
                      <a:rPr lang="en-MY" sz="1100" i="1" spc="-40" dirty="0">
                        <a:latin typeface="Cambria Math" panose="02040503050406030204" pitchFamily="18" charset="0"/>
                        <a:cs typeface="Arial"/>
                      </a:rPr>
                      <m:t>𝑖</m:t>
                    </m:r>
                    <m:r>
                      <a:rPr lang="en-MY" sz="1100" i="1" spc="-40" dirty="0">
                        <a:latin typeface="Cambria Math" panose="02040503050406030204" pitchFamily="18" charset="0"/>
                        <a:cs typeface="Meiryo UI"/>
                      </a:rPr>
                      <m:t>}</m:t>
                    </m:r>
                    <m:r>
                      <a:rPr lang="en-MY" sz="1100" i="1" spc="-4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5" dirty="0">
                        <a:latin typeface="Cambria Math" panose="02040503050406030204" pitchFamily="18" charset="0"/>
                        <a:cs typeface="Arial"/>
                      </a:rPr>
                      <m:t>𝑣</m:t>
                    </m:r>
                    <m:r>
                      <a:rPr lang="en-MY" sz="1100" i="1" spc="-190" dirty="0">
                        <a:latin typeface="Cambria Math" panose="02040503050406030204" pitchFamily="18" charset="0"/>
                        <a:cs typeface="Arial"/>
                      </a:rPr>
                      <m:t> </m:t>
                    </m:r>
                    <m:d>
                      <m:dPr>
                        <m:ctrlPr>
                          <a:rPr lang="ar-AE" sz="1100" i="1" spc="-60" dirty="0">
                            <a:latin typeface="Cambria Math" panose="02040503050406030204" pitchFamily="18" charset="0"/>
                            <a:cs typeface="Arial"/>
                          </a:rPr>
                        </m:ctrlPr>
                      </m:dPr>
                      <m:e>
                        <m:r>
                          <a:rPr lang="ar-AE" sz="1100" i="1" spc="-60" dirty="0">
                            <a:latin typeface="Cambria Math" panose="02040503050406030204" pitchFamily="18" charset="0"/>
                            <a:cs typeface="Arial"/>
                          </a:rPr>
                          <m:t>𝐶</m:t>
                        </m:r>
                        <m:r>
                          <a:rPr lang="ar-AE" sz="1100" i="1" spc="-175" dirty="0">
                            <a:latin typeface="Cambria Math" panose="02040503050406030204" pitchFamily="18" charset="0"/>
                            <a:cs typeface="Arial"/>
                          </a:rPr>
                          <m:t> </m:t>
                        </m:r>
                      </m:e>
                    </m:d>
                  </m:oMath>
                </a14:m>
                <a:endParaRPr lang="ar-AE" sz="1100" dirty="0">
                  <a:latin typeface="Tahoma"/>
                  <a:cs typeface="Tahoma"/>
                </a:endParaRPr>
              </a:p>
              <a:p>
                <a:pPr marL="213360" indent="-175260" rtl="0">
                  <a:lnSpc>
                    <a:spcPct val="100000"/>
                  </a:lnSpc>
                  <a:spcBef>
                    <a:spcPts val="335"/>
                  </a:spcBef>
                  <a:buClr>
                    <a:srgbClr val="3333B2"/>
                  </a:buClr>
                  <a:buFont typeface="Arial"/>
                  <a:buChar char="►"/>
                  <a:tabLst>
                    <a:tab pos="213360" algn="l"/>
                  </a:tabLst>
                </a:pPr>
                <a:r>
                  <a:rPr lang="en-MY" sz="1100" kern="1200" spc="10" dirty="0">
                    <a:solidFill>
                      <a:schemeClr val="tx1"/>
                    </a:solidFill>
                    <a:latin typeface="Tahoma"/>
                    <a:ea typeface="+mn-ea"/>
                    <a:cs typeface="Tahoma"/>
                  </a:rPr>
                  <a:t>It is an average value over all possible permutations in </a:t>
                </a:r>
                <a14:m>
                  <m:oMath xmlns:m="http://schemas.openxmlformats.org/officeDocument/2006/math">
                    <m:r>
                      <a:rPr lang="en-MY" sz="1100" i="1" spc="-50" dirty="0" smtClean="0">
                        <a:latin typeface="Cambria Math" panose="02040503050406030204" pitchFamily="18" charset="0"/>
                        <a:cs typeface="Arial"/>
                      </a:rPr>
                      <m:t>𝑁</m:t>
                    </m:r>
                  </m:oMath>
                </a14:m>
                <a:endParaRPr lang="en-MY" sz="1100" dirty="0"/>
              </a:p>
              <a:p>
                <a:pPr marL="38100" marR="30480">
                  <a:lnSpc>
                    <a:spcPct val="102600"/>
                  </a:lnSpc>
                  <a:spcBef>
                    <a:spcPts val="55"/>
                  </a:spcBef>
                </a:pP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321894" y="810893"/>
                <a:ext cx="4218304" cy="2119234"/>
              </a:xfrm>
              <a:prstGeom prst="rect">
                <a:avLst/>
              </a:prstGeom>
              <a:blipFill>
                <a:blip r:embed="rId3"/>
                <a:stretch>
                  <a:fillRect l="-1301" t="-3736"/>
                </a:stretch>
              </a:blipFill>
            </p:spPr>
            <p:txBody>
              <a:bodyPr/>
              <a:lstStyle/>
              <a:p>
                <a:r>
                  <a:rPr lang="en-MY">
                    <a:noFill/>
                  </a:rPr>
                  <a:t> </a:t>
                </a:r>
              </a:p>
            </p:txBody>
          </p:sp>
        </mc:Fallback>
      </mc:AlternateContent>
      <p:sp>
        <p:nvSpPr>
          <p:cNvPr id="8" name="Date Placeholder 3">
            <a:extLst>
              <a:ext uri="{FF2B5EF4-FFF2-40B4-BE49-F238E27FC236}">
                <a16:creationId xmlns:a16="http://schemas.microsoft.com/office/drawing/2014/main" id="{0AAEF2E8-8BE4-41B4-AA90-6FD10C8F649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41A31584-A63D-4D46-B668-2E55CBB521FC}"/>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80550C4A-B87C-4468-B753-109AE89EA6B2}"/>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
        <p:nvSpPr>
          <p:cNvPr id="4" name="Right Brace 3">
            <a:extLst>
              <a:ext uri="{FF2B5EF4-FFF2-40B4-BE49-F238E27FC236}">
                <a16:creationId xmlns:a16="http://schemas.microsoft.com/office/drawing/2014/main" id="{23C19384-574D-C141-535F-C80F31FE9D33}"/>
              </a:ext>
            </a:extLst>
          </p:cNvPr>
          <p:cNvSpPr/>
          <p:nvPr/>
        </p:nvSpPr>
        <p:spPr>
          <a:xfrm rot="5400000">
            <a:off x="3810581" y="1178506"/>
            <a:ext cx="143565" cy="1112573"/>
          </a:xfrm>
          <a:prstGeom prst="rightBrace">
            <a:avLst>
              <a:gd name="adj1" fmla="val 45318"/>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MY"/>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80" dirty="0"/>
              <a:t> </a:t>
            </a:r>
            <a:r>
              <a:rPr dirty="0"/>
              <a:t>Shapley</a:t>
            </a:r>
            <a:r>
              <a:rPr spc="135" dirty="0"/>
              <a:t> </a:t>
            </a:r>
            <a:r>
              <a:rPr dirty="0"/>
              <a:t>value</a:t>
            </a:r>
            <a:r>
              <a:rPr spc="140" dirty="0"/>
              <a:t> </a:t>
            </a:r>
            <a:r>
              <a:rPr dirty="0"/>
              <a:t>–</a:t>
            </a:r>
            <a:r>
              <a:rPr spc="135" dirty="0"/>
              <a:t> </a:t>
            </a:r>
            <a:r>
              <a:rPr dirty="0"/>
              <a:t>Fair</a:t>
            </a:r>
            <a:r>
              <a:rPr spc="140" dirty="0"/>
              <a:t> </a:t>
            </a:r>
            <a:r>
              <a:rPr dirty="0"/>
              <a:t>division</a:t>
            </a:r>
            <a:r>
              <a:rPr spc="135" dirty="0"/>
              <a:t> </a:t>
            </a:r>
            <a:r>
              <a:rPr dirty="0"/>
              <a:t>in</a:t>
            </a:r>
            <a:r>
              <a:rPr spc="140" dirty="0"/>
              <a:t> </a:t>
            </a:r>
            <a:r>
              <a:rPr dirty="0"/>
              <a:t>the</a:t>
            </a:r>
            <a:r>
              <a:rPr spc="135" dirty="0"/>
              <a:t> </a:t>
            </a:r>
            <a:r>
              <a:rPr dirty="0"/>
              <a:t>voting</a:t>
            </a:r>
            <a:r>
              <a:rPr spc="135" dirty="0"/>
              <a:t> </a:t>
            </a:r>
            <a:r>
              <a:rPr spc="-20" dirty="0"/>
              <a:t>game</a:t>
            </a:r>
          </a:p>
        </p:txBody>
      </p:sp>
      <mc:AlternateContent xmlns:mc="http://schemas.openxmlformats.org/markup-compatibility/2006" xmlns:a14="http://schemas.microsoft.com/office/drawing/2010/main">
        <mc:Choice Requires="a14">
          <p:sp>
            <p:nvSpPr>
              <p:cNvPr id="3" name="object 3"/>
              <p:cNvSpPr txBox="1"/>
              <p:nvPr/>
            </p:nvSpPr>
            <p:spPr>
              <a:xfrm>
                <a:off x="347294" y="538186"/>
                <a:ext cx="4192904" cy="2426946"/>
              </a:xfrm>
              <a:prstGeom prst="rect">
                <a:avLst/>
              </a:prstGeom>
            </p:spPr>
            <p:txBody>
              <a:bodyPr vert="horz" wrap="square" lIns="0" tIns="6985" rIns="0" bIns="0" rtlCol="0">
                <a:spAutoFit/>
              </a:bodyPr>
              <a:lstStyle/>
              <a:p>
                <a:pPr marL="12700" marR="5080" algn="just">
                  <a:lnSpc>
                    <a:spcPct val="102600"/>
                  </a:lnSpc>
                  <a:spcBef>
                    <a:spcPts val="55"/>
                  </a:spcBef>
                </a:pPr>
                <a:r>
                  <a:rPr sz="1050" kern="1200" spc="10" dirty="0">
                    <a:solidFill>
                      <a:schemeClr val="tx1"/>
                    </a:solidFill>
                    <a:latin typeface="Tahoma"/>
                    <a:ea typeface="+mn-ea"/>
                    <a:cs typeface="Tahoma"/>
                  </a:rPr>
                  <a:t>Four</a:t>
                </a:r>
                <a:r>
                  <a:rPr lang="en-MY" sz="1050" kern="1200" spc="10" dirty="0">
                    <a:solidFill>
                      <a:schemeClr val="tx1"/>
                    </a:solidFill>
                    <a:latin typeface="Tahoma"/>
                    <a:ea typeface="+mn-ea"/>
                    <a:cs typeface="Tahoma"/>
                  </a:rPr>
                  <a:t> </a:t>
                </a:r>
                <a:r>
                  <a:rPr sz="1050" kern="1200" spc="10" dirty="0">
                    <a:solidFill>
                      <a:schemeClr val="tx1"/>
                    </a:solidFill>
                    <a:latin typeface="Tahoma"/>
                    <a:ea typeface="+mn-ea"/>
                    <a:cs typeface="Tahoma"/>
                  </a:rPr>
                  <a:t>parties at parliament need to decide if a 100 million spending bill is passed. The parties have 45, 25, 15, 15 parliament members, who vote as a group. A bill is passed if it receives at least 51 votes. When a bill passes, the money is distributed amongst parties.</a:t>
                </a:r>
                <a:endParaRPr lang="en-US" sz="1050" kern="1200" spc="10" dirty="0">
                  <a:solidFill>
                    <a:schemeClr val="tx1"/>
                  </a:solidFill>
                  <a:latin typeface="Tahoma"/>
                  <a:ea typeface="+mn-ea"/>
                  <a:cs typeface="Tahoma"/>
                </a:endParaRPr>
              </a:p>
              <a:p>
                <a:pPr marL="12700" marR="5080" algn="just">
                  <a:lnSpc>
                    <a:spcPct val="102600"/>
                  </a:lnSpc>
                  <a:spcBef>
                    <a:spcPts val="55"/>
                  </a:spcBef>
                </a:pPr>
                <a:endParaRPr lang="en-MY" sz="1050" kern="1200" spc="10" dirty="0">
                  <a:solidFill>
                    <a:schemeClr val="tx1"/>
                  </a:solidFill>
                  <a:latin typeface="Tahoma"/>
                  <a:ea typeface="+mn-ea"/>
                  <a:cs typeface="Tahoma"/>
                </a:endParaRPr>
              </a:p>
              <a:p>
                <a:pPr marL="226060" indent="-175260">
                  <a:lnSpc>
                    <a:spcPct val="100000"/>
                  </a:lnSpc>
                  <a:spcBef>
                    <a:spcPts val="434"/>
                  </a:spcBef>
                  <a:buClr>
                    <a:srgbClr val="3333B2"/>
                  </a:buClr>
                  <a:buFont typeface="Arial"/>
                  <a:buChar char="►"/>
                  <a:tabLst>
                    <a:tab pos="226060" algn="l"/>
                  </a:tabLst>
                </a:pPr>
                <a14:m>
                  <m:oMath xmlns:m="http://schemas.openxmlformats.org/officeDocument/2006/math">
                    <m:r>
                      <a:rPr lang="ar-SA" sz="1050" i="1" dirty="0" smtClean="0">
                        <a:latin typeface="Cambria Math" panose="02040503050406030204" pitchFamily="18" charset="0"/>
                        <a:cs typeface="Arial"/>
                      </a:rPr>
                      <m:t>𝑁</m:t>
                    </m:r>
                    <m:r>
                      <a:rPr lang="ar-SA" sz="1050" i="1" dirty="0" smtClean="0">
                        <a:latin typeface="Cambria Math" panose="02040503050406030204" pitchFamily="18" charset="0"/>
                        <a:cs typeface="Tahoma"/>
                      </a:rPr>
                      <m:t>=</m:t>
                    </m:r>
                    <m:r>
                      <a:rPr lang="ar-SA" sz="1050" i="1" spc="-45" dirty="0" smtClean="0">
                        <a:latin typeface="Cambria Math" panose="02040503050406030204" pitchFamily="18" charset="0"/>
                        <a:cs typeface="Meiryo UI"/>
                      </a:rPr>
                      <m:t>{</m:t>
                    </m:r>
                    <m:r>
                      <a:rPr lang="ar-SA" sz="1050" i="1" spc="-45" dirty="0" smtClean="0">
                        <a:latin typeface="Cambria Math" panose="02040503050406030204" pitchFamily="18" charset="0"/>
                        <a:cs typeface="Arial"/>
                      </a:rPr>
                      <m:t>𝐴</m:t>
                    </m:r>
                    <m:r>
                      <a:rPr lang="ar-SA" sz="1050" i="1" spc="-45" dirty="0" smtClean="0">
                        <a:latin typeface="Cambria Math" panose="02040503050406030204" pitchFamily="18" charset="0"/>
                        <a:cs typeface="Adobe Text Pro"/>
                      </a:rPr>
                      <m:t>,</m:t>
                    </m:r>
                    <m:r>
                      <a:rPr lang="ar-SA" sz="1050" i="1" spc="-35" dirty="0" smtClean="0">
                        <a:latin typeface="Cambria Math" panose="02040503050406030204" pitchFamily="18" charset="0"/>
                        <a:cs typeface="Adobe Text Pro"/>
                      </a:rPr>
                      <m:t> </m:t>
                    </m:r>
                    <m:r>
                      <a:rPr lang="ar-SA" sz="1050" i="1" dirty="0" smtClean="0">
                        <a:latin typeface="Cambria Math" panose="02040503050406030204" pitchFamily="18" charset="0"/>
                        <a:cs typeface="Arial"/>
                      </a:rPr>
                      <m:t>𝐵</m:t>
                    </m:r>
                    <m:r>
                      <a:rPr lang="ar-SA" sz="1050" i="1" dirty="0" smtClean="0">
                        <a:latin typeface="Cambria Math" panose="02040503050406030204" pitchFamily="18" charset="0"/>
                        <a:cs typeface="Adobe Text Pro"/>
                      </a:rPr>
                      <m:t>,</m:t>
                    </m:r>
                    <m:r>
                      <a:rPr lang="ar-SA" sz="1050" i="1" spc="-30" dirty="0" smtClean="0">
                        <a:latin typeface="Cambria Math" panose="02040503050406030204" pitchFamily="18" charset="0"/>
                        <a:cs typeface="Adobe Text Pro"/>
                      </a:rPr>
                      <m:t> </m:t>
                    </m:r>
                    <m:r>
                      <a:rPr lang="ar-SA" sz="1050" i="1" dirty="0" smtClean="0">
                        <a:latin typeface="Cambria Math" panose="02040503050406030204" pitchFamily="18" charset="0"/>
                        <a:cs typeface="Arial"/>
                      </a:rPr>
                      <m:t>𝐶</m:t>
                    </m:r>
                    <m:r>
                      <a:rPr lang="ar-SA" sz="1050" i="1" dirty="0" smtClean="0">
                        <a:latin typeface="Cambria Math" panose="02040503050406030204" pitchFamily="18" charset="0"/>
                        <a:cs typeface="Adobe Text Pro"/>
                      </a:rPr>
                      <m:t>,</m:t>
                    </m:r>
                    <m:r>
                      <a:rPr lang="ar-SA" sz="1050" i="1" spc="-35" dirty="0" smtClean="0">
                        <a:latin typeface="Cambria Math" panose="02040503050406030204" pitchFamily="18" charset="0"/>
                        <a:cs typeface="Adobe Text Pro"/>
                      </a:rPr>
                      <m:t> </m:t>
                    </m:r>
                    <m:r>
                      <a:rPr lang="ar-SA" sz="1050" i="1" spc="-25" dirty="0" smtClean="0">
                        <a:latin typeface="Cambria Math" panose="02040503050406030204" pitchFamily="18" charset="0"/>
                        <a:cs typeface="Arial"/>
                      </a:rPr>
                      <m:t>𝐷</m:t>
                    </m:r>
                    <m:r>
                      <a:rPr lang="ar-SA" sz="1050" i="1" spc="-25" dirty="0" smtClean="0">
                        <a:latin typeface="Cambria Math" panose="02040503050406030204" pitchFamily="18" charset="0"/>
                        <a:cs typeface="Meiryo UI"/>
                      </a:rPr>
                      <m:t>}</m:t>
                    </m:r>
                  </m:oMath>
                </a14:m>
                <a:endParaRPr lang="ar-SA" sz="1050" dirty="0">
                  <a:latin typeface="Meiryo UI"/>
                  <a:cs typeface="Meiryo UI"/>
                </a:endParaRPr>
              </a:p>
              <a:p>
                <a:pPr marL="226060" indent="-175260">
                  <a:lnSpc>
                    <a:spcPct val="100000"/>
                  </a:lnSpc>
                  <a:spcBef>
                    <a:spcPts val="334"/>
                  </a:spcBef>
                  <a:buClr>
                    <a:srgbClr val="3333B2"/>
                  </a:buClr>
                  <a:buFont typeface="Arial"/>
                  <a:buChar char="►"/>
                  <a:tabLst>
                    <a:tab pos="22606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smtClean="0">
                        <a:latin typeface="Cambria Math" panose="02040503050406030204" pitchFamily="18" charset="0"/>
                        <a:cs typeface="Arial"/>
                      </a:rPr>
                      <m:t> </m:t>
                    </m:r>
                    <m:r>
                      <a:rPr lang="ar-SA" sz="1050" i="1" spc="-125" dirty="0" smtClean="0">
                        <a:latin typeface="Cambria Math" panose="02040503050406030204" pitchFamily="18" charset="0"/>
                        <a:cs typeface="Tahoma"/>
                      </a:rPr>
                      <m:t>(</m:t>
                    </m:r>
                    <m:r>
                      <a:rPr lang="ar-SA" sz="1050" i="1" spc="-125" dirty="0" smtClean="0">
                        <a:latin typeface="Cambria Math" panose="02040503050406030204" pitchFamily="18" charset="0"/>
                        <a:cs typeface="Meiryo UI"/>
                      </a:rPr>
                      <m:t>∅</m:t>
                    </m:r>
                    <m:r>
                      <a:rPr lang="ar-SA" sz="1050" i="1" spc="-125" dirty="0" smtClean="0">
                        <a:latin typeface="Cambria Math" panose="02040503050406030204" pitchFamily="18" charset="0"/>
                        <a:cs typeface="Tahoma"/>
                      </a:rPr>
                      <m:t>)</m:t>
                    </m:r>
                    <m:r>
                      <a:rPr lang="ar-SA" sz="1050" i="1" dirty="0" smtClean="0">
                        <a:latin typeface="Cambria Math" panose="02040503050406030204" pitchFamily="18" charset="0"/>
                        <a:cs typeface="Tahoma"/>
                      </a:rPr>
                      <m:t>=</m:t>
                    </m:r>
                    <m:r>
                      <a:rPr lang="ar-SA" sz="1050" i="1" spc="-50" dirty="0" smtClean="0">
                        <a:latin typeface="Cambria Math" panose="02040503050406030204" pitchFamily="18" charset="0"/>
                        <a:cs typeface="Tahoma"/>
                      </a:rPr>
                      <m:t>0</m:t>
                    </m:r>
                  </m:oMath>
                </a14:m>
                <a:endParaRPr lang="ar-SA" sz="1050" dirty="0">
                  <a:latin typeface="Tahoma"/>
                  <a:cs typeface="Tahoma"/>
                </a:endParaRPr>
              </a:p>
              <a:p>
                <a:pPr marL="227329">
                  <a:spcBef>
                    <a:spcPts val="330"/>
                  </a:spcBef>
                  <a:tabLst>
                    <a:tab pos="1176020" algn="l"/>
                  </a:tabLst>
                </a:pPr>
                <a14:m>
                  <m:oMathPara xmlns:m="http://schemas.openxmlformats.org/officeDocument/2006/math">
                    <m:oMathParaPr>
                      <m:jc m:val="centerGroup"/>
                    </m:oMathParaPr>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d>
                        <m:dPr>
                          <m:ctrlPr>
                            <a:rPr lang="ar-SA" sz="1050" i="1" spc="-60" dirty="0">
                              <a:latin typeface="Cambria Math" panose="02040503050406030204" pitchFamily="18" charset="0"/>
                              <a:cs typeface="Tahoma"/>
                            </a:rPr>
                          </m:ctrlPr>
                        </m:dPr>
                        <m:e>
                          <m:d>
                            <m:dPr>
                              <m:begChr m:val="{"/>
                              <m:endChr m:val="}"/>
                              <m:ctrlPr>
                                <a:rPr lang="ar-SA" sz="1050" i="1" spc="-60" dirty="0">
                                  <a:latin typeface="Cambria Math" panose="02040503050406030204" pitchFamily="18" charset="0"/>
                                  <a:cs typeface="Arial"/>
                                </a:rPr>
                              </m:ctrlPr>
                            </m:dPr>
                            <m:e>
                              <m:r>
                                <a:rPr lang="ar-SA" sz="1050" i="1" spc="-60" dirty="0">
                                  <a:latin typeface="Cambria Math" panose="02040503050406030204" pitchFamily="18" charset="0"/>
                                  <a:cs typeface="Arial"/>
                                </a:rPr>
                                <m:t>𝐴</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dirty="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𝐵</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45" dirty="0">
                              <a:latin typeface="Cambria Math" panose="02040503050406030204" pitchFamily="18" charset="0"/>
                              <a:cs typeface="Tahoma"/>
                            </a:rPr>
                          </m:ctrlPr>
                        </m:dPr>
                        <m:e>
                          <m:d>
                            <m:dPr>
                              <m:begChr m:val="{"/>
                              <m:endChr m:val="}"/>
                              <m:ctrlPr>
                                <a:rPr lang="ar-SA" sz="1050" i="1" spc="-45" dirty="0">
                                  <a:latin typeface="Cambria Math" panose="02040503050406030204" pitchFamily="18" charset="0"/>
                                  <a:cs typeface="Arial"/>
                                </a:rPr>
                              </m:ctrlPr>
                            </m:dPr>
                            <m:e>
                              <m:r>
                                <a:rPr lang="ar-SA" sz="1050" i="1" spc="-4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b="0" i="1"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45" dirty="0">
                          <a:latin typeface="Cambria Math" panose="02040503050406030204" pitchFamily="18" charset="0"/>
                          <a:cs typeface="Tahoma"/>
                        </a:rPr>
                        <m:t>(</m:t>
                      </m:r>
                      <m:r>
                        <a:rPr lang="ar-SA" sz="1050" i="1" spc="-45" dirty="0">
                          <a:latin typeface="Cambria Math" panose="02040503050406030204" pitchFamily="18" charset="0"/>
                          <a:cs typeface="Meiryo UI"/>
                        </a:rPr>
                        <m:t>{</m:t>
                      </m:r>
                      <m:r>
                        <a:rPr lang="ar-SA" sz="1050" i="1" spc="-45" dirty="0">
                          <a:latin typeface="Cambria Math" panose="02040503050406030204" pitchFamily="18" charset="0"/>
                          <a:cs typeface="Arial"/>
                        </a:rPr>
                        <m:t>𝐷</m:t>
                      </m:r>
                      <m:r>
                        <a:rPr lang="ar-SA" sz="1050" i="1" spc="-45" dirty="0">
                          <a:latin typeface="Cambria Math" panose="02040503050406030204" pitchFamily="18" charset="0"/>
                          <a:cs typeface="Meiryo UI"/>
                        </a:rPr>
                        <m:t>}</m:t>
                      </m:r>
                      <m:r>
                        <a:rPr lang="ar-SA" sz="1050" i="1" spc="-45"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m:oMathPara>
                </a14:m>
                <a:endParaRPr lang="ar-SA" sz="1050" dirty="0">
                  <a:latin typeface="Tahoma"/>
                  <a:cs typeface="Tahoma"/>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𝐵</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i="1" dirty="0">
                        <a:latin typeface="Cambria Math" panose="02040503050406030204" pitchFamily="18" charset="0"/>
                        <a:cs typeface="Tahoma"/>
                      </a:rPr>
                      <m:t>	</m:t>
                    </m:r>
                    <m:r>
                      <a:rPr lang="ar-SA" sz="1050" b="0" i="1"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r>
                      <a:rPr lang="ar-SA" sz="1050" i="1" spc="-40" dirty="0">
                        <a:latin typeface="Cambria Math" panose="02040503050406030204" pitchFamily="18" charset="0"/>
                        <a:cs typeface="Tahoma"/>
                      </a:rPr>
                      <m:t>(</m:t>
                    </m:r>
                    <m:r>
                      <a:rPr lang="ar-SA" sz="1050" i="1" spc="-40" dirty="0">
                        <a:latin typeface="Cambria Math" panose="02040503050406030204" pitchFamily="18" charset="0"/>
                        <a:cs typeface="Meiryo UI"/>
                      </a:rPr>
                      <m:t>{</m:t>
                    </m:r>
                    <m:r>
                      <a:rPr lang="ar-SA" sz="1050" i="1" spc="-40" dirty="0">
                        <a:latin typeface="Cambria Math" panose="02040503050406030204" pitchFamily="18" charset="0"/>
                        <a:cs typeface="Arial"/>
                      </a:rPr>
                      <m:t>𝐴</m:t>
                    </m:r>
                    <m:r>
                      <a:rPr lang="ar-SA" sz="1050" i="1" spc="-4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25" dirty="0">
                        <a:latin typeface="Cambria Math" panose="02040503050406030204" pitchFamily="18" charset="0"/>
                        <a:cs typeface="Arial"/>
                      </a:rPr>
                      <m:t>𝐶</m:t>
                    </m:r>
                    <m:r>
                      <a:rPr lang="ar-SA" sz="1050" i="1" spc="-25" dirty="0">
                        <a:latin typeface="Cambria Math" panose="02040503050406030204" pitchFamily="18" charset="0"/>
                        <a:cs typeface="Meiryo UI"/>
                      </a:rPr>
                      <m:t>}</m:t>
                    </m:r>
                    <m:r>
                      <a:rPr lang="ar-SA" sz="1050" i="1" spc="-25"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5" dirty="0">
                        <a:latin typeface="Cambria Math" panose="02040503050406030204" pitchFamily="18" charset="0"/>
                        <a:cs typeface="Tahoma"/>
                      </a:rPr>
                      <m:t>100</m:t>
                    </m:r>
                  </m:oMath>
                </a14:m>
                <a:r>
                  <a:rPr lang="ar-SA" sz="1050" dirty="0">
                    <a:latin typeface="Tahoma"/>
                    <a:cs typeface="Tahoma"/>
                  </a:rPr>
                  <a:t>      </a:t>
                </a:r>
                <a14:m>
                  <m:oMath xmlns:m="http://schemas.openxmlformats.org/officeDocument/2006/math">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0" dirty="0">
                        <a:latin typeface="Cambria Math" panose="02040503050406030204" pitchFamily="18" charset="0"/>
                        <a:cs typeface="Tahoma"/>
                      </a:rPr>
                      <m:t>100</m:t>
                    </m:r>
                  </m:oMath>
                </a14:m>
                <a:endParaRPr lang="ar-SA" sz="1050" dirty="0">
                  <a:latin typeface="Tahoma"/>
                  <a:cs typeface="Tahoma"/>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10" dirty="0">
                            <a:latin typeface="Cambria Math" panose="02040503050406030204" pitchFamily="18" charset="0"/>
                            <a:cs typeface="Tahoma"/>
                          </a:rPr>
                        </m:ctrlPr>
                      </m:dPr>
                      <m:e>
                        <m:d>
                          <m:dPr>
                            <m:begChr m:val="{"/>
                            <m:endChr m:val="}"/>
                            <m:ctrlPr>
                              <a:rPr lang="ar-SA" sz="1050" i="1" spc="-10" dirty="0">
                                <a:latin typeface="Cambria Math" panose="02040503050406030204" pitchFamily="18" charset="0"/>
                                <a:cs typeface="Arial"/>
                              </a:rPr>
                            </m:ctrlPr>
                          </m:dPr>
                          <m:e>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3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r>
                      <a:rPr lang="ar-SA" sz="1050" b="0" i="1" spc="-50"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10" dirty="0">
                        <a:latin typeface="Cambria Math" panose="02040503050406030204" pitchFamily="18" charset="0"/>
                        <a:cs typeface="Tahoma"/>
                      </a:rPr>
                      <m:t>(</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50"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a14:m>
                <a:r>
                  <a:rPr lang="ar-SA" sz="1050" dirty="0">
                    <a:latin typeface="Tahoma"/>
                    <a:cs typeface="Tahoma"/>
                  </a:rPr>
                  <a:t> </a:t>
                </a:r>
                <a14:m>
                  <m:oMath xmlns:m="http://schemas.openxmlformats.org/officeDocument/2006/math">
                    <m:r>
                      <a:rPr lang="ar-SA" sz="1050" b="0" i="0" spc="-55" dirty="0" smtClean="0">
                        <a:latin typeface="Cambria Math" panose="02040503050406030204" pitchFamily="18" charset="0"/>
                        <a:cs typeface="Arial"/>
                      </a:rPr>
                      <m:t>       </m:t>
                    </m:r>
                    <m:r>
                      <a:rPr lang="ar-SA" sz="1050" b="0" i="1" spc="-55" dirty="0" smtClean="0">
                        <a:latin typeface="Cambria Math" panose="02040503050406030204" pitchFamily="18" charset="0"/>
                        <a:cs typeface="Arial"/>
                      </a:rPr>
                      <m:t>       </m:t>
                    </m:r>
                    <m:r>
                      <a:rPr lang="ar-SA" sz="1050" i="1" spc="-55" dirty="0" smtClean="0">
                        <a:latin typeface="Cambria Math" panose="02040503050406030204" pitchFamily="18" charset="0"/>
                        <a:cs typeface="Arial"/>
                      </a:rPr>
                      <m:t>𝑣</m:t>
                    </m:r>
                    <m:r>
                      <a:rPr lang="ar-SA" sz="1050" i="1" spc="-190" dirty="0">
                        <a:latin typeface="Cambria Math" panose="02040503050406030204" pitchFamily="18" charset="0"/>
                        <a:cs typeface="Arial"/>
                      </a:rPr>
                      <m:t> </m:t>
                    </m:r>
                    <m:r>
                      <a:rPr lang="ar-SA" sz="1050" i="1" spc="-25" dirty="0">
                        <a:latin typeface="Cambria Math" panose="02040503050406030204" pitchFamily="18" charset="0"/>
                        <a:cs typeface="Tahoma"/>
                      </a:rPr>
                      <m:t>(</m:t>
                    </m:r>
                    <m:r>
                      <a:rPr lang="ar-SA" sz="1050" i="1" spc="-25" dirty="0">
                        <a:latin typeface="Cambria Math" panose="02040503050406030204" pitchFamily="18" charset="0"/>
                        <a:cs typeface="Meiryo UI"/>
                      </a:rPr>
                      <m:t>{</m:t>
                    </m:r>
                    <m:r>
                      <a:rPr lang="ar-SA" sz="1050" i="1" spc="-25" dirty="0">
                        <a:latin typeface="Cambria Math" panose="02040503050406030204" pitchFamily="18" charset="0"/>
                        <a:cs typeface="Arial"/>
                      </a:rPr>
                      <m:t>𝐶</m:t>
                    </m:r>
                    <m:r>
                      <a:rPr lang="ar-SA" sz="1050" i="1" spc="-2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50" dirty="0">
                        <a:latin typeface="Cambria Math" panose="02040503050406030204" pitchFamily="18" charset="0"/>
                        <a:cs typeface="Tahoma"/>
                      </a:rPr>
                      <m:t>0</m:t>
                    </m:r>
                  </m:oMath>
                </a14:m>
                <a:r>
                  <a:rPr lang="ar-SA" sz="1050" b="1"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spc="-25" dirty="0">
                                <a:latin typeface="Cambria Math" panose="02040503050406030204" pitchFamily="18" charset="0"/>
                                <a:cs typeface="Arial"/>
                              </a:rPr>
                              <m:t>𝐶</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b="0" i="1" spc="-25" dirty="0" smtClean="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oMath>
                </a14:m>
                <a:r>
                  <a:rPr lang="ar-SA" sz="1050"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5" dirty="0">
                        <a:latin typeface="Cambria Math" panose="02040503050406030204" pitchFamily="18" charset="0"/>
                        <a:cs typeface="Arial"/>
                      </a:rPr>
                      <m:t> </m:t>
                    </m:r>
                    <m:d>
                      <m:dPr>
                        <m:ctrlPr>
                          <a:rPr lang="ar-SA" sz="1050" i="1" spc="-35" dirty="0">
                            <a:latin typeface="Cambria Math" panose="02040503050406030204" pitchFamily="18" charset="0"/>
                            <a:cs typeface="Tahoma"/>
                          </a:rPr>
                        </m:ctrlPr>
                      </m:dPr>
                      <m:e>
                        <m:d>
                          <m:dPr>
                            <m:begChr m:val="{"/>
                            <m:endChr m:val="}"/>
                            <m:ctrlPr>
                              <a:rPr lang="ar-SA" sz="1050" i="1" spc="-35" dirty="0">
                                <a:latin typeface="Cambria Math" panose="02040503050406030204" pitchFamily="18" charset="0"/>
                                <a:cs typeface="Arial"/>
                              </a:rPr>
                            </m:ctrlPr>
                          </m:dPr>
                          <m:e>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e>
                        </m:d>
                      </m:e>
                    </m:d>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r>
                      <a:rPr lang="ar-SA" sz="1050" b="0" i="1" spc="-25" dirty="0" smtClean="0">
                        <a:latin typeface="Cambria Math" panose="02040503050406030204" pitchFamily="18" charset="0"/>
                        <a:cs typeface="Tahoma"/>
                      </a:rPr>
                      <m:t>      </m:t>
                    </m:r>
                    <m:r>
                      <a:rPr lang="ar-SA" sz="1050" i="1" dirty="0">
                        <a:latin typeface="Cambria Math" panose="02040503050406030204" pitchFamily="18" charset="0"/>
                        <a:cs typeface="Tahoma"/>
                      </a:rPr>
                      <m:t>	</m:t>
                    </m:r>
                    <m:r>
                      <a:rPr lang="ar-SA" sz="1050" i="1" spc="-55" dirty="0">
                        <a:latin typeface="Cambria Math" panose="02040503050406030204" pitchFamily="18" charset="0"/>
                        <a:cs typeface="Arial"/>
                      </a:rPr>
                      <m:t>𝑣</m:t>
                    </m:r>
                    <m:r>
                      <a:rPr lang="ar-SA" sz="1050" i="1" spc="-185" dirty="0">
                        <a:latin typeface="Cambria Math" panose="02040503050406030204" pitchFamily="18" charset="0"/>
                        <a:cs typeface="Arial"/>
                      </a:rPr>
                      <m:t> </m:t>
                    </m:r>
                    <m:r>
                      <a:rPr lang="ar-SA" sz="1050" i="1" spc="-10" dirty="0">
                        <a:latin typeface="Cambria Math" panose="02040503050406030204" pitchFamily="18" charset="0"/>
                        <a:cs typeface="Tahoma"/>
                      </a:rPr>
                      <m:t>(</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Arial"/>
                      </a:rPr>
                      <m:t>𝐵</m:t>
                    </m:r>
                    <m:r>
                      <a:rPr lang="ar-SA" sz="1050" i="1" spc="-10" dirty="0">
                        <a:latin typeface="Cambria Math" panose="02040503050406030204" pitchFamily="18" charset="0"/>
                        <a:cs typeface="Adobe Text Pro"/>
                      </a:rPr>
                      <m:t>,</m:t>
                    </m:r>
                    <m:r>
                      <a:rPr lang="ar-SA" sz="1050" i="1" spc="-45"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50"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30" dirty="0">
                        <a:latin typeface="Cambria Math" panose="02040503050406030204" pitchFamily="18" charset="0"/>
                        <a:cs typeface="Tahoma"/>
                      </a:rPr>
                      <m:t>100</m:t>
                    </m:r>
                  </m:oMath>
                </a14:m>
                <a:r>
                  <a:rPr lang="ar-SA" sz="1050" dirty="0">
                    <a:latin typeface="Tahoma"/>
                    <a:cs typeface="Tahoma"/>
                  </a:rPr>
                  <a:t> </a:t>
                </a:r>
                <a:endParaRPr lang="ar-SA" sz="1050" i="1" spc="-55" dirty="0">
                  <a:latin typeface="Cambria Math" panose="02040503050406030204" pitchFamily="18" charset="0"/>
                  <a:cs typeface="Arial"/>
                </a:endParaRPr>
              </a:p>
              <a:p>
                <a:pPr marL="227329">
                  <a:spcBef>
                    <a:spcPts val="330"/>
                  </a:spcBef>
                  <a:tabLst>
                    <a:tab pos="1176020" algn="l"/>
                  </a:tabLst>
                </a:pPr>
                <a14:m>
                  <m:oMath xmlns:m="http://schemas.openxmlformats.org/officeDocument/2006/math">
                    <m:r>
                      <a:rPr lang="ar-SA" sz="1050" i="1" spc="-55" dirty="0" smtClean="0">
                        <a:latin typeface="Cambria Math" panose="02040503050406030204" pitchFamily="18" charset="0"/>
                        <a:cs typeface="Arial"/>
                      </a:rPr>
                      <m:t>𝑣</m:t>
                    </m:r>
                    <m:r>
                      <a:rPr lang="ar-SA" sz="1050" i="1" spc="-180" dirty="0">
                        <a:latin typeface="Cambria Math" panose="02040503050406030204" pitchFamily="18" charset="0"/>
                        <a:cs typeface="Arial"/>
                      </a:rPr>
                      <m:t> </m:t>
                    </m:r>
                    <m:r>
                      <a:rPr lang="ar-SA" sz="1050" i="1" spc="-35" dirty="0">
                        <a:latin typeface="Cambria Math" panose="02040503050406030204" pitchFamily="18" charset="0"/>
                        <a:cs typeface="Tahoma"/>
                      </a:rPr>
                      <m:t>(</m:t>
                    </m:r>
                    <m:r>
                      <a:rPr lang="ar-SA" sz="1050" i="1" spc="-35" dirty="0">
                        <a:latin typeface="Cambria Math" panose="02040503050406030204" pitchFamily="18" charset="0"/>
                        <a:cs typeface="Meiryo UI"/>
                      </a:rPr>
                      <m:t>{</m:t>
                    </m:r>
                    <m:r>
                      <a:rPr lang="ar-SA" sz="1050" i="1" spc="-35" dirty="0">
                        <a:latin typeface="Cambria Math" panose="02040503050406030204" pitchFamily="18" charset="0"/>
                        <a:cs typeface="Arial"/>
                      </a:rPr>
                      <m:t>𝐴</m:t>
                    </m:r>
                    <m:r>
                      <a:rPr lang="ar-SA" sz="1050" i="1" spc="-35"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dirty="0">
                        <a:latin typeface="Cambria Math" panose="02040503050406030204" pitchFamily="18" charset="0"/>
                        <a:cs typeface="Arial"/>
                      </a:rPr>
                      <m:t>𝐵</m:t>
                    </m:r>
                    <m:r>
                      <a:rPr lang="ar-SA" sz="1050" i="1" dirty="0">
                        <a:latin typeface="Cambria Math" panose="02040503050406030204" pitchFamily="18" charset="0"/>
                        <a:cs typeface="Adobe Text Pro"/>
                      </a:rPr>
                      <m:t>,</m:t>
                    </m:r>
                    <m:r>
                      <a:rPr lang="ar-SA" sz="1050" i="1" spc="-30" dirty="0">
                        <a:latin typeface="Cambria Math" panose="02040503050406030204" pitchFamily="18" charset="0"/>
                        <a:cs typeface="Adobe Text Pro"/>
                      </a:rPr>
                      <m:t> </m:t>
                    </m:r>
                    <m:r>
                      <a:rPr lang="ar-SA" sz="1050" i="1" dirty="0">
                        <a:latin typeface="Cambria Math" panose="02040503050406030204" pitchFamily="18" charset="0"/>
                        <a:cs typeface="Arial"/>
                      </a:rPr>
                      <m:t>𝐶</m:t>
                    </m:r>
                    <m:r>
                      <a:rPr lang="ar-SA" sz="1050" i="1" dirty="0">
                        <a:latin typeface="Cambria Math" panose="02040503050406030204" pitchFamily="18" charset="0"/>
                        <a:cs typeface="Adobe Text Pro"/>
                      </a:rPr>
                      <m:t>,</m:t>
                    </m:r>
                    <m:r>
                      <a:rPr lang="ar-SA" sz="1050" i="1" spc="-35" dirty="0">
                        <a:latin typeface="Cambria Math" panose="02040503050406030204" pitchFamily="18" charset="0"/>
                        <a:cs typeface="Adobe Text Pro"/>
                      </a:rPr>
                      <m:t> </m:t>
                    </m:r>
                    <m:r>
                      <a:rPr lang="ar-SA" sz="1050" i="1" spc="-10" dirty="0">
                        <a:latin typeface="Cambria Math" panose="02040503050406030204" pitchFamily="18" charset="0"/>
                        <a:cs typeface="Arial"/>
                      </a:rPr>
                      <m:t>𝐷</m:t>
                    </m:r>
                    <m:r>
                      <a:rPr lang="ar-SA" sz="1050" i="1" spc="-10" dirty="0">
                        <a:latin typeface="Cambria Math" panose="02040503050406030204" pitchFamily="18" charset="0"/>
                        <a:cs typeface="Meiryo UI"/>
                      </a:rPr>
                      <m:t>}</m:t>
                    </m:r>
                    <m:r>
                      <a:rPr lang="ar-SA" sz="1050" i="1" spc="-10" dirty="0">
                        <a:latin typeface="Cambria Math" panose="02040503050406030204" pitchFamily="18" charset="0"/>
                        <a:cs typeface="Tahoma"/>
                      </a:rPr>
                      <m:t>)</m:t>
                    </m:r>
                    <m:r>
                      <a:rPr lang="ar-SA" sz="1050" i="1" dirty="0">
                        <a:latin typeface="Cambria Math" panose="02040503050406030204" pitchFamily="18" charset="0"/>
                        <a:cs typeface="Tahoma"/>
                      </a:rPr>
                      <m:t>=</m:t>
                    </m:r>
                    <m:r>
                      <a:rPr lang="ar-SA" sz="1050" i="1" spc="-25" dirty="0">
                        <a:latin typeface="Cambria Math" panose="02040503050406030204" pitchFamily="18" charset="0"/>
                        <a:cs typeface="Tahoma"/>
                      </a:rPr>
                      <m:t>100</m:t>
                    </m:r>
                  </m:oMath>
                </a14:m>
                <a:r>
                  <a:rPr lang="ar-SA" sz="1050" dirty="0">
                    <a:latin typeface="Tahoma"/>
                    <a:cs typeface="Tahoma"/>
                  </a:rPr>
                  <a:t> </a:t>
                </a:r>
              </a:p>
            </p:txBody>
          </p:sp>
        </mc:Choice>
        <mc:Fallback xmlns="">
          <p:sp>
            <p:nvSpPr>
              <p:cNvPr id="3" name="object 3"/>
              <p:cNvSpPr txBox="1">
                <a:spLocks noRot="1" noChangeAspect="1" noMove="1" noResize="1" noEditPoints="1" noAdjustHandles="1" noChangeArrowheads="1" noChangeShapeType="1" noTextEdit="1"/>
              </p:cNvSpPr>
              <p:nvPr/>
            </p:nvSpPr>
            <p:spPr>
              <a:xfrm>
                <a:off x="347294" y="538186"/>
                <a:ext cx="4192904" cy="2426946"/>
              </a:xfrm>
              <a:prstGeom prst="rect">
                <a:avLst/>
              </a:prstGeom>
              <a:blipFill>
                <a:blip r:embed="rId3"/>
                <a:stretch>
                  <a:fillRect l="-1744" t="-1759" r="-1744" b="-2513"/>
                </a:stretch>
              </a:blipFill>
            </p:spPr>
            <p:txBody>
              <a:bodyPr/>
              <a:lstStyle/>
              <a:p>
                <a:r>
                  <a:rPr lang="en-MY">
                    <a:noFill/>
                  </a:rPr>
                  <a:t> </a:t>
                </a:r>
              </a:p>
            </p:txBody>
          </p:sp>
        </mc:Fallback>
      </mc:AlternateContent>
      <p:sp>
        <p:nvSpPr>
          <p:cNvPr id="9" name="Date Placeholder 3">
            <a:extLst>
              <a:ext uri="{FF2B5EF4-FFF2-40B4-BE49-F238E27FC236}">
                <a16:creationId xmlns:a16="http://schemas.microsoft.com/office/drawing/2014/main" id="{731552D1-DC41-4E3E-AA73-ECFE8208D3BB}"/>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Footer Placeholder 5">
            <a:extLst>
              <a:ext uri="{FF2B5EF4-FFF2-40B4-BE49-F238E27FC236}">
                <a16:creationId xmlns:a16="http://schemas.microsoft.com/office/drawing/2014/main" id="{81C8E8E5-30DD-4E47-83A1-58E5FF807788}"/>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1" name="Slide Number Placeholder 7">
            <a:extLst>
              <a:ext uri="{FF2B5EF4-FFF2-40B4-BE49-F238E27FC236}">
                <a16:creationId xmlns:a16="http://schemas.microsoft.com/office/drawing/2014/main" id="{9F3643E4-B5B6-4892-93F2-68B985CCD13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80" dirty="0"/>
              <a:t> </a:t>
            </a:r>
            <a:r>
              <a:rPr dirty="0"/>
              <a:t>Shapley</a:t>
            </a:r>
            <a:r>
              <a:rPr spc="135" dirty="0"/>
              <a:t> </a:t>
            </a:r>
            <a:r>
              <a:rPr dirty="0"/>
              <a:t>value</a:t>
            </a:r>
            <a:r>
              <a:rPr spc="140" dirty="0"/>
              <a:t> </a:t>
            </a:r>
            <a:r>
              <a:rPr dirty="0"/>
              <a:t>–</a:t>
            </a:r>
            <a:r>
              <a:rPr spc="130" dirty="0"/>
              <a:t> </a:t>
            </a:r>
            <a:r>
              <a:rPr dirty="0"/>
              <a:t>Fair</a:t>
            </a:r>
            <a:r>
              <a:rPr spc="140" dirty="0"/>
              <a:t> </a:t>
            </a:r>
            <a:r>
              <a:rPr dirty="0"/>
              <a:t>division</a:t>
            </a:r>
            <a:r>
              <a:rPr spc="130" dirty="0"/>
              <a:t> </a:t>
            </a:r>
            <a:r>
              <a:rPr dirty="0"/>
              <a:t>in</a:t>
            </a:r>
            <a:r>
              <a:rPr spc="140" dirty="0"/>
              <a:t> </a:t>
            </a:r>
            <a:r>
              <a:rPr dirty="0"/>
              <a:t>the</a:t>
            </a:r>
            <a:r>
              <a:rPr spc="135" dirty="0"/>
              <a:t> </a:t>
            </a:r>
            <a:r>
              <a:rPr dirty="0"/>
              <a:t>voting</a:t>
            </a:r>
            <a:r>
              <a:rPr spc="130" dirty="0"/>
              <a:t> </a:t>
            </a:r>
            <a:r>
              <a:rPr spc="-10" dirty="0"/>
              <a:t>game</a:t>
            </a:r>
            <a:r>
              <a:rPr sz="1500" spc="-15" baseline="27777" dirty="0">
                <a:latin typeface="Tahoma"/>
                <a:cs typeface="Tahoma"/>
              </a:rPr>
              <a:t>1</a:t>
            </a:r>
            <a:endParaRPr sz="1500" baseline="27777" dirty="0">
              <a:latin typeface="Tahoma"/>
              <a:cs typeface="Tahoma"/>
            </a:endParaRPr>
          </a:p>
        </p:txBody>
      </p:sp>
      <p:pic>
        <p:nvPicPr>
          <p:cNvPr id="3" name="object 3"/>
          <p:cNvPicPr/>
          <p:nvPr/>
        </p:nvPicPr>
        <p:blipFill>
          <a:blip r:embed="rId3" cstate="print"/>
          <a:stretch>
            <a:fillRect/>
          </a:stretch>
        </p:blipFill>
        <p:spPr>
          <a:xfrm>
            <a:off x="608558" y="872731"/>
            <a:ext cx="3346450" cy="1641475"/>
          </a:xfrm>
          <a:prstGeom prst="rect">
            <a:avLst/>
          </a:prstGeom>
        </p:spPr>
      </p:pic>
      <mc:AlternateContent xmlns:mc="http://schemas.openxmlformats.org/markup-compatibility/2006" xmlns:a14="http://schemas.microsoft.com/office/drawing/2010/main">
        <mc:Choice Requires="a14">
          <p:sp>
            <p:nvSpPr>
              <p:cNvPr id="4" name="object 4"/>
              <p:cNvSpPr txBox="1"/>
              <p:nvPr/>
            </p:nvSpPr>
            <p:spPr>
              <a:xfrm>
                <a:off x="321894" y="2759886"/>
                <a:ext cx="3645089" cy="180819"/>
              </a:xfrm>
              <a:prstGeom prst="rect">
                <a:avLst/>
              </a:prstGeom>
            </p:spPr>
            <p:txBody>
              <a:bodyPr vert="horz" wrap="square" lIns="0" tIns="11430" rIns="0" bIns="0" rtlCol="0">
                <a:spAutoFit/>
              </a:bodyPr>
              <a:lstStyle/>
              <a:p>
                <a:pPr marL="38100">
                  <a:lnSpc>
                    <a:spcPct val="100000"/>
                  </a:lnSpc>
                  <a:spcBef>
                    <a:spcPts val="90"/>
                  </a:spcBef>
                </a:pPr>
                <a:r>
                  <a:rPr lang="en-MY" sz="1100" spc="-35" dirty="0">
                    <a:latin typeface="Tahoma"/>
                    <a:cs typeface="Tahoma"/>
                  </a:rPr>
                  <a:t>Shapley</a:t>
                </a:r>
                <a:r>
                  <a:rPr lang="en-MY" sz="1100" spc="15" dirty="0">
                    <a:latin typeface="Tahoma"/>
                    <a:cs typeface="Tahoma"/>
                  </a:rPr>
                  <a:t> </a:t>
                </a:r>
                <a:r>
                  <a:rPr lang="en-MY" sz="1100" spc="-30" dirty="0">
                    <a:latin typeface="Tahoma"/>
                    <a:cs typeface="Tahoma"/>
                  </a:rPr>
                  <a:t>value</a:t>
                </a:r>
                <a:r>
                  <a:rPr lang="en-MY" sz="1100" spc="30" dirty="0">
                    <a:latin typeface="Tahoma"/>
                    <a:cs typeface="Tahoma"/>
                  </a:rPr>
                  <a:t> </a:t>
                </a:r>
                <a14:m>
                  <m:oMath xmlns:m="http://schemas.openxmlformats.org/officeDocument/2006/math">
                    <m:r>
                      <a:rPr lang="en-MY" sz="1100" b="1" i="1" dirty="0" smtClean="0">
                        <a:latin typeface="Cambria Math" panose="02040503050406030204" pitchFamily="18" charset="0"/>
                        <a:cs typeface="Arial"/>
                      </a:rPr>
                      <m:t>𝒙</m:t>
                    </m:r>
                    <m:r>
                      <a:rPr lang="en-MY" sz="1100" i="1" dirty="0">
                        <a:latin typeface="Cambria Math" panose="02040503050406030204" pitchFamily="18" charset="0"/>
                        <a:cs typeface="Tahoma"/>
                      </a:rPr>
                      <m:t>=</m:t>
                    </m:r>
                    <m:d>
                      <m:dPr>
                        <m:ctrlPr>
                          <a:rPr lang="en-MY" sz="1100" b="0" i="1" spc="-10" dirty="0">
                            <a:latin typeface="Cambria Math" panose="02040503050406030204" pitchFamily="18" charset="0"/>
                            <a:cs typeface="Tahoma"/>
                          </a:rPr>
                        </m:ctrlPr>
                      </m:dPr>
                      <m:e>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𝜙</m:t>
                            </m:r>
                          </m:e>
                          <m:sub>
                            <m:r>
                              <a:rPr lang="en-MY" sz="1100" b="0" i="1" spc="-10" dirty="0" smtClean="0">
                                <a:latin typeface="Cambria Math" panose="02040503050406030204" pitchFamily="18" charset="0"/>
                                <a:cs typeface="Tahoma"/>
                              </a:rPr>
                              <m:t>𝐴</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𝜙</m:t>
                            </m:r>
                          </m:e>
                          <m:sub>
                            <m:r>
                              <a:rPr lang="en-MY" sz="1100" b="0" i="1" spc="-10" dirty="0" smtClean="0">
                                <a:latin typeface="Cambria Math" panose="02040503050406030204" pitchFamily="18" charset="0"/>
                                <a:cs typeface="Tahoma"/>
                              </a:rPr>
                              <m:t>𝐵</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𝜙</m:t>
                            </m:r>
                          </m:e>
                          <m:sub>
                            <m:r>
                              <a:rPr lang="en-MY" sz="1100" b="0" i="1" spc="-10" dirty="0" smtClean="0">
                                <a:latin typeface="Cambria Math" panose="02040503050406030204" pitchFamily="18" charset="0"/>
                                <a:cs typeface="Tahoma"/>
                              </a:rPr>
                              <m:t>𝐶</m:t>
                            </m:r>
                          </m:sub>
                        </m:sSub>
                        <m:r>
                          <a:rPr lang="en-MY" sz="1100" b="0" i="1" spc="-10" dirty="0" smtClean="0">
                            <a:latin typeface="Cambria Math" panose="02040503050406030204" pitchFamily="18" charset="0"/>
                            <a:cs typeface="Tahoma"/>
                          </a:rPr>
                          <m:t>, </m:t>
                        </m:r>
                        <m:sSub>
                          <m:sSubPr>
                            <m:ctrlPr>
                              <a:rPr lang="en-MY" sz="1100" b="0" i="1" spc="-10" dirty="0" smtClean="0">
                                <a:latin typeface="Cambria Math" panose="02040503050406030204" pitchFamily="18" charset="0"/>
                                <a:cs typeface="Tahoma"/>
                              </a:rPr>
                            </m:ctrlPr>
                          </m:sSubPr>
                          <m:e>
                            <m:r>
                              <a:rPr lang="en-MY" sz="1100" b="0" i="1" spc="-10" dirty="0" smtClean="0">
                                <a:latin typeface="Cambria Math" panose="02040503050406030204" pitchFamily="18" charset="0"/>
                                <a:cs typeface="Tahoma"/>
                              </a:rPr>
                              <m:t>𝜙</m:t>
                            </m:r>
                          </m:e>
                          <m:sub>
                            <m:r>
                              <a:rPr lang="en-MY" sz="1100" b="0" i="1" spc="-10" dirty="0" smtClean="0">
                                <a:latin typeface="Cambria Math" panose="02040503050406030204" pitchFamily="18" charset="0"/>
                                <a:cs typeface="Tahoma"/>
                              </a:rPr>
                              <m:t>𝐷</m:t>
                            </m:r>
                          </m:sub>
                        </m:sSub>
                      </m:e>
                    </m:d>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m:t>
                    </m:r>
                    <m:r>
                      <a:rPr lang="en-MY" sz="1100" i="1" spc="-30" dirty="0">
                        <a:latin typeface="Cambria Math" panose="02040503050406030204" pitchFamily="18" charset="0"/>
                        <a:cs typeface="Tahoma"/>
                      </a:rPr>
                      <m:t>50</m:t>
                    </m:r>
                    <m:r>
                      <a:rPr lang="en-MY" sz="1100" i="1" spc="-3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40" dirty="0">
                        <a:latin typeface="Cambria Math" panose="02040503050406030204" pitchFamily="18" charset="0"/>
                        <a:cs typeface="Tahoma"/>
                      </a:rPr>
                      <m:t>16</m:t>
                    </m:r>
                    <m:r>
                      <a:rPr lang="en-MY" sz="1100" i="1" spc="-40" dirty="0">
                        <a:latin typeface="Cambria Math" panose="02040503050406030204" pitchFamily="18" charset="0"/>
                        <a:cs typeface="Adobe Text Pro"/>
                      </a:rPr>
                      <m:t>.</m:t>
                    </m:r>
                    <m:r>
                      <a:rPr lang="en-MY" sz="1100" i="1" spc="-40" dirty="0">
                        <a:latin typeface="Cambria Math" panose="02040503050406030204" pitchFamily="18" charset="0"/>
                        <a:cs typeface="Tahoma"/>
                      </a:rPr>
                      <m:t>67</m:t>
                    </m:r>
                    <m:r>
                      <a:rPr lang="en-MY" sz="1100" i="1" spc="-40" dirty="0">
                        <a:latin typeface="Cambria Math" panose="02040503050406030204" pitchFamily="18" charset="0"/>
                        <a:cs typeface="Adobe Text Pro"/>
                      </a:rPr>
                      <m:t>,</m:t>
                    </m:r>
                    <m:r>
                      <a:rPr lang="en-MY" sz="1100" i="1" spc="-55" dirty="0">
                        <a:latin typeface="Cambria Math" panose="02040503050406030204" pitchFamily="18" charset="0"/>
                        <a:cs typeface="Adobe Text Pro"/>
                      </a:rPr>
                      <m:t> </m:t>
                    </m:r>
                    <m:r>
                      <a:rPr lang="en-MY" sz="1100" i="1" spc="-40" dirty="0">
                        <a:latin typeface="Cambria Math" panose="02040503050406030204" pitchFamily="18" charset="0"/>
                        <a:cs typeface="Tahoma"/>
                      </a:rPr>
                      <m:t>16</m:t>
                    </m:r>
                    <m:r>
                      <a:rPr lang="en-MY" sz="1100" i="1" spc="-40" dirty="0">
                        <a:latin typeface="Cambria Math" panose="02040503050406030204" pitchFamily="18" charset="0"/>
                        <a:cs typeface="Adobe Text Pro"/>
                      </a:rPr>
                      <m:t>.</m:t>
                    </m:r>
                    <m:r>
                      <a:rPr lang="en-MY" sz="1100" i="1" spc="-40" dirty="0">
                        <a:latin typeface="Cambria Math" panose="02040503050406030204" pitchFamily="18" charset="0"/>
                        <a:cs typeface="Tahoma"/>
                      </a:rPr>
                      <m:t>67</m:t>
                    </m:r>
                    <m:r>
                      <a:rPr lang="en-MY" sz="1100" i="1" spc="-4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10" dirty="0">
                        <a:latin typeface="Cambria Math" panose="02040503050406030204" pitchFamily="18" charset="0"/>
                        <a:cs typeface="Tahoma"/>
                      </a:rPr>
                      <m:t>16</m:t>
                    </m:r>
                    <m:r>
                      <a:rPr lang="en-MY" sz="1100" i="1" spc="-10" dirty="0">
                        <a:latin typeface="Cambria Math" panose="02040503050406030204" pitchFamily="18" charset="0"/>
                        <a:cs typeface="Adobe Text Pro"/>
                      </a:rPr>
                      <m:t>.</m:t>
                    </m:r>
                    <m:r>
                      <a:rPr lang="en-MY" sz="1100" i="1" spc="-10" dirty="0">
                        <a:latin typeface="Cambria Math" panose="02040503050406030204" pitchFamily="18" charset="0"/>
                        <a:cs typeface="Tahoma"/>
                      </a:rPr>
                      <m:t>67</m:t>
                    </m:r>
                    <m:r>
                      <a:rPr lang="en-MY" sz="1100" i="1" spc="-10" dirty="0">
                        <a:latin typeface="Cambria Math" panose="02040503050406030204" pitchFamily="18" charset="0"/>
                        <a:cs typeface="Tahoma"/>
                      </a:rPr>
                      <m:t>)</m:t>
                    </m:r>
                  </m:oMath>
                </a14:m>
                <a:endParaRPr sz="1100" dirty="0">
                  <a:latin typeface="Tahoma"/>
                  <a:cs typeface="Tahoma"/>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21894" y="2759886"/>
                <a:ext cx="3645089" cy="180819"/>
              </a:xfrm>
              <a:prstGeom prst="rect">
                <a:avLst/>
              </a:prstGeom>
              <a:blipFill>
                <a:blip r:embed="rId4"/>
                <a:stretch>
                  <a:fillRect l="-1505" t="-24138" r="-1839" b="-48276"/>
                </a:stretch>
              </a:blipFill>
            </p:spPr>
            <p:txBody>
              <a:bodyPr/>
              <a:lstStyle/>
              <a:p>
                <a:r>
                  <a:rPr lang="en-MY">
                    <a:noFill/>
                  </a:rPr>
                  <a:t> </a:t>
                </a:r>
              </a:p>
            </p:txBody>
          </p:sp>
        </mc:Fallback>
      </mc:AlternateContent>
      <p:sp>
        <p:nvSpPr>
          <p:cNvPr id="5" name="object 5"/>
          <p:cNvSpPr/>
          <p:nvPr/>
        </p:nvSpPr>
        <p:spPr>
          <a:xfrm>
            <a:off x="359994" y="3101975"/>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a:p>
        </p:txBody>
      </p:sp>
      <p:sp>
        <p:nvSpPr>
          <p:cNvPr id="6" name="object 6"/>
          <p:cNvSpPr txBox="1"/>
          <p:nvPr/>
        </p:nvSpPr>
        <p:spPr>
          <a:xfrm>
            <a:off x="485901" y="3109019"/>
            <a:ext cx="2068830" cy="162560"/>
          </a:xfrm>
          <a:prstGeom prst="rect">
            <a:avLst/>
          </a:prstGeom>
        </p:spPr>
        <p:txBody>
          <a:bodyPr vert="horz" wrap="square" lIns="0" tIns="12065" rIns="0" bIns="0" rtlCol="0">
            <a:spAutoFit/>
          </a:bodyPr>
          <a:lstStyle/>
          <a:p>
            <a:pPr marL="38100">
              <a:lnSpc>
                <a:spcPct val="100000"/>
              </a:lnSpc>
              <a:spcBef>
                <a:spcPts val="95"/>
              </a:spcBef>
            </a:pPr>
            <a:r>
              <a:rPr sz="900" baseline="37037" dirty="0">
                <a:latin typeface="Arial"/>
                <a:cs typeface="Arial"/>
              </a:rPr>
              <a:t>1</a:t>
            </a:r>
            <a:r>
              <a:rPr sz="900" dirty="0">
                <a:latin typeface="Tahoma"/>
                <a:cs typeface="Tahoma"/>
              </a:rPr>
              <a:t>Solution</a:t>
            </a:r>
            <a:r>
              <a:rPr sz="900" spc="-35" dirty="0">
                <a:latin typeface="Tahoma"/>
                <a:cs typeface="Tahoma"/>
              </a:rPr>
              <a:t> </a:t>
            </a:r>
            <a:r>
              <a:rPr sz="900" spc="-10" dirty="0">
                <a:latin typeface="Tahoma"/>
                <a:cs typeface="Tahoma"/>
              </a:rPr>
              <a:t>taken</a:t>
            </a:r>
            <a:r>
              <a:rPr sz="900" spc="-30" dirty="0">
                <a:latin typeface="Tahoma"/>
                <a:cs typeface="Tahoma"/>
              </a:rPr>
              <a:t> </a:t>
            </a:r>
            <a:r>
              <a:rPr sz="900" dirty="0">
                <a:latin typeface="Tahoma"/>
                <a:cs typeface="Tahoma"/>
              </a:rPr>
              <a:t>from</a:t>
            </a:r>
            <a:r>
              <a:rPr sz="900" spc="-35" dirty="0">
                <a:latin typeface="Tahoma"/>
                <a:cs typeface="Tahoma"/>
              </a:rPr>
              <a:t> </a:t>
            </a:r>
            <a:r>
              <a:rPr sz="900" dirty="0">
                <a:latin typeface="Tahoma"/>
                <a:cs typeface="Tahoma"/>
              </a:rPr>
              <a:t>the</a:t>
            </a:r>
            <a:r>
              <a:rPr sz="900" spc="-30" dirty="0">
                <a:latin typeface="Tahoma"/>
                <a:cs typeface="Tahoma"/>
              </a:rPr>
              <a:t> </a:t>
            </a:r>
            <a:r>
              <a:rPr sz="900" dirty="0">
                <a:latin typeface="Tahoma"/>
                <a:cs typeface="Tahoma"/>
              </a:rPr>
              <a:t>main</a:t>
            </a:r>
            <a:r>
              <a:rPr sz="900" spc="-35" dirty="0">
                <a:latin typeface="Tahoma"/>
                <a:cs typeface="Tahoma"/>
              </a:rPr>
              <a:t> </a:t>
            </a:r>
            <a:r>
              <a:rPr sz="900" spc="-10" dirty="0">
                <a:latin typeface="Tahoma"/>
                <a:cs typeface="Tahoma"/>
              </a:rPr>
              <a:t>textbook.</a:t>
            </a:r>
            <a:endParaRPr sz="900" dirty="0">
              <a:latin typeface="Tahoma"/>
              <a:cs typeface="Tahoma"/>
            </a:endParaRPr>
          </a:p>
        </p:txBody>
      </p:sp>
      <p:sp>
        <p:nvSpPr>
          <p:cNvPr id="7" name="Date Placeholder 3">
            <a:extLst>
              <a:ext uri="{FF2B5EF4-FFF2-40B4-BE49-F238E27FC236}">
                <a16:creationId xmlns:a16="http://schemas.microsoft.com/office/drawing/2014/main" id="{E7DCAED5-A0B9-4097-96DE-CD67B8B32F1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Footer Placeholder 5">
            <a:extLst>
              <a:ext uri="{FF2B5EF4-FFF2-40B4-BE49-F238E27FC236}">
                <a16:creationId xmlns:a16="http://schemas.microsoft.com/office/drawing/2014/main" id="{B7211415-DB17-4237-B5DE-A46553B2822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9" name="Slide Number Placeholder 7">
            <a:extLst>
              <a:ext uri="{FF2B5EF4-FFF2-40B4-BE49-F238E27FC236}">
                <a16:creationId xmlns:a16="http://schemas.microsoft.com/office/drawing/2014/main" id="{AA1CB22D-FD28-4621-AD0B-D4A547F7115D}"/>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90" dirty="0"/>
              <a:t> </a:t>
            </a:r>
            <a:r>
              <a:rPr dirty="0"/>
              <a:t>Computing</a:t>
            </a:r>
            <a:r>
              <a:rPr spc="140" dirty="0"/>
              <a:t> </a:t>
            </a:r>
            <a:r>
              <a:rPr dirty="0"/>
              <a:t>the</a:t>
            </a:r>
            <a:r>
              <a:rPr spc="145" dirty="0"/>
              <a:t> </a:t>
            </a:r>
            <a:r>
              <a:rPr dirty="0"/>
              <a:t>Shapley</a:t>
            </a:r>
            <a:r>
              <a:rPr spc="145" dirty="0"/>
              <a:t> </a:t>
            </a:r>
            <a:r>
              <a:rPr dirty="0"/>
              <a:t>values</a:t>
            </a:r>
            <a:r>
              <a:rPr spc="140" dirty="0"/>
              <a:t> </a:t>
            </a:r>
            <a:r>
              <a:rPr dirty="0"/>
              <a:t>of</a:t>
            </a:r>
            <a:r>
              <a:rPr spc="145" dirty="0"/>
              <a:t> </a:t>
            </a:r>
            <a:r>
              <a:rPr dirty="0"/>
              <a:t>a</a:t>
            </a:r>
            <a:r>
              <a:rPr spc="145" dirty="0"/>
              <a:t> </a:t>
            </a:r>
            <a:r>
              <a:rPr spc="-20" dirty="0"/>
              <a:t>game</a:t>
            </a:r>
          </a:p>
        </p:txBody>
      </p:sp>
      <mc:AlternateContent xmlns:mc="http://schemas.openxmlformats.org/markup-compatibility/2006" xmlns:a14="http://schemas.microsoft.com/office/drawing/2010/main">
        <mc:Choice Requires="a14">
          <p:sp>
            <p:nvSpPr>
              <p:cNvPr id="3" name="object 3"/>
              <p:cNvSpPr txBox="1"/>
              <p:nvPr/>
            </p:nvSpPr>
            <p:spPr>
              <a:xfrm>
                <a:off x="283794" y="369770"/>
                <a:ext cx="4002456" cy="1424749"/>
              </a:xfrm>
              <a:prstGeom prst="rect">
                <a:avLst/>
              </a:prstGeom>
            </p:spPr>
            <p:txBody>
              <a:bodyPr vert="horz" wrap="square" lIns="0" tIns="46990" rIns="0" bIns="0" rtlCol="0">
                <a:spAutoFit/>
              </a:bodyPr>
              <a:lstStyle/>
              <a:p>
                <a:pPr marL="76200">
                  <a:lnSpc>
                    <a:spcPct val="100000"/>
                  </a:lnSpc>
                  <a:spcBef>
                    <a:spcPts val="370"/>
                  </a:spcBef>
                </a:pPr>
                <a:r>
                  <a:rPr lang="en-MY" sz="1100" kern="1200" spc="10" dirty="0">
                    <a:solidFill>
                      <a:schemeClr val="tx1"/>
                    </a:solidFill>
                    <a:latin typeface="Tahoma"/>
                    <a:ea typeface="+mn-ea"/>
                    <a:cs typeface="Tahoma"/>
                  </a:rPr>
                  <a:t>The Shapley values of the (convex) game</a:t>
                </a:r>
                <a:r>
                  <a:rPr lang="en-MY"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where:</a:t>
                </a:r>
              </a:p>
              <a:p>
                <a:pPr marL="351155" indent="-175260">
                  <a:lnSpc>
                    <a:spcPct val="100000"/>
                  </a:lnSpc>
                  <a:spcBef>
                    <a:spcPts val="275"/>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endParaRPr lang="en-MY" sz="1100" dirty="0">
                  <a:latin typeface="Meiryo UI"/>
                  <a:cs typeface="Meiryo UI"/>
                </a:endParaRPr>
              </a:p>
              <a:p>
                <a:pPr marL="351155" indent="-175260">
                  <a:lnSpc>
                    <a:spcPct val="100000"/>
                  </a:lnSpc>
                  <a:spcBef>
                    <a:spcPts val="254"/>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ar-SA" sz="1100" dirty="0">
                    <a:latin typeface="Tahoma"/>
                    <a:cs typeface="Tahoma"/>
                  </a:rPr>
                  <a:t> </a:t>
                </a:r>
              </a:p>
              <a:p>
                <a:pPr marL="353060">
                  <a:lnSpc>
                    <a:spcPct val="100000"/>
                  </a:lnSpc>
                  <a:spcBef>
                    <a:spcPts val="260"/>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en-MY" sz="1100" b="0" i="1" spc="-55" dirty="0" smtClean="0">
                        <a:latin typeface="Cambria Math" panose="02040503050406030204" pitchFamily="18" charset="0"/>
                        <a:cs typeface="Arial"/>
                      </a:rPr>
                      <m:t> </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en-MY" sz="1100" b="0" i="1" spc="-50" dirty="0" smtClean="0">
                        <a:latin typeface="Cambria Math" panose="02040503050406030204" pitchFamily="18" charset="0"/>
                        <a:cs typeface="Tahoma"/>
                      </a:rPr>
                      <m:t>           </m:t>
                    </m:r>
                    <m:r>
                      <a:rPr lang="ar-SA" sz="1100" i="1" dirty="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smtClean="0">
                        <a:latin typeface="Cambria Math" panose="02040503050406030204" pitchFamily="18" charset="0"/>
                        <a:cs typeface="Tahoma"/>
                      </a:rPr>
                      <m:t>5</m:t>
                    </m:r>
                  </m:oMath>
                </a14:m>
                <a:r>
                  <a:rPr lang="ar-SA" sz="1100" dirty="0">
                    <a:latin typeface="Tahoma"/>
                    <a:cs typeface="Tahoma"/>
                  </a:rPr>
                  <a:t> </a:t>
                </a:r>
              </a:p>
              <a:p>
                <a:pPr marL="353060">
                  <a:lnSpc>
                    <a:spcPct val="100000"/>
                  </a:lnSpc>
                  <a:spcBef>
                    <a:spcPts val="259"/>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8</m:t>
                    </m:r>
                  </m:oMath>
                </a14:m>
                <a:r>
                  <a:rPr lang="ar-SA" sz="1100" dirty="0">
                    <a:latin typeface="Tahoma"/>
                    <a:cs typeface="Tahoma"/>
                  </a:rPr>
                  <a:t> </a:t>
                </a:r>
              </a:p>
              <a:p>
                <a:pPr>
                  <a:lnSpc>
                    <a:spcPct val="100000"/>
                  </a:lnSpc>
                  <a:spcBef>
                    <a:spcPts val="295"/>
                  </a:spcBef>
                </a:pPr>
                <a:endParaRPr lang="ar-SA" sz="1100" kern="1200" spc="10" dirty="0">
                  <a:solidFill>
                    <a:schemeClr val="tx1"/>
                  </a:solidFill>
                  <a:latin typeface="Tahoma"/>
                  <a:ea typeface="+mn-ea"/>
                  <a:cs typeface="Tahoma"/>
                </a:endParaRPr>
              </a:p>
              <a:p>
                <a:pPr marL="76200">
                  <a:lnSpc>
                    <a:spcPct val="100000"/>
                  </a:lnSpc>
                </a:pPr>
                <a:r>
                  <a:rPr lang="en-MY" sz="1100" kern="1200" spc="10" dirty="0">
                    <a:solidFill>
                      <a:schemeClr val="tx1"/>
                    </a:solidFill>
                    <a:latin typeface="Tahoma"/>
                    <a:ea typeface="+mn-ea"/>
                    <a:cs typeface="Tahoma"/>
                  </a:rPr>
                  <a:t>Using marginal contributions, we get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67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69770"/>
                <a:ext cx="4002456" cy="1424749"/>
              </a:xfrm>
              <a:prstGeom prst="rect">
                <a:avLst/>
              </a:prstGeom>
              <a:blipFill>
                <a:blip r:embed="rId3"/>
                <a:stretch>
                  <a:fillRect l="-305" t="-429" b="-5579"/>
                </a:stretch>
              </a:blipFill>
            </p:spPr>
            <p:txBody>
              <a:bodyPr/>
              <a:lstStyle/>
              <a:p>
                <a:r>
                  <a:rPr lang="en-MY">
                    <a:noFill/>
                  </a:rPr>
                  <a:t> </a:t>
                </a:r>
              </a:p>
            </p:txBody>
          </p:sp>
        </mc:Fallback>
      </mc:AlternateContent>
      <p:pic>
        <p:nvPicPr>
          <p:cNvPr id="4" name="object 4"/>
          <p:cNvPicPr/>
          <p:nvPr/>
        </p:nvPicPr>
        <p:blipFill>
          <a:blip r:embed="rId4" cstate="print"/>
          <a:stretch>
            <a:fillRect/>
          </a:stretch>
        </p:blipFill>
        <p:spPr>
          <a:xfrm>
            <a:off x="871372" y="1913940"/>
            <a:ext cx="2875026" cy="1349502"/>
          </a:xfrm>
          <a:prstGeom prst="rect">
            <a:avLst/>
          </a:prstGeom>
        </p:spPr>
      </p:pic>
      <p:sp>
        <p:nvSpPr>
          <p:cNvPr id="5" name="Date Placeholder 3">
            <a:extLst>
              <a:ext uri="{FF2B5EF4-FFF2-40B4-BE49-F238E27FC236}">
                <a16:creationId xmlns:a16="http://schemas.microsoft.com/office/drawing/2014/main" id="{CD665C74-510B-4443-A526-D11FC0C9EEA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Footer Placeholder 5">
            <a:extLst>
              <a:ext uri="{FF2B5EF4-FFF2-40B4-BE49-F238E27FC236}">
                <a16:creationId xmlns:a16="http://schemas.microsoft.com/office/drawing/2014/main" id="{8AA996D0-76A6-4580-8E3E-DD33136ED49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7" name="Slide Number Placeholder 7">
            <a:extLst>
              <a:ext uri="{FF2B5EF4-FFF2-40B4-BE49-F238E27FC236}">
                <a16:creationId xmlns:a16="http://schemas.microsoft.com/office/drawing/2014/main" id="{2FAEFAB0-DFDC-46FD-8EFB-224BF96C685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877732-BCE2-ECFC-65CC-B499BBBE898A}"/>
                  </a:ext>
                </a:extLst>
              </p:cNvPr>
              <p:cNvSpPr txBox="1"/>
              <p:nvPr/>
            </p:nvSpPr>
            <p:spPr>
              <a:xfrm>
                <a:off x="3834372" y="2053858"/>
                <a:ext cx="773609" cy="1692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500" b="0" i="1" smtClean="0">
                          <a:latin typeface="Cambria Math" panose="02040503050406030204" pitchFamily="18" charset="0"/>
                        </a:rPr>
                        <m:t>𝑣</m:t>
                      </m:r>
                      <m:d>
                        <m:dPr>
                          <m:ctrlPr>
                            <a:rPr lang="en-US" sz="500" b="0" i="1" smtClean="0">
                              <a:latin typeface="Cambria Math" panose="02040503050406030204" pitchFamily="18" charset="0"/>
                            </a:rPr>
                          </m:ctrlPr>
                        </m:dPr>
                        <m:e>
                          <m:d>
                            <m:dPr>
                              <m:begChr m:val="{"/>
                              <m:endChr m:val="}"/>
                              <m:ctrlPr>
                                <a:rPr lang="en-US" sz="500" b="0" i="1" smtClean="0">
                                  <a:latin typeface="Cambria Math" panose="02040503050406030204" pitchFamily="18" charset="0"/>
                                </a:rPr>
                              </m:ctrlPr>
                            </m:dPr>
                            <m:e>
                              <m:r>
                                <a:rPr lang="en-US" sz="500" b="0" i="1" smtClean="0">
                                  <a:latin typeface="Cambria Math" panose="02040503050406030204" pitchFamily="18" charset="0"/>
                                </a:rPr>
                                <m:t>1</m:t>
                              </m:r>
                              <m:r>
                                <a:rPr lang="en-US" sz="500" b="0" i="1" smtClean="0">
                                  <a:latin typeface="Cambria Math" panose="02040503050406030204" pitchFamily="18" charset="0"/>
                                </a:rPr>
                                <m:t>,</m:t>
                              </m:r>
                              <m:r>
                                <a:rPr lang="en-US" sz="500" b="0" i="1" smtClean="0">
                                  <a:latin typeface="Cambria Math" panose="02040503050406030204" pitchFamily="18" charset="0"/>
                                </a:rPr>
                                <m:t>2</m:t>
                              </m:r>
                              <m:r>
                                <a:rPr lang="en-US" sz="500" b="0" i="1" smtClean="0">
                                  <a:latin typeface="Cambria Math" panose="02040503050406030204" pitchFamily="18" charset="0"/>
                                </a:rPr>
                                <m:t>,</m:t>
                              </m:r>
                              <m:r>
                                <a:rPr lang="en-US" sz="500" b="0" i="1" smtClean="0">
                                  <a:latin typeface="Cambria Math" panose="02040503050406030204" pitchFamily="18" charset="0"/>
                                </a:rPr>
                                <m:t>3</m:t>
                              </m:r>
                            </m:e>
                          </m:d>
                        </m:e>
                      </m:d>
                      <m:r>
                        <a:rPr lang="en-US" sz="500" b="0" i="1" smtClean="0">
                          <a:latin typeface="Cambria Math" panose="02040503050406030204" pitchFamily="18" charset="0"/>
                        </a:rPr>
                        <m:t>−</m:t>
                      </m:r>
                      <m:r>
                        <a:rPr lang="en-US" sz="500" b="0" i="1" smtClean="0">
                          <a:latin typeface="Cambria Math" panose="02040503050406030204" pitchFamily="18" charset="0"/>
                        </a:rPr>
                        <m:t>𝑣</m:t>
                      </m:r>
                      <m:d>
                        <m:dPr>
                          <m:ctrlPr>
                            <a:rPr lang="en-US" sz="500" b="0" i="1" smtClean="0">
                              <a:latin typeface="Cambria Math" panose="02040503050406030204" pitchFamily="18" charset="0"/>
                            </a:rPr>
                          </m:ctrlPr>
                        </m:dPr>
                        <m:e>
                          <m:d>
                            <m:dPr>
                              <m:begChr m:val="{"/>
                              <m:endChr m:val="}"/>
                              <m:ctrlPr>
                                <a:rPr lang="en-US" sz="500" b="0" i="1" smtClean="0">
                                  <a:latin typeface="Cambria Math" panose="02040503050406030204" pitchFamily="18" charset="0"/>
                                </a:rPr>
                              </m:ctrlPr>
                            </m:dPr>
                            <m:e>
                              <m:r>
                                <a:rPr lang="en-US" sz="500" b="0" i="1" smtClean="0">
                                  <a:latin typeface="Cambria Math" panose="02040503050406030204" pitchFamily="18" charset="0"/>
                                </a:rPr>
                                <m:t>1</m:t>
                              </m:r>
                              <m:r>
                                <a:rPr lang="en-US" sz="500" b="0" i="1" smtClean="0">
                                  <a:latin typeface="Cambria Math" panose="02040503050406030204" pitchFamily="18" charset="0"/>
                                </a:rPr>
                                <m:t>,</m:t>
                              </m:r>
                              <m:r>
                                <a:rPr lang="en-US" sz="500" b="0" i="1" smtClean="0">
                                  <a:latin typeface="Cambria Math" panose="02040503050406030204" pitchFamily="18" charset="0"/>
                                </a:rPr>
                                <m:t>2</m:t>
                              </m:r>
                            </m:e>
                          </m:d>
                        </m:e>
                      </m:d>
                    </m:oMath>
                  </m:oMathPara>
                </a14:m>
                <a:endParaRPr lang="en-MY" sz="500" dirty="0"/>
              </a:p>
            </p:txBody>
          </p:sp>
        </mc:Choice>
        <mc:Fallback xmlns="">
          <p:sp>
            <p:nvSpPr>
              <p:cNvPr id="8" name="TextBox 7">
                <a:extLst>
                  <a:ext uri="{FF2B5EF4-FFF2-40B4-BE49-F238E27FC236}">
                    <a16:creationId xmlns:a16="http://schemas.microsoft.com/office/drawing/2014/main" id="{51877732-BCE2-ECFC-65CC-B499BBBE898A}"/>
                  </a:ext>
                </a:extLst>
              </p:cNvPr>
              <p:cNvSpPr txBox="1">
                <a:spLocks noRot="1" noChangeAspect="1" noMove="1" noResize="1" noEditPoints="1" noAdjustHandles="1" noChangeArrowheads="1" noChangeShapeType="1" noTextEdit="1"/>
              </p:cNvSpPr>
              <p:nvPr/>
            </p:nvSpPr>
            <p:spPr>
              <a:xfrm>
                <a:off x="3834372" y="2053858"/>
                <a:ext cx="773609" cy="169277"/>
              </a:xfrm>
              <a:prstGeom prst="rect">
                <a:avLst/>
              </a:prstGeom>
              <a:blipFill>
                <a:blip r:embed="rId5"/>
                <a:stretch>
                  <a:fillRect/>
                </a:stretch>
              </a:blipFill>
            </p:spPr>
            <p:txBody>
              <a:bodyPr/>
              <a:lstStyle/>
              <a:p>
                <a:r>
                  <a:rPr lang="en-MY">
                    <a:noFill/>
                  </a:rPr>
                  <a:t> </a:t>
                </a:r>
              </a:p>
            </p:txBody>
          </p:sp>
        </mc:Fallback>
      </mc:AlternateContent>
      <p:cxnSp>
        <p:nvCxnSpPr>
          <p:cNvPr id="10" name="Straight Arrow Connector 9">
            <a:extLst>
              <a:ext uri="{FF2B5EF4-FFF2-40B4-BE49-F238E27FC236}">
                <a16:creationId xmlns:a16="http://schemas.microsoft.com/office/drawing/2014/main" id="{EF7E045F-871F-F7D2-EB82-68C0AA4366BE}"/>
              </a:ext>
            </a:extLst>
          </p:cNvPr>
          <p:cNvCxnSpPr>
            <a:cxnSpLocks/>
          </p:cNvCxnSpPr>
          <p:nvPr/>
        </p:nvCxnSpPr>
        <p:spPr>
          <a:xfrm flipH="1">
            <a:off x="3591337" y="2148289"/>
            <a:ext cx="3101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Exercise:</a:t>
            </a:r>
            <a:r>
              <a:rPr spc="290" dirty="0"/>
              <a:t> </a:t>
            </a:r>
            <a:r>
              <a:rPr dirty="0"/>
              <a:t>Computing</a:t>
            </a:r>
            <a:r>
              <a:rPr spc="140" dirty="0"/>
              <a:t> </a:t>
            </a:r>
            <a:r>
              <a:rPr dirty="0"/>
              <a:t>the</a:t>
            </a:r>
            <a:r>
              <a:rPr spc="145" dirty="0"/>
              <a:t> </a:t>
            </a:r>
            <a:r>
              <a:rPr dirty="0"/>
              <a:t>Shapley</a:t>
            </a:r>
            <a:r>
              <a:rPr spc="140" dirty="0"/>
              <a:t> </a:t>
            </a:r>
            <a:r>
              <a:rPr dirty="0"/>
              <a:t>values</a:t>
            </a:r>
            <a:r>
              <a:rPr spc="145" dirty="0"/>
              <a:t> </a:t>
            </a:r>
            <a:r>
              <a:rPr dirty="0"/>
              <a:t>of</a:t>
            </a:r>
            <a:r>
              <a:rPr spc="145" dirty="0"/>
              <a:t> </a:t>
            </a:r>
            <a:r>
              <a:rPr dirty="0"/>
              <a:t>a</a:t>
            </a:r>
            <a:r>
              <a:rPr spc="140" dirty="0"/>
              <a:t> </a:t>
            </a:r>
            <a:r>
              <a:rPr spc="-20" dirty="0"/>
              <a:t>game</a:t>
            </a:r>
          </a:p>
        </p:txBody>
      </p:sp>
      <mc:AlternateContent xmlns:mc="http://schemas.openxmlformats.org/markup-compatibility/2006" xmlns:a14="http://schemas.microsoft.com/office/drawing/2010/main">
        <mc:Choice Requires="a14">
          <p:sp>
            <p:nvSpPr>
              <p:cNvPr id="3" name="object 3"/>
              <p:cNvSpPr txBox="1"/>
              <p:nvPr/>
            </p:nvSpPr>
            <p:spPr>
              <a:xfrm>
                <a:off x="321894" y="1153361"/>
                <a:ext cx="4116756" cy="925253"/>
              </a:xfrm>
              <a:prstGeom prst="rect">
                <a:avLst/>
              </a:prstGeom>
            </p:spPr>
            <p:txBody>
              <a:bodyPr vert="horz" wrap="square" lIns="0" tIns="93345" rIns="0" bIns="0" rtlCol="0">
                <a:spAutoFit/>
              </a:bodyPr>
              <a:lstStyle/>
              <a:p>
                <a:pPr marL="38100">
                  <a:lnSpc>
                    <a:spcPct val="100000"/>
                  </a:lnSpc>
                  <a:spcBef>
                    <a:spcPts val="735"/>
                  </a:spcBef>
                </a:pPr>
                <a:r>
                  <a:rPr lang="en-MY" sz="1100" kern="1200" spc="10" dirty="0">
                    <a:solidFill>
                      <a:schemeClr val="tx1"/>
                    </a:solidFill>
                    <a:latin typeface="Tahoma"/>
                    <a:ea typeface="+mn-ea"/>
                    <a:cs typeface="Tahoma"/>
                  </a:rPr>
                  <a:t>Compute the Shapley values of all games in these slides using:</a:t>
                </a:r>
              </a:p>
              <a:p>
                <a:pPr marL="313055" indent="-175260">
                  <a:lnSpc>
                    <a:spcPct val="100000"/>
                  </a:lnSpc>
                  <a:spcBef>
                    <a:spcPts val="630"/>
                  </a:spcBef>
                  <a:buClr>
                    <a:srgbClr val="3333B2"/>
                  </a:buClr>
                  <a:buFont typeface="Arial"/>
                  <a:buChar char="►"/>
                  <a:tabLst>
                    <a:tab pos="313055" algn="l"/>
                  </a:tabLst>
                </a:pPr>
                <a:r>
                  <a:rPr lang="en-MY" sz="1100" kern="1200" spc="10" dirty="0">
                    <a:solidFill>
                      <a:schemeClr val="tx1"/>
                    </a:solidFill>
                    <a:latin typeface="Tahoma"/>
                    <a:ea typeface="+mn-ea"/>
                    <a:cs typeface="Tahoma"/>
                  </a:rPr>
                  <a:t>Marginal contributions</a:t>
                </a:r>
              </a:p>
              <a:p>
                <a:pPr marL="313055" indent="-175260">
                  <a:lnSpc>
                    <a:spcPct val="100000"/>
                  </a:lnSpc>
                  <a:spcBef>
                    <a:spcPts val="335"/>
                  </a:spcBef>
                  <a:buClr>
                    <a:srgbClr val="3333B2"/>
                  </a:buClr>
                  <a:buFont typeface="Arial"/>
                  <a:buChar char="►"/>
                  <a:tabLst>
                    <a:tab pos="313055" algn="l"/>
                  </a:tabLst>
                </a:pPr>
                <a:r>
                  <a:rPr lang="en-MY" sz="1100" kern="1200" spc="10" dirty="0">
                    <a:solidFill>
                      <a:schemeClr val="tx1"/>
                    </a:solidFill>
                    <a:latin typeface="Tahoma"/>
                    <a:ea typeface="+mn-ea"/>
                    <a:cs typeface="Tahoma"/>
                  </a:rPr>
                  <a:t>The formula </a:t>
                </a:r>
                <a14:m>
                  <m:oMath xmlns:m="http://schemas.openxmlformats.org/officeDocument/2006/math">
                    <m:sSub>
                      <m:sSubPr>
                        <m:ctrlPr>
                          <a:rPr lang="ar-SA" sz="1100" b="0" i="1" dirty="0" smtClean="0">
                            <a:latin typeface="Cambria Math" panose="02040503050406030204" pitchFamily="18" charset="0"/>
                          </a:rPr>
                        </m:ctrlPr>
                      </m:sSubPr>
                      <m:e>
                        <m:r>
                          <a:rPr lang="ar-SA" sz="1100" b="0" i="1" dirty="0" smtClean="0">
                            <a:latin typeface="Cambria Math" panose="02040503050406030204" pitchFamily="18" charset="0"/>
                          </a:rPr>
                          <m:t>𝜙</m:t>
                        </m:r>
                      </m:e>
                      <m:sub>
                        <m:r>
                          <a:rPr lang="ar-SA" sz="1100" b="0" i="1" dirty="0" smtClean="0">
                            <a:latin typeface="Cambria Math" panose="02040503050406030204" pitchFamily="18" charset="0"/>
                          </a:rPr>
                          <m:t>𝑖</m:t>
                        </m:r>
                      </m:sub>
                    </m:sSub>
                    <m:r>
                      <a:rPr lang="ar-SA" sz="1100" i="1" kern="1200" spc="10" dirty="0" smtClean="0">
                        <a:solidFill>
                          <a:schemeClr val="tx1"/>
                        </a:solidFill>
                        <a:latin typeface="Cambria Math" panose="02040503050406030204" pitchFamily="18" charset="0"/>
                        <a:ea typeface="+mn-ea"/>
                        <a:cs typeface="Tahoma"/>
                      </a:rPr>
                      <m:t>(</m:t>
                    </m:r>
                    <m:r>
                      <a:rPr lang="ar-SA" sz="1100" i="1" kern="1200" spc="10" dirty="0">
                        <a:solidFill>
                          <a:schemeClr val="tx1"/>
                        </a:solidFill>
                        <a:latin typeface="Cambria Math" panose="02040503050406030204" pitchFamily="18" charset="0"/>
                        <a:ea typeface="+mn-ea"/>
                        <a:cs typeface="Tahoma"/>
                      </a:rPr>
                      <m:t>𝑁</m:t>
                    </m:r>
                    <m:r>
                      <a:rPr lang="ar-SA" sz="1100" i="1" kern="1200" spc="10" dirty="0">
                        <a:solidFill>
                          <a:schemeClr val="tx1"/>
                        </a:solidFill>
                        <a:latin typeface="Cambria Math" panose="02040503050406030204" pitchFamily="18" charset="0"/>
                        <a:ea typeface="+mn-ea"/>
                        <a:cs typeface="Tahoma"/>
                      </a:rPr>
                      <m:t>, </m:t>
                    </m:r>
                    <m:r>
                      <a:rPr lang="ar-SA" sz="1100" i="1" kern="1200" spc="10" dirty="0">
                        <a:solidFill>
                          <a:schemeClr val="tx1"/>
                        </a:solidFill>
                        <a:latin typeface="Cambria Math" panose="02040503050406030204" pitchFamily="18" charset="0"/>
                        <a:ea typeface="+mn-ea"/>
                        <a:cs typeface="Tahoma"/>
                      </a:rPr>
                      <m:t>𝑣</m:t>
                    </m:r>
                    <m:r>
                      <a:rPr lang="ar-SA" sz="1100" i="1" kern="1200" spc="10" dirty="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for the Shapley value of a player</a:t>
                </a:r>
                <a:r>
                  <a:rPr lang="en-MY"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𝑖</m:t>
                    </m:r>
                  </m:oMath>
                </a14:m>
                <a:endParaRPr lang="en-MY" sz="1100" i="1" kern="1200" spc="10" dirty="0">
                  <a:solidFill>
                    <a:schemeClr val="tx1"/>
                  </a:solidFill>
                  <a:latin typeface="Tahoma"/>
                  <a:ea typeface="+mn-ea"/>
                  <a:cs typeface="Tahoma"/>
                </a:endParaRPr>
              </a:p>
              <a:p>
                <a:pPr marL="313055" indent="-175260">
                  <a:lnSpc>
                    <a:spcPct val="100000"/>
                  </a:lnSpc>
                  <a:spcBef>
                    <a:spcPts val="334"/>
                  </a:spcBef>
                  <a:buClr>
                    <a:srgbClr val="3333B2"/>
                  </a:buClr>
                  <a:buFont typeface="Arial"/>
                  <a:buChar char="►"/>
                  <a:tabLst>
                    <a:tab pos="313055" algn="l"/>
                  </a:tabLst>
                </a:pPr>
                <a:r>
                  <a:rPr lang="en-MY" sz="1100" kern="1200" spc="10" dirty="0">
                    <a:solidFill>
                      <a:schemeClr val="tx1"/>
                    </a:solidFill>
                    <a:latin typeface="Tahoma"/>
                    <a:ea typeface="+mn-ea"/>
                    <a:cs typeface="Tahoma"/>
                  </a:rPr>
                  <a:t>An online tool, e.g.: </a:t>
                </a:r>
                <a:r>
                  <a:rPr lang="en-MY" sz="1100" kern="1200" spc="10" dirty="0">
                    <a:solidFill>
                      <a:schemeClr val="tx1"/>
                    </a:solidFill>
                    <a:latin typeface="Tahoma"/>
                    <a:ea typeface="+mn-ea"/>
                    <a:cs typeface="Tahoma"/>
                    <a:hlinkClick r:id="rId3">
                      <a:extLst>
                        <a:ext uri="{A12FA001-AC4F-418D-AE19-62706E023703}">
                          <ahyp:hlinkClr xmlns:ahyp="http://schemas.microsoft.com/office/drawing/2018/hyperlinkcolor" val="tx"/>
                        </a:ext>
                      </a:extLst>
                    </a:hlinkClick>
                  </a:rPr>
                  <a:t>http://shapleyvalue.com/</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21894" y="1153361"/>
                <a:ext cx="4116756" cy="925253"/>
              </a:xfrm>
              <a:prstGeom prst="rect">
                <a:avLst/>
              </a:prstGeom>
              <a:blipFill>
                <a:blip r:embed="rId4"/>
                <a:stretch>
                  <a:fillRect l="-1333" b="-8553"/>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76E24E58-DDE0-437D-BE5A-5A1510F7CA3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68AF92B4-5A77-4C2A-92B3-9DDC7403D84F}"/>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E42FCBA1-BF6C-4565-8B26-0BC840958E3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300" y="59878"/>
            <a:ext cx="680720" cy="244475"/>
          </a:xfrm>
          <a:prstGeom prst="rect">
            <a:avLst/>
          </a:prstGeom>
        </p:spPr>
        <p:txBody>
          <a:bodyPr vert="horz" wrap="square" lIns="0" tIns="17145" rIns="0" bIns="0" rtlCol="0">
            <a:spAutoFit/>
          </a:bodyPr>
          <a:lstStyle/>
          <a:p>
            <a:pPr marL="12700">
              <a:lnSpc>
                <a:spcPct val="100000"/>
              </a:lnSpc>
              <a:spcBef>
                <a:spcPts val="135"/>
              </a:spcBef>
            </a:pPr>
            <a:r>
              <a:rPr spc="55" dirty="0"/>
              <a:t>The</a:t>
            </a:r>
            <a:r>
              <a:rPr spc="155" dirty="0"/>
              <a:t> </a:t>
            </a:r>
            <a:r>
              <a:rPr spc="-25" dirty="0"/>
              <a:t>core</a:t>
            </a:r>
          </a:p>
        </p:txBody>
      </p:sp>
      <mc:AlternateContent xmlns:mc="http://schemas.openxmlformats.org/markup-compatibility/2006" xmlns:a14="http://schemas.microsoft.com/office/drawing/2010/main">
        <mc:Choice Requires="a14">
          <p:sp>
            <p:nvSpPr>
              <p:cNvPr id="3" name="object 3"/>
              <p:cNvSpPr txBox="1"/>
              <p:nvPr/>
            </p:nvSpPr>
            <p:spPr>
              <a:xfrm>
                <a:off x="282294" y="523140"/>
                <a:ext cx="4232556" cy="2351027"/>
              </a:xfrm>
              <a:prstGeom prst="rect">
                <a:avLst/>
              </a:prstGeom>
            </p:spPr>
            <p:txBody>
              <a:bodyPr vert="horz" wrap="square" lIns="0" tIns="55244" rIns="0" bIns="0" rtlCol="0">
                <a:spAutoFit/>
              </a:bodyPr>
              <a:lstStyle/>
              <a:p>
                <a:pPr marL="238760" indent="-175260">
                  <a:lnSpc>
                    <a:spcPct val="100000"/>
                  </a:lnSpc>
                  <a:spcBef>
                    <a:spcPts val="434"/>
                  </a:spcBef>
                  <a:buClr>
                    <a:srgbClr val="3333B2"/>
                  </a:buClr>
                  <a:buFont typeface="Arial"/>
                  <a:buChar char="►"/>
                  <a:tabLst>
                    <a:tab pos="238760" algn="l"/>
                  </a:tabLst>
                </a:pPr>
                <a:r>
                  <a:rPr sz="1100" kern="1200" spc="10" dirty="0">
                    <a:solidFill>
                      <a:schemeClr val="tx1"/>
                    </a:solidFill>
                    <a:latin typeface="Tahoma"/>
                    <a:ea typeface="+mn-ea"/>
                    <a:cs typeface="Tahoma"/>
                  </a:rPr>
                  <a:t>The Shapley value is about fair division;</a:t>
                </a:r>
              </a:p>
              <a:p>
                <a:pPr marL="238760" indent="-175260">
                  <a:lnSpc>
                    <a:spcPct val="100000"/>
                  </a:lnSpc>
                  <a:spcBef>
                    <a:spcPts val="334"/>
                  </a:spcBef>
                  <a:buClr>
                    <a:srgbClr val="3333B2"/>
                  </a:buClr>
                  <a:buFont typeface="Arial"/>
                  <a:buChar char="►"/>
                  <a:tabLst>
                    <a:tab pos="238760" algn="l"/>
                  </a:tabLst>
                </a:pPr>
                <a:r>
                  <a:rPr sz="1100" kern="1200" spc="10" dirty="0">
                    <a:solidFill>
                      <a:schemeClr val="tx1"/>
                    </a:solidFill>
                    <a:latin typeface="Tahoma"/>
                    <a:ea typeface="+mn-ea"/>
                    <a:cs typeface="Tahoma"/>
                  </a:rPr>
                  <a:t>The core is about </a:t>
                </a:r>
                <a:r>
                  <a:rPr sz="1100" i="1" kern="1200" spc="10" dirty="0">
                    <a:solidFill>
                      <a:schemeClr val="tx1"/>
                    </a:solidFill>
                    <a:latin typeface="Tahoma"/>
                    <a:ea typeface="+mn-ea"/>
                    <a:cs typeface="Tahoma"/>
                  </a:rPr>
                  <a:t>stable coalition structures</a:t>
                </a:r>
              </a:p>
              <a:p>
                <a:pPr>
                  <a:lnSpc>
                    <a:spcPct val="100000"/>
                  </a:lnSpc>
                  <a:spcBef>
                    <a:spcPts val="420"/>
                  </a:spcBef>
                  <a:buClr>
                    <a:srgbClr val="3333B2"/>
                  </a:buClr>
                  <a:buFont typeface="Arial"/>
                  <a:buChar char="►"/>
                </a:pPr>
                <a:endParaRPr sz="1100" i="1" dirty="0">
                  <a:latin typeface="Arial"/>
                  <a:cs typeface="Arial"/>
                </a:endParaRPr>
              </a:p>
              <a:p>
                <a:pPr marL="1236345">
                  <a:lnSpc>
                    <a:spcPct val="100000"/>
                  </a:lnSpc>
                </a:pPr>
                <a:r>
                  <a:rPr sz="1100" i="1" kern="1200" spc="10" dirty="0">
                    <a:solidFill>
                      <a:schemeClr val="tx1"/>
                    </a:solidFill>
                    <a:latin typeface="Tahoma"/>
                    <a:ea typeface="+mn-ea"/>
                    <a:cs typeface="Tahoma"/>
                  </a:rPr>
                  <a:t>Which coalitions will form?</a:t>
                </a:r>
              </a:p>
              <a:p>
                <a:pPr marL="1243330">
                  <a:lnSpc>
                    <a:spcPct val="100000"/>
                  </a:lnSpc>
                  <a:spcBef>
                    <a:spcPts val="35"/>
                  </a:spcBef>
                </a:pPr>
                <a:r>
                  <a:rPr sz="1100" kern="1200" spc="10" dirty="0">
                    <a:solidFill>
                      <a:schemeClr val="tx1"/>
                    </a:solidFill>
                    <a:latin typeface="Tahoma"/>
                    <a:ea typeface="+mn-ea"/>
                    <a:cs typeface="Tahoma"/>
                  </a:rPr>
                  <a:t>(A question about stability)</a:t>
                </a:r>
              </a:p>
              <a:p>
                <a:pPr>
                  <a:lnSpc>
                    <a:spcPct val="100000"/>
                  </a:lnSpc>
                  <a:spcBef>
                    <a:spcPts val="325"/>
                  </a:spcBef>
                </a:pPr>
                <a:endParaRPr sz="1100" dirty="0">
                  <a:latin typeface="Tahoma"/>
                  <a:cs typeface="Tahoma"/>
                </a:endParaRPr>
              </a:p>
              <a:p>
                <a:pPr marL="238125" marR="43180" indent="-175260">
                  <a:lnSpc>
                    <a:spcPct val="102600"/>
                  </a:lnSpc>
                  <a:spcBef>
                    <a:spcPts val="5"/>
                  </a:spcBef>
                  <a:buClr>
                    <a:srgbClr val="3333B2"/>
                  </a:buClr>
                  <a:buFont typeface="Arial"/>
                  <a:buChar char="►"/>
                  <a:tabLst>
                    <a:tab pos="240029" algn="l"/>
                  </a:tabLst>
                </a:pPr>
                <a:r>
                  <a:rPr sz="1100" kern="1200" spc="10" dirty="0">
                    <a:solidFill>
                      <a:schemeClr val="tx1"/>
                    </a:solidFill>
                    <a:latin typeface="Tahoma"/>
                    <a:ea typeface="+mn-ea"/>
                    <a:cs typeface="Tahoma"/>
                  </a:rPr>
                  <a:t>Sometimes is better for an agent, or a group of agents </a:t>
                </a:r>
                <a14:m>
                  <m:oMath xmlns:m="http://schemas.openxmlformats.org/officeDocument/2006/math">
                    <m:r>
                      <a:rPr lang="en-MY" sz="1100" i="1" dirty="0" smtClean="0">
                        <a:latin typeface="Cambria Math" panose="02040503050406030204" pitchFamily="18" charset="0"/>
                        <a:cs typeface="Arial"/>
                      </a:rPr>
                      <m:t>𝐶</m:t>
                    </m:r>
                    <m:r>
                      <a:rPr lang="en-MY" sz="1100" i="1" spc="-50" dirty="0">
                        <a:latin typeface="Cambria Math" panose="02040503050406030204" pitchFamily="18" charset="0"/>
                        <a:cs typeface="Meiryo UI"/>
                      </a:rPr>
                      <m:t>⊂</m:t>
                    </m:r>
                    <m:r>
                      <a:rPr lang="en-MY" sz="1100" i="1" spc="-25" dirty="0">
                        <a:latin typeface="Cambria Math" panose="02040503050406030204" pitchFamily="18" charset="0"/>
                        <a:cs typeface="Arial"/>
                      </a:rPr>
                      <m:t>𝑁</m:t>
                    </m:r>
                  </m:oMath>
                </a14:m>
                <a:r>
                  <a:rPr sz="1100" spc="-25" dirty="0">
                    <a:latin typeface="Tahoma"/>
                    <a:cs typeface="Tahoma"/>
                  </a:rPr>
                  <a:t>,</a:t>
                </a:r>
                <a:r>
                  <a:rPr lang="en-MY" sz="1100" spc="-25" dirty="0">
                    <a:latin typeface="Tahoma"/>
                    <a:cs typeface="Tahoma"/>
                  </a:rPr>
                  <a:t>  </a:t>
                </a:r>
                <a:r>
                  <a:rPr sz="1100" spc="-25" dirty="0">
                    <a:latin typeface="Tahoma"/>
                    <a:cs typeface="Tahoma"/>
                  </a:rPr>
                  <a:t> 	</a:t>
                </a:r>
                <a:r>
                  <a:rPr sz="1100" kern="1200" spc="10" dirty="0">
                    <a:solidFill>
                      <a:schemeClr val="tx1"/>
                    </a:solidFill>
                    <a:latin typeface="Tahoma"/>
                    <a:ea typeface="+mn-ea"/>
                    <a:cs typeface="Tahoma"/>
                  </a:rPr>
                  <a:t>to form a coalition strictly smaller than the grand coalition </a:t>
                </a:r>
                <a:r>
                  <a:rPr sz="1100" i="1" spc="-25" dirty="0">
                    <a:latin typeface="Arial"/>
                    <a:cs typeface="Arial"/>
                  </a:rPr>
                  <a:t>N</a:t>
                </a:r>
                <a:r>
                  <a:rPr sz="1100" spc="-25" dirty="0">
                    <a:latin typeface="Tahoma"/>
                    <a:cs typeface="Tahoma"/>
                  </a:rPr>
                  <a:t>.</a:t>
                </a:r>
                <a:endParaRPr sz="1100" dirty="0">
                  <a:latin typeface="Tahoma"/>
                  <a:cs typeface="Tahoma"/>
                </a:endParaRPr>
              </a:p>
              <a:p>
                <a:pPr marL="238125" indent="-175260">
                  <a:lnSpc>
                    <a:spcPct val="100000"/>
                  </a:lnSpc>
                  <a:spcBef>
                    <a:spcPts val="330"/>
                  </a:spcBef>
                  <a:buClr>
                    <a:srgbClr val="3333B2"/>
                  </a:buClr>
                  <a:buFont typeface="Arial"/>
                  <a:buChar char="►"/>
                  <a:tabLst>
                    <a:tab pos="238125" algn="l"/>
                  </a:tabLst>
                </a:pPr>
                <a:r>
                  <a:rPr sz="1100" kern="1200" spc="10" dirty="0">
                    <a:solidFill>
                      <a:schemeClr val="tx1"/>
                    </a:solidFill>
                    <a:latin typeface="Tahoma"/>
                    <a:ea typeface="+mn-ea"/>
                    <a:cs typeface="Tahoma"/>
                  </a:rPr>
                  <a:t>E.g., think about the voting game and coalition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𝐴</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𝐵</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a:p>
                <a:pPr marL="238125" marR="84455" indent="-175260">
                  <a:lnSpc>
                    <a:spcPct val="102600"/>
                  </a:lnSpc>
                  <a:spcBef>
                    <a:spcPts val="300"/>
                  </a:spcBef>
                  <a:buClr>
                    <a:srgbClr val="3333B2"/>
                  </a:buClr>
                  <a:buFont typeface="Arial"/>
                  <a:buChar char="►"/>
                  <a:tabLst>
                    <a:tab pos="240029" algn="l"/>
                  </a:tabLst>
                </a:pPr>
                <a:r>
                  <a:rPr sz="1100" kern="1200" spc="10" dirty="0">
                    <a:solidFill>
                      <a:schemeClr val="tx1"/>
                    </a:solidFill>
                    <a:latin typeface="Tahoma"/>
                    <a:ea typeface="+mn-ea"/>
                    <a:cs typeface="Tahoma"/>
                  </a:rPr>
                  <a:t>Unlike the Shapley value, the core is a </a:t>
                </a:r>
                <a:r>
                  <a:rPr sz="1100" i="1" kern="1200" spc="10" dirty="0">
                    <a:solidFill>
                      <a:schemeClr val="tx1"/>
                    </a:solidFill>
                    <a:latin typeface="Tahoma"/>
                    <a:ea typeface="+mn-ea"/>
                    <a:cs typeface="Tahoma"/>
                  </a:rPr>
                  <a:t>set of outcomes </a:t>
                </a:r>
                <a:r>
                  <a:rPr sz="1100" kern="1200" spc="10" dirty="0">
                    <a:solidFill>
                      <a:schemeClr val="tx1"/>
                    </a:solidFill>
                    <a:latin typeface="Tahoma"/>
                    <a:ea typeface="+mn-ea"/>
                    <a:cs typeface="Tahoma"/>
                  </a:rPr>
                  <a:t>rather</a:t>
                </a:r>
                <a:r>
                  <a:rPr sz="1100" spc="-25" dirty="0">
                    <a:latin typeface="Tahoma"/>
                    <a:cs typeface="Tahoma"/>
                  </a:rPr>
                  <a:t> 	</a:t>
                </a:r>
                <a:r>
                  <a:rPr sz="1100" kern="1200" spc="10" dirty="0">
                    <a:solidFill>
                      <a:schemeClr val="tx1"/>
                    </a:solidFill>
                    <a:latin typeface="Tahoma"/>
                    <a:ea typeface="+mn-ea"/>
                    <a:cs typeface="Tahoma"/>
                  </a:rPr>
                  <a:t>than a single outcome, and may or may not exist!</a:t>
                </a:r>
              </a:p>
              <a:p>
                <a:pPr marL="238760" indent="-175260">
                  <a:lnSpc>
                    <a:spcPct val="100000"/>
                  </a:lnSpc>
                  <a:spcBef>
                    <a:spcPts val="335"/>
                  </a:spcBef>
                  <a:buClr>
                    <a:srgbClr val="3333B2"/>
                  </a:buClr>
                  <a:buFont typeface="Arial"/>
                  <a:buChar char="►"/>
                  <a:tabLst>
                    <a:tab pos="238760" algn="l"/>
                  </a:tabLst>
                </a:pPr>
                <a:r>
                  <a:rPr sz="1100" i="1" kern="1200" spc="10" dirty="0">
                    <a:solidFill>
                      <a:schemeClr val="tx1"/>
                    </a:solidFill>
                    <a:latin typeface="Tahoma"/>
                    <a:ea typeface="+mn-ea"/>
                    <a:cs typeface="Tahoma"/>
                  </a:rPr>
                  <a:t>Notation</a:t>
                </a:r>
                <a:r>
                  <a:rPr sz="1100" kern="1200" spc="10" dirty="0">
                    <a:solidFill>
                      <a:schemeClr val="tx1"/>
                    </a:solidFill>
                    <a:latin typeface="Tahoma"/>
                    <a:ea typeface="+mn-ea"/>
                    <a:cs typeface="Tahoma"/>
                  </a:rPr>
                  <a:t>: the core of a game</a:t>
                </a:r>
                <a:r>
                  <a:rPr sz="1100" i="1"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i="1" kern="1200" spc="10" dirty="0">
                    <a:solidFill>
                      <a:schemeClr val="tx1"/>
                    </a:solidFill>
                    <a:latin typeface="Tahoma"/>
                    <a:ea typeface="+mn-ea"/>
                    <a:cs typeface="Tahoma"/>
                  </a:rPr>
                  <a:t> </a:t>
                </a:r>
                <a:r>
                  <a:rPr sz="1100" kern="1200" spc="10" dirty="0">
                    <a:solidFill>
                      <a:schemeClr val="tx1"/>
                    </a:solidFill>
                    <a:latin typeface="Tahoma"/>
                    <a:ea typeface="+mn-ea"/>
                    <a:cs typeface="Tahoma"/>
                  </a:rPr>
                  <a:t>is the set denoted as </a:t>
                </a:r>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p:txBody>
          </p:sp>
        </mc:Choice>
        <mc:Fallback xmlns="">
          <p:sp>
            <p:nvSpPr>
              <p:cNvPr id="3" name="object 3"/>
              <p:cNvSpPr txBox="1">
                <a:spLocks noRot="1" noChangeAspect="1" noMove="1" noResize="1" noEditPoints="1" noAdjustHandles="1" noChangeArrowheads="1" noChangeShapeType="1" noTextEdit="1"/>
              </p:cNvSpPr>
              <p:nvPr/>
            </p:nvSpPr>
            <p:spPr>
              <a:xfrm>
                <a:off x="282294" y="523140"/>
                <a:ext cx="4232556" cy="2351027"/>
              </a:xfrm>
              <a:prstGeom prst="rect">
                <a:avLst/>
              </a:prstGeom>
              <a:blipFill>
                <a:blip r:embed="rId3"/>
                <a:stretch>
                  <a:fillRect l="-432" b="-2857"/>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7F5B85E-FADA-4474-B932-65968C14A15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A4C65267-DDBD-4EBF-88A5-520B285755AB}"/>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E82EBC2-15B7-4400-B7BE-2FC858B5576B}"/>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5" dirty="0"/>
              <a:t>The</a:t>
            </a:r>
            <a:r>
              <a:rPr spc="100" dirty="0"/>
              <a:t> </a:t>
            </a:r>
            <a:r>
              <a:rPr dirty="0"/>
              <a:t>core:</a:t>
            </a:r>
            <a:r>
              <a:rPr spc="235" dirty="0"/>
              <a:t> </a:t>
            </a:r>
            <a:r>
              <a:rPr spc="-10" dirty="0"/>
              <a:t>Definition</a:t>
            </a:r>
          </a:p>
        </p:txBody>
      </p:sp>
      <mc:AlternateContent xmlns:mc="http://schemas.openxmlformats.org/markup-compatibility/2006" xmlns:a14="http://schemas.microsoft.com/office/drawing/2010/main">
        <mc:Choice Requires="a14">
          <p:sp>
            <p:nvSpPr>
              <p:cNvPr id="3" name="object 3"/>
              <p:cNvSpPr txBox="1"/>
              <p:nvPr/>
            </p:nvSpPr>
            <p:spPr>
              <a:xfrm>
                <a:off x="396557" y="1078736"/>
                <a:ext cx="3965893" cy="1198149"/>
              </a:xfrm>
              <a:prstGeom prst="rect">
                <a:avLst/>
              </a:prstGeom>
            </p:spPr>
            <p:txBody>
              <a:bodyPr vert="horz" wrap="square" lIns="0" tIns="11430" rIns="0" bIns="0" rtlCol="0">
                <a:spAutoFit/>
              </a:bodyPr>
              <a:lstStyle/>
              <a:p>
                <a:pPr marL="175260" marR="16510" indent="-175260" algn="ctr">
                  <a:lnSpc>
                    <a:spcPct val="100000"/>
                  </a:lnSpc>
                  <a:spcBef>
                    <a:spcPts val="90"/>
                  </a:spcBef>
                  <a:buClr>
                    <a:srgbClr val="3333B2"/>
                  </a:buClr>
                  <a:buFont typeface="Arial"/>
                  <a:buChar char="►"/>
                  <a:tabLst>
                    <a:tab pos="175260" algn="l"/>
                  </a:tabLst>
                </a:pPr>
                <a:r>
                  <a:rPr lang="en-MY" sz="1100" kern="1200" spc="10" dirty="0">
                    <a:solidFill>
                      <a:schemeClr val="tx1"/>
                    </a:solidFill>
                    <a:latin typeface="Tahoma"/>
                    <a:ea typeface="+mn-ea"/>
                    <a:cs typeface="Tahoma"/>
                  </a:rPr>
                  <a:t>For a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the core is the set core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of outcomes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endParaRPr lang="en-MY" sz="1100" b="1" kern="1200" spc="10" dirty="0">
                  <a:solidFill>
                    <a:schemeClr val="tx1"/>
                  </a:solidFill>
                  <a:latin typeface="Tahoma"/>
                  <a:ea typeface="+mn-ea"/>
                  <a:cs typeface="Tahoma"/>
                </a:endParaRPr>
              </a:p>
              <a:p>
                <a:pPr marR="46355" algn="ctr">
                  <a:lnSpc>
                    <a:spcPct val="100000"/>
                  </a:lnSpc>
                  <a:spcBef>
                    <a:spcPts val="35"/>
                  </a:spcBef>
                </a:pPr>
                <a:r>
                  <a:rPr lang="en-MY" sz="1100" kern="1200" spc="10" dirty="0">
                    <a:solidFill>
                      <a:schemeClr val="tx1"/>
                    </a:solidFill>
                    <a:latin typeface="Tahoma"/>
                    <a:ea typeface="+mn-ea"/>
                    <a:cs typeface="Tahoma"/>
                  </a:rPr>
                  <a:t>satisfying both</a:t>
                </a:r>
                <a:r>
                  <a:rPr lang="el-GR" sz="1100" dirty="0">
                    <a:cs typeface="Tahoma"/>
                  </a:rPr>
                  <a:t> </a:t>
                </a:r>
                <a14:m>
                  <m:oMath xmlns:m="http://schemas.openxmlformats.org/officeDocument/2006/math">
                    <m:nary>
                      <m:naryPr>
                        <m:chr m:val="∑"/>
                        <m:supHide m:val="on"/>
                        <m:ctrlPr>
                          <a:rPr lang="en-MY" sz="1100" b="0" i="1" smtClean="0">
                            <a:latin typeface="Cambria Math" panose="02040503050406030204" pitchFamily="18" charset="0"/>
                            <a:cs typeface="Tahoma"/>
                          </a:rPr>
                        </m:ctrlPr>
                      </m:naryPr>
                      <m:sub>
                        <m:r>
                          <a:rPr lang="en-MY" sz="1100" b="0" i="1" smtClean="0">
                            <a:latin typeface="Cambria Math" panose="02040503050406030204" pitchFamily="18" charset="0"/>
                            <a:cs typeface="Tahoma"/>
                          </a:rPr>
                          <m:t>𝑖</m:t>
                        </m:r>
                        <m:r>
                          <a:rPr lang="en-MY" sz="1100" b="0" i="1" smtClean="0">
                            <a:latin typeface="Cambria Math" panose="02040503050406030204" pitchFamily="18" charset="0"/>
                            <a:cs typeface="Tahoma"/>
                          </a:rPr>
                          <m:t>∈</m:t>
                        </m:r>
                        <m:r>
                          <a:rPr lang="en-MY" sz="1100" b="0" i="1" smtClean="0">
                            <a:latin typeface="Cambria Math" panose="02040503050406030204" pitchFamily="18" charset="0"/>
                            <a:cs typeface="Tahoma"/>
                          </a:rPr>
                          <m:t>𝑁</m:t>
                        </m:r>
                      </m:sub>
                      <m:sup/>
                      <m:e>
                        <m:sSub>
                          <m:sSubPr>
                            <m:ctrlPr>
                              <a:rPr lang="en-MY" sz="1100" b="0" i="1" smtClean="0">
                                <a:latin typeface="Cambria Math" panose="02040503050406030204" pitchFamily="18" charset="0"/>
                                <a:cs typeface="Tahoma"/>
                              </a:rPr>
                            </m:ctrlPr>
                          </m:sSubPr>
                          <m:e>
                            <m:r>
                              <a:rPr lang="en-MY" sz="1100" b="1" i="1" smtClean="0">
                                <a:latin typeface="Cambria Math" panose="02040503050406030204" pitchFamily="18" charset="0"/>
                                <a:cs typeface="Tahoma"/>
                              </a:rPr>
                              <m:t>𝒙</m:t>
                            </m:r>
                          </m:e>
                          <m:sub>
                            <m:r>
                              <a:rPr lang="en-MY" sz="1100" b="0" i="1" smtClean="0">
                                <a:latin typeface="Cambria Math" panose="02040503050406030204" pitchFamily="18" charset="0"/>
                                <a:cs typeface="Tahoma"/>
                              </a:rPr>
                              <m:t>𝑖</m:t>
                            </m:r>
                          </m:sub>
                        </m:sSub>
                        <m:r>
                          <a:rPr lang="en-MY" sz="1100" b="0" i="1" smtClean="0">
                            <a:latin typeface="Cambria Math" panose="02040503050406030204" pitchFamily="18" charset="0"/>
                            <a:cs typeface="Tahoma"/>
                          </a:rPr>
                          <m:t>=</m:t>
                        </m:r>
                        <m:r>
                          <a:rPr lang="en-MY" sz="1100" b="0" i="1" smtClean="0">
                            <a:latin typeface="Cambria Math" panose="02040503050406030204" pitchFamily="18" charset="0"/>
                            <a:cs typeface="Tahoma"/>
                          </a:rPr>
                          <m:t>𝑣</m:t>
                        </m:r>
                        <m:d>
                          <m:dPr>
                            <m:ctrlPr>
                              <a:rPr lang="en-MY" sz="1100" b="0" i="1" smtClean="0">
                                <a:latin typeface="Cambria Math" panose="02040503050406030204" pitchFamily="18" charset="0"/>
                                <a:cs typeface="Tahoma"/>
                              </a:rPr>
                            </m:ctrlPr>
                          </m:dPr>
                          <m:e>
                            <m:r>
                              <a:rPr lang="en-MY" sz="1100" b="0" i="1" smtClean="0">
                                <a:latin typeface="Cambria Math" panose="02040503050406030204" pitchFamily="18" charset="0"/>
                                <a:cs typeface="Tahoma"/>
                              </a:rPr>
                              <m:t>𝑁</m:t>
                            </m:r>
                          </m:e>
                        </m:d>
                      </m:e>
                    </m:nary>
                  </m:oMath>
                </a14:m>
                <a:r>
                  <a:rPr lang="en-MY" sz="1100" kern="1200" spc="10" dirty="0">
                    <a:solidFill>
                      <a:schemeClr val="tx1"/>
                    </a:solidFill>
                    <a:latin typeface="Tahoma"/>
                    <a:ea typeface="+mn-ea"/>
                    <a:cs typeface="Tahoma"/>
                  </a:rPr>
                  <a:t> and for every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𝐶</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oMath>
                </a14:m>
                <a:r>
                  <a:rPr lang="en-MY" sz="1100" kern="1200" spc="10" dirty="0">
                    <a:solidFill>
                      <a:schemeClr val="tx1"/>
                    </a:solidFill>
                    <a:latin typeface="Tahoma"/>
                    <a:ea typeface="+mn-ea"/>
                    <a:cs typeface="Tahoma"/>
                  </a:rPr>
                  <a:t>:</a:t>
                </a:r>
              </a:p>
              <a:p>
                <a:pPr marL="1581785">
                  <a:lnSpc>
                    <a:spcPct val="100000"/>
                  </a:lnSpc>
                  <a:spcBef>
                    <a:spcPts val="1130"/>
                  </a:spcBef>
                </a:pPr>
                <a:r>
                  <a:rPr lang="en-MY" sz="1100" dirty="0">
                    <a:cs typeface="Tahoma"/>
                  </a:rPr>
                  <a:t> </a:t>
                </a:r>
                <a14:m>
                  <m:oMath xmlns:m="http://schemas.openxmlformats.org/officeDocument/2006/math">
                    <m:nary>
                      <m:naryPr>
                        <m:chr m:val="∑"/>
                        <m:limLoc m:val="subSup"/>
                        <m:supHide m:val="on"/>
                        <m:ctrlPr>
                          <a:rPr lang="ar-SA" sz="1100" i="1" dirty="0" smtClean="0">
                            <a:latin typeface="Cambria Math" panose="02040503050406030204" pitchFamily="18" charset="0"/>
                            <a:cs typeface="Tahoma"/>
                          </a:rPr>
                        </m:ctrlPr>
                      </m:naryPr>
                      <m:sub>
                        <m:r>
                          <m:rPr>
                            <m:brk m:alnAt="9"/>
                          </m:rPr>
                          <a:rPr lang="ar-SA" sz="1100" b="0" i="1" dirty="0" smtClean="0">
                            <a:latin typeface="Cambria Math" panose="02040503050406030204" pitchFamily="18" charset="0"/>
                            <a:cs typeface="Tahoma"/>
                          </a:rPr>
                          <m:t>𝑖</m:t>
                        </m:r>
                        <m:r>
                          <a:rPr lang="ar-SA" sz="1100" b="0" i="1" dirty="0" smtClean="0">
                            <a:latin typeface="Cambria Math" panose="02040503050406030204" pitchFamily="18" charset="0"/>
                            <a:cs typeface="Tahoma"/>
                          </a:rPr>
                          <m:t>∈</m:t>
                        </m:r>
                        <m:r>
                          <a:rPr lang="en-MY" sz="1100" b="0" i="1" dirty="0" smtClean="0">
                            <a:latin typeface="Cambria Math" panose="02040503050406030204" pitchFamily="18" charset="0"/>
                            <a:cs typeface="Tahoma"/>
                          </a:rPr>
                          <m:t>𝐶</m:t>
                        </m:r>
                      </m:sub>
                      <m:sup/>
                      <m:e>
                        <m:sSub>
                          <m:sSubPr>
                            <m:ctrlPr>
                              <a:rPr lang="ar-SA" sz="1100" i="1"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𝒙</m:t>
                            </m:r>
                          </m:e>
                          <m:sub>
                            <m:r>
                              <m:rPr>
                                <m:sty m:val="p"/>
                              </m:rPr>
                              <a:rPr lang="en-MY" sz="1100" kern="1200" spc="10" dirty="0">
                                <a:solidFill>
                                  <a:schemeClr val="tx1"/>
                                </a:solidFill>
                                <a:latin typeface="Cambria Math" panose="02040503050406030204" pitchFamily="18" charset="0"/>
                                <a:cs typeface="Tahoma"/>
                              </a:rPr>
                              <m:t>i</m:t>
                            </m:r>
                            <m:r>
                              <a:rPr lang="en-MY" sz="1100" kern="1200" spc="10" dirty="0">
                                <a:solidFill>
                                  <a:schemeClr val="tx1"/>
                                </a:solidFill>
                                <a:latin typeface="Cambria Math" panose="02040503050406030204" pitchFamily="18" charset="0"/>
                                <a:cs typeface="Tahoma"/>
                              </a:rPr>
                              <m:t> </m:t>
                            </m:r>
                          </m:sub>
                        </m:sSub>
                        <m:r>
                          <a:rPr lang="ar-SA" sz="1100" i="1" spc="-50" dirty="0" smtClean="0">
                            <a:latin typeface="Cambria Math" panose="02040503050406030204" pitchFamily="18" charset="0"/>
                            <a:cs typeface="Meiryo UI"/>
                          </a:rPr>
                          <m:t>≥</m:t>
                        </m:r>
                        <m:r>
                          <a:rPr lang="ar-SA" sz="1100" i="1" spc="-60" dirty="0" smtClean="0">
                            <a:latin typeface="Cambria Math" panose="02040503050406030204" pitchFamily="18" charset="0"/>
                            <a:cs typeface="Meiryo UI"/>
                          </a:rPr>
                          <m:t> </m:t>
                        </m:r>
                        <m:r>
                          <a:rPr lang="ar-SA" sz="1100" i="1" spc="-55" dirty="0" smtClean="0">
                            <a:latin typeface="Cambria Math" panose="02040503050406030204" pitchFamily="18" charset="0"/>
                            <a:cs typeface="Arial"/>
                          </a:rPr>
                          <m:t>𝑣</m:t>
                        </m:r>
                        <m:r>
                          <a:rPr lang="ar-SA" sz="1100" i="1" spc="-190" dirty="0" smtClean="0">
                            <a:latin typeface="Cambria Math" panose="02040503050406030204" pitchFamily="18" charset="0"/>
                            <a:cs typeface="Arial"/>
                          </a:rPr>
                          <m:t> </m:t>
                        </m:r>
                        <m:r>
                          <a:rPr lang="ar-SA" sz="1100" i="1" spc="-60" dirty="0" smtClean="0">
                            <a:latin typeface="Cambria Math" panose="02040503050406030204" pitchFamily="18" charset="0"/>
                            <a:cs typeface="Tahoma"/>
                          </a:rPr>
                          <m:t>(</m:t>
                        </m:r>
                        <m:r>
                          <a:rPr lang="ar-SA" sz="1100" i="1" spc="-60" dirty="0" smtClean="0">
                            <a:latin typeface="Cambria Math" panose="02040503050406030204" pitchFamily="18" charset="0"/>
                            <a:cs typeface="Arial"/>
                          </a:rPr>
                          <m:t>𝐶</m:t>
                        </m:r>
                        <m:r>
                          <a:rPr lang="ar-SA" sz="1100" i="1" spc="-170" dirty="0" smtClean="0">
                            <a:latin typeface="Cambria Math" panose="02040503050406030204" pitchFamily="18" charset="0"/>
                            <a:cs typeface="Arial"/>
                          </a:rPr>
                          <m:t> </m:t>
                        </m:r>
                        <m:r>
                          <a:rPr lang="ar-SA" sz="1100" i="1" spc="-50" dirty="0" smtClean="0">
                            <a:latin typeface="Cambria Math" panose="02040503050406030204" pitchFamily="18" charset="0"/>
                            <a:cs typeface="Tahoma"/>
                          </a:rPr>
                          <m:t>)</m:t>
                        </m:r>
                        <m:r>
                          <m:rPr>
                            <m:nor/>
                          </m:rPr>
                          <a:rPr lang="ar-SA" sz="1100" dirty="0">
                            <a:latin typeface="Tahoma"/>
                            <a:cs typeface="Tahoma"/>
                          </a:rPr>
                          <m:t> </m:t>
                        </m:r>
                      </m:e>
                    </m:nary>
                  </m:oMath>
                </a14:m>
                <a:endParaRPr lang="ar-SA" sz="1100" dirty="0">
                  <a:latin typeface="Tahoma"/>
                  <a:cs typeface="Tahoma"/>
                </a:endParaRPr>
              </a:p>
              <a:p>
                <a:pPr>
                  <a:lnSpc>
                    <a:spcPct val="100000"/>
                  </a:lnSpc>
                  <a:spcBef>
                    <a:spcPts val="95"/>
                  </a:spcBef>
                </a:pPr>
                <a:endParaRPr lang="ar-SA" sz="1100" dirty="0">
                  <a:latin typeface="Tahoma"/>
                  <a:cs typeface="Tahoma"/>
                </a:endParaRPr>
              </a:p>
              <a:p>
                <a:pPr marL="238125" marR="17780" indent="-175260">
                  <a:lnSpc>
                    <a:spcPct val="102600"/>
                  </a:lnSpc>
                  <a:buClr>
                    <a:srgbClr val="3333B2"/>
                  </a:buClr>
                  <a:buFont typeface="Arial"/>
                  <a:buChar char="►"/>
                  <a:tabLst>
                    <a:tab pos="240029" algn="l"/>
                  </a:tabLst>
                </a:pPr>
                <a:r>
                  <a:rPr lang="en-MY" sz="1100" kern="1200" spc="10" dirty="0">
                    <a:solidFill>
                      <a:schemeClr val="tx1"/>
                    </a:solidFill>
                    <a:latin typeface="Tahoma"/>
                    <a:ea typeface="+mn-ea"/>
                    <a:cs typeface="Tahoma"/>
                  </a:rPr>
                  <a:t>An element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oMath>
                </a14:m>
                <a:r>
                  <a:rPr lang="en-MY" sz="1100" kern="1200" spc="10" dirty="0">
                    <a:solidFill>
                      <a:schemeClr val="tx1"/>
                    </a:solidFill>
                    <a:latin typeface="Tahoma"/>
                    <a:ea typeface="+mn-ea"/>
                    <a:cs typeface="Tahoma"/>
                  </a:rPr>
                  <a:t> of the core, when it exists, is an </a:t>
                </a:r>
                <a:r>
                  <a:rPr lang="en-MY" sz="1100" i="1" kern="1200" spc="10" dirty="0">
                    <a:solidFill>
                      <a:schemeClr val="tx1"/>
                    </a:solidFill>
                    <a:latin typeface="Tahoma"/>
                    <a:ea typeface="+mn-ea"/>
                    <a:cs typeface="Tahoma"/>
                  </a:rPr>
                  <a:t>imputation</a:t>
                </a:r>
                <a:r>
                  <a:rPr lang="en-MY" sz="1100" kern="1200" spc="10" dirty="0">
                    <a:solidFill>
                      <a:schemeClr val="tx1"/>
                    </a:solidFill>
                    <a:latin typeface="Tahoma"/>
                    <a:ea typeface="+mn-ea"/>
                    <a:cs typeface="Tahoma"/>
                  </a:rPr>
                  <a:t>, 	thus, it is an</a:t>
                </a:r>
                <a:r>
                  <a:rPr lang="en-MY" sz="1100" i="1" kern="1200" spc="10" dirty="0">
                    <a:solidFill>
                      <a:schemeClr val="tx1"/>
                    </a:solidFill>
                    <a:latin typeface="Tahoma"/>
                    <a:ea typeface="+mn-ea"/>
                    <a:cs typeface="Tahoma"/>
                  </a:rPr>
                  <a:t> efficient </a:t>
                </a:r>
                <a:r>
                  <a:rPr lang="en-MY" sz="1100" kern="1200" spc="10" dirty="0">
                    <a:solidFill>
                      <a:schemeClr val="tx1"/>
                    </a:solidFill>
                    <a:latin typeface="Tahoma"/>
                    <a:ea typeface="+mn-ea"/>
                    <a:cs typeface="Tahoma"/>
                  </a:rPr>
                  <a:t>and </a:t>
                </a:r>
                <a:r>
                  <a:rPr lang="en-MY" sz="1100" i="1" kern="1200" spc="10" dirty="0">
                    <a:solidFill>
                      <a:schemeClr val="tx1"/>
                    </a:solidFill>
                    <a:latin typeface="Tahoma"/>
                    <a:ea typeface="+mn-ea"/>
                    <a:cs typeface="Tahoma"/>
                  </a:rPr>
                  <a:t>individually rational</a:t>
                </a:r>
                <a:r>
                  <a:rPr lang="en-MY" sz="1100" kern="1200" spc="10" dirty="0">
                    <a:solidFill>
                      <a:schemeClr val="tx1"/>
                    </a:solidFill>
                    <a:latin typeface="Tahoma"/>
                    <a:ea typeface="+mn-ea"/>
                    <a:cs typeface="Tahoma"/>
                  </a:rPr>
                  <a:t> outcome.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96557" y="1078736"/>
                <a:ext cx="3965893" cy="1198149"/>
              </a:xfrm>
              <a:prstGeom prst="rect">
                <a:avLst/>
              </a:prstGeom>
              <a:blipFill>
                <a:blip r:embed="rId3"/>
                <a:stretch>
                  <a:fillRect l="-461" t="-9645" r="-1690" b="-4569"/>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D3759B55-4822-488A-BF08-9AE9B5005C81}"/>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06C56A4A-A49F-4028-800D-D6517A03D19A}"/>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DD944F0D-FF39-408C-ADD1-51065525F5E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29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355282" y="393520"/>
                <a:ext cx="4616768" cy="1309333"/>
              </a:xfrm>
              <a:prstGeom prst="rect">
                <a:avLst/>
              </a:prstGeom>
            </p:spPr>
            <p:txBody>
              <a:bodyPr vert="horz" wrap="square" lIns="0" tIns="34290" rIns="0" bIns="0" rtlCol="0">
                <a:spAutoFit/>
              </a:bodyPr>
              <a:lstStyle/>
              <a:p>
                <a:pPr marL="76200">
                  <a:lnSpc>
                    <a:spcPct val="100000"/>
                  </a:lnSpc>
                  <a:spcBef>
                    <a:spcPts val="270"/>
                  </a:spcBef>
                </a:pPr>
                <a:r>
                  <a:rPr lang="en-MY" sz="1100" kern="1200" spc="10" dirty="0">
                    <a:solidFill>
                      <a:schemeClr val="tx1"/>
                    </a:solidFill>
                    <a:latin typeface="Tahoma"/>
                    <a:ea typeface="+mn-ea"/>
                    <a:cs typeface="Tahoma"/>
                  </a:rPr>
                  <a:t>Is the core of the following (superadditive)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r>
                      <a:rPr lang="en-MY" sz="1100" i="1" kern="1200" spc="10" dirty="0" smtClean="0">
                        <a:solidFill>
                          <a:schemeClr val="tx1"/>
                        </a:solidFill>
                        <a:latin typeface="Cambria Math" panose="02040503050406030204" pitchFamily="18" charset="0"/>
                        <a:ea typeface="+mn-ea"/>
                        <a:cs typeface="Tahoma"/>
                      </a:rPr>
                      <m:t> </m:t>
                    </m:r>
                  </m:oMath>
                </a14:m>
                <a:r>
                  <a:rPr lang="en-MY" sz="1100" kern="1200" spc="10" dirty="0">
                    <a:solidFill>
                      <a:schemeClr val="tx1"/>
                    </a:solidFill>
                    <a:latin typeface="Tahoma"/>
                    <a:ea typeface="+mn-ea"/>
                    <a:cs typeface="Tahoma"/>
                  </a:rPr>
                  <a:t>not empty?</a:t>
                </a:r>
              </a:p>
              <a:p>
                <a:pPr marL="351155" indent="-175260">
                  <a:lnSpc>
                    <a:spcPct val="100000"/>
                  </a:lnSpc>
                  <a:spcBef>
                    <a:spcPts val="170"/>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indent="-175260">
                  <a:lnSpc>
                    <a:spcPct val="100000"/>
                  </a:lnSpc>
                  <a:spcBef>
                    <a:spcPts val="140"/>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ar-SA" sz="1100" dirty="0">
                    <a:latin typeface="Tahoma"/>
                    <a:cs typeface="Tahoma"/>
                  </a:rPr>
                  <a:t> </a:t>
                </a:r>
              </a:p>
              <a:p>
                <a:pPr marL="353060">
                  <a:lnSpc>
                    <a:spcPct val="100000"/>
                  </a:lnSpc>
                  <a:spcBef>
                    <a:spcPts val="135"/>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5</m:t>
                    </m:r>
                  </m:oMath>
                </a14:m>
                <a:r>
                  <a:rPr lang="ar-SA" sz="1100" dirty="0">
                    <a:latin typeface="Tahoma"/>
                    <a:cs typeface="Tahoma"/>
                  </a:rPr>
                  <a:t> </a:t>
                </a:r>
              </a:p>
              <a:p>
                <a:pPr marL="353060">
                  <a:lnSpc>
                    <a:spcPct val="100000"/>
                  </a:lnSpc>
                  <a:spcBef>
                    <a:spcPts val="14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6</m:t>
                    </m:r>
                  </m:oMath>
                </a14:m>
                <a:r>
                  <a:rPr lang="ar-SA" sz="1100" dirty="0">
                    <a:latin typeface="Tahoma"/>
                    <a:cs typeface="Tahoma"/>
                  </a:rPr>
                  <a:t> </a:t>
                </a:r>
              </a:p>
              <a:p>
                <a:pPr>
                  <a:lnSpc>
                    <a:spcPct val="100000"/>
                  </a:lnSpc>
                  <a:spcBef>
                    <a:spcPts val="195"/>
                  </a:spcBef>
                </a:pPr>
                <a:endParaRPr lang="ar-SA" sz="1100" kern="1200" spc="10" dirty="0">
                  <a:solidFill>
                    <a:schemeClr val="tx1"/>
                  </a:solidFill>
                  <a:latin typeface="Tahoma"/>
                  <a:ea typeface="+mn-ea"/>
                  <a:cs typeface="Tahoma"/>
                </a:endParaRPr>
              </a:p>
              <a:p>
                <a:pPr marL="76200">
                  <a:lnSpc>
                    <a:spcPct val="100000"/>
                  </a:lnSpc>
                  <a:spcBef>
                    <a:spcPts val="5"/>
                  </a:spcBef>
                </a:pPr>
                <a:r>
                  <a:rPr lang="en-MY" sz="1100" kern="1200" spc="10" dirty="0">
                    <a:solidFill>
                      <a:schemeClr val="tx1"/>
                    </a:solidFill>
                    <a:latin typeface="Tahoma"/>
                    <a:ea typeface="+mn-ea"/>
                    <a:cs typeface="Tahoma"/>
                  </a:rPr>
                  <a:t>The core is not empty iff there is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𝑥</m:t>
                    </m:r>
                  </m:oMath>
                </a14:m>
                <a:r>
                  <a:rPr lang="en-MY" sz="1100" kern="1200" spc="10" dirty="0">
                    <a:solidFill>
                      <a:schemeClr val="tx1"/>
                    </a:solidFill>
                    <a:latin typeface="Tahoma"/>
                    <a:ea typeface="+mn-ea"/>
                    <a:cs typeface="Tahoma"/>
                  </a:rPr>
                  <a:t>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355282" y="393520"/>
                <a:ext cx="4616768" cy="1309333"/>
              </a:xfrm>
              <a:prstGeom prst="rect">
                <a:avLst/>
              </a:prstGeom>
              <a:blipFill>
                <a:blip r:embed="rId3"/>
                <a:stretch>
                  <a:fillRect l="-132" t="-1402" b="-6075"/>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5" name="object 5"/>
              <p:cNvSpPr txBox="1"/>
              <p:nvPr/>
            </p:nvSpPr>
            <p:spPr>
              <a:xfrm>
                <a:off x="400050" y="2919822"/>
                <a:ext cx="4343399" cy="382156"/>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sz="1100" kern="1200" spc="10" dirty="0">
                    <a:solidFill>
                      <a:schemeClr val="tx1"/>
                    </a:solidFill>
                    <a:latin typeface="Tahoma"/>
                    <a:ea typeface="+mn-ea"/>
                    <a:cs typeface="Tahoma"/>
                  </a:rPr>
                  <a:t>The core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 not empty: e.g., </a:t>
                </a:r>
                <a14:m>
                  <m:oMath xmlns:m="http://schemas.openxmlformats.org/officeDocument/2006/math">
                    <m:r>
                      <a:rPr lang="en-MY" sz="1100" b="1" i="1" kern="1200" spc="10" dirty="0" smtClean="0">
                        <a:solidFill>
                          <a:schemeClr val="tx1"/>
                        </a:solidFill>
                        <a:latin typeface="Cambria Math" panose="02040503050406030204" pitchFamily="18" charset="0"/>
                        <a:ea typeface="+mn-ea"/>
                        <a:cs typeface="Tahoma"/>
                      </a:rPr>
                      <m:t>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oMath>
                </a14:m>
                <a:r>
                  <a:rPr sz="1100" kern="1200" spc="10" dirty="0">
                    <a:solidFill>
                      <a:schemeClr val="tx1"/>
                    </a:solidFill>
                    <a:latin typeface="Tahoma"/>
                    <a:ea typeface="+mn-ea"/>
                    <a:cs typeface="Tahoma"/>
                  </a:rPr>
                  <a:t> </a:t>
                </a:r>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a:p>
                <a:pPr marL="213360" indent="-175260">
                  <a:lnSpc>
                    <a:spcPct val="100000"/>
                  </a:lnSpc>
                  <a:spcBef>
                    <a:spcPts val="135"/>
                  </a:spcBef>
                  <a:buClr>
                    <a:srgbClr val="3333B2"/>
                  </a:buClr>
                  <a:buFont typeface="Arial"/>
                  <a:buChar char="►"/>
                  <a:tabLst>
                    <a:tab pos="213360" algn="l"/>
                  </a:tabLst>
                </a:pPr>
                <a:r>
                  <a:rPr sz="1100" kern="1200" spc="10" dirty="0">
                    <a:solidFill>
                      <a:schemeClr val="tx1"/>
                    </a:solidFill>
                    <a:latin typeface="Tahoma"/>
                    <a:ea typeface="+mn-ea"/>
                    <a:cs typeface="Tahoma"/>
                  </a:rPr>
                  <a:t>Note that the Shapley value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Cambria Math" panose="02040503050406030204" pitchFamily="18" charset="0"/>
                        <a:cs typeface="Tahoma"/>
                      </a:rPr>
                      <m:t>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xmlns="">
          <p:sp>
            <p:nvSpPr>
              <p:cNvPr id="5" name="object 5"/>
              <p:cNvSpPr txBox="1">
                <a:spLocks noRot="1" noChangeAspect="1" noMove="1" noResize="1" noEditPoints="1" noAdjustHandles="1" noChangeArrowheads="1" noChangeShapeType="1" noTextEdit="1"/>
              </p:cNvSpPr>
              <p:nvPr/>
            </p:nvSpPr>
            <p:spPr>
              <a:xfrm>
                <a:off x="400050" y="2919822"/>
                <a:ext cx="4343399" cy="382156"/>
              </a:xfrm>
              <a:prstGeom prst="rect">
                <a:avLst/>
              </a:prstGeom>
              <a:blipFill>
                <a:blip r:embed="rId4"/>
                <a:stretch>
                  <a:fillRect l="-1124" t="-6349" b="-20635"/>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1467472C-0F95-411E-98CD-64765273B008}"/>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8839E0B9-CAB0-46D1-9ECD-A9258604EA53}"/>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B42DC750-C8C2-400B-ABC9-BD3CDC834DF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mc:Choice xmlns:a14="http://schemas.microsoft.com/office/drawing/2010/main" Requires="a14">
          <p:graphicFrame>
            <p:nvGraphicFramePr>
              <p:cNvPr id="9" name="object 4">
                <a:extLst>
                  <a:ext uri="{FF2B5EF4-FFF2-40B4-BE49-F238E27FC236}">
                    <a16:creationId xmlns:a16="http://schemas.microsoft.com/office/drawing/2014/main" id="{0CEAF341-7515-4EEC-B1AD-3E07C903F047}"/>
                  </a:ext>
                </a:extLst>
              </p:cNvPr>
              <p:cNvGraphicFramePr>
                <a:graphicFrameLocks noGrp="1"/>
              </p:cNvGraphicFramePr>
              <p:nvPr>
                <p:extLst>
                  <p:ext uri="{D42A27DB-BD31-4B8C-83A1-F6EECF244321}">
                    <p14:modId xmlns:p14="http://schemas.microsoft.com/office/powerpoint/2010/main" val="1818322802"/>
                  </p:ext>
                </p:extLst>
              </p:nvPr>
            </p:nvGraphicFramePr>
            <p:xfrm>
              <a:off x="552450" y="1706055"/>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07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3</m:t>
                              </m:r>
                            </m:oMath>
                          </a14:m>
                          <a:r>
                            <a:rPr lang="en-MY" sz="1100" dirty="0">
                              <a:latin typeface="Tahoma"/>
                              <a:cs typeface="Tahoma"/>
                            </a:rPr>
                            <a:t> </a:t>
                          </a: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4</m:t>
                              </m:r>
                            </m:oMath>
                          </a14:m>
                          <a:r>
                            <a:rPr lang="en-MY" sz="1100" dirty="0">
                              <a:latin typeface="Tahoma"/>
                              <a:cs typeface="Tahoma"/>
                            </a:rPr>
                            <a:t> </a:t>
                          </a: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 xmlns:m="http://schemas.openxmlformats.org/officeDocument/2006/math">
                              <m:sSub>
                                <m:sSubPr>
                                  <m:ctrlPr>
                                    <a:rPr lang="en-US" sz="1100" b="1"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5</m:t>
                              </m:r>
                            </m:oMath>
                          </a14:m>
                          <a:r>
                            <a:rPr lang="en-MY" sz="1100" dirty="0">
                              <a:latin typeface="Tahoma"/>
                              <a:cs typeface="Tahoma"/>
                            </a:rPr>
                            <a:t> </a:t>
                          </a: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sSub>
                                  <m:sSubPr>
                                    <m:ctrlPr>
                                      <a:rPr lang="en-US" sz="1100" b="0" i="1" dirty="0" smtClean="0">
                                        <a:latin typeface="Cambria Math" panose="02040503050406030204" pitchFamily="18" charset="0"/>
                                        <a:cs typeface="Arial"/>
                                      </a:rPr>
                                    </m:ctrlPr>
                                  </m:sSubPr>
                                  <m:e>
                                    <m:r>
                                      <a:rPr lang="en-MY" sz="1100" b="1" i="1" dirty="0" smtClean="0">
                                        <a:latin typeface="Cambria Math" panose="02040503050406030204" pitchFamily="18" charset="0"/>
                                        <a:cs typeface="Arial"/>
                                      </a:rPr>
                                      <m:t>𝒙</m:t>
                                    </m:r>
                                  </m:e>
                                  <m:sub>
                                    <m:r>
                                      <a:rPr lang="en-MY" sz="1200" i="1" baseline="-10416" dirty="0">
                                        <a:latin typeface="Cambria Math" panose="02040503050406030204" pitchFamily="18" charset="0"/>
                                        <a:cs typeface="Arial"/>
                                      </a:rPr>
                                      <m:t>1</m:t>
                                    </m:r>
                                  </m:sub>
                                </m:sSub>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2</m:t>
                                    </m:r>
                                  </m:sub>
                                </m:sSub>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sSub>
                                  <m:sSubPr>
                                    <m:ctrlPr>
                                      <a:rPr lang="en-US" sz="1100" b="1" i="1" dirty="0" smtClean="0">
                                        <a:latin typeface="Cambria Math" panose="02040503050406030204" pitchFamily="18" charset="0"/>
                                        <a:cs typeface="Arial"/>
                                      </a:rPr>
                                    </m:ctrlPr>
                                  </m:sSubPr>
                                  <m:e>
                                    <m:r>
                                      <a:rPr lang="en-MY" sz="1100" b="1" i="1" dirty="0">
                                        <a:latin typeface="Cambria Math" panose="02040503050406030204" pitchFamily="18" charset="0"/>
                                        <a:cs typeface="Arial"/>
                                      </a:rPr>
                                      <m:t>𝒙</m:t>
                                    </m:r>
                                  </m:e>
                                  <m:sub>
                                    <m:r>
                                      <a:rPr lang="en-MY" sz="1200" i="1" baseline="-10416" dirty="0">
                                        <a:latin typeface="Cambria Math" panose="02040503050406030204" pitchFamily="18" charset="0"/>
                                        <a:cs typeface="Arial"/>
                                      </a:rPr>
                                      <m:t>3</m:t>
                                    </m:r>
                                  </m:sub>
                                </m:sSub>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b="0" i="1" spc="-70" dirty="0" smtClean="0">
                                    <a:latin typeface="Cambria Math" panose="02040503050406030204" pitchFamily="18" charset="0"/>
                                    <a:cs typeface="Tahoma"/>
                                  </a:rPr>
                                  <m:t>6</m:t>
                                </m:r>
                              </m:oMath>
                            </m:oMathPara>
                          </a14:m>
                          <a:endParaRPr lang="en-MY"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p:graphicFrame>
            <p:nvGraphicFramePr>
              <p:cNvPr id="9" name="object 4">
                <a:extLst>
                  <a:ext uri="{FF2B5EF4-FFF2-40B4-BE49-F238E27FC236}">
                    <a16:creationId xmlns:a16="http://schemas.microsoft.com/office/drawing/2014/main" id="{0CEAF341-7515-4EEC-B1AD-3E07C903F047}"/>
                  </a:ext>
                </a:extLst>
              </p:cNvPr>
              <p:cNvGraphicFramePr>
                <a:graphicFrameLocks noGrp="1"/>
              </p:cNvGraphicFramePr>
              <p:nvPr>
                <p:extLst>
                  <p:ext uri="{D42A27DB-BD31-4B8C-83A1-F6EECF244321}">
                    <p14:modId xmlns:p14="http://schemas.microsoft.com/office/powerpoint/2010/main" val="1818322802"/>
                  </p:ext>
                </p:extLst>
              </p:nvPr>
            </p:nvGraphicFramePr>
            <p:xfrm>
              <a:off x="552450" y="1706055"/>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283794" y="382547"/>
                <a:ext cx="4256404" cy="1309333"/>
              </a:xfrm>
              <a:prstGeom prst="rect">
                <a:avLst/>
              </a:prstGeom>
            </p:spPr>
            <p:txBody>
              <a:bodyPr vert="horz" wrap="square" lIns="0" tIns="34290" rIns="0" bIns="0" rtlCol="0">
                <a:spAutoFit/>
              </a:bodyPr>
              <a:lstStyle/>
              <a:p>
                <a:pPr marL="76200">
                  <a:lnSpc>
                    <a:spcPct val="100000"/>
                  </a:lnSpc>
                  <a:spcBef>
                    <a:spcPts val="270"/>
                  </a:spcBef>
                </a:pPr>
                <a:r>
                  <a:rPr lang="en-MY" sz="1100" kern="1200" spc="10" dirty="0">
                    <a:solidFill>
                      <a:schemeClr val="tx1"/>
                    </a:solidFill>
                    <a:latin typeface="Tahoma"/>
                    <a:ea typeface="+mn-ea"/>
                    <a:cs typeface="Tahoma"/>
                  </a:rPr>
                  <a:t>Is the core of the following (additive)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not empty?</a:t>
                </a:r>
              </a:p>
              <a:p>
                <a:pPr marL="351155" indent="-175260">
                  <a:lnSpc>
                    <a:spcPct val="100000"/>
                  </a:lnSpc>
                  <a:spcBef>
                    <a:spcPts val="170"/>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d>
                      <m:dPr>
                        <m:begChr m:val="{"/>
                        <m:endChr m:val="}"/>
                        <m:ctrlPr>
                          <a:rPr lang="ar-SA" sz="1100" i="1" spc="-65" dirty="0">
                            <a:latin typeface="Cambria Math" panose="02040503050406030204" pitchFamily="18" charset="0"/>
                            <a:cs typeface="Tahoma"/>
                          </a:rPr>
                        </m:ctrlPr>
                      </m:dPr>
                      <m:e>
                        <m:r>
                          <a:rPr lang="ar-SA" sz="1100" i="1" spc="-65" dirty="0">
                            <a:latin typeface="Cambria Math" panose="02040503050406030204" pitchFamily="18" charset="0"/>
                            <a:cs typeface="Tahoma"/>
                          </a:rPr>
                          <m:t>1</m:t>
                        </m:r>
                        <m:r>
                          <a:rPr lang="ar-SA" sz="1100" i="1" spc="-65" dirty="0">
                            <a:latin typeface="Cambria Math" panose="02040503050406030204" pitchFamily="18" charset="0"/>
                            <a:cs typeface="Adobe Text Pro"/>
                          </a:rPr>
                          <m:t>,</m:t>
                        </m:r>
                        <m:r>
                          <a:rPr lang="ar-SA" sz="1100" i="1" spc="-4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50" dirty="0">
                            <a:latin typeface="Cambria Math" panose="02040503050406030204" pitchFamily="18" charset="0"/>
                            <a:cs typeface="Adobe Text Pro"/>
                          </a:rPr>
                          <m:t> </m:t>
                        </m:r>
                        <m:r>
                          <a:rPr lang="ar-SA" sz="1100" i="1" spc="-25" dirty="0">
                            <a:latin typeface="Cambria Math" panose="02040503050406030204" pitchFamily="18" charset="0"/>
                            <a:cs typeface="Tahoma"/>
                          </a:rPr>
                          <m:t>3</m:t>
                        </m:r>
                      </m:e>
                    </m:d>
                  </m:oMath>
                </a14:m>
                <a:endParaRPr lang="ar-SA" sz="1100" dirty="0">
                  <a:latin typeface="Meiryo UI"/>
                  <a:cs typeface="Meiryo UI"/>
                </a:endParaRPr>
              </a:p>
              <a:p>
                <a:pPr marL="351155" indent="-175260">
                  <a:lnSpc>
                    <a:spcPct val="100000"/>
                  </a:lnSpc>
                  <a:spcBef>
                    <a:spcPts val="140"/>
                  </a:spcBef>
                  <a:buClr>
                    <a:srgbClr val="3333B2"/>
                  </a:buClr>
                  <a:buFont typeface="Arial"/>
                  <a:buChar char="►"/>
                  <a:tabLst>
                    <a:tab pos="351155" algn="l"/>
                    <a:tab pos="113982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1</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2</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r>
                      <a:rPr lang="ar-SA" sz="1100" i="1" spc="-70" dirty="0">
                        <a:latin typeface="Cambria Math" panose="02040503050406030204" pitchFamily="18" charset="0"/>
                        <a:cs typeface="Tahoma"/>
                      </a:rPr>
                      <m:t>(</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marL="353060">
                  <a:lnSpc>
                    <a:spcPct val="100000"/>
                  </a:lnSpc>
                  <a:spcBef>
                    <a:spcPts val="135"/>
                  </a:spcBef>
                  <a:tabLst>
                    <a:tab pos="1409065" algn="l"/>
                    <a:tab pos="2465705" algn="l"/>
                  </a:tabLst>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60" dirty="0">
                        <a:latin typeface="Cambria Math" panose="02040503050406030204" pitchFamily="18" charset="0"/>
                        <a:cs typeface="Tahoma"/>
                      </a:rPr>
                      <m:t>3</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4</m:t>
                    </m:r>
                    <m:r>
                      <a:rPr lang="ar-SA"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5</m:t>
                    </m:r>
                  </m:oMath>
                </a14:m>
                <a:r>
                  <a:rPr lang="en-MY" sz="1100" dirty="0">
                    <a:latin typeface="Tahoma"/>
                    <a:cs typeface="Tahoma"/>
                  </a:rPr>
                  <a:t> </a:t>
                </a:r>
                <a:endParaRPr lang="ar-SA" sz="1100" dirty="0">
                  <a:latin typeface="Tahoma"/>
                  <a:cs typeface="Tahoma"/>
                </a:endParaRPr>
              </a:p>
              <a:p>
                <a:pPr marL="353060">
                  <a:lnSpc>
                    <a:spcPct val="100000"/>
                  </a:lnSpc>
                  <a:spcBef>
                    <a:spcPts val="140"/>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r>
                      <a:rPr lang="ar-SA" sz="1100" i="1" spc="-50" dirty="0">
                        <a:latin typeface="Cambria Math" panose="02040503050406030204" pitchFamily="18" charset="0"/>
                        <a:cs typeface="Tahoma"/>
                      </a:rPr>
                      <m:t>(</m:t>
                    </m:r>
                    <m:r>
                      <a:rPr lang="ar-SA" sz="1100" i="1" spc="-50" dirty="0">
                        <a:latin typeface="Cambria Math" panose="02040503050406030204" pitchFamily="18" charset="0"/>
                        <a:cs typeface="Meiryo UI"/>
                      </a:rPr>
                      <m:t>{</m:t>
                    </m:r>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3</m:t>
                    </m:r>
                    <m:r>
                      <a:rPr lang="ar-SA" sz="1100" i="1" spc="-70" dirty="0">
                        <a:latin typeface="Cambria Math" panose="02040503050406030204" pitchFamily="18" charset="0"/>
                        <a:cs typeface="Meiryo UI"/>
                      </a:rPr>
                      <m:t>}</m:t>
                    </m:r>
                    <m:r>
                      <a:rPr lang="ar-SA" sz="1100" i="1" spc="-70" dirty="0">
                        <a:latin typeface="Cambria Math" panose="02040503050406030204" pitchFamily="18" charset="0"/>
                        <a:cs typeface="Tahoma"/>
                      </a:rPr>
                      <m:t>)</m:t>
                    </m:r>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8</m:t>
                    </m:r>
                  </m:oMath>
                </a14:m>
                <a:r>
                  <a:rPr lang="en-MY" sz="1100" dirty="0">
                    <a:latin typeface="Tahoma"/>
                    <a:cs typeface="Tahoma"/>
                  </a:rPr>
                  <a:t> </a:t>
                </a:r>
                <a:endParaRPr lang="ar-SA" sz="1100" dirty="0">
                  <a:latin typeface="Tahoma"/>
                  <a:cs typeface="Tahoma"/>
                </a:endParaRPr>
              </a:p>
              <a:p>
                <a:pPr>
                  <a:lnSpc>
                    <a:spcPct val="100000"/>
                  </a:lnSpc>
                  <a:spcBef>
                    <a:spcPts val="195"/>
                  </a:spcBef>
                </a:pPr>
                <a:endParaRPr lang="ar-SA" sz="1100" kern="1200" spc="10" dirty="0">
                  <a:solidFill>
                    <a:schemeClr val="tx1"/>
                  </a:solidFill>
                  <a:latin typeface="Tahoma"/>
                  <a:ea typeface="+mn-ea"/>
                  <a:cs typeface="Tahoma"/>
                </a:endParaRPr>
              </a:p>
              <a:p>
                <a:pPr marL="76200">
                  <a:lnSpc>
                    <a:spcPct val="100000"/>
                  </a:lnSpc>
                  <a:spcBef>
                    <a:spcPts val="5"/>
                  </a:spcBef>
                </a:pPr>
                <a:r>
                  <a:rPr lang="en-MY" sz="1100" kern="1200" spc="10" dirty="0">
                    <a:solidFill>
                      <a:schemeClr val="tx1"/>
                    </a:solidFill>
                    <a:latin typeface="Tahoma"/>
                    <a:ea typeface="+mn-ea"/>
                    <a:cs typeface="Tahoma"/>
                  </a:rPr>
                  <a:t>The core is not empty iff there is x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82547"/>
                <a:ext cx="4256404" cy="1309333"/>
              </a:xfrm>
              <a:prstGeom prst="rect">
                <a:avLst/>
              </a:prstGeom>
              <a:blipFill>
                <a:blip r:embed="rId3"/>
                <a:stretch>
                  <a:fillRect l="-287" t="-1395" b="-5581"/>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5" name="object 5"/>
              <p:cNvSpPr txBox="1"/>
              <p:nvPr/>
            </p:nvSpPr>
            <p:spPr>
              <a:xfrm>
                <a:off x="375332" y="2873375"/>
                <a:ext cx="4256403" cy="382156"/>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sz="1100" kern="1200" spc="10" dirty="0">
                    <a:solidFill>
                      <a:schemeClr val="tx1"/>
                    </a:solidFill>
                    <a:latin typeface="Tahoma"/>
                    <a:ea typeface="+mn-ea"/>
                    <a:cs typeface="Tahoma"/>
                  </a:rPr>
                  <a:t>The core of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is not empty again!</a:t>
                </a:r>
              </a:p>
              <a:p>
                <a:pPr marL="213360" indent="-175260">
                  <a:lnSpc>
                    <a:spcPct val="100000"/>
                  </a:lnSpc>
                  <a:spcBef>
                    <a:spcPts val="135"/>
                  </a:spcBef>
                  <a:buClr>
                    <a:srgbClr val="3333B2"/>
                  </a:buClr>
                  <a:buFont typeface="Arial"/>
                  <a:buChar char="►"/>
                  <a:tabLst>
                    <a:tab pos="213360" algn="l"/>
                  </a:tabLst>
                </a:pPr>
                <a:r>
                  <a:rPr sz="1100" kern="1200" spc="10" dirty="0">
                    <a:solidFill>
                      <a:schemeClr val="tx1"/>
                    </a:solidFill>
                    <a:latin typeface="Tahoma"/>
                    <a:ea typeface="+mn-ea"/>
                    <a:cs typeface="Tahoma"/>
                  </a:rPr>
                  <a:t>E.g., the Shapley value</a:t>
                </a:r>
                <a:r>
                  <a:rPr lang="en-MY" sz="1100" kern="1200" spc="10" dirty="0">
                    <a:solidFill>
                      <a:schemeClr val="tx1"/>
                    </a:solidFill>
                    <a:latin typeface="Tahoma"/>
                    <a:ea typeface="+mn-ea"/>
                    <a:cs typeface="Tahoma"/>
                  </a:rPr>
                  <a:t> </a:t>
                </a:r>
                <a14:m>
                  <m:oMath xmlns:m="http://schemas.openxmlformats.org/officeDocument/2006/math">
                    <m:r>
                      <a:rPr lang="en-MY" sz="1100" i="1" kern="1200" spc="10" dirty="0" smtClean="0">
                        <a:solidFill>
                          <a:schemeClr val="tx1"/>
                        </a:solidFill>
                        <a:latin typeface="Cambria Math" panose="02040503050406030204" pitchFamily="18" charset="0"/>
                        <a:ea typeface="Cambria Math" panose="02040503050406030204" pitchFamily="18" charset="0"/>
                        <a:cs typeface="Tahoma"/>
                      </a:rPr>
                      <m:t>𝜙</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67</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3</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17</m:t>
                    </m:r>
                    <m:r>
                      <a:rPr lang="en-MY" sz="1100" i="1" kern="1200" spc="10" dirty="0" smtClean="0">
                        <a:solidFill>
                          <a:schemeClr val="tx1"/>
                        </a:solidFill>
                        <a:latin typeface="Cambria Math" panose="02040503050406030204" pitchFamily="18" charset="0"/>
                        <a:ea typeface="+mn-ea"/>
                        <a:cs typeface="Tahoma"/>
                      </a:rPr>
                      <m:t>)∈ </m:t>
                    </m:r>
                  </m:oMath>
                </a14:m>
                <a:r>
                  <a:rPr sz="1100" b="1" kern="1200" spc="10" dirty="0">
                    <a:solidFill>
                      <a:schemeClr val="tx1"/>
                    </a:solidFill>
                    <a:latin typeface="Tahoma"/>
                    <a:ea typeface="+mn-ea"/>
                    <a:cs typeface="Tahoma"/>
                  </a:rPr>
                  <a:t>core</a:t>
                </a:r>
                <a:r>
                  <a:rPr sz="1100" kern="1200" spc="10" dirty="0">
                    <a:solidFill>
                      <a:schemeClr val="tx1"/>
                    </a:solidFill>
                    <a:latin typeface="Tahoma"/>
                    <a:ea typeface="+mn-ea"/>
                    <a:cs typeface="Tahoma"/>
                  </a:rPr>
                  <a:t>(</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a:t>
                </a:r>
              </a:p>
            </p:txBody>
          </p:sp>
        </mc:Choice>
        <mc:Fallback xmlns="">
          <p:sp>
            <p:nvSpPr>
              <p:cNvPr id="5" name="object 5"/>
              <p:cNvSpPr txBox="1">
                <a:spLocks noRot="1" noChangeAspect="1" noMove="1" noResize="1" noEditPoints="1" noAdjustHandles="1" noChangeArrowheads="1" noChangeShapeType="1" noTextEdit="1"/>
              </p:cNvSpPr>
              <p:nvPr/>
            </p:nvSpPr>
            <p:spPr>
              <a:xfrm>
                <a:off x="375332" y="2873375"/>
                <a:ext cx="4256403" cy="382156"/>
              </a:xfrm>
              <a:prstGeom prst="rect">
                <a:avLst/>
              </a:prstGeom>
              <a:blipFill>
                <a:blip r:embed="rId4"/>
                <a:stretch>
                  <a:fillRect l="-1146" t="-4762" b="-2222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C15BBB67-0752-40C1-BE49-8C9B8D52EA8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C9876A17-4FAB-469D-B340-6B37552D765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6FD579D4-6C9E-4F80-A84B-F1FF3EE8098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31</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graphicFrame>
            <p:nvGraphicFramePr>
              <p:cNvPr id="9" name="object 4">
                <a:extLst>
                  <a:ext uri="{FF2B5EF4-FFF2-40B4-BE49-F238E27FC236}">
                    <a16:creationId xmlns:a16="http://schemas.microsoft.com/office/drawing/2014/main" id="{D77938A5-86C2-44B7-8242-37253BD0F939}"/>
                  </a:ext>
                </a:extLst>
              </p:cNvPr>
              <p:cNvGraphicFramePr>
                <a:graphicFrameLocks noGrp="1"/>
              </p:cNvGraphicFramePr>
              <p:nvPr>
                <p:extLst>
                  <p:ext uri="{D42A27DB-BD31-4B8C-83A1-F6EECF244321}">
                    <p14:modId xmlns:p14="http://schemas.microsoft.com/office/powerpoint/2010/main" val="1615936808"/>
                  </p:ext>
                </p:extLst>
              </p:nvPr>
            </p:nvGraphicFramePr>
            <p:xfrm>
              <a:off x="400050" y="1705074"/>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3</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4</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70" dirty="0" smtClean="0">
                                  <a:latin typeface="Cambria Math" panose="02040503050406030204" pitchFamily="18" charset="0"/>
                                  <a:cs typeface="Meiryo UI"/>
                                </a:rPr>
                                <m:t>5</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b="0" i="1" spc="-70" dirty="0" smtClean="0">
                                    <a:latin typeface="Cambria Math" panose="02040503050406030204" pitchFamily="18" charset="0"/>
                                    <a:cs typeface="Tahoma"/>
                                  </a:rPr>
                                  <m:t>8</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9" name="object 4">
                <a:extLst>
                  <a:ext uri="{FF2B5EF4-FFF2-40B4-BE49-F238E27FC236}">
                    <a16:creationId xmlns:a16="http://schemas.microsoft.com/office/drawing/2014/main" id="{D77938A5-86C2-44B7-8242-37253BD0F939}"/>
                  </a:ext>
                </a:extLst>
              </p:cNvPr>
              <p:cNvGraphicFramePr>
                <a:graphicFrameLocks noGrp="1"/>
              </p:cNvGraphicFramePr>
              <p:nvPr>
                <p:extLst>
                  <p:ext uri="{D42A27DB-BD31-4B8C-83A1-F6EECF244321}">
                    <p14:modId xmlns:p14="http://schemas.microsoft.com/office/powerpoint/2010/main" val="1615936808"/>
                  </p:ext>
                </p:extLst>
              </p:nvPr>
            </p:nvGraphicFramePr>
            <p:xfrm>
              <a:off x="400050" y="1705074"/>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Example/Exercise:</a:t>
            </a:r>
            <a:r>
              <a:rPr spc="420" dirty="0"/>
              <a:t> </a:t>
            </a:r>
            <a:r>
              <a:rPr spc="55" dirty="0"/>
              <a:t>The</a:t>
            </a:r>
            <a:r>
              <a:rPr spc="240" dirty="0"/>
              <a:t> </a:t>
            </a:r>
            <a:r>
              <a:rPr spc="-20" dirty="0"/>
              <a:t>core</a:t>
            </a:r>
          </a:p>
        </p:txBody>
      </p:sp>
      <mc:AlternateContent xmlns:mc="http://schemas.openxmlformats.org/markup-compatibility/2006" xmlns:a14="http://schemas.microsoft.com/office/drawing/2010/main">
        <mc:Choice Requires="a14">
          <p:sp>
            <p:nvSpPr>
              <p:cNvPr id="3" name="object 3"/>
              <p:cNvSpPr txBox="1"/>
              <p:nvPr/>
            </p:nvSpPr>
            <p:spPr>
              <a:xfrm>
                <a:off x="283794" y="366214"/>
                <a:ext cx="4078656" cy="1238158"/>
              </a:xfrm>
              <a:prstGeom prst="rect">
                <a:avLst/>
              </a:prstGeom>
            </p:spPr>
            <p:txBody>
              <a:bodyPr vert="horz" wrap="square" lIns="0" tIns="55244" rIns="0" bIns="0" rtlCol="0">
                <a:spAutoFit/>
              </a:bodyPr>
              <a:lstStyle/>
              <a:p>
                <a:pPr marL="76200">
                  <a:lnSpc>
                    <a:spcPct val="100000"/>
                  </a:lnSpc>
                  <a:spcBef>
                    <a:spcPts val="434"/>
                  </a:spcBef>
                </a:pPr>
                <a:r>
                  <a:rPr lang="en-MY" sz="1100" kern="1200" spc="10" dirty="0">
                    <a:solidFill>
                      <a:schemeClr val="tx1"/>
                    </a:solidFill>
                    <a:latin typeface="Tahoma"/>
                    <a:ea typeface="+mn-ea"/>
                    <a:cs typeface="Tahoma"/>
                  </a:rPr>
                  <a:t>Is the core of the following (simple)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lang="en-MY" sz="1100" kern="1200" spc="10" dirty="0">
                    <a:solidFill>
                      <a:schemeClr val="tx1"/>
                    </a:solidFill>
                    <a:latin typeface="Tahoma"/>
                    <a:ea typeface="+mn-ea"/>
                    <a:cs typeface="Tahoma"/>
                  </a:rPr>
                  <a:t> not empty?</a:t>
                </a:r>
              </a:p>
              <a:p>
                <a:pPr marL="351155" indent="-175260">
                  <a:lnSpc>
                    <a:spcPct val="100000"/>
                  </a:lnSpc>
                  <a:spcBef>
                    <a:spcPts val="334"/>
                  </a:spcBef>
                  <a:buClr>
                    <a:srgbClr val="3333B2"/>
                  </a:buClr>
                  <a:buFont typeface="Arial"/>
                  <a:buChar char="►"/>
                  <a:tabLst>
                    <a:tab pos="351155" algn="l"/>
                  </a:tabLst>
                </a:pP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p>
              <a:p>
                <a:pPr marL="351155" indent="-175260">
                  <a:lnSpc>
                    <a:spcPct val="100000"/>
                  </a:lnSpc>
                  <a:spcBef>
                    <a:spcPts val="330"/>
                  </a:spcBef>
                  <a:buClr>
                    <a:srgbClr val="3333B2"/>
                  </a:buClr>
                  <a:buFont typeface="Arial"/>
                  <a:buChar char="►"/>
                  <a:tabLst>
                    <a:tab pos="351155" algn="l"/>
                    <a:tab pos="113982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5" dirty="0">
                        <a:latin typeface="Cambria Math" panose="02040503050406030204" pitchFamily="18" charset="0"/>
                        <a:cs typeface="Arial"/>
                      </a:rPr>
                      <m:t> </m:t>
                    </m:r>
                    <m:d>
                      <m:dPr>
                        <m:ctrlPr>
                          <a:rPr lang="ar-SA" sz="1100" i="1" spc="-125" dirty="0">
                            <a:latin typeface="Cambria Math" panose="02040503050406030204" pitchFamily="18" charset="0"/>
                            <a:cs typeface="Tahoma"/>
                          </a:rPr>
                        </m:ctrlPr>
                      </m:dPr>
                      <m:e>
                        <m:r>
                          <a:rPr lang="ar-SA" sz="1100" i="1" spc="-125" dirty="0">
                            <a:latin typeface="Cambria Math" panose="02040503050406030204" pitchFamily="18" charset="0"/>
                            <a:cs typeface="Meiryo UI"/>
                          </a:rPr>
                          <m:t>∅</m:t>
                        </m:r>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0</m:t>
                    </m:r>
                    <m:r>
                      <a:rPr lang="en-MY" sz="1100" b="0" i="1" spc="-50" dirty="0" smtClean="0">
                        <a:latin typeface="Cambria Math" panose="02040503050406030204" pitchFamily="18" charset="0"/>
                        <a:cs typeface="Tahoma"/>
                      </a:rPr>
                      <m:t>        </m:t>
                    </m:r>
                    <m:r>
                      <a:rPr lang="ar-SA" sz="1100" i="1" dirty="0">
                        <a:latin typeface="Cambria Math" panose="02040503050406030204" pitchFamily="18" charset="0"/>
                        <a:cs typeface="Tahoma"/>
                      </a:rPr>
                      <m:t>	</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1</m:t>
                            </m:r>
                          </m:e>
                        </m:d>
                      </m:e>
                    </m:d>
                    <m:r>
                      <a:rPr lang="ar-SA" sz="1100" i="1" dirty="0" smtClean="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75" dirty="0">
                        <a:latin typeface="Cambria Math" panose="02040503050406030204" pitchFamily="18" charset="0"/>
                        <a:cs typeface="Arial"/>
                      </a:rPr>
                      <m:t> </m:t>
                    </m:r>
                    <m:d>
                      <m:dPr>
                        <m:ctrlPr>
                          <a:rPr lang="ar-SA" sz="1100" i="1" spc="-70" dirty="0">
                            <a:latin typeface="Cambria Math" panose="02040503050406030204" pitchFamily="18" charset="0"/>
                            <a:cs typeface="Arial"/>
                          </a:rPr>
                        </m:ctrlPr>
                      </m:dPr>
                      <m:e>
                        <m:d>
                          <m:dPr>
                            <m:begChr m:val="{"/>
                            <m:endChr m:val="}"/>
                            <m:ctrlPr>
                              <a:rPr lang="ar-SA" sz="1100" i="1" spc="-70" dirty="0">
                                <a:latin typeface="Cambria Math" panose="02040503050406030204" pitchFamily="18" charset="0"/>
                                <a:cs typeface="Arial"/>
                              </a:rPr>
                            </m:ctrlPr>
                          </m:dPr>
                          <m:e>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endParaRPr lang="ar-SA" sz="1100" dirty="0">
                  <a:latin typeface="Tahoma"/>
                  <a:cs typeface="Tahoma"/>
                </a:endParaRPr>
              </a:p>
              <a:p>
                <a:pPr marL="353060">
                  <a:lnSpc>
                    <a:spcPct val="100000"/>
                  </a:lnSpc>
                  <a:spcBef>
                    <a:spcPts val="335"/>
                  </a:spcBef>
                </a:pPr>
                <a14:m>
                  <m:oMath xmlns:m="http://schemas.openxmlformats.org/officeDocument/2006/math">
                    <m:r>
                      <a:rPr lang="ar-SA" sz="1100" i="1" spc="-55" dirty="0" smtClean="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Tahoma"/>
                          </a:rPr>
                        </m:ctrlPr>
                      </m:dPr>
                      <m:e>
                        <m:d>
                          <m:dPr>
                            <m:begChr m:val="{"/>
                            <m:endChr m:val="}"/>
                            <m:ctrlPr>
                              <a:rPr lang="ar-SA" sz="1100" i="1" spc="-50" dirty="0">
                                <a:latin typeface="Cambria Math" panose="02040503050406030204" pitchFamily="18" charset="0"/>
                                <a:cs typeface="Tahoma"/>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70" dirty="0">
                                <a:latin typeface="Cambria Math" panose="02040503050406030204" pitchFamily="18" charset="0"/>
                                <a:cs typeface="Tahoma"/>
                              </a:rPr>
                              <m:t>2</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2</m:t>
                            </m:r>
                            <m:r>
                              <a:rPr lang="ar-SA" sz="1100" i="1" spc="-5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5" dirty="0">
                        <a:latin typeface="Cambria Math" panose="02040503050406030204" pitchFamily="18" charset="0"/>
                        <a:cs typeface="Arial"/>
                      </a:rPr>
                      <m:t>𝑣</m:t>
                    </m:r>
                    <m:r>
                      <a:rPr lang="ar-SA" sz="1100" i="1" spc="-180" dirty="0">
                        <a:latin typeface="Cambria Math" panose="02040503050406030204" pitchFamily="18" charset="0"/>
                        <a:cs typeface="Arial"/>
                      </a:rPr>
                      <m:t> </m:t>
                    </m:r>
                    <m:d>
                      <m:dPr>
                        <m:ctrlPr>
                          <a:rPr lang="ar-SA" sz="1100" i="1" spc="-50" dirty="0">
                            <a:latin typeface="Cambria Math" panose="02040503050406030204" pitchFamily="18" charset="0"/>
                            <a:cs typeface="Arial"/>
                          </a:rPr>
                        </m:ctrlPr>
                      </m:dPr>
                      <m:e>
                        <m:d>
                          <m:dPr>
                            <m:begChr m:val="{"/>
                            <m:endChr m:val="}"/>
                            <m:ctrlPr>
                              <a:rPr lang="ar-SA" sz="1100" i="1" spc="-50" dirty="0">
                                <a:latin typeface="Cambria Math" panose="02040503050406030204" pitchFamily="18" charset="0"/>
                                <a:cs typeface="Arial"/>
                              </a:rPr>
                            </m:ctrlPr>
                          </m:dPr>
                          <m:e>
                            <m:r>
                              <a:rPr lang="ar-SA" sz="1100" i="1" spc="-50" dirty="0">
                                <a:latin typeface="Cambria Math" panose="02040503050406030204" pitchFamily="18" charset="0"/>
                                <a:cs typeface="Tahoma"/>
                              </a:rPr>
                              <m:t>1</m:t>
                            </m:r>
                            <m:r>
                              <a:rPr lang="ar-SA" sz="1100" i="1" spc="-50" dirty="0">
                                <a:latin typeface="Cambria Math" panose="02040503050406030204" pitchFamily="18" charset="0"/>
                                <a:cs typeface="Adobe Text Pro"/>
                              </a:rPr>
                              <m:t>,</m:t>
                            </m:r>
                            <m:r>
                              <a:rPr lang="ar-SA" sz="1100" i="1" spc="-40" dirty="0">
                                <a:latin typeface="Cambria Math" panose="02040503050406030204" pitchFamily="18" charset="0"/>
                                <a:cs typeface="Adobe Text Pro"/>
                              </a:rPr>
                              <m:t> </m:t>
                            </m:r>
                            <m:r>
                              <a:rPr lang="ar-SA" sz="1100" i="1" spc="-30" dirty="0">
                                <a:latin typeface="Cambria Math" panose="02040503050406030204" pitchFamily="18" charset="0"/>
                                <a:cs typeface="Tahoma"/>
                              </a:rPr>
                              <m:t>2</m:t>
                            </m:r>
                            <m:r>
                              <a:rPr lang="ar-SA" sz="1100" i="1" spc="-30" dirty="0">
                                <a:latin typeface="Cambria Math" panose="02040503050406030204" pitchFamily="18" charset="0"/>
                                <a:cs typeface="Adobe Text Pro"/>
                              </a:rPr>
                              <m:t>,</m:t>
                            </m:r>
                            <m:r>
                              <a:rPr lang="ar-SA" sz="1100" i="1" spc="-35" dirty="0">
                                <a:latin typeface="Cambria Math" panose="02040503050406030204" pitchFamily="18" charset="0"/>
                                <a:cs typeface="Adobe Text Pro"/>
                              </a:rPr>
                              <m:t> </m:t>
                            </m:r>
                            <m:r>
                              <a:rPr lang="ar-SA" sz="1100" i="1" spc="-70" dirty="0">
                                <a:latin typeface="Cambria Math" panose="02040503050406030204" pitchFamily="18" charset="0"/>
                                <a:cs typeface="Tahoma"/>
                              </a:rPr>
                              <m:t>3</m:t>
                            </m:r>
                          </m:e>
                        </m:d>
                      </m:e>
                    </m:d>
                    <m:r>
                      <a:rPr lang="ar-SA" sz="1100" i="1" dirty="0">
                        <a:latin typeface="Cambria Math" panose="02040503050406030204" pitchFamily="18" charset="0"/>
                        <a:cs typeface="Tahoma"/>
                      </a:rPr>
                      <m:t>=</m:t>
                    </m:r>
                    <m:r>
                      <a:rPr lang="ar-SA" sz="1100" i="1" spc="-50" dirty="0">
                        <a:latin typeface="Cambria Math" panose="02040503050406030204" pitchFamily="18" charset="0"/>
                        <a:cs typeface="Tahoma"/>
                      </a:rPr>
                      <m:t>1</m:t>
                    </m:r>
                  </m:oMath>
                </a14:m>
                <a:r>
                  <a:rPr lang="en-MY" sz="1100" dirty="0">
                    <a:latin typeface="Tahoma"/>
                    <a:cs typeface="Tahoma"/>
                  </a:rPr>
                  <a:t> </a:t>
                </a:r>
                <a:endParaRPr lang="ar-SA" sz="1100" dirty="0">
                  <a:latin typeface="Tahoma"/>
                  <a:cs typeface="Tahoma"/>
                </a:endParaRPr>
              </a:p>
              <a:p>
                <a:pPr>
                  <a:lnSpc>
                    <a:spcPct val="100000"/>
                  </a:lnSpc>
                  <a:spcBef>
                    <a:spcPts val="360"/>
                  </a:spcBef>
                </a:pPr>
                <a:endParaRPr lang="ar-SA" sz="1100" kern="1200" spc="10" dirty="0">
                  <a:solidFill>
                    <a:schemeClr val="tx1"/>
                  </a:solidFill>
                  <a:latin typeface="Tahoma"/>
                  <a:ea typeface="+mn-ea"/>
                  <a:cs typeface="Tahoma"/>
                </a:endParaRPr>
              </a:p>
              <a:p>
                <a:pPr marL="76200">
                  <a:lnSpc>
                    <a:spcPct val="100000"/>
                  </a:lnSpc>
                </a:pPr>
                <a:r>
                  <a:rPr lang="en-MY" sz="1100" kern="1200" spc="10" dirty="0">
                    <a:solidFill>
                      <a:schemeClr val="tx1"/>
                    </a:solidFill>
                    <a:latin typeface="Tahoma"/>
                    <a:ea typeface="+mn-ea"/>
                    <a:cs typeface="Tahoma"/>
                  </a:rPr>
                  <a:t>The core is not empty iff there is x such that:</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283794" y="366214"/>
                <a:ext cx="4078656" cy="1238158"/>
              </a:xfrm>
              <a:prstGeom prst="rect">
                <a:avLst/>
              </a:prstGeom>
              <a:blipFill>
                <a:blip r:embed="rId3"/>
                <a:stretch>
                  <a:fillRect l="-299" b="-6404"/>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sp>
            <p:nvSpPr>
              <p:cNvPr id="5" name="object 5"/>
              <p:cNvSpPr txBox="1"/>
              <p:nvPr/>
            </p:nvSpPr>
            <p:spPr>
              <a:xfrm>
                <a:off x="427355" y="2821565"/>
                <a:ext cx="3935095" cy="432810"/>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r>
                  <a:rPr lang="en-US" sz="1100" kern="1200" spc="10" dirty="0">
                    <a:solidFill>
                      <a:schemeClr val="tx1"/>
                    </a:solidFill>
                    <a:latin typeface="Tahoma"/>
                    <a:ea typeface="+mn-ea"/>
                    <a:cs typeface="Tahoma"/>
                  </a:rPr>
                  <a:t>The core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empty!</a:t>
                </a:r>
              </a:p>
              <a:p>
                <a:pPr marL="213360" indent="-175260">
                  <a:lnSpc>
                    <a:spcPct val="100000"/>
                  </a:lnSpc>
                  <a:spcBef>
                    <a:spcPts val="334"/>
                  </a:spcBef>
                  <a:buClr>
                    <a:srgbClr val="3333B2"/>
                  </a:buClr>
                  <a:buFont typeface="Arial"/>
                  <a:buChar char="►"/>
                  <a:tabLst>
                    <a:tab pos="213360" algn="l"/>
                  </a:tabLst>
                </a:pPr>
                <a:r>
                  <a:rPr lang="en-US" sz="1100" kern="1200" spc="10" dirty="0">
                    <a:solidFill>
                      <a:schemeClr val="tx1"/>
                    </a:solidFill>
                    <a:latin typeface="Tahoma"/>
                    <a:ea typeface="+mn-ea"/>
                    <a:cs typeface="Tahoma"/>
                  </a:rPr>
                  <a:t>The Shapley value of</a:t>
                </a:r>
                <a:r>
                  <a:rPr lang="en-US" sz="1100" i="1" kern="1200" spc="10" dirty="0">
                    <a:solidFill>
                      <a:schemeClr val="tx1"/>
                    </a:solidFill>
                    <a:latin typeface="Tahoma"/>
                    <a:ea typeface="+mn-ea"/>
                    <a:cs typeface="Tahoma"/>
                  </a:rPr>
                  <a:t>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i="1" kern="1200" spc="10" dirty="0">
                    <a:solidFill>
                      <a:schemeClr val="tx1"/>
                    </a:solidFill>
                    <a:latin typeface="Tahoma"/>
                    <a:ea typeface="+mn-ea"/>
                    <a:cs typeface="Tahoma"/>
                  </a:rPr>
                  <a:t> </a:t>
                </a:r>
                <a:r>
                  <a:rPr lang="en-US" sz="1100" kern="1200" spc="10" dirty="0">
                    <a:solidFill>
                      <a:schemeClr val="tx1"/>
                    </a:solidFill>
                    <a:latin typeface="Tahoma"/>
                    <a:ea typeface="+mn-ea"/>
                    <a:cs typeface="Tahoma"/>
                  </a:rPr>
                  <a:t>is</a:t>
                </a:r>
                <a14:m>
                  <m:oMath xmlns:m="http://schemas.openxmlformats.org/officeDocument/2006/math">
                    <m:r>
                      <a:rPr lang="en-US" sz="1100" b="0" i="0" kern="1200" spc="10" dirty="0" smtClean="0">
                        <a:solidFill>
                          <a:schemeClr val="tx1"/>
                        </a:solidFill>
                        <a:latin typeface="Cambria Math" panose="02040503050406030204" pitchFamily="18" charset="0"/>
                        <a:ea typeface="Cambria Math" panose="02040503050406030204" pitchFamily="18" charset="0"/>
                        <a:cs typeface="Tahoma"/>
                      </a:rPr>
                      <m:t> </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𝜙</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𝑁</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𝑣</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33</m:t>
                    </m:r>
                    <m:r>
                      <a:rPr lang="en-US" sz="1100" i="1" kern="1200" spc="10" dirty="0">
                        <a:solidFill>
                          <a:schemeClr val="tx1"/>
                        </a:solidFill>
                        <a:latin typeface="Cambria Math" panose="02040503050406030204" pitchFamily="18" charset="0"/>
                        <a:ea typeface="+mn-ea"/>
                        <a:cs typeface="Tahoma"/>
                      </a:rPr>
                      <m:t>)</m:t>
                    </m:r>
                  </m:oMath>
                </a14:m>
                <a:endParaRPr sz="1100" kern="1200" spc="10" dirty="0">
                  <a:solidFill>
                    <a:schemeClr val="tx1"/>
                  </a:solidFill>
                  <a:latin typeface="Tahoma"/>
                  <a:ea typeface="+mn-ea"/>
                  <a:cs typeface="Tahoma"/>
                </a:endParaRPr>
              </a:p>
            </p:txBody>
          </p:sp>
        </mc:Choice>
        <mc:Fallback xmlns="">
          <p:sp>
            <p:nvSpPr>
              <p:cNvPr id="5" name="object 5"/>
              <p:cNvSpPr txBox="1">
                <a:spLocks noRot="1" noChangeAspect="1" noMove="1" noResize="1" noEditPoints="1" noAdjustHandles="1" noChangeArrowheads="1" noChangeShapeType="1" noTextEdit="1"/>
              </p:cNvSpPr>
              <p:nvPr/>
            </p:nvSpPr>
            <p:spPr>
              <a:xfrm>
                <a:off x="427355" y="2821565"/>
                <a:ext cx="3935095" cy="432810"/>
              </a:xfrm>
              <a:prstGeom prst="rect">
                <a:avLst/>
              </a:prstGeom>
              <a:blipFill>
                <a:blip r:embed="rId4"/>
                <a:stretch>
                  <a:fillRect l="-1084" b="-18310"/>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00E3AF19-4514-48FB-A4B0-394AAB65F31C}"/>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9F2C332B-BAF0-4414-93D3-E53AB70239B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9BBAA447-951F-4263-AA2A-35B61AA265AF}"/>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32</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mc:AlternateContent xmlns:mc="http://schemas.openxmlformats.org/markup-compatibility/2006" xmlns:a14="http://schemas.microsoft.com/office/drawing/2010/main">
        <mc:Choice Requires="a14">
          <p:graphicFrame>
            <p:nvGraphicFramePr>
              <p:cNvPr id="9" name="object 4">
                <a:extLst>
                  <a:ext uri="{FF2B5EF4-FFF2-40B4-BE49-F238E27FC236}">
                    <a16:creationId xmlns:a16="http://schemas.microsoft.com/office/drawing/2014/main" id="{A915FA14-F47C-4AEF-906B-5D1AB16433CD}"/>
                  </a:ext>
                </a:extLst>
              </p:cNvPr>
              <p:cNvGraphicFramePr>
                <a:graphicFrameLocks noGrp="1"/>
              </p:cNvGraphicFramePr>
              <p:nvPr>
                <p:extLst>
                  <p:ext uri="{D42A27DB-BD31-4B8C-83A1-F6EECF244321}">
                    <p14:modId xmlns:p14="http://schemas.microsoft.com/office/powerpoint/2010/main" val="3460866594"/>
                  </p:ext>
                </p:extLst>
              </p:nvPr>
            </p:nvGraphicFramePr>
            <p:xfrm>
              <a:off x="428484" y="1618146"/>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b="0" i="1" spc="-50" dirty="0" smtClean="0">
                                  <a:latin typeface="Cambria Math" panose="02040503050406030204" pitchFamily="18" charset="0"/>
                                  <a:cs typeface="Meiryo UI"/>
                                </a:rPr>
                                <m:t> </m:t>
                              </m:r>
                              <m:r>
                                <a:rPr lang="en-MY" sz="1100" b="0" i="1" spc="-70" dirty="0" smtClean="0">
                                  <a:latin typeface="Cambria Math" panose="02040503050406030204" pitchFamily="18" charset="0"/>
                                  <a:cs typeface="Meiryo UI"/>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70" dirty="0">
                                    <a:latin typeface="Cambria Math" panose="02040503050406030204" pitchFamily="18" charset="0"/>
                                    <a:cs typeface="Tahoma"/>
                                  </a:rPr>
                                  <m:t> </m:t>
                                </m:r>
                                <m:r>
                                  <a:rPr lang="en-MY" sz="1100" i="1" spc="-50" dirty="0">
                                    <a:latin typeface="Cambria Math" panose="02040503050406030204" pitchFamily="18" charset="0"/>
                                    <a:cs typeface="Tahoma"/>
                                  </a:rPr>
                                  <m:t>1</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9" name="object 4">
                <a:extLst>
                  <a:ext uri="{FF2B5EF4-FFF2-40B4-BE49-F238E27FC236}">
                    <a16:creationId xmlns:a16="http://schemas.microsoft.com/office/drawing/2014/main" id="{A915FA14-F47C-4AEF-906B-5D1AB16433CD}"/>
                  </a:ext>
                </a:extLst>
              </p:cNvPr>
              <p:cNvGraphicFramePr>
                <a:graphicFrameLocks noGrp="1"/>
              </p:cNvGraphicFramePr>
              <p:nvPr>
                <p:extLst>
                  <p:ext uri="{D42A27DB-BD31-4B8C-83A1-F6EECF244321}">
                    <p14:modId xmlns:p14="http://schemas.microsoft.com/office/powerpoint/2010/main" val="3460866594"/>
                  </p:ext>
                </p:extLst>
              </p:nvPr>
            </p:nvGraphicFramePr>
            <p:xfrm>
              <a:off x="428484" y="1618146"/>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5"/>
                          <a:stretch>
                            <a:fillRect t="-11111" r="-179339" b="-648148"/>
                          </a:stretch>
                        </a:blipFill>
                      </a:tcPr>
                    </a:tc>
                    <a:tc>
                      <a:txBody>
                        <a:bodyPr/>
                        <a:lstStyle/>
                        <a:p>
                          <a:endParaRPr lang="en-US"/>
                        </a:p>
                      </a:txBody>
                      <a:tcPr marL="0" marR="0" marT="0" marB="0">
                        <a:blipFill>
                          <a:blip r:embed="rId5"/>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5"/>
                          <a:stretch>
                            <a:fillRect t="-107143" r="-179339" b="-525000"/>
                          </a:stretch>
                        </a:blipFill>
                      </a:tcPr>
                    </a:tc>
                    <a:tc>
                      <a:txBody>
                        <a:bodyPr/>
                        <a:lstStyle/>
                        <a:p>
                          <a:endParaRPr lang="en-US"/>
                        </a:p>
                      </a:txBody>
                      <a:tcPr marL="0" marR="0" marT="0" marB="0">
                        <a:blipFill>
                          <a:blip r:embed="rId5"/>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5"/>
                          <a:stretch>
                            <a:fillRect t="-207143" r="-179339" b="-425000"/>
                          </a:stretch>
                        </a:blipFill>
                      </a:tcPr>
                    </a:tc>
                    <a:tc>
                      <a:txBody>
                        <a:bodyPr/>
                        <a:lstStyle/>
                        <a:p>
                          <a:endParaRPr lang="en-US"/>
                        </a:p>
                      </a:txBody>
                      <a:tcPr marL="0" marR="0" marT="0" marB="0">
                        <a:blipFill>
                          <a:blip r:embed="rId5"/>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5"/>
                          <a:stretch>
                            <a:fillRect t="-296552" r="-179339" b="-310345"/>
                          </a:stretch>
                        </a:blipFill>
                      </a:tcPr>
                    </a:tc>
                    <a:tc>
                      <a:txBody>
                        <a:bodyPr/>
                        <a:lstStyle/>
                        <a:p>
                          <a:endParaRPr lang="en-US"/>
                        </a:p>
                      </a:txBody>
                      <a:tcPr marL="0" marR="0" marT="0" marB="0">
                        <a:blipFill>
                          <a:blip r:embed="rId5"/>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5"/>
                          <a:stretch>
                            <a:fillRect t="-410714" r="-179339" b="-221429"/>
                          </a:stretch>
                        </a:blipFill>
                      </a:tcPr>
                    </a:tc>
                    <a:tc>
                      <a:txBody>
                        <a:bodyPr/>
                        <a:lstStyle/>
                        <a:p>
                          <a:endParaRPr lang="en-US"/>
                        </a:p>
                      </a:txBody>
                      <a:tcPr marL="0" marR="0" marT="0" marB="0">
                        <a:blipFill>
                          <a:blip r:embed="rId5"/>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5"/>
                          <a:stretch>
                            <a:fillRect t="-510714" r="-179339" b="-121429"/>
                          </a:stretch>
                        </a:blipFill>
                      </a:tcPr>
                    </a:tc>
                    <a:tc>
                      <a:txBody>
                        <a:bodyPr/>
                        <a:lstStyle/>
                        <a:p>
                          <a:endParaRPr lang="en-US"/>
                        </a:p>
                      </a:txBody>
                      <a:tcPr marL="0" marR="0" marT="0" marB="0">
                        <a:blipFill>
                          <a:blip r:embed="rId5"/>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5"/>
                          <a:stretch>
                            <a:fillRect t="-633333" r="-179339" b="-25926"/>
                          </a:stretch>
                        </a:blipFill>
                      </a:tcPr>
                    </a:tc>
                    <a:tc>
                      <a:txBody>
                        <a:bodyPr/>
                        <a:lstStyle/>
                        <a:p>
                          <a:endParaRPr lang="en-US"/>
                        </a:p>
                      </a:txBody>
                      <a:tcPr marL="0" marR="0" marT="0" marB="0">
                        <a:blipFill>
                          <a:blip r:embed="rId5"/>
                          <a:stretch>
                            <a:fillRect l="-55760" t="-633333" b="-25926"/>
                          </a:stretch>
                        </a:blipFill>
                      </a:tcPr>
                    </a:tc>
                    <a:extLst>
                      <a:ext uri="{0D108BD9-81ED-4DB2-BD59-A6C34878D82A}">
                        <a16:rowId xmlns:a16="http://schemas.microsoft.com/office/drawing/2014/main" val="10006"/>
                      </a:ext>
                    </a:extLst>
                  </a:tr>
                </a:tbl>
              </a:graphicData>
            </a:graphic>
          </p:graphicFrame>
        </mc:Fallback>
      </mc:AlternateContent>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Properties</a:t>
            </a:r>
            <a:r>
              <a:rPr spc="100" dirty="0"/>
              <a:t> </a:t>
            </a:r>
            <a:r>
              <a:rPr dirty="0"/>
              <a:t>of</a:t>
            </a:r>
            <a:r>
              <a:rPr spc="100" dirty="0"/>
              <a:t> </a:t>
            </a:r>
            <a:r>
              <a:rPr dirty="0"/>
              <a:t>classes</a:t>
            </a:r>
            <a:r>
              <a:rPr spc="100" dirty="0"/>
              <a:t> </a:t>
            </a:r>
            <a:r>
              <a:rPr dirty="0"/>
              <a:t>of</a:t>
            </a:r>
            <a:r>
              <a:rPr spc="105" dirty="0"/>
              <a:t> </a:t>
            </a:r>
            <a:r>
              <a:rPr spc="-10" dirty="0"/>
              <a:t>games</a:t>
            </a:r>
          </a:p>
        </p:txBody>
      </p:sp>
      <mc:AlternateContent xmlns:mc="http://schemas.openxmlformats.org/markup-compatibility/2006">
        <mc:Choice xmlns:a14="http://schemas.microsoft.com/office/drawing/2010/main" Requires="a14">
          <p:sp>
            <p:nvSpPr>
              <p:cNvPr id="3" name="object 3"/>
              <p:cNvSpPr txBox="1"/>
              <p:nvPr/>
            </p:nvSpPr>
            <p:spPr>
              <a:xfrm>
                <a:off x="452755" y="1140636"/>
                <a:ext cx="3909695" cy="1701748"/>
              </a:xfrm>
              <a:prstGeom prst="rect">
                <a:avLst/>
              </a:prstGeom>
            </p:spPr>
            <p:txBody>
              <a:bodyPr vert="horz" wrap="square" lIns="0" tIns="11430" rIns="0" bIns="0" rtlCol="0">
                <a:spAutoFit/>
              </a:bodyPr>
              <a:lstStyle/>
              <a:p>
                <a:pPr marL="22860">
                  <a:spcBef>
                    <a:spcPts val="90"/>
                  </a:spcBef>
                  <a:tabLst>
                    <a:tab pos="960755" algn="l"/>
                  </a:tabLst>
                </a:pPr>
                <a:r>
                  <a:rPr lang="en-MY" sz="1100" kern="1200" spc="10" dirty="0">
                    <a:solidFill>
                      <a:schemeClr val="tx1"/>
                    </a:solidFill>
                    <a:latin typeface="Tahoma"/>
                    <a:ea typeface="+mn-ea"/>
                    <a:cs typeface="Tahoma"/>
                  </a:rPr>
                  <a:t>Constant-sum</a:t>
                </a:r>
                <a:r>
                  <a:rPr lang="en-MY" sz="1100" dirty="0">
                    <a:latin typeface="Tahoma"/>
                    <a:cs typeface="Tahoma"/>
                  </a:rPr>
                  <a:t>	</a:t>
                </a:r>
                <a:r>
                  <a:rPr lang="en-MY" sz="1100" i="1" dirty="0">
                    <a:latin typeface="Meiryo UI"/>
                    <a:cs typeface="Meiryo UI"/>
                  </a:rPr>
                  <a:t>←</a:t>
                </a:r>
                <a:r>
                  <a:rPr lang="en-MY" sz="1100" i="1" spc="80" dirty="0">
                    <a:latin typeface="Meiryo UI"/>
                    <a:cs typeface="Meiryo UI"/>
                  </a:rPr>
                  <a:t> </a:t>
                </a:r>
                <a:r>
                  <a:rPr lang="en-MY" sz="1100" kern="1200" spc="10" dirty="0">
                    <a:solidFill>
                      <a:schemeClr val="tx1"/>
                    </a:solidFill>
                    <a:latin typeface="Tahoma"/>
                    <a:ea typeface="+mn-ea"/>
                    <a:cs typeface="Tahoma"/>
                  </a:rPr>
                  <a:t> Additive  </a:t>
                </a:r>
                <a:r>
                  <a:rPr lang="en-MY" sz="1100" i="1" spc="-50" dirty="0">
                    <a:latin typeface="Meiryo UI"/>
                    <a:cs typeface="Meiryo UI"/>
                  </a:rPr>
                  <a:t>→   </a:t>
                </a:r>
                <a:r>
                  <a:rPr lang="en-MY" sz="1100" kern="1200" spc="10" dirty="0">
                    <a:solidFill>
                      <a:schemeClr val="tx1"/>
                    </a:solidFill>
                    <a:latin typeface="Tahoma"/>
                    <a:ea typeface="+mn-ea"/>
                    <a:cs typeface="Tahoma"/>
                  </a:rPr>
                  <a:t>Convex </a:t>
                </a:r>
                <a:r>
                  <a:rPr lang="en-MY" sz="1100" spc="80" dirty="0">
                    <a:latin typeface="Tahoma"/>
                    <a:cs typeface="Tahoma"/>
                  </a:rPr>
                  <a:t> </a:t>
                </a:r>
                <a:r>
                  <a:rPr lang="en-MY" sz="1100" i="1" dirty="0">
                    <a:latin typeface="Meiryo UI"/>
                    <a:cs typeface="Meiryo UI"/>
                  </a:rPr>
                  <a:t>→</a:t>
                </a:r>
                <a:r>
                  <a:rPr lang="en-MY" sz="1100" i="1" spc="480" dirty="0">
                    <a:latin typeface="Meiryo UI"/>
                    <a:cs typeface="Meiryo UI"/>
                  </a:rPr>
                  <a:t> </a:t>
                </a:r>
                <a:r>
                  <a:rPr lang="en-MY" sz="1100" kern="1200" spc="10" dirty="0" err="1">
                    <a:solidFill>
                      <a:schemeClr val="tx1"/>
                    </a:solidFill>
                    <a:latin typeface="Tahoma"/>
                    <a:ea typeface="+mn-ea"/>
                    <a:cs typeface="Tahoma"/>
                  </a:rPr>
                  <a:t>Superadditive</a:t>
                </a:r>
                <a:endParaRPr lang="en-MY" sz="1100" dirty="0">
                  <a:latin typeface="Meiryo UI"/>
                  <a:cs typeface="Meiryo UI"/>
                </a:endParaRPr>
              </a:p>
              <a:p>
                <a:pPr marL="388620">
                  <a:lnSpc>
                    <a:spcPct val="100000"/>
                  </a:lnSpc>
                  <a:spcBef>
                    <a:spcPts val="35"/>
                  </a:spcBef>
                </a:pPr>
                <a:r>
                  <a:rPr sz="1100" i="1" spc="-615" dirty="0">
                    <a:latin typeface="Meiryo UI"/>
                    <a:cs typeface="Meiryo UI"/>
                  </a:rPr>
                  <a:t>↑</a:t>
                </a:r>
                <a:endParaRPr sz="1100" dirty="0">
                  <a:latin typeface="Meiryo UI"/>
                  <a:cs typeface="Meiryo UI"/>
                </a:endParaRPr>
              </a:p>
              <a:p>
                <a:pPr marL="12700">
                  <a:lnSpc>
                    <a:spcPct val="100000"/>
                  </a:lnSpc>
                  <a:spcBef>
                    <a:spcPts val="35"/>
                  </a:spcBef>
                  <a:tabLst>
                    <a:tab pos="1271270" algn="l"/>
                  </a:tabLst>
                </a:pPr>
                <a:r>
                  <a:rPr sz="1100" kern="1200" spc="10" dirty="0">
                    <a:solidFill>
                      <a:schemeClr val="tx1"/>
                    </a:solidFill>
                    <a:latin typeface="Tahoma"/>
                    <a:ea typeface="+mn-ea"/>
                    <a:cs typeface="Tahoma"/>
                  </a:rPr>
                  <a:t>Proper Simple </a:t>
                </a:r>
                <a:r>
                  <a:rPr lang="en-US" sz="1100" kern="1200" spc="10" dirty="0">
                    <a:solidFill>
                      <a:schemeClr val="tx1"/>
                    </a:solidFill>
                    <a:latin typeface="Tahoma"/>
                    <a:ea typeface="+mn-ea"/>
                    <a:cs typeface="Tahoma"/>
                  </a:rPr>
                  <a:t>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endParaRPr lang="en-US" sz="1100" kern="1200" spc="10" dirty="0">
                  <a:solidFill>
                    <a:schemeClr val="tx1"/>
                  </a:solidFill>
                  <a:latin typeface="Tahoma"/>
                  <a:ea typeface="+mn-ea"/>
                  <a:cs typeface="Tahoma"/>
                </a:endParaRPr>
              </a:p>
              <a:p>
                <a:pPr marL="12700">
                  <a:lnSpc>
                    <a:spcPct val="100000"/>
                  </a:lnSpc>
                  <a:spcBef>
                    <a:spcPts val="35"/>
                  </a:spcBef>
                  <a:tabLst>
                    <a:tab pos="1271270" algn="l"/>
                  </a:tabLst>
                </a:pPr>
                <a:endParaRPr lang="en-MY" sz="1100" kern="1200" spc="10" dirty="0">
                  <a:solidFill>
                    <a:schemeClr val="tx1"/>
                  </a:solidFill>
                  <a:latin typeface="Tahoma"/>
                  <a:ea typeface="+mn-ea"/>
                  <a:cs typeface="Tahoma"/>
                </a:endParaRPr>
              </a:p>
              <a:p>
                <a:pPr marL="213360" indent="-175260">
                  <a:lnSpc>
                    <a:spcPct val="100000"/>
                  </a:lnSpc>
                  <a:spcBef>
                    <a:spcPts val="434"/>
                  </a:spcBef>
                  <a:buClr>
                    <a:srgbClr val="3333B2"/>
                  </a:buClr>
                  <a:buFont typeface="Arial"/>
                  <a:buChar char="►"/>
                  <a:tabLst>
                    <a:tab pos="213360" algn="l"/>
                  </a:tabLst>
                </a:pPr>
                <a:r>
                  <a:rPr lang="en-US" sz="1100" kern="1200" spc="10" dirty="0">
                    <a:solidFill>
                      <a:schemeClr val="tx1"/>
                    </a:solidFill>
                    <a:latin typeface="Tahoma"/>
                    <a:ea typeface="+mn-ea"/>
                    <a:cs typeface="Tahoma"/>
                  </a:rPr>
                  <a:t>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 convex game,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endParaRPr lang="en-US" sz="1100" kern="1200" spc="10" dirty="0">
                  <a:solidFill>
                    <a:schemeClr val="tx1"/>
                  </a:solidFill>
                  <a:latin typeface="Tahoma"/>
                  <a:ea typeface="+mn-ea"/>
                  <a:cs typeface="Tahoma"/>
                </a:endParaRPr>
              </a:p>
              <a:p>
                <a:pPr marL="213360" indent="-175260">
                  <a:lnSpc>
                    <a:spcPct val="100000"/>
                  </a:lnSpc>
                  <a:spcBef>
                    <a:spcPts val="334"/>
                  </a:spcBef>
                  <a:buClr>
                    <a:srgbClr val="3333B2"/>
                  </a:buClr>
                  <a:buFont typeface="Arial"/>
                  <a:buChar char="►"/>
                  <a:tabLst>
                    <a:tab pos="213360" algn="l"/>
                  </a:tabLst>
                </a:pPr>
                <a:r>
                  <a:rPr lang="en-US" sz="1100" kern="1200" spc="10" dirty="0">
                    <a:solidFill>
                      <a:schemeClr val="tx1"/>
                    </a:solidFill>
                    <a:latin typeface="Tahoma"/>
                    <a:ea typeface="+mn-ea"/>
                    <a:cs typeface="Tahoma"/>
                  </a:rPr>
                  <a:t>Therefore, 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an additive game,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r>
                  <a:rPr lang="en-US" sz="1100" kern="1200" spc="10" dirty="0">
                    <a:solidFill>
                      <a:schemeClr val="tx1"/>
                    </a:solidFill>
                    <a:ea typeface="Cambria Math" panose="02040503050406030204" pitchFamily="18" charset="0"/>
                    <a:cs typeface="Tahoma"/>
                  </a:rPr>
                  <a:t> </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 </m:t>
                    </m:r>
                  </m:oMath>
                </a14:m>
                <a:r>
                  <a:rPr lang="en-US" sz="1100" kern="1200" spc="10" dirty="0">
                    <a:solidFill>
                      <a:schemeClr val="tx1"/>
                    </a:solidFill>
                    <a:latin typeface="Tahoma"/>
                    <a:ea typeface="+mn-ea"/>
                    <a:cs typeface="Tahoma"/>
                  </a:rPr>
                  <a:t>too</a:t>
                </a:r>
              </a:p>
              <a:p>
                <a:pPr marL="213360" indent="-175260">
                  <a:lnSpc>
                    <a:spcPct val="100000"/>
                  </a:lnSpc>
                  <a:spcBef>
                    <a:spcPts val="330"/>
                  </a:spcBef>
                  <a:buClr>
                    <a:srgbClr val="3333B2"/>
                  </a:buClr>
                  <a:buFont typeface="Arial"/>
                  <a:buChar char="►"/>
                  <a:tabLst>
                    <a:tab pos="213360" algn="l"/>
                  </a:tabLst>
                </a:pPr>
                <a:r>
                  <a:rPr lang="en-US" sz="1100" kern="1200" spc="10" dirty="0">
                    <a:solidFill>
                      <a:schemeClr val="tx1"/>
                    </a:solidFill>
                    <a:latin typeface="Tahoma"/>
                    <a:ea typeface="+mn-ea"/>
                    <a:cs typeface="Tahoma"/>
                  </a:rPr>
                  <a:t>If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constant-sum but not additive, then </a:t>
                </a:r>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endParaRPr lang="en-US" sz="1100" kern="1200" spc="10" dirty="0">
                  <a:solidFill>
                    <a:schemeClr val="tx1"/>
                  </a:solidFill>
                  <a:latin typeface="Tahoma"/>
                  <a:ea typeface="+mn-ea"/>
                  <a:cs typeface="Tahoma"/>
                </a:endParaRPr>
              </a:p>
              <a:p>
                <a:pPr marL="213360" indent="-175260">
                  <a:lnSpc>
                    <a:spcPct val="100000"/>
                  </a:lnSpc>
                  <a:spcBef>
                    <a:spcPts val="335"/>
                  </a:spcBef>
                  <a:buClr>
                    <a:srgbClr val="3333B2"/>
                  </a:buClr>
                  <a:buFont typeface="Arial"/>
                  <a:buChar char="►"/>
                  <a:tabLst>
                    <a:tab pos="213360" algn="l"/>
                  </a:tabLst>
                </a:pPr>
                <a:r>
                  <a:rPr lang="en-US" sz="1100" kern="1200" spc="10" dirty="0">
                    <a:solidFill>
                      <a:schemeClr val="tx1"/>
                    </a:solidFill>
                    <a:latin typeface="Tahoma"/>
                    <a:ea typeface="+mn-ea"/>
                    <a:cs typeface="Tahoma"/>
                  </a:rPr>
                  <a:t>In simple games, core(</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mn-ea"/>
                        <a:cs typeface="Tahoma"/>
                      </a:rPr>
                      <m:t> </m:t>
                    </m:r>
                  </m:oMath>
                </a14:m>
                <a:r>
                  <a:rPr lang="en-US" sz="1100" kern="1200" spc="10" dirty="0">
                    <a:solidFill>
                      <a:schemeClr val="tx1"/>
                    </a:solidFill>
                    <a:latin typeface="Tahoma"/>
                    <a:ea typeface="+mn-ea"/>
                    <a:cs typeface="Tahoma"/>
                  </a:rPr>
                  <a:t>iff there is a </a:t>
                </a:r>
                <a:r>
                  <a:rPr lang="en-US" sz="1100" i="1" kern="1200" spc="10" dirty="0">
                    <a:solidFill>
                      <a:schemeClr val="tx1"/>
                    </a:solidFill>
                    <a:latin typeface="Tahoma"/>
                    <a:ea typeface="+mn-ea"/>
                    <a:cs typeface="Tahoma"/>
                  </a:rPr>
                  <a:t>veto</a:t>
                </a:r>
                <a:r>
                  <a:rPr lang="en-US" sz="1100" kern="1200" spc="10" dirty="0">
                    <a:solidFill>
                      <a:schemeClr val="tx1"/>
                    </a:solidFill>
                    <a:latin typeface="Tahoma"/>
                    <a:ea typeface="+mn-ea"/>
                    <a:cs typeface="Tahoma"/>
                  </a:rPr>
                  <a:t> player.</a:t>
                </a:r>
                <a:r>
                  <a:rPr lang="en-US" sz="1100" kern="1200" spc="10" baseline="30000" dirty="0">
                    <a:solidFill>
                      <a:schemeClr val="tx1"/>
                    </a:solidFill>
                    <a:latin typeface="Tahoma"/>
                    <a:ea typeface="+mn-ea"/>
                    <a:cs typeface="Tahoma"/>
                  </a:rPr>
                  <a:t>2</a:t>
                </a:r>
              </a:p>
              <a:p>
                <a:pPr marL="12700">
                  <a:lnSpc>
                    <a:spcPct val="100000"/>
                  </a:lnSpc>
                  <a:spcBef>
                    <a:spcPts val="35"/>
                  </a:spcBef>
                  <a:tabLst>
                    <a:tab pos="1271270" algn="l"/>
                  </a:tabLst>
                </a:pPr>
                <a:endParaRPr sz="1100" kern="1200" spc="10" dirty="0">
                  <a:solidFill>
                    <a:schemeClr val="tx1"/>
                  </a:solidFill>
                  <a:latin typeface="Tahoma"/>
                  <a:ea typeface="+mn-ea"/>
                  <a:cs typeface="Tahoma"/>
                </a:endParaRPr>
              </a:p>
            </p:txBody>
          </p:sp>
        </mc:Choice>
        <mc:Fallback>
          <p:sp>
            <p:nvSpPr>
              <p:cNvPr id="3" name="object 3"/>
              <p:cNvSpPr txBox="1">
                <a:spLocks noRot="1" noChangeAspect="1" noMove="1" noResize="1" noEditPoints="1" noAdjustHandles="1" noChangeArrowheads="1" noChangeShapeType="1" noTextEdit="1"/>
              </p:cNvSpPr>
              <p:nvPr/>
            </p:nvSpPr>
            <p:spPr>
              <a:xfrm>
                <a:off x="452755" y="1140636"/>
                <a:ext cx="3909695" cy="1701748"/>
              </a:xfrm>
              <a:prstGeom prst="rect">
                <a:avLst/>
              </a:prstGeom>
              <a:blipFill>
                <a:blip r:embed="rId3"/>
                <a:stretch>
                  <a:fillRect l="-1869" t="-2151" r="-312"/>
                </a:stretch>
              </a:blipFill>
            </p:spPr>
            <p:txBody>
              <a:bodyPr/>
              <a:lstStyle/>
              <a:p>
                <a:r>
                  <a:rPr lang="en-MY">
                    <a:noFill/>
                  </a:rPr>
                  <a:t> </a:t>
                </a:r>
              </a:p>
            </p:txBody>
          </p:sp>
        </mc:Fallback>
      </mc:AlternateContent>
      <p:sp>
        <p:nvSpPr>
          <p:cNvPr id="6" name="object 6"/>
          <p:cNvSpPr/>
          <p:nvPr/>
        </p:nvSpPr>
        <p:spPr>
          <a:xfrm>
            <a:off x="359994" y="3160971"/>
            <a:ext cx="1828800" cy="0"/>
          </a:xfrm>
          <a:custGeom>
            <a:avLst/>
            <a:gdLst/>
            <a:ahLst/>
            <a:cxnLst/>
            <a:rect l="l" t="t" r="r" b="b"/>
            <a:pathLst>
              <a:path w="1828800">
                <a:moveTo>
                  <a:pt x="0" y="0"/>
                </a:moveTo>
                <a:lnTo>
                  <a:pt x="1828800" y="0"/>
                </a:lnTo>
              </a:path>
            </a:pathLst>
          </a:custGeom>
          <a:ln w="5054">
            <a:solidFill>
              <a:srgbClr val="000000"/>
            </a:solidFill>
          </a:ln>
        </p:spPr>
        <p:txBody>
          <a:bodyPr wrap="square" lIns="0" tIns="0" rIns="0" bIns="0" rtlCol="0"/>
          <a:lstStyle/>
          <a:p>
            <a:endParaRPr/>
          </a:p>
        </p:txBody>
      </p:sp>
      <p:sp>
        <p:nvSpPr>
          <p:cNvPr id="7" name="object 7"/>
          <p:cNvSpPr txBox="1"/>
          <p:nvPr/>
        </p:nvSpPr>
        <p:spPr>
          <a:xfrm>
            <a:off x="485901" y="3168015"/>
            <a:ext cx="2212975" cy="162560"/>
          </a:xfrm>
          <a:prstGeom prst="rect">
            <a:avLst/>
          </a:prstGeom>
        </p:spPr>
        <p:txBody>
          <a:bodyPr vert="horz" wrap="square" lIns="0" tIns="12065" rIns="0" bIns="0" rtlCol="0">
            <a:spAutoFit/>
          </a:bodyPr>
          <a:lstStyle/>
          <a:p>
            <a:pPr marL="38100">
              <a:lnSpc>
                <a:spcPct val="100000"/>
              </a:lnSpc>
              <a:spcBef>
                <a:spcPts val="95"/>
              </a:spcBef>
            </a:pPr>
            <a:r>
              <a:rPr sz="900" baseline="37037" dirty="0">
                <a:latin typeface="Arial"/>
                <a:cs typeface="Arial"/>
              </a:rPr>
              <a:t>2</a:t>
            </a:r>
            <a:r>
              <a:rPr sz="900" dirty="0">
                <a:latin typeface="Tahoma"/>
                <a:cs typeface="Tahoma"/>
              </a:rPr>
              <a:t>Player</a:t>
            </a:r>
            <a:r>
              <a:rPr sz="900" spc="25" dirty="0">
                <a:latin typeface="Tahoma"/>
                <a:cs typeface="Tahoma"/>
              </a:rPr>
              <a:t> </a:t>
            </a:r>
            <a:r>
              <a:rPr sz="900" i="1" dirty="0">
                <a:latin typeface="Calibri"/>
                <a:cs typeface="Calibri"/>
              </a:rPr>
              <a:t>i</a:t>
            </a:r>
            <a:r>
              <a:rPr sz="900" i="1" spc="190" dirty="0">
                <a:latin typeface="Calibri"/>
                <a:cs typeface="Calibri"/>
              </a:rPr>
              <a:t> </a:t>
            </a:r>
            <a:r>
              <a:rPr sz="900" dirty="0">
                <a:latin typeface="Tahoma"/>
                <a:cs typeface="Tahoma"/>
              </a:rPr>
              <a:t>is</a:t>
            </a:r>
            <a:r>
              <a:rPr sz="900" spc="30" dirty="0">
                <a:latin typeface="Tahoma"/>
                <a:cs typeface="Tahoma"/>
              </a:rPr>
              <a:t> </a:t>
            </a:r>
            <a:r>
              <a:rPr sz="900" dirty="0">
                <a:latin typeface="Tahoma"/>
                <a:cs typeface="Tahoma"/>
              </a:rPr>
              <a:t>a</a:t>
            </a:r>
            <a:r>
              <a:rPr sz="900" spc="25" dirty="0">
                <a:latin typeface="Tahoma"/>
                <a:cs typeface="Tahoma"/>
              </a:rPr>
              <a:t> </a:t>
            </a:r>
            <a:r>
              <a:rPr sz="900" i="1" dirty="0">
                <a:latin typeface="Cambria"/>
                <a:cs typeface="Cambria"/>
              </a:rPr>
              <a:t>veto</a:t>
            </a:r>
            <a:r>
              <a:rPr sz="900" i="1" spc="114" dirty="0">
                <a:latin typeface="Cambria"/>
                <a:cs typeface="Cambria"/>
              </a:rPr>
              <a:t> </a:t>
            </a:r>
            <a:r>
              <a:rPr sz="900" spc="-25" dirty="0">
                <a:latin typeface="Tahoma"/>
                <a:cs typeface="Tahoma"/>
              </a:rPr>
              <a:t>player</a:t>
            </a:r>
            <a:r>
              <a:rPr sz="900" spc="30" dirty="0">
                <a:latin typeface="Tahoma"/>
                <a:cs typeface="Tahoma"/>
              </a:rPr>
              <a:t> </a:t>
            </a:r>
            <a:r>
              <a:rPr sz="900" dirty="0">
                <a:latin typeface="Tahoma"/>
                <a:cs typeface="Tahoma"/>
              </a:rPr>
              <a:t>iff</a:t>
            </a:r>
            <a:r>
              <a:rPr sz="900" spc="25" dirty="0">
                <a:latin typeface="Tahoma"/>
                <a:cs typeface="Tahoma"/>
              </a:rPr>
              <a:t> </a:t>
            </a:r>
            <a:r>
              <a:rPr sz="900" i="1" dirty="0">
                <a:latin typeface="Calibri"/>
                <a:cs typeface="Calibri"/>
              </a:rPr>
              <a:t>v</a:t>
            </a:r>
            <a:r>
              <a:rPr sz="900" i="1" spc="-110" dirty="0">
                <a:latin typeface="Calibri"/>
                <a:cs typeface="Calibri"/>
              </a:rPr>
              <a:t> </a:t>
            </a:r>
            <a:r>
              <a:rPr sz="900" dirty="0">
                <a:latin typeface="Tahoma"/>
                <a:cs typeface="Tahoma"/>
              </a:rPr>
              <a:t>(</a:t>
            </a:r>
            <a:r>
              <a:rPr sz="900" i="1" dirty="0">
                <a:latin typeface="Calibri"/>
                <a:cs typeface="Calibri"/>
              </a:rPr>
              <a:t>N</a:t>
            </a:r>
            <a:r>
              <a:rPr sz="900" i="1" spc="75" dirty="0">
                <a:latin typeface="Calibri"/>
                <a:cs typeface="Calibri"/>
              </a:rPr>
              <a:t> </a:t>
            </a:r>
            <a:r>
              <a:rPr sz="900" i="1" dirty="0">
                <a:latin typeface="Sitka Small"/>
                <a:cs typeface="Sitka Small"/>
              </a:rPr>
              <a:t>\</a:t>
            </a:r>
            <a:r>
              <a:rPr sz="900" i="1" spc="-75" dirty="0">
                <a:latin typeface="Sitka Small"/>
                <a:cs typeface="Sitka Small"/>
              </a:rPr>
              <a:t> </a:t>
            </a:r>
            <a:r>
              <a:rPr sz="900" i="1" dirty="0">
                <a:latin typeface="Sitka Small"/>
                <a:cs typeface="Sitka Small"/>
              </a:rPr>
              <a:t>{</a:t>
            </a:r>
            <a:r>
              <a:rPr sz="900" i="1" dirty="0">
                <a:latin typeface="Calibri"/>
                <a:cs typeface="Calibri"/>
              </a:rPr>
              <a:t>i</a:t>
            </a:r>
            <a:r>
              <a:rPr sz="900" i="1" dirty="0">
                <a:latin typeface="Sitka Small"/>
                <a:cs typeface="Sitka Small"/>
              </a:rPr>
              <a:t>}</a:t>
            </a:r>
            <a:r>
              <a:rPr sz="900" dirty="0">
                <a:latin typeface="Tahoma"/>
                <a:cs typeface="Tahoma"/>
              </a:rPr>
              <a:t>)</a:t>
            </a:r>
            <a:r>
              <a:rPr sz="900" spc="-25" dirty="0">
                <a:latin typeface="Tahoma"/>
                <a:cs typeface="Tahoma"/>
              </a:rPr>
              <a:t> </a:t>
            </a:r>
            <a:r>
              <a:rPr sz="900" spc="65" dirty="0">
                <a:latin typeface="Tahoma"/>
                <a:cs typeface="Tahoma"/>
              </a:rPr>
              <a:t>=</a:t>
            </a:r>
            <a:r>
              <a:rPr sz="900" spc="-25" dirty="0">
                <a:latin typeface="Tahoma"/>
                <a:cs typeface="Tahoma"/>
              </a:rPr>
              <a:t> 0.</a:t>
            </a:r>
            <a:endParaRPr sz="900">
              <a:latin typeface="Tahoma"/>
              <a:cs typeface="Tahoma"/>
            </a:endParaRPr>
          </a:p>
        </p:txBody>
      </p:sp>
      <p:sp>
        <p:nvSpPr>
          <p:cNvPr id="8" name="Date Placeholder 3">
            <a:extLst>
              <a:ext uri="{FF2B5EF4-FFF2-40B4-BE49-F238E27FC236}">
                <a16:creationId xmlns:a16="http://schemas.microsoft.com/office/drawing/2014/main" id="{C0AAA7EF-72A2-405E-B1B4-DAD1EA3DB080}"/>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ooter Placeholder 5">
            <a:extLst>
              <a:ext uri="{FF2B5EF4-FFF2-40B4-BE49-F238E27FC236}">
                <a16:creationId xmlns:a16="http://schemas.microsoft.com/office/drawing/2014/main" id="{13256EC3-57D5-49BE-86F9-E74C0F3F9609}"/>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10" name="Slide Number Placeholder 7">
            <a:extLst>
              <a:ext uri="{FF2B5EF4-FFF2-40B4-BE49-F238E27FC236}">
                <a16:creationId xmlns:a16="http://schemas.microsoft.com/office/drawing/2014/main" id="{A02123EF-4831-414A-B2C7-CCDC75A919FA}"/>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33</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Properties</a:t>
            </a:r>
            <a:r>
              <a:rPr spc="100" dirty="0"/>
              <a:t> </a:t>
            </a:r>
            <a:r>
              <a:rPr dirty="0"/>
              <a:t>of</a:t>
            </a:r>
            <a:r>
              <a:rPr spc="100" dirty="0"/>
              <a:t> </a:t>
            </a:r>
            <a:r>
              <a:rPr dirty="0"/>
              <a:t>classes</a:t>
            </a:r>
            <a:r>
              <a:rPr spc="100" dirty="0"/>
              <a:t> </a:t>
            </a:r>
            <a:r>
              <a:rPr dirty="0"/>
              <a:t>of</a:t>
            </a:r>
            <a:r>
              <a:rPr spc="10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174092" y="514724"/>
                <a:ext cx="4366106" cy="2725746"/>
              </a:xfrm>
              <a:prstGeom prst="rect">
                <a:avLst/>
              </a:prstGeom>
            </p:spPr>
            <p:txBody>
              <a:bodyPr vert="horz" wrap="square" lIns="0" tIns="11430" rIns="0" bIns="0" rtlCol="0">
                <a:spAutoFit/>
              </a:bodyPr>
              <a:lstStyle/>
              <a:p>
                <a:pPr marL="22860">
                  <a:spcBef>
                    <a:spcPts val="90"/>
                  </a:spcBef>
                  <a:tabLst>
                    <a:tab pos="960755" algn="l"/>
                  </a:tabLst>
                </a:pPr>
                <a:r>
                  <a:rPr sz="1100" kern="1200" spc="10" dirty="0">
                    <a:solidFill>
                      <a:schemeClr val="tx1"/>
                    </a:solidFill>
                    <a:latin typeface="Tahoma"/>
                    <a:ea typeface="+mn-ea"/>
                    <a:cs typeface="Tahoma"/>
                  </a:rPr>
                  <a:t>Constant-sum</a:t>
                </a:r>
                <a:r>
                  <a:rPr sz="1100" dirty="0">
                    <a:latin typeface="Tahoma"/>
                    <a:cs typeface="Tahoma"/>
                  </a:rPr>
                  <a:t>	</a:t>
                </a:r>
                <a:r>
                  <a:rPr sz="1100" i="1" dirty="0">
                    <a:latin typeface="Meiryo UI"/>
                    <a:cs typeface="Meiryo UI"/>
                  </a:rPr>
                  <a:t>←</a:t>
                </a:r>
                <a:r>
                  <a:rPr sz="1100" i="1" spc="80" dirty="0">
                    <a:latin typeface="Meiryo UI"/>
                    <a:cs typeface="Meiryo UI"/>
                  </a:rPr>
                  <a:t> </a:t>
                </a:r>
                <a:r>
                  <a:rPr sz="1100" kern="1200" spc="10" dirty="0">
                    <a:solidFill>
                      <a:schemeClr val="tx1"/>
                    </a:solidFill>
                    <a:latin typeface="Tahoma"/>
                    <a:ea typeface="+mn-ea"/>
                    <a:cs typeface="Tahoma"/>
                  </a:rPr>
                  <a:t> Additive  </a:t>
                </a:r>
                <a:r>
                  <a:rPr sz="1100" i="1" spc="-50" dirty="0">
                    <a:latin typeface="Meiryo UI"/>
                    <a:cs typeface="Meiryo UI"/>
                  </a:rPr>
                  <a:t>→</a:t>
                </a:r>
                <a:r>
                  <a:rPr lang="en-US" sz="1100" i="1" spc="-50" dirty="0">
                    <a:latin typeface="Meiryo UI"/>
                    <a:cs typeface="Meiryo UI"/>
                  </a:rPr>
                  <a:t> </a:t>
                </a:r>
                <a:r>
                  <a:rPr lang="en-MY" sz="1100" kern="1200" spc="10" dirty="0">
                    <a:solidFill>
                      <a:schemeClr val="tx1"/>
                    </a:solidFill>
                    <a:latin typeface="Tahoma"/>
                    <a:ea typeface="+mn-ea"/>
                    <a:cs typeface="Tahoma"/>
                  </a:rPr>
                  <a:t>Convex</a:t>
                </a:r>
                <a:r>
                  <a:rPr lang="en-MY" sz="1100" spc="80" dirty="0">
                    <a:latin typeface="Tahoma"/>
                    <a:cs typeface="Tahoma"/>
                  </a:rPr>
                  <a:t>  </a:t>
                </a:r>
                <a:r>
                  <a:rPr lang="en-MY" sz="1100" i="1" dirty="0">
                    <a:latin typeface="Meiryo UI"/>
                    <a:cs typeface="Meiryo UI"/>
                  </a:rPr>
                  <a:t>→</a:t>
                </a:r>
                <a:r>
                  <a:rPr lang="en-MY" sz="1100" i="1" spc="480" dirty="0">
                    <a:latin typeface="Meiryo UI"/>
                    <a:cs typeface="Meiryo UI"/>
                  </a:rPr>
                  <a:t> </a:t>
                </a:r>
                <a:r>
                  <a:rPr lang="en-MY" sz="1100" kern="1200" spc="10" dirty="0" err="1">
                    <a:solidFill>
                      <a:schemeClr val="tx1"/>
                    </a:solidFill>
                    <a:latin typeface="Tahoma"/>
                    <a:ea typeface="+mn-ea"/>
                    <a:cs typeface="Tahoma"/>
                  </a:rPr>
                  <a:t>Superadditive</a:t>
                </a:r>
                <a:endParaRPr sz="1100" dirty="0">
                  <a:latin typeface="Meiryo UI"/>
                  <a:cs typeface="Meiryo UI"/>
                </a:endParaRPr>
              </a:p>
              <a:p>
                <a:pPr marL="388620">
                  <a:lnSpc>
                    <a:spcPct val="100000"/>
                  </a:lnSpc>
                  <a:spcBef>
                    <a:spcPts val="35"/>
                  </a:spcBef>
                </a:pPr>
                <a:r>
                  <a:rPr sz="1100" i="1" spc="-615" dirty="0">
                    <a:latin typeface="Meiryo UI"/>
                    <a:cs typeface="Meiryo UI"/>
                  </a:rPr>
                  <a:t>↑</a:t>
                </a:r>
                <a:endParaRPr sz="1100" dirty="0">
                  <a:latin typeface="Meiryo UI"/>
                  <a:cs typeface="Meiryo UI"/>
                </a:endParaRPr>
              </a:p>
              <a:p>
                <a:pPr marL="12700">
                  <a:lnSpc>
                    <a:spcPct val="100000"/>
                  </a:lnSpc>
                  <a:spcBef>
                    <a:spcPts val="35"/>
                  </a:spcBef>
                  <a:tabLst>
                    <a:tab pos="1271270" algn="l"/>
                  </a:tabLst>
                </a:pPr>
                <a:r>
                  <a:rPr lang="en-MY" sz="1100" kern="1200" spc="10" dirty="0">
                    <a:solidFill>
                      <a:schemeClr val="tx1"/>
                    </a:solidFill>
                    <a:latin typeface="Tahoma"/>
                    <a:ea typeface="+mn-ea"/>
                    <a:cs typeface="Tahoma"/>
                  </a:rPr>
                  <a:t>Proper Simple </a:t>
                </a:r>
                <a:r>
                  <a:rPr sz="1100" i="1" spc="-50" dirty="0">
                    <a:latin typeface="Meiryo UI"/>
                    <a:cs typeface="Meiryo UI"/>
                  </a:rPr>
                  <a:t>→</a:t>
                </a:r>
                <a:r>
                  <a:rPr sz="1100" i="1" dirty="0">
                    <a:latin typeface="Meiryo UI"/>
                    <a:cs typeface="Meiryo UI"/>
                  </a:rPr>
                  <a:t>	</a:t>
                </a:r>
                <a:r>
                  <a:rPr sz="1100" kern="1200" spc="10" dirty="0">
                    <a:solidFill>
                      <a:schemeClr val="tx1"/>
                    </a:solidFill>
                    <a:latin typeface="Tahoma"/>
                    <a:ea typeface="+mn-ea"/>
                    <a:cs typeface="Tahoma"/>
                  </a:rPr>
                  <a:t>Simple</a:t>
                </a:r>
                <a:endParaRPr lang="en-US" sz="1100" kern="1200" spc="10" dirty="0">
                  <a:solidFill>
                    <a:schemeClr val="tx1"/>
                  </a:solidFill>
                  <a:latin typeface="Tahoma"/>
                  <a:ea typeface="+mn-ea"/>
                  <a:cs typeface="Tahoma"/>
                </a:endParaRPr>
              </a:p>
              <a:p>
                <a:pPr marL="12700">
                  <a:lnSpc>
                    <a:spcPct val="100000"/>
                  </a:lnSpc>
                  <a:spcBef>
                    <a:spcPts val="35"/>
                  </a:spcBef>
                  <a:tabLst>
                    <a:tab pos="1271270" algn="l"/>
                  </a:tabLst>
                </a:pPr>
                <a:endParaRPr lang="en-MY" sz="1100" kern="1200" spc="10" dirty="0">
                  <a:solidFill>
                    <a:schemeClr val="tx1"/>
                  </a:solidFill>
                  <a:latin typeface="Tahoma"/>
                  <a:ea typeface="+mn-ea"/>
                  <a:cs typeface="Tahoma"/>
                </a:endParaRPr>
              </a:p>
              <a:p>
                <a:pPr marL="50800">
                  <a:lnSpc>
                    <a:spcPct val="100000"/>
                  </a:lnSpc>
                  <a:spcBef>
                    <a:spcPts val="250"/>
                  </a:spcBef>
                </a:pPr>
                <a:r>
                  <a:rPr lang="en-US" sz="1100" i="1" kern="1200" spc="10" dirty="0">
                    <a:solidFill>
                      <a:schemeClr val="tx1"/>
                    </a:solidFill>
                    <a:latin typeface="Tahoma"/>
                    <a:ea typeface="+mn-ea"/>
                    <a:cs typeface="Tahoma"/>
                  </a:rPr>
                  <a:t>Summary</a:t>
                </a:r>
                <a:r>
                  <a:rPr lang="en-US" sz="1100" kern="1200" spc="10" dirty="0">
                    <a:solidFill>
                      <a:schemeClr val="tx1"/>
                    </a:solidFill>
                    <a:latin typeface="Tahoma"/>
                    <a:ea typeface="+mn-ea"/>
                    <a:cs typeface="Tahoma"/>
                  </a:rPr>
                  <a:t>. Games with a non-empty core, i.e., with</a:t>
                </a:r>
                <a:r>
                  <a:rPr lang="en-US" sz="1100" b="1" kern="1200" spc="10" dirty="0">
                    <a:solidFill>
                      <a:schemeClr val="tx1"/>
                    </a:solidFill>
                    <a:latin typeface="Tahoma"/>
                    <a:ea typeface="+mn-ea"/>
                    <a:cs typeface="Tahoma"/>
                  </a:rPr>
                  <a:t> 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r>
                      <a:rPr lang="en-US" sz="1100" i="1" kern="1200" spc="10" dirty="0" smtClean="0">
                        <a:solidFill>
                          <a:schemeClr val="tx1"/>
                        </a:solidFill>
                        <a:latin typeface="Cambria Math" panose="02040503050406030204" pitchFamily="18" charset="0"/>
                        <a:ea typeface="Cambria Math" panose="02040503050406030204" pitchFamily="18" charset="0"/>
                        <a:cs typeface="Tahoma"/>
                      </a:rPr>
                      <m:t>∅</m:t>
                    </m:r>
                  </m:oMath>
                </a14:m>
                <a:r>
                  <a:rPr lang="en-US" sz="1100" kern="1200" spc="10" dirty="0">
                    <a:solidFill>
                      <a:schemeClr val="tx1"/>
                    </a:solidFill>
                    <a:latin typeface="Tahoma"/>
                    <a:ea typeface="+mn-ea"/>
                    <a:cs typeface="Tahoma"/>
                  </a:rPr>
                  <a:t>:</a:t>
                </a:r>
              </a:p>
              <a:p>
                <a:pPr marL="325755" indent="-175260">
                  <a:lnSpc>
                    <a:spcPct val="100000"/>
                  </a:lnSpc>
                  <a:spcBef>
                    <a:spcPts val="155"/>
                  </a:spcBef>
                  <a:buClr>
                    <a:srgbClr val="3333B2"/>
                  </a:buClr>
                  <a:buFont typeface="Arial"/>
                  <a:buChar char="►"/>
                  <a:tabLst>
                    <a:tab pos="325755" algn="l"/>
                  </a:tabLst>
                </a:pPr>
                <a:r>
                  <a:rPr lang="en-US" sz="1100" kern="1200" spc="10" dirty="0">
                    <a:solidFill>
                      <a:schemeClr val="tx1"/>
                    </a:solidFill>
                    <a:latin typeface="Tahoma"/>
                    <a:ea typeface="+mn-ea"/>
                    <a:cs typeface="Tahoma"/>
                  </a:rPr>
                  <a:t>Convex</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Additive</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Constant-sum, only when it is additive</a:t>
                </a:r>
              </a:p>
              <a:p>
                <a:pPr marL="325755" indent="-175260">
                  <a:lnSpc>
                    <a:spcPct val="100000"/>
                  </a:lnSpc>
                  <a:spcBef>
                    <a:spcPts val="114"/>
                  </a:spcBef>
                  <a:buClr>
                    <a:srgbClr val="3333B2"/>
                  </a:buClr>
                  <a:buFont typeface="Arial"/>
                  <a:buChar char="►"/>
                  <a:tabLst>
                    <a:tab pos="325755" algn="l"/>
                  </a:tabLst>
                </a:pPr>
                <a:r>
                  <a:rPr lang="en-US" sz="1100" kern="1200" spc="10" dirty="0">
                    <a:solidFill>
                      <a:schemeClr val="tx1"/>
                    </a:solidFill>
                    <a:latin typeface="Tahoma"/>
                    <a:ea typeface="+mn-ea"/>
                    <a:cs typeface="Tahoma"/>
                  </a:rPr>
                  <a:t>Simple (and proper simple) with a veto player</a:t>
                </a:r>
              </a:p>
              <a:p>
                <a:pPr>
                  <a:lnSpc>
                    <a:spcPct val="100000"/>
                  </a:lnSpc>
                  <a:spcBef>
                    <a:spcPts val="180"/>
                  </a:spcBef>
                  <a:buClr>
                    <a:srgbClr val="3333B2"/>
                  </a:buClr>
                  <a:buFont typeface="Arial"/>
                  <a:buChar char="►"/>
                </a:pPr>
                <a:endParaRPr lang="en-US" sz="1100" dirty="0">
                  <a:latin typeface="Tahoma"/>
                  <a:cs typeface="Tahoma"/>
                </a:endParaRPr>
              </a:p>
              <a:p>
                <a:pPr marL="50800">
                  <a:lnSpc>
                    <a:spcPct val="100000"/>
                  </a:lnSpc>
                </a:pPr>
                <a:r>
                  <a:rPr lang="en-US" sz="1100" i="1" kern="1200" spc="10" dirty="0">
                    <a:solidFill>
                      <a:schemeClr val="tx1"/>
                    </a:solidFill>
                    <a:latin typeface="Tahoma"/>
                    <a:ea typeface="+mn-ea"/>
                    <a:cs typeface="Tahoma"/>
                  </a:rPr>
                  <a:t>Is the Shapley value in the core?</a:t>
                </a:r>
              </a:p>
              <a:p>
                <a:pPr marL="325755" indent="-175260">
                  <a:lnSpc>
                    <a:spcPct val="100000"/>
                  </a:lnSpc>
                  <a:spcBef>
                    <a:spcPts val="150"/>
                  </a:spcBef>
                  <a:buClr>
                    <a:srgbClr val="3333B2"/>
                  </a:buClr>
                  <a:buFont typeface="Arial"/>
                  <a:buChar char="►"/>
                  <a:tabLst>
                    <a:tab pos="325755" algn="l"/>
                  </a:tabLst>
                </a:pPr>
                <a:r>
                  <a:rPr lang="en-US" sz="1100" kern="1200" spc="10" dirty="0">
                    <a:solidFill>
                      <a:schemeClr val="tx1"/>
                    </a:solidFill>
                    <a:latin typeface="Tahoma"/>
                    <a:ea typeface="+mn-ea"/>
                    <a:cs typeface="Tahoma"/>
                  </a:rPr>
                  <a:t>The Shapley value is in the core of every convex game</a:t>
                </a:r>
              </a:p>
              <a:p>
                <a:pPr marL="325755" indent="-175260">
                  <a:lnSpc>
                    <a:spcPct val="100000"/>
                  </a:lnSpc>
                  <a:spcBef>
                    <a:spcPts val="120"/>
                  </a:spcBef>
                  <a:buClr>
                    <a:srgbClr val="3333B2"/>
                  </a:buClr>
                  <a:buFont typeface="Arial"/>
                  <a:buChar char="►"/>
                  <a:tabLst>
                    <a:tab pos="325755" algn="l"/>
                  </a:tabLst>
                </a:pPr>
                <a:r>
                  <a:rPr lang="en-US" sz="1100" kern="1200" spc="10" dirty="0">
                    <a:solidFill>
                      <a:schemeClr val="tx1"/>
                    </a:solidFill>
                    <a:latin typeface="Tahoma"/>
                    <a:ea typeface="+mn-ea"/>
                    <a:cs typeface="Tahoma"/>
                  </a:rPr>
                  <a:t>Hence, the Shapley value is in the core of every additive game</a:t>
                </a:r>
              </a:p>
              <a:p>
                <a:pPr marL="325755" marR="72390" indent="-175260">
                  <a:lnSpc>
                    <a:spcPct val="102600"/>
                  </a:lnSpc>
                  <a:spcBef>
                    <a:spcPts val="80"/>
                  </a:spcBef>
                  <a:buClr>
                    <a:srgbClr val="3333B2"/>
                  </a:buClr>
                  <a:buFont typeface="Arial"/>
                  <a:buChar char="►"/>
                  <a:tabLst>
                    <a:tab pos="327660" algn="l"/>
                  </a:tabLst>
                </a:pPr>
                <a:r>
                  <a:rPr lang="en-US" sz="1100" kern="1200" spc="10" dirty="0">
                    <a:solidFill>
                      <a:schemeClr val="tx1"/>
                    </a:solidFill>
                    <a:latin typeface="Tahoma"/>
                    <a:ea typeface="+mn-ea"/>
                    <a:cs typeface="Tahoma"/>
                  </a:rPr>
                  <a:t>Hence, the Shapley value is in the core of every constant-sum 	game when the set is not empty – when the game is additive.</a:t>
                </a:r>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174092" y="514724"/>
                <a:ext cx="4366106" cy="2725746"/>
              </a:xfrm>
              <a:prstGeom prst="rect">
                <a:avLst/>
              </a:prstGeom>
              <a:blipFill>
                <a:blip r:embed="rId3"/>
                <a:stretch>
                  <a:fillRect l="-1816" t="-1116" b="-2232"/>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32B53B7C-2416-4C86-8A5B-20C1B09390F7}"/>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F17BE7A2-9B0D-4D90-BD0C-AC1A6496F9DE}"/>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3797D43A-F28A-4134-8E91-8E9FCA8A4B98}"/>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34</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40" dirty="0"/>
              <a:t> </a:t>
            </a:r>
            <a:r>
              <a:rPr spc="55" dirty="0"/>
              <a:t>The</a:t>
            </a:r>
            <a:r>
              <a:rPr spc="110" dirty="0"/>
              <a:t> </a:t>
            </a:r>
            <a:r>
              <a:rPr dirty="0"/>
              <a:t>core</a:t>
            </a:r>
            <a:r>
              <a:rPr spc="105" dirty="0"/>
              <a:t> </a:t>
            </a:r>
            <a:r>
              <a:rPr dirty="0"/>
              <a:t>and</a:t>
            </a:r>
            <a:r>
              <a:rPr spc="105" dirty="0"/>
              <a:t> </a:t>
            </a:r>
            <a:r>
              <a:rPr dirty="0"/>
              <a:t>Shapley</a:t>
            </a:r>
            <a:r>
              <a:rPr spc="110" dirty="0"/>
              <a:t> </a:t>
            </a:r>
            <a:r>
              <a:rPr dirty="0"/>
              <a:t>value</a:t>
            </a:r>
            <a:r>
              <a:rPr spc="105" dirty="0"/>
              <a:t> </a:t>
            </a:r>
            <a:r>
              <a:rPr dirty="0"/>
              <a:t>in</a:t>
            </a:r>
            <a:r>
              <a:rPr spc="110" dirty="0"/>
              <a:t> </a:t>
            </a:r>
            <a:r>
              <a:rPr dirty="0"/>
              <a:t>simple</a:t>
            </a:r>
            <a:r>
              <a:rPr spc="105" dirty="0"/>
              <a:t> </a:t>
            </a:r>
            <a:r>
              <a:rPr spc="-10" dirty="0"/>
              <a:t>games</a:t>
            </a:r>
          </a:p>
        </p:txBody>
      </p:sp>
      <mc:AlternateContent xmlns:mc="http://schemas.openxmlformats.org/markup-compatibility/2006" xmlns:a14="http://schemas.microsoft.com/office/drawing/2010/main">
        <mc:Choice Requires="a14">
          <p:sp>
            <p:nvSpPr>
              <p:cNvPr id="3" name="object 3"/>
              <p:cNvSpPr txBox="1"/>
              <p:nvPr/>
            </p:nvSpPr>
            <p:spPr>
              <a:xfrm>
                <a:off x="309194" y="382547"/>
                <a:ext cx="4358056" cy="1127232"/>
              </a:xfrm>
              <a:prstGeom prst="rect">
                <a:avLst/>
              </a:prstGeom>
            </p:spPr>
            <p:txBody>
              <a:bodyPr vert="horz" wrap="square" lIns="0" tIns="34290" rIns="0" bIns="0" rtlCol="0">
                <a:spAutoFit/>
              </a:bodyPr>
              <a:lstStyle/>
              <a:p>
                <a:pPr marL="50800">
                  <a:lnSpc>
                    <a:spcPct val="100000"/>
                  </a:lnSpc>
                  <a:spcBef>
                    <a:spcPts val="270"/>
                  </a:spcBef>
                </a:pPr>
                <a:r>
                  <a:rPr sz="1100" kern="1200" spc="10" dirty="0">
                    <a:solidFill>
                      <a:schemeClr val="tx1"/>
                    </a:solidFill>
                    <a:latin typeface="Tahoma"/>
                    <a:ea typeface="+mn-ea"/>
                    <a:cs typeface="Tahoma"/>
                  </a:rPr>
                  <a:t>Is the core of the following (simple) game </a:t>
                </a: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𝐺</m:t>
                    </m:r>
                  </m:oMath>
                </a14:m>
                <a:r>
                  <a:rPr sz="1100" kern="1200" spc="10" dirty="0">
                    <a:solidFill>
                      <a:schemeClr val="tx1"/>
                    </a:solidFill>
                    <a:latin typeface="Tahoma"/>
                    <a:ea typeface="+mn-ea"/>
                    <a:cs typeface="Tahoma"/>
                  </a:rPr>
                  <a:t> not empty?</a:t>
                </a:r>
              </a:p>
              <a:p>
                <a:pPr marL="325755" indent="-175260">
                  <a:lnSpc>
                    <a:spcPct val="100000"/>
                  </a:lnSpc>
                  <a:spcBef>
                    <a:spcPts val="170"/>
                  </a:spcBef>
                  <a:buClr>
                    <a:srgbClr val="3333B2"/>
                  </a:buClr>
                  <a:buFont typeface="Arial"/>
                  <a:buChar char="►"/>
                  <a:tabLst>
                    <a:tab pos="325755" algn="l"/>
                  </a:tabLst>
                </a:pPr>
                <a14:m>
                  <m:oMath xmlns:m="http://schemas.openxmlformats.org/officeDocument/2006/math">
                    <m:r>
                      <a:rPr lang="en-MY" sz="1100" i="1" dirty="0" smtClean="0">
                        <a:latin typeface="Cambria Math" panose="02040503050406030204" pitchFamily="18" charset="0"/>
                        <a:cs typeface="Arial"/>
                      </a:rPr>
                      <m:t>𝑁</m:t>
                    </m:r>
                    <m:r>
                      <a:rPr lang="en-MY" sz="1100" i="1" spc="100"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30" dirty="0">
                        <a:latin typeface="Cambria Math" panose="02040503050406030204" pitchFamily="18" charset="0"/>
                        <a:cs typeface="Tahoma"/>
                      </a:rPr>
                      <m:t> </m:t>
                    </m:r>
                    <m:r>
                      <a:rPr lang="en-MY" sz="1100" i="1" spc="-65" dirty="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5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p>
                <a:pPr marL="325755" indent="-175260">
                  <a:lnSpc>
                    <a:spcPct val="100000"/>
                  </a:lnSpc>
                  <a:spcBef>
                    <a:spcPts val="140"/>
                  </a:spcBef>
                  <a:buClr>
                    <a:srgbClr val="3333B2"/>
                  </a:buClr>
                  <a:buFont typeface="Arial"/>
                  <a:buChar char="►"/>
                  <a:tabLst>
                    <a:tab pos="325755" algn="l"/>
                  </a:tabLst>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125" dirty="0">
                        <a:latin typeface="Cambria Math" panose="02040503050406030204" pitchFamily="18" charset="0"/>
                        <a:cs typeface="Tahoma"/>
                      </a:rPr>
                      <m:t>(</m:t>
                    </m:r>
                    <m:r>
                      <a:rPr lang="en-MY" sz="1100" i="1" spc="-125" dirty="0">
                        <a:latin typeface="Cambria Math" panose="02040503050406030204" pitchFamily="18" charset="0"/>
                        <a:cs typeface="Meiryo UI"/>
                      </a:rPr>
                      <m:t>∅</m:t>
                    </m:r>
                    <m:r>
                      <a:rPr lang="en-MY" sz="1100" i="1" spc="-125"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2</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p>
                <a:pPr marL="327660">
                  <a:lnSpc>
                    <a:spcPct val="100000"/>
                  </a:lnSpc>
                  <a:spcBef>
                    <a:spcPts val="135"/>
                  </a:spcBef>
                </a:pPr>
                <a14:m>
                  <m:oMath xmlns:m="http://schemas.openxmlformats.org/officeDocument/2006/math">
                    <m:r>
                      <a:rPr lang="en-MY" sz="1100" i="1" spc="-55" dirty="0" smtClean="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70" dirty="0">
                        <a:latin typeface="Cambria Math" panose="02040503050406030204" pitchFamily="18" charset="0"/>
                        <a:cs typeface="Tahoma"/>
                      </a:rPr>
                      <m:t>(</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1</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2</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75"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15" dirty="0">
                        <a:latin typeface="Cambria Math" panose="02040503050406030204" pitchFamily="18" charset="0"/>
                        <a:cs typeface="Tahoma"/>
                      </a:rPr>
                      <m:t> </m:t>
                    </m:r>
                    <m:r>
                      <a:rPr lang="en-MY" sz="1100" i="1" spc="-55" dirty="0">
                        <a:latin typeface="Cambria Math" panose="02040503050406030204" pitchFamily="18" charset="0"/>
                        <a:cs typeface="Arial"/>
                      </a:rPr>
                      <m:t>𝑣</m:t>
                    </m:r>
                    <m:r>
                      <a:rPr lang="en-MY" sz="1100" i="1" spc="-180" dirty="0">
                        <a:latin typeface="Cambria Math" panose="02040503050406030204" pitchFamily="18" charset="0"/>
                        <a:cs typeface="Arial"/>
                      </a:rPr>
                      <m:t> </m:t>
                    </m:r>
                    <m:r>
                      <a:rPr lang="en-MY" sz="1100" i="1" spc="-50" dirty="0">
                        <a:latin typeface="Cambria Math" panose="02040503050406030204" pitchFamily="18" charset="0"/>
                        <a:cs typeface="Tahoma"/>
                      </a:rPr>
                      <m:t>(</m:t>
                    </m:r>
                    <m:r>
                      <a:rPr lang="en-MY" sz="1100" i="1" spc="-50" dirty="0">
                        <a:latin typeface="Cambria Math" panose="02040503050406030204" pitchFamily="18" charset="0"/>
                        <a:cs typeface="Meiryo UI"/>
                      </a:rPr>
                      <m:t>{</m:t>
                    </m:r>
                    <m:r>
                      <a:rPr lang="en-MY" sz="1100" i="1" spc="-50" dirty="0">
                        <a:latin typeface="Cambria Math" panose="02040503050406030204" pitchFamily="18" charset="0"/>
                        <a:cs typeface="Tahoma"/>
                      </a:rPr>
                      <m:t>1</m:t>
                    </m:r>
                    <m:r>
                      <a:rPr lang="en-MY" sz="1100" i="1" spc="-5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35" dirty="0">
                        <a:latin typeface="Cambria Math" panose="02040503050406030204" pitchFamily="18" charset="0"/>
                        <a:cs typeface="Adobe Text Pro"/>
                      </a:rPr>
                      <m:t> </m:t>
                    </m:r>
                    <m:r>
                      <a:rPr lang="en-MY" sz="1100" i="1" spc="-70" dirty="0">
                        <a:latin typeface="Cambria Math" panose="02040503050406030204" pitchFamily="18" charset="0"/>
                        <a:cs typeface="Tahoma"/>
                      </a:rPr>
                      <m:t>3</m:t>
                    </m:r>
                    <m:r>
                      <a:rPr lang="en-MY" sz="1100" i="1" spc="-70" dirty="0">
                        <a:latin typeface="Cambria Math" panose="02040503050406030204" pitchFamily="18" charset="0"/>
                        <a:cs typeface="Meiryo UI"/>
                      </a:rPr>
                      <m:t>}</m:t>
                    </m:r>
                    <m:r>
                      <a:rPr lang="en-MY" sz="1100" i="1" spc="-70" dirty="0">
                        <a:latin typeface="Cambria Math" panose="02040503050406030204" pitchFamily="18" charset="0"/>
                        <a:cs typeface="Tahoma"/>
                      </a:rPr>
                      <m:t>)</m:t>
                    </m:r>
                    <m:r>
                      <a:rPr lang="en-MY" sz="1100" i="1" spc="-10" dirty="0">
                        <a:latin typeface="Cambria Math" panose="02040503050406030204" pitchFamily="18" charset="0"/>
                        <a:cs typeface="Tahoma"/>
                      </a:rPr>
                      <m:t> </m:t>
                    </m:r>
                    <m:r>
                      <a:rPr lang="en-MY" sz="1100" i="1" dirty="0">
                        <a:latin typeface="Cambria Math" panose="02040503050406030204" pitchFamily="18" charset="0"/>
                        <a:cs typeface="Tahoma"/>
                      </a:rPr>
                      <m:t>=</m:t>
                    </m:r>
                    <m:r>
                      <a:rPr lang="en-MY" sz="1100" i="1" spc="-5" dirty="0">
                        <a:latin typeface="Cambria Math" panose="02040503050406030204" pitchFamily="18" charset="0"/>
                        <a:cs typeface="Tahoma"/>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p>
                <a:pPr>
                  <a:lnSpc>
                    <a:spcPct val="100000"/>
                  </a:lnSpc>
                  <a:spcBef>
                    <a:spcPts val="200"/>
                  </a:spcBef>
                </a:pPr>
                <a:endParaRPr sz="1100" dirty="0">
                  <a:latin typeface="Tahoma"/>
                  <a:cs typeface="Tahoma"/>
                </a:endParaRPr>
              </a:p>
              <a:p>
                <a:pPr marL="50800">
                  <a:lnSpc>
                    <a:spcPct val="100000"/>
                  </a:lnSpc>
                </a:pPr>
                <a:r>
                  <a:rPr sz="1100" kern="1200" spc="10" dirty="0">
                    <a:solidFill>
                      <a:schemeClr val="tx1"/>
                    </a:solidFill>
                    <a:latin typeface="Tahoma"/>
                    <a:ea typeface="+mn-ea"/>
                    <a:cs typeface="Tahoma"/>
                  </a:rPr>
                  <a:t>The core is not empty iff there is x such that:</a:t>
                </a:r>
              </a:p>
            </p:txBody>
          </p:sp>
        </mc:Choice>
        <mc:Fallback xmlns="">
          <p:sp>
            <p:nvSpPr>
              <p:cNvPr id="3" name="object 3"/>
              <p:cNvSpPr txBox="1">
                <a:spLocks noRot="1" noChangeAspect="1" noMove="1" noResize="1" noEditPoints="1" noAdjustHandles="1" noChangeArrowheads="1" noChangeShapeType="1" noTextEdit="1"/>
              </p:cNvSpPr>
              <p:nvPr/>
            </p:nvSpPr>
            <p:spPr>
              <a:xfrm>
                <a:off x="309194" y="382547"/>
                <a:ext cx="4358056" cy="1127232"/>
              </a:xfrm>
              <a:prstGeom prst="rect">
                <a:avLst/>
              </a:prstGeom>
              <a:blipFill>
                <a:blip r:embed="rId3"/>
                <a:stretch>
                  <a:fillRect l="-979" t="-1622" b="-7027"/>
                </a:stretch>
              </a:blipFill>
            </p:spPr>
            <p:txBody>
              <a:bodyPr/>
              <a:lstStyle/>
              <a:p>
                <a:r>
                  <a:rPr lang="en-MY">
                    <a:noFill/>
                  </a:rPr>
                  <a:t> </a:t>
                </a:r>
              </a:p>
            </p:txBody>
          </p:sp>
        </mc:Fallback>
      </mc:AlternateContent>
      <mc:AlternateContent xmlns:mc="http://schemas.openxmlformats.org/markup-compatibility/2006" xmlns:a14="http://schemas.microsoft.com/office/drawing/2010/main">
        <mc:Choice Requires="a14">
          <p:graphicFrame>
            <p:nvGraphicFramePr>
              <p:cNvPr id="4" name="object 4"/>
              <p:cNvGraphicFramePr>
                <a:graphicFrameLocks noGrp="1"/>
              </p:cNvGraphicFramePr>
              <p:nvPr>
                <p:extLst>
                  <p:ext uri="{D42A27DB-BD31-4B8C-83A1-F6EECF244321}">
                    <p14:modId xmlns:p14="http://schemas.microsoft.com/office/powerpoint/2010/main" val="2884321697"/>
                  </p:ext>
                </p:extLst>
              </p:nvPr>
            </p:nvGraphicFramePr>
            <p:xfrm>
              <a:off x="404164" y="1529802"/>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pPr marL="31750">
                            <a:lnSpc>
                              <a:spcPts val="107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1</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07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0"/>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2</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1"/>
                      </a:ext>
                    </a:extLst>
                  </a:tr>
                  <a:tr h="171450">
                    <a:tc>
                      <a:txBody>
                        <a:bodyPr/>
                        <a:lstStyle/>
                        <a:p>
                          <a:pPr marL="31750">
                            <a:lnSpc>
                              <a:spcPts val="1140"/>
                            </a:lnSpc>
                          </a:pPr>
                          <a14:m>
                            <m:oMath xmlns:m="http://schemas.openxmlformats.org/officeDocument/2006/math">
                              <m:r>
                                <a:rPr lang="en-MY" sz="1100" i="1" spc="-25" dirty="0" smtClean="0">
                                  <a:latin typeface="Cambria Math" panose="02040503050406030204" pitchFamily="18" charset="0"/>
                                  <a:cs typeface="Meiryo UI"/>
                                </a:rPr>
                                <m:t>{</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60"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2"/>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2</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3"/>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1</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4"/>
                      </a:ext>
                    </a:extLst>
                  </a:tr>
                  <a:tr h="17145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2</m:t>
                              </m:r>
                              <m:r>
                                <a:rPr lang="en-MY" sz="1100" i="1" spc="-65" dirty="0">
                                  <a:latin typeface="Cambria Math" panose="02040503050406030204" pitchFamily="18" charset="0"/>
                                  <a:cs typeface="Adobe Text Pro"/>
                                </a:rPr>
                                <m:t>,</m:t>
                              </m:r>
                              <m:r>
                                <a:rPr lang="en-MY" sz="1100" i="1" spc="-30" dirty="0">
                                  <a:latin typeface="Cambria Math" panose="02040503050406030204" pitchFamily="18" charset="0"/>
                                  <a:cs typeface="Adobe Text Pro"/>
                                </a:rPr>
                                <m:t> </m:t>
                              </m:r>
                              <m:r>
                                <a:rPr lang="en-MY" sz="1100" i="1" spc="-35" dirty="0">
                                  <a:latin typeface="Cambria Math" panose="02040503050406030204" pitchFamily="18" charset="0"/>
                                  <a:cs typeface="Tahoma"/>
                                </a:rPr>
                                <m:t>3</m:t>
                              </m:r>
                              <m:r>
                                <a:rPr lang="en-MY" sz="1100" i="1" spc="-3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52"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35" baseline="-10416" dirty="0">
                                  <a:latin typeface="Cambria Math" panose="02040503050406030204" pitchFamily="18" charset="0"/>
                                  <a:cs typeface="Arial"/>
                                </a:rPr>
                                <m:t> </m:t>
                              </m:r>
                              <m:r>
                                <a:rPr lang="en-MY" sz="1100" i="1" spc="-50" dirty="0">
                                  <a:latin typeface="Cambria Math" panose="02040503050406030204" pitchFamily="18" charset="0"/>
                                  <a:cs typeface="Meiryo UI"/>
                                </a:rPr>
                                <m:t>≥</m:t>
                              </m:r>
                              <m:r>
                                <a:rPr lang="en-MY" sz="1100" i="1" spc="-70" dirty="0">
                                  <a:latin typeface="Cambria Math" panose="02040503050406030204" pitchFamily="18" charset="0"/>
                                  <a:cs typeface="Meiryo UI"/>
                                </a:rPr>
                                <m:t> </m:t>
                              </m:r>
                              <m:r>
                                <a:rPr lang="en-MY" sz="1100" i="1" spc="-50" dirty="0">
                                  <a:latin typeface="Cambria Math" panose="02040503050406030204" pitchFamily="18" charset="0"/>
                                  <a:cs typeface="Tahoma"/>
                                </a:rPr>
                                <m:t>0</m:t>
                              </m:r>
                            </m:oMath>
                          </a14:m>
                          <a:r>
                            <a:rPr lang="en-MY" sz="1100" dirty="0">
                              <a:latin typeface="Tahoma"/>
                              <a:cs typeface="Tahoma"/>
                            </a:rPr>
                            <a:t> </a:t>
                          </a:r>
                          <a:endParaRPr sz="1100" dirty="0">
                            <a:latin typeface="Tahoma"/>
                            <a:cs typeface="Tahoma"/>
                          </a:endParaRPr>
                        </a:p>
                      </a:txBody>
                      <a:tcPr marL="0" marR="0" marT="0" marB="0"/>
                    </a:tc>
                    <a:extLst>
                      <a:ext uri="{0D108BD9-81ED-4DB2-BD59-A6C34878D82A}">
                        <a16:rowId xmlns:a16="http://schemas.microsoft.com/office/drawing/2014/main" val="10005"/>
                      </a:ext>
                    </a:extLst>
                  </a:tr>
                  <a:tr h="162560">
                    <a:tc>
                      <a:txBody>
                        <a:bodyPr/>
                        <a:lstStyle/>
                        <a:p>
                          <a:pPr marL="31750">
                            <a:lnSpc>
                              <a:spcPts val="1140"/>
                            </a:lnSpc>
                          </a:pPr>
                          <a14:m>
                            <m:oMath xmlns:m="http://schemas.openxmlformats.org/officeDocument/2006/math">
                              <m:r>
                                <a:rPr lang="en-MY" sz="1100" i="1" spc="-65" dirty="0" smtClean="0">
                                  <a:latin typeface="Cambria Math" panose="02040503050406030204" pitchFamily="18" charset="0"/>
                                  <a:cs typeface="Meiryo UI"/>
                                </a:rPr>
                                <m:t>{</m:t>
                              </m:r>
                              <m:r>
                                <a:rPr lang="en-MY" sz="1100" i="1" spc="-65" dirty="0">
                                  <a:latin typeface="Cambria Math" panose="02040503050406030204" pitchFamily="18" charset="0"/>
                                  <a:cs typeface="Tahoma"/>
                                </a:rPr>
                                <m:t>1</m:t>
                              </m:r>
                              <m:r>
                                <a:rPr lang="en-MY" sz="1100" i="1" spc="-65"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30" dirty="0">
                                  <a:latin typeface="Cambria Math" panose="02040503050406030204" pitchFamily="18" charset="0"/>
                                  <a:cs typeface="Tahoma"/>
                                </a:rPr>
                                <m:t>2</m:t>
                              </m:r>
                              <m:r>
                                <a:rPr lang="en-MY" sz="1100" i="1" spc="-30" dirty="0">
                                  <a:latin typeface="Cambria Math" panose="02040503050406030204" pitchFamily="18" charset="0"/>
                                  <a:cs typeface="Adobe Text Pro"/>
                                </a:rPr>
                                <m:t>,</m:t>
                              </m:r>
                              <m:r>
                                <a:rPr lang="en-MY" sz="1100" i="1" spc="-40" dirty="0">
                                  <a:latin typeface="Cambria Math" panose="02040503050406030204" pitchFamily="18" charset="0"/>
                                  <a:cs typeface="Adobe Text Pro"/>
                                </a:rPr>
                                <m:t> </m:t>
                              </m:r>
                              <m:r>
                                <a:rPr lang="en-MY" sz="1100" i="1" spc="-25" dirty="0">
                                  <a:latin typeface="Cambria Math" panose="02040503050406030204" pitchFamily="18" charset="0"/>
                                  <a:cs typeface="Tahoma"/>
                                </a:rPr>
                                <m:t>3</m:t>
                              </m:r>
                              <m:r>
                                <a:rPr lang="en-MY" sz="1100" i="1" spc="-25" dirty="0">
                                  <a:latin typeface="Cambria Math" panose="02040503050406030204" pitchFamily="18" charset="0"/>
                                  <a:cs typeface="Meiryo UI"/>
                                </a:rPr>
                                <m:t>}</m:t>
                              </m:r>
                            </m:oMath>
                          </a14:m>
                          <a:r>
                            <a:rPr lang="en-MY" sz="1100" dirty="0">
                              <a:latin typeface="Meiryo UI"/>
                              <a:cs typeface="Meiryo UI"/>
                            </a:rPr>
                            <a:t> </a:t>
                          </a:r>
                          <a:endParaRPr sz="1100" dirty="0">
                            <a:latin typeface="Meiryo UI"/>
                            <a:cs typeface="Meiryo UI"/>
                          </a:endParaRPr>
                        </a:p>
                      </a:txBody>
                      <a:tcPr marL="0" marR="0" marT="0" marB="0"/>
                    </a:tc>
                    <a:tc>
                      <a:txBody>
                        <a:bodyPr/>
                        <a:lstStyle/>
                        <a:p>
                          <a:pPr marL="151765">
                            <a:lnSpc>
                              <a:spcPts val="1140"/>
                            </a:lnSpc>
                          </a:pPr>
                          <a14:m>
                            <m:oMathPara xmlns:m="http://schemas.openxmlformats.org/officeDocument/2006/math">
                              <m:oMathParaPr>
                                <m:jc m:val="centerGroup"/>
                              </m:oMathParaPr>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Arial"/>
                                  </a:rPr>
                                  <m:t>1</m:t>
                                </m:r>
                                <m:r>
                                  <a:rPr lang="en-MY" sz="1200" i="1" spc="-7"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2</m:t>
                                </m:r>
                                <m:r>
                                  <a:rPr lang="en-MY" sz="1200" i="1" spc="6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105" dirty="0">
                                    <a:latin typeface="Cambria Math" panose="02040503050406030204" pitchFamily="18" charset="0"/>
                                    <a:cs typeface="Tahoma"/>
                                  </a:rPr>
                                  <m:t> </m:t>
                                </m:r>
                                <m:r>
                                  <a:rPr lang="en-MY" sz="1100" b="1" i="1" dirty="0">
                                    <a:latin typeface="Cambria Math" panose="02040503050406030204" pitchFamily="18" charset="0"/>
                                    <a:cs typeface="Arial"/>
                                  </a:rPr>
                                  <m:t>𝒙</m:t>
                                </m:r>
                                <m:r>
                                  <a:rPr lang="en-MY" sz="1200" i="1" baseline="-10416" dirty="0">
                                    <a:latin typeface="Cambria Math" panose="02040503050406030204" pitchFamily="18" charset="0"/>
                                    <a:cs typeface="Arial"/>
                                  </a:rPr>
                                  <m:t>3</m:t>
                                </m:r>
                                <m:r>
                                  <a:rPr lang="en-MY" sz="1200" i="1" spc="150" baseline="-10416" dirty="0">
                                    <a:latin typeface="Cambria Math" panose="02040503050406030204" pitchFamily="18" charset="0"/>
                                    <a:cs typeface="Arial"/>
                                  </a:rPr>
                                  <m:t> </m:t>
                                </m:r>
                                <m:r>
                                  <a:rPr lang="en-MY" sz="1100" i="1" dirty="0">
                                    <a:latin typeface="Cambria Math" panose="02040503050406030204" pitchFamily="18" charset="0"/>
                                    <a:cs typeface="Tahoma"/>
                                  </a:rPr>
                                  <m:t>=</m:t>
                                </m:r>
                                <m:r>
                                  <a:rPr lang="en-MY" sz="1100" i="1" spc="-70" dirty="0">
                                    <a:latin typeface="Cambria Math" panose="02040503050406030204" pitchFamily="18" charset="0"/>
                                    <a:cs typeface="Tahoma"/>
                                  </a:rPr>
                                  <m:t> </m:t>
                                </m:r>
                                <m:r>
                                  <a:rPr lang="en-MY" sz="1100" i="1" spc="-50" dirty="0">
                                    <a:latin typeface="Cambria Math" panose="02040503050406030204" pitchFamily="18" charset="0"/>
                                    <a:cs typeface="Tahoma"/>
                                  </a:rPr>
                                  <m:t>1</m:t>
                                </m:r>
                              </m:oMath>
                            </m:oMathPara>
                          </a14:m>
                          <a:endParaRPr sz="1100" dirty="0">
                            <a:latin typeface="Tahoma"/>
                            <a:cs typeface="Tahoma"/>
                          </a:endParaRPr>
                        </a:p>
                      </a:txBody>
                      <a:tcPr marL="0" marR="0" marT="0" marB="0"/>
                    </a:tc>
                    <a:extLst>
                      <a:ext uri="{0D108BD9-81ED-4DB2-BD59-A6C34878D82A}">
                        <a16:rowId xmlns:a16="http://schemas.microsoft.com/office/drawing/2014/main" val="10006"/>
                      </a:ext>
                    </a:extLst>
                  </a:tr>
                </a:tbl>
              </a:graphicData>
            </a:graphic>
          </p:graphicFrame>
        </mc:Choice>
        <mc:Fallback xmlns="">
          <p:graphicFrame>
            <p:nvGraphicFramePr>
              <p:cNvPr id="4" name="object 4"/>
              <p:cNvGraphicFramePr>
                <a:graphicFrameLocks noGrp="1"/>
              </p:cNvGraphicFramePr>
              <p:nvPr>
                <p:extLst>
                  <p:ext uri="{D42A27DB-BD31-4B8C-83A1-F6EECF244321}">
                    <p14:modId xmlns:p14="http://schemas.microsoft.com/office/powerpoint/2010/main" val="2884321697"/>
                  </p:ext>
                </p:extLst>
              </p:nvPr>
            </p:nvGraphicFramePr>
            <p:xfrm>
              <a:off x="404164" y="1529802"/>
              <a:ext cx="2053286" cy="1182370"/>
            </p:xfrm>
            <a:graphic>
              <a:graphicData uri="http://schemas.openxmlformats.org/drawingml/2006/table">
                <a:tbl>
                  <a:tblPr firstRow="1" bandRow="1">
                    <a:tableStyleId>{2D5ABB26-0587-4C30-8999-92F81FD0307C}</a:tableStyleId>
                  </a:tblPr>
                  <a:tblGrid>
                    <a:gridCol w="737776">
                      <a:extLst>
                        <a:ext uri="{9D8B030D-6E8A-4147-A177-3AD203B41FA5}">
                          <a16:colId xmlns:a16="http://schemas.microsoft.com/office/drawing/2014/main" val="20000"/>
                        </a:ext>
                      </a:extLst>
                    </a:gridCol>
                    <a:gridCol w="1315510">
                      <a:extLst>
                        <a:ext uri="{9D8B030D-6E8A-4147-A177-3AD203B41FA5}">
                          <a16:colId xmlns:a16="http://schemas.microsoft.com/office/drawing/2014/main" val="20001"/>
                        </a:ext>
                      </a:extLst>
                    </a:gridCol>
                  </a:tblGrid>
                  <a:tr h="162560">
                    <a:tc>
                      <a:txBody>
                        <a:bodyPr/>
                        <a:lstStyle/>
                        <a:p>
                          <a:endParaRPr lang="en-US"/>
                        </a:p>
                      </a:txBody>
                      <a:tcPr marL="0" marR="0" marT="0" marB="0">
                        <a:blipFill>
                          <a:blip r:embed="rId4"/>
                          <a:stretch>
                            <a:fillRect t="-11111" r="-179339" b="-648148"/>
                          </a:stretch>
                        </a:blipFill>
                      </a:tcPr>
                    </a:tc>
                    <a:tc>
                      <a:txBody>
                        <a:bodyPr/>
                        <a:lstStyle/>
                        <a:p>
                          <a:endParaRPr lang="en-US"/>
                        </a:p>
                      </a:txBody>
                      <a:tcPr marL="0" marR="0" marT="0" marB="0">
                        <a:blipFill>
                          <a:blip r:embed="rId4"/>
                          <a:stretch>
                            <a:fillRect l="-55760" t="-11111" b="-648148"/>
                          </a:stretch>
                        </a:blipFill>
                      </a:tcPr>
                    </a:tc>
                    <a:extLst>
                      <a:ext uri="{0D108BD9-81ED-4DB2-BD59-A6C34878D82A}">
                        <a16:rowId xmlns:a16="http://schemas.microsoft.com/office/drawing/2014/main" val="10000"/>
                      </a:ext>
                    </a:extLst>
                  </a:tr>
                  <a:tr h="171450">
                    <a:tc>
                      <a:txBody>
                        <a:bodyPr/>
                        <a:lstStyle/>
                        <a:p>
                          <a:endParaRPr lang="en-US"/>
                        </a:p>
                      </a:txBody>
                      <a:tcPr marL="0" marR="0" marT="0" marB="0">
                        <a:blipFill>
                          <a:blip r:embed="rId4"/>
                          <a:stretch>
                            <a:fillRect t="-107143" r="-179339" b="-525000"/>
                          </a:stretch>
                        </a:blipFill>
                      </a:tcPr>
                    </a:tc>
                    <a:tc>
                      <a:txBody>
                        <a:bodyPr/>
                        <a:lstStyle/>
                        <a:p>
                          <a:endParaRPr lang="en-US"/>
                        </a:p>
                      </a:txBody>
                      <a:tcPr marL="0" marR="0" marT="0" marB="0">
                        <a:blipFill>
                          <a:blip r:embed="rId4"/>
                          <a:stretch>
                            <a:fillRect l="-55760" t="-107143" b="-525000"/>
                          </a:stretch>
                        </a:blipFill>
                      </a:tcPr>
                    </a:tc>
                    <a:extLst>
                      <a:ext uri="{0D108BD9-81ED-4DB2-BD59-A6C34878D82A}">
                        <a16:rowId xmlns:a16="http://schemas.microsoft.com/office/drawing/2014/main" val="10001"/>
                      </a:ext>
                    </a:extLst>
                  </a:tr>
                  <a:tr h="171450">
                    <a:tc>
                      <a:txBody>
                        <a:bodyPr/>
                        <a:lstStyle/>
                        <a:p>
                          <a:endParaRPr lang="en-US"/>
                        </a:p>
                      </a:txBody>
                      <a:tcPr marL="0" marR="0" marT="0" marB="0">
                        <a:blipFill>
                          <a:blip r:embed="rId4"/>
                          <a:stretch>
                            <a:fillRect t="-207143" r="-179339" b="-425000"/>
                          </a:stretch>
                        </a:blipFill>
                      </a:tcPr>
                    </a:tc>
                    <a:tc>
                      <a:txBody>
                        <a:bodyPr/>
                        <a:lstStyle/>
                        <a:p>
                          <a:endParaRPr lang="en-US"/>
                        </a:p>
                      </a:txBody>
                      <a:tcPr marL="0" marR="0" marT="0" marB="0">
                        <a:blipFill>
                          <a:blip r:embed="rId4"/>
                          <a:stretch>
                            <a:fillRect l="-55760" t="-207143" b="-425000"/>
                          </a:stretch>
                        </a:blipFill>
                      </a:tcPr>
                    </a:tc>
                    <a:extLst>
                      <a:ext uri="{0D108BD9-81ED-4DB2-BD59-A6C34878D82A}">
                        <a16:rowId xmlns:a16="http://schemas.microsoft.com/office/drawing/2014/main" val="10002"/>
                      </a:ext>
                    </a:extLst>
                  </a:tr>
                  <a:tr h="171450">
                    <a:tc>
                      <a:txBody>
                        <a:bodyPr/>
                        <a:lstStyle/>
                        <a:p>
                          <a:endParaRPr lang="en-US"/>
                        </a:p>
                      </a:txBody>
                      <a:tcPr marL="0" marR="0" marT="0" marB="0">
                        <a:blipFill>
                          <a:blip r:embed="rId4"/>
                          <a:stretch>
                            <a:fillRect t="-296552" r="-179339" b="-310345"/>
                          </a:stretch>
                        </a:blipFill>
                      </a:tcPr>
                    </a:tc>
                    <a:tc>
                      <a:txBody>
                        <a:bodyPr/>
                        <a:lstStyle/>
                        <a:p>
                          <a:endParaRPr lang="en-US"/>
                        </a:p>
                      </a:txBody>
                      <a:tcPr marL="0" marR="0" marT="0" marB="0">
                        <a:blipFill>
                          <a:blip r:embed="rId4"/>
                          <a:stretch>
                            <a:fillRect l="-55760" t="-296552" b="-310345"/>
                          </a:stretch>
                        </a:blipFill>
                      </a:tcPr>
                    </a:tc>
                    <a:extLst>
                      <a:ext uri="{0D108BD9-81ED-4DB2-BD59-A6C34878D82A}">
                        <a16:rowId xmlns:a16="http://schemas.microsoft.com/office/drawing/2014/main" val="10003"/>
                      </a:ext>
                    </a:extLst>
                  </a:tr>
                  <a:tr h="171450">
                    <a:tc>
                      <a:txBody>
                        <a:bodyPr/>
                        <a:lstStyle/>
                        <a:p>
                          <a:endParaRPr lang="en-US"/>
                        </a:p>
                      </a:txBody>
                      <a:tcPr marL="0" marR="0" marT="0" marB="0">
                        <a:blipFill>
                          <a:blip r:embed="rId4"/>
                          <a:stretch>
                            <a:fillRect t="-410714" r="-179339" b="-221429"/>
                          </a:stretch>
                        </a:blipFill>
                      </a:tcPr>
                    </a:tc>
                    <a:tc>
                      <a:txBody>
                        <a:bodyPr/>
                        <a:lstStyle/>
                        <a:p>
                          <a:endParaRPr lang="en-US"/>
                        </a:p>
                      </a:txBody>
                      <a:tcPr marL="0" marR="0" marT="0" marB="0">
                        <a:blipFill>
                          <a:blip r:embed="rId4"/>
                          <a:stretch>
                            <a:fillRect l="-55760" t="-410714" b="-221429"/>
                          </a:stretch>
                        </a:blipFill>
                      </a:tcPr>
                    </a:tc>
                    <a:extLst>
                      <a:ext uri="{0D108BD9-81ED-4DB2-BD59-A6C34878D82A}">
                        <a16:rowId xmlns:a16="http://schemas.microsoft.com/office/drawing/2014/main" val="10004"/>
                      </a:ext>
                    </a:extLst>
                  </a:tr>
                  <a:tr h="171450">
                    <a:tc>
                      <a:txBody>
                        <a:bodyPr/>
                        <a:lstStyle/>
                        <a:p>
                          <a:endParaRPr lang="en-US"/>
                        </a:p>
                      </a:txBody>
                      <a:tcPr marL="0" marR="0" marT="0" marB="0">
                        <a:blipFill>
                          <a:blip r:embed="rId4"/>
                          <a:stretch>
                            <a:fillRect t="-510714" r="-179339" b="-121429"/>
                          </a:stretch>
                        </a:blipFill>
                      </a:tcPr>
                    </a:tc>
                    <a:tc>
                      <a:txBody>
                        <a:bodyPr/>
                        <a:lstStyle/>
                        <a:p>
                          <a:endParaRPr lang="en-US"/>
                        </a:p>
                      </a:txBody>
                      <a:tcPr marL="0" marR="0" marT="0" marB="0">
                        <a:blipFill>
                          <a:blip r:embed="rId4"/>
                          <a:stretch>
                            <a:fillRect l="-55760" t="-510714" b="-121429"/>
                          </a:stretch>
                        </a:blipFill>
                      </a:tcPr>
                    </a:tc>
                    <a:extLst>
                      <a:ext uri="{0D108BD9-81ED-4DB2-BD59-A6C34878D82A}">
                        <a16:rowId xmlns:a16="http://schemas.microsoft.com/office/drawing/2014/main" val="10005"/>
                      </a:ext>
                    </a:extLst>
                  </a:tr>
                  <a:tr h="162560">
                    <a:tc>
                      <a:txBody>
                        <a:bodyPr/>
                        <a:lstStyle/>
                        <a:p>
                          <a:endParaRPr lang="en-US"/>
                        </a:p>
                      </a:txBody>
                      <a:tcPr marL="0" marR="0" marT="0" marB="0">
                        <a:blipFill>
                          <a:blip r:embed="rId4"/>
                          <a:stretch>
                            <a:fillRect t="-633333" r="-179339" b="-25926"/>
                          </a:stretch>
                        </a:blipFill>
                      </a:tcPr>
                    </a:tc>
                    <a:tc>
                      <a:txBody>
                        <a:bodyPr/>
                        <a:lstStyle/>
                        <a:p>
                          <a:endParaRPr lang="en-US"/>
                        </a:p>
                      </a:txBody>
                      <a:tcPr marL="0" marR="0" marT="0" marB="0">
                        <a:blipFill>
                          <a:blip r:embed="rId4"/>
                          <a:stretch>
                            <a:fillRect l="-55760" t="-633333" b="-25926"/>
                          </a:stretch>
                        </a:blipFill>
                      </a:tcPr>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5" name="object 5"/>
              <p:cNvSpPr txBox="1"/>
              <p:nvPr/>
            </p:nvSpPr>
            <p:spPr>
              <a:xfrm>
                <a:off x="462915" y="2730666"/>
                <a:ext cx="4432935" cy="564257"/>
              </a:xfrm>
              <a:prstGeom prst="rect">
                <a:avLst/>
              </a:prstGeom>
            </p:spPr>
            <p:txBody>
              <a:bodyPr vert="horz" wrap="square" lIns="0" tIns="30480" rIns="0" bIns="0" rtlCol="0">
                <a:spAutoFit/>
              </a:bodyPr>
              <a:lstStyle/>
              <a:p>
                <a:pPr marL="213360" indent="-175260">
                  <a:lnSpc>
                    <a:spcPct val="100000"/>
                  </a:lnSpc>
                  <a:spcBef>
                    <a:spcPts val="240"/>
                  </a:spcBef>
                  <a:buClr>
                    <a:srgbClr val="3333B2"/>
                  </a:buClr>
                  <a:buFont typeface="Arial"/>
                  <a:buChar char="►"/>
                  <a:tabLst>
                    <a:tab pos="213360" algn="l"/>
                  </a:tabLst>
                </a:pPr>
                <a:r>
                  <a:rPr lang="en-US" sz="1100" kern="1200" spc="10" dirty="0">
                    <a:solidFill>
                      <a:schemeClr val="tx1"/>
                    </a:solidFill>
                    <a:latin typeface="Tahoma"/>
                    <a:ea typeface="+mn-ea"/>
                    <a:cs typeface="Tahoma"/>
                  </a:rPr>
                  <a:t>The core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r>
                      <a:rPr lang="en-US" sz="1100" i="1" kern="1200" spc="10" dirty="0" smtClean="0">
                        <a:solidFill>
                          <a:schemeClr val="tx1"/>
                        </a:solidFill>
                        <a:latin typeface="Cambria Math" panose="02040503050406030204" pitchFamily="18" charset="0"/>
                        <a:ea typeface="+mn-ea"/>
                        <a:cs typeface="Tahoma"/>
                      </a:rPr>
                      <m:t> </m:t>
                    </m:r>
                  </m:oMath>
                </a14:m>
                <a:r>
                  <a:rPr lang="en-US" sz="1100" kern="1200" spc="10" dirty="0">
                    <a:solidFill>
                      <a:schemeClr val="tx1"/>
                    </a:solidFill>
                    <a:latin typeface="Tahoma"/>
                    <a:ea typeface="+mn-ea"/>
                    <a:cs typeface="Tahoma"/>
                  </a:rPr>
                  <a:t>is not empty!</a:t>
                </a:r>
              </a:p>
              <a:p>
                <a:pPr marL="213360" indent="-175260">
                  <a:lnSpc>
                    <a:spcPct val="100000"/>
                  </a:lnSpc>
                  <a:spcBef>
                    <a:spcPts val="135"/>
                  </a:spcBef>
                  <a:buClr>
                    <a:srgbClr val="3333B2"/>
                  </a:buClr>
                  <a:buFont typeface="Arial"/>
                  <a:buChar char="►"/>
                  <a:tabLst>
                    <a:tab pos="213360" algn="l"/>
                  </a:tabLst>
                </a:pPr>
                <a:r>
                  <a:rPr lang="en-US" sz="1100" kern="1200" spc="10" dirty="0">
                    <a:solidFill>
                      <a:schemeClr val="tx1"/>
                    </a:solidFill>
                    <a:latin typeface="Tahoma"/>
                    <a:ea typeface="+mn-ea"/>
                    <a:cs typeface="Tahoma"/>
                  </a:rPr>
                  <a:t>Player 1 is a veto player in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endParaRPr lang="en-US" sz="1100" i="1" kern="1200" spc="10" dirty="0">
                  <a:solidFill>
                    <a:schemeClr val="tx1"/>
                  </a:solidFill>
                  <a:latin typeface="Tahoma"/>
                  <a:ea typeface="+mn-ea"/>
                  <a:cs typeface="Tahoma"/>
                </a:endParaRPr>
              </a:p>
              <a:p>
                <a:pPr marL="213360" indent="-175260">
                  <a:lnSpc>
                    <a:spcPct val="100000"/>
                  </a:lnSpc>
                  <a:spcBef>
                    <a:spcPts val="140"/>
                  </a:spcBef>
                  <a:buClr>
                    <a:srgbClr val="3333B2"/>
                  </a:buClr>
                  <a:buFont typeface="Arial"/>
                  <a:buChar char="►"/>
                  <a:tabLst>
                    <a:tab pos="213360" algn="l"/>
                  </a:tabLst>
                </a:pPr>
                <a:r>
                  <a:rPr lang="en-US" sz="1100" kern="1200" spc="10" dirty="0">
                    <a:solidFill>
                      <a:schemeClr val="tx1"/>
                    </a:solidFill>
                    <a:latin typeface="Tahoma"/>
                    <a:ea typeface="+mn-ea"/>
                    <a:cs typeface="Tahoma"/>
                  </a:rPr>
                  <a:t>The Shapley value of </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 is </a:t>
                </a:r>
                <a14:m>
                  <m:oMath xmlns:m="http://schemas.openxmlformats.org/officeDocument/2006/math">
                    <m:r>
                      <a:rPr lang="en-US" sz="1100" i="1" kern="1200" spc="10" dirty="0" smtClean="0">
                        <a:solidFill>
                          <a:schemeClr val="tx1"/>
                        </a:solidFill>
                        <a:latin typeface="Cambria Math" panose="02040503050406030204" pitchFamily="18" charset="0"/>
                        <a:ea typeface="Cambria Math" panose="02040503050406030204" pitchFamily="18" charset="0"/>
                        <a:cs typeface="Tahoma"/>
                      </a:rPr>
                      <m:t>𝜙</m:t>
                    </m:r>
                    <m:r>
                      <a:rPr lang="en-US" sz="1100" i="1" kern="1200" spc="10" dirty="0" smtClean="0">
                        <a:solidFill>
                          <a:schemeClr val="tx1"/>
                        </a:solidFill>
                        <a:latin typeface="Cambria Math" panose="02040503050406030204" pitchFamily="18" charset="0"/>
                        <a:ea typeface="+mn-ea"/>
                        <a:cs typeface="Tahoma"/>
                      </a:rPr>
                      <m:t>(</m:t>
                    </m:r>
                    <m:r>
                      <a:rPr lang="en-US" sz="1100" i="1" kern="1200" spc="10" dirty="0" smtClean="0">
                        <a:solidFill>
                          <a:schemeClr val="tx1"/>
                        </a:solidFill>
                        <a:latin typeface="Cambria Math" panose="02040503050406030204" pitchFamily="18" charset="0"/>
                        <a:ea typeface="+mn-ea"/>
                        <a:cs typeface="Tahoma"/>
                      </a:rPr>
                      <m:t>𝑁</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𝑣</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1</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 </m:t>
                    </m:r>
                    <m:r>
                      <a:rPr lang="en-US" sz="1100" i="1" kern="1200" spc="10" dirty="0" smtClean="0">
                        <a:solidFill>
                          <a:schemeClr val="tx1"/>
                        </a:solidFill>
                        <a:latin typeface="Cambria Math" panose="02040503050406030204" pitchFamily="18" charset="0"/>
                        <a:ea typeface="+mn-ea"/>
                        <a:cs typeface="Tahoma"/>
                      </a:rPr>
                      <m:t>0</m:t>
                    </m:r>
                    <m:r>
                      <a:rPr lang="en-US" sz="1100" i="1" kern="1200" spc="10" dirty="0" smtClean="0">
                        <a:solidFill>
                          <a:schemeClr val="tx1"/>
                        </a:solidFill>
                        <a:latin typeface="Cambria Math" panose="02040503050406030204" pitchFamily="18" charset="0"/>
                        <a:ea typeface="+mn-ea"/>
                        <a:cs typeface="Tahoma"/>
                      </a:rPr>
                      <m:t>) ∈ </m:t>
                    </m:r>
                  </m:oMath>
                </a14:m>
                <a:r>
                  <a:rPr lang="en-US" sz="1100" b="1" kern="1200" spc="10" dirty="0">
                    <a:solidFill>
                      <a:schemeClr val="tx1"/>
                    </a:solidFill>
                    <a:latin typeface="Tahoma"/>
                    <a:ea typeface="+mn-ea"/>
                    <a:cs typeface="Tahoma"/>
                  </a:rPr>
                  <a:t>core</a:t>
                </a:r>
                <a:r>
                  <a:rPr lang="en-US" sz="1100" kern="1200" spc="10" dirty="0">
                    <a:solidFill>
                      <a:schemeClr val="tx1"/>
                    </a:solidFill>
                    <a:latin typeface="Tahoma"/>
                    <a:ea typeface="+mn-ea"/>
                    <a:cs typeface="Tahoma"/>
                  </a:rPr>
                  <a:t>(</a:t>
                </a:r>
                <a14:m>
                  <m:oMath xmlns:m="http://schemas.openxmlformats.org/officeDocument/2006/math">
                    <m:r>
                      <a:rPr lang="en-US" sz="1100" i="1" kern="1200" spc="10" dirty="0" smtClean="0">
                        <a:solidFill>
                          <a:schemeClr val="tx1"/>
                        </a:solidFill>
                        <a:latin typeface="Cambria Math" panose="02040503050406030204" pitchFamily="18" charset="0"/>
                        <a:ea typeface="+mn-ea"/>
                        <a:cs typeface="Tahoma"/>
                      </a:rPr>
                      <m:t>𝐺</m:t>
                    </m:r>
                  </m:oMath>
                </a14:m>
                <a:r>
                  <a:rPr lang="en-US" sz="1100" kern="1200" spc="10" dirty="0">
                    <a:solidFill>
                      <a:schemeClr val="tx1"/>
                    </a:solidFill>
                    <a:latin typeface="Tahoma"/>
                    <a:ea typeface="+mn-ea"/>
                    <a:cs typeface="Tahoma"/>
                  </a:rPr>
                  <a:t>)</a:t>
                </a:r>
                <a:endParaRPr sz="1100" kern="1200" spc="10" dirty="0">
                  <a:solidFill>
                    <a:schemeClr val="tx1"/>
                  </a:solidFill>
                  <a:latin typeface="Tahoma"/>
                  <a:ea typeface="+mn-ea"/>
                  <a:cs typeface="Tahoma"/>
                </a:endParaRPr>
              </a:p>
            </p:txBody>
          </p:sp>
        </mc:Choice>
        <mc:Fallback xmlns="">
          <p:sp>
            <p:nvSpPr>
              <p:cNvPr id="5" name="object 5"/>
              <p:cNvSpPr txBox="1">
                <a:spLocks noRot="1" noChangeAspect="1" noMove="1" noResize="1" noEditPoints="1" noAdjustHandles="1" noChangeArrowheads="1" noChangeShapeType="1" noTextEdit="1"/>
              </p:cNvSpPr>
              <p:nvPr/>
            </p:nvSpPr>
            <p:spPr>
              <a:xfrm>
                <a:off x="462915" y="2730666"/>
                <a:ext cx="4432935" cy="564257"/>
              </a:xfrm>
              <a:prstGeom prst="rect">
                <a:avLst/>
              </a:prstGeom>
              <a:blipFill>
                <a:blip r:embed="rId5"/>
                <a:stretch>
                  <a:fillRect l="-1100" t="-4301" b="-13978"/>
                </a:stretch>
              </a:blipFill>
            </p:spPr>
            <p:txBody>
              <a:bodyPr/>
              <a:lstStyle/>
              <a:p>
                <a:r>
                  <a:rPr lang="en-MY">
                    <a:noFill/>
                  </a:rPr>
                  <a:t> </a:t>
                </a:r>
              </a:p>
            </p:txBody>
          </p:sp>
        </mc:Fallback>
      </mc:AlternateContent>
      <p:sp>
        <p:nvSpPr>
          <p:cNvPr id="6" name="Date Placeholder 3">
            <a:extLst>
              <a:ext uri="{FF2B5EF4-FFF2-40B4-BE49-F238E27FC236}">
                <a16:creationId xmlns:a16="http://schemas.microsoft.com/office/drawing/2014/main" id="{C52914F5-B13D-4F76-83DE-5E96F85190B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ooter Placeholder 5">
            <a:extLst>
              <a:ext uri="{FF2B5EF4-FFF2-40B4-BE49-F238E27FC236}">
                <a16:creationId xmlns:a16="http://schemas.microsoft.com/office/drawing/2014/main" id="{41312283-E9EC-44EF-B13B-31FC27E69BE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8" name="Slide Number Placeholder 7">
            <a:extLst>
              <a:ext uri="{FF2B5EF4-FFF2-40B4-BE49-F238E27FC236}">
                <a16:creationId xmlns:a16="http://schemas.microsoft.com/office/drawing/2014/main" id="{A7245BEF-598D-4486-AD68-1382E2F3E165}"/>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35</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10" dirty="0"/>
              <a:t>A</a:t>
            </a:r>
            <a:r>
              <a:rPr spc="114" dirty="0"/>
              <a:t> </a:t>
            </a:r>
            <a:r>
              <a:rPr dirty="0"/>
              <a:t>compact</a:t>
            </a:r>
            <a:r>
              <a:rPr spc="120" dirty="0"/>
              <a:t> </a:t>
            </a:r>
            <a:r>
              <a:rPr spc="-20" dirty="0"/>
              <a:t>representation:</a:t>
            </a:r>
            <a:r>
              <a:rPr spc="254" dirty="0"/>
              <a:t> </a:t>
            </a:r>
            <a:r>
              <a:rPr dirty="0"/>
              <a:t>Marginal</a:t>
            </a:r>
            <a:r>
              <a:rPr spc="120" dirty="0"/>
              <a:t> </a:t>
            </a:r>
            <a:r>
              <a:rPr dirty="0"/>
              <a:t>contribution</a:t>
            </a:r>
            <a:r>
              <a:rPr spc="114" dirty="0"/>
              <a:t> </a:t>
            </a:r>
            <a:r>
              <a:rPr spc="-20" dirty="0"/>
              <a:t>nets</a:t>
            </a:r>
          </a:p>
        </p:txBody>
      </p:sp>
      <mc:AlternateContent xmlns:mc="http://schemas.openxmlformats.org/markup-compatibility/2006">
        <mc:Choice xmlns:a14="http://schemas.microsoft.com/office/drawing/2010/main" Requires="a14">
          <p:sp>
            <p:nvSpPr>
              <p:cNvPr id="3" name="object 3"/>
              <p:cNvSpPr txBox="1"/>
              <p:nvPr/>
            </p:nvSpPr>
            <p:spPr>
              <a:xfrm>
                <a:off x="334594" y="927886"/>
                <a:ext cx="4104056" cy="1575431"/>
              </a:xfrm>
              <a:prstGeom prst="rect">
                <a:avLst/>
              </a:prstGeom>
            </p:spPr>
            <p:txBody>
              <a:bodyPr vert="horz" wrap="square" lIns="0" tIns="6985" rIns="0" bIns="0" rtlCol="0">
                <a:spAutoFit/>
              </a:bodyPr>
              <a:lstStyle/>
              <a:p>
                <a:pPr marL="25400" marR="17780">
                  <a:lnSpc>
                    <a:spcPct val="102600"/>
                  </a:lnSpc>
                  <a:spcBef>
                    <a:spcPts val="55"/>
                  </a:spcBef>
                </a:pPr>
                <a:r>
                  <a:rPr lang="en-MY" sz="1100" kern="1200" spc="10" dirty="0">
                    <a:solidFill>
                      <a:schemeClr val="tx1"/>
                    </a:solidFill>
                    <a:latin typeface="Tahoma"/>
                    <a:ea typeface="+mn-ea"/>
                    <a:cs typeface="Tahoma"/>
                  </a:rPr>
                  <a:t>A logical approach to provide a compact representation of a coalitional game is using a marginal contribution net, as follows.</a:t>
                </a:r>
              </a:p>
              <a:p>
                <a:pPr>
                  <a:lnSpc>
                    <a:spcPct val="100000"/>
                  </a:lnSpc>
                  <a:spcBef>
                    <a:spcPts val="660"/>
                  </a:spcBef>
                </a:pPr>
                <a:endParaRPr lang="en-MY" sz="1100" dirty="0">
                  <a:latin typeface="Tahoma"/>
                  <a:cs typeface="Tahoma"/>
                </a:endParaRPr>
              </a:p>
              <a:p>
                <a:pPr marL="357188"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Output: Game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𝐺</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m:t>
                    </m:r>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 )</m:t>
                    </m:r>
                  </m:oMath>
                </a14:m>
                <a:endParaRPr lang="en-MY" sz="1100" kern="1200" spc="10" dirty="0">
                  <a:solidFill>
                    <a:schemeClr val="tx1"/>
                  </a:solidFill>
                  <a:latin typeface="Tahoma"/>
                  <a:ea typeface="+mn-ea"/>
                  <a:cs typeface="Tahoma"/>
                </a:endParaRPr>
              </a:p>
              <a:p>
                <a:pPr marL="357188"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Input: MC-net </a:t>
                </a:r>
                <a14:m>
                  <m:oMath xmlns:m="http://schemas.openxmlformats.org/officeDocument/2006/math">
                    <m:d>
                      <m:dPr>
                        <m:begChr m:val="["/>
                        <m:endChr m:val="]"/>
                        <m:ctrlPr>
                          <a:rPr lang="ar-SA" sz="1100" i="1" kern="1200" spc="10" dirty="0">
                            <a:solidFill>
                              <a:schemeClr val="tx1"/>
                            </a:solidFill>
                            <a:latin typeface="Cambria Math" panose="02040503050406030204" pitchFamily="18" charset="0"/>
                            <a:ea typeface="+mn-ea"/>
                            <a:cs typeface="Tahoma"/>
                          </a:rPr>
                        </m:ctrlPr>
                      </m:dPr>
                      <m:e>
                        <m:d>
                          <m:dPr>
                            <m:ctrlPr>
                              <a:rPr lang="ar-SA" sz="1100" i="1" kern="1200" spc="10" dirty="0">
                                <a:solidFill>
                                  <a:schemeClr val="tx1"/>
                                </a:solidFill>
                                <a:latin typeface="Cambria Math" panose="02040503050406030204" pitchFamily="18" charset="0"/>
                                <a:ea typeface="+mn-ea"/>
                                <a:cs typeface="Tahoma"/>
                              </a:rPr>
                            </m:ctrlPr>
                          </m:dPr>
                          <m:e>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1</m:t>
                                </m:r>
                              </m:sub>
                            </m:sSub>
                            <m:r>
                              <a:rPr lang="ar-SA" sz="1100" kern="1200" spc="10" dirty="0">
                                <a:solidFill>
                                  <a:schemeClr val="tx1"/>
                                </a:solidFill>
                                <a:latin typeface="Cambria Math" panose="02040503050406030204" pitchFamily="18" charset="0"/>
                                <a:ea typeface="+mn-ea"/>
                                <a:cs typeface="Tahoma"/>
                              </a:rPr>
                              <m:t>, </m:t>
                            </m:r>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1</m:t>
                                </m:r>
                              </m:sub>
                            </m:sSub>
                          </m:e>
                        </m:d>
                        <m:r>
                          <a:rPr lang="ar-SA" sz="1100" kern="1200" spc="10" dirty="0">
                            <a:solidFill>
                              <a:schemeClr val="tx1"/>
                            </a:solidFill>
                            <a:latin typeface="Cambria Math" panose="02040503050406030204" pitchFamily="18" charset="0"/>
                            <a:ea typeface="+mn-ea"/>
                            <a:cs typeface="Tahoma"/>
                          </a:rPr>
                          <m:t>. . . </m:t>
                        </m:r>
                        <m:d>
                          <m:dPr>
                            <m:ctrlPr>
                              <a:rPr lang="ar-SA" sz="1100" i="1" kern="1200" spc="10" dirty="0">
                                <a:solidFill>
                                  <a:schemeClr val="tx1"/>
                                </a:solidFill>
                                <a:latin typeface="Cambria Math" panose="02040503050406030204" pitchFamily="18" charset="0"/>
                                <a:ea typeface="+mn-ea"/>
                                <a:cs typeface="Tahoma"/>
                              </a:rPr>
                            </m:ctrlPr>
                          </m:dPr>
                          <m:e>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𝑘</m:t>
                                </m:r>
                              </m:sub>
                            </m:sSub>
                            <m:r>
                              <a:rPr lang="ar-SA" sz="1100" kern="1200" spc="10" dirty="0">
                                <a:solidFill>
                                  <a:schemeClr val="tx1"/>
                                </a:solidFill>
                                <a:latin typeface="Cambria Math" panose="02040503050406030204" pitchFamily="18" charset="0"/>
                                <a:ea typeface="+mn-ea"/>
                                <a:cs typeface="Tahoma"/>
                              </a:rPr>
                              <m:t> , </m:t>
                            </m:r>
                            <m:sSub>
                              <m:sSubPr>
                                <m:ctrlPr>
                                  <a:rPr lang="ar-SA" sz="1100" i="1" kern="1200" spc="10" dirty="0">
                                    <a:solidFill>
                                      <a:schemeClr val="tx1"/>
                                    </a:solidFill>
                                    <a:latin typeface="Cambria Math" panose="02040503050406030204" pitchFamily="18" charset="0"/>
                                    <a:ea typeface="+mn-ea"/>
                                    <a:cs typeface="Tahoma"/>
                                  </a:rPr>
                                </m:ctrlPr>
                              </m:sSubPr>
                              <m:e>
                                <m:r>
                                  <a:rPr lang="ar-SA" sz="1100" b="0" i="1" kern="1200" spc="10" dirty="0" smtClean="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𝑘</m:t>
                                </m:r>
                              </m:sub>
                            </m:sSub>
                          </m:e>
                        </m:d>
                      </m:e>
                    </m:d>
                  </m:oMath>
                </a14:m>
                <a:br>
                  <a:rPr lang="ar-SA" sz="1100" kern="1200" spc="10" dirty="0">
                    <a:solidFill>
                      <a:schemeClr val="tx1"/>
                    </a:solidFill>
                    <a:latin typeface="Tahoma"/>
                    <a:ea typeface="+mn-ea"/>
                    <a:cs typeface="Tahoma"/>
                  </a:rPr>
                </a:br>
                <a:r>
                  <a:rPr lang="en-MY" sz="1100" kern="1200" spc="10" dirty="0">
                    <a:solidFill>
                      <a:schemeClr val="tx1"/>
                    </a:solidFill>
                    <a:latin typeface="Tahoma"/>
                    <a:ea typeface="+mn-ea"/>
                    <a:cs typeface="Tahoma"/>
                  </a:rPr>
                  <a:t>where each </a:t>
                </a:r>
                <a14:m>
                  <m:oMath xmlns:m="http://schemas.openxmlformats.org/officeDocument/2006/math">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a:rPr lang="ar-SA" sz="1100" kern="1200" spc="10" dirty="0">
                            <a:solidFill>
                              <a:schemeClr val="tx1"/>
                            </a:solidFill>
                            <a:latin typeface="Cambria Math" panose="02040503050406030204" pitchFamily="18" charset="0"/>
                            <a:ea typeface="+mn-ea"/>
                            <a:cs typeface="Tahoma"/>
                          </a:rPr>
                          <m:t>𝑖</m:t>
                        </m:r>
                      </m:sub>
                    </m:sSub>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is a Boolean logic formula and </a:t>
                </a:r>
                <a14:m>
                  <m:oMath xmlns:m="http://schemas.openxmlformats.org/officeDocument/2006/math">
                    <m:sSub>
                      <m:sSubPr>
                        <m:ctrlPr>
                          <a:rPr lang="ar-SA" sz="1100" i="1" kern="1200" spc="10" dirty="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𝑤</m:t>
                        </m:r>
                      </m:e>
                      <m:sub>
                        <m:r>
                          <a:rPr lang="ar-SA" sz="1100" kern="1200" spc="10" dirty="0">
                            <a:solidFill>
                              <a:schemeClr val="tx1"/>
                            </a:solidFill>
                            <a:latin typeface="Cambria Math" panose="02040503050406030204" pitchFamily="18" charset="0"/>
                            <a:ea typeface="+mn-ea"/>
                            <a:cs typeface="Tahoma"/>
                          </a:rPr>
                          <m:t>𝑖</m:t>
                        </m:r>
                      </m:sub>
                    </m:sSub>
                    <m:r>
                      <a:rPr lang="ar-SA" sz="1100" kern="1200" spc="10" dirty="0">
                        <a:solidFill>
                          <a:schemeClr val="tx1"/>
                        </a:solidFill>
                        <a:latin typeface="Cambria Math" panose="02040503050406030204" pitchFamily="18" charset="0"/>
                        <a:ea typeface="+mn-ea"/>
                        <a:cs typeface="Tahoma"/>
                      </a:rPr>
                      <m:t>∈</m:t>
                    </m:r>
                    <m:r>
                      <a:rPr lang="ar-SA" sz="1100" kern="1200" spc="10" dirty="0">
                        <a:solidFill>
                          <a:schemeClr val="tx1"/>
                        </a:solidFill>
                        <a:latin typeface="Cambria Math" panose="02040503050406030204" pitchFamily="18" charset="0"/>
                        <a:ea typeface="+mn-ea"/>
                        <a:cs typeface="Tahoma"/>
                      </a:rPr>
                      <m:t>ℝ</m:t>
                    </m:r>
                    <m:r>
                      <a:rPr lang="ar-SA" sz="1100" kern="1200" spc="10" dirty="0">
                        <a:solidFill>
                          <a:schemeClr val="tx1"/>
                        </a:solidFill>
                        <a:latin typeface="Cambria Math" panose="02040503050406030204" pitchFamily="18" charset="0"/>
                        <a:ea typeface="+mn-ea"/>
                        <a:cs typeface="Tahoma"/>
                      </a:rPr>
                      <m:t>, </m:t>
                    </m:r>
                    <m:r>
                      <m:rPr>
                        <m:sty m:val="p"/>
                      </m:rPr>
                      <a:rPr lang="en-MY" sz="1100" i="0" kern="1200" spc="10" dirty="0">
                        <a:solidFill>
                          <a:schemeClr val="tx1"/>
                        </a:solidFill>
                        <a:latin typeface="Cambria Math" panose="02040503050406030204" pitchFamily="18" charset="0"/>
                        <a:ea typeface="+mn-ea"/>
                        <a:cs typeface="Tahoma"/>
                      </a:rPr>
                      <m:t>s</m:t>
                    </m:r>
                    <m:r>
                      <a:rPr lang="en-MY" sz="1100" i="0" kern="1200" spc="10" dirty="0">
                        <a:solidFill>
                          <a:schemeClr val="tx1"/>
                        </a:solidFill>
                        <a:latin typeface="Cambria Math" panose="02040503050406030204" pitchFamily="18" charset="0"/>
                        <a:ea typeface="+mn-ea"/>
                        <a:cs typeface="Tahoma"/>
                      </a:rPr>
                      <m:t>.</m:t>
                    </m:r>
                    <m:r>
                      <m:rPr>
                        <m:sty m:val="p"/>
                      </m:rPr>
                      <a:rPr lang="en-MY" sz="1100" i="0" kern="1200" spc="10" dirty="0">
                        <a:solidFill>
                          <a:schemeClr val="tx1"/>
                        </a:solidFill>
                        <a:latin typeface="Cambria Math" panose="02040503050406030204" pitchFamily="18" charset="0"/>
                        <a:ea typeface="+mn-ea"/>
                        <a:cs typeface="Tahoma"/>
                      </a:rPr>
                      <m:t>t</m:t>
                    </m:r>
                    <m:r>
                      <a:rPr lang="en-MY" sz="1100" i="0" kern="1200" spc="10" dirty="0">
                        <a:solidFill>
                          <a:schemeClr val="tx1"/>
                        </a:solidFill>
                        <a:latin typeface="Cambria Math" panose="02040503050406030204" pitchFamily="18" charset="0"/>
                        <a:ea typeface="+mn-ea"/>
                        <a:cs typeface="Tahoma"/>
                      </a:rPr>
                      <m:t>.  </m:t>
                    </m:r>
                  </m:oMath>
                </a14:m>
                <a:br>
                  <a:rPr lang="en-MY" sz="1100" b="0" i="0" kern="1200" spc="10" dirty="0">
                    <a:solidFill>
                      <a:schemeClr val="tx1"/>
                    </a:solidFill>
                    <a:latin typeface="Cambria Math" panose="02040503050406030204" pitchFamily="18" charset="0"/>
                    <a:ea typeface="+mn-ea"/>
                    <a:cs typeface="Tahoma"/>
                  </a:rPr>
                </a:b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𝑁</m:t>
                    </m:r>
                    <m:r>
                      <a:rPr lang="en-MY" sz="1100" kern="1200" spc="10" dirty="0">
                        <a:solidFill>
                          <a:schemeClr val="tx1"/>
                        </a:solidFill>
                        <a:latin typeface="Cambria Math" panose="02040503050406030204" pitchFamily="18" charset="0"/>
                        <a:ea typeface="+mn-ea"/>
                        <a:cs typeface="Tahoma"/>
                      </a:rPr>
                      <m:t> = </m:t>
                    </m:r>
                    <m:r>
                      <a:rPr lang="en-MY" sz="1100" b="1" i="0" kern="1200" spc="10" dirty="0">
                        <a:solidFill>
                          <a:schemeClr val="tx1"/>
                        </a:solidFill>
                        <a:latin typeface="Cambria Math" panose="02040503050406030204" pitchFamily="18" charset="0"/>
                        <a:ea typeface="+mn-ea"/>
                        <a:cs typeface="Tahoma"/>
                      </a:rPr>
                      <m:t>𝐯𝐚𝐫𝐬</m:t>
                    </m:r>
                    <m:sSub>
                      <m:sSubPr>
                        <m:ctrlPr>
                          <a:rPr lang="ar-SA" sz="1100" b="0" i="1" kern="1200" spc="10" dirty="0" smtClean="0">
                            <a:solidFill>
                              <a:schemeClr val="tx1"/>
                            </a:solidFill>
                            <a:latin typeface="Cambria Math" panose="02040503050406030204" pitchFamily="18" charset="0"/>
                            <a:ea typeface="+mn-ea"/>
                            <a:cs typeface="Tahoma"/>
                          </a:rPr>
                        </m:ctrlPr>
                      </m:sSubPr>
                      <m:e>
                        <m:d>
                          <m:dPr>
                            <m:begChr m:val="{"/>
                            <m:endChr m:val="}"/>
                            <m:ctrlPr>
                              <a:rPr lang="ar-SA" sz="1100" b="0" i="1" kern="1200" spc="10" dirty="0">
                                <a:solidFill>
                                  <a:schemeClr val="tx1"/>
                                </a:solidFill>
                                <a:latin typeface="Cambria Math" panose="02040503050406030204" pitchFamily="18" charset="0"/>
                                <a:ea typeface="+mn-ea"/>
                                <a:cs typeface="Tahoma"/>
                              </a:rPr>
                            </m:ctrlPr>
                          </m:dPr>
                          <m:e>
                            <m:sSub>
                              <m:sSubPr>
                                <m:ctrlPr>
                                  <a:rPr lang="ar-SA" sz="1100" b="0" i="1" kern="1200" spc="10" dirty="0" smtClean="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m:rPr>
                                    <m:sty m:val="p"/>
                                  </m:rPr>
                                  <a:rPr lang="en-MY" sz="1100" b="0" i="0" kern="1200" spc="10" dirty="0" smtClean="0">
                                    <a:solidFill>
                                      <a:schemeClr val="tx1"/>
                                    </a:solidFill>
                                    <a:latin typeface="Cambria Math" panose="02040503050406030204" pitchFamily="18" charset="0"/>
                                    <a:ea typeface="+mn-ea"/>
                                    <a:cs typeface="Tahoma"/>
                                  </a:rPr>
                                  <m:t>i</m:t>
                                </m:r>
                              </m:sub>
                            </m:sSub>
                          </m:e>
                        </m:d>
                      </m:e>
                      <m:sub>
                        <m:r>
                          <a:rPr lang="ar-SA" sz="1100" b="0" i="0" kern="1200" spc="10" dirty="0" smtClean="0">
                            <a:solidFill>
                              <a:schemeClr val="tx1"/>
                            </a:solidFill>
                            <a:latin typeface="Cambria Math" panose="02040503050406030204" pitchFamily="18" charset="0"/>
                            <a:ea typeface="+mn-ea"/>
                            <a:cs typeface="Tahoma"/>
                          </a:rPr>
                          <m:t>1</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𝑖</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𝑘</m:t>
                        </m:r>
                      </m:sub>
                    </m:sSub>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and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𝑣</m:t>
                    </m:r>
                    <m:r>
                      <a:rPr lang="en-MY" sz="1100" kern="1200" spc="10" dirty="0">
                        <a:solidFill>
                          <a:schemeClr val="tx1"/>
                        </a:solidFill>
                        <a:latin typeface="Cambria Math" panose="02040503050406030204" pitchFamily="18" charset="0"/>
                        <a:ea typeface="+mn-ea"/>
                        <a:cs typeface="Tahoma"/>
                      </a:rPr>
                      <m:t>(</m:t>
                    </m:r>
                    <m:r>
                      <a:rPr lang="en-MY" sz="1100" kern="1200" spc="10" dirty="0">
                        <a:solidFill>
                          <a:schemeClr val="tx1"/>
                        </a:solidFill>
                        <a:latin typeface="Cambria Math" panose="02040503050406030204" pitchFamily="18" charset="0"/>
                        <a:ea typeface="+mn-ea"/>
                        <a:cs typeface="Tahoma"/>
                      </a:rPr>
                      <m:t>𝐶</m:t>
                    </m:r>
                    <m:r>
                      <a:rPr lang="en-MY" sz="1100" kern="1200" spc="10" dirty="0">
                        <a:solidFill>
                          <a:schemeClr val="tx1"/>
                        </a:solidFill>
                        <a:latin typeface="Cambria Math" panose="02040503050406030204" pitchFamily="18" charset="0"/>
                        <a:ea typeface="+mn-ea"/>
                        <a:cs typeface="Tahoma"/>
                      </a:rPr>
                      <m:t>)=</m:t>
                    </m:r>
                    <m:nary>
                      <m:naryPr>
                        <m:chr m:val="∑"/>
                        <m:supHide m:val="on"/>
                        <m:ctrlPr>
                          <a:rPr lang="ar-SA" sz="1100" b="0" i="1" kern="1200" spc="10" dirty="0" smtClean="0">
                            <a:solidFill>
                              <a:schemeClr val="tx1"/>
                            </a:solidFill>
                            <a:latin typeface="Cambria Math" panose="02040503050406030204" pitchFamily="18" charset="0"/>
                            <a:ea typeface="+mn-ea"/>
                            <a:cs typeface="Tahoma"/>
                          </a:rPr>
                        </m:ctrlPr>
                      </m:naryPr>
                      <m:sub>
                        <m:r>
                          <a:rPr lang="ar-SA" sz="1100" b="0" i="1" kern="1200" spc="10" dirty="0" smtClean="0">
                            <a:solidFill>
                              <a:schemeClr val="tx1"/>
                            </a:solidFill>
                            <a:latin typeface="Cambria Math" panose="02040503050406030204" pitchFamily="18" charset="0"/>
                            <a:ea typeface="+mn-ea"/>
                            <a:cs typeface="Tahoma"/>
                          </a:rPr>
                          <m:t>1</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𝑖</m:t>
                        </m:r>
                        <m:r>
                          <a:rPr lang="ar-SA" sz="1100" b="0" i="1" kern="1200" spc="10" dirty="0" smtClean="0">
                            <a:solidFill>
                              <a:schemeClr val="tx1"/>
                            </a:solidFill>
                            <a:latin typeface="Cambria Math" panose="02040503050406030204" pitchFamily="18" charset="0"/>
                            <a:ea typeface="+mn-ea"/>
                            <a:cs typeface="Tahoma"/>
                          </a:rPr>
                          <m:t>≤</m:t>
                        </m:r>
                        <m:r>
                          <a:rPr lang="ar-SA" sz="1100" b="0" i="1" kern="1200" spc="10" dirty="0" smtClean="0">
                            <a:solidFill>
                              <a:schemeClr val="tx1"/>
                            </a:solidFill>
                            <a:latin typeface="Cambria Math" panose="02040503050406030204" pitchFamily="18" charset="0"/>
                            <a:ea typeface="+mn-ea"/>
                            <a:cs typeface="Tahoma"/>
                          </a:rPr>
                          <m:t>𝑘</m:t>
                        </m:r>
                      </m:sub>
                      <m:sup/>
                      <m:e>
                        <m:sSub>
                          <m:sSubPr>
                            <m:ctrlPr>
                              <a:rPr lang="en-US" sz="1100" b="0" i="0"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𝑝</m:t>
                            </m:r>
                          </m:e>
                          <m:sub>
                            <m:r>
                              <a:rPr lang="ar-SA" sz="1100" kern="1200" spc="10" dirty="0">
                                <a:solidFill>
                                  <a:schemeClr val="tx1"/>
                                </a:solidFill>
                                <a:latin typeface="Cambria Math" panose="02040503050406030204" pitchFamily="18" charset="0"/>
                                <a:cs typeface="Tahoma"/>
                              </a:rPr>
                              <m:t>𝑖</m:t>
                            </m:r>
                          </m:sub>
                        </m:sSub>
                        <m:r>
                          <a:rPr lang="ar-SA" sz="1100" kern="1200" spc="10" dirty="0">
                            <a:solidFill>
                              <a:schemeClr val="tx1"/>
                            </a:solidFill>
                            <a:latin typeface="Cambria Math" panose="02040503050406030204" pitchFamily="18" charset="0"/>
                            <a:cs typeface="Tahoma"/>
                          </a:rPr>
                          <m:t> </m:t>
                        </m:r>
                        <m:d>
                          <m:dPr>
                            <m:ctrlPr>
                              <a:rPr lang="ar-SA" sz="1100" i="1" kern="1200" spc="10" dirty="0">
                                <a:solidFill>
                                  <a:schemeClr val="tx1"/>
                                </a:solidFill>
                                <a:latin typeface="Cambria Math" panose="02040503050406030204" pitchFamily="18" charset="0"/>
                                <a:cs typeface="Tahoma"/>
                              </a:rPr>
                            </m:ctrlPr>
                          </m:dPr>
                          <m:e>
                            <m:r>
                              <a:rPr lang="ar-SA" sz="1100" kern="1200" spc="10" dirty="0">
                                <a:solidFill>
                                  <a:schemeClr val="tx1"/>
                                </a:solidFill>
                                <a:latin typeface="Cambria Math" panose="02040503050406030204" pitchFamily="18" charset="0"/>
                                <a:cs typeface="Tahoma"/>
                              </a:rPr>
                              <m:t>𝐶</m:t>
                            </m:r>
                            <m:r>
                              <a:rPr lang="ar-SA" sz="1100" kern="1200" spc="10" dirty="0">
                                <a:solidFill>
                                  <a:schemeClr val="tx1"/>
                                </a:solidFill>
                                <a:latin typeface="Cambria Math" panose="02040503050406030204" pitchFamily="18" charset="0"/>
                                <a:cs typeface="Tahoma"/>
                              </a:rPr>
                              <m:t> </m:t>
                            </m:r>
                          </m:e>
                        </m:d>
                        <m:sSub>
                          <m:sSubPr>
                            <m:ctrlPr>
                              <a:rPr lang="ar-SA" sz="1100" b="0" i="1" kern="1200" spc="10" dirty="0" smtClean="0">
                                <a:solidFill>
                                  <a:schemeClr val="tx1"/>
                                </a:solidFill>
                                <a:latin typeface="Cambria Math" panose="02040503050406030204" pitchFamily="18" charset="0"/>
                                <a:cs typeface="Tahoma"/>
                              </a:rPr>
                            </m:ctrlPr>
                          </m:sSubPr>
                          <m:e>
                            <m:r>
                              <a:rPr lang="ar-SA" sz="1100" kern="1200" spc="10" dirty="0">
                                <a:solidFill>
                                  <a:schemeClr val="tx1"/>
                                </a:solidFill>
                                <a:latin typeface="Cambria Math" panose="02040503050406030204" pitchFamily="18" charset="0"/>
                                <a:cs typeface="Tahoma"/>
                              </a:rPr>
                              <m:t>𝑤</m:t>
                            </m:r>
                          </m:e>
                          <m:sub>
                            <m:r>
                              <a:rPr lang="ar-SA" sz="1100" kern="1200" spc="10" dirty="0">
                                <a:solidFill>
                                  <a:schemeClr val="tx1"/>
                                </a:solidFill>
                                <a:latin typeface="Cambria Math" panose="02040503050406030204" pitchFamily="18" charset="0"/>
                                <a:cs typeface="Tahoma"/>
                              </a:rPr>
                              <m:t>𝑖</m:t>
                            </m:r>
                          </m:sub>
                        </m:sSub>
                      </m:e>
                    </m:nary>
                    <m:r>
                      <a:rPr lang="ar-SA" sz="1100" kern="1200" spc="10" dirty="0">
                        <a:solidFill>
                          <a:schemeClr val="tx1"/>
                        </a:solidFill>
                        <a:latin typeface="Cambria Math" panose="02040503050406030204" pitchFamily="18" charset="0"/>
                        <a:ea typeface="+mn-ea"/>
                        <a:cs typeface="Tahoma"/>
                      </a:rPr>
                      <m:t>, </m:t>
                    </m:r>
                    <m:r>
                      <m:rPr>
                        <m:sty m:val="p"/>
                      </m:rPr>
                      <a:rPr lang="en-MY" sz="1100" i="0" kern="1200" spc="10" dirty="0">
                        <a:solidFill>
                          <a:schemeClr val="tx1"/>
                        </a:solidFill>
                        <a:latin typeface="Cambria Math" panose="02040503050406030204" pitchFamily="18" charset="0"/>
                        <a:ea typeface="+mn-ea"/>
                        <a:cs typeface="Tahoma"/>
                      </a:rPr>
                      <m:t>s</m:t>
                    </m:r>
                    <m:r>
                      <a:rPr lang="en-MY" sz="1100" i="0" kern="1200" spc="10" dirty="0">
                        <a:solidFill>
                          <a:schemeClr val="tx1"/>
                        </a:solidFill>
                        <a:latin typeface="Cambria Math" panose="02040503050406030204" pitchFamily="18" charset="0"/>
                        <a:ea typeface="+mn-ea"/>
                        <a:cs typeface="Tahoma"/>
                      </a:rPr>
                      <m:t>.</m:t>
                    </m:r>
                    <m:r>
                      <m:rPr>
                        <m:sty m:val="p"/>
                      </m:rPr>
                      <a:rPr lang="en-MY" sz="1100" i="0" kern="1200" spc="10" dirty="0">
                        <a:solidFill>
                          <a:schemeClr val="tx1"/>
                        </a:solidFill>
                        <a:latin typeface="Cambria Math" panose="02040503050406030204" pitchFamily="18" charset="0"/>
                        <a:ea typeface="+mn-ea"/>
                        <a:cs typeface="Tahoma"/>
                      </a:rPr>
                      <m:t>t</m:t>
                    </m:r>
                    <m:r>
                      <a:rPr lang="en-MY" sz="1100" i="0" kern="1200" spc="10" dirty="0">
                        <a:solidFill>
                          <a:schemeClr val="tx1"/>
                        </a:solidFill>
                        <a:latin typeface="Cambria Math" panose="02040503050406030204" pitchFamily="18" charset="0"/>
                        <a:ea typeface="+mn-ea"/>
                        <a:cs typeface="Tahoma"/>
                      </a:rPr>
                      <m:t>.   </m:t>
                    </m:r>
                    <m:sSub>
                      <m:sSubPr>
                        <m:ctrlPr>
                          <a:rPr lang="ar-SA" sz="1100" b="0" i="1" kern="1200" spc="10" dirty="0" smtClean="0">
                            <a:solidFill>
                              <a:schemeClr val="tx1"/>
                            </a:solidFill>
                            <a:latin typeface="Cambria Math" panose="02040503050406030204" pitchFamily="18" charset="0"/>
                            <a:ea typeface="+mn-ea"/>
                            <a:cs typeface="Tahoma"/>
                          </a:rPr>
                        </m:ctrlPr>
                      </m:sSubPr>
                      <m:e>
                        <m:r>
                          <a:rPr lang="ar-SA" sz="1100" kern="1200" spc="10" dirty="0">
                            <a:solidFill>
                              <a:schemeClr val="tx1"/>
                            </a:solidFill>
                            <a:latin typeface="Cambria Math" panose="02040503050406030204" pitchFamily="18" charset="0"/>
                            <a:ea typeface="+mn-ea"/>
                            <a:cs typeface="Tahoma"/>
                          </a:rPr>
                          <m:t>𝑝</m:t>
                        </m:r>
                      </m:e>
                      <m:sub>
                        <m:r>
                          <m:rPr>
                            <m:sty m:val="p"/>
                          </m:rPr>
                          <a:rPr lang="en-MY" sz="1100" b="0" i="0" kern="1200" spc="10" dirty="0" smtClean="0">
                            <a:solidFill>
                              <a:schemeClr val="tx1"/>
                            </a:solidFill>
                            <a:latin typeface="Cambria Math" panose="02040503050406030204" pitchFamily="18" charset="0"/>
                            <a:ea typeface="+mn-ea"/>
                            <a:cs typeface="Tahoma"/>
                          </a:rPr>
                          <m:t>i</m:t>
                        </m:r>
                      </m:sub>
                    </m:sSub>
                    <m:r>
                      <a:rPr lang="ar-SA" sz="1100" kern="1200" spc="10" dirty="0">
                        <a:solidFill>
                          <a:schemeClr val="tx1"/>
                        </a:solidFill>
                        <a:latin typeface="Cambria Math" panose="02040503050406030204" pitchFamily="18" charset="0"/>
                        <a:ea typeface="+mn-ea"/>
                        <a:cs typeface="Tahoma"/>
                      </a:rPr>
                      <m:t>(</m:t>
                    </m:r>
                    <m:r>
                      <a:rPr lang="ar-SA" sz="1100" kern="1200" spc="10" dirty="0">
                        <a:solidFill>
                          <a:schemeClr val="tx1"/>
                        </a:solidFill>
                        <a:latin typeface="Cambria Math" panose="02040503050406030204" pitchFamily="18" charset="0"/>
                        <a:ea typeface="+mn-ea"/>
                        <a:cs typeface="Tahoma"/>
                      </a:rPr>
                      <m:t>𝐶</m:t>
                    </m:r>
                    <m:r>
                      <a:rPr lang="ar-SA" sz="1100" kern="1200" spc="10" dirty="0">
                        <a:solidFill>
                          <a:schemeClr val="tx1"/>
                        </a:solidFill>
                        <a:latin typeface="Cambria Math" panose="02040503050406030204" pitchFamily="18" charset="0"/>
                        <a:ea typeface="+mn-ea"/>
                        <a:cs typeface="Tahoma"/>
                      </a:rPr>
                      <m:t>)</m:t>
                    </m:r>
                  </m:oMath>
                </a14:m>
                <a:r>
                  <a:rPr lang="ar-SA" sz="1100" kern="1200" spc="10" dirty="0">
                    <a:solidFill>
                      <a:schemeClr val="tx1"/>
                    </a:solidFill>
                    <a:latin typeface="Tahoma"/>
                    <a:ea typeface="+mn-ea"/>
                    <a:cs typeface="Tahoma"/>
                  </a:rPr>
                  <a:t> </a:t>
                </a:r>
                <a:r>
                  <a:rPr lang="en-MY" sz="1100" kern="1200" spc="10" dirty="0">
                    <a:solidFill>
                      <a:schemeClr val="tx1"/>
                    </a:solidFill>
                    <a:latin typeface="Tahoma"/>
                    <a:ea typeface="+mn-ea"/>
                    <a:cs typeface="Tahoma"/>
                  </a:rPr>
                  <a:t>evaluates to 1 if </a:t>
                </a:r>
                <a14:m>
                  <m:oMath xmlns:m="http://schemas.openxmlformats.org/officeDocument/2006/math">
                    <m:r>
                      <a:rPr lang="en-MY" sz="1100" kern="1200" spc="10" dirty="0">
                        <a:solidFill>
                          <a:schemeClr val="tx1"/>
                        </a:solidFill>
                        <a:latin typeface="Cambria Math" panose="02040503050406030204" pitchFamily="18" charset="0"/>
                        <a:ea typeface="+mn-ea"/>
                        <a:cs typeface="Tahoma"/>
                      </a:rPr>
                      <m:t>𝐶</m:t>
                    </m:r>
                  </m:oMath>
                </a14:m>
                <a:r>
                  <a:rPr lang="en-MY" sz="1100" kern="1200" spc="10" dirty="0">
                    <a:solidFill>
                      <a:schemeClr val="tx1"/>
                    </a:solidFill>
                    <a:latin typeface="Tahoma"/>
                    <a:ea typeface="+mn-ea"/>
                    <a:cs typeface="Tahoma"/>
                  </a:rPr>
                  <a:t> is a satisfying assignment; else 0.</a:t>
                </a:r>
              </a:p>
            </p:txBody>
          </p:sp>
        </mc:Choice>
        <mc:Fallback>
          <p:sp>
            <p:nvSpPr>
              <p:cNvPr id="3" name="object 3"/>
              <p:cNvSpPr txBox="1">
                <a:spLocks noRot="1" noChangeAspect="1" noMove="1" noResize="1" noEditPoints="1" noAdjustHandles="1" noChangeArrowheads="1" noChangeShapeType="1" noTextEdit="1"/>
              </p:cNvSpPr>
              <p:nvPr/>
            </p:nvSpPr>
            <p:spPr>
              <a:xfrm>
                <a:off x="334594" y="927886"/>
                <a:ext cx="4104056" cy="1575431"/>
              </a:xfrm>
              <a:prstGeom prst="rect">
                <a:avLst/>
              </a:prstGeom>
              <a:blipFill>
                <a:blip r:embed="rId3"/>
                <a:stretch>
                  <a:fillRect l="-1634" t="-3089" r="-743" b="-16216"/>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95E62A4B-B7C9-4F96-A2E8-F19A823F6F83}"/>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9E0A7777-9C77-4CCE-BBAB-9CE0B0C0059F}"/>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94DD5DE-4437-4470-99D3-61011608B6E7}"/>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36</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75" dirty="0"/>
              <a:t> </a:t>
            </a:r>
            <a:r>
              <a:rPr dirty="0"/>
              <a:t>Marginal</a:t>
            </a:r>
            <a:r>
              <a:rPr spc="135" dirty="0"/>
              <a:t> </a:t>
            </a:r>
            <a:r>
              <a:rPr dirty="0"/>
              <a:t>contribution</a:t>
            </a:r>
            <a:r>
              <a:rPr spc="135" dirty="0"/>
              <a:t> </a:t>
            </a:r>
            <a:r>
              <a:rPr spc="-20" dirty="0"/>
              <a:t>nets</a:t>
            </a:r>
          </a:p>
        </p:txBody>
      </p:sp>
      <mc:AlternateContent xmlns:mc="http://schemas.openxmlformats.org/markup-compatibility/2006" xmlns:a14="http://schemas.microsoft.com/office/drawing/2010/main">
        <mc:Choice Requires="a14">
          <p:sp>
            <p:nvSpPr>
              <p:cNvPr id="3" name="object 3"/>
              <p:cNvSpPr txBox="1"/>
              <p:nvPr/>
            </p:nvSpPr>
            <p:spPr>
              <a:xfrm>
                <a:off x="421957" y="1134310"/>
                <a:ext cx="2340293" cy="1510093"/>
              </a:xfrm>
              <a:prstGeom prst="rect">
                <a:avLst/>
              </a:prstGeom>
            </p:spPr>
            <p:txBody>
              <a:bodyPr vert="horz" wrap="square" lIns="0" tIns="34925" rIns="0" bIns="0" rtlCol="0">
                <a:spAutoFit/>
              </a:bodyPr>
              <a:lstStyle/>
              <a:p>
                <a:pPr marL="301625"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Input: </a:t>
                </a:r>
                <a14:m>
                  <m:oMath xmlns:m="http://schemas.openxmlformats.org/officeDocument/2006/math">
                    <m:d>
                      <m:dPr>
                        <m:begChr m:val="["/>
                        <m:endChr m:val="]"/>
                        <m:ctrlPr>
                          <a:rPr lang="ar-SA" sz="1100" i="1" kern="1200" spc="10" dirty="0" smtClean="0">
                            <a:solidFill>
                              <a:schemeClr val="tx1"/>
                            </a:solidFill>
                            <a:latin typeface="Cambria Math" panose="02040503050406030204" pitchFamily="18" charset="0"/>
                            <a:ea typeface="+mn-ea"/>
                            <a:cs typeface="Tahoma"/>
                          </a:rPr>
                        </m:ctrlPr>
                      </m:dPr>
                      <m:e>
                        <m:d>
                          <m:dPr>
                            <m:ctrlPr>
                              <a:rPr lang="ar-SA" sz="1100" i="1" kern="1200" spc="10" dirty="0" smtClean="0">
                                <a:solidFill>
                                  <a:schemeClr val="tx1"/>
                                </a:solidFill>
                                <a:latin typeface="Cambria Math" panose="02040503050406030204" pitchFamily="18" charset="0"/>
                                <a:ea typeface="+mn-ea"/>
                                <a:cs typeface="Tahoma"/>
                              </a:rPr>
                            </m:ctrlPr>
                          </m:dPr>
                          <m:e>
                            <m:r>
                              <a:rPr lang="ar-SA" sz="1100" i="1" kern="1200" spc="10" dirty="0" smtClean="0">
                                <a:solidFill>
                                  <a:schemeClr val="tx1"/>
                                </a:solidFill>
                                <a:latin typeface="Cambria Math" panose="02040503050406030204" pitchFamily="18" charset="0"/>
                                <a:ea typeface="+mn-ea"/>
                                <a:cs typeface="Tahoma"/>
                              </a:rPr>
                              <m:t>1</m:t>
                            </m:r>
                            <m:r>
                              <a:rPr lang="ar-SA" sz="1100" i="1" kern="1200" spc="10" dirty="0" smtClean="0">
                                <a:solidFill>
                                  <a:schemeClr val="tx1"/>
                                </a:solidFill>
                                <a:latin typeface="Cambria Math" panose="02040503050406030204" pitchFamily="18" charset="0"/>
                                <a:ea typeface="+mn-ea"/>
                                <a:cs typeface="Tahoma"/>
                              </a:rPr>
                              <m:t>∧</m:t>
                            </m:r>
                            <m:r>
                              <a:rPr lang="ar-SA" sz="1100" i="1" kern="1200" spc="10" dirty="0" smtClean="0">
                                <a:solidFill>
                                  <a:schemeClr val="tx1"/>
                                </a:solidFill>
                                <a:latin typeface="Cambria Math" panose="02040503050406030204" pitchFamily="18" charset="0"/>
                                <a:ea typeface="+mn-ea"/>
                                <a:cs typeface="Tahoma"/>
                              </a:rPr>
                              <m:t>2</m:t>
                            </m:r>
                            <m:r>
                              <a:rPr lang="ar-SA" sz="1100" i="1" kern="1200" spc="10" dirty="0" smtClean="0">
                                <a:solidFill>
                                  <a:schemeClr val="tx1"/>
                                </a:solidFill>
                                <a:latin typeface="Cambria Math" panose="02040503050406030204" pitchFamily="18" charset="0"/>
                                <a:ea typeface="+mn-ea"/>
                                <a:cs typeface="Tahoma"/>
                              </a:rPr>
                              <m:t>, </m:t>
                            </m:r>
                            <m:r>
                              <a:rPr lang="ar-SA" sz="1100" i="1" kern="1200" spc="10" dirty="0" smtClean="0">
                                <a:solidFill>
                                  <a:schemeClr val="tx1"/>
                                </a:solidFill>
                                <a:latin typeface="Cambria Math" panose="02040503050406030204" pitchFamily="18" charset="0"/>
                                <a:ea typeface="+mn-ea"/>
                                <a:cs typeface="Tahoma"/>
                              </a:rPr>
                              <m:t>5</m:t>
                            </m:r>
                          </m:e>
                        </m:d>
                        <m:d>
                          <m:dPr>
                            <m:ctrlPr>
                              <a:rPr lang="ar-SA" sz="1100" i="1" kern="1200" spc="10" dirty="0" smtClean="0">
                                <a:solidFill>
                                  <a:schemeClr val="tx1"/>
                                </a:solidFill>
                                <a:latin typeface="Cambria Math" panose="02040503050406030204" pitchFamily="18" charset="0"/>
                                <a:ea typeface="+mn-ea"/>
                                <a:cs typeface="Tahoma"/>
                              </a:rPr>
                            </m:ctrlPr>
                          </m:dPr>
                          <m:e>
                            <m:r>
                              <a:rPr lang="ar-SA" sz="1100" i="1" kern="1200" spc="10" dirty="0" smtClean="0">
                                <a:solidFill>
                                  <a:schemeClr val="tx1"/>
                                </a:solidFill>
                                <a:latin typeface="Cambria Math" panose="02040503050406030204" pitchFamily="18" charset="0"/>
                                <a:ea typeface="+mn-ea"/>
                                <a:cs typeface="Tahoma"/>
                              </a:rPr>
                              <m:t>2</m:t>
                            </m:r>
                            <m:r>
                              <a:rPr lang="ar-SA" sz="1100" i="1" kern="1200" spc="10" dirty="0" smtClean="0">
                                <a:solidFill>
                                  <a:schemeClr val="tx1"/>
                                </a:solidFill>
                                <a:latin typeface="Cambria Math" panose="02040503050406030204" pitchFamily="18" charset="0"/>
                                <a:ea typeface="+mn-ea"/>
                                <a:cs typeface="Tahoma"/>
                              </a:rPr>
                              <m:t>, </m:t>
                            </m:r>
                            <m:r>
                              <a:rPr lang="ar-SA" sz="1100" i="1" kern="1200" spc="10" dirty="0" smtClean="0">
                                <a:solidFill>
                                  <a:schemeClr val="tx1"/>
                                </a:solidFill>
                                <a:latin typeface="Cambria Math" panose="02040503050406030204" pitchFamily="18" charset="0"/>
                                <a:ea typeface="+mn-ea"/>
                                <a:cs typeface="Tahoma"/>
                              </a:rPr>
                              <m:t>7</m:t>
                            </m:r>
                          </m:e>
                        </m:d>
                      </m:e>
                    </m:d>
                  </m:oMath>
                </a14:m>
                <a:r>
                  <a:rPr lang="ar-SA" sz="1100" kern="1200" spc="10" dirty="0">
                    <a:solidFill>
                      <a:schemeClr val="tx1"/>
                    </a:solidFill>
                    <a:latin typeface="Tahoma"/>
                    <a:ea typeface="+mn-ea"/>
                    <a:cs typeface="Tahoma"/>
                  </a:rPr>
                  <a:t> </a:t>
                </a:r>
              </a:p>
              <a:p>
                <a:pPr marL="301625" marR="5080" indent="-211138" algn="l" rtl="0">
                  <a:lnSpc>
                    <a:spcPts val="1400"/>
                  </a:lnSpc>
                  <a:spcBef>
                    <a:spcPts val="330"/>
                  </a:spcBef>
                  <a:buClr>
                    <a:srgbClr val="0000FF"/>
                  </a:buClr>
                  <a:buFont typeface="Arial"/>
                  <a:buChar char="►"/>
                  <a:tabLst>
                    <a:tab pos="201930" algn="l"/>
                  </a:tabLst>
                </a:pPr>
                <a:r>
                  <a:rPr lang="en-MY" sz="1100" kern="1200" spc="10" dirty="0">
                    <a:solidFill>
                      <a:schemeClr val="tx1"/>
                    </a:solidFill>
                    <a:latin typeface="Tahoma"/>
                    <a:ea typeface="+mn-ea"/>
                    <a:cs typeface="Tahoma"/>
                  </a:rPr>
                  <a:t>Output:</a:t>
                </a:r>
              </a:p>
              <a:p>
                <a:pPr marL="628650" marR="5080" lvl="1"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𝑁</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oMath>
                </a14:m>
                <a:endParaRPr lang="en-MY" sz="1100" kern="1200" spc="10" dirty="0">
                  <a:solidFill>
                    <a:schemeClr val="tx1"/>
                  </a:solidFill>
                  <a:latin typeface="Tahoma"/>
                  <a:ea typeface="+mn-ea"/>
                  <a:cs typeface="Tahoma"/>
                </a:endParaRPr>
              </a:p>
              <a:p>
                <a:pPr marL="628650" marR="5080" lvl="1"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0</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7</m:t>
                    </m:r>
                  </m:oMath>
                </a14:m>
                <a:endParaRPr lang="en-MY" sz="1100" kern="1200" spc="10" dirty="0">
                  <a:solidFill>
                    <a:schemeClr val="tx1"/>
                  </a:solidFill>
                  <a:latin typeface="Tahoma"/>
                  <a:ea typeface="+mn-ea"/>
                  <a:cs typeface="Tahoma"/>
                </a:endParaRPr>
              </a:p>
              <a:p>
                <a:pPr marL="628650" marR="5080" indent="-211138" algn="l" rtl="0">
                  <a:lnSpc>
                    <a:spcPts val="1400"/>
                  </a:lnSpc>
                  <a:spcBef>
                    <a:spcPts val="330"/>
                  </a:spcBef>
                  <a:buClr>
                    <a:srgbClr val="0000FF"/>
                  </a:buClr>
                  <a:buFont typeface="Arial"/>
                  <a:buChar char="►"/>
                  <a:tabLst>
                    <a:tab pos="201613" algn="l"/>
                    <a:tab pos="628650" algn="l"/>
                  </a:tabLst>
                </a:pPr>
                <a14:m>
                  <m:oMath xmlns:m="http://schemas.openxmlformats.org/officeDocument/2006/math">
                    <m:r>
                      <a:rPr lang="en-MY" sz="1100" i="1" kern="1200" spc="10" dirty="0" smtClean="0">
                        <a:solidFill>
                          <a:schemeClr val="tx1"/>
                        </a:solidFill>
                        <a:latin typeface="Cambria Math" panose="02040503050406030204" pitchFamily="18" charset="0"/>
                        <a:ea typeface="+mn-ea"/>
                        <a:cs typeface="Tahoma"/>
                      </a:rPr>
                      <m:t>𝑣</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m:t>
                    </m:r>
                    <m:r>
                      <a:rPr lang="en-MY" sz="1100" i="1" kern="1200" spc="10" dirty="0" smtClean="0">
                        <a:solidFill>
                          <a:schemeClr val="tx1"/>
                        </a:solidFill>
                        <a:latin typeface="Cambria Math" panose="02040503050406030204" pitchFamily="18" charset="0"/>
                        <a:ea typeface="+mn-ea"/>
                        <a:cs typeface="Tahoma"/>
                      </a:rPr>
                      <m:t>, </m:t>
                    </m:r>
                    <m:r>
                      <a:rPr lang="en-MY" sz="1100" i="1" kern="1200" spc="10" dirty="0" smtClean="0">
                        <a:solidFill>
                          <a:schemeClr val="tx1"/>
                        </a:solidFill>
                        <a:latin typeface="Cambria Math" panose="02040503050406030204" pitchFamily="18" charset="0"/>
                        <a:ea typeface="+mn-ea"/>
                        <a:cs typeface="Tahoma"/>
                      </a:rPr>
                      <m:t>2</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5</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7</m:t>
                    </m:r>
                    <m:r>
                      <a:rPr lang="en-MY" sz="1100" i="1" kern="1200" spc="10" dirty="0" smtClean="0">
                        <a:solidFill>
                          <a:schemeClr val="tx1"/>
                        </a:solidFill>
                        <a:latin typeface="Cambria Math" panose="02040503050406030204" pitchFamily="18" charset="0"/>
                        <a:ea typeface="+mn-ea"/>
                        <a:cs typeface="Tahoma"/>
                      </a:rPr>
                      <m:t>=</m:t>
                    </m:r>
                    <m:r>
                      <a:rPr lang="en-MY" sz="1100" i="1" kern="1200" spc="10" dirty="0" smtClean="0">
                        <a:solidFill>
                          <a:schemeClr val="tx1"/>
                        </a:solidFill>
                        <a:latin typeface="Cambria Math" panose="02040503050406030204" pitchFamily="18" charset="0"/>
                        <a:ea typeface="+mn-ea"/>
                        <a:cs typeface="Tahoma"/>
                      </a:rPr>
                      <m:t>12</m:t>
                    </m:r>
                  </m:oMath>
                </a14:m>
                <a:endParaRPr sz="1100" kern="1200" spc="10" dirty="0">
                  <a:solidFill>
                    <a:schemeClr val="tx1"/>
                  </a:solidFill>
                  <a:latin typeface="Tahoma"/>
                  <a:ea typeface="+mn-e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21957" y="1134310"/>
                <a:ext cx="2340293" cy="1510093"/>
              </a:xfrm>
              <a:prstGeom prst="rect">
                <a:avLst/>
              </a:prstGeom>
              <a:blipFill>
                <a:blip r:embed="rId3"/>
                <a:stretch>
                  <a:fillRect t="-1210" b="-4032"/>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0AD4F6B0-E02F-49C4-9BEB-3B92A2BC2332}"/>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7CD75E4-BC8D-4CDA-84EF-DFB6F44F9684}"/>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F87F262B-405C-45B9-9AE1-9CE5D5137D90}"/>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37</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Exercises</a:t>
            </a:r>
          </a:p>
        </p:txBody>
      </p:sp>
      <p:sp>
        <p:nvSpPr>
          <p:cNvPr id="3" name="object 3"/>
          <p:cNvSpPr txBox="1"/>
          <p:nvPr/>
        </p:nvSpPr>
        <p:spPr>
          <a:xfrm>
            <a:off x="421956" y="1037245"/>
            <a:ext cx="4016693" cy="1806905"/>
          </a:xfrm>
          <a:prstGeom prst="rect">
            <a:avLst/>
          </a:prstGeom>
        </p:spPr>
        <p:txBody>
          <a:bodyPr vert="horz" wrap="square" lIns="0" tIns="11430" rIns="0" bIns="0" rtlCol="0">
            <a:spAutoFit/>
          </a:bodyPr>
          <a:lstStyle/>
          <a:p>
            <a:pPr marL="213360" indent="-175260">
              <a:lnSpc>
                <a:spcPct val="100000"/>
              </a:lnSpc>
              <a:spcBef>
                <a:spcPts val="90"/>
              </a:spcBef>
              <a:buClr>
                <a:srgbClr val="3333B2"/>
              </a:buClr>
              <a:buFont typeface="Arial"/>
              <a:buChar char="►"/>
              <a:tabLst>
                <a:tab pos="213360" algn="l"/>
              </a:tabLst>
            </a:pPr>
            <a:r>
              <a:rPr sz="1100" dirty="0">
                <a:latin typeface="Tahoma"/>
                <a:cs typeface="Tahoma"/>
              </a:rPr>
              <a:t>Coalitional games’ hierarchy: Show the inclusions in page 18.</a:t>
            </a:r>
          </a:p>
          <a:p>
            <a:pPr>
              <a:lnSpc>
                <a:spcPct val="100000"/>
              </a:lnSpc>
              <a:spcBef>
                <a:spcPts val="325"/>
              </a:spcBef>
              <a:buClr>
                <a:srgbClr val="3333B2"/>
              </a:buClr>
              <a:buFont typeface="Arial"/>
              <a:buChar char="►"/>
            </a:pPr>
            <a:endParaRPr sz="1100" dirty="0">
              <a:latin typeface="Tahoma"/>
              <a:cs typeface="Tahoma"/>
            </a:endParaRPr>
          </a:p>
          <a:p>
            <a:pPr marL="213360" marR="123825" indent="-175260">
              <a:spcBef>
                <a:spcPts val="90"/>
              </a:spcBef>
              <a:buClr>
                <a:srgbClr val="3333B2"/>
              </a:buClr>
              <a:buFont typeface="Arial"/>
              <a:buChar char="►"/>
              <a:tabLst>
                <a:tab pos="213360" algn="l"/>
              </a:tabLst>
            </a:pPr>
            <a:r>
              <a:rPr sz="1100" dirty="0">
                <a:latin typeface="Tahoma"/>
                <a:cs typeface="Tahoma"/>
              </a:rPr>
              <a:t>Shapley values and the core: Compute the Shapley values of all games as indicated in page 27, and in each case decide whether such an outcome is in the core of the game or not.</a:t>
            </a:r>
          </a:p>
          <a:p>
            <a:pPr>
              <a:lnSpc>
                <a:spcPct val="100000"/>
              </a:lnSpc>
              <a:spcBef>
                <a:spcPts val="325"/>
              </a:spcBef>
              <a:buClr>
                <a:srgbClr val="3333B2"/>
              </a:buClr>
              <a:buFont typeface="Arial"/>
              <a:buChar char="►"/>
            </a:pPr>
            <a:endParaRPr sz="1100" dirty="0">
              <a:latin typeface="Tahoma"/>
              <a:cs typeface="Tahoma"/>
            </a:endParaRPr>
          </a:p>
          <a:p>
            <a:pPr marL="213360" marR="17780" indent="-175260">
              <a:spcBef>
                <a:spcPts val="90"/>
              </a:spcBef>
              <a:buClr>
                <a:srgbClr val="3333B2"/>
              </a:buClr>
              <a:buFont typeface="Arial"/>
              <a:buChar char="►"/>
              <a:tabLst>
                <a:tab pos="213360" algn="l"/>
              </a:tabLst>
            </a:pPr>
            <a:r>
              <a:rPr sz="1100" dirty="0">
                <a:latin typeface="Tahoma"/>
                <a:cs typeface="Tahoma"/>
              </a:rPr>
              <a:t>Let G be a simple game. Decide whether the following statement is true or false: G has a veto player iff G is additive.</a:t>
            </a:r>
          </a:p>
        </p:txBody>
      </p:sp>
      <p:sp>
        <p:nvSpPr>
          <p:cNvPr id="4" name="Date Placeholder 3">
            <a:extLst>
              <a:ext uri="{FF2B5EF4-FFF2-40B4-BE49-F238E27FC236}">
                <a16:creationId xmlns:a16="http://schemas.microsoft.com/office/drawing/2014/main" id="{B8A4872E-F3D9-4832-BD3B-0AB0CD23EE35}"/>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700C47EA-C422-4EA5-9E10-DB034FF294DD}"/>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850C2222-6883-40C5-8C8E-2F082266DBB3}"/>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38</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20" dirty="0"/>
              <a:t>References</a:t>
            </a:r>
          </a:p>
        </p:txBody>
      </p:sp>
      <p:sp>
        <p:nvSpPr>
          <p:cNvPr id="3" name="object 3"/>
          <p:cNvSpPr txBox="1"/>
          <p:nvPr/>
        </p:nvSpPr>
        <p:spPr>
          <a:xfrm>
            <a:off x="321894" y="1100757"/>
            <a:ext cx="4116756" cy="1159099"/>
          </a:xfrm>
          <a:prstGeom prst="rect">
            <a:avLst/>
          </a:prstGeom>
        </p:spPr>
        <p:txBody>
          <a:bodyPr vert="horz" wrap="square" lIns="0" tIns="55244" rIns="0" bIns="0" rtlCol="0">
            <a:spAutoFit/>
          </a:bodyPr>
          <a:lstStyle/>
          <a:p>
            <a:pPr marL="38100">
              <a:lnSpc>
                <a:spcPct val="100000"/>
              </a:lnSpc>
              <a:spcBef>
                <a:spcPts val="434"/>
              </a:spcBef>
            </a:pPr>
            <a:r>
              <a:rPr sz="1100" dirty="0">
                <a:latin typeface="Tahoma"/>
                <a:cs typeface="Tahoma"/>
              </a:rPr>
              <a:t>Some suggested readings:</a:t>
            </a:r>
          </a:p>
          <a:p>
            <a:pPr marL="313055" marR="62230" indent="-175260">
              <a:lnSpc>
                <a:spcPct val="102600"/>
              </a:lnSpc>
              <a:spcBef>
                <a:spcPts val="300"/>
              </a:spcBef>
              <a:buClr>
                <a:srgbClr val="3333B2"/>
              </a:buClr>
              <a:buFont typeface="Arial"/>
              <a:buChar char="►"/>
              <a:tabLst>
                <a:tab pos="314960" algn="l"/>
              </a:tabLst>
            </a:pPr>
            <a:r>
              <a:rPr sz="1100" dirty="0">
                <a:latin typeface="Tahoma"/>
                <a:cs typeface="Tahoma"/>
              </a:rPr>
              <a:t>Yoav Shoham and Kevin Leyton-Brown. </a:t>
            </a:r>
            <a:r>
              <a:rPr sz="1100" i="1" dirty="0">
                <a:latin typeface="Arial"/>
                <a:cs typeface="Arial"/>
              </a:rPr>
              <a:t>Multiagent Systems: 	Algorithmic, Game-Theoretic, and Logical Foundations</a:t>
            </a:r>
            <a:r>
              <a:rPr sz="1100" dirty="0">
                <a:latin typeface="Tahoma"/>
                <a:cs typeface="Tahoma"/>
              </a:rPr>
              <a:t>. 	Chapter 12, Cambridge University Press, 2008.</a:t>
            </a:r>
          </a:p>
          <a:p>
            <a:pPr marL="313055" marR="30480" indent="-175260">
              <a:lnSpc>
                <a:spcPct val="102600"/>
              </a:lnSpc>
              <a:spcBef>
                <a:spcPts val="300"/>
              </a:spcBef>
              <a:buClr>
                <a:srgbClr val="3333B2"/>
              </a:buClr>
              <a:buFont typeface="Arial"/>
              <a:buChar char="►"/>
              <a:tabLst>
                <a:tab pos="314960" algn="l"/>
              </a:tabLst>
            </a:pPr>
            <a:r>
              <a:rPr sz="1100" dirty="0">
                <a:latin typeface="Tahoma"/>
                <a:cs typeface="Tahoma"/>
              </a:rPr>
              <a:t>Michael Wooldridge. </a:t>
            </a:r>
            <a:r>
              <a:rPr sz="1100" i="1" dirty="0">
                <a:latin typeface="Arial"/>
                <a:cs typeface="Arial"/>
              </a:rPr>
              <a:t>An Introduction to MultiAgent Systems</a:t>
            </a:r>
            <a:r>
              <a:rPr sz="1100" dirty="0">
                <a:latin typeface="Tahoma"/>
                <a:cs typeface="Tahoma"/>
              </a:rPr>
              <a:t>. 	Chapter 13, Wiley, 2009.</a:t>
            </a:r>
          </a:p>
        </p:txBody>
      </p:sp>
      <p:sp>
        <p:nvSpPr>
          <p:cNvPr id="4" name="Date Placeholder 3">
            <a:extLst>
              <a:ext uri="{FF2B5EF4-FFF2-40B4-BE49-F238E27FC236}">
                <a16:creationId xmlns:a16="http://schemas.microsoft.com/office/drawing/2014/main" id="{AAA46B2D-63D0-42E5-A870-E1A035EDB08D}"/>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B759BE2-F309-4B3A-86DA-BD6ADC578CB2}"/>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3CB2D601-EA15-4F70-BF8A-EDD0F5483AFE}"/>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39</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Summary</a:t>
            </a:r>
            <a:r>
              <a:rPr spc="145" dirty="0"/>
              <a:t> </a:t>
            </a:r>
            <a:r>
              <a:rPr dirty="0"/>
              <a:t>of</a:t>
            </a:r>
            <a:r>
              <a:rPr spc="150" dirty="0"/>
              <a:t> </a:t>
            </a:r>
            <a:r>
              <a:rPr spc="-10" dirty="0"/>
              <a:t>notations</a:t>
            </a:r>
          </a:p>
        </p:txBody>
      </p:sp>
      <mc:AlternateContent xmlns:mc="http://schemas.openxmlformats.org/markup-compatibility/2006" xmlns:a14="http://schemas.microsoft.com/office/drawing/2010/main">
        <mc:Choice Requires="a14">
          <p:sp>
            <p:nvSpPr>
              <p:cNvPr id="3" name="object 3"/>
              <p:cNvSpPr txBox="1"/>
              <p:nvPr/>
            </p:nvSpPr>
            <p:spPr>
              <a:xfrm>
                <a:off x="421956" y="914473"/>
                <a:ext cx="3711893" cy="1715597"/>
              </a:xfrm>
              <a:prstGeom prst="rect">
                <a:avLst/>
              </a:prstGeom>
            </p:spPr>
            <p:txBody>
              <a:bodyPr vert="horz" wrap="square" lIns="0" tIns="55244" rIns="0" bIns="0" rtlCol="0">
                <a:spAutoFit/>
              </a:bodyPr>
              <a:lstStyle/>
              <a:p>
                <a:pPr marL="213360" indent="-175260">
                  <a:lnSpc>
                    <a:spcPct val="100000"/>
                  </a:lnSpc>
                  <a:spcBef>
                    <a:spcPts val="434"/>
                  </a:spcBef>
                  <a:buClr>
                    <a:srgbClr val="3333B2"/>
                  </a:buClr>
                  <a:buFont typeface="Arial"/>
                  <a:buChar char="►"/>
                  <a:tabLst>
                    <a:tab pos="213360" algn="l"/>
                  </a:tabLst>
                </a:pPr>
                <a:r>
                  <a:rPr lang="en-MY" sz="1100" dirty="0">
                    <a:latin typeface="Tahoma"/>
                    <a:cs typeface="Tahoma"/>
                  </a:rPr>
                  <a:t>Coalition: </a:t>
                </a:r>
                <a14:m>
                  <m:oMath xmlns:m="http://schemas.openxmlformats.org/officeDocument/2006/math">
                    <m:r>
                      <a:rPr lang="en-MY" sz="1100" i="1" dirty="0" smtClean="0">
                        <a:latin typeface="Cambria Math" panose="02040503050406030204" pitchFamily="18" charset="0"/>
                        <a:cs typeface="Arial"/>
                      </a:rPr>
                      <m:t>𝐶</m:t>
                    </m:r>
                    <m:r>
                      <a:rPr lang="en-MY" sz="1100" i="1" dirty="0">
                        <a:latin typeface="Cambria Math" panose="02040503050406030204" pitchFamily="18" charset="0"/>
                        <a:cs typeface="Meiryo UI"/>
                      </a:rPr>
                      <m:t>⊆</m:t>
                    </m:r>
                    <m:r>
                      <a:rPr lang="en-MY" sz="1100" i="1" dirty="0">
                        <a:latin typeface="Cambria Math" panose="02040503050406030204" pitchFamily="18" charset="0"/>
                        <a:cs typeface="Arial"/>
                      </a:rPr>
                      <m:t>𝑁</m:t>
                    </m:r>
                  </m:oMath>
                </a14:m>
                <a:endParaRPr lang="en-MY" sz="1100" dirty="0">
                  <a:latin typeface="Arial"/>
                  <a:cs typeface="Arial"/>
                </a:endParaRPr>
              </a:p>
              <a:p>
                <a:pPr marL="213360" indent="-175260">
                  <a:lnSpc>
                    <a:spcPct val="100000"/>
                  </a:lnSpc>
                  <a:spcBef>
                    <a:spcPts val="334"/>
                  </a:spcBef>
                  <a:buClr>
                    <a:srgbClr val="3333B2"/>
                  </a:buClr>
                  <a:buFont typeface="Arial"/>
                  <a:buChar char="►"/>
                  <a:tabLst>
                    <a:tab pos="213360" algn="l"/>
                  </a:tabLst>
                </a:pPr>
                <a:r>
                  <a:rPr lang="en-MY" sz="1100" dirty="0">
                    <a:latin typeface="Tahoma"/>
                    <a:cs typeface="Tahoma"/>
                  </a:rPr>
                  <a:t>Grand coalition: </a:t>
                </a:r>
                <a14:m>
                  <m:oMath xmlns:m="http://schemas.openxmlformats.org/officeDocument/2006/math">
                    <m:r>
                      <a:rPr lang="en-MY" sz="1100" i="1" dirty="0" smtClean="0">
                        <a:latin typeface="Cambria Math" panose="02040503050406030204" pitchFamily="18" charset="0"/>
                        <a:cs typeface="Arial"/>
                      </a:rPr>
                      <m:t>𝑁</m:t>
                    </m:r>
                    <m:r>
                      <a:rPr lang="en-MY" sz="1100" i="1" dirty="0">
                        <a:latin typeface="Cambria Math" panose="02040503050406030204" pitchFamily="18" charset="0"/>
                        <a:cs typeface="Tahoma"/>
                      </a:rPr>
                      <m:t>=</m:t>
                    </m:r>
                    <m:r>
                      <a:rPr lang="en-MY" sz="1100" i="1" dirty="0">
                        <a:latin typeface="Cambria Math" panose="02040503050406030204" pitchFamily="18" charset="0"/>
                        <a:cs typeface="Meiryo UI"/>
                      </a:rPr>
                      <m:t>{</m:t>
                    </m:r>
                    <m:r>
                      <a:rPr lang="en-MY" sz="1100" i="1" dirty="0">
                        <a:latin typeface="Cambria Math" panose="02040503050406030204" pitchFamily="18" charset="0"/>
                        <a:cs typeface="Tahoma"/>
                      </a:rPr>
                      <m:t>1</m:t>
                    </m:r>
                    <m:r>
                      <a:rPr lang="en-MY" sz="1100" i="1" dirty="0">
                        <a:latin typeface="Cambria Math" panose="02040503050406030204" pitchFamily="18" charset="0"/>
                        <a:cs typeface="Adobe Text Pro"/>
                      </a:rPr>
                      <m:t>, . . . , </m:t>
                    </m:r>
                    <m:r>
                      <a:rPr lang="en-MY" sz="1100" i="1" dirty="0">
                        <a:latin typeface="Cambria Math" panose="02040503050406030204" pitchFamily="18" charset="0"/>
                        <a:cs typeface="Arial"/>
                      </a:rPr>
                      <m:t>𝑛</m:t>
                    </m:r>
                    <m:r>
                      <a:rPr lang="en-MY" sz="1100" i="1" dirty="0">
                        <a:latin typeface="Cambria Math" panose="02040503050406030204" pitchFamily="18" charset="0"/>
                        <a:cs typeface="Meiryo UI"/>
                      </a:rPr>
                      <m:t>}</m:t>
                    </m:r>
                  </m:oMath>
                </a14:m>
                <a:endParaRPr lang="en-MY" sz="1100" dirty="0">
                  <a:latin typeface="Meiryo UI"/>
                  <a:cs typeface="Meiryo UI"/>
                </a:endParaRPr>
              </a:p>
              <a:p>
                <a:pPr marL="213360" indent="-175260">
                  <a:lnSpc>
                    <a:spcPct val="100000"/>
                  </a:lnSpc>
                  <a:spcBef>
                    <a:spcPts val="330"/>
                  </a:spcBef>
                  <a:buClr>
                    <a:srgbClr val="3333B2"/>
                  </a:buClr>
                  <a:buFont typeface="Arial"/>
                  <a:buChar char="►"/>
                  <a:tabLst>
                    <a:tab pos="213360" algn="l"/>
                  </a:tabLst>
                </a:pPr>
                <a:r>
                  <a:rPr lang="en-MY" sz="1100" dirty="0">
                    <a:latin typeface="Tahoma"/>
                    <a:cs typeface="Tahoma"/>
                  </a:rPr>
                  <a:t>Characteristic function: </a:t>
                </a:r>
                <a14:m>
                  <m:oMath xmlns:m="http://schemas.openxmlformats.org/officeDocument/2006/math">
                    <m:r>
                      <a:rPr lang="en-MY" sz="1100" i="1" dirty="0" smtClean="0">
                        <a:latin typeface="Cambria Math" panose="02040503050406030204" pitchFamily="18" charset="0"/>
                        <a:cs typeface="Arial"/>
                      </a:rPr>
                      <m:t>𝑣</m:t>
                    </m:r>
                    <m:r>
                      <a:rPr lang="en-MY" sz="1100" i="1" dirty="0" smtClean="0">
                        <a:latin typeface="Cambria Math" panose="02040503050406030204" pitchFamily="18" charset="0"/>
                        <a:cs typeface="Arial"/>
                      </a:rPr>
                      <m:t> : 2</m:t>
                    </m:r>
                    <m:r>
                      <a:rPr lang="en-MY" sz="1200" i="1" baseline="27777" dirty="0">
                        <a:latin typeface="Cambria Math" panose="02040503050406030204" pitchFamily="18" charset="0"/>
                        <a:cs typeface="Verdana"/>
                      </a:rPr>
                      <m:t>𝑁</m:t>
                    </m:r>
                    <m:r>
                      <a:rPr lang="en-MY" sz="1200" i="1" baseline="27777" dirty="0">
                        <a:latin typeface="Cambria Math" panose="02040503050406030204" pitchFamily="18" charset="0"/>
                        <a:cs typeface="Verdana"/>
                      </a:rPr>
                      <m:t> </m:t>
                    </m:r>
                    <m:r>
                      <a:rPr lang="en-MY" sz="1100" i="1" dirty="0">
                        <a:latin typeface="Cambria Math" panose="02040503050406030204" pitchFamily="18" charset="0"/>
                        <a:cs typeface="Meiryo UI"/>
                      </a:rPr>
                      <m:t>→</m:t>
                    </m:r>
                    <m:r>
                      <a:rPr lang="en-MY" sz="1100" i="1" dirty="0">
                        <a:latin typeface="Cambria Math" panose="02040503050406030204" pitchFamily="18" charset="0"/>
                        <a:cs typeface="Arial"/>
                      </a:rPr>
                      <m:t>𝑅</m:t>
                    </m:r>
                  </m:oMath>
                </a14:m>
                <a:endParaRPr lang="en-MY" sz="1100" dirty="0">
                  <a:latin typeface="Arial"/>
                  <a:cs typeface="Arial"/>
                </a:endParaRP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Coalitional game: </a:t>
                </a:r>
                <a14:m>
                  <m:oMath xmlns:m="http://schemas.openxmlformats.org/officeDocument/2006/math">
                    <m:r>
                      <a:rPr lang="en-MY" sz="1100" i="1" dirty="0" smtClean="0">
                        <a:latin typeface="Cambria Math" panose="02040503050406030204" pitchFamily="18" charset="0"/>
                        <a:cs typeface="Arial"/>
                      </a:rPr>
                      <m:t>𝐺</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Outcome/Payoff vector: </a:t>
                </a:r>
                <a14:m>
                  <m:oMath xmlns:m="http://schemas.openxmlformats.org/officeDocument/2006/math">
                    <m:r>
                      <a:rPr lang="en-MY" sz="1100" b="1" i="1" dirty="0" smtClean="0">
                        <a:latin typeface="Cambria Math" panose="02040503050406030204" pitchFamily="18" charset="0"/>
                        <a:cs typeface="Arial"/>
                      </a:rPr>
                      <m:t>𝒙</m:t>
                    </m:r>
                    <m:r>
                      <a:rPr lang="en-MY" sz="1100" b="1" i="1" dirty="0" smtClean="0">
                        <a:latin typeface="Cambria Math" panose="02040503050406030204" pitchFamily="18" charset="0"/>
                        <a:cs typeface="Arial"/>
                      </a:rPr>
                      <m:t> </m:t>
                    </m:r>
                    <m:r>
                      <a:rPr lang="en-MY" sz="1100" i="1" dirty="0">
                        <a:latin typeface="Cambria Math" panose="02040503050406030204" pitchFamily="18" charset="0"/>
                        <a:cs typeface="Tahoma"/>
                      </a:rPr>
                      <m:t>𝑜</m:t>
                    </m:r>
                    <m:r>
                      <m:rPr>
                        <m:sty m:val="p"/>
                      </m:rPr>
                      <a:rPr lang="en-MY" sz="1100" i="0" dirty="0">
                        <a:latin typeface="Cambria Math" panose="02040503050406030204" pitchFamily="18" charset="0"/>
                        <a:cs typeface="Tahoma"/>
                      </a:rPr>
                      <m:t>r</m:t>
                    </m:r>
                    <m:r>
                      <a:rPr lang="en-MY" sz="1100" i="1" dirty="0">
                        <a:latin typeface="Cambria Math" panose="02040503050406030204" pitchFamily="18" charset="0"/>
                        <a:cs typeface="Tahoma"/>
                      </a:rPr>
                      <m:t> </m:t>
                    </m:r>
                    <m:acc>
                      <m:accPr>
                        <m:chr m:val="⃗"/>
                        <m:ctrlPr>
                          <a:rPr lang="en-MY" sz="1100" i="1" dirty="0" smtClean="0">
                            <a:latin typeface="Cambria Math" panose="02040503050406030204" pitchFamily="18" charset="0"/>
                            <a:cs typeface="Tahoma"/>
                          </a:rPr>
                        </m:ctrlPr>
                      </m:accPr>
                      <m:e>
                        <m:r>
                          <a:rPr lang="en-MY" sz="1100" b="0" i="1" dirty="0" smtClean="0">
                            <a:latin typeface="Cambria Math" panose="02040503050406030204" pitchFamily="18" charset="0"/>
                            <a:cs typeface="Tahoma"/>
                          </a:rPr>
                          <m:t>𝑥</m:t>
                        </m:r>
                      </m:e>
                    </m:acc>
                    <m:r>
                      <a:rPr lang="en-MY" sz="1100" i="1" dirty="0">
                        <a:latin typeface="Cambria Math" panose="02040503050406030204" pitchFamily="18" charset="0"/>
                        <a:cs typeface="Arial"/>
                      </a:rPr>
                      <m:t> </m:t>
                    </m:r>
                    <m:r>
                      <m:rPr>
                        <m:sty m:val="p"/>
                      </m:rPr>
                      <a:rPr lang="en-MY" sz="1100" i="0" dirty="0">
                        <a:latin typeface="Cambria Math" panose="02040503050406030204" pitchFamily="18" charset="0"/>
                        <a:cs typeface="Tahoma"/>
                      </a:rPr>
                      <m:t>or</m:t>
                    </m:r>
                    <m:r>
                      <a:rPr lang="en-MY" sz="1100" i="1" dirty="0">
                        <a:latin typeface="Cambria Math" panose="02040503050406030204" pitchFamily="18" charset="0"/>
                        <a:cs typeface="Tahoma"/>
                      </a:rPr>
                      <m:t> </m:t>
                    </m:r>
                    <m:r>
                      <a:rPr lang="en-MY" sz="1100" b="0" i="1" dirty="0" smtClean="0">
                        <a:latin typeface="Cambria Math" panose="02040503050406030204" pitchFamily="18" charset="0"/>
                        <a:cs typeface="Tahoma"/>
                      </a:rPr>
                      <m:t>𝜙</m:t>
                    </m:r>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4"/>
                  </a:spcBef>
                  <a:buClr>
                    <a:srgbClr val="3333B2"/>
                  </a:buClr>
                  <a:buFont typeface="Arial"/>
                  <a:buChar char="►"/>
                  <a:tabLst>
                    <a:tab pos="213360" algn="l"/>
                  </a:tabLst>
                </a:pPr>
                <a:r>
                  <a:rPr lang="en-MY" sz="1100" dirty="0">
                    <a:latin typeface="Tahoma"/>
                    <a:cs typeface="Tahoma"/>
                  </a:rPr>
                  <a:t>Player </a:t>
                </a:r>
                <a14:m>
                  <m:oMath xmlns:m="http://schemas.openxmlformats.org/officeDocument/2006/math">
                    <m:r>
                      <a:rPr lang="en-MY" sz="1100" i="1" dirty="0" smtClean="0">
                        <a:latin typeface="Cambria Math" panose="02040503050406030204" pitchFamily="18" charset="0"/>
                        <a:cs typeface="Arial"/>
                      </a:rPr>
                      <m:t>𝑖</m:t>
                    </m:r>
                  </m:oMath>
                </a14:m>
                <a:r>
                  <a:rPr lang="en-MY" sz="1100" i="1" dirty="0">
                    <a:latin typeface="Arial"/>
                    <a:cs typeface="Arial"/>
                  </a:rPr>
                  <a:t> </a:t>
                </a:r>
                <a:r>
                  <a:rPr lang="en-MY" sz="1100" dirty="0">
                    <a:latin typeface="Tahoma"/>
                    <a:cs typeface="Tahoma"/>
                  </a:rPr>
                  <a:t>’s outcome/payoff: </a:t>
                </a:r>
                <a14:m>
                  <m:oMath xmlns:m="http://schemas.openxmlformats.org/officeDocument/2006/math">
                    <m:r>
                      <a:rPr lang="en-MY" sz="1100" b="1" i="1" dirty="0" smtClean="0">
                        <a:latin typeface="Cambria Math" panose="02040503050406030204" pitchFamily="18" charset="0"/>
                        <a:cs typeface="Arial"/>
                      </a:rPr>
                      <m:t>𝒙</m:t>
                    </m:r>
                    <m:r>
                      <a:rPr lang="en-MY" sz="1200" i="1" baseline="-10416" dirty="0">
                        <a:latin typeface="Cambria Math" panose="02040503050406030204" pitchFamily="18" charset="0"/>
                        <a:cs typeface="Verdana"/>
                      </a:rPr>
                      <m:t>𝑖</m:t>
                    </m:r>
                    <m:r>
                      <a:rPr lang="en-MY" sz="1200" i="1" baseline="-10416" dirty="0">
                        <a:latin typeface="Cambria Math" panose="02040503050406030204" pitchFamily="18" charset="0"/>
                        <a:cs typeface="Verdana"/>
                      </a:rPr>
                      <m:t> </m:t>
                    </m:r>
                    <m:r>
                      <m:rPr>
                        <m:sty m:val="p"/>
                      </m:rPr>
                      <a:rPr lang="en-MY" sz="1100" i="0" dirty="0">
                        <a:latin typeface="Cambria Math" panose="02040503050406030204" pitchFamily="18" charset="0"/>
                        <a:cs typeface="Tahoma"/>
                      </a:rPr>
                      <m:t>or</m:t>
                    </m:r>
                    <m:sSub>
                      <m:sSubPr>
                        <m:ctrlPr>
                          <a:rPr lang="en-MY" sz="1100" b="0" i="1" dirty="0" smtClean="0">
                            <a:latin typeface="Cambria Math" panose="02040503050406030204" pitchFamily="18" charset="0"/>
                            <a:cs typeface="Tahoma"/>
                          </a:rPr>
                        </m:ctrlPr>
                      </m:sSubPr>
                      <m:e>
                        <m:r>
                          <a:rPr lang="en-MY" sz="1100" b="0" i="1" dirty="0" smtClean="0">
                            <a:latin typeface="Cambria Math" panose="02040503050406030204" pitchFamily="18" charset="0"/>
                            <a:cs typeface="Tahoma"/>
                          </a:rPr>
                          <m:t> </m:t>
                        </m:r>
                        <m:acc>
                          <m:accPr>
                            <m:chr m:val="⃗"/>
                            <m:ctrlPr>
                              <a:rPr lang="en-MY" sz="1100" i="1" dirty="0" smtClean="0">
                                <a:latin typeface="Cambria Math" panose="02040503050406030204" pitchFamily="18" charset="0"/>
                                <a:cs typeface="Tahoma"/>
                              </a:rPr>
                            </m:ctrlPr>
                          </m:accPr>
                          <m:e>
                            <m:r>
                              <a:rPr lang="en-MY" sz="1100" b="0" i="1" dirty="0" smtClean="0">
                                <a:latin typeface="Cambria Math" panose="02040503050406030204" pitchFamily="18" charset="0"/>
                                <a:cs typeface="Tahoma"/>
                              </a:rPr>
                              <m:t>𝑥</m:t>
                            </m:r>
                          </m:e>
                        </m:acc>
                      </m:e>
                      <m:sub>
                        <m:r>
                          <a:rPr lang="en-MY" sz="1100" b="0" i="1" dirty="0" smtClean="0">
                            <a:latin typeface="Cambria Math" panose="02040503050406030204" pitchFamily="18" charset="0"/>
                            <a:cs typeface="Tahoma"/>
                          </a:rPr>
                          <m:t>𝑖</m:t>
                        </m:r>
                      </m:sub>
                    </m:sSub>
                    <m:r>
                      <a:rPr lang="en-MY" sz="1100" b="0" i="1" dirty="0" smtClean="0">
                        <a:latin typeface="Cambria Math" panose="02040503050406030204" pitchFamily="18" charset="0"/>
                        <a:cs typeface="Tahoma"/>
                      </a:rPr>
                      <m:t> </m:t>
                    </m:r>
                    <m:r>
                      <m:rPr>
                        <m:sty m:val="p"/>
                      </m:rPr>
                      <a:rPr lang="en-MY" sz="1100" i="0" dirty="0">
                        <a:latin typeface="Cambria Math" panose="02040503050406030204" pitchFamily="18" charset="0"/>
                        <a:cs typeface="Tahoma"/>
                      </a:rPr>
                      <m:t>or</m:t>
                    </m:r>
                    <m:r>
                      <a:rPr lang="en-MY" sz="1100" i="1" dirty="0">
                        <a:latin typeface="Cambria Math" panose="02040503050406030204" pitchFamily="18" charset="0"/>
                        <a:cs typeface="Tahoma"/>
                      </a:rPr>
                      <m:t> </m:t>
                    </m:r>
                    <m:sSub>
                      <m:sSubPr>
                        <m:ctrlPr>
                          <a:rPr lang="en-MY" sz="1100" b="0" i="1" dirty="0" smtClean="0">
                            <a:latin typeface="Cambria Math" panose="02040503050406030204" pitchFamily="18" charset="0"/>
                            <a:cs typeface="Tahoma"/>
                          </a:rPr>
                        </m:ctrlPr>
                      </m:sSubPr>
                      <m:e>
                        <m:r>
                          <a:rPr lang="en-MY" sz="1100" b="0" i="1" dirty="0" smtClean="0">
                            <a:latin typeface="Cambria Math" panose="02040503050406030204" pitchFamily="18" charset="0"/>
                            <a:cs typeface="Tahoma"/>
                          </a:rPr>
                          <m:t>𝜙</m:t>
                        </m:r>
                      </m:e>
                      <m:sub>
                        <m:r>
                          <a:rPr lang="en-MY" sz="1100" b="0" i="1" dirty="0" smtClean="0">
                            <a:latin typeface="Cambria Math" panose="02040503050406030204" pitchFamily="18" charset="0"/>
                            <a:cs typeface="Tahoma"/>
                          </a:rPr>
                          <m:t>𝑖</m:t>
                        </m:r>
                      </m:sub>
                    </m:sSub>
                    <m:r>
                      <a:rPr lang="en-MY" sz="1100" i="1" dirty="0">
                        <a:latin typeface="Cambria Math" panose="02040503050406030204" pitchFamily="18" charset="0"/>
                        <a:cs typeface="Tahoma"/>
                      </a:rPr>
                      <m:t>(</m:t>
                    </m:r>
                    <m:r>
                      <a:rPr lang="en-MY" sz="1100" i="1" dirty="0">
                        <a:latin typeface="Cambria Math" panose="02040503050406030204" pitchFamily="18" charset="0"/>
                        <a:cs typeface="Arial"/>
                      </a:rPr>
                      <m:t>𝑁</m:t>
                    </m:r>
                    <m:r>
                      <a:rPr lang="en-MY" sz="1100" i="1" dirty="0">
                        <a:latin typeface="Cambria Math" panose="02040503050406030204" pitchFamily="18" charset="0"/>
                        <a:cs typeface="Adobe Text Pro"/>
                      </a:rPr>
                      <m:t>, </m:t>
                    </m:r>
                    <m:r>
                      <a:rPr lang="en-MY" sz="1100" i="1" dirty="0">
                        <a:latin typeface="Cambria Math" panose="02040503050406030204" pitchFamily="18" charset="0"/>
                        <a:cs typeface="Arial"/>
                      </a:rPr>
                      <m:t>𝑣</m:t>
                    </m:r>
                    <m:r>
                      <a:rPr lang="en-MY" sz="1100" i="1" dirty="0">
                        <a:latin typeface="Cambria Math" panose="02040503050406030204" pitchFamily="18" charset="0"/>
                        <a:cs typeface="Tahoma"/>
                      </a:rPr>
                      <m:t>)</m:t>
                    </m:r>
                  </m:oMath>
                </a14:m>
                <a:endParaRPr lang="en-MY" sz="1100" dirty="0">
                  <a:latin typeface="Tahoma"/>
                  <a:cs typeface="Tahoma"/>
                </a:endParaRPr>
              </a:p>
              <a:p>
                <a:pPr marL="213360" indent="-175260">
                  <a:lnSpc>
                    <a:spcPct val="100000"/>
                  </a:lnSpc>
                  <a:spcBef>
                    <a:spcPts val="330"/>
                  </a:spcBef>
                  <a:buClr>
                    <a:srgbClr val="3333B2"/>
                  </a:buClr>
                  <a:buFont typeface="Arial"/>
                  <a:buChar char="►"/>
                  <a:tabLst>
                    <a:tab pos="213360" algn="l"/>
                  </a:tabLst>
                </a:pPr>
                <a:r>
                  <a:rPr lang="en-MY" sz="1100" dirty="0">
                    <a:latin typeface="Tahoma"/>
                    <a:cs typeface="Tahoma"/>
                  </a:rPr>
                  <a:t>Core of a game </a:t>
                </a:r>
                <a14:m>
                  <m:oMath xmlns:m="http://schemas.openxmlformats.org/officeDocument/2006/math">
                    <m:r>
                      <a:rPr lang="en-MY" sz="1100" i="1" dirty="0" smtClean="0">
                        <a:latin typeface="Cambria Math" panose="02040503050406030204" pitchFamily="18" charset="0"/>
                        <a:cs typeface="Arial"/>
                      </a:rPr>
                      <m:t>𝐺</m:t>
                    </m:r>
                    <m:r>
                      <a:rPr lang="en-MY" sz="1100" i="1" dirty="0" smtClean="0">
                        <a:latin typeface="Cambria Math" panose="02040503050406030204" pitchFamily="18" charset="0"/>
                        <a:cs typeface="Arial"/>
                      </a:rPr>
                      <m:t> </m:t>
                    </m:r>
                  </m:oMath>
                </a14:m>
                <a:r>
                  <a:rPr lang="en-MY" sz="1100" dirty="0">
                    <a:latin typeface="Tahoma"/>
                    <a:cs typeface="Tahoma"/>
                  </a:rPr>
                  <a:t>: </a:t>
                </a:r>
                <a:r>
                  <a:rPr lang="en-MY" sz="1100" b="1" dirty="0">
                    <a:latin typeface="Arial"/>
                    <a:cs typeface="Arial"/>
                  </a:rPr>
                  <a:t>core</a:t>
                </a:r>
                <a:r>
                  <a:rPr lang="en-MY" sz="1100" dirty="0">
                    <a:latin typeface="Tahoma"/>
                    <a:cs typeface="Tahoma"/>
                  </a:rPr>
                  <a:t>(</a:t>
                </a:r>
                <a14:m>
                  <m:oMath xmlns:m="http://schemas.openxmlformats.org/officeDocument/2006/math">
                    <m:r>
                      <a:rPr lang="en-MY" sz="1100" i="1" dirty="0" smtClean="0">
                        <a:latin typeface="Cambria Math" panose="02040503050406030204" pitchFamily="18" charset="0"/>
                        <a:cs typeface="Arial"/>
                      </a:rPr>
                      <m:t>𝐺</m:t>
                    </m:r>
                  </m:oMath>
                </a14:m>
                <a:r>
                  <a:rPr lang="en-MY" sz="1100" dirty="0">
                    <a:latin typeface="Tahoma"/>
                    <a:cs typeface="Tahoma"/>
                  </a:rPr>
                  <a:t>)</a:t>
                </a:r>
              </a:p>
              <a:p>
                <a:pPr marL="213360" indent="-175260">
                  <a:lnSpc>
                    <a:spcPct val="100000"/>
                  </a:lnSpc>
                  <a:spcBef>
                    <a:spcPts val="335"/>
                  </a:spcBef>
                  <a:buClr>
                    <a:srgbClr val="3333B2"/>
                  </a:buClr>
                  <a:buFont typeface="Arial"/>
                  <a:buChar char="►"/>
                  <a:tabLst>
                    <a:tab pos="213360" algn="l"/>
                  </a:tabLst>
                </a:pPr>
                <a:r>
                  <a:rPr lang="en-MY" sz="1100" dirty="0">
                    <a:latin typeface="Tahoma"/>
                    <a:cs typeface="Tahoma"/>
                  </a:rPr>
                  <a:t>Marginal contribution net: </a:t>
                </a:r>
                <a14:m>
                  <m:oMath xmlns:m="http://schemas.openxmlformats.org/officeDocument/2006/math">
                    <m:r>
                      <a:rPr lang="en-MY" sz="1100" i="1" dirty="0" smtClean="0">
                        <a:latin typeface="Cambria Math" panose="02040503050406030204" pitchFamily="18" charset="0"/>
                        <a:cs typeface="Tahoma"/>
                      </a:rPr>
                      <m:t>[(</m:t>
                    </m:r>
                    <m:sSub>
                      <m:sSubPr>
                        <m:ctrlPr>
                          <a:rPr lang="en-MY" sz="1100" b="0" i="1" dirty="0" smtClean="0">
                            <a:latin typeface="Cambria Math" panose="02040503050406030204" pitchFamily="18" charset="0"/>
                            <a:cs typeface="Arial"/>
                          </a:rPr>
                        </m:ctrlPr>
                      </m:sSubPr>
                      <m:e>
                        <m:r>
                          <a:rPr lang="en-MY" sz="1100" i="1" dirty="0">
                            <a:latin typeface="Cambria Math" panose="02040503050406030204" pitchFamily="18" charset="0"/>
                            <a:cs typeface="Arial"/>
                          </a:rPr>
                          <m:t>𝑝</m:t>
                        </m:r>
                      </m:e>
                      <m:sub>
                        <m:r>
                          <a:rPr lang="en-MY" sz="1100" b="0" i="1" dirty="0" smtClean="0">
                            <a:latin typeface="Cambria Math" panose="02040503050406030204" pitchFamily="18" charset="0"/>
                            <a:cs typeface="Arial"/>
                          </a:rPr>
                          <m:t>1</m:t>
                        </m:r>
                      </m:sub>
                    </m:sSub>
                    <m:r>
                      <a:rPr lang="en-MY" sz="1100" i="1"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𝑤</m:t>
                        </m:r>
                      </m:e>
                      <m:sub>
                        <m:r>
                          <a:rPr lang="en-MY" sz="1100" b="0" i="1" dirty="0" smtClean="0">
                            <a:latin typeface="Cambria Math" panose="02040503050406030204" pitchFamily="18" charset="0"/>
                            <a:cs typeface="Arial"/>
                          </a:rPr>
                          <m:t>1</m:t>
                        </m:r>
                      </m:sub>
                    </m:sSub>
                    <m:r>
                      <a:rPr lang="en-MY" sz="1100" i="1" dirty="0">
                        <a:latin typeface="Cambria Math" panose="02040503050406030204" pitchFamily="18" charset="0"/>
                        <a:cs typeface="Tahoma"/>
                      </a:rPr>
                      <m:t>) </m:t>
                    </m:r>
                    <m:r>
                      <a:rPr lang="en-MY" sz="1100" i="1" dirty="0">
                        <a:latin typeface="Cambria Math" panose="02040503050406030204" pitchFamily="18" charset="0"/>
                        <a:cs typeface="Adobe Text Pro"/>
                      </a:rPr>
                      <m:t>. . . </m:t>
                    </m:r>
                    <m:r>
                      <a:rPr lang="en-MY" sz="1100" i="1" dirty="0">
                        <a:latin typeface="Cambria Math" panose="02040503050406030204" pitchFamily="18" charset="0"/>
                        <a:cs typeface="Tahoma"/>
                      </a:rPr>
                      <m:t>(</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𝑝</m:t>
                        </m:r>
                      </m:e>
                      <m:sub>
                        <m:r>
                          <a:rPr lang="en-MY" sz="1100" b="0" i="1" dirty="0" smtClean="0">
                            <a:latin typeface="Cambria Math" panose="02040503050406030204" pitchFamily="18" charset="0"/>
                            <a:cs typeface="Arial"/>
                          </a:rPr>
                          <m:t>𝑘</m:t>
                        </m:r>
                      </m:sub>
                    </m:sSub>
                    <m:r>
                      <a:rPr lang="en-MY" sz="1100" i="1" dirty="0">
                        <a:latin typeface="Cambria Math" panose="02040503050406030204" pitchFamily="18" charset="0"/>
                        <a:cs typeface="Adobe Text Pro"/>
                      </a:rPr>
                      <m:t>, </m:t>
                    </m:r>
                    <m:sSub>
                      <m:sSubPr>
                        <m:ctrlPr>
                          <a:rPr lang="en-MY" sz="1100" b="0" i="1" dirty="0" smtClean="0">
                            <a:latin typeface="Cambria Math" panose="02040503050406030204" pitchFamily="18" charset="0"/>
                            <a:cs typeface="Adobe Text Pro"/>
                          </a:rPr>
                        </m:ctrlPr>
                      </m:sSubPr>
                      <m:e>
                        <m:r>
                          <a:rPr lang="en-MY" sz="1100" i="1" dirty="0">
                            <a:latin typeface="Cambria Math" panose="02040503050406030204" pitchFamily="18" charset="0"/>
                            <a:cs typeface="Arial"/>
                          </a:rPr>
                          <m:t>𝑤</m:t>
                        </m:r>
                      </m:e>
                      <m:sub>
                        <m:r>
                          <a:rPr lang="en-MY" sz="1100" b="0" i="1" dirty="0" smtClean="0">
                            <a:latin typeface="Cambria Math" panose="02040503050406030204" pitchFamily="18" charset="0"/>
                            <a:cs typeface="Arial"/>
                          </a:rPr>
                          <m:t>𝑘</m:t>
                        </m:r>
                      </m:sub>
                    </m:sSub>
                    <m:r>
                      <a:rPr lang="en-MY" sz="1100" i="1" dirty="0">
                        <a:latin typeface="Cambria Math" panose="02040503050406030204" pitchFamily="18" charset="0"/>
                        <a:cs typeface="Tahoma"/>
                      </a:rPr>
                      <m:t>)]</m:t>
                    </m:r>
                  </m:oMath>
                </a14:m>
                <a:endParaRPr sz="1100" dirty="0">
                  <a:latin typeface="Tahoma"/>
                  <a:cs typeface="Tahoma"/>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21956" y="914473"/>
                <a:ext cx="3711893" cy="1715597"/>
              </a:xfrm>
              <a:prstGeom prst="rect">
                <a:avLst/>
              </a:prstGeom>
              <a:blipFill>
                <a:blip r:embed="rId2"/>
                <a:stretch>
                  <a:fillRect l="-1149" b="-2491"/>
                </a:stretch>
              </a:blipFill>
            </p:spPr>
            <p:txBody>
              <a:bodyPr/>
              <a:lstStyle/>
              <a:p>
                <a:r>
                  <a:rPr lang="en-MY">
                    <a:noFill/>
                  </a:rPr>
                  <a:t> </a:t>
                </a:r>
              </a:p>
            </p:txBody>
          </p:sp>
        </mc:Fallback>
      </mc:AlternateContent>
      <p:sp>
        <p:nvSpPr>
          <p:cNvPr id="4" name="Date Placeholder 3">
            <a:extLst>
              <a:ext uri="{FF2B5EF4-FFF2-40B4-BE49-F238E27FC236}">
                <a16:creationId xmlns:a16="http://schemas.microsoft.com/office/drawing/2014/main" id="{E838143A-8A18-417B-848D-FB3F9F9EBBFA}"/>
              </a:ext>
            </a:extLst>
          </p:cNvPr>
          <p:cNvSpPr txBox="1">
            <a:spLocks/>
          </p:cNvSpPr>
          <p:nvPr/>
        </p:nvSpPr>
        <p:spPr>
          <a:xfrm>
            <a:off x="7294"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l" defTabSz="914400" rtl="0" eaLnBrk="1" latinLnBrk="0" hangingPunct="1">
              <a:defRPr sz="8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753BF6CA-719F-4472-B4C4-95C8C38A6B29}" type="datetime1">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10/2/2024</a:t>
            </a:fld>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Footer Placeholder 5">
            <a:extLst>
              <a:ext uri="{FF2B5EF4-FFF2-40B4-BE49-F238E27FC236}">
                <a16:creationId xmlns:a16="http://schemas.microsoft.com/office/drawing/2014/main" id="{C9433748-B7CF-4DB1-9F07-805E5C401C35}"/>
              </a:ext>
            </a:extLst>
          </p:cNvPr>
          <p:cNvSpPr txBox="1">
            <a:spLocks/>
          </p:cNvSpPr>
          <p:nvPr/>
        </p:nvSpPr>
        <p:spPr>
          <a:xfrm>
            <a:off x="1323283" y="3330966"/>
            <a:ext cx="1963532"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ct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FIT5226-S2-2024</a:t>
            </a:r>
          </a:p>
        </p:txBody>
      </p:sp>
      <p:sp>
        <p:nvSpPr>
          <p:cNvPr id="6" name="Slide Number Placeholder 7">
            <a:extLst>
              <a:ext uri="{FF2B5EF4-FFF2-40B4-BE49-F238E27FC236}">
                <a16:creationId xmlns:a16="http://schemas.microsoft.com/office/drawing/2014/main" id="{23491F17-27D0-415F-9833-AAA2A91CBAE4}"/>
              </a:ext>
            </a:extLst>
          </p:cNvPr>
          <p:cNvSpPr txBox="1">
            <a:spLocks/>
          </p:cNvSpPr>
          <p:nvPr/>
        </p:nvSpPr>
        <p:spPr>
          <a:xfrm>
            <a:off x="3324990" y="3330575"/>
            <a:ext cx="1282991" cy="123111"/>
          </a:xfrm>
          <a:prstGeom prst="rect">
            <a:avLst/>
          </a:prstGeom>
          <a:solidFill>
            <a:sysClr val="window" lastClr="FFFFFF">
              <a:lumMod val="85000"/>
            </a:sysClr>
          </a:solidFill>
          <a:ln>
            <a:solidFill>
              <a:sysClr val="window" lastClr="FFFFFF">
                <a:lumMod val="75000"/>
              </a:sysClr>
            </a:solidFill>
          </a:ln>
        </p:spPr>
        <p:txBody>
          <a:bodyPr wrap="square" lIns="0" tIns="0" rIns="0" bIns="0">
            <a:spAutoFit/>
          </a:bodyPr>
          <a:lstStyle>
            <a:defPPr>
              <a:defRPr lang="en-US"/>
            </a:defPPr>
            <a:lvl1pPr marL="0" algn="r" defTabSz="914400" rtl="0" eaLnBrk="1" latinLnBrk="0" hangingPunct="1">
              <a:defRPr lang="en-US" sz="800" b="0" kern="1200" smtClean="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                                       </a:t>
            </a:r>
            <a:fld id="{B6F15528-21DE-4FAA-801E-634DDDAF4B2B}" type="slidenum">
              <a:rPr kumimoji="0" lang="en-US" sz="800" b="0" i="0" u="none" strike="noStrike" kern="1200" cap="none" spc="0" normalizeH="0" baseline="0" noProof="0" smtClean="0">
                <a:ln>
                  <a:noFill/>
                </a:ln>
                <a:solidFill>
                  <a:prstClr val="black"/>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tab pos="973138" algn="l"/>
                </a:tabLst>
                <a:defRPr/>
              </a:pPr>
              <a:t>40</a:t>
            </a:fld>
            <a:r>
              <a:rPr kumimoji="0" lang="en-US" sz="800" b="0" i="0" u="none" strike="noStrike" kern="1200" cap="none" spc="0" normalizeH="0" baseline="0" noProof="0" dirty="0">
                <a:ln>
                  <a:noFill/>
                </a:ln>
                <a:solidFill>
                  <a:prstClr val="black"/>
                </a:solidFill>
                <a:effectLst/>
                <a:uLnTx/>
                <a:uFillTx/>
                <a:latin typeface="Calibri"/>
                <a:ea typeface="+mn-ea"/>
                <a:cs typeface="+mn-cs"/>
              </a:rPr>
              <a:t>/40</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2760</TotalTime>
  <Words>16455</Words>
  <Application>Microsoft Office PowerPoint</Application>
  <PresentationFormat>Custom</PresentationFormat>
  <Paragraphs>1252</Paragraphs>
  <Slides>40</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40</vt:i4>
      </vt:variant>
    </vt:vector>
  </HeadingPairs>
  <TitlesOfParts>
    <vt:vector size="49" baseType="lpstr">
      <vt:lpstr>Meiryo UI</vt:lpstr>
      <vt:lpstr>Arial</vt:lpstr>
      <vt:lpstr>Calibri</vt:lpstr>
      <vt:lpstr>Cambria</vt:lpstr>
      <vt:lpstr>Cambria Math</vt:lpstr>
      <vt:lpstr>Sitka Small</vt:lpstr>
      <vt:lpstr>Tahoma</vt:lpstr>
      <vt:lpstr>Verdana</vt:lpstr>
      <vt:lpstr>Office Theme</vt:lpstr>
      <vt:lpstr>Coalitional Game Theory</vt:lpstr>
      <vt:lpstr>Coalitional games</vt:lpstr>
      <vt:lpstr>Coalitional games with transferable utility</vt:lpstr>
      <vt:lpstr>Example: Social choice – Voting game</vt:lpstr>
      <vt:lpstr>Main problems/questions</vt:lpstr>
      <vt:lpstr>PowerPoint Presentation</vt:lpstr>
      <vt:lpstr>Superadditive games</vt:lpstr>
      <vt:lpstr>Example: Superadditive games</vt:lpstr>
      <vt:lpstr>Additive games</vt:lpstr>
      <vt:lpstr>Example: Additive games</vt:lpstr>
      <vt:lpstr>Constant-sum games</vt:lpstr>
      <vt:lpstr>Example: Constant-sum games</vt:lpstr>
      <vt:lpstr>Convex games</vt:lpstr>
      <vt:lpstr>Example: Convex games</vt:lpstr>
      <vt:lpstr>Simple games</vt:lpstr>
      <vt:lpstr>Example: Simple games</vt:lpstr>
      <vt:lpstr>Summary: Classes of coalitional games</vt:lpstr>
      <vt:lpstr>A hierarchy of coalitional games</vt:lpstr>
      <vt:lpstr>Analysing coalitional games</vt:lpstr>
      <vt:lpstr>The Shapley value: Fair division</vt:lpstr>
      <vt:lpstr>The Shapley value: Axioms</vt:lpstr>
      <vt:lpstr>The Shapley value: Axioms</vt:lpstr>
      <vt:lpstr>The Shapley value: Formal definition</vt:lpstr>
      <vt:lpstr>Example: Shapley value – Fair division in the voting game</vt:lpstr>
      <vt:lpstr>Example: Shapley value – Fair division in the voting game1</vt:lpstr>
      <vt:lpstr>Example: Computing the Shapley values of a game</vt:lpstr>
      <vt:lpstr>Exercise: Computing the Shapley values of a game</vt:lpstr>
      <vt:lpstr>The core</vt:lpstr>
      <vt:lpstr>The core: Definition</vt:lpstr>
      <vt:lpstr>Example/Exercise: The core</vt:lpstr>
      <vt:lpstr>Example/Exercise: The core</vt:lpstr>
      <vt:lpstr>Example/Exercise: The core</vt:lpstr>
      <vt:lpstr>Properties of classes of games</vt:lpstr>
      <vt:lpstr>Properties of classes of games</vt:lpstr>
      <vt:lpstr>Example: The core and Shapley value in simple games</vt:lpstr>
      <vt:lpstr>A compact representation: Marginal contribution nets</vt:lpstr>
      <vt:lpstr>Example: Marginal contribution nets</vt:lpstr>
      <vt:lpstr>Exercises</vt:lpstr>
      <vt:lpstr>References</vt:lpstr>
      <vt:lpstr>Summary of notations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Coalitional Game Theory</dc:title>
  <dc:creator>Julian Gutierrez</dc:creator>
  <cp:lastModifiedBy>Fuad Noman</cp:lastModifiedBy>
  <cp:revision>139</cp:revision>
  <dcterms:created xsi:type="dcterms:W3CDTF">2023-10-13T09:45:27Z</dcterms:created>
  <dcterms:modified xsi:type="dcterms:W3CDTF">2024-10-02T14:48:26Z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2022-10-13T00:00:00Z</vt:filetime>
  </property>
  <property fmtid="{D5CDD505-2E9C-101B-9397-08002B2CF9AE}" pid="3" name="Creator">
    <vt:lpwstr>LaTeX with Beamer class</vt:lpwstr>
  </property>
  <property fmtid="{D5CDD505-2E9C-101B-9397-08002B2CF9AE}" pid="4" name="LastSaved">
    <vt:filetime>2023-10-13T00:00:00Z</vt:filetime>
  </property>
  <property fmtid="{D5CDD505-2E9C-101B-9397-08002B2CF9AE}" pid="5" name="PTEX.Fullbanner">
    <vt:lpwstr>This is pdfTeX, Version 3.14159265-2.6-1.40.19 (TeX Live 2018) kpathsea version 6.3.0</vt:lpwstr>
  </property>
  <property fmtid="{D5CDD505-2E9C-101B-9397-08002B2CF9AE}" pid="6" name="Producer">
    <vt:lpwstr>pdfTeX-1.40.19</vt:lpwstr>
  </property>
</Properties>
</file>
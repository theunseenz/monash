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301" r:id="rId4"/>
    <p:sldId id="260" r:id="rId5"/>
    <p:sldId id="261" r:id="rId6"/>
    <p:sldId id="259" r:id="rId7"/>
    <p:sldId id="262" r:id="rId8"/>
    <p:sldId id="264" r:id="rId9"/>
    <p:sldId id="263"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 id="281" r:id="rId27"/>
    <p:sldId id="283" r:id="rId28"/>
    <p:sldId id="284" r:id="rId29"/>
    <p:sldId id="282" r:id="rId30"/>
    <p:sldId id="285" r:id="rId31"/>
    <p:sldId id="286" r:id="rId32"/>
    <p:sldId id="287" r:id="rId33"/>
    <p:sldId id="288" r:id="rId34"/>
    <p:sldId id="290" r:id="rId35"/>
    <p:sldId id="292" r:id="rId36"/>
    <p:sldId id="289" r:id="rId37"/>
    <p:sldId id="291" r:id="rId38"/>
    <p:sldId id="293" r:id="rId39"/>
    <p:sldId id="294" r:id="rId40"/>
    <p:sldId id="295" r:id="rId41"/>
    <p:sldId id="296" r:id="rId42"/>
    <p:sldId id="297" r:id="rId43"/>
    <p:sldId id="298" r:id="rId44"/>
    <p:sldId id="299" r:id="rId45"/>
    <p:sldId id="300" r:id="rId46"/>
    <p:sldId id="258" r:id="rId47"/>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52821" autoAdjust="0"/>
  </p:normalViewPr>
  <p:slideViewPr>
    <p:cSldViewPr>
      <p:cViewPr varScale="1">
        <p:scale>
          <a:sx n="64" d="100"/>
          <a:sy n="64" d="100"/>
        </p:scale>
        <p:origin x="830" y="29"/>
      </p:cViewPr>
      <p:guideLst>
        <p:guide orient="horz" pos="2880"/>
        <p:guide pos="2160"/>
      </p:guideLst>
    </p:cSldViewPr>
  </p:slideViewPr>
  <p:notesTextViewPr>
    <p:cViewPr>
      <p:scale>
        <a:sx n="100" d="100"/>
        <a:sy n="100" d="100"/>
      </p:scale>
      <p:origin x="0" y="-1954"/>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40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In game theory and social choice, </a:t>
            </a:r>
            <a:r>
              <a:rPr lang="en-US" b="1" dirty="0"/>
              <a:t>auctions</a:t>
            </a:r>
            <a:r>
              <a:rPr lang="en-US" dirty="0"/>
              <a:t> and </a:t>
            </a:r>
            <a:r>
              <a:rPr lang="en-US" b="1" dirty="0"/>
              <a:t>resource allocation</a:t>
            </a:r>
            <a:r>
              <a:rPr lang="en-US" dirty="0"/>
              <a:t> are closely related concepts, both revolving around how to distribute scarce resources among competing agents. Here’s an overview of what auctions mean in this context and how they connect to voting and social choices:</a:t>
            </a:r>
          </a:p>
          <a:p>
            <a:r>
              <a:rPr lang="en-US" b="1" dirty="0"/>
              <a:t>Auctions in Resource Allocation</a:t>
            </a:r>
          </a:p>
          <a:p>
            <a:pPr marL="228600" indent="-228600">
              <a:buFont typeface="+mj-lt"/>
              <a:buAutoNum type="arabicPeriod"/>
            </a:pPr>
            <a:r>
              <a:rPr lang="en-US" b="1" dirty="0"/>
              <a:t>Definition</a:t>
            </a:r>
            <a:r>
              <a:rPr lang="en-US" dirty="0"/>
              <a:t>:</a:t>
            </a:r>
          </a:p>
          <a:p>
            <a:pPr marL="742950" lvl="1" indent="-285750">
              <a:buFont typeface="Arial" panose="020B0604020202020204" pitchFamily="34" charset="0"/>
              <a:buChar char="•"/>
            </a:pPr>
            <a:r>
              <a:rPr lang="en-US" dirty="0"/>
              <a:t>Auctions are mechanisms through which goods, services, or resources are allocated among participants who express their preferences through bids. They can be used to allocate resources efficiently in various contexts, such as public goods, spectrum licenses, or even assignments in a project.</a:t>
            </a:r>
          </a:p>
          <a:p>
            <a:pPr marL="228600" indent="-228600">
              <a:buFont typeface="+mj-lt"/>
              <a:buAutoNum type="arabicPeriod"/>
            </a:pPr>
            <a:r>
              <a:rPr lang="en-US" b="1" dirty="0"/>
              <a:t>Types of Auctions</a:t>
            </a:r>
            <a:r>
              <a:rPr lang="en-US" dirty="0"/>
              <a:t>:</a:t>
            </a:r>
          </a:p>
          <a:p>
            <a:pPr marL="742950" lvl="1" indent="-285750">
              <a:buFont typeface="Arial" panose="020B0604020202020204" pitchFamily="34" charset="0"/>
              <a:buChar char="•"/>
            </a:pPr>
            <a:r>
              <a:rPr lang="en-US" b="1" dirty="0"/>
              <a:t>English Auction</a:t>
            </a:r>
            <a:r>
              <a:rPr lang="en-US" dirty="0"/>
              <a:t>: Bidders publicly bid against one another, with the highest bidder winning.</a:t>
            </a:r>
          </a:p>
          <a:p>
            <a:pPr marL="742950" lvl="1" indent="-285750">
              <a:buFont typeface="Arial" panose="020B0604020202020204" pitchFamily="34" charset="0"/>
              <a:buChar char="•"/>
            </a:pPr>
            <a:r>
              <a:rPr lang="en-US" b="1" dirty="0"/>
              <a:t>Dutch Auction</a:t>
            </a:r>
            <a:r>
              <a:rPr lang="en-US" dirty="0"/>
              <a:t>: The auctioneer starts with a high price and lowers it until a bidder accepts the current price.</a:t>
            </a:r>
          </a:p>
          <a:p>
            <a:pPr marL="742950" lvl="1" indent="-285750">
              <a:buFont typeface="Arial" panose="020B0604020202020204" pitchFamily="34" charset="0"/>
              <a:buChar char="•"/>
            </a:pPr>
            <a:r>
              <a:rPr lang="en-US" b="1" dirty="0"/>
              <a:t>Sealed-Bid Auction</a:t>
            </a:r>
            <a:r>
              <a:rPr lang="en-US" dirty="0"/>
              <a:t>: Bidders submit confidential bids without knowing others' offers, and the highest bidder wins.</a:t>
            </a:r>
          </a:p>
          <a:p>
            <a:pPr marL="742950" lvl="1" indent="-285750">
              <a:buFont typeface="Arial" panose="020B0604020202020204" pitchFamily="34" charset="0"/>
              <a:buChar char="•"/>
            </a:pPr>
            <a:r>
              <a:rPr lang="en-US" b="1" dirty="0"/>
              <a:t>Vickrey Auction</a:t>
            </a:r>
            <a:r>
              <a:rPr lang="en-US" dirty="0"/>
              <a:t>: A sealed-bid auction where the highest bidder wins but pays the price of the second-highest bid.</a:t>
            </a:r>
          </a:p>
          <a:p>
            <a:pPr marL="228600" indent="-228600">
              <a:buFont typeface="+mj-lt"/>
              <a:buAutoNum type="arabicPeriod"/>
            </a:pPr>
            <a:r>
              <a:rPr lang="en-US" b="1" dirty="0"/>
              <a:t>Objectives</a:t>
            </a:r>
            <a:r>
              <a:rPr lang="en-US" dirty="0"/>
              <a:t>:</a:t>
            </a:r>
          </a:p>
          <a:p>
            <a:pPr marL="742950" lvl="1" indent="-285750">
              <a:buFont typeface="Arial" panose="020B0604020202020204" pitchFamily="34" charset="0"/>
              <a:buChar char="•"/>
            </a:pPr>
            <a:r>
              <a:rPr lang="en-US" dirty="0"/>
              <a:t>The primary goal of auctions in resource allocation is to achieve </a:t>
            </a:r>
            <a:r>
              <a:rPr lang="en-US" b="1" dirty="0"/>
              <a:t>efficient outcomes</a:t>
            </a:r>
            <a:r>
              <a:rPr lang="en-US" dirty="0"/>
              <a:t>, meaning resources are distributed to those who value them the most, reflected in their bids.</a:t>
            </a:r>
          </a:p>
          <a:p>
            <a:endParaRPr lang="en-US" b="1" dirty="0"/>
          </a:p>
          <a:p>
            <a:r>
              <a:rPr lang="en-US" b="1" dirty="0"/>
              <a:t>Connection to Voting and Social Choices</a:t>
            </a:r>
          </a:p>
          <a:p>
            <a:pPr marL="228600" indent="-228600">
              <a:buFont typeface="+mj-lt"/>
              <a:buAutoNum type="arabicPeriod"/>
            </a:pPr>
            <a:r>
              <a:rPr lang="en-US" b="1" dirty="0"/>
              <a:t>Collective Decision-Making</a:t>
            </a:r>
            <a:r>
              <a:rPr lang="en-US" dirty="0"/>
              <a:t>:</a:t>
            </a:r>
          </a:p>
          <a:p>
            <a:pPr marL="628650" lvl="1" indent="-171450">
              <a:buFont typeface="Arial" panose="020B0604020202020204" pitchFamily="34" charset="0"/>
              <a:buChar char="•"/>
            </a:pPr>
            <a:r>
              <a:rPr lang="en-US" dirty="0"/>
              <a:t>Both auctions and voting involve collective decision-making processes where individuals (bidders or voters) express their preferences. The outcome reflects a social choice based on the individual inputs.</a:t>
            </a:r>
          </a:p>
          <a:p>
            <a:pPr marL="228600" indent="-228600">
              <a:buFont typeface="+mj-lt"/>
              <a:buAutoNum type="arabicPeriod"/>
            </a:pPr>
            <a:r>
              <a:rPr lang="en-US" b="1" dirty="0"/>
              <a:t>Preference Expression</a:t>
            </a:r>
            <a:r>
              <a:rPr lang="en-US" dirty="0"/>
              <a:t>:</a:t>
            </a:r>
          </a:p>
          <a:p>
            <a:pPr marL="742950" lvl="1" indent="-285750">
              <a:buFont typeface="Arial" panose="020B0604020202020204" pitchFamily="34" charset="0"/>
              <a:buChar char="•"/>
            </a:pPr>
            <a:r>
              <a:rPr lang="en-US" dirty="0"/>
              <a:t>In voting, individuals express their preferences over options (e.g., candidates or policies), while in auctions, they express their valuations for items or resources. The aggregation of these preferences determines the final allocation in both scenarios.</a:t>
            </a:r>
          </a:p>
          <a:p>
            <a:pPr marL="228600" indent="-228600">
              <a:buFont typeface="+mj-lt"/>
              <a:buAutoNum type="arabicPeriod"/>
            </a:pPr>
            <a:r>
              <a:rPr lang="en-US" b="1" dirty="0"/>
              <a:t>Social Welfare</a:t>
            </a:r>
            <a:r>
              <a:rPr lang="en-US" dirty="0"/>
              <a:t>:</a:t>
            </a:r>
          </a:p>
          <a:p>
            <a:pPr marL="742950" lvl="1" indent="-285750">
              <a:buFont typeface="Arial" panose="020B0604020202020204" pitchFamily="34" charset="0"/>
              <a:buChar char="•"/>
            </a:pPr>
            <a:r>
              <a:rPr lang="en-US" dirty="0"/>
              <a:t>Both frameworks aim to maximize social welfare:</a:t>
            </a:r>
          </a:p>
          <a:p>
            <a:pPr marL="1143000" lvl="2" indent="-228600">
              <a:buFont typeface="Arial" panose="020B0604020202020204" pitchFamily="34" charset="0"/>
              <a:buChar char="•"/>
            </a:pPr>
            <a:r>
              <a:rPr lang="en-US" dirty="0"/>
              <a:t>In auctions, this means allocating resources to those who value them the most.</a:t>
            </a:r>
          </a:p>
          <a:p>
            <a:pPr marL="1143000" lvl="2" indent="-228600">
              <a:buFont typeface="Arial" panose="020B0604020202020204" pitchFamily="34" charset="0"/>
              <a:buChar char="•"/>
            </a:pPr>
            <a:r>
              <a:rPr lang="en-US" dirty="0"/>
              <a:t>In voting, it often refers to selecting policies or candidates that maximize the overall satisfaction of voters.</a:t>
            </a:r>
          </a:p>
          <a:p>
            <a:pPr marL="228600" indent="-228600">
              <a:buFont typeface="+mj-lt"/>
              <a:buAutoNum type="arabicPeriod"/>
            </a:pPr>
            <a:r>
              <a:rPr lang="en-US" b="1" dirty="0"/>
              <a:t>Strategic Behavior</a:t>
            </a:r>
            <a:r>
              <a:rPr lang="en-US" dirty="0"/>
              <a:t>:</a:t>
            </a:r>
          </a:p>
          <a:p>
            <a:pPr marL="628650" lvl="1" indent="-171450">
              <a:buFont typeface="Arial" panose="020B0604020202020204" pitchFamily="34" charset="0"/>
              <a:buChar char="•"/>
            </a:pPr>
            <a:r>
              <a:rPr lang="en-US" dirty="0"/>
              <a:t>Participants in both auctions and voting may engage in strategic behavior to influence outcomes. For instance:</a:t>
            </a:r>
          </a:p>
          <a:p>
            <a:pPr marL="1085850" lvl="2" indent="-171450">
              <a:buFont typeface="Arial" panose="020B0604020202020204" pitchFamily="34" charset="0"/>
              <a:buChar char="•"/>
            </a:pPr>
            <a:r>
              <a:rPr lang="en-US" dirty="0"/>
              <a:t>In auctions, bidders may underbid or overbid based on their knowledge of competitors' valuations.</a:t>
            </a:r>
          </a:p>
          <a:p>
            <a:pPr marL="1085850" lvl="2" indent="-171450">
              <a:buFont typeface="Arial" panose="020B0604020202020204" pitchFamily="34" charset="0"/>
              <a:buChar char="•"/>
            </a:pPr>
            <a:r>
              <a:rPr lang="en-US" dirty="0"/>
              <a:t>In voting, voters may vote strategically (e.g., tactical voting) to support candidates who have a better chance of winning, even if they are not their first choice.</a:t>
            </a:r>
          </a:p>
          <a:p>
            <a:pPr marL="228600" indent="-228600">
              <a:buFont typeface="+mj-lt"/>
              <a:buAutoNum type="arabicPeriod"/>
            </a:pPr>
            <a:r>
              <a:rPr lang="en-US" b="1" dirty="0"/>
              <a:t>Mechanisms and Incentives</a:t>
            </a:r>
            <a:r>
              <a:rPr lang="en-US" dirty="0"/>
              <a:t>:</a:t>
            </a:r>
          </a:p>
          <a:p>
            <a:pPr marL="628650" lvl="1" indent="-171450">
              <a:buFont typeface="Arial" panose="020B0604020202020204" pitchFamily="34" charset="0"/>
              <a:buChar char="•"/>
            </a:pPr>
            <a:r>
              <a:rPr lang="en-US" dirty="0"/>
              <a:t>Just as auction mechanisms are designed to incentivize truthful bidding (like the VCG mechanism), voting systems are designed to encourage voters to express their true preferences without strategic manipulation.</a:t>
            </a:r>
          </a:p>
          <a:p>
            <a:r>
              <a:rPr lang="en-US" b="1" dirty="0"/>
              <a:t>Summary</a:t>
            </a:r>
          </a:p>
          <a:p>
            <a:r>
              <a:rPr lang="en-US" dirty="0"/>
              <a:t>In summary, auctions serve as a method of resource allocation that shares foundational concepts with voting and social choice. Both involve individual preference expression, aim for collective welfare maximization, and are influenced by strategic considerations. By understanding auctions in the context of game theory and social choices, we can better analyze how resources and decisions are allocated in various social and economic systems.</a:t>
            </a:r>
          </a:p>
          <a:p>
            <a:pPr algn="l"/>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highlights the importance of resource allocation as a core issue in multi-agent systems. It emphasizes the wide range of resources that might need to be allocated.</a:t>
            </a:r>
          </a:p>
          <a:p>
            <a:endParaRPr lang="en-US" b="0" i="0" dirty="0">
              <a:solidFill>
                <a:srgbClr val="E8E8E8"/>
              </a:solidFill>
              <a:effectLst/>
              <a:latin typeface="Google Sans Text"/>
            </a:endParaRPr>
          </a:p>
          <a:p>
            <a:r>
              <a:rPr lang="en-US" b="1" dirty="0"/>
              <a:t>Central Problem:</a:t>
            </a:r>
            <a:endParaRPr lang="en-US" dirty="0"/>
          </a:p>
          <a:p>
            <a:pPr marL="171450" indent="-171450">
              <a:buFont typeface="Arial" panose="020B0604020202020204" pitchFamily="34" charset="0"/>
              <a:buChar char="•"/>
            </a:pPr>
            <a:r>
              <a:rPr lang="en-US" dirty="0"/>
              <a:t>The core challenge in multi-agent systems revolves around </a:t>
            </a:r>
            <a:r>
              <a:rPr lang="en-US" b="1" dirty="0"/>
              <a:t>allocating limited resources</a:t>
            </a:r>
            <a:r>
              <a:rPr lang="en-US" dirty="0"/>
              <a:t> among multiple agents.</a:t>
            </a:r>
          </a:p>
          <a:p>
            <a:pPr marL="171450" indent="-171450">
              <a:buFont typeface="Arial" panose="020B0604020202020204" pitchFamily="34" charset="0"/>
              <a:buChar char="•"/>
            </a:pPr>
            <a:r>
              <a:rPr lang="en-US" dirty="0"/>
              <a:t>This allocation must be managed efficiently to ensure that the agents achieve their goals with minimal conflicts.</a:t>
            </a:r>
          </a:p>
          <a:p>
            <a:pPr marL="171450" indent="-171450">
              <a:buFont typeface="Arial" panose="020B0604020202020204" pitchFamily="34" charset="0"/>
              <a:buChar char="•"/>
            </a:pPr>
            <a:endParaRPr lang="en-US" dirty="0"/>
          </a:p>
          <a:p>
            <a:r>
              <a:rPr lang="en-US" b="1" dirty="0"/>
              <a:t>Diverse Forms of Resources:</a:t>
            </a:r>
            <a:endParaRPr lang="en-US" dirty="0"/>
          </a:p>
          <a:p>
            <a:pPr marL="171450" indent="-171450">
              <a:buFont typeface="Arial" panose="020B0604020202020204" pitchFamily="34" charset="0"/>
              <a:buChar char="•"/>
            </a:pPr>
            <a:r>
              <a:rPr lang="en-US" dirty="0"/>
              <a:t>Resources are not just physical objects but span different categories, each requiring careful allocation:</a:t>
            </a:r>
          </a:p>
          <a:p>
            <a:pPr marL="742950" lvl="1" indent="-285750">
              <a:buFont typeface="Arial" panose="020B0604020202020204" pitchFamily="34" charset="0"/>
              <a:buChar char="•"/>
            </a:pPr>
            <a:r>
              <a:rPr lang="en-US" b="1" dirty="0"/>
              <a:t>Physical Objects:</a:t>
            </a:r>
            <a:endParaRPr lang="en-US" dirty="0"/>
          </a:p>
          <a:p>
            <a:pPr marL="1143000" lvl="2" indent="-228600">
              <a:buFont typeface="Arial" panose="020B0604020202020204" pitchFamily="34" charset="0"/>
              <a:buChar char="•"/>
            </a:pPr>
            <a:r>
              <a:rPr lang="en-US" dirty="0"/>
              <a:t>Examples: goods, equipment.</a:t>
            </a:r>
          </a:p>
          <a:p>
            <a:pPr marL="1143000" lvl="2" indent="-228600">
              <a:buFont typeface="Arial" panose="020B0604020202020204" pitchFamily="34" charset="0"/>
              <a:buChar char="•"/>
            </a:pPr>
            <a:r>
              <a:rPr lang="en-US" dirty="0"/>
              <a:t>Agents may need these tangible items to perform tasks or achieve objectives.</a:t>
            </a:r>
          </a:p>
          <a:p>
            <a:pPr marL="742950" lvl="1" indent="-285750">
              <a:buFont typeface="Arial" panose="020B0604020202020204" pitchFamily="34" charset="0"/>
              <a:buChar char="•"/>
            </a:pPr>
            <a:r>
              <a:rPr lang="en-US" b="1" dirty="0"/>
              <a:t>Rights to Use Assets:</a:t>
            </a:r>
            <a:endParaRPr lang="en-US" dirty="0"/>
          </a:p>
          <a:p>
            <a:pPr marL="1143000" lvl="2" indent="-228600">
              <a:buFont typeface="Arial" panose="020B0604020202020204" pitchFamily="34" charset="0"/>
              <a:buChar char="•"/>
            </a:pPr>
            <a:r>
              <a:rPr lang="en-US" dirty="0"/>
              <a:t>Examples: land, licenses.</a:t>
            </a:r>
          </a:p>
          <a:p>
            <a:pPr marL="1143000" lvl="2" indent="-228600">
              <a:buFont typeface="Arial" panose="020B0604020202020204" pitchFamily="34" charset="0"/>
              <a:buChar char="•"/>
            </a:pPr>
            <a:r>
              <a:rPr lang="en-US" dirty="0"/>
              <a:t>Allocation here involves granting access or usage rights to these assets, which may have legal or regulatory implications.</a:t>
            </a:r>
          </a:p>
          <a:p>
            <a:pPr marL="742950" lvl="1" indent="-285750">
              <a:buFont typeface="Arial" panose="020B0604020202020204" pitchFamily="34" charset="0"/>
              <a:buChar char="•"/>
            </a:pPr>
            <a:r>
              <a:rPr lang="en-US" b="1" dirty="0"/>
              <a:t>Computational Resources:</a:t>
            </a:r>
            <a:endParaRPr lang="en-US" dirty="0"/>
          </a:p>
          <a:p>
            <a:pPr marL="1143000" lvl="2" indent="-228600">
              <a:buFont typeface="Arial" panose="020B0604020202020204" pitchFamily="34" charset="0"/>
              <a:buChar char="•"/>
            </a:pPr>
            <a:r>
              <a:rPr lang="en-US" dirty="0"/>
              <a:t>Examples: processor time, memory.</a:t>
            </a:r>
          </a:p>
          <a:p>
            <a:pPr marL="1143000" lvl="2" indent="-228600">
              <a:buFont typeface="Arial" panose="020B0604020202020204" pitchFamily="34" charset="0"/>
              <a:buChar char="•"/>
            </a:pPr>
            <a:r>
              <a:rPr lang="en-US" dirty="0"/>
              <a:t>Particularly important in systems where agents operate in a digital environment, such as cloud computing or distributed networks.</a:t>
            </a:r>
          </a:p>
          <a:p>
            <a:r>
              <a:rPr lang="en-US" b="1" dirty="0"/>
              <a:t>Key Takeaway:</a:t>
            </a:r>
            <a:endParaRPr lang="en-US" dirty="0"/>
          </a:p>
          <a:p>
            <a:pPr marL="171450" indent="-171450">
              <a:buFont typeface="Arial" panose="020B0604020202020204" pitchFamily="34" charset="0"/>
              <a:buChar char="•"/>
            </a:pPr>
            <a:r>
              <a:rPr lang="en-US" b="1" dirty="0"/>
              <a:t>Balancing resource allocation</a:t>
            </a:r>
            <a:r>
              <a:rPr lang="en-US" dirty="0"/>
              <a:t> ensures agents can operate efficiently without depleting or monopolizing resources. This is essential for maintaining system harmony and performance in multi-agent environments.</a:t>
            </a:r>
          </a:p>
          <a:p>
            <a:endParaRPr dirty="0"/>
          </a:p>
        </p:txBody>
      </p:sp>
    </p:spTree>
    <p:extLst>
      <p:ext uri="{BB962C8B-B14F-4D97-AF65-F5344CB8AC3E}">
        <p14:creationId xmlns:p14="http://schemas.microsoft.com/office/powerpoint/2010/main" val="2716903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the economic principles of supply and demand, explaining how they directly influence resource allocation. It sets the context for exploring auctions as a solution to allocation problems when demand outstrips supply.</a:t>
            </a:r>
          </a:p>
          <a:p>
            <a:endParaRPr lang="en-US" b="0" i="0" dirty="0">
              <a:solidFill>
                <a:srgbClr val="E8E8E8"/>
              </a:solidFill>
              <a:effectLst/>
              <a:latin typeface="Google Sans Text"/>
            </a:endParaRPr>
          </a:p>
          <a:p>
            <a:pPr marL="228600" indent="-228600">
              <a:buFont typeface="+mj-lt"/>
              <a:buAutoNum type="arabicPeriod"/>
            </a:pPr>
            <a:r>
              <a:rPr lang="en-US" b="1" dirty="0"/>
              <a:t>Driving Force:</a:t>
            </a:r>
            <a:endParaRPr lang="en-US" dirty="0"/>
          </a:p>
          <a:p>
            <a:pPr marL="628650" lvl="1" indent="-171450">
              <a:buFont typeface="Arial" panose="020B0604020202020204" pitchFamily="34" charset="0"/>
              <a:buChar char="•"/>
            </a:pPr>
            <a:r>
              <a:rPr lang="en-US" dirty="0"/>
              <a:t>The fundamental principle of resource allocation is the relationship between </a:t>
            </a:r>
            <a:r>
              <a:rPr lang="en-US" b="1" dirty="0"/>
              <a:t>supply</a:t>
            </a:r>
            <a:r>
              <a:rPr lang="en-US" dirty="0"/>
              <a:t> (availability of resources) and </a:t>
            </a:r>
            <a:r>
              <a:rPr lang="en-US" b="1" dirty="0"/>
              <a:t>demand</a:t>
            </a:r>
            <a:r>
              <a:rPr lang="en-US" dirty="0"/>
              <a:t> (need for those resources).</a:t>
            </a:r>
          </a:p>
          <a:p>
            <a:pPr marL="628650" lvl="1" indent="-171450">
              <a:buFont typeface="Arial" panose="020B0604020202020204" pitchFamily="34" charset="0"/>
              <a:buChar char="•"/>
            </a:pPr>
            <a:r>
              <a:rPr lang="en-US" dirty="0"/>
              <a:t>Understanding this balance is crucial for effective allocation strategies in multi-agent systems.</a:t>
            </a:r>
          </a:p>
          <a:p>
            <a:pPr marL="228600" indent="-228600">
              <a:buFont typeface="+mj-lt"/>
              <a:buAutoNum type="arabicPeriod"/>
            </a:pPr>
            <a:r>
              <a:rPr lang="en-US" b="1" dirty="0"/>
              <a:t>Simple Cases:</a:t>
            </a:r>
            <a:endParaRPr lang="en-US" dirty="0"/>
          </a:p>
          <a:p>
            <a:pPr marL="628650" lvl="1" indent="-171450">
              <a:buFont typeface="Arial" panose="020B0604020202020204" pitchFamily="34" charset="0"/>
              <a:buChar char="•"/>
            </a:pPr>
            <a:r>
              <a:rPr lang="en-US" dirty="0"/>
              <a:t>When resources are abundant, or when there is </a:t>
            </a:r>
            <a:r>
              <a:rPr lang="en-US" b="1" dirty="0"/>
              <a:t>little to no competition</a:t>
            </a:r>
            <a:r>
              <a:rPr lang="en-US" dirty="0"/>
              <a:t> for them, allocation becomes straightforward.</a:t>
            </a:r>
          </a:p>
          <a:p>
            <a:pPr marL="628650" lvl="1" indent="-171450">
              <a:buFont typeface="Arial" panose="020B0604020202020204" pitchFamily="34" charset="0"/>
              <a:buChar char="•"/>
            </a:pPr>
            <a:r>
              <a:rPr lang="en-US" dirty="0"/>
              <a:t>In these scenarios, resources can be distributed without much complexity, as the supply easily meets the demand.</a:t>
            </a:r>
          </a:p>
          <a:p>
            <a:pPr marL="228600" indent="-228600">
              <a:buFont typeface="+mj-lt"/>
              <a:buAutoNum type="arabicPeriod"/>
            </a:pPr>
            <a:r>
              <a:rPr lang="en-US" b="1" dirty="0"/>
              <a:t>Challenge:</a:t>
            </a:r>
            <a:endParaRPr lang="en-US" dirty="0"/>
          </a:p>
          <a:p>
            <a:pPr marL="628650" lvl="1" indent="-171450">
              <a:buFont typeface="Arial" panose="020B0604020202020204" pitchFamily="34" charset="0"/>
              <a:buChar char="•"/>
            </a:pPr>
            <a:r>
              <a:rPr lang="en-US" dirty="0"/>
              <a:t>Problems arise when </a:t>
            </a:r>
            <a:r>
              <a:rPr lang="en-US" b="1" dirty="0"/>
              <a:t>demand exceeds supply</a:t>
            </a:r>
            <a:r>
              <a:rPr lang="en-US" dirty="0"/>
              <a:t>. In such cases, there is a need for a </a:t>
            </a:r>
            <a:r>
              <a:rPr lang="en-US" b="1" dirty="0"/>
              <a:t>mechanism</a:t>
            </a:r>
            <a:r>
              <a:rPr lang="en-US" dirty="0"/>
              <a:t> to fairly and efficiently distribute the limited resources.</a:t>
            </a:r>
          </a:p>
          <a:p>
            <a:pPr marL="628650" lvl="1" indent="-171450">
              <a:buFont typeface="Arial" panose="020B0604020202020204" pitchFamily="34" charset="0"/>
              <a:buChar char="•"/>
            </a:pPr>
            <a:r>
              <a:rPr lang="en-US" dirty="0"/>
              <a:t>This could involve:</a:t>
            </a:r>
          </a:p>
          <a:p>
            <a:pPr marL="1200150" lvl="2" indent="-285750">
              <a:buFont typeface="Arial" panose="020B0604020202020204" pitchFamily="34" charset="0"/>
              <a:buChar char="•"/>
            </a:pPr>
            <a:r>
              <a:rPr lang="en-US" dirty="0"/>
              <a:t>Prioritization of needs based on criteria such as urgency or importance.</a:t>
            </a:r>
          </a:p>
          <a:p>
            <a:pPr marL="1200150" lvl="2" indent="-285750">
              <a:buFont typeface="Arial" panose="020B0604020202020204" pitchFamily="34" charset="0"/>
              <a:buChar char="•"/>
            </a:pPr>
            <a:r>
              <a:rPr lang="en-US" dirty="0"/>
              <a:t>Implementation of algorithms or rules that allow for equitable access among competing agents.</a:t>
            </a:r>
          </a:p>
          <a:p>
            <a:pPr marL="1200150" lvl="2" indent="-285750">
              <a:buFont typeface="Arial" panose="020B0604020202020204" pitchFamily="34" charset="0"/>
              <a:buChar char="•"/>
            </a:pPr>
            <a:r>
              <a:rPr lang="en-US" dirty="0"/>
              <a:t>Strategies for negotiation or bidding to help allocate resources effectively.</a:t>
            </a:r>
          </a:p>
          <a:p>
            <a:r>
              <a:rPr lang="en-US" b="1" dirty="0"/>
              <a:t>Key Takeaway:</a:t>
            </a:r>
            <a:endParaRPr lang="en-US" dirty="0"/>
          </a:p>
          <a:p>
            <a:pPr marL="171450" indent="-171450">
              <a:buFont typeface="Arial" panose="020B0604020202020204" pitchFamily="34" charset="0"/>
              <a:buChar char="•"/>
            </a:pPr>
            <a:r>
              <a:rPr lang="en-US" dirty="0"/>
              <a:t>Achieving a fair and efficient allocation of scarce resources requires careful consideration of supply and demand dynamics. This challenge is central to the functioning of multi-agent systems and can significantly impact overall performance and satisfaction among agents.</a:t>
            </a:r>
          </a:p>
          <a:p>
            <a:endParaRPr dirty="0"/>
          </a:p>
        </p:txBody>
      </p:sp>
    </p:spTree>
    <p:extLst>
      <p:ext uri="{BB962C8B-B14F-4D97-AF65-F5344CB8AC3E}">
        <p14:creationId xmlns:p14="http://schemas.microsoft.com/office/powerpoint/2010/main" val="1386642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traces the evolution of auctions, emphasizing the transformative impact of the internet. It highlights how online auctions have made transactions easier and extended the reach of auction-based markets.</a:t>
            </a:r>
          </a:p>
          <a:p>
            <a:endParaRPr lang="en-US" b="0" i="0" dirty="0">
              <a:solidFill>
                <a:srgbClr val="E8E8E8"/>
              </a:solidFill>
              <a:effectLst/>
              <a:latin typeface="Google Sans Text"/>
            </a:endParaRPr>
          </a:p>
          <a:p>
            <a:pPr marL="228600" indent="-228600">
              <a:buFont typeface="+mj-lt"/>
              <a:buAutoNum type="arabicPeriod"/>
            </a:pPr>
            <a:r>
              <a:rPr lang="en-US" b="1" dirty="0"/>
              <a:t>Traditional Rarity</a:t>
            </a:r>
            <a:r>
              <a:rPr lang="en-US" dirty="0"/>
              <a:t>:</a:t>
            </a:r>
          </a:p>
          <a:p>
            <a:pPr marL="628650" lvl="1" indent="-171450">
              <a:buFont typeface="Arial" panose="020B0604020202020204" pitchFamily="34" charset="0"/>
              <a:buChar char="•"/>
            </a:pPr>
            <a:r>
              <a:rPr lang="en-US" dirty="0"/>
              <a:t>Historically, auctions were not a common method for resource allocation or sales.</a:t>
            </a:r>
          </a:p>
          <a:p>
            <a:pPr marL="628650" lvl="1" indent="-171450">
              <a:buFont typeface="Arial" panose="020B0604020202020204" pitchFamily="34" charset="0"/>
              <a:buChar char="•"/>
            </a:pPr>
            <a:r>
              <a:rPr lang="en-US" dirty="0"/>
              <a:t>Often limited to specialized markets, art, or estate sales.</a:t>
            </a:r>
          </a:p>
          <a:p>
            <a:pPr marL="228600" indent="-228600">
              <a:buFont typeface="+mj-lt"/>
              <a:buAutoNum type="arabicPeriod"/>
            </a:pPr>
            <a:r>
              <a:rPr lang="en-US" b="1" dirty="0"/>
              <a:t>Internet Revolution</a:t>
            </a:r>
            <a:r>
              <a:rPr lang="en-US" dirty="0"/>
              <a:t>:</a:t>
            </a:r>
          </a:p>
          <a:p>
            <a:pPr marL="628650" lvl="1" indent="-171450">
              <a:buFont typeface="Arial" panose="020B0604020202020204" pitchFamily="34" charset="0"/>
              <a:buChar char="•"/>
            </a:pPr>
            <a:r>
              <a:rPr lang="en-US" dirty="0"/>
              <a:t>The emergence of the internet has transformed the auction landscape.</a:t>
            </a:r>
          </a:p>
          <a:p>
            <a:pPr marL="628650" lvl="1" indent="-171450">
              <a:buFont typeface="Arial" panose="020B0604020202020204" pitchFamily="34" charset="0"/>
              <a:buChar char="•"/>
            </a:pPr>
            <a:r>
              <a:rPr lang="en-US" dirty="0"/>
              <a:t>A significant increase in both the number and types of auctions available to consumers.</a:t>
            </a:r>
          </a:p>
          <a:p>
            <a:pPr marL="228600" indent="-228600">
              <a:buFont typeface="+mj-lt"/>
              <a:buAutoNum type="arabicPeriod"/>
            </a:pPr>
            <a:r>
              <a:rPr lang="en-US" b="1" dirty="0"/>
              <a:t>Frictionless Commerce</a:t>
            </a:r>
            <a:r>
              <a:rPr lang="en-US" dirty="0"/>
              <a:t>:</a:t>
            </a:r>
          </a:p>
          <a:p>
            <a:pPr marL="628650" lvl="1" indent="-171450">
              <a:buFont typeface="Arial" panose="020B0604020202020204" pitchFamily="34" charset="0"/>
              <a:buChar char="•"/>
            </a:pPr>
            <a:r>
              <a:rPr lang="en-US" dirty="0"/>
              <a:t>Online auction platforms have minimized barriers to entry.</a:t>
            </a:r>
          </a:p>
          <a:p>
            <a:pPr marL="628650" lvl="1" indent="-171450">
              <a:buFont typeface="Arial" panose="020B0604020202020204" pitchFamily="34" charset="0"/>
              <a:buChar char="•"/>
            </a:pPr>
            <a:r>
              <a:rPr lang="en-US" dirty="0"/>
              <a:t>Transactions can occur quickly and efficiently without the need for physical presence.</a:t>
            </a:r>
          </a:p>
          <a:p>
            <a:pPr marL="228600" indent="-228600">
              <a:buFont typeface="+mj-lt"/>
              <a:buAutoNum type="arabicPeriod"/>
            </a:pPr>
            <a:r>
              <a:rPr lang="en-US" b="1" dirty="0"/>
              <a:t>Expanded Scope</a:t>
            </a:r>
            <a:r>
              <a:rPr lang="en-US" dirty="0"/>
              <a:t>:</a:t>
            </a:r>
          </a:p>
          <a:p>
            <a:pPr marL="628650" lvl="1" indent="-171450">
              <a:buFont typeface="Arial" panose="020B0604020202020204" pitchFamily="34" charset="0"/>
              <a:buChar char="•"/>
            </a:pPr>
            <a:r>
              <a:rPr lang="en-US" dirty="0"/>
              <a:t>Items previously deemed unprofitable or too niche for auctions are now being sold online.</a:t>
            </a:r>
          </a:p>
          <a:p>
            <a:pPr marL="628650" lvl="1" indent="-171450">
              <a:buFont typeface="Arial" panose="020B0604020202020204" pitchFamily="34" charset="0"/>
              <a:buChar char="•"/>
            </a:pPr>
            <a:r>
              <a:rPr lang="en-US" dirty="0"/>
              <a:t>This includes everyday items, collectibles, and even digital goods.</a:t>
            </a:r>
          </a:p>
          <a:p>
            <a:pPr marL="228600" indent="-228600">
              <a:buFont typeface="+mj-lt"/>
              <a:buAutoNum type="arabicPeriod"/>
            </a:pPr>
            <a:r>
              <a:rPr lang="en-US" b="1" dirty="0"/>
              <a:t>Prominent Examples</a:t>
            </a:r>
            <a:r>
              <a:rPr lang="en-US" dirty="0"/>
              <a:t>:</a:t>
            </a:r>
          </a:p>
          <a:p>
            <a:pPr marL="628650" lvl="1" indent="-171450">
              <a:buFont typeface="Arial" panose="020B0604020202020204" pitchFamily="34" charset="0"/>
              <a:buChar char="•"/>
            </a:pPr>
            <a:r>
              <a:rPr lang="en-US" b="1" dirty="0"/>
              <a:t>eBay</a:t>
            </a:r>
            <a:r>
              <a:rPr lang="en-US" dirty="0"/>
              <a:t>: One of the first online auction platforms that revolutionized consumer-to-consumer sales.</a:t>
            </a:r>
          </a:p>
          <a:p>
            <a:pPr marL="628650" lvl="1" indent="-171450">
              <a:buFont typeface="Arial" panose="020B0604020202020204" pitchFamily="34" charset="0"/>
              <a:buChar char="•"/>
            </a:pPr>
            <a:r>
              <a:rPr lang="en-US" b="1" dirty="0" err="1"/>
              <a:t>Adword</a:t>
            </a:r>
            <a:r>
              <a:rPr lang="en-US" b="1" dirty="0"/>
              <a:t> Auctions</a:t>
            </a:r>
            <a:r>
              <a:rPr lang="en-US" dirty="0"/>
              <a:t>: Google's auction system for ad placements, demonstrating auction principles in digital advertising.</a:t>
            </a:r>
          </a:p>
          <a:p>
            <a:endParaRPr dirty="0"/>
          </a:p>
        </p:txBody>
      </p:sp>
    </p:spTree>
    <p:extLst>
      <p:ext uri="{BB962C8B-B14F-4D97-AF65-F5344CB8AC3E}">
        <p14:creationId xmlns:p14="http://schemas.microsoft.com/office/powerpoint/2010/main" val="3297816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precise definition of auctions, clarifying the role of price information and the interaction between auctioneer and bidders.</a:t>
            </a:r>
          </a:p>
          <a:p>
            <a:endParaRPr lang="en-US" b="0" i="0" dirty="0">
              <a:solidFill>
                <a:srgbClr val="E8E8E8"/>
              </a:solidFill>
              <a:effectLst/>
              <a:latin typeface="Google Sans Text"/>
            </a:endParaRPr>
          </a:p>
          <a:p>
            <a:r>
              <a:rPr lang="en-US" b="1" dirty="0"/>
              <a:t>Formal Definition:</a:t>
            </a:r>
          </a:p>
          <a:p>
            <a:pPr marL="171450" indent="-171450">
              <a:buFont typeface="Arial" panose="020B0604020202020204" pitchFamily="34" charset="0"/>
              <a:buChar char="•"/>
            </a:pPr>
            <a:r>
              <a:rPr lang="en-US" b="1" dirty="0"/>
              <a:t>Auction as a Market Institution</a:t>
            </a:r>
            <a:r>
              <a:rPr lang="en-US" dirty="0"/>
              <a:t>:</a:t>
            </a:r>
          </a:p>
          <a:p>
            <a:pPr marL="742950" lvl="1" indent="-285750">
              <a:buFont typeface="Arial" panose="020B0604020202020204" pitchFamily="34" charset="0"/>
              <a:buChar char="•"/>
            </a:pPr>
            <a:r>
              <a:rPr lang="en-US" dirty="0"/>
              <a:t>Auctions serve as structured environments where goods or services are exchanged through competitive bidding.</a:t>
            </a:r>
          </a:p>
          <a:p>
            <a:pPr marL="742950" lvl="1" indent="-285750">
              <a:buFont typeface="Arial" panose="020B0604020202020204" pitchFamily="34" charset="0"/>
              <a:buChar char="•"/>
            </a:pPr>
            <a:r>
              <a:rPr lang="en-US" dirty="0"/>
              <a:t>Participants communicate their intentions to buy (bids) or sell (asks) through messages containing price information.</a:t>
            </a:r>
          </a:p>
          <a:p>
            <a:pPr marL="171450" indent="-171450">
              <a:buFont typeface="Arial" panose="020B0604020202020204" pitchFamily="34" charset="0"/>
              <a:buChar char="•"/>
            </a:pPr>
            <a:r>
              <a:rPr lang="en-US" b="1" dirty="0"/>
              <a:t>Priority Mechanism</a:t>
            </a:r>
            <a:r>
              <a:rPr lang="en-US" dirty="0"/>
              <a:t>:</a:t>
            </a:r>
          </a:p>
          <a:p>
            <a:pPr marL="742950" lvl="1" indent="-285750">
              <a:buFont typeface="Arial" panose="020B0604020202020204" pitchFamily="34" charset="0"/>
              <a:buChar char="•"/>
            </a:pPr>
            <a:r>
              <a:rPr lang="en-US" dirty="0"/>
              <a:t>In an auction, the mechanism prioritizes higher bids and lower asks. This means:</a:t>
            </a:r>
          </a:p>
          <a:p>
            <a:pPr marL="1143000" lvl="2" indent="-228600">
              <a:buFont typeface="Arial" panose="020B0604020202020204" pitchFamily="34" charset="0"/>
              <a:buChar char="•"/>
            </a:pPr>
            <a:r>
              <a:rPr lang="en-US" b="1" dirty="0"/>
              <a:t>Higher Bids</a:t>
            </a:r>
            <a:r>
              <a:rPr lang="en-US" dirty="0"/>
              <a:t>: Bidders offering a higher price for an item will have precedence in purchasing it.</a:t>
            </a:r>
          </a:p>
          <a:p>
            <a:pPr marL="1143000" lvl="2" indent="-228600">
              <a:buFont typeface="Arial" panose="020B0604020202020204" pitchFamily="34" charset="0"/>
              <a:buChar char="•"/>
            </a:pPr>
            <a:r>
              <a:rPr lang="en-US" b="1" dirty="0"/>
              <a:t>Lower Asks</a:t>
            </a:r>
            <a:r>
              <a:rPr lang="en-US" dirty="0"/>
              <a:t>: Sellers offering lower prices are prioritized in selling their goods.</a:t>
            </a:r>
          </a:p>
          <a:p>
            <a:endParaRPr lang="en-US" b="1" dirty="0"/>
          </a:p>
          <a:p>
            <a:r>
              <a:rPr lang="en-US" b="1" dirty="0"/>
              <a:t>Key Participants:</a:t>
            </a:r>
          </a:p>
          <a:p>
            <a:pPr marL="171450" indent="-171450">
              <a:buFont typeface="Arial" panose="020B0604020202020204" pitchFamily="34" charset="0"/>
              <a:buChar char="•"/>
            </a:pPr>
            <a:r>
              <a:rPr lang="en-US" b="1" dirty="0"/>
              <a:t>Auctioneer</a:t>
            </a:r>
            <a:r>
              <a:rPr lang="en-US" dirty="0"/>
              <a:t>:</a:t>
            </a:r>
          </a:p>
          <a:p>
            <a:pPr marL="742950" lvl="1" indent="-285750">
              <a:buFont typeface="Arial" panose="020B0604020202020204" pitchFamily="34" charset="0"/>
              <a:buChar char="•"/>
            </a:pPr>
            <a:r>
              <a:rPr lang="en-US" dirty="0"/>
              <a:t>The auctioneer is the individual or entity responsible for facilitating the auction. They oversee the bidding process, ensure fair play, and may set rules for the auction.</a:t>
            </a:r>
          </a:p>
          <a:p>
            <a:pPr marL="171450" indent="-171450">
              <a:buFont typeface="Arial" panose="020B0604020202020204" pitchFamily="34" charset="0"/>
              <a:buChar char="•"/>
            </a:pPr>
            <a:r>
              <a:rPr lang="en-US" b="1" dirty="0"/>
              <a:t>Bidders</a:t>
            </a:r>
            <a:r>
              <a:rPr lang="en-US" dirty="0"/>
              <a:t>:</a:t>
            </a:r>
          </a:p>
          <a:p>
            <a:pPr marL="742950" lvl="1" indent="-285750">
              <a:buFont typeface="Arial" panose="020B0604020202020204" pitchFamily="34" charset="0"/>
              <a:buChar char="•"/>
            </a:pPr>
            <a:r>
              <a:rPr lang="en-US" dirty="0"/>
              <a:t>Bidders are participants in the auction who compete against each other to acquire goods or services. Their primary goal is to submit the most competitive bid to win the auctioned item.</a:t>
            </a:r>
          </a:p>
          <a:p>
            <a:r>
              <a:rPr lang="en-US" b="1" dirty="0"/>
              <a:t>Summary:</a:t>
            </a:r>
          </a:p>
          <a:p>
            <a:r>
              <a:rPr lang="en-US" dirty="0"/>
              <a:t>Auctions are critical market institutions that leverage competitive bidding processes to determine the value of goods and services. They rely on effective communication of price information and prioritize bids and asks, creating a dynamic environment for buyers and sellers. The roles of the auctioneer and bidders are essential in ensuring the auction runs smoothly and efficiently.</a:t>
            </a:r>
          </a:p>
          <a:p>
            <a:endParaRPr dirty="0"/>
          </a:p>
        </p:txBody>
      </p:sp>
    </p:spTree>
    <p:extLst>
      <p:ext uri="{BB962C8B-B14F-4D97-AF65-F5344CB8AC3E}">
        <p14:creationId xmlns:p14="http://schemas.microsoft.com/office/powerpoint/2010/main" val="224466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outlines the conflicting goals of the auctioneer and bidders, setting up the strategic interplay that characterizes auctions.</a:t>
            </a:r>
          </a:p>
          <a:p>
            <a:endParaRPr lang="en-US" b="0" i="0" dirty="0">
              <a:solidFill>
                <a:srgbClr val="E8E8E8"/>
              </a:solidFill>
              <a:effectLst/>
              <a:latin typeface="Google Sans Text"/>
            </a:endParaRPr>
          </a:p>
          <a:p>
            <a:pPr marL="228600" indent="-228600">
              <a:buFont typeface="+mj-lt"/>
              <a:buAutoNum type="arabicPeriod"/>
            </a:pPr>
            <a:r>
              <a:rPr lang="en-US" b="1" dirty="0"/>
              <a:t>Auctioneer's Goal</a:t>
            </a:r>
            <a:r>
              <a:rPr lang="en-US" dirty="0"/>
              <a:t>:</a:t>
            </a:r>
          </a:p>
          <a:p>
            <a:pPr marL="628650" lvl="1" indent="-171450">
              <a:buFont typeface="Arial" panose="020B0604020202020204" pitchFamily="34" charset="0"/>
              <a:buChar char="•"/>
            </a:pPr>
            <a:r>
              <a:rPr lang="en-US" dirty="0"/>
              <a:t>The primary objective of the auctioneer is to allocate the good to a successful bidder.</a:t>
            </a:r>
          </a:p>
          <a:p>
            <a:pPr marL="628650" lvl="1" indent="-171450">
              <a:buFont typeface="Arial" panose="020B0604020202020204" pitchFamily="34" charset="0"/>
              <a:buChar char="•"/>
            </a:pPr>
            <a:r>
              <a:rPr lang="en-US" dirty="0"/>
              <a:t>A crucial aspect of this goal is to maximize the selling price during the auction process.</a:t>
            </a:r>
          </a:p>
          <a:p>
            <a:pPr marL="628650" lvl="1" indent="-171450">
              <a:buFont typeface="Arial" panose="020B0604020202020204" pitchFamily="34" charset="0"/>
              <a:buChar char="•"/>
            </a:pPr>
            <a:r>
              <a:rPr lang="en-US" dirty="0"/>
              <a:t>Strategies may include setting a reserve price, promoting competitive bidding, and ensuring a fair bidding environment.</a:t>
            </a:r>
          </a:p>
          <a:p>
            <a:pPr marL="228600" indent="-228600">
              <a:buFont typeface="+mj-lt"/>
              <a:buAutoNum type="arabicPeriod"/>
            </a:pPr>
            <a:r>
              <a:rPr lang="en-US" b="1" dirty="0"/>
              <a:t>Bidders' Goal</a:t>
            </a:r>
            <a:r>
              <a:rPr lang="en-US" dirty="0"/>
              <a:t>:</a:t>
            </a:r>
          </a:p>
          <a:p>
            <a:pPr marL="628650" lvl="1" indent="-171450">
              <a:buFont typeface="Arial" panose="020B0604020202020204" pitchFamily="34" charset="0"/>
              <a:buChar char="•"/>
            </a:pPr>
            <a:r>
              <a:rPr lang="en-US" dirty="0"/>
              <a:t>Bidders aim to acquire the good at the lowest possible price.</a:t>
            </a:r>
          </a:p>
          <a:p>
            <a:pPr marL="628650" lvl="1" indent="-171450">
              <a:buFont typeface="Arial" panose="020B0604020202020204" pitchFamily="34" charset="0"/>
              <a:buChar char="•"/>
            </a:pPr>
            <a:r>
              <a:rPr lang="en-US" dirty="0"/>
              <a:t>This goal drives their bidding strategy, often balancing the value of the item against their budget.</a:t>
            </a:r>
          </a:p>
          <a:p>
            <a:pPr marL="628650" lvl="1" indent="-171450">
              <a:buFont typeface="Arial" panose="020B0604020202020204" pitchFamily="34" charset="0"/>
              <a:buChar char="•"/>
            </a:pPr>
            <a:r>
              <a:rPr lang="en-US" dirty="0"/>
              <a:t>Bidders may employ tactics such as incremental bidding, waiting until the last moment to place a bid (sniping), or dropping out when prices exceed their perceived value.</a:t>
            </a:r>
          </a:p>
          <a:p>
            <a:pPr marL="228600" indent="-228600">
              <a:buFont typeface="+mj-lt"/>
              <a:buAutoNum type="arabicPeriod"/>
            </a:pPr>
            <a:r>
              <a:rPr lang="en-US" b="1" dirty="0"/>
              <a:t>Conflict of Interests</a:t>
            </a:r>
            <a:r>
              <a:rPr lang="en-US" dirty="0"/>
              <a:t>:</a:t>
            </a:r>
          </a:p>
          <a:p>
            <a:pPr marL="628650" lvl="1" indent="-171450">
              <a:buFont typeface="Arial" panose="020B0604020202020204" pitchFamily="34" charset="0"/>
              <a:buChar char="•"/>
            </a:pPr>
            <a:r>
              <a:rPr lang="en-US" dirty="0"/>
              <a:t>The auctioneer's goal to maximize revenue often contrasts with bidders' desire to minimize expenditure.</a:t>
            </a:r>
          </a:p>
          <a:p>
            <a:pPr marL="628650" lvl="1" indent="-171450">
              <a:buFont typeface="Arial" panose="020B0604020202020204" pitchFamily="34" charset="0"/>
              <a:buChar char="•"/>
            </a:pPr>
            <a:r>
              <a:rPr lang="en-US" dirty="0"/>
              <a:t>This dynamic creates an environment of competition and strategy, influencing the overall auction outcome.</a:t>
            </a:r>
          </a:p>
          <a:p>
            <a:pPr marL="228600" indent="-228600">
              <a:buFont typeface="+mj-lt"/>
              <a:buAutoNum type="arabicPeriod"/>
            </a:pPr>
            <a:r>
              <a:rPr lang="en-US" b="1" dirty="0"/>
              <a:t>Impact of Competition</a:t>
            </a:r>
            <a:r>
              <a:rPr lang="en-US" dirty="0"/>
              <a:t>:</a:t>
            </a:r>
          </a:p>
          <a:p>
            <a:pPr marL="628650" lvl="1" indent="-171450">
              <a:buFont typeface="Arial" panose="020B0604020202020204" pitchFamily="34" charset="0"/>
              <a:buChar char="•"/>
            </a:pPr>
            <a:r>
              <a:rPr lang="en-US" dirty="0"/>
              <a:t>Increased competition among bidders can lead to higher final selling prices, aligning with the auctioneer's objectives.</a:t>
            </a:r>
          </a:p>
          <a:p>
            <a:pPr marL="628650" lvl="1" indent="-171450">
              <a:buFont typeface="Arial" panose="020B0604020202020204" pitchFamily="34" charset="0"/>
              <a:buChar char="•"/>
            </a:pPr>
            <a:r>
              <a:rPr lang="en-US" dirty="0"/>
              <a:t>Conversely, if bidders perceive that they cannot win at a fair price, they may refrain from participating, affecting the auctioneer’s success.</a:t>
            </a:r>
          </a:p>
          <a:p>
            <a:endParaRPr dirty="0"/>
          </a:p>
        </p:txBody>
      </p:sp>
    </p:spTree>
    <p:extLst>
      <p:ext uri="{BB962C8B-B14F-4D97-AF65-F5344CB8AC3E}">
        <p14:creationId xmlns:p14="http://schemas.microsoft.com/office/powerpoint/2010/main" val="303546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delves into the different types of value that goods can have in auctions, highlighting how these value types shape bidding strategies and auction outcomes.</a:t>
            </a:r>
          </a:p>
          <a:p>
            <a:endParaRPr lang="en-US" b="0" i="0" dirty="0">
              <a:solidFill>
                <a:srgbClr val="E8E8E8"/>
              </a:solidFill>
              <a:effectLst/>
              <a:latin typeface="Google Sans Text"/>
            </a:endParaRPr>
          </a:p>
          <a:p>
            <a:pPr marL="228600" indent="-228600">
              <a:buFont typeface="+mj-lt"/>
              <a:buAutoNum type="arabicPeriod"/>
            </a:pPr>
            <a:r>
              <a:rPr lang="en-US" b="1" dirty="0"/>
              <a:t>Private Value</a:t>
            </a:r>
            <a:r>
              <a:rPr lang="en-US" dirty="0"/>
              <a:t>:</a:t>
            </a:r>
          </a:p>
          <a:p>
            <a:pPr marL="628650" lvl="1" indent="-171450">
              <a:buFont typeface="Arial" panose="020B0604020202020204" pitchFamily="34" charset="0"/>
              <a:buChar char="•"/>
            </a:pPr>
            <a:r>
              <a:rPr lang="en-US" dirty="0"/>
              <a:t>The value of the good is </a:t>
            </a:r>
            <a:r>
              <a:rPr lang="en-US" b="1" dirty="0"/>
              <a:t>subjective</a:t>
            </a:r>
            <a:r>
              <a:rPr lang="en-US" dirty="0"/>
              <a:t> to each bidder and </a:t>
            </a:r>
            <a:r>
              <a:rPr lang="en-US" b="1" dirty="0"/>
              <a:t>independent</a:t>
            </a:r>
            <a:r>
              <a:rPr lang="en-US" dirty="0"/>
              <a:t> of others' valuations.</a:t>
            </a:r>
          </a:p>
          <a:p>
            <a:pPr marL="628650" lvl="1" indent="-171450">
              <a:buFont typeface="Arial" panose="020B0604020202020204" pitchFamily="34" charset="0"/>
              <a:buChar char="•"/>
            </a:pPr>
            <a:r>
              <a:rPr lang="en-US" dirty="0"/>
              <a:t>Different bidders may assign different values based on </a:t>
            </a:r>
            <a:r>
              <a:rPr lang="en-US" b="1" dirty="0"/>
              <a:t>personal preferences, interests, or needs</a:t>
            </a:r>
            <a:r>
              <a:rPr lang="en-US" dirty="0"/>
              <a:t>.</a:t>
            </a:r>
          </a:p>
          <a:p>
            <a:pPr marL="628650" lvl="1" indent="-171450">
              <a:buFont typeface="Arial" panose="020B0604020202020204" pitchFamily="34" charset="0"/>
              <a:buChar char="•"/>
            </a:pPr>
            <a:r>
              <a:rPr lang="en-US" b="1" dirty="0"/>
              <a:t>Key Point</a:t>
            </a:r>
            <a:r>
              <a:rPr lang="en-US" dirty="0"/>
              <a:t>: The good's value doesn't change based on what others think or bid.</a:t>
            </a:r>
          </a:p>
          <a:p>
            <a:pPr marL="628650" lvl="1" indent="-171450">
              <a:buFont typeface="Arial" panose="020B0604020202020204" pitchFamily="34" charset="0"/>
              <a:buChar char="•"/>
            </a:pPr>
            <a:r>
              <a:rPr lang="en-US" b="1" dirty="0"/>
              <a:t>Example</a:t>
            </a:r>
            <a:r>
              <a:rPr lang="en-US" dirty="0"/>
              <a:t>: A rare collectible item might hold significant emotional value for one person but little or no value for others.</a:t>
            </a:r>
          </a:p>
          <a:p>
            <a:pPr marL="228600" indent="-228600">
              <a:buFont typeface="+mj-lt"/>
              <a:buAutoNum type="arabicPeriod"/>
            </a:pPr>
            <a:r>
              <a:rPr lang="en-US" b="1" dirty="0"/>
              <a:t>Common Value</a:t>
            </a:r>
            <a:r>
              <a:rPr lang="en-US" dirty="0"/>
              <a:t>:</a:t>
            </a:r>
          </a:p>
          <a:p>
            <a:pPr marL="628650" lvl="1" indent="-171450">
              <a:buFont typeface="Arial" panose="020B0604020202020204" pitchFamily="34" charset="0"/>
              <a:buChar char="•"/>
            </a:pPr>
            <a:r>
              <a:rPr lang="en-US" dirty="0"/>
              <a:t>The good holds the </a:t>
            </a:r>
            <a:r>
              <a:rPr lang="en-US" b="1" dirty="0"/>
              <a:t>same fundamental value</a:t>
            </a:r>
            <a:r>
              <a:rPr lang="en-US" dirty="0"/>
              <a:t> for all bidders, but there is </a:t>
            </a:r>
            <a:r>
              <a:rPr lang="en-US" b="1" dirty="0"/>
              <a:t>uncertainty about the exact value</a:t>
            </a:r>
            <a:r>
              <a:rPr lang="en-US" dirty="0"/>
              <a:t>.</a:t>
            </a:r>
          </a:p>
          <a:p>
            <a:pPr marL="628650" lvl="1" indent="-171450">
              <a:buFont typeface="Arial" panose="020B0604020202020204" pitchFamily="34" charset="0"/>
              <a:buChar char="•"/>
            </a:pPr>
            <a:r>
              <a:rPr lang="en-US" dirty="0"/>
              <a:t>Bidders need to estimate the true value, often based on </a:t>
            </a:r>
            <a:r>
              <a:rPr lang="en-US" b="1" dirty="0"/>
              <a:t>incomplete information</a:t>
            </a:r>
            <a:r>
              <a:rPr lang="en-US" dirty="0"/>
              <a:t>.</a:t>
            </a:r>
          </a:p>
          <a:p>
            <a:pPr marL="628650" lvl="1" indent="-171450">
              <a:buFont typeface="Arial" panose="020B0604020202020204" pitchFamily="34" charset="0"/>
              <a:buChar char="•"/>
            </a:pPr>
            <a:r>
              <a:rPr lang="en-US" b="1" dirty="0"/>
              <a:t>Key Point</a:t>
            </a:r>
            <a:r>
              <a:rPr lang="en-US" dirty="0"/>
              <a:t>: Everyone would agree on the value if they knew all relevant details (like oil reserves or market prices).</a:t>
            </a:r>
          </a:p>
          <a:p>
            <a:pPr marL="628650" lvl="1" indent="-171450">
              <a:buFont typeface="Arial" panose="020B0604020202020204" pitchFamily="34" charset="0"/>
              <a:buChar char="•"/>
            </a:pPr>
            <a:r>
              <a:rPr lang="en-US" b="1" dirty="0"/>
              <a:t>Example</a:t>
            </a:r>
            <a:r>
              <a:rPr lang="en-US" dirty="0"/>
              <a:t>: An oil field's value depends on how much oil is underground, but since it’s uncertain, bidders must make estimates.</a:t>
            </a:r>
          </a:p>
          <a:p>
            <a:pPr marL="228600" indent="-228600">
              <a:buFont typeface="+mj-lt"/>
              <a:buAutoNum type="arabicPeriod"/>
            </a:pPr>
            <a:r>
              <a:rPr lang="en-US" b="1" dirty="0"/>
              <a:t>Correlated Value</a:t>
            </a:r>
            <a:r>
              <a:rPr lang="en-US" dirty="0"/>
              <a:t>:</a:t>
            </a:r>
          </a:p>
          <a:p>
            <a:pPr marL="628650" lvl="1" indent="-171450">
              <a:buFont typeface="Arial" panose="020B0604020202020204" pitchFamily="34" charset="0"/>
              <a:buChar char="•"/>
            </a:pPr>
            <a:r>
              <a:rPr lang="en-US" dirty="0"/>
              <a:t>The </a:t>
            </a:r>
            <a:r>
              <a:rPr lang="en-US" b="1" dirty="0"/>
              <a:t>valuations of bidders are interconnected</a:t>
            </a:r>
            <a:r>
              <a:rPr lang="en-US" dirty="0"/>
              <a:t>—a higher bid from one bidder can signal greater underlying value to others.</a:t>
            </a:r>
          </a:p>
          <a:p>
            <a:pPr marL="628650" lvl="1" indent="-171450">
              <a:buFont typeface="Arial" panose="020B0604020202020204" pitchFamily="34" charset="0"/>
              <a:buChar char="•"/>
            </a:pPr>
            <a:r>
              <a:rPr lang="en-US" dirty="0"/>
              <a:t>Bidders revise their assessments based on </a:t>
            </a:r>
            <a:r>
              <a:rPr lang="en-US" b="1" dirty="0"/>
              <a:t>the behavior or interest shown by others</a:t>
            </a:r>
            <a:r>
              <a:rPr lang="en-US" dirty="0"/>
              <a:t>.</a:t>
            </a:r>
          </a:p>
          <a:p>
            <a:pPr marL="628650" lvl="1" indent="-171450">
              <a:buFont typeface="Arial" panose="020B0604020202020204" pitchFamily="34" charset="0"/>
              <a:buChar char="•"/>
            </a:pPr>
            <a:r>
              <a:rPr lang="en-US" b="1" dirty="0"/>
              <a:t>Key Point</a:t>
            </a:r>
            <a:r>
              <a:rPr lang="en-US" dirty="0"/>
              <a:t>: Bidders take cues from competitors' actions, assuming that their bids reflect useful information.</a:t>
            </a:r>
          </a:p>
          <a:p>
            <a:pPr marL="628650" lvl="1" indent="-171450">
              <a:buFont typeface="Arial" panose="020B0604020202020204" pitchFamily="34" charset="0"/>
              <a:buChar char="•"/>
            </a:pPr>
            <a:r>
              <a:rPr lang="en-US" b="1" dirty="0"/>
              <a:t>Example</a:t>
            </a:r>
            <a:r>
              <a:rPr lang="en-US" dirty="0"/>
              <a:t>: If multiple developers show interest in a piece of land, it suggests that the land has good potential for profitable development.</a:t>
            </a:r>
          </a:p>
          <a:p>
            <a:endParaRPr dirty="0"/>
          </a:p>
        </p:txBody>
      </p:sp>
    </p:spTree>
    <p:extLst>
      <p:ext uri="{BB962C8B-B14F-4D97-AF65-F5344CB8AC3E}">
        <p14:creationId xmlns:p14="http://schemas.microsoft.com/office/powerpoint/2010/main" val="3002329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two key dimensions of auction design: winner determination rules and bid visibility. It explains the differences between first-price and second-price auctions and contrasts open cry with sealed-bid formats.</a:t>
            </a:r>
          </a:p>
          <a:p>
            <a:endParaRPr lang="en-US" b="0" i="0" dirty="0">
              <a:solidFill>
                <a:srgbClr val="E8E8E8"/>
              </a:solidFill>
              <a:effectLst/>
              <a:latin typeface="Google Sans Text"/>
            </a:endParaRPr>
          </a:p>
          <a:p>
            <a:pPr marL="228600" indent="-228600">
              <a:buFont typeface="+mj-lt"/>
              <a:buAutoNum type="arabicPeriod"/>
            </a:pPr>
            <a:r>
              <a:rPr lang="en-US" b="1" dirty="0"/>
              <a:t>Winner Determination</a:t>
            </a:r>
            <a:r>
              <a:rPr lang="en-US" dirty="0"/>
              <a:t>:</a:t>
            </a:r>
            <a:br>
              <a:rPr lang="en-US" dirty="0"/>
            </a:br>
            <a:r>
              <a:rPr lang="en-US" dirty="0"/>
              <a:t>Mechanisms used to select the winner and determine how much they pay.</a:t>
            </a:r>
          </a:p>
          <a:p>
            <a:pPr marL="628650" lvl="1" indent="-171450">
              <a:buFont typeface="Arial" panose="020B0604020202020204" pitchFamily="34" charset="0"/>
              <a:buChar char="•"/>
            </a:pPr>
            <a:r>
              <a:rPr lang="en-US" b="1" dirty="0"/>
              <a:t>First-price auction</a:t>
            </a:r>
            <a:r>
              <a:rPr lang="en-US" dirty="0"/>
              <a:t>:</a:t>
            </a:r>
          </a:p>
          <a:p>
            <a:pPr marL="1200150" lvl="2" indent="-285750">
              <a:buFont typeface="Arial" panose="020B0604020202020204" pitchFamily="34" charset="0"/>
              <a:buChar char="•"/>
            </a:pPr>
            <a:r>
              <a:rPr lang="en-US" dirty="0"/>
              <a:t>The </a:t>
            </a:r>
            <a:r>
              <a:rPr lang="en-US" b="1" dirty="0"/>
              <a:t>highest bidder wins</a:t>
            </a:r>
            <a:r>
              <a:rPr lang="en-US" dirty="0"/>
              <a:t> and pays the </a:t>
            </a:r>
            <a:r>
              <a:rPr lang="en-US" b="1" dirty="0"/>
              <a:t>exact amount of their bid</a:t>
            </a:r>
            <a:r>
              <a:rPr lang="en-US" dirty="0"/>
              <a:t>.</a:t>
            </a:r>
          </a:p>
          <a:p>
            <a:pPr marL="1200150" lvl="2" indent="-285750">
              <a:buFont typeface="Arial" panose="020B0604020202020204" pitchFamily="34" charset="0"/>
              <a:buChar char="•"/>
            </a:pPr>
            <a:r>
              <a:rPr lang="en-US" dirty="0"/>
              <a:t>Strategy: Bidders may underbid slightly to avoid overpaying.</a:t>
            </a:r>
          </a:p>
          <a:p>
            <a:pPr marL="628650" lvl="1" indent="-171450">
              <a:buFont typeface="Arial" panose="020B0604020202020204" pitchFamily="34" charset="0"/>
              <a:buChar char="•"/>
            </a:pPr>
            <a:r>
              <a:rPr lang="en-US" b="1" dirty="0"/>
              <a:t>Second-price auction</a:t>
            </a:r>
            <a:r>
              <a:rPr lang="en-US" dirty="0"/>
              <a:t>:</a:t>
            </a:r>
          </a:p>
          <a:p>
            <a:pPr marL="1200150" lvl="2" indent="-285750">
              <a:buFont typeface="Arial" panose="020B0604020202020204" pitchFamily="34" charset="0"/>
              <a:buChar char="•"/>
            </a:pPr>
            <a:r>
              <a:rPr lang="en-US" dirty="0"/>
              <a:t>The </a:t>
            </a:r>
            <a:r>
              <a:rPr lang="en-US" b="1" dirty="0"/>
              <a:t>highest bidder wins</a:t>
            </a:r>
            <a:r>
              <a:rPr lang="en-US" dirty="0"/>
              <a:t> but only pays the </a:t>
            </a:r>
            <a:r>
              <a:rPr lang="en-US" b="1" dirty="0"/>
              <a:t>second-highest bid amount</a:t>
            </a:r>
            <a:r>
              <a:rPr lang="en-US" dirty="0"/>
              <a:t>.</a:t>
            </a:r>
          </a:p>
          <a:p>
            <a:pPr marL="1200150" lvl="2" indent="-285750">
              <a:buFont typeface="Arial" panose="020B0604020202020204" pitchFamily="34" charset="0"/>
              <a:buChar char="•"/>
            </a:pPr>
            <a:r>
              <a:rPr lang="en-US" dirty="0"/>
              <a:t>Strategy: Encourages bidders to submit their </a:t>
            </a:r>
            <a:r>
              <a:rPr lang="en-US" b="1" dirty="0"/>
              <a:t>true value</a:t>
            </a:r>
            <a:r>
              <a:rPr lang="en-US" dirty="0"/>
              <a:t>, knowing they won’t pay their full bid.</a:t>
            </a:r>
          </a:p>
          <a:p>
            <a:pPr marL="228600" indent="-228600">
              <a:buFont typeface="+mj-lt"/>
              <a:buAutoNum type="arabicPeriod"/>
            </a:pPr>
            <a:r>
              <a:rPr lang="en-US" b="1" dirty="0"/>
              <a:t>Bidding Visibility</a:t>
            </a:r>
            <a:r>
              <a:rPr lang="en-US" dirty="0"/>
              <a:t>:</a:t>
            </a:r>
            <a:br>
              <a:rPr lang="en-US" dirty="0"/>
            </a:br>
            <a:r>
              <a:rPr lang="en-US" dirty="0"/>
              <a:t>Defines whether bids are </a:t>
            </a:r>
            <a:r>
              <a:rPr lang="en-US" b="1" dirty="0"/>
              <a:t>publicly visible</a:t>
            </a:r>
            <a:r>
              <a:rPr lang="en-US" dirty="0"/>
              <a:t> or </a:t>
            </a:r>
            <a:r>
              <a:rPr lang="en-US" b="1" dirty="0"/>
              <a:t>kept confidential</a:t>
            </a:r>
            <a:r>
              <a:rPr lang="en-US" dirty="0"/>
              <a:t> during the auction.</a:t>
            </a:r>
          </a:p>
          <a:p>
            <a:pPr marL="628650" lvl="1" indent="-171450">
              <a:buFont typeface="Arial" panose="020B0604020202020204" pitchFamily="34" charset="0"/>
              <a:buChar char="•"/>
            </a:pPr>
            <a:r>
              <a:rPr lang="en-US" b="1" dirty="0"/>
              <a:t>Open cry auction</a:t>
            </a:r>
            <a:r>
              <a:rPr lang="en-US" dirty="0"/>
              <a:t>:</a:t>
            </a:r>
          </a:p>
          <a:p>
            <a:pPr marL="1200150" lvl="2" indent="-285750">
              <a:buFont typeface="Arial" panose="020B0604020202020204" pitchFamily="34" charset="0"/>
              <a:buChar char="•"/>
            </a:pPr>
            <a:r>
              <a:rPr lang="en-US" dirty="0"/>
              <a:t>All bids are </a:t>
            </a:r>
            <a:r>
              <a:rPr lang="en-US" b="1" dirty="0"/>
              <a:t>publicly visible</a:t>
            </a:r>
            <a:r>
              <a:rPr lang="en-US" dirty="0"/>
              <a:t> to everyone during the auction.</a:t>
            </a:r>
          </a:p>
          <a:p>
            <a:pPr marL="1200150" lvl="2" indent="-285750">
              <a:buFont typeface="Arial" panose="020B0604020202020204" pitchFamily="34" charset="0"/>
              <a:buChar char="•"/>
            </a:pPr>
            <a:r>
              <a:rPr lang="en-US" dirty="0"/>
              <a:t>Example: Traditional auction houses, where participants openly announce their bids.</a:t>
            </a:r>
          </a:p>
          <a:p>
            <a:pPr marL="1200150" lvl="2" indent="-285750">
              <a:buFont typeface="Arial" panose="020B0604020202020204" pitchFamily="34" charset="0"/>
              <a:buChar char="•"/>
            </a:pPr>
            <a:r>
              <a:rPr lang="en-US" b="1" dirty="0"/>
              <a:t>Effect</a:t>
            </a:r>
            <a:r>
              <a:rPr lang="en-US" dirty="0"/>
              <a:t>: Bidders adjust their strategies based on others' bids.</a:t>
            </a:r>
          </a:p>
          <a:p>
            <a:pPr marL="628650" lvl="1" indent="-171450">
              <a:buFont typeface="Arial" panose="020B0604020202020204" pitchFamily="34" charset="0"/>
              <a:buChar char="•"/>
            </a:pPr>
            <a:r>
              <a:rPr lang="en-US" b="1" dirty="0"/>
              <a:t>Sealed-bid auction</a:t>
            </a:r>
            <a:r>
              <a:rPr lang="en-US" dirty="0"/>
              <a:t>:</a:t>
            </a:r>
          </a:p>
          <a:p>
            <a:pPr marL="1200150" lvl="2" indent="-285750">
              <a:buFont typeface="Arial" panose="020B0604020202020204" pitchFamily="34" charset="0"/>
              <a:buChar char="•"/>
            </a:pPr>
            <a:r>
              <a:rPr lang="en-US" dirty="0"/>
              <a:t>Bidders submit their offers </a:t>
            </a:r>
            <a:r>
              <a:rPr lang="en-US" b="1" dirty="0"/>
              <a:t>secretly</a:t>
            </a:r>
            <a:r>
              <a:rPr lang="en-US" dirty="0"/>
              <a:t>, known only to the auctioneer.</a:t>
            </a:r>
          </a:p>
          <a:p>
            <a:pPr marL="1200150" lvl="2" indent="-285750">
              <a:buFont typeface="Arial" panose="020B0604020202020204" pitchFamily="34" charset="0"/>
              <a:buChar char="•"/>
            </a:pPr>
            <a:r>
              <a:rPr lang="en-US" dirty="0"/>
              <a:t>Example: Procurement processes or online sealed-bid auctions.</a:t>
            </a:r>
          </a:p>
          <a:p>
            <a:pPr marL="1200150" lvl="2" indent="-285750">
              <a:buFont typeface="Arial" panose="020B0604020202020204" pitchFamily="34" charset="0"/>
              <a:buChar char="•"/>
            </a:pPr>
            <a:r>
              <a:rPr lang="en-US" b="1" dirty="0"/>
              <a:t>Effect</a:t>
            </a:r>
            <a:r>
              <a:rPr lang="en-US" dirty="0"/>
              <a:t>: Encourages independent bidding without external influence.</a:t>
            </a:r>
          </a:p>
          <a:p>
            <a:endParaRPr dirty="0"/>
          </a:p>
        </p:txBody>
      </p:sp>
    </p:spTree>
    <p:extLst>
      <p:ext uri="{BB962C8B-B14F-4D97-AF65-F5344CB8AC3E}">
        <p14:creationId xmlns:p14="http://schemas.microsoft.com/office/powerpoint/2010/main" val="490810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examines the temporal aspect of auctions, distinguishing between one-shot auctions and those with multiple bidding rounds. It also highlights the importance of a clear terminating condition.</a:t>
            </a:r>
          </a:p>
          <a:p>
            <a:endParaRPr lang="en-US" b="0" i="0" dirty="0">
              <a:solidFill>
                <a:srgbClr val="E8E8E8"/>
              </a:solidFill>
              <a:effectLst/>
              <a:latin typeface="Google Sans Text"/>
            </a:endParaRPr>
          </a:p>
          <a:p>
            <a:pPr marL="228600" indent="-228600">
              <a:buFont typeface="+mj-lt"/>
              <a:buAutoNum type="arabicPeriod"/>
            </a:pPr>
            <a:r>
              <a:rPr lang="en-US" b="1" dirty="0"/>
              <a:t>One-Shot Auctions</a:t>
            </a:r>
            <a:r>
              <a:rPr lang="en-US" dirty="0"/>
              <a:t>:</a:t>
            </a:r>
          </a:p>
          <a:p>
            <a:pPr marL="628650" lvl="1" indent="-171450">
              <a:buFont typeface="Arial" panose="020B0604020202020204" pitchFamily="34" charset="0"/>
              <a:buChar char="•"/>
            </a:pPr>
            <a:r>
              <a:rPr lang="en-US" b="1" dirty="0"/>
              <a:t>Single bidding round</a:t>
            </a:r>
            <a:r>
              <a:rPr lang="en-US" dirty="0"/>
              <a:t> determines the winner.</a:t>
            </a:r>
          </a:p>
          <a:p>
            <a:pPr marL="628650" lvl="1" indent="-171450">
              <a:buFont typeface="Arial" panose="020B0604020202020204" pitchFamily="34" charset="0"/>
              <a:buChar char="•"/>
            </a:pPr>
            <a:r>
              <a:rPr lang="en-US" dirty="0"/>
              <a:t>Bidders submit </a:t>
            </a:r>
            <a:r>
              <a:rPr lang="en-US" b="1" dirty="0"/>
              <a:t>one bid</a:t>
            </a:r>
            <a:r>
              <a:rPr lang="en-US" dirty="0"/>
              <a:t> with no chance to revise it.</a:t>
            </a:r>
          </a:p>
          <a:p>
            <a:pPr marL="628650" lvl="1" indent="-171450">
              <a:buFont typeface="Arial" panose="020B0604020202020204" pitchFamily="34" charset="0"/>
              <a:buChar char="•"/>
            </a:pPr>
            <a:r>
              <a:rPr lang="en-US" dirty="0"/>
              <a:t>Example: </a:t>
            </a:r>
            <a:r>
              <a:rPr lang="en-US" b="1" dirty="0"/>
              <a:t>Sealed-bid auction</a:t>
            </a:r>
            <a:r>
              <a:rPr lang="en-US" dirty="0"/>
              <a:t>.</a:t>
            </a:r>
          </a:p>
          <a:p>
            <a:pPr marL="628650" lvl="1" indent="-171450">
              <a:buFont typeface="Arial" panose="020B0604020202020204" pitchFamily="34" charset="0"/>
              <a:buChar char="•"/>
            </a:pPr>
            <a:r>
              <a:rPr lang="en-US" b="1" dirty="0"/>
              <a:t>Strategy</a:t>
            </a:r>
            <a:r>
              <a:rPr lang="en-US" dirty="0"/>
              <a:t>: Bidders must carefully estimate the value and competition upfront, as no further bids are allowed.</a:t>
            </a:r>
          </a:p>
          <a:p>
            <a:pPr marL="228600" indent="-228600">
              <a:buFont typeface="+mj-lt"/>
              <a:buAutoNum type="arabicPeriod"/>
            </a:pPr>
            <a:r>
              <a:rPr lang="en-US" b="1" dirty="0"/>
              <a:t>Iterated Auctions</a:t>
            </a:r>
            <a:r>
              <a:rPr lang="en-US" dirty="0"/>
              <a:t>:</a:t>
            </a:r>
          </a:p>
          <a:p>
            <a:pPr marL="628650" lvl="1" indent="-171450">
              <a:buFont typeface="Arial" panose="020B0604020202020204" pitchFamily="34" charset="0"/>
              <a:buChar char="•"/>
            </a:pPr>
            <a:r>
              <a:rPr lang="en-US" b="1" dirty="0"/>
              <a:t>Multiple rounds</a:t>
            </a:r>
            <a:r>
              <a:rPr lang="en-US" dirty="0"/>
              <a:t> of bidding occur, allowing participants to adjust their offers over time.</a:t>
            </a:r>
          </a:p>
          <a:p>
            <a:pPr marL="628650" lvl="1" indent="-171450">
              <a:buFont typeface="Arial" panose="020B0604020202020204" pitchFamily="34" charset="0"/>
              <a:buChar char="•"/>
            </a:pPr>
            <a:r>
              <a:rPr lang="en-US" dirty="0"/>
              <a:t>Can follow </a:t>
            </a:r>
            <a:r>
              <a:rPr lang="en-US" b="1" dirty="0"/>
              <a:t>two main patterns</a:t>
            </a:r>
            <a:r>
              <a:rPr lang="en-US" dirty="0"/>
              <a:t>:</a:t>
            </a:r>
          </a:p>
          <a:p>
            <a:pPr marL="1200150" lvl="2" indent="-285750">
              <a:buFont typeface="Arial" panose="020B0604020202020204" pitchFamily="34" charset="0"/>
              <a:buChar char="•"/>
            </a:pPr>
            <a:r>
              <a:rPr lang="en-US" b="1" dirty="0"/>
              <a:t>Ascending auction</a:t>
            </a:r>
            <a:r>
              <a:rPr lang="en-US" dirty="0"/>
              <a:t> (English auction):</a:t>
            </a:r>
          </a:p>
          <a:p>
            <a:pPr marL="1600200" lvl="3" indent="-228600">
              <a:buFont typeface="Arial" panose="020B0604020202020204" pitchFamily="34" charset="0"/>
              <a:buChar char="•"/>
            </a:pPr>
            <a:r>
              <a:rPr lang="en-US" dirty="0"/>
              <a:t>Bids </a:t>
            </a:r>
            <a:r>
              <a:rPr lang="en-US" b="1" dirty="0"/>
              <a:t>increase</a:t>
            </a:r>
            <a:r>
              <a:rPr lang="en-US" dirty="0"/>
              <a:t> in each round until no higher bids are made.</a:t>
            </a:r>
          </a:p>
          <a:p>
            <a:pPr marL="1600200" lvl="3" indent="-228600">
              <a:buFont typeface="Arial" panose="020B0604020202020204" pitchFamily="34" charset="0"/>
              <a:buChar char="•"/>
            </a:pPr>
            <a:r>
              <a:rPr lang="en-US" dirty="0"/>
              <a:t>Example: eBay’s bidding system.</a:t>
            </a:r>
          </a:p>
          <a:p>
            <a:pPr marL="1200150" lvl="2" indent="-285750">
              <a:buFont typeface="Arial" panose="020B0604020202020204" pitchFamily="34" charset="0"/>
              <a:buChar char="•"/>
            </a:pPr>
            <a:r>
              <a:rPr lang="en-US" b="1" dirty="0"/>
              <a:t>Descending auction</a:t>
            </a:r>
            <a:r>
              <a:rPr lang="en-US" dirty="0"/>
              <a:t> (Dutch auction):</a:t>
            </a:r>
          </a:p>
          <a:p>
            <a:pPr marL="1600200" lvl="3" indent="-228600">
              <a:buFont typeface="Arial" panose="020B0604020202020204" pitchFamily="34" charset="0"/>
              <a:buChar char="•"/>
            </a:pPr>
            <a:r>
              <a:rPr lang="en-US" dirty="0"/>
              <a:t>The auctioneer starts with a </a:t>
            </a:r>
            <a:r>
              <a:rPr lang="en-US" b="1" dirty="0"/>
              <a:t>high price</a:t>
            </a:r>
            <a:r>
              <a:rPr lang="en-US" dirty="0"/>
              <a:t> and </a:t>
            </a:r>
            <a:r>
              <a:rPr lang="en-US" b="1" dirty="0"/>
              <a:t>reduces it</a:t>
            </a:r>
            <a:r>
              <a:rPr lang="en-US" dirty="0"/>
              <a:t> until someone accepts.</a:t>
            </a:r>
          </a:p>
          <a:p>
            <a:pPr marL="1600200" lvl="3" indent="-228600">
              <a:buFont typeface="Arial" panose="020B0604020202020204" pitchFamily="34" charset="0"/>
              <a:buChar char="•"/>
            </a:pPr>
            <a:r>
              <a:rPr lang="en-US" dirty="0"/>
              <a:t>Example: Flower auctions in the Netherlands.</a:t>
            </a:r>
          </a:p>
          <a:p>
            <a:pPr marL="228600" indent="-228600">
              <a:buFont typeface="+mj-lt"/>
              <a:buAutoNum type="arabicPeriod"/>
            </a:pPr>
            <a:r>
              <a:rPr lang="en-US" b="1" dirty="0"/>
              <a:t>Terminating Condition</a:t>
            </a:r>
            <a:r>
              <a:rPr lang="en-US" dirty="0"/>
              <a:t>:</a:t>
            </a:r>
          </a:p>
          <a:p>
            <a:pPr marL="628650" lvl="1" indent="-171450">
              <a:buFont typeface="Arial" panose="020B0604020202020204" pitchFamily="34" charset="0"/>
              <a:buChar char="•"/>
            </a:pPr>
            <a:r>
              <a:rPr lang="en-US" dirty="0"/>
              <a:t>Defines when the auction </a:t>
            </a:r>
            <a:r>
              <a:rPr lang="en-US" b="1" dirty="0"/>
              <a:t>ends</a:t>
            </a:r>
            <a:r>
              <a:rPr lang="en-US" dirty="0"/>
              <a:t>, such as:</a:t>
            </a:r>
          </a:p>
          <a:p>
            <a:pPr marL="1200150" lvl="2" indent="-285750">
              <a:buFont typeface="Arial" panose="020B0604020202020204" pitchFamily="34" charset="0"/>
              <a:buChar char="•"/>
            </a:pPr>
            <a:r>
              <a:rPr lang="en-US" b="1" dirty="0"/>
              <a:t>Fixed time limit</a:t>
            </a:r>
            <a:r>
              <a:rPr lang="en-US" dirty="0"/>
              <a:t>: The auction closes at a predetermined time.</a:t>
            </a:r>
          </a:p>
          <a:p>
            <a:pPr marL="1200150" lvl="2" indent="-285750">
              <a:buFont typeface="Arial" panose="020B0604020202020204" pitchFamily="34" charset="0"/>
              <a:buChar char="•"/>
            </a:pPr>
            <a:r>
              <a:rPr lang="en-US" b="1" dirty="0"/>
              <a:t>Inactivity rule</a:t>
            </a:r>
            <a:r>
              <a:rPr lang="en-US" dirty="0"/>
              <a:t>: Ends if no new bids are placed within a specific period.</a:t>
            </a:r>
          </a:p>
          <a:p>
            <a:pPr marL="628650" lvl="1" indent="-171450">
              <a:buFont typeface="Arial" panose="020B0604020202020204" pitchFamily="34" charset="0"/>
              <a:buChar char="•"/>
            </a:pPr>
            <a:r>
              <a:rPr lang="en-US" dirty="0"/>
              <a:t>Ensures a clear and fair conclusion to the auction process.</a:t>
            </a:r>
          </a:p>
          <a:p>
            <a:endParaRPr dirty="0"/>
          </a:p>
        </p:txBody>
      </p:sp>
    </p:spTree>
    <p:extLst>
      <p:ext uri="{BB962C8B-B14F-4D97-AF65-F5344CB8AC3E}">
        <p14:creationId xmlns:p14="http://schemas.microsoft.com/office/powerpoint/2010/main" val="1859430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detailed description of English auctions, explaining their popularity and the typical steps involved. It mentions the option of a reserve price and different ways auctions can conclude.</a:t>
            </a:r>
          </a:p>
          <a:p>
            <a:endParaRPr lang="en-US" b="0" i="0" dirty="0">
              <a:solidFill>
                <a:srgbClr val="E8E8E8"/>
              </a:solidFill>
              <a:effectLst/>
              <a:latin typeface="Google Sans Text"/>
            </a:endParaRPr>
          </a:p>
          <a:p>
            <a:pPr marL="228600" indent="-228600">
              <a:buFont typeface="+mj-lt"/>
              <a:buAutoNum type="arabicPeriod"/>
            </a:pPr>
            <a:r>
              <a:rPr lang="en-US" b="1" dirty="0"/>
              <a:t>Popularity</a:t>
            </a:r>
            <a:r>
              <a:rPr lang="en-US" dirty="0"/>
              <a:t>:</a:t>
            </a:r>
          </a:p>
          <a:p>
            <a:pPr marL="628650" lvl="1" indent="-171450">
              <a:buFont typeface="Arial" panose="020B0604020202020204" pitchFamily="34" charset="0"/>
              <a:buChar char="•"/>
            </a:pPr>
            <a:r>
              <a:rPr lang="en-US" dirty="0"/>
              <a:t>English auctions are the </a:t>
            </a:r>
            <a:r>
              <a:rPr lang="en-US" b="1" dirty="0"/>
              <a:t>most common auction type</a:t>
            </a:r>
            <a:r>
              <a:rPr lang="en-US" dirty="0"/>
              <a:t>, used in both traditional and online settings.</a:t>
            </a:r>
          </a:p>
          <a:p>
            <a:pPr marL="628650" lvl="1" indent="-171450">
              <a:buFont typeface="Arial" panose="020B0604020202020204" pitchFamily="34" charset="0"/>
              <a:buChar char="•"/>
            </a:pPr>
            <a:r>
              <a:rPr lang="en-US" dirty="0"/>
              <a:t>Commonly seen in </a:t>
            </a:r>
            <a:r>
              <a:rPr lang="en-US" b="1" dirty="0"/>
              <a:t>art auctions</a:t>
            </a:r>
            <a:r>
              <a:rPr lang="en-US" dirty="0"/>
              <a:t>, </a:t>
            </a:r>
            <a:r>
              <a:rPr lang="en-US" b="1" dirty="0"/>
              <a:t>estate sales</a:t>
            </a:r>
            <a:r>
              <a:rPr lang="en-US" dirty="0"/>
              <a:t>, and </a:t>
            </a:r>
            <a:r>
              <a:rPr lang="en-US" b="1" dirty="0"/>
              <a:t>online platforms</a:t>
            </a:r>
            <a:r>
              <a:rPr lang="en-US" dirty="0"/>
              <a:t> like eBay.</a:t>
            </a:r>
          </a:p>
          <a:p>
            <a:pPr marL="228600" indent="-228600">
              <a:buFont typeface="+mj-lt"/>
              <a:buAutoNum type="arabicPeriod"/>
            </a:pPr>
            <a:r>
              <a:rPr lang="en-US" b="1" dirty="0"/>
              <a:t>Procedure</a:t>
            </a:r>
            <a:r>
              <a:rPr lang="en-US" dirty="0"/>
              <a:t>:</a:t>
            </a:r>
          </a:p>
          <a:p>
            <a:pPr marL="628650" lvl="1" indent="-171450">
              <a:buFont typeface="Arial" panose="020B0604020202020204" pitchFamily="34" charset="0"/>
              <a:buChar char="•"/>
            </a:pPr>
            <a:r>
              <a:rPr lang="en-US" b="1" dirty="0"/>
              <a:t>Open cry format</a:t>
            </a:r>
            <a:r>
              <a:rPr lang="en-US" dirty="0"/>
              <a:t>:</a:t>
            </a:r>
          </a:p>
          <a:p>
            <a:pPr marL="1200150" lvl="2" indent="-285750">
              <a:buFont typeface="Arial" panose="020B0604020202020204" pitchFamily="34" charset="0"/>
              <a:buChar char="•"/>
            </a:pPr>
            <a:r>
              <a:rPr lang="en-US" dirty="0"/>
              <a:t>Bidders </a:t>
            </a:r>
            <a:r>
              <a:rPr lang="en-US" b="1" dirty="0"/>
              <a:t>announce higher offers</a:t>
            </a:r>
            <a:r>
              <a:rPr lang="en-US" dirty="0"/>
              <a:t> verbally or signal through gestures.</a:t>
            </a:r>
          </a:p>
          <a:p>
            <a:pPr marL="1200150" lvl="2" indent="-285750">
              <a:buFont typeface="Arial" panose="020B0604020202020204" pitchFamily="34" charset="0"/>
              <a:buChar char="•"/>
            </a:pPr>
            <a:r>
              <a:rPr lang="en-US" dirty="0"/>
              <a:t>Alternatively, the auctioneer </a:t>
            </a:r>
            <a:r>
              <a:rPr lang="en-US" b="1" dirty="0"/>
              <a:t>calls out prices</a:t>
            </a:r>
            <a:r>
              <a:rPr lang="en-US" dirty="0"/>
              <a:t>, and bidders indicate agreement.</a:t>
            </a:r>
          </a:p>
          <a:p>
            <a:pPr marL="628650" lvl="1" indent="-171450">
              <a:buFont typeface="Arial" panose="020B0604020202020204" pitchFamily="34" charset="0"/>
              <a:buChar char="•"/>
            </a:pPr>
            <a:r>
              <a:rPr lang="en-US" b="1" dirty="0"/>
              <a:t>Ascending bids</a:t>
            </a:r>
            <a:r>
              <a:rPr lang="en-US" dirty="0"/>
              <a:t>: The price increases progressively until no higher bids are placed.</a:t>
            </a:r>
          </a:p>
          <a:p>
            <a:pPr marL="228600" indent="-228600">
              <a:buFont typeface="+mj-lt"/>
              <a:buAutoNum type="arabicPeriod"/>
            </a:pPr>
            <a:r>
              <a:rPr lang="en-US" b="1" dirty="0"/>
              <a:t>Reserve Price</a:t>
            </a:r>
            <a:r>
              <a:rPr lang="en-US" dirty="0"/>
              <a:t>:</a:t>
            </a:r>
          </a:p>
          <a:p>
            <a:pPr marL="628650" lvl="1" indent="-171450">
              <a:buFont typeface="Arial" panose="020B0604020202020204" pitchFamily="34" charset="0"/>
              <a:buChar char="•"/>
            </a:pPr>
            <a:r>
              <a:rPr lang="en-US" dirty="0"/>
              <a:t>Sellers can set a </a:t>
            </a:r>
            <a:r>
              <a:rPr lang="en-US" b="1" dirty="0"/>
              <a:t>minimum acceptable price</a:t>
            </a:r>
            <a:r>
              <a:rPr lang="en-US" dirty="0"/>
              <a:t> (reserve), ensuring the item isn’t sold below a specific value.</a:t>
            </a:r>
          </a:p>
          <a:p>
            <a:pPr marL="628650" lvl="1" indent="-171450">
              <a:buFont typeface="Arial" panose="020B0604020202020204" pitchFamily="34" charset="0"/>
              <a:buChar char="•"/>
            </a:pPr>
            <a:r>
              <a:rPr lang="en-US" dirty="0"/>
              <a:t>If the reserve is not met, the auction may be </a:t>
            </a:r>
            <a:r>
              <a:rPr lang="en-US" b="1" dirty="0"/>
              <a:t>withdrawn</a:t>
            </a:r>
            <a:r>
              <a:rPr lang="en-US" dirty="0"/>
              <a:t>.</a:t>
            </a:r>
          </a:p>
          <a:p>
            <a:pPr marL="228600" indent="-228600">
              <a:buFont typeface="+mj-lt"/>
              <a:buAutoNum type="arabicPeriod"/>
            </a:pPr>
            <a:r>
              <a:rPr lang="en-US" b="1" dirty="0"/>
              <a:t>Auction End</a:t>
            </a:r>
            <a:r>
              <a:rPr lang="en-US" dirty="0"/>
              <a:t>:</a:t>
            </a:r>
          </a:p>
          <a:p>
            <a:pPr marL="628650" lvl="1" indent="-171450">
              <a:buFont typeface="Arial" panose="020B0604020202020204" pitchFamily="34" charset="0"/>
              <a:buChar char="•"/>
            </a:pPr>
            <a:r>
              <a:rPr lang="en-US" dirty="0"/>
              <a:t>Determined by:</a:t>
            </a:r>
          </a:p>
          <a:p>
            <a:pPr marL="1200150" lvl="2" indent="-285750">
              <a:buFont typeface="Arial" panose="020B0604020202020204" pitchFamily="34" charset="0"/>
              <a:buChar char="•"/>
            </a:pPr>
            <a:r>
              <a:rPr lang="en-US" b="1" dirty="0"/>
              <a:t>Fixed time limit</a:t>
            </a:r>
            <a:r>
              <a:rPr lang="en-US" dirty="0"/>
              <a:t>: Common in </a:t>
            </a:r>
            <a:r>
              <a:rPr lang="en-US" b="1" dirty="0"/>
              <a:t>online auctions</a:t>
            </a:r>
            <a:r>
              <a:rPr lang="en-US" dirty="0"/>
              <a:t>, ensuring an auction concludes at a specific time.</a:t>
            </a:r>
          </a:p>
          <a:p>
            <a:pPr marL="1200150" lvl="2" indent="-285750">
              <a:buFont typeface="Arial" panose="020B0604020202020204" pitchFamily="34" charset="0"/>
              <a:buChar char="•"/>
            </a:pPr>
            <a:r>
              <a:rPr lang="en-US" b="1" dirty="0"/>
              <a:t>No further bidding</a:t>
            </a:r>
            <a:r>
              <a:rPr lang="en-US" dirty="0"/>
              <a:t>: Ends when no new bids are placed.</a:t>
            </a:r>
          </a:p>
          <a:p>
            <a:pPr marL="228600" indent="-228600">
              <a:buFont typeface="+mj-lt"/>
              <a:buAutoNum type="arabicPeriod"/>
            </a:pPr>
            <a:r>
              <a:rPr lang="en-US" b="1" dirty="0"/>
              <a:t>Payment</a:t>
            </a:r>
            <a:r>
              <a:rPr lang="en-US" dirty="0"/>
              <a:t>:</a:t>
            </a:r>
          </a:p>
          <a:p>
            <a:pPr marL="628650" lvl="1" indent="-171450">
              <a:buFont typeface="Arial" panose="020B0604020202020204" pitchFamily="34" charset="0"/>
              <a:buChar char="•"/>
            </a:pPr>
            <a:r>
              <a:rPr lang="en-US" dirty="0"/>
              <a:t>The </a:t>
            </a:r>
            <a:r>
              <a:rPr lang="en-US" b="1" dirty="0"/>
              <a:t>highest bidder</a:t>
            </a:r>
            <a:r>
              <a:rPr lang="en-US" dirty="0"/>
              <a:t> at the end (the "last man standing") wins the item.</a:t>
            </a:r>
          </a:p>
          <a:p>
            <a:pPr marL="628650" lvl="1" indent="-171450">
              <a:buFont typeface="Arial" panose="020B0604020202020204" pitchFamily="34" charset="0"/>
              <a:buChar char="•"/>
            </a:pPr>
            <a:r>
              <a:rPr lang="en-US" dirty="0"/>
              <a:t>They pay the </a:t>
            </a:r>
            <a:r>
              <a:rPr lang="en-US" b="1" dirty="0"/>
              <a:t>final bid amount</a:t>
            </a:r>
            <a:r>
              <a:rPr lang="en-US" dirty="0"/>
              <a:t> they offered.</a:t>
            </a:r>
          </a:p>
          <a:p>
            <a:endParaRPr dirty="0"/>
          </a:p>
        </p:txBody>
      </p:sp>
    </p:spTree>
    <p:extLst>
      <p:ext uri="{BB962C8B-B14F-4D97-AF65-F5344CB8AC3E}">
        <p14:creationId xmlns:p14="http://schemas.microsoft.com/office/powerpoint/2010/main" val="2293893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outlines a sensible bidding strategy for English auctions, advising bidders to participate strategically while staying within their budget.</a:t>
            </a:r>
          </a:p>
          <a:p>
            <a:endParaRPr lang="en-US" b="0" i="0" dirty="0">
              <a:solidFill>
                <a:srgbClr val="E8E8E8"/>
              </a:solidFill>
              <a:effectLst/>
              <a:latin typeface="Google Sans Text"/>
            </a:endParaRPr>
          </a:p>
          <a:p>
            <a:pPr>
              <a:buFont typeface="+mj-lt"/>
              <a:buAutoNum type="arabicPeriod"/>
            </a:pPr>
            <a:r>
              <a:rPr lang="en-US" b="1" dirty="0"/>
              <a:t>Recommended Strategy</a:t>
            </a:r>
            <a:r>
              <a:rPr lang="en-US" dirty="0"/>
              <a:t>:</a:t>
            </a:r>
          </a:p>
          <a:p>
            <a:pPr marL="742950" lvl="1" indent="-285750">
              <a:buFont typeface="Arial" panose="020B0604020202020204" pitchFamily="34" charset="0"/>
              <a:buChar char="•"/>
            </a:pPr>
            <a:r>
              <a:rPr lang="en-US" b="1" dirty="0"/>
              <a:t>Incremental Bidding</a:t>
            </a:r>
            <a:r>
              <a:rPr lang="en-US" dirty="0"/>
              <a:t>:</a:t>
            </a:r>
          </a:p>
          <a:p>
            <a:pPr marL="1143000" lvl="2" indent="-228600">
              <a:buFont typeface="Arial" panose="020B0604020202020204" pitchFamily="34" charset="0"/>
              <a:buChar char="•"/>
            </a:pPr>
            <a:r>
              <a:rPr lang="en-US" dirty="0"/>
              <a:t>Gradually increase your bid by </a:t>
            </a:r>
            <a:r>
              <a:rPr lang="en-US" b="1" dirty="0"/>
              <a:t>small amounts</a:t>
            </a:r>
            <a:r>
              <a:rPr lang="en-US" dirty="0"/>
              <a:t> to remain competitive without overpaying.</a:t>
            </a:r>
          </a:p>
          <a:p>
            <a:pPr marL="1143000" lvl="2" indent="-228600">
              <a:buFont typeface="Arial" panose="020B0604020202020204" pitchFamily="34" charset="0"/>
              <a:buChar char="•"/>
            </a:pPr>
            <a:r>
              <a:rPr lang="en-US" dirty="0"/>
              <a:t>Monitor the </a:t>
            </a:r>
            <a:r>
              <a:rPr lang="en-US" b="1" dirty="0"/>
              <a:t>current highest bid</a:t>
            </a:r>
            <a:r>
              <a:rPr lang="en-US" dirty="0"/>
              <a:t> closely and only outbid by a narrow margin to stay in the running.</a:t>
            </a:r>
          </a:p>
          <a:p>
            <a:pPr>
              <a:buFont typeface="+mj-lt"/>
              <a:buAutoNum type="arabicPeriod"/>
            </a:pPr>
            <a:r>
              <a:rPr lang="en-US" b="1" dirty="0"/>
              <a:t>Private Valuation</a:t>
            </a:r>
            <a:r>
              <a:rPr lang="en-US" dirty="0"/>
              <a:t>:</a:t>
            </a:r>
          </a:p>
          <a:p>
            <a:pPr marL="742950" lvl="1" indent="-285750">
              <a:buFont typeface="Arial" panose="020B0604020202020204" pitchFamily="34" charset="0"/>
              <a:buChar char="•"/>
            </a:pPr>
            <a:r>
              <a:rPr lang="en-US" dirty="0"/>
              <a:t>Set a </a:t>
            </a:r>
            <a:r>
              <a:rPr lang="en-US" b="1" dirty="0"/>
              <a:t>maximum value</a:t>
            </a:r>
            <a:r>
              <a:rPr lang="en-US" dirty="0"/>
              <a:t> (private valuation) you are willing to pay based on the item’s worth to you.</a:t>
            </a:r>
          </a:p>
          <a:p>
            <a:pPr marL="742950" lvl="1" indent="-285750">
              <a:buFont typeface="Arial" panose="020B0604020202020204" pitchFamily="34" charset="0"/>
              <a:buChar char="•"/>
            </a:pPr>
            <a:r>
              <a:rPr lang="en-US" dirty="0"/>
              <a:t>Stick to this value to avoid </a:t>
            </a:r>
            <a:r>
              <a:rPr lang="en-US" b="1" dirty="0"/>
              <a:t>overpaying</a:t>
            </a:r>
            <a:r>
              <a:rPr lang="en-US" dirty="0"/>
              <a:t> or falling into the </a:t>
            </a:r>
            <a:r>
              <a:rPr lang="en-US" b="1" dirty="0"/>
              <a:t>winner’s curse</a:t>
            </a:r>
            <a:r>
              <a:rPr lang="en-US" dirty="0"/>
              <a:t>.</a:t>
            </a:r>
          </a:p>
          <a:p>
            <a:pPr>
              <a:buFont typeface="+mj-lt"/>
              <a:buAutoNum type="arabicPeriod"/>
            </a:pPr>
            <a:r>
              <a:rPr lang="en-US" b="1" dirty="0"/>
              <a:t>When to Withdraw</a:t>
            </a:r>
            <a:r>
              <a:rPr lang="en-US" dirty="0"/>
              <a:t>:</a:t>
            </a:r>
          </a:p>
          <a:p>
            <a:pPr marL="742950" lvl="1" indent="-285750">
              <a:buFont typeface="Arial" panose="020B0604020202020204" pitchFamily="34" charset="0"/>
              <a:buChar char="•"/>
            </a:pPr>
            <a:r>
              <a:rPr lang="en-US" b="1" dirty="0"/>
              <a:t>Exit the auction</a:t>
            </a:r>
            <a:r>
              <a:rPr lang="en-US" dirty="0"/>
              <a:t> once the price </a:t>
            </a:r>
            <a:r>
              <a:rPr lang="en-US" b="1" dirty="0"/>
              <a:t>exceeds your valuation</a:t>
            </a:r>
            <a:r>
              <a:rPr lang="en-US" dirty="0"/>
              <a:t>—continuing beyond this point would result in paying more than the item's perceived value.</a:t>
            </a:r>
          </a:p>
          <a:p>
            <a:pPr marL="742950" lvl="1" indent="-285750">
              <a:buFont typeface="Arial" panose="020B0604020202020204" pitchFamily="34" charset="0"/>
              <a:buChar char="•"/>
            </a:pPr>
            <a:r>
              <a:rPr lang="en-US" dirty="0"/>
              <a:t>Avoid emotional bidding wars by </a:t>
            </a:r>
            <a:r>
              <a:rPr lang="en-US" b="1" dirty="0"/>
              <a:t>staying disciplined</a:t>
            </a:r>
            <a:r>
              <a:rPr lang="en-US" dirty="0"/>
              <a:t> with your budget.</a:t>
            </a:r>
          </a:p>
          <a:p>
            <a:endParaRPr dirty="0"/>
          </a:p>
        </p:txBody>
      </p:sp>
    </p:spTree>
    <p:extLst>
      <p:ext uri="{BB962C8B-B14F-4D97-AF65-F5344CB8AC3E}">
        <p14:creationId xmlns:p14="http://schemas.microsoft.com/office/powerpoint/2010/main" val="2333640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categorizes English auctions based on the previously discussed auction characteristics. It also highlights the prevalence of English auctions on the internet and common applications. Finally, it points out the inherent risks associated with this auction format.</a:t>
            </a:r>
          </a:p>
          <a:p>
            <a:endParaRPr lang="en-US" b="0" i="0" dirty="0">
              <a:solidFill>
                <a:srgbClr val="E8E8E8"/>
              </a:solidFill>
              <a:effectLst/>
              <a:latin typeface="Google Sans Text"/>
            </a:endParaRPr>
          </a:p>
          <a:p>
            <a:r>
              <a:rPr lang="en-US" b="1" dirty="0"/>
              <a:t>Classification Details</a:t>
            </a:r>
            <a:r>
              <a:rPr lang="en-US" dirty="0"/>
              <a:t>:</a:t>
            </a:r>
          </a:p>
          <a:p>
            <a:pPr marL="171450" indent="-171450">
              <a:buFont typeface="Arial" panose="020B0604020202020204" pitchFamily="34" charset="0"/>
              <a:buChar char="•"/>
            </a:pPr>
            <a:r>
              <a:rPr lang="en-US" b="1" dirty="0"/>
              <a:t>First-price auction</a:t>
            </a:r>
            <a:r>
              <a:rPr lang="en-US" dirty="0"/>
              <a:t>:</a:t>
            </a:r>
          </a:p>
          <a:p>
            <a:pPr marL="742950" lvl="1" indent="-285750">
              <a:buFont typeface="Arial" panose="020B0604020202020204" pitchFamily="34" charset="0"/>
              <a:buChar char="•"/>
            </a:pPr>
            <a:r>
              <a:rPr lang="en-US" dirty="0"/>
              <a:t>The winning bidder </a:t>
            </a:r>
            <a:r>
              <a:rPr lang="en-US" b="1" dirty="0"/>
              <a:t>pays the exact amount they bid</a:t>
            </a:r>
            <a:r>
              <a:rPr lang="en-US" dirty="0"/>
              <a:t> rather than a lower or adjusted amount.</a:t>
            </a:r>
          </a:p>
          <a:p>
            <a:pPr marL="742950" lvl="1" indent="-285750">
              <a:buFont typeface="Arial" panose="020B0604020202020204" pitchFamily="34" charset="0"/>
              <a:buChar char="•"/>
            </a:pPr>
            <a:r>
              <a:rPr lang="en-US" dirty="0"/>
              <a:t>This type can lead to aggressive bidding strategies, especially when participants try to outbid rivals by small margins.</a:t>
            </a:r>
          </a:p>
          <a:p>
            <a:pPr marL="171450" indent="-171450">
              <a:buFont typeface="Arial" panose="020B0604020202020204" pitchFamily="34" charset="0"/>
              <a:buChar char="•"/>
            </a:pPr>
            <a:r>
              <a:rPr lang="en-US" b="1" dirty="0"/>
              <a:t>Open cry format</a:t>
            </a:r>
            <a:r>
              <a:rPr lang="en-US" dirty="0"/>
              <a:t>:</a:t>
            </a:r>
          </a:p>
          <a:p>
            <a:pPr marL="742950" lvl="1" indent="-285750">
              <a:buFont typeface="Arial" panose="020B0604020202020204" pitchFamily="34" charset="0"/>
              <a:buChar char="•"/>
            </a:pPr>
            <a:r>
              <a:rPr lang="en-US" dirty="0"/>
              <a:t>All bidders are aware of </a:t>
            </a:r>
            <a:r>
              <a:rPr lang="en-US" b="1" dirty="0"/>
              <a:t>competing bids in real-time</a:t>
            </a:r>
            <a:r>
              <a:rPr lang="en-US" dirty="0"/>
              <a:t>, promoting transparency but also intensifying competitive pressure.</a:t>
            </a:r>
          </a:p>
          <a:p>
            <a:pPr marL="742950" lvl="1" indent="-285750">
              <a:buFont typeface="Arial" panose="020B0604020202020204" pitchFamily="34" charset="0"/>
              <a:buChar char="•"/>
            </a:pPr>
            <a:r>
              <a:rPr lang="en-US" dirty="0"/>
              <a:t>This format encourages bidders to act strategically, balancing enthusiasm with caution to avoid overpaying.</a:t>
            </a:r>
          </a:p>
          <a:p>
            <a:pPr marL="171450" indent="-171450">
              <a:buFont typeface="Arial" panose="020B0604020202020204" pitchFamily="34" charset="0"/>
              <a:buChar char="•"/>
            </a:pPr>
            <a:r>
              <a:rPr lang="en-US" b="1" dirty="0"/>
              <a:t>Ascending auction</a:t>
            </a:r>
            <a:r>
              <a:rPr lang="en-US" dirty="0"/>
              <a:t>:</a:t>
            </a:r>
          </a:p>
          <a:p>
            <a:pPr marL="742950" lvl="1" indent="-285750">
              <a:buFont typeface="Arial" panose="020B0604020202020204" pitchFamily="34" charset="0"/>
              <a:buChar char="•"/>
            </a:pPr>
            <a:r>
              <a:rPr lang="en-US" dirty="0"/>
              <a:t>As the auction progresses, the </a:t>
            </a:r>
            <a:r>
              <a:rPr lang="en-US" b="1" dirty="0"/>
              <a:t>price gradually increases</a:t>
            </a:r>
            <a:r>
              <a:rPr lang="en-US" dirty="0"/>
              <a:t>, typically starting from a reserve or minimum price set by the seller.</a:t>
            </a:r>
          </a:p>
          <a:p>
            <a:pPr marL="742950" lvl="1" indent="-285750">
              <a:buFont typeface="Arial" panose="020B0604020202020204" pitchFamily="34" charset="0"/>
              <a:buChar char="•"/>
            </a:pPr>
            <a:r>
              <a:rPr lang="en-US" dirty="0"/>
              <a:t>This format works best when sellers aim to attract high bids over time and allow buyers to adjust their valuations dynamically.</a:t>
            </a:r>
          </a:p>
          <a:p>
            <a:pPr marL="742950" lvl="1" indent="-285750">
              <a:buFont typeface="Arial" panose="020B0604020202020204" pitchFamily="34" charset="0"/>
              <a:buChar char="•"/>
            </a:pPr>
            <a:endParaRPr lang="en-US" dirty="0"/>
          </a:p>
          <a:p>
            <a:r>
              <a:rPr lang="en-US" b="1" dirty="0"/>
              <a:t>Prevalence and Common Uses</a:t>
            </a:r>
            <a:r>
              <a:rPr lang="en-US" dirty="0"/>
              <a:t>:</a:t>
            </a:r>
          </a:p>
          <a:p>
            <a:pPr marL="171450" indent="-171450">
              <a:buFont typeface="Arial" panose="020B0604020202020204" pitchFamily="34" charset="0"/>
              <a:buChar char="•"/>
            </a:pPr>
            <a:r>
              <a:rPr lang="en-US" dirty="0"/>
              <a:t>Around </a:t>
            </a:r>
            <a:r>
              <a:rPr lang="en-US" b="1" dirty="0"/>
              <a:t>95% of online auctions</a:t>
            </a:r>
            <a:r>
              <a:rPr lang="en-US" dirty="0"/>
              <a:t> follow this model due to its familiarity and effectiveness in competitive bidding.</a:t>
            </a:r>
          </a:p>
          <a:p>
            <a:pPr marL="171450" indent="-171450">
              <a:buFont typeface="Arial" panose="020B0604020202020204" pitchFamily="34" charset="0"/>
              <a:buChar char="•"/>
            </a:pPr>
            <a:r>
              <a:rPr lang="en-US" b="1" dirty="0"/>
              <a:t>Examples</a:t>
            </a:r>
            <a:r>
              <a:rPr lang="en-US" dirty="0"/>
              <a:t>:</a:t>
            </a:r>
          </a:p>
          <a:p>
            <a:pPr marL="742950" lvl="1" indent="-285750">
              <a:buFont typeface="Arial" panose="020B0604020202020204" pitchFamily="34" charset="0"/>
              <a:buChar char="•"/>
            </a:pPr>
            <a:r>
              <a:rPr lang="en-US" dirty="0"/>
              <a:t>Antiques, artwork, rare books, vintage cars, and other collectibles where individual valuations vary widely.</a:t>
            </a:r>
          </a:p>
          <a:p>
            <a:pPr marL="171450" indent="-171450">
              <a:buFont typeface="Arial" panose="020B0604020202020204" pitchFamily="34" charset="0"/>
              <a:buChar char="•"/>
            </a:pPr>
            <a:r>
              <a:rPr lang="en-US" dirty="0"/>
              <a:t>The open nature of the auction encourages </a:t>
            </a:r>
            <a:r>
              <a:rPr lang="en-US" b="1" dirty="0"/>
              <a:t>lively participation</a:t>
            </a:r>
            <a:r>
              <a:rPr lang="en-US" dirty="0"/>
              <a:t>, which increases the likelihood of achieving fair market value for items.</a:t>
            </a:r>
          </a:p>
          <a:p>
            <a:pPr marL="171450" indent="-171450">
              <a:buFont typeface="Arial" panose="020B0604020202020204" pitchFamily="34" charset="0"/>
              <a:buChar char="•"/>
            </a:pPr>
            <a:endParaRPr lang="en-US" dirty="0"/>
          </a:p>
          <a:p>
            <a:r>
              <a:rPr lang="en-US" b="1" dirty="0"/>
              <a:t>Vulnerabilities and Risks</a:t>
            </a:r>
            <a:r>
              <a:rPr lang="en-US" dirty="0"/>
              <a:t>:</a:t>
            </a:r>
          </a:p>
          <a:p>
            <a:pPr marL="171450" indent="-171450">
              <a:buFont typeface="Arial" panose="020B0604020202020204" pitchFamily="34" charset="0"/>
              <a:buChar char="•"/>
            </a:pPr>
            <a:r>
              <a:rPr lang="en-US" b="1" dirty="0"/>
              <a:t>Winner’s curse</a:t>
            </a:r>
            <a:r>
              <a:rPr lang="en-US" dirty="0"/>
              <a:t>:</a:t>
            </a:r>
          </a:p>
          <a:p>
            <a:pPr marL="742950" lvl="1" indent="-285750">
              <a:buFont typeface="Arial" panose="020B0604020202020204" pitchFamily="34" charset="0"/>
              <a:buChar char="•"/>
            </a:pPr>
            <a:r>
              <a:rPr lang="en-US" dirty="0"/>
              <a:t>This phenomenon occurs when the </a:t>
            </a:r>
            <a:r>
              <a:rPr lang="en-US" b="1" dirty="0"/>
              <a:t>winner overestimates the value</a:t>
            </a:r>
            <a:r>
              <a:rPr lang="en-US" dirty="0"/>
              <a:t> of the item and ends up paying more than its true worth.</a:t>
            </a:r>
          </a:p>
          <a:p>
            <a:pPr marL="742950" lvl="1" indent="-285750">
              <a:buFont typeface="Arial" panose="020B0604020202020204" pitchFamily="34" charset="0"/>
              <a:buChar char="•"/>
            </a:pPr>
            <a:r>
              <a:rPr lang="en-US" dirty="0"/>
              <a:t>It is particularly common in auctions where the good's value is uncertain (e.g., art, collectibles) or when competitive bidding becomes emotionally charged.</a:t>
            </a:r>
          </a:p>
          <a:p>
            <a:pPr marL="742950" lvl="1" indent="-285750">
              <a:buFont typeface="Arial" panose="020B0604020202020204" pitchFamily="34" charset="0"/>
              <a:buChar char="•"/>
            </a:pPr>
            <a:r>
              <a:rPr lang="en-US" b="1" dirty="0"/>
              <a:t>Solution</a:t>
            </a:r>
            <a:r>
              <a:rPr lang="en-US" dirty="0"/>
              <a:t>: Bidders should set a </a:t>
            </a:r>
            <a:r>
              <a:rPr lang="en-US" b="1" dirty="0"/>
              <a:t>maximum bid limit</a:t>
            </a:r>
            <a:r>
              <a:rPr lang="en-US" dirty="0"/>
              <a:t> based on their private valuation and stick to it to avoid regret.</a:t>
            </a:r>
          </a:p>
          <a:p>
            <a:pPr marL="171450" indent="-171450">
              <a:buFont typeface="Arial" panose="020B0604020202020204" pitchFamily="34" charset="0"/>
              <a:buChar char="•"/>
            </a:pPr>
            <a:r>
              <a:rPr lang="en-US" b="1" dirty="0"/>
              <a:t>Shill bidding</a:t>
            </a:r>
            <a:r>
              <a:rPr lang="en-US" dirty="0"/>
              <a:t>:</a:t>
            </a:r>
          </a:p>
          <a:p>
            <a:pPr marL="742950" lvl="1" indent="-285750">
              <a:buFont typeface="Arial" panose="020B0604020202020204" pitchFamily="34" charset="0"/>
              <a:buChar char="•"/>
            </a:pPr>
            <a:r>
              <a:rPr lang="en-US" dirty="0"/>
              <a:t>Some sellers or accomplices place </a:t>
            </a:r>
            <a:r>
              <a:rPr lang="en-US" b="1" dirty="0"/>
              <a:t>fake bids</a:t>
            </a:r>
            <a:r>
              <a:rPr lang="en-US" dirty="0"/>
              <a:t> to drive up the price artificially.</a:t>
            </a:r>
          </a:p>
          <a:p>
            <a:pPr marL="742950" lvl="1" indent="-285750">
              <a:buFont typeface="Arial" panose="020B0604020202020204" pitchFamily="34" charset="0"/>
              <a:buChar char="•"/>
            </a:pPr>
            <a:r>
              <a:rPr lang="en-US" dirty="0"/>
              <a:t>This practice creates the illusion of higher demand, </a:t>
            </a:r>
            <a:r>
              <a:rPr lang="en-US" b="1" dirty="0"/>
              <a:t>coercing genuine bidders</a:t>
            </a:r>
            <a:r>
              <a:rPr lang="en-US" dirty="0"/>
              <a:t> into raising their bids.</a:t>
            </a:r>
          </a:p>
          <a:p>
            <a:pPr marL="742950" lvl="1" indent="-285750">
              <a:buFont typeface="Arial" panose="020B0604020202020204" pitchFamily="34" charset="0"/>
              <a:buChar char="•"/>
            </a:pPr>
            <a:r>
              <a:rPr lang="en-US" b="1" dirty="0"/>
              <a:t>Countermeasures</a:t>
            </a:r>
            <a:r>
              <a:rPr lang="en-US" dirty="0"/>
              <a:t>: Online platforms like eBay monitor auctions for suspicious activity and have </a:t>
            </a:r>
            <a:r>
              <a:rPr lang="en-US" b="1" dirty="0"/>
              <a:t>policies</a:t>
            </a:r>
            <a:r>
              <a:rPr lang="en-US" dirty="0"/>
              <a:t> against shill bidding, but bidders should remain cautious of unusual bidding patterns.</a:t>
            </a:r>
          </a:p>
          <a:p>
            <a:endParaRPr dirty="0"/>
          </a:p>
        </p:txBody>
      </p:sp>
    </p:spTree>
    <p:extLst>
      <p:ext uri="{BB962C8B-B14F-4D97-AF65-F5344CB8AC3E}">
        <p14:creationId xmlns:p14="http://schemas.microsoft.com/office/powerpoint/2010/main" val="144193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Dutch auctions, describing their alternative name and the step-by-step process involved. It emphasizes the descending price mechanism and how the winner is determined.</a:t>
            </a:r>
          </a:p>
          <a:p>
            <a:endParaRPr lang="en-US" b="0" i="0" dirty="0">
              <a:solidFill>
                <a:srgbClr val="E8E8E8"/>
              </a:solidFill>
              <a:effectLst/>
              <a:latin typeface="Google Sans Text"/>
            </a:endParaRPr>
          </a:p>
          <a:p>
            <a:r>
              <a:rPr lang="en-US" b="1" dirty="0"/>
              <a:t>Overview and Alternative Name</a:t>
            </a:r>
            <a:r>
              <a:rPr lang="en-US" dirty="0"/>
              <a:t>:</a:t>
            </a:r>
          </a:p>
          <a:p>
            <a:pPr marL="171450" indent="-171450">
              <a:buFont typeface="Arial" panose="020B0604020202020204" pitchFamily="34" charset="0"/>
              <a:buChar char="•"/>
            </a:pPr>
            <a:r>
              <a:rPr lang="en-US" dirty="0"/>
              <a:t>Also known as a </a:t>
            </a:r>
            <a:r>
              <a:rPr lang="en-US" b="1" dirty="0"/>
              <a:t>Descending Clock Auction</a:t>
            </a:r>
            <a:r>
              <a:rPr lang="en-US" dirty="0"/>
              <a:t>, this auction style operates </a:t>
            </a:r>
            <a:r>
              <a:rPr lang="en-US" b="1" dirty="0"/>
              <a:t>in reverse</a:t>
            </a:r>
            <a:r>
              <a:rPr lang="en-US" dirty="0"/>
              <a:t> compared to traditional ascending auctions (like English auctions).</a:t>
            </a:r>
          </a:p>
          <a:p>
            <a:pPr marL="171450" indent="-171450">
              <a:buFont typeface="Arial" panose="020B0604020202020204" pitchFamily="34" charset="0"/>
              <a:buChar char="•"/>
            </a:pPr>
            <a:r>
              <a:rPr lang="en-US" dirty="0"/>
              <a:t>It is particularly suited for situations where </a:t>
            </a:r>
            <a:r>
              <a:rPr lang="en-US" b="1" dirty="0"/>
              <a:t>speed is essential</a:t>
            </a:r>
            <a:r>
              <a:rPr lang="en-US" dirty="0"/>
              <a:t>, such as selling perishable goods or quickly clearing inventory.</a:t>
            </a:r>
          </a:p>
          <a:p>
            <a:pPr marL="171450" indent="-171450">
              <a:buFont typeface="Arial" panose="020B0604020202020204" pitchFamily="34" charset="0"/>
              <a:buChar char="•"/>
            </a:pPr>
            <a:endParaRPr lang="en-US" dirty="0"/>
          </a:p>
          <a:p>
            <a:r>
              <a:rPr lang="en-US" b="1" dirty="0"/>
              <a:t>Procedure</a:t>
            </a:r>
            <a:r>
              <a:rPr lang="en-US" dirty="0"/>
              <a:t>:</a:t>
            </a:r>
          </a:p>
          <a:p>
            <a:pPr marL="171450" indent="-171450">
              <a:buFont typeface="Arial" panose="020B0604020202020204" pitchFamily="34" charset="0"/>
              <a:buChar char="•"/>
            </a:pPr>
            <a:r>
              <a:rPr lang="en-US" dirty="0"/>
              <a:t>The auction </a:t>
            </a:r>
            <a:r>
              <a:rPr lang="en-US" b="1" dirty="0"/>
              <a:t>begins with a high price</a:t>
            </a:r>
            <a:r>
              <a:rPr lang="en-US" dirty="0"/>
              <a:t> that gradually decreases over time.</a:t>
            </a:r>
          </a:p>
          <a:p>
            <a:pPr marL="171450" indent="-171450">
              <a:buFont typeface="Arial" panose="020B0604020202020204" pitchFamily="34" charset="0"/>
              <a:buChar char="•"/>
            </a:pPr>
            <a:r>
              <a:rPr lang="en-US" dirty="0"/>
              <a:t>Prices decrease in pre-set increments announced by the auctioneer (or displayed on a clock).</a:t>
            </a:r>
          </a:p>
          <a:p>
            <a:pPr marL="171450" indent="-171450">
              <a:buFont typeface="Arial" panose="020B0604020202020204" pitchFamily="34" charset="0"/>
              <a:buChar char="•"/>
            </a:pPr>
            <a:r>
              <a:rPr lang="en-US" b="1" dirty="0"/>
              <a:t>The first bidder</a:t>
            </a:r>
            <a:r>
              <a:rPr lang="en-US" dirty="0"/>
              <a:t> to signal their acceptance </a:t>
            </a:r>
            <a:r>
              <a:rPr lang="en-US" b="1" dirty="0"/>
              <a:t>claims the item at the current price</a:t>
            </a:r>
            <a:r>
              <a:rPr lang="en-US" dirty="0"/>
              <a:t>.</a:t>
            </a:r>
          </a:p>
          <a:p>
            <a:pPr marL="742950" lvl="1" indent="-285750">
              <a:buFont typeface="Arial" panose="020B0604020202020204" pitchFamily="34" charset="0"/>
              <a:buChar char="•"/>
            </a:pPr>
            <a:r>
              <a:rPr lang="en-US" dirty="0"/>
              <a:t>This creates a sense of urgency since bidders risk missing out if they wait for the price to drop further.</a:t>
            </a:r>
          </a:p>
          <a:p>
            <a:pPr marL="171450" indent="-171450">
              <a:buFont typeface="Arial" panose="020B0604020202020204" pitchFamily="34" charset="0"/>
              <a:buChar char="•"/>
            </a:pPr>
            <a:r>
              <a:rPr lang="en-US" b="1" dirty="0"/>
              <a:t>Handling Ties</a:t>
            </a:r>
            <a:r>
              <a:rPr lang="en-US" dirty="0"/>
              <a:t>:</a:t>
            </a:r>
          </a:p>
          <a:p>
            <a:pPr marL="742950" lvl="1" indent="-285750">
              <a:buFont typeface="Arial" panose="020B0604020202020204" pitchFamily="34" charset="0"/>
              <a:buChar char="•"/>
            </a:pPr>
            <a:r>
              <a:rPr lang="en-US" dirty="0"/>
              <a:t>If multiple bidders signal simultaneously, the auction may </a:t>
            </a:r>
            <a:r>
              <a:rPr lang="en-US" b="1" dirty="0"/>
              <a:t>restart</a:t>
            </a:r>
            <a:r>
              <a:rPr lang="en-US" dirty="0"/>
              <a:t> from a slightly higher price to resolve the tie, ensuring fairness.</a:t>
            </a:r>
          </a:p>
          <a:p>
            <a:pPr marL="742950" lvl="1" indent="-285750">
              <a:buFont typeface="Arial" panose="020B0604020202020204" pitchFamily="34" charset="0"/>
              <a:buChar char="•"/>
            </a:pPr>
            <a:endParaRPr lang="en-US" dirty="0"/>
          </a:p>
          <a:p>
            <a:r>
              <a:rPr lang="en-US" b="1" dirty="0"/>
              <a:t>Payment Mechanism</a:t>
            </a:r>
            <a:r>
              <a:rPr lang="en-US" dirty="0"/>
              <a:t>:</a:t>
            </a:r>
          </a:p>
          <a:p>
            <a:pPr marL="171450" indent="-171450">
              <a:buFont typeface="Arial" panose="020B0604020202020204" pitchFamily="34" charset="0"/>
              <a:buChar char="•"/>
            </a:pPr>
            <a:r>
              <a:rPr lang="en-US" dirty="0"/>
              <a:t>The winning bidder </a:t>
            </a:r>
            <a:r>
              <a:rPr lang="en-US" b="1" dirty="0"/>
              <a:t>pays the price at which they "stop the clock"</a:t>
            </a:r>
            <a:r>
              <a:rPr lang="en-US" dirty="0"/>
              <a:t>, ensuring transparency and immediate resolution.</a:t>
            </a:r>
          </a:p>
          <a:p>
            <a:pPr marL="171450" indent="-171450">
              <a:buFont typeface="Arial" panose="020B0604020202020204" pitchFamily="34" charset="0"/>
              <a:buChar char="•"/>
            </a:pPr>
            <a:endParaRPr lang="en-US" dirty="0"/>
          </a:p>
          <a:p>
            <a:r>
              <a:rPr lang="en-US" b="1" dirty="0"/>
              <a:t>Typical Use Cases</a:t>
            </a:r>
            <a:r>
              <a:rPr lang="en-US" dirty="0"/>
              <a:t>:</a:t>
            </a:r>
          </a:p>
          <a:p>
            <a:pPr marL="171450" indent="-171450">
              <a:buFont typeface="Arial" panose="020B0604020202020204" pitchFamily="34" charset="0"/>
              <a:buChar char="•"/>
            </a:pPr>
            <a:r>
              <a:rPr lang="en-US" dirty="0"/>
              <a:t>Dutch auctions are widely used in:</a:t>
            </a:r>
          </a:p>
          <a:p>
            <a:pPr marL="742950" lvl="1" indent="-285750">
              <a:buFont typeface="Arial" panose="020B0604020202020204" pitchFamily="34" charset="0"/>
              <a:buChar char="•"/>
            </a:pPr>
            <a:r>
              <a:rPr lang="en-US" b="1" dirty="0"/>
              <a:t>Flower markets</a:t>
            </a:r>
            <a:r>
              <a:rPr lang="en-US" dirty="0"/>
              <a:t> (e.g., the famous flower auctions in the Netherlands).</a:t>
            </a:r>
          </a:p>
          <a:p>
            <a:pPr marL="742950" lvl="1" indent="-285750">
              <a:buFont typeface="Arial" panose="020B0604020202020204" pitchFamily="34" charset="0"/>
              <a:buChar char="•"/>
            </a:pPr>
            <a:r>
              <a:rPr lang="en-US" b="1" dirty="0"/>
              <a:t>Perishable goods</a:t>
            </a:r>
            <a:r>
              <a:rPr lang="en-US" dirty="0"/>
              <a:t> where rapid transactions are critical to avoid losses.</a:t>
            </a:r>
          </a:p>
          <a:p>
            <a:pPr marL="742950" lvl="1" indent="-285750">
              <a:buFont typeface="Arial" panose="020B0604020202020204" pitchFamily="34" charset="0"/>
              <a:buChar char="•"/>
            </a:pPr>
            <a:r>
              <a:rPr lang="en-US" b="1" dirty="0"/>
              <a:t>Government debt auctions</a:t>
            </a:r>
            <a:r>
              <a:rPr lang="en-US" dirty="0"/>
              <a:t> and </a:t>
            </a:r>
            <a:r>
              <a:rPr lang="en-US" b="1" dirty="0"/>
              <a:t>fisheries</a:t>
            </a:r>
            <a:r>
              <a:rPr lang="en-US" dirty="0"/>
              <a:t> where quick sales ensure optimal allocation.</a:t>
            </a:r>
          </a:p>
          <a:p>
            <a:pPr marL="742950" lvl="1" indent="-285750">
              <a:buFont typeface="Arial" panose="020B0604020202020204" pitchFamily="34" charset="0"/>
              <a:buChar char="•"/>
            </a:pPr>
            <a:endParaRPr lang="en-US" dirty="0"/>
          </a:p>
          <a:p>
            <a:r>
              <a:rPr lang="en-US" b="1" dirty="0"/>
              <a:t>Advantages</a:t>
            </a:r>
            <a:r>
              <a:rPr lang="en-US" dirty="0"/>
              <a:t>:</a:t>
            </a:r>
          </a:p>
          <a:p>
            <a:pPr marL="171450" indent="-171450">
              <a:buFont typeface="Arial" panose="020B0604020202020204" pitchFamily="34" charset="0"/>
              <a:buChar char="•"/>
            </a:pPr>
            <a:r>
              <a:rPr lang="en-US" b="1" dirty="0"/>
              <a:t>Speed</a:t>
            </a:r>
            <a:r>
              <a:rPr lang="en-US" dirty="0"/>
              <a:t>: This auction type </a:t>
            </a:r>
            <a:r>
              <a:rPr lang="en-US" b="1" dirty="0"/>
              <a:t>reduces waiting time</a:t>
            </a:r>
            <a:r>
              <a:rPr lang="en-US" dirty="0"/>
              <a:t> since it only takes one round to conclude.</a:t>
            </a:r>
          </a:p>
          <a:p>
            <a:pPr marL="171450" indent="-171450">
              <a:buFont typeface="Arial" panose="020B0604020202020204" pitchFamily="34" charset="0"/>
              <a:buChar char="•"/>
            </a:pPr>
            <a:r>
              <a:rPr lang="en-US" b="1" dirty="0"/>
              <a:t>Encourages Immediate Decisions</a:t>
            </a:r>
            <a:r>
              <a:rPr lang="en-US" dirty="0"/>
              <a:t>: Bidders must act quickly to secure the item, creating a high-stakes environment.</a:t>
            </a:r>
          </a:p>
          <a:p>
            <a:pPr marL="171450" indent="-171450">
              <a:buFont typeface="Arial" panose="020B0604020202020204" pitchFamily="34" charset="0"/>
              <a:buChar char="•"/>
            </a:pPr>
            <a:r>
              <a:rPr lang="en-US" b="1" dirty="0"/>
              <a:t>Challenges and Risks</a:t>
            </a:r>
            <a:r>
              <a:rPr lang="en-US" dirty="0"/>
              <a:t>:</a:t>
            </a:r>
          </a:p>
          <a:p>
            <a:pPr marL="171450" indent="-171450">
              <a:buFont typeface="Arial" panose="020B0604020202020204" pitchFamily="34" charset="0"/>
              <a:buChar char="•"/>
            </a:pPr>
            <a:r>
              <a:rPr lang="en-US" b="1" dirty="0"/>
              <a:t>Strategic Waiting vs. Risk</a:t>
            </a:r>
            <a:r>
              <a:rPr lang="en-US" dirty="0"/>
              <a:t>: Bidders may wait for the price to drop further, but risk losing the item to another bidder.</a:t>
            </a:r>
          </a:p>
          <a:p>
            <a:pPr marL="171450" indent="-171450">
              <a:buFont typeface="Arial" panose="020B0604020202020204" pitchFamily="34" charset="0"/>
              <a:buChar char="•"/>
            </a:pPr>
            <a:r>
              <a:rPr lang="en-US" b="1" dirty="0"/>
              <a:t>Psychological Pressure</a:t>
            </a:r>
            <a:r>
              <a:rPr lang="en-US" dirty="0"/>
              <a:t>: The descending nature of the auction can create stress, leading to hasty or regrettable decisions.</a:t>
            </a:r>
          </a:p>
          <a:p>
            <a:pPr marL="171450" indent="-171450">
              <a:buFont typeface="Arial" panose="020B0604020202020204" pitchFamily="34" charset="0"/>
              <a:buChar char="•"/>
            </a:pPr>
            <a:r>
              <a:rPr lang="en-US" b="1" dirty="0"/>
              <a:t>Less Participation</a:t>
            </a:r>
            <a:r>
              <a:rPr lang="en-US" dirty="0"/>
              <a:t>: Some bidders may feel uncomfortable with the high-pressure format, reducing competition.</a:t>
            </a:r>
          </a:p>
          <a:p>
            <a:endParaRPr dirty="0"/>
          </a:p>
        </p:txBody>
      </p:sp>
    </p:spTree>
    <p:extLst>
      <p:ext uri="{BB962C8B-B14F-4D97-AF65-F5344CB8AC3E}">
        <p14:creationId xmlns:p14="http://schemas.microsoft.com/office/powerpoint/2010/main" val="4128901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categorizes Dutch auctions according to the established auction characteristics. It mentions their efficiency in handling large quantities of goods quickly and their suitability for selling perishable items.</a:t>
            </a:r>
          </a:p>
          <a:p>
            <a:endParaRPr lang="en-US" b="0" i="0" dirty="0">
              <a:solidFill>
                <a:srgbClr val="E8E8E8"/>
              </a:solidFill>
              <a:effectLst/>
              <a:latin typeface="Google Sans Text"/>
            </a:endParaRPr>
          </a:p>
          <a:p>
            <a:r>
              <a:rPr lang="en-US" b="1" dirty="0"/>
              <a:t>Auction Classification</a:t>
            </a:r>
            <a:r>
              <a:rPr lang="en-US" dirty="0"/>
              <a:t>:</a:t>
            </a:r>
          </a:p>
          <a:p>
            <a:pPr marL="171450" indent="-171450">
              <a:buFont typeface="Arial" panose="020B0604020202020204" pitchFamily="34" charset="0"/>
              <a:buChar char="•"/>
            </a:pPr>
            <a:r>
              <a:rPr lang="en-US" b="1" dirty="0"/>
              <a:t>First-price auction</a:t>
            </a:r>
            <a:r>
              <a:rPr lang="en-US" dirty="0"/>
              <a:t>:</a:t>
            </a:r>
          </a:p>
          <a:p>
            <a:pPr marL="742950" lvl="1" indent="-285750">
              <a:buFont typeface="Arial" panose="020B0604020202020204" pitchFamily="34" charset="0"/>
              <a:buChar char="•"/>
            </a:pPr>
            <a:r>
              <a:rPr lang="en-US" dirty="0"/>
              <a:t>The winning bidder </a:t>
            </a:r>
            <a:r>
              <a:rPr lang="en-US" b="1" dirty="0"/>
              <a:t>pays the price</a:t>
            </a:r>
            <a:r>
              <a:rPr lang="en-US" dirty="0"/>
              <a:t> they agreed to at the moment they stopped the auction clock.</a:t>
            </a:r>
          </a:p>
          <a:p>
            <a:pPr marL="742950" lvl="1" indent="-285750">
              <a:buFont typeface="Arial" panose="020B0604020202020204" pitchFamily="34" charset="0"/>
              <a:buChar char="•"/>
            </a:pPr>
            <a:r>
              <a:rPr lang="en-US" dirty="0"/>
              <a:t>There are no second chances—bidders must balance waiting for a lower price with the risk of losing the item.</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Open cry auction:</a:t>
            </a:r>
          </a:p>
          <a:p>
            <a:pPr marL="742950" lvl="1" indent="-285750">
              <a:buFont typeface="Arial" panose="020B0604020202020204" pitchFamily="34" charset="0"/>
              <a:buChar char="•"/>
            </a:pPr>
            <a:r>
              <a:rPr lang="en-US" dirty="0"/>
              <a:t>Prices are </a:t>
            </a:r>
            <a:r>
              <a:rPr lang="en-US" b="1" dirty="0"/>
              <a:t>announced publicly</a:t>
            </a:r>
            <a:r>
              <a:rPr lang="en-US" dirty="0"/>
              <a:t> in descending increments.</a:t>
            </a:r>
          </a:p>
          <a:p>
            <a:pPr marL="742950" lvl="1" indent="-285750">
              <a:buFont typeface="Arial" panose="020B0604020202020204" pitchFamily="34" charset="0"/>
              <a:buChar char="•"/>
            </a:pPr>
            <a:r>
              <a:rPr lang="en-US" dirty="0"/>
              <a:t>This transparency ensures all participants are aware of the current price at any moment.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Descending auction:</a:t>
            </a:r>
          </a:p>
          <a:p>
            <a:pPr marL="742950" lvl="1" indent="-285750">
              <a:buFont typeface="Arial" panose="020B0604020202020204" pitchFamily="34" charset="0"/>
              <a:buChar char="•"/>
            </a:pPr>
            <a:r>
              <a:rPr lang="en-US" dirty="0"/>
              <a:t>Prices </a:t>
            </a:r>
            <a:r>
              <a:rPr lang="en-US" b="1" dirty="0"/>
              <a:t>decrease</a:t>
            </a:r>
            <a:r>
              <a:rPr lang="en-US" dirty="0"/>
              <a:t> gradually, adding urgency to decisions. The descending format distinguishes it from the more familiar ascending auctions (like English auctions).</a:t>
            </a:r>
          </a:p>
          <a:p>
            <a:pPr marL="742950" lvl="1" indent="-285750">
              <a:buFont typeface="Arial" panose="020B0604020202020204" pitchFamily="34" charset="0"/>
              <a:buChar char="•"/>
            </a:pPr>
            <a:endParaRPr lang="en-US" dirty="0"/>
          </a:p>
          <a:p>
            <a:r>
              <a:rPr lang="en-US" b="1" dirty="0"/>
              <a:t>Advantages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High volume transactions:</a:t>
            </a:r>
          </a:p>
          <a:p>
            <a:pPr marL="742950" lvl="1" indent="-285750">
              <a:buFont typeface="Arial" panose="020B0604020202020204" pitchFamily="34" charset="0"/>
              <a:buChar char="•"/>
            </a:pPr>
            <a:r>
              <a:rPr lang="en-US" dirty="0"/>
              <a:t>Dutch auctions are ideal for </a:t>
            </a:r>
            <a:r>
              <a:rPr lang="en-US" b="1" dirty="0"/>
              <a:t>handling large quantities</a:t>
            </a:r>
            <a:r>
              <a:rPr lang="en-US" dirty="0"/>
              <a:t> of goods efficiently. Multiple units can be sold with minimal delays.</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Swift execution:</a:t>
            </a:r>
          </a:p>
          <a:p>
            <a:pPr marL="742950" lvl="1" indent="-285750">
              <a:buFont typeface="Arial" panose="020B0604020202020204" pitchFamily="34" charset="0"/>
              <a:buChar char="•"/>
            </a:pPr>
            <a:r>
              <a:rPr lang="en-US" dirty="0"/>
              <a:t>Auctions are resolved quickly because </a:t>
            </a:r>
            <a:r>
              <a:rPr lang="en-US" b="1" dirty="0"/>
              <a:t>bidders act immediately</a:t>
            </a:r>
            <a:r>
              <a:rPr lang="en-US" dirty="0"/>
              <a:t> once the price is right for them.</a:t>
            </a:r>
          </a:p>
          <a:p>
            <a:pPr marL="742950" lvl="1" indent="-285750">
              <a:buFont typeface="Arial" panose="020B0604020202020204" pitchFamily="34" charset="0"/>
              <a:buChar char="•"/>
            </a:pPr>
            <a:r>
              <a:rPr lang="en-US" dirty="0"/>
              <a:t>This speed makes Dutch auctions particularly attractive for time-sensitive scenarios.</a:t>
            </a:r>
          </a:p>
          <a:p>
            <a:pPr marL="742950" lvl="1" indent="-285750">
              <a:buFont typeface="Arial" panose="020B0604020202020204" pitchFamily="34" charset="0"/>
              <a:buChar char="•"/>
            </a:pPr>
            <a:endParaRPr lang="en-US" dirty="0"/>
          </a:p>
          <a:p>
            <a:r>
              <a:rPr lang="en-US" b="1" dirty="0"/>
              <a:t>Common Applications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Perishable goods markets:</a:t>
            </a:r>
          </a:p>
          <a:p>
            <a:pPr marL="742950" lvl="1" indent="-285750">
              <a:buFont typeface="Arial" panose="020B0604020202020204" pitchFamily="34" charset="0"/>
              <a:buChar char="•"/>
            </a:pPr>
            <a:r>
              <a:rPr lang="en-US" dirty="0"/>
              <a:t>Widely used in </a:t>
            </a:r>
            <a:r>
              <a:rPr lang="en-US" b="1" dirty="0"/>
              <a:t>flower markets</a:t>
            </a:r>
            <a:r>
              <a:rPr lang="en-US" dirty="0"/>
              <a:t> (e.g., Dutch flower auctions), </a:t>
            </a:r>
            <a:r>
              <a:rPr lang="en-US" b="1" dirty="0"/>
              <a:t>fish markets</a:t>
            </a:r>
            <a:r>
              <a:rPr lang="en-US" dirty="0"/>
              <a:t>, and </a:t>
            </a:r>
            <a:r>
              <a:rPr lang="en-US" b="1" dirty="0"/>
              <a:t>tobacco sales</a:t>
            </a:r>
            <a:r>
              <a:rPr lang="en-US" dirty="0"/>
              <a:t>, where quick decisions are essential to avoid spoilage.</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Commodity markets:</a:t>
            </a:r>
          </a:p>
          <a:p>
            <a:pPr marL="742950" lvl="1" indent="-285750">
              <a:buFont typeface="Arial" panose="020B0604020202020204" pitchFamily="34" charset="0"/>
              <a:buChar char="•"/>
            </a:pPr>
            <a:r>
              <a:rPr lang="en-US" dirty="0"/>
              <a:t>Can also be employed in selling other high-volume, time-sensitive commodities or inventory that must be sold quickly.</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Government bond auctions:</a:t>
            </a:r>
          </a:p>
          <a:p>
            <a:pPr marL="742950" lvl="1" indent="-285750">
              <a:buFont typeface="Arial" panose="020B0604020202020204" pitchFamily="34" charset="0"/>
              <a:buChar char="•"/>
            </a:pPr>
            <a:r>
              <a:rPr lang="en-US" dirty="0"/>
              <a:t>Some governments use this format to sell debt efficiently by quickly allocating bonds to investors.</a:t>
            </a:r>
          </a:p>
          <a:p>
            <a:pPr marL="742950" lvl="1" indent="-285750">
              <a:buFont typeface="Arial" panose="020B0604020202020204" pitchFamily="34" charset="0"/>
              <a:buChar char="•"/>
            </a:pPr>
            <a:endParaRPr lang="en-US" dirty="0"/>
          </a:p>
          <a:p>
            <a:r>
              <a:rPr lang="en-US" b="1" dirty="0"/>
              <a:t>Strategic Considerations for Bidders</a:t>
            </a:r>
            <a:r>
              <a:rPr lang="en-US" dirty="0"/>
              <a:t>:</a:t>
            </a:r>
          </a:p>
          <a:p>
            <a:pPr marL="171450" indent="-171450">
              <a:buFont typeface="Arial" panose="020B0604020202020204" pitchFamily="34" charset="0"/>
              <a:buChar char="•"/>
            </a:pPr>
            <a:r>
              <a:rPr lang="en-US" dirty="0"/>
              <a:t>Bidders must carefully </a:t>
            </a:r>
            <a:r>
              <a:rPr lang="en-US" b="1" dirty="0"/>
              <a:t>balance patience with risk</a:t>
            </a:r>
            <a:r>
              <a:rPr lang="en-US" dirty="0"/>
              <a:t>. Waiting for a lower price might secure a bargain, but it risks losing the item to another bidder.</a:t>
            </a:r>
          </a:p>
          <a:p>
            <a:pPr marL="171450" indent="-171450">
              <a:buFont typeface="Arial" panose="020B0604020202020204" pitchFamily="34" charset="0"/>
              <a:buChar char="•"/>
            </a:pPr>
            <a:r>
              <a:rPr lang="en-US" dirty="0"/>
              <a:t>This </a:t>
            </a:r>
            <a:r>
              <a:rPr lang="en-US" b="1" dirty="0"/>
              <a:t>high-pressure environment</a:t>
            </a:r>
            <a:r>
              <a:rPr lang="en-US" dirty="0"/>
              <a:t> can create a competitive edge for experienced participants, who know when to act and when to hold off.</a:t>
            </a:r>
          </a:p>
          <a:p>
            <a:endParaRPr dirty="0"/>
          </a:p>
        </p:txBody>
      </p:sp>
    </p:spTree>
    <p:extLst>
      <p:ext uri="{BB962C8B-B14F-4D97-AF65-F5344CB8AC3E}">
        <p14:creationId xmlns:p14="http://schemas.microsoft.com/office/powerpoint/2010/main" val="4081332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describes the process of first-price sealed-bid auctions, emphasizing the confidential nature of bids and the one-shot bidding round. It contrasts the information availability in FPSB auctions with that of English auctions.</a:t>
            </a:r>
          </a:p>
          <a:p>
            <a:endParaRPr lang="en-US" b="0" i="0" dirty="0">
              <a:solidFill>
                <a:srgbClr val="E8E8E8"/>
              </a:solidFill>
              <a:effectLst/>
              <a:latin typeface="Google Sans Text"/>
            </a:endParaRPr>
          </a:p>
          <a:p>
            <a:r>
              <a:rPr lang="en-US" b="1" dirty="0"/>
              <a:t>Auction Procedure</a:t>
            </a:r>
            <a:r>
              <a:rPr lang="en-US" dirty="0"/>
              <a:t>:</a:t>
            </a:r>
          </a:p>
          <a:p>
            <a:pPr marL="171450" indent="-171450">
              <a:buFont typeface="Arial" panose="020B0604020202020204" pitchFamily="34" charset="0"/>
              <a:buChar char="•"/>
            </a:pPr>
            <a:r>
              <a:rPr lang="en-US" dirty="0"/>
              <a:t>In a </a:t>
            </a:r>
            <a:r>
              <a:rPr lang="en-US" b="1" dirty="0"/>
              <a:t>First-Price Sealed-Bid (FPSB) auction</a:t>
            </a:r>
            <a:r>
              <a:rPr lang="en-US" dirty="0"/>
              <a:t>, each bidder submits their bid </a:t>
            </a:r>
            <a:r>
              <a:rPr lang="en-US" b="1" dirty="0"/>
              <a:t>in a sealed format</a:t>
            </a:r>
            <a:r>
              <a:rPr lang="en-US" dirty="0"/>
              <a:t> during a single round. This means that all bids are kept confidential until the auction concludes.</a:t>
            </a:r>
          </a:p>
          <a:p>
            <a:pPr marL="171450" indent="-171450">
              <a:buFont typeface="Arial" panose="020B0604020202020204" pitchFamily="34" charset="0"/>
              <a:buChar char="•"/>
            </a:pPr>
            <a:r>
              <a:rPr lang="en-US" dirty="0"/>
              <a:t>After all bids are submitted, the auctioneer opens them simultaneously. The </a:t>
            </a:r>
            <a:r>
              <a:rPr lang="en-US" b="1" dirty="0"/>
              <a:t>highest bidder is declared the winner</a:t>
            </a:r>
            <a:r>
              <a:rPr lang="en-US" dirty="0"/>
              <a:t> and pays the exact amount of their bid.</a:t>
            </a:r>
          </a:p>
          <a:p>
            <a:pPr marL="171450" indent="-171450">
              <a:buFont typeface="Arial" panose="020B0604020202020204" pitchFamily="34" charset="0"/>
              <a:buChar char="•"/>
            </a:pPr>
            <a:r>
              <a:rPr lang="en-US" dirty="0"/>
              <a:t>This process creates a competitive atmosphere where bidders must carefully consider their bidding strategy without knowing others' bids.</a:t>
            </a:r>
          </a:p>
          <a:p>
            <a:pPr marL="171450" indent="-171450">
              <a:buFont typeface="Arial" panose="020B0604020202020204" pitchFamily="34" charset="0"/>
              <a:buChar char="•"/>
            </a:pPr>
            <a:endParaRPr lang="en-US" dirty="0"/>
          </a:p>
          <a:p>
            <a:r>
              <a:rPr lang="en-US" b="1" dirty="0"/>
              <a:t>Information Asymmetry</a:t>
            </a:r>
            <a:r>
              <a:rPr lang="en-US" dirty="0"/>
              <a:t>:</a:t>
            </a:r>
          </a:p>
          <a:p>
            <a:pPr marL="171450" indent="-171450">
              <a:buFont typeface="Arial" panose="020B0604020202020204" pitchFamily="34" charset="0"/>
              <a:buChar char="•"/>
            </a:pPr>
            <a:r>
              <a:rPr lang="en-US" dirty="0"/>
              <a:t>FPSB auctions feature a significant degree of </a:t>
            </a:r>
            <a:r>
              <a:rPr lang="en-US" b="1" dirty="0"/>
              <a:t>information asymmetry</a:t>
            </a:r>
            <a:r>
              <a:rPr lang="en-US" dirty="0"/>
              <a:t>. Unlike in open auctions (e.g., English auctions), where bidders can see each other's bids, FPSB auctions provide limited information about the good's value.</a:t>
            </a:r>
          </a:p>
          <a:p>
            <a:pPr marL="171450" indent="-171450">
              <a:buFont typeface="Arial" panose="020B0604020202020204" pitchFamily="34" charset="0"/>
              <a:buChar char="•"/>
            </a:pPr>
            <a:r>
              <a:rPr lang="en-US" dirty="0"/>
              <a:t>Bidders must estimate the value of the item based on their own information and possibly external factors, leading to uncertainty.</a:t>
            </a:r>
          </a:p>
          <a:p>
            <a:pPr marL="171450" indent="-171450">
              <a:buFont typeface="Arial" panose="020B0604020202020204" pitchFamily="34" charset="0"/>
              <a:buChar char="•"/>
            </a:pPr>
            <a:r>
              <a:rPr lang="en-US" dirty="0"/>
              <a:t>This lack of visibility can complicate bidding strategies, as participants must gauge the competition without direct insight into their valuations.</a:t>
            </a:r>
          </a:p>
          <a:p>
            <a:pPr marL="171450" indent="-171450">
              <a:buFont typeface="Arial" panose="020B0604020202020204" pitchFamily="34" charset="0"/>
              <a:buChar char="•"/>
            </a:pPr>
            <a:endParaRPr lang="en-US" dirty="0"/>
          </a:p>
          <a:p>
            <a:r>
              <a:rPr lang="en-US" b="1" dirty="0"/>
              <a:t>Bidding Strategy</a:t>
            </a:r>
            <a:r>
              <a:rPr lang="en-US" dirty="0"/>
              <a:t>:</a:t>
            </a:r>
          </a:p>
          <a:p>
            <a:pPr marL="171450" indent="-171450">
              <a:buFont typeface="Arial" panose="020B0604020202020204" pitchFamily="34" charset="0"/>
              <a:buChar char="•"/>
            </a:pPr>
            <a:r>
              <a:rPr lang="en-US" dirty="0"/>
              <a:t>Bidders typically employ strategic bidding to maximize their chances of winning while minimizing their payment. This often involves estimating the value of the item and considering how much other bidders might bid.</a:t>
            </a:r>
          </a:p>
          <a:p>
            <a:pPr marL="171450" indent="-171450">
              <a:buFont typeface="Arial" panose="020B0604020202020204" pitchFamily="34" charset="0"/>
              <a:buChar char="•"/>
            </a:pPr>
            <a:r>
              <a:rPr lang="en-US" dirty="0"/>
              <a:t>The optimal strategy might include bidding slightly less than one’s true valuation to avoid the </a:t>
            </a:r>
            <a:r>
              <a:rPr lang="en-US" b="1" dirty="0"/>
              <a:t>winner's curse</a:t>
            </a:r>
            <a:r>
              <a:rPr lang="en-US" dirty="0"/>
              <a:t>, where the winner ends up overpaying relative to the item’s actual value.</a:t>
            </a:r>
          </a:p>
          <a:p>
            <a:pPr marL="171450" indent="-171450">
              <a:buFont typeface="Arial" panose="020B0604020202020204" pitchFamily="34" charset="0"/>
              <a:buChar char="•"/>
            </a:pPr>
            <a:r>
              <a:rPr lang="en-US" dirty="0"/>
              <a:t>Bidders may also take into account the </a:t>
            </a:r>
            <a:r>
              <a:rPr lang="en-US" b="1" dirty="0"/>
              <a:t>number of competitors</a:t>
            </a:r>
            <a:r>
              <a:rPr lang="en-US" dirty="0"/>
              <a:t> and their perceived bidding behavior, adjusting their bids accordingly.</a:t>
            </a:r>
          </a:p>
          <a:p>
            <a:pPr marL="171450" indent="-171450">
              <a:buFont typeface="Arial" panose="020B0604020202020204" pitchFamily="34" charset="0"/>
              <a:buChar char="•"/>
            </a:pPr>
            <a:endParaRPr lang="en-US" dirty="0"/>
          </a:p>
          <a:p>
            <a:r>
              <a:rPr lang="en-US" b="1" dirty="0"/>
              <a:t>Applications</a:t>
            </a:r>
            <a:r>
              <a:rPr lang="en-US" dirty="0"/>
              <a:t>:</a:t>
            </a:r>
          </a:p>
          <a:p>
            <a:pPr marL="171450" indent="-171450">
              <a:buFont typeface="Arial" panose="020B0604020202020204" pitchFamily="34" charset="0"/>
              <a:buChar char="•"/>
            </a:pPr>
            <a:r>
              <a:rPr lang="en-US" dirty="0"/>
              <a:t>FPSB auctions are commonly used in various contexts, including:</a:t>
            </a:r>
          </a:p>
          <a:p>
            <a:pPr marL="742950" lvl="1" indent="-285750">
              <a:buFont typeface="Arial" panose="020B0604020202020204" pitchFamily="34" charset="0"/>
              <a:buChar char="•"/>
            </a:pPr>
            <a:r>
              <a:rPr lang="en-US" b="1" dirty="0"/>
              <a:t>Real estate transactions</a:t>
            </a:r>
            <a:r>
              <a:rPr lang="en-US" dirty="0"/>
              <a:t>: Buyers submit sealed offers, allowing sellers to choose the best offer without revealing others' bids.</a:t>
            </a:r>
          </a:p>
          <a:p>
            <a:pPr marL="742950" lvl="1" indent="-285750">
              <a:buFont typeface="Arial" panose="020B0604020202020204" pitchFamily="34" charset="0"/>
              <a:buChar char="•"/>
            </a:pPr>
            <a:r>
              <a:rPr lang="en-US" b="1" dirty="0"/>
              <a:t>Government contracts</a:t>
            </a:r>
            <a:r>
              <a:rPr lang="en-US" dirty="0"/>
              <a:t>: Agencies may use FPSB auctions to award contracts while ensuring bidders cannot adjust their offers based on competitors' actions.</a:t>
            </a:r>
          </a:p>
          <a:p>
            <a:pPr marL="742950" lvl="1" indent="-285750">
              <a:buFont typeface="Arial" panose="020B0604020202020204" pitchFamily="34" charset="0"/>
              <a:buChar char="•"/>
            </a:pPr>
            <a:r>
              <a:rPr lang="en-US" b="1" dirty="0"/>
              <a:t>Online auctions</a:t>
            </a:r>
            <a:r>
              <a:rPr lang="en-US" dirty="0"/>
              <a:t>: Some online platforms use FPSB formats, where users submit their bids without knowing others’ offers until the auction ends.</a:t>
            </a:r>
          </a:p>
          <a:p>
            <a:pPr marL="742950" lvl="1" indent="-285750">
              <a:buFont typeface="Arial" panose="020B0604020202020204" pitchFamily="34" charset="0"/>
              <a:buChar char="•"/>
            </a:pPr>
            <a:endParaRPr lang="en-US" dirty="0"/>
          </a:p>
          <a:p>
            <a:r>
              <a:rPr lang="en-US" b="1" dirty="0"/>
              <a:t>Advantages and Disadvantages</a:t>
            </a:r>
            <a:r>
              <a:rPr lang="en-US" dirty="0"/>
              <a:t>:</a:t>
            </a:r>
          </a:p>
          <a:p>
            <a:pPr marL="171450" indent="-171450">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b="1" dirty="0"/>
              <a:t>Confidentiality</a:t>
            </a:r>
            <a:r>
              <a:rPr lang="en-US" dirty="0"/>
              <a:t> can encourage more honest bidding, as bidders may feel more comfortable submitting bids without peer pressure.</a:t>
            </a:r>
          </a:p>
          <a:p>
            <a:pPr marL="742950" lvl="1" indent="-285750">
              <a:buFont typeface="Arial" panose="020B0604020202020204" pitchFamily="34" charset="0"/>
              <a:buChar char="•"/>
            </a:pPr>
            <a:r>
              <a:rPr lang="en-US" dirty="0"/>
              <a:t>The auction format can simplify the bidding process, avoiding the complexities of real-time bidding wars.</a:t>
            </a:r>
          </a:p>
          <a:p>
            <a:pPr marL="171450" indent="-171450">
              <a:buFont typeface="Arial" panose="020B0604020202020204" pitchFamily="34" charset="0"/>
              <a:buChar char="•"/>
            </a:pPr>
            <a:r>
              <a:rPr lang="en-US" b="1" dirty="0"/>
              <a:t>Disadvantages</a:t>
            </a:r>
            <a:r>
              <a:rPr lang="en-US" dirty="0"/>
              <a:t>:</a:t>
            </a:r>
          </a:p>
          <a:p>
            <a:pPr marL="742950" lvl="1" indent="-285750">
              <a:buFont typeface="Arial" panose="020B0604020202020204" pitchFamily="34" charset="0"/>
              <a:buChar char="•"/>
            </a:pPr>
            <a:r>
              <a:rPr lang="en-US" dirty="0"/>
              <a:t>The </a:t>
            </a:r>
            <a:r>
              <a:rPr lang="en-US" b="1" dirty="0"/>
              <a:t>risk of underbidding</a:t>
            </a:r>
            <a:r>
              <a:rPr lang="en-US" dirty="0"/>
              <a:t> can result in a situation where the item is sold for less than its market value if participants are overly conservative.</a:t>
            </a:r>
          </a:p>
          <a:p>
            <a:pPr marL="742950" lvl="1" indent="-285750">
              <a:buFont typeface="Arial" panose="020B0604020202020204" pitchFamily="34" charset="0"/>
              <a:buChar char="•"/>
            </a:pPr>
            <a:r>
              <a:rPr lang="en-US" dirty="0"/>
              <a:t>Bidders may experience heightened uncertainty due to limited information, potentially leading to less optimal outcomes.</a:t>
            </a:r>
          </a:p>
          <a:p>
            <a:endParaRPr dirty="0"/>
          </a:p>
        </p:txBody>
      </p:sp>
    </p:spTree>
    <p:extLst>
      <p:ext uri="{BB962C8B-B14F-4D97-AF65-F5344CB8AC3E}">
        <p14:creationId xmlns:p14="http://schemas.microsoft.com/office/powerpoint/2010/main" val="3731134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categorizes FPSB auctions based on their characteristics. It also mentions typical use cases, including government bond auctions and certain property markets.</a:t>
            </a:r>
          </a:p>
          <a:p>
            <a:endParaRPr lang="en-US" b="0" i="0" dirty="0">
              <a:solidFill>
                <a:srgbClr val="E8E8E8"/>
              </a:solidFill>
              <a:effectLst/>
              <a:latin typeface="Google Sans Text"/>
            </a:endParaRPr>
          </a:p>
          <a:p>
            <a:r>
              <a:rPr lang="en-US" b="1" dirty="0"/>
              <a:t>Auction Classification</a:t>
            </a:r>
            <a:r>
              <a:rPr lang="en-US" dirty="0"/>
              <a:t>:</a:t>
            </a:r>
          </a:p>
          <a:p>
            <a:pPr marL="171450" indent="-171450">
              <a:buFont typeface="Arial" panose="020B0604020202020204" pitchFamily="34" charset="0"/>
              <a:buChar char="•"/>
            </a:pPr>
            <a:r>
              <a:rPr lang="en-US" b="1" dirty="0"/>
              <a:t>One-shot</a:t>
            </a:r>
            <a:r>
              <a:rPr lang="en-US" dirty="0"/>
              <a:t>:</a:t>
            </a:r>
          </a:p>
          <a:p>
            <a:pPr marL="742950" lvl="1" indent="-285750">
              <a:buFont typeface="Arial" panose="020B0604020202020204" pitchFamily="34" charset="0"/>
              <a:buChar char="•"/>
            </a:pPr>
            <a:r>
              <a:rPr lang="en-US" dirty="0"/>
              <a:t>This type of auction involves a </a:t>
            </a:r>
            <a:r>
              <a:rPr lang="en-US" b="1" dirty="0"/>
              <a:t>single round of bidding</a:t>
            </a:r>
            <a:r>
              <a:rPr lang="en-US" dirty="0"/>
              <a:t> where bidders submit their bids at once. The process is straightforward, with no subsequent rounds of bidding or negotiations.</a:t>
            </a:r>
          </a:p>
          <a:p>
            <a:pPr marL="742950" lvl="1" indent="-285750">
              <a:buFont typeface="Arial" panose="020B0604020202020204" pitchFamily="34" charset="0"/>
              <a:buChar char="•"/>
            </a:pPr>
            <a:r>
              <a:rPr lang="en-US" dirty="0"/>
              <a:t>The winner is determined solely based on the highest bid submitted in this round.</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First-price:</a:t>
            </a:r>
          </a:p>
          <a:p>
            <a:pPr marL="742950" lvl="1" indent="-285750">
              <a:buFont typeface="Arial" panose="020B0604020202020204" pitchFamily="34" charset="0"/>
              <a:buChar char="•"/>
            </a:pPr>
            <a:r>
              <a:rPr lang="en-US" dirty="0"/>
              <a:t>In a first-price auction, the </a:t>
            </a:r>
            <a:r>
              <a:rPr lang="en-US" b="1" dirty="0"/>
              <a:t>highest bidder wins</a:t>
            </a:r>
            <a:r>
              <a:rPr lang="en-US" dirty="0"/>
              <a:t> and pays the exact amount of their bid.</a:t>
            </a:r>
          </a:p>
          <a:p>
            <a:pPr marL="742950" lvl="1" indent="-285750">
              <a:buFont typeface="Arial" panose="020B0604020202020204" pitchFamily="34" charset="0"/>
              <a:buChar char="•"/>
            </a:pPr>
            <a:r>
              <a:rPr lang="en-US" dirty="0"/>
              <a:t>This format creates competitive pressure, as bidders must balance between bidding high enough to win while avoiding overbidding.</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Sealed bid:</a:t>
            </a:r>
          </a:p>
          <a:p>
            <a:pPr marL="742950" lvl="1" indent="-285750">
              <a:buFont typeface="Arial" panose="020B0604020202020204" pitchFamily="34" charset="0"/>
              <a:buChar char="•"/>
            </a:pPr>
            <a:r>
              <a:rPr lang="en-US" dirty="0"/>
              <a:t>Bids are submitted in a </a:t>
            </a:r>
            <a:r>
              <a:rPr lang="en-US" b="1" dirty="0"/>
              <a:t>confidential manner</a:t>
            </a:r>
            <a:r>
              <a:rPr lang="en-US" dirty="0"/>
              <a:t>, meaning bidders do not see each other's bids until the auction concludes.</a:t>
            </a:r>
          </a:p>
          <a:p>
            <a:pPr marL="742950" lvl="1" indent="-285750">
              <a:buFont typeface="Arial" panose="020B0604020202020204" pitchFamily="34" charset="0"/>
              <a:buChar char="•"/>
            </a:pPr>
            <a:r>
              <a:rPr lang="en-US" dirty="0"/>
              <a:t>This confidentiality can lead to strategic bidding decisions, as bidders must rely on their assessments and estimates of the item's value without knowing competitors' offers.</a:t>
            </a:r>
          </a:p>
          <a:p>
            <a:endParaRPr lang="en-US" b="1" dirty="0"/>
          </a:p>
          <a:p>
            <a:r>
              <a:rPr lang="en-US" b="1" dirty="0"/>
              <a:t>Common Applications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Government Sales of Treasury Bonds:</a:t>
            </a:r>
          </a:p>
          <a:p>
            <a:pPr marL="742950" lvl="1" indent="-285750">
              <a:buFont typeface="Arial" panose="020B0604020202020204" pitchFamily="34" charset="0"/>
              <a:buChar char="•"/>
            </a:pPr>
            <a:r>
              <a:rPr lang="en-US" dirty="0"/>
              <a:t>FPSB auctions are frequently employed by governments to sell treasury bonds. In this context, financial institutions submit sealed bids for the amount and yield they are willing to accept.</a:t>
            </a:r>
          </a:p>
          <a:p>
            <a:pPr marL="742950" lvl="1" indent="-285750">
              <a:buFont typeface="Arial" panose="020B0604020202020204" pitchFamily="34" charset="0"/>
              <a:buChar char="•"/>
            </a:pPr>
            <a:r>
              <a:rPr lang="en-US" dirty="0"/>
              <a:t>This approach allows for a clear and competitive bidding process, ensuring the government secures optimal pricing based on market demand.</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Property Sales (e.g., in Scotland):</a:t>
            </a:r>
          </a:p>
          <a:p>
            <a:pPr marL="742950" lvl="1" indent="-285750">
              <a:buFont typeface="Arial" panose="020B0604020202020204" pitchFamily="34" charset="0"/>
              <a:buChar char="•"/>
            </a:pPr>
            <a:r>
              <a:rPr lang="en-US" dirty="0"/>
              <a:t>In Scotland, FPSB auctions are often used for property sales, where prospective buyers submit sealed bids for residential or commercial properties.</a:t>
            </a:r>
          </a:p>
          <a:p>
            <a:pPr marL="742950" lvl="1" indent="-285750">
              <a:buFont typeface="Arial" panose="020B0604020202020204" pitchFamily="34" charset="0"/>
              <a:buChar char="•"/>
            </a:pPr>
            <a:r>
              <a:rPr lang="en-US" dirty="0"/>
              <a:t>This system enables buyers to make offers without revealing their intentions to competitors, fostering a competitive environment that can drive up property values.</a:t>
            </a:r>
          </a:p>
          <a:p>
            <a:endParaRPr lang="en-US" b="1" dirty="0"/>
          </a:p>
          <a:p>
            <a:r>
              <a:rPr lang="en-US" b="1" dirty="0"/>
              <a:t>Advantages and Disadvantages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Advantages:</a:t>
            </a:r>
          </a:p>
          <a:p>
            <a:pPr marL="742950" lvl="1" indent="-285750">
              <a:buFont typeface="Arial" panose="020B0604020202020204" pitchFamily="34" charset="0"/>
              <a:buChar char="•"/>
            </a:pPr>
            <a:r>
              <a:rPr lang="en-US" b="1" dirty="0"/>
              <a:t>Efficiency</a:t>
            </a:r>
            <a:r>
              <a:rPr lang="en-US" dirty="0"/>
              <a:t>: The one-shot nature of FPSB auctions simplifies the bidding process and expedites the sale, making it attractive for time-sensitive transactions.</a:t>
            </a:r>
          </a:p>
          <a:p>
            <a:pPr marL="742950" lvl="1" indent="-285750">
              <a:buFont typeface="Arial" panose="020B0604020202020204" pitchFamily="34" charset="0"/>
              <a:buChar char="•"/>
            </a:pPr>
            <a:r>
              <a:rPr lang="en-US" b="1" dirty="0"/>
              <a:t>Reduced Bidder Pressure</a:t>
            </a:r>
            <a:r>
              <a:rPr lang="en-US" dirty="0"/>
              <a:t>: Bidders can make their decisions without the stress of competing in real-time, allowing for more thoughtful and strategic bidding.</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Disadvantages:</a:t>
            </a:r>
          </a:p>
          <a:p>
            <a:pPr marL="742950" lvl="1" indent="-285750">
              <a:buFont typeface="Arial" panose="020B0604020202020204" pitchFamily="34" charset="0"/>
              <a:buChar char="•"/>
            </a:pPr>
            <a:r>
              <a:rPr lang="en-US" b="1" dirty="0"/>
              <a:t>Information Asymmetry</a:t>
            </a:r>
            <a:r>
              <a:rPr lang="en-US" dirty="0"/>
              <a:t>: The lack of visibility into other bidders' strategies can lead to uncertainty, making it challenging for bidders to gauge the competitive landscape accurately.</a:t>
            </a:r>
          </a:p>
          <a:p>
            <a:pPr marL="742950" lvl="1" indent="-285750">
              <a:buFont typeface="Arial" panose="020B0604020202020204" pitchFamily="34" charset="0"/>
              <a:buChar char="•"/>
            </a:pPr>
            <a:r>
              <a:rPr lang="en-US" b="1" dirty="0"/>
              <a:t>Risk of Low Winning Bids</a:t>
            </a:r>
            <a:r>
              <a:rPr lang="en-US" dirty="0"/>
              <a:t>: If bidders undervalue the item, it may be sold for less than its potential market price, impacting the seller's revenue.</a:t>
            </a:r>
          </a:p>
          <a:p>
            <a:endParaRPr dirty="0"/>
          </a:p>
        </p:txBody>
      </p:sp>
    </p:spTree>
    <p:extLst>
      <p:ext uri="{BB962C8B-B14F-4D97-AF65-F5344CB8AC3E}">
        <p14:creationId xmlns:p14="http://schemas.microsoft.com/office/powerpoint/2010/main" val="3229060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Vickrey auctions, explaining their sealed-bid nature and the distinctive second-price payment rule. It highlights the incentive for truthful bidding and the auction's robustness against strategic behavior.</a:t>
            </a:r>
          </a:p>
          <a:p>
            <a:endParaRPr lang="en-US" b="0" i="0" dirty="0">
              <a:solidFill>
                <a:srgbClr val="E8E8E8"/>
              </a:solidFill>
              <a:effectLst/>
              <a:latin typeface="Google Sans Text"/>
            </a:endParaRPr>
          </a:p>
          <a:p>
            <a:r>
              <a:rPr lang="en-US" b="1" dirty="0"/>
              <a:t>Auction Procedure</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Sealed-bid Format:</a:t>
            </a:r>
          </a:p>
          <a:p>
            <a:pPr marL="742950" lvl="1" indent="-285750">
              <a:buFont typeface="Arial" panose="020B0604020202020204" pitchFamily="34" charset="0"/>
              <a:buChar char="•"/>
            </a:pPr>
            <a:r>
              <a:rPr lang="en-US" dirty="0"/>
              <a:t>In a Vickrey auction, bidders submit </a:t>
            </a:r>
            <a:r>
              <a:rPr lang="en-US" b="1" dirty="0"/>
              <a:t>sealed bids</a:t>
            </a:r>
            <a:r>
              <a:rPr lang="en-US" dirty="0"/>
              <a:t> in a single round. This means that all bids are kept confidential until the auction concludes.</a:t>
            </a:r>
          </a:p>
          <a:p>
            <a:pPr marL="742950" lvl="1" indent="-285750">
              <a:buFont typeface="Arial" panose="020B0604020202020204" pitchFamily="34" charset="0"/>
              <a:buChar char="•"/>
            </a:pPr>
            <a:r>
              <a:rPr lang="en-US" dirty="0"/>
              <a:t>Bidders do not know the amounts offered by their competitors, which maintains an element of uncertainty and strategy.</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Winning and Payment:</a:t>
            </a:r>
          </a:p>
          <a:p>
            <a:pPr marL="742950" lvl="1" indent="-285750">
              <a:buFont typeface="Arial" panose="020B0604020202020204" pitchFamily="34" charset="0"/>
              <a:buChar char="•"/>
            </a:pPr>
            <a:r>
              <a:rPr lang="en-US" dirty="0"/>
              <a:t>The highest bidder wins the auction but pays the amount of the </a:t>
            </a:r>
            <a:r>
              <a:rPr lang="en-US" b="1" dirty="0"/>
              <a:t>second-highest bid</a:t>
            </a:r>
            <a:r>
              <a:rPr lang="en-US" dirty="0"/>
              <a:t> rather than their own. This unique payment structure differentiates Vickrey auctions from traditional sealed-bid or first-price auctions.</a:t>
            </a:r>
          </a:p>
          <a:p>
            <a:pPr marL="742950" lvl="1" indent="-285750">
              <a:buFont typeface="Arial" panose="020B0604020202020204" pitchFamily="34" charset="0"/>
              <a:buChar char="•"/>
            </a:pPr>
            <a:r>
              <a:rPr lang="en-US" dirty="0"/>
              <a:t>For example, if Bidder A bids $100, Bidder B bids $90, and Bidder C bids $80, Bidder A wins but pays $90.</a:t>
            </a:r>
          </a:p>
          <a:p>
            <a:endParaRPr lang="en-US" b="1" dirty="0"/>
          </a:p>
          <a:p>
            <a:r>
              <a:rPr lang="en-US" b="1" dirty="0"/>
              <a:t>Unique Features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Truthful Bidding Encouragement:</a:t>
            </a:r>
          </a:p>
          <a:p>
            <a:pPr marL="742950" lvl="1" indent="-285750">
              <a:buFont typeface="Arial" panose="020B0604020202020204" pitchFamily="34" charset="0"/>
              <a:buChar char="•"/>
            </a:pPr>
            <a:r>
              <a:rPr lang="en-US" dirty="0"/>
              <a:t>The payment rule incentivizes bidders to reveal their </a:t>
            </a:r>
            <a:r>
              <a:rPr lang="en-US" b="1" dirty="0"/>
              <a:t>true valuations</a:t>
            </a:r>
            <a:r>
              <a:rPr lang="en-US" dirty="0"/>
              <a:t> of the item. Since winning does not require paying their own bid, bidders are motivated to bid their actual worth of the item rather than strategizing based on what they think others will bid.</a:t>
            </a:r>
          </a:p>
          <a:p>
            <a:pPr marL="742950" lvl="1" indent="-285750">
              <a:buFont typeface="Arial" panose="020B0604020202020204" pitchFamily="34" charset="0"/>
              <a:buChar char="•"/>
            </a:pPr>
            <a:r>
              <a:rPr lang="en-US" dirty="0"/>
              <a:t>This aspect can lead to a more efficient allocation of resources, as the final price reflects the true value of the item based on collective valuations.</a:t>
            </a:r>
          </a:p>
          <a:p>
            <a:endParaRPr lang="en-US" b="1" dirty="0"/>
          </a:p>
          <a:p>
            <a:r>
              <a:rPr lang="en-US" b="1" dirty="0"/>
              <a:t>Resistance to Manipulation</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Strategic Bidding Manipulation:</a:t>
            </a:r>
          </a:p>
          <a:p>
            <a:pPr marL="742950" lvl="1" indent="-285750">
              <a:buFont typeface="Arial" panose="020B0604020202020204" pitchFamily="34" charset="0"/>
              <a:buChar char="•"/>
            </a:pPr>
            <a:r>
              <a:rPr lang="en-US" dirty="0"/>
              <a:t>Vickrey auctions are less susceptible to strategic bidding manipulations compared to other auction formats, such as first-price sealed-bid or English auctions.</a:t>
            </a:r>
          </a:p>
          <a:p>
            <a:pPr marL="742950" lvl="1" indent="-285750">
              <a:buFont typeface="Arial" panose="020B0604020202020204" pitchFamily="34" charset="0"/>
              <a:buChar char="•"/>
            </a:pPr>
            <a:r>
              <a:rPr lang="en-US" dirty="0"/>
              <a:t>In these other formats, bidders may try to deceive competitors by bidding strategically below their true valuation to win at a lower price. However, in Vickrey auctions, overbidding does not benefit a bidder, as they will ultimately pay the second-highest bid, regardless of their bid amount.</a:t>
            </a:r>
          </a:p>
          <a:p>
            <a:endParaRPr lang="en-US" b="1" dirty="0"/>
          </a:p>
          <a:p>
            <a:r>
              <a:rPr lang="en-US" b="1" dirty="0"/>
              <a:t>Advantages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Efficiency and Optimality:</a:t>
            </a:r>
          </a:p>
          <a:p>
            <a:pPr marL="742950" lvl="1" indent="-285750">
              <a:buFont typeface="Arial" panose="020B0604020202020204" pitchFamily="34" charset="0"/>
              <a:buChar char="•"/>
            </a:pPr>
            <a:r>
              <a:rPr lang="en-US" dirty="0"/>
              <a:t>Vickrey auctions often lead to outcomes that maximize overall welfare, as the item goes to the bidder who values it most highly. This can enhance market efficiency.</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Simplified Decision-Making:</a:t>
            </a:r>
          </a:p>
          <a:p>
            <a:pPr marL="742950" lvl="1" indent="-285750">
              <a:buFont typeface="Arial" panose="020B0604020202020204" pitchFamily="34" charset="0"/>
              <a:buChar char="•"/>
            </a:pPr>
            <a:r>
              <a:rPr lang="en-US" dirty="0"/>
              <a:t>Bidders do not need to strategize about the actions of others, making the decision-making process more straightforward and focused solely on personal valuation.</a:t>
            </a:r>
          </a:p>
          <a:p>
            <a:endParaRPr lang="en-US" b="1" dirty="0"/>
          </a:p>
          <a:p>
            <a:r>
              <a:rPr lang="en-US" b="1" dirty="0"/>
              <a:t>Disadvantages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Risk of Misunderstanding:</a:t>
            </a:r>
          </a:p>
          <a:p>
            <a:pPr marL="742950" lvl="1" indent="-285750">
              <a:buFont typeface="Arial" panose="020B0604020202020204" pitchFamily="34" charset="0"/>
              <a:buChar char="•"/>
            </a:pPr>
            <a:r>
              <a:rPr lang="en-US" dirty="0"/>
              <a:t>New bidders may misunderstand the auction process and payment mechanism, which could deter participation.</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Potentially Lower Revenue for Sellers:</a:t>
            </a:r>
          </a:p>
          <a:p>
            <a:pPr marL="742950" lvl="1" indent="-285750">
              <a:buFont typeface="Arial" panose="020B0604020202020204" pitchFamily="34" charset="0"/>
              <a:buChar char="•"/>
            </a:pPr>
            <a:r>
              <a:rPr lang="en-US" dirty="0"/>
              <a:t>Sellers may receive less revenue if bidders lowball their bids, anticipating that they will pay the second-highest bid rather than their own.</a:t>
            </a:r>
          </a:p>
          <a:p>
            <a:endParaRPr dirty="0"/>
          </a:p>
        </p:txBody>
      </p:sp>
    </p:spTree>
    <p:extLst>
      <p:ext uri="{BB962C8B-B14F-4D97-AF65-F5344CB8AC3E}">
        <p14:creationId xmlns:p14="http://schemas.microsoft.com/office/powerpoint/2010/main" val="96088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categorizes Vickrey auctions and notes their historical use in specific markets, particularly those involving collectibles.</a:t>
            </a:r>
          </a:p>
          <a:p>
            <a:endParaRPr lang="en-US" b="0" i="0" dirty="0">
              <a:solidFill>
                <a:srgbClr val="E8E8E8"/>
              </a:solidFill>
              <a:effectLst/>
              <a:latin typeface="Google Sans Text"/>
            </a:endParaRPr>
          </a:p>
          <a:p>
            <a:r>
              <a:rPr lang="en-US" b="1" dirty="0"/>
              <a:t>Classification of Vickrey Auctions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One-shot Auction:</a:t>
            </a:r>
          </a:p>
          <a:p>
            <a:pPr marL="742950" lvl="1" indent="-285750">
              <a:buFont typeface="Arial" panose="020B0604020202020204" pitchFamily="34" charset="0"/>
              <a:buChar char="•"/>
            </a:pPr>
            <a:r>
              <a:rPr lang="en-US" dirty="0"/>
              <a:t>This format consists of a </a:t>
            </a:r>
            <a:r>
              <a:rPr lang="en-US" b="1" dirty="0"/>
              <a:t>single bidding round</a:t>
            </a:r>
            <a:r>
              <a:rPr lang="en-US" dirty="0"/>
              <a:t> where all participants submit their bids simultaneously. The simplicity of this structure allows for quick resolutions and straightforward outcomes, making it efficient for both bidders and sellers.</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Sealed Bid:</a:t>
            </a:r>
          </a:p>
          <a:p>
            <a:pPr marL="742950" lvl="1" indent="-285750">
              <a:buFont typeface="Arial" panose="020B0604020202020204" pitchFamily="34" charset="0"/>
              <a:buChar char="•"/>
            </a:pPr>
            <a:r>
              <a:rPr lang="en-US" dirty="0"/>
              <a:t>In a Vickrey auction, all bids are kept </a:t>
            </a:r>
            <a:r>
              <a:rPr lang="en-US" b="1" dirty="0"/>
              <a:t>confidential</a:t>
            </a:r>
            <a:r>
              <a:rPr lang="en-US" dirty="0"/>
              <a:t> until the auction concludes. This confidentiality ensures that bidders do not have insights into their competitors' strategies or valuations, which can lead to more honest bidding.</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Second-price Mechanism:</a:t>
            </a:r>
          </a:p>
          <a:p>
            <a:pPr marL="742950" lvl="1" indent="-285750">
              <a:buFont typeface="Arial" panose="020B0604020202020204" pitchFamily="34" charset="0"/>
              <a:buChar char="•"/>
            </a:pPr>
            <a:r>
              <a:rPr lang="en-US" dirty="0"/>
              <a:t>The defining feature of Vickrey auctions is that the </a:t>
            </a:r>
            <a:r>
              <a:rPr lang="en-US" b="1" dirty="0"/>
              <a:t>winner pays the amount of the second-highest bid</a:t>
            </a:r>
            <a:r>
              <a:rPr lang="en-US" dirty="0"/>
              <a:t> rather than their own. This unique aspect encourages bidders to submit their true valuations, as they will not benefit from underbidding.</a:t>
            </a:r>
          </a:p>
          <a:p>
            <a:endParaRPr lang="en-US" b="1" dirty="0"/>
          </a:p>
          <a:p>
            <a:r>
              <a:rPr lang="en-US" b="1" dirty="0"/>
              <a:t>Historical Uses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Sales of Stamps:</a:t>
            </a:r>
          </a:p>
          <a:p>
            <a:pPr marL="742950" lvl="1" indent="-285750">
              <a:buFont typeface="Arial" panose="020B0604020202020204" pitchFamily="34" charset="0"/>
              <a:buChar char="•"/>
            </a:pPr>
            <a:r>
              <a:rPr lang="en-US" dirty="0"/>
              <a:t>Vickrey auctions have been historically used for the sale of rare </a:t>
            </a:r>
            <a:r>
              <a:rPr lang="en-US" b="1" dirty="0"/>
              <a:t>stamps</a:t>
            </a:r>
            <a:r>
              <a:rPr lang="en-US" dirty="0"/>
              <a:t>. In these auctions, bidders are encouraged to reveal their true valuations of collectible items, leading to fair pricing based on actual market demand.</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Other Collectibles:</a:t>
            </a:r>
          </a:p>
          <a:p>
            <a:pPr marL="742950" lvl="1" indent="-285750">
              <a:buFont typeface="Arial" panose="020B0604020202020204" pitchFamily="34" charset="0"/>
              <a:buChar char="•"/>
            </a:pPr>
            <a:r>
              <a:rPr lang="en-US" dirty="0"/>
              <a:t>Similar to stamps, Vickrey auctions have also been applied to the sale of various </a:t>
            </a:r>
            <a:r>
              <a:rPr lang="en-US" b="1" dirty="0"/>
              <a:t>collectibles</a:t>
            </a:r>
            <a:r>
              <a:rPr lang="en-US" dirty="0"/>
              <a:t> such as coins, antiques, and art pieces. The second-price bidding structure helps ensure that valuable items are allocated to those who value them the most.</a:t>
            </a:r>
          </a:p>
          <a:p>
            <a:endParaRPr lang="en-US" b="1" dirty="0"/>
          </a:p>
          <a:p>
            <a:r>
              <a:rPr lang="en-US" b="1" dirty="0"/>
              <a:t>Advantages of Vickrey Auctions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Truthful Bidding:</a:t>
            </a:r>
          </a:p>
          <a:p>
            <a:pPr marL="742950" lvl="1" indent="-285750">
              <a:buFont typeface="Arial" panose="020B0604020202020204" pitchFamily="34" charset="0"/>
              <a:buChar char="•"/>
            </a:pPr>
            <a:r>
              <a:rPr lang="en-US" dirty="0"/>
              <a:t>The structure inherently encourages </a:t>
            </a:r>
            <a:r>
              <a:rPr lang="en-US" b="1" dirty="0"/>
              <a:t>truthful bidding</a:t>
            </a:r>
            <a:r>
              <a:rPr lang="en-US" dirty="0"/>
              <a:t> because bidders can strategize less about competitors’ potential bids.</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Market Efficiency:</a:t>
            </a:r>
          </a:p>
          <a:p>
            <a:pPr marL="742950" lvl="1" indent="-285750">
              <a:buFont typeface="Arial" panose="020B0604020202020204" pitchFamily="34" charset="0"/>
              <a:buChar char="•"/>
            </a:pPr>
            <a:r>
              <a:rPr lang="en-US" dirty="0"/>
              <a:t>The auction tends to allocate goods to the highest valuing bidders, promoting overall market efficiency.</a:t>
            </a:r>
          </a:p>
          <a:p>
            <a:endParaRPr lang="en-US" b="1" dirty="0"/>
          </a:p>
          <a:p>
            <a:r>
              <a:rPr lang="en-US" b="1" dirty="0"/>
              <a:t>Potential Applications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Government Procurement:</a:t>
            </a:r>
          </a:p>
          <a:p>
            <a:pPr marL="742950" lvl="1" indent="-285750">
              <a:buFont typeface="Arial" panose="020B0604020202020204" pitchFamily="34" charset="0"/>
              <a:buChar char="•"/>
            </a:pPr>
            <a:r>
              <a:rPr lang="en-US" dirty="0"/>
              <a:t>Vickrey auctions can be utilized for government contracts or procurement processes, where transparency and fair pricing are crucial.</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Online Marketplaces:</a:t>
            </a:r>
          </a:p>
          <a:p>
            <a:pPr marL="742950" lvl="1" indent="-285750">
              <a:buFont typeface="Arial" panose="020B0604020202020204" pitchFamily="34" charset="0"/>
              <a:buChar char="•"/>
            </a:pPr>
            <a:r>
              <a:rPr lang="en-US" dirty="0"/>
              <a:t>Platforms such as eBay and others could explore Vickrey auction formats for selling high-value items, as it aligns with their digital environment while encouraging competitive bidding.</a:t>
            </a:r>
          </a:p>
          <a:p>
            <a:endParaRPr lang="en-US" b="1" dirty="0"/>
          </a:p>
          <a:p>
            <a:r>
              <a:rPr lang="en-US" b="1" dirty="0"/>
              <a:t>Considerations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Limited Awareness:</a:t>
            </a:r>
          </a:p>
          <a:p>
            <a:pPr marL="742950" lvl="1" indent="-285750">
              <a:buFont typeface="Arial" panose="020B0604020202020204" pitchFamily="34" charset="0"/>
              <a:buChar char="•"/>
            </a:pPr>
            <a:r>
              <a:rPr lang="en-US" dirty="0"/>
              <a:t>Some bidders may be unfamiliar with the mechanics of Vickrey auctions, potentially leading to under-participation or misunderstanding of bidding strategies.</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Complexity for Sellers:</a:t>
            </a:r>
          </a:p>
          <a:p>
            <a:pPr marL="742950" lvl="1" indent="-285750">
              <a:buFont typeface="Arial" panose="020B0604020202020204" pitchFamily="34" charset="0"/>
              <a:buChar char="•"/>
            </a:pPr>
            <a:r>
              <a:rPr lang="en-US" dirty="0"/>
              <a:t>Sellers must ensure that they adequately communicate the auction format to maximize participation and revenue.</a:t>
            </a:r>
          </a:p>
          <a:p>
            <a:endParaRPr dirty="0"/>
          </a:p>
        </p:txBody>
      </p:sp>
    </p:spTree>
    <p:extLst>
      <p:ext uri="{BB962C8B-B14F-4D97-AF65-F5344CB8AC3E}">
        <p14:creationId xmlns:p14="http://schemas.microsoft.com/office/powerpoint/2010/main" val="2925986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analyzes the consequences of overbidding in a Vickrey auction, demonstrating that it either leads to an unfavorable outcome or has no impact compared to truthful bidding.</a:t>
            </a:r>
          </a:p>
          <a:p>
            <a:endParaRPr lang="en-US" b="0" i="0" dirty="0">
              <a:solidFill>
                <a:srgbClr val="E8E8E8"/>
              </a:solidFill>
              <a:effectLst/>
              <a:latin typeface="Google Sans Text"/>
            </a:endParaRPr>
          </a:p>
          <a:p>
            <a:r>
              <a:rPr lang="en-US" b="1" dirty="0"/>
              <a:t>Understanding Overbidding</a:t>
            </a:r>
            <a:r>
              <a:rPr lang="en-US" dirty="0"/>
              <a:t>:</a:t>
            </a:r>
          </a:p>
          <a:p>
            <a:pPr marL="171450" indent="-171450">
              <a:buFont typeface="Arial" panose="020B0604020202020204" pitchFamily="34" charset="0"/>
              <a:buChar char="•"/>
            </a:pPr>
            <a:r>
              <a:rPr lang="en-US" b="1" dirty="0"/>
              <a:t>Definition</a:t>
            </a:r>
            <a:r>
              <a:rPr lang="en-US" dirty="0"/>
              <a:t>: Overbidding occurs when a bidder submits a bid that exceeds their true valuation of the item being auctioned. This strategy can be motivated by a desire to secure the item but often leads to undesirable outcomes.</a:t>
            </a:r>
          </a:p>
          <a:p>
            <a:pPr marL="171450" indent="-171450">
              <a:buFont typeface="Arial" panose="020B0604020202020204" pitchFamily="34" charset="0"/>
              <a:buChar char="•"/>
            </a:pPr>
            <a:endParaRPr lang="en-US" dirty="0"/>
          </a:p>
          <a:p>
            <a:r>
              <a:rPr lang="en-US" b="1" dirty="0"/>
              <a:t>Potential Outcomes of Overbidding</a:t>
            </a:r>
            <a:r>
              <a:rPr lang="en-US" dirty="0"/>
              <a:t>:</a:t>
            </a:r>
          </a:p>
          <a:p>
            <a:pPr marL="171450" indent="-171450">
              <a:buFont typeface="Arial" panose="020B0604020202020204" pitchFamily="34" charset="0"/>
              <a:buChar char="•"/>
            </a:pPr>
            <a:r>
              <a:rPr lang="en-US" b="1" dirty="0"/>
              <a:t>Winning but Overpaying</a:t>
            </a:r>
            <a:r>
              <a:rPr lang="en-US" dirty="0"/>
              <a:t>:</a:t>
            </a:r>
          </a:p>
          <a:p>
            <a:pPr marL="742950" lvl="1" indent="-285750">
              <a:buFont typeface="Arial" panose="020B0604020202020204" pitchFamily="34" charset="0"/>
              <a:buChar char="•"/>
            </a:pPr>
            <a:r>
              <a:rPr lang="en-US" dirty="0"/>
              <a:t>If a bidder overbids and wins, they may find themselves paying a price higher than the value they assign to the good. For example, if a bidder values an item at $100 but bids $120 and wins, they must pay the price of the second-highest bid, which might still be lower than their valuation.</a:t>
            </a:r>
          </a:p>
          <a:p>
            <a:pPr marL="742950" lvl="1" indent="-285750">
              <a:buFont typeface="Arial" panose="020B0604020202020204" pitchFamily="34" charset="0"/>
              <a:buChar char="•"/>
            </a:pPr>
            <a:r>
              <a:rPr lang="en-US" dirty="0"/>
              <a:t>This scenario creates a situation where the bidder ends up with a </a:t>
            </a:r>
            <a:r>
              <a:rPr lang="en-US" b="1" dirty="0"/>
              <a:t>net loss</a:t>
            </a:r>
            <a:r>
              <a:rPr lang="en-US" dirty="0"/>
              <a:t>, as they have overpaid relative to their personal valuation. Such outcomes can lead to bidder regret, reducing the incentive to overbid in future auctions.</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Losing the Auction:</a:t>
            </a:r>
          </a:p>
          <a:p>
            <a:pPr marL="742950" lvl="1" indent="-285750">
              <a:buFont typeface="Arial" panose="020B0604020202020204" pitchFamily="34" charset="0"/>
              <a:buChar char="•"/>
            </a:pPr>
            <a:r>
              <a:rPr lang="en-US" dirty="0"/>
              <a:t>If the second-highest bid exceeds the overbid amount, the bidder loses the auction regardless of their overbid. For instance, if the highest bid is $120 and the second-highest bid is $130, the bidder who overbid at $120 loses the item.</a:t>
            </a:r>
          </a:p>
          <a:p>
            <a:pPr marL="742950" lvl="1" indent="-285750">
              <a:buFont typeface="Arial" panose="020B0604020202020204" pitchFamily="34" charset="0"/>
              <a:buChar char="•"/>
            </a:pPr>
            <a:r>
              <a:rPr lang="en-US" dirty="0"/>
              <a:t>This outcome reinforces the futility of overbidding because it does not guarantee winning the auction, and participants realize that truthful bidding is a safer and more rational strategy.</a:t>
            </a:r>
          </a:p>
          <a:p>
            <a:endParaRPr lang="en-US" b="1" dirty="0"/>
          </a:p>
          <a:p>
            <a:r>
              <a:rPr lang="en-US" b="1" dirty="0"/>
              <a:t>Comparison with Truthful Bidding</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Strategic Incentives:</a:t>
            </a:r>
          </a:p>
          <a:p>
            <a:pPr marL="742950" lvl="1" indent="-285750">
              <a:buFont typeface="Arial" panose="020B0604020202020204" pitchFamily="34" charset="0"/>
              <a:buChar char="•"/>
            </a:pPr>
            <a:r>
              <a:rPr lang="en-US" dirty="0"/>
              <a:t>When bidders are aware that overbidding does not guarantee a win and may lead to unfavorable outcomes, they are more likely to bid according to their true valuation.</a:t>
            </a:r>
          </a:p>
          <a:p>
            <a:pPr marL="742950" lvl="1" indent="-285750">
              <a:buFont typeface="Arial" panose="020B0604020202020204" pitchFamily="34" charset="0"/>
              <a:buChar char="•"/>
            </a:pPr>
            <a:r>
              <a:rPr lang="en-US" dirty="0"/>
              <a:t>Truthful bidding ensures that participants only pay what they believe the item is worth, which increases satisfaction with the auction process and outcomes.</a:t>
            </a:r>
          </a:p>
          <a:p>
            <a:endParaRPr lang="en-US" b="1" dirty="0"/>
          </a:p>
          <a:p>
            <a:r>
              <a:rPr lang="en-US" b="1" dirty="0"/>
              <a:t>Psychological Factors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Fear of Regret:</a:t>
            </a:r>
          </a:p>
          <a:p>
            <a:pPr marL="742950" lvl="1" indent="-285750">
              <a:buFont typeface="Arial" panose="020B0604020202020204" pitchFamily="34" charset="0"/>
              <a:buChar char="•"/>
            </a:pPr>
            <a:r>
              <a:rPr lang="en-US" dirty="0"/>
              <a:t>The potential for regret from overpaying or losing due to overbidding encourages bidders to carefully consider their bids. The fear of making a costly mistake can drive participants towards more honest bidding behaviors.</a:t>
            </a:r>
          </a:p>
          <a:p>
            <a:endParaRPr lang="en-US" b="1" dirty="0"/>
          </a:p>
          <a:p>
            <a:r>
              <a:rPr lang="en-US" b="1" dirty="0"/>
              <a:t>Market Efficiency</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Allocative Efficiency:</a:t>
            </a:r>
          </a:p>
          <a:p>
            <a:pPr marL="742950" lvl="1" indent="-285750">
              <a:buFont typeface="Arial" panose="020B0604020202020204" pitchFamily="34" charset="0"/>
              <a:buChar char="•"/>
            </a:pPr>
            <a:r>
              <a:rPr lang="en-US" dirty="0"/>
              <a:t>By encouraging truthful bidding, Vickrey auctions enhance market efficiency. Items are allocated to those who value them the most, ensuring that resources are distributed optimally.</a:t>
            </a:r>
          </a:p>
          <a:p>
            <a:endParaRPr lang="en-US" b="1" dirty="0"/>
          </a:p>
          <a:p>
            <a:r>
              <a:rPr lang="en-US" b="1" dirty="0"/>
              <a:t>Conclusion</a:t>
            </a:r>
            <a:r>
              <a:rPr lang="en-US" dirty="0"/>
              <a:t>:</a:t>
            </a:r>
          </a:p>
          <a:p>
            <a:pPr marL="171450" indent="-171450">
              <a:buFont typeface="Arial" panose="020B0604020202020204" pitchFamily="34" charset="0"/>
              <a:buChar char="•"/>
            </a:pPr>
            <a:r>
              <a:rPr lang="en-US" dirty="0"/>
              <a:t>Vickrey auctions create a unique bidding environment where overbidding can lead to negative consequences. By understanding these potential outcomes, bidders are incentivized to reveal their true valuations, making Vickrey auctions a robust mechanism for fair and efficient resource allocation.</a:t>
            </a:r>
          </a:p>
          <a:p>
            <a:endParaRPr dirty="0"/>
          </a:p>
        </p:txBody>
      </p:sp>
    </p:spTree>
    <p:extLst>
      <p:ext uri="{BB962C8B-B14F-4D97-AF65-F5344CB8AC3E}">
        <p14:creationId xmlns:p14="http://schemas.microsoft.com/office/powerpoint/2010/main" val="2866550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examines the implications of underbidding in a Vickrey auction, showing that it either reduces your chances of winning or has no effect on the final price.</a:t>
            </a:r>
          </a:p>
          <a:p>
            <a:endParaRPr lang="en-US" b="0" i="0" dirty="0">
              <a:solidFill>
                <a:srgbClr val="E8E8E8"/>
              </a:solidFill>
              <a:effectLst/>
              <a:latin typeface="Google Sans Text"/>
            </a:endParaRPr>
          </a:p>
          <a:p>
            <a:r>
              <a:rPr lang="en-US" b="1" dirty="0"/>
              <a:t>Understanding Underbidding</a:t>
            </a:r>
            <a:r>
              <a:rPr lang="en-US" dirty="0"/>
              <a:t>:</a:t>
            </a:r>
          </a:p>
          <a:p>
            <a:pPr marL="171450" indent="-171450">
              <a:buFont typeface="Arial" panose="020B0604020202020204" pitchFamily="34" charset="0"/>
              <a:buChar char="•"/>
            </a:pPr>
            <a:r>
              <a:rPr lang="en-US" b="1" dirty="0"/>
              <a:t>Definition</a:t>
            </a:r>
            <a:r>
              <a:rPr lang="en-US" dirty="0"/>
              <a:t>: Underbidding occurs when a bidder submits a bid that is lower than their true valuation of the item being auctioned. This strategy may stem from caution or an attempt to save costs, but it can lead to significant drawbacks.</a:t>
            </a:r>
          </a:p>
          <a:p>
            <a:pPr marL="171450" indent="-171450">
              <a:buFont typeface="Arial" panose="020B0604020202020204" pitchFamily="34" charset="0"/>
              <a:buChar char="•"/>
            </a:pPr>
            <a:endParaRPr lang="en-US" dirty="0"/>
          </a:p>
          <a:p>
            <a:r>
              <a:rPr lang="en-US" b="1" dirty="0"/>
              <a:t>Potential Outcomes of Underbidding</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Losing a Potential Win:</a:t>
            </a:r>
          </a:p>
          <a:p>
            <a:pPr marL="742950" lvl="1" indent="-285750">
              <a:buFont typeface="Arial" panose="020B0604020202020204" pitchFamily="34" charset="0"/>
              <a:buChar char="•"/>
            </a:pPr>
            <a:r>
              <a:rPr lang="en-US" dirty="0"/>
              <a:t>If a bidder underbids—meaning they submit a bid lower than their actual valuation—they may miss the opportunity to win the auction. For instance, if a bidder values an item at $150 but submits a bid of only $100, they could lose to another bidder who bids $120.</a:t>
            </a:r>
          </a:p>
          <a:p>
            <a:pPr marL="742950" lvl="1" indent="-285750">
              <a:buFont typeface="Arial" panose="020B0604020202020204" pitchFamily="34" charset="0"/>
              <a:buChar char="•"/>
            </a:pPr>
            <a:r>
              <a:rPr lang="en-US" dirty="0"/>
              <a:t>In this scenario, the underbidding bidder would not only lose the auction but also the chance to acquire the item at a price below their true valuation. This can lead to missed opportunities and potential regret.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Winning but with No Price Benefit:</a:t>
            </a:r>
          </a:p>
          <a:p>
            <a:pPr marL="742950" lvl="1" indent="-285750">
              <a:buFont typeface="Arial" panose="020B0604020202020204" pitchFamily="34" charset="0"/>
              <a:buChar char="•"/>
            </a:pPr>
            <a:r>
              <a:rPr lang="en-US" dirty="0"/>
              <a:t>If a bidder underbids and still wins the auction, they may not experience the expected benefits from underbidding. In a Vickrey auction, the winner pays the amount of the second-highest bid, which is unaffected by the winning bidder's own bid.</a:t>
            </a:r>
          </a:p>
          <a:p>
            <a:pPr marL="742950" lvl="1" indent="-285750">
              <a:buFont typeface="Arial" panose="020B0604020202020204" pitchFamily="34" charset="0"/>
              <a:buChar char="•"/>
            </a:pPr>
            <a:r>
              <a:rPr lang="en-US" dirty="0"/>
              <a:t>For example, if the second-highest bid is $110 and the winning bid is $100 (the underbid), the winner still pays $110, which can be equal to or higher than their underbid amount. This means that underbidding does not provide any financial advantage in terms of the winning price.</a:t>
            </a:r>
          </a:p>
          <a:p>
            <a:endParaRPr lang="en-US" b="1" dirty="0"/>
          </a:p>
          <a:p>
            <a:r>
              <a:rPr lang="en-US" b="1" dirty="0"/>
              <a:t>Comparison with Truthful Bidding</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Strategic Incentives:</a:t>
            </a:r>
          </a:p>
          <a:p>
            <a:pPr marL="742950" lvl="1" indent="-285750">
              <a:buFont typeface="Arial" panose="020B0604020202020204" pitchFamily="34" charset="0"/>
              <a:buChar char="•"/>
            </a:pPr>
            <a:r>
              <a:rPr lang="en-US" dirty="0"/>
              <a:t>Underbidding can be risky because it may lead to losing an auction or paying an unexpected price. Truthful bidding, on the other hand, allows bidders to secure items at fair prices based on their valuations, minimizing the risk of regret or missed opportunities.</a:t>
            </a:r>
          </a:p>
          <a:p>
            <a:endParaRPr lang="en-US" b="1" dirty="0"/>
          </a:p>
          <a:p>
            <a:r>
              <a:rPr lang="en-US" b="1" dirty="0"/>
              <a:t>Psychological Factors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Fear of Overpaying:</a:t>
            </a:r>
          </a:p>
          <a:p>
            <a:pPr marL="742950" lvl="1" indent="-285750">
              <a:buFont typeface="Arial" panose="020B0604020202020204" pitchFamily="34" charset="0"/>
              <a:buChar char="•"/>
            </a:pPr>
            <a:r>
              <a:rPr lang="en-US" dirty="0"/>
              <a:t>While some bidders may fear overpaying and thus choose to underbid, this strategy often backfires. The worry about losing out on a valuable item or paying more than necessary can motivate bidders to stick to their true valuations instead.</a:t>
            </a:r>
          </a:p>
          <a:p>
            <a:endParaRPr lang="en-US" b="1" dirty="0"/>
          </a:p>
          <a:p>
            <a:r>
              <a:rPr lang="en-US" b="1" dirty="0"/>
              <a:t>Market Efficiency</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Allocative Efficiency:</a:t>
            </a:r>
          </a:p>
          <a:p>
            <a:pPr marL="742950" lvl="1" indent="-285750">
              <a:buFont typeface="Arial" panose="020B0604020202020204" pitchFamily="34" charset="0"/>
              <a:buChar char="•"/>
            </a:pPr>
            <a:r>
              <a:rPr lang="en-US" dirty="0"/>
              <a:t>Vickrey auctions encourage participants to reveal their true valuations, thereby enhancing the overall efficiency of the market. By ensuring that items go to those who value them the most, the auction format promotes optimal resource allocation.</a:t>
            </a:r>
          </a:p>
          <a:p>
            <a:endParaRPr lang="en-US" b="1" dirty="0"/>
          </a:p>
          <a:p>
            <a:r>
              <a:rPr lang="en-US" b="1" dirty="0"/>
              <a:t>Conclusion</a:t>
            </a:r>
            <a:r>
              <a:rPr lang="en-US" dirty="0"/>
              <a:t>:</a:t>
            </a:r>
          </a:p>
          <a:p>
            <a:pPr marL="171450" indent="-171450">
              <a:buFont typeface="Arial" panose="020B0604020202020204" pitchFamily="34" charset="0"/>
              <a:buChar char="•"/>
            </a:pPr>
            <a:r>
              <a:rPr lang="en-US" dirty="0"/>
              <a:t>Underbidding in Vickrey auctions can lead to undesirable outcomes, including the loss of potential wins and missed financial advantages. By understanding these risks, bidders are encouraged to bid truthfully, resulting in fairer auctions and better market outcomes. This dynamic creates a compelling case for the benefits of honest bidding in Vickrey auction formats.</a:t>
            </a:r>
          </a:p>
          <a:p>
            <a:endParaRPr dirty="0"/>
          </a:p>
        </p:txBody>
      </p:sp>
    </p:spTree>
    <p:extLst>
      <p:ext uri="{BB962C8B-B14F-4D97-AF65-F5344CB8AC3E}">
        <p14:creationId xmlns:p14="http://schemas.microsoft.com/office/powerpoint/2010/main" val="3533488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summarizes the previous two slides, emphasizing the dominant strategy of truthful bidding in Vickrey auctions. It reinforces the idea that bidders are always best served by aligning their bids with their actual valuations.</a:t>
            </a:r>
          </a:p>
          <a:p>
            <a:endParaRPr lang="en-US" b="0" i="0" dirty="0">
              <a:solidFill>
                <a:srgbClr val="E8E8E8"/>
              </a:solidFill>
              <a:effectLst/>
              <a:latin typeface="Google Sans Text"/>
            </a:endParaRPr>
          </a:p>
          <a:p>
            <a:r>
              <a:rPr lang="en-US" b="1" dirty="0"/>
              <a:t>Key Insight</a:t>
            </a:r>
            <a:r>
              <a:rPr lang="en-US" dirty="0"/>
              <a:t>:</a:t>
            </a:r>
          </a:p>
          <a:p>
            <a:pPr marL="171450" indent="-171450">
              <a:buFont typeface="Arial" panose="020B0604020202020204" pitchFamily="34" charset="0"/>
              <a:buChar char="•"/>
            </a:pPr>
            <a:r>
              <a:rPr lang="en-US" dirty="0"/>
              <a:t>In Vickrey auctions, the strategy of bidding one’s true valuation emerges as the dominant approach. This means that bidders maximize their expected utility by revealing their genuine worth for the item, leading to more favorable outcomes.</a:t>
            </a:r>
          </a:p>
          <a:p>
            <a:pPr marL="171450" indent="-171450">
              <a:buFont typeface="Arial" panose="020B0604020202020204" pitchFamily="34" charset="0"/>
              <a:buChar char="•"/>
            </a:pPr>
            <a:endParaRPr lang="en-US" dirty="0"/>
          </a:p>
          <a:p>
            <a:r>
              <a:rPr lang="en-US" b="1" dirty="0"/>
              <a:t>Rationale for Truthful Bidding</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Overbidding Risks:</a:t>
            </a:r>
          </a:p>
          <a:p>
            <a:pPr marL="742950" lvl="1" indent="-285750">
              <a:buFont typeface="Arial" panose="020B0604020202020204" pitchFamily="34" charset="0"/>
              <a:buChar char="•"/>
            </a:pPr>
            <a:r>
              <a:rPr lang="en-US" dirty="0"/>
              <a:t>When bidders submit bids that exceed their true valuations (overbidding), they face two primary risks:</a:t>
            </a:r>
          </a:p>
          <a:p>
            <a:pPr marL="1143000" lvl="2" indent="-228600">
              <a:buFont typeface="Arial" panose="020B0604020202020204" pitchFamily="34" charset="0"/>
              <a:buChar char="•"/>
            </a:pPr>
            <a:r>
              <a:rPr lang="en-US" b="1" dirty="0"/>
              <a:t>Winning and Overpaying</a:t>
            </a:r>
            <a:r>
              <a:rPr lang="en-US" dirty="0"/>
              <a:t>: If the bidder wins, they may pay more than the item's actual worth to them, resulting in a loss of consumer surplus.</a:t>
            </a:r>
          </a:p>
          <a:p>
            <a:pPr marL="1143000" lvl="2" indent="-228600">
              <a:buFont typeface="Arial" panose="020B0604020202020204" pitchFamily="34" charset="0"/>
              <a:buChar char="•"/>
            </a:pPr>
            <a:r>
              <a:rPr lang="en-US" b="1" dirty="0"/>
              <a:t>Loss Due to High Competition</a:t>
            </a:r>
            <a:r>
              <a:rPr lang="en-US" dirty="0"/>
              <a:t>: If another bidder places a higher bid, the overbidder will lose the auction, thereby forfeiting the chance to acquire the item entirely. This outcome can be particularly frustrating if the bidder had been willing to pay a lower price that reflected their true valuation.</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Underbidding Consequences:</a:t>
            </a:r>
          </a:p>
          <a:p>
            <a:pPr marL="742950" lvl="1" indent="-285750">
              <a:buFont typeface="Arial" panose="020B0604020202020204" pitchFamily="34" charset="0"/>
              <a:buChar char="•"/>
            </a:pPr>
            <a:r>
              <a:rPr lang="en-US" dirty="0"/>
              <a:t>Conversely, underbidding (submitting a bid below one’s true valuation) can lead to negative outcomes as well:</a:t>
            </a:r>
          </a:p>
          <a:p>
            <a:pPr marL="1143000" lvl="2" indent="-228600">
              <a:buFont typeface="Arial" panose="020B0604020202020204" pitchFamily="34" charset="0"/>
              <a:buChar char="•"/>
            </a:pPr>
            <a:r>
              <a:rPr lang="en-US" b="1" dirty="0"/>
              <a:t>Reduced Chances of Winning</a:t>
            </a:r>
            <a:r>
              <a:rPr lang="en-US" dirty="0"/>
              <a:t>: By bidding lower than their actual value, bidders risk losing the auction even when they would have been willing to pay more than the second-highest bid.</a:t>
            </a:r>
          </a:p>
          <a:p>
            <a:pPr marL="1143000" lvl="2" indent="-228600">
              <a:buFont typeface="Arial" panose="020B0604020202020204" pitchFamily="34" charset="0"/>
              <a:buChar char="•"/>
            </a:pPr>
            <a:r>
              <a:rPr lang="en-US" b="1" dirty="0"/>
              <a:t>No Advantage in Pricing</a:t>
            </a:r>
            <a:r>
              <a:rPr lang="en-US" dirty="0"/>
              <a:t>: Even if an underbidder manages to win, they do not gain any financial benefit; they will still pay the second-highest bid. This means their underbid does not translate into any savings, effectively nullifying the strategic advantage they hoped to achieve.</a:t>
            </a:r>
          </a:p>
          <a:p>
            <a:endParaRPr lang="en-US" b="1" dirty="0"/>
          </a:p>
          <a:p>
            <a:r>
              <a:rPr lang="en-US" b="1" dirty="0"/>
              <a:t>Utility Maximization</a:t>
            </a:r>
            <a:r>
              <a:rPr lang="en-US" dirty="0"/>
              <a:t>:</a:t>
            </a:r>
          </a:p>
          <a:p>
            <a:pPr marL="171450" indent="-171450">
              <a:buFont typeface="Arial" panose="020B0604020202020204" pitchFamily="34" charset="0"/>
              <a:buChar char="•"/>
            </a:pPr>
            <a:r>
              <a:rPr lang="en-US" dirty="0"/>
              <a:t>Bidders in Vickrey auctions are motivated by the principle of utility maximization. Bidding truthfully aligns their actions with their true valuations, ensuring they can acquire goods at prices that reflect their perceived worth.</a:t>
            </a:r>
          </a:p>
          <a:p>
            <a:pPr marL="171450" indent="-171450">
              <a:buFont typeface="Arial" panose="020B0604020202020204" pitchFamily="34" charset="0"/>
              <a:buChar char="•"/>
            </a:pPr>
            <a:r>
              <a:rPr lang="en-US" dirty="0"/>
              <a:t>The Vickrey auction structure inherently rewards honesty, as it minimizes the chances of regret and maximizes the likelihood of acquiring valued items without overpaying.</a:t>
            </a:r>
          </a:p>
          <a:p>
            <a:endParaRPr lang="en-US" b="1" dirty="0"/>
          </a:p>
          <a:p>
            <a:r>
              <a:rPr lang="en-US" b="1" dirty="0"/>
              <a:t>Strategic Equilibrium</a:t>
            </a:r>
            <a:r>
              <a:rPr lang="en-US" dirty="0"/>
              <a:t>:</a:t>
            </a:r>
          </a:p>
          <a:p>
            <a:pPr marL="171450" indent="-171450">
              <a:buFont typeface="Arial" panose="020B0604020202020204" pitchFamily="34" charset="0"/>
              <a:buChar char="•"/>
            </a:pPr>
            <a:r>
              <a:rPr lang="en-US" dirty="0"/>
              <a:t>The nature of Vickrey auctions fosters a strategic equilibrium where all rational bidders recognize that truthful bidding is optimal. This convergence on a common strategy enhances the overall efficiency of the auction process, allowing for smoother transactions and fairer distributions of goods.</a:t>
            </a:r>
          </a:p>
          <a:p>
            <a:endParaRPr lang="en-US" b="1" dirty="0"/>
          </a:p>
          <a:p>
            <a:r>
              <a:rPr lang="en-US" b="1" dirty="0"/>
              <a:t>Conclusion</a:t>
            </a:r>
            <a:r>
              <a:rPr lang="en-US" dirty="0"/>
              <a:t>:</a:t>
            </a:r>
          </a:p>
          <a:p>
            <a:pPr marL="171450" indent="-171450">
              <a:buFont typeface="Arial" panose="020B0604020202020204" pitchFamily="34" charset="0"/>
              <a:buChar char="•"/>
            </a:pPr>
            <a:r>
              <a:rPr lang="en-US" dirty="0"/>
              <a:t>The dominance of truthful bidding in Vickrey auctions is a crucial insight for bidders. By understanding the drawbacks of overbidding and underbidding, participants are encouraged to reveal their true valuations, leading to better outcomes for both bidders and sellers. This principle highlights the elegance and effectiveness of the Vickrey auction format in promoting honesty and efficiency in bidding behavior.</a:t>
            </a:r>
          </a:p>
          <a:p>
            <a:endParaRPr dirty="0"/>
          </a:p>
        </p:txBody>
      </p:sp>
    </p:spTree>
    <p:extLst>
      <p:ext uri="{BB962C8B-B14F-4D97-AF65-F5344CB8AC3E}">
        <p14:creationId xmlns:p14="http://schemas.microsoft.com/office/powerpoint/2010/main" val="1515782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addresses the issue of collusion, explaining how bidders or even the auctioneer can manipulate auction outcomes. It underscores the challenges of ensuring fairness and transparency in auction environments.</a:t>
            </a:r>
          </a:p>
          <a:p>
            <a:endParaRPr lang="en-US" b="0" i="0" dirty="0">
              <a:solidFill>
                <a:srgbClr val="E8E8E8"/>
              </a:solidFill>
              <a:effectLst/>
              <a:latin typeface="Google Sans Text"/>
            </a:endParaRPr>
          </a:p>
          <a:p>
            <a:r>
              <a:rPr lang="en-US" b="1" dirty="0"/>
              <a:t>Susceptibility to Collusion</a:t>
            </a:r>
            <a:r>
              <a:rPr lang="en-US" dirty="0"/>
              <a:t>:</a:t>
            </a:r>
          </a:p>
          <a:p>
            <a:pPr marL="171450" indent="-171450">
              <a:buFont typeface="Arial" panose="020B0604020202020204" pitchFamily="34" charset="0"/>
              <a:buChar char="•"/>
            </a:pPr>
            <a:r>
              <a:rPr lang="en-US" dirty="0"/>
              <a:t>Collusion among bidders is a significant concern across all types of auctions. This behavior undermines the integrity of the auction process, leading to inefficiencies and unfair outcomes. Bidders may form agreements, whether explicit or implicit, to manipulate the auction dynamics in their favor.</a:t>
            </a:r>
          </a:p>
          <a:p>
            <a:endParaRPr lang="en-US" b="1" dirty="0"/>
          </a:p>
          <a:p>
            <a:r>
              <a:rPr lang="en-US" b="1" dirty="0"/>
              <a:t>Collusive Strategies</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Bid Suppression:</a:t>
            </a:r>
          </a:p>
          <a:p>
            <a:pPr marL="742950" lvl="1" indent="-285750">
              <a:buFont typeface="Arial" panose="020B0604020202020204" pitchFamily="34" charset="0"/>
              <a:buChar char="•"/>
            </a:pPr>
            <a:r>
              <a:rPr lang="en-US" dirty="0"/>
              <a:t>Bidders may collaborate to artificially lower bids during the auction. By agreeing in advance on the maximum amount each bidder will offer, they can prevent competitive bidding that would normally drive prices higher. This strategy allows colluding bidders to acquire the item at a price below its market value while sharing any resulting profits.</a:t>
            </a:r>
          </a:p>
          <a:p>
            <a:pPr marL="742950" lvl="1" indent="-285750">
              <a:buFont typeface="Arial" panose="020B0604020202020204" pitchFamily="34" charset="0"/>
              <a:buChar char="•"/>
            </a:pPr>
            <a:r>
              <a:rPr lang="en-US" b="1" dirty="0"/>
              <a:t>Price Fixing</a:t>
            </a:r>
            <a:r>
              <a:rPr lang="en-US" dirty="0"/>
              <a:t>: They may also coordinate to set a predetermined price for the auction item, thus negating the competitive nature of the auction and creating an unfair advantage over other bidders who are not part of the collusion.</a:t>
            </a:r>
          </a:p>
          <a:p>
            <a:endParaRPr lang="en-US" b="1" dirty="0"/>
          </a:p>
          <a:p>
            <a:r>
              <a:rPr lang="en-US" b="1" dirty="0"/>
              <a:t>Risks of Collusion</a:t>
            </a:r>
            <a:r>
              <a:rPr lang="en-US" dirty="0"/>
              <a:t>:</a:t>
            </a:r>
          </a:p>
          <a:p>
            <a:pPr marL="171450" indent="-171450">
              <a:buFont typeface="Arial" panose="020B0604020202020204" pitchFamily="34" charset="0"/>
              <a:buChar char="•"/>
            </a:pPr>
            <a:r>
              <a:rPr lang="en-US" dirty="0"/>
              <a:t>While collusion may initially seem beneficial for the involved bidders, it carries significant risks:</a:t>
            </a:r>
          </a:p>
          <a:p>
            <a:pPr marL="742950" lvl="1" indent="-285750">
              <a:buFont typeface="Arial" panose="020B0604020202020204" pitchFamily="34" charset="0"/>
              <a:buChar char="•"/>
            </a:pPr>
            <a:r>
              <a:rPr lang="en-US" b="1" dirty="0"/>
              <a:t>Legal Consequences</a:t>
            </a:r>
            <a:r>
              <a:rPr lang="en-US" dirty="0"/>
              <a:t>: Many jurisdictions consider collusion in auctions to be illegal, and participants may face legal penalties if caught.</a:t>
            </a:r>
          </a:p>
          <a:p>
            <a:pPr marL="742950" lvl="1" indent="-285750">
              <a:buFont typeface="Arial" panose="020B0604020202020204" pitchFamily="34" charset="0"/>
              <a:buChar char="•"/>
            </a:pPr>
            <a:r>
              <a:rPr lang="en-US" b="1" dirty="0"/>
              <a:t>Loss of Trust</a:t>
            </a:r>
            <a:r>
              <a:rPr lang="en-US" dirty="0"/>
              <a:t>: Collusion can lead to distrust among participants in future auctions, damaging the reputation of the auctioneer and the bidding process overall.</a:t>
            </a:r>
          </a:p>
          <a:p>
            <a:endParaRPr lang="en-US" b="1" dirty="0"/>
          </a:p>
          <a:p>
            <a:r>
              <a:rPr lang="en-US" b="1" dirty="0"/>
              <a:t>Auctioneer Manipulation</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Shill Bidding:</a:t>
            </a:r>
          </a:p>
          <a:p>
            <a:pPr marL="742950" lvl="1" indent="-285750">
              <a:buFont typeface="Arial" panose="020B0604020202020204" pitchFamily="34" charset="0"/>
              <a:buChar char="•"/>
            </a:pPr>
            <a:r>
              <a:rPr lang="en-US" dirty="0"/>
              <a:t>Auctioneers may employ tactics such as fake bidders (shills) to artificially inflate prices. These shills place bids that create the illusion of competitive interest, driving up the final selling price.</a:t>
            </a:r>
          </a:p>
          <a:p>
            <a:pPr marL="742950" lvl="1" indent="-285750">
              <a:buFont typeface="Arial" panose="020B0604020202020204" pitchFamily="34" charset="0"/>
              <a:buChar char="•"/>
            </a:pPr>
            <a:r>
              <a:rPr lang="en-US" dirty="0"/>
              <a:t>This manipulation can lead to the </a:t>
            </a:r>
            <a:r>
              <a:rPr lang="en-US" b="1" dirty="0"/>
              <a:t>winner's curse</a:t>
            </a:r>
            <a:r>
              <a:rPr lang="en-US" dirty="0"/>
              <a:t>, where the winning bidder ends up overpaying for the item, thinking they are in a competitive bidding scenario when, in fact, the auctioneer has artificially manipulated the bidding landscape.</a:t>
            </a:r>
          </a:p>
          <a:p>
            <a:pPr marL="742950" lvl="1" indent="-285750">
              <a:buFont typeface="Arial" panose="020B0604020202020204" pitchFamily="34" charset="0"/>
              <a:buChar char="•"/>
            </a:pPr>
            <a:r>
              <a:rPr lang="en-US" b="1" dirty="0"/>
              <a:t>Consequences for Bidders</a:t>
            </a:r>
            <a:r>
              <a:rPr lang="en-US" dirty="0"/>
              <a:t>: Bidders unaware of shill activity may make bids that exceed their true valuations, ultimately resulting in dissatisfaction and financial loss.</a:t>
            </a:r>
          </a:p>
          <a:p>
            <a:endParaRPr lang="en-US" b="1" dirty="0"/>
          </a:p>
          <a:p>
            <a:r>
              <a:rPr lang="en-US" b="1" dirty="0"/>
              <a:t>Prevention and Regulation</a:t>
            </a:r>
            <a:r>
              <a:rPr lang="en-US" dirty="0"/>
              <a:t>:</a:t>
            </a:r>
          </a:p>
          <a:p>
            <a:pPr marL="171450" indent="-171450">
              <a:buFont typeface="Arial" panose="020B0604020202020204" pitchFamily="34" charset="0"/>
              <a:buChar char="•"/>
            </a:pPr>
            <a:r>
              <a:rPr lang="en-US" dirty="0"/>
              <a:t>To mitigate the risks of collusion and manipulation, auction houses can implement measures such as:</a:t>
            </a:r>
          </a:p>
          <a:p>
            <a:pPr marL="742950" lvl="1" indent="-285750">
              <a:buFont typeface="Arial" panose="020B0604020202020204" pitchFamily="34" charset="0"/>
              <a:buChar char="•"/>
            </a:pPr>
            <a:r>
              <a:rPr lang="en-US" b="1" dirty="0"/>
              <a:t>Transparency</a:t>
            </a:r>
            <a:r>
              <a:rPr lang="en-US" dirty="0"/>
              <a:t>: Providing clear rules and monitoring auction activities to detect unusual bidding patterns.</a:t>
            </a:r>
          </a:p>
          <a:p>
            <a:pPr marL="742950" lvl="1" indent="-285750">
              <a:buFont typeface="Arial" panose="020B0604020202020204" pitchFamily="34" charset="0"/>
              <a:buChar char="•"/>
            </a:pPr>
            <a:r>
              <a:rPr lang="en-US" b="1" dirty="0"/>
              <a:t>Reporting Mechanisms</a:t>
            </a:r>
            <a:r>
              <a:rPr lang="en-US" dirty="0"/>
              <a:t>: Encouraging participants to report suspicious bidding behaviors can help maintain auction integrity.</a:t>
            </a:r>
          </a:p>
          <a:p>
            <a:pPr marL="742950" lvl="1" indent="-285750">
              <a:buFont typeface="Arial" panose="020B0604020202020204" pitchFamily="34" charset="0"/>
              <a:buChar char="•"/>
            </a:pPr>
            <a:r>
              <a:rPr lang="en-US" b="1" dirty="0"/>
              <a:t>Legal Frameworks</a:t>
            </a:r>
            <a:r>
              <a:rPr lang="en-US" dirty="0"/>
              <a:t>: Enforcing laws and regulations against collusion can deter such behavior and promote fair competition.</a:t>
            </a:r>
          </a:p>
          <a:p>
            <a:endParaRPr lang="en-US" b="1" dirty="0"/>
          </a:p>
          <a:p>
            <a:r>
              <a:rPr lang="en-US" b="1" dirty="0"/>
              <a:t>Conclusion</a:t>
            </a:r>
            <a:r>
              <a:rPr lang="en-US" dirty="0"/>
              <a:t>:</a:t>
            </a:r>
          </a:p>
          <a:p>
            <a:pPr marL="171450" indent="-171450">
              <a:buFont typeface="Arial" panose="020B0604020202020204" pitchFamily="34" charset="0"/>
              <a:buChar char="•"/>
            </a:pPr>
            <a:r>
              <a:rPr lang="en-US" dirty="0"/>
              <a:t>Collusion poses a significant threat to the efficacy and fairness of auctions. Both bidders and auctioneers can engage in manipulative practices that distort true market values, leading to suboptimal outcomes. Understanding these dynamics is crucial for all participants in the auction process, and robust measures must be in place to ensure fairness and trust in auction settings.</a:t>
            </a:r>
          </a:p>
          <a:p>
            <a:endParaRPr dirty="0"/>
          </a:p>
        </p:txBody>
      </p:sp>
    </p:spTree>
    <p:extLst>
      <p:ext uri="{BB962C8B-B14F-4D97-AF65-F5344CB8AC3E}">
        <p14:creationId xmlns:p14="http://schemas.microsoft.com/office/powerpoint/2010/main" val="905785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combinatorial auctions, highlighting their ability to handle auctions for sets of goods rather than individual items. It illustrates this with a practical example of a bid on a bundle of items.</a:t>
            </a:r>
          </a:p>
          <a:p>
            <a:endParaRPr lang="en-US" b="0" i="0" dirty="0">
              <a:solidFill>
                <a:srgbClr val="E8E8E8"/>
              </a:solidFill>
              <a:effectLst/>
              <a:latin typeface="Google Sans Text"/>
            </a:endParaRPr>
          </a:p>
          <a:p>
            <a:r>
              <a:rPr lang="en-US" b="1" dirty="0"/>
              <a:t>Purpose of Combinatorial Auctions</a:t>
            </a:r>
            <a:r>
              <a:rPr lang="en-US" dirty="0"/>
              <a:t>:</a:t>
            </a:r>
          </a:p>
          <a:p>
            <a:pPr marL="171450" indent="-171450">
              <a:buFont typeface="Arial" panose="020B0604020202020204" pitchFamily="34" charset="0"/>
              <a:buChar char="•"/>
            </a:pPr>
            <a:r>
              <a:rPr lang="en-US" dirty="0"/>
              <a:t>Combinatorial auctions are designed to allow bidders to compete for multiple goods simultaneously, enabling the sale of goods as bundles rather than individual items. This approach helps to maximize the total value obtained from the auction by considering the synergies between items that may be more valuable together than separately.</a:t>
            </a:r>
          </a:p>
          <a:p>
            <a:endParaRPr lang="en-US" b="1" dirty="0"/>
          </a:p>
          <a:p>
            <a:r>
              <a:rPr lang="en-US" b="1" dirty="0"/>
              <a:t>Bidding Flexibility</a:t>
            </a:r>
            <a:r>
              <a:rPr lang="en-US" dirty="0"/>
              <a:t>:</a:t>
            </a:r>
          </a:p>
          <a:p>
            <a:pPr marL="171450" indent="-171450">
              <a:buFont typeface="Arial" panose="020B0604020202020204" pitchFamily="34" charset="0"/>
              <a:buChar char="•"/>
            </a:pPr>
            <a:r>
              <a:rPr lang="en-US" dirty="0"/>
              <a:t>In combinatorial auctions, bidders have the flexibility to place bids on any combination of items. This allows participants to express their preferences and valuations more accurately. For instance, a bidder might perceive greater value in acquiring a set of items than in obtaining them individually, leading to more competitive bidding and potentially higher revenue for the seller.</a:t>
            </a:r>
          </a:p>
          <a:p>
            <a:pPr marL="171450" indent="-171450">
              <a:buFont typeface="Arial" panose="020B0604020202020204" pitchFamily="34" charset="0"/>
              <a:buChar char="•"/>
            </a:pPr>
            <a:r>
              <a:rPr lang="en-US" b="1" dirty="0"/>
              <a:t>Strategic Bidding</a:t>
            </a:r>
            <a:r>
              <a:rPr lang="en-US" dirty="0"/>
              <a:t>: Bidders can craft strategic bids that reflect their unique valuation of different combinations. This strategy can lead to more efficient allocations, as it allows bidders to indicate how much they are willing to pay for specific bundles rather than being limited to individual item bids.</a:t>
            </a:r>
          </a:p>
          <a:p>
            <a:endParaRPr lang="en-US" b="1" dirty="0"/>
          </a:p>
          <a:p>
            <a:r>
              <a:rPr lang="en-US" b="1" dirty="0"/>
              <a:t>Example of a Bid</a:t>
            </a:r>
            <a:r>
              <a:rPr lang="en-US" dirty="0"/>
              <a:t>:</a:t>
            </a:r>
          </a:p>
          <a:p>
            <a:pPr marL="171450" indent="-171450">
              <a:buFont typeface="Arial" panose="020B0604020202020204" pitchFamily="34" charset="0"/>
              <a:buChar char="•"/>
            </a:pPr>
            <a:r>
              <a:rPr lang="en-US" dirty="0"/>
              <a:t>An example bid might be stated as follows: “I bid $100 for the TV, VCR, and couch.” This bid indicates the bidder's willingness to pay a specific amount for a specific combination of goods, capturing the additional value perceived in acquiring all three items together.</a:t>
            </a:r>
          </a:p>
          <a:p>
            <a:pPr marL="171450" indent="-171450">
              <a:buFont typeface="Arial" panose="020B0604020202020204" pitchFamily="34" charset="0"/>
              <a:buChar char="•"/>
            </a:pPr>
            <a:r>
              <a:rPr lang="en-US" b="1" dirty="0"/>
              <a:t>Complex Bidding Scenarios</a:t>
            </a:r>
            <a:r>
              <a:rPr lang="en-US" dirty="0"/>
              <a:t>: In practice, bids can become quite complex, with bidders potentially offering multiple combinations. For example, one bidder might offer $100 for a bundle of three items while another bidder might offer $60 for just one of those items. This complexity can create challenges in determining the winning bids and the overall allocation of goods.</a:t>
            </a:r>
          </a:p>
          <a:p>
            <a:endParaRPr lang="en-US" b="1" dirty="0"/>
          </a:p>
          <a:p>
            <a:r>
              <a:rPr lang="en-US" b="1" dirty="0"/>
              <a:t>Challenges of Combinatorial Auctions</a:t>
            </a:r>
            <a:r>
              <a:rPr lang="en-US" dirty="0"/>
              <a:t>:</a:t>
            </a:r>
          </a:p>
          <a:p>
            <a:pPr marL="171450" indent="-171450">
              <a:buFont typeface="Arial" panose="020B0604020202020204" pitchFamily="34" charset="0"/>
              <a:buChar char="•"/>
            </a:pPr>
            <a:r>
              <a:rPr lang="en-US" b="1" dirty="0"/>
              <a:t>Winner Determination</a:t>
            </a:r>
            <a:r>
              <a:rPr lang="en-US" dirty="0"/>
              <a:t>: The process of determining the winning bids in combinatorial auctions can be computationally intensive. Auctioneers need to analyze various combinations to maximize total revenue, which can lead to challenges in implementation.</a:t>
            </a:r>
          </a:p>
          <a:p>
            <a:pPr marL="171450" indent="-171450">
              <a:buFont typeface="Arial" panose="020B0604020202020204" pitchFamily="34" charset="0"/>
              <a:buChar char="•"/>
            </a:pPr>
            <a:r>
              <a:rPr lang="en-US" b="1" dirty="0"/>
              <a:t>Information Asymmetry</a:t>
            </a:r>
            <a:r>
              <a:rPr lang="en-US" dirty="0"/>
              <a:t>: Bidders may have differing levels of information about the value of items, leading to strategic bidding behavior and potential misunderstandings about the true worth of the bundles.</a:t>
            </a:r>
          </a:p>
          <a:p>
            <a:pPr marL="171450" indent="-171450">
              <a:buFont typeface="Arial" panose="020B0604020202020204" pitchFamily="34" charset="0"/>
              <a:buChar char="•"/>
            </a:pPr>
            <a:r>
              <a:rPr lang="en-US" b="1" dirty="0"/>
              <a:t>Potential for Collusion</a:t>
            </a:r>
            <a:r>
              <a:rPr lang="en-US" dirty="0"/>
              <a:t>: As with other auction types, combinatorial auctions can also be susceptible to collusion, where bidders coordinate to suppress competition and manipulate the bidding process.</a:t>
            </a:r>
          </a:p>
          <a:p>
            <a:endParaRPr lang="en-US" b="1" dirty="0"/>
          </a:p>
          <a:p>
            <a:r>
              <a:rPr lang="en-US" b="1" dirty="0"/>
              <a:t>Applications of Combinatorial Auctions</a:t>
            </a:r>
            <a:r>
              <a:rPr lang="en-US" dirty="0"/>
              <a:t>:</a:t>
            </a:r>
          </a:p>
          <a:p>
            <a:pPr marL="171450" indent="-171450">
              <a:buFont typeface="Arial" panose="020B0604020202020204" pitchFamily="34" charset="0"/>
              <a:buChar char="•"/>
            </a:pPr>
            <a:r>
              <a:rPr lang="en-US" b="1" dirty="0"/>
              <a:t>Spectrum Auctions</a:t>
            </a:r>
            <a:r>
              <a:rPr lang="en-US" dirty="0"/>
              <a:t>: One common application of combinatorial auctions is in the allocation of wireless communication spectrum licenses, where bidders might want to acquire multiple frequencies to create a comprehensive service offering.</a:t>
            </a:r>
          </a:p>
          <a:p>
            <a:pPr marL="171450" indent="-171450">
              <a:buFont typeface="Arial" panose="020B0604020202020204" pitchFamily="34" charset="0"/>
              <a:buChar char="•"/>
            </a:pPr>
            <a:r>
              <a:rPr lang="en-US" b="1" dirty="0"/>
              <a:t>Resource Allocation</a:t>
            </a:r>
            <a:r>
              <a:rPr lang="en-US" dirty="0"/>
              <a:t>: Combinatorial auctions can also be used for resource allocation in various contexts, such as assigning multiple contracts or services to contractors in a construction project.</a:t>
            </a:r>
          </a:p>
          <a:p>
            <a:endParaRPr lang="en-US" b="1" dirty="0"/>
          </a:p>
          <a:p>
            <a:r>
              <a:rPr lang="en-US" b="1" dirty="0"/>
              <a:t>Conclusion</a:t>
            </a:r>
            <a:r>
              <a:rPr lang="en-US" dirty="0"/>
              <a:t>:</a:t>
            </a:r>
          </a:p>
          <a:p>
            <a:pPr marL="171450" indent="-171450">
              <a:buFont typeface="Arial" panose="020B0604020202020204" pitchFamily="34" charset="0"/>
              <a:buChar char="•"/>
            </a:pPr>
            <a:r>
              <a:rPr lang="en-US" dirty="0"/>
              <a:t>Combinatorial auctions represent a sophisticated approach to resource allocation, allowing for greater flexibility and efficiency in bidding. By enabling bidders to express their valuations for combinations of goods, these auctions can lead to more optimal outcomes. However, the complexity of determining winners and managing the auction process presents significant challenges that must be addressed for successful implementation.</a:t>
            </a:r>
          </a:p>
          <a:p>
            <a:endParaRPr dirty="0"/>
          </a:p>
        </p:txBody>
      </p:sp>
    </p:spTree>
    <p:extLst>
      <p:ext uri="{BB962C8B-B14F-4D97-AF65-F5344CB8AC3E}">
        <p14:creationId xmlns:p14="http://schemas.microsoft.com/office/powerpoint/2010/main" val="19036501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the formal notation for the set of items being auctioned and the concept of valuation functions that capture bidders' preferences for various combinations of goods.</a:t>
                </a:r>
              </a:p>
              <a:p>
                <a:endParaRPr lang="en-US" b="0" i="0" dirty="0">
                  <a:solidFill>
                    <a:srgbClr val="E8E8E8"/>
                  </a:solidFill>
                  <a:effectLst/>
                  <a:latin typeface="Google Sans Text"/>
                </a:endParaRPr>
              </a:p>
              <a:p>
                <a:pPr marL="228600" indent="-228600">
                  <a:buFont typeface="+mj-lt"/>
                  <a:buAutoNum type="arabicPeriod"/>
                </a:pPr>
                <a:r>
                  <a:rPr lang="en-US" b="1" dirty="0"/>
                  <a:t>Item Set</a:t>
                </a:r>
                <a:r>
                  <a:rPr lang="en-US" dirty="0"/>
                  <a:t>:</a:t>
                </a:r>
              </a:p>
              <a:p>
                <a:pPr marL="628650" lvl="1" indent="-171450">
                  <a:buFont typeface="Arial" panose="020B0604020202020204" pitchFamily="34" charset="0"/>
                  <a:buChar char="•"/>
                </a:pPr>
                <a:r>
                  <a:rPr lang="en-US" dirty="0"/>
                  <a:t>The item set in a combinatorial auction is defined as </a:t>
                </a:r>
                <a14:m>
                  <m:oMath xmlns:m="http://schemas.openxmlformats.org/officeDocument/2006/math">
                    <m:r>
                      <a:rPr lang="en-US" i="1" dirty="0" smtClean="0">
                        <a:latin typeface="Cambria Math" panose="02040503050406030204" pitchFamily="18" charset="0"/>
                        <a:ea typeface="Cambria Math" panose="02040503050406030204" pitchFamily="18" charset="0"/>
                      </a:rPr>
                      <m:t>𝒵</m:t>
                    </m:r>
                    <m:r>
                      <a:rPr lang="en-US"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𝑛</m:t>
                            </m:r>
                          </m:sub>
                        </m:sSub>
                      </m:e>
                    </m:d>
                  </m:oMath>
                </a14:m>
                <a:r>
                  <a:rPr lang="en-US" dirty="0"/>
                  <a:t>, where each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𝑖</m:t>
                        </m:r>
                      </m:sub>
                    </m:sSub>
                  </m:oMath>
                </a14:m>
                <a:r>
                  <a:rPr lang="en-US" dirty="0"/>
                  <a:t>​ represents an individual item up for auction.</a:t>
                </a:r>
              </a:p>
              <a:p>
                <a:pPr marL="628650" lvl="1" indent="-171450">
                  <a:buFont typeface="Arial" panose="020B0604020202020204" pitchFamily="34" charset="0"/>
                  <a:buChar char="•"/>
                </a:pPr>
                <a:r>
                  <a:rPr lang="en-US" dirty="0"/>
                  <a:t>This set can include a wide range of goods, such as physical products (e.g., electronics, furniture), digital assets (e.g., software licenses, domain names), or services (e.g., maintenance contracts).</a:t>
                </a:r>
              </a:p>
              <a:p>
                <a:pPr marL="228600" indent="-228600">
                  <a:buFont typeface="+mj-lt"/>
                  <a:buAutoNum type="arabicPeriod"/>
                </a:pPr>
                <a:r>
                  <a:rPr lang="en-US" b="1" dirty="0"/>
                  <a:t>Valuation Functions</a:t>
                </a:r>
                <a:r>
                  <a:rPr lang="en-US" dirty="0"/>
                  <a:t>:</a:t>
                </a:r>
              </a:p>
              <a:p>
                <a:pPr marL="628650" lvl="1" indent="-171450">
                  <a:buFont typeface="Arial" panose="020B0604020202020204" pitchFamily="34" charset="0"/>
                  <a:buChar char="•"/>
                </a:pPr>
                <a:r>
                  <a:rPr lang="en-US" dirty="0"/>
                  <a:t>Each agent </a:t>
                </a:r>
                <a14:m>
                  <m:oMath xmlns:m="http://schemas.openxmlformats.org/officeDocument/2006/math">
                    <m:r>
                      <a:rPr lang="en-US" i="1" dirty="0" smtClean="0">
                        <a:latin typeface="Cambria Math" panose="02040503050406030204" pitchFamily="18" charset="0"/>
                      </a:rPr>
                      <m:t>𝑖</m:t>
                    </m:r>
                  </m:oMath>
                </a14:m>
                <a:r>
                  <a:rPr lang="en-US" dirty="0"/>
                  <a:t> involved in the auction has a valuation function denoted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𝜐</m:t>
                        </m:r>
                      </m:e>
                      <m:sub>
                        <m:r>
                          <a:rPr lang="en-US" sz="1200" i="1" spc="10" dirty="0" err="1" smtClean="0">
                            <a:latin typeface="Cambria Math" panose="02040503050406030204" pitchFamily="18" charset="0"/>
                            <a:cs typeface="Tahoma"/>
                          </a:rPr>
                          <m:t>𝑖</m:t>
                        </m:r>
                      </m:sub>
                    </m:sSub>
                    <m:r>
                      <a:rPr lang="en-US" sz="1200" b="0" i="1" spc="10" dirty="0" smtClean="0">
                        <a:latin typeface="Cambria Math" panose="02040503050406030204" pitchFamily="18" charset="0"/>
                        <a:cs typeface="Tahoma"/>
                      </a:rPr>
                      <m:t>:</m:t>
                    </m:r>
                    <m:sSup>
                      <m:sSupPr>
                        <m:ctrlPr>
                          <a:rPr lang="en-US" sz="1200" b="0" i="1" spc="10" dirty="0" smtClean="0">
                            <a:latin typeface="Cambria Math" panose="02040503050406030204" pitchFamily="18" charset="0"/>
                            <a:cs typeface="Tahoma"/>
                          </a:rPr>
                        </m:ctrlPr>
                      </m:sSupPr>
                      <m:e>
                        <m:r>
                          <a:rPr lang="en-US" sz="1200" b="0" i="1" spc="10" dirty="0" smtClean="0">
                            <a:latin typeface="Cambria Math" panose="02040503050406030204" pitchFamily="18" charset="0"/>
                            <a:cs typeface="Tahoma"/>
                          </a:rPr>
                          <m:t>2</m:t>
                        </m:r>
                      </m:e>
                      <m:sup>
                        <m:r>
                          <a:rPr lang="en-US" sz="1200" i="1" spc="10" dirty="0">
                            <a:latin typeface="Cambria Math" panose="02040503050406030204" pitchFamily="18" charset="0"/>
                            <a:ea typeface="Cambria Math" panose="02040503050406030204" pitchFamily="18" charset="0"/>
                            <a:cs typeface="Tahoma"/>
                          </a:rPr>
                          <m:t>𝒵</m:t>
                        </m:r>
                      </m:sup>
                    </m:sSup>
                    <m:r>
                      <a:rPr lang="en-US" sz="1200" b="0" i="1" spc="10" dirty="0" smtClean="0">
                        <a:latin typeface="Cambria Math" panose="02040503050406030204" pitchFamily="18" charset="0"/>
                        <a:ea typeface="Cambria Math" panose="02040503050406030204" pitchFamily="18" charset="0"/>
                        <a:cs typeface="Tahoma"/>
                      </a:rPr>
                      <m:t>→</m:t>
                    </m:r>
                    <m:r>
                      <a:rPr lang="en-US" sz="1200" b="0" i="1" spc="10" dirty="0" smtClean="0">
                        <a:latin typeface="Cambria Math" panose="02040503050406030204" pitchFamily="18" charset="0"/>
                        <a:ea typeface="Cambria Math" panose="02040503050406030204" pitchFamily="18" charset="0"/>
                        <a:cs typeface="Tahoma"/>
                      </a:rPr>
                      <m:t>ℝ</m:t>
                    </m:r>
                  </m:oMath>
                </a14:m>
                <a:r>
                  <a:rPr lang="en-US" sz="1200" spc="10" dirty="0">
                    <a:latin typeface="Tahoma"/>
                    <a:cs typeface="Tahoma"/>
                  </a:rPr>
                  <a:t>. </a:t>
                </a:r>
                <a:r>
                  <a:rPr lang="en-US" dirty="0"/>
                  <a:t>This function assigns a real number value to each possible subset of items in the auction, which reflects the agent’s perceived worth of that particular bundle.</a:t>
                </a:r>
              </a:p>
              <a:p>
                <a:pPr marL="628650" lvl="1" indent="-171450">
                  <a:buFont typeface="Arial" panose="020B0604020202020204" pitchFamily="34" charset="0"/>
                  <a:buChar char="•"/>
                </a:pPr>
                <a:r>
                  <a:rPr lang="en-US" dirty="0"/>
                  <a:t>The notation </a:t>
                </a:r>
                <a14:m>
                  <m:oMath xmlns:m="http://schemas.openxmlformats.org/officeDocument/2006/math">
                    <m:sSup>
                      <m:sSupPr>
                        <m:ctrlPr>
                          <a:rPr lang="en-US" sz="1200" b="0" i="1" spc="10" dirty="0" smtClean="0">
                            <a:latin typeface="Cambria Math" panose="02040503050406030204" pitchFamily="18" charset="0"/>
                            <a:cs typeface="Tahoma"/>
                          </a:rPr>
                        </m:ctrlPr>
                      </m:sSupPr>
                      <m:e>
                        <m:r>
                          <a:rPr lang="en-US" sz="1200" b="0" i="1" spc="10" dirty="0" smtClean="0">
                            <a:latin typeface="Cambria Math" panose="02040503050406030204" pitchFamily="18" charset="0"/>
                            <a:cs typeface="Tahoma"/>
                          </a:rPr>
                          <m:t>2</m:t>
                        </m:r>
                      </m:e>
                      <m:sup>
                        <m:r>
                          <a:rPr lang="en-US" sz="1200" i="1" spc="10" dirty="0">
                            <a:latin typeface="Cambria Math" panose="02040503050406030204" pitchFamily="18" charset="0"/>
                            <a:ea typeface="Cambria Math" panose="02040503050406030204" pitchFamily="18" charset="0"/>
                            <a:cs typeface="Tahoma"/>
                          </a:rPr>
                          <m:t>𝒵</m:t>
                        </m:r>
                      </m:sup>
                    </m:sSup>
                  </m:oMath>
                </a14:m>
                <a:r>
                  <a:rPr lang="en-US" dirty="0"/>
                  <a:t> indicates the power set of </a:t>
                </a:r>
                <a14:m>
                  <m:oMath xmlns:m="http://schemas.openxmlformats.org/officeDocument/2006/math">
                    <m:r>
                      <a:rPr lang="en-US" i="1" dirty="0" smtClean="0">
                        <a:latin typeface="Cambria Math" panose="02040503050406030204" pitchFamily="18" charset="0"/>
                        <a:ea typeface="Cambria Math" panose="02040503050406030204" pitchFamily="18" charset="0"/>
                      </a:rPr>
                      <m:t>𝒵</m:t>
                    </m:r>
                  </m:oMath>
                </a14:m>
                <a:r>
                  <a:rPr lang="en-US" dirty="0"/>
                  <a:t>, representing all possible combinations of items, including individual items and the empty set.</a:t>
                </a:r>
              </a:p>
              <a:p>
                <a:pPr marL="228600" indent="-228600">
                  <a:buFont typeface="+mj-lt"/>
                  <a:buAutoNum type="arabicPeriod"/>
                </a:pPr>
                <a:r>
                  <a:rPr lang="en-US" b="1" dirty="0"/>
                  <a:t>Representation of Preferences</a:t>
                </a:r>
                <a:r>
                  <a:rPr lang="en-US" dirty="0"/>
                  <a:t>:</a:t>
                </a:r>
              </a:p>
              <a:p>
                <a:pPr marL="628650" lvl="1" indent="-171450">
                  <a:buFont typeface="Arial" panose="020B0604020202020204" pitchFamily="34" charset="0"/>
                  <a:buChar char="•"/>
                </a:pPr>
                <a:r>
                  <a:rPr lang="en-US" dirty="0"/>
                  <a:t>The valuation functions are crucial for understanding the agents' preferences regarding different bundles of items. For example, if an agent values a bundle of items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m:t>
                        </m:r>
                        <m:r>
                          <a:rPr lang="en-US" i="1" dirty="0" smtClean="0">
                            <a:latin typeface="Cambria Math" panose="02040503050406030204" pitchFamily="18" charset="0"/>
                          </a:rPr>
                          <m:t>𝑍</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2</m:t>
                        </m:r>
                      </m:sub>
                    </m:sSub>
                    <m:r>
                      <a:rPr lang="en-US" b="0" i="1" dirty="0" smtClean="0">
                        <a:latin typeface="Cambria Math" panose="02040503050406030204" pitchFamily="18" charset="0"/>
                      </a:rPr>
                      <m:t>}</m:t>
                    </m:r>
                  </m:oMath>
                </a14:m>
                <a:r>
                  <a:rPr lang="en-US" dirty="0"/>
                  <a:t> at $200, but values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m:t>
                        </m:r>
                        <m:r>
                          <a:rPr lang="en-US" i="1" dirty="0" smtClean="0">
                            <a:latin typeface="Cambria Math" panose="02040503050406030204" pitchFamily="18" charset="0"/>
                          </a:rPr>
                          <m:t>𝑍</m:t>
                        </m:r>
                      </m:e>
                      <m:sub>
                        <m:r>
                          <a:rPr lang="en-US" i="1" dirty="0" smtClean="0">
                            <a:latin typeface="Cambria Math" panose="02040503050406030204" pitchFamily="18" charset="0"/>
                          </a:rPr>
                          <m:t>1</m:t>
                        </m:r>
                      </m:sub>
                    </m:sSub>
                    <m:r>
                      <a:rPr lang="en-US" b="0" i="1" dirty="0" smtClean="0">
                        <a:latin typeface="Cambria Math" panose="02040503050406030204" pitchFamily="18" charset="0"/>
                      </a:rPr>
                      <m:t>}</m:t>
                    </m:r>
                  </m:oMath>
                </a14:m>
                <a:r>
                  <a:rPr lang="en-US" dirty="0"/>
                  <a:t> at $100 and </a:t>
                </a:r>
                <a14:m>
                  <m:oMath xmlns:m="http://schemas.openxmlformats.org/officeDocument/2006/math">
                    <m:d>
                      <m:dPr>
                        <m:begChr m:val="{"/>
                        <m:endChr m:val="}"/>
                        <m:ctrlPr>
                          <a:rPr lang="en-US" b="0" i="0"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2</m:t>
                            </m:r>
                          </m:sub>
                        </m:sSub>
                      </m:e>
                    </m:d>
                  </m:oMath>
                </a14:m>
                <a:r>
                  <a:rPr lang="en-US" dirty="0"/>
                  <a:t> at $80, this indicates a synergy in the combined value of those two items together.</a:t>
                </a:r>
              </a:p>
              <a:p>
                <a:pPr marL="628650" lvl="1" indent="-171450">
                  <a:buFont typeface="Arial" panose="020B0604020202020204" pitchFamily="34" charset="0"/>
                  <a:buChar char="•"/>
                </a:pPr>
                <a:r>
                  <a:rPr lang="en-US" dirty="0"/>
                  <a:t>These preferences enable bidders to express how much they are willing to pay for specific combinations, influencing their bidding strategies during the auction.</a:t>
                </a:r>
              </a:p>
              <a:p>
                <a:pPr marL="228600" indent="-228600">
                  <a:buFont typeface="+mj-lt"/>
                  <a:buAutoNum type="arabicPeriod"/>
                </a:pPr>
                <a:r>
                  <a:rPr lang="en-US" b="1" dirty="0"/>
                  <a:t>Implications for Bidding</a:t>
                </a:r>
                <a:r>
                  <a:rPr lang="en-US" dirty="0"/>
                  <a:t>:</a:t>
                </a:r>
              </a:p>
              <a:p>
                <a:pPr marL="742950" lvl="1" indent="-285750">
                  <a:buFont typeface="Arial" panose="020B0604020202020204" pitchFamily="34" charset="0"/>
                  <a:buChar char="•"/>
                </a:pPr>
                <a:r>
                  <a:rPr lang="en-US" dirty="0"/>
                  <a:t>The structure of the valuation functions directly impacts how agents will formulate their bids. Agents may choose to bid higher on bundles that align with their valuation functions, ensuring they maximize their utility.</a:t>
                </a:r>
              </a:p>
              <a:p>
                <a:pPr marL="742950" lvl="1" indent="-285750">
                  <a:buFont typeface="Arial" panose="020B0604020202020204" pitchFamily="34" charset="0"/>
                  <a:buChar char="•"/>
                </a:pPr>
                <a:r>
                  <a:rPr lang="en-US" b="1" dirty="0"/>
                  <a:t>Utility Maximization</a:t>
                </a:r>
                <a:r>
                  <a:rPr lang="en-US" dirty="0"/>
                  <a:t>: In a combinatorial auction, agents aim to maximize their utility, which is the difference between the value they assign to the bundle (as indicated by their valuation function) and the price they ultimately pay.</a:t>
                </a:r>
              </a:p>
              <a:p>
                <a:pPr marL="228600" indent="-228600">
                  <a:buFont typeface="+mj-lt"/>
                  <a:buAutoNum type="arabicPeriod"/>
                </a:pPr>
                <a:r>
                  <a:rPr lang="en-US" b="1" dirty="0"/>
                  <a:t>Challenges in Valuation</a:t>
                </a:r>
                <a:r>
                  <a:rPr lang="en-US" dirty="0"/>
                  <a:t>:</a:t>
                </a:r>
              </a:p>
              <a:p>
                <a:pPr marL="742950" lvl="1" indent="-285750">
                  <a:buFont typeface="Arial" panose="020B0604020202020204" pitchFamily="34" charset="0"/>
                  <a:buChar char="•"/>
                </a:pPr>
                <a:r>
                  <a:rPr lang="en-US" b="1" dirty="0"/>
                  <a:t>Information Asymmetry</a:t>
                </a:r>
                <a:r>
                  <a:rPr lang="en-US" dirty="0"/>
                  <a:t>: Agents may have different levels of knowledge about the true value of the items or about the valuations of other bidders, leading to strategic behaviors such as bidding conservatively or aggressively.</a:t>
                </a:r>
              </a:p>
              <a:p>
                <a:pPr marL="742950" lvl="1" indent="-285750">
                  <a:buFont typeface="Arial" panose="020B0604020202020204" pitchFamily="34" charset="0"/>
                  <a:buChar char="•"/>
                </a:pPr>
                <a:r>
                  <a:rPr lang="en-US" b="1" dirty="0"/>
                  <a:t>Complex Valuation Functions</a:t>
                </a:r>
                <a:r>
                  <a:rPr lang="en-US" dirty="0"/>
                  <a:t>: Agents may have complex or nonlinear valuation functions that could complicate the auction's outcome. Understanding these complexities is critical for auctioneers to structure the auction effectively.</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Defining the item set and understanding the associated valuation functions are fundamental components of combinatorial auctions. These elements help capture the nuances of bidder preferences and facilitate more efficient and strategic bidding processes. By recognizing how agents value different combinations of items, auctioneers can design mechanisms that enhance competition and optimize revenue.</a:t>
                </a:r>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the formal notation for the set of items being auctioned and the concept of valuation functions that capture bidders' preferences for various combinations of goods.</a:t>
                </a:r>
              </a:p>
              <a:p>
                <a:endParaRPr lang="en-US" b="0" i="0" dirty="0">
                  <a:solidFill>
                    <a:srgbClr val="E8E8E8"/>
                  </a:solidFill>
                  <a:effectLst/>
                  <a:latin typeface="Google Sans Text"/>
                </a:endParaRPr>
              </a:p>
              <a:p>
                <a:pPr marL="228600" indent="-228600">
                  <a:buFont typeface="+mj-lt"/>
                  <a:buAutoNum type="arabicPeriod"/>
                </a:pPr>
                <a:r>
                  <a:rPr lang="en-US" b="1" dirty="0"/>
                  <a:t>Item Set</a:t>
                </a:r>
                <a:r>
                  <a:rPr lang="en-US" dirty="0"/>
                  <a:t>:</a:t>
                </a:r>
              </a:p>
              <a:p>
                <a:pPr marL="628650" lvl="1" indent="-171450">
                  <a:buFont typeface="Arial" panose="020B0604020202020204" pitchFamily="34" charset="0"/>
                  <a:buChar char="•"/>
                </a:pPr>
                <a:r>
                  <a:rPr lang="en-US" dirty="0"/>
                  <a:t>The item set in a combinatorial auction is defined as </a:t>
                </a:r>
                <a:r>
                  <a:rPr lang="en-US" i="0" dirty="0">
                    <a:latin typeface="Cambria Math" panose="02040503050406030204" pitchFamily="18" charset="0"/>
                    <a:ea typeface="Cambria Math" panose="02040503050406030204" pitchFamily="18" charset="0"/>
                  </a:rPr>
                  <a:t>𝒵</a:t>
                </a:r>
                <a:r>
                  <a:rPr lang="en-US" i="0" dirty="0">
                    <a:latin typeface="Cambria Math" panose="02040503050406030204" pitchFamily="18" charset="0"/>
                  </a:rPr>
                  <a:t>= {𝑍_1, 𝑍_2, …, </a:t>
                </a:r>
                <a:r>
                  <a:rPr lang="en-US" i="0" dirty="0" err="1">
                    <a:latin typeface="Cambria Math" panose="02040503050406030204" pitchFamily="18" charset="0"/>
                  </a:rPr>
                  <a:t>𝑍_𝑛</a:t>
                </a:r>
                <a:r>
                  <a:rPr lang="en-US" i="0" dirty="0">
                    <a:latin typeface="Cambria Math" panose="02040503050406030204" pitchFamily="18" charset="0"/>
                  </a:rPr>
                  <a:t> }</a:t>
                </a:r>
                <a:r>
                  <a:rPr lang="en-US" dirty="0"/>
                  <a:t>, where each </a:t>
                </a:r>
                <a:r>
                  <a:rPr lang="en-US" i="0" dirty="0">
                    <a:latin typeface="Cambria Math" panose="02040503050406030204" pitchFamily="18" charset="0"/>
                  </a:rPr>
                  <a:t>𝑍_𝑖</a:t>
                </a:r>
                <a:r>
                  <a:rPr lang="en-US" dirty="0"/>
                  <a:t>​ represents an individual item up for auction.</a:t>
                </a:r>
              </a:p>
              <a:p>
                <a:pPr marL="628650" lvl="1" indent="-171450">
                  <a:buFont typeface="Arial" panose="020B0604020202020204" pitchFamily="34" charset="0"/>
                  <a:buChar char="•"/>
                </a:pPr>
                <a:r>
                  <a:rPr lang="en-US" dirty="0"/>
                  <a:t>This set can include a wide range of goods, such as physical products (e.g., electronics, furniture), digital assets (e.g., software licenses, domain names), or services (e.g., maintenance contracts).</a:t>
                </a:r>
              </a:p>
              <a:p>
                <a:pPr marL="228600" indent="-228600">
                  <a:buFont typeface="+mj-lt"/>
                  <a:buAutoNum type="arabicPeriod"/>
                </a:pPr>
                <a:r>
                  <a:rPr lang="en-US" b="1" dirty="0"/>
                  <a:t>Valuation Functions</a:t>
                </a:r>
                <a:r>
                  <a:rPr lang="en-US" dirty="0"/>
                  <a:t>:</a:t>
                </a:r>
              </a:p>
              <a:p>
                <a:pPr marL="628650" lvl="1" indent="-171450">
                  <a:buFont typeface="Arial" panose="020B0604020202020204" pitchFamily="34" charset="0"/>
                  <a:buChar char="•"/>
                </a:pPr>
                <a:r>
                  <a:rPr lang="en-US" dirty="0"/>
                  <a:t>Each agent </a:t>
                </a:r>
                <a:r>
                  <a:rPr lang="en-US" i="0" dirty="0">
                    <a:latin typeface="Cambria Math" panose="02040503050406030204" pitchFamily="18" charset="0"/>
                  </a:rPr>
                  <a:t>𝑖</a:t>
                </a:r>
                <a:r>
                  <a:rPr lang="en-US" dirty="0"/>
                  <a:t> involved in the auction has a valuation function denoted </a:t>
                </a:r>
                <a:r>
                  <a:rPr lang="en-US" sz="1200" i="0" spc="10" dirty="0">
                    <a:latin typeface="Cambria Math" panose="02040503050406030204" pitchFamily="18" charset="0"/>
                    <a:cs typeface="Tahoma"/>
                  </a:rPr>
                  <a:t>𝜐_</a:t>
                </a:r>
                <a:r>
                  <a:rPr lang="en-US" sz="1200" i="0" spc="10" dirty="0" err="1">
                    <a:latin typeface="Cambria Math" panose="02040503050406030204" pitchFamily="18" charset="0"/>
                    <a:cs typeface="Tahoma"/>
                  </a:rPr>
                  <a:t>𝑖</a:t>
                </a:r>
                <a:r>
                  <a:rPr lang="en-US" sz="1200" b="0" i="0" spc="10" dirty="0">
                    <a:latin typeface="Cambria Math" panose="02040503050406030204" pitchFamily="18" charset="0"/>
                    <a:cs typeface="Tahoma"/>
                  </a:rPr>
                  <a:t>:2^</a:t>
                </a:r>
                <a:r>
                  <a:rPr lang="en-US" sz="1200" i="0" spc="10" dirty="0">
                    <a:latin typeface="Cambria Math" panose="02040503050406030204" pitchFamily="18" charset="0"/>
                    <a:ea typeface="Cambria Math" panose="02040503050406030204" pitchFamily="18" charset="0"/>
                    <a:cs typeface="Tahoma"/>
                  </a:rPr>
                  <a:t>𝒵</a:t>
                </a:r>
                <a:r>
                  <a:rPr lang="en-US" sz="1200" b="0" i="0" spc="10" dirty="0">
                    <a:latin typeface="Cambria Math" panose="02040503050406030204" pitchFamily="18" charset="0"/>
                    <a:ea typeface="Cambria Math" panose="02040503050406030204" pitchFamily="18" charset="0"/>
                    <a:cs typeface="Tahoma"/>
                  </a:rPr>
                  <a:t>→ℝ</a:t>
                </a:r>
                <a:r>
                  <a:rPr lang="en-US" sz="1200" spc="10" dirty="0">
                    <a:latin typeface="Tahoma"/>
                    <a:cs typeface="Tahoma"/>
                  </a:rPr>
                  <a:t>. </a:t>
                </a:r>
                <a:r>
                  <a:rPr lang="en-US" dirty="0"/>
                  <a:t>This function assigns a real number value to each possible subset of items in the auction, which reflects the agent’s perceived worth of that particular bundle.</a:t>
                </a:r>
              </a:p>
              <a:p>
                <a:pPr marL="628650" lvl="1" indent="-171450">
                  <a:buFont typeface="Arial" panose="020B0604020202020204" pitchFamily="34" charset="0"/>
                  <a:buChar char="•"/>
                </a:pPr>
                <a:r>
                  <a:rPr lang="en-US" dirty="0"/>
                  <a:t>The notation </a:t>
                </a:r>
                <a:r>
                  <a:rPr lang="en-US" sz="1200" b="0" i="0" spc="10" dirty="0">
                    <a:latin typeface="Cambria Math" panose="02040503050406030204" pitchFamily="18" charset="0"/>
                    <a:cs typeface="Tahoma"/>
                  </a:rPr>
                  <a:t>2^</a:t>
                </a:r>
                <a:r>
                  <a:rPr lang="en-US" sz="1200" i="0" spc="10" dirty="0">
                    <a:latin typeface="Cambria Math" panose="02040503050406030204" pitchFamily="18" charset="0"/>
                    <a:ea typeface="Cambria Math" panose="02040503050406030204" pitchFamily="18" charset="0"/>
                    <a:cs typeface="Tahoma"/>
                  </a:rPr>
                  <a:t>𝒵</a:t>
                </a:r>
                <a:r>
                  <a:rPr lang="en-US" dirty="0"/>
                  <a:t> indicates the power set of </a:t>
                </a:r>
                <a:r>
                  <a:rPr lang="en-US" i="0" dirty="0">
                    <a:latin typeface="Cambria Math" panose="02040503050406030204" pitchFamily="18" charset="0"/>
                    <a:ea typeface="Cambria Math" panose="02040503050406030204" pitchFamily="18" charset="0"/>
                  </a:rPr>
                  <a:t>𝒵</a:t>
                </a:r>
                <a:r>
                  <a:rPr lang="en-US" dirty="0"/>
                  <a:t>, representing all possible combinations of items, including individual items and the empty set.</a:t>
                </a:r>
              </a:p>
              <a:p>
                <a:pPr marL="228600" indent="-228600">
                  <a:buFont typeface="+mj-lt"/>
                  <a:buAutoNum type="arabicPeriod"/>
                </a:pPr>
                <a:r>
                  <a:rPr lang="en-US" b="1" dirty="0"/>
                  <a:t>Representation of Preferences</a:t>
                </a:r>
                <a:r>
                  <a:rPr lang="en-US" dirty="0"/>
                  <a:t>:</a:t>
                </a:r>
              </a:p>
              <a:p>
                <a:pPr marL="628650" lvl="1" indent="-171450">
                  <a:buFont typeface="Arial" panose="020B0604020202020204" pitchFamily="34" charset="0"/>
                  <a:buChar char="•"/>
                </a:pPr>
                <a:r>
                  <a:rPr lang="en-US" dirty="0"/>
                  <a:t>The valuation functions are crucial for understanding the agents' preferences regarding different bundles of items. For example, if an agent values a bundle of items </a:t>
                </a:r>
                <a:r>
                  <a:rPr lang="en-US" i="0" dirty="0">
                    <a:latin typeface="Cambria Math" panose="02040503050406030204" pitchFamily="18" charset="0"/>
                  </a:rPr>
                  <a:t>〖</a:t>
                </a:r>
                <a:r>
                  <a:rPr lang="en-US" b="0" i="0" dirty="0">
                    <a:latin typeface="Cambria Math" panose="02040503050406030204" pitchFamily="18" charset="0"/>
                  </a:rPr>
                  <a:t>{</a:t>
                </a:r>
                <a:r>
                  <a:rPr lang="en-US" i="0" dirty="0">
                    <a:latin typeface="Cambria Math" panose="02040503050406030204" pitchFamily="18" charset="0"/>
                  </a:rPr>
                  <a:t>𝑍〗_1, 𝑍_2</a:t>
                </a:r>
                <a:r>
                  <a:rPr lang="en-US" b="0" i="0" dirty="0">
                    <a:latin typeface="Cambria Math" panose="02040503050406030204" pitchFamily="18" charset="0"/>
                  </a:rPr>
                  <a:t>}</a:t>
                </a:r>
                <a:r>
                  <a:rPr lang="en-US" dirty="0"/>
                  <a:t> at $200, but values </a:t>
                </a:r>
                <a:r>
                  <a:rPr lang="en-US" i="0" dirty="0">
                    <a:latin typeface="Cambria Math" panose="02040503050406030204" pitchFamily="18" charset="0"/>
                  </a:rPr>
                  <a:t>〖</a:t>
                </a:r>
                <a:r>
                  <a:rPr lang="en-US" b="0" i="0" dirty="0">
                    <a:latin typeface="Cambria Math" panose="02040503050406030204" pitchFamily="18" charset="0"/>
                  </a:rPr>
                  <a:t>{</a:t>
                </a:r>
                <a:r>
                  <a:rPr lang="en-US" i="0" dirty="0">
                    <a:latin typeface="Cambria Math" panose="02040503050406030204" pitchFamily="18" charset="0"/>
                  </a:rPr>
                  <a:t>𝑍〗_1</a:t>
                </a:r>
                <a:r>
                  <a:rPr lang="en-US" b="0" i="0" dirty="0">
                    <a:latin typeface="Cambria Math" panose="02040503050406030204" pitchFamily="18" charset="0"/>
                  </a:rPr>
                  <a:t>}</a:t>
                </a:r>
                <a:r>
                  <a:rPr lang="en-US" dirty="0"/>
                  <a:t> at $100 and </a:t>
                </a:r>
                <a:r>
                  <a:rPr lang="en-US" b="0" i="0" dirty="0">
                    <a:latin typeface="Cambria Math" panose="02040503050406030204" pitchFamily="18" charset="0"/>
                  </a:rPr>
                  <a:t>{</a:t>
                </a:r>
                <a:r>
                  <a:rPr lang="en-US" i="0" dirty="0">
                    <a:latin typeface="Cambria Math" panose="02040503050406030204" pitchFamily="18" charset="0"/>
                  </a:rPr>
                  <a:t>𝑍_2</a:t>
                </a:r>
                <a:r>
                  <a:rPr lang="en-US" b="0" i="0" dirty="0">
                    <a:latin typeface="Cambria Math" panose="02040503050406030204" pitchFamily="18" charset="0"/>
                  </a:rPr>
                  <a:t> }</a:t>
                </a:r>
                <a:r>
                  <a:rPr lang="en-US" dirty="0"/>
                  <a:t> at $80, this indicates a synergy in the combined value of those two items together.</a:t>
                </a:r>
              </a:p>
              <a:p>
                <a:pPr marL="628650" lvl="1" indent="-171450">
                  <a:buFont typeface="Arial" panose="020B0604020202020204" pitchFamily="34" charset="0"/>
                  <a:buChar char="•"/>
                </a:pPr>
                <a:r>
                  <a:rPr lang="en-US" dirty="0"/>
                  <a:t>These preferences enable bidders to express how much they are willing to pay for specific combinations, influencing their bidding strategies during the auction.</a:t>
                </a:r>
              </a:p>
              <a:p>
                <a:pPr marL="228600" indent="-228600">
                  <a:buFont typeface="+mj-lt"/>
                  <a:buAutoNum type="arabicPeriod"/>
                </a:pPr>
                <a:r>
                  <a:rPr lang="en-US" b="1" dirty="0"/>
                  <a:t>Implications for Bidding</a:t>
                </a:r>
                <a:r>
                  <a:rPr lang="en-US" dirty="0"/>
                  <a:t>:</a:t>
                </a:r>
              </a:p>
              <a:p>
                <a:pPr marL="742950" lvl="1" indent="-285750">
                  <a:buFont typeface="Arial" panose="020B0604020202020204" pitchFamily="34" charset="0"/>
                  <a:buChar char="•"/>
                </a:pPr>
                <a:r>
                  <a:rPr lang="en-US" dirty="0"/>
                  <a:t>The structure of the valuation functions directly impacts how agents will formulate their bids. Agents may choose to bid higher on bundles that align with their valuation functions, ensuring they maximize their utility.</a:t>
                </a:r>
              </a:p>
              <a:p>
                <a:pPr marL="742950" lvl="1" indent="-285750">
                  <a:buFont typeface="Arial" panose="020B0604020202020204" pitchFamily="34" charset="0"/>
                  <a:buChar char="•"/>
                </a:pPr>
                <a:r>
                  <a:rPr lang="en-US" b="1" dirty="0"/>
                  <a:t>Utility Maximization</a:t>
                </a:r>
                <a:r>
                  <a:rPr lang="en-US" dirty="0"/>
                  <a:t>: In a combinatorial auction, agents aim to maximize their utility, which is the difference between the value they assign to the bundle (as indicated by their valuation function) and the price they ultimately pay.</a:t>
                </a:r>
              </a:p>
              <a:p>
                <a:pPr marL="228600" indent="-228600">
                  <a:buFont typeface="+mj-lt"/>
                  <a:buAutoNum type="arabicPeriod"/>
                </a:pPr>
                <a:r>
                  <a:rPr lang="en-US" b="1" dirty="0"/>
                  <a:t>Challenges in Valuation</a:t>
                </a:r>
                <a:r>
                  <a:rPr lang="en-US" dirty="0"/>
                  <a:t>:</a:t>
                </a:r>
              </a:p>
              <a:p>
                <a:pPr marL="742950" lvl="1" indent="-285750">
                  <a:buFont typeface="Arial" panose="020B0604020202020204" pitchFamily="34" charset="0"/>
                  <a:buChar char="•"/>
                </a:pPr>
                <a:r>
                  <a:rPr lang="en-US" b="1" dirty="0"/>
                  <a:t>Information Asymmetry</a:t>
                </a:r>
                <a:r>
                  <a:rPr lang="en-US" dirty="0"/>
                  <a:t>: Agents may have different levels of knowledge about the true value of the items or about the valuations of other bidders, leading to strategic behaviors such as bidding conservatively or aggressively.</a:t>
                </a:r>
              </a:p>
              <a:p>
                <a:pPr marL="742950" lvl="1" indent="-285750">
                  <a:buFont typeface="Arial" panose="020B0604020202020204" pitchFamily="34" charset="0"/>
                  <a:buChar char="•"/>
                </a:pPr>
                <a:r>
                  <a:rPr lang="en-US" b="1" dirty="0"/>
                  <a:t>Complex Valuation Functions</a:t>
                </a:r>
                <a:r>
                  <a:rPr lang="en-US" dirty="0"/>
                  <a:t>: Agents may have complex or nonlinear valuation functions that could complicate the auction's outcome. Understanding these complexities is critical for auctioneers to structure the auction effectively.</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Defining the item set and understanding the associated valuation functions are fundamental components of combinatorial auctions. These elements help capture the nuances of bidder preferences and facilitate more efficient and strategic bidding processes. By recognizing how agents value different combinations of items, auctioneers can design mechanisms that enhance competition and optimize revenue.</a:t>
                </a:r>
              </a:p>
            </p:txBody>
          </p:sp>
        </mc:Fallback>
      </mc:AlternateContent>
    </p:spTree>
    <p:extLst>
      <p:ext uri="{BB962C8B-B14F-4D97-AF65-F5344CB8AC3E}">
        <p14:creationId xmlns:p14="http://schemas.microsoft.com/office/powerpoint/2010/main" val="3526956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delves into two important properties of valuation functions: normalization and free disposal. Normalization ensures that an empty allocation has no value, while free disposal reflects the intuitive notion that more items are generally preferred or at least not detrimental.</a:t>
                </a:r>
              </a:p>
              <a:p>
                <a:endParaRPr lang="en-US" b="0" i="0" dirty="0">
                  <a:solidFill>
                    <a:srgbClr val="E8E8E8"/>
                  </a:solidFill>
                  <a:effectLst/>
                  <a:latin typeface="Google Sans Text"/>
                </a:endParaRPr>
              </a:p>
              <a:p>
                <a:r>
                  <a:rPr lang="en-US" b="1" dirty="0"/>
                  <a:t>Normalized Valuation</a:t>
                </a:r>
                <a:r>
                  <a:rPr lang="en-US" dirty="0"/>
                  <a:t>:</a:t>
                </a:r>
              </a:p>
              <a:p>
                <a:pPr marL="171450" indent="-171450">
                  <a:buFont typeface="Arial" panose="020B0604020202020204" pitchFamily="34" charset="0"/>
                  <a:buChar char="•"/>
                </a:pPr>
                <a:r>
                  <a:rPr lang="en-US" dirty="0"/>
                  <a:t>A </a:t>
                </a:r>
                <a:r>
                  <a:rPr lang="en-US" b="1" dirty="0"/>
                  <a:t>normalized valuation function</a:t>
                </a:r>
                <a:r>
                  <a:rPr lang="en-US" dirty="0"/>
                  <a:t>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𝜐</m:t>
                        </m:r>
                      </m:e>
                      <m:sub>
                        <m:r>
                          <a:rPr lang="en-US" sz="1200" i="1" spc="10" dirty="0" err="1" smtClean="0">
                            <a:latin typeface="Cambria Math" panose="02040503050406030204" pitchFamily="18" charset="0"/>
                            <a:cs typeface="Tahoma"/>
                          </a:rPr>
                          <m:t>𝑖</m:t>
                        </m:r>
                      </m:sub>
                    </m:sSub>
                  </m:oMath>
                </a14:m>
                <a:r>
                  <a:rPr lang="en-US" dirty="0"/>
                  <a:t>​ is one that satisfies the condition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𝜐</m:t>
                        </m:r>
                      </m:e>
                      <m:sub>
                        <m:r>
                          <a:rPr lang="en-US" sz="1200" i="1" spc="10" dirty="0" err="1" smtClean="0">
                            <a:latin typeface="Cambria Math" panose="02040503050406030204" pitchFamily="18" charset="0"/>
                            <a:cs typeface="Tahoma"/>
                          </a:rPr>
                          <m:t>𝑖</m:t>
                        </m:r>
                      </m:sub>
                    </m:sSub>
                    <m:r>
                      <a:rPr lang="en-US" sz="1200" i="1" spc="10" dirty="0" smtClean="0">
                        <a:latin typeface="Cambria Math" panose="02040503050406030204" pitchFamily="18" charset="0"/>
                        <a:cs typeface="Tahoma"/>
                      </a:rPr>
                      <m:t>(∅)</m:t>
                    </m:r>
                    <m:r>
                      <a:rPr lang="en-US" sz="1200" i="1" spc="10" dirty="0" smtClean="0">
                        <a:latin typeface="Cambria Math" panose="02040503050406030204" pitchFamily="18" charset="0"/>
                        <a:cs typeface="Tahoma"/>
                      </a:rPr>
                      <m:t>=</m:t>
                    </m:r>
                    <m:r>
                      <a:rPr lang="en-US" sz="1200" i="1" spc="10" dirty="0" smtClean="0">
                        <a:latin typeface="Cambria Math" panose="02040503050406030204" pitchFamily="18" charset="0"/>
                        <a:cs typeface="Tahoma"/>
                      </a:rPr>
                      <m:t>0</m:t>
                    </m:r>
                  </m:oMath>
                </a14:m>
                <a:r>
                  <a:rPr lang="en-US" dirty="0"/>
                  <a:t>. This implies that an agent does not assign any value to the absence of items.</a:t>
                </a:r>
              </a:p>
              <a:p>
                <a:pPr marL="171450" indent="-171450">
                  <a:buFont typeface="Arial" panose="020B0604020202020204" pitchFamily="34" charset="0"/>
                  <a:buChar char="•"/>
                </a:pPr>
                <a:r>
                  <a:rPr lang="en-US" b="1" dirty="0"/>
                  <a:t>Importance</a:t>
                </a:r>
                <a:r>
                  <a:rPr lang="en-US" dirty="0"/>
                  <a:t>: This condition ensures that the valuation system is grounded, meaning that all value assessments are relative to the existence of items. It helps in establishing a baseline for the agent’s preferences and prevents irrational valuations where an agent might derive value from having nothing.</a:t>
                </a:r>
              </a:p>
              <a:p>
                <a:pPr marL="171450" indent="-171450">
                  <a:buFont typeface="Arial" panose="020B0604020202020204" pitchFamily="34" charset="0"/>
                  <a:buChar char="•"/>
                </a:pPr>
                <a:endParaRPr lang="en-US" dirty="0"/>
              </a:p>
              <a:p>
                <a:r>
                  <a:rPr lang="en-US" b="1" dirty="0"/>
                  <a:t>Implications of Normalized Valuation</a:t>
                </a:r>
                <a:r>
                  <a:rPr lang="en-US" dirty="0"/>
                  <a:t>:</a:t>
                </a:r>
              </a:p>
              <a:p>
                <a:pPr marL="171450" indent="-171450">
                  <a:buFont typeface="Arial" panose="020B0604020202020204" pitchFamily="34" charset="0"/>
                  <a:buChar char="•"/>
                </a:pPr>
                <a:r>
                  <a:rPr lang="en-US" b="1" dirty="0"/>
                  <a:t>Clarity in Bidding</a:t>
                </a:r>
                <a:r>
                  <a:rPr lang="en-US" dirty="0"/>
                  <a:t>: By ensuring that an empty set is valued at zero, agents can more clearly evaluate the worth of various bundles. This provides a more structured approach to how they formulate their bids based on the presence of items.</a:t>
                </a:r>
              </a:p>
              <a:p>
                <a:pPr marL="171450" indent="-171450">
                  <a:buFont typeface="Arial" panose="020B0604020202020204" pitchFamily="34" charset="0"/>
                  <a:buChar char="•"/>
                </a:pPr>
                <a:r>
                  <a:rPr lang="en-US" b="1" dirty="0"/>
                  <a:t>Consistency in Valuations</a:t>
                </a:r>
                <a:r>
                  <a:rPr lang="en-US" dirty="0"/>
                  <a:t>: Normalized valuations contribute to consistency across different agents’ evaluations, as they all recognize that value derives from tangible items rather than an empty set.</a:t>
                </a:r>
              </a:p>
              <a:p>
                <a:pPr marL="171450" indent="-171450">
                  <a:buFont typeface="Arial" panose="020B0604020202020204" pitchFamily="34" charset="0"/>
                  <a:buChar char="•"/>
                </a:pPr>
                <a:endParaRPr lang="en-US" dirty="0"/>
              </a:p>
              <a:p>
                <a:r>
                  <a:rPr lang="en-US" b="1" dirty="0"/>
                  <a:t>Free Disposal</a:t>
                </a:r>
                <a:r>
                  <a:rPr lang="en-US" dirty="0"/>
                  <a:t>:</a:t>
                </a:r>
              </a:p>
              <a:p>
                <a:pPr marL="171450" indent="-171450">
                  <a:buFont typeface="Arial" panose="020B0604020202020204" pitchFamily="34" charset="0"/>
                  <a:buChar char="•"/>
                </a:pPr>
                <a:r>
                  <a:rPr lang="en-US" dirty="0"/>
                  <a:t>A valuation function is said to exhibit </a:t>
                </a:r>
                <a:r>
                  <a:rPr lang="en-US" b="1" dirty="0"/>
                  <a:t>free disposal</a:t>
                </a:r>
                <a:r>
                  <a:rPr lang="en-US" dirty="0"/>
                  <a:t> if receiving additional items does not negatively impact an agent's valuation. This means that an agent is never worse off for receiving more items.</a:t>
                </a:r>
              </a:p>
              <a:p>
                <a:pPr marL="171450" indent="-171450">
                  <a:buFont typeface="Arial" panose="020B0604020202020204" pitchFamily="34" charset="0"/>
                  <a:buChar char="•"/>
                </a:pPr>
                <a:r>
                  <a:rPr lang="en-US" dirty="0"/>
                  <a:t>Mathematically, free disposal is represented as: if </a:t>
                </a: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𝑍</m:t>
                        </m:r>
                      </m:e>
                      <m:sub>
                        <m:r>
                          <a:rPr lang="en-US" sz="1200" b="0" i="1" spc="10" smtClean="0">
                            <a:latin typeface="Cambria Math" panose="02040503050406030204" pitchFamily="18" charset="0"/>
                            <a:cs typeface="Tahoma"/>
                          </a:rPr>
                          <m:t>1</m:t>
                        </m:r>
                      </m:sub>
                    </m:sSub>
                    <m:r>
                      <a:rPr lang="en-US" sz="1200" b="0" i="1" spc="10" smtClean="0">
                        <a:latin typeface="Cambria Math" panose="02040503050406030204" pitchFamily="18" charset="0"/>
                        <a:ea typeface="Cambria Math" panose="02040503050406030204" pitchFamily="18" charset="0"/>
                        <a:cs typeface="Tahoma"/>
                      </a:rPr>
                      <m:t>⊆</m:t>
                    </m:r>
                    <m:sSub>
                      <m:sSubPr>
                        <m:ctrlPr>
                          <a:rPr lang="en-US" sz="1200" b="0" i="1" spc="10" smtClean="0">
                            <a:latin typeface="Cambria Math" panose="02040503050406030204" pitchFamily="18" charset="0"/>
                            <a:ea typeface="Cambria Math" panose="02040503050406030204" pitchFamily="18" charset="0"/>
                            <a:cs typeface="Tahoma"/>
                          </a:rPr>
                        </m:ctrlPr>
                      </m:sSubPr>
                      <m:e>
                        <m:r>
                          <a:rPr lang="en-US" sz="1200" b="0" i="1" spc="10" smtClean="0">
                            <a:latin typeface="Cambria Math" panose="02040503050406030204" pitchFamily="18" charset="0"/>
                            <a:ea typeface="Cambria Math" panose="02040503050406030204" pitchFamily="18" charset="0"/>
                            <a:cs typeface="Tahoma"/>
                          </a:rPr>
                          <m:t>𝑍</m:t>
                        </m:r>
                      </m:e>
                      <m:sub>
                        <m:r>
                          <a:rPr lang="en-US" sz="1200" b="0" i="1" spc="10" smtClean="0">
                            <a:latin typeface="Cambria Math" panose="02040503050406030204" pitchFamily="18" charset="0"/>
                            <a:ea typeface="Cambria Math" panose="02040503050406030204" pitchFamily="18" charset="0"/>
                            <a:cs typeface="Tahoma"/>
                          </a:rPr>
                          <m:t>2</m:t>
                        </m:r>
                      </m:sub>
                    </m:sSub>
                  </m:oMath>
                </a14:m>
                <a:r>
                  <a:rPr lang="en-US" sz="1200" spc="10" dirty="0">
                    <a:latin typeface="Tahoma"/>
                    <a:cs typeface="Tahoma"/>
                  </a:rPr>
                  <a:t> then </a:t>
                </a:r>
                <a14:m>
                  <m:oMath xmlns:m="http://schemas.openxmlformats.org/officeDocument/2006/math">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err="1">
                            <a:latin typeface="Cambria Math" panose="02040503050406030204" pitchFamily="18" charset="0"/>
                            <a:cs typeface="Tahoma"/>
                          </a:rPr>
                          <m:t>𝑖</m:t>
                        </m:r>
                      </m:sub>
                    </m:sSub>
                    <m:d>
                      <m:dPr>
                        <m:ctrlPr>
                          <a:rPr lang="en-US" sz="1200" i="1" spc="10" dirty="0" err="1">
                            <a:latin typeface="Cambria Math" panose="02040503050406030204" pitchFamily="18" charset="0"/>
                            <a:cs typeface="Tahoma"/>
                          </a:rPr>
                        </m:ctrlPr>
                      </m:dPr>
                      <m:e>
                        <m:sSub>
                          <m:sSubPr>
                            <m:ctrlPr>
                              <a:rPr lang="en-US" sz="1200" b="0" i="1" spc="10" dirty="0" smtClean="0">
                                <a:latin typeface="Cambria Math" panose="02040503050406030204" pitchFamily="18" charset="0"/>
                                <a:cs typeface="Tahoma"/>
                              </a:rPr>
                            </m:ctrlPr>
                          </m:sSubPr>
                          <m:e>
                            <m:r>
                              <a:rPr lang="en-US" sz="1200" b="0" i="1" spc="10" dirty="0" smtClean="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1</m:t>
                            </m:r>
                          </m:sub>
                        </m:sSub>
                      </m:e>
                    </m:d>
                    <m:r>
                      <a:rPr lang="en-US" sz="1200" b="0" i="1" spc="10" dirty="0" smtClean="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err="1">
                            <a:latin typeface="Cambria Math" panose="02040503050406030204" pitchFamily="18" charset="0"/>
                            <a:cs typeface="Tahoma"/>
                          </a:rPr>
                          <m:t>𝑖</m:t>
                        </m:r>
                      </m:sub>
                    </m:sSub>
                    <m:d>
                      <m:dPr>
                        <m:ctrlPr>
                          <a:rPr lang="en-US" sz="1200" i="1" spc="10" dirty="0" err="1">
                            <a:latin typeface="Cambria Math" panose="02040503050406030204" pitchFamily="18" charset="0"/>
                            <a:cs typeface="Tahoma"/>
                          </a:rPr>
                        </m:ctrlPr>
                      </m:dPr>
                      <m:e>
                        <m:sSub>
                          <m:sSubPr>
                            <m:ctrlPr>
                              <a:rPr lang="en-US" sz="1200" b="0" i="1" spc="10" dirty="0" smtClean="0">
                                <a:latin typeface="Cambria Math" panose="02040503050406030204" pitchFamily="18" charset="0"/>
                                <a:cs typeface="Tahoma"/>
                              </a:rPr>
                            </m:ctrlPr>
                          </m:sSubPr>
                          <m:e>
                            <m:r>
                              <a:rPr lang="en-US" sz="1200" b="0" i="1" spc="10" dirty="0" smtClean="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2</m:t>
                            </m:r>
                          </m:sub>
                        </m:sSub>
                      </m:e>
                    </m:d>
                  </m:oMath>
                </a14:m>
                <a:r>
                  <a:rPr lang="en-US" dirty="0"/>
                  <a:t>. This means the value assigned to a smaller subset </a:t>
                </a: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𝑍</m:t>
                        </m:r>
                      </m:e>
                      <m:sub>
                        <m:r>
                          <a:rPr lang="en-US" sz="1200" b="0" i="1" spc="10" smtClean="0">
                            <a:latin typeface="Cambria Math" panose="02040503050406030204" pitchFamily="18" charset="0"/>
                            <a:cs typeface="Tahoma"/>
                          </a:rPr>
                          <m:t>1</m:t>
                        </m:r>
                      </m:sub>
                    </m:sSub>
                  </m:oMath>
                </a14:m>
                <a:r>
                  <a:rPr lang="en-US" dirty="0"/>
                  <a:t>​ is always less than or equal to the value assigned to a larger subset </a:t>
                </a:r>
                <a14:m>
                  <m:oMath xmlns:m="http://schemas.openxmlformats.org/officeDocument/2006/math">
                    <m:sSub>
                      <m:sSubPr>
                        <m:ctrlPr>
                          <a:rPr lang="en-US" sz="1200" b="0" i="1" spc="10" smtClean="0">
                            <a:latin typeface="Cambria Math" panose="02040503050406030204" pitchFamily="18" charset="0"/>
                            <a:ea typeface="Cambria Math" panose="02040503050406030204" pitchFamily="18" charset="0"/>
                            <a:cs typeface="Tahoma"/>
                          </a:rPr>
                        </m:ctrlPr>
                      </m:sSubPr>
                      <m:e>
                        <m:r>
                          <a:rPr lang="en-US" sz="1200" b="0" i="1" spc="10" smtClean="0">
                            <a:latin typeface="Cambria Math" panose="02040503050406030204" pitchFamily="18" charset="0"/>
                            <a:ea typeface="Cambria Math" panose="02040503050406030204" pitchFamily="18" charset="0"/>
                            <a:cs typeface="Tahoma"/>
                          </a:rPr>
                          <m:t>𝑍</m:t>
                        </m:r>
                      </m:e>
                      <m:sub>
                        <m:r>
                          <a:rPr lang="en-US" sz="1200" b="0" i="1" spc="10" smtClean="0">
                            <a:latin typeface="Cambria Math" panose="02040503050406030204" pitchFamily="18" charset="0"/>
                            <a:ea typeface="Cambria Math" panose="02040503050406030204" pitchFamily="18" charset="0"/>
                            <a:cs typeface="Tahoma"/>
                          </a:rPr>
                          <m:t>2</m:t>
                        </m:r>
                      </m:sub>
                    </m:sSub>
                  </m:oMath>
                </a14:m>
                <a:r>
                  <a:rPr lang="en-US" dirty="0"/>
                  <a:t>​.</a:t>
                </a:r>
              </a:p>
              <a:p>
                <a:endParaRPr lang="en-US" b="1" dirty="0"/>
              </a:p>
              <a:p>
                <a:r>
                  <a:rPr lang="en-US" b="1" dirty="0"/>
                  <a:t>Implications of Free Disposal</a:t>
                </a:r>
                <a:r>
                  <a:rPr lang="en-US" dirty="0"/>
                  <a:t>:</a:t>
                </a:r>
              </a:p>
              <a:p>
                <a:pPr marL="171450" indent="-171450">
                  <a:buFont typeface="Arial" panose="020B0604020202020204" pitchFamily="34" charset="0"/>
                  <a:buChar char="•"/>
                </a:pPr>
                <a:r>
                  <a:rPr lang="en-US" b="1" dirty="0"/>
                  <a:t>Encouragement of Bidding</a:t>
                </a:r>
                <a:r>
                  <a:rPr lang="en-US" dirty="0"/>
                  <a:t>: The concept of free disposal encourages agents to bid for additional items without the fear of diminishing returns. They can bid on bundles without worrying that adding more items will reduce the total value they assign.</a:t>
                </a:r>
              </a:p>
              <a:p>
                <a:pPr marL="171450" indent="-171450">
                  <a:buFont typeface="Arial" panose="020B0604020202020204" pitchFamily="34" charset="0"/>
                  <a:buChar char="•"/>
                </a:pPr>
                <a:r>
                  <a:rPr lang="en-US" b="1" dirty="0"/>
                  <a:t>Simplifies Auction Dynamics</a:t>
                </a:r>
                <a:r>
                  <a:rPr lang="en-US" dirty="0"/>
                  <a:t>: Free disposal simplifies the decision-making process for agents, as they can be assured that acquiring more items will not result in a decrease in their overall valuation.</a:t>
                </a:r>
              </a:p>
              <a:p>
                <a:pPr marL="171450" indent="-171450">
                  <a:buFont typeface="Arial" panose="020B0604020202020204" pitchFamily="34" charset="0"/>
                  <a:buChar char="•"/>
                </a:pPr>
                <a:r>
                  <a:rPr lang="en-US" b="1" dirty="0"/>
                  <a:t>Practical Applications</a:t>
                </a:r>
                <a:r>
                  <a:rPr lang="en-US" dirty="0"/>
                  <a:t>: This concept is particularly relevant in auctions where items are often complementary, meaning that the total value of a combination of items is greater than the sum of their individual values.</a:t>
                </a:r>
              </a:p>
              <a:p>
                <a:endParaRPr lang="en-US" b="1" dirty="0"/>
              </a:p>
              <a:p>
                <a:r>
                  <a:rPr lang="en-US" b="1" dirty="0"/>
                  <a:t>Challenges and Considerations</a:t>
                </a:r>
                <a:r>
                  <a:rPr lang="en-US" dirty="0"/>
                  <a:t>:</a:t>
                </a:r>
              </a:p>
              <a:p>
                <a:pPr marL="171450" indent="-171450">
                  <a:buFont typeface="Arial" panose="020B0604020202020204" pitchFamily="34" charset="0"/>
                  <a:buChar char="•"/>
                </a:pPr>
                <a:r>
                  <a:rPr lang="en-US" b="1" dirty="0"/>
                  <a:t>Strategic Bidding</a:t>
                </a:r>
                <a:r>
                  <a:rPr lang="en-US" dirty="0"/>
                  <a:t>: While free disposal simplifies valuations, it also introduces strategic considerations. Agents may attempt to manipulate their bids based on the understanding that more items will always yield a higher or equal valuation.</a:t>
                </a:r>
              </a:p>
              <a:p>
                <a:pPr marL="171450" indent="-171450">
                  <a:buFont typeface="Arial" panose="020B0604020202020204" pitchFamily="34" charset="0"/>
                  <a:buChar char="•"/>
                </a:pPr>
                <a:r>
                  <a:rPr lang="en-US" b="1" dirty="0"/>
                  <a:t>Diversity in Preferences</a:t>
                </a:r>
                <a:r>
                  <a:rPr lang="en-US" dirty="0"/>
                  <a:t>: Different agents may have varying preferences for bundles of items, which can complicate the dynamics of bidding, even under free disposal.</a:t>
                </a:r>
              </a:p>
              <a:p>
                <a:endParaRPr lang="en-US" b="1" dirty="0"/>
              </a:p>
              <a:p>
                <a:r>
                  <a:rPr lang="en-US" b="1" dirty="0"/>
                  <a:t>Conclusion</a:t>
                </a:r>
                <a:r>
                  <a:rPr lang="en-US" dirty="0"/>
                  <a:t>:</a:t>
                </a:r>
              </a:p>
              <a:p>
                <a:pPr marL="171450" indent="-171450">
                  <a:buFont typeface="Arial" panose="020B0604020202020204" pitchFamily="34" charset="0"/>
                  <a:buChar char="•"/>
                </a:pPr>
                <a:r>
                  <a:rPr lang="en-US" dirty="0"/>
                  <a:t>Understanding normalized valuation and the principle of free disposal is crucial for analyzing bidder behavior in combinatorial auctions. These concepts help establish a framework for valuing items consistently and encourage more effective and strategic bidding, leading to potentially better outcomes for both bidders and auctioneers.</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delves into two important properties of valuation functions: normalization and free disposal. Normalization ensures that an empty allocation has no value, while free disposal reflects the intuitive notion that more items are generally preferred or at least not detrimental.</a:t>
                </a:r>
              </a:p>
              <a:p>
                <a:endParaRPr lang="en-US" b="0" i="0" dirty="0">
                  <a:solidFill>
                    <a:srgbClr val="E8E8E8"/>
                  </a:solidFill>
                  <a:effectLst/>
                  <a:latin typeface="Google Sans Text"/>
                </a:endParaRPr>
              </a:p>
              <a:p>
                <a:r>
                  <a:rPr lang="en-US" b="1" dirty="0"/>
                  <a:t>Normalized Valuation</a:t>
                </a:r>
                <a:r>
                  <a:rPr lang="en-US" dirty="0"/>
                  <a:t>:</a:t>
                </a:r>
              </a:p>
              <a:p>
                <a:pPr marL="171450" indent="-171450">
                  <a:buFont typeface="Arial" panose="020B0604020202020204" pitchFamily="34" charset="0"/>
                  <a:buChar char="•"/>
                </a:pPr>
                <a:r>
                  <a:rPr lang="en-US" dirty="0"/>
                  <a:t>A </a:t>
                </a:r>
                <a:r>
                  <a:rPr lang="en-US" b="1" dirty="0"/>
                  <a:t>normalized valuation function</a:t>
                </a:r>
                <a:r>
                  <a:rPr lang="en-US" dirty="0"/>
                  <a:t> </a:t>
                </a:r>
                <a:r>
                  <a:rPr lang="en-US" sz="1200" i="0" spc="10" dirty="0">
                    <a:latin typeface="Cambria Math" panose="02040503050406030204" pitchFamily="18" charset="0"/>
                    <a:cs typeface="Tahoma"/>
                  </a:rPr>
                  <a:t>𝜐_</a:t>
                </a:r>
                <a:r>
                  <a:rPr lang="en-US" sz="1200" i="0" spc="10" dirty="0" err="1">
                    <a:latin typeface="Cambria Math" panose="02040503050406030204" pitchFamily="18" charset="0"/>
                    <a:cs typeface="Tahoma"/>
                  </a:rPr>
                  <a:t>𝑖</a:t>
                </a:r>
                <a:r>
                  <a:rPr lang="en-US" dirty="0"/>
                  <a:t>​ is one that satisfies the condition </a:t>
                </a:r>
                <a:r>
                  <a:rPr lang="en-US" sz="1200" i="0" spc="10" dirty="0">
                    <a:latin typeface="Cambria Math" panose="02040503050406030204" pitchFamily="18" charset="0"/>
                    <a:cs typeface="Tahoma"/>
                  </a:rPr>
                  <a:t>𝜐_</a:t>
                </a:r>
                <a:r>
                  <a:rPr lang="en-US" sz="1200" i="0" spc="10" dirty="0" err="1">
                    <a:latin typeface="Cambria Math" panose="02040503050406030204" pitchFamily="18" charset="0"/>
                    <a:cs typeface="Tahoma"/>
                  </a:rPr>
                  <a:t>𝑖</a:t>
                </a:r>
                <a:r>
                  <a:rPr lang="en-US" sz="1200" i="0" spc="10" dirty="0">
                    <a:latin typeface="Cambria Math" panose="02040503050406030204" pitchFamily="18" charset="0"/>
                    <a:cs typeface="Tahoma"/>
                  </a:rPr>
                  <a:t> (∅)=0</a:t>
                </a:r>
                <a:r>
                  <a:rPr lang="en-US" dirty="0"/>
                  <a:t>. This implies that an agent does not assign any value to the absence of items.</a:t>
                </a:r>
              </a:p>
              <a:p>
                <a:pPr marL="171450" indent="-171450">
                  <a:buFont typeface="Arial" panose="020B0604020202020204" pitchFamily="34" charset="0"/>
                  <a:buChar char="•"/>
                </a:pPr>
                <a:r>
                  <a:rPr lang="en-US" b="1" dirty="0"/>
                  <a:t>Importance</a:t>
                </a:r>
                <a:r>
                  <a:rPr lang="en-US" dirty="0"/>
                  <a:t>: This condition ensures that the valuation system is grounded, meaning that all value assessments are relative to the existence of items. It helps in establishing a baseline for the agent’s preferences and prevents irrational valuations where an agent might derive value from having nothing.</a:t>
                </a:r>
              </a:p>
              <a:p>
                <a:pPr marL="171450" indent="-171450">
                  <a:buFont typeface="Arial" panose="020B0604020202020204" pitchFamily="34" charset="0"/>
                  <a:buChar char="•"/>
                </a:pPr>
                <a:endParaRPr lang="en-US" dirty="0"/>
              </a:p>
              <a:p>
                <a:r>
                  <a:rPr lang="en-US" b="1" dirty="0"/>
                  <a:t>Implications of Normalized Valuation</a:t>
                </a:r>
                <a:r>
                  <a:rPr lang="en-US" dirty="0"/>
                  <a:t>:</a:t>
                </a:r>
              </a:p>
              <a:p>
                <a:pPr marL="171450" indent="-171450">
                  <a:buFont typeface="Arial" panose="020B0604020202020204" pitchFamily="34" charset="0"/>
                  <a:buChar char="•"/>
                </a:pPr>
                <a:r>
                  <a:rPr lang="en-US" b="1" dirty="0"/>
                  <a:t>Clarity in Bidding</a:t>
                </a:r>
                <a:r>
                  <a:rPr lang="en-US" dirty="0"/>
                  <a:t>: By ensuring that an empty set is valued at zero, agents can more clearly evaluate the worth of various bundles. This provides a more structured approach to how they formulate their bids based on the presence of items.</a:t>
                </a:r>
              </a:p>
              <a:p>
                <a:pPr marL="171450" indent="-171450">
                  <a:buFont typeface="Arial" panose="020B0604020202020204" pitchFamily="34" charset="0"/>
                  <a:buChar char="•"/>
                </a:pPr>
                <a:r>
                  <a:rPr lang="en-US" b="1" dirty="0"/>
                  <a:t>Consistency in Valuations</a:t>
                </a:r>
                <a:r>
                  <a:rPr lang="en-US" dirty="0"/>
                  <a:t>: Normalized valuations contribute to consistency across different agents’ evaluations, as they all recognize that value derives from tangible items rather than an empty set.</a:t>
                </a:r>
              </a:p>
              <a:p>
                <a:pPr marL="171450" indent="-171450">
                  <a:buFont typeface="Arial" panose="020B0604020202020204" pitchFamily="34" charset="0"/>
                  <a:buChar char="•"/>
                </a:pPr>
                <a:endParaRPr lang="en-US" dirty="0"/>
              </a:p>
              <a:p>
                <a:r>
                  <a:rPr lang="en-US" b="1" dirty="0"/>
                  <a:t>Free Disposal</a:t>
                </a:r>
                <a:r>
                  <a:rPr lang="en-US" dirty="0"/>
                  <a:t>:</a:t>
                </a:r>
              </a:p>
              <a:p>
                <a:pPr marL="171450" indent="-171450">
                  <a:buFont typeface="Arial" panose="020B0604020202020204" pitchFamily="34" charset="0"/>
                  <a:buChar char="•"/>
                </a:pPr>
                <a:r>
                  <a:rPr lang="en-US" dirty="0"/>
                  <a:t>A valuation function is said to exhibit </a:t>
                </a:r>
                <a:r>
                  <a:rPr lang="en-US" b="1" dirty="0"/>
                  <a:t>free disposal</a:t>
                </a:r>
                <a:r>
                  <a:rPr lang="en-US" dirty="0"/>
                  <a:t> if receiving additional items does not negatively impact an agent's valuation. This means that an agent is never worse off for receiving more items.</a:t>
                </a:r>
              </a:p>
              <a:p>
                <a:pPr marL="171450" indent="-171450">
                  <a:buFont typeface="Arial" panose="020B0604020202020204" pitchFamily="34" charset="0"/>
                  <a:buChar char="•"/>
                </a:pPr>
                <a:r>
                  <a:rPr lang="en-US" dirty="0"/>
                  <a:t>Mathematically, free disposal is represented as: if </a:t>
                </a:r>
                <a:r>
                  <a:rPr lang="en-US" sz="1200" b="0" i="0" spc="10">
                    <a:latin typeface="Cambria Math" panose="02040503050406030204" pitchFamily="18" charset="0"/>
                    <a:cs typeface="Tahoma"/>
                  </a:rPr>
                  <a:t>𝑍_1</a:t>
                </a:r>
                <a:r>
                  <a:rPr lang="en-US" sz="1200" b="0" i="0" spc="10">
                    <a:latin typeface="Cambria Math" panose="02040503050406030204" pitchFamily="18" charset="0"/>
                    <a:ea typeface="Cambria Math" panose="02040503050406030204" pitchFamily="18" charset="0"/>
                    <a:cs typeface="Tahoma"/>
                  </a:rPr>
                  <a:t>⊆𝑍_2</a:t>
                </a:r>
                <a:r>
                  <a:rPr lang="en-US" sz="1200" spc="10" dirty="0">
                    <a:latin typeface="Tahoma"/>
                    <a:cs typeface="Tahoma"/>
                  </a:rPr>
                  <a:t> then </a:t>
                </a:r>
                <a:r>
                  <a:rPr lang="en-US" sz="1200" i="0" spc="10" dirty="0">
                    <a:latin typeface="Cambria Math" panose="02040503050406030204" pitchFamily="18" charset="0"/>
                    <a:cs typeface="Tahoma"/>
                  </a:rPr>
                  <a:t>𝜐_</a:t>
                </a:r>
                <a:r>
                  <a:rPr lang="en-US" sz="1200" i="0" spc="10" dirty="0" err="1">
                    <a:latin typeface="Cambria Math" panose="02040503050406030204" pitchFamily="18" charset="0"/>
                    <a:cs typeface="Tahoma"/>
                  </a:rPr>
                  <a:t>𝑖 (</a:t>
                </a:r>
                <a:r>
                  <a:rPr lang="en-US" sz="1200" b="0" i="0" spc="10" dirty="0">
                    <a:latin typeface="Cambria Math" panose="02040503050406030204" pitchFamily="18" charset="0"/>
                    <a:cs typeface="Tahoma"/>
                  </a:rPr>
                  <a:t>𝑍_1 )≤</a:t>
                </a:r>
                <a:r>
                  <a:rPr lang="en-US" sz="1200" i="0" spc="10" dirty="0">
                    <a:latin typeface="Cambria Math" panose="02040503050406030204" pitchFamily="18" charset="0"/>
                    <a:cs typeface="Tahoma"/>
                  </a:rPr>
                  <a:t>𝜐_</a:t>
                </a:r>
                <a:r>
                  <a:rPr lang="en-US" sz="1200" i="0" spc="10" dirty="0" err="1">
                    <a:latin typeface="Cambria Math" panose="02040503050406030204" pitchFamily="18" charset="0"/>
                    <a:cs typeface="Tahoma"/>
                  </a:rPr>
                  <a:t>𝑖 (</a:t>
                </a:r>
                <a:r>
                  <a:rPr lang="en-US" sz="1200" b="0" i="0" spc="10" dirty="0">
                    <a:latin typeface="Cambria Math" panose="02040503050406030204" pitchFamily="18" charset="0"/>
                    <a:cs typeface="Tahoma"/>
                  </a:rPr>
                  <a:t>𝑍_2 )</a:t>
                </a:r>
                <a:r>
                  <a:rPr lang="en-US" dirty="0"/>
                  <a:t>. This means the value assigned to a smaller subset </a:t>
                </a:r>
                <a:r>
                  <a:rPr lang="en-US" sz="1200" b="0" i="0" spc="10">
                    <a:latin typeface="Cambria Math" panose="02040503050406030204" pitchFamily="18" charset="0"/>
                    <a:cs typeface="Tahoma"/>
                  </a:rPr>
                  <a:t>𝑍_1</a:t>
                </a:r>
                <a:r>
                  <a:rPr lang="en-US" dirty="0"/>
                  <a:t>​ is always less than or equal to the value assigned to a larger subset </a:t>
                </a:r>
                <a:r>
                  <a:rPr lang="en-US" sz="1200" b="0" i="0" spc="10">
                    <a:latin typeface="Cambria Math" panose="02040503050406030204" pitchFamily="18" charset="0"/>
                    <a:ea typeface="Cambria Math" panose="02040503050406030204" pitchFamily="18" charset="0"/>
                    <a:cs typeface="Tahoma"/>
                  </a:rPr>
                  <a:t>𝑍_2</a:t>
                </a:r>
                <a:r>
                  <a:rPr lang="en-US" dirty="0"/>
                  <a:t>​.</a:t>
                </a:r>
              </a:p>
              <a:p>
                <a:endParaRPr lang="en-US" b="1" dirty="0"/>
              </a:p>
              <a:p>
                <a:r>
                  <a:rPr lang="en-US" b="1" dirty="0"/>
                  <a:t>Implications of Free Disposal</a:t>
                </a:r>
                <a:r>
                  <a:rPr lang="en-US" dirty="0"/>
                  <a:t>:</a:t>
                </a:r>
              </a:p>
              <a:p>
                <a:pPr marL="171450" indent="-171450">
                  <a:buFont typeface="Arial" panose="020B0604020202020204" pitchFamily="34" charset="0"/>
                  <a:buChar char="•"/>
                </a:pPr>
                <a:r>
                  <a:rPr lang="en-US" b="1" dirty="0"/>
                  <a:t>Encouragement of Bidding</a:t>
                </a:r>
                <a:r>
                  <a:rPr lang="en-US" dirty="0"/>
                  <a:t>: The concept of free disposal encourages agents to bid for additional items without the fear of diminishing returns. They can bid on bundles without worrying that adding more items will reduce the total value they assign.</a:t>
                </a:r>
              </a:p>
              <a:p>
                <a:pPr marL="171450" indent="-171450">
                  <a:buFont typeface="Arial" panose="020B0604020202020204" pitchFamily="34" charset="0"/>
                  <a:buChar char="•"/>
                </a:pPr>
                <a:r>
                  <a:rPr lang="en-US" b="1" dirty="0"/>
                  <a:t>Simplifies Auction Dynamics</a:t>
                </a:r>
                <a:r>
                  <a:rPr lang="en-US" dirty="0"/>
                  <a:t>: Free disposal simplifies the decision-making process for agents, as they can be assured that acquiring more items will not result in a decrease in their overall valuation.</a:t>
                </a:r>
              </a:p>
              <a:p>
                <a:pPr marL="171450" indent="-171450">
                  <a:buFont typeface="Arial" panose="020B0604020202020204" pitchFamily="34" charset="0"/>
                  <a:buChar char="•"/>
                </a:pPr>
                <a:r>
                  <a:rPr lang="en-US" b="1" dirty="0"/>
                  <a:t>Practical Applications</a:t>
                </a:r>
                <a:r>
                  <a:rPr lang="en-US" dirty="0"/>
                  <a:t>: This concept is particularly relevant in auctions where items are often complementary, meaning that the total value of a combination of items is greater than the sum of their individual values.</a:t>
                </a:r>
              </a:p>
              <a:p>
                <a:endParaRPr lang="en-US" b="1" dirty="0"/>
              </a:p>
              <a:p>
                <a:r>
                  <a:rPr lang="en-US" b="1" dirty="0"/>
                  <a:t>Challenges and Considerations</a:t>
                </a:r>
                <a:r>
                  <a:rPr lang="en-US" dirty="0"/>
                  <a:t>:</a:t>
                </a:r>
              </a:p>
              <a:p>
                <a:pPr marL="171450" indent="-171450">
                  <a:buFont typeface="Arial" panose="020B0604020202020204" pitchFamily="34" charset="0"/>
                  <a:buChar char="•"/>
                </a:pPr>
                <a:r>
                  <a:rPr lang="en-US" b="1" dirty="0"/>
                  <a:t>Strategic Bidding</a:t>
                </a:r>
                <a:r>
                  <a:rPr lang="en-US" dirty="0"/>
                  <a:t>: While free disposal simplifies valuations, it also introduces strategic considerations. Agents may attempt to manipulate their bids based on the understanding that more items will always yield a higher or equal valuation.</a:t>
                </a:r>
              </a:p>
              <a:p>
                <a:pPr marL="171450" indent="-171450">
                  <a:buFont typeface="Arial" panose="020B0604020202020204" pitchFamily="34" charset="0"/>
                  <a:buChar char="•"/>
                </a:pPr>
                <a:r>
                  <a:rPr lang="en-US" b="1" dirty="0"/>
                  <a:t>Diversity in Preferences</a:t>
                </a:r>
                <a:r>
                  <a:rPr lang="en-US" dirty="0"/>
                  <a:t>: Different agents may have varying preferences for bundles of items, which can complicate the dynamics of bidding, even under free disposal.</a:t>
                </a:r>
              </a:p>
              <a:p>
                <a:endParaRPr lang="en-US" b="1" dirty="0"/>
              </a:p>
              <a:p>
                <a:r>
                  <a:rPr lang="en-US" b="1" dirty="0"/>
                  <a:t>Conclusion</a:t>
                </a:r>
                <a:r>
                  <a:rPr lang="en-US" dirty="0"/>
                  <a:t>:</a:t>
                </a:r>
              </a:p>
              <a:p>
                <a:pPr marL="171450" indent="-171450">
                  <a:buFont typeface="Arial" panose="020B0604020202020204" pitchFamily="34" charset="0"/>
                  <a:buChar char="•"/>
                </a:pPr>
                <a:r>
                  <a:rPr lang="en-US" dirty="0"/>
                  <a:t>Understanding normalized valuation and the principle of free disposal is crucial for analyzing bidder behavior in combinatorial auctions. These concepts help establish a framework for valuing items consistently and encourage more effective and strategic bidding, leading to potentially better outcomes for both bidders and auctioneers.</a:t>
                </a:r>
              </a:p>
              <a:p>
                <a:endParaRPr dirty="0"/>
              </a:p>
            </p:txBody>
          </p:sp>
        </mc:Fallback>
      </mc:AlternateContent>
    </p:spTree>
    <p:extLst>
      <p:ext uri="{BB962C8B-B14F-4D97-AF65-F5344CB8AC3E}">
        <p14:creationId xmlns:p14="http://schemas.microsoft.com/office/powerpoint/2010/main" val="2652851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formally defines an allocation in a combinatorial auction, ensuring that goods are distributed without overlaps and that not all goods are required to be allocated.</a:t>
                </a:r>
              </a:p>
              <a:p>
                <a:endParaRPr lang="en-US" b="0" i="0" dirty="0">
                  <a:solidFill>
                    <a:srgbClr val="E8E8E8"/>
                  </a:solidFill>
                  <a:effectLst/>
                  <a:latin typeface="Google Sans Text"/>
                </a:endParaRPr>
              </a:p>
              <a:p>
                <a:r>
                  <a:rPr lang="en-US" b="1" dirty="0"/>
                  <a:t>Definition of Allocation</a:t>
                </a:r>
                <a:r>
                  <a:rPr lang="en-US" dirty="0"/>
                  <a:t>:</a:t>
                </a:r>
              </a:p>
              <a:p>
                <a:pPr marL="171450" indent="-171450">
                  <a:buFont typeface="Arial" panose="020B0604020202020204" pitchFamily="34" charset="0"/>
                  <a:buChar char="•"/>
                </a:pPr>
                <a:r>
                  <a:rPr lang="en-US" dirty="0"/>
                  <a:t>An </a:t>
                </a:r>
                <a:r>
                  <a:rPr lang="en-US" b="1" dirty="0"/>
                  <a:t>allocation</a:t>
                </a:r>
                <a:r>
                  <a:rPr lang="en-US" dirty="0"/>
                  <a:t> refers to the process of assigning goods to agents in an auction or resource distribution scenario. It may result in some goods remaining unallocated, depending on the bids and preferences of the agents involved.</a:t>
                </a:r>
              </a:p>
              <a:p>
                <a:endParaRPr lang="en-US" b="1" dirty="0"/>
              </a:p>
              <a:p>
                <a:r>
                  <a:rPr lang="en-US" b="1" dirty="0"/>
                  <a:t>Formal Definition</a:t>
                </a:r>
                <a:r>
                  <a:rPr lang="en-US" dirty="0"/>
                  <a:t>:</a:t>
                </a:r>
              </a:p>
              <a:p>
                <a:pPr marL="171450" indent="-171450">
                  <a:buFont typeface="Arial" panose="020B0604020202020204" pitchFamily="34" charset="0"/>
                  <a:buChar char="•"/>
                </a:pPr>
                <a:r>
                  <a:rPr lang="en-US" dirty="0"/>
                  <a:t>An allocation is mathematically represented as a list of sets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Sub>
                    <m:r>
                      <a:rPr lang="en-US" sz="1200" i="1" spc="10" dirty="0" smtClean="0">
                        <a:latin typeface="Cambria Math" panose="02040503050406030204" pitchFamily="18" charset="0"/>
                        <a:cs typeface="Tahoma"/>
                      </a:rPr>
                      <m:t>, …, </m:t>
                    </m:r>
                    <m:sSub>
                      <m:sSubPr>
                        <m:ctrlPr>
                          <a:rPr lang="en-US" sz="1200" i="1" spc="10" dirty="0" err="1"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Sub>
                  </m:oMath>
                </a14:m>
                <a:r>
                  <a:rPr lang="en-US" dirty="0"/>
                  <a:t>​, where each set corresponds to the goods assigned to a specific agent in the set </a:t>
                </a:r>
                <a14:m>
                  <m:oMath xmlns:m="http://schemas.openxmlformats.org/officeDocument/2006/math">
                    <m:r>
                      <a:rPr lang="en-US" sz="1200" i="1" spc="10" dirty="0" smtClean="0">
                        <a:latin typeface="Cambria Math" panose="02040503050406030204" pitchFamily="18" charset="0"/>
                        <a:cs typeface="Tahoma"/>
                      </a:rPr>
                      <m:t>𝐴𝑔</m:t>
                    </m:r>
                  </m:oMath>
                </a14:m>
                <a:r>
                  <a:rPr lang="en-US" dirty="0"/>
                  <a:t>.</a:t>
                </a:r>
              </a:p>
              <a:p>
                <a:pPr marL="171450" indent="-171450">
                  <a:buFont typeface="Arial" panose="020B0604020202020204" pitchFamily="34" charset="0"/>
                  <a:buChar char="•"/>
                </a:pPr>
                <a:r>
                  <a:rPr lang="en-US" b="1" dirty="0"/>
                  <a:t>Conditions of Allocation</a:t>
                </a:r>
                <a:r>
                  <a:rPr lang="en-US" dirty="0"/>
                  <a:t>:</a:t>
                </a:r>
              </a:p>
              <a:p>
                <a:pPr marL="742950" lvl="1" indent="-285750">
                  <a:buFont typeface="Arial" panose="020B0604020202020204" pitchFamily="34" charset="0"/>
                  <a:buChar char="•"/>
                </a:pPr>
                <a:r>
                  <a:rPr lang="en-US" b="1" dirty="0"/>
                  <a:t>Subset Condition</a:t>
                </a:r>
                <a:r>
                  <a:rPr lang="en-US" dirty="0"/>
                  <a:t>: The union of all allocated sets must be a subset of the total goods available, denoted as: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Sub>
                    <m:r>
                      <a:rPr lang="en-US" sz="1200" i="1" spc="10" dirty="0" smtClean="0">
                        <a:latin typeface="Cambria Math" panose="02040503050406030204" pitchFamily="18" charset="0"/>
                        <a:cs typeface="Tahoma"/>
                      </a:rPr>
                      <m:t>∪ … ∪ </m:t>
                    </m:r>
                    <m:sSub>
                      <m:sSubPr>
                        <m:ctrlPr>
                          <a:rPr lang="en-US" sz="1200" i="1" spc="10" dirty="0" err="1"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Sub>
                    <m:r>
                      <a:rPr lang="en-US" sz="1200" i="1" spc="10" dirty="0" smtClean="0">
                        <a:latin typeface="Cambria Math" panose="02040503050406030204" pitchFamily="18" charset="0"/>
                        <a:cs typeface="Tahoma"/>
                      </a:rPr>
                      <m:t>⊆</m:t>
                    </m:r>
                    <m:r>
                      <a:rPr lang="en-US" sz="1200" i="1" spc="10" dirty="0">
                        <a:latin typeface="Cambria Math" panose="02040503050406030204" pitchFamily="18" charset="0"/>
                        <a:ea typeface="Cambria Math" panose="02040503050406030204" pitchFamily="18" charset="0"/>
                        <a:cs typeface="Tahoma"/>
                      </a:rPr>
                      <m:t>𝒵</m:t>
                    </m:r>
                  </m:oMath>
                </a14:m>
                <a:r>
                  <a:rPr lang="en-US" dirty="0"/>
                  <a:t>. This ensures that no goods outside the available set are assigned to agents.</a:t>
                </a:r>
              </a:p>
              <a:p>
                <a:pPr marL="742950" lvl="1" indent="-285750">
                  <a:buFont typeface="Arial" panose="020B0604020202020204" pitchFamily="34" charset="0"/>
                  <a:buChar char="•"/>
                </a:pPr>
                <a:r>
                  <a:rPr lang="en-US" b="1" dirty="0" err="1"/>
                  <a:t>Disjointness</a:t>
                </a:r>
                <a:r>
                  <a:rPr lang="en-US" b="1" dirty="0"/>
                  <a:t> Condition</a:t>
                </a:r>
                <a:r>
                  <a:rPr lang="en-US" dirty="0"/>
                  <a:t>: No good can be allocated to more than one agent, which can be mathematically expressed as: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𝑖</m:t>
                        </m:r>
                      </m:sub>
                    </m:sSub>
                    <m:r>
                      <a:rPr lang="en-US" sz="1200" i="1" spc="10" dirty="0" smtClean="0">
                        <a:latin typeface="Cambria Math" panose="02040503050406030204" pitchFamily="18" charset="0"/>
                        <a:cs typeface="Tahoma"/>
                      </a:rPr>
                      <m:t>∩ </m:t>
                    </m:r>
                    <m:sSub>
                      <m:sSubPr>
                        <m:ctrlPr>
                          <a:rPr lang="en-US" sz="1200" i="1" spc="10" dirty="0" err="1"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𝑗</m:t>
                        </m:r>
                      </m:sub>
                    </m:sSub>
                    <m:r>
                      <a:rPr lang="en-US" sz="1200" i="1" spc="10" dirty="0" smtClean="0">
                        <a:latin typeface="Cambria Math" panose="02040503050406030204" pitchFamily="18" charset="0"/>
                        <a:cs typeface="Tahoma"/>
                      </a:rPr>
                      <m:t>= ∅</m:t>
                    </m:r>
                  </m:oMath>
                </a14:m>
                <a:r>
                  <a:rPr lang="en-US" dirty="0"/>
                  <a:t> for all distinct agents </a:t>
                </a:r>
                <a14:m>
                  <m:oMath xmlns:m="http://schemas.openxmlformats.org/officeDocument/2006/math">
                    <m:r>
                      <a:rPr lang="en-US" i="1" dirty="0" smtClean="0">
                        <a:latin typeface="Cambria Math" panose="02040503050406030204" pitchFamily="18" charset="0"/>
                      </a:rPr>
                      <m:t>𝑖</m:t>
                    </m:r>
                  </m:oMath>
                </a14:m>
                <a:r>
                  <a:rPr lang="en-US" dirty="0"/>
                  <a:t> and </a:t>
                </a:r>
                <a14:m>
                  <m:oMath xmlns:m="http://schemas.openxmlformats.org/officeDocument/2006/math">
                    <m:r>
                      <a:rPr lang="en-US" i="1" dirty="0" smtClean="0">
                        <a:latin typeface="Cambria Math" panose="02040503050406030204" pitchFamily="18" charset="0"/>
                      </a:rPr>
                      <m:t>𝑗</m:t>
                    </m:r>
                  </m:oMath>
                </a14:m>
                <a:r>
                  <a:rPr lang="en-US" dirty="0"/>
                  <a:t>. This guarantees that each good is uniquely assigned, preventing conflicts and overlap in allocations.</a:t>
                </a:r>
              </a:p>
              <a:p>
                <a:endParaRPr lang="en-US" b="1" dirty="0"/>
              </a:p>
              <a:p>
                <a:r>
                  <a:rPr lang="en-US" b="1" dirty="0"/>
                  <a:t>Total Allocation Set</a:t>
                </a:r>
                <a:r>
                  <a:rPr lang="en-US" dirty="0"/>
                  <a:t>:</a:t>
                </a:r>
              </a:p>
              <a:p>
                <a:pPr marL="171450" indent="-171450">
                  <a:buFont typeface="Arial" panose="020B0604020202020204" pitchFamily="34" charset="0"/>
                  <a:buChar char="•"/>
                </a:pPr>
                <a:r>
                  <a:rPr lang="en-US" dirty="0"/>
                  <a:t>The set of all possible allocations of goods </a:t>
                </a:r>
                <a14:m>
                  <m:oMath xmlns:m="http://schemas.openxmlformats.org/officeDocument/2006/math">
                    <m:r>
                      <a:rPr lang="en-US" sz="1200" b="0" i="1" spc="10" smtClean="0">
                        <a:latin typeface="Cambria Math" panose="02040503050406030204" pitchFamily="18" charset="0"/>
                        <a:cs typeface="Tahoma"/>
                      </a:rPr>
                      <m:t>𝑍</m:t>
                    </m:r>
                  </m:oMath>
                </a14:m>
                <a:r>
                  <a:rPr lang="en-US" dirty="0"/>
                  <a:t> to agents </a:t>
                </a:r>
                <a14:m>
                  <m:oMath xmlns:m="http://schemas.openxmlformats.org/officeDocument/2006/math">
                    <m:r>
                      <a:rPr lang="en-US" sz="1200" i="1" spc="10" dirty="0" smtClean="0">
                        <a:latin typeface="Cambria Math" panose="02040503050406030204" pitchFamily="18" charset="0"/>
                        <a:cs typeface="Tahoma"/>
                      </a:rPr>
                      <m:t>𝐴𝑔</m:t>
                    </m:r>
                  </m:oMath>
                </a14:m>
                <a:r>
                  <a:rPr lang="en-US" dirty="0"/>
                  <a:t> is denoted as: </a:t>
                </a:r>
                <a14:m>
                  <m:oMath xmlns:m="http://schemas.openxmlformats.org/officeDocument/2006/math">
                    <m:r>
                      <a:rPr lang="en-US" sz="1200" b="0" i="1" spc="10" smtClean="0">
                        <a:latin typeface="Cambria Math" panose="02040503050406030204" pitchFamily="18" charset="0"/>
                        <a:cs typeface="Tahoma"/>
                      </a:rPr>
                      <m:t>𝑎𝑙𝑙𝑜𝑐</m:t>
                    </m:r>
                    <m:d>
                      <m:dPr>
                        <m:ctrlPr>
                          <a:rPr lang="en-US" sz="1200" b="0" i="1" spc="10" smtClean="0">
                            <a:latin typeface="Cambria Math" panose="02040503050406030204" pitchFamily="18" charset="0"/>
                            <a:cs typeface="Tahoma"/>
                          </a:rPr>
                        </m:ctrlPr>
                      </m:dPr>
                      <m:e>
                        <m:r>
                          <a:rPr lang="en-US" sz="1200" i="1" spc="10" dirty="0">
                            <a:latin typeface="Cambria Math" panose="02040503050406030204" pitchFamily="18" charset="0"/>
                            <a:ea typeface="Cambria Math" panose="02040503050406030204" pitchFamily="18" charset="0"/>
                            <a:cs typeface="Tahoma"/>
                          </a:rPr>
                          <m:t>𝒵</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𝐴𝑔</m:t>
                        </m:r>
                      </m:e>
                    </m:d>
                  </m:oMath>
                </a14:m>
                <a:r>
                  <a:rPr lang="en-US" dirty="0"/>
                  <a:t> This set includes every conceivable distribution of the available goods among the agents while adhering to the conditions outlined above.</a:t>
                </a:r>
              </a:p>
              <a:p>
                <a:endParaRPr lang="en-US" b="1" dirty="0"/>
              </a:p>
              <a:p>
                <a:r>
                  <a:rPr lang="en-US" b="1" dirty="0"/>
                  <a:t>Implications of Allocation</a:t>
                </a:r>
                <a:r>
                  <a:rPr lang="en-US" dirty="0"/>
                  <a:t>:</a:t>
                </a:r>
              </a:p>
              <a:p>
                <a:pPr marL="171450" indent="-171450">
                  <a:buFont typeface="Arial" panose="020B0604020202020204" pitchFamily="34" charset="0"/>
                  <a:buChar char="•"/>
                </a:pPr>
                <a:r>
                  <a:rPr lang="en-US" b="1" dirty="0"/>
                  <a:t>Efficiency</a:t>
                </a:r>
                <a:r>
                  <a:rPr lang="en-US" dirty="0"/>
                  <a:t>: The goal of allocation often revolves around achieving efficiency—maximizing the total value derived from the assigned goods while ensuring that the allocation process is fair and transparent.</a:t>
                </a:r>
              </a:p>
              <a:p>
                <a:pPr marL="171450" indent="-171450">
                  <a:buFont typeface="Arial" panose="020B0604020202020204" pitchFamily="34" charset="0"/>
                  <a:buChar char="•"/>
                </a:pPr>
                <a:r>
                  <a:rPr lang="en-US" b="1" dirty="0"/>
                  <a:t>Utility Maximization</a:t>
                </a:r>
                <a:r>
                  <a:rPr lang="en-US" dirty="0"/>
                  <a:t>: Agents will typically aim to secure allocations that maximize their own utility or value derived from the goods they receive, which may involve strategic bidding in auctions.</a:t>
                </a:r>
              </a:p>
              <a:p>
                <a:pPr marL="171450" indent="-171450">
                  <a:buFont typeface="Arial" panose="020B0604020202020204" pitchFamily="34" charset="0"/>
                  <a:buChar char="•"/>
                </a:pPr>
                <a:r>
                  <a:rPr lang="en-US" b="1" dirty="0"/>
                  <a:t>Unallocated Goods</a:t>
                </a:r>
                <a:r>
                  <a:rPr lang="en-US" dirty="0"/>
                  <a:t>: It is essential to consider the implications of unallocated goods, as they represent potential lost value. Understanding why certain goods remain unallocated (e.g., lack of interest, insufficient bids) can provide insights into the auction’s dynamics.</a:t>
                </a:r>
              </a:p>
              <a:p>
                <a:endParaRPr lang="en-US" b="1" dirty="0"/>
              </a:p>
              <a:p>
                <a:r>
                  <a:rPr lang="en-US" b="1" dirty="0"/>
                  <a:t>Challenges in Allocation</a:t>
                </a:r>
                <a:r>
                  <a:rPr lang="en-US" dirty="0"/>
                  <a:t>:</a:t>
                </a:r>
              </a:p>
              <a:p>
                <a:pPr marL="171450" indent="-171450">
                  <a:buFont typeface="Arial" panose="020B0604020202020204" pitchFamily="34" charset="0"/>
                  <a:buChar char="•"/>
                </a:pPr>
                <a:r>
                  <a:rPr lang="en-US" b="1" dirty="0"/>
                  <a:t>Valuation Discrepancies</a:t>
                </a:r>
                <a:r>
                  <a:rPr lang="en-US" dirty="0"/>
                  <a:t>: Different agents may have varying valuations for the same goods, complicating the allocation process and making it challenging to reach a consensus.</a:t>
                </a:r>
              </a:p>
              <a:p>
                <a:pPr marL="171450" indent="-171450">
                  <a:buFont typeface="Arial" panose="020B0604020202020204" pitchFamily="34" charset="0"/>
                  <a:buChar char="•"/>
                </a:pPr>
                <a:r>
                  <a:rPr lang="en-US" b="1" dirty="0"/>
                  <a:t>Strategic Behavior</a:t>
                </a:r>
                <a:r>
                  <a:rPr lang="en-US" dirty="0"/>
                  <a:t>: Agents may act strategically to influence allocations, such as underbidding or overbidding to secure goods at favorable prices.</a:t>
                </a:r>
              </a:p>
              <a:p>
                <a:pPr marL="171450" indent="-171450">
                  <a:buFont typeface="Arial" panose="020B0604020202020204" pitchFamily="34" charset="0"/>
                  <a:buChar char="•"/>
                </a:pPr>
                <a:r>
                  <a:rPr lang="en-US" b="1" dirty="0"/>
                  <a:t>Complexity of Combinatorial Auctions</a:t>
                </a:r>
                <a:r>
                  <a:rPr lang="en-US" dirty="0"/>
                  <a:t>: In scenarios involving multiple goods, the complexity of determining optimal allocations increases significantly, necessitating advanced algorithms and approaches to find efficient solutions.</a:t>
                </a:r>
              </a:p>
              <a:p>
                <a:endParaRPr lang="en-US" b="1" dirty="0"/>
              </a:p>
              <a:p>
                <a:r>
                  <a:rPr lang="en-US" b="1" dirty="0"/>
                  <a:t>Conclusion</a:t>
                </a:r>
                <a:r>
                  <a:rPr lang="en-US" dirty="0"/>
                  <a:t>:</a:t>
                </a:r>
              </a:p>
              <a:p>
                <a:pPr marL="171450" indent="-171450">
                  <a:buFont typeface="Arial" panose="020B0604020202020204" pitchFamily="34" charset="0"/>
                  <a:buChar char="•"/>
                </a:pPr>
                <a:r>
                  <a:rPr lang="en-US" dirty="0"/>
                  <a:t>The allocation of goods is a fundamental aspect of auction theory and resource distribution, requiring careful consideration of the rules and conditions governing how goods are assigned. Understanding the mathematical representation and implications of allocations helps to facilitate effective auction design and ensures fair outcomes for all participants.</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formally defines an allocation in a combinatorial auction, ensuring that goods are distributed without overlaps and that not all goods are required to be allocated.</a:t>
                </a:r>
              </a:p>
              <a:p>
                <a:endParaRPr lang="en-US" b="0" i="0" dirty="0">
                  <a:solidFill>
                    <a:srgbClr val="E8E8E8"/>
                  </a:solidFill>
                  <a:effectLst/>
                  <a:latin typeface="Google Sans Text"/>
                </a:endParaRPr>
              </a:p>
              <a:p>
                <a:r>
                  <a:rPr lang="en-US" b="1" dirty="0"/>
                  <a:t>Definition of Allocation</a:t>
                </a:r>
                <a:r>
                  <a:rPr lang="en-US" dirty="0"/>
                  <a:t>:</a:t>
                </a:r>
              </a:p>
              <a:p>
                <a:pPr marL="171450" indent="-171450">
                  <a:buFont typeface="Arial" panose="020B0604020202020204" pitchFamily="34" charset="0"/>
                  <a:buChar char="•"/>
                </a:pPr>
                <a:r>
                  <a:rPr lang="en-US" dirty="0"/>
                  <a:t>An </a:t>
                </a:r>
                <a:r>
                  <a:rPr lang="en-US" b="1" dirty="0"/>
                  <a:t>allocation</a:t>
                </a:r>
                <a:r>
                  <a:rPr lang="en-US" dirty="0"/>
                  <a:t> refers to the process of assigning goods to agents in an auction or resource distribution scenario. It may result in some goods remaining unallocated, depending on the bids and preferences of the agents involved.</a:t>
                </a:r>
              </a:p>
              <a:p>
                <a:endParaRPr lang="en-US" b="1" dirty="0"/>
              </a:p>
              <a:p>
                <a:r>
                  <a:rPr lang="en-US" b="1" dirty="0"/>
                  <a:t>Formal Definition</a:t>
                </a:r>
                <a:r>
                  <a:rPr lang="en-US" dirty="0"/>
                  <a:t>:</a:t>
                </a:r>
              </a:p>
              <a:p>
                <a:pPr marL="171450" indent="-171450">
                  <a:buFont typeface="Arial" panose="020B0604020202020204" pitchFamily="34" charset="0"/>
                  <a:buChar char="•"/>
                </a:pPr>
                <a:r>
                  <a:rPr lang="en-US" dirty="0"/>
                  <a:t>An allocation is mathematically represented as a list of sets </a:t>
                </a:r>
                <a:r>
                  <a:rPr lang="en-US" sz="1200" i="0" spc="10" dirty="0">
                    <a:latin typeface="Cambria Math" panose="02040503050406030204" pitchFamily="18" charset="0"/>
                    <a:cs typeface="Tahoma"/>
                  </a:rPr>
                  <a:t>𝑍_1, …, </a:t>
                </a:r>
                <a:r>
                  <a:rPr lang="en-US" sz="1200" i="0" spc="10" dirty="0" err="1">
                    <a:latin typeface="Cambria Math" panose="02040503050406030204" pitchFamily="18" charset="0"/>
                    <a:cs typeface="Tahoma"/>
                  </a:rPr>
                  <a:t>𝑍_𝑛</a:t>
                </a:r>
                <a:r>
                  <a:rPr lang="en-US" dirty="0"/>
                  <a:t>​, where each set corresponds to the goods assigned to a specific agent in the set </a:t>
                </a:r>
                <a:r>
                  <a:rPr lang="en-US" sz="1200" i="0" spc="10" dirty="0">
                    <a:latin typeface="Cambria Math" panose="02040503050406030204" pitchFamily="18" charset="0"/>
                    <a:cs typeface="Tahoma"/>
                  </a:rPr>
                  <a:t>𝐴𝑔</a:t>
                </a:r>
                <a:r>
                  <a:rPr lang="en-US" dirty="0"/>
                  <a:t>.</a:t>
                </a:r>
              </a:p>
              <a:p>
                <a:pPr marL="171450" indent="-171450">
                  <a:buFont typeface="Arial" panose="020B0604020202020204" pitchFamily="34" charset="0"/>
                  <a:buChar char="•"/>
                </a:pPr>
                <a:r>
                  <a:rPr lang="en-US" b="1" dirty="0"/>
                  <a:t>Conditions of Allocation</a:t>
                </a:r>
                <a:r>
                  <a:rPr lang="en-US" dirty="0"/>
                  <a:t>:</a:t>
                </a:r>
              </a:p>
              <a:p>
                <a:pPr marL="742950" lvl="1" indent="-285750">
                  <a:buFont typeface="Arial" panose="020B0604020202020204" pitchFamily="34" charset="0"/>
                  <a:buChar char="•"/>
                </a:pPr>
                <a:r>
                  <a:rPr lang="en-US" b="1" dirty="0"/>
                  <a:t>Subset Condition</a:t>
                </a:r>
                <a:r>
                  <a:rPr lang="en-US" dirty="0"/>
                  <a:t>: The union of all allocated sets must be a subset of the total goods available, denoted as: </a:t>
                </a:r>
                <a:r>
                  <a:rPr lang="en-US" sz="1200" i="0" spc="10" dirty="0">
                    <a:latin typeface="Cambria Math" panose="02040503050406030204" pitchFamily="18" charset="0"/>
                    <a:cs typeface="Tahoma"/>
                  </a:rPr>
                  <a:t>𝑍_1∪ …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sz="1200" i="0" spc="10" dirty="0">
                    <a:latin typeface="Cambria Math" panose="02040503050406030204" pitchFamily="18" charset="0"/>
                    <a:ea typeface="Cambria Math" panose="02040503050406030204" pitchFamily="18" charset="0"/>
                    <a:cs typeface="Tahoma"/>
                  </a:rPr>
                  <a:t>𝒵</a:t>
                </a:r>
                <a:r>
                  <a:rPr lang="en-US" dirty="0"/>
                  <a:t>. This ensures that no goods outside the available set are assigned to agents.</a:t>
                </a:r>
              </a:p>
              <a:p>
                <a:pPr marL="742950" lvl="1" indent="-285750">
                  <a:buFont typeface="Arial" panose="020B0604020202020204" pitchFamily="34" charset="0"/>
                  <a:buChar char="•"/>
                </a:pPr>
                <a:r>
                  <a:rPr lang="en-US" b="1" dirty="0" err="1"/>
                  <a:t>Disjointness</a:t>
                </a:r>
                <a:r>
                  <a:rPr lang="en-US" b="1" dirty="0"/>
                  <a:t> Condition</a:t>
                </a:r>
                <a:r>
                  <a:rPr lang="en-US" dirty="0"/>
                  <a:t>: No good can be allocated to more than one agent, which can be mathematically expressed as: </a:t>
                </a:r>
                <a:r>
                  <a:rPr lang="en-US" sz="1200" i="0" spc="10" dirty="0">
                    <a:latin typeface="Cambria Math" panose="02040503050406030204" pitchFamily="18" charset="0"/>
                    <a:cs typeface="Tahoma"/>
                  </a:rPr>
                  <a:t>𝑍_𝑖∩ </a:t>
                </a:r>
                <a:r>
                  <a:rPr lang="en-US" sz="1200" i="0" spc="10" dirty="0" err="1">
                    <a:latin typeface="Cambria Math" panose="02040503050406030204" pitchFamily="18" charset="0"/>
                    <a:cs typeface="Tahoma"/>
                  </a:rPr>
                  <a:t>𝑍_𝑗</a:t>
                </a:r>
                <a:r>
                  <a:rPr lang="en-US" sz="1200" i="0" spc="10" dirty="0">
                    <a:latin typeface="Cambria Math" panose="02040503050406030204" pitchFamily="18" charset="0"/>
                    <a:cs typeface="Tahoma"/>
                  </a:rPr>
                  <a:t>= ∅</a:t>
                </a:r>
                <a:r>
                  <a:rPr lang="en-US" dirty="0"/>
                  <a:t> for all distinct agents </a:t>
                </a:r>
                <a:r>
                  <a:rPr lang="en-US" i="0" dirty="0">
                    <a:latin typeface="Cambria Math" panose="02040503050406030204" pitchFamily="18" charset="0"/>
                  </a:rPr>
                  <a:t>𝑖</a:t>
                </a:r>
                <a:r>
                  <a:rPr lang="en-US" dirty="0"/>
                  <a:t> and </a:t>
                </a:r>
                <a:r>
                  <a:rPr lang="en-US" i="0" dirty="0">
                    <a:latin typeface="Cambria Math" panose="02040503050406030204" pitchFamily="18" charset="0"/>
                  </a:rPr>
                  <a:t>𝑗</a:t>
                </a:r>
                <a:r>
                  <a:rPr lang="en-US" dirty="0"/>
                  <a:t>. This guarantees that each good is uniquely assigned, preventing conflicts and overlap in allocations.</a:t>
                </a:r>
              </a:p>
              <a:p>
                <a:endParaRPr lang="en-US" b="1" dirty="0"/>
              </a:p>
              <a:p>
                <a:r>
                  <a:rPr lang="en-US" b="1" dirty="0"/>
                  <a:t>Total Allocation Set</a:t>
                </a:r>
                <a:r>
                  <a:rPr lang="en-US" dirty="0"/>
                  <a:t>:</a:t>
                </a:r>
              </a:p>
              <a:p>
                <a:pPr marL="171450" indent="-171450">
                  <a:buFont typeface="Arial" panose="020B0604020202020204" pitchFamily="34" charset="0"/>
                  <a:buChar char="•"/>
                </a:pPr>
                <a:r>
                  <a:rPr lang="en-US" dirty="0"/>
                  <a:t>The set of all possible allocations of goods </a:t>
                </a:r>
                <a:r>
                  <a:rPr lang="en-US" sz="1200" b="0" i="0" spc="10">
                    <a:latin typeface="Cambria Math" panose="02040503050406030204" pitchFamily="18" charset="0"/>
                    <a:cs typeface="Tahoma"/>
                  </a:rPr>
                  <a:t>𝑍</a:t>
                </a:r>
                <a:r>
                  <a:rPr lang="en-US" dirty="0"/>
                  <a:t> to agents </a:t>
                </a:r>
                <a:r>
                  <a:rPr lang="en-US" sz="1200" i="0" spc="10" dirty="0">
                    <a:latin typeface="Cambria Math" panose="02040503050406030204" pitchFamily="18" charset="0"/>
                    <a:cs typeface="Tahoma"/>
                  </a:rPr>
                  <a:t>𝐴𝑔</a:t>
                </a:r>
                <a:r>
                  <a:rPr lang="en-US" dirty="0"/>
                  <a:t> is denoted as: </a:t>
                </a:r>
                <a:r>
                  <a:rPr lang="en-US" sz="1200" b="0" i="0" spc="10">
                    <a:latin typeface="Cambria Math" panose="02040503050406030204" pitchFamily="18" charset="0"/>
                    <a:cs typeface="Tahoma"/>
                  </a:rPr>
                  <a:t>𝑎𝑙𝑙𝑜𝑐(</a:t>
                </a:r>
                <a:r>
                  <a:rPr lang="en-US" sz="1200" i="0" spc="10" dirty="0">
                    <a:latin typeface="Cambria Math" panose="02040503050406030204" pitchFamily="18" charset="0"/>
                    <a:ea typeface="Cambria Math" panose="02040503050406030204" pitchFamily="18" charset="0"/>
                    <a:cs typeface="Tahoma"/>
                  </a:rPr>
                  <a:t>𝒵</a:t>
                </a:r>
                <a:r>
                  <a:rPr lang="en-US" sz="1200" b="0" i="0" spc="10">
                    <a:latin typeface="Cambria Math" panose="02040503050406030204" pitchFamily="18" charset="0"/>
                    <a:cs typeface="Tahoma"/>
                  </a:rPr>
                  <a:t>, 𝐴𝑔)</a:t>
                </a:r>
                <a:r>
                  <a:rPr lang="en-US" dirty="0"/>
                  <a:t> This set includes every conceivable distribution of the available goods among the agents while adhering to the conditions outlined above.</a:t>
                </a:r>
              </a:p>
              <a:p>
                <a:endParaRPr lang="en-US" b="1" dirty="0"/>
              </a:p>
              <a:p>
                <a:r>
                  <a:rPr lang="en-US" b="1" dirty="0"/>
                  <a:t>Implications of Allocation</a:t>
                </a:r>
                <a:r>
                  <a:rPr lang="en-US" dirty="0"/>
                  <a:t>:</a:t>
                </a:r>
              </a:p>
              <a:p>
                <a:pPr marL="171450" indent="-171450">
                  <a:buFont typeface="Arial" panose="020B0604020202020204" pitchFamily="34" charset="0"/>
                  <a:buChar char="•"/>
                </a:pPr>
                <a:r>
                  <a:rPr lang="en-US" b="1" dirty="0"/>
                  <a:t>Efficiency</a:t>
                </a:r>
                <a:r>
                  <a:rPr lang="en-US" dirty="0"/>
                  <a:t>: The goal of allocation often revolves around achieving efficiency—maximizing the total value derived from the assigned goods while ensuring that the allocation process is fair and transparent.</a:t>
                </a:r>
              </a:p>
              <a:p>
                <a:pPr marL="171450" indent="-171450">
                  <a:buFont typeface="Arial" panose="020B0604020202020204" pitchFamily="34" charset="0"/>
                  <a:buChar char="•"/>
                </a:pPr>
                <a:r>
                  <a:rPr lang="en-US" b="1" dirty="0"/>
                  <a:t>Utility Maximization</a:t>
                </a:r>
                <a:r>
                  <a:rPr lang="en-US" dirty="0"/>
                  <a:t>: Agents will typically aim to secure allocations that maximize their own utility or value derived from the goods they receive, which may involve strategic bidding in auctions.</a:t>
                </a:r>
              </a:p>
              <a:p>
                <a:pPr marL="171450" indent="-171450">
                  <a:buFont typeface="Arial" panose="020B0604020202020204" pitchFamily="34" charset="0"/>
                  <a:buChar char="•"/>
                </a:pPr>
                <a:r>
                  <a:rPr lang="en-US" b="1" dirty="0"/>
                  <a:t>Unallocated Goods</a:t>
                </a:r>
                <a:r>
                  <a:rPr lang="en-US" dirty="0"/>
                  <a:t>: It is essential to consider the implications of unallocated goods, as they represent potential lost value. Understanding why certain goods remain unallocated (e.g., lack of interest, insufficient bids) can provide insights into the auction’s dynamics.</a:t>
                </a:r>
              </a:p>
              <a:p>
                <a:endParaRPr lang="en-US" b="1" dirty="0"/>
              </a:p>
              <a:p>
                <a:r>
                  <a:rPr lang="en-US" b="1" dirty="0"/>
                  <a:t>Challenges in Allocation</a:t>
                </a:r>
                <a:r>
                  <a:rPr lang="en-US" dirty="0"/>
                  <a:t>:</a:t>
                </a:r>
              </a:p>
              <a:p>
                <a:pPr marL="171450" indent="-171450">
                  <a:buFont typeface="Arial" panose="020B0604020202020204" pitchFamily="34" charset="0"/>
                  <a:buChar char="•"/>
                </a:pPr>
                <a:r>
                  <a:rPr lang="en-US" b="1" dirty="0"/>
                  <a:t>Valuation Discrepancies</a:t>
                </a:r>
                <a:r>
                  <a:rPr lang="en-US" dirty="0"/>
                  <a:t>: Different agents may have varying valuations for the same goods, complicating the allocation process and making it challenging to reach a consensus.</a:t>
                </a:r>
              </a:p>
              <a:p>
                <a:pPr marL="171450" indent="-171450">
                  <a:buFont typeface="Arial" panose="020B0604020202020204" pitchFamily="34" charset="0"/>
                  <a:buChar char="•"/>
                </a:pPr>
                <a:r>
                  <a:rPr lang="en-US" b="1" dirty="0"/>
                  <a:t>Strategic Behavior</a:t>
                </a:r>
                <a:r>
                  <a:rPr lang="en-US" dirty="0"/>
                  <a:t>: Agents may act strategically to influence allocations, such as underbidding or overbidding to secure goods at favorable prices.</a:t>
                </a:r>
              </a:p>
              <a:p>
                <a:pPr marL="171450" indent="-171450">
                  <a:buFont typeface="Arial" panose="020B0604020202020204" pitchFamily="34" charset="0"/>
                  <a:buChar char="•"/>
                </a:pPr>
                <a:r>
                  <a:rPr lang="en-US" b="1" dirty="0"/>
                  <a:t>Complexity of Combinatorial Auctions</a:t>
                </a:r>
                <a:r>
                  <a:rPr lang="en-US" dirty="0"/>
                  <a:t>: In scenarios involving multiple goods, the complexity of determining optimal allocations increases significantly, necessitating advanced algorithms and approaches to find efficient solutions.</a:t>
                </a:r>
              </a:p>
              <a:p>
                <a:endParaRPr lang="en-US" b="1" dirty="0"/>
              </a:p>
              <a:p>
                <a:r>
                  <a:rPr lang="en-US" b="1" dirty="0"/>
                  <a:t>Conclusion</a:t>
                </a:r>
                <a:r>
                  <a:rPr lang="en-US" dirty="0"/>
                  <a:t>:</a:t>
                </a:r>
              </a:p>
              <a:p>
                <a:pPr marL="171450" indent="-171450">
                  <a:buFont typeface="Arial" panose="020B0604020202020204" pitchFamily="34" charset="0"/>
                  <a:buChar char="•"/>
                </a:pPr>
                <a:r>
                  <a:rPr lang="en-US" dirty="0"/>
                  <a:t>The allocation of goods is a fundamental aspect of auction theory and resource distribution, requiring careful consideration of the rules and conditions governing how goods are assigned. Understanding the mathematical representation and implications of allocations helps to facilitate effective auction design and ensures fair outcomes for all participants.</a:t>
                </a:r>
              </a:p>
              <a:p>
                <a:endParaRPr dirty="0"/>
              </a:p>
            </p:txBody>
          </p:sp>
        </mc:Fallback>
      </mc:AlternateContent>
    </p:spTree>
    <p:extLst>
      <p:ext uri="{BB962C8B-B14F-4D97-AF65-F5344CB8AC3E}">
        <p14:creationId xmlns:p14="http://schemas.microsoft.com/office/powerpoint/2010/main" val="4082786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connects combinatorial auctions to voting systems and introduces the concept of social welfare as a desirable objective. It defines the social welfare function, which quantifies the overall benefit derived from an allocation.</a:t>
                </a:r>
              </a:p>
              <a:p>
                <a:endParaRPr lang="en-US" b="0" i="0" dirty="0">
                  <a:solidFill>
                    <a:srgbClr val="E8E8E8"/>
                  </a:solidFill>
                  <a:effectLst/>
                  <a:latin typeface="Google Sans Text"/>
                </a:endParaRPr>
              </a:p>
              <a:p>
                <a:r>
                  <a:rPr lang="en-US" b="1" dirty="0"/>
                  <a:t>Concept of Social Welfare</a:t>
                </a:r>
                <a:r>
                  <a:rPr lang="en-US" dirty="0"/>
                  <a:t>:</a:t>
                </a:r>
              </a:p>
              <a:p>
                <a:pPr marL="171450" indent="-171450">
                  <a:buFont typeface="Arial" panose="020B0604020202020204" pitchFamily="34" charset="0"/>
                  <a:buChar char="•"/>
                </a:pPr>
                <a:r>
                  <a:rPr lang="en-US" b="1" dirty="0"/>
                  <a:t>Social Welfare</a:t>
                </a:r>
                <a:r>
                  <a:rPr lang="en-US" dirty="0"/>
                  <a:t> refers to the overall satisfaction or utility derived from the allocation of resources among individuals (agents) in an auction or economic environment. It is a key objective in designing auction mechanisms and is critical for achieving efficient outcomes.</a:t>
                </a:r>
              </a:p>
              <a:p>
                <a:endParaRPr lang="en-US" b="1" dirty="0"/>
              </a:p>
              <a:p>
                <a:r>
                  <a:rPr lang="en-US" b="1" dirty="0"/>
                  <a:t>Auction as Voting</a:t>
                </a:r>
                <a:r>
                  <a:rPr lang="en-US" dirty="0"/>
                  <a:t>:</a:t>
                </a:r>
              </a:p>
              <a:p>
                <a:pPr marL="171450" indent="-171450">
                  <a:buFont typeface="Arial" panose="020B0604020202020204" pitchFamily="34" charset="0"/>
                  <a:buChar char="•"/>
                </a:pPr>
                <a:r>
                  <a:rPr lang="en-US" b="1" dirty="0"/>
                  <a:t>Analogy to Voting</a:t>
                </a:r>
                <a:r>
                  <a:rPr lang="en-US" dirty="0"/>
                  <a:t>: Combinatorial auctions can be conceptualized as voting processes where bidders express their preferences over combinations of goods. Each bid can be viewed as a vote for a particular allocation, leading to diverse outcomes based on collective preferences.</a:t>
                </a:r>
              </a:p>
              <a:p>
                <a:pPr marL="171450" indent="-171450">
                  <a:buFont typeface="Arial" panose="020B0604020202020204" pitchFamily="34" charset="0"/>
                  <a:buChar char="•"/>
                </a:pPr>
                <a:r>
                  <a:rPr lang="en-US" b="1" dirty="0"/>
                  <a:t>Outcome Diversity</a:t>
                </a:r>
                <a:r>
                  <a:rPr lang="en-US" dirty="0"/>
                  <a:t>: Different combinations of goods allocated to agents correspond to various outcomes, reflecting the preferences and valuations of the participants. Just like in voting, where different candidates may win based on the collective choice, different allocations may yield varying levels of social welfare.</a:t>
                </a:r>
              </a:p>
              <a:p>
                <a:endParaRPr lang="en-US" b="1" dirty="0"/>
              </a:p>
              <a:p>
                <a:r>
                  <a:rPr lang="en-US" b="1" dirty="0"/>
                  <a:t>Maximizing Social Welfare</a:t>
                </a:r>
                <a:r>
                  <a:rPr lang="en-US" dirty="0"/>
                  <a:t>:</a:t>
                </a:r>
              </a:p>
              <a:p>
                <a:pPr marL="171450" indent="-171450">
                  <a:buFont typeface="Arial" panose="020B0604020202020204" pitchFamily="34" charset="0"/>
                  <a:buChar char="•"/>
                </a:pPr>
                <a:r>
                  <a:rPr lang="en-US" dirty="0"/>
                  <a:t>The </a:t>
                </a:r>
                <a:r>
                  <a:rPr lang="en-US" b="1" dirty="0"/>
                  <a:t>goal</a:t>
                </a:r>
                <a:r>
                  <a:rPr lang="en-US" dirty="0"/>
                  <a:t> of social welfare maximization is to find an allocation that maximizes the total utility for all agents involved. This approach emphasizes the importance of considering the collective benefit rather than focusing solely on individual outcomes.</a:t>
                </a:r>
              </a:p>
              <a:p>
                <a:pPr marL="171450" indent="-171450">
                  <a:buFont typeface="Arial" panose="020B0604020202020204" pitchFamily="34" charset="0"/>
                  <a:buChar char="•"/>
                </a:pPr>
                <a:r>
                  <a:rPr lang="en-US" b="1" dirty="0"/>
                  <a:t>Social Welfare Function</a:t>
                </a:r>
                <a:r>
                  <a:rPr lang="en-US" dirty="0"/>
                  <a:t>:</a:t>
                </a:r>
              </a:p>
              <a:p>
                <a:pPr marL="171450" indent="-171450">
                  <a:buFont typeface="Arial" panose="020B0604020202020204" pitchFamily="34" charset="0"/>
                  <a:buChar char="•"/>
                </a:pPr>
                <a:r>
                  <a:rPr lang="en-US" dirty="0"/>
                  <a:t>The social welfare function quantifies the total social welfare for a given allocation of goods to agents, expressed mathematically as:</a:t>
                </a:r>
              </a:p>
              <a:p>
                <a:pPr marL="53975">
                  <a:spcBef>
                    <a:spcPts val="330"/>
                  </a:spcBef>
                  <a:buClr>
                    <a:srgbClr val="0000FF"/>
                  </a:buClr>
                </a:pPr>
                <a14:m>
                  <m:oMathPara xmlns:m="http://schemas.openxmlformats.org/officeDocument/2006/math">
                    <m:oMathParaPr>
                      <m:jc m:val="centerGroup"/>
                    </m:oMathParaPr>
                    <m:oMath xmlns:m="http://schemas.openxmlformats.org/officeDocument/2006/math">
                      <m:r>
                        <a:rPr lang="en-US" sz="1200" i="1" spc="10" dirty="0" smtClean="0">
                          <a:latin typeface="Cambria Math" panose="02040503050406030204" pitchFamily="18" charset="0"/>
                          <a:cs typeface="Tahoma"/>
                        </a:rPr>
                        <m:t>𝑠𝑤</m:t>
                      </m:r>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 …, </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𝑛</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𝑛</m:t>
                              </m:r>
                            </m:sub>
                          </m:sSub>
                        </m:e>
                      </m:d>
                      <m:r>
                        <a:rPr lang="en-US" sz="1200" i="1" spc="10" dirty="0">
                          <a:latin typeface="Cambria Math" panose="02040503050406030204" pitchFamily="18" charset="0"/>
                          <a:cs typeface="Tahoma"/>
                        </a:rPr>
                        <m:t>=</m:t>
                      </m:r>
                      <m:nary>
                        <m:naryPr>
                          <m:chr m:val="∑"/>
                          <m:ctrlPr>
                            <a:rPr lang="en-US" sz="1200" i="1" spc="10" smtClean="0">
                              <a:latin typeface="Cambria Math" panose="02040503050406030204" pitchFamily="18" charset="0"/>
                              <a:cs typeface="Tahoma"/>
                            </a:rPr>
                          </m:ctrlPr>
                        </m:naryPr>
                        <m:sub>
                          <m:r>
                            <m:rPr>
                              <m:brk m:alnAt="23"/>
                            </m:rPr>
                            <a:rPr lang="en-US" sz="1200" b="0" i="1" spc="10" smtClean="0">
                              <a:latin typeface="Cambria Math" panose="02040503050406030204" pitchFamily="18" charset="0"/>
                              <a:cs typeface="Tahoma"/>
                            </a:rPr>
                            <m:t>𝑖</m:t>
                          </m:r>
                          <m:r>
                            <a:rPr lang="en-US" sz="1200" b="0" i="1" spc="10" smtClean="0">
                              <a:latin typeface="Cambria Math" panose="02040503050406030204" pitchFamily="18" charset="0"/>
                              <a:cs typeface="Tahoma"/>
                            </a:rPr>
                            <m:t>=1</m:t>
                          </m:r>
                        </m:sub>
                        <m:sup>
                          <m:r>
                            <a:rPr lang="en-US" sz="1200" b="0" i="1" spc="10" smtClean="0">
                              <a:latin typeface="Cambria Math" panose="02040503050406030204" pitchFamily="18" charset="0"/>
                              <a:cs typeface="Tahoma"/>
                            </a:rPr>
                            <m:t>𝑛</m:t>
                          </m:r>
                        </m:sup>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b="0" i="1" spc="10" dirty="0" smtClean="0">
                                  <a:latin typeface="Cambria Math" panose="02040503050406030204" pitchFamily="18" charset="0"/>
                                  <a:cs typeface="Tahoma"/>
                                </a:rPr>
                                <m:t>𝑖</m:t>
                              </m:r>
                            </m:sub>
                          </m:sSub>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𝑖</m:t>
                                  </m:r>
                                </m:sub>
                              </m:sSub>
                            </m:e>
                          </m:d>
                        </m:e>
                      </m:nary>
                    </m:oMath>
                  </m:oMathPara>
                </a14:m>
                <a:endParaRPr lang="en-US" sz="1200" i="1" spc="10" dirty="0">
                  <a:latin typeface="Cambria Math" panose="02040503050406030204" pitchFamily="18" charset="0"/>
                  <a:cs typeface="Tahoma"/>
                </a:endParaRPr>
              </a:p>
              <a:p>
                <a:pPr marL="171450" indent="-171450">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𝑖</m:t>
                        </m:r>
                      </m:sub>
                    </m:sSub>
                  </m:oMath>
                </a14:m>
                <a:r>
                  <a:rPr lang="en-US" dirty="0"/>
                  <a:t>​ denotes the set of goods allocated to agent iii.</a:t>
                </a:r>
              </a:p>
              <a:p>
                <a:pPr marL="742950" lvl="1" indent="-285750">
                  <a:buFont typeface="Arial" panose="020B0604020202020204" pitchFamily="34" charset="0"/>
                  <a:buChar char="•"/>
                </a:pP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b="0" i="1" spc="10" dirty="0" smtClean="0">
                            <a:latin typeface="Cambria Math" panose="02040503050406030204" pitchFamily="18" charset="0"/>
                            <a:cs typeface="Tahoma"/>
                          </a:rPr>
                          <m:t>𝑖</m:t>
                        </m:r>
                      </m:sub>
                    </m:sSub>
                  </m:oMath>
                </a14:m>
                <a:r>
                  <a:rPr lang="en-US" dirty="0"/>
                  <a:t> represents the valuation function of agent iii, which assigns a value to the goods in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𝑖</m:t>
                        </m:r>
                      </m:sub>
                    </m:sSub>
                  </m:oMath>
                </a14:m>
                <a:r>
                  <a:rPr lang="en-US" dirty="0"/>
                  <a:t>​.</a:t>
                </a:r>
              </a:p>
              <a:p>
                <a:pPr marL="171450" indent="-171450">
                  <a:buFont typeface="Arial" panose="020B0604020202020204" pitchFamily="34" charset="0"/>
                  <a:buChar char="•"/>
                </a:pPr>
                <a:r>
                  <a:rPr lang="en-US" dirty="0"/>
                  <a:t>The function sums the valuations of all agents, capturing the total value derived from the allocation.</a:t>
                </a:r>
              </a:p>
              <a:p>
                <a:endParaRPr lang="en-US" b="1" dirty="0"/>
              </a:p>
              <a:p>
                <a:r>
                  <a:rPr lang="en-US" b="1" dirty="0"/>
                  <a:t>Importance of Social Welfare Maximization</a:t>
                </a:r>
                <a:r>
                  <a:rPr lang="en-US" dirty="0"/>
                  <a:t>:</a:t>
                </a:r>
              </a:p>
              <a:p>
                <a:pPr marL="171450" indent="-171450">
                  <a:buFont typeface="Arial" panose="020B0604020202020204" pitchFamily="34" charset="0"/>
                  <a:buChar char="•"/>
                </a:pPr>
                <a:r>
                  <a:rPr lang="en-US" b="1" dirty="0"/>
                  <a:t>Efficiency</a:t>
                </a:r>
                <a:r>
                  <a:rPr lang="en-US" dirty="0"/>
                  <a:t>: Achieving maximum social welfare is often associated with Pareto efficiency, where no individual can be made better off without making someone else worse off.</a:t>
                </a:r>
              </a:p>
              <a:p>
                <a:pPr marL="171450" indent="-171450">
                  <a:buFont typeface="Arial" panose="020B0604020202020204" pitchFamily="34" charset="0"/>
                  <a:buChar char="•"/>
                </a:pPr>
                <a:r>
                  <a:rPr lang="en-US" b="1" dirty="0"/>
                  <a:t>Fairness</a:t>
                </a:r>
                <a:r>
                  <a:rPr lang="en-US" dirty="0"/>
                  <a:t>: A focus on social welfare encourages fairness in resource allocation, ensuring that agents receive goods in a manner that reflects their valuations and preferences.</a:t>
                </a:r>
              </a:p>
              <a:p>
                <a:pPr marL="171450" indent="-171450">
                  <a:buFont typeface="Arial" panose="020B0604020202020204" pitchFamily="34" charset="0"/>
                  <a:buChar char="•"/>
                </a:pPr>
                <a:r>
                  <a:rPr lang="en-US" b="1" dirty="0"/>
                  <a:t>Incentives</a:t>
                </a:r>
                <a:r>
                  <a:rPr lang="en-US" dirty="0"/>
                  <a:t>: Maximizing social welfare can help design auction mechanisms that incentivize truthful bidding and participation, leading to better market outcomes.</a:t>
                </a:r>
              </a:p>
              <a:p>
                <a:pPr marL="171450" indent="-171450">
                  <a:buFont typeface="Arial" panose="020B0604020202020204" pitchFamily="34" charset="0"/>
                  <a:buChar char="•"/>
                </a:pPr>
                <a:r>
                  <a:rPr lang="en-US" b="1" dirty="0"/>
                  <a:t>Challenges in Maximizing Social Welfare</a:t>
                </a:r>
                <a:r>
                  <a:rPr lang="en-US" dirty="0"/>
                  <a:t>:</a:t>
                </a:r>
              </a:p>
              <a:p>
                <a:pPr marL="171450" indent="-171450">
                  <a:buFont typeface="Arial" panose="020B0604020202020204" pitchFamily="34" charset="0"/>
                  <a:buChar char="•"/>
                </a:pPr>
                <a:r>
                  <a:rPr lang="en-US" b="1" dirty="0"/>
                  <a:t>Complex Valuation Functions</a:t>
                </a:r>
                <a:r>
                  <a:rPr lang="en-US" dirty="0"/>
                  <a:t>: Agents may have complex and heterogeneous valuation functions, making it difficult to aggregate preferences accurately.</a:t>
                </a:r>
              </a:p>
              <a:p>
                <a:pPr marL="171450" indent="-171450">
                  <a:buFont typeface="Arial" panose="020B0604020202020204" pitchFamily="34" charset="0"/>
                  <a:buChar char="•"/>
                </a:pPr>
                <a:r>
                  <a:rPr lang="en-US" b="1" dirty="0"/>
                  <a:t>Combinatorial Complexity</a:t>
                </a:r>
                <a:r>
                  <a:rPr lang="en-US" dirty="0"/>
                  <a:t>: In combinatorial auctions, the number of possible allocations grows exponentially with the number of goods, complicating the process of identifying the allocation that maximizes social welfare.</a:t>
                </a:r>
              </a:p>
              <a:p>
                <a:pPr marL="171450" indent="-171450">
                  <a:buFont typeface="Arial" panose="020B0604020202020204" pitchFamily="34" charset="0"/>
                  <a:buChar char="•"/>
                </a:pPr>
                <a:r>
                  <a:rPr lang="en-US" b="1" dirty="0"/>
                  <a:t>Strategic Behavior</a:t>
                </a:r>
                <a:r>
                  <a:rPr lang="en-US" dirty="0"/>
                  <a:t>: Agents may engage in strategic bidding, attempting to manipulate outcomes for personal gain, which can undermine the social welfare objective.</a:t>
                </a:r>
              </a:p>
              <a:p>
                <a:endParaRPr lang="en-US" b="1" dirty="0"/>
              </a:p>
              <a:p>
                <a:r>
                  <a:rPr lang="en-US" b="1" dirty="0"/>
                  <a:t>Conclusion</a:t>
                </a:r>
                <a:r>
                  <a:rPr lang="en-US" dirty="0"/>
                  <a:t>:</a:t>
                </a:r>
              </a:p>
              <a:p>
                <a:pPr marL="171450" indent="-171450">
                  <a:buFont typeface="Arial" panose="020B0604020202020204" pitchFamily="34" charset="0"/>
                  <a:buChar char="•"/>
                </a:pPr>
                <a:r>
                  <a:rPr lang="en-US" dirty="0"/>
                  <a:t>Social welfare maximization is a fundamental principle in auction design and economic theory, emphasizing the importance of considering collective outcomes in resource allocation. By understanding and applying social welfare functions, auction designers can create mechanisms that lead to efficient, fair, and desirable outcomes for all participants.</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connects combinatorial auctions to voting systems and introduces the concept of social welfare as a desirable objective. It defines the social welfare function, which quantifies the overall benefit derived from an allocation.</a:t>
                </a:r>
              </a:p>
              <a:p>
                <a:endParaRPr lang="en-US" b="0" i="0" dirty="0">
                  <a:solidFill>
                    <a:srgbClr val="E8E8E8"/>
                  </a:solidFill>
                  <a:effectLst/>
                  <a:latin typeface="Google Sans Text"/>
                </a:endParaRPr>
              </a:p>
              <a:p>
                <a:r>
                  <a:rPr lang="en-US" b="1" dirty="0"/>
                  <a:t>Concept of Social Welfare</a:t>
                </a:r>
                <a:r>
                  <a:rPr lang="en-US" dirty="0"/>
                  <a:t>:</a:t>
                </a:r>
              </a:p>
              <a:p>
                <a:pPr marL="171450" indent="-171450">
                  <a:buFont typeface="Arial" panose="020B0604020202020204" pitchFamily="34" charset="0"/>
                  <a:buChar char="•"/>
                </a:pPr>
                <a:r>
                  <a:rPr lang="en-US" b="1" dirty="0"/>
                  <a:t>Social Welfare</a:t>
                </a:r>
                <a:r>
                  <a:rPr lang="en-US" dirty="0"/>
                  <a:t> refers to the overall satisfaction or utility derived from the allocation of resources among individuals (agents) in an auction or economic environment. It is a key objective in designing auction mechanisms and is critical for achieving efficient outcomes.</a:t>
                </a:r>
              </a:p>
              <a:p>
                <a:endParaRPr lang="en-US" b="1" dirty="0"/>
              </a:p>
              <a:p>
                <a:r>
                  <a:rPr lang="en-US" b="1" dirty="0"/>
                  <a:t>Auction as Voting</a:t>
                </a:r>
                <a:r>
                  <a:rPr lang="en-US" dirty="0"/>
                  <a:t>:</a:t>
                </a:r>
              </a:p>
              <a:p>
                <a:pPr marL="171450" indent="-171450">
                  <a:buFont typeface="Arial" panose="020B0604020202020204" pitchFamily="34" charset="0"/>
                  <a:buChar char="•"/>
                </a:pPr>
                <a:r>
                  <a:rPr lang="en-US" b="1" dirty="0"/>
                  <a:t>Analogy to Voting</a:t>
                </a:r>
                <a:r>
                  <a:rPr lang="en-US" dirty="0"/>
                  <a:t>: Combinatorial auctions can be conceptualized as voting processes where bidders express their preferences over combinations of goods. Each bid can be viewed as a vote for a particular allocation, leading to diverse outcomes based on collective preferences.</a:t>
                </a:r>
              </a:p>
              <a:p>
                <a:pPr marL="171450" indent="-171450">
                  <a:buFont typeface="Arial" panose="020B0604020202020204" pitchFamily="34" charset="0"/>
                  <a:buChar char="•"/>
                </a:pPr>
                <a:r>
                  <a:rPr lang="en-US" b="1" dirty="0"/>
                  <a:t>Outcome Diversity</a:t>
                </a:r>
                <a:r>
                  <a:rPr lang="en-US" dirty="0"/>
                  <a:t>: Different combinations of goods allocated to agents correspond to various outcomes, reflecting the preferences and valuations of the participants. Just like in voting, where different candidates may win based on the collective choice, different allocations may yield varying levels of social welfare.</a:t>
                </a:r>
              </a:p>
              <a:p>
                <a:endParaRPr lang="en-US" b="1" dirty="0"/>
              </a:p>
              <a:p>
                <a:r>
                  <a:rPr lang="en-US" b="1" dirty="0"/>
                  <a:t>Maximizing Social Welfare</a:t>
                </a:r>
                <a:r>
                  <a:rPr lang="en-US" dirty="0"/>
                  <a:t>:</a:t>
                </a:r>
              </a:p>
              <a:p>
                <a:pPr marL="171450" indent="-171450">
                  <a:buFont typeface="Arial" panose="020B0604020202020204" pitchFamily="34" charset="0"/>
                  <a:buChar char="•"/>
                </a:pPr>
                <a:r>
                  <a:rPr lang="en-US" dirty="0"/>
                  <a:t>The </a:t>
                </a:r>
                <a:r>
                  <a:rPr lang="en-US" b="1" dirty="0"/>
                  <a:t>goal</a:t>
                </a:r>
                <a:r>
                  <a:rPr lang="en-US" dirty="0"/>
                  <a:t> of social welfare maximization is to find an allocation that maximizes the total utility for all agents involved. This approach emphasizes the importance of considering the collective benefit rather than focusing solely on individual outcomes.</a:t>
                </a:r>
              </a:p>
              <a:p>
                <a:pPr marL="171450" indent="-171450">
                  <a:buFont typeface="Arial" panose="020B0604020202020204" pitchFamily="34" charset="0"/>
                  <a:buChar char="•"/>
                </a:pPr>
                <a:r>
                  <a:rPr lang="en-US" b="1" dirty="0"/>
                  <a:t>Social Welfare Function</a:t>
                </a:r>
                <a:r>
                  <a:rPr lang="en-US" dirty="0"/>
                  <a:t>:</a:t>
                </a:r>
              </a:p>
              <a:p>
                <a:pPr marL="171450" indent="-171450">
                  <a:buFont typeface="Arial" panose="020B0604020202020204" pitchFamily="34" charset="0"/>
                  <a:buChar char="•"/>
                </a:pPr>
                <a:r>
                  <a:rPr lang="en-US" dirty="0"/>
                  <a:t>The social welfare function quantifies the total social welfare for a given allocation of goods to agents, expressed mathematically as:</a:t>
                </a:r>
              </a:p>
              <a:p>
                <a:pPr marL="53975">
                  <a:spcBef>
                    <a:spcPts val="330"/>
                  </a:spcBef>
                  <a:buClr>
                    <a:srgbClr val="0000FF"/>
                  </a:buClr>
                </a:pPr>
                <a:r>
                  <a:rPr lang="en-US" sz="1200" i="0" spc="10" dirty="0">
                    <a:latin typeface="Cambria Math" panose="02040503050406030204" pitchFamily="18" charset="0"/>
                    <a:cs typeface="Tahoma"/>
                  </a:rPr>
                  <a:t>𝑠𝑤(𝑍_1, …, 𝑍_𝑛,𝜐_1,…,𝜐_𝑛 )=</a:t>
                </a:r>
                <a:r>
                  <a:rPr lang="en-US" sz="1200" i="0" spc="10">
                    <a:latin typeface="Cambria Math" panose="02040503050406030204" pitchFamily="18" charset="0"/>
                    <a:cs typeface="Tahoma"/>
                  </a:rPr>
                  <a:t>∑</a:t>
                </a:r>
                <a:r>
                  <a:rPr lang="en-US" sz="1200" b="0" i="0" spc="10">
                    <a:latin typeface="Cambria Math" panose="02040503050406030204" pitchFamily="18" charset="0"/>
                    <a:cs typeface="Tahoma"/>
                  </a:rPr>
                  <a:t>_(𝑖=1)^𝑛</a:t>
                </a:r>
                <a:r>
                  <a:rPr lang="en-US" sz="1200" b="0" i="0" spc="10" dirty="0">
                    <a:latin typeface="Cambria Math" panose="02040503050406030204" pitchFamily="18" charset="0"/>
                    <a:cs typeface="Tahoma"/>
                  </a:rPr>
                  <a:t>▒</a:t>
                </a:r>
                <a:r>
                  <a:rPr lang="en-US" sz="1200" b="0" i="0" spc="10">
                    <a:latin typeface="Cambria Math" panose="02040503050406030204" pitchFamily="18" charset="0"/>
                    <a:cs typeface="Tahoma"/>
                  </a:rPr>
                  <a:t>〖</a:t>
                </a:r>
                <a:r>
                  <a:rPr lang="en-US" sz="1200" i="0" spc="10" dirty="0">
                    <a:latin typeface="Cambria Math" panose="02040503050406030204" pitchFamily="18" charset="0"/>
                    <a:cs typeface="Tahoma"/>
                  </a:rPr>
                  <a:t>𝜐_</a:t>
                </a:r>
                <a:r>
                  <a:rPr lang="en-US" sz="1200" b="0" i="0" spc="10" dirty="0">
                    <a:latin typeface="Cambria Math" panose="02040503050406030204" pitchFamily="18" charset="0"/>
                    <a:cs typeface="Tahoma"/>
                  </a:rPr>
                  <a:t>𝑖 (</a:t>
                </a:r>
                <a:r>
                  <a:rPr lang="en-US" sz="1200" i="0" spc="10" dirty="0">
                    <a:latin typeface="Cambria Math" panose="02040503050406030204" pitchFamily="18" charset="0"/>
                    <a:cs typeface="Tahoma"/>
                  </a:rPr>
                  <a:t>𝑍_</a:t>
                </a:r>
                <a:r>
                  <a:rPr lang="en-US" sz="1200" b="0" i="0" spc="10" dirty="0">
                    <a:latin typeface="Cambria Math" panose="02040503050406030204" pitchFamily="18" charset="0"/>
                    <a:cs typeface="Tahoma"/>
                  </a:rPr>
                  <a:t>𝑖 ) </a:t>
                </a:r>
                <a:r>
                  <a:rPr lang="en-US" sz="1200" b="0" i="0" spc="10">
                    <a:latin typeface="Cambria Math" panose="02040503050406030204" pitchFamily="18" charset="0"/>
                    <a:cs typeface="Tahoma"/>
                  </a:rPr>
                  <a:t>〗</a:t>
                </a:r>
                <a:endParaRPr lang="en-US" sz="1200" i="1" spc="10" dirty="0">
                  <a:latin typeface="Cambria Math" panose="02040503050406030204" pitchFamily="18" charset="0"/>
                  <a:cs typeface="Tahoma"/>
                </a:endParaRPr>
              </a:p>
              <a:p>
                <a:pPr marL="171450" indent="-171450">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r>
                  <a:rPr lang="en-US" sz="1200" i="0" spc="10" dirty="0">
                    <a:latin typeface="Cambria Math" panose="02040503050406030204" pitchFamily="18" charset="0"/>
                    <a:cs typeface="Tahoma"/>
                  </a:rPr>
                  <a:t>𝑍_</a:t>
                </a:r>
                <a:r>
                  <a:rPr lang="en-US" sz="1200" b="0" i="0" spc="10" dirty="0">
                    <a:latin typeface="Cambria Math" panose="02040503050406030204" pitchFamily="18" charset="0"/>
                    <a:cs typeface="Tahoma"/>
                  </a:rPr>
                  <a:t>𝑖</a:t>
                </a:r>
                <a:r>
                  <a:rPr lang="en-US" dirty="0"/>
                  <a:t>​ denotes the set of goods allocated to agent iii.</a:t>
                </a:r>
              </a:p>
              <a:p>
                <a:pPr marL="742950" lvl="1" indent="-285750">
                  <a:buFont typeface="Arial" panose="020B0604020202020204" pitchFamily="34" charset="0"/>
                  <a:buChar char="•"/>
                </a:pPr>
                <a:r>
                  <a:rPr lang="en-US" sz="1200" i="0" spc="10" dirty="0">
                    <a:latin typeface="Cambria Math" panose="02040503050406030204" pitchFamily="18" charset="0"/>
                    <a:cs typeface="Tahoma"/>
                  </a:rPr>
                  <a:t>𝜐_</a:t>
                </a:r>
                <a:r>
                  <a:rPr lang="en-US" sz="1200" b="0" i="0" spc="10" dirty="0">
                    <a:latin typeface="Cambria Math" panose="02040503050406030204" pitchFamily="18" charset="0"/>
                    <a:cs typeface="Tahoma"/>
                  </a:rPr>
                  <a:t>𝑖</a:t>
                </a:r>
                <a:r>
                  <a:rPr lang="en-US" dirty="0"/>
                  <a:t> represents the valuation function of agent iii, which assigns a value to the goods in </a:t>
                </a:r>
                <a:r>
                  <a:rPr lang="en-US" sz="1200" i="0" spc="10" dirty="0">
                    <a:latin typeface="Cambria Math" panose="02040503050406030204" pitchFamily="18" charset="0"/>
                    <a:cs typeface="Tahoma"/>
                  </a:rPr>
                  <a:t>𝑍_</a:t>
                </a:r>
                <a:r>
                  <a:rPr lang="en-US" sz="1200" b="0" i="0" spc="10" dirty="0">
                    <a:latin typeface="Cambria Math" panose="02040503050406030204" pitchFamily="18" charset="0"/>
                    <a:cs typeface="Tahoma"/>
                  </a:rPr>
                  <a:t>𝑖</a:t>
                </a:r>
                <a:r>
                  <a:rPr lang="en-US" dirty="0"/>
                  <a:t>​.</a:t>
                </a:r>
              </a:p>
              <a:p>
                <a:pPr marL="171450" indent="-171450">
                  <a:buFont typeface="Arial" panose="020B0604020202020204" pitchFamily="34" charset="0"/>
                  <a:buChar char="•"/>
                </a:pPr>
                <a:r>
                  <a:rPr lang="en-US" dirty="0"/>
                  <a:t>The function sums the valuations of all agents, capturing the total value derived from the allocation.</a:t>
                </a:r>
              </a:p>
              <a:p>
                <a:endParaRPr lang="en-US" b="1" dirty="0"/>
              </a:p>
              <a:p>
                <a:r>
                  <a:rPr lang="en-US" b="1" dirty="0"/>
                  <a:t>Importance of Social Welfare Maximization</a:t>
                </a:r>
                <a:r>
                  <a:rPr lang="en-US" dirty="0"/>
                  <a:t>:</a:t>
                </a:r>
              </a:p>
              <a:p>
                <a:pPr marL="171450" indent="-171450">
                  <a:buFont typeface="Arial" panose="020B0604020202020204" pitchFamily="34" charset="0"/>
                  <a:buChar char="•"/>
                </a:pPr>
                <a:r>
                  <a:rPr lang="en-US" b="1" dirty="0"/>
                  <a:t>Efficiency</a:t>
                </a:r>
                <a:r>
                  <a:rPr lang="en-US" dirty="0"/>
                  <a:t>: Achieving maximum social welfare is often associated with Pareto efficiency, where no individual can be made better off without making someone else worse off.</a:t>
                </a:r>
              </a:p>
              <a:p>
                <a:pPr marL="171450" indent="-171450">
                  <a:buFont typeface="Arial" panose="020B0604020202020204" pitchFamily="34" charset="0"/>
                  <a:buChar char="•"/>
                </a:pPr>
                <a:r>
                  <a:rPr lang="en-US" b="1" dirty="0"/>
                  <a:t>Fairness</a:t>
                </a:r>
                <a:r>
                  <a:rPr lang="en-US" dirty="0"/>
                  <a:t>: A focus on social welfare encourages fairness in resource allocation, ensuring that agents receive goods in a manner that reflects their valuations and preferences.</a:t>
                </a:r>
              </a:p>
              <a:p>
                <a:pPr marL="171450" indent="-171450">
                  <a:buFont typeface="Arial" panose="020B0604020202020204" pitchFamily="34" charset="0"/>
                  <a:buChar char="•"/>
                </a:pPr>
                <a:r>
                  <a:rPr lang="en-US" b="1" dirty="0"/>
                  <a:t>Incentives</a:t>
                </a:r>
                <a:r>
                  <a:rPr lang="en-US" dirty="0"/>
                  <a:t>: Maximizing social welfare can help design auction mechanisms that incentivize truthful bidding and participation, leading to better market outcomes.</a:t>
                </a:r>
              </a:p>
              <a:p>
                <a:pPr marL="171450" indent="-171450">
                  <a:buFont typeface="Arial" panose="020B0604020202020204" pitchFamily="34" charset="0"/>
                  <a:buChar char="•"/>
                </a:pPr>
                <a:r>
                  <a:rPr lang="en-US" b="1" dirty="0"/>
                  <a:t>Challenges in Maximizing Social Welfare</a:t>
                </a:r>
                <a:r>
                  <a:rPr lang="en-US" dirty="0"/>
                  <a:t>:</a:t>
                </a:r>
              </a:p>
              <a:p>
                <a:pPr marL="171450" indent="-171450">
                  <a:buFont typeface="Arial" panose="020B0604020202020204" pitchFamily="34" charset="0"/>
                  <a:buChar char="•"/>
                </a:pPr>
                <a:r>
                  <a:rPr lang="en-US" b="1" dirty="0"/>
                  <a:t>Complex Valuation Functions</a:t>
                </a:r>
                <a:r>
                  <a:rPr lang="en-US" dirty="0"/>
                  <a:t>: Agents may have complex and heterogeneous valuation functions, making it difficult to aggregate preferences accurately.</a:t>
                </a:r>
              </a:p>
              <a:p>
                <a:pPr marL="171450" indent="-171450">
                  <a:buFont typeface="Arial" panose="020B0604020202020204" pitchFamily="34" charset="0"/>
                  <a:buChar char="•"/>
                </a:pPr>
                <a:r>
                  <a:rPr lang="en-US" b="1" dirty="0"/>
                  <a:t>Combinatorial Complexity</a:t>
                </a:r>
                <a:r>
                  <a:rPr lang="en-US" dirty="0"/>
                  <a:t>: In combinatorial auctions, the number of possible allocations grows exponentially with the number of goods, complicating the process of identifying the allocation that maximizes social welfare.</a:t>
                </a:r>
              </a:p>
              <a:p>
                <a:pPr marL="171450" indent="-171450">
                  <a:buFont typeface="Arial" panose="020B0604020202020204" pitchFamily="34" charset="0"/>
                  <a:buChar char="•"/>
                </a:pPr>
                <a:r>
                  <a:rPr lang="en-US" b="1" dirty="0"/>
                  <a:t>Strategic Behavior</a:t>
                </a:r>
                <a:r>
                  <a:rPr lang="en-US" dirty="0"/>
                  <a:t>: Agents may engage in strategic bidding, attempting to manipulate outcomes for personal gain, which can undermine the social welfare objective.</a:t>
                </a:r>
              </a:p>
              <a:p>
                <a:endParaRPr lang="en-US" b="1" dirty="0"/>
              </a:p>
              <a:p>
                <a:r>
                  <a:rPr lang="en-US" b="1" dirty="0"/>
                  <a:t>Conclusion</a:t>
                </a:r>
                <a:r>
                  <a:rPr lang="en-US" dirty="0"/>
                  <a:t>:</a:t>
                </a:r>
              </a:p>
              <a:p>
                <a:pPr marL="171450" indent="-171450">
                  <a:buFont typeface="Arial" panose="020B0604020202020204" pitchFamily="34" charset="0"/>
                  <a:buChar char="•"/>
                </a:pPr>
                <a:r>
                  <a:rPr lang="en-US" dirty="0"/>
                  <a:t>Social welfare maximization is a fundamental principle in auction design and economic theory, emphasizing the importance of considering collective outcomes in resource allocation. By understanding and applying social welfare functions, auction designers can create mechanisms that lead to efficient, fair, and desirable outcomes for all participants.</a:t>
                </a:r>
              </a:p>
              <a:p>
                <a:endParaRPr dirty="0"/>
              </a:p>
            </p:txBody>
          </p:sp>
        </mc:Fallback>
      </mc:AlternateContent>
    </p:spTree>
    <p:extLst>
      <p:ext uri="{BB962C8B-B14F-4D97-AF65-F5344CB8AC3E}">
        <p14:creationId xmlns:p14="http://schemas.microsoft.com/office/powerpoint/2010/main" val="3196545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explicitly states the goal of winner determination in combinatorial auctions, which is to find the allocation that yields the highest social welfare. It acknowledges the inherent complexity of this problem.</a:t>
                </a:r>
              </a:p>
              <a:p>
                <a:endParaRPr lang="en-US" b="0" i="0" dirty="0">
                  <a:solidFill>
                    <a:srgbClr val="E8E8E8"/>
                  </a:solidFill>
                  <a:effectLst/>
                  <a:latin typeface="Google Sans Text"/>
                </a:endParaRPr>
              </a:p>
              <a:p>
                <a:pPr marL="228600" indent="-228600">
                  <a:buFont typeface="+mj-lt"/>
                  <a:buAutoNum type="arabicPeriod"/>
                </a:pPr>
                <a:r>
                  <a:rPr lang="en-US" b="1" dirty="0"/>
                  <a:t>Formal Definition</a:t>
                </a:r>
                <a:r>
                  <a:rPr lang="en-US" dirty="0"/>
                  <a:t>:</a:t>
                </a:r>
              </a:p>
              <a:p>
                <a:pPr marL="742950" lvl="1" indent="-285750">
                  <a:buFont typeface="Arial" panose="020B0604020202020204" pitchFamily="34" charset="0"/>
                  <a:buChar char="•"/>
                </a:pPr>
                <a:r>
                  <a:rPr lang="en-US" dirty="0"/>
                  <a:t>The </a:t>
                </a:r>
                <a:r>
                  <a:rPr lang="en-US" b="1" dirty="0"/>
                  <a:t>Winner Determination Problem (WDP)</a:t>
                </a:r>
                <a:r>
                  <a:rPr lang="en-US" dirty="0"/>
                  <a:t> seeks to identify the optimal allocation of goods to agents in a manner that maximizes social welfare. Formally, given:</a:t>
                </a:r>
              </a:p>
              <a:p>
                <a:pPr marL="1143000" lvl="2" indent="-228600">
                  <a:buFont typeface="Arial" panose="020B0604020202020204" pitchFamily="34" charset="0"/>
                  <a:buChar char="•"/>
                </a:pPr>
                <a:r>
                  <a:rPr lang="en-US" dirty="0"/>
                  <a:t>A set of goods </a:t>
                </a:r>
                <a14:m>
                  <m:oMath xmlns:m="http://schemas.openxmlformats.org/officeDocument/2006/math">
                    <m:r>
                      <a:rPr lang="en-US" i="1" dirty="0" smtClean="0">
                        <a:latin typeface="Cambria Math" panose="02040503050406030204" pitchFamily="18" charset="0"/>
                      </a:rPr>
                      <m:t>𝑍</m:t>
                    </m:r>
                  </m:oMath>
                </a14:m>
                <a:r>
                  <a:rPr lang="en-US" dirty="0"/>
                  <a:t>.</a:t>
                </a:r>
              </a:p>
              <a:p>
                <a:pPr marL="1143000" lvl="2" indent="-228600">
                  <a:buFont typeface="Arial" panose="020B0604020202020204" pitchFamily="34" charset="0"/>
                  <a:buChar char="•"/>
                </a:pPr>
                <a:r>
                  <a:rPr lang="en-US" dirty="0"/>
                  <a:t>Valuation functions </a:t>
                </a:r>
                <a14:m>
                  <m:oMath xmlns:m="http://schemas.openxmlformats.org/officeDocument/2006/math">
                    <m:sSub>
                      <m:sSubPr>
                        <m:ctrlPr>
                          <a:rPr lang="en-US" sz="1200" i="1" spc="10" dirty="0" smtClean="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𝑛</m:t>
                        </m:r>
                      </m:sub>
                    </m:sSub>
                  </m:oMath>
                </a14:m>
                <a:r>
                  <a:rPr lang="en-US" dirty="0"/>
                  <a:t>​ for each agent, which assign a value to each possible bundle of items,</a:t>
                </a:r>
              </a:p>
              <a:p>
                <a:pPr marL="742950" lvl="1" indent="-285750">
                  <a:buFont typeface="Arial" panose="020B0604020202020204" pitchFamily="34" charset="0"/>
                  <a:buChar char="•"/>
                </a:pPr>
                <a:r>
                  <a:rPr lang="en-US" dirty="0"/>
                  <a:t>The goal is to find the allocation </a:t>
                </a:r>
                <a14:m>
                  <m:oMath xmlns:m="http://schemas.openxmlformats.org/officeDocument/2006/math">
                    <m:sSubSup>
                      <m:sSubSupPr>
                        <m:ctrlPr>
                          <a:rPr lang="en-MY" sz="1200" i="1" spc="10" dirty="0" smtClean="0">
                            <a:latin typeface="Cambria Math" panose="02040503050406030204" pitchFamily="18" charset="0"/>
                            <a:cs typeface="Tahoma"/>
                          </a:rPr>
                        </m:ctrlPr>
                      </m:sSubSup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up>
                        <m:r>
                          <a:rPr lang="en-MY" sz="1200" i="1" spc="10" dirty="0">
                            <a:latin typeface="Cambria Math" panose="02040503050406030204" pitchFamily="18" charset="0"/>
                            <a:cs typeface="Tahoma"/>
                          </a:rPr>
                          <m:t>∗</m:t>
                        </m:r>
                      </m:sup>
                    </m:sSubSup>
                    <m:r>
                      <a:rPr lang="en-MY" sz="1200" i="1" spc="10" dirty="0">
                        <a:latin typeface="Cambria Math" panose="02040503050406030204" pitchFamily="18" charset="0"/>
                        <a:cs typeface="Tahoma"/>
                      </a:rPr>
                      <m:t>, …, </m:t>
                    </m:r>
                    <m:sSubSup>
                      <m:sSubSupPr>
                        <m:ctrlPr>
                          <a:rPr lang="en-MY" sz="1200" i="1" spc="10" dirty="0" err="1">
                            <a:latin typeface="Cambria Math" panose="02040503050406030204" pitchFamily="18" charset="0"/>
                            <a:cs typeface="Tahoma"/>
                          </a:rPr>
                        </m:ctrlPr>
                      </m:sSubSup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up>
                        <m:r>
                          <a:rPr lang="en-MY" sz="1200" i="1" spc="10" dirty="0">
                            <a:latin typeface="Cambria Math" panose="02040503050406030204" pitchFamily="18" charset="0"/>
                            <a:cs typeface="Tahoma"/>
                          </a:rPr>
                          <m:t>∗</m:t>
                        </m:r>
                      </m:sup>
                    </m:sSubSup>
                  </m:oMath>
                </a14:m>
                <a:r>
                  <a:rPr lang="en-US" dirty="0"/>
                  <a:t> such that: </a:t>
                </a:r>
                <a14:m>
                  <m:oMath xmlns:m="http://schemas.openxmlformats.org/officeDocument/2006/math">
                    <m:sSubSup>
                      <m:sSubSupPr>
                        <m:ctrlPr>
                          <a:rPr lang="en-MY" sz="1200" i="1" spc="10" dirty="0" smtClean="0">
                            <a:latin typeface="Cambria Math" panose="02040503050406030204" pitchFamily="18" charset="0"/>
                            <a:cs typeface="Tahoma"/>
                          </a:rPr>
                        </m:ctrlPr>
                      </m:sSubSup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up>
                        <m:r>
                          <a:rPr lang="en-MY" sz="1200" i="1" spc="10" dirty="0">
                            <a:latin typeface="Cambria Math" panose="02040503050406030204" pitchFamily="18" charset="0"/>
                            <a:cs typeface="Tahoma"/>
                          </a:rPr>
                          <m:t>∗</m:t>
                        </m:r>
                      </m:sup>
                    </m:sSubSup>
                    <m:r>
                      <a:rPr lang="en-MY" sz="1200" i="1" spc="10" dirty="0">
                        <a:latin typeface="Cambria Math" panose="02040503050406030204" pitchFamily="18" charset="0"/>
                        <a:cs typeface="Tahoma"/>
                      </a:rPr>
                      <m:t>, …, </m:t>
                    </m:r>
                    <m:sSubSup>
                      <m:sSubSupPr>
                        <m:ctrlPr>
                          <a:rPr lang="en-MY" sz="1200" i="1" spc="10" dirty="0" err="1">
                            <a:latin typeface="Cambria Math" panose="02040503050406030204" pitchFamily="18" charset="0"/>
                            <a:cs typeface="Tahoma"/>
                          </a:rPr>
                        </m:ctrlPr>
                      </m:sSubSup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up>
                        <m:r>
                          <a:rPr lang="en-MY" sz="1200" i="1" spc="10" dirty="0">
                            <a:latin typeface="Cambria Math" panose="02040503050406030204" pitchFamily="18" charset="0"/>
                            <a:cs typeface="Tahoma"/>
                          </a:rPr>
                          <m:t>∗</m:t>
                        </m:r>
                      </m:sup>
                    </m:sSubSup>
                    <m:r>
                      <a:rPr lang="en-MY" sz="1200" i="1" spc="10" dirty="0">
                        <a:latin typeface="Cambria Math" panose="02040503050406030204" pitchFamily="18" charset="0"/>
                        <a:cs typeface="Tahoma"/>
                      </a:rPr>
                      <m:t>=</m:t>
                    </m:r>
                    <m:func>
                      <m:funcPr>
                        <m:ctrlPr>
                          <a:rPr lang="en-MY" sz="1200" i="1" spc="10" dirty="0" smtClean="0">
                            <a:latin typeface="Cambria Math" panose="02040503050406030204" pitchFamily="18" charset="0"/>
                            <a:cs typeface="Tahoma"/>
                          </a:rPr>
                        </m:ctrlPr>
                      </m:funcPr>
                      <m:fName>
                        <m:limLow>
                          <m:limLowPr>
                            <m:ctrlPr>
                              <a:rPr lang="en-MY" sz="1200" i="1" spc="10" dirty="0" smtClean="0">
                                <a:latin typeface="Cambria Math" panose="02040503050406030204" pitchFamily="18" charset="0"/>
                                <a:cs typeface="Tahoma"/>
                              </a:rPr>
                            </m:ctrlPr>
                          </m:limLowPr>
                          <m:e>
                            <m:r>
                              <m:rPr>
                                <m:sty m:val="p"/>
                              </m:rPr>
                              <a:rPr lang="en-US" sz="1200" b="0" i="0" spc="10" dirty="0" smtClean="0">
                                <a:latin typeface="Cambria Math" panose="02040503050406030204" pitchFamily="18" charset="0"/>
                                <a:cs typeface="Tahoma"/>
                              </a:rPr>
                              <m:t>arg</m:t>
                            </m:r>
                            <m:r>
                              <m:rPr>
                                <m:sty m:val="p"/>
                              </m:rPr>
                              <a:rPr lang="en-MY" sz="1200" i="0" spc="10" dirty="0" smtClean="0">
                                <a:latin typeface="Cambria Math" panose="02040503050406030204" pitchFamily="18" charset="0"/>
                                <a:cs typeface="Tahoma"/>
                              </a:rPr>
                              <m:t>max</m:t>
                            </m:r>
                          </m:e>
                          <m:lim>
                            <m:d>
                              <m:dPr>
                                <m:ctrlPr>
                                  <a:rPr lang="en-US" sz="1200" b="0" i="1" spc="10" dirty="0" smtClean="0">
                                    <a:latin typeface="Cambria Math" panose="02040503050406030204" pitchFamily="18" charset="0"/>
                                    <a:cs typeface="Tahoma"/>
                                  </a:rPr>
                                </m:ctrlPr>
                              </m:dPr>
                              <m:e>
                                <m:sSub>
                                  <m:sSubPr>
                                    <m:ctrlPr>
                                      <a:rPr lang="en-US" sz="1200" b="0" i="1" spc="10" dirty="0" smtClean="0">
                                        <a:latin typeface="Cambria Math" panose="02040503050406030204" pitchFamily="18" charset="0"/>
                                        <a:cs typeface="Tahoma"/>
                                      </a:rPr>
                                    </m:ctrlPr>
                                  </m:sSubPr>
                                  <m:e>
                                    <m:r>
                                      <a:rPr lang="en-US" sz="1200" b="0" i="1" spc="10" dirty="0" smtClean="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1</m:t>
                                    </m:r>
                                  </m:sub>
                                </m:sSub>
                                <m:r>
                                  <a:rPr lang="en-US" sz="1200" b="0" i="1" spc="10" dirty="0" smtClean="0">
                                    <a:latin typeface="Cambria Math" panose="02040503050406030204" pitchFamily="18" charset="0"/>
                                    <a:cs typeface="Tahoma"/>
                                  </a:rPr>
                                  <m:t>, …, </m:t>
                                </m:r>
                                <m:sSub>
                                  <m:sSubPr>
                                    <m:ctrlPr>
                                      <a:rPr lang="en-US" sz="1200" b="0" i="1" spc="10" dirty="0" smtClean="0">
                                        <a:latin typeface="Cambria Math" panose="02040503050406030204" pitchFamily="18" charset="0"/>
                                        <a:cs typeface="Tahoma"/>
                                      </a:rPr>
                                    </m:ctrlPr>
                                  </m:sSubPr>
                                  <m:e>
                                    <m:r>
                                      <a:rPr lang="en-US" sz="1200" b="0" i="1" spc="10" dirty="0" smtClean="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𝑛</m:t>
                                    </m:r>
                                  </m:sub>
                                </m:sSub>
                              </m:e>
                            </m:d>
                            <m:r>
                              <a:rPr lang="en-US" sz="1200" b="0" i="1" spc="10" dirty="0" smtClean="0">
                                <a:latin typeface="Cambria Math" panose="02040503050406030204" pitchFamily="18" charset="0"/>
                                <a:cs typeface="Tahoma"/>
                              </a:rPr>
                              <m:t>∈</m:t>
                            </m:r>
                            <m:r>
                              <a:rPr lang="en-US" sz="1200" b="0" i="1" spc="10" dirty="0" smtClean="0">
                                <a:latin typeface="Cambria Math" panose="02040503050406030204" pitchFamily="18" charset="0"/>
                                <a:cs typeface="Tahoma"/>
                              </a:rPr>
                              <m:t>𝑎𝑙𝑙𝑜𝑐</m:t>
                            </m:r>
                            <m:d>
                              <m:dPr>
                                <m:ctrlPr>
                                  <a:rPr lang="en-US" sz="1200" b="0" i="1" spc="10" dirty="0" smtClean="0">
                                    <a:latin typeface="Cambria Math" panose="02040503050406030204" pitchFamily="18" charset="0"/>
                                    <a:cs typeface="Tahoma"/>
                                  </a:rPr>
                                </m:ctrlPr>
                              </m:dPr>
                              <m:e>
                                <m:r>
                                  <a:rPr lang="en-US" sz="1200" b="0" i="1" spc="10" dirty="0" smtClean="0">
                                    <a:latin typeface="Cambria Math" panose="02040503050406030204" pitchFamily="18" charset="0"/>
                                    <a:ea typeface="Cambria Math" panose="02040503050406030204" pitchFamily="18" charset="0"/>
                                    <a:cs typeface="Tahoma"/>
                                  </a:rPr>
                                  <m:t>𝒵</m:t>
                                </m:r>
                                <m:r>
                                  <a:rPr lang="en-US" sz="1200" b="0" i="1" spc="10" dirty="0" smtClean="0">
                                    <a:latin typeface="Cambria Math" panose="02040503050406030204" pitchFamily="18" charset="0"/>
                                    <a:ea typeface="Cambria Math" panose="02040503050406030204" pitchFamily="18" charset="0"/>
                                    <a:cs typeface="Tahoma"/>
                                  </a:rPr>
                                  <m:t>, </m:t>
                                </m:r>
                                <m:r>
                                  <a:rPr lang="en-US" sz="1200" b="0" i="1" spc="10" dirty="0" smtClean="0">
                                    <a:latin typeface="Cambria Math" panose="02040503050406030204" pitchFamily="18" charset="0"/>
                                    <a:ea typeface="Cambria Math" panose="02040503050406030204" pitchFamily="18" charset="0"/>
                                    <a:cs typeface="Tahoma"/>
                                  </a:rPr>
                                  <m:t>𝐴𝑔</m:t>
                                </m:r>
                              </m:e>
                            </m:d>
                          </m:lim>
                        </m:limLow>
                      </m:fName>
                      <m:e>
                        <m:r>
                          <a:rPr lang="en-MY" sz="1200" i="1" spc="10" dirty="0">
                            <a:latin typeface="Cambria Math" panose="02040503050406030204" pitchFamily="18" charset="0"/>
                            <a:cs typeface="Tahoma"/>
                          </a:rPr>
                          <m:t>𝑠𝑤</m:t>
                        </m:r>
                        <m:d>
                          <m:dPr>
                            <m:ctrlPr>
                              <a:rPr lang="en-MY" sz="1200" i="1" spc="10" dirty="0">
                                <a:latin typeface="Cambria Math" panose="02040503050406030204" pitchFamily="18" charset="0"/>
                                <a:cs typeface="Tahoma"/>
                              </a:rPr>
                            </m:ctrlPr>
                          </m:dPr>
                          <m:e>
                            <m:sSub>
                              <m:sSubPr>
                                <m:ctrlPr>
                                  <a:rPr lang="en-MY" sz="1200" i="1" spc="10" dirty="0">
                                    <a:latin typeface="Cambria Math" panose="02040503050406030204" pitchFamily="18" charset="0"/>
                                    <a:cs typeface="Tahoma"/>
                                  </a:rPr>
                                </m:ctrlPr>
                              </m:sSub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Sub>
                            <m:r>
                              <a:rPr lang="en-MY" sz="1200" i="1" spc="10" dirty="0">
                                <a:latin typeface="Cambria Math" panose="02040503050406030204" pitchFamily="18" charset="0"/>
                                <a:cs typeface="Tahoma"/>
                              </a:rPr>
                              <m:t>, …, </m:t>
                            </m:r>
                            <m:sSub>
                              <m:sSubPr>
                                <m:ctrlPr>
                                  <a:rPr lang="en-MY" sz="1200" i="1" spc="10" dirty="0" err="1">
                                    <a:latin typeface="Cambria Math" panose="02040503050406030204" pitchFamily="18" charset="0"/>
                                    <a:cs typeface="Tahoma"/>
                                  </a:rPr>
                                </m:ctrlPr>
                              </m:sSub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𝑛</m:t>
                                </m:r>
                              </m:sub>
                            </m:sSub>
                          </m:e>
                        </m:d>
                      </m:e>
                    </m:func>
                  </m:oMath>
                </a14:m>
                <a:r>
                  <a:rPr lang="en-US" dirty="0"/>
                  <a:t> where </a:t>
                </a:r>
                <a14:m>
                  <m:oMath xmlns:m="http://schemas.openxmlformats.org/officeDocument/2006/math">
                    <m:r>
                      <a:rPr lang="en-US" sz="1200" b="0" i="1" spc="10" dirty="0" smtClean="0">
                        <a:latin typeface="Cambria Math" panose="02040503050406030204" pitchFamily="18" charset="0"/>
                        <a:cs typeface="Tahoma"/>
                      </a:rPr>
                      <m:t>𝑎𝑙𝑙𝑜𝑐</m:t>
                    </m:r>
                    <m:d>
                      <m:dPr>
                        <m:ctrlPr>
                          <a:rPr lang="en-US" sz="1200" b="0" i="1" spc="10" dirty="0" smtClean="0">
                            <a:latin typeface="Cambria Math" panose="02040503050406030204" pitchFamily="18" charset="0"/>
                            <a:cs typeface="Tahoma"/>
                          </a:rPr>
                        </m:ctrlPr>
                      </m:dPr>
                      <m:e>
                        <m:r>
                          <a:rPr lang="en-US" sz="1200" b="0" i="1" spc="10" dirty="0" smtClean="0">
                            <a:latin typeface="Cambria Math" panose="02040503050406030204" pitchFamily="18" charset="0"/>
                            <a:ea typeface="Cambria Math" panose="02040503050406030204" pitchFamily="18" charset="0"/>
                            <a:cs typeface="Tahoma"/>
                          </a:rPr>
                          <m:t>𝒵</m:t>
                        </m:r>
                        <m:r>
                          <a:rPr lang="en-US" sz="1200" b="0" i="1" spc="10" dirty="0" smtClean="0">
                            <a:latin typeface="Cambria Math" panose="02040503050406030204" pitchFamily="18" charset="0"/>
                            <a:ea typeface="Cambria Math" panose="02040503050406030204" pitchFamily="18" charset="0"/>
                            <a:cs typeface="Tahoma"/>
                          </a:rPr>
                          <m:t>, </m:t>
                        </m:r>
                        <m:r>
                          <a:rPr lang="en-US" sz="1200" b="0" i="1" spc="10" dirty="0" smtClean="0">
                            <a:latin typeface="Cambria Math" panose="02040503050406030204" pitchFamily="18" charset="0"/>
                            <a:ea typeface="Cambria Math" panose="02040503050406030204" pitchFamily="18" charset="0"/>
                            <a:cs typeface="Tahoma"/>
                          </a:rPr>
                          <m:t>𝐴𝑔</m:t>
                        </m:r>
                      </m:e>
                    </m:d>
                  </m:oMath>
                </a14:m>
                <a:r>
                  <a:rPr lang="en-US" dirty="0"/>
                  <a:t> represents all possible allocations of the goods to the agents and </a:t>
                </a:r>
                <a14:m>
                  <m:oMath xmlns:m="http://schemas.openxmlformats.org/officeDocument/2006/math">
                    <m:r>
                      <a:rPr lang="en-US" i="1" dirty="0" smtClean="0">
                        <a:latin typeface="Cambria Math" panose="02040503050406030204" pitchFamily="18" charset="0"/>
                      </a:rPr>
                      <m:t>𝑠𝑤</m:t>
                    </m:r>
                  </m:oMath>
                </a14:m>
                <a:r>
                  <a:rPr lang="en-US" dirty="0"/>
                  <a:t> is the social welfare function.</a:t>
                </a:r>
              </a:p>
              <a:p>
                <a:pPr marL="228600" indent="-228600">
                  <a:buFont typeface="+mj-lt"/>
                  <a:buAutoNum type="arabicPeriod"/>
                </a:pPr>
                <a:r>
                  <a:rPr lang="en-US" b="1" dirty="0"/>
                  <a:t>Social Welfare Maximization</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social welfare function calculates the total utility or satisfaction derived from an allocation: </a:t>
                </a:r>
                <a14:m>
                  <m:oMath xmlns:m="http://schemas.openxmlformats.org/officeDocument/2006/math">
                    <m:r>
                      <a:rPr lang="en-US" sz="1200" i="1" spc="10" dirty="0" smtClean="0">
                        <a:latin typeface="Cambria Math" panose="02040503050406030204" pitchFamily="18" charset="0"/>
                        <a:cs typeface="Tahoma"/>
                      </a:rPr>
                      <m:t>𝑠𝑤</m:t>
                    </m:r>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 …, </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𝑛</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i="1" spc="10" dirty="0">
                                <a:latin typeface="Cambria Math" panose="02040503050406030204" pitchFamily="18" charset="0"/>
                                <a:cs typeface="Tahoma"/>
                              </a:rPr>
                              <m:t>𝑛</m:t>
                            </m:r>
                          </m:sub>
                        </m:sSub>
                      </m:e>
                    </m:d>
                    <m:r>
                      <a:rPr lang="en-US" sz="1200" i="1" spc="10" dirty="0">
                        <a:latin typeface="Cambria Math" panose="02040503050406030204" pitchFamily="18" charset="0"/>
                        <a:cs typeface="Tahoma"/>
                      </a:rPr>
                      <m:t>=</m:t>
                    </m:r>
                    <m:nary>
                      <m:naryPr>
                        <m:chr m:val="∑"/>
                        <m:ctrlPr>
                          <a:rPr lang="en-US" sz="1200" i="1" spc="10" smtClean="0">
                            <a:latin typeface="Cambria Math" panose="02040503050406030204" pitchFamily="18" charset="0"/>
                            <a:cs typeface="Tahoma"/>
                          </a:rPr>
                        </m:ctrlPr>
                      </m:naryPr>
                      <m:sub>
                        <m:r>
                          <m:rPr>
                            <m:brk m:alnAt="23"/>
                          </m:rPr>
                          <a:rPr lang="en-US" sz="1200" b="0" i="1" spc="10" smtClean="0">
                            <a:latin typeface="Cambria Math" panose="02040503050406030204" pitchFamily="18" charset="0"/>
                            <a:cs typeface="Tahoma"/>
                          </a:rPr>
                          <m:t>𝑖</m:t>
                        </m:r>
                        <m:r>
                          <a:rPr lang="en-US" sz="1200" b="0" i="1" spc="10" smtClean="0">
                            <a:latin typeface="Cambria Math" panose="02040503050406030204" pitchFamily="18" charset="0"/>
                            <a:cs typeface="Tahoma"/>
                          </a:rPr>
                          <m:t>=1</m:t>
                        </m:r>
                      </m:sub>
                      <m:sup>
                        <m:r>
                          <a:rPr lang="en-US" sz="1200" b="0" i="1" spc="10" smtClean="0">
                            <a:latin typeface="Cambria Math" panose="02040503050406030204" pitchFamily="18" charset="0"/>
                            <a:cs typeface="Tahoma"/>
                          </a:rPr>
                          <m:t>𝑛</m:t>
                        </m:r>
                      </m:sup>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𝜐</m:t>
                            </m:r>
                          </m:e>
                          <m:sub>
                            <m:r>
                              <a:rPr lang="en-US" sz="1200" b="0" i="1" spc="10" dirty="0" smtClean="0">
                                <a:latin typeface="Cambria Math" panose="02040503050406030204" pitchFamily="18" charset="0"/>
                                <a:cs typeface="Tahoma"/>
                              </a:rPr>
                              <m:t>𝑖</m:t>
                            </m:r>
                          </m:sub>
                        </m:sSub>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𝑖</m:t>
                                </m:r>
                              </m:sub>
                            </m:sSub>
                          </m:e>
                        </m:d>
                      </m:e>
                    </m:nary>
                  </m:oMath>
                </a14:m>
                <a:endParaRPr lang="en-US" dirty="0"/>
              </a:p>
              <a:p>
                <a:pPr marL="742950" lvl="1" indent="-285750">
                  <a:buFont typeface="Arial" panose="020B0604020202020204" pitchFamily="34" charset="0"/>
                  <a:buChar char="•"/>
                </a:pPr>
                <a:r>
                  <a:rPr lang="en-US" dirty="0"/>
                  <a:t>This function reflects the collective benefit of all agents based on their valuations for the allocated goods.</a:t>
                </a:r>
              </a:p>
              <a:p>
                <a:pPr marL="228600" indent="-228600">
                  <a:buFont typeface="+mj-lt"/>
                  <a:buAutoNum type="arabicPeriod"/>
                </a:pPr>
                <a:r>
                  <a:rPr lang="en-US" b="1" dirty="0"/>
                  <a:t>Challenges in the WDP</a:t>
                </a:r>
                <a:r>
                  <a:rPr lang="en-US" dirty="0"/>
                  <a:t>:</a:t>
                </a:r>
              </a:p>
              <a:p>
                <a:pPr marL="742950" lvl="1" indent="-285750">
                  <a:buFont typeface="Arial" panose="020B0604020202020204" pitchFamily="34" charset="0"/>
                  <a:buChar char="•"/>
                </a:pPr>
                <a:r>
                  <a:rPr lang="en-US" b="1" dirty="0"/>
                  <a:t>Computational Complexity</a:t>
                </a:r>
                <a:r>
                  <a:rPr lang="en-US" dirty="0"/>
                  <a:t>: The WDP is generally NP-hard, particularly in combinatorial auctions where multiple items can be allocated in various combinations. This complexity arises from the exponential number of possible allocations that need to be evaluated.</a:t>
                </a:r>
              </a:p>
              <a:p>
                <a:pPr marL="742950" lvl="1" indent="-285750">
                  <a:buFont typeface="Arial" panose="020B0604020202020204" pitchFamily="34" charset="0"/>
                  <a:buChar char="•"/>
                </a:pPr>
                <a:r>
                  <a:rPr lang="en-US" b="1" dirty="0"/>
                  <a:t>Valuation Dynamics</a:t>
                </a:r>
                <a:r>
                  <a:rPr lang="en-US" dirty="0"/>
                  <a:t>: Each agent's valuation can change based on the combination of items they receive, complicating the determination of optimal allocations.</a:t>
                </a:r>
              </a:p>
              <a:p>
                <a:pPr marL="742950" lvl="1" indent="-285750">
                  <a:buFont typeface="Arial" panose="020B0604020202020204" pitchFamily="34" charset="0"/>
                  <a:buChar char="•"/>
                </a:pPr>
                <a:r>
                  <a:rPr lang="en-US" b="1" dirty="0"/>
                  <a:t>Strategic Bidding</a:t>
                </a:r>
                <a:r>
                  <a:rPr lang="en-US" dirty="0"/>
                  <a:t>: Bidders may not reveal their true valuations, leading to potential misallocation of goods if the auctioneer does not account for this strategy.</a:t>
                </a:r>
              </a:p>
              <a:p>
                <a:pPr marL="228600" indent="-228600">
                  <a:buFont typeface="+mj-lt"/>
                  <a:buAutoNum type="arabicPeriod"/>
                </a:pPr>
                <a:r>
                  <a:rPr lang="en-US" b="1" dirty="0"/>
                  <a:t>Solution Approaches</a:t>
                </a:r>
                <a:r>
                  <a:rPr lang="en-US" dirty="0"/>
                  <a:t>:</a:t>
                </a:r>
              </a:p>
              <a:p>
                <a:pPr marL="742950" lvl="1" indent="-285750">
                  <a:buFont typeface="Arial" panose="020B0604020202020204" pitchFamily="34" charset="0"/>
                  <a:buChar char="•"/>
                </a:pPr>
                <a:r>
                  <a:rPr lang="en-US" b="1" dirty="0"/>
                  <a:t>Exact Algorithms</a:t>
                </a:r>
                <a:r>
                  <a:rPr lang="en-US" dirty="0"/>
                  <a:t>: These include methods like dynamic programming or branch-and-bound, but they may be computationally infeasible for large instances.</a:t>
                </a:r>
              </a:p>
              <a:p>
                <a:pPr marL="742950" lvl="1" indent="-285750">
                  <a:buFont typeface="Arial" panose="020B0604020202020204" pitchFamily="34" charset="0"/>
                  <a:buChar char="•"/>
                </a:pPr>
                <a:r>
                  <a:rPr lang="en-US" b="1" dirty="0"/>
                  <a:t>Approximation Algorithms</a:t>
                </a:r>
                <a:r>
                  <a:rPr lang="en-US" dirty="0"/>
                  <a:t>: These provide a solution close to the optimal allocation in polynomial time, which is often more practical in real-world scenarios.</a:t>
                </a:r>
              </a:p>
              <a:p>
                <a:pPr marL="742950" lvl="1" indent="-285750">
                  <a:buFont typeface="Arial" panose="020B0604020202020204" pitchFamily="34" charset="0"/>
                  <a:buChar char="•"/>
                </a:pPr>
                <a:r>
                  <a:rPr lang="en-US" b="1" dirty="0"/>
                  <a:t>Heuristic Methods</a:t>
                </a:r>
                <a:r>
                  <a:rPr lang="en-US" dirty="0"/>
                  <a:t>: Techniques such as greedy algorithms or genetic algorithms can be applied to find satisfactory allocations without guaranteeing optimality.</a:t>
                </a:r>
              </a:p>
              <a:p>
                <a:pPr marL="228600" indent="-228600">
                  <a:buFont typeface="+mj-lt"/>
                  <a:buAutoNum type="arabicPeriod"/>
                </a:pPr>
                <a:r>
                  <a:rPr lang="en-US" b="1" dirty="0"/>
                  <a:t>Applications</a:t>
                </a:r>
                <a:r>
                  <a:rPr lang="en-US" dirty="0"/>
                  <a:t>:</a:t>
                </a:r>
              </a:p>
              <a:p>
                <a:pPr marL="742950" lvl="1" indent="-285750">
                  <a:buFont typeface="Arial" panose="020B0604020202020204" pitchFamily="34" charset="0"/>
                  <a:buChar char="•"/>
                </a:pPr>
                <a:r>
                  <a:rPr lang="en-US" dirty="0"/>
                  <a:t>The winner determination problem is crucial in various domains, including:</a:t>
                </a:r>
              </a:p>
              <a:p>
                <a:pPr marL="1143000" lvl="2" indent="-228600">
                  <a:buFont typeface="Arial" panose="020B0604020202020204" pitchFamily="34" charset="0"/>
                  <a:buChar char="•"/>
                </a:pPr>
                <a:r>
                  <a:rPr lang="en-US" b="1" dirty="0"/>
                  <a:t>Combinatorial Auctions</a:t>
                </a:r>
                <a:r>
                  <a:rPr lang="en-US" dirty="0"/>
                  <a:t>: Where multiple items are sold together, requiring careful valuation assessments.</a:t>
                </a:r>
              </a:p>
              <a:p>
                <a:pPr marL="1143000" lvl="2" indent="-228600">
                  <a:buFont typeface="Arial" panose="020B0604020202020204" pitchFamily="34" charset="0"/>
                  <a:buChar char="•"/>
                </a:pPr>
                <a:r>
                  <a:rPr lang="en-US" b="1" dirty="0"/>
                  <a:t>Resource Allocation</a:t>
                </a:r>
                <a:r>
                  <a:rPr lang="en-US" dirty="0"/>
                  <a:t>: In cloud computing or telecommunications, where bandwidth or server time may be auctioned off.</a:t>
                </a:r>
              </a:p>
              <a:p>
                <a:pPr marL="1143000" lvl="2" indent="-228600">
                  <a:buFont typeface="Arial" panose="020B0604020202020204" pitchFamily="34" charset="0"/>
                  <a:buChar char="•"/>
                </a:pPr>
                <a:r>
                  <a:rPr lang="en-US" b="1" dirty="0"/>
                  <a:t>Public Procurement</a:t>
                </a:r>
                <a:r>
                  <a:rPr lang="en-US" dirty="0"/>
                  <a:t>: Determining the best bids for government contracts, ensuring taxpayer money is utilized effectively.</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The WDP plays a vital role in ensuring fairness and efficiency in resource allocation within auctions. Understanding its complexities and applying suitable solution strategies is essential for maximizing social welfare in various contexts.</a:t>
                </a:r>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explicitly states the goal of winner determination in combinatorial auctions, which is to find the allocation that yields the highest social welfare. It acknowledges the inherent complexity of this problem.</a:t>
                </a:r>
              </a:p>
              <a:p>
                <a:endParaRPr lang="en-US" b="0" i="0" dirty="0">
                  <a:solidFill>
                    <a:srgbClr val="E8E8E8"/>
                  </a:solidFill>
                  <a:effectLst/>
                  <a:latin typeface="Google Sans Text"/>
                </a:endParaRPr>
              </a:p>
              <a:p>
                <a:pPr marL="228600" indent="-228600">
                  <a:buFont typeface="+mj-lt"/>
                  <a:buAutoNum type="arabicPeriod"/>
                </a:pPr>
                <a:r>
                  <a:rPr lang="en-US" b="1" dirty="0"/>
                  <a:t>Formal Definition</a:t>
                </a:r>
                <a:r>
                  <a:rPr lang="en-US" dirty="0"/>
                  <a:t>:</a:t>
                </a:r>
              </a:p>
              <a:p>
                <a:pPr marL="742950" lvl="1" indent="-285750">
                  <a:buFont typeface="Arial" panose="020B0604020202020204" pitchFamily="34" charset="0"/>
                  <a:buChar char="•"/>
                </a:pPr>
                <a:r>
                  <a:rPr lang="en-US" dirty="0"/>
                  <a:t>The </a:t>
                </a:r>
                <a:r>
                  <a:rPr lang="en-US" b="1" dirty="0"/>
                  <a:t>Winner Determination Problem (WDP)</a:t>
                </a:r>
                <a:r>
                  <a:rPr lang="en-US" dirty="0"/>
                  <a:t> seeks to identify the optimal allocation of goods to agents in a manner that maximizes social welfare. Formally, given:</a:t>
                </a:r>
              </a:p>
              <a:p>
                <a:pPr marL="1143000" lvl="2" indent="-228600">
                  <a:buFont typeface="Arial" panose="020B0604020202020204" pitchFamily="34" charset="0"/>
                  <a:buChar char="•"/>
                </a:pPr>
                <a:r>
                  <a:rPr lang="en-US" dirty="0"/>
                  <a:t>A set of goods </a:t>
                </a:r>
                <a:r>
                  <a:rPr lang="en-US" i="0" dirty="0">
                    <a:latin typeface="Cambria Math" panose="02040503050406030204" pitchFamily="18" charset="0"/>
                  </a:rPr>
                  <a:t>𝑍</a:t>
                </a:r>
                <a:r>
                  <a:rPr lang="en-US" dirty="0"/>
                  <a:t>.</a:t>
                </a:r>
              </a:p>
              <a:p>
                <a:pPr marL="1143000" lvl="2" indent="-228600">
                  <a:buFont typeface="Arial" panose="020B0604020202020204" pitchFamily="34" charset="0"/>
                  <a:buChar char="•"/>
                </a:pPr>
                <a:r>
                  <a:rPr lang="en-US" dirty="0"/>
                  <a:t>Valuation functions </a:t>
                </a:r>
                <a:r>
                  <a:rPr lang="en-US" sz="1200" i="0" spc="10" dirty="0">
                    <a:latin typeface="Cambria Math" panose="02040503050406030204" pitchFamily="18" charset="0"/>
                    <a:cs typeface="Tahoma"/>
                  </a:rPr>
                  <a:t>𝜐_1,…,𝜐_𝑛</a:t>
                </a:r>
                <a:r>
                  <a:rPr lang="en-US" dirty="0"/>
                  <a:t>​ for each agent, which assign a value to each possible bundle of items,</a:t>
                </a:r>
              </a:p>
              <a:p>
                <a:pPr marL="742950" lvl="1" indent="-285750">
                  <a:buFont typeface="Arial" panose="020B0604020202020204" pitchFamily="34" charset="0"/>
                  <a:buChar char="•"/>
                </a:pPr>
                <a:r>
                  <a:rPr lang="en-US" dirty="0"/>
                  <a:t>The goal is to find the allocation </a:t>
                </a:r>
                <a:r>
                  <a:rPr lang="en-MY" sz="1200" i="0" spc="10" dirty="0">
                    <a:latin typeface="Cambria Math" panose="02040503050406030204" pitchFamily="18" charset="0"/>
                    <a:cs typeface="Tahoma"/>
                  </a:rPr>
                  <a:t>𝑍_1^∗, …, </a:t>
                </a:r>
                <a:r>
                  <a:rPr lang="en-MY" sz="1200" i="0" spc="10" dirty="0" err="1">
                    <a:latin typeface="Cambria Math" panose="02040503050406030204" pitchFamily="18" charset="0"/>
                    <a:cs typeface="Tahoma"/>
                  </a:rPr>
                  <a:t>𝑍_𝑛^</a:t>
                </a:r>
                <a:r>
                  <a:rPr lang="en-MY" sz="1200" i="0" spc="10" dirty="0">
                    <a:latin typeface="Cambria Math" panose="02040503050406030204" pitchFamily="18" charset="0"/>
                    <a:cs typeface="Tahoma"/>
                  </a:rPr>
                  <a:t>∗</a:t>
                </a:r>
                <a:r>
                  <a:rPr lang="en-US" dirty="0"/>
                  <a:t> such that: </a:t>
                </a:r>
                <a:r>
                  <a:rPr lang="en-MY" sz="1200" i="0" spc="10" dirty="0">
                    <a:latin typeface="Cambria Math" panose="02040503050406030204" pitchFamily="18" charset="0"/>
                    <a:cs typeface="Tahoma"/>
                  </a:rPr>
                  <a:t>𝑍_1^∗, …, </a:t>
                </a:r>
                <a:r>
                  <a:rPr lang="en-MY" sz="1200" i="0" spc="10" dirty="0" err="1">
                    <a:latin typeface="Cambria Math" panose="02040503050406030204" pitchFamily="18" charset="0"/>
                    <a:cs typeface="Tahoma"/>
                  </a:rPr>
                  <a:t>𝑍_𝑛^</a:t>
                </a:r>
                <a:r>
                  <a:rPr lang="en-MY" sz="1200" i="0" spc="10" dirty="0">
                    <a:latin typeface="Cambria Math" panose="02040503050406030204" pitchFamily="18" charset="0"/>
                    <a:cs typeface="Tahoma"/>
                  </a:rPr>
                  <a:t>∗=</a:t>
                </a:r>
                <a:r>
                  <a:rPr lang="en-US" sz="1200" b="0" i="0" spc="10" dirty="0">
                    <a:latin typeface="Cambria Math" panose="02040503050406030204" pitchFamily="18" charset="0"/>
                    <a:cs typeface="Tahoma"/>
                  </a:rPr>
                  <a:t>arg</a:t>
                </a:r>
                <a:r>
                  <a:rPr lang="en-MY" sz="1200" i="0" spc="10" dirty="0">
                    <a:latin typeface="Cambria Math" panose="02040503050406030204" pitchFamily="18" charset="0"/>
                    <a:cs typeface="Tahoma"/>
                  </a:rPr>
                  <a:t>max┬(</a:t>
                </a:r>
                <a:r>
                  <a:rPr lang="en-US" sz="1200" b="0" i="0" spc="10" dirty="0">
                    <a:latin typeface="Cambria Math" panose="02040503050406030204" pitchFamily="18" charset="0"/>
                    <a:cs typeface="Tahoma"/>
                  </a:rPr>
                  <a:t>(𝑍_1, …, 𝑍_𝑛 )∈𝑎𝑙𝑙𝑜𝑐(</a:t>
                </a:r>
                <a:r>
                  <a:rPr lang="en-US" sz="1200" b="0" i="0" spc="10" dirty="0">
                    <a:latin typeface="Cambria Math" panose="02040503050406030204" pitchFamily="18" charset="0"/>
                    <a:ea typeface="Cambria Math" panose="02040503050406030204" pitchFamily="18" charset="0"/>
                    <a:cs typeface="Tahoma"/>
                  </a:rPr>
                  <a:t>𝒵, 𝐴𝑔) </a:t>
                </a:r>
                <a:r>
                  <a:rPr lang="en-MY" sz="1200" b="0" i="0" spc="10" dirty="0">
                    <a:latin typeface="Cambria Math" panose="02040503050406030204" pitchFamily="18" charset="0"/>
                    <a:ea typeface="Cambria Math" panose="02040503050406030204" pitchFamily="18" charset="0"/>
                    <a:cs typeface="Tahoma"/>
                  </a:rPr>
                  <a:t>)⁡</a:t>
                </a:r>
                <a:r>
                  <a:rPr lang="en-MY" sz="1200" i="0" spc="10" dirty="0">
                    <a:latin typeface="Cambria Math" panose="02040503050406030204" pitchFamily="18" charset="0"/>
                    <a:cs typeface="Tahoma"/>
                  </a:rPr>
                  <a:t>𝑠𝑤(𝑍_1, …, </a:t>
                </a:r>
                <a:r>
                  <a:rPr lang="en-MY"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,𝜐_1,…,𝜐_𝑛 )</a:t>
                </a:r>
                <a:r>
                  <a:rPr lang="en-US" dirty="0"/>
                  <a:t> where </a:t>
                </a:r>
                <a:r>
                  <a:rPr lang="en-US" sz="1200" b="0" i="0" spc="10" dirty="0">
                    <a:latin typeface="Cambria Math" panose="02040503050406030204" pitchFamily="18" charset="0"/>
                    <a:cs typeface="Tahoma"/>
                  </a:rPr>
                  <a:t>𝑎𝑙𝑙𝑜𝑐(</a:t>
                </a:r>
                <a:r>
                  <a:rPr lang="en-US" sz="1200" b="0" i="0" spc="10" dirty="0">
                    <a:latin typeface="Cambria Math" panose="02040503050406030204" pitchFamily="18" charset="0"/>
                    <a:ea typeface="Cambria Math" panose="02040503050406030204" pitchFamily="18" charset="0"/>
                    <a:cs typeface="Tahoma"/>
                  </a:rPr>
                  <a:t>𝒵, 𝐴𝑔)</a:t>
                </a:r>
                <a:r>
                  <a:rPr lang="en-US" dirty="0"/>
                  <a:t> represents all possible allocations of the goods to the agents and </a:t>
                </a:r>
                <a:r>
                  <a:rPr lang="en-US" i="0" dirty="0">
                    <a:latin typeface="Cambria Math" panose="02040503050406030204" pitchFamily="18" charset="0"/>
                  </a:rPr>
                  <a:t>𝑠𝑤</a:t>
                </a:r>
                <a:r>
                  <a:rPr lang="en-US" dirty="0"/>
                  <a:t> is the social welfare function.</a:t>
                </a:r>
              </a:p>
              <a:p>
                <a:pPr marL="228600" indent="-228600">
                  <a:buFont typeface="+mj-lt"/>
                  <a:buAutoNum type="arabicPeriod"/>
                </a:pPr>
                <a:r>
                  <a:rPr lang="en-US" b="1" dirty="0"/>
                  <a:t>Social Welfare Maximization</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social welfare function calculates the total utility or satisfaction derived from an allocation: </a:t>
                </a:r>
                <a:r>
                  <a:rPr lang="en-US" sz="1200" i="0" spc="10" dirty="0">
                    <a:latin typeface="Cambria Math" panose="02040503050406030204" pitchFamily="18" charset="0"/>
                    <a:cs typeface="Tahoma"/>
                  </a:rPr>
                  <a:t>𝑠𝑤(𝑍_1, …, 𝑍_𝑛,𝜐_1,…,𝜐_𝑛 )=</a:t>
                </a:r>
                <a:r>
                  <a:rPr lang="en-US" sz="1200" i="0" spc="10">
                    <a:latin typeface="Cambria Math" panose="02040503050406030204" pitchFamily="18" charset="0"/>
                    <a:cs typeface="Tahoma"/>
                  </a:rPr>
                  <a:t>∑</a:t>
                </a:r>
                <a:r>
                  <a:rPr lang="en-US" sz="1200" b="0" i="0" spc="10">
                    <a:latin typeface="Cambria Math" panose="02040503050406030204" pitchFamily="18" charset="0"/>
                    <a:cs typeface="Tahoma"/>
                  </a:rPr>
                  <a:t>_(𝑖=1)^𝑛</a:t>
                </a:r>
                <a:r>
                  <a:rPr lang="en-US" sz="1200" b="0" i="0" spc="10" dirty="0">
                    <a:latin typeface="Cambria Math" panose="02040503050406030204" pitchFamily="18" charset="0"/>
                    <a:cs typeface="Tahoma"/>
                  </a:rPr>
                  <a:t>▒</a:t>
                </a:r>
                <a:r>
                  <a:rPr lang="en-US" sz="1200" b="0" i="0" spc="10">
                    <a:latin typeface="Cambria Math" panose="02040503050406030204" pitchFamily="18" charset="0"/>
                    <a:cs typeface="Tahoma"/>
                  </a:rPr>
                  <a:t>〖</a:t>
                </a:r>
                <a:r>
                  <a:rPr lang="en-US" sz="1200" i="0" spc="10" dirty="0">
                    <a:latin typeface="Cambria Math" panose="02040503050406030204" pitchFamily="18" charset="0"/>
                    <a:cs typeface="Tahoma"/>
                  </a:rPr>
                  <a:t>𝜐_</a:t>
                </a:r>
                <a:r>
                  <a:rPr lang="en-US" sz="1200" b="0" i="0" spc="10" dirty="0">
                    <a:latin typeface="Cambria Math" panose="02040503050406030204" pitchFamily="18" charset="0"/>
                    <a:cs typeface="Tahoma"/>
                  </a:rPr>
                  <a:t>𝑖 (</a:t>
                </a:r>
                <a:r>
                  <a:rPr lang="en-US" sz="1200" i="0" spc="10" dirty="0">
                    <a:latin typeface="Cambria Math" panose="02040503050406030204" pitchFamily="18" charset="0"/>
                    <a:cs typeface="Tahoma"/>
                  </a:rPr>
                  <a:t>𝑍_</a:t>
                </a:r>
                <a:r>
                  <a:rPr lang="en-US" sz="1200" b="0" i="0" spc="10" dirty="0">
                    <a:latin typeface="Cambria Math" panose="02040503050406030204" pitchFamily="18" charset="0"/>
                    <a:cs typeface="Tahoma"/>
                  </a:rPr>
                  <a:t>𝑖 ) </a:t>
                </a:r>
                <a:r>
                  <a:rPr lang="en-US" sz="1200" b="0" i="0" spc="10">
                    <a:latin typeface="Cambria Math" panose="02040503050406030204" pitchFamily="18" charset="0"/>
                    <a:cs typeface="Tahoma"/>
                  </a:rPr>
                  <a:t>〗</a:t>
                </a:r>
                <a:endParaRPr lang="en-US" dirty="0"/>
              </a:p>
              <a:p>
                <a:pPr marL="742950" lvl="1" indent="-285750">
                  <a:buFont typeface="Arial" panose="020B0604020202020204" pitchFamily="34" charset="0"/>
                  <a:buChar char="•"/>
                </a:pPr>
                <a:r>
                  <a:rPr lang="en-US" dirty="0"/>
                  <a:t>This function reflects the collective benefit of all agents based on their valuations for the allocated goods.</a:t>
                </a:r>
              </a:p>
              <a:p>
                <a:pPr marL="228600" indent="-228600">
                  <a:buFont typeface="+mj-lt"/>
                  <a:buAutoNum type="arabicPeriod"/>
                </a:pPr>
                <a:r>
                  <a:rPr lang="en-US" b="1" dirty="0"/>
                  <a:t>Challenges in the WDP</a:t>
                </a:r>
                <a:r>
                  <a:rPr lang="en-US" dirty="0"/>
                  <a:t>:</a:t>
                </a:r>
              </a:p>
              <a:p>
                <a:pPr marL="742950" lvl="1" indent="-285750">
                  <a:buFont typeface="Arial" panose="020B0604020202020204" pitchFamily="34" charset="0"/>
                  <a:buChar char="•"/>
                </a:pPr>
                <a:r>
                  <a:rPr lang="en-US" b="1" dirty="0"/>
                  <a:t>Computational Complexity</a:t>
                </a:r>
                <a:r>
                  <a:rPr lang="en-US" dirty="0"/>
                  <a:t>: The WDP is generally NP-hard, particularly in combinatorial auctions where multiple items can be allocated in various combinations. This complexity arises from the exponential number of possible allocations that need to be evaluated.</a:t>
                </a:r>
              </a:p>
              <a:p>
                <a:pPr marL="742950" lvl="1" indent="-285750">
                  <a:buFont typeface="Arial" panose="020B0604020202020204" pitchFamily="34" charset="0"/>
                  <a:buChar char="•"/>
                </a:pPr>
                <a:r>
                  <a:rPr lang="en-US" b="1" dirty="0"/>
                  <a:t>Valuation Dynamics</a:t>
                </a:r>
                <a:r>
                  <a:rPr lang="en-US" dirty="0"/>
                  <a:t>: Each agent's valuation can change based on the combination of items they receive, complicating the determination of optimal allocations.</a:t>
                </a:r>
              </a:p>
              <a:p>
                <a:pPr marL="742950" lvl="1" indent="-285750">
                  <a:buFont typeface="Arial" panose="020B0604020202020204" pitchFamily="34" charset="0"/>
                  <a:buChar char="•"/>
                </a:pPr>
                <a:r>
                  <a:rPr lang="en-US" b="1" dirty="0"/>
                  <a:t>Strategic Bidding</a:t>
                </a:r>
                <a:r>
                  <a:rPr lang="en-US" dirty="0"/>
                  <a:t>: Bidders may not reveal their true valuations, leading to potential misallocation of goods if the auctioneer does not account for this strategy.</a:t>
                </a:r>
              </a:p>
              <a:p>
                <a:pPr marL="228600" indent="-228600">
                  <a:buFont typeface="+mj-lt"/>
                  <a:buAutoNum type="arabicPeriod"/>
                </a:pPr>
                <a:r>
                  <a:rPr lang="en-US" b="1" dirty="0"/>
                  <a:t>Solution Approaches</a:t>
                </a:r>
                <a:r>
                  <a:rPr lang="en-US" dirty="0"/>
                  <a:t>:</a:t>
                </a:r>
              </a:p>
              <a:p>
                <a:pPr marL="742950" lvl="1" indent="-285750">
                  <a:buFont typeface="Arial" panose="020B0604020202020204" pitchFamily="34" charset="0"/>
                  <a:buChar char="•"/>
                </a:pPr>
                <a:r>
                  <a:rPr lang="en-US" b="1" dirty="0"/>
                  <a:t>Exact Algorithms</a:t>
                </a:r>
                <a:r>
                  <a:rPr lang="en-US" dirty="0"/>
                  <a:t>: These include methods like dynamic programming or branch-and-bound, but they may be computationally infeasible for large instances.</a:t>
                </a:r>
              </a:p>
              <a:p>
                <a:pPr marL="742950" lvl="1" indent="-285750">
                  <a:buFont typeface="Arial" panose="020B0604020202020204" pitchFamily="34" charset="0"/>
                  <a:buChar char="•"/>
                </a:pPr>
                <a:r>
                  <a:rPr lang="en-US" b="1" dirty="0"/>
                  <a:t>Approximation Algorithms</a:t>
                </a:r>
                <a:r>
                  <a:rPr lang="en-US" dirty="0"/>
                  <a:t>: These provide a solution close to the optimal allocation in polynomial time, which is often more practical in real-world scenarios.</a:t>
                </a:r>
              </a:p>
              <a:p>
                <a:pPr marL="742950" lvl="1" indent="-285750">
                  <a:buFont typeface="Arial" panose="020B0604020202020204" pitchFamily="34" charset="0"/>
                  <a:buChar char="•"/>
                </a:pPr>
                <a:r>
                  <a:rPr lang="en-US" b="1" dirty="0"/>
                  <a:t>Heuristic Methods</a:t>
                </a:r>
                <a:r>
                  <a:rPr lang="en-US" dirty="0"/>
                  <a:t>: Techniques such as greedy algorithms or genetic algorithms can be applied to find satisfactory allocations without guaranteeing optimality.</a:t>
                </a:r>
              </a:p>
              <a:p>
                <a:pPr marL="228600" indent="-228600">
                  <a:buFont typeface="+mj-lt"/>
                  <a:buAutoNum type="arabicPeriod"/>
                </a:pPr>
                <a:r>
                  <a:rPr lang="en-US" b="1" dirty="0"/>
                  <a:t>Applications</a:t>
                </a:r>
                <a:r>
                  <a:rPr lang="en-US" dirty="0"/>
                  <a:t>:</a:t>
                </a:r>
              </a:p>
              <a:p>
                <a:pPr marL="742950" lvl="1" indent="-285750">
                  <a:buFont typeface="Arial" panose="020B0604020202020204" pitchFamily="34" charset="0"/>
                  <a:buChar char="•"/>
                </a:pPr>
                <a:r>
                  <a:rPr lang="en-US" dirty="0"/>
                  <a:t>The winner determination problem is crucial in various domains, including:</a:t>
                </a:r>
              </a:p>
              <a:p>
                <a:pPr marL="1143000" lvl="2" indent="-228600">
                  <a:buFont typeface="Arial" panose="020B0604020202020204" pitchFamily="34" charset="0"/>
                  <a:buChar char="•"/>
                </a:pPr>
                <a:r>
                  <a:rPr lang="en-US" b="1" dirty="0"/>
                  <a:t>Combinatorial Auctions</a:t>
                </a:r>
                <a:r>
                  <a:rPr lang="en-US" dirty="0"/>
                  <a:t>: Where multiple items are sold together, requiring careful valuation assessments.</a:t>
                </a:r>
              </a:p>
              <a:p>
                <a:pPr marL="1143000" lvl="2" indent="-228600">
                  <a:buFont typeface="Arial" panose="020B0604020202020204" pitchFamily="34" charset="0"/>
                  <a:buChar char="•"/>
                </a:pPr>
                <a:r>
                  <a:rPr lang="en-US" b="1" dirty="0"/>
                  <a:t>Resource Allocation</a:t>
                </a:r>
                <a:r>
                  <a:rPr lang="en-US" dirty="0"/>
                  <a:t>: In cloud computing or telecommunications, where bandwidth or server time may be auctioned off.</a:t>
                </a:r>
              </a:p>
              <a:p>
                <a:pPr marL="1143000" lvl="2" indent="-228600">
                  <a:buFont typeface="Arial" panose="020B0604020202020204" pitchFamily="34" charset="0"/>
                  <a:buChar char="•"/>
                </a:pPr>
                <a:r>
                  <a:rPr lang="en-US" b="1" dirty="0"/>
                  <a:t>Public Procurement</a:t>
                </a:r>
                <a:r>
                  <a:rPr lang="en-US" dirty="0"/>
                  <a:t>: Determining the best bids for government contracts, ensuring taxpayer money is utilized effectively.</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The WDP plays a vital role in ensuring fairness and efficiency in resource allocation within auctions. Understanding its complexities and applying suitable solution strategies is essential for maximizing social welfare in various contexts.</a:t>
                </a:r>
              </a:p>
            </p:txBody>
          </p:sp>
        </mc:Fallback>
      </mc:AlternateContent>
    </p:spTree>
    <p:extLst>
      <p:ext uri="{BB962C8B-B14F-4D97-AF65-F5344CB8AC3E}">
        <p14:creationId xmlns:p14="http://schemas.microsoft.com/office/powerpoint/2010/main" val="11261220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outlines the difficulties associated with finding the optimal allocation. It points out the potential for agents to lie about their valuations, the exponential size of the valuation space, and the computational burden of exhaustive search.</a:t>
                </a:r>
              </a:p>
              <a:p>
                <a:endParaRPr lang="en-US" b="0" i="0" dirty="0">
                  <a:solidFill>
                    <a:srgbClr val="E8E8E8"/>
                  </a:solidFill>
                  <a:effectLst/>
                  <a:latin typeface="Google Sans Text"/>
                </a:endParaRPr>
              </a:p>
              <a:p>
                <a:pPr marL="228600" indent="-228600">
                  <a:buFont typeface="+mj-lt"/>
                  <a:buAutoNum type="arabicPeriod"/>
                </a:pPr>
                <a:r>
                  <a:rPr lang="en-US" b="1" dirty="0"/>
                  <a:t>Declared Valuations</a:t>
                </a:r>
                <a:r>
                  <a:rPr lang="en-US" dirty="0"/>
                  <a:t>:</a:t>
                </a:r>
              </a:p>
              <a:p>
                <a:pPr marL="628650" lvl="1" indent="-171450">
                  <a:buFont typeface="Arial" panose="020B0604020202020204" pitchFamily="34" charset="0"/>
                  <a:buChar char="•"/>
                </a:pPr>
                <a:r>
                  <a:rPr lang="en-US" b="1" dirty="0"/>
                  <a:t>Strategic Misrepresentation</a:t>
                </a:r>
                <a:r>
                  <a:rPr lang="en-US" dirty="0"/>
                  <a:t>: In many auction formats, agents declare their valuations </a:t>
                </a:r>
                <a14:m>
                  <m:oMath xmlns:m="http://schemas.openxmlformats.org/officeDocument/2006/math">
                    <m:sSub>
                      <m:sSubPr>
                        <m:ctrlPr>
                          <a:rPr lang="en-US" sz="1200" b="0" i="1" spc="10" dirty="0" smtClean="0">
                            <a:latin typeface="Cambria Math" panose="02040503050406030204" pitchFamily="18" charset="0"/>
                            <a:cs typeface="Tahoma"/>
                          </a:rPr>
                        </m:ctrlPr>
                      </m:sSubPr>
                      <m:e>
                        <m:acc>
                          <m:accPr>
                            <m:chr m:val="̂"/>
                            <m:ctrlPr>
                              <a:rPr lang="en-US" sz="1200" i="1" spc="10" dirty="0" smtClean="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b="0" i="1" spc="10" dirty="0" smtClean="0">
                            <a:latin typeface="Cambria Math" panose="02040503050406030204" pitchFamily="18" charset="0"/>
                            <a:cs typeface="Tahoma"/>
                          </a:rPr>
                          <m:t>𝑖</m:t>
                        </m:r>
                      </m:sub>
                    </m:sSub>
                  </m:oMath>
                </a14:m>
                <a:r>
                  <a:rPr lang="en-US" dirty="0"/>
                  <a:t> for various bundles of goods. However, these declared valuations may not reflect their true valuations due to:</a:t>
                </a:r>
              </a:p>
              <a:p>
                <a:pPr marL="1143000" lvl="2" indent="-228600">
                  <a:buFont typeface="Arial" panose="020B0604020202020204" pitchFamily="34" charset="0"/>
                  <a:buChar char="•"/>
                </a:pPr>
                <a:r>
                  <a:rPr lang="en-US" b="1" dirty="0"/>
                  <a:t>Incentives to Manipulate</a:t>
                </a:r>
                <a:r>
                  <a:rPr lang="en-US" dirty="0"/>
                  <a:t>: Agents may understate or overstate their valuations to gain a competitive edge or secure a better deal, leading to:</a:t>
                </a:r>
              </a:p>
              <a:p>
                <a:pPr marL="1600200" lvl="3" indent="-228600">
                  <a:buFont typeface="Arial" panose="020B0604020202020204" pitchFamily="34" charset="0"/>
                  <a:buChar char="•"/>
                </a:pPr>
                <a:r>
                  <a:rPr lang="en-US" b="1" dirty="0"/>
                  <a:t>Overbidding</a:t>
                </a:r>
                <a:r>
                  <a:rPr lang="en-US" dirty="0"/>
                  <a:t>: Bidding higher than their actual value, risking the winner’s curse.</a:t>
                </a:r>
              </a:p>
              <a:p>
                <a:pPr marL="1600200" lvl="3" indent="-228600">
                  <a:buFont typeface="Arial" panose="020B0604020202020204" pitchFamily="34" charset="0"/>
                  <a:buChar char="•"/>
                </a:pPr>
                <a:r>
                  <a:rPr lang="en-US" b="1" dirty="0"/>
                  <a:t>Underbidding</a:t>
                </a:r>
                <a:r>
                  <a:rPr lang="en-US" dirty="0"/>
                  <a:t>: Bidding lower than their value, which may result in losing valuable items.</a:t>
                </a:r>
              </a:p>
              <a:p>
                <a:pPr marL="742950" lvl="1" indent="-285750">
                  <a:buFont typeface="Arial" panose="020B0604020202020204" pitchFamily="34" charset="0"/>
                  <a:buChar char="•"/>
                </a:pPr>
                <a:r>
                  <a:rPr lang="en-US" b="1" dirty="0"/>
                  <a:t>Impact on Allocations</a:t>
                </a:r>
                <a:r>
                  <a:rPr lang="en-US" dirty="0"/>
                  <a:t>: Misrepresentation can lead to suboptimal allocations that do not maximize overall social welfare, as decisions are based on distorted information.</a:t>
                </a:r>
              </a:p>
              <a:p>
                <a:pPr marL="228600" indent="-228600">
                  <a:buFont typeface="+mj-lt"/>
                  <a:buAutoNum type="arabicPeriod"/>
                </a:pPr>
                <a:r>
                  <a:rPr lang="en-US" b="1" dirty="0"/>
                  <a:t>Representational Complexity</a:t>
                </a:r>
                <a:r>
                  <a:rPr lang="en-US" dirty="0"/>
                  <a:t>:</a:t>
                </a:r>
              </a:p>
              <a:p>
                <a:pPr marL="742950" lvl="1" indent="-285750">
                  <a:buFont typeface="Arial" panose="020B0604020202020204" pitchFamily="34" charset="0"/>
                  <a:buChar char="•"/>
                </a:pPr>
                <a:r>
                  <a:rPr lang="en-US" b="1" dirty="0"/>
                  <a:t>Exponential Growth</a:t>
                </a:r>
                <a:r>
                  <a:rPr lang="en-US" dirty="0"/>
                  <a:t>: The number of potential combinations of goods increases exponentially with the number of items and agents:</a:t>
                </a:r>
              </a:p>
              <a:p>
                <a:pPr marL="1143000" lvl="2" indent="-228600">
                  <a:buFont typeface="Arial" panose="020B0604020202020204" pitchFamily="34" charset="0"/>
                  <a:buChar char="•"/>
                </a:pPr>
                <a:r>
                  <a:rPr lang="en-US" dirty="0"/>
                  <a:t>Each agent can have a unique valuation for every possible subset of goods.</a:t>
                </a:r>
              </a:p>
              <a:p>
                <a:pPr marL="1143000" lvl="2" indent="-228600">
                  <a:buFont typeface="Arial" panose="020B0604020202020204" pitchFamily="34" charset="0"/>
                  <a:buChar char="•"/>
                </a:pPr>
                <a:r>
                  <a:rPr lang="en-US" dirty="0"/>
                  <a:t>If there are </a:t>
                </a:r>
                <a14:m>
                  <m:oMath xmlns:m="http://schemas.openxmlformats.org/officeDocument/2006/math">
                    <m:r>
                      <a:rPr lang="en-US" i="1" dirty="0" smtClean="0">
                        <a:latin typeface="Cambria Math" panose="02040503050406030204" pitchFamily="18" charset="0"/>
                      </a:rPr>
                      <m:t>𝑛</m:t>
                    </m:r>
                  </m:oMath>
                </a14:m>
                <a:r>
                  <a:rPr lang="en-US" dirty="0"/>
                  <a:t> items, the number of subsets is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𝑛</m:t>
                        </m:r>
                      </m:sup>
                    </m:sSup>
                  </m:oMath>
                </a14:m>
                <a:r>
                  <a:rPr lang="en-US" dirty="0"/>
                  <a:t>. As such, representing valuations for every possible combination can be impractical.</a:t>
                </a:r>
              </a:p>
              <a:p>
                <a:pPr marL="742950" lvl="1" indent="-285750">
                  <a:buFont typeface="Arial" panose="020B0604020202020204" pitchFamily="34" charset="0"/>
                  <a:buChar char="•"/>
                </a:pPr>
                <a:r>
                  <a:rPr lang="en-US" b="1" dirty="0"/>
                  <a:t>Dimensionality Challenges</a:t>
                </a:r>
                <a:r>
                  <a:rPr lang="en-US" dirty="0"/>
                  <a:t>: As the number of items grows, storing and processing valuation functions becomes increasingly difficult, potentially leading to:</a:t>
                </a:r>
              </a:p>
              <a:p>
                <a:pPr marL="1143000" lvl="2" indent="-228600">
                  <a:buFont typeface="Arial" panose="020B0604020202020204" pitchFamily="34" charset="0"/>
                  <a:buChar char="•"/>
                </a:pPr>
                <a:r>
                  <a:rPr lang="en-US" b="1" dirty="0"/>
                  <a:t>Data Management Issues</a:t>
                </a:r>
                <a:r>
                  <a:rPr lang="en-US" dirty="0"/>
                  <a:t>: Difficulties in maintaining and accessing large datasets efficiently.</a:t>
                </a:r>
              </a:p>
              <a:p>
                <a:pPr marL="1143000" lvl="2" indent="-228600">
                  <a:buFont typeface="Arial" panose="020B0604020202020204" pitchFamily="34" charset="0"/>
                  <a:buChar char="•"/>
                </a:pPr>
                <a:r>
                  <a:rPr lang="en-US" b="1" dirty="0"/>
                  <a:t>Modeling Limitations</a:t>
                </a:r>
                <a:r>
                  <a:rPr lang="en-US" dirty="0"/>
                  <a:t>: Challenges in accurately modeling preferences and valuations for all possible combinations.</a:t>
                </a:r>
              </a:p>
              <a:p>
                <a:pPr marL="228600" indent="-228600">
                  <a:buFont typeface="+mj-lt"/>
                  <a:buAutoNum type="arabicPeriod"/>
                </a:pPr>
                <a:r>
                  <a:rPr lang="en-US" b="1" dirty="0"/>
                  <a:t>Computational Intractability</a:t>
                </a:r>
                <a:r>
                  <a:rPr lang="en-US" dirty="0"/>
                  <a:t>:</a:t>
                </a:r>
              </a:p>
              <a:p>
                <a:pPr marL="742950" lvl="1" indent="-285750">
                  <a:buFont typeface="Arial" panose="020B0604020202020204" pitchFamily="34" charset="0"/>
                  <a:buChar char="•"/>
                </a:pPr>
                <a:r>
                  <a:rPr lang="en-US" b="1" dirty="0"/>
                  <a:t>Complexity of Searching Allocations</a:t>
                </a:r>
                <a:r>
                  <a:rPr lang="en-US" dirty="0"/>
                  <a:t>: Finding the optimal allocation involves evaluating all possible distributions of goods to agents, which is a combinatorial problem:</a:t>
                </a:r>
              </a:p>
              <a:p>
                <a:pPr marL="1143000" lvl="2" indent="-228600">
                  <a:buFont typeface="Arial" panose="020B0604020202020204" pitchFamily="34" charset="0"/>
                  <a:buChar char="•"/>
                </a:pPr>
                <a:r>
                  <a:rPr lang="en-US" b="1" dirty="0"/>
                  <a:t>NP-Hardness</a:t>
                </a:r>
                <a:r>
                  <a:rPr lang="en-US" dirty="0"/>
                  <a:t>: The problem is classified as NP-hard, meaning no known polynomial-time algorithm can solve it for large instances.</a:t>
                </a:r>
              </a:p>
              <a:p>
                <a:pPr marL="1143000" lvl="2" indent="-228600">
                  <a:buFont typeface="Arial" panose="020B0604020202020204" pitchFamily="34" charset="0"/>
                  <a:buChar char="•"/>
                </a:pPr>
                <a:r>
                  <a:rPr lang="en-US" b="1" dirty="0"/>
                  <a:t>Brute Force Limitations</a:t>
                </a:r>
                <a:r>
                  <a:rPr lang="en-US" dirty="0"/>
                  <a:t>: A brute force approach would require evaluating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possible allocations for </a:t>
                </a:r>
                <a14:m>
                  <m:oMath xmlns:m="http://schemas.openxmlformats.org/officeDocument/2006/math">
                    <m:r>
                      <a:rPr lang="en-US" i="1" dirty="0" smtClean="0">
                        <a:latin typeface="Cambria Math" panose="02040503050406030204" pitchFamily="18" charset="0"/>
                      </a:rPr>
                      <m:t>𝑛</m:t>
                    </m:r>
                  </m:oMath>
                </a14:m>
                <a:r>
                  <a:rPr lang="en-US" dirty="0"/>
                  <a:t> agents, leading to an unmanageable computational load.</a:t>
                </a:r>
              </a:p>
              <a:p>
                <a:pPr marL="742950" lvl="1" indent="-285750">
                  <a:buFont typeface="Arial" panose="020B0604020202020204" pitchFamily="34" charset="0"/>
                  <a:buChar char="•"/>
                </a:pPr>
                <a:r>
                  <a:rPr lang="en-US" b="1" dirty="0"/>
                  <a:t>Scalability Issues</a:t>
                </a:r>
                <a:r>
                  <a:rPr lang="en-US" dirty="0"/>
                  <a:t>: As the number of agents and goods increases, the time and resources required to determine the optimal allocation become prohibitively high:</a:t>
                </a:r>
              </a:p>
              <a:p>
                <a:pPr marL="1143000" lvl="2" indent="-228600">
                  <a:buFont typeface="Arial" panose="020B0604020202020204" pitchFamily="34" charset="0"/>
                  <a:buChar char="•"/>
                </a:pPr>
                <a:r>
                  <a:rPr lang="en-US" b="1" dirty="0"/>
                  <a:t>Practical Constraints</a:t>
                </a:r>
                <a:r>
                  <a:rPr lang="en-US" dirty="0"/>
                  <a:t>: Real-world auctions often involve many items and participants, making exact solutions infeasible in practice.</a:t>
                </a:r>
              </a:p>
              <a:p>
                <a:pPr marL="742950" lvl="1" indent="-285750">
                  <a:buFont typeface="Arial" panose="020B0604020202020204" pitchFamily="34" charset="0"/>
                  <a:buChar char="•"/>
                </a:pPr>
                <a:r>
                  <a:rPr lang="en-US" b="1" dirty="0"/>
                  <a:t>Need for Efficient Algorithms</a:t>
                </a:r>
                <a:r>
                  <a:rPr lang="en-US" dirty="0"/>
                  <a:t>: The challenges emphasize the necessity for:</a:t>
                </a:r>
              </a:p>
              <a:p>
                <a:pPr marL="1143000" lvl="2" indent="-228600">
                  <a:buFont typeface="Arial" panose="020B0604020202020204" pitchFamily="34" charset="0"/>
                  <a:buChar char="•"/>
                </a:pPr>
                <a:r>
                  <a:rPr lang="en-US" b="1" dirty="0"/>
                  <a:t>Approximation Algorithms</a:t>
                </a:r>
                <a:r>
                  <a:rPr lang="en-US" dirty="0"/>
                  <a:t>: Methods that can find near-optimal solutions within a reasonable time frame.</a:t>
                </a:r>
              </a:p>
              <a:p>
                <a:pPr marL="1143000" lvl="2" indent="-228600">
                  <a:buFont typeface="Arial" panose="020B0604020202020204" pitchFamily="34" charset="0"/>
                  <a:buChar char="•"/>
                </a:pPr>
                <a:r>
                  <a:rPr lang="en-US" b="1" dirty="0"/>
                  <a:t>Heuristic Approaches</a:t>
                </a:r>
                <a:r>
                  <a:rPr lang="en-US" dirty="0"/>
                  <a:t>: Algorithms that use rules of thumb to generate satisfactory solutions without guaranteeing optimality.</a:t>
                </a:r>
              </a:p>
              <a:p>
                <a:pPr marL="228600" indent="-228600">
                  <a:buFont typeface="+mj-lt"/>
                  <a:buAutoNum type="arabicPeriod"/>
                </a:pPr>
                <a:r>
                  <a:rPr lang="en-US" b="1" dirty="0"/>
                  <a:t>Summary</a:t>
                </a:r>
                <a:r>
                  <a:rPr lang="en-US" dirty="0"/>
                  <a:t>:</a:t>
                </a:r>
              </a:p>
              <a:p>
                <a:pPr marL="742950" lvl="1" indent="-285750">
                  <a:buFont typeface="Arial" panose="020B0604020202020204" pitchFamily="34" charset="0"/>
                  <a:buChar char="•"/>
                </a:pPr>
                <a:r>
                  <a:rPr lang="en-US" dirty="0"/>
                  <a:t>The challenges of winner determination highlight the complexities involved in auction mechanisms. Understanding these issues is crucial for developing strategies that enhance auction efficiency and fairness. Addressing these challenges through innovative algorithms and techniques can lead to improved resource allocation in various sectors, including public procurement, combinatorial auctions, and digital marketplaces.</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outlines the difficulties associated with finding the optimal allocation. It points out the potential for agents to lie about their valuations, the exponential size of the valuation space, and the computational burden of exhaustive search.</a:t>
                </a:r>
              </a:p>
              <a:p>
                <a:endParaRPr lang="en-US" b="0" i="0" dirty="0">
                  <a:solidFill>
                    <a:srgbClr val="E8E8E8"/>
                  </a:solidFill>
                  <a:effectLst/>
                  <a:latin typeface="Google Sans Text"/>
                </a:endParaRPr>
              </a:p>
              <a:p>
                <a:pPr marL="228600" indent="-228600">
                  <a:buFont typeface="+mj-lt"/>
                  <a:buAutoNum type="arabicPeriod"/>
                </a:pPr>
                <a:r>
                  <a:rPr lang="en-US" b="1" dirty="0"/>
                  <a:t>Declared Valuations</a:t>
                </a:r>
                <a:r>
                  <a:rPr lang="en-US" dirty="0"/>
                  <a:t>:</a:t>
                </a:r>
              </a:p>
              <a:p>
                <a:pPr marL="628650" lvl="1" indent="-171450">
                  <a:buFont typeface="Arial" panose="020B0604020202020204" pitchFamily="34" charset="0"/>
                  <a:buChar char="•"/>
                </a:pPr>
                <a:r>
                  <a:rPr lang="en-US" b="1" dirty="0"/>
                  <a:t>Strategic Misrepresentation</a:t>
                </a:r>
                <a:r>
                  <a:rPr lang="en-US" dirty="0"/>
                  <a:t>: In many auction formats, agents declare their valuations </a:t>
                </a:r>
                <a:r>
                  <a:rPr lang="en-US" sz="1200" i="0" spc="10" dirty="0">
                    <a:latin typeface="Cambria Math" panose="02040503050406030204" pitchFamily="18" charset="0"/>
                    <a:cs typeface="Tahoma"/>
                  </a:rPr>
                  <a:t>𝜐 ̂</a:t>
                </a:r>
                <a:r>
                  <a:rPr lang="en-US" sz="1200" b="0" i="0" spc="10" dirty="0">
                    <a:latin typeface="Cambria Math" panose="02040503050406030204" pitchFamily="18" charset="0"/>
                    <a:cs typeface="Tahoma"/>
                  </a:rPr>
                  <a:t>_𝑖</a:t>
                </a:r>
                <a:r>
                  <a:rPr lang="en-US" dirty="0"/>
                  <a:t> for various bundles of goods. However, these declared valuations may not reflect their true valuations due to:</a:t>
                </a:r>
              </a:p>
              <a:p>
                <a:pPr marL="1143000" lvl="2" indent="-228600">
                  <a:buFont typeface="Arial" panose="020B0604020202020204" pitchFamily="34" charset="0"/>
                  <a:buChar char="•"/>
                </a:pPr>
                <a:r>
                  <a:rPr lang="en-US" b="1" dirty="0"/>
                  <a:t>Incentives to Manipulate</a:t>
                </a:r>
                <a:r>
                  <a:rPr lang="en-US" dirty="0"/>
                  <a:t>: Agents may understate or overstate their valuations to gain a competitive edge or secure a better deal, leading to:</a:t>
                </a:r>
              </a:p>
              <a:p>
                <a:pPr marL="1600200" lvl="3" indent="-228600">
                  <a:buFont typeface="Arial" panose="020B0604020202020204" pitchFamily="34" charset="0"/>
                  <a:buChar char="•"/>
                </a:pPr>
                <a:r>
                  <a:rPr lang="en-US" b="1" dirty="0"/>
                  <a:t>Overbidding</a:t>
                </a:r>
                <a:r>
                  <a:rPr lang="en-US" dirty="0"/>
                  <a:t>: Bidding higher than their actual value, risking the winner’s curse.</a:t>
                </a:r>
              </a:p>
              <a:p>
                <a:pPr marL="1600200" lvl="3" indent="-228600">
                  <a:buFont typeface="Arial" panose="020B0604020202020204" pitchFamily="34" charset="0"/>
                  <a:buChar char="•"/>
                </a:pPr>
                <a:r>
                  <a:rPr lang="en-US" b="1" dirty="0"/>
                  <a:t>Underbidding</a:t>
                </a:r>
                <a:r>
                  <a:rPr lang="en-US" dirty="0"/>
                  <a:t>: Bidding lower than their value, which may result in losing valuable items.</a:t>
                </a:r>
              </a:p>
              <a:p>
                <a:pPr marL="742950" lvl="1" indent="-285750">
                  <a:buFont typeface="Arial" panose="020B0604020202020204" pitchFamily="34" charset="0"/>
                  <a:buChar char="•"/>
                </a:pPr>
                <a:r>
                  <a:rPr lang="en-US" b="1" dirty="0"/>
                  <a:t>Impact on Allocations</a:t>
                </a:r>
                <a:r>
                  <a:rPr lang="en-US" dirty="0"/>
                  <a:t>: Misrepresentation can lead to suboptimal allocations that do not maximize overall social welfare, as decisions are based on distorted information.</a:t>
                </a:r>
              </a:p>
              <a:p>
                <a:pPr marL="228600" indent="-228600">
                  <a:buFont typeface="+mj-lt"/>
                  <a:buAutoNum type="arabicPeriod"/>
                </a:pPr>
                <a:r>
                  <a:rPr lang="en-US" b="1" dirty="0"/>
                  <a:t>Representational Complexity</a:t>
                </a:r>
                <a:r>
                  <a:rPr lang="en-US" dirty="0"/>
                  <a:t>:</a:t>
                </a:r>
              </a:p>
              <a:p>
                <a:pPr marL="742950" lvl="1" indent="-285750">
                  <a:buFont typeface="Arial" panose="020B0604020202020204" pitchFamily="34" charset="0"/>
                  <a:buChar char="•"/>
                </a:pPr>
                <a:r>
                  <a:rPr lang="en-US" b="1" dirty="0"/>
                  <a:t>Exponential Growth</a:t>
                </a:r>
                <a:r>
                  <a:rPr lang="en-US" dirty="0"/>
                  <a:t>: The number of potential combinations of goods increases exponentially with the number of items and agents:</a:t>
                </a:r>
              </a:p>
              <a:p>
                <a:pPr marL="1143000" lvl="2" indent="-228600">
                  <a:buFont typeface="Arial" panose="020B0604020202020204" pitchFamily="34" charset="0"/>
                  <a:buChar char="•"/>
                </a:pPr>
                <a:r>
                  <a:rPr lang="en-US" dirty="0"/>
                  <a:t>Each agent can have a unique valuation for every possible subset of goods.</a:t>
                </a:r>
              </a:p>
              <a:p>
                <a:pPr marL="1143000" lvl="2" indent="-228600">
                  <a:buFont typeface="Arial" panose="020B0604020202020204" pitchFamily="34" charset="0"/>
                  <a:buChar char="•"/>
                </a:pPr>
                <a:r>
                  <a:rPr lang="en-US" dirty="0"/>
                  <a:t>If there are </a:t>
                </a:r>
                <a:r>
                  <a:rPr lang="en-US" i="0" dirty="0">
                    <a:latin typeface="Cambria Math" panose="02040503050406030204" pitchFamily="18" charset="0"/>
                  </a:rPr>
                  <a:t>𝑛</a:t>
                </a:r>
                <a:r>
                  <a:rPr lang="en-US" dirty="0"/>
                  <a:t> items, the number of subsets is </a:t>
                </a:r>
                <a:r>
                  <a:rPr lang="en-US" i="0" dirty="0">
                    <a:latin typeface="Cambria Math" panose="02040503050406030204" pitchFamily="18" charset="0"/>
                  </a:rPr>
                  <a:t>2^𝑛</a:t>
                </a:r>
                <a:r>
                  <a:rPr lang="en-US" dirty="0"/>
                  <a:t>. As such, representing valuations for every possible combination can be impractical.</a:t>
                </a:r>
              </a:p>
              <a:p>
                <a:pPr marL="742950" lvl="1" indent="-285750">
                  <a:buFont typeface="Arial" panose="020B0604020202020204" pitchFamily="34" charset="0"/>
                  <a:buChar char="•"/>
                </a:pPr>
                <a:r>
                  <a:rPr lang="en-US" b="1" dirty="0"/>
                  <a:t>Dimensionality Challenges</a:t>
                </a:r>
                <a:r>
                  <a:rPr lang="en-US" dirty="0"/>
                  <a:t>: As the number of items grows, storing and processing valuation functions becomes increasingly difficult, potentially leading to:</a:t>
                </a:r>
              </a:p>
              <a:p>
                <a:pPr marL="1143000" lvl="2" indent="-228600">
                  <a:buFont typeface="Arial" panose="020B0604020202020204" pitchFamily="34" charset="0"/>
                  <a:buChar char="•"/>
                </a:pPr>
                <a:r>
                  <a:rPr lang="en-US" b="1" dirty="0"/>
                  <a:t>Data Management Issues</a:t>
                </a:r>
                <a:r>
                  <a:rPr lang="en-US" dirty="0"/>
                  <a:t>: Difficulties in maintaining and accessing large datasets efficiently.</a:t>
                </a:r>
              </a:p>
              <a:p>
                <a:pPr marL="1143000" lvl="2" indent="-228600">
                  <a:buFont typeface="Arial" panose="020B0604020202020204" pitchFamily="34" charset="0"/>
                  <a:buChar char="•"/>
                </a:pPr>
                <a:r>
                  <a:rPr lang="en-US" b="1" dirty="0"/>
                  <a:t>Modeling Limitations</a:t>
                </a:r>
                <a:r>
                  <a:rPr lang="en-US" dirty="0"/>
                  <a:t>: Challenges in accurately modeling preferences and valuations for all possible combinations.</a:t>
                </a:r>
              </a:p>
              <a:p>
                <a:pPr marL="228600" indent="-228600">
                  <a:buFont typeface="+mj-lt"/>
                  <a:buAutoNum type="arabicPeriod"/>
                </a:pPr>
                <a:r>
                  <a:rPr lang="en-US" b="1" dirty="0"/>
                  <a:t>Computational Intractability</a:t>
                </a:r>
                <a:r>
                  <a:rPr lang="en-US" dirty="0"/>
                  <a:t>:</a:t>
                </a:r>
              </a:p>
              <a:p>
                <a:pPr marL="742950" lvl="1" indent="-285750">
                  <a:buFont typeface="Arial" panose="020B0604020202020204" pitchFamily="34" charset="0"/>
                  <a:buChar char="•"/>
                </a:pPr>
                <a:r>
                  <a:rPr lang="en-US" b="1" dirty="0"/>
                  <a:t>Complexity of Searching Allocations</a:t>
                </a:r>
                <a:r>
                  <a:rPr lang="en-US" dirty="0"/>
                  <a:t>: Finding the optimal allocation involves evaluating all possible distributions of goods to agents, which is a combinatorial problem:</a:t>
                </a:r>
              </a:p>
              <a:p>
                <a:pPr marL="1143000" lvl="2" indent="-228600">
                  <a:buFont typeface="Arial" panose="020B0604020202020204" pitchFamily="34" charset="0"/>
                  <a:buChar char="•"/>
                </a:pPr>
                <a:r>
                  <a:rPr lang="en-US" b="1" dirty="0"/>
                  <a:t>NP-Hardness</a:t>
                </a:r>
                <a:r>
                  <a:rPr lang="en-US" dirty="0"/>
                  <a:t>: The problem is classified as NP-hard, meaning no known polynomial-time algorithm can solve it for large instances.</a:t>
                </a:r>
              </a:p>
              <a:p>
                <a:pPr marL="1143000" lvl="2" indent="-228600">
                  <a:buFont typeface="Arial" panose="020B0604020202020204" pitchFamily="34" charset="0"/>
                  <a:buChar char="•"/>
                </a:pPr>
                <a:r>
                  <a:rPr lang="en-US" b="1" dirty="0"/>
                  <a:t>Brute Force Limitations</a:t>
                </a:r>
                <a:r>
                  <a:rPr lang="en-US" dirty="0"/>
                  <a:t>: A brute force approach would require evaluating </a:t>
                </a:r>
                <a:r>
                  <a:rPr lang="en-US" i="0" dirty="0">
                    <a:latin typeface="Cambria Math" panose="02040503050406030204" pitchFamily="18" charset="0"/>
                  </a:rPr>
                  <a:t>𝑛! </a:t>
                </a:r>
                <a:r>
                  <a:rPr lang="en-US" dirty="0"/>
                  <a:t>possible allocations for </a:t>
                </a:r>
                <a:r>
                  <a:rPr lang="en-US" i="0" dirty="0">
                    <a:latin typeface="Cambria Math" panose="02040503050406030204" pitchFamily="18" charset="0"/>
                  </a:rPr>
                  <a:t>𝑛</a:t>
                </a:r>
                <a:r>
                  <a:rPr lang="en-US" dirty="0"/>
                  <a:t> agents, leading to an unmanageable computational load.</a:t>
                </a:r>
              </a:p>
              <a:p>
                <a:pPr marL="742950" lvl="1" indent="-285750">
                  <a:buFont typeface="Arial" panose="020B0604020202020204" pitchFamily="34" charset="0"/>
                  <a:buChar char="•"/>
                </a:pPr>
                <a:r>
                  <a:rPr lang="en-US" b="1" dirty="0"/>
                  <a:t>Scalability Issues</a:t>
                </a:r>
                <a:r>
                  <a:rPr lang="en-US" dirty="0"/>
                  <a:t>: As the number of agents and goods increases, the time and resources required to determine the optimal allocation become prohibitively high:</a:t>
                </a:r>
              </a:p>
              <a:p>
                <a:pPr marL="1143000" lvl="2" indent="-228600">
                  <a:buFont typeface="Arial" panose="020B0604020202020204" pitchFamily="34" charset="0"/>
                  <a:buChar char="•"/>
                </a:pPr>
                <a:r>
                  <a:rPr lang="en-US" b="1" dirty="0"/>
                  <a:t>Practical Constraints</a:t>
                </a:r>
                <a:r>
                  <a:rPr lang="en-US" dirty="0"/>
                  <a:t>: Real-world auctions often involve many items and participants, making exact solutions infeasible in practice.</a:t>
                </a:r>
              </a:p>
              <a:p>
                <a:pPr marL="742950" lvl="1" indent="-285750">
                  <a:buFont typeface="Arial" panose="020B0604020202020204" pitchFamily="34" charset="0"/>
                  <a:buChar char="•"/>
                </a:pPr>
                <a:r>
                  <a:rPr lang="en-US" b="1" dirty="0"/>
                  <a:t>Need for Efficient Algorithms</a:t>
                </a:r>
                <a:r>
                  <a:rPr lang="en-US" dirty="0"/>
                  <a:t>: The challenges emphasize the necessity for:</a:t>
                </a:r>
              </a:p>
              <a:p>
                <a:pPr marL="1143000" lvl="2" indent="-228600">
                  <a:buFont typeface="Arial" panose="020B0604020202020204" pitchFamily="34" charset="0"/>
                  <a:buChar char="•"/>
                </a:pPr>
                <a:r>
                  <a:rPr lang="en-US" b="1" dirty="0"/>
                  <a:t>Approximation Algorithms</a:t>
                </a:r>
                <a:r>
                  <a:rPr lang="en-US" dirty="0"/>
                  <a:t>: Methods that can find near-optimal solutions within a reasonable time frame.</a:t>
                </a:r>
              </a:p>
              <a:p>
                <a:pPr marL="1143000" lvl="2" indent="-228600">
                  <a:buFont typeface="Arial" panose="020B0604020202020204" pitchFamily="34" charset="0"/>
                  <a:buChar char="•"/>
                </a:pPr>
                <a:r>
                  <a:rPr lang="en-US" b="1" dirty="0"/>
                  <a:t>Heuristic Approaches</a:t>
                </a:r>
                <a:r>
                  <a:rPr lang="en-US" dirty="0"/>
                  <a:t>: Algorithms that use rules of thumb to generate satisfactory solutions without guaranteeing optimality.</a:t>
                </a:r>
              </a:p>
              <a:p>
                <a:pPr marL="228600" indent="-228600">
                  <a:buFont typeface="+mj-lt"/>
                  <a:buAutoNum type="arabicPeriod"/>
                </a:pPr>
                <a:r>
                  <a:rPr lang="en-US" b="1" dirty="0"/>
                  <a:t>Summary</a:t>
                </a:r>
                <a:r>
                  <a:rPr lang="en-US" dirty="0"/>
                  <a:t>:</a:t>
                </a:r>
              </a:p>
              <a:p>
                <a:pPr marL="742950" lvl="1" indent="-285750">
                  <a:buFont typeface="Arial" panose="020B0604020202020204" pitchFamily="34" charset="0"/>
                  <a:buChar char="•"/>
                </a:pPr>
                <a:r>
                  <a:rPr lang="en-US" dirty="0"/>
                  <a:t>The challenges of winner determination highlight the complexities involved in auction mechanisms. Understanding these issues is crucial for developing strategies that enhance auction efficiency and fairness. Addressing these challenges through innovative algorithms and techniques can lead to improved resource allocation in various sectors, including public procurement, combinatorial auctions, and digital marketplaces.</a:t>
                </a:r>
              </a:p>
              <a:p>
                <a:endParaRPr dirty="0"/>
              </a:p>
            </p:txBody>
          </p:sp>
        </mc:Fallback>
      </mc:AlternateContent>
    </p:spTree>
    <p:extLst>
      <p:ext uri="{BB962C8B-B14F-4D97-AF65-F5344CB8AC3E}">
        <p14:creationId xmlns:p14="http://schemas.microsoft.com/office/powerpoint/2010/main" val="40079678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atomic bids as the building blocks for more complex bidding languages. It defines atomic bids and explains the condition for a bundle to satisfy a bid.</a:t>
                </a:r>
              </a:p>
              <a:p>
                <a:endParaRPr lang="en-US" b="0" i="0" dirty="0">
                  <a:solidFill>
                    <a:srgbClr val="E8E8E8"/>
                  </a:solidFill>
                  <a:effectLst/>
                  <a:latin typeface="Google Sans Text"/>
                </a:endParaRPr>
              </a:p>
              <a:p>
                <a:pPr marL="228600" indent="-228600">
                  <a:buFont typeface="+mj-lt"/>
                  <a:buAutoNum type="arabicPeriod"/>
                </a:pPr>
                <a:r>
                  <a:rPr lang="en-US" b="1" dirty="0"/>
                  <a:t>Definition of Atomic Bid</a:t>
                </a:r>
                <a:r>
                  <a:rPr lang="en-US" dirty="0"/>
                  <a:t>:</a:t>
                </a:r>
              </a:p>
              <a:p>
                <a:pPr marL="742950" lvl="1" indent="-285750">
                  <a:buFont typeface="Arial" panose="020B0604020202020204" pitchFamily="34" charset="0"/>
                  <a:buChar char="•"/>
                </a:pPr>
                <a:r>
                  <a:rPr lang="en-US" dirty="0"/>
                  <a:t>An </a:t>
                </a:r>
                <a:r>
                  <a:rPr lang="en-US" b="1" dirty="0"/>
                  <a:t>atomic bid</a:t>
                </a:r>
                <a:r>
                  <a:rPr lang="en-US" dirty="0"/>
                  <a:t> is a basic unit of bidding in combinatorial auctions that encapsulates a specific offer for a defined set of goods.</a:t>
                </a:r>
              </a:p>
              <a:p>
                <a:pPr marL="742950" lvl="1" indent="-285750">
                  <a:buFont typeface="Arial" panose="020B0604020202020204" pitchFamily="34" charset="0"/>
                  <a:buChar char="•"/>
                </a:pPr>
                <a:r>
                  <a:rPr lang="en-US" dirty="0"/>
                  <a:t>It is represented as: </a:t>
                </a:r>
                <a14:m>
                  <m:oMath xmlns:m="http://schemas.openxmlformats.org/officeDocument/2006/math">
                    <m:r>
                      <a:rPr lang="en-US" sz="1200" i="1" spc="10" dirty="0" smtClean="0">
                        <a:latin typeface="Cambria Math" panose="02040503050406030204" pitchFamily="18" charset="0"/>
                        <a:cs typeface="Tahoma"/>
                      </a:rPr>
                      <m:t>𝛽</m:t>
                    </m:r>
                    <m:r>
                      <a:rPr lang="en-US" sz="1200" i="1" spc="10" dirty="0" smtClean="0">
                        <a:latin typeface="Cambria Math" panose="02040503050406030204" pitchFamily="18" charset="0"/>
                        <a:cs typeface="Tahoma"/>
                      </a:rPr>
                      <m:t> = (</m:t>
                    </m:r>
                    <m:r>
                      <a:rPr lang="en-US" sz="1200" i="1" spc="10" dirty="0" smtClean="0">
                        <a:latin typeface="Cambria Math" panose="02040503050406030204" pitchFamily="18" charset="0"/>
                        <a:cs typeface="Tahoma"/>
                      </a:rPr>
                      <m:t>𝑍</m:t>
                    </m:r>
                    <m:r>
                      <a:rPr lang="en-US" sz="1200" i="1" spc="10" dirty="0" smtClean="0">
                        <a:latin typeface="Cambria Math" panose="02040503050406030204" pitchFamily="18" charset="0"/>
                        <a:cs typeface="Tahoma"/>
                      </a:rPr>
                      <m:t>, </m:t>
                    </m:r>
                    <m:r>
                      <a:rPr lang="en-US" sz="1200" i="1" spc="10" dirty="0" smtClean="0">
                        <a:latin typeface="Cambria Math" panose="02040503050406030204" pitchFamily="18" charset="0"/>
                        <a:cs typeface="Tahoma"/>
                      </a:rPr>
                      <m:t>𝑝</m:t>
                    </m:r>
                    <m:r>
                      <a:rPr lang="en-US" sz="1200" i="1" spc="10" dirty="0" smtClean="0">
                        <a:latin typeface="Cambria Math" panose="02040503050406030204" pitchFamily="18" charset="0"/>
                        <a:cs typeface="Tahoma"/>
                      </a:rPr>
                      <m:t>), </m:t>
                    </m:r>
                  </m:oMath>
                </a14:m>
                <a:r>
                  <a:rPr lang="en-US" dirty="0"/>
                  <a:t>where:</a:t>
                </a:r>
              </a:p>
              <a:p>
                <a:pPr marL="1143000" lvl="2" indent="-22860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𝑍</m:t>
                    </m:r>
                  </m:oMath>
                </a14:m>
                <a:r>
                  <a:rPr lang="en-US" dirty="0"/>
                  <a:t> is a set of items that the bidder is interested in acquiring.</a:t>
                </a:r>
              </a:p>
              <a:p>
                <a:pPr marL="1143000" lvl="2" indent="-22860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𝑝</m:t>
                    </m:r>
                  </m:oMath>
                </a14:m>
                <a:r>
                  <a:rPr lang="en-US" dirty="0"/>
                  <a:t> is the price the bidder is willing to pay for the entire set </a:t>
                </a:r>
                <a14:m>
                  <m:oMath xmlns:m="http://schemas.openxmlformats.org/officeDocument/2006/math">
                    <m:r>
                      <a:rPr lang="en-US" i="1" dirty="0" smtClean="0">
                        <a:latin typeface="Cambria Math" panose="02040503050406030204" pitchFamily="18" charset="0"/>
                      </a:rPr>
                      <m:t>𝑍</m:t>
                    </m:r>
                  </m:oMath>
                </a14:m>
                <a:r>
                  <a:rPr lang="en-US" dirty="0"/>
                  <a:t>.</a:t>
                </a:r>
              </a:p>
              <a:p>
                <a:pPr marL="228600" indent="-228600">
                  <a:buFont typeface="+mj-lt"/>
                  <a:buAutoNum type="arabicPeriod"/>
                </a:pPr>
                <a:r>
                  <a:rPr lang="en-US" b="1" dirty="0"/>
                  <a:t>Key Characteristics</a:t>
                </a:r>
                <a:r>
                  <a:rPr lang="en-US" dirty="0"/>
                  <a:t>:</a:t>
                </a:r>
              </a:p>
              <a:p>
                <a:pPr marL="742950" lvl="1" indent="-285750">
                  <a:buFont typeface="Arial" panose="020B0604020202020204" pitchFamily="34" charset="0"/>
                  <a:buChar char="•"/>
                </a:pPr>
                <a:r>
                  <a:rPr lang="en-US" b="1" dirty="0"/>
                  <a:t>Specificity</a:t>
                </a:r>
                <a:r>
                  <a:rPr lang="en-US" dirty="0"/>
                  <a:t>: Each atomic bid focuses on a particular combination of items, allowing bidders to express their preferences clearly and precisely.</a:t>
                </a:r>
              </a:p>
              <a:p>
                <a:pPr marL="742950" lvl="1" indent="-285750">
                  <a:buFont typeface="Arial" panose="020B0604020202020204" pitchFamily="34" charset="0"/>
                  <a:buChar char="•"/>
                </a:pPr>
                <a:r>
                  <a:rPr lang="en-US" b="1" dirty="0"/>
                  <a:t>Price Sensitivity</a:t>
                </a:r>
                <a:r>
                  <a:rPr lang="en-US" dirty="0"/>
                  <a:t>: The price </a:t>
                </a:r>
                <a14:m>
                  <m:oMath xmlns:m="http://schemas.openxmlformats.org/officeDocument/2006/math">
                    <m:r>
                      <a:rPr lang="en-US" i="1" dirty="0" smtClean="0">
                        <a:latin typeface="Cambria Math" panose="02040503050406030204" pitchFamily="18" charset="0"/>
                      </a:rPr>
                      <m:t>𝑝</m:t>
                    </m:r>
                  </m:oMath>
                </a14:m>
                <a:r>
                  <a:rPr lang="en-US" dirty="0"/>
                  <a:t> reflects the bidder's valuation of the bundle </a:t>
                </a:r>
                <a14:m>
                  <m:oMath xmlns:m="http://schemas.openxmlformats.org/officeDocument/2006/math">
                    <m:r>
                      <a:rPr lang="en-US" i="1" dirty="0" smtClean="0">
                        <a:latin typeface="Cambria Math" panose="02040503050406030204" pitchFamily="18" charset="0"/>
                      </a:rPr>
                      <m:t>𝑍</m:t>
                    </m:r>
                  </m:oMath>
                </a14:m>
                <a:r>
                  <a:rPr lang="en-US" dirty="0"/>
                  <a:t>, which is critical for determining the competitiveness of the bid in the auction.</a:t>
                </a:r>
              </a:p>
              <a:p>
                <a:pPr marL="228600" indent="-228600">
                  <a:buFont typeface="+mj-lt"/>
                  <a:buAutoNum type="arabicPeriod"/>
                </a:pPr>
                <a:r>
                  <a:rPr lang="en-US" b="1" dirty="0"/>
                  <a:t>Satisfaction of Atomic Bids</a:t>
                </a:r>
                <a:r>
                  <a:rPr lang="en-US" dirty="0"/>
                  <a:t>:</a:t>
                </a:r>
              </a:p>
              <a:p>
                <a:pPr marL="628650" lvl="1" indent="-171450">
                  <a:buFont typeface="Arial" panose="020B0604020202020204" pitchFamily="34" charset="0"/>
                  <a:buChar char="•"/>
                </a:pPr>
                <a:r>
                  <a:rPr lang="en-US" dirty="0"/>
                  <a:t>A bundle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is said to </a:t>
                </a:r>
                <a:r>
                  <a:rPr lang="en-US" b="1" dirty="0"/>
                  <a:t>satisfy</a:t>
                </a:r>
                <a:r>
                  <a:rPr lang="en-US" dirty="0"/>
                  <a:t> an atomic bid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𝑍</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 </m:t>
                    </m:r>
                  </m:oMath>
                </a14:m>
                <a:r>
                  <a:rPr lang="en-US" dirty="0"/>
                  <a:t>if: </a:t>
                </a:r>
                <a14:m>
                  <m:oMath xmlns:m="http://schemas.openxmlformats.org/officeDocument/2006/math">
                    <m:r>
                      <a:rPr lang="en-US" sz="1200" i="1" spc="10" dirty="0" smtClean="0">
                        <a:latin typeface="Cambria Math" panose="02040503050406030204" pitchFamily="18" charset="0"/>
                        <a:cs typeface="Tahoma"/>
                      </a:rPr>
                      <m:t>𝑍</m:t>
                    </m:r>
                    <m:r>
                      <a:rPr lang="en-US" sz="1200" i="1" spc="10" dirty="0" smtClean="0">
                        <a:latin typeface="Cambria Math" panose="02040503050406030204" pitchFamily="18" charset="0"/>
                        <a:cs typeface="Tahoma"/>
                      </a:rPr>
                      <m:t> ⊆ </m:t>
                    </m:r>
                    <m:r>
                      <a:rPr lang="en-US" sz="1200" i="1" spc="10" dirty="0" smtClean="0">
                        <a:latin typeface="Cambria Math" panose="02040503050406030204" pitchFamily="18" charset="0"/>
                        <a:cs typeface="Tahoma"/>
                      </a:rPr>
                      <m:t>𝑍</m:t>
                    </m:r>
                    <m:r>
                      <a:rPr lang="en-US" sz="1200" i="1" spc="10" dirty="0" smtClean="0">
                        <a:latin typeface="Cambria Math" panose="02040503050406030204" pitchFamily="18" charset="0"/>
                        <a:cs typeface="Tahoma"/>
                      </a:rPr>
                      <m:t>′</m:t>
                    </m:r>
                  </m:oMath>
                </a14:m>
                <a:r>
                  <a:rPr lang="en-US" sz="1200" spc="10" dirty="0">
                    <a:latin typeface="Tahoma"/>
                    <a:cs typeface="Tahoma"/>
                  </a:rPr>
                  <a:t>, </a:t>
                </a:r>
                <a:r>
                  <a:rPr lang="en-US" dirty="0"/>
                  <a:t>This means that the bundle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must contain all items specified in the original bid </a:t>
                </a:r>
                <a14:m>
                  <m:oMath xmlns:m="http://schemas.openxmlformats.org/officeDocument/2006/math">
                    <m:r>
                      <a:rPr lang="en-US" i="1" dirty="0" smtClean="0">
                        <a:latin typeface="Cambria Math" panose="02040503050406030204" pitchFamily="18" charset="0"/>
                      </a:rPr>
                      <m:t>𝑍</m:t>
                    </m:r>
                  </m:oMath>
                </a14:m>
                <a:r>
                  <a:rPr lang="en-US" dirty="0"/>
                  <a:t>, fulfilling the bid's requirements.</a:t>
                </a:r>
              </a:p>
              <a:p>
                <a:pPr marL="628650" lvl="1" indent="-171450">
                  <a:buFont typeface="Arial" panose="020B0604020202020204" pitchFamily="34" charset="0"/>
                  <a:buChar char="•"/>
                </a:pPr>
                <a:r>
                  <a:rPr lang="en-US" b="1" dirty="0"/>
                  <a:t>Implications</a:t>
                </a:r>
                <a:r>
                  <a:rPr lang="en-US" dirty="0"/>
                  <a:t>:</a:t>
                </a:r>
              </a:p>
              <a:p>
                <a:pPr marL="1085850" lvl="2" indent="-171450">
                  <a:buFont typeface="Arial" panose="020B0604020202020204" pitchFamily="34" charset="0"/>
                  <a:buChar char="•"/>
                </a:pPr>
                <a:r>
                  <a:rPr lang="en-US" b="1" dirty="0"/>
                  <a:t>Inclusion Requirement</a:t>
                </a:r>
                <a:r>
                  <a:rPr lang="en-US" dirty="0"/>
                  <a:t>: For a bidder to win with an atomic bid, the winning bundle must at least contain the items they originally expressed interest in.</a:t>
                </a:r>
              </a:p>
              <a:p>
                <a:pPr marL="1085850" lvl="2" indent="-171450">
                  <a:buFont typeface="Arial" panose="020B0604020202020204" pitchFamily="34" charset="0"/>
                  <a:buChar char="•"/>
                </a:pPr>
                <a:r>
                  <a:rPr lang="en-US" b="1" dirty="0"/>
                  <a:t>Winning Condition</a:t>
                </a:r>
                <a:r>
                  <a:rPr lang="en-US" dirty="0"/>
                  <a:t>: If the auctioneer allocates a bundle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to a bidder whose atomic bid is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𝑍</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m:t>
                    </m:r>
                  </m:oMath>
                </a14:m>
                <a:r>
                  <a:rPr lang="en-US" dirty="0"/>
                  <a:t>, the auctioneer must ensure that the price of the bundle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 </m:t>
                    </m:r>
                  </m:oMath>
                </a14:m>
                <a:r>
                  <a:rPr lang="en-US" dirty="0"/>
                  <a:t>does not exceed the bidder's stated price </a:t>
                </a:r>
                <a14:m>
                  <m:oMath xmlns:m="http://schemas.openxmlformats.org/officeDocument/2006/math">
                    <m:r>
                      <a:rPr lang="en-US" i="1" dirty="0" smtClean="0">
                        <a:latin typeface="Cambria Math" panose="02040503050406030204" pitchFamily="18" charset="0"/>
                      </a:rPr>
                      <m:t>𝑝</m:t>
                    </m:r>
                  </m:oMath>
                </a14:m>
                <a:r>
                  <a:rPr lang="en-US" dirty="0"/>
                  <a:t>.</a:t>
                </a:r>
              </a:p>
              <a:p>
                <a:pPr marL="228600" indent="-228600">
                  <a:buFont typeface="+mj-lt"/>
                  <a:buAutoNum type="arabicPeriod"/>
                </a:pPr>
                <a:r>
                  <a:rPr lang="en-US" b="1" dirty="0"/>
                  <a:t>Practical Application</a:t>
                </a:r>
                <a:r>
                  <a:rPr lang="en-US" dirty="0"/>
                  <a:t>:</a:t>
                </a:r>
              </a:p>
              <a:p>
                <a:pPr marL="628650" lvl="1" indent="-171450">
                  <a:buFont typeface="Arial" panose="020B0604020202020204" pitchFamily="34" charset="0"/>
                  <a:buChar char="•"/>
                </a:pPr>
                <a:r>
                  <a:rPr lang="en-US" dirty="0"/>
                  <a:t>Atomic bids allow for </a:t>
                </a:r>
                <a:r>
                  <a:rPr lang="en-US" b="1" dirty="0"/>
                  <a:t>flexibility</a:t>
                </a:r>
                <a:r>
                  <a:rPr lang="en-US" dirty="0"/>
                  <a:t> in bidding, enabling participants to compete for specific combinations of goods, which is especially useful in complex auctions involving diverse items.</a:t>
                </a:r>
              </a:p>
              <a:p>
                <a:pPr marL="628650" lvl="1" indent="-171450">
                  <a:buFont typeface="Arial" panose="020B0604020202020204" pitchFamily="34" charset="0"/>
                  <a:buChar char="•"/>
                </a:pPr>
                <a:r>
                  <a:rPr lang="en-US" dirty="0"/>
                  <a:t>They simplify the </a:t>
                </a:r>
                <a:r>
                  <a:rPr lang="en-US" b="1" dirty="0"/>
                  <a:t>decision-making process</a:t>
                </a:r>
                <a:r>
                  <a:rPr lang="en-US" dirty="0"/>
                  <a:t> for both bidders and auctioneers by clearly delineating what is being offered and the associated price.</a:t>
                </a:r>
              </a:p>
              <a:p>
                <a:pPr marL="628650" lvl="1" indent="-171450">
                  <a:buFont typeface="Arial" panose="020B0604020202020204" pitchFamily="34" charset="0"/>
                  <a:buChar char="•"/>
                </a:pPr>
                <a:r>
                  <a:rPr lang="en-US" b="1" dirty="0"/>
                  <a:t>Use Cases</a:t>
                </a:r>
                <a:r>
                  <a:rPr lang="en-US" dirty="0"/>
                  <a:t>: Common in scenarios where items have interdependencies or synergies (e.g., selling property lots, bundles of goods, or services).</a:t>
                </a:r>
              </a:p>
              <a:p>
                <a:pPr marL="228600" indent="-228600">
                  <a:buFont typeface="+mj-lt"/>
                  <a:buAutoNum type="arabicPeriod"/>
                </a:pPr>
                <a:r>
                  <a:rPr lang="en-US" b="1" dirty="0"/>
                  <a:t>Advantages</a:t>
                </a:r>
                <a:r>
                  <a:rPr lang="en-US" dirty="0"/>
                  <a:t>:</a:t>
                </a:r>
              </a:p>
              <a:p>
                <a:pPr marL="628650" lvl="1" indent="-171450">
                  <a:buFont typeface="Arial" panose="020B0604020202020204" pitchFamily="34" charset="0"/>
                  <a:buChar char="•"/>
                </a:pPr>
                <a:r>
                  <a:rPr lang="en-US" b="1" dirty="0"/>
                  <a:t>Enhanced Bidding Precision</a:t>
                </a:r>
                <a:r>
                  <a:rPr lang="en-US" dirty="0"/>
                  <a:t>: Bidders can articulate their desires for particular combinations, rather than being constrained to bidding for items individually or in non-specific bundles.</a:t>
                </a:r>
              </a:p>
              <a:p>
                <a:pPr marL="628650" lvl="1" indent="-171450">
                  <a:buFont typeface="Arial" panose="020B0604020202020204" pitchFamily="34" charset="0"/>
                  <a:buChar char="•"/>
                </a:pPr>
                <a:r>
                  <a:rPr lang="en-US" b="1" dirty="0"/>
                  <a:t>Market Efficiency</a:t>
                </a:r>
                <a:r>
                  <a:rPr lang="en-US" dirty="0"/>
                  <a:t>: By allowing bidders to express their valuations for specific combinations, atomic bids contribute to a more efficient allocation of resources in combinatorial auctions.</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Atomic bids serve as a foundational element in combinatorial auction formats, providing a structured way for bidders to participate while maximizing their chances of obtaining desired items at acceptable prices. Understanding this bidding language is essential for both bidders and auction designers in fostering effective auction dynamics.</a:t>
                </a:r>
                <a:br>
                  <a:rPr lang="en-US" dirty="0"/>
                </a:br>
                <a:endParaRPr lang="en-US"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atomic bids as the building blocks for more complex bidding languages. It defines atomic bids and explains the condition for a bundle to satisfy a bid.</a:t>
                </a:r>
              </a:p>
              <a:p>
                <a:endParaRPr lang="en-US" b="0" i="0" dirty="0">
                  <a:solidFill>
                    <a:srgbClr val="E8E8E8"/>
                  </a:solidFill>
                  <a:effectLst/>
                  <a:latin typeface="Google Sans Text"/>
                </a:endParaRPr>
              </a:p>
              <a:p>
                <a:pPr marL="228600" indent="-228600">
                  <a:buFont typeface="+mj-lt"/>
                  <a:buAutoNum type="arabicPeriod"/>
                </a:pPr>
                <a:r>
                  <a:rPr lang="en-US" b="1" dirty="0"/>
                  <a:t>Definition of Atomic Bid</a:t>
                </a:r>
                <a:r>
                  <a:rPr lang="en-US" dirty="0"/>
                  <a:t>:</a:t>
                </a:r>
              </a:p>
              <a:p>
                <a:pPr marL="742950" lvl="1" indent="-285750">
                  <a:buFont typeface="Arial" panose="020B0604020202020204" pitchFamily="34" charset="0"/>
                  <a:buChar char="•"/>
                </a:pPr>
                <a:r>
                  <a:rPr lang="en-US" dirty="0"/>
                  <a:t>An </a:t>
                </a:r>
                <a:r>
                  <a:rPr lang="en-US" b="1" dirty="0"/>
                  <a:t>atomic bid</a:t>
                </a:r>
                <a:r>
                  <a:rPr lang="en-US" dirty="0"/>
                  <a:t> is a basic unit of bidding in combinatorial auctions that encapsulates a specific offer for a defined set of goods.</a:t>
                </a:r>
              </a:p>
              <a:p>
                <a:pPr marL="742950" lvl="1" indent="-285750">
                  <a:buFont typeface="Arial" panose="020B0604020202020204" pitchFamily="34" charset="0"/>
                  <a:buChar char="•"/>
                </a:pPr>
                <a:r>
                  <a:rPr lang="en-US" dirty="0"/>
                  <a:t>It is represented as: </a:t>
                </a:r>
                <a:r>
                  <a:rPr lang="en-US" sz="1200" i="0" spc="10" dirty="0">
                    <a:latin typeface="Cambria Math" panose="02040503050406030204" pitchFamily="18" charset="0"/>
                    <a:cs typeface="Tahoma"/>
                  </a:rPr>
                  <a:t>𝛽 = (𝑍, 𝑝), </a:t>
                </a:r>
                <a:r>
                  <a:rPr lang="en-US" dirty="0"/>
                  <a:t>where:</a:t>
                </a:r>
              </a:p>
              <a:p>
                <a:pPr marL="1143000" lvl="2" indent="-228600">
                  <a:buFont typeface="Arial" panose="020B0604020202020204" pitchFamily="34" charset="0"/>
                  <a:buChar char="•"/>
                </a:pPr>
                <a:r>
                  <a:rPr lang="en-US" i="0" dirty="0">
                    <a:latin typeface="Cambria Math" panose="02040503050406030204" pitchFamily="18" charset="0"/>
                  </a:rPr>
                  <a:t>𝑍</a:t>
                </a:r>
                <a:r>
                  <a:rPr lang="en-US" dirty="0"/>
                  <a:t> is a set of items that the bidder is interested in acquiring.</a:t>
                </a:r>
              </a:p>
              <a:p>
                <a:pPr marL="1143000" lvl="2" indent="-228600">
                  <a:buFont typeface="Arial" panose="020B0604020202020204" pitchFamily="34" charset="0"/>
                  <a:buChar char="•"/>
                </a:pPr>
                <a:r>
                  <a:rPr lang="en-US" i="0" dirty="0">
                    <a:latin typeface="Cambria Math" panose="02040503050406030204" pitchFamily="18" charset="0"/>
                  </a:rPr>
                  <a:t>𝑝</a:t>
                </a:r>
                <a:r>
                  <a:rPr lang="en-US" dirty="0"/>
                  <a:t> is the price the bidder is willing to pay for the entire set </a:t>
                </a:r>
                <a:r>
                  <a:rPr lang="en-US" i="0" dirty="0">
                    <a:latin typeface="Cambria Math" panose="02040503050406030204" pitchFamily="18" charset="0"/>
                  </a:rPr>
                  <a:t>𝑍</a:t>
                </a:r>
                <a:r>
                  <a:rPr lang="en-US" dirty="0"/>
                  <a:t>.</a:t>
                </a:r>
              </a:p>
              <a:p>
                <a:pPr marL="228600" indent="-228600">
                  <a:buFont typeface="+mj-lt"/>
                  <a:buAutoNum type="arabicPeriod"/>
                </a:pPr>
                <a:r>
                  <a:rPr lang="en-US" b="1" dirty="0"/>
                  <a:t>Key Characteristics</a:t>
                </a:r>
                <a:r>
                  <a:rPr lang="en-US" dirty="0"/>
                  <a:t>:</a:t>
                </a:r>
              </a:p>
              <a:p>
                <a:pPr marL="742950" lvl="1" indent="-285750">
                  <a:buFont typeface="Arial" panose="020B0604020202020204" pitchFamily="34" charset="0"/>
                  <a:buChar char="•"/>
                </a:pPr>
                <a:r>
                  <a:rPr lang="en-US" b="1" dirty="0"/>
                  <a:t>Specificity</a:t>
                </a:r>
                <a:r>
                  <a:rPr lang="en-US" dirty="0"/>
                  <a:t>: Each atomic bid focuses on a particular combination of items, allowing bidders to express their preferences clearly and precisely.</a:t>
                </a:r>
              </a:p>
              <a:p>
                <a:pPr marL="742950" lvl="1" indent="-285750">
                  <a:buFont typeface="Arial" panose="020B0604020202020204" pitchFamily="34" charset="0"/>
                  <a:buChar char="•"/>
                </a:pPr>
                <a:r>
                  <a:rPr lang="en-US" b="1" dirty="0"/>
                  <a:t>Price Sensitivity</a:t>
                </a:r>
                <a:r>
                  <a:rPr lang="en-US" dirty="0"/>
                  <a:t>: The price </a:t>
                </a:r>
                <a:r>
                  <a:rPr lang="en-US" i="0" dirty="0">
                    <a:latin typeface="Cambria Math" panose="02040503050406030204" pitchFamily="18" charset="0"/>
                  </a:rPr>
                  <a:t>𝑝</a:t>
                </a:r>
                <a:r>
                  <a:rPr lang="en-US" dirty="0"/>
                  <a:t> reflects the bidder's valuation of the bundle </a:t>
                </a:r>
                <a:r>
                  <a:rPr lang="en-US" i="0" dirty="0">
                    <a:latin typeface="Cambria Math" panose="02040503050406030204" pitchFamily="18" charset="0"/>
                  </a:rPr>
                  <a:t>𝑍</a:t>
                </a:r>
                <a:r>
                  <a:rPr lang="en-US" dirty="0"/>
                  <a:t>, which is critical for determining the competitiveness of the bid in the auction.</a:t>
                </a:r>
              </a:p>
              <a:p>
                <a:pPr marL="228600" indent="-228600">
                  <a:buFont typeface="+mj-lt"/>
                  <a:buAutoNum type="arabicPeriod"/>
                </a:pPr>
                <a:r>
                  <a:rPr lang="en-US" b="1" dirty="0"/>
                  <a:t>Satisfaction of Atomic Bids</a:t>
                </a:r>
                <a:r>
                  <a:rPr lang="en-US" dirty="0"/>
                  <a:t>:</a:t>
                </a:r>
              </a:p>
              <a:p>
                <a:pPr marL="628650" lvl="1" indent="-171450">
                  <a:buFont typeface="Arial" panose="020B0604020202020204" pitchFamily="34" charset="0"/>
                  <a:buChar char="•"/>
                </a:pPr>
                <a:r>
                  <a:rPr lang="en-US" dirty="0"/>
                  <a:t>A bundle </a:t>
                </a:r>
                <a:r>
                  <a:rPr lang="en-US" i="0" dirty="0">
                    <a:latin typeface="Cambria Math" panose="02040503050406030204" pitchFamily="18" charset="0"/>
                  </a:rPr>
                  <a:t>𝑍′ </a:t>
                </a:r>
                <a:r>
                  <a:rPr lang="en-US" dirty="0"/>
                  <a:t>is said to </a:t>
                </a:r>
                <a:r>
                  <a:rPr lang="en-US" b="1" dirty="0"/>
                  <a:t>satisfy</a:t>
                </a:r>
                <a:r>
                  <a:rPr lang="en-US" dirty="0"/>
                  <a:t> an atomic bid </a:t>
                </a:r>
                <a:r>
                  <a:rPr lang="en-US" i="0" dirty="0">
                    <a:latin typeface="Cambria Math" panose="02040503050406030204" pitchFamily="18" charset="0"/>
                  </a:rPr>
                  <a:t>(𝑍, 𝑝) </a:t>
                </a:r>
                <a:r>
                  <a:rPr lang="en-US" dirty="0"/>
                  <a:t>if: </a:t>
                </a:r>
                <a:r>
                  <a:rPr lang="en-US" sz="1200" i="0" spc="10" dirty="0">
                    <a:latin typeface="Cambria Math" panose="02040503050406030204" pitchFamily="18" charset="0"/>
                    <a:cs typeface="Tahoma"/>
                  </a:rPr>
                  <a:t>𝑍 ⊆ 𝑍′</a:t>
                </a:r>
                <a:r>
                  <a:rPr lang="en-US" sz="1200" spc="10" dirty="0">
                    <a:latin typeface="Tahoma"/>
                    <a:cs typeface="Tahoma"/>
                  </a:rPr>
                  <a:t>, </a:t>
                </a:r>
                <a:r>
                  <a:rPr lang="en-US" dirty="0"/>
                  <a:t>This means that the bundle </a:t>
                </a:r>
                <a:r>
                  <a:rPr lang="en-US" i="0" dirty="0">
                    <a:latin typeface="Cambria Math" panose="02040503050406030204" pitchFamily="18" charset="0"/>
                  </a:rPr>
                  <a:t>𝑍′ </a:t>
                </a:r>
                <a:r>
                  <a:rPr lang="en-US" dirty="0"/>
                  <a:t>must contain all items specified in the original bid </a:t>
                </a:r>
                <a:r>
                  <a:rPr lang="en-US" i="0" dirty="0">
                    <a:latin typeface="Cambria Math" panose="02040503050406030204" pitchFamily="18" charset="0"/>
                  </a:rPr>
                  <a:t>𝑍</a:t>
                </a:r>
                <a:r>
                  <a:rPr lang="en-US" dirty="0"/>
                  <a:t>, fulfilling the bid's requirements.</a:t>
                </a:r>
              </a:p>
              <a:p>
                <a:pPr marL="628650" lvl="1" indent="-171450">
                  <a:buFont typeface="Arial" panose="020B0604020202020204" pitchFamily="34" charset="0"/>
                  <a:buChar char="•"/>
                </a:pPr>
                <a:r>
                  <a:rPr lang="en-US" b="1" dirty="0"/>
                  <a:t>Implications</a:t>
                </a:r>
                <a:r>
                  <a:rPr lang="en-US" dirty="0"/>
                  <a:t>:</a:t>
                </a:r>
              </a:p>
              <a:p>
                <a:pPr marL="1085850" lvl="2" indent="-171450">
                  <a:buFont typeface="Arial" panose="020B0604020202020204" pitchFamily="34" charset="0"/>
                  <a:buChar char="•"/>
                </a:pPr>
                <a:r>
                  <a:rPr lang="en-US" b="1" dirty="0"/>
                  <a:t>Inclusion Requirement</a:t>
                </a:r>
                <a:r>
                  <a:rPr lang="en-US" dirty="0"/>
                  <a:t>: For a bidder to win with an atomic bid, the winning bundle must at least contain the items they originally expressed interest in.</a:t>
                </a:r>
              </a:p>
              <a:p>
                <a:pPr marL="1085850" lvl="2" indent="-171450">
                  <a:buFont typeface="Arial" panose="020B0604020202020204" pitchFamily="34" charset="0"/>
                  <a:buChar char="•"/>
                </a:pPr>
                <a:r>
                  <a:rPr lang="en-US" b="1" dirty="0"/>
                  <a:t>Winning Condition</a:t>
                </a:r>
                <a:r>
                  <a:rPr lang="en-US" dirty="0"/>
                  <a:t>: If the auctioneer allocates a bundle </a:t>
                </a:r>
                <a:r>
                  <a:rPr lang="en-US" i="0" dirty="0">
                    <a:latin typeface="Cambria Math" panose="02040503050406030204" pitchFamily="18" charset="0"/>
                  </a:rPr>
                  <a:t>𝑍′ </a:t>
                </a:r>
                <a:r>
                  <a:rPr lang="en-US" dirty="0"/>
                  <a:t>to a bidder whose atomic bid is </a:t>
                </a:r>
                <a:r>
                  <a:rPr lang="en-US" i="0" dirty="0">
                    <a:latin typeface="Cambria Math" panose="02040503050406030204" pitchFamily="18" charset="0"/>
                  </a:rPr>
                  <a:t>(𝑍, 𝑝)</a:t>
                </a:r>
                <a:r>
                  <a:rPr lang="en-US" dirty="0"/>
                  <a:t>, the auctioneer must ensure that the price of the bundle </a:t>
                </a:r>
                <a:r>
                  <a:rPr lang="en-US" i="0" dirty="0">
                    <a:latin typeface="Cambria Math" panose="02040503050406030204" pitchFamily="18" charset="0"/>
                  </a:rPr>
                  <a:t>𝑍′ </a:t>
                </a:r>
                <a:r>
                  <a:rPr lang="en-US" dirty="0"/>
                  <a:t>does not exceed the bidder's stated price </a:t>
                </a:r>
                <a:r>
                  <a:rPr lang="en-US" i="0" dirty="0">
                    <a:latin typeface="Cambria Math" panose="02040503050406030204" pitchFamily="18" charset="0"/>
                  </a:rPr>
                  <a:t>𝑝</a:t>
                </a:r>
                <a:r>
                  <a:rPr lang="en-US" dirty="0"/>
                  <a:t>.</a:t>
                </a:r>
              </a:p>
              <a:p>
                <a:pPr marL="228600" indent="-228600">
                  <a:buFont typeface="+mj-lt"/>
                  <a:buAutoNum type="arabicPeriod"/>
                </a:pPr>
                <a:r>
                  <a:rPr lang="en-US" b="1" dirty="0"/>
                  <a:t>Practical Application</a:t>
                </a:r>
                <a:r>
                  <a:rPr lang="en-US" dirty="0"/>
                  <a:t>:</a:t>
                </a:r>
              </a:p>
              <a:p>
                <a:pPr marL="628650" lvl="1" indent="-171450">
                  <a:buFont typeface="Arial" panose="020B0604020202020204" pitchFamily="34" charset="0"/>
                  <a:buChar char="•"/>
                </a:pPr>
                <a:r>
                  <a:rPr lang="en-US" dirty="0"/>
                  <a:t>Atomic bids allow for </a:t>
                </a:r>
                <a:r>
                  <a:rPr lang="en-US" b="1" dirty="0"/>
                  <a:t>flexibility</a:t>
                </a:r>
                <a:r>
                  <a:rPr lang="en-US" dirty="0"/>
                  <a:t> in bidding, enabling participants to compete for specific combinations of goods, which is especially useful in complex auctions involving diverse items.</a:t>
                </a:r>
              </a:p>
              <a:p>
                <a:pPr marL="628650" lvl="1" indent="-171450">
                  <a:buFont typeface="Arial" panose="020B0604020202020204" pitchFamily="34" charset="0"/>
                  <a:buChar char="•"/>
                </a:pPr>
                <a:r>
                  <a:rPr lang="en-US" dirty="0"/>
                  <a:t>They simplify the </a:t>
                </a:r>
                <a:r>
                  <a:rPr lang="en-US" b="1" dirty="0"/>
                  <a:t>decision-making process</a:t>
                </a:r>
                <a:r>
                  <a:rPr lang="en-US" dirty="0"/>
                  <a:t> for both bidders and auctioneers by clearly delineating what is being offered and the associated price.</a:t>
                </a:r>
              </a:p>
              <a:p>
                <a:pPr marL="628650" lvl="1" indent="-171450">
                  <a:buFont typeface="Arial" panose="020B0604020202020204" pitchFamily="34" charset="0"/>
                  <a:buChar char="•"/>
                </a:pPr>
                <a:r>
                  <a:rPr lang="en-US" b="1" dirty="0"/>
                  <a:t>Use Cases</a:t>
                </a:r>
                <a:r>
                  <a:rPr lang="en-US" dirty="0"/>
                  <a:t>: Common in scenarios where items have interdependencies or synergies (e.g., selling property lots, bundles of goods, or services).</a:t>
                </a:r>
              </a:p>
              <a:p>
                <a:pPr marL="228600" indent="-228600">
                  <a:buFont typeface="+mj-lt"/>
                  <a:buAutoNum type="arabicPeriod"/>
                </a:pPr>
                <a:r>
                  <a:rPr lang="en-US" b="1" dirty="0"/>
                  <a:t>Advantages</a:t>
                </a:r>
                <a:r>
                  <a:rPr lang="en-US" dirty="0"/>
                  <a:t>:</a:t>
                </a:r>
              </a:p>
              <a:p>
                <a:pPr marL="628650" lvl="1" indent="-171450">
                  <a:buFont typeface="Arial" panose="020B0604020202020204" pitchFamily="34" charset="0"/>
                  <a:buChar char="•"/>
                </a:pPr>
                <a:r>
                  <a:rPr lang="en-US" b="1" dirty="0"/>
                  <a:t>Enhanced Bidding Precision</a:t>
                </a:r>
                <a:r>
                  <a:rPr lang="en-US" dirty="0"/>
                  <a:t>: Bidders can articulate their desires for particular combinations, rather than being constrained to bidding for items individually or in non-specific bundles.</a:t>
                </a:r>
              </a:p>
              <a:p>
                <a:pPr marL="628650" lvl="1" indent="-171450">
                  <a:buFont typeface="Arial" panose="020B0604020202020204" pitchFamily="34" charset="0"/>
                  <a:buChar char="•"/>
                </a:pPr>
                <a:r>
                  <a:rPr lang="en-US" b="1" dirty="0"/>
                  <a:t>Market Efficiency</a:t>
                </a:r>
                <a:r>
                  <a:rPr lang="en-US" dirty="0"/>
                  <a:t>: By allowing bidders to express their valuations for specific combinations, atomic bids contribute to a more efficient allocation of resources in combinatorial auctions.</a:t>
                </a:r>
              </a:p>
              <a:p>
                <a:pPr marL="228600" indent="-228600">
                  <a:buFont typeface="+mj-lt"/>
                  <a:buAutoNum type="arabicPeriod"/>
                </a:pPr>
                <a:r>
                  <a:rPr lang="en-US" b="1" dirty="0"/>
                  <a:t>Conclusion</a:t>
                </a:r>
                <a:r>
                  <a:rPr lang="en-US" dirty="0"/>
                  <a:t>:</a:t>
                </a:r>
              </a:p>
              <a:p>
                <a:pPr marL="742950" lvl="1" indent="-285750">
                  <a:buFont typeface="Arial" panose="020B0604020202020204" pitchFamily="34" charset="0"/>
                  <a:buChar char="•"/>
                </a:pPr>
                <a:r>
                  <a:rPr lang="en-US" dirty="0"/>
                  <a:t>Atomic bids serve as a foundational element in combinatorial auction formats, providing a structured way for bidders to participate while maximizing their chances of obtaining desired items at acceptable prices. Understanding this bidding language is essential for both bidders and auction designers in fostering effective auction dynamics.</a:t>
                </a:r>
                <a:br>
                  <a:rPr lang="en-US" dirty="0"/>
                </a:br>
                <a:endParaRPr lang="en-US" dirty="0"/>
              </a:p>
            </p:txBody>
          </p:sp>
        </mc:Fallback>
      </mc:AlternateContent>
    </p:spTree>
    <p:extLst>
      <p:ext uri="{BB962C8B-B14F-4D97-AF65-F5344CB8AC3E}">
        <p14:creationId xmlns:p14="http://schemas.microsoft.com/office/powerpoint/2010/main" val="31417546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points out the limitations of using only atomic bids, demonstrating that they lack the flexibility to express more intricate preferences over bundles.</a:t>
                </a:r>
              </a:p>
              <a:p>
                <a:endParaRPr lang="en-US" b="0" i="0" dirty="0">
                  <a:solidFill>
                    <a:srgbClr val="E8E8E8"/>
                  </a:solidFill>
                  <a:effectLst/>
                  <a:latin typeface="Google Sans Text"/>
                </a:endParaRPr>
              </a:p>
              <a:p>
                <a:pPr marL="228600" indent="-228600">
                  <a:buFont typeface="+mj-lt"/>
                  <a:buAutoNum type="arabicPeriod"/>
                </a:pPr>
                <a:r>
                  <a:rPr lang="en-US" b="1" dirty="0"/>
                  <a:t>Limited Expressiveness</a:t>
                </a:r>
                <a:r>
                  <a:rPr lang="en-US" dirty="0"/>
                  <a:t>:</a:t>
                </a:r>
              </a:p>
              <a:p>
                <a:pPr marL="742950" lvl="1" indent="-285750">
                  <a:buFont typeface="Arial" panose="020B0604020202020204" pitchFamily="34" charset="0"/>
                  <a:buChar char="•"/>
                </a:pPr>
                <a:r>
                  <a:rPr lang="en-US" dirty="0"/>
                  <a:t>Atomic bids, while useful, have inherent limitations in representing complex preferences and valuations.</a:t>
                </a:r>
              </a:p>
              <a:p>
                <a:pPr marL="742950" lvl="1" indent="-285750">
                  <a:buFont typeface="Arial" panose="020B0604020202020204" pitchFamily="34" charset="0"/>
                  <a:buChar char="•"/>
                </a:pPr>
                <a:r>
                  <a:rPr lang="en-US" dirty="0"/>
                  <a:t>They can only encapsulate straightforward bids for specific bundles of goods but may not capture more intricate valuation scenarios.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Example of Atomic Bid:</a:t>
                </a:r>
              </a:p>
              <a:p>
                <a:pPr marL="742950" lvl="1" indent="-285750">
                  <a:buFont typeface="Arial" panose="020B0604020202020204" pitchFamily="34" charset="0"/>
                  <a:buChar char="•"/>
                </a:pPr>
                <a:r>
                  <a:rPr lang="en-US" dirty="0"/>
                  <a:t>Consider an atomic bid represented as: </a:t>
                </a:r>
                <a14:m>
                  <m:oMath xmlns:m="http://schemas.openxmlformats.org/officeDocument/2006/math">
                    <m:r>
                      <a:rPr lang="en-US" sz="1200" i="1" spc="10" dirty="0" smtClean="0">
                        <a:latin typeface="Cambria Math" panose="02040503050406030204" pitchFamily="18" charset="0"/>
                        <a:cs typeface="Tahoma"/>
                      </a:rPr>
                      <m:t>𝛽</m:t>
                    </m:r>
                    <m:r>
                      <a:rPr lang="en-US" sz="1200" i="1" spc="10" dirty="0" smtClean="0">
                        <a:latin typeface="Cambria Math" panose="02040503050406030204" pitchFamily="18" charset="0"/>
                        <a:cs typeface="Tahoma"/>
                      </a:rPr>
                      <m:t>=({</m:t>
                    </m:r>
                    <m:r>
                      <a:rPr lang="en-US" sz="1200" i="1" spc="10" dirty="0" smtClean="0">
                        <a:latin typeface="Cambria Math" panose="02040503050406030204" pitchFamily="18" charset="0"/>
                        <a:cs typeface="Tahoma"/>
                      </a:rPr>
                      <m:t>𝑎</m:t>
                    </m:r>
                    <m:r>
                      <a:rPr lang="en-US" sz="1200" i="1" spc="10" dirty="0" smtClean="0">
                        <a:latin typeface="Cambria Math" panose="02040503050406030204" pitchFamily="18" charset="0"/>
                        <a:cs typeface="Tahoma"/>
                      </a:rPr>
                      <m:t>, </m:t>
                    </m:r>
                    <m:r>
                      <a:rPr lang="en-US" sz="1200" i="1" spc="10" dirty="0" smtClean="0">
                        <a:latin typeface="Cambria Math" panose="02040503050406030204" pitchFamily="18" charset="0"/>
                        <a:cs typeface="Tahoma"/>
                      </a:rPr>
                      <m:t>𝑏</m:t>
                    </m:r>
                    <m:r>
                      <a:rPr lang="en-US" sz="1200" i="1" spc="10" dirty="0" smtClean="0">
                        <a:latin typeface="Cambria Math" panose="02040503050406030204" pitchFamily="18" charset="0"/>
                        <a:cs typeface="Tahoma"/>
                      </a:rPr>
                      <m:t>}, 4)</m:t>
                    </m:r>
                  </m:oMath>
                </a14:m>
                <a:r>
                  <a:rPr lang="en-US" sz="1200" spc="10" dirty="0">
                    <a:latin typeface="Tahoma"/>
                    <a:cs typeface="Tahoma"/>
                  </a:rPr>
                  <a:t> </a:t>
                </a:r>
                <a:endParaRPr lang="en-US" dirty="0"/>
              </a:p>
              <a:p>
                <a:pPr marL="742950" lvl="1" indent="-285750">
                  <a:buFont typeface="Arial" panose="020B0604020202020204" pitchFamily="34" charset="0"/>
                  <a:buChar char="•"/>
                </a:pPr>
                <a:r>
                  <a:rPr lang="en-US" dirty="0"/>
                  <a:t>In this example:</a:t>
                </a:r>
              </a:p>
              <a:p>
                <a:pPr marL="1143000" lvl="2" indent="-228600">
                  <a:buFont typeface="Arial" panose="020B0604020202020204" pitchFamily="34" charset="0"/>
                  <a:buChar char="•"/>
                </a:pPr>
                <a:r>
                  <a:rPr lang="en-US" dirty="0"/>
                  <a:t>The bid </a:t>
                </a:r>
                <a14:m>
                  <m:oMath xmlns:m="http://schemas.openxmlformats.org/officeDocument/2006/math">
                    <m:r>
                      <a:rPr lang="en-US" sz="1200" i="1" spc="10" dirty="0" smtClean="0">
                        <a:latin typeface="Cambria Math" panose="02040503050406030204" pitchFamily="18" charset="0"/>
                        <a:cs typeface="Tahoma"/>
                      </a:rPr>
                      <m:t>{</m:t>
                    </m:r>
                    <m:r>
                      <a:rPr lang="en-US" sz="1200" i="1" spc="10" dirty="0" smtClean="0">
                        <a:latin typeface="Cambria Math" panose="02040503050406030204" pitchFamily="18" charset="0"/>
                        <a:cs typeface="Tahoma"/>
                      </a:rPr>
                      <m:t>𝑎</m:t>
                    </m:r>
                    <m:r>
                      <a:rPr lang="en-US" sz="1200" i="1" spc="10" dirty="0" smtClean="0">
                        <a:latin typeface="Cambria Math" panose="02040503050406030204" pitchFamily="18" charset="0"/>
                        <a:cs typeface="Tahoma"/>
                      </a:rPr>
                      <m:t>, </m:t>
                    </m:r>
                    <m:r>
                      <a:rPr lang="en-US" sz="1200" i="1" spc="10" dirty="0" smtClean="0">
                        <a:latin typeface="Cambria Math" panose="02040503050406030204" pitchFamily="18" charset="0"/>
                        <a:cs typeface="Tahoma"/>
                      </a:rPr>
                      <m:t>𝑏</m:t>
                    </m:r>
                    <m:r>
                      <a:rPr lang="en-US" sz="1200" i="1" spc="10" dirty="0" smtClean="0">
                        <a:latin typeface="Cambria Math" panose="02040503050406030204" pitchFamily="18" charset="0"/>
                        <a:cs typeface="Tahoma"/>
                      </a:rPr>
                      <m:t>}</m:t>
                    </m:r>
                  </m:oMath>
                </a14:m>
                <a:r>
                  <a:rPr lang="en-US" dirty="0"/>
                  <a:t> indicates that the bidder is willing to pay 4 for both items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a:t>
                </a:r>
              </a:p>
              <a:p>
                <a:pPr marL="1143000" lvl="2" indent="-228600">
                  <a:buFont typeface="Arial" panose="020B0604020202020204" pitchFamily="34" charset="0"/>
                  <a:buChar char="•"/>
                </a:pPr>
                <a:r>
                  <a:rPr lang="en-US" dirty="0"/>
                  <a:t>This bid is satisfied by any bundle containing both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Key Limitations:</a:t>
                </a:r>
              </a:p>
              <a:p>
                <a:pPr marL="742950" lvl="1" indent="-285750">
                  <a:buFont typeface="+mj-lt"/>
                  <a:buAutoNum type="arabicPeriod"/>
                </a:pPr>
                <a:r>
                  <a:rPr lang="en-US" b="1" dirty="0"/>
                  <a:t>Inability to Represent Preferences for Additional Items</a:t>
                </a:r>
                <a:r>
                  <a:rPr lang="en-US" dirty="0"/>
                  <a:t>:</a:t>
                </a:r>
              </a:p>
              <a:p>
                <a:pPr marL="1143000" lvl="2" indent="-228600">
                  <a:buFont typeface="Arial" panose="020B0604020202020204" pitchFamily="34" charset="0"/>
                  <a:buChar char="•"/>
                </a:pPr>
                <a:r>
                  <a:rPr lang="en-US" dirty="0"/>
                  <a:t>The atomic bid cannot express how the bidder values additional items. For instance, if a bidder values the inclusion of item </a:t>
                </a:r>
                <a14:m>
                  <m:oMath xmlns:m="http://schemas.openxmlformats.org/officeDocument/2006/math">
                    <m:r>
                      <a:rPr lang="en-US" i="1" dirty="0" smtClean="0">
                        <a:latin typeface="Cambria Math" panose="02040503050406030204" pitchFamily="18" charset="0"/>
                      </a:rPr>
                      <m:t>𝑐</m:t>
                    </m:r>
                  </m:oMath>
                </a14:m>
                <a:r>
                  <a:rPr lang="en-US" dirty="0"/>
                  <a:t> alongside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 but would not pay the same amount if </a:t>
                </a:r>
                <a14:m>
                  <m:oMath xmlns:m="http://schemas.openxmlformats.org/officeDocument/2006/math">
                    <m:r>
                      <a:rPr lang="en-US" i="1" dirty="0" smtClean="0">
                        <a:latin typeface="Cambria Math" panose="02040503050406030204" pitchFamily="18" charset="0"/>
                      </a:rPr>
                      <m:t>𝑐</m:t>
                    </m:r>
                  </m:oMath>
                </a14:m>
                <a:r>
                  <a:rPr lang="en-US" dirty="0"/>
                  <a:t> were added, this cannot be captured with a single atomic bid.</a:t>
                </a:r>
              </a:p>
              <a:p>
                <a:pPr marL="1143000" lvl="2" indent="-228600">
                  <a:buFont typeface="Arial" panose="020B0604020202020204" pitchFamily="34" charset="0"/>
                  <a:buChar char="•"/>
                </a:pPr>
                <a:r>
                  <a:rPr lang="en-US" dirty="0"/>
                  <a:t>Bundles like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𝑏</m:t>
                    </m:r>
                    <m:r>
                      <a:rPr lang="en-US" i="1" dirty="0" err="1" smtClean="0">
                        <a:latin typeface="Cambria Math" panose="02040503050406030204" pitchFamily="18" charset="0"/>
                      </a:rPr>
                      <m:t>,</m:t>
                    </m:r>
                    <m:r>
                      <a:rPr lang="en-US" i="1" dirty="0" err="1" smtClean="0">
                        <a:latin typeface="Cambria Math" panose="02040503050406030204" pitchFamily="18" charset="0"/>
                      </a:rPr>
                      <m:t>𝑐</m:t>
                    </m:r>
                    <m:r>
                      <a:rPr lang="en-US" i="1" dirty="0" smtClean="0">
                        <a:latin typeface="Cambria Math" panose="02040503050406030204" pitchFamily="18" charset="0"/>
                      </a:rPr>
                      <m:t>}</m:t>
                    </m:r>
                  </m:oMath>
                </a14:m>
                <a:r>
                  <a:rPr lang="en-US" dirty="0"/>
                  <a:t> or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𝑐</m:t>
                    </m:r>
                    <m:r>
                      <a:rPr lang="en-US" i="1" dirty="0" smtClean="0">
                        <a:latin typeface="Cambria Math" panose="02040503050406030204" pitchFamily="18" charset="0"/>
                      </a:rPr>
                      <m:t>}</m:t>
                    </m:r>
                  </m:oMath>
                </a14:m>
                <a:r>
                  <a:rPr lang="en-US" dirty="0"/>
                  <a:t> cannot be differentiated in terms of their value in this format.</a:t>
                </a:r>
              </a:p>
              <a:p>
                <a:pPr marL="742950" lvl="1" indent="-285750">
                  <a:buFont typeface="+mj-lt"/>
                  <a:buAutoNum type="arabicPeriod"/>
                </a:pPr>
                <a:r>
                  <a:rPr lang="en-US" b="1" dirty="0"/>
                  <a:t>Restricted Combinations</a:t>
                </a:r>
                <a:r>
                  <a:rPr lang="en-US" dirty="0"/>
                  <a:t>:</a:t>
                </a:r>
              </a:p>
              <a:p>
                <a:pPr marL="1143000" lvl="2" indent="-228600">
                  <a:buFont typeface="Arial" panose="020B0604020202020204" pitchFamily="34" charset="0"/>
                  <a:buChar char="•"/>
                </a:pPr>
                <a:r>
                  <a:rPr lang="en-US" dirty="0"/>
                  <a:t>Atomic bids are rigid in that they focus solely on the specific items indicated in the bid. The preferences for different combinations of items or for bundles that include some items and exclude others cannot be effectively communicated.</a:t>
                </a:r>
              </a:p>
              <a:p>
                <a:pPr marL="1143000" lvl="2" indent="-228600">
                  <a:buFont typeface="Arial" panose="020B0604020202020204" pitchFamily="34" charset="0"/>
                  <a:buChar char="•"/>
                </a:pPr>
                <a:r>
                  <a:rPr lang="en-US" dirty="0"/>
                  <a:t>For example, if a bidder values </a:t>
                </a:r>
                <a14:m>
                  <m:oMath xmlns:m="http://schemas.openxmlformats.org/officeDocument/2006/math">
                    <m:r>
                      <a:rPr lang="en-US" sz="1200" i="1" spc="10" dirty="0" smtClean="0">
                        <a:latin typeface="Cambria Math" panose="02040503050406030204" pitchFamily="18" charset="0"/>
                        <a:cs typeface="Tahoma"/>
                      </a:rPr>
                      <m:t>{</m:t>
                    </m:r>
                    <m:r>
                      <a:rPr lang="en-US" sz="1200" b="0" i="1" spc="10" dirty="0" smtClean="0">
                        <a:latin typeface="Cambria Math" panose="02040503050406030204" pitchFamily="18" charset="0"/>
                        <a:cs typeface="Tahoma"/>
                      </a:rPr>
                      <m:t>𝑏</m:t>
                    </m:r>
                    <m:r>
                      <a:rPr lang="en-US" sz="1200" i="1" spc="10" dirty="0" smtClean="0">
                        <a:latin typeface="Cambria Math" panose="02040503050406030204" pitchFamily="18" charset="0"/>
                        <a:cs typeface="Tahoma"/>
                      </a:rPr>
                      <m:t>, </m:t>
                    </m:r>
                    <m:r>
                      <a:rPr lang="en-US" sz="1200" b="0" i="1" spc="10" dirty="0" smtClean="0">
                        <a:latin typeface="Cambria Math" panose="02040503050406030204" pitchFamily="18" charset="0"/>
                        <a:cs typeface="Tahoma"/>
                      </a:rPr>
                      <m:t>𝑐</m:t>
                    </m:r>
                    <m:r>
                      <a:rPr lang="en-US" sz="1200" i="1" spc="10" dirty="0" smtClean="0">
                        <a:latin typeface="Cambria Math" panose="02040503050406030204" pitchFamily="18" charset="0"/>
                        <a:cs typeface="Tahoma"/>
                      </a:rPr>
                      <m:t>}</m:t>
                    </m:r>
                  </m:oMath>
                </a14:m>
                <a:r>
                  <a:rPr lang="en-US" dirty="0"/>
                  <a:t> highly but has no interest in </a:t>
                </a:r>
                <a14:m>
                  <m:oMath xmlns:m="http://schemas.openxmlformats.org/officeDocument/2006/math">
                    <m:r>
                      <a:rPr lang="en-US" i="1" dirty="0" smtClean="0">
                        <a:latin typeface="Cambria Math" panose="02040503050406030204" pitchFamily="18" charset="0"/>
                      </a:rPr>
                      <m:t>𝑎</m:t>
                    </m:r>
                  </m:oMath>
                </a14:m>
                <a:r>
                  <a:rPr lang="en-US" dirty="0"/>
                  <a:t>, this cannot be conveyed through an atomic bid for </a:t>
                </a:r>
                <a14:m>
                  <m:oMath xmlns:m="http://schemas.openxmlformats.org/officeDocument/2006/math">
                    <m:d>
                      <m:dPr>
                        <m:begChr m:val="{"/>
                        <m:endChr m:val="}"/>
                        <m:ctrlPr>
                          <a:rPr lang="en-US" i="1" dirty="0" smtClean="0">
                            <a:latin typeface="Cambria Math" panose="02040503050406030204" pitchFamily="18" charset="0"/>
                          </a:rPr>
                        </m:ctrlPr>
                      </m:dPr>
                      <m:e>
                        <m:r>
                          <a:rPr lang="en-US" i="1" dirty="0" err="1" smtClean="0">
                            <a:latin typeface="Cambria Math" panose="02040503050406030204" pitchFamily="18" charset="0"/>
                          </a:rPr>
                          <m:t>𝑎</m:t>
                        </m:r>
                        <m:r>
                          <a:rPr lang="en-US" i="1" dirty="0" err="1" smtClean="0">
                            <a:latin typeface="Cambria Math" panose="02040503050406030204" pitchFamily="18" charset="0"/>
                          </a:rPr>
                          <m:t>,</m:t>
                        </m:r>
                        <m:r>
                          <a:rPr lang="en-US" i="1" dirty="0" err="1" smtClean="0">
                            <a:latin typeface="Cambria Math" panose="02040503050406030204" pitchFamily="18" charset="0"/>
                          </a:rPr>
                          <m:t>𝑏</m:t>
                        </m:r>
                      </m:e>
                    </m:d>
                    <m:r>
                      <a:rPr lang="en-US" b="0" i="0" dirty="0" smtClean="0">
                        <a:latin typeface="Cambria Math" panose="02040503050406030204" pitchFamily="18" charset="0"/>
                      </a:rPr>
                      <m:t>.</m:t>
                    </m:r>
                  </m:oMath>
                </a14:m>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Consequences:</a:t>
                </a:r>
              </a:p>
              <a:p>
                <a:pPr marL="742950" lvl="1" indent="-285750">
                  <a:buFont typeface="Arial" panose="020B0604020202020204" pitchFamily="34" charset="0"/>
                  <a:buChar char="•"/>
                </a:pPr>
                <a:r>
                  <a:rPr lang="en-US" b="1" dirty="0"/>
                  <a:t>Potential Inefficiency</a:t>
                </a:r>
                <a:r>
                  <a:rPr lang="en-US" dirty="0"/>
                  <a:t>: The limited expressiveness can lead to inefficiencies in the auction process, as bidders may struggle to convey their true valuations and preferences. This can result in less optimal allocations.</a:t>
                </a:r>
              </a:p>
              <a:p>
                <a:pPr marL="742950" lvl="1" indent="-285750">
                  <a:buFont typeface="Arial" panose="020B0604020202020204" pitchFamily="34" charset="0"/>
                  <a:buChar char="•"/>
                </a:pPr>
                <a:r>
                  <a:rPr lang="en-US" b="1" dirty="0"/>
                  <a:t>Strategic Bidding Challenges</a:t>
                </a:r>
                <a:r>
                  <a:rPr lang="en-US" dirty="0"/>
                  <a:t>: Bidders might resort to overbidding on bundles that do not fully represent their valuations or underbidding due to a lack of suitable atomic bid formats, impacting the auction's overall integrity.</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Alternative Approaches:</a:t>
                </a:r>
              </a:p>
              <a:p>
                <a:pPr marL="742950" lvl="1" indent="-285750">
                  <a:buFont typeface="Arial" panose="020B0604020202020204" pitchFamily="34" charset="0"/>
                  <a:buChar char="•"/>
                </a:pPr>
                <a:r>
                  <a:rPr lang="en-US" dirty="0"/>
                  <a:t>To overcome these limitations, alternative bidding languages or frameworks may be employed, such as:</a:t>
                </a:r>
              </a:p>
              <a:p>
                <a:pPr marL="1143000" lvl="2" indent="-228600">
                  <a:buFont typeface="Arial" panose="020B0604020202020204" pitchFamily="34" charset="0"/>
                  <a:buChar char="•"/>
                </a:pPr>
                <a:r>
                  <a:rPr lang="en-US" b="1" dirty="0"/>
                  <a:t>Generalized Bids</a:t>
                </a:r>
                <a:r>
                  <a:rPr lang="en-US" dirty="0"/>
                  <a:t>: Allowing for a range of combinations and valuations beyond atomic bids.</a:t>
                </a:r>
              </a:p>
              <a:p>
                <a:pPr marL="1143000" lvl="2" indent="-228600">
                  <a:buFont typeface="Arial" panose="020B0604020202020204" pitchFamily="34" charset="0"/>
                  <a:buChar char="•"/>
                </a:pPr>
                <a:r>
                  <a:rPr lang="en-US" b="1" dirty="0"/>
                  <a:t>Combinatorial Bidding</a:t>
                </a:r>
                <a:r>
                  <a:rPr lang="en-US" dirty="0"/>
                  <a:t>: Enabling bids on multiple, possibly overlapping, sets of items to capture more complex preferences.</a:t>
                </a:r>
              </a:p>
              <a:p>
                <a:pPr marL="1143000" lvl="2" indent="-228600">
                  <a:buFont typeface="Arial" panose="020B0604020202020204" pitchFamily="34" charset="0"/>
                  <a:buChar char="•"/>
                </a:pPr>
                <a:r>
                  <a:rPr lang="en-US" b="1" dirty="0"/>
                  <a:t>Flexible Valuation Functions</a:t>
                </a:r>
                <a:r>
                  <a:rPr lang="en-US" dirty="0"/>
                  <a:t>: Implementing mechanisms that allow bidders to express nuanced preferences, such as diminishing returns for additional items.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Conclusion:</a:t>
                </a:r>
              </a:p>
              <a:p>
                <a:pPr marL="742950" lvl="1" indent="-285750">
                  <a:buFont typeface="Arial" panose="020B0604020202020204" pitchFamily="34" charset="0"/>
                  <a:buChar char="•"/>
                </a:pPr>
                <a:r>
                  <a:rPr lang="en-US" dirty="0"/>
                  <a:t>While atomic bids serve as a fundamental building block in combinatorial auctions, their limitations necessitate the exploration of more sophisticated bidding strategies. Recognizing these constraints can guide the development of auction formats that better accommodate the diverse preferences of bidders, leading to more efficient outcomes.</a:t>
                </a:r>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points out the limitations of using only atomic bids, demonstrating that they lack the flexibility to express more intricate preferences over bundles.</a:t>
                </a:r>
              </a:p>
              <a:p>
                <a:endParaRPr lang="en-US" b="0" i="0" dirty="0">
                  <a:solidFill>
                    <a:srgbClr val="E8E8E8"/>
                  </a:solidFill>
                  <a:effectLst/>
                  <a:latin typeface="Google Sans Text"/>
                </a:endParaRPr>
              </a:p>
              <a:p>
                <a:pPr marL="228600" indent="-228600">
                  <a:buFont typeface="+mj-lt"/>
                  <a:buAutoNum type="arabicPeriod"/>
                </a:pPr>
                <a:r>
                  <a:rPr lang="en-US" b="1" dirty="0"/>
                  <a:t>Limited Expressiveness</a:t>
                </a:r>
                <a:r>
                  <a:rPr lang="en-US" dirty="0"/>
                  <a:t>:</a:t>
                </a:r>
              </a:p>
              <a:p>
                <a:pPr marL="742950" lvl="1" indent="-285750">
                  <a:buFont typeface="Arial" panose="020B0604020202020204" pitchFamily="34" charset="0"/>
                  <a:buChar char="•"/>
                </a:pPr>
                <a:r>
                  <a:rPr lang="en-US" dirty="0"/>
                  <a:t>Atomic bids, while useful, have inherent limitations in representing complex preferences and valuations.</a:t>
                </a:r>
              </a:p>
              <a:p>
                <a:pPr marL="742950" lvl="1" indent="-285750">
                  <a:buFont typeface="Arial" panose="020B0604020202020204" pitchFamily="34" charset="0"/>
                  <a:buChar char="•"/>
                </a:pPr>
                <a:r>
                  <a:rPr lang="en-US" dirty="0"/>
                  <a:t>They can only encapsulate straightforward bids for specific bundles of goods but may not capture more intricate valuation scenarios.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Example of Atomic Bid:</a:t>
                </a:r>
              </a:p>
              <a:p>
                <a:pPr marL="742950" lvl="1" indent="-285750">
                  <a:buFont typeface="Arial" panose="020B0604020202020204" pitchFamily="34" charset="0"/>
                  <a:buChar char="•"/>
                </a:pPr>
                <a:r>
                  <a:rPr lang="en-US" dirty="0"/>
                  <a:t>Consider an atomic bid represented as: </a:t>
                </a:r>
                <a:r>
                  <a:rPr lang="en-US" sz="1200" i="0" spc="10" dirty="0">
                    <a:latin typeface="Cambria Math" panose="02040503050406030204" pitchFamily="18" charset="0"/>
                    <a:cs typeface="Tahoma"/>
                  </a:rPr>
                  <a:t>𝛽=({𝑎, 𝑏}, 4)</a:t>
                </a:r>
                <a:r>
                  <a:rPr lang="en-US" sz="1200" spc="10" dirty="0">
                    <a:latin typeface="Tahoma"/>
                    <a:cs typeface="Tahoma"/>
                  </a:rPr>
                  <a:t> </a:t>
                </a:r>
                <a:endParaRPr lang="en-US" dirty="0"/>
              </a:p>
              <a:p>
                <a:pPr marL="742950" lvl="1" indent="-285750">
                  <a:buFont typeface="Arial" panose="020B0604020202020204" pitchFamily="34" charset="0"/>
                  <a:buChar char="•"/>
                </a:pPr>
                <a:r>
                  <a:rPr lang="en-US" dirty="0"/>
                  <a:t>In this example:</a:t>
                </a:r>
              </a:p>
              <a:p>
                <a:pPr marL="1143000" lvl="2" indent="-228600">
                  <a:buFont typeface="Arial" panose="020B0604020202020204" pitchFamily="34" charset="0"/>
                  <a:buChar char="•"/>
                </a:pPr>
                <a:r>
                  <a:rPr lang="en-US" dirty="0"/>
                  <a:t>The bid </a:t>
                </a:r>
                <a:r>
                  <a:rPr lang="en-US" sz="1200" i="0" spc="10" dirty="0">
                    <a:latin typeface="Cambria Math" panose="02040503050406030204" pitchFamily="18" charset="0"/>
                    <a:cs typeface="Tahoma"/>
                  </a:rPr>
                  <a:t>{𝑎, 𝑏}</a:t>
                </a:r>
                <a:r>
                  <a:rPr lang="en-US" dirty="0"/>
                  <a:t> indicates that the bidder is willing to pay 4 for both items </a:t>
                </a:r>
                <a:r>
                  <a:rPr lang="en-US" i="0" dirty="0">
                    <a:latin typeface="Cambria Math" panose="02040503050406030204" pitchFamily="18" charset="0"/>
                  </a:rPr>
                  <a:t>𝑎</a:t>
                </a:r>
                <a:r>
                  <a:rPr lang="en-US" dirty="0"/>
                  <a:t> and </a:t>
                </a:r>
                <a:r>
                  <a:rPr lang="en-US" i="0" dirty="0">
                    <a:latin typeface="Cambria Math" panose="02040503050406030204" pitchFamily="18" charset="0"/>
                  </a:rPr>
                  <a:t>𝑏</a:t>
                </a:r>
                <a:r>
                  <a:rPr lang="en-US" dirty="0"/>
                  <a:t>.</a:t>
                </a:r>
              </a:p>
              <a:p>
                <a:pPr marL="1143000" lvl="2" indent="-228600">
                  <a:buFont typeface="Arial" panose="020B0604020202020204" pitchFamily="34" charset="0"/>
                  <a:buChar char="•"/>
                </a:pPr>
                <a:r>
                  <a:rPr lang="en-US" dirty="0"/>
                  <a:t>This bid is satisfied by any bundle containing both </a:t>
                </a:r>
                <a:r>
                  <a:rPr lang="en-US" i="0" dirty="0">
                    <a:latin typeface="Cambria Math" panose="02040503050406030204" pitchFamily="18" charset="0"/>
                  </a:rPr>
                  <a:t>𝑎</a:t>
                </a:r>
                <a:r>
                  <a:rPr lang="en-US" dirty="0"/>
                  <a:t> and </a:t>
                </a:r>
                <a:r>
                  <a:rPr lang="en-US" i="0" dirty="0">
                    <a:latin typeface="Cambria Math" panose="02040503050406030204" pitchFamily="18" charset="0"/>
                  </a:rPr>
                  <a:t>𝑏</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Key Limitations:</a:t>
                </a:r>
              </a:p>
              <a:p>
                <a:pPr marL="742950" lvl="1" indent="-285750">
                  <a:buFont typeface="+mj-lt"/>
                  <a:buAutoNum type="arabicPeriod"/>
                </a:pPr>
                <a:r>
                  <a:rPr lang="en-US" b="1" dirty="0"/>
                  <a:t>Inability to Represent Preferences for Additional Items</a:t>
                </a:r>
                <a:r>
                  <a:rPr lang="en-US" dirty="0"/>
                  <a:t>:</a:t>
                </a:r>
              </a:p>
              <a:p>
                <a:pPr marL="1143000" lvl="2" indent="-228600">
                  <a:buFont typeface="Arial" panose="020B0604020202020204" pitchFamily="34" charset="0"/>
                  <a:buChar char="•"/>
                </a:pPr>
                <a:r>
                  <a:rPr lang="en-US" dirty="0"/>
                  <a:t>The atomic bid cannot express how the bidder values additional items. For instance, if a bidder values the inclusion of item </a:t>
                </a:r>
                <a:r>
                  <a:rPr lang="en-US" i="0" dirty="0">
                    <a:latin typeface="Cambria Math" panose="02040503050406030204" pitchFamily="18" charset="0"/>
                  </a:rPr>
                  <a:t>𝑐</a:t>
                </a:r>
                <a:r>
                  <a:rPr lang="en-US" dirty="0"/>
                  <a:t> alongside </a:t>
                </a:r>
                <a:r>
                  <a:rPr lang="en-US" i="0" dirty="0">
                    <a:latin typeface="Cambria Math" panose="02040503050406030204" pitchFamily="18" charset="0"/>
                  </a:rPr>
                  <a:t>𝑎</a:t>
                </a:r>
                <a:r>
                  <a:rPr lang="en-US" dirty="0"/>
                  <a:t> and </a:t>
                </a:r>
                <a:r>
                  <a:rPr lang="en-US" i="0" dirty="0">
                    <a:latin typeface="Cambria Math" panose="02040503050406030204" pitchFamily="18" charset="0"/>
                  </a:rPr>
                  <a:t>𝑏</a:t>
                </a:r>
                <a:r>
                  <a:rPr lang="en-US" dirty="0"/>
                  <a:t> but would not pay the same amount if </a:t>
                </a:r>
                <a:r>
                  <a:rPr lang="en-US" i="0" dirty="0">
                    <a:latin typeface="Cambria Math" panose="02040503050406030204" pitchFamily="18" charset="0"/>
                  </a:rPr>
                  <a:t>𝑐</a:t>
                </a:r>
                <a:r>
                  <a:rPr lang="en-US" dirty="0"/>
                  <a:t> were added, this cannot be captured with a single atomic bid.</a:t>
                </a:r>
              </a:p>
              <a:p>
                <a:pPr marL="1143000" lvl="2" indent="-228600">
                  <a:buFont typeface="Arial" panose="020B0604020202020204" pitchFamily="34" charset="0"/>
                  <a:buChar char="•"/>
                </a:pPr>
                <a:r>
                  <a:rPr lang="en-US" dirty="0"/>
                  <a:t>Bundles like </a:t>
                </a:r>
                <a:r>
                  <a:rPr lang="en-US" i="0" dirty="0">
                    <a:latin typeface="Cambria Math" panose="02040503050406030204" pitchFamily="18" charset="0"/>
                  </a:rPr>
                  <a:t>{</a:t>
                </a:r>
                <a:r>
                  <a:rPr lang="en-US" i="0" dirty="0" err="1">
                    <a:latin typeface="Cambria Math" panose="02040503050406030204" pitchFamily="18" charset="0"/>
                  </a:rPr>
                  <a:t>𝑎,𝑏,𝑐</a:t>
                </a:r>
                <a:r>
                  <a:rPr lang="en-US" i="0" dirty="0">
                    <a:latin typeface="Cambria Math" panose="02040503050406030204" pitchFamily="18" charset="0"/>
                  </a:rPr>
                  <a:t>}</a:t>
                </a:r>
                <a:r>
                  <a:rPr lang="en-US" dirty="0"/>
                  <a:t> or </a:t>
                </a:r>
                <a:r>
                  <a:rPr lang="en-US" i="0" dirty="0">
                    <a:latin typeface="Cambria Math" panose="02040503050406030204" pitchFamily="18" charset="0"/>
                  </a:rPr>
                  <a:t>{</a:t>
                </a:r>
                <a:r>
                  <a:rPr lang="en-US" i="0" dirty="0" err="1">
                    <a:latin typeface="Cambria Math" panose="02040503050406030204" pitchFamily="18" charset="0"/>
                  </a:rPr>
                  <a:t>𝑎,𝑐</a:t>
                </a:r>
                <a:r>
                  <a:rPr lang="en-US" i="0" dirty="0">
                    <a:latin typeface="Cambria Math" panose="02040503050406030204" pitchFamily="18" charset="0"/>
                  </a:rPr>
                  <a:t>}</a:t>
                </a:r>
                <a:r>
                  <a:rPr lang="en-US" dirty="0"/>
                  <a:t> cannot be differentiated in terms of their value in this format.</a:t>
                </a:r>
              </a:p>
              <a:p>
                <a:pPr marL="742950" lvl="1" indent="-285750">
                  <a:buFont typeface="+mj-lt"/>
                  <a:buAutoNum type="arabicPeriod"/>
                </a:pPr>
                <a:r>
                  <a:rPr lang="en-US" b="1" dirty="0"/>
                  <a:t>Restricted Combinations</a:t>
                </a:r>
                <a:r>
                  <a:rPr lang="en-US" dirty="0"/>
                  <a:t>:</a:t>
                </a:r>
              </a:p>
              <a:p>
                <a:pPr marL="1143000" lvl="2" indent="-228600">
                  <a:buFont typeface="Arial" panose="020B0604020202020204" pitchFamily="34" charset="0"/>
                  <a:buChar char="•"/>
                </a:pPr>
                <a:r>
                  <a:rPr lang="en-US" dirty="0"/>
                  <a:t>Atomic bids are rigid in that they focus solely on the specific items indicated in the bid. The preferences for different combinations of items or for bundles that include some items and exclude others cannot be effectively communicated.</a:t>
                </a:r>
              </a:p>
              <a:p>
                <a:pPr marL="1143000" lvl="2" indent="-228600">
                  <a:buFont typeface="Arial" panose="020B0604020202020204" pitchFamily="34" charset="0"/>
                  <a:buChar char="•"/>
                </a:pPr>
                <a:r>
                  <a:rPr lang="en-US" dirty="0"/>
                  <a:t>For example, if a bidder values </a:t>
                </a:r>
                <a:r>
                  <a:rPr lang="en-US" sz="1200" i="0" spc="10" dirty="0">
                    <a:latin typeface="Cambria Math" panose="02040503050406030204" pitchFamily="18" charset="0"/>
                    <a:cs typeface="Tahoma"/>
                  </a:rPr>
                  <a:t>{</a:t>
                </a:r>
                <a:r>
                  <a:rPr lang="en-US" sz="1200" b="0" i="0" spc="10" dirty="0">
                    <a:latin typeface="Cambria Math" panose="02040503050406030204" pitchFamily="18" charset="0"/>
                    <a:cs typeface="Tahoma"/>
                  </a:rPr>
                  <a:t>𝑏</a:t>
                </a:r>
                <a:r>
                  <a:rPr lang="en-US" sz="1200" i="0" spc="10" dirty="0">
                    <a:latin typeface="Cambria Math" panose="02040503050406030204" pitchFamily="18" charset="0"/>
                    <a:cs typeface="Tahoma"/>
                  </a:rPr>
                  <a:t>, </a:t>
                </a:r>
                <a:r>
                  <a:rPr lang="en-US" sz="1200" b="0" i="0" spc="10" dirty="0">
                    <a:latin typeface="Cambria Math" panose="02040503050406030204" pitchFamily="18" charset="0"/>
                    <a:cs typeface="Tahoma"/>
                  </a:rPr>
                  <a:t>𝑐</a:t>
                </a:r>
                <a:r>
                  <a:rPr lang="en-US" sz="1200" i="0" spc="10" dirty="0">
                    <a:latin typeface="Cambria Math" panose="02040503050406030204" pitchFamily="18" charset="0"/>
                    <a:cs typeface="Tahoma"/>
                  </a:rPr>
                  <a:t>}</a:t>
                </a:r>
                <a:r>
                  <a:rPr lang="en-US" dirty="0"/>
                  <a:t> highly but has no interest in </a:t>
                </a:r>
                <a:r>
                  <a:rPr lang="en-US" i="0" dirty="0">
                    <a:latin typeface="Cambria Math" panose="02040503050406030204" pitchFamily="18" charset="0"/>
                  </a:rPr>
                  <a:t>𝑎</a:t>
                </a:r>
                <a:r>
                  <a:rPr lang="en-US" dirty="0"/>
                  <a:t>, this cannot be conveyed through an atomic bid for </a:t>
                </a:r>
                <a:r>
                  <a:rPr lang="en-US" i="0" dirty="0">
                    <a:latin typeface="Cambria Math" panose="02040503050406030204" pitchFamily="18" charset="0"/>
                  </a:rPr>
                  <a:t>{</a:t>
                </a:r>
                <a:r>
                  <a:rPr lang="en-US" i="0" dirty="0" err="1">
                    <a:latin typeface="Cambria Math" panose="02040503050406030204" pitchFamily="18" charset="0"/>
                  </a:rPr>
                  <a:t>𝑎,𝑏</a:t>
                </a:r>
                <a:r>
                  <a:rPr lang="en-US" i="0" dirty="0">
                    <a:latin typeface="Cambria Math" panose="02040503050406030204" pitchFamily="18" charset="0"/>
                  </a:rPr>
                  <a:t>}</a:t>
                </a:r>
                <a:r>
                  <a:rPr lang="en-US" b="0" i="0" dirty="0">
                    <a:latin typeface="Cambria Math" panose="02040503050406030204" pitchFamily="18" charset="0"/>
                  </a:rPr>
                  <a:t>.</a:t>
                </a:r>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Consequences:</a:t>
                </a:r>
              </a:p>
              <a:p>
                <a:pPr marL="742950" lvl="1" indent="-285750">
                  <a:buFont typeface="Arial" panose="020B0604020202020204" pitchFamily="34" charset="0"/>
                  <a:buChar char="•"/>
                </a:pPr>
                <a:r>
                  <a:rPr lang="en-US" b="1" dirty="0"/>
                  <a:t>Potential Inefficiency</a:t>
                </a:r>
                <a:r>
                  <a:rPr lang="en-US" dirty="0"/>
                  <a:t>: The limited expressiveness can lead to inefficiencies in the auction process, as bidders may struggle to convey their true valuations and preferences. This can result in less optimal allocations.</a:t>
                </a:r>
              </a:p>
              <a:p>
                <a:pPr marL="742950" lvl="1" indent="-285750">
                  <a:buFont typeface="Arial" panose="020B0604020202020204" pitchFamily="34" charset="0"/>
                  <a:buChar char="•"/>
                </a:pPr>
                <a:r>
                  <a:rPr lang="en-US" b="1" dirty="0"/>
                  <a:t>Strategic Bidding Challenges</a:t>
                </a:r>
                <a:r>
                  <a:rPr lang="en-US" dirty="0"/>
                  <a:t>: Bidders might resort to overbidding on bundles that do not fully represent their valuations or underbidding due to a lack of suitable atomic bid formats, impacting the auction's overall integrity.</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Alternative Approaches:</a:t>
                </a:r>
              </a:p>
              <a:p>
                <a:pPr marL="742950" lvl="1" indent="-285750">
                  <a:buFont typeface="Arial" panose="020B0604020202020204" pitchFamily="34" charset="0"/>
                  <a:buChar char="•"/>
                </a:pPr>
                <a:r>
                  <a:rPr lang="en-US" dirty="0"/>
                  <a:t>To overcome these limitations, alternative bidding languages or frameworks may be employed, such as:</a:t>
                </a:r>
              </a:p>
              <a:p>
                <a:pPr marL="1143000" lvl="2" indent="-228600">
                  <a:buFont typeface="Arial" panose="020B0604020202020204" pitchFamily="34" charset="0"/>
                  <a:buChar char="•"/>
                </a:pPr>
                <a:r>
                  <a:rPr lang="en-US" b="1" dirty="0"/>
                  <a:t>Generalized Bids</a:t>
                </a:r>
                <a:r>
                  <a:rPr lang="en-US" dirty="0"/>
                  <a:t>: Allowing for a range of combinations and valuations beyond atomic bids.</a:t>
                </a:r>
              </a:p>
              <a:p>
                <a:pPr marL="1143000" lvl="2" indent="-228600">
                  <a:buFont typeface="Arial" panose="020B0604020202020204" pitchFamily="34" charset="0"/>
                  <a:buChar char="•"/>
                </a:pPr>
                <a:r>
                  <a:rPr lang="en-US" b="1" dirty="0"/>
                  <a:t>Combinatorial Bidding</a:t>
                </a:r>
                <a:r>
                  <a:rPr lang="en-US" dirty="0"/>
                  <a:t>: Enabling bids on multiple, possibly overlapping, sets of items to capture more complex preferences.</a:t>
                </a:r>
              </a:p>
              <a:p>
                <a:pPr marL="1143000" lvl="2" indent="-228600">
                  <a:buFont typeface="Arial" panose="020B0604020202020204" pitchFamily="34" charset="0"/>
                  <a:buChar char="•"/>
                </a:pPr>
                <a:r>
                  <a:rPr lang="en-US" b="1" dirty="0"/>
                  <a:t>Flexible Valuation Functions</a:t>
                </a:r>
                <a:r>
                  <a:rPr lang="en-US" dirty="0"/>
                  <a:t>: Implementing mechanisms that allow bidders to express nuanced preferences, such as diminishing returns for additional items.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Conclusion:</a:t>
                </a:r>
              </a:p>
              <a:p>
                <a:pPr marL="742950" lvl="1" indent="-285750">
                  <a:buFont typeface="Arial" panose="020B0604020202020204" pitchFamily="34" charset="0"/>
                  <a:buChar char="•"/>
                </a:pPr>
                <a:r>
                  <a:rPr lang="en-US" dirty="0"/>
                  <a:t>While atomic bids serve as a fundamental building block in combinatorial auctions, their limitations necessitate the exploration of more sophisticated bidding strategies. Recognizing these constraints can guide the development of auction formats that better accommodate the diverse preferences of bidders, leading to more efficient outcomes.</a:t>
                </a:r>
              </a:p>
            </p:txBody>
          </p:sp>
        </mc:Fallback>
      </mc:AlternateContent>
    </p:spTree>
    <p:extLst>
      <p:ext uri="{BB962C8B-B14F-4D97-AF65-F5344CB8AC3E}">
        <p14:creationId xmlns:p14="http://schemas.microsoft.com/office/powerpoint/2010/main" val="20320307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XOR bids as a more expressive bidding language. It explains how XOR bids work, their ability to capture any valuation function, and the computational efficiency of evaluating bundles using XOR bids.</a:t>
                </a:r>
              </a:p>
              <a:p>
                <a:endParaRPr lang="en-US" b="0" i="0" dirty="0">
                  <a:solidFill>
                    <a:srgbClr val="E8E8E8"/>
                  </a:solidFill>
                  <a:effectLst/>
                  <a:latin typeface="Google Sans Text"/>
                </a:endParaRP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XOR Bid Structure:</a:t>
                </a:r>
              </a:p>
              <a:p>
                <a:pPr marL="742950" lvl="1" indent="-285750">
                  <a:buFont typeface="Arial" panose="020B0604020202020204" pitchFamily="34" charset="0"/>
                  <a:buChar char="•"/>
                </a:pPr>
                <a:r>
                  <a:rPr lang="en-US" dirty="0"/>
                  <a:t>An XOR bid is structured as: </a:t>
                </a:r>
                <a14:m>
                  <m:oMath xmlns:m="http://schemas.openxmlformats.org/officeDocument/2006/math">
                    <m:r>
                      <a:rPr lang="en-US" i="1" dirty="0" smtClean="0">
                        <a:latin typeface="Cambria Math" panose="02040503050406030204" pitchFamily="18" charset="0"/>
                      </a:rPr>
                      <m:t>𝛽</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1</m:t>
                            </m:r>
                          </m:sub>
                        </m:sSub>
                      </m:e>
                    </m:d>
                    <m:r>
                      <a:rPr lang="en-US" i="1"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2</m:t>
                            </m:r>
                          </m:sub>
                        </m:sSub>
                      </m:e>
                    </m:d>
                    <m:r>
                      <a:rPr lang="en-US" i="1"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𝑘</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𝑝</m:t>
                            </m:r>
                          </m:e>
                          <m:sub>
                            <m:r>
                              <a:rPr lang="en-US" i="1" dirty="0" err="1" smtClean="0">
                                <a:latin typeface="Cambria Math" panose="02040503050406030204" pitchFamily="18" charset="0"/>
                              </a:rPr>
                              <m:t>𝑘</m:t>
                            </m:r>
                          </m:sub>
                        </m:sSub>
                      </m:e>
                    </m:d>
                  </m:oMath>
                </a14:m>
                <a:endParaRPr lang="en-US" dirty="0"/>
              </a:p>
              <a:p>
                <a:pPr marL="742950" lvl="1" indent="-285750">
                  <a:buFont typeface="Arial" panose="020B0604020202020204" pitchFamily="34" charset="0"/>
                  <a:buChar char="•"/>
                </a:pPr>
                <a:r>
                  <a:rPr lang="en-US" dirty="0"/>
                  <a:t>This structure specifies multiple atomic bids where the bidder can express preferences for several bundles, but </a:t>
                </a:r>
                <a:r>
                  <a:rPr lang="en-US" dirty="0">
                    <a:solidFill>
                      <a:srgbClr val="0000FF"/>
                    </a:solidFill>
                  </a:rPr>
                  <a:t>can only win one </a:t>
                </a:r>
                <a:r>
                  <a:rPr lang="en-US" dirty="0"/>
                  <a:t>of them.</a:t>
                </a:r>
              </a:p>
              <a:p>
                <a:pPr marL="742950" lvl="1" indent="-285750">
                  <a:buFont typeface="Arial" panose="020B0604020202020204" pitchFamily="34" charset="0"/>
                  <a:buChar char="•"/>
                </a:pPr>
                <a:r>
                  <a:rPr lang="en-US" dirty="0"/>
                  <a:t>The condition that only one bid can be satisfied (the exclusive OR, or XOR condition) allows bidders to convey competing preferences without confusion.</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Function:</a:t>
                </a:r>
              </a:p>
              <a:p>
                <a:pPr marL="742950" lvl="1" indent="-285750">
                  <a:buFont typeface="Arial" panose="020B0604020202020204" pitchFamily="34" charset="0"/>
                  <a:buChar char="•"/>
                </a:pPr>
                <a:r>
                  <a:rPr lang="en-US" dirty="0"/>
                  <a:t>The XOR bid defines a valuation function </a:t>
                </a: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r>
                          <a:rPr lang="en-US" sz="1200" b="0" i="1" spc="10" smtClean="0">
                            <a:latin typeface="Cambria Math" panose="02040503050406030204" pitchFamily="18" charset="0"/>
                            <a:cs typeface="Tahoma"/>
                          </a:rPr>
                          <m:t>𝛽</m:t>
                        </m:r>
                      </m:sub>
                    </m:sSub>
                  </m:oMath>
                </a14:m>
                <a:r>
                  <a:rPr lang="en-US" sz="1200" spc="10" dirty="0">
                    <a:latin typeface="Tahoma"/>
                    <a:cs typeface="Tahoma"/>
                  </a:rPr>
                  <a:t> </a:t>
                </a:r>
                <a:r>
                  <a:rPr lang="en-US" dirty="0"/>
                  <a:t>such that: </a:t>
                </a:r>
              </a:p>
              <a:p>
                <a:pPr marL="457200" lvl="1"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𝛽</m:t>
                          </m:r>
                        </m:sub>
                      </m:sSub>
                      <m:d>
                        <m:dPr>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𝑍</m:t>
                              </m:r>
                            </m:e>
                            <m:sup>
                              <m:r>
                                <a:rPr lang="en-US" b="0" i="1" dirty="0" smtClean="0">
                                  <a:latin typeface="Cambria Math" panose="02040503050406030204" pitchFamily="18" charset="0"/>
                                </a:rPr>
                                <m:t>′</m:t>
                              </m:r>
                            </m:sup>
                          </m:sSup>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eqArr>
                            <m:eqArrPr>
                              <m:ctrlPr>
                                <a:rPr lang="en-US" b="0" i="1" dirty="0" smtClean="0">
                                  <a:latin typeface="Cambria Math" panose="02040503050406030204" pitchFamily="18" charset="0"/>
                                </a:rPr>
                              </m:ctrlPr>
                            </m:eqArrPr>
                            <m:e>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max</m:t>
                                  </m:r>
                                </m:fName>
                                <m:e>
                                  <m:d>
                                    <m:dPr>
                                      <m:begChr m:val="{"/>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b="0" i="1" dirty="0" smtClean="0">
                                              <a:latin typeface="Cambria Math" panose="02040503050406030204" pitchFamily="18" charset="0"/>
                                            </a:rPr>
                                            <m:t>𝑖</m:t>
                                          </m:r>
                                        </m:sub>
                                      </m:sSub>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𝑍</m:t>
                                          </m:r>
                                        </m:e>
                                        <m:sup>
                                          <m:r>
                                            <a:rPr lang="en-US" b="0" i="1" dirty="0" smtClean="0">
                                              <a:latin typeface="Cambria Math" panose="02040503050406030204" pitchFamily="18" charset="0"/>
                                              <a:ea typeface="Cambria Math" panose="02040503050406030204" pitchFamily="18" charset="0"/>
                                            </a:rPr>
                                            <m:t>′</m:t>
                                          </m:r>
                                        </m:sup>
                                      </m:sSup>
                                    </m:e>
                                  </m:d>
                                  <m:r>
                                    <a:rPr lang="en-US" b="0" i="1" dirty="0" smtClean="0">
                                      <a:latin typeface="Cambria Math" panose="02040503050406030204" pitchFamily="18" charset="0"/>
                                    </a:rPr>
                                    <m:t> </m:t>
                                  </m:r>
                                  <m:r>
                                    <m:rPr>
                                      <m:sty m:val="p"/>
                                    </m:rPr>
                                    <a:rPr lang="en-US" b="0" i="0" dirty="0" smtClean="0">
                                      <a:latin typeface="Cambria Math" panose="02040503050406030204" pitchFamily="18" charset="0"/>
                                    </a:rPr>
                                    <m:t>if</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any</m:t>
                                  </m:r>
                                  <m:r>
                                    <a:rPr lang="en-US" b="0" i="0"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𝑍</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r>
                                    <m:rPr>
                                      <m:sty m:val="p"/>
                                    </m:rPr>
                                    <a:rPr lang="en-US" b="0" i="0" dirty="0" smtClean="0">
                                      <a:latin typeface="Cambria Math" panose="02040503050406030204" pitchFamily="18" charset="0"/>
                                    </a:rPr>
                                    <m:t>is</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satisfied</m:t>
                                  </m:r>
                                </m:e>
                              </m:func>
                            </m:e>
                            <m:e>
                              <m:r>
                                <a:rPr lang="en-US" b="0" i="1" dirty="0" smtClean="0">
                                  <a:latin typeface="Cambria Math" panose="02040503050406030204" pitchFamily="18" charset="0"/>
                                </a:rPr>
                                <m:t>0 </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otherwise</m:t>
                              </m:r>
                              <m:r>
                                <a:rPr lang="en-US" b="0" i="0" dirty="0" smtClean="0">
                                  <a:latin typeface="Cambria Math" panose="02040503050406030204" pitchFamily="18" charset="0"/>
                                </a:rPr>
                                <m:t>                 </m:t>
                              </m:r>
                            </m:e>
                          </m:eqArr>
                        </m:e>
                      </m:d>
                    </m:oMath>
                  </m:oMathPara>
                </a14:m>
                <a:endParaRPr lang="en-US" dirty="0"/>
              </a:p>
              <a:p>
                <a:pPr marL="742950" lvl="1" indent="-285750">
                  <a:buFont typeface="Arial" panose="020B0604020202020204" pitchFamily="34" charset="0"/>
                  <a:buChar char="•"/>
                </a:pPr>
                <a:r>
                  <a:rPr lang="en-US" dirty="0"/>
                  <a:t>This means that the bidder pays the highest price among the satisfied bids if at least one bid is satisfied. If none of the bids is satisfied, the bidder pays nothing.</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Full Expressiveness:</a:t>
                </a:r>
              </a:p>
              <a:p>
                <a:pPr marL="742950" lvl="1" indent="-285750">
                  <a:buFont typeface="Arial" panose="020B0604020202020204" pitchFamily="34" charset="0"/>
                  <a:buChar char="•"/>
                </a:pPr>
                <a:r>
                  <a:rPr lang="en-US" dirty="0"/>
                  <a:t>XOR bids can represent any arbitrary valuation function by allowing for the expression of mutually exclusive preferences.</a:t>
                </a:r>
              </a:p>
              <a:p>
                <a:pPr marL="742950" lvl="1" indent="-285750">
                  <a:buFont typeface="Arial" panose="020B0604020202020204" pitchFamily="34" charset="0"/>
                  <a:buChar char="•"/>
                </a:pPr>
                <a:r>
                  <a:rPr lang="en-US" dirty="0"/>
                  <a:t>Despite this flexibility, representing certain valuation functions may require an exponential number of atomic bids due to the need to express all combinations of preferences.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Polynomial-Time Valuation:</a:t>
                </a:r>
              </a:p>
              <a:p>
                <a:pPr marL="742950" lvl="1" indent="-285750">
                  <a:buFont typeface="Arial" panose="020B0604020202020204" pitchFamily="34" charset="0"/>
                  <a:buChar char="•"/>
                </a:pPr>
                <a:r>
                  <a:rPr lang="en-US" dirty="0"/>
                  <a:t>One of the key advantages of XOR bids is that the valuation of a given bundle can be computed efficiently in polynomial time.</a:t>
                </a:r>
              </a:p>
              <a:p>
                <a:pPr marL="742950" lvl="1" indent="-285750">
                  <a:buFont typeface="Arial" panose="020B0604020202020204" pitchFamily="34" charset="0"/>
                  <a:buChar char="•"/>
                </a:pPr>
                <a:r>
                  <a:rPr lang="en-US" dirty="0"/>
                  <a:t>This efficiency is crucial for auction implementations, as it allows for quick evaluations of the winning bids without requiring exhaustive search through all possible allocations.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Advantages of XOR Bids:</a:t>
                </a:r>
              </a:p>
              <a:p>
                <a:pPr marL="742950" lvl="1" indent="-285750">
                  <a:buFont typeface="Arial" panose="020B0604020202020204" pitchFamily="34" charset="0"/>
                  <a:buChar char="•"/>
                </a:pPr>
                <a:r>
                  <a:rPr lang="en-US" b="1" dirty="0"/>
                  <a:t>Enhanced Expressiveness</a:t>
                </a:r>
                <a:r>
                  <a:rPr lang="en-US" dirty="0"/>
                  <a:t>: XOR bids provide a way to express complex preferences among items, particularly when bidders want to choose between several mutually exclusive options.</a:t>
                </a:r>
              </a:p>
              <a:p>
                <a:pPr marL="742950" lvl="1" indent="-285750">
                  <a:buFont typeface="Arial" panose="020B0604020202020204" pitchFamily="34" charset="0"/>
                  <a:buChar char="•"/>
                </a:pPr>
                <a:r>
                  <a:rPr lang="en-US" b="1" dirty="0"/>
                  <a:t>Reduction of Complexity in Bidder Preferences</a:t>
                </a:r>
                <a:r>
                  <a:rPr lang="en-US" dirty="0"/>
                  <a:t>: By allowing only one bid to win, XOR bids help streamline the decision-making process for bidders and auctioneers.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Use Cases:</a:t>
                </a:r>
              </a:p>
              <a:p>
                <a:pPr marL="742950" lvl="1" indent="-285750">
                  <a:buFont typeface="Arial" panose="020B0604020202020204" pitchFamily="34" charset="0"/>
                  <a:buChar char="•"/>
                </a:pPr>
                <a:r>
                  <a:rPr lang="en-US" dirty="0"/>
                  <a:t>XOR bids are particularly useful in scenarios where:</a:t>
                </a:r>
              </a:p>
              <a:p>
                <a:pPr marL="1143000" lvl="2" indent="-228600">
                  <a:buFont typeface="Arial" panose="020B0604020202020204" pitchFamily="34" charset="0"/>
                  <a:buChar char="•"/>
                </a:pPr>
                <a:r>
                  <a:rPr lang="en-US" dirty="0"/>
                  <a:t>Bidders have competing interests in different bundles but cannot accept multiple items simultaneously.</a:t>
                </a:r>
              </a:p>
              <a:p>
                <a:pPr marL="1143000" lvl="2" indent="-228600">
                  <a:buFont typeface="Arial" panose="020B0604020202020204" pitchFamily="34" charset="0"/>
                  <a:buChar char="•"/>
                </a:pPr>
                <a:r>
                  <a:rPr lang="en-US" dirty="0"/>
                  <a:t>Auctions involve items that are substitutes for each other, allowing bidders to select their most preferred alternative.</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Conclusion:</a:t>
                </a:r>
              </a:p>
              <a:p>
                <a:pPr marL="742950" lvl="1" indent="-285750">
                  <a:buFont typeface="Arial" panose="020B0604020202020204" pitchFamily="34" charset="0"/>
                  <a:buChar char="•"/>
                </a:pPr>
                <a:r>
                  <a:rPr lang="en-US" dirty="0"/>
                  <a:t>XOR bids represent a powerful extension to atomic bidding languages, enabling more nuanced expressions of bidder preferences while maintaining computational efficiency. This makes them a valuable tool in combinatorial auction design, enhancing both bidder strategy and auctioneer outcomes.</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XOR bids as a more expressive bidding language. It explains how XOR bids work, their ability to capture any valuation function, and the computational efficiency of evaluating bundles using XOR bids.</a:t>
                </a:r>
              </a:p>
              <a:p>
                <a:endParaRPr lang="en-US" b="0" i="0" dirty="0">
                  <a:solidFill>
                    <a:srgbClr val="E8E8E8"/>
                  </a:solidFill>
                  <a:effectLst/>
                  <a:latin typeface="Google Sans Text"/>
                </a:endParaRP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XOR Bid Structure:</a:t>
                </a:r>
              </a:p>
              <a:p>
                <a:pPr marL="742950" lvl="1" indent="-285750">
                  <a:buFont typeface="Arial" panose="020B0604020202020204" pitchFamily="34" charset="0"/>
                  <a:buChar char="•"/>
                </a:pPr>
                <a:r>
                  <a:rPr lang="en-US" dirty="0"/>
                  <a:t>An XOR bid is structured as: </a:t>
                </a:r>
                <a:r>
                  <a:rPr lang="en-US" i="0" dirty="0">
                    <a:latin typeface="Cambria Math" panose="02040503050406030204" pitchFamily="18" charset="0"/>
                  </a:rPr>
                  <a:t>𝛽= (𝑍_1, 𝑝_1 )⊕(𝑍_2, 𝑝_2 )⊕…⊕(</a:t>
                </a:r>
                <a:r>
                  <a:rPr lang="en-US" i="0" dirty="0" err="1">
                    <a:latin typeface="Cambria Math" panose="02040503050406030204" pitchFamily="18" charset="0"/>
                  </a:rPr>
                  <a:t>𝑍_𝑘</a:t>
                </a:r>
                <a:r>
                  <a:rPr lang="en-US" i="0" dirty="0">
                    <a:latin typeface="Cambria Math" panose="02040503050406030204" pitchFamily="18" charset="0"/>
                  </a:rPr>
                  <a:t>, </a:t>
                </a:r>
                <a:r>
                  <a:rPr lang="en-US" i="0" dirty="0" err="1">
                    <a:latin typeface="Cambria Math" panose="02040503050406030204" pitchFamily="18" charset="0"/>
                  </a:rPr>
                  <a:t>𝑝_𝑘</a:t>
                </a:r>
                <a:r>
                  <a:rPr lang="en-US" i="0" dirty="0">
                    <a:latin typeface="Cambria Math" panose="02040503050406030204" pitchFamily="18" charset="0"/>
                  </a:rPr>
                  <a:t> )</a:t>
                </a:r>
                <a:endParaRPr lang="en-US" dirty="0"/>
              </a:p>
              <a:p>
                <a:pPr marL="742950" lvl="1" indent="-285750">
                  <a:buFont typeface="Arial" panose="020B0604020202020204" pitchFamily="34" charset="0"/>
                  <a:buChar char="•"/>
                </a:pPr>
                <a:r>
                  <a:rPr lang="en-US" dirty="0"/>
                  <a:t>This structure specifies multiple atomic bids where the bidder can express preferences for several bundles, but </a:t>
                </a:r>
                <a:r>
                  <a:rPr lang="en-US" dirty="0">
                    <a:solidFill>
                      <a:srgbClr val="0000FF"/>
                    </a:solidFill>
                  </a:rPr>
                  <a:t>can only win one </a:t>
                </a:r>
                <a:r>
                  <a:rPr lang="en-US" dirty="0"/>
                  <a:t>of them.</a:t>
                </a:r>
              </a:p>
              <a:p>
                <a:pPr marL="742950" lvl="1" indent="-285750">
                  <a:buFont typeface="Arial" panose="020B0604020202020204" pitchFamily="34" charset="0"/>
                  <a:buChar char="•"/>
                </a:pPr>
                <a:r>
                  <a:rPr lang="en-US" dirty="0"/>
                  <a:t>The condition that only one bid can be satisfied (the exclusive OR, or XOR condition) allows bidders to convey competing preferences without confusion.</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Function:</a:t>
                </a:r>
              </a:p>
              <a:p>
                <a:pPr marL="742950" lvl="1" indent="-285750">
                  <a:buFont typeface="Arial" panose="020B0604020202020204" pitchFamily="34" charset="0"/>
                  <a:buChar char="•"/>
                </a:pPr>
                <a:r>
                  <a:rPr lang="en-US" dirty="0"/>
                  <a:t>The XOR bid defines a valuation function </a:t>
                </a:r>
                <a:r>
                  <a:rPr lang="en-US" sz="1200" b="0" i="0" spc="10">
                    <a:latin typeface="Cambria Math" panose="02040503050406030204" pitchFamily="18" charset="0"/>
                    <a:cs typeface="Tahoma"/>
                  </a:rPr>
                  <a:t>𝑣_𝛽</a:t>
                </a:r>
                <a:r>
                  <a:rPr lang="en-US" sz="1200" spc="10" dirty="0">
                    <a:latin typeface="Tahoma"/>
                    <a:cs typeface="Tahoma"/>
                  </a:rPr>
                  <a:t> </a:t>
                </a:r>
                <a:r>
                  <a:rPr lang="en-US" dirty="0"/>
                  <a:t>such that: </a:t>
                </a:r>
              </a:p>
              <a:p>
                <a:pPr marL="457200" lvl="1" indent="0">
                  <a:buFont typeface="Arial" panose="020B0604020202020204" pitchFamily="34" charset="0"/>
                  <a:buNone/>
                </a:pPr>
                <a:r>
                  <a:rPr lang="en-US" i="0" dirty="0">
                    <a:latin typeface="Cambria Math" panose="02040503050406030204" pitchFamily="18" charset="0"/>
                  </a:rPr>
                  <a:t>𝑣_𝛽</a:t>
                </a:r>
                <a:r>
                  <a:rPr lang="en-US" b="0" i="0" dirty="0">
                    <a:latin typeface="Cambria Math" panose="02040503050406030204" pitchFamily="18" charset="0"/>
                  </a:rPr>
                  <a:t> (𝑍^′ )={█(max⁡〖{𝑝_𝑖 | 𝑍_𝑖</a:t>
                </a:r>
                <a:r>
                  <a:rPr lang="en-US" b="0" i="0" dirty="0">
                    <a:latin typeface="Cambria Math" panose="02040503050406030204" pitchFamily="18" charset="0"/>
                    <a:ea typeface="Cambria Math" panose="02040503050406030204" pitchFamily="18" charset="0"/>
                  </a:rPr>
                  <a:t>⊆𝑍^′ } </a:t>
                </a:r>
                <a:r>
                  <a:rPr lang="en-US" b="0" i="0" dirty="0">
                    <a:latin typeface="Cambria Math" panose="02040503050406030204" pitchFamily="18" charset="0"/>
                  </a:rPr>
                  <a:t> if any 𝑍_𝑖  is satisfied〗@0                              otherwise                 )┤</a:t>
                </a:r>
                <a:endParaRPr lang="en-US" dirty="0"/>
              </a:p>
              <a:p>
                <a:pPr marL="742950" lvl="1" indent="-285750">
                  <a:buFont typeface="Arial" panose="020B0604020202020204" pitchFamily="34" charset="0"/>
                  <a:buChar char="•"/>
                </a:pPr>
                <a:r>
                  <a:rPr lang="en-US" dirty="0"/>
                  <a:t>This means that the bidder pays the highest price among the satisfied bids if at least one bid is satisfied. If none of the bids is satisfied, the bidder pays nothing.</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Full Expressiveness:</a:t>
                </a:r>
              </a:p>
              <a:p>
                <a:pPr marL="742950" lvl="1" indent="-285750">
                  <a:buFont typeface="Arial" panose="020B0604020202020204" pitchFamily="34" charset="0"/>
                  <a:buChar char="•"/>
                </a:pPr>
                <a:r>
                  <a:rPr lang="en-US" dirty="0"/>
                  <a:t>XOR bids can represent any arbitrary valuation function by allowing for the expression of mutually exclusive preferences.</a:t>
                </a:r>
              </a:p>
              <a:p>
                <a:pPr marL="742950" lvl="1" indent="-285750">
                  <a:buFont typeface="Arial" panose="020B0604020202020204" pitchFamily="34" charset="0"/>
                  <a:buChar char="•"/>
                </a:pPr>
                <a:r>
                  <a:rPr lang="en-US" dirty="0"/>
                  <a:t>Despite this flexibility, representing certain valuation functions may require an exponential number of atomic bids due to the need to express all combinations of preferences.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Polynomial-Time Valuation:</a:t>
                </a:r>
              </a:p>
              <a:p>
                <a:pPr marL="742950" lvl="1" indent="-285750">
                  <a:buFont typeface="Arial" panose="020B0604020202020204" pitchFamily="34" charset="0"/>
                  <a:buChar char="•"/>
                </a:pPr>
                <a:r>
                  <a:rPr lang="en-US" dirty="0"/>
                  <a:t>One of the key advantages of XOR bids is that the valuation of a given bundle can be computed efficiently in polynomial time.</a:t>
                </a:r>
              </a:p>
              <a:p>
                <a:pPr marL="742950" lvl="1" indent="-285750">
                  <a:buFont typeface="Arial" panose="020B0604020202020204" pitchFamily="34" charset="0"/>
                  <a:buChar char="•"/>
                </a:pPr>
                <a:r>
                  <a:rPr lang="en-US" dirty="0"/>
                  <a:t>This efficiency is crucial for auction implementations, as it allows for quick evaluations of the winning bids without requiring exhaustive search through all possible allocations.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Advantages of XOR Bids:</a:t>
                </a:r>
              </a:p>
              <a:p>
                <a:pPr marL="742950" lvl="1" indent="-285750">
                  <a:buFont typeface="Arial" panose="020B0604020202020204" pitchFamily="34" charset="0"/>
                  <a:buChar char="•"/>
                </a:pPr>
                <a:r>
                  <a:rPr lang="en-US" b="1" dirty="0"/>
                  <a:t>Enhanced Expressiveness</a:t>
                </a:r>
                <a:r>
                  <a:rPr lang="en-US" dirty="0"/>
                  <a:t>: XOR bids provide a way to express complex preferences among items, particularly when bidders want to choose between several mutually exclusive options.</a:t>
                </a:r>
              </a:p>
              <a:p>
                <a:pPr marL="742950" lvl="1" indent="-285750">
                  <a:buFont typeface="Arial" panose="020B0604020202020204" pitchFamily="34" charset="0"/>
                  <a:buChar char="•"/>
                </a:pPr>
                <a:r>
                  <a:rPr lang="en-US" b="1" dirty="0"/>
                  <a:t>Reduction of Complexity in Bidder Preferences</a:t>
                </a:r>
                <a:r>
                  <a:rPr lang="en-US" dirty="0"/>
                  <a:t>: By allowing only one bid to win, XOR bids help streamline the decision-making process for bidders and auctioneers.</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Use Cases:</a:t>
                </a:r>
              </a:p>
              <a:p>
                <a:pPr marL="742950" lvl="1" indent="-285750">
                  <a:buFont typeface="Arial" panose="020B0604020202020204" pitchFamily="34" charset="0"/>
                  <a:buChar char="•"/>
                </a:pPr>
                <a:r>
                  <a:rPr lang="en-US" dirty="0"/>
                  <a:t>XOR bids are particularly useful in scenarios where:</a:t>
                </a:r>
              </a:p>
              <a:p>
                <a:pPr marL="1143000" lvl="2" indent="-228600">
                  <a:buFont typeface="Arial" panose="020B0604020202020204" pitchFamily="34" charset="0"/>
                  <a:buChar char="•"/>
                </a:pPr>
                <a:r>
                  <a:rPr lang="en-US" dirty="0"/>
                  <a:t>Bidders have competing interests in different bundles but cannot accept multiple items simultaneously.</a:t>
                </a:r>
              </a:p>
              <a:p>
                <a:pPr marL="1143000" lvl="2" indent="-228600">
                  <a:buFont typeface="Arial" panose="020B0604020202020204" pitchFamily="34" charset="0"/>
                  <a:buChar char="•"/>
                </a:pPr>
                <a:r>
                  <a:rPr lang="en-US" dirty="0"/>
                  <a:t>Auctions involve items that are substitutes for each other, allowing bidders to select their most preferred alternative.</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Conclusion:</a:t>
                </a:r>
              </a:p>
              <a:p>
                <a:pPr marL="742950" lvl="1" indent="-285750">
                  <a:buFont typeface="Arial" panose="020B0604020202020204" pitchFamily="34" charset="0"/>
                  <a:buChar char="•"/>
                </a:pPr>
                <a:r>
                  <a:rPr lang="en-US" dirty="0"/>
                  <a:t>XOR bids represent a powerful extension to atomic bidding languages, enabling more nuanced expressions of bidder preferences while maintaining computational efficiency. This makes them a valuable tool in combinatorial auction design, enhancing both bidder strategy and auctioneer outcomes.</a:t>
                </a:r>
              </a:p>
              <a:p>
                <a:endParaRPr dirty="0"/>
              </a:p>
            </p:txBody>
          </p:sp>
        </mc:Fallback>
      </mc:AlternateContent>
    </p:spTree>
    <p:extLst>
      <p:ext uri="{BB962C8B-B14F-4D97-AF65-F5344CB8AC3E}">
        <p14:creationId xmlns:p14="http://schemas.microsoft.com/office/powerpoint/2010/main" val="40261020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concrete example of an XOR bid, illustrating how it can represent preferences for specific combinations of items and exclusion of others.</a:t>
                </a:r>
              </a:p>
              <a:p>
                <a:endParaRPr lang="en-US" b="0" i="0" dirty="0">
                  <a:solidFill>
                    <a:srgbClr val="E8E8E8"/>
                  </a:solidFill>
                  <a:effectLst/>
                  <a:latin typeface="Google Sans Text"/>
                </a:endParaRPr>
              </a:p>
              <a:p>
                <a:pPr marL="0" indent="0">
                  <a:buFont typeface="+mj-lt"/>
                  <a:buNone/>
                </a:pPr>
                <a:r>
                  <a:rPr lang="en-US" b="1" dirty="0"/>
                  <a:t>XOR Bid Structure</a:t>
                </a:r>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d>
                          <m:dPr>
                            <m:ctrlPr>
                              <a:rPr lang="en-US" i="1" dirty="0" smtClean="0">
                                <a:latin typeface="Cambria Math" panose="02040503050406030204" pitchFamily="18" charset="0"/>
                              </a:rPr>
                            </m:ctrlPr>
                          </m:dPr>
                          <m:e>
                            <m:r>
                              <a:rPr lang="en-US" i="1" dirty="0" smtClean="0">
                                <a:latin typeface="Cambria Math" panose="02040503050406030204" pitchFamily="18" charset="0"/>
                              </a:rPr>
                              <m:t>𝑎</m:t>
                            </m:r>
                            <m:r>
                              <a:rPr lang="en-US" i="1" dirty="0" smtClean="0">
                                <a:latin typeface="Cambria Math" panose="02040503050406030204" pitchFamily="18" charset="0"/>
                              </a:rPr>
                              <m:t>, </m:t>
                            </m:r>
                            <m:r>
                              <a:rPr lang="en-US" i="1" dirty="0" smtClean="0">
                                <a:latin typeface="Cambria Math" panose="02040503050406030204" pitchFamily="18" charset="0"/>
                              </a:rPr>
                              <m:t>𝑏</m:t>
                            </m:r>
                          </m:e>
                        </m:d>
                        <m:r>
                          <a:rPr lang="en-US" i="1" dirty="0" smtClean="0">
                            <a:latin typeface="Cambria Math" panose="02040503050406030204" pitchFamily="18" charset="0"/>
                          </a:rPr>
                          <m:t>, 3</m:t>
                        </m:r>
                      </m:e>
                    </m:d>
                    <m:r>
                      <a:rPr lang="en-US"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d>
                          <m:dPr>
                            <m:ctrlPr>
                              <a:rPr lang="en-US" i="1" dirty="0" smtClean="0">
                                <a:latin typeface="Cambria Math" panose="02040503050406030204" pitchFamily="18" charset="0"/>
                              </a:rPr>
                            </m:ctrlPr>
                          </m:dPr>
                          <m:e>
                            <m:r>
                              <a:rPr lang="en-US" i="1" dirty="0" smtClean="0">
                                <a:latin typeface="Cambria Math" panose="02040503050406030204" pitchFamily="18" charset="0"/>
                              </a:rPr>
                              <m:t>𝑐</m:t>
                            </m:r>
                            <m:r>
                              <a:rPr lang="en-US" i="1" dirty="0" smtClean="0">
                                <a:latin typeface="Cambria Math" panose="02040503050406030204" pitchFamily="18" charset="0"/>
                              </a:rPr>
                              <m:t>, </m:t>
                            </m:r>
                            <m:r>
                              <a:rPr lang="en-US" i="1" dirty="0" smtClean="0">
                                <a:latin typeface="Cambria Math" panose="02040503050406030204" pitchFamily="18" charset="0"/>
                              </a:rPr>
                              <m:t>𝑑</m:t>
                            </m:r>
                          </m:e>
                        </m:d>
                        <m:r>
                          <a:rPr lang="en-US" i="1" dirty="0" smtClean="0">
                            <a:latin typeface="Cambria Math" panose="02040503050406030204" pitchFamily="18" charset="0"/>
                          </a:rPr>
                          <m:t>, 5</m:t>
                        </m:r>
                      </m:e>
                    </m:d>
                  </m:oMath>
                </a14:m>
                <a:endParaRPr lang="en-US" dirty="0"/>
              </a:p>
              <a:p>
                <a:pPr marL="742950" lvl="1" indent="-285750">
                  <a:buFont typeface="Arial" panose="020B0604020202020204" pitchFamily="34" charset="0"/>
                  <a:buChar char="•"/>
                </a:pPr>
                <a:r>
                  <a:rPr lang="en-US" dirty="0"/>
                  <a:t>This bid expresses a willingness to pay:</a:t>
                </a:r>
              </a:p>
              <a:p>
                <a:pPr marL="1143000" lvl="2" indent="-228600">
                  <a:buFont typeface="Arial" panose="020B0604020202020204" pitchFamily="34" charset="0"/>
                  <a:buChar char="•"/>
                </a:pPr>
                <a:r>
                  <a:rPr lang="en-US" b="1" dirty="0"/>
                  <a:t>$3</a:t>
                </a:r>
                <a:r>
                  <a:rPr lang="en-US" dirty="0"/>
                  <a:t> for a bundle containing </a:t>
                </a:r>
                <a:r>
                  <a:rPr lang="en-US" b="1" dirty="0"/>
                  <a:t>items </a:t>
                </a:r>
                <a14:m>
                  <m:oMath xmlns:m="http://schemas.openxmlformats.org/officeDocument/2006/math">
                    <m:r>
                      <a:rPr lang="en-US" b="1" i="1" dirty="0" smtClean="0">
                        <a:latin typeface="Cambria Math" panose="02040503050406030204" pitchFamily="18" charset="0"/>
                      </a:rPr>
                      <m:t>𝒂</m:t>
                    </m:r>
                  </m:oMath>
                </a14:m>
                <a:r>
                  <a:rPr lang="en-US" b="1" dirty="0"/>
                  <a:t> and </a:t>
                </a:r>
                <a14:m>
                  <m:oMath xmlns:m="http://schemas.openxmlformats.org/officeDocument/2006/math">
                    <m:r>
                      <a:rPr lang="en-US" b="1" i="1" dirty="0" smtClean="0">
                        <a:latin typeface="Cambria Math" panose="02040503050406030204" pitchFamily="18" charset="0"/>
                      </a:rPr>
                      <m:t>𝒃</m:t>
                    </m:r>
                  </m:oMath>
                </a14:m>
                <a:r>
                  <a:rPr lang="en-US" dirty="0"/>
                  <a:t> (excluding </a:t>
                </a:r>
                <a14:m>
                  <m:oMath xmlns:m="http://schemas.openxmlformats.org/officeDocument/2006/math">
                    <m:r>
                      <a:rPr lang="en-US" i="1" dirty="0" smtClean="0">
                        <a:latin typeface="Cambria Math" panose="02040503050406030204" pitchFamily="18" charset="0"/>
                      </a:rPr>
                      <m:t>𝑐</m:t>
                    </m:r>
                  </m:oMath>
                </a14:m>
                <a:r>
                  <a:rPr lang="en-US" dirty="0"/>
                  <a:t> and </a:t>
                </a:r>
                <a14:m>
                  <m:oMath xmlns:m="http://schemas.openxmlformats.org/officeDocument/2006/math">
                    <m:r>
                      <a:rPr lang="en-US" i="1" dirty="0" smtClean="0">
                        <a:latin typeface="Cambria Math" panose="02040503050406030204" pitchFamily="18" charset="0"/>
                      </a:rPr>
                      <m:t>𝑑</m:t>
                    </m:r>
                  </m:oMath>
                </a14:m>
                <a:r>
                  <a:rPr lang="en-US" dirty="0"/>
                  <a:t>).</a:t>
                </a:r>
              </a:p>
              <a:p>
                <a:pPr marL="1143000" lvl="2" indent="-228600">
                  <a:buFont typeface="Arial" panose="020B0604020202020204" pitchFamily="34" charset="0"/>
                  <a:buChar char="•"/>
                </a:pPr>
                <a:r>
                  <a:rPr lang="en-US" b="1" dirty="0"/>
                  <a:t>$5</a:t>
                </a:r>
                <a:r>
                  <a:rPr lang="en-US" dirty="0"/>
                  <a:t> for a bundle containing </a:t>
                </a:r>
                <a:r>
                  <a:rPr lang="en-US" b="1" dirty="0"/>
                  <a:t>items </a:t>
                </a:r>
                <a14:m>
                  <m:oMath xmlns:m="http://schemas.openxmlformats.org/officeDocument/2006/math">
                    <m:r>
                      <a:rPr lang="en-US" b="1" i="1" dirty="0" smtClean="0">
                        <a:latin typeface="Cambria Math" panose="02040503050406030204" pitchFamily="18" charset="0"/>
                      </a:rPr>
                      <m:t>𝒄</m:t>
                    </m:r>
                  </m:oMath>
                </a14:m>
                <a:r>
                  <a:rPr lang="en-US" b="1" dirty="0"/>
                  <a:t> and </a:t>
                </a:r>
                <a14:m>
                  <m:oMath xmlns:m="http://schemas.openxmlformats.org/officeDocument/2006/math">
                    <m:r>
                      <a:rPr lang="en-US" b="1" i="1" dirty="0" smtClean="0">
                        <a:latin typeface="Cambria Math" panose="02040503050406030204" pitchFamily="18" charset="0"/>
                      </a:rPr>
                      <m:t>𝒅</m:t>
                    </m:r>
                  </m:oMath>
                </a14:m>
                <a:r>
                  <a:rPr lang="en-US" dirty="0"/>
                  <a:t> (excluding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a:t>
                </a:r>
              </a:p>
              <a:p>
                <a:pPr marL="1143000" lvl="2" indent="-228600">
                  <a:buFont typeface="Arial" panose="020B0604020202020204" pitchFamily="34" charset="0"/>
                  <a:buChar char="•"/>
                </a:pPr>
                <a:r>
                  <a:rPr lang="en-US" b="1" dirty="0"/>
                  <a:t>$5</a:t>
                </a:r>
                <a:r>
                  <a:rPr lang="en-US" dirty="0"/>
                  <a:t> for a bundle containing </a:t>
                </a:r>
                <a:r>
                  <a:rPr lang="en-US" b="1" dirty="0"/>
                  <a:t>all four items </a:t>
                </a:r>
                <a14:m>
                  <m:oMath xmlns:m="http://schemas.openxmlformats.org/officeDocument/2006/math">
                    <m:r>
                      <a:rPr lang="en-US" b="1" i="1" dirty="0" smtClean="0">
                        <a:latin typeface="Cambria Math" panose="02040503050406030204" pitchFamily="18" charset="0"/>
                      </a:rPr>
                      <m:t>𝒂</m:t>
                    </m:r>
                  </m:oMath>
                </a14:m>
                <a:r>
                  <a:rPr lang="en-US" b="1" dirty="0"/>
                  <a:t>, </a:t>
                </a:r>
                <a14:m>
                  <m:oMath xmlns:m="http://schemas.openxmlformats.org/officeDocument/2006/math">
                    <m:r>
                      <a:rPr lang="en-US" b="1" i="1" dirty="0" smtClean="0">
                        <a:latin typeface="Cambria Math" panose="02040503050406030204" pitchFamily="18" charset="0"/>
                      </a:rPr>
                      <m:t>𝒃</m:t>
                    </m:r>
                  </m:oMath>
                </a14:m>
                <a:r>
                  <a:rPr lang="en-US" b="1" dirty="0"/>
                  <a:t>, </a:t>
                </a:r>
                <a14:m>
                  <m:oMath xmlns:m="http://schemas.openxmlformats.org/officeDocument/2006/math">
                    <m:r>
                      <a:rPr lang="en-US" b="1" i="1" dirty="0" smtClean="0">
                        <a:latin typeface="Cambria Math" panose="02040503050406030204" pitchFamily="18" charset="0"/>
                      </a:rPr>
                      <m:t>𝒄</m:t>
                    </m:r>
                  </m:oMath>
                </a14:m>
                <a:r>
                  <a:rPr lang="en-US" b="1" dirty="0"/>
                  <a:t>, and </a:t>
                </a:r>
                <a14:m>
                  <m:oMath xmlns:m="http://schemas.openxmlformats.org/officeDocument/2006/math">
                    <m:r>
                      <a:rPr lang="en-US" b="1" i="1" dirty="0" smtClean="0">
                        <a:latin typeface="Cambria Math" panose="02040503050406030204" pitchFamily="18" charset="0"/>
                      </a:rPr>
                      <m:t>𝒅</m:t>
                    </m:r>
                  </m:oMath>
                </a14:m>
                <a:r>
                  <a:rPr lang="en-US" dirty="0"/>
                  <a:t>.</a:t>
                </a:r>
              </a:p>
              <a:p>
                <a:pPr marL="0" indent="0">
                  <a:buFont typeface="+mj-lt"/>
                  <a:buNone/>
                </a:pPr>
                <a:endParaRPr lang="en-US" b="1" dirty="0"/>
              </a:p>
              <a:p>
                <a:pPr marL="0" indent="0">
                  <a:buFont typeface="+mj-lt"/>
                  <a:buNone/>
                </a:pPr>
                <a:r>
                  <a:rPr lang="en-US" b="1" dirty="0"/>
                  <a:t>Constructing the Valuation Function</a:t>
                </a:r>
              </a:p>
              <a:p>
                <a:r>
                  <a:rPr lang="en-US" dirty="0"/>
                  <a:t>The valuation function </a:t>
                </a: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1</m:t>
                            </m:r>
                          </m:sub>
                        </m:sSub>
                      </m:sub>
                    </m:sSub>
                  </m:oMath>
                </a14:m>
                <a:r>
                  <a:rPr lang="en-US" dirty="0"/>
                  <a:t>​​ for the XOR bid is defined as follows:</a:t>
                </a:r>
              </a:p>
              <a:p>
                <a:pPr marL="228600" indent="-228600">
                  <a:buFont typeface="+mj-lt"/>
                  <a:buAutoNum type="arabicPeriod"/>
                </a:pPr>
                <a:r>
                  <a:rPr lang="en-US" b="1" dirty="0"/>
                  <a:t>Valuation for Individual Items</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1</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𝑎</m:t>
                            </m:r>
                          </m:e>
                        </m:d>
                      </m:e>
                    </m:d>
                    <m:r>
                      <a:rPr lang="en-US" sz="1200" b="0" i="1" spc="10" smtClean="0">
                        <a:latin typeface="Cambria Math" panose="02040503050406030204" pitchFamily="18" charset="0"/>
                        <a:cs typeface="Tahoma"/>
                      </a:rPr>
                      <m:t>=0</m:t>
                    </m:r>
                  </m:oMath>
                </a14:m>
                <a:r>
                  <a:rPr lang="en-US" dirty="0"/>
                  <a:t> : The item </a:t>
                </a:r>
                <a14:m>
                  <m:oMath xmlns:m="http://schemas.openxmlformats.org/officeDocument/2006/math">
                    <m:r>
                      <a:rPr lang="en-US" i="1" dirty="0" smtClean="0">
                        <a:latin typeface="Cambria Math" panose="02040503050406030204" pitchFamily="18" charset="0"/>
                      </a:rPr>
                      <m:t>𝑎</m:t>
                    </m:r>
                  </m:oMath>
                </a14:m>
                <a:r>
                  <a:rPr lang="en-US" dirty="0"/>
                  <a:t> alone does not satisfy any bid.</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sz="1200" i="1" spc="10" smtClean="0">
                            <a:latin typeface="Cambria Math" panose="02040503050406030204" pitchFamily="18" charset="0"/>
                            <a:cs typeface="Tahoma"/>
                          </a:rPr>
                        </m:ctrlPr>
                      </m:sSubPr>
                      <m:e>
                        <m:r>
                          <a:rPr lang="en-US" sz="1200" i="1" spc="10">
                            <a:latin typeface="Cambria Math" panose="02040503050406030204" pitchFamily="18" charset="0"/>
                            <a:cs typeface="Tahoma"/>
                          </a:rPr>
                          <m:t>𝑣</m:t>
                        </m:r>
                      </m:e>
                      <m:sub>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𝛽</m:t>
                            </m:r>
                          </m:e>
                          <m:sub>
                            <m:r>
                              <a:rPr lang="en-US" sz="1200" i="1" spc="10">
                                <a:latin typeface="Cambria Math" panose="02040503050406030204" pitchFamily="18" charset="0"/>
                                <a:cs typeface="Tahoma"/>
                              </a:rPr>
                              <m:t>1</m:t>
                            </m:r>
                          </m:sub>
                        </m:sSub>
                      </m:sub>
                    </m:sSub>
                    <m:d>
                      <m:dPr>
                        <m:ctrlPr>
                          <a:rPr lang="en-US" sz="1200" i="1" spc="10">
                            <a:latin typeface="Cambria Math" panose="02040503050406030204" pitchFamily="18" charset="0"/>
                            <a:cs typeface="Tahoma"/>
                          </a:rPr>
                        </m:ctrlPr>
                      </m:dPr>
                      <m:e>
                        <m:d>
                          <m:dPr>
                            <m:begChr m:val="{"/>
                            <m:endChr m:val="}"/>
                            <m:ctrlPr>
                              <a:rPr lang="en-US" sz="1200" i="1" spc="10">
                                <a:latin typeface="Cambria Math" panose="02040503050406030204" pitchFamily="18" charset="0"/>
                                <a:cs typeface="Tahoma"/>
                              </a:rPr>
                            </m:ctrlPr>
                          </m:dPr>
                          <m:e>
                            <m:r>
                              <a:rPr lang="en-US" sz="1200" b="0" i="1" spc="10" smtClean="0">
                                <a:latin typeface="Cambria Math" panose="02040503050406030204" pitchFamily="18" charset="0"/>
                                <a:cs typeface="Tahoma"/>
                              </a:rPr>
                              <m:t>𝑏</m:t>
                            </m:r>
                          </m:e>
                        </m:d>
                      </m:e>
                    </m:d>
                    <m:r>
                      <a:rPr lang="en-US" sz="1200" b="0" i="1" spc="10" smtClean="0">
                        <a:latin typeface="Cambria Math" panose="02040503050406030204" pitchFamily="18" charset="0"/>
                        <a:cs typeface="Tahoma"/>
                      </a:rPr>
                      <m:t>=0</m:t>
                    </m:r>
                  </m:oMath>
                </a14:m>
                <a:r>
                  <a:rPr lang="en-US" dirty="0"/>
                  <a:t> : The item </a:t>
                </a:r>
                <a14:m>
                  <m:oMath xmlns:m="http://schemas.openxmlformats.org/officeDocument/2006/math">
                    <m:r>
                      <a:rPr lang="en-US" i="1" dirty="0" smtClean="0">
                        <a:latin typeface="Cambria Math" panose="02040503050406030204" pitchFamily="18" charset="0"/>
                      </a:rPr>
                      <m:t>𝑏</m:t>
                    </m:r>
                  </m:oMath>
                </a14:m>
                <a:r>
                  <a:rPr lang="en-US" dirty="0"/>
                  <a:t> alone does not satisfy any bid.</a:t>
                </a:r>
              </a:p>
              <a:p>
                <a:pPr marL="228600" indent="-228600">
                  <a:buFont typeface="+mj-lt"/>
                  <a:buAutoNum type="arabicPeriod"/>
                </a:pPr>
                <a:r>
                  <a:rPr lang="en-US" b="1" dirty="0"/>
                  <a:t>Valuation for Bundles of Two Items</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sz="1200" i="1" spc="10" smtClean="0">
                            <a:latin typeface="Cambria Math" panose="02040503050406030204" pitchFamily="18" charset="0"/>
                            <a:cs typeface="Tahoma"/>
                          </a:rPr>
                        </m:ctrlPr>
                      </m:sSubPr>
                      <m:e>
                        <m:r>
                          <a:rPr lang="en-US" sz="1200" i="1" spc="10">
                            <a:latin typeface="Cambria Math" panose="02040503050406030204" pitchFamily="18" charset="0"/>
                            <a:cs typeface="Tahoma"/>
                          </a:rPr>
                          <m:t>𝑣</m:t>
                        </m:r>
                      </m:e>
                      <m:sub>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𝛽</m:t>
                            </m:r>
                          </m:e>
                          <m:sub>
                            <m:r>
                              <a:rPr lang="en-US" sz="1200" i="1" spc="10">
                                <a:latin typeface="Cambria Math" panose="02040503050406030204" pitchFamily="18" charset="0"/>
                                <a:cs typeface="Tahoma"/>
                              </a:rPr>
                              <m:t>1</m:t>
                            </m:r>
                          </m:sub>
                        </m:sSub>
                      </m:sub>
                    </m:sSub>
                    <m:d>
                      <m:dPr>
                        <m:ctrlPr>
                          <a:rPr lang="en-US" sz="1200" i="1" spc="10">
                            <a:latin typeface="Cambria Math" panose="02040503050406030204" pitchFamily="18" charset="0"/>
                            <a:cs typeface="Tahoma"/>
                          </a:rPr>
                        </m:ctrlPr>
                      </m:dPr>
                      <m:e>
                        <m:d>
                          <m:dPr>
                            <m:begChr m:val="{"/>
                            <m:endChr m:val="}"/>
                            <m:ctrlPr>
                              <a:rPr lang="en-US" sz="1200" i="1" spc="10">
                                <a:latin typeface="Cambria Math" panose="02040503050406030204" pitchFamily="18" charset="0"/>
                                <a:cs typeface="Tahoma"/>
                              </a:rPr>
                            </m:ctrlPr>
                          </m:dPr>
                          <m:e>
                            <m:r>
                              <a:rPr lang="en-US" sz="1200" b="0" i="1" spc="10" smtClean="0">
                                <a:latin typeface="Cambria Math" panose="02040503050406030204" pitchFamily="18" charset="0"/>
                                <a:cs typeface="Tahoma"/>
                              </a:rPr>
                              <m:t>𝑎</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𝑏</m:t>
                            </m:r>
                          </m:e>
                        </m:d>
                      </m:e>
                    </m:d>
                    <m:r>
                      <a:rPr lang="en-US" sz="1200" b="0" i="1" spc="10" smtClean="0">
                        <a:latin typeface="Cambria Math" panose="02040503050406030204" pitchFamily="18" charset="0"/>
                        <a:cs typeface="Tahoma"/>
                      </a:rPr>
                      <m:t>=3</m:t>
                    </m:r>
                  </m:oMath>
                </a14:m>
                <a:r>
                  <a:rPr lang="en-US" dirty="0"/>
                  <a:t> : The bundle containing both </a:t>
                </a:r>
                <a14:m>
                  <m:oMath xmlns:m="http://schemas.openxmlformats.org/officeDocument/2006/math">
                    <m:r>
                      <a:rPr lang="en-US" i="1" dirty="0" smtClean="0">
                        <a:latin typeface="Cambria Math" panose="02040503050406030204" pitchFamily="18" charset="0"/>
                      </a:rPr>
                      <m:t>𝑎</m:t>
                    </m:r>
                  </m:oMath>
                </a14:m>
                <a:r>
                  <a:rPr lang="en-US" dirty="0"/>
                  <a:t> and </a:t>
                </a:r>
                <a14:m>
                  <m:oMath xmlns:m="http://schemas.openxmlformats.org/officeDocument/2006/math">
                    <m:r>
                      <a:rPr lang="en-US" i="1" dirty="0" smtClean="0">
                        <a:latin typeface="Cambria Math" panose="02040503050406030204" pitchFamily="18" charset="0"/>
                      </a:rPr>
                      <m:t>𝑏</m:t>
                    </m:r>
                  </m:oMath>
                </a14:m>
                <a:r>
                  <a:rPr lang="en-US" dirty="0"/>
                  <a:t> satisfies the first part of the XOR bid, leading to a valuation of </a:t>
                </a:r>
                <a:r>
                  <a:rPr lang="en-US" b="1" dirty="0"/>
                  <a:t>$3</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sz="1200" i="1" spc="10" smtClean="0">
                            <a:latin typeface="Cambria Math" panose="02040503050406030204" pitchFamily="18" charset="0"/>
                            <a:cs typeface="Tahoma"/>
                          </a:rPr>
                        </m:ctrlPr>
                      </m:sSubPr>
                      <m:e>
                        <m:r>
                          <a:rPr lang="en-US" sz="1200" i="1" spc="10">
                            <a:latin typeface="Cambria Math" panose="02040503050406030204" pitchFamily="18" charset="0"/>
                            <a:cs typeface="Tahoma"/>
                          </a:rPr>
                          <m:t>𝑣</m:t>
                        </m:r>
                      </m:e>
                      <m:sub>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𝛽</m:t>
                            </m:r>
                          </m:e>
                          <m:sub>
                            <m:r>
                              <a:rPr lang="en-US" sz="1200" i="1" spc="10">
                                <a:latin typeface="Cambria Math" panose="02040503050406030204" pitchFamily="18" charset="0"/>
                                <a:cs typeface="Tahoma"/>
                              </a:rPr>
                              <m:t>1</m:t>
                            </m:r>
                          </m:sub>
                        </m:sSub>
                      </m:sub>
                    </m:sSub>
                    <m:d>
                      <m:dPr>
                        <m:ctrlPr>
                          <a:rPr lang="en-US" sz="1200" i="1" spc="10">
                            <a:latin typeface="Cambria Math" panose="02040503050406030204" pitchFamily="18" charset="0"/>
                            <a:cs typeface="Tahoma"/>
                          </a:rPr>
                        </m:ctrlPr>
                      </m:dPr>
                      <m:e>
                        <m:d>
                          <m:dPr>
                            <m:begChr m:val="{"/>
                            <m:endChr m:val="}"/>
                            <m:ctrlPr>
                              <a:rPr lang="en-US" sz="1200" i="1" spc="10">
                                <a:latin typeface="Cambria Math" panose="02040503050406030204" pitchFamily="18" charset="0"/>
                                <a:cs typeface="Tahoma"/>
                              </a:rPr>
                            </m:ctrlPr>
                          </m:dPr>
                          <m:e>
                            <m:r>
                              <a:rPr lang="en-US" sz="1200" b="0" i="1" spc="10" smtClean="0">
                                <a:latin typeface="Cambria Math" panose="02040503050406030204" pitchFamily="18" charset="0"/>
                                <a:cs typeface="Tahoma"/>
                              </a:rPr>
                              <m:t>𝑐</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𝑑</m:t>
                            </m:r>
                          </m:e>
                        </m:d>
                      </m:e>
                    </m:d>
                    <m:r>
                      <a:rPr lang="en-US" sz="1200" b="0" i="1" spc="10" smtClean="0">
                        <a:latin typeface="Cambria Math" panose="02040503050406030204" pitchFamily="18" charset="0"/>
                        <a:cs typeface="Tahoma"/>
                      </a:rPr>
                      <m:t>=5</m:t>
                    </m:r>
                  </m:oMath>
                </a14:m>
                <a:r>
                  <a:rPr lang="en-US" dirty="0"/>
                  <a:t> : The bundle containing both </a:t>
                </a:r>
                <a14:m>
                  <m:oMath xmlns:m="http://schemas.openxmlformats.org/officeDocument/2006/math">
                    <m:r>
                      <a:rPr lang="en-US" i="1" dirty="0" smtClean="0">
                        <a:latin typeface="Cambria Math" panose="02040503050406030204" pitchFamily="18" charset="0"/>
                      </a:rPr>
                      <m:t>𝑐</m:t>
                    </m:r>
                  </m:oMath>
                </a14:m>
                <a:r>
                  <a:rPr lang="en-US" dirty="0"/>
                  <a:t> and </a:t>
                </a:r>
                <a14:m>
                  <m:oMath xmlns:m="http://schemas.openxmlformats.org/officeDocument/2006/math">
                    <m:r>
                      <a:rPr lang="en-US" i="1" dirty="0" smtClean="0">
                        <a:latin typeface="Cambria Math" panose="02040503050406030204" pitchFamily="18" charset="0"/>
                      </a:rPr>
                      <m:t>𝑑</m:t>
                    </m:r>
                  </m:oMath>
                </a14:m>
                <a:r>
                  <a:rPr lang="en-US" dirty="0"/>
                  <a:t> satisfies the second part of the XOR bid, leading to a valuation of </a:t>
                </a:r>
                <a:r>
                  <a:rPr lang="en-US" b="1" dirty="0"/>
                  <a:t>$5</a:t>
                </a:r>
                <a:r>
                  <a:rPr lang="en-US" dirty="0"/>
                  <a:t>.</a:t>
                </a:r>
              </a:p>
              <a:p>
                <a:pPr marL="228600" indent="-228600">
                  <a:buFont typeface="+mj-lt"/>
                  <a:buAutoNum type="arabicPeriod"/>
                </a:pPr>
                <a:r>
                  <a:rPr lang="en-US" b="1" dirty="0"/>
                  <a:t>Valuation for the Bundle of All Four Items</a:t>
                </a:r>
                <a:r>
                  <a:rPr lang="en-US" dirty="0"/>
                  <a:t>:</a:t>
                </a:r>
              </a:p>
              <a:p>
                <a:pPr marL="742950" lvl="1" indent="-285750">
                  <a:buFont typeface="+mj-lt"/>
                  <a:buAutoNum type="arabicPeriod"/>
                </a:pPr>
                <a14:m>
                  <m:oMath xmlns:m="http://schemas.openxmlformats.org/officeDocument/2006/math">
                    <m:sSub>
                      <m:sSubPr>
                        <m:ctrlPr>
                          <a:rPr lang="en-US" sz="1200" i="1" spc="10" smtClean="0">
                            <a:latin typeface="Cambria Math" panose="02040503050406030204" pitchFamily="18" charset="0"/>
                            <a:cs typeface="Tahoma"/>
                          </a:rPr>
                        </m:ctrlPr>
                      </m:sSubPr>
                      <m:e>
                        <m:r>
                          <a:rPr lang="en-US" sz="1200" i="1" spc="10">
                            <a:latin typeface="Cambria Math" panose="02040503050406030204" pitchFamily="18" charset="0"/>
                            <a:cs typeface="Tahoma"/>
                          </a:rPr>
                          <m:t>𝑣</m:t>
                        </m:r>
                      </m:e>
                      <m:sub>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𝛽</m:t>
                            </m:r>
                          </m:e>
                          <m:sub>
                            <m:r>
                              <a:rPr lang="en-US" sz="1200" i="1" spc="10">
                                <a:latin typeface="Cambria Math" panose="02040503050406030204" pitchFamily="18" charset="0"/>
                                <a:cs typeface="Tahoma"/>
                              </a:rPr>
                              <m:t>1</m:t>
                            </m:r>
                          </m:sub>
                        </m:sSub>
                      </m:sub>
                    </m:sSub>
                    <m:d>
                      <m:dPr>
                        <m:ctrlPr>
                          <a:rPr lang="en-US" sz="1200" i="1" spc="10">
                            <a:latin typeface="Cambria Math" panose="02040503050406030204" pitchFamily="18" charset="0"/>
                            <a:cs typeface="Tahoma"/>
                          </a:rPr>
                        </m:ctrlPr>
                      </m:dPr>
                      <m:e>
                        <m:d>
                          <m:dPr>
                            <m:begChr m:val="{"/>
                            <m:endChr m:val="}"/>
                            <m:ctrlPr>
                              <a:rPr lang="en-US" sz="1200" i="1" spc="10">
                                <a:latin typeface="Cambria Math" panose="02040503050406030204" pitchFamily="18" charset="0"/>
                                <a:cs typeface="Tahoma"/>
                              </a:rPr>
                            </m:ctrlPr>
                          </m:dPr>
                          <m:e>
                            <m:r>
                              <a:rPr lang="en-US" sz="1200" i="1" spc="10">
                                <a:latin typeface="Cambria Math" panose="02040503050406030204" pitchFamily="18" charset="0"/>
                                <a:cs typeface="Tahoma"/>
                              </a:rPr>
                              <m:t>𝑎</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𝑏</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𝑐</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𝑑</m:t>
                            </m:r>
                          </m:e>
                        </m:d>
                      </m:e>
                    </m:d>
                    <m:r>
                      <a:rPr lang="en-US" sz="1200" b="0" i="1" spc="10" smtClean="0">
                        <a:latin typeface="Cambria Math" panose="02040503050406030204" pitchFamily="18" charset="0"/>
                        <a:cs typeface="Tahoma"/>
                      </a:rPr>
                      <m:t>=5</m:t>
                    </m:r>
                  </m:oMath>
                </a14:m>
                <a:r>
                  <a:rPr lang="en-US" dirty="0"/>
                  <a:t> : The full bundle of all four items satisfies the second part of the XOR bid (since the second price is higher), resulting in a valuation of </a:t>
                </a:r>
                <a:r>
                  <a:rPr lang="en-US" b="1" dirty="0"/>
                  <a:t>$5</a:t>
                </a:r>
                <a:r>
                  <a:rPr lang="en-US" dirty="0"/>
                  <a:t>.</a:t>
                </a:r>
              </a:p>
              <a:p>
                <a:pPr marL="742950" lvl="1" indent="-285750">
                  <a:buFont typeface="+mj-lt"/>
                  <a:buAutoNum type="arabicPeriod"/>
                </a:pPr>
                <a:endParaRPr lang="en-US" dirty="0"/>
              </a:p>
              <a:p>
                <a:r>
                  <a:rPr lang="en-US" b="1" dirty="0"/>
                  <a:t>Implications of the Valuation Function:</a:t>
                </a:r>
              </a:p>
              <a:p>
                <a:pPr marL="171450" indent="-171450">
                  <a:buFont typeface="Arial" panose="020B0604020202020204" pitchFamily="34" charset="0"/>
                  <a:buChar char="•"/>
                </a:pPr>
                <a:r>
                  <a:rPr lang="en-US" dirty="0"/>
                  <a:t>The valuation function illustrates how bidders can express distinct preferences for combinations of items while adhering to the constraints of the XOR format.</a:t>
                </a:r>
              </a:p>
              <a:p>
                <a:pPr marL="171450" indent="-171450">
                  <a:buFont typeface="Arial" panose="020B0604020202020204" pitchFamily="34" charset="0"/>
                  <a:buChar char="•"/>
                </a:pPr>
                <a:r>
                  <a:rPr lang="en-US" dirty="0"/>
                  <a:t>It also demonstrates the flexibility of XOR bids to encapsulate various valuation scenarios and choices available to the bidder, emphasizing the advantage of this bidding language in combinatorial auctions.</a:t>
                </a:r>
              </a:p>
              <a:p>
                <a:pPr marL="171450" indent="-171450">
                  <a:buFont typeface="Arial" panose="020B0604020202020204" pitchFamily="34" charset="0"/>
                  <a:buChar char="•"/>
                </a:pPr>
                <a:endParaRPr lang="en-US" dirty="0"/>
              </a:p>
              <a:p>
                <a:r>
                  <a:rPr lang="en-US" b="1" dirty="0"/>
                  <a:t>Conclusion:</a:t>
                </a:r>
              </a:p>
              <a:p>
                <a:pPr marL="171450" indent="-171450">
                  <a:buFont typeface="Arial" panose="020B0604020202020204" pitchFamily="34" charset="0"/>
                  <a:buChar char="•"/>
                </a:pPr>
                <a:r>
                  <a:rPr lang="en-US" dirty="0"/>
                  <a:t>This example highlights the power of XOR bids to represent complex bidding strategies effectively, allowing bidders to articulate their preferences and pay accordingly for the items they value.</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concrete example of an XOR bid, illustrating how it can represent preferences for specific combinations of items and exclusion of others.</a:t>
                </a:r>
              </a:p>
              <a:p>
                <a:endParaRPr lang="en-US" b="0" i="0" dirty="0">
                  <a:solidFill>
                    <a:srgbClr val="E8E8E8"/>
                  </a:solidFill>
                  <a:effectLst/>
                  <a:latin typeface="Google Sans Text"/>
                </a:endParaRPr>
              </a:p>
              <a:p>
                <a:pPr marL="0" indent="0">
                  <a:buFont typeface="+mj-lt"/>
                  <a:buNone/>
                </a:pPr>
                <a:r>
                  <a:rPr lang="en-US" b="1" dirty="0"/>
                  <a:t>XOR Bid Structure</a:t>
                </a:r>
                <a:r>
                  <a:rPr lang="en-US" dirty="0"/>
                  <a:t>: </a:t>
                </a:r>
                <a:r>
                  <a:rPr lang="en-US" i="0" dirty="0">
                    <a:latin typeface="Cambria Math" panose="02040503050406030204" pitchFamily="18" charset="0"/>
                  </a:rPr>
                  <a:t>𝛽_1= {(𝑎, 𝑏), 3}⊕{(𝑐, 𝑑), 5}</a:t>
                </a:r>
                <a:endParaRPr lang="en-US" dirty="0"/>
              </a:p>
              <a:p>
                <a:pPr marL="742950" lvl="1" indent="-285750">
                  <a:buFont typeface="Arial" panose="020B0604020202020204" pitchFamily="34" charset="0"/>
                  <a:buChar char="•"/>
                </a:pPr>
                <a:r>
                  <a:rPr lang="en-US" dirty="0"/>
                  <a:t>This bid expresses a willingness to pay:</a:t>
                </a:r>
              </a:p>
              <a:p>
                <a:pPr marL="1143000" lvl="2" indent="-228600">
                  <a:buFont typeface="Arial" panose="020B0604020202020204" pitchFamily="34" charset="0"/>
                  <a:buChar char="•"/>
                </a:pPr>
                <a:r>
                  <a:rPr lang="en-US" b="1" dirty="0"/>
                  <a:t>$3</a:t>
                </a:r>
                <a:r>
                  <a:rPr lang="en-US" dirty="0"/>
                  <a:t> for a bundle containing </a:t>
                </a:r>
                <a:r>
                  <a:rPr lang="en-US" b="1" dirty="0"/>
                  <a:t>items </a:t>
                </a:r>
                <a:r>
                  <a:rPr lang="en-US" b="1" i="0" dirty="0">
                    <a:latin typeface="Cambria Math" panose="02040503050406030204" pitchFamily="18" charset="0"/>
                  </a:rPr>
                  <a:t>𝒂</a:t>
                </a:r>
                <a:r>
                  <a:rPr lang="en-US" b="1" dirty="0"/>
                  <a:t> and </a:t>
                </a:r>
                <a:r>
                  <a:rPr lang="en-US" b="1" i="0" dirty="0">
                    <a:latin typeface="Cambria Math" panose="02040503050406030204" pitchFamily="18" charset="0"/>
                  </a:rPr>
                  <a:t>𝒃</a:t>
                </a:r>
                <a:r>
                  <a:rPr lang="en-US" dirty="0"/>
                  <a:t> (excluding </a:t>
                </a:r>
                <a:r>
                  <a:rPr lang="en-US" i="0" dirty="0">
                    <a:latin typeface="Cambria Math" panose="02040503050406030204" pitchFamily="18" charset="0"/>
                  </a:rPr>
                  <a:t>𝑐</a:t>
                </a:r>
                <a:r>
                  <a:rPr lang="en-US" dirty="0"/>
                  <a:t> and </a:t>
                </a:r>
                <a:r>
                  <a:rPr lang="en-US" i="0" dirty="0">
                    <a:latin typeface="Cambria Math" panose="02040503050406030204" pitchFamily="18" charset="0"/>
                  </a:rPr>
                  <a:t>𝑑</a:t>
                </a:r>
                <a:r>
                  <a:rPr lang="en-US" dirty="0"/>
                  <a:t>).</a:t>
                </a:r>
              </a:p>
              <a:p>
                <a:pPr marL="1143000" lvl="2" indent="-228600">
                  <a:buFont typeface="Arial" panose="020B0604020202020204" pitchFamily="34" charset="0"/>
                  <a:buChar char="•"/>
                </a:pPr>
                <a:r>
                  <a:rPr lang="en-US" b="1" dirty="0"/>
                  <a:t>$5</a:t>
                </a:r>
                <a:r>
                  <a:rPr lang="en-US" dirty="0"/>
                  <a:t> for a bundle containing </a:t>
                </a:r>
                <a:r>
                  <a:rPr lang="en-US" b="1" dirty="0"/>
                  <a:t>items </a:t>
                </a:r>
                <a:r>
                  <a:rPr lang="en-US" b="1" i="0" dirty="0">
                    <a:latin typeface="Cambria Math" panose="02040503050406030204" pitchFamily="18" charset="0"/>
                  </a:rPr>
                  <a:t>𝒄</a:t>
                </a:r>
                <a:r>
                  <a:rPr lang="en-US" b="1" dirty="0"/>
                  <a:t> and </a:t>
                </a:r>
                <a:r>
                  <a:rPr lang="en-US" b="1" i="0" dirty="0">
                    <a:latin typeface="Cambria Math" panose="02040503050406030204" pitchFamily="18" charset="0"/>
                  </a:rPr>
                  <a:t>𝒅</a:t>
                </a:r>
                <a:r>
                  <a:rPr lang="en-US" dirty="0"/>
                  <a:t> (excluding </a:t>
                </a:r>
                <a:r>
                  <a:rPr lang="en-US" i="0" dirty="0">
                    <a:latin typeface="Cambria Math" panose="02040503050406030204" pitchFamily="18" charset="0"/>
                  </a:rPr>
                  <a:t>𝑎</a:t>
                </a:r>
                <a:r>
                  <a:rPr lang="en-US" dirty="0"/>
                  <a:t> and </a:t>
                </a:r>
                <a:r>
                  <a:rPr lang="en-US" i="0" dirty="0">
                    <a:latin typeface="Cambria Math" panose="02040503050406030204" pitchFamily="18" charset="0"/>
                  </a:rPr>
                  <a:t>𝑏</a:t>
                </a:r>
                <a:r>
                  <a:rPr lang="en-US" dirty="0"/>
                  <a:t>).</a:t>
                </a:r>
              </a:p>
              <a:p>
                <a:pPr marL="1143000" lvl="2" indent="-228600">
                  <a:buFont typeface="Arial" panose="020B0604020202020204" pitchFamily="34" charset="0"/>
                  <a:buChar char="•"/>
                </a:pPr>
                <a:r>
                  <a:rPr lang="en-US" b="1" dirty="0"/>
                  <a:t>$5</a:t>
                </a:r>
                <a:r>
                  <a:rPr lang="en-US" dirty="0"/>
                  <a:t> for a bundle containing </a:t>
                </a:r>
                <a:r>
                  <a:rPr lang="en-US" b="1" dirty="0"/>
                  <a:t>all four items </a:t>
                </a:r>
                <a:r>
                  <a:rPr lang="en-US" b="1" i="0" dirty="0">
                    <a:latin typeface="Cambria Math" panose="02040503050406030204" pitchFamily="18" charset="0"/>
                  </a:rPr>
                  <a:t>𝒂</a:t>
                </a:r>
                <a:r>
                  <a:rPr lang="en-US" b="1" dirty="0"/>
                  <a:t>, </a:t>
                </a:r>
                <a:r>
                  <a:rPr lang="en-US" b="1" i="0" dirty="0">
                    <a:latin typeface="Cambria Math" panose="02040503050406030204" pitchFamily="18" charset="0"/>
                  </a:rPr>
                  <a:t>𝒃</a:t>
                </a:r>
                <a:r>
                  <a:rPr lang="en-US" b="1" dirty="0"/>
                  <a:t>, </a:t>
                </a:r>
                <a:r>
                  <a:rPr lang="en-US" b="1" i="0" dirty="0">
                    <a:latin typeface="Cambria Math" panose="02040503050406030204" pitchFamily="18" charset="0"/>
                  </a:rPr>
                  <a:t>𝒄</a:t>
                </a:r>
                <a:r>
                  <a:rPr lang="en-US" b="1" dirty="0"/>
                  <a:t>, and </a:t>
                </a:r>
                <a:r>
                  <a:rPr lang="en-US" b="1" i="0" dirty="0">
                    <a:latin typeface="Cambria Math" panose="02040503050406030204" pitchFamily="18" charset="0"/>
                  </a:rPr>
                  <a:t>𝒅</a:t>
                </a:r>
                <a:r>
                  <a:rPr lang="en-US" dirty="0"/>
                  <a:t>.</a:t>
                </a:r>
              </a:p>
              <a:p>
                <a:pPr marL="0" indent="0">
                  <a:buFont typeface="+mj-lt"/>
                  <a:buNone/>
                </a:pPr>
                <a:endParaRPr lang="en-US" b="1" dirty="0"/>
              </a:p>
              <a:p>
                <a:pPr marL="0" indent="0">
                  <a:buFont typeface="+mj-lt"/>
                  <a:buNone/>
                </a:pPr>
                <a:r>
                  <a:rPr lang="en-US" b="1" dirty="0"/>
                  <a:t>Constructing the Valuation Function</a:t>
                </a:r>
              </a:p>
              <a:p>
                <a:r>
                  <a:rPr lang="en-US" dirty="0"/>
                  <a:t>The valuation function </a:t>
                </a:r>
                <a:r>
                  <a:rPr lang="en-US" sz="1200" b="0" i="0" spc="10">
                    <a:latin typeface="Cambria Math" panose="02040503050406030204" pitchFamily="18" charset="0"/>
                    <a:cs typeface="Tahoma"/>
                  </a:rPr>
                  <a:t>𝑣_(𝛽_1 )</a:t>
                </a:r>
                <a:r>
                  <a:rPr lang="en-US" dirty="0"/>
                  <a:t>​​ for the XOR bid is defined as follows:</a:t>
                </a:r>
              </a:p>
              <a:p>
                <a:pPr marL="228600" indent="-228600">
                  <a:buFont typeface="+mj-lt"/>
                  <a:buAutoNum type="arabicPeriod"/>
                </a:pPr>
                <a:r>
                  <a:rPr lang="en-US" b="1" dirty="0"/>
                  <a:t>Valuation for Individual Items</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spc="10">
                    <a:latin typeface="Cambria Math" panose="02040503050406030204" pitchFamily="18" charset="0"/>
                    <a:cs typeface="Tahoma"/>
                  </a:rPr>
                  <a:t>𝑣_(𝛽_1 ) ({𝑎})=0</a:t>
                </a:r>
                <a:r>
                  <a:rPr lang="en-US" dirty="0"/>
                  <a:t> : The item </a:t>
                </a:r>
                <a:r>
                  <a:rPr lang="en-US" i="0" dirty="0">
                    <a:latin typeface="Cambria Math" panose="02040503050406030204" pitchFamily="18" charset="0"/>
                  </a:rPr>
                  <a:t>𝑎</a:t>
                </a:r>
                <a:r>
                  <a:rPr lang="en-US" dirty="0"/>
                  <a:t> alone does not satisfy any bid.</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spc="10">
                    <a:latin typeface="Cambria Math" panose="02040503050406030204" pitchFamily="18" charset="0"/>
                    <a:cs typeface="Tahoma"/>
                  </a:rPr>
                  <a:t>𝑣_(𝛽_1 ) ({</a:t>
                </a:r>
                <a:r>
                  <a:rPr lang="en-US" sz="1200" b="0" i="0" spc="10">
                    <a:latin typeface="Cambria Math" panose="02040503050406030204" pitchFamily="18" charset="0"/>
                    <a:cs typeface="Tahoma"/>
                  </a:rPr>
                  <a:t>𝑏})=0</a:t>
                </a:r>
                <a:r>
                  <a:rPr lang="en-US" dirty="0"/>
                  <a:t> : The item </a:t>
                </a:r>
                <a:r>
                  <a:rPr lang="en-US" i="0" dirty="0">
                    <a:latin typeface="Cambria Math" panose="02040503050406030204" pitchFamily="18" charset="0"/>
                  </a:rPr>
                  <a:t>𝑏</a:t>
                </a:r>
                <a:r>
                  <a:rPr lang="en-US" dirty="0"/>
                  <a:t> alone does not satisfy any bid.</a:t>
                </a:r>
              </a:p>
              <a:p>
                <a:pPr marL="228600" indent="-228600">
                  <a:buFont typeface="+mj-lt"/>
                  <a:buAutoNum type="arabicPeriod"/>
                </a:pPr>
                <a:r>
                  <a:rPr lang="en-US" b="1" dirty="0"/>
                  <a:t>Valuation for Bundles of Two Items</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spc="10">
                    <a:latin typeface="Cambria Math" panose="02040503050406030204" pitchFamily="18" charset="0"/>
                    <a:cs typeface="Tahoma"/>
                  </a:rPr>
                  <a:t>𝑣_(𝛽_1 ) ({</a:t>
                </a:r>
                <a:r>
                  <a:rPr lang="en-US" sz="1200" b="0" i="0" spc="10">
                    <a:latin typeface="Cambria Math" panose="02040503050406030204" pitchFamily="18" charset="0"/>
                    <a:cs typeface="Tahoma"/>
                  </a:rPr>
                  <a:t>𝑎,𝑏})=3</a:t>
                </a:r>
                <a:r>
                  <a:rPr lang="en-US" dirty="0"/>
                  <a:t> : The bundle containing both </a:t>
                </a:r>
                <a:r>
                  <a:rPr lang="en-US" i="0" dirty="0">
                    <a:latin typeface="Cambria Math" panose="02040503050406030204" pitchFamily="18" charset="0"/>
                  </a:rPr>
                  <a:t>𝑎</a:t>
                </a:r>
                <a:r>
                  <a:rPr lang="en-US" dirty="0"/>
                  <a:t> and </a:t>
                </a:r>
                <a:r>
                  <a:rPr lang="en-US" i="0" dirty="0">
                    <a:latin typeface="Cambria Math" panose="02040503050406030204" pitchFamily="18" charset="0"/>
                  </a:rPr>
                  <a:t>𝑏</a:t>
                </a:r>
                <a:r>
                  <a:rPr lang="en-US" dirty="0"/>
                  <a:t> satisfies the first part of the XOR bid, leading to a valuation of </a:t>
                </a:r>
                <a:r>
                  <a:rPr lang="en-US" b="1" dirty="0"/>
                  <a:t>$3</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i="0" spc="10">
                    <a:latin typeface="Cambria Math" panose="02040503050406030204" pitchFamily="18" charset="0"/>
                    <a:cs typeface="Tahoma"/>
                  </a:rPr>
                  <a:t>𝑣_(𝛽_1 ) ({</a:t>
                </a:r>
                <a:r>
                  <a:rPr lang="en-US" sz="1200" b="0" i="0" spc="10">
                    <a:latin typeface="Cambria Math" panose="02040503050406030204" pitchFamily="18" charset="0"/>
                    <a:cs typeface="Tahoma"/>
                  </a:rPr>
                  <a:t>𝑐,𝑑})=5</a:t>
                </a:r>
                <a:r>
                  <a:rPr lang="en-US" dirty="0"/>
                  <a:t> : The bundle containing both </a:t>
                </a:r>
                <a:r>
                  <a:rPr lang="en-US" i="0" dirty="0">
                    <a:latin typeface="Cambria Math" panose="02040503050406030204" pitchFamily="18" charset="0"/>
                  </a:rPr>
                  <a:t>𝑐</a:t>
                </a:r>
                <a:r>
                  <a:rPr lang="en-US" dirty="0"/>
                  <a:t> and </a:t>
                </a:r>
                <a:r>
                  <a:rPr lang="en-US" i="0" dirty="0">
                    <a:latin typeface="Cambria Math" panose="02040503050406030204" pitchFamily="18" charset="0"/>
                  </a:rPr>
                  <a:t>𝑑</a:t>
                </a:r>
                <a:r>
                  <a:rPr lang="en-US" dirty="0"/>
                  <a:t> satisfies the second part of the XOR bid, leading to a valuation of </a:t>
                </a:r>
                <a:r>
                  <a:rPr lang="en-US" b="1" dirty="0"/>
                  <a:t>$5</a:t>
                </a:r>
                <a:r>
                  <a:rPr lang="en-US" dirty="0"/>
                  <a:t>.</a:t>
                </a:r>
              </a:p>
              <a:p>
                <a:pPr marL="228600" indent="-228600">
                  <a:buFont typeface="+mj-lt"/>
                  <a:buAutoNum type="arabicPeriod"/>
                </a:pPr>
                <a:r>
                  <a:rPr lang="en-US" b="1" dirty="0"/>
                  <a:t>Valuation for the Bundle of All Four Items</a:t>
                </a:r>
                <a:r>
                  <a:rPr lang="en-US" dirty="0"/>
                  <a:t>:</a:t>
                </a:r>
              </a:p>
              <a:p>
                <a:pPr marL="742950" lvl="1" indent="-285750">
                  <a:buFont typeface="+mj-lt"/>
                  <a:buAutoNum type="arabicPeriod"/>
                </a:pPr>
                <a:r>
                  <a:rPr lang="en-US" sz="1200" i="0" spc="10">
                    <a:latin typeface="Cambria Math" panose="02040503050406030204" pitchFamily="18" charset="0"/>
                    <a:cs typeface="Tahoma"/>
                  </a:rPr>
                  <a:t>𝑣_(𝛽_1 ) ({𝑎</a:t>
                </a:r>
                <a:r>
                  <a:rPr lang="en-US" sz="1200" b="0" i="0" spc="10">
                    <a:latin typeface="Cambria Math" panose="02040503050406030204" pitchFamily="18" charset="0"/>
                    <a:cs typeface="Tahoma"/>
                  </a:rPr>
                  <a:t>,𝑏,𝑐,𝑑})=5</a:t>
                </a:r>
                <a:r>
                  <a:rPr lang="en-US" dirty="0"/>
                  <a:t> : The full bundle of all four items satisfies the second part of the XOR bid (since the second price is higher), resulting in a valuation of </a:t>
                </a:r>
                <a:r>
                  <a:rPr lang="en-US" b="1" dirty="0"/>
                  <a:t>$5</a:t>
                </a:r>
                <a:r>
                  <a:rPr lang="en-US" dirty="0"/>
                  <a:t>.</a:t>
                </a:r>
              </a:p>
              <a:p>
                <a:pPr marL="742950" lvl="1" indent="-285750">
                  <a:buFont typeface="+mj-lt"/>
                  <a:buAutoNum type="arabicPeriod"/>
                </a:pPr>
                <a:endParaRPr lang="en-US" dirty="0"/>
              </a:p>
              <a:p>
                <a:r>
                  <a:rPr lang="en-US" b="1" dirty="0"/>
                  <a:t>Implications of the Valuation Function:</a:t>
                </a:r>
              </a:p>
              <a:p>
                <a:pPr marL="171450" indent="-171450">
                  <a:buFont typeface="Arial" panose="020B0604020202020204" pitchFamily="34" charset="0"/>
                  <a:buChar char="•"/>
                </a:pPr>
                <a:r>
                  <a:rPr lang="en-US" dirty="0"/>
                  <a:t>The valuation function illustrates how bidders can express distinct preferences for combinations of items while adhering to the constraints of the XOR format.</a:t>
                </a:r>
              </a:p>
              <a:p>
                <a:pPr marL="171450" indent="-171450">
                  <a:buFont typeface="Arial" panose="020B0604020202020204" pitchFamily="34" charset="0"/>
                  <a:buChar char="•"/>
                </a:pPr>
                <a:r>
                  <a:rPr lang="en-US" dirty="0"/>
                  <a:t>It also demonstrates the flexibility of XOR bids to encapsulate various valuation scenarios and choices available to the bidder, emphasizing the advantage of this bidding language in combinatorial auctions.</a:t>
                </a:r>
              </a:p>
              <a:p>
                <a:pPr marL="171450" indent="-171450">
                  <a:buFont typeface="Arial" panose="020B0604020202020204" pitchFamily="34" charset="0"/>
                  <a:buChar char="•"/>
                </a:pPr>
                <a:endParaRPr lang="en-US" dirty="0"/>
              </a:p>
              <a:p>
                <a:r>
                  <a:rPr lang="en-US" b="1" dirty="0"/>
                  <a:t>Conclusion:</a:t>
                </a:r>
              </a:p>
              <a:p>
                <a:pPr marL="171450" indent="-171450">
                  <a:buFont typeface="Arial" panose="020B0604020202020204" pitchFamily="34" charset="0"/>
                  <a:buChar char="•"/>
                </a:pPr>
                <a:r>
                  <a:rPr lang="en-US" dirty="0"/>
                  <a:t>This example highlights the power of XOR bids to represent complex bidding strategies effectively, allowing bidders to articulate their preferences and pay accordingly for the items they value.</a:t>
                </a:r>
              </a:p>
              <a:p>
                <a:endParaRPr dirty="0"/>
              </a:p>
            </p:txBody>
          </p:sp>
        </mc:Fallback>
      </mc:AlternateContent>
    </p:spTree>
    <p:extLst>
      <p:ext uri="{BB962C8B-B14F-4D97-AF65-F5344CB8AC3E}">
        <p14:creationId xmlns:p14="http://schemas.microsoft.com/office/powerpoint/2010/main" val="238847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concrete example of an XOR bid, illustrating how it can represent preferences for specific combinations of items and exclusion of others.</a:t>
                </a:r>
              </a:p>
              <a:p>
                <a:endParaRPr lang="en-US" b="0" i="0" dirty="0">
                  <a:solidFill>
                    <a:srgbClr val="E8E8E8"/>
                  </a:solidFill>
                  <a:effectLst/>
                  <a:latin typeface="Google Sans Text"/>
                </a:endParaRPr>
              </a:p>
              <a:p>
                <a:r>
                  <a:rPr lang="en-US" b="1" dirty="0"/>
                  <a:t>Example XOR Bid</a:t>
                </a:r>
              </a:p>
              <a:p>
                <a:pPr>
                  <a:buFont typeface="Arial" panose="020B0604020202020204" pitchFamily="34" charset="0"/>
                  <a:buChar char="•"/>
                </a:pPr>
                <a:r>
                  <a:rPr lang="en-US" b="1" dirty="0"/>
                  <a:t>XOR Bid Structure</a:t>
                </a:r>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r>
                      <m:rPr>
                        <m:lit/>
                      </m:rP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𝑒</m:t>
                        </m:r>
                        <m:r>
                          <a:rPr lang="en-US" i="1" dirty="0" smtClean="0">
                            <a:latin typeface="Cambria Math" panose="02040503050406030204" pitchFamily="18" charset="0"/>
                          </a:rPr>
                          <m:t>, </m:t>
                        </m:r>
                        <m:r>
                          <a:rPr lang="en-US" i="1" dirty="0" smtClean="0">
                            <a:latin typeface="Cambria Math" panose="02040503050406030204" pitchFamily="18" charset="0"/>
                          </a:rPr>
                          <m:t>𝑓</m:t>
                        </m:r>
                        <m:r>
                          <a:rPr lang="en-US" i="1" dirty="0" smtClean="0">
                            <a:latin typeface="Cambria Math" panose="02040503050406030204" pitchFamily="18" charset="0"/>
                          </a:rPr>
                          <m:t>, </m:t>
                        </m:r>
                        <m:r>
                          <a:rPr lang="en-US" i="1" dirty="0" smtClean="0">
                            <a:latin typeface="Cambria Math" panose="02040503050406030204" pitchFamily="18" charset="0"/>
                          </a:rPr>
                          <m:t>𝑔</m:t>
                        </m:r>
                      </m:e>
                    </m:d>
                    <m:r>
                      <a:rPr lang="en-US" i="1" dirty="0" smtClean="0">
                        <a:latin typeface="Cambria Math" panose="02040503050406030204" pitchFamily="18" charset="0"/>
                      </a:rPr>
                      <m:t>, 2</m:t>
                    </m:r>
                    <m:r>
                      <m:rPr>
                        <m:lit/>
                      </m:rPr>
                      <a:rPr lang="en-US" i="1" dirty="0" smtClean="0">
                        <a:latin typeface="Cambria Math" panose="02040503050406030204" pitchFamily="18" charset="0"/>
                      </a:rPr>
                      <m:t>}</m:t>
                    </m:r>
                    <m:r>
                      <a:rPr lang="en-US" i="1" dirty="0" smtClean="0">
                        <a:latin typeface="Cambria Math" panose="02040503050406030204" pitchFamily="18" charset="0"/>
                      </a:rPr>
                      <m:t> ⊕</m:t>
                    </m:r>
                    <m:r>
                      <m:rPr>
                        <m:lit/>
                      </m:rP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𝑐</m:t>
                        </m:r>
                        <m:r>
                          <a:rPr lang="en-US" i="1" dirty="0" smtClean="0">
                            <a:latin typeface="Cambria Math" panose="02040503050406030204" pitchFamily="18" charset="0"/>
                          </a:rPr>
                          <m:t>, </m:t>
                        </m:r>
                        <m:r>
                          <a:rPr lang="en-US" i="1" dirty="0" smtClean="0">
                            <a:latin typeface="Cambria Math" panose="02040503050406030204" pitchFamily="18" charset="0"/>
                          </a:rPr>
                          <m:t>𝑑</m:t>
                        </m:r>
                        <m:r>
                          <a:rPr lang="en-US" i="1" dirty="0" smtClean="0">
                            <a:latin typeface="Cambria Math" panose="02040503050406030204" pitchFamily="18" charset="0"/>
                          </a:rPr>
                          <m:t>, </m:t>
                        </m:r>
                        <m:r>
                          <a:rPr lang="en-US" i="1" dirty="0" smtClean="0">
                            <a:latin typeface="Cambria Math" panose="02040503050406030204" pitchFamily="18" charset="0"/>
                          </a:rPr>
                          <m:t>𝑒</m:t>
                        </m:r>
                      </m:e>
                    </m:d>
                    <m:r>
                      <a:rPr lang="en-US" i="1" dirty="0" smtClean="0">
                        <a:latin typeface="Cambria Math" panose="02040503050406030204" pitchFamily="18" charset="0"/>
                      </a:rPr>
                      <m:t>, 4</m:t>
                    </m:r>
                    <m:r>
                      <m:rPr>
                        <m:lit/>
                      </m:rPr>
                      <a:rPr lang="en-US" i="1" dirty="0" smtClean="0">
                        <a:latin typeface="Cambria Math" panose="02040503050406030204" pitchFamily="18" charset="0"/>
                      </a:rPr>
                      <m:t>}</m:t>
                    </m:r>
                  </m:oMath>
                </a14:m>
                <a:endParaRPr lang="en-US" dirty="0"/>
              </a:p>
              <a:p>
                <a:pPr marL="742950" lvl="1" indent="-285750">
                  <a:buFont typeface="Arial" panose="020B0604020202020204" pitchFamily="34" charset="0"/>
                  <a:buChar char="•"/>
                </a:pPr>
                <a:r>
                  <a:rPr lang="en-US" dirty="0"/>
                  <a:t>This bid expresses a willingness to pay:</a:t>
                </a:r>
              </a:p>
              <a:p>
                <a:pPr marL="1143000" lvl="2" indent="-228600">
                  <a:buFont typeface="Arial" panose="020B0604020202020204" pitchFamily="34" charset="0"/>
                  <a:buChar char="•"/>
                </a:pPr>
                <a:r>
                  <a:rPr lang="en-US" b="1" dirty="0"/>
                  <a:t>$2</a:t>
                </a:r>
                <a:r>
                  <a:rPr lang="en-US" dirty="0"/>
                  <a:t> for a bundle containing </a:t>
                </a:r>
                <a:r>
                  <a:rPr lang="en-US" b="1" dirty="0"/>
                  <a:t>items </a:t>
                </a:r>
                <a14:m>
                  <m:oMath xmlns:m="http://schemas.openxmlformats.org/officeDocument/2006/math">
                    <m:r>
                      <a:rPr lang="en-US" b="1" i="1" dirty="0" smtClean="0">
                        <a:latin typeface="Cambria Math" panose="02040503050406030204" pitchFamily="18" charset="0"/>
                      </a:rPr>
                      <m:t>𝒆</m:t>
                    </m:r>
                  </m:oMath>
                </a14:m>
                <a:r>
                  <a:rPr lang="en-US" b="1" dirty="0"/>
                  <a:t>, </a:t>
                </a:r>
                <a14:m>
                  <m:oMath xmlns:m="http://schemas.openxmlformats.org/officeDocument/2006/math">
                    <m:r>
                      <a:rPr lang="en-US" b="1" i="1" dirty="0" smtClean="0">
                        <a:latin typeface="Cambria Math" panose="02040503050406030204" pitchFamily="18" charset="0"/>
                      </a:rPr>
                      <m:t>𝒇</m:t>
                    </m:r>
                  </m:oMath>
                </a14:m>
                <a:r>
                  <a:rPr lang="en-US" b="1" dirty="0"/>
                  <a:t>, and </a:t>
                </a:r>
                <a14:m>
                  <m:oMath xmlns:m="http://schemas.openxmlformats.org/officeDocument/2006/math">
                    <m:r>
                      <a:rPr lang="en-US" b="1" i="1" dirty="0" smtClean="0">
                        <a:latin typeface="Cambria Math" panose="02040503050406030204" pitchFamily="18" charset="0"/>
                      </a:rPr>
                      <m:t>𝒈</m:t>
                    </m:r>
                  </m:oMath>
                </a14:m>
                <a:r>
                  <a:rPr lang="en-US" dirty="0"/>
                  <a:t> (excluding </a:t>
                </a:r>
                <a14:m>
                  <m:oMath xmlns:m="http://schemas.openxmlformats.org/officeDocument/2006/math">
                    <m:r>
                      <a:rPr lang="en-US" i="1" dirty="0" smtClean="0">
                        <a:latin typeface="Cambria Math" panose="02040503050406030204" pitchFamily="18" charset="0"/>
                      </a:rPr>
                      <m:t>𝑐</m:t>
                    </m:r>
                  </m:oMath>
                </a14:m>
                <a:r>
                  <a:rPr lang="en-US" dirty="0"/>
                  <a:t> and </a:t>
                </a:r>
                <a14:m>
                  <m:oMath xmlns:m="http://schemas.openxmlformats.org/officeDocument/2006/math">
                    <m:r>
                      <a:rPr lang="en-US" i="1" dirty="0" smtClean="0">
                        <a:latin typeface="Cambria Math" panose="02040503050406030204" pitchFamily="18" charset="0"/>
                      </a:rPr>
                      <m:t>𝑑</m:t>
                    </m:r>
                  </m:oMath>
                </a14:m>
                <a:r>
                  <a:rPr lang="en-US" dirty="0"/>
                  <a:t>).</a:t>
                </a:r>
              </a:p>
              <a:p>
                <a:pPr marL="1143000" lvl="2" indent="-228600">
                  <a:buFont typeface="Arial" panose="020B0604020202020204" pitchFamily="34" charset="0"/>
                  <a:buChar char="•"/>
                </a:pPr>
                <a:r>
                  <a:rPr lang="en-US" b="1" dirty="0"/>
                  <a:t>$2</a:t>
                </a:r>
                <a:r>
                  <a:rPr lang="en-US" dirty="0"/>
                  <a:t> for a bundle containing </a:t>
                </a:r>
                <a:r>
                  <a:rPr lang="en-US" b="1" dirty="0"/>
                  <a:t>items </a:t>
                </a:r>
                <a14:m>
                  <m:oMath xmlns:m="http://schemas.openxmlformats.org/officeDocument/2006/math">
                    <m:r>
                      <a:rPr lang="en-US" b="1" i="1" dirty="0" smtClean="0">
                        <a:latin typeface="Cambria Math" panose="02040503050406030204" pitchFamily="18" charset="0"/>
                      </a:rPr>
                      <m:t>𝒆</m:t>
                    </m:r>
                  </m:oMath>
                </a14:m>
                <a:r>
                  <a:rPr lang="en-US" dirty="0"/>
                  <a:t> (excluding </a:t>
                </a:r>
                <a14:m>
                  <m:oMath xmlns:m="http://schemas.openxmlformats.org/officeDocument/2006/math">
                    <m:r>
                      <a:rPr lang="en-US" b="1" i="1" dirty="0" smtClean="0">
                        <a:latin typeface="Cambria Math" panose="02040503050406030204" pitchFamily="18" charset="0"/>
                      </a:rPr>
                      <m:t>𝒄</m:t>
                    </m:r>
                  </m:oMath>
                </a14:m>
                <a:r>
                  <a:rPr lang="en-US" b="1" dirty="0"/>
                  <a:t>, </a:t>
                </a:r>
                <a14:m>
                  <m:oMath xmlns:m="http://schemas.openxmlformats.org/officeDocument/2006/math">
                    <m:r>
                      <a:rPr lang="en-US" b="1" i="1" dirty="0" smtClean="0">
                        <a:latin typeface="Cambria Math" panose="02040503050406030204" pitchFamily="18" charset="0"/>
                      </a:rPr>
                      <m:t>𝒅</m:t>
                    </m:r>
                  </m:oMath>
                </a14:m>
                <a:r>
                  <a:rPr lang="en-US" b="1" dirty="0"/>
                  <a:t>, </a:t>
                </a:r>
                <a14:m>
                  <m:oMath xmlns:m="http://schemas.openxmlformats.org/officeDocument/2006/math">
                    <m:r>
                      <a:rPr lang="en-US" b="1" i="1" dirty="0" smtClean="0">
                        <a:latin typeface="Cambria Math" panose="02040503050406030204" pitchFamily="18" charset="0"/>
                      </a:rPr>
                      <m:t>𝒇</m:t>
                    </m:r>
                    <m:r>
                      <a:rPr lang="en-US" b="0" i="0" dirty="0" smtClean="0">
                        <a:latin typeface="Cambria Math" panose="02040503050406030204" pitchFamily="18" charset="0"/>
                      </a:rPr>
                      <m:t>,</m:t>
                    </m:r>
                  </m:oMath>
                </a14:m>
                <a:r>
                  <a:rPr lang="en-US" dirty="0"/>
                  <a:t> and </a:t>
                </a:r>
                <a14:m>
                  <m:oMath xmlns:m="http://schemas.openxmlformats.org/officeDocument/2006/math">
                    <m:r>
                      <a:rPr lang="en-US" b="1" i="1" dirty="0" smtClean="0">
                        <a:latin typeface="Cambria Math" panose="02040503050406030204" pitchFamily="18" charset="0"/>
                      </a:rPr>
                      <m:t>𝒈</m:t>
                    </m:r>
                  </m:oMath>
                </a14:m>
                <a:r>
                  <a:rPr lang="en-US" dirty="0"/>
                  <a:t>)</a:t>
                </a:r>
              </a:p>
              <a:p>
                <a:pPr marL="1143000" lvl="2" indent="-228600">
                  <a:buFont typeface="Arial" panose="020B0604020202020204" pitchFamily="34" charset="0"/>
                  <a:buChar char="•"/>
                </a:pPr>
                <a:r>
                  <a:rPr lang="en-US" b="1" dirty="0"/>
                  <a:t>$4</a:t>
                </a:r>
                <a:r>
                  <a:rPr lang="en-US" dirty="0"/>
                  <a:t> for a bundle containing </a:t>
                </a:r>
                <a:r>
                  <a:rPr lang="en-US" b="1" dirty="0"/>
                  <a:t>items </a:t>
                </a:r>
                <a14:m>
                  <m:oMath xmlns:m="http://schemas.openxmlformats.org/officeDocument/2006/math">
                    <m:r>
                      <a:rPr lang="en-US" b="1" i="1" dirty="0" smtClean="0">
                        <a:latin typeface="Cambria Math" panose="02040503050406030204" pitchFamily="18" charset="0"/>
                      </a:rPr>
                      <m:t>𝒄</m:t>
                    </m:r>
                  </m:oMath>
                </a14:m>
                <a:r>
                  <a:rPr lang="en-US" b="1" dirty="0"/>
                  <a:t>, </a:t>
                </a:r>
                <a14:m>
                  <m:oMath xmlns:m="http://schemas.openxmlformats.org/officeDocument/2006/math">
                    <m:r>
                      <a:rPr lang="en-US" b="1" i="1" dirty="0" smtClean="0">
                        <a:latin typeface="Cambria Math" panose="02040503050406030204" pitchFamily="18" charset="0"/>
                      </a:rPr>
                      <m:t>𝒅</m:t>
                    </m:r>
                  </m:oMath>
                </a14:m>
                <a:r>
                  <a:rPr lang="en-US" b="1" dirty="0"/>
                  <a:t>, and </a:t>
                </a:r>
                <a14:m>
                  <m:oMath xmlns:m="http://schemas.openxmlformats.org/officeDocument/2006/math">
                    <m:r>
                      <a:rPr lang="en-US" b="1" i="1" dirty="0" smtClean="0">
                        <a:latin typeface="Cambria Math" panose="02040503050406030204" pitchFamily="18" charset="0"/>
                      </a:rPr>
                      <m:t>𝒆</m:t>
                    </m:r>
                  </m:oMath>
                </a14:m>
                <a:r>
                  <a:rPr lang="en-US" dirty="0"/>
                  <a:t> (excluding </a:t>
                </a:r>
                <a14:m>
                  <m:oMath xmlns:m="http://schemas.openxmlformats.org/officeDocument/2006/math">
                    <m:r>
                      <a:rPr lang="en-US" i="1" dirty="0" smtClean="0">
                        <a:latin typeface="Cambria Math" panose="02040503050406030204" pitchFamily="18" charset="0"/>
                      </a:rPr>
                      <m:t>𝑓</m:t>
                    </m:r>
                  </m:oMath>
                </a14:m>
                <a:r>
                  <a:rPr lang="en-US" dirty="0"/>
                  <a:t> and </a:t>
                </a:r>
                <a14:m>
                  <m:oMath xmlns:m="http://schemas.openxmlformats.org/officeDocument/2006/math">
                    <m:r>
                      <a:rPr lang="en-US" i="1" dirty="0" smtClean="0">
                        <a:latin typeface="Cambria Math" panose="02040503050406030204" pitchFamily="18" charset="0"/>
                      </a:rPr>
                      <m:t>𝑔</m:t>
                    </m:r>
                  </m:oMath>
                </a14:m>
                <a:r>
                  <a:rPr lang="en-US" dirty="0"/>
                  <a:t>).</a:t>
                </a:r>
              </a:p>
              <a:p>
                <a:r>
                  <a:rPr lang="en-US" b="1" dirty="0"/>
                  <a:t>Constructing the Valuation Function</a:t>
                </a:r>
              </a:p>
              <a:p>
                <a:r>
                  <a:rPr lang="en-US" dirty="0"/>
                  <a:t>The valuation function </a:t>
                </a: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oMath>
                </a14:m>
                <a:r>
                  <a:rPr lang="en-US" dirty="0"/>
                  <a:t>​​ for the XOR bid is defined as follows:</a:t>
                </a:r>
              </a:p>
              <a:p>
                <a:pPr marL="228600" indent="-228600">
                  <a:buFont typeface="+mj-lt"/>
                  <a:buAutoNum type="arabicPeriod"/>
                </a:pPr>
                <a:r>
                  <a:rPr lang="en-US" b="1" dirty="0"/>
                  <a:t>Valuation for Single Items</a:t>
                </a:r>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𝑒</m:t>
                            </m:r>
                          </m:e>
                        </m:d>
                      </m:e>
                    </m:d>
                    <m:r>
                      <a:rPr lang="en-US" sz="1200" b="0" i="1" spc="10" smtClean="0">
                        <a:latin typeface="Cambria Math" panose="02040503050406030204" pitchFamily="18" charset="0"/>
                        <a:cs typeface="Tahoma"/>
                      </a:rPr>
                      <m:t>=2</m:t>
                    </m:r>
                  </m:oMath>
                </a14:m>
                <a:r>
                  <a:rPr lang="en-US" dirty="0"/>
                  <a:t> : The presence of </a:t>
                </a:r>
                <a14:m>
                  <m:oMath xmlns:m="http://schemas.openxmlformats.org/officeDocument/2006/math">
                    <m:r>
                      <a:rPr lang="en-US" i="1" dirty="0" smtClean="0">
                        <a:latin typeface="Cambria Math" panose="02040503050406030204" pitchFamily="18" charset="0"/>
                      </a:rPr>
                      <m:t>𝑒</m:t>
                    </m:r>
                  </m:oMath>
                </a14:m>
                <a:r>
                  <a:rPr lang="en-US" dirty="0"/>
                  <a:t> satisfies the second part of the XOR bid with a valuation of </a:t>
                </a:r>
                <a:r>
                  <a:rPr lang="en-US" b="1" dirty="0"/>
                  <a:t>$2</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Bundles of Two Items: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𝑒</m:t>
                            </m:r>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𝑓</m:t>
                            </m:r>
                          </m:e>
                        </m:d>
                      </m:e>
                    </m:d>
                    <m:r>
                      <a:rPr lang="en-US" sz="1200" b="0" i="1" spc="10" smtClean="0">
                        <a:latin typeface="Cambria Math" panose="02040503050406030204" pitchFamily="18" charset="0"/>
                        <a:cs typeface="Tahoma"/>
                      </a:rPr>
                      <m:t>=2</m:t>
                    </m:r>
                  </m:oMath>
                </a14:m>
                <a:r>
                  <a:rPr lang="en-US" dirty="0"/>
                  <a:t> : The bundle containing </a:t>
                </a:r>
                <a14:m>
                  <m:oMath xmlns:m="http://schemas.openxmlformats.org/officeDocument/2006/math">
                    <m:r>
                      <a:rPr lang="en-US" i="1" dirty="0" smtClean="0">
                        <a:latin typeface="Cambria Math" panose="02040503050406030204" pitchFamily="18" charset="0"/>
                      </a:rPr>
                      <m:t>𝑒</m:t>
                    </m:r>
                  </m:oMath>
                </a14:m>
                <a:r>
                  <a:rPr lang="en-US" dirty="0"/>
                  <a:t> and </a:t>
                </a:r>
                <a14:m>
                  <m:oMath xmlns:m="http://schemas.openxmlformats.org/officeDocument/2006/math">
                    <m:r>
                      <a:rPr lang="en-US" i="1" dirty="0" smtClean="0">
                        <a:latin typeface="Cambria Math" panose="02040503050406030204" pitchFamily="18" charset="0"/>
                      </a:rPr>
                      <m:t>𝑓</m:t>
                    </m:r>
                  </m:oMath>
                </a14:m>
                <a:r>
                  <a:rPr lang="en-US" dirty="0"/>
                  <a:t> also satisfies the second part</a:t>
                </a:r>
                <a:r>
                  <a:rPr lang="en-US" baseline="0" dirty="0"/>
                  <a:t>, as </a:t>
                </a:r>
                <a14:m>
                  <m:oMath xmlns:m="http://schemas.openxmlformats.org/officeDocument/2006/math">
                    <m:d>
                      <m:dPr>
                        <m:begChr m:val="{"/>
                        <m:endChr m:val="}"/>
                        <m:ctrlPr>
                          <a:rPr lang="en-US" sz="1200" b="0" i="1" spc="10" smtClean="0">
                            <a:solidFill>
                              <a:srgbClr val="0000FF"/>
                            </a:solidFill>
                            <a:latin typeface="Cambria Math" panose="02040503050406030204" pitchFamily="18" charset="0"/>
                            <a:ea typeface="Cambria Math" panose="02040503050406030204" pitchFamily="18" charset="0"/>
                            <a:cs typeface="Tahoma"/>
                          </a:rPr>
                        </m:ctrlPr>
                      </m:dPr>
                      <m:e>
                        <m:r>
                          <a:rPr lang="en-US" sz="1200" b="0" i="1" spc="10" smtClean="0">
                            <a:solidFill>
                              <a:srgbClr val="0000FF"/>
                            </a:solidFill>
                            <a:latin typeface="Cambria Math" panose="02040503050406030204" pitchFamily="18" charset="0"/>
                            <a:ea typeface="Cambria Math" panose="02040503050406030204" pitchFamily="18" charset="0"/>
                            <a:cs typeface="Tahoma"/>
                          </a:rPr>
                          <m:t>𝑒</m:t>
                        </m:r>
                      </m:e>
                    </m:d>
                    <m:r>
                      <a:rPr lang="en-US" sz="1200" b="0" i="1" spc="10" smtClean="0">
                        <a:solidFill>
                          <a:srgbClr val="0000FF"/>
                        </a:solidFill>
                        <a:latin typeface="Cambria Math" panose="02040503050406030204" pitchFamily="18" charset="0"/>
                        <a:ea typeface="Cambria Math" panose="02040503050406030204" pitchFamily="18" charset="0"/>
                        <a:cs typeface="Tahoma"/>
                      </a:rPr>
                      <m:t>⊆{</m:t>
                    </m:r>
                    <m:r>
                      <a:rPr lang="en-US" sz="1200" b="0" i="1" spc="10" smtClean="0">
                        <a:solidFill>
                          <a:srgbClr val="0000FF"/>
                        </a:solidFill>
                        <a:latin typeface="Cambria Math" panose="02040503050406030204" pitchFamily="18" charset="0"/>
                        <a:ea typeface="Cambria Math" panose="02040503050406030204" pitchFamily="18" charset="0"/>
                        <a:cs typeface="Tahoma"/>
                      </a:rPr>
                      <m:t>𝑒</m:t>
                    </m:r>
                    <m:r>
                      <a:rPr lang="en-US" sz="1200" b="0" i="1" spc="10" smtClean="0">
                        <a:solidFill>
                          <a:srgbClr val="0000FF"/>
                        </a:solidFill>
                        <a:latin typeface="Cambria Math" panose="02040503050406030204" pitchFamily="18" charset="0"/>
                        <a:ea typeface="Cambria Math" panose="02040503050406030204" pitchFamily="18" charset="0"/>
                        <a:cs typeface="Tahoma"/>
                      </a:rPr>
                      <m:t>,</m:t>
                    </m:r>
                    <m:r>
                      <a:rPr lang="en-US" sz="1200" b="0" i="1" spc="10" smtClean="0">
                        <a:solidFill>
                          <a:srgbClr val="0000FF"/>
                        </a:solidFill>
                        <a:latin typeface="Cambria Math" panose="02040503050406030204" pitchFamily="18" charset="0"/>
                        <a:ea typeface="Cambria Math" panose="02040503050406030204" pitchFamily="18" charset="0"/>
                        <a:cs typeface="Tahoma"/>
                      </a:rPr>
                      <m:t>𝑓</m:t>
                    </m:r>
                    <m:r>
                      <a:rPr lang="en-US" sz="1200" b="0" i="1" spc="10" smtClean="0">
                        <a:solidFill>
                          <a:srgbClr val="0000FF"/>
                        </a:solidFill>
                        <a:latin typeface="Cambria Math" panose="02040503050406030204" pitchFamily="18" charset="0"/>
                        <a:ea typeface="Cambria Math" panose="02040503050406030204" pitchFamily="18" charset="0"/>
                        <a:cs typeface="Tahoma"/>
                      </a:rPr>
                      <m:t>}</m:t>
                    </m:r>
                  </m:oMath>
                </a14:m>
                <a:r>
                  <a:rPr lang="en-US" dirty="0"/>
                  <a:t>, of the XOR bid, resulting in a valuation of </a:t>
                </a:r>
                <a:r>
                  <a:rPr lang="en-US" b="1" dirty="0"/>
                  <a:t>$2</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Other Bundles:</a:t>
                </a:r>
              </a:p>
              <a:p>
                <a:pPr marL="628650" lvl="1" indent="-171450">
                  <a:buFont typeface="Arial" panose="020B0604020202020204" pitchFamily="34" charset="0"/>
                  <a:buChar cha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𝑐</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𝑑</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𝑓</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𝑔</m:t>
                            </m:r>
                          </m:e>
                        </m:d>
                      </m:e>
                    </m:d>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0</m:t>
                    </m:r>
                  </m:oMath>
                </a14:m>
                <a:r>
                  <a:rPr lang="en-US" dirty="0"/>
                  <a:t> : This bundle does not satisfy either of the XOR bid conditions, leading to a valuation of </a:t>
                </a:r>
                <a:r>
                  <a:rPr lang="en-US" b="1" dirty="0"/>
                  <a:t>$0</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the Bundle of All Items:</a:t>
                </a:r>
              </a:p>
              <a:p>
                <a:pPr marL="628650" lvl="1" indent="-171450">
                  <a:buFont typeface="Arial" panose="020B0604020202020204" pitchFamily="34" charset="0"/>
                  <a:buChar cha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𝑎</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𝑏</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𝑐</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𝑑</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𝑒</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𝑓</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𝑔</m:t>
                            </m:r>
                          </m:e>
                        </m:d>
                      </m:e>
                    </m:d>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4</m:t>
                    </m:r>
                  </m:oMath>
                </a14:m>
                <a:r>
                  <a:rPr lang="en-US" dirty="0"/>
                  <a:t>  : The full bundle of all items satisfies the last part of the XOR bid (since the price for this bundle is higher), resulting in a valuation of </a:t>
                </a:r>
                <a:r>
                  <a:rPr lang="en-US" b="1" dirty="0"/>
                  <a:t>$4</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the Bundle of </a:t>
                </a:r>
                <a14:m>
                  <m:oMath xmlns:m="http://schemas.openxmlformats.org/officeDocument/2006/math">
                    <m:r>
                      <a:rPr lang="en-US" sz="1200" b="1" i="1" kern="1200" dirty="0" smtClean="0">
                        <a:solidFill>
                          <a:schemeClr val="tx1"/>
                        </a:solidFill>
                        <a:latin typeface="Cambria Math" panose="02040503050406030204" pitchFamily="18" charset="0"/>
                        <a:ea typeface="+mn-ea"/>
                        <a:cs typeface="+mn-cs"/>
                      </a:rPr>
                      <m:t>𝒄</m:t>
                    </m:r>
                  </m:oMath>
                </a14:m>
                <a:r>
                  <a:rPr lang="en-US" sz="1200" b="1" kern="1200" dirty="0">
                    <a:solidFill>
                      <a:schemeClr val="tx1"/>
                    </a:solidFill>
                    <a:latin typeface="+mn-lt"/>
                    <a:ea typeface="+mn-ea"/>
                    <a:cs typeface="+mn-cs"/>
                  </a:rPr>
                  <a:t>, </a:t>
                </a:r>
                <a14:m>
                  <m:oMath xmlns:m="http://schemas.openxmlformats.org/officeDocument/2006/math">
                    <m:r>
                      <a:rPr lang="en-US" sz="1200" b="1" i="1" kern="1200" dirty="0" smtClean="0">
                        <a:solidFill>
                          <a:schemeClr val="tx1"/>
                        </a:solidFill>
                        <a:latin typeface="Cambria Math" panose="02040503050406030204" pitchFamily="18" charset="0"/>
                        <a:ea typeface="+mn-ea"/>
                        <a:cs typeface="+mn-cs"/>
                      </a:rPr>
                      <m:t>𝒅</m:t>
                    </m:r>
                  </m:oMath>
                </a14:m>
                <a:r>
                  <a:rPr lang="en-US" sz="1200" b="1" kern="1200" dirty="0">
                    <a:solidFill>
                      <a:schemeClr val="tx1"/>
                    </a:solidFill>
                    <a:latin typeface="+mn-lt"/>
                    <a:ea typeface="+mn-ea"/>
                    <a:cs typeface="+mn-cs"/>
                  </a:rPr>
                  <a:t>, and </a:t>
                </a:r>
                <a14:m>
                  <m:oMath xmlns:m="http://schemas.openxmlformats.org/officeDocument/2006/math">
                    <m:r>
                      <a:rPr lang="en-US" sz="1200" b="1" i="1" kern="1200" dirty="0" smtClean="0">
                        <a:solidFill>
                          <a:schemeClr val="tx1"/>
                        </a:solidFill>
                        <a:latin typeface="Cambria Math" panose="02040503050406030204" pitchFamily="18" charset="0"/>
                        <a:ea typeface="+mn-ea"/>
                        <a:cs typeface="+mn-cs"/>
                      </a:rPr>
                      <m:t>𝒆</m:t>
                    </m:r>
                  </m:oMath>
                </a14:m>
                <a:r>
                  <a:rPr lang="en-US" sz="1200" b="1" kern="1200" dirty="0">
                    <a:solidFill>
                      <a:schemeClr val="tx1"/>
                    </a:solidFill>
                    <a:latin typeface="+mn-lt"/>
                    <a:ea typeface="+mn-ea"/>
                    <a:cs typeface="+mn-cs"/>
                  </a:rPr>
                  <a:t>:</a:t>
                </a:r>
              </a:p>
              <a:p>
                <a:pPr marL="628650" lvl="1" indent="-171450">
                  <a:buFont typeface="Arial" panose="020B0604020202020204" pitchFamily="34" charset="0"/>
                  <a:buChar char="•"/>
                </a:pPr>
                <a14:m>
                  <m:oMath xmlns:m="http://schemas.openxmlformats.org/officeDocument/2006/math">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𝑣</m:t>
                        </m:r>
                      </m:e>
                      <m:sub>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𝛽</m:t>
                            </m:r>
                          </m:e>
                          <m:sub>
                            <m:r>
                              <a:rPr lang="en-US" sz="1200" b="0" i="1" spc="10" smtClean="0">
                                <a:latin typeface="Cambria Math" panose="02040503050406030204" pitchFamily="18" charset="0"/>
                                <a:cs typeface="Tahoma"/>
                              </a:rPr>
                              <m:t>2</m:t>
                            </m:r>
                          </m:sub>
                        </m:sSub>
                      </m:sub>
                    </m:sSub>
                    <m:d>
                      <m:dPr>
                        <m:ctrlPr>
                          <a:rPr lang="en-US" sz="1200" b="0" i="1" spc="10" smtClean="0">
                            <a:latin typeface="Cambria Math" panose="02040503050406030204" pitchFamily="18" charset="0"/>
                            <a:cs typeface="Tahoma"/>
                          </a:rPr>
                        </m:ctrlPr>
                      </m:dPr>
                      <m:e>
                        <m:d>
                          <m:dPr>
                            <m:begChr m:val="{"/>
                            <m:endChr m:val="}"/>
                            <m:ctrlPr>
                              <a:rPr lang="en-US" sz="1200" b="0" i="1" spc="10" smtClean="0">
                                <a:latin typeface="Cambria Math" panose="02040503050406030204" pitchFamily="18" charset="0"/>
                                <a:cs typeface="Tahoma"/>
                              </a:rPr>
                            </m:ctrlPr>
                          </m:dPr>
                          <m:e>
                            <m:r>
                              <a:rPr lang="en-US" sz="1200" b="0" i="1" spc="10" smtClean="0">
                                <a:latin typeface="Cambria Math" panose="02040503050406030204" pitchFamily="18" charset="0"/>
                                <a:cs typeface="Tahoma"/>
                              </a:rPr>
                              <m:t>𝑐</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𝑑</m:t>
                            </m:r>
                            <m:r>
                              <a:rPr lang="en-US" sz="1200" b="0" i="1" spc="10" smtClean="0">
                                <a:latin typeface="Cambria Math" panose="02040503050406030204" pitchFamily="18" charset="0"/>
                                <a:cs typeface="Tahoma"/>
                              </a:rPr>
                              <m:t>, </m:t>
                            </m:r>
                            <m:r>
                              <a:rPr lang="en-US" sz="1200" b="0" i="1" spc="10" smtClean="0">
                                <a:latin typeface="Cambria Math" panose="02040503050406030204" pitchFamily="18" charset="0"/>
                                <a:cs typeface="Tahoma"/>
                              </a:rPr>
                              <m:t>𝑒</m:t>
                            </m:r>
                          </m:e>
                        </m:d>
                      </m:e>
                    </m:d>
                    <m:r>
                      <a:rPr lang="en-US" sz="1200" b="0" i="1" spc="10" smtClean="0">
                        <a:latin typeface="Cambria Math" panose="02040503050406030204" pitchFamily="18" charset="0"/>
                        <a:cs typeface="Tahoma"/>
                      </a:rPr>
                      <m:t>=</m:t>
                    </m:r>
                    <m:r>
                      <a:rPr lang="en-US" sz="1200" b="0" i="1" spc="10" smtClean="0">
                        <a:latin typeface="Cambria Math" panose="02040503050406030204" pitchFamily="18" charset="0"/>
                        <a:cs typeface="Tahoma"/>
                      </a:rPr>
                      <m:t>4</m:t>
                    </m:r>
                  </m:oMath>
                </a14:m>
                <a:r>
                  <a:rPr lang="en-US" dirty="0"/>
                  <a:t> : This bundle satisfies the last part of the XOR bid, leading to a valuation of </a:t>
                </a:r>
                <a:r>
                  <a:rPr lang="en-US" b="1" dirty="0"/>
                  <a:t>$4</a:t>
                </a:r>
                <a:r>
                  <a:rPr lang="en-US" dirty="0"/>
                  <a:t>.</a:t>
                </a:r>
              </a:p>
              <a:p>
                <a:endParaRPr lang="en-US" b="1" dirty="0"/>
              </a:p>
              <a:p>
                <a:r>
                  <a:rPr lang="en-US" b="1" dirty="0"/>
                  <a:t>Implications of the Valuation Function:</a:t>
                </a:r>
              </a:p>
              <a:p>
                <a:pPr marL="171450" indent="-171450">
                  <a:buFont typeface="Arial" panose="020B0604020202020204" pitchFamily="34" charset="0"/>
                  <a:buChar char="•"/>
                </a:pPr>
                <a:r>
                  <a:rPr lang="en-US" dirty="0"/>
                  <a:t>The valuation function illustrates how bidders can express distinct preferences for various combinations of items while adhering to the constraints of the XOR format.</a:t>
                </a:r>
              </a:p>
              <a:p>
                <a:pPr marL="171450" indent="-171450">
                  <a:buFont typeface="Arial" panose="020B0604020202020204" pitchFamily="34" charset="0"/>
                  <a:buChar char="•"/>
                </a:pPr>
                <a:r>
                  <a:rPr lang="en-US" dirty="0"/>
                  <a:t>It emphasizes the flexibility of XOR bids in capturing complex valuation scenarios, allowing bidders to articulate their preferences and pay accordingly for the items they value most.</a:t>
                </a:r>
              </a:p>
              <a:p>
                <a:endParaRPr lang="en-US" b="1" dirty="0"/>
              </a:p>
              <a:p>
                <a:r>
                  <a:rPr lang="en-US" b="1" dirty="0"/>
                  <a:t>Conclusion:</a:t>
                </a:r>
              </a:p>
              <a:p>
                <a:pPr marL="171450" indent="-171450">
                  <a:buFont typeface="Arial" panose="020B0604020202020204" pitchFamily="34" charset="0"/>
                  <a:buChar char="•"/>
                </a:pPr>
                <a:r>
                  <a:rPr lang="en-US" dirty="0"/>
                  <a:t>This example highlights the effectiveness of XOR bids in combinatorial auctions, enabling bidders to represent a wider range of preferences and ensure that they only pay for the highest-valued satisfied bundle.</a:t>
                </a:r>
                <a:br>
                  <a:rPr lang="en-US" dirty="0"/>
                </a:br>
                <a:endParaRPr lang="en-US" dirty="0"/>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 concrete example of an XOR bid, illustrating how it can represent preferences for specific combinations of items and exclusion of others.</a:t>
                </a:r>
              </a:p>
              <a:p>
                <a:endParaRPr lang="en-US" b="0" i="0" dirty="0">
                  <a:solidFill>
                    <a:srgbClr val="E8E8E8"/>
                  </a:solidFill>
                  <a:effectLst/>
                  <a:latin typeface="Google Sans Text"/>
                </a:endParaRPr>
              </a:p>
              <a:p>
                <a:r>
                  <a:rPr lang="en-US" b="1" dirty="0"/>
                  <a:t>Example XOR Bid</a:t>
                </a:r>
              </a:p>
              <a:p>
                <a:pPr>
                  <a:buFont typeface="Arial" panose="020B0604020202020204" pitchFamily="34" charset="0"/>
                  <a:buChar char="•"/>
                </a:pPr>
                <a:r>
                  <a:rPr lang="en-US" b="1" dirty="0"/>
                  <a:t>XOR Bid Structure</a:t>
                </a:r>
                <a:r>
                  <a:rPr lang="en-US" dirty="0"/>
                  <a:t>: </a:t>
                </a:r>
                <a:r>
                  <a:rPr lang="en-US" i="0" dirty="0">
                    <a:latin typeface="Cambria Math" panose="02040503050406030204" pitchFamily="18" charset="0"/>
                  </a:rPr>
                  <a:t>𝛽_2= \{(𝑒, 𝑓, 𝑔), 2\} ⊕\{(𝑐, 𝑑, 𝑒), 4\}</a:t>
                </a:r>
                <a:endParaRPr lang="en-US" dirty="0"/>
              </a:p>
              <a:p>
                <a:pPr marL="742950" lvl="1" indent="-285750">
                  <a:buFont typeface="Arial" panose="020B0604020202020204" pitchFamily="34" charset="0"/>
                  <a:buChar char="•"/>
                </a:pPr>
                <a:r>
                  <a:rPr lang="en-US" dirty="0"/>
                  <a:t>This bid expresses a willingness to pay:</a:t>
                </a:r>
              </a:p>
              <a:p>
                <a:pPr marL="1143000" lvl="2" indent="-228600">
                  <a:buFont typeface="Arial" panose="020B0604020202020204" pitchFamily="34" charset="0"/>
                  <a:buChar char="•"/>
                </a:pPr>
                <a:r>
                  <a:rPr lang="en-US" b="1" dirty="0"/>
                  <a:t>$2</a:t>
                </a:r>
                <a:r>
                  <a:rPr lang="en-US" dirty="0"/>
                  <a:t> for a bundle containing </a:t>
                </a:r>
                <a:r>
                  <a:rPr lang="en-US" b="1" dirty="0"/>
                  <a:t>items </a:t>
                </a:r>
                <a:r>
                  <a:rPr lang="en-US" b="1" i="0" dirty="0">
                    <a:latin typeface="Cambria Math" panose="02040503050406030204" pitchFamily="18" charset="0"/>
                  </a:rPr>
                  <a:t>𝒆</a:t>
                </a:r>
                <a:r>
                  <a:rPr lang="en-US" b="1" dirty="0"/>
                  <a:t>, </a:t>
                </a:r>
                <a:r>
                  <a:rPr lang="en-US" b="1" i="0" dirty="0">
                    <a:latin typeface="Cambria Math" panose="02040503050406030204" pitchFamily="18" charset="0"/>
                  </a:rPr>
                  <a:t>𝒇</a:t>
                </a:r>
                <a:r>
                  <a:rPr lang="en-US" b="1" dirty="0"/>
                  <a:t>, and </a:t>
                </a:r>
                <a:r>
                  <a:rPr lang="en-US" b="1" i="0" dirty="0">
                    <a:latin typeface="Cambria Math" panose="02040503050406030204" pitchFamily="18" charset="0"/>
                  </a:rPr>
                  <a:t>𝒈</a:t>
                </a:r>
                <a:r>
                  <a:rPr lang="en-US" dirty="0"/>
                  <a:t> (excluding </a:t>
                </a:r>
                <a:r>
                  <a:rPr lang="en-US" i="0" dirty="0">
                    <a:latin typeface="Cambria Math" panose="02040503050406030204" pitchFamily="18" charset="0"/>
                  </a:rPr>
                  <a:t>𝑐</a:t>
                </a:r>
                <a:r>
                  <a:rPr lang="en-US" dirty="0"/>
                  <a:t> and </a:t>
                </a:r>
                <a:r>
                  <a:rPr lang="en-US" i="0" dirty="0">
                    <a:latin typeface="Cambria Math" panose="02040503050406030204" pitchFamily="18" charset="0"/>
                  </a:rPr>
                  <a:t>𝑑</a:t>
                </a:r>
                <a:r>
                  <a:rPr lang="en-US" dirty="0"/>
                  <a:t>).</a:t>
                </a:r>
              </a:p>
              <a:p>
                <a:pPr marL="1143000" lvl="2" indent="-228600">
                  <a:buFont typeface="Arial" panose="020B0604020202020204" pitchFamily="34" charset="0"/>
                  <a:buChar char="•"/>
                </a:pPr>
                <a:r>
                  <a:rPr lang="en-US" b="1" dirty="0"/>
                  <a:t>$2</a:t>
                </a:r>
                <a:r>
                  <a:rPr lang="en-US" dirty="0"/>
                  <a:t> for a bundle containing </a:t>
                </a:r>
                <a:r>
                  <a:rPr lang="en-US" b="1" dirty="0"/>
                  <a:t>items </a:t>
                </a:r>
                <a:r>
                  <a:rPr lang="en-US" b="1" i="0" dirty="0">
                    <a:latin typeface="Cambria Math" panose="02040503050406030204" pitchFamily="18" charset="0"/>
                  </a:rPr>
                  <a:t>𝒆</a:t>
                </a:r>
                <a:r>
                  <a:rPr lang="en-US" dirty="0"/>
                  <a:t> (excluding </a:t>
                </a:r>
                <a:r>
                  <a:rPr lang="en-US" b="1" i="0" dirty="0">
                    <a:latin typeface="Cambria Math" panose="02040503050406030204" pitchFamily="18" charset="0"/>
                  </a:rPr>
                  <a:t>𝒄</a:t>
                </a:r>
                <a:r>
                  <a:rPr lang="en-US" b="1" dirty="0"/>
                  <a:t>, </a:t>
                </a:r>
                <a:r>
                  <a:rPr lang="en-US" b="1" i="0" dirty="0">
                    <a:latin typeface="Cambria Math" panose="02040503050406030204" pitchFamily="18" charset="0"/>
                  </a:rPr>
                  <a:t>𝒅</a:t>
                </a:r>
                <a:r>
                  <a:rPr lang="en-US" b="1" dirty="0"/>
                  <a:t>, </a:t>
                </a:r>
                <a:r>
                  <a:rPr lang="en-US" b="1" i="0" dirty="0">
                    <a:latin typeface="Cambria Math" panose="02040503050406030204" pitchFamily="18" charset="0"/>
                  </a:rPr>
                  <a:t>𝒇</a:t>
                </a:r>
                <a:r>
                  <a:rPr lang="en-US" b="0" i="0" dirty="0">
                    <a:latin typeface="Cambria Math" panose="02040503050406030204" pitchFamily="18" charset="0"/>
                  </a:rPr>
                  <a:t>,</a:t>
                </a:r>
                <a:r>
                  <a:rPr lang="en-US" dirty="0"/>
                  <a:t> and </a:t>
                </a:r>
                <a:r>
                  <a:rPr lang="en-US" b="1" i="0" dirty="0">
                    <a:latin typeface="Cambria Math" panose="02040503050406030204" pitchFamily="18" charset="0"/>
                  </a:rPr>
                  <a:t>𝒈</a:t>
                </a:r>
                <a:r>
                  <a:rPr lang="en-US" dirty="0"/>
                  <a:t>)</a:t>
                </a:r>
              </a:p>
              <a:p>
                <a:pPr marL="1143000" lvl="2" indent="-228600">
                  <a:buFont typeface="Arial" panose="020B0604020202020204" pitchFamily="34" charset="0"/>
                  <a:buChar char="•"/>
                </a:pPr>
                <a:r>
                  <a:rPr lang="en-US" b="1" dirty="0"/>
                  <a:t>$4</a:t>
                </a:r>
                <a:r>
                  <a:rPr lang="en-US" dirty="0"/>
                  <a:t> for a bundle containing </a:t>
                </a:r>
                <a:r>
                  <a:rPr lang="en-US" b="1" dirty="0"/>
                  <a:t>items </a:t>
                </a:r>
                <a:r>
                  <a:rPr lang="en-US" b="1" i="0" dirty="0">
                    <a:latin typeface="Cambria Math" panose="02040503050406030204" pitchFamily="18" charset="0"/>
                  </a:rPr>
                  <a:t>𝒄</a:t>
                </a:r>
                <a:r>
                  <a:rPr lang="en-US" b="1" dirty="0"/>
                  <a:t>, </a:t>
                </a:r>
                <a:r>
                  <a:rPr lang="en-US" b="1" i="0" dirty="0">
                    <a:latin typeface="Cambria Math" panose="02040503050406030204" pitchFamily="18" charset="0"/>
                  </a:rPr>
                  <a:t>𝒅</a:t>
                </a:r>
                <a:r>
                  <a:rPr lang="en-US" b="1" dirty="0"/>
                  <a:t>, and </a:t>
                </a:r>
                <a:r>
                  <a:rPr lang="en-US" b="1" i="0" dirty="0">
                    <a:latin typeface="Cambria Math" panose="02040503050406030204" pitchFamily="18" charset="0"/>
                  </a:rPr>
                  <a:t>𝒆</a:t>
                </a:r>
                <a:r>
                  <a:rPr lang="en-US" dirty="0"/>
                  <a:t> (excluding </a:t>
                </a:r>
                <a:r>
                  <a:rPr lang="en-US" i="0" dirty="0">
                    <a:latin typeface="Cambria Math" panose="02040503050406030204" pitchFamily="18" charset="0"/>
                  </a:rPr>
                  <a:t>𝑓</a:t>
                </a:r>
                <a:r>
                  <a:rPr lang="en-US" dirty="0"/>
                  <a:t> and </a:t>
                </a:r>
                <a:r>
                  <a:rPr lang="en-US" i="0" dirty="0">
                    <a:latin typeface="Cambria Math" panose="02040503050406030204" pitchFamily="18" charset="0"/>
                  </a:rPr>
                  <a:t>𝑔</a:t>
                </a:r>
                <a:r>
                  <a:rPr lang="en-US" dirty="0"/>
                  <a:t>).</a:t>
                </a:r>
              </a:p>
              <a:p>
                <a:r>
                  <a:rPr lang="en-US" b="1" dirty="0"/>
                  <a:t>Constructing the Valuation Function</a:t>
                </a:r>
              </a:p>
              <a:p>
                <a:r>
                  <a:rPr lang="en-US" dirty="0"/>
                  <a:t>The valuation function </a:t>
                </a:r>
                <a:r>
                  <a:rPr lang="en-US" sz="1200" b="0" i="0" spc="10">
                    <a:latin typeface="Cambria Math" panose="02040503050406030204" pitchFamily="18" charset="0"/>
                    <a:cs typeface="Tahoma"/>
                  </a:rPr>
                  <a:t>𝑣_(𝛽_2 )</a:t>
                </a:r>
                <a:r>
                  <a:rPr lang="en-US" dirty="0"/>
                  <a:t>​​ for the XOR bid is defined as follows:</a:t>
                </a:r>
              </a:p>
              <a:p>
                <a:pPr marL="228600" indent="-228600">
                  <a:buFont typeface="+mj-lt"/>
                  <a:buAutoNum type="arabicPeriod"/>
                </a:pPr>
                <a:r>
                  <a:rPr lang="en-US" b="1" dirty="0"/>
                  <a:t>Valuation for Single Items</a:t>
                </a:r>
                <a:r>
                  <a:rPr lang="en-US"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spc="10">
                    <a:latin typeface="Cambria Math" panose="02040503050406030204" pitchFamily="18" charset="0"/>
                    <a:cs typeface="Tahoma"/>
                  </a:rPr>
                  <a:t>𝑣_(𝛽_2 ) ({𝑒})=2</a:t>
                </a:r>
                <a:r>
                  <a:rPr lang="en-US" dirty="0"/>
                  <a:t> : The presence of </a:t>
                </a:r>
                <a:r>
                  <a:rPr lang="en-US" i="0" dirty="0">
                    <a:latin typeface="Cambria Math" panose="02040503050406030204" pitchFamily="18" charset="0"/>
                  </a:rPr>
                  <a:t>𝑒</a:t>
                </a:r>
                <a:r>
                  <a:rPr lang="en-US" dirty="0"/>
                  <a:t> satisfies the second part of the XOR bid with a valuation of </a:t>
                </a:r>
                <a:r>
                  <a:rPr lang="en-US" b="1" dirty="0"/>
                  <a:t>$2</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Bundles of Two Items: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spc="10">
                    <a:latin typeface="Cambria Math" panose="02040503050406030204" pitchFamily="18" charset="0"/>
                    <a:cs typeface="Tahoma"/>
                  </a:rPr>
                  <a:t>𝑣_(𝛽_2 ) ({𝑒,𝑓})=2</a:t>
                </a:r>
                <a:r>
                  <a:rPr lang="en-US" dirty="0"/>
                  <a:t> : The bundle containing </a:t>
                </a:r>
                <a:r>
                  <a:rPr lang="en-US" i="0" dirty="0">
                    <a:latin typeface="Cambria Math" panose="02040503050406030204" pitchFamily="18" charset="0"/>
                  </a:rPr>
                  <a:t>𝑒</a:t>
                </a:r>
                <a:r>
                  <a:rPr lang="en-US" dirty="0"/>
                  <a:t> and </a:t>
                </a:r>
                <a:r>
                  <a:rPr lang="en-US" i="0" dirty="0">
                    <a:latin typeface="Cambria Math" panose="02040503050406030204" pitchFamily="18" charset="0"/>
                  </a:rPr>
                  <a:t>𝑓</a:t>
                </a:r>
                <a:r>
                  <a:rPr lang="en-US" dirty="0"/>
                  <a:t> also satisfies the second part</a:t>
                </a:r>
                <a:r>
                  <a:rPr lang="en-US" baseline="0" dirty="0"/>
                  <a:t>, as </a:t>
                </a:r>
                <a:r>
                  <a:rPr lang="en-US" sz="1200" b="0" i="0" spc="10">
                    <a:solidFill>
                      <a:srgbClr val="0000FF"/>
                    </a:solidFill>
                    <a:latin typeface="Cambria Math" panose="02040503050406030204" pitchFamily="18" charset="0"/>
                    <a:ea typeface="Cambria Math" panose="02040503050406030204" pitchFamily="18" charset="0"/>
                    <a:cs typeface="Tahoma"/>
                  </a:rPr>
                  <a:t>{𝑒}⊆{𝑒,𝑓}</a:t>
                </a:r>
                <a:r>
                  <a:rPr lang="en-US" dirty="0"/>
                  <a:t>, of the XOR bid, resulting in a valuation of </a:t>
                </a:r>
                <a:r>
                  <a:rPr lang="en-US" b="1" dirty="0"/>
                  <a:t>$2</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Other Bundles:</a:t>
                </a:r>
              </a:p>
              <a:p>
                <a:pPr marL="628650" lvl="1" indent="-171450">
                  <a:buFont typeface="Arial" panose="020B0604020202020204" pitchFamily="34" charset="0"/>
                  <a:buChar char="•"/>
                </a:pPr>
                <a:r>
                  <a:rPr lang="en-US" sz="1200" b="0" i="0" spc="10">
                    <a:latin typeface="Cambria Math" panose="02040503050406030204" pitchFamily="18" charset="0"/>
                    <a:cs typeface="Tahoma"/>
                  </a:rPr>
                  <a:t>𝑣_(𝛽_2 ) ({𝑐, 𝑑, 𝑓, 𝑔})=0</a:t>
                </a:r>
                <a:r>
                  <a:rPr lang="en-US" dirty="0"/>
                  <a:t> : This bundle does not satisfy either of the XOR bid conditions, leading to a valuation of </a:t>
                </a:r>
                <a:r>
                  <a:rPr lang="en-US" b="1" dirty="0"/>
                  <a:t>$0</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the Bundle of All Items:</a:t>
                </a:r>
              </a:p>
              <a:p>
                <a:pPr marL="628650" lvl="1" indent="-171450">
                  <a:buFont typeface="Arial" panose="020B0604020202020204" pitchFamily="34" charset="0"/>
                  <a:buChar char="•"/>
                </a:pPr>
                <a:r>
                  <a:rPr lang="en-US" sz="1200" b="0" i="0" spc="10">
                    <a:latin typeface="Cambria Math" panose="02040503050406030204" pitchFamily="18" charset="0"/>
                    <a:cs typeface="Tahoma"/>
                  </a:rPr>
                  <a:t>𝑣_(𝛽_2 ) ({𝑎, 𝑏, 𝑐, 𝑑, 𝑒, 𝑓, 𝑔})=4</a:t>
                </a:r>
                <a:r>
                  <a:rPr lang="en-US" dirty="0"/>
                  <a:t>  : The full bundle of all items satisfies the last part of the XOR bid (since the price for this bundle is higher), resulting in a valuation of </a:t>
                </a:r>
                <a:r>
                  <a:rPr lang="en-US" b="1" dirty="0"/>
                  <a:t>$4</a:t>
                </a:r>
                <a:r>
                  <a:rPr lang="en-US" dirty="0"/>
                  <a:t>.</a:t>
                </a:r>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Valuation for the Bundle of </a:t>
                </a:r>
                <a:r>
                  <a:rPr lang="en-US" sz="1200" b="1" i="0" kern="1200" dirty="0">
                    <a:solidFill>
                      <a:schemeClr val="tx1"/>
                    </a:solidFill>
                    <a:latin typeface="Cambria Math" panose="02040503050406030204" pitchFamily="18" charset="0"/>
                    <a:ea typeface="+mn-ea"/>
                    <a:cs typeface="+mn-cs"/>
                  </a:rPr>
                  <a:t>𝒄</a:t>
                </a:r>
                <a:r>
                  <a:rPr lang="en-US" sz="1200" b="1" kern="1200" dirty="0">
                    <a:solidFill>
                      <a:schemeClr val="tx1"/>
                    </a:solidFill>
                    <a:latin typeface="+mn-lt"/>
                    <a:ea typeface="+mn-ea"/>
                    <a:cs typeface="+mn-cs"/>
                  </a:rPr>
                  <a:t>, </a:t>
                </a:r>
                <a:r>
                  <a:rPr lang="en-US" sz="1200" b="1" i="0" kern="1200" dirty="0">
                    <a:solidFill>
                      <a:schemeClr val="tx1"/>
                    </a:solidFill>
                    <a:latin typeface="Cambria Math" panose="02040503050406030204" pitchFamily="18" charset="0"/>
                    <a:ea typeface="+mn-ea"/>
                    <a:cs typeface="+mn-cs"/>
                  </a:rPr>
                  <a:t>𝒅</a:t>
                </a:r>
                <a:r>
                  <a:rPr lang="en-US" sz="1200" b="1" kern="1200" dirty="0">
                    <a:solidFill>
                      <a:schemeClr val="tx1"/>
                    </a:solidFill>
                    <a:latin typeface="+mn-lt"/>
                    <a:ea typeface="+mn-ea"/>
                    <a:cs typeface="+mn-cs"/>
                  </a:rPr>
                  <a:t>, and </a:t>
                </a:r>
                <a:r>
                  <a:rPr lang="en-US" sz="1200" b="1" i="0" kern="1200" dirty="0">
                    <a:solidFill>
                      <a:schemeClr val="tx1"/>
                    </a:solidFill>
                    <a:latin typeface="Cambria Math" panose="02040503050406030204" pitchFamily="18" charset="0"/>
                    <a:ea typeface="+mn-ea"/>
                    <a:cs typeface="+mn-cs"/>
                  </a:rPr>
                  <a:t>𝒆</a:t>
                </a:r>
                <a:r>
                  <a:rPr lang="en-US" sz="1200" b="1" kern="1200" dirty="0">
                    <a:solidFill>
                      <a:schemeClr val="tx1"/>
                    </a:solidFill>
                    <a:latin typeface="+mn-lt"/>
                    <a:ea typeface="+mn-ea"/>
                    <a:cs typeface="+mn-cs"/>
                  </a:rPr>
                  <a:t>:</a:t>
                </a:r>
              </a:p>
              <a:p>
                <a:pPr marL="628650" lvl="1" indent="-171450">
                  <a:buFont typeface="Arial" panose="020B0604020202020204" pitchFamily="34" charset="0"/>
                  <a:buChar char="•"/>
                </a:pPr>
                <a:r>
                  <a:rPr lang="en-US" sz="1200" b="0" i="0" spc="10">
                    <a:latin typeface="Cambria Math" panose="02040503050406030204" pitchFamily="18" charset="0"/>
                    <a:cs typeface="Tahoma"/>
                  </a:rPr>
                  <a:t>𝑣_(𝛽_2 ) ({𝑐, 𝑑, 𝑒})=4</a:t>
                </a:r>
                <a:r>
                  <a:rPr lang="en-US" dirty="0"/>
                  <a:t> : This bundle satisfies the last part of the XOR bid, leading to a valuation of </a:t>
                </a:r>
                <a:r>
                  <a:rPr lang="en-US" b="1" dirty="0"/>
                  <a:t>$4</a:t>
                </a:r>
                <a:r>
                  <a:rPr lang="en-US" dirty="0"/>
                  <a:t>.</a:t>
                </a:r>
              </a:p>
              <a:p>
                <a:endParaRPr lang="en-US" b="1" dirty="0"/>
              </a:p>
              <a:p>
                <a:r>
                  <a:rPr lang="en-US" b="1" dirty="0"/>
                  <a:t>Implications of the Valuation Function:</a:t>
                </a:r>
              </a:p>
              <a:p>
                <a:pPr marL="171450" indent="-171450">
                  <a:buFont typeface="Arial" panose="020B0604020202020204" pitchFamily="34" charset="0"/>
                  <a:buChar char="•"/>
                </a:pPr>
                <a:r>
                  <a:rPr lang="en-US" dirty="0"/>
                  <a:t>The valuation function illustrates how bidders can express distinct preferences for various combinations of items while adhering to the constraints of the XOR format.</a:t>
                </a:r>
              </a:p>
              <a:p>
                <a:pPr marL="171450" indent="-171450">
                  <a:buFont typeface="Arial" panose="020B0604020202020204" pitchFamily="34" charset="0"/>
                  <a:buChar char="•"/>
                </a:pPr>
                <a:r>
                  <a:rPr lang="en-US" dirty="0"/>
                  <a:t>It emphasizes the flexibility of XOR bids in capturing complex valuation scenarios, allowing bidders to articulate their preferences and pay accordingly for the items they value most.</a:t>
                </a:r>
              </a:p>
              <a:p>
                <a:endParaRPr lang="en-US" b="1" dirty="0"/>
              </a:p>
              <a:p>
                <a:r>
                  <a:rPr lang="en-US" b="1" dirty="0"/>
                  <a:t>Conclusion:</a:t>
                </a:r>
              </a:p>
              <a:p>
                <a:pPr marL="171450" indent="-171450">
                  <a:buFont typeface="Arial" panose="020B0604020202020204" pitchFamily="34" charset="0"/>
                  <a:buChar char="•"/>
                </a:pPr>
                <a:r>
                  <a:rPr lang="en-US" dirty="0"/>
                  <a:t>This example highlights the effectiveness of XOR bids in combinatorial auctions, enabling bidders to represent a wider range of preferences and ensure that they only pay for the highest-valued satisfied bundle.</a:t>
                </a:r>
                <a:br>
                  <a:rPr lang="en-US" dirty="0"/>
                </a:br>
                <a:endParaRPr lang="en-US" dirty="0"/>
              </a:p>
              <a:p>
                <a:endParaRPr dirty="0"/>
              </a:p>
            </p:txBody>
          </p:sp>
        </mc:Fallback>
      </mc:AlternateContent>
    </p:spTree>
    <p:extLst>
      <p:ext uri="{BB962C8B-B14F-4D97-AF65-F5344CB8AC3E}">
        <p14:creationId xmlns:p14="http://schemas.microsoft.com/office/powerpoint/2010/main" val="2363920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OR bids, which allow bidders to potentially win and pay for multiple atomic bids within a single OR bid. It explains how the valuation function is determined by selecting the best set of non-overlapping satisfied bids.</a:t>
                </a:r>
              </a:p>
              <a:p>
                <a:endParaRPr lang="en-US" b="0" i="0" dirty="0">
                  <a:solidFill>
                    <a:srgbClr val="E8E8E8"/>
                  </a:solidFill>
                  <a:effectLst/>
                  <a:latin typeface="Google Sans Text"/>
                </a:endParaRPr>
              </a:p>
              <a:p>
                <a:r>
                  <a:rPr lang="en-US" b="1" dirty="0"/>
                  <a:t>OR Bid Structure</a:t>
                </a:r>
              </a:p>
              <a:p>
                <a:pPr marL="171450" indent="-171450">
                  <a:buFont typeface="Arial" panose="020B0604020202020204" pitchFamily="34" charset="0"/>
                  <a:buChar char="•"/>
                </a:pPr>
                <a:r>
                  <a:rPr lang="en-US" b="1" dirty="0"/>
                  <a:t>Definition</a:t>
                </a:r>
                <a:r>
                  <a:rPr lang="en-US" dirty="0"/>
                  <a:t>: </a:t>
                </a:r>
                <a14:m>
                  <m:oMath xmlns:m="http://schemas.openxmlformats.org/officeDocument/2006/math">
                    <m:r>
                      <a:rPr lang="en-US" sz="1200" i="1" spc="10" dirty="0" smtClean="0">
                        <a:latin typeface="Cambria Math" panose="02040503050406030204" pitchFamily="18" charset="0"/>
                        <a:cs typeface="Tahoma"/>
                      </a:rPr>
                      <m:t>𝛽</m:t>
                    </m:r>
                    <m:r>
                      <a:rPr lang="en-US" sz="1200" i="1" spc="10" dirty="0" smtClean="0">
                        <a:latin typeface="Cambria Math" panose="02040503050406030204" pitchFamily="18" charset="0"/>
                        <a:cs typeface="Tahoma"/>
                      </a:rPr>
                      <m:t> = </m:t>
                    </m:r>
                    <m:d>
                      <m:dPr>
                        <m:ctrlPr>
                          <a:rPr lang="en-US" sz="1200" i="1" spc="10" dirty="0" smtClean="0">
                            <a:latin typeface="Cambria Math" panose="02040503050406030204" pitchFamily="18" charset="0"/>
                            <a:cs typeface="Tahoma"/>
                          </a:rPr>
                        </m:ctrlPr>
                      </m:dPr>
                      <m:e>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Sub>
                        <m:r>
                          <a:rPr lang="en-US" sz="1200" i="1" spc="10" dirty="0" smtClean="0">
                            <a:latin typeface="Cambria Math" panose="02040503050406030204" pitchFamily="18" charset="0"/>
                            <a:cs typeface="Tahoma"/>
                          </a:rPr>
                          <m:t>, </m:t>
                        </m:r>
                        <m:sSub>
                          <m:sSubPr>
                            <m:ctrlPr>
                              <a:rPr lang="en-US" sz="1200" i="1" spc="10" dirty="0" smtClean="0">
                                <a:latin typeface="Cambria Math" panose="02040503050406030204" pitchFamily="18" charset="0"/>
                                <a:cs typeface="Tahoma"/>
                              </a:rPr>
                            </m:ctrlPr>
                          </m:sSubPr>
                          <m:e>
                            <m:r>
                              <a:rPr lang="en-US" sz="1200" i="1" spc="10" dirty="0" smtClean="0">
                                <a:latin typeface="Cambria Math" panose="02040503050406030204" pitchFamily="18" charset="0"/>
                                <a:cs typeface="Tahoma"/>
                              </a:rPr>
                              <m:t>𝑝</m:t>
                            </m:r>
                          </m:e>
                          <m:sub>
                            <m:r>
                              <a:rPr lang="en-US" sz="1200" i="1" spc="10" dirty="0" smtClean="0">
                                <a:latin typeface="Cambria Math" panose="02040503050406030204" pitchFamily="18" charset="0"/>
                                <a:cs typeface="Tahoma"/>
                              </a:rPr>
                              <m:t>1</m:t>
                            </m:r>
                          </m:sub>
                        </m:sSub>
                      </m:e>
                    </m:d>
                    <m:r>
                      <m:rPr>
                        <m:sty m:val="p"/>
                      </m:rPr>
                      <a:rPr lang="en-US" sz="1200" i="0" spc="10" dirty="0" smtClean="0">
                        <a:latin typeface="Cambria Math" panose="02040503050406030204" pitchFamily="18" charset="0"/>
                        <a:cs typeface="Tahoma"/>
                      </a:rPr>
                      <m:t>OR</m:t>
                    </m:r>
                    <m:r>
                      <a:rPr lang="en-US" sz="1200" i="1" spc="10" dirty="0" smtClean="0">
                        <a:latin typeface="Cambria Math" panose="02040503050406030204" pitchFamily="18" charset="0"/>
                        <a:cs typeface="Tahoma"/>
                      </a:rPr>
                      <m:t> … </m:t>
                    </m:r>
                    <m:r>
                      <m:rPr>
                        <m:sty m:val="p"/>
                      </m:rPr>
                      <a:rPr lang="en-US" sz="1200" i="0" spc="10" dirty="0" smtClean="0">
                        <a:latin typeface="Cambria Math" panose="02040503050406030204" pitchFamily="18" charset="0"/>
                        <a:cs typeface="Tahoma"/>
                      </a:rPr>
                      <m:t>OR</m:t>
                    </m:r>
                    <m:r>
                      <a:rPr lang="en-US" sz="1200" i="1" spc="10" dirty="0" smtClean="0">
                        <a:latin typeface="Cambria Math" panose="02040503050406030204" pitchFamily="18" charset="0"/>
                        <a:cs typeface="Tahoma"/>
                      </a:rPr>
                      <m:t> </m:t>
                    </m:r>
                    <m:d>
                      <m:dPr>
                        <m:ctrlPr>
                          <a:rPr lang="en-US" sz="1200" i="1" spc="10" dirty="0" smtClean="0">
                            <a:latin typeface="Cambria Math" panose="02040503050406030204" pitchFamily="18" charset="0"/>
                            <a:cs typeface="Tahoma"/>
                          </a:rPr>
                        </m:ctrlPr>
                      </m:dPr>
                      <m:e>
                        <m:sSub>
                          <m:sSubPr>
                            <m:ctrlPr>
                              <a:rPr lang="en-US" sz="1200" i="1" spc="10" dirty="0" err="1"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𝑘</m:t>
                            </m:r>
                          </m:sub>
                        </m:sSub>
                        <m:r>
                          <a:rPr lang="en-US" sz="1200" i="1" spc="10" dirty="0" smtClean="0">
                            <a:latin typeface="Cambria Math" panose="02040503050406030204" pitchFamily="18" charset="0"/>
                            <a:cs typeface="Tahoma"/>
                          </a:rPr>
                          <m:t>, </m:t>
                        </m:r>
                        <m:sSub>
                          <m:sSubPr>
                            <m:ctrlPr>
                              <a:rPr lang="en-US" sz="1200" i="1" spc="10" dirty="0" err="1"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𝑝</m:t>
                            </m:r>
                          </m:e>
                          <m:sub>
                            <m:r>
                              <a:rPr lang="en-US" sz="1200" i="1" spc="10" dirty="0" err="1" smtClean="0">
                                <a:latin typeface="Cambria Math" panose="02040503050406030204" pitchFamily="18" charset="0"/>
                                <a:cs typeface="Tahoma"/>
                              </a:rPr>
                              <m:t>𝑘</m:t>
                            </m:r>
                          </m:sub>
                        </m:sSub>
                      </m:e>
                    </m:d>
                  </m:oMath>
                </a14:m>
                <a:endParaRPr lang="en-US" dirty="0"/>
              </a:p>
              <a:p>
                <a:pPr marL="742950" lvl="1" indent="-285750">
                  <a:buFont typeface="Arial" panose="020B0604020202020204" pitchFamily="34" charset="0"/>
                  <a:buChar char="•"/>
                </a:pPr>
                <a:r>
                  <a:rPr lang="en-US" dirty="0"/>
                  <a:t>An </a:t>
                </a:r>
                <a:r>
                  <a:rPr lang="en-US" b="1" dirty="0"/>
                  <a:t>OR bid</a:t>
                </a:r>
                <a:r>
                  <a:rPr lang="en-US" dirty="0"/>
                  <a:t> consists of multiple atomic bids, where bidders express their willingness to pay for any of the specified bundles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𝑖</m:t>
                        </m:r>
                        <m:r>
                          <a:rPr lang="en-US" i="1" dirty="0" smtClean="0">
                            <a:latin typeface="Cambria Math" panose="02040503050406030204" pitchFamily="18" charset="0"/>
                          </a:rPr>
                          <m:t>​</m:t>
                        </m:r>
                      </m:sub>
                    </m:sSub>
                  </m:oMath>
                </a14:m>
                <a:r>
                  <a:rPr lang="en-US" dirty="0"/>
                  <a:t> at price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𝑖</m:t>
                        </m:r>
                      </m:sub>
                    </m:sSub>
                  </m:oMath>
                </a14:m>
                <a:r>
                  <a:rPr lang="en-US" dirty="0"/>
                  <a:t>​.</a:t>
                </a:r>
              </a:p>
              <a:p>
                <a:endParaRPr lang="en-US" b="1" dirty="0"/>
              </a:p>
              <a:p>
                <a:r>
                  <a:rPr lang="en-US" b="1" dirty="0"/>
                  <a:t>Valuation Function</a:t>
                </a:r>
              </a:p>
              <a:p>
                <a:pPr marL="171450" indent="-171450">
                  <a:buFont typeface="Arial" panose="020B0604020202020204" pitchFamily="34" charset="0"/>
                  <a:buChar char="•"/>
                </a:pPr>
                <a:r>
                  <a:rPr lang="en-US" b="1" dirty="0"/>
                  <a:t>Valuation Logic</a:t>
                </a:r>
                <a:r>
                  <a:rPr lang="en-US" dirty="0"/>
                  <a:t>:</a:t>
                </a:r>
              </a:p>
              <a:p>
                <a:pPr marL="742950" lvl="1" indent="-285750">
                  <a:buFont typeface="Arial" panose="020B0604020202020204" pitchFamily="34" charset="0"/>
                  <a:buChar char="•"/>
                </a:pPr>
                <a:r>
                  <a:rPr lang="en-US" dirty="0"/>
                  <a:t>The valuation function for an OR bid is based on identifying a set of atomic bids </a:t>
                </a:r>
                <a14:m>
                  <m:oMath xmlns:m="http://schemas.openxmlformats.org/officeDocument/2006/math">
                    <m:r>
                      <a:rPr lang="en-US" i="1" dirty="0" smtClean="0">
                        <a:latin typeface="Cambria Math" panose="02040503050406030204" pitchFamily="18" charset="0"/>
                      </a:rPr>
                      <m:t>𝑊</m:t>
                    </m:r>
                  </m:oMath>
                </a14:m>
                <a:r>
                  <a:rPr lang="en-US" dirty="0"/>
                  <a:t> within </a:t>
                </a:r>
                <a14:m>
                  <m:oMath xmlns:m="http://schemas.openxmlformats.org/officeDocument/2006/math">
                    <m:r>
                      <a:rPr lang="en-US" i="1" dirty="0" smtClean="0">
                        <a:latin typeface="Cambria Math" panose="02040503050406030204" pitchFamily="18" charset="0"/>
                      </a:rPr>
                      <m:t>𝛽</m:t>
                    </m:r>
                  </m:oMath>
                </a14:m>
                <a:r>
                  <a:rPr lang="en-US" dirty="0"/>
                  <a:t> that are satisfied by a given bundle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𝑍</m:t>
                        </m:r>
                      </m:e>
                      <m:sup>
                        <m:r>
                          <a:rPr lang="en-US" i="1" dirty="0" smtClean="0">
                            <a:latin typeface="Cambria Math" panose="02040503050406030204" pitchFamily="18" charset="0"/>
                          </a:rPr>
                          <m:t>’</m:t>
                        </m:r>
                      </m:sup>
                    </m:sSup>
                  </m:oMath>
                </a14:m>
                <a:r>
                  <a:rPr lang="en-US" dirty="0"/>
                  <a:t>.</a:t>
                </a:r>
              </a:p>
              <a:p>
                <a:pPr marL="742950" lvl="1" indent="-285750">
                  <a:buFont typeface="Arial" panose="020B0604020202020204" pitchFamily="34" charset="0"/>
                  <a:buChar char="•"/>
                </a:pPr>
                <a:r>
                  <a:rPr lang="en-US" dirty="0"/>
                  <a:t>The objective is to </a:t>
                </a:r>
                <a:r>
                  <a:rPr lang="en-US" b="1" dirty="0"/>
                  <a:t>maximize the total price paid</a:t>
                </a:r>
                <a:r>
                  <a:rPr lang="en-US" dirty="0"/>
                  <a:t> by selecting atomic bids that do not overlap (mutually disjoint goods).</a:t>
                </a:r>
              </a:p>
              <a:p>
                <a:endParaRPr lang="en-US" b="1" dirty="0"/>
              </a:p>
              <a:p>
                <a:r>
                  <a:rPr lang="en-US" b="1" dirty="0"/>
                  <a:t>Steps to Construct the Valuation Function</a:t>
                </a:r>
              </a:p>
              <a:p>
                <a:pPr marL="228600" indent="-228600">
                  <a:buFont typeface="+mj-lt"/>
                  <a:buAutoNum type="arabicPeriod"/>
                </a:pPr>
                <a:r>
                  <a:rPr lang="en-US" b="1" dirty="0"/>
                  <a:t>Identify the Set of Atomic Bids</a:t>
                </a:r>
                <a:r>
                  <a:rPr lang="en-US" dirty="0"/>
                  <a:t>:</a:t>
                </a:r>
              </a:p>
              <a:p>
                <a:pPr marL="742950" lvl="1" indent="-285750">
                  <a:buFont typeface="Arial" panose="020B0604020202020204" pitchFamily="34" charset="0"/>
                  <a:buChar char="•"/>
                </a:pPr>
                <a:r>
                  <a:rPr lang="en-US" dirty="0"/>
                  <a:t>Determine the set of atomic bids </a:t>
                </a:r>
                <a14:m>
                  <m:oMath xmlns:m="http://schemas.openxmlformats.org/officeDocument/2006/math">
                    <m:r>
                      <a:rPr lang="en-US" i="1" dirty="0" smtClean="0">
                        <a:latin typeface="Cambria Math" panose="02040503050406030204" pitchFamily="18" charset="0"/>
                      </a:rPr>
                      <m:t>𝑊</m:t>
                    </m:r>
                  </m:oMath>
                </a14:m>
                <a:r>
                  <a:rPr lang="en-US" dirty="0"/>
                  <a:t> within </a:t>
                </a:r>
                <a14:m>
                  <m:oMath xmlns:m="http://schemas.openxmlformats.org/officeDocument/2006/math">
                    <m:r>
                      <a:rPr lang="en-US" i="1" dirty="0" smtClean="0">
                        <a:latin typeface="Cambria Math" panose="02040503050406030204" pitchFamily="18" charset="0"/>
                      </a:rPr>
                      <m:t>𝛽</m:t>
                    </m:r>
                  </m:oMath>
                </a14:m>
                <a:r>
                  <a:rPr lang="en-US" baseline="0" dirty="0"/>
                  <a:t> </a:t>
                </a:r>
                <a:r>
                  <a:rPr lang="en-US" dirty="0"/>
                  <a:t>that are satisfied by the given bundle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oMath>
                </a14:m>
                <a:r>
                  <a:rPr lang="en-US" dirty="0"/>
                  <a:t>.</a:t>
                </a:r>
              </a:p>
              <a:p>
                <a:pPr marL="742950" lvl="1" indent="-285750">
                  <a:buFont typeface="Arial" panose="020B0604020202020204" pitchFamily="34" charset="0"/>
                  <a:buChar char="•"/>
                </a:pPr>
                <a:r>
                  <a:rPr lang="en-US" dirty="0"/>
                  <a:t>Each atomic bid </a:t>
                </a:r>
                <a14:m>
                  <m:oMath xmlns:m="http://schemas.openxmlformats.org/officeDocument/2006/math">
                    <m:d>
                      <m:dPr>
                        <m:ctrlPr>
                          <a:rPr lang="en-US" i="1" dirty="0" smtClean="0">
                            <a:latin typeface="Cambria Math" panose="02040503050406030204" pitchFamily="18" charset="0"/>
                          </a:rPr>
                        </m:ctrlPr>
                      </m:dPr>
                      <m:e>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𝑍</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𝑝</m:t>
                            </m:r>
                          </m:e>
                          <m:sub>
                            <m:r>
                              <a:rPr lang="en-US" i="1" dirty="0" err="1" smtClean="0">
                                <a:latin typeface="Cambria Math" panose="02040503050406030204" pitchFamily="18" charset="0"/>
                              </a:rPr>
                              <m:t>𝑖</m:t>
                            </m:r>
                          </m:sub>
                        </m:sSub>
                      </m:e>
                    </m:d>
                  </m:oMath>
                </a14:m>
                <a:r>
                  <a:rPr lang="en-US" dirty="0"/>
                  <a:t> is satisfied if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𝑍</m:t>
                        </m:r>
                      </m:e>
                      <m:sup>
                        <m:r>
                          <a:rPr lang="en-US" i="1" dirty="0" smtClean="0">
                            <a:latin typeface="Cambria Math" panose="02040503050406030204" pitchFamily="18" charset="0"/>
                          </a:rPr>
                          <m:t>′</m:t>
                        </m:r>
                      </m:sup>
                    </m:sSup>
                  </m:oMath>
                </a14:m>
                <a:r>
                  <a:rPr lang="en-US" dirty="0"/>
                  <a:t>.</a:t>
                </a:r>
              </a:p>
              <a:p>
                <a:pPr marL="228600" indent="-228600">
                  <a:buFont typeface="+mj-lt"/>
                  <a:buAutoNum type="arabicPeriod"/>
                </a:pPr>
                <a:r>
                  <a:rPr lang="en-US" b="1" dirty="0"/>
                  <a:t>Ensure Mutually Disjoint Goods</a:t>
                </a:r>
                <a:r>
                  <a:rPr lang="en-US" dirty="0"/>
                  <a:t>:</a:t>
                </a:r>
              </a:p>
              <a:p>
                <a:pPr marL="742950" lvl="1" indent="-285750">
                  <a:buFont typeface="Arial" panose="020B0604020202020204" pitchFamily="34" charset="0"/>
                  <a:buChar char="•"/>
                </a:pPr>
                <a:r>
                  <a:rPr lang="en-US" dirty="0"/>
                  <a:t>Confirm that each pair of bids in </a:t>
                </a:r>
                <a14:m>
                  <m:oMath xmlns:m="http://schemas.openxmlformats.org/officeDocument/2006/math">
                    <m:r>
                      <a:rPr lang="en-US" i="1" dirty="0" smtClean="0">
                        <a:latin typeface="Cambria Math" panose="02040503050406030204" pitchFamily="18" charset="0"/>
                      </a:rPr>
                      <m:t>𝑊</m:t>
                    </m:r>
                  </m:oMath>
                </a14:m>
                <a:r>
                  <a:rPr lang="en-US" dirty="0"/>
                  <a:t> consists of mutually disjoint goods: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𝑍</m:t>
                        </m:r>
                      </m:e>
                      <m:sub>
                        <m:r>
                          <a:rPr lang="en-US" i="1" dirty="0" smtClean="0">
                            <a:latin typeface="Cambria Math" panose="02040503050406030204" pitchFamily="18" charset="0"/>
                          </a:rPr>
                          <m:t>𝑗</m:t>
                        </m:r>
                      </m:sub>
                    </m:sSub>
                    <m:r>
                      <a:rPr lang="en-US"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t>for all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 ≠</m:t>
                    </m:r>
                    <m:r>
                      <a:rPr lang="en-US" i="1" dirty="0" smtClean="0">
                        <a:latin typeface="Cambria Math" panose="02040503050406030204" pitchFamily="18" charset="0"/>
                      </a:rPr>
                      <m:t>𝑗</m:t>
                    </m:r>
                    <m:r>
                      <a:rPr lang="en-US" b="0" i="0" dirty="0" smtClean="0">
                        <a:latin typeface="Cambria Math" panose="02040503050406030204" pitchFamily="18" charset="0"/>
                      </a:rPr>
                      <m:t>.</m:t>
                    </m:r>
                  </m:oMath>
                </a14:m>
                <a:endParaRPr lang="en-US" dirty="0"/>
              </a:p>
              <a:p>
                <a:pPr marL="742950" lvl="1" indent="-285750">
                  <a:buFont typeface="Arial" panose="020B0604020202020204" pitchFamily="34" charset="0"/>
                  <a:buChar char="•"/>
                </a:pPr>
                <a:r>
                  <a:rPr lang="en-US" dirty="0"/>
                  <a:t>This ensures that the same item is not allocated to multiple bids in the selected set.</a:t>
                </a:r>
              </a:p>
              <a:p>
                <a:pPr marL="228600" indent="-228600">
                  <a:buFont typeface="+mj-lt"/>
                  <a:buAutoNum type="arabicPeriod"/>
                </a:pPr>
                <a:r>
                  <a:rPr lang="en-US" b="1" dirty="0"/>
                  <a:t>Maximize Total Price</a:t>
                </a:r>
                <a:r>
                  <a:rPr lang="en-US" dirty="0"/>
                  <a:t>:</a:t>
                </a:r>
              </a:p>
              <a:p>
                <a:pPr marL="742950" lvl="1" indent="-285750">
                  <a:buFont typeface="Arial" panose="020B0604020202020204" pitchFamily="34" charset="0"/>
                  <a:buChar char="•"/>
                </a:pPr>
                <a:r>
                  <a:rPr lang="en-US" dirty="0"/>
                  <a:t>Confirm that no other subset </a:t>
                </a:r>
                <a14:m>
                  <m:oMath xmlns:m="http://schemas.openxmlformats.org/officeDocument/2006/math">
                    <m:r>
                      <a:rPr lang="en-US" i="1" dirty="0" smtClean="0">
                        <a:latin typeface="Cambria Math" panose="02040503050406030204" pitchFamily="18" charset="0"/>
                      </a:rPr>
                      <m:t>𝑊</m:t>
                    </m:r>
                    <m:r>
                      <a:rPr lang="en-US" i="1" dirty="0" smtClean="0">
                        <a:latin typeface="Cambria Math" panose="02040503050406030204" pitchFamily="18" charset="0"/>
                      </a:rPr>
                      <m:t>’</m:t>
                    </m:r>
                  </m:oMath>
                </a14:m>
                <a:r>
                  <a:rPr lang="en-US" dirty="0"/>
                  <a:t> of bids, which satisfies the conditions above, yields a higher total price:</a:t>
                </a:r>
                <a:br>
                  <a:rPr lang="en-US" dirty="0"/>
                </a:br>
                <a14:m>
                  <m:oMath xmlns:m="http://schemas.openxmlformats.org/officeDocument/2006/math">
                    <m:nary>
                      <m:naryPr>
                        <m:chr m:val="∑"/>
                        <m:supHide m:val="on"/>
                        <m:ctrlPr>
                          <a:rPr lang="en-US" sz="1200" i="1" spc="10" smtClean="0">
                            <a:latin typeface="Cambria Math" panose="02040503050406030204" pitchFamily="18" charset="0"/>
                            <a:cs typeface="Tahoma"/>
                          </a:rPr>
                        </m:ctrlPr>
                      </m:naryPr>
                      <m:sub>
                        <m:d>
                          <m:dPr>
                            <m:ctrlPr>
                              <a:rPr lang="en-US" sz="1200" b="0" i="1" spc="10" smtClean="0">
                                <a:latin typeface="Cambria Math" panose="02040503050406030204" pitchFamily="18" charset="0"/>
                                <a:cs typeface="Tahoma"/>
                              </a:rPr>
                            </m:ctrlPr>
                          </m:dPr>
                          <m:e>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𝑍</m:t>
                                </m:r>
                              </m:e>
                              <m:sub>
                                <m:r>
                                  <a:rPr lang="en-US" sz="1200" b="0" i="1" spc="10" smtClean="0">
                                    <a:latin typeface="Cambria Math" panose="02040503050406030204" pitchFamily="18" charset="0"/>
                                    <a:cs typeface="Tahoma"/>
                                  </a:rPr>
                                  <m:t>𝑖</m:t>
                                </m:r>
                              </m:sub>
                            </m:sSub>
                            <m:r>
                              <a:rPr lang="en-US" sz="1200" b="0" i="1" spc="10" smtClean="0">
                                <a:latin typeface="Cambria Math" panose="02040503050406030204" pitchFamily="18" charset="0"/>
                                <a:cs typeface="Tahoma"/>
                              </a:rPr>
                              <m:t>,</m:t>
                            </m:r>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𝑝</m:t>
                                </m:r>
                              </m:e>
                              <m:sub>
                                <m:r>
                                  <a:rPr lang="en-US" sz="1200" b="0" i="1" spc="10" smtClean="0">
                                    <a:latin typeface="Cambria Math" panose="02040503050406030204" pitchFamily="18" charset="0"/>
                                    <a:cs typeface="Tahoma"/>
                                  </a:rPr>
                                  <m:t>𝑖</m:t>
                                </m:r>
                              </m:sub>
                            </m:sSub>
                          </m:e>
                        </m:d>
                        <m:r>
                          <a:rPr lang="en-US" sz="1200" b="0" i="1" spc="10" smtClean="0">
                            <a:latin typeface="Cambria Math" panose="02040503050406030204" pitchFamily="18" charset="0"/>
                            <a:cs typeface="Tahoma"/>
                          </a:rPr>
                          <m:t>∈</m:t>
                        </m:r>
                        <m:sSup>
                          <m:sSupPr>
                            <m:ctrlPr>
                              <a:rPr lang="en-US" sz="1200" b="0" i="1" spc="10" smtClean="0">
                                <a:latin typeface="Cambria Math" panose="02040503050406030204" pitchFamily="18" charset="0"/>
                                <a:cs typeface="Tahoma"/>
                              </a:rPr>
                            </m:ctrlPr>
                          </m:sSupPr>
                          <m:e>
                            <m:r>
                              <a:rPr lang="en-US" sz="1200" b="0" i="1" spc="10" smtClean="0">
                                <a:latin typeface="Cambria Math" panose="02040503050406030204" pitchFamily="18" charset="0"/>
                                <a:cs typeface="Tahoma"/>
                              </a:rPr>
                              <m:t>𝑊</m:t>
                            </m:r>
                          </m:e>
                          <m:sup>
                            <m:r>
                              <a:rPr lang="en-US" sz="1200" b="0" i="1" spc="10" smtClean="0">
                                <a:latin typeface="Cambria Math" panose="02040503050406030204" pitchFamily="18" charset="0"/>
                                <a:cs typeface="Tahoma"/>
                              </a:rPr>
                              <m:t>′</m:t>
                            </m:r>
                          </m:sup>
                        </m:sSup>
                      </m:sub>
                      <m:sup/>
                      <m:e>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𝑝</m:t>
                            </m:r>
                          </m:e>
                          <m:sub>
                            <m:r>
                              <a:rPr lang="en-US" sz="1200" b="0" i="1" spc="10" smtClean="0">
                                <a:latin typeface="Cambria Math" panose="02040503050406030204" pitchFamily="18" charset="0"/>
                                <a:cs typeface="Tahoma"/>
                              </a:rPr>
                              <m:t>𝑖</m:t>
                            </m:r>
                          </m:sub>
                        </m:sSub>
                      </m:e>
                    </m:nary>
                    <m:r>
                      <a:rPr lang="en-US" sz="1200" b="0" i="1" spc="10" smtClean="0">
                        <a:latin typeface="Cambria Math" panose="02040503050406030204" pitchFamily="18" charset="0"/>
                        <a:cs typeface="Tahoma"/>
                      </a:rPr>
                      <m:t>&gt;</m:t>
                    </m:r>
                    <m:nary>
                      <m:naryPr>
                        <m:chr m:val="∑"/>
                        <m:supHide m:val="on"/>
                        <m:ctrlPr>
                          <a:rPr lang="en-US" sz="1200" i="1" spc="10">
                            <a:latin typeface="Cambria Math" panose="02040503050406030204" pitchFamily="18" charset="0"/>
                            <a:cs typeface="Tahoma"/>
                          </a:rPr>
                        </m:ctrlPr>
                      </m:naryPr>
                      <m:sub>
                        <m:d>
                          <m:dPr>
                            <m:ctrlPr>
                              <a:rPr lang="en-US" sz="1200" i="1" spc="10">
                                <a:latin typeface="Cambria Math" panose="02040503050406030204" pitchFamily="18" charset="0"/>
                                <a:cs typeface="Tahoma"/>
                              </a:rPr>
                            </m:ctrlPr>
                          </m:dPr>
                          <m:e>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𝑍</m:t>
                                </m:r>
                              </m:e>
                              <m:sub>
                                <m:r>
                                  <a:rPr lang="en-US" sz="1200" b="0" i="1" spc="10" smtClean="0">
                                    <a:latin typeface="Cambria Math" panose="02040503050406030204" pitchFamily="18" charset="0"/>
                                    <a:cs typeface="Tahoma"/>
                                  </a:rPr>
                                  <m:t>𝑗</m:t>
                                </m:r>
                              </m:sub>
                            </m:sSub>
                            <m:r>
                              <a:rPr lang="en-US" sz="1200" i="1" spc="10">
                                <a:latin typeface="Cambria Math" panose="02040503050406030204" pitchFamily="18" charset="0"/>
                                <a:cs typeface="Tahoma"/>
                              </a:rPr>
                              <m:t>,</m:t>
                            </m:r>
                            <m:sSub>
                              <m:sSubPr>
                                <m:ctrlPr>
                                  <a:rPr lang="en-US" sz="1200" i="1" spc="10">
                                    <a:latin typeface="Cambria Math" panose="02040503050406030204" pitchFamily="18" charset="0"/>
                                    <a:cs typeface="Tahoma"/>
                                  </a:rPr>
                                </m:ctrlPr>
                              </m:sSubPr>
                              <m:e>
                                <m:r>
                                  <a:rPr lang="en-US" sz="1200" i="1" spc="10">
                                    <a:latin typeface="Cambria Math" panose="02040503050406030204" pitchFamily="18" charset="0"/>
                                    <a:cs typeface="Tahoma"/>
                                  </a:rPr>
                                  <m:t>𝑝</m:t>
                                </m:r>
                              </m:e>
                              <m:sub>
                                <m:r>
                                  <a:rPr lang="en-US" sz="1200" b="0" i="1" spc="10" smtClean="0">
                                    <a:latin typeface="Cambria Math" panose="02040503050406030204" pitchFamily="18" charset="0"/>
                                    <a:cs typeface="Tahoma"/>
                                  </a:rPr>
                                  <m:t>𝑗</m:t>
                                </m:r>
                              </m:sub>
                            </m:sSub>
                          </m:e>
                        </m:d>
                        <m:r>
                          <a:rPr lang="en-US" sz="1200" i="1" spc="10">
                            <a:latin typeface="Cambria Math" panose="02040503050406030204" pitchFamily="18" charset="0"/>
                            <a:cs typeface="Tahoma"/>
                          </a:rPr>
                          <m:t>∈</m:t>
                        </m:r>
                        <m:sSup>
                          <m:sSupPr>
                            <m:ctrlPr>
                              <a:rPr lang="en-US" sz="1200" i="1" spc="10">
                                <a:latin typeface="Cambria Math" panose="02040503050406030204" pitchFamily="18" charset="0"/>
                                <a:cs typeface="Tahoma"/>
                              </a:rPr>
                            </m:ctrlPr>
                          </m:sSupPr>
                          <m:e>
                            <m:r>
                              <a:rPr lang="en-US" sz="1200" i="1" spc="10">
                                <a:latin typeface="Cambria Math" panose="02040503050406030204" pitchFamily="18" charset="0"/>
                                <a:cs typeface="Tahoma"/>
                              </a:rPr>
                              <m:t>𝑊</m:t>
                            </m:r>
                          </m:e>
                          <m:sup>
                            <m:r>
                              <a:rPr lang="en-US" sz="1200" i="1" spc="10">
                                <a:latin typeface="Cambria Math" panose="02040503050406030204" pitchFamily="18" charset="0"/>
                                <a:cs typeface="Tahoma"/>
                              </a:rPr>
                              <m:t>′</m:t>
                            </m:r>
                          </m:sup>
                        </m:sSup>
                      </m:sub>
                      <m:sup/>
                      <m:e>
                        <m:sSub>
                          <m:sSubPr>
                            <m:ctrlPr>
                              <a:rPr lang="en-US" sz="1200" b="0" i="1" spc="10" smtClean="0">
                                <a:latin typeface="Cambria Math" panose="02040503050406030204" pitchFamily="18" charset="0"/>
                                <a:cs typeface="Tahoma"/>
                              </a:rPr>
                            </m:ctrlPr>
                          </m:sSubPr>
                          <m:e>
                            <m:r>
                              <a:rPr lang="en-US" sz="1200" b="0" i="1" spc="10" smtClean="0">
                                <a:latin typeface="Cambria Math" panose="02040503050406030204" pitchFamily="18" charset="0"/>
                                <a:cs typeface="Tahoma"/>
                              </a:rPr>
                              <m:t>𝑝</m:t>
                            </m:r>
                          </m:e>
                          <m:sub>
                            <m:r>
                              <a:rPr lang="en-US" sz="1200" b="0" i="1" spc="10" smtClean="0">
                                <a:latin typeface="Cambria Math" panose="02040503050406030204" pitchFamily="18" charset="0"/>
                                <a:cs typeface="Tahoma"/>
                              </a:rPr>
                              <m:t>𝑗</m:t>
                            </m:r>
                          </m:sub>
                        </m:sSub>
                      </m:e>
                    </m:nary>
                  </m:oMath>
                </a14:m>
                <a:endParaRPr lang="en-US" dirty="0"/>
              </a:p>
              <a:p>
                <a:pPr marL="742950" lvl="1" indent="-2857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guarantees that </a:t>
                </a: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𝑊</m:t>
                    </m:r>
                  </m:oMath>
                </a14:m>
                <a:r>
                  <a:rPr lang="en-US" sz="1200" kern="1200" dirty="0">
                    <a:solidFill>
                      <a:schemeClr val="tx1"/>
                    </a:solidFill>
                    <a:latin typeface="+mn-lt"/>
                    <a:ea typeface="+mn-ea"/>
                    <a:cs typeface="+mn-cs"/>
                  </a:rPr>
                  <a:t> is the optimal set of bids that maximizes the total price paid.</a:t>
                </a:r>
              </a:p>
              <a:p>
                <a:endParaRPr lang="en-US" b="1" dirty="0"/>
              </a:p>
              <a:p>
                <a:r>
                  <a:rPr lang="en-US" b="1" dirty="0"/>
                  <a:t>Example of OR Bid Valuation</a:t>
                </a:r>
              </a:p>
              <a:p>
                <a:r>
                  <a:rPr lang="en-US" dirty="0"/>
                  <a:t>Let’s illustrate with an example:</a:t>
                </a:r>
              </a:p>
              <a:p>
                <a:pPr marL="171450" indent="-171450">
                  <a:buFont typeface="Arial" panose="020B0604020202020204" pitchFamily="34" charset="0"/>
                  <a:buChar char="•"/>
                </a:pPr>
                <a:r>
                  <a:rPr lang="en-US" sz="1200" b="1" kern="1200" dirty="0">
                    <a:solidFill>
                      <a:schemeClr val="tx1"/>
                    </a:solidFill>
                    <a:latin typeface="+mn-lt"/>
                    <a:ea typeface="+mn-ea"/>
                    <a:cs typeface="+mn-cs"/>
                  </a:rPr>
                  <a:t>OR Bid Example:</a:t>
                </a:r>
              </a:p>
              <a:p>
                <a:pP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𝛽</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,10</m:t>
                          </m:r>
                        </m:e>
                      </m:d>
                      <m:r>
                        <a:rPr lang="en-US" i="1" dirty="0" smtClean="0">
                          <a:latin typeface="Cambria Math" panose="02040503050406030204" pitchFamily="18" charset="0"/>
                        </a:rPr>
                        <m:t> </m:t>
                      </m:r>
                      <m:r>
                        <m:rPr>
                          <m:sty m:val="p"/>
                        </m:rPr>
                        <a:rPr lang="en-US" i="0" dirty="0" smtClean="0">
                          <a:latin typeface="Cambria Math" panose="02040503050406030204" pitchFamily="18" charset="0"/>
                        </a:rPr>
                        <m:t>OR</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r>
                        <a:rPr lang="en-US" i="1" dirty="0" smtClean="0">
                          <a:latin typeface="Cambria Math" panose="02040503050406030204" pitchFamily="18" charset="0"/>
                        </a:rPr>
                        <m:t> </m:t>
                      </m:r>
                      <m:r>
                        <m:rPr>
                          <m:sty m:val="p"/>
                        </m:rPr>
                        <a:rPr lang="en-US" i="0" dirty="0" smtClean="0">
                          <a:latin typeface="Cambria Math" panose="02040503050406030204" pitchFamily="18" charset="0"/>
                        </a:rPr>
                        <m:t>OR</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𝐶</m:t>
                          </m:r>
                          <m:r>
                            <a:rPr lang="en-US" i="1" dirty="0" smtClean="0">
                              <a:latin typeface="Cambria Math" panose="02040503050406030204" pitchFamily="18" charset="0"/>
                            </a:rPr>
                            <m:t>,20</m:t>
                          </m:r>
                        </m:e>
                      </m:d>
                    </m:oMath>
                  </m:oMathPara>
                </a14:m>
                <a:endParaRPr lang="en-US" dirty="0"/>
              </a:p>
              <a:p>
                <a:pPr marL="171450" indent="-171450">
                  <a:buFont typeface="Arial" panose="020B0604020202020204" pitchFamily="34" charset="0"/>
                  <a:buChar char="•"/>
                </a:pPr>
                <a:r>
                  <a:rPr lang="en-US" sz="1200" b="1" kern="1200" dirty="0">
                    <a:solidFill>
                      <a:schemeClr val="tx1"/>
                    </a:solidFill>
                    <a:latin typeface="+mn-lt"/>
                    <a:ea typeface="+mn-ea"/>
                    <a:cs typeface="+mn-cs"/>
                  </a:rPr>
                  <a:t>Satisfying Bundle</a:t>
                </a:r>
                <a:r>
                  <a:rPr lang="en-US" dirty="0"/>
                  <a:t>: Suppose we have a bundle:</a:t>
                </a:r>
              </a:p>
              <a:p>
                <a:pP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𝑍</m:t>
                          </m:r>
                        </m:e>
                        <m:sup>
                          <m:r>
                            <a:rPr lang="en-US" i="1" dirty="0" smtClean="0">
                              <a:latin typeface="Cambria Math" panose="02040503050406030204" pitchFamily="18" charset="0"/>
                            </a:rPr>
                            <m:t>′</m:t>
                          </m:r>
                        </m:sup>
                      </m:sSup>
                      <m:r>
                        <a:rPr lang="en-US"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m:t>
                          </m:r>
                          <m:r>
                            <a:rPr lang="en-US" i="1" dirty="0" smtClean="0">
                              <a:latin typeface="Cambria Math" panose="02040503050406030204" pitchFamily="18" charset="0"/>
                            </a:rPr>
                            <m:t>𝐵</m:t>
                          </m:r>
                        </m:e>
                      </m:d>
                    </m:oMath>
                  </m:oMathPara>
                </a14:m>
                <a:endParaRPr lang="en-US" dirty="0"/>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Determine Satisfied Bids:</a:t>
                </a:r>
              </a:p>
              <a:p>
                <a:pPr marL="742950" lvl="1" indent="-285750">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,10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 10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,10</m:t>
                        </m:r>
                      </m:e>
                    </m:d>
                  </m:oMath>
                </a14:m>
                <a:r>
                  <a:rPr lang="en-US" dirty="0"/>
                  <a:t>is satisfied (price = </a:t>
                </a:r>
                <a:r>
                  <a:rPr lang="en-US" b="1" dirty="0"/>
                  <a:t>$10</a:t>
                </a:r>
                <a:r>
                  <a:rPr lang="en-US" dirty="0"/>
                  <a:t>).</a:t>
                </a:r>
              </a:p>
              <a:p>
                <a:pPr marL="742950" lvl="1" indent="-285750">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 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oMath>
                </a14:m>
                <a:r>
                  <a:rPr lang="en-US" dirty="0"/>
                  <a:t>is satisfied (price = </a:t>
                </a:r>
                <a:r>
                  <a:rPr lang="en-US" b="1" dirty="0"/>
                  <a:t>$15</a:t>
                </a:r>
                <a:r>
                  <a:rPr lang="en-US" dirty="0"/>
                  <a:t>).</a:t>
                </a:r>
              </a:p>
              <a:p>
                <a:pPr marL="742950" lvl="1" indent="-285750">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𝐶</m:t>
                        </m:r>
                        <m:r>
                          <a:rPr lang="en-US" i="1" dirty="0" smtClean="0">
                            <a:latin typeface="Cambria Math" panose="02040503050406030204" pitchFamily="18" charset="0"/>
                          </a:rPr>
                          <m:t>,20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𝐶</m:t>
                        </m:r>
                        <m:r>
                          <a:rPr lang="en-US" i="1" dirty="0" smtClean="0">
                            <a:latin typeface="Cambria Math" panose="02040503050406030204" pitchFamily="18" charset="0"/>
                          </a:rPr>
                          <m:t>, 20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𝐶</m:t>
                        </m:r>
                        <m:r>
                          <a:rPr lang="en-US" i="1" dirty="0" smtClean="0">
                            <a:latin typeface="Cambria Math" panose="02040503050406030204" pitchFamily="18" charset="0"/>
                          </a:rPr>
                          <m:t>,20</m:t>
                        </m:r>
                      </m:e>
                    </m:d>
                  </m:oMath>
                </a14:m>
                <a:r>
                  <a:rPr lang="en-US" dirty="0"/>
                  <a:t>is not satisfied.</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Check for Disjoint Goods:</a:t>
                </a:r>
              </a:p>
              <a:p>
                <a:pPr marL="742950" lvl="1" indent="-285750">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,10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 10</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,10</m:t>
                        </m:r>
                      </m:e>
                    </m:d>
                  </m:oMath>
                </a14:m>
                <a:r>
                  <a:rPr lang="en-US" dirty="0"/>
                  <a:t> and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 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oMath>
                </a14:m>
                <a:r>
                  <a:rPr lang="en-US" dirty="0"/>
                  <a:t> have disjoint goods, hence included in </a:t>
                </a:r>
                <a14:m>
                  <m:oMath xmlns:m="http://schemas.openxmlformats.org/officeDocument/2006/math">
                    <m:r>
                      <a:rPr lang="en-US" i="1" dirty="0" smtClean="0">
                        <a:latin typeface="Cambria Math" panose="02040503050406030204" pitchFamily="18" charset="0"/>
                      </a:rPr>
                      <m:t>𝑊</m:t>
                    </m:r>
                  </m:oMath>
                </a14:m>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Total Price Calculation:</a:t>
                </a:r>
              </a:p>
              <a:p>
                <a:pPr marL="742950" lvl="1" indent="-285750">
                  <a:buFont typeface="Arial" panose="020B0604020202020204" pitchFamily="34" charset="0"/>
                  <a:buChar char="•"/>
                </a:pPr>
                <a:r>
                  <a:rPr lang="en-US" dirty="0"/>
                  <a:t>Total price for selected bids:</a:t>
                </a:r>
                <a:r>
                  <a:rPr lang="en-US" baseline="0" dirty="0"/>
                  <a:t> </a:t>
                </a:r>
                <a14:m>
                  <m:oMath xmlns:m="http://schemas.openxmlformats.org/officeDocument/2006/math">
                    <m:r>
                      <m:rPr>
                        <m:sty m:val="p"/>
                      </m:rPr>
                      <a:rPr lang="en-US" i="0" dirty="0" smtClean="0">
                        <a:latin typeface="Cambria Math" panose="02040503050406030204" pitchFamily="18" charset="0"/>
                      </a:rPr>
                      <m:t>Total</m:t>
                    </m:r>
                    <m:r>
                      <a:rPr lang="en-US" i="0" dirty="0" smtClean="0">
                        <a:latin typeface="Cambria Math" panose="02040503050406030204" pitchFamily="18" charset="0"/>
                      </a:rPr>
                      <m:t> </m:t>
                    </m:r>
                    <m:r>
                      <m:rPr>
                        <m:sty m:val="p"/>
                      </m:rPr>
                      <a:rPr lang="en-US" i="0" dirty="0" smtClean="0">
                        <a:latin typeface="Cambria Math" panose="02040503050406030204" pitchFamily="18" charset="0"/>
                      </a:rPr>
                      <m:t>Price</m:t>
                    </m:r>
                    <m:r>
                      <a:rPr lang="en-US" i="1" dirty="0" smtClean="0">
                        <a:latin typeface="Cambria Math" panose="02040503050406030204" pitchFamily="18" charset="0"/>
                      </a:rPr>
                      <m:t>=10+15=25</m:t>
                    </m:r>
                  </m:oMath>
                </a14:m>
                <a:endParaRPr lang="en-US" dirty="0"/>
              </a:p>
              <a:p>
                <a:pPr marL="171450" indent="-171450">
                  <a:buFont typeface="Arial" panose="020B0604020202020204" pitchFamily="34" charset="0"/>
                  <a:buChar char="•"/>
                </a:pPr>
                <a:r>
                  <a:rPr lang="en-US" b="1" dirty="0"/>
                  <a:t>Confirm Optimality</a:t>
                </a:r>
                <a:r>
                  <a:rPr lang="en-US" dirty="0"/>
                  <a:t>:</a:t>
                </a:r>
              </a:p>
              <a:p>
                <a:pPr marL="742950" lvl="1" indent="-285750">
                  <a:buFont typeface="Arial" panose="020B0604020202020204" pitchFamily="34" charset="0"/>
                  <a:buChar char="•"/>
                </a:pPr>
                <a:r>
                  <a:rPr lang="en-US" dirty="0"/>
                  <a:t>If another subset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𝑊</m:t>
                        </m:r>
                      </m:e>
                      <m:sup>
                        <m:r>
                          <a:rPr lang="en-US" b="0" i="1" dirty="0" smtClean="0">
                            <a:latin typeface="Cambria Math" panose="02040503050406030204" pitchFamily="18" charset="0"/>
                          </a:rPr>
                          <m:t>′</m:t>
                        </m:r>
                      </m:sup>
                    </m:sSup>
                  </m:oMath>
                </a14:m>
                <a:r>
                  <a:rPr lang="en-US" dirty="0"/>
                  <a:t> only satisfied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 15</m:t>
                        </m:r>
                      </m:e>
                    </m:d>
                    <m:d>
                      <m:dPr>
                        <m:ctrlPr>
                          <a:rPr lang="en-US" i="1" dirty="0" smtClean="0">
                            <a:latin typeface="Cambria Math" panose="02040503050406030204" pitchFamily="18" charset="0"/>
                          </a:rPr>
                        </m:ctrlPr>
                      </m:dPr>
                      <m:e>
                        <m:r>
                          <a:rPr lang="en-US" i="1" dirty="0" smtClean="0">
                            <a:latin typeface="Cambria Math" panose="02040503050406030204" pitchFamily="18" charset="0"/>
                          </a:rPr>
                          <m:t>𝐵</m:t>
                        </m:r>
                        <m:r>
                          <a:rPr lang="en-US" i="1" dirty="0" smtClean="0">
                            <a:latin typeface="Cambria Math" panose="02040503050406030204" pitchFamily="18" charset="0"/>
                          </a:rPr>
                          <m:t>,15</m:t>
                        </m:r>
                      </m:e>
                    </m:d>
                  </m:oMath>
                </a14:m>
                <a:r>
                  <a:rPr lang="en-US" dirty="0"/>
                  <a:t>:</a:t>
                </a:r>
                <a:br>
                  <a:rPr lang="en-US" dirty="0"/>
                </a:br>
                <a14:m>
                  <m:oMath xmlns:m="http://schemas.openxmlformats.org/officeDocument/2006/math">
                    <m:nary>
                      <m:naryPr>
                        <m:chr m:val="∑"/>
                        <m:supHide m:val="on"/>
                        <m:ctrlPr>
                          <a:rPr lang="en-US" i="1" smtClean="0">
                            <a:latin typeface="Cambria Math" panose="02040503050406030204" pitchFamily="18" charset="0"/>
                          </a:rPr>
                        </m:ctrlPr>
                      </m:naryPr>
                      <m: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𝑗</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𝑗</m:t>
                            </m:r>
                          </m:sub>
                        </m:sSub>
                        <m:r>
                          <a:rPr lang="en-US" b="0" i="1" smtClean="0">
                            <a:latin typeface="Cambria Math" panose="02040503050406030204" pitchFamily="18" charset="0"/>
                          </a:rPr>
                          <m:t>=15</m:t>
                        </m:r>
                      </m:e>
                    </m:nary>
                    <m:r>
                      <a:rPr lang="en-US" b="0" i="1" smtClean="0">
                        <a:latin typeface="Cambria Math" panose="02040503050406030204" pitchFamily="18" charset="0"/>
                      </a:rPr>
                      <m:t>       (</m:t>
                    </m:r>
                    <m:r>
                      <m:rPr>
                        <m:sty m:val="p"/>
                      </m:rPr>
                      <a:rPr lang="en-US" b="0" i="0" smtClean="0">
                        <a:latin typeface="Cambria Math" panose="02040503050406030204" pitchFamily="18" charset="0"/>
                      </a:rPr>
                      <m:t>which</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less</m:t>
                    </m:r>
                    <m:r>
                      <a:rPr lang="en-US" b="0" i="0" smtClean="0">
                        <a:latin typeface="Cambria Math" panose="02040503050406030204" pitchFamily="18" charset="0"/>
                      </a:rPr>
                      <m:t> </m:t>
                    </m:r>
                    <m:r>
                      <m:rPr>
                        <m:sty m:val="p"/>
                      </m:rPr>
                      <a:rPr lang="en-US" b="0" i="0" smtClean="0">
                        <a:latin typeface="Cambria Math" panose="02040503050406030204" pitchFamily="18" charset="0"/>
                      </a:rPr>
                      <m:t>than</m:t>
                    </m:r>
                    <m:r>
                      <a:rPr lang="en-US" b="0" i="0" smtClean="0">
                        <a:latin typeface="Cambria Math" panose="02040503050406030204" pitchFamily="18" charset="0"/>
                      </a:rPr>
                      <m:t> </m:t>
                    </m:r>
                    <m:r>
                      <a:rPr lang="en-US" b="0" i="1" smtClean="0">
                        <a:latin typeface="Cambria Math" panose="02040503050406030204" pitchFamily="18" charset="0"/>
                      </a:rPr>
                      <m:t>25)</m:t>
                    </m:r>
                  </m:oMath>
                </a14:m>
                <a:endParaRPr lang="en-US" dirty="0"/>
              </a:p>
              <a:p>
                <a:r>
                  <a:rPr lang="en-US" dirty="0"/>
                  <a:t>Thus, the selected set </a:t>
                </a:r>
                <a14:m>
                  <m:oMath xmlns:m="http://schemas.openxmlformats.org/officeDocument/2006/math">
                    <m:r>
                      <a:rPr lang="en-US" i="1" dirty="0" smtClean="0">
                        <a:latin typeface="Cambria Math" panose="02040503050406030204" pitchFamily="18" charset="0"/>
                      </a:rPr>
                      <m:t>𝑊</m:t>
                    </m:r>
                  </m:oMath>
                </a14:m>
                <a:r>
                  <a:rPr lang="en-US" dirty="0"/>
                  <a:t> maximizes the total price paid.</a:t>
                </a:r>
              </a:p>
              <a:p>
                <a:endParaRPr lang="en-US" b="1" dirty="0"/>
              </a:p>
              <a:p>
                <a:r>
                  <a:rPr lang="en-US" b="1" dirty="0"/>
                  <a:t>Conclusion</a:t>
                </a:r>
              </a:p>
              <a:p>
                <a:pPr marL="171450" indent="-171450">
                  <a:buFont typeface="Arial" panose="020B0604020202020204" pitchFamily="34" charset="0"/>
                  <a:buChar char="•"/>
                </a:pPr>
                <a:r>
                  <a:rPr lang="en-US" dirty="0"/>
                  <a:t>OR bids allow bidders to express preferences across multiple atomic bids, enabling them to pay for several bundles as long as their goods are disjoint.</a:t>
                </a:r>
              </a:p>
              <a:p>
                <a:pPr marL="171450" indent="-171450">
                  <a:buFont typeface="Arial" panose="020B0604020202020204" pitchFamily="34" charset="0"/>
                  <a:buChar char="•"/>
                </a:pPr>
                <a:r>
                  <a:rPr lang="en-US" dirty="0"/>
                  <a:t>This structure enhances flexibility in bidding, allowing for more complex preferences while ensuring that bidders can maximize their overall value based on the items they win.</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OR bids, which allow bidders to potentially win and pay for multiple atomic bids within a single OR bid. It explains how the valuation function is determined by selecting the best set of non-overlapping satisfied bids.</a:t>
                </a:r>
              </a:p>
              <a:p>
                <a:endParaRPr lang="en-US" b="0" i="0" dirty="0">
                  <a:solidFill>
                    <a:srgbClr val="E8E8E8"/>
                  </a:solidFill>
                  <a:effectLst/>
                  <a:latin typeface="Google Sans Text"/>
                </a:endParaRPr>
              </a:p>
              <a:p>
                <a:r>
                  <a:rPr lang="en-US" b="1" dirty="0"/>
                  <a:t>OR Bid Structure</a:t>
                </a:r>
              </a:p>
              <a:p>
                <a:pPr marL="171450" indent="-171450">
                  <a:buFont typeface="Arial" panose="020B0604020202020204" pitchFamily="34" charset="0"/>
                  <a:buChar char="•"/>
                </a:pPr>
                <a:r>
                  <a:rPr lang="en-US" b="1" dirty="0"/>
                  <a:t>Definition</a:t>
                </a:r>
                <a:r>
                  <a:rPr lang="en-US" dirty="0"/>
                  <a:t>: </a:t>
                </a:r>
                <a:r>
                  <a:rPr lang="en-US" sz="1200" i="0" spc="10" dirty="0">
                    <a:latin typeface="Cambria Math" panose="02040503050406030204" pitchFamily="18" charset="0"/>
                    <a:cs typeface="Tahoma"/>
                  </a:rPr>
                  <a:t>𝛽 = (𝑍_1, 𝑝_1 )OR … OR (</a:t>
                </a:r>
                <a:r>
                  <a:rPr lang="en-US" sz="1200" i="0" spc="10" dirty="0" err="1">
                    <a:latin typeface="Cambria Math" panose="02040503050406030204" pitchFamily="18" charset="0"/>
                    <a:cs typeface="Tahoma"/>
                  </a:rPr>
                  <a:t>𝑍_𝑘</a:t>
                </a:r>
                <a:r>
                  <a:rPr lang="en-US" sz="1200" i="0" spc="10" dirty="0">
                    <a:latin typeface="Cambria Math" panose="02040503050406030204" pitchFamily="18" charset="0"/>
                    <a:cs typeface="Tahoma"/>
                  </a:rPr>
                  <a:t>, </a:t>
                </a:r>
                <a:r>
                  <a:rPr lang="en-US" sz="1200" i="0" spc="10" dirty="0" err="1">
                    <a:latin typeface="Cambria Math" panose="02040503050406030204" pitchFamily="18" charset="0"/>
                    <a:cs typeface="Tahoma"/>
                  </a:rPr>
                  <a:t>𝑝_𝑘 )</a:t>
                </a:r>
                <a:endParaRPr lang="en-US" dirty="0"/>
              </a:p>
              <a:p>
                <a:pPr marL="742950" lvl="1" indent="-285750">
                  <a:buFont typeface="Arial" panose="020B0604020202020204" pitchFamily="34" charset="0"/>
                  <a:buChar char="•"/>
                </a:pPr>
                <a:r>
                  <a:rPr lang="en-US" dirty="0"/>
                  <a:t>An </a:t>
                </a:r>
                <a:r>
                  <a:rPr lang="en-US" b="1" dirty="0"/>
                  <a:t>OR bid</a:t>
                </a:r>
                <a:r>
                  <a:rPr lang="en-US" dirty="0"/>
                  <a:t> consists of multiple atomic bids, where bidders express their willingness to pay for any of the specified bundles </a:t>
                </a:r>
                <a:r>
                  <a:rPr lang="en-US" i="0" dirty="0">
                    <a:latin typeface="Cambria Math" panose="02040503050406030204" pitchFamily="18" charset="0"/>
                  </a:rPr>
                  <a:t>𝑍_𝑖​</a:t>
                </a:r>
                <a:r>
                  <a:rPr lang="en-US" dirty="0"/>
                  <a:t> at price </a:t>
                </a:r>
                <a:r>
                  <a:rPr lang="en-US" i="0" dirty="0">
                    <a:latin typeface="Cambria Math" panose="02040503050406030204" pitchFamily="18" charset="0"/>
                  </a:rPr>
                  <a:t>𝑝_𝑖</a:t>
                </a:r>
                <a:r>
                  <a:rPr lang="en-US" dirty="0"/>
                  <a:t>​.</a:t>
                </a:r>
              </a:p>
              <a:p>
                <a:endParaRPr lang="en-US" b="1" dirty="0"/>
              </a:p>
              <a:p>
                <a:r>
                  <a:rPr lang="en-US" b="1" dirty="0"/>
                  <a:t>Valuation Function</a:t>
                </a:r>
              </a:p>
              <a:p>
                <a:pPr marL="171450" indent="-171450">
                  <a:buFont typeface="Arial" panose="020B0604020202020204" pitchFamily="34" charset="0"/>
                  <a:buChar char="•"/>
                </a:pPr>
                <a:r>
                  <a:rPr lang="en-US" b="1" dirty="0"/>
                  <a:t>Valuation Logic</a:t>
                </a:r>
                <a:r>
                  <a:rPr lang="en-US" dirty="0"/>
                  <a:t>:</a:t>
                </a:r>
              </a:p>
              <a:p>
                <a:pPr marL="742950" lvl="1" indent="-285750">
                  <a:buFont typeface="Arial" panose="020B0604020202020204" pitchFamily="34" charset="0"/>
                  <a:buChar char="•"/>
                </a:pPr>
                <a:r>
                  <a:rPr lang="en-US" dirty="0"/>
                  <a:t>The valuation function for an OR bid is based on identifying a set of atomic bids </a:t>
                </a:r>
                <a:r>
                  <a:rPr lang="en-US" i="0" dirty="0">
                    <a:latin typeface="Cambria Math" panose="02040503050406030204" pitchFamily="18" charset="0"/>
                  </a:rPr>
                  <a:t>𝑊</a:t>
                </a:r>
                <a:r>
                  <a:rPr lang="en-US" dirty="0"/>
                  <a:t> within </a:t>
                </a:r>
                <a:r>
                  <a:rPr lang="en-US" i="0" dirty="0">
                    <a:latin typeface="Cambria Math" panose="02040503050406030204" pitchFamily="18" charset="0"/>
                  </a:rPr>
                  <a:t>𝛽</a:t>
                </a:r>
                <a:r>
                  <a:rPr lang="en-US" dirty="0"/>
                  <a:t> that are satisfied by a given bundle </a:t>
                </a:r>
                <a:r>
                  <a:rPr lang="en-US" i="0" dirty="0">
                    <a:latin typeface="Cambria Math" panose="02040503050406030204" pitchFamily="18" charset="0"/>
                  </a:rPr>
                  <a:t>𝑍^’</a:t>
                </a:r>
                <a:r>
                  <a:rPr lang="en-US" dirty="0"/>
                  <a:t>.</a:t>
                </a:r>
              </a:p>
              <a:p>
                <a:pPr marL="742950" lvl="1" indent="-285750">
                  <a:buFont typeface="Arial" panose="020B0604020202020204" pitchFamily="34" charset="0"/>
                  <a:buChar char="•"/>
                </a:pPr>
                <a:r>
                  <a:rPr lang="en-US" dirty="0"/>
                  <a:t>The objective is to </a:t>
                </a:r>
                <a:r>
                  <a:rPr lang="en-US" b="1" dirty="0"/>
                  <a:t>maximize the total price paid</a:t>
                </a:r>
                <a:r>
                  <a:rPr lang="en-US" dirty="0"/>
                  <a:t> by selecting atomic bids that do not overlap (mutually disjoint goods).</a:t>
                </a:r>
              </a:p>
              <a:p>
                <a:endParaRPr lang="en-US" b="1" dirty="0"/>
              </a:p>
              <a:p>
                <a:r>
                  <a:rPr lang="en-US" b="1" dirty="0"/>
                  <a:t>Steps to Construct the Valuation Function</a:t>
                </a:r>
              </a:p>
              <a:p>
                <a:pPr marL="228600" indent="-228600">
                  <a:buFont typeface="+mj-lt"/>
                  <a:buAutoNum type="arabicPeriod"/>
                </a:pPr>
                <a:r>
                  <a:rPr lang="en-US" b="1" dirty="0"/>
                  <a:t>Identify the Set of Atomic Bids</a:t>
                </a:r>
                <a:r>
                  <a:rPr lang="en-US" dirty="0"/>
                  <a:t>:</a:t>
                </a:r>
              </a:p>
              <a:p>
                <a:pPr marL="742950" lvl="1" indent="-285750">
                  <a:buFont typeface="Arial" panose="020B0604020202020204" pitchFamily="34" charset="0"/>
                  <a:buChar char="•"/>
                </a:pPr>
                <a:r>
                  <a:rPr lang="en-US" dirty="0"/>
                  <a:t>Determine the set of atomic bids </a:t>
                </a:r>
                <a:r>
                  <a:rPr lang="en-US" i="0" dirty="0">
                    <a:latin typeface="Cambria Math" panose="02040503050406030204" pitchFamily="18" charset="0"/>
                  </a:rPr>
                  <a:t>𝑊</a:t>
                </a:r>
                <a:r>
                  <a:rPr lang="en-US" dirty="0"/>
                  <a:t> within </a:t>
                </a:r>
                <a:r>
                  <a:rPr lang="en-US" i="0" dirty="0">
                    <a:latin typeface="Cambria Math" panose="02040503050406030204" pitchFamily="18" charset="0"/>
                  </a:rPr>
                  <a:t>𝛽</a:t>
                </a:r>
                <a:r>
                  <a:rPr lang="en-US" baseline="0" dirty="0"/>
                  <a:t> </a:t>
                </a:r>
                <a:r>
                  <a:rPr lang="en-US" dirty="0"/>
                  <a:t>that are satisfied by the given bundle </a:t>
                </a:r>
                <a:r>
                  <a:rPr lang="en-US" i="0" dirty="0">
                    <a:latin typeface="Cambria Math" panose="02040503050406030204" pitchFamily="18" charset="0"/>
                  </a:rPr>
                  <a:t>𝑍′</a:t>
                </a:r>
                <a:r>
                  <a:rPr lang="en-US" dirty="0"/>
                  <a:t>.</a:t>
                </a:r>
              </a:p>
              <a:p>
                <a:pPr marL="742950" lvl="1" indent="-285750">
                  <a:buFont typeface="Arial" panose="020B0604020202020204" pitchFamily="34" charset="0"/>
                  <a:buChar char="•"/>
                </a:pPr>
                <a:r>
                  <a:rPr lang="en-US" dirty="0"/>
                  <a:t>Each atomic bid </a:t>
                </a:r>
                <a:r>
                  <a:rPr lang="en-US" i="0" dirty="0">
                    <a:latin typeface="Cambria Math" panose="02040503050406030204" pitchFamily="18" charset="0"/>
                  </a:rPr>
                  <a:t>(</a:t>
                </a:r>
                <a:r>
                  <a:rPr lang="en-US" i="0" dirty="0" err="1">
                    <a:latin typeface="Cambria Math" panose="02040503050406030204" pitchFamily="18" charset="0"/>
                  </a:rPr>
                  <a:t>𝑍_𝑖</a:t>
                </a:r>
                <a:r>
                  <a:rPr lang="en-US" i="0" dirty="0">
                    <a:latin typeface="Cambria Math" panose="02040503050406030204" pitchFamily="18" charset="0"/>
                  </a:rPr>
                  <a:t>, </a:t>
                </a:r>
                <a:r>
                  <a:rPr lang="en-US" i="0" dirty="0" err="1">
                    <a:latin typeface="Cambria Math" panose="02040503050406030204" pitchFamily="18" charset="0"/>
                  </a:rPr>
                  <a:t>𝑝_𝑖</a:t>
                </a:r>
                <a:r>
                  <a:rPr lang="en-US" i="0" dirty="0">
                    <a:latin typeface="Cambria Math" panose="02040503050406030204" pitchFamily="18" charset="0"/>
                  </a:rPr>
                  <a:t> )</a:t>
                </a:r>
                <a:r>
                  <a:rPr lang="en-US" dirty="0"/>
                  <a:t> is satisfied if </a:t>
                </a:r>
                <a:r>
                  <a:rPr lang="en-US" i="0" dirty="0">
                    <a:latin typeface="Cambria Math" panose="02040503050406030204" pitchFamily="18" charset="0"/>
                  </a:rPr>
                  <a:t>𝑍</a:t>
                </a:r>
                <a:r>
                  <a:rPr lang="en-US" b="0" i="0" dirty="0">
                    <a:latin typeface="Cambria Math" panose="02040503050406030204" pitchFamily="18" charset="0"/>
                  </a:rPr>
                  <a:t>_</a:t>
                </a:r>
                <a:r>
                  <a:rPr lang="en-US" i="0" dirty="0">
                    <a:latin typeface="Cambria Math" panose="02040503050406030204" pitchFamily="18" charset="0"/>
                  </a:rPr>
                  <a:t>𝑖⊆𝑍</a:t>
                </a:r>
                <a:r>
                  <a:rPr lang="en-US" b="0" i="0" dirty="0">
                    <a:latin typeface="Cambria Math" panose="02040503050406030204" pitchFamily="18" charset="0"/>
                  </a:rPr>
                  <a:t>^</a:t>
                </a:r>
                <a:r>
                  <a:rPr lang="en-US" i="0" dirty="0">
                    <a:latin typeface="Cambria Math" panose="02040503050406030204" pitchFamily="18" charset="0"/>
                  </a:rPr>
                  <a:t>′</a:t>
                </a:r>
                <a:r>
                  <a:rPr lang="en-US" dirty="0"/>
                  <a:t>.</a:t>
                </a:r>
              </a:p>
              <a:p>
                <a:pPr marL="228600" indent="-228600">
                  <a:buFont typeface="+mj-lt"/>
                  <a:buAutoNum type="arabicPeriod"/>
                </a:pPr>
                <a:r>
                  <a:rPr lang="en-US" b="1" dirty="0"/>
                  <a:t>Ensure Mutually Disjoint Goods</a:t>
                </a:r>
                <a:r>
                  <a:rPr lang="en-US" dirty="0"/>
                  <a:t>:</a:t>
                </a:r>
              </a:p>
              <a:p>
                <a:pPr marL="742950" lvl="1" indent="-285750">
                  <a:buFont typeface="Arial" panose="020B0604020202020204" pitchFamily="34" charset="0"/>
                  <a:buChar char="•"/>
                </a:pPr>
                <a:r>
                  <a:rPr lang="en-US" dirty="0"/>
                  <a:t>Confirm that each pair of bids in </a:t>
                </a:r>
                <a:r>
                  <a:rPr lang="en-US" i="0" dirty="0">
                    <a:latin typeface="Cambria Math" panose="02040503050406030204" pitchFamily="18" charset="0"/>
                  </a:rPr>
                  <a:t>𝑊</a:t>
                </a:r>
                <a:r>
                  <a:rPr lang="en-US" dirty="0"/>
                  <a:t> consists of mutually disjoint goods: </a:t>
                </a:r>
                <a:r>
                  <a:rPr lang="en-US" i="0" dirty="0">
                    <a:latin typeface="Cambria Math" panose="02040503050406030204" pitchFamily="18" charset="0"/>
                  </a:rPr>
                  <a:t>𝑍</a:t>
                </a:r>
                <a:r>
                  <a:rPr lang="en-US" b="0" i="0" dirty="0">
                    <a:latin typeface="Cambria Math" panose="02040503050406030204" pitchFamily="18" charset="0"/>
                  </a:rPr>
                  <a:t>_</a:t>
                </a:r>
                <a:r>
                  <a:rPr lang="en-US" i="0" dirty="0">
                    <a:latin typeface="Cambria Math" panose="02040503050406030204" pitchFamily="18" charset="0"/>
                  </a:rPr>
                  <a:t>𝑖∩𝑍</a:t>
                </a:r>
                <a:r>
                  <a:rPr lang="en-US" b="0" i="0" dirty="0">
                    <a:latin typeface="Cambria Math" panose="02040503050406030204" pitchFamily="18" charset="0"/>
                  </a:rPr>
                  <a:t>_</a:t>
                </a:r>
                <a:r>
                  <a:rPr lang="en-US" i="0" dirty="0">
                    <a:latin typeface="Cambria Math" panose="02040503050406030204" pitchFamily="18" charset="0"/>
                  </a:rPr>
                  <a:t>𝑗=∅</a:t>
                </a:r>
                <a:r>
                  <a:rPr lang="en-US" b="0" i="0" dirty="0">
                    <a:latin typeface="Cambria Math" panose="02040503050406030204" pitchFamily="18" charset="0"/>
                  </a:rPr>
                  <a:t> </a:t>
                </a:r>
                <a:r>
                  <a:rPr lang="en-US" dirty="0"/>
                  <a:t>for all </a:t>
                </a:r>
                <a:r>
                  <a:rPr lang="en-US" i="0" dirty="0">
                    <a:latin typeface="Cambria Math" panose="02040503050406030204" pitchFamily="18" charset="0"/>
                  </a:rPr>
                  <a:t>𝑖 ≠𝑗</a:t>
                </a:r>
                <a:r>
                  <a:rPr lang="en-US" b="0" i="0" dirty="0">
                    <a:latin typeface="Cambria Math" panose="02040503050406030204" pitchFamily="18" charset="0"/>
                  </a:rPr>
                  <a:t>.</a:t>
                </a:r>
                <a:endParaRPr lang="en-US" dirty="0"/>
              </a:p>
              <a:p>
                <a:pPr marL="742950" lvl="1" indent="-285750">
                  <a:buFont typeface="Arial" panose="020B0604020202020204" pitchFamily="34" charset="0"/>
                  <a:buChar char="•"/>
                </a:pPr>
                <a:r>
                  <a:rPr lang="en-US" dirty="0"/>
                  <a:t>This ensures that the same item is not allocated to multiple bids in the selected set.</a:t>
                </a:r>
              </a:p>
              <a:p>
                <a:pPr marL="228600" indent="-228600">
                  <a:buFont typeface="+mj-lt"/>
                  <a:buAutoNum type="arabicPeriod"/>
                </a:pPr>
                <a:r>
                  <a:rPr lang="en-US" b="1" dirty="0"/>
                  <a:t>Maximize Total Price</a:t>
                </a:r>
                <a:r>
                  <a:rPr lang="en-US" dirty="0"/>
                  <a:t>:</a:t>
                </a:r>
              </a:p>
              <a:p>
                <a:pPr marL="742950" lvl="1" indent="-285750">
                  <a:buFont typeface="Arial" panose="020B0604020202020204" pitchFamily="34" charset="0"/>
                  <a:buChar char="•"/>
                </a:pPr>
                <a:r>
                  <a:rPr lang="en-US" dirty="0"/>
                  <a:t>Confirm that no other subset </a:t>
                </a:r>
                <a:r>
                  <a:rPr lang="en-US" i="0" dirty="0">
                    <a:latin typeface="Cambria Math" panose="02040503050406030204" pitchFamily="18" charset="0"/>
                  </a:rPr>
                  <a:t>𝑊’</a:t>
                </a:r>
                <a:r>
                  <a:rPr lang="en-US" dirty="0"/>
                  <a:t> of bids, which satisfies the conditions above, yields a higher total price:</a:t>
                </a:r>
                <a:br>
                  <a:rPr lang="en-US" dirty="0"/>
                </a:br>
                <a:r>
                  <a:rPr lang="en-US" sz="1200" i="0" spc="10">
                    <a:latin typeface="Cambria Math" panose="02040503050406030204" pitchFamily="18" charset="0"/>
                    <a:cs typeface="Tahoma"/>
                  </a:rPr>
                  <a:t>∑</a:t>
                </a:r>
                <a:r>
                  <a:rPr lang="en-US" sz="1200" b="0" i="0" spc="10">
                    <a:latin typeface="Cambria Math" panose="02040503050406030204" pitchFamily="18" charset="0"/>
                    <a:cs typeface="Tahoma"/>
                  </a:rPr>
                  <a:t>_((𝑍_𝑖,𝑝_𝑖 )∈𝑊^′)▒𝑝_𝑖 &gt;</a:t>
                </a:r>
                <a:r>
                  <a:rPr lang="en-US" sz="1200" i="0" spc="10">
                    <a:latin typeface="Cambria Math" panose="02040503050406030204" pitchFamily="18" charset="0"/>
                    <a:cs typeface="Tahoma"/>
                  </a:rPr>
                  <a:t>∑_((𝑍_</a:t>
                </a:r>
                <a:r>
                  <a:rPr lang="en-US" sz="1200" b="0" i="0" spc="10">
                    <a:latin typeface="Cambria Math" panose="02040503050406030204" pitchFamily="18" charset="0"/>
                    <a:cs typeface="Tahoma"/>
                  </a:rPr>
                  <a:t>𝑗</a:t>
                </a:r>
                <a:r>
                  <a:rPr lang="en-US" sz="1200" i="0" spc="10">
                    <a:latin typeface="Cambria Math" panose="02040503050406030204" pitchFamily="18" charset="0"/>
                    <a:cs typeface="Tahoma"/>
                  </a:rPr>
                  <a:t>,𝑝_</a:t>
                </a:r>
                <a:r>
                  <a:rPr lang="en-US" sz="1200" b="0" i="0" spc="10">
                    <a:latin typeface="Cambria Math" panose="02040503050406030204" pitchFamily="18" charset="0"/>
                    <a:cs typeface="Tahoma"/>
                  </a:rPr>
                  <a:t>𝑗 )</a:t>
                </a:r>
                <a:r>
                  <a:rPr lang="en-US" sz="1200" i="0" spc="10">
                    <a:latin typeface="Cambria Math" panose="02040503050406030204" pitchFamily="18" charset="0"/>
                    <a:cs typeface="Tahoma"/>
                  </a:rPr>
                  <a:t>∈𝑊^′)</a:t>
                </a:r>
                <a:r>
                  <a:rPr lang="en-US" sz="1200" b="0" i="0" spc="10">
                    <a:latin typeface="Cambria Math" panose="02040503050406030204" pitchFamily="18" charset="0"/>
                    <a:cs typeface="Tahoma"/>
                  </a:rPr>
                  <a:t>▒𝑝_𝑗 </a:t>
                </a:r>
                <a:endParaRPr lang="en-US" dirty="0"/>
              </a:p>
              <a:p>
                <a:pPr marL="742950" lvl="1" indent="-2857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guarantees that </a:t>
                </a:r>
                <a:r>
                  <a:rPr lang="en-US" sz="1200" i="0" kern="1200" dirty="0">
                    <a:solidFill>
                      <a:schemeClr val="tx1"/>
                    </a:solidFill>
                    <a:latin typeface="Cambria Math" panose="02040503050406030204" pitchFamily="18" charset="0"/>
                    <a:ea typeface="+mn-ea"/>
                    <a:cs typeface="+mn-cs"/>
                  </a:rPr>
                  <a:t>𝑊</a:t>
                </a:r>
                <a:r>
                  <a:rPr lang="en-US" sz="1200" kern="1200" dirty="0">
                    <a:solidFill>
                      <a:schemeClr val="tx1"/>
                    </a:solidFill>
                    <a:latin typeface="+mn-lt"/>
                    <a:ea typeface="+mn-ea"/>
                    <a:cs typeface="+mn-cs"/>
                  </a:rPr>
                  <a:t> is the optimal set of bids that maximizes the total price paid.</a:t>
                </a:r>
              </a:p>
              <a:p>
                <a:endParaRPr lang="en-US" b="1" dirty="0"/>
              </a:p>
              <a:p>
                <a:r>
                  <a:rPr lang="en-US" b="1" dirty="0"/>
                  <a:t>Example of OR Bid Valuation</a:t>
                </a:r>
              </a:p>
              <a:p>
                <a:r>
                  <a:rPr lang="en-US" dirty="0"/>
                  <a:t>Let’s illustrate with an example:</a:t>
                </a:r>
              </a:p>
              <a:p>
                <a:pPr marL="171450" indent="-171450">
                  <a:buFont typeface="Arial" panose="020B0604020202020204" pitchFamily="34" charset="0"/>
                  <a:buChar char="•"/>
                </a:pPr>
                <a:r>
                  <a:rPr lang="en-US" sz="1200" b="1" kern="1200" dirty="0">
                    <a:solidFill>
                      <a:schemeClr val="tx1"/>
                    </a:solidFill>
                    <a:latin typeface="+mn-lt"/>
                    <a:ea typeface="+mn-ea"/>
                    <a:cs typeface="+mn-cs"/>
                  </a:rPr>
                  <a:t>OR Bid Example:</a:t>
                </a:r>
              </a:p>
              <a:p>
                <a:pPr>
                  <a:buFont typeface="Arial" panose="020B0604020202020204" pitchFamily="34" charset="0"/>
                  <a:buNone/>
                </a:pPr>
                <a:r>
                  <a:rPr lang="en-US" i="0" dirty="0">
                    <a:latin typeface="Cambria Math" panose="02040503050406030204" pitchFamily="18" charset="0"/>
                  </a:rPr>
                  <a:t>𝛽=(𝐴,10) OR (𝐵,15) OR (𝐶,20)</a:t>
                </a:r>
                <a:endParaRPr lang="en-US" dirty="0"/>
              </a:p>
              <a:p>
                <a:pPr marL="171450" indent="-171450">
                  <a:buFont typeface="Arial" panose="020B0604020202020204" pitchFamily="34" charset="0"/>
                  <a:buChar char="•"/>
                </a:pPr>
                <a:r>
                  <a:rPr lang="en-US" sz="1200" b="1" kern="1200" dirty="0">
                    <a:solidFill>
                      <a:schemeClr val="tx1"/>
                    </a:solidFill>
                    <a:latin typeface="+mn-lt"/>
                    <a:ea typeface="+mn-ea"/>
                    <a:cs typeface="+mn-cs"/>
                  </a:rPr>
                  <a:t>Satisfying Bundle</a:t>
                </a:r>
                <a:r>
                  <a:rPr lang="en-US" dirty="0"/>
                  <a:t>: Suppose we have a bundle:</a:t>
                </a:r>
              </a:p>
              <a:p>
                <a:pPr>
                  <a:buFont typeface="Arial" panose="020B0604020202020204" pitchFamily="34" charset="0"/>
                  <a:buNone/>
                </a:pPr>
                <a:r>
                  <a:rPr lang="en-US" i="0" dirty="0">
                    <a:latin typeface="Cambria Math" panose="02040503050406030204" pitchFamily="18" charset="0"/>
                  </a:rPr>
                  <a:t>𝑍^′={𝐴,𝐵}</a:t>
                </a:r>
                <a:endParaRPr lang="en-US" dirty="0"/>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Determine Satisfied Bids:</a:t>
                </a:r>
              </a:p>
              <a:p>
                <a:pPr marL="742950" lvl="1" indent="-285750">
                  <a:buFont typeface="Arial" panose="020B0604020202020204" pitchFamily="34" charset="0"/>
                  <a:buChar char="•"/>
                </a:pPr>
                <a:r>
                  <a:rPr lang="en-US" i="0" dirty="0">
                    <a:latin typeface="Cambria Math" panose="02040503050406030204" pitchFamily="18" charset="0"/>
                  </a:rPr>
                  <a:t>(𝐴,10)(𝐴, 10)(𝐴,10)</a:t>
                </a:r>
                <a:r>
                  <a:rPr lang="en-US" dirty="0"/>
                  <a:t>is satisfied (price = </a:t>
                </a:r>
                <a:r>
                  <a:rPr lang="en-US" b="1" dirty="0"/>
                  <a:t>$10</a:t>
                </a:r>
                <a:r>
                  <a:rPr lang="en-US" dirty="0"/>
                  <a:t>).</a:t>
                </a:r>
              </a:p>
              <a:p>
                <a:pPr marL="742950" lvl="1" indent="-285750">
                  <a:buFont typeface="Arial" panose="020B0604020202020204" pitchFamily="34" charset="0"/>
                  <a:buChar char="•"/>
                </a:pPr>
                <a:r>
                  <a:rPr lang="en-US" i="0" dirty="0">
                    <a:latin typeface="Cambria Math" panose="02040503050406030204" pitchFamily="18" charset="0"/>
                  </a:rPr>
                  <a:t>(𝐵,15)(𝐵, 15)(𝐵,15)</a:t>
                </a:r>
                <a:r>
                  <a:rPr lang="en-US" dirty="0"/>
                  <a:t>is satisfied (price = </a:t>
                </a:r>
                <a:r>
                  <a:rPr lang="en-US" b="1" dirty="0"/>
                  <a:t>$15</a:t>
                </a:r>
                <a:r>
                  <a:rPr lang="en-US" dirty="0"/>
                  <a:t>).</a:t>
                </a:r>
              </a:p>
              <a:p>
                <a:pPr marL="742950" lvl="1" indent="-285750">
                  <a:buFont typeface="Arial" panose="020B0604020202020204" pitchFamily="34" charset="0"/>
                  <a:buChar char="•"/>
                </a:pPr>
                <a:r>
                  <a:rPr lang="en-US" i="0" dirty="0">
                    <a:latin typeface="Cambria Math" panose="02040503050406030204" pitchFamily="18" charset="0"/>
                  </a:rPr>
                  <a:t>(𝐶,20)(𝐶, 20)(𝐶,20)</a:t>
                </a:r>
                <a:r>
                  <a:rPr lang="en-US" dirty="0"/>
                  <a:t>is not satisfied.</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Check for Disjoint Goods:</a:t>
                </a:r>
              </a:p>
              <a:p>
                <a:pPr marL="742950" lvl="1" indent="-285750">
                  <a:buFont typeface="Arial" panose="020B0604020202020204" pitchFamily="34" charset="0"/>
                  <a:buChar char="•"/>
                </a:pPr>
                <a:r>
                  <a:rPr lang="en-US" i="0" dirty="0">
                    <a:latin typeface="Cambria Math" panose="02040503050406030204" pitchFamily="18" charset="0"/>
                  </a:rPr>
                  <a:t>(𝐴,10)(𝐴, 10)(𝐴,10)</a:t>
                </a:r>
                <a:r>
                  <a:rPr lang="en-US" dirty="0"/>
                  <a:t> and </a:t>
                </a:r>
                <a:r>
                  <a:rPr lang="en-US" i="0" dirty="0">
                    <a:latin typeface="Cambria Math" panose="02040503050406030204" pitchFamily="18" charset="0"/>
                  </a:rPr>
                  <a:t>(𝐵,15)(𝐵, 15)(𝐵,15)</a:t>
                </a:r>
                <a:r>
                  <a:rPr lang="en-US" dirty="0"/>
                  <a:t> have disjoint goods, hence included in </a:t>
                </a:r>
                <a:r>
                  <a:rPr lang="en-US" i="0" dirty="0">
                    <a:latin typeface="Cambria Math" panose="02040503050406030204" pitchFamily="18" charset="0"/>
                  </a:rPr>
                  <a:t>𝑊</a:t>
                </a:r>
                <a:r>
                  <a:rPr lang="en-US" dirty="0"/>
                  <a:t>.</a:t>
                </a:r>
              </a:p>
              <a:p>
                <a:pPr marL="171450"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Total Price Calculation:</a:t>
                </a:r>
              </a:p>
              <a:p>
                <a:pPr marL="742950" lvl="1" indent="-285750">
                  <a:buFont typeface="Arial" panose="020B0604020202020204" pitchFamily="34" charset="0"/>
                  <a:buChar char="•"/>
                </a:pPr>
                <a:r>
                  <a:rPr lang="en-US" dirty="0"/>
                  <a:t>Total price for selected bids:</a:t>
                </a:r>
                <a:r>
                  <a:rPr lang="en-US" baseline="0" dirty="0"/>
                  <a:t> </a:t>
                </a:r>
                <a:r>
                  <a:rPr lang="en-US" i="0" dirty="0">
                    <a:latin typeface="Cambria Math" panose="02040503050406030204" pitchFamily="18" charset="0"/>
                  </a:rPr>
                  <a:t>Total Price=10+15=25</a:t>
                </a:r>
                <a:endParaRPr lang="en-US" dirty="0"/>
              </a:p>
              <a:p>
                <a:pPr marL="171450" indent="-171450">
                  <a:buFont typeface="Arial" panose="020B0604020202020204" pitchFamily="34" charset="0"/>
                  <a:buChar char="•"/>
                </a:pPr>
                <a:r>
                  <a:rPr lang="en-US" b="1" dirty="0"/>
                  <a:t>Confirm Optimality</a:t>
                </a:r>
                <a:r>
                  <a:rPr lang="en-US" dirty="0"/>
                  <a:t>:</a:t>
                </a:r>
              </a:p>
              <a:p>
                <a:pPr marL="742950" lvl="1" indent="-285750">
                  <a:buFont typeface="Arial" panose="020B0604020202020204" pitchFamily="34" charset="0"/>
                  <a:buChar char="•"/>
                </a:pPr>
                <a:r>
                  <a:rPr lang="en-US" dirty="0"/>
                  <a:t>If another subset </a:t>
                </a:r>
                <a:r>
                  <a:rPr lang="en-US" i="0" dirty="0">
                    <a:latin typeface="Cambria Math" panose="02040503050406030204" pitchFamily="18" charset="0"/>
                  </a:rPr>
                  <a:t>𝑊</a:t>
                </a:r>
                <a:r>
                  <a:rPr lang="en-US" b="0" i="0" dirty="0">
                    <a:latin typeface="Cambria Math" panose="02040503050406030204" pitchFamily="18" charset="0"/>
                  </a:rPr>
                  <a:t>^′</a:t>
                </a:r>
                <a:r>
                  <a:rPr lang="en-US" dirty="0"/>
                  <a:t> only satisfied </a:t>
                </a:r>
                <a:r>
                  <a:rPr lang="en-US" i="0" dirty="0">
                    <a:latin typeface="Cambria Math" panose="02040503050406030204" pitchFamily="18" charset="0"/>
                  </a:rPr>
                  <a:t>(𝐵,15)(𝐵, 15)(𝐵,15)</a:t>
                </a:r>
                <a:r>
                  <a:rPr lang="en-US" dirty="0"/>
                  <a:t>:</a:t>
                </a:r>
                <a:br>
                  <a:rPr lang="en-US" dirty="0"/>
                </a:br>
                <a:r>
                  <a:rPr lang="en-US" i="0">
                    <a:latin typeface="Cambria Math" panose="02040503050406030204" pitchFamily="18" charset="0"/>
                  </a:rPr>
                  <a:t>∑8_(</a:t>
                </a:r>
                <a:r>
                  <a:rPr lang="en-US" b="0" i="0">
                    <a:latin typeface="Cambria Math" panose="02040503050406030204" pitchFamily="18" charset="0"/>
                  </a:rPr>
                  <a:t>(𝑍_𝑗, 𝑝_𝑗 )∈𝑊′)▒〖𝑝_𝑗=15〗        (which is less than 25)</a:t>
                </a:r>
                <a:endParaRPr lang="en-US" dirty="0"/>
              </a:p>
              <a:p>
                <a:r>
                  <a:rPr lang="en-US" dirty="0"/>
                  <a:t>Thus, the selected set </a:t>
                </a:r>
                <a:r>
                  <a:rPr lang="en-US" i="0" dirty="0">
                    <a:latin typeface="Cambria Math" panose="02040503050406030204" pitchFamily="18" charset="0"/>
                  </a:rPr>
                  <a:t>𝑊</a:t>
                </a:r>
                <a:r>
                  <a:rPr lang="en-US" dirty="0"/>
                  <a:t> maximizes the total price paid.</a:t>
                </a:r>
              </a:p>
              <a:p>
                <a:endParaRPr lang="en-US" b="1" dirty="0"/>
              </a:p>
              <a:p>
                <a:r>
                  <a:rPr lang="en-US" b="1" dirty="0"/>
                  <a:t>Conclusion</a:t>
                </a:r>
              </a:p>
              <a:p>
                <a:pPr marL="171450" indent="-171450">
                  <a:buFont typeface="Arial" panose="020B0604020202020204" pitchFamily="34" charset="0"/>
                  <a:buChar char="•"/>
                </a:pPr>
                <a:r>
                  <a:rPr lang="en-US" dirty="0"/>
                  <a:t>OR bids allow bidders to express preferences across multiple atomic bids, enabling them to pay for several bundles as long as their goods are disjoint.</a:t>
                </a:r>
              </a:p>
              <a:p>
                <a:pPr marL="171450" indent="-171450">
                  <a:buFont typeface="Arial" panose="020B0604020202020204" pitchFamily="34" charset="0"/>
                  <a:buChar char="•"/>
                </a:pPr>
                <a:r>
                  <a:rPr lang="en-US" dirty="0"/>
                  <a:t>This structure enhances flexibility in bidding, allowing for more complex preferences while ensuring that bidders can maximize their overall value based on the items they win.</a:t>
                </a:r>
              </a:p>
              <a:p>
                <a:endParaRPr dirty="0"/>
              </a:p>
            </p:txBody>
          </p:sp>
        </mc:Fallback>
      </mc:AlternateContent>
    </p:spTree>
    <p:extLst>
      <p:ext uri="{BB962C8B-B14F-4D97-AF65-F5344CB8AC3E}">
        <p14:creationId xmlns:p14="http://schemas.microsoft.com/office/powerpoint/2010/main" val="33520073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an example of an OR bid, highlighting the bidder's willingness to pay for different combinations of items and the additive nature of the prices for multiple satisfied bids.</a:t>
                </a:r>
              </a:p>
              <a:p>
                <a:endParaRPr lang="en-US" b="0" i="0" dirty="0">
                  <a:solidFill>
                    <a:srgbClr val="E8E8E8"/>
                  </a:solidFill>
                  <a:effectLst/>
                  <a:latin typeface="Google Sans Text"/>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OR Bid Definition: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Example OR Bid:</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0"/>
                  </a:spcBef>
                  <a:spcAft>
                    <a:spcPts val="1000"/>
                  </a:spcAft>
                </a:pPr>
                <a14:m>
                  <m:oMathPara xmlns:m="http://schemas.openxmlformats.org/officeDocument/2006/math">
                    <m:oMathParaPr>
                      <m:jc m:val="centerGroup"/>
                    </m:oMathParaPr>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d>
                        <m:dPr>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e>
                      </m:d>
                      <m:r>
                        <m:rPr>
                          <m:sty m:val="p"/>
                        </m:rPr>
                        <a:rPr lang="en-US" sz="1800" i="0" dirty="0" smtClean="0">
                          <a:effectLst/>
                          <a:latin typeface="Cambria Math" panose="02040503050406030204" pitchFamily="18" charset="0"/>
                          <a:ea typeface="MS Mincho" panose="02020609040205080304" pitchFamily="49" charset="-128"/>
                          <a:cs typeface="Arial" panose="020B0604020202020204" pitchFamily="34" charset="0"/>
                        </a:rPr>
                        <m:t>OR</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d>
                        <m:dPr>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𝑔</m:t>
                              </m:r>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1</m:t>
                          </m:r>
                        </m:e>
                      </m:d>
                      <m:r>
                        <m:rPr>
                          <m:sty m:val="p"/>
                        </m:rPr>
                        <a:rPr lang="en-US" sz="1800" i="0" dirty="0" smtClean="0">
                          <a:effectLst/>
                          <a:latin typeface="Cambria Math" panose="02040503050406030204" pitchFamily="18" charset="0"/>
                          <a:ea typeface="MS Mincho" panose="02020609040205080304" pitchFamily="49" charset="-128"/>
                          <a:cs typeface="Arial" panose="020B0604020202020204" pitchFamily="34" charset="0"/>
                        </a:rPr>
                        <m:t>OR</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d>
                        <m:dPr>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m:t>
                          </m:r>
                        </m:e>
                      </m:d>
                      <m:r>
                        <m:rPr>
                          <m:sty m:val="p"/>
                        </m:rPr>
                        <a:rPr lang="en-US" sz="1800" i="0" dirty="0" smtClean="0">
                          <a:effectLst/>
                          <a:latin typeface="Cambria Math" panose="02040503050406030204" pitchFamily="18" charset="0"/>
                          <a:ea typeface="MS Mincho" panose="02020609040205080304" pitchFamily="49" charset="-128"/>
                          <a:cs typeface="Arial" panose="020B0604020202020204" pitchFamily="34" charset="0"/>
                        </a:rPr>
                        <m:t>OR</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d>
                        <m:dPr>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e>
                      </m:d>
                    </m:oMath>
                  </m:oMathPara>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Construction for </a:t>
                </a:r>
                <a14:m>
                  <m:oMath xmlns:m="http://schemas.openxmlformats.org/officeDocument/2006/math">
                    <m:r>
                      <a:rPr lang="en-US" sz="1800" b="1" i="1" dirty="0" smtClean="0">
                        <a:solidFill>
                          <a:srgbClr val="4F81BD"/>
                        </a:solidFill>
                        <a:effectLst/>
                        <a:latin typeface="Cambria Math" panose="02040503050406030204" pitchFamily="18" charset="0"/>
                        <a:ea typeface="MS Gothic" panose="020B0609070205080204" pitchFamily="49" charset="-128"/>
                        <a:cs typeface="Times New Roman" panose="02020603050405020304" pitchFamily="18" charset="0"/>
                      </a:rPr>
                      <m:t>𝜷</m:t>
                    </m:r>
                    <m:r>
                      <a:rPr lang="en-US" sz="1800" b="1" i="1" dirty="0" smtClean="0">
                        <a:solidFill>
                          <a:srgbClr val="4F81BD"/>
                        </a:solidFill>
                        <a:effectLst/>
                        <a:latin typeface="Cambria Math" panose="02040503050406030204" pitchFamily="18" charset="0"/>
                        <a:ea typeface="MS Gothic" panose="020B0609070205080204" pitchFamily="49" charset="-128"/>
                        <a:cs typeface="Times New Roman" panose="02020603050405020304" pitchFamily="18" charset="0"/>
                      </a:rPr>
                      <m:t>₃</m:t>
                    </m:r>
                  </m:oMath>
                </a14:m>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Function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0"/>
                  </a:spcBef>
                  <a:spcAft>
                    <a:spcPts val="1000"/>
                  </a:spcAft>
                </a:pPr>
                <a:r>
                  <a:rPr lang="en-US" sz="1800" dirty="0">
                    <a:effectLst/>
                    <a:latin typeface="Cambria" panose="02040503050406030204" pitchFamily="18" charset="0"/>
                    <a:ea typeface="MS Mincho" panose="02020609040205080304" pitchFamily="49" charset="-128"/>
                    <a:cs typeface="Arial" panose="020B0604020202020204" pitchFamily="34" charset="0"/>
                  </a:rPr>
                  <a:t>The valuation function </a:t>
                </a: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𝑍</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assigns values based on the bundle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𝑍</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being evaluated against the specified bids in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𝛽</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₃</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Results</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 </m:t>
                    </m:r>
                    <m:r>
                      <a:rPr lang="en-US" sz="1800" b="0" i="0" dirty="0" smtClean="0">
                        <a:effectLst/>
                        <a:latin typeface="Cambria Math" panose="02040503050406030204" pitchFamily="18" charset="0"/>
                        <a:ea typeface="MS Mincho" panose="02020609040205080304" pitchFamily="49" charset="-128"/>
                        <a:cs typeface="Arial" panose="020B0604020202020204" pitchFamily="34" charset="0"/>
                      </a:rPr>
                      <m:t>:</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since f does not contribute to a higher value.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r>
                      <a:rPr lang="en-US" sz="1800" b="0" i="0" dirty="0" smtClean="0">
                        <a:effectLst/>
                        <a:latin typeface="Cambria Math" panose="02040503050406030204" pitchFamily="18" charset="0"/>
                        <a:ea typeface="MS Mincho" panose="02020609040205080304" pitchFamily="49" charset="-128"/>
                        <a:cs typeface="Arial" panose="020B0604020202020204" pitchFamily="34" charset="0"/>
                      </a:rPr>
                      <m:t>:</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𝑏</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+ 1 = 5 </m:t>
                    </m:r>
                    <m:r>
                      <a:rPr lang="en-US" sz="1800" b="0" i="0" dirty="0" smtClean="0">
                        <a:effectLst/>
                        <a:latin typeface="Cambria Math" panose="02040503050406030204" pitchFamily="18" charset="0"/>
                        <a:ea typeface="MS Mincho" panose="02020609040205080304" pitchFamily="49" charset="-128"/>
                        <a:cs typeface="Arial" panose="020B0604020202020204" pitchFamily="34" charset="0"/>
                      </a:rPr>
                      <m:t>:</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both bids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and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1) (</m:t>
                    </m:r>
                    <m:r>
                      <m:rPr>
                        <m:sty m:val="p"/>
                      </m:rPr>
                      <a:rPr lang="en-US" sz="1800" i="0" dirty="0" smtClean="0">
                        <a:effectLst/>
                        <a:latin typeface="Cambria Math" panose="02040503050406030204" pitchFamily="18" charset="0"/>
                        <a:ea typeface="MS Mincho" panose="02020609040205080304" pitchFamily="49" charset="-128"/>
                        <a:cs typeface="Arial" panose="020B0604020202020204" pitchFamily="34" charset="0"/>
                      </a:rPr>
                      <m:t>totaling</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5),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but they cannot be chosen together due to mutual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𝑎</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𝑏</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+ 4 = 8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bids </a:t>
                </a:r>
                <a14:m>
                  <m:oMath xmlns:m="http://schemas.openxmlformats.org/officeDocument/2006/math">
                    <m:d>
                      <m:dPr>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e>
                    </m:d>
                  </m:oMath>
                </a14:m>
                <a:r>
                  <a:rPr lang="en-US" sz="1800" dirty="0">
                    <a:effectLst/>
                    <a:latin typeface="Cambria" panose="02040503050406030204" pitchFamily="18" charset="0"/>
                    <a:ea typeface="MS Mincho" panose="02020609040205080304" pitchFamily="49" charset="-128"/>
                    <a:cs typeface="Arial" panose="020B0604020202020204" pitchFamily="34" charset="0"/>
                  </a:rPr>
                  <a:t> and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14:m>
                  <m:oMath xmlns:m="http://schemas.openxmlformats.org/officeDocument/2006/math">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sSub>
                          <m:sSub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sSubPr>
                          <m:e>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𝑣</m:t>
                            </m:r>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𝛽</m:t>
                            </m:r>
                          </m:sub>
                        </m:sSub>
                      </m:e>
                      <m:sub>
                        <m: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t>3</m:t>
                        </m:r>
                      </m:sub>
                    </m:sSub>
                    <m:d>
                      <m:dPr>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d>
                          <m:dPr>
                            <m:begChr m:val="{"/>
                            <m:endChr m:val="}"/>
                            <m:ctrlPr>
                              <a:rPr lang="en-US" sz="1800" b="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e>
                        </m:d>
                      </m:e>
                    </m:d>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+ 3 = 7 </m:t>
                    </m:r>
                    <m:r>
                      <a:rPr lang="en-US" sz="1800" b="0" i="0" dirty="0" smtClean="0">
                        <a:effectLst/>
                        <a:latin typeface="Cambria Math" panose="02040503050406030204" pitchFamily="18" charset="0"/>
                        <a:ea typeface="MS Mincho" panose="02020609040205080304" pitchFamily="49" charset="-128"/>
                        <a:cs typeface="Arial" panose="020B0604020202020204" pitchFamily="34" charset="0"/>
                      </a:rPr>
                      <m:t>:</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bids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and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Scenarios to Analyze</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First Scenario</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Bundle: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𝑍</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 {</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Satisfied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1)</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Selected Set W: Only includes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due to the conditions of mutual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 and optimal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Second Scenario</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Bundle: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𝑍</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 </m:t>
                    </m:r>
                    <m:d>
                      <m:dPr>
                        <m:begChr m:val="{"/>
                        <m:endChr m:val="}"/>
                        <m:ctrlP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ctrlPr>
                      </m:dPr>
                      <m:e>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𝑎</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𝑏</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e>
                    </m:d>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Satisfied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1)</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3)</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m:t>
                    </m:r>
                  </m:oMath>
                </a14:m>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Selected Set W: Includes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𝑒</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𝑓</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𝑔</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and </a:t>
                </a:r>
                <a14:m>
                  <m:oMath xmlns:m="http://schemas.openxmlformats.org/officeDocument/2006/math">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𝑐</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m:t>
                    </m:r>
                    <m:r>
                      <a:rPr lang="en-US" sz="1800" i="1" dirty="0" err="1" smtClean="0">
                        <a:effectLst/>
                        <a:latin typeface="Cambria Math" panose="02040503050406030204" pitchFamily="18" charset="0"/>
                        <a:ea typeface="MS Mincho" panose="02020609040205080304" pitchFamily="49" charset="-128"/>
                        <a:cs typeface="Arial" panose="020B0604020202020204" pitchFamily="34" charset="0"/>
                      </a:rPr>
                      <m:t>𝑑</m:t>
                    </m:r>
                    <m:r>
                      <a:rPr lang="en-US" sz="1800" i="1" dirty="0" smtClean="0">
                        <a:effectLst/>
                        <a:latin typeface="Cambria Math" panose="02040503050406030204" pitchFamily="18" charset="0"/>
                        <a:ea typeface="MS Mincho" panose="02020609040205080304" pitchFamily="49" charset="-128"/>
                        <a:cs typeface="Arial" panose="020B0604020202020204" pitchFamily="34" charset="0"/>
                      </a:rPr>
                      <m:t>, 4) </m:t>
                    </m:r>
                  </m:oMath>
                </a14:m>
                <a:r>
                  <a:rPr lang="en-US" sz="1800" dirty="0">
                    <a:effectLst/>
                    <a:latin typeface="Cambria" panose="02040503050406030204" pitchFamily="18" charset="0"/>
                    <a:ea typeface="MS Mincho" panose="02020609040205080304" pitchFamily="49" charset="-128"/>
                    <a:cs typeface="Arial" panose="020B0604020202020204" pitchFamily="34" charset="0"/>
                  </a:rPr>
                  <a:t>to meet the conditions of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 and maximize total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Summary of Key Points</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OR Bids provide flexibility by allowing multiple bids, with the option to pay for any combination of non-overlapping bundles.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The valuation function considers all satisfied bids but ensures selections are mutually disjoint to maximize total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Different scenarios highlight how bundles can be satisfied by various bids while adhering to the rules governing OR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Conclusion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r>
                  <a:rPr lang="en-US" sz="1800" dirty="0">
                    <a:effectLst/>
                    <a:latin typeface="Cambria" panose="02040503050406030204" pitchFamily="18" charset="0"/>
                    <a:ea typeface="MS Mincho" panose="02020609040205080304" pitchFamily="49" charset="-128"/>
                    <a:cs typeface="Arial" panose="020B0604020202020204" pitchFamily="34" charset="0"/>
                  </a:rPr>
                  <a:t>Understanding how to construct valuations from OR bids enables bidders to better strategize their bids and maximize their value across multiple options, reflecting a more complex preference structure.</a:t>
                </a:r>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provides an example of an OR bid, highlighting the bidder's willingness to pay for different combinations of items and the additive nature of the prices for multiple satisfied bids.</a:t>
                </a:r>
              </a:p>
              <a:p>
                <a:endParaRPr lang="en-US" b="0" i="0" dirty="0">
                  <a:solidFill>
                    <a:srgbClr val="E8E8E8"/>
                  </a:solidFill>
                  <a:effectLst/>
                  <a:latin typeface="Google Sans Text"/>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OR Bid Definition: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Example OR Bid:</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0"/>
                  </a:spcBef>
                  <a:spcAft>
                    <a:spcPts val="1000"/>
                  </a:spcAft>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𝛽_3</a:t>
                </a:r>
                <a:r>
                  <a:rPr lang="en-US" sz="1800" i="0" dirty="0">
                    <a:effectLst/>
                    <a:latin typeface="Cambria Math" panose="02040503050406030204" pitchFamily="18" charset="0"/>
                    <a:ea typeface="MS Mincho" panose="02020609040205080304" pitchFamily="49" charset="-128"/>
                    <a:cs typeface="Arial" panose="020B0604020202020204" pitchFamily="34" charset="0"/>
                  </a:rPr>
                  <a:t>=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4)OR ({𝑓, 𝑔}, 1)OR ({𝑒}, 3)OR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Construction for </a:t>
                </a:r>
                <a:r>
                  <a:rPr lang="en-US" sz="1800" b="1" i="0" dirty="0">
                    <a:solidFill>
                      <a:srgbClr val="4F81BD"/>
                    </a:solidFill>
                    <a:effectLst/>
                    <a:latin typeface="Cambria Math" panose="02040503050406030204" pitchFamily="18" charset="0"/>
                    <a:ea typeface="MS Gothic" panose="020B0609070205080204" pitchFamily="49" charset="-128"/>
                    <a:cs typeface="Times New Roman" panose="02020603050405020304" pitchFamily="18" charset="0"/>
                  </a:rPr>
                  <a:t>𝜷₃</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Function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0"/>
                  </a:spcBef>
                  <a:spcAft>
                    <a:spcPts val="1000"/>
                  </a:spcAft>
                </a:pPr>
                <a:r>
                  <a:rPr lang="en-US" sz="1800" dirty="0">
                    <a:effectLst/>
                    <a:latin typeface="Cambria" panose="02040503050406030204" pitchFamily="18" charset="0"/>
                    <a:ea typeface="MS Mincho" panose="02020609040205080304" pitchFamily="49" charset="-128"/>
                    <a:cs typeface="Arial" panose="020B0604020202020204" pitchFamily="34" charset="0"/>
                  </a:rPr>
                  <a:t>The valuation function </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(𝑍′) </a:t>
                </a:r>
                <a:r>
                  <a:rPr lang="en-US" sz="1800" dirty="0">
                    <a:effectLst/>
                    <a:latin typeface="Cambria" panose="02040503050406030204" pitchFamily="18" charset="0"/>
                    <a:ea typeface="MS Mincho" panose="02020609040205080304" pitchFamily="49" charset="-128"/>
                    <a:cs typeface="Arial" panose="020B0604020202020204" pitchFamily="34" charset="0"/>
                  </a:rPr>
                  <a:t>assigns values based on the bundle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𝑍′ </a:t>
                </a:r>
                <a:r>
                  <a:rPr lang="en-US" sz="1800" dirty="0">
                    <a:effectLst/>
                    <a:latin typeface="Cambria" panose="02040503050406030204" pitchFamily="18" charset="0"/>
                    <a:ea typeface="MS Mincho" panose="02020609040205080304" pitchFamily="49" charset="-128"/>
                    <a:cs typeface="Arial" panose="020B0604020202020204" pitchFamily="34" charset="0"/>
                  </a:rPr>
                  <a:t>being evaluated against the specified bids in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𝛽₃</a:t>
                </a:r>
                <a:r>
                  <a:rPr lang="en-US" sz="1800" dirty="0">
                    <a:effectLst/>
                    <a:latin typeface="Cambria"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Valuation Results</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 </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a:t>
                </a:r>
                <a:r>
                  <a:rPr lang="en-US" sz="1800" i="0" dirty="0">
                    <a:effectLst/>
                    <a:latin typeface="Cambria Math" panose="02040503050406030204" pitchFamily="18" charset="0"/>
                    <a:ea typeface="MS Mincho" panose="02020609040205080304" pitchFamily="49" charset="-128"/>
                    <a:cs typeface="Arial" panose="020B0604020202020204" pitchFamily="34" charset="0"/>
                  </a:rPr>
                  <a:t>})= 3 </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 </a:t>
                </a:r>
                <a:r>
                  <a:rPr lang="en-US" sz="1800" dirty="0">
                    <a:effectLst/>
                    <a:latin typeface="Cambria" panose="02040503050406030204" pitchFamily="18" charset="0"/>
                    <a:ea typeface="MS Mincho" panose="02020609040205080304" pitchFamily="49" charset="-128"/>
                    <a:cs typeface="Arial" panose="020B0604020202020204" pitchFamily="34" charset="0"/>
                  </a:rPr>
                  <a:t>since f does not contribute to a higher value.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𝑏,𝑐,𝑑,𝑓,𝑔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+ 1 = 5 </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both bids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dirty="0">
                    <a:effectLst/>
                    <a:latin typeface="Cambria" panose="02040503050406030204" pitchFamily="18" charset="0"/>
                    <a:ea typeface="MS Mincho" panose="02020609040205080304" pitchFamily="49" charset="-128"/>
                    <a:cs typeface="Arial" panose="020B0604020202020204" pitchFamily="34" charset="0"/>
                  </a:rPr>
                  <a:t>and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1) (totaling 5), </a:t>
                </a:r>
                <a:r>
                  <a:rPr lang="en-US" sz="1800" dirty="0">
                    <a:effectLst/>
                    <a:latin typeface="Cambria" panose="02040503050406030204" pitchFamily="18" charset="0"/>
                    <a:ea typeface="MS Mincho" panose="02020609040205080304" pitchFamily="49" charset="-128"/>
                    <a:cs typeface="Arial" panose="020B0604020202020204" pitchFamily="34" charset="0"/>
                  </a:rPr>
                  <a:t>but they cannot be chosen together due to mutual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𝑎,𝑏,𝑐,𝑑,𝑒,𝑓,𝑔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+ 4 = 8 </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bids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r>
                  <a:rPr lang="en-US" sz="1800" dirty="0">
                    <a:effectLst/>
                    <a:latin typeface="Cambria" panose="02040503050406030204" pitchFamily="18" charset="0"/>
                    <a:ea typeface="MS Mincho" panose="02020609040205080304" pitchFamily="49" charset="-128"/>
                    <a:cs typeface="Arial" panose="020B0604020202020204" pitchFamily="34" charset="0"/>
                  </a:rPr>
                  <a:t> and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800100" marR="0" lvl="1" indent="-342900">
                  <a:lnSpc>
                    <a:spcPct val="115000"/>
                  </a:lnSpc>
                  <a:spcBef>
                    <a:spcPts val="0"/>
                  </a:spcBef>
                  <a:spcAft>
                    <a:spcPts val="1000"/>
                  </a:spcAft>
                  <a:buFont typeface="+mj-lt"/>
                  <a:buAutoNum type="arabicPeriod"/>
                </a:pP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𝑣</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_𝛽〗_3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𝑐,𝑑,𝑒</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+ 3 = 7 </a:t>
                </a:r>
                <a:r>
                  <a:rPr lang="en-US" sz="1800" b="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dirty="0">
                    <a:effectLst/>
                    <a:latin typeface="Cambria" panose="02040503050406030204" pitchFamily="18" charset="0"/>
                    <a:ea typeface="MS Mincho" panose="02020609040205080304" pitchFamily="49" charset="-128"/>
                    <a:cs typeface="Arial" panose="020B0604020202020204" pitchFamily="34" charset="0"/>
                  </a:rPr>
                  <a:t> Satisfied by bids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dirty="0">
                    <a:effectLst/>
                    <a:latin typeface="Cambria" panose="02040503050406030204" pitchFamily="18" charset="0"/>
                    <a:ea typeface="MS Mincho" panose="02020609040205080304" pitchFamily="49" charset="-128"/>
                    <a:cs typeface="Arial" panose="020B0604020202020204" pitchFamily="34" charset="0"/>
                  </a:rPr>
                  <a:t>and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Scenarios to Analyze</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First Scenario</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Bundle: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𝑍′ =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Satisfied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1)</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Selected Set W: Only includes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dirty="0">
                    <a:effectLst/>
                    <a:latin typeface="Cambria" panose="02040503050406030204" pitchFamily="18" charset="0"/>
                    <a:ea typeface="MS Mincho" panose="02020609040205080304" pitchFamily="49" charset="-128"/>
                    <a:cs typeface="Arial" panose="020B0604020202020204" pitchFamily="34" charset="0"/>
                  </a:rPr>
                  <a:t>due to the conditions of mutual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 and optimal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Second Scenario</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Bundle: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𝑍 = {</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𝑎,𝑏,𝑐,𝑑,𝑒,𝑓,𝑔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Satisfied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1)</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(𝑒, 3)</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1200150" marR="0" lvl="2"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742950" marR="0" lvl="1"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Selected Set W: Includes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𝑒,𝑓,𝑔</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dirty="0">
                    <a:effectLst/>
                    <a:latin typeface="Cambria" panose="02040503050406030204" pitchFamily="18" charset="0"/>
                    <a:ea typeface="MS Mincho" panose="02020609040205080304" pitchFamily="49" charset="-128"/>
                    <a:cs typeface="Arial" panose="020B0604020202020204" pitchFamily="34" charset="0"/>
                  </a:rPr>
                  <a:t>and </a:t>
                </a:r>
                <a:r>
                  <a:rPr lang="en-US" sz="1800" i="0" dirty="0">
                    <a:effectLst/>
                    <a:latin typeface="Cambria Math" panose="02040503050406030204" pitchFamily="18" charset="0"/>
                    <a:ea typeface="MS Mincho" panose="02020609040205080304" pitchFamily="49" charset="-128"/>
                    <a:cs typeface="Arial" panose="020B0604020202020204" pitchFamily="34" charset="0"/>
                  </a:rPr>
                  <a:t>(</a:t>
                </a:r>
                <a:r>
                  <a:rPr lang="en-US" sz="1800" i="0" dirty="0" err="1">
                    <a:effectLst/>
                    <a:latin typeface="Cambria Math" panose="02040503050406030204" pitchFamily="18" charset="0"/>
                    <a:ea typeface="MS Mincho" panose="02020609040205080304" pitchFamily="49" charset="-128"/>
                    <a:cs typeface="Arial" panose="020B0604020202020204" pitchFamily="34" charset="0"/>
                  </a:rPr>
                  <a:t>𝑐,𝑑</a:t>
                </a:r>
                <a:r>
                  <a:rPr lang="en-US" sz="1800" i="0" dirty="0">
                    <a:effectLst/>
                    <a:latin typeface="Cambria Math" panose="02040503050406030204" pitchFamily="18" charset="0"/>
                    <a:ea typeface="MS Mincho" panose="02020609040205080304" pitchFamily="49" charset="-128"/>
                    <a:cs typeface="Arial" panose="020B0604020202020204" pitchFamily="34" charset="0"/>
                  </a:rPr>
                  <a:t>, 4) </a:t>
                </a:r>
                <a:r>
                  <a:rPr lang="en-US" sz="1800" dirty="0">
                    <a:effectLst/>
                    <a:latin typeface="Cambria" panose="02040503050406030204" pitchFamily="18" charset="0"/>
                    <a:ea typeface="MS Mincho" panose="02020609040205080304" pitchFamily="49" charset="-128"/>
                    <a:cs typeface="Arial" panose="020B0604020202020204" pitchFamily="34" charset="0"/>
                  </a:rPr>
                  <a:t>to meet the conditions of </a:t>
                </a:r>
                <a:r>
                  <a:rPr lang="en-US" sz="1800" dirty="0" err="1">
                    <a:effectLst/>
                    <a:latin typeface="Cambria" panose="02040503050406030204" pitchFamily="18" charset="0"/>
                    <a:ea typeface="MS Mincho" panose="02020609040205080304" pitchFamily="49" charset="-128"/>
                    <a:cs typeface="Arial" panose="020B0604020202020204" pitchFamily="34" charset="0"/>
                  </a:rPr>
                  <a:t>disjointness</a:t>
                </a:r>
                <a:r>
                  <a:rPr lang="en-US" sz="1800" dirty="0">
                    <a:effectLst/>
                    <a:latin typeface="Cambria" panose="02040503050406030204" pitchFamily="18" charset="0"/>
                    <a:ea typeface="MS Mincho" panose="02020609040205080304" pitchFamily="49" charset="-128"/>
                    <a:cs typeface="Arial" panose="020B0604020202020204" pitchFamily="34" charset="0"/>
                  </a:rPr>
                  <a:t> and maximize total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Summary of Key Points</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OR Bids provide flexibility by allowing multiple bids, with the option to pay for any combination of non-overlapping bundles.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The valuation function considers all satisfied bids but ensures selections are mutually disjoint to maximize total price.</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285750" marR="0" indent="-285750">
                  <a:lnSpc>
                    <a:spcPct val="115000"/>
                  </a:lnSpc>
                  <a:spcBef>
                    <a:spcPts val="0"/>
                  </a:spcBef>
                  <a:spcAft>
                    <a:spcPts val="1000"/>
                  </a:spcAft>
                  <a:buFont typeface="Arial" panose="020B0604020202020204" pitchFamily="34" charset="0"/>
                  <a:buChar char="•"/>
                </a:pPr>
                <a:r>
                  <a:rPr lang="en-US" sz="1800" dirty="0">
                    <a:effectLst/>
                    <a:latin typeface="Cambria" panose="02040503050406030204" pitchFamily="18" charset="0"/>
                    <a:ea typeface="MS Mincho" panose="02020609040205080304" pitchFamily="49" charset="-128"/>
                    <a:cs typeface="Arial" panose="020B0604020202020204" pitchFamily="34" charset="0"/>
                  </a:rPr>
                  <a:t> Different scenarios highlight how bundles can be satisfied by various bids while adhering to the rules governing OR bids.</a:t>
                </a:r>
                <a:endParaRPr lang="en-MY" sz="1800" dirty="0">
                  <a:effectLst/>
                  <a:latin typeface="Cambria" panose="02040503050406030204" pitchFamily="18" charset="0"/>
                  <a:ea typeface="MS Mincho" panose="02020609040205080304" pitchFamily="49" charset="-128"/>
                  <a:cs typeface="Arial" panose="020B0604020202020204" pitchFamily="34" charset="0"/>
                </a:endParaRPr>
              </a:p>
              <a:p>
                <a:pPr marL="0" marR="0">
                  <a:lnSpc>
                    <a:spcPct val="115000"/>
                  </a:lnSpc>
                  <a:spcBef>
                    <a:spcPts val="1000"/>
                  </a:spcBef>
                  <a:spcAft>
                    <a:spcPts val="0"/>
                  </a:spcAft>
                </a:pPr>
                <a:endPar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spcAft>
                    <a:spcPts val="0"/>
                  </a:spcAft>
                </a:pP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Conclusion</a:t>
                </a:r>
                <a:endParaRPr lang="en-MY"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r>
                  <a:rPr lang="en-US" sz="1800" dirty="0">
                    <a:effectLst/>
                    <a:latin typeface="Cambria" panose="02040503050406030204" pitchFamily="18" charset="0"/>
                    <a:ea typeface="MS Mincho" panose="02020609040205080304" pitchFamily="49" charset="-128"/>
                    <a:cs typeface="Arial" panose="020B0604020202020204" pitchFamily="34" charset="0"/>
                  </a:rPr>
                  <a:t>Understanding how to construct valuations from OR bids enables bidders to better strategize their bids and maximize their value across multiple options, reflecting a more complex preference structure.</a:t>
                </a:r>
                <a:endParaRPr dirty="0"/>
              </a:p>
            </p:txBody>
          </p:sp>
        </mc:Fallback>
      </mc:AlternateContent>
    </p:spTree>
    <p:extLst>
      <p:ext uri="{BB962C8B-B14F-4D97-AF65-F5344CB8AC3E}">
        <p14:creationId xmlns:p14="http://schemas.microsoft.com/office/powerpoint/2010/main" val="936266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discusses the limitations of OR bids compared to XOR bids, noting that OR bids cannot capture all possible valuation functions and that evaluating bundles using OR bids can be computationally difficult.</a:t>
            </a:r>
          </a:p>
          <a:p>
            <a:endParaRPr lang="en-US" b="0" i="0" dirty="0">
              <a:solidFill>
                <a:srgbClr val="E8E8E8"/>
              </a:solidFill>
              <a:effectLst/>
              <a:latin typeface="Google Sans Text"/>
            </a:endParaRPr>
          </a:p>
          <a:p>
            <a:pPr marL="228600" indent="-228600">
              <a:buFont typeface="+mj-lt"/>
              <a:buAutoNum type="arabicPeriod"/>
            </a:pPr>
            <a:r>
              <a:rPr lang="en-US" b="1" dirty="0"/>
              <a:t>Reduced Expressiveness</a:t>
            </a:r>
            <a:r>
              <a:rPr lang="en-US" dirty="0"/>
              <a:t>:</a:t>
            </a:r>
          </a:p>
          <a:p>
            <a:pPr marL="742950" lvl="1" indent="-285750">
              <a:buFont typeface="Arial" panose="020B0604020202020204" pitchFamily="34" charset="0"/>
              <a:buChar char="•"/>
            </a:pPr>
            <a:r>
              <a:rPr lang="en-US" dirty="0"/>
              <a:t>OR bids are less expressive than XOR bids; certain valuation functions cannot be represented using OR bids.</a:t>
            </a:r>
          </a:p>
          <a:p>
            <a:pPr marL="742950" lvl="1" indent="-285750">
              <a:buFont typeface="Arial" panose="020B0604020202020204" pitchFamily="34" charset="0"/>
              <a:buChar char="•"/>
            </a:pPr>
            <a:r>
              <a:rPr lang="en-US" dirty="0"/>
              <a:t>This limitation means that complex preferences, which can be captured through XOR bids, might be lost when using OR bids.</a:t>
            </a:r>
          </a:p>
          <a:p>
            <a:pPr marL="228600" indent="-228600">
              <a:buFont typeface="+mj-lt"/>
              <a:buAutoNum type="arabicPeriod"/>
            </a:pPr>
            <a:r>
              <a:rPr lang="en-US" b="1" dirty="0"/>
              <a:t>Computational Complexity</a:t>
            </a:r>
            <a:r>
              <a:rPr lang="en-US" dirty="0"/>
              <a:t>:</a:t>
            </a:r>
          </a:p>
          <a:p>
            <a:pPr marL="742950" lvl="1" indent="-285750">
              <a:buFont typeface="Arial" panose="020B0604020202020204" pitchFamily="34" charset="0"/>
              <a:buChar char="•"/>
            </a:pPr>
            <a:r>
              <a:rPr lang="en-US" dirty="0"/>
              <a:t>Determining the valuation of a bundle given an OR bid is NP-hard.</a:t>
            </a:r>
          </a:p>
          <a:p>
            <a:pPr marL="742950" lvl="1" indent="-285750">
              <a:buFont typeface="Arial" panose="020B0604020202020204" pitchFamily="34" charset="0"/>
              <a:buChar char="•"/>
            </a:pPr>
            <a:r>
              <a:rPr lang="en-US" dirty="0"/>
              <a:t>This complexity implies that as the number of items and bids increases, the computational effort required to evaluate valuations may grow exponentially, making it challenging for large problem instances.</a:t>
            </a:r>
          </a:p>
          <a:p>
            <a:endParaRPr dirty="0"/>
          </a:p>
        </p:txBody>
      </p:sp>
    </p:spTree>
    <p:extLst>
      <p:ext uri="{BB962C8B-B14F-4D97-AF65-F5344CB8AC3E}">
        <p14:creationId xmlns:p14="http://schemas.microsoft.com/office/powerpoint/2010/main" val="1056943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reiterates the computational challenges of winner determination and outlines various approaches used in practice. It emphasizes the use of integer programming, efficient algorithms, approximation techniques, and heuristic methods to address the NP-hardness.</a:t>
            </a:r>
          </a:p>
          <a:p>
            <a:endParaRPr lang="en-US" b="0" i="0" dirty="0">
              <a:solidFill>
                <a:srgbClr val="E8E8E8"/>
              </a:solidFill>
              <a:effectLst/>
              <a:latin typeface="Google Sans Text"/>
            </a:endParaRPr>
          </a:p>
          <a:p>
            <a:pPr marL="228600" indent="-228600">
              <a:buFont typeface="+mj-lt"/>
              <a:buAutoNum type="arabicPeriod"/>
            </a:pPr>
            <a:r>
              <a:rPr lang="en-US" b="1" dirty="0"/>
              <a:t>NP-Hardness</a:t>
            </a:r>
            <a:r>
              <a:rPr lang="en-US" dirty="0"/>
              <a:t>:</a:t>
            </a:r>
          </a:p>
          <a:p>
            <a:pPr marL="742950" lvl="1" indent="-285750">
              <a:buFont typeface="Arial" panose="020B0604020202020204" pitchFamily="34" charset="0"/>
              <a:buChar char="•"/>
            </a:pPr>
            <a:r>
              <a:rPr lang="en-US" dirty="0"/>
              <a:t>Finding the winner in combinatorial auctions is NP-hard, indicating the problem's inherent computational complexity. This means that no known polynomial-time algorithms can guarantee an optimal solution for all instances of the problem.</a:t>
            </a:r>
          </a:p>
          <a:p>
            <a:pPr marL="228600" indent="-228600">
              <a:buFont typeface="+mj-lt"/>
              <a:buAutoNum type="arabicPeriod"/>
            </a:pPr>
            <a:r>
              <a:rPr lang="en-US" b="1" dirty="0"/>
              <a:t>Practical Solutions</a:t>
            </a:r>
            <a:r>
              <a:rPr lang="en-US" dirty="0"/>
              <a:t>:</a:t>
            </a:r>
          </a:p>
          <a:p>
            <a:pPr marL="742950" lvl="1" indent="-285750">
              <a:buFont typeface="Arial" panose="020B0604020202020204" pitchFamily="34" charset="0"/>
              <a:buChar char="•"/>
            </a:pPr>
            <a:r>
              <a:rPr lang="en-US" b="1" dirty="0"/>
              <a:t>Integer Linear Programming</a:t>
            </a:r>
            <a:r>
              <a:rPr lang="en-US" dirty="0"/>
              <a:t>: The problem can be encoded as an integer linear program. Using solvers for this formulation often yields solutions in reasonable time frames, despite the theoretical NP-hardness of the problem.</a:t>
            </a:r>
          </a:p>
          <a:p>
            <a:pPr marL="742950" lvl="1" indent="-285750">
              <a:buFont typeface="Arial" panose="020B0604020202020204" pitchFamily="34" charset="0"/>
              <a:buChar char="•"/>
            </a:pPr>
            <a:r>
              <a:rPr lang="en-US" b="1" dirty="0"/>
              <a:t>Efficient Algorithms</a:t>
            </a:r>
            <a:r>
              <a:rPr lang="en-US" dirty="0"/>
              <a:t>: Various algorithms have been developed that perform well under many scenarios, effectively navigating the complexities of the problem.</a:t>
            </a:r>
          </a:p>
          <a:p>
            <a:pPr marL="742950" lvl="1" indent="-285750">
              <a:buFont typeface="Arial" panose="020B0604020202020204" pitchFamily="34" charset="0"/>
              <a:buChar char="•"/>
            </a:pPr>
            <a:r>
              <a:rPr lang="en-US" b="1" dirty="0"/>
              <a:t>Approximate Algorithms</a:t>
            </a:r>
            <a:r>
              <a:rPr lang="en-US" dirty="0"/>
              <a:t>: These algorithms explore solutions that come with bounded approximation guarantees, ensuring that the solution is close to optimal within a specified range.</a:t>
            </a:r>
          </a:p>
          <a:p>
            <a:pPr marL="742950" lvl="1" indent="-285750">
              <a:buFont typeface="Arial" panose="020B0604020202020204" pitchFamily="34" charset="0"/>
              <a:buChar char="•"/>
            </a:pPr>
            <a:r>
              <a:rPr lang="en-US" b="1" dirty="0"/>
              <a:t>Heuristic Solutions</a:t>
            </a:r>
            <a:r>
              <a:rPr lang="en-US" dirty="0"/>
              <a:t>: Greedy algorithms can be employed to iteratively select the best bid to satisfy, providing a practical approach to finding satisfactory solutions even if they are not optimal.</a:t>
            </a:r>
          </a:p>
          <a:p>
            <a:endParaRPr dirty="0"/>
          </a:p>
        </p:txBody>
      </p:sp>
    </p:spTree>
    <p:extLst>
      <p:ext uri="{BB962C8B-B14F-4D97-AF65-F5344CB8AC3E}">
        <p14:creationId xmlns:p14="http://schemas.microsoft.com/office/powerpoint/2010/main" val="22555985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transitions to the VCG mechanism, highlighting its ability to address the problem of strategic bidding and incentivize truthful revelation of valuations.</a:t>
            </a:r>
          </a:p>
          <a:p>
            <a:endParaRPr lang="en-US" b="0" i="0" dirty="0">
              <a:solidFill>
                <a:srgbClr val="E8E8E8"/>
              </a:solidFill>
              <a:effectLst/>
              <a:latin typeface="Google Sans Text"/>
            </a:endParaRPr>
          </a:p>
          <a:p>
            <a:pPr marL="228600" indent="-228600">
              <a:buFont typeface="+mj-lt"/>
              <a:buAutoNum type="arabicPeriod"/>
            </a:pPr>
            <a:r>
              <a:rPr lang="en-US" b="1" dirty="0"/>
              <a:t>Motivation</a:t>
            </a:r>
            <a:r>
              <a:rPr lang="en-US" dirty="0"/>
              <a:t>:</a:t>
            </a:r>
          </a:p>
          <a:p>
            <a:pPr marL="742950" lvl="1" indent="-285750">
              <a:buFont typeface="Arial" panose="020B0604020202020204" pitchFamily="34" charset="0"/>
              <a:buChar char="•"/>
            </a:pPr>
            <a:r>
              <a:rPr lang="en-US" dirty="0"/>
              <a:t>Many existing auction types are susceptible to strategic manipulation by participants, which complicates the process of ensuring that agents reveal their true valuations of the goods being auctioned.</a:t>
            </a:r>
          </a:p>
          <a:p>
            <a:pPr marL="228600" indent="-228600">
              <a:buFont typeface="+mj-lt"/>
              <a:buAutoNum type="arabicPeriod"/>
            </a:pPr>
            <a:r>
              <a:rPr lang="en-US" b="1" dirty="0"/>
              <a:t>VCG Mechanism</a:t>
            </a:r>
            <a:r>
              <a:rPr lang="en-US" dirty="0"/>
              <a:t>:</a:t>
            </a:r>
          </a:p>
          <a:p>
            <a:pPr marL="628650" lvl="1" indent="-171450">
              <a:buFont typeface="Arial" panose="020B0604020202020204" pitchFamily="34" charset="0"/>
              <a:buChar char="•"/>
            </a:pPr>
            <a:r>
              <a:rPr lang="en-US" dirty="0"/>
              <a:t>The VCG (Vickrey-Clarke-Groves) mechanism is a generalization of the Vickrey auction tailored for combinatorial settings. It is designed to incentivize truthful bidding by ensuring that agents' payments are based on the externalities they impose on others.</a:t>
            </a:r>
          </a:p>
          <a:p>
            <a:pPr marL="228600" indent="-228600">
              <a:buFont typeface="+mj-lt"/>
              <a:buAutoNum type="arabicPeriod"/>
            </a:pPr>
            <a:r>
              <a:rPr lang="en-US" b="1" dirty="0"/>
              <a:t>Incentive Compatibility</a:t>
            </a:r>
            <a:r>
              <a:rPr lang="en-US" dirty="0"/>
              <a:t>:</a:t>
            </a:r>
          </a:p>
          <a:p>
            <a:pPr marL="742950" lvl="1" indent="-285750">
              <a:buFont typeface="Arial" panose="020B0604020202020204" pitchFamily="34" charset="0"/>
              <a:buChar char="•"/>
            </a:pPr>
            <a:r>
              <a:rPr lang="en-US" dirty="0"/>
              <a:t>In the VCG mechanism, revealing true valuations becomes a dominant strategy for all agents. This means that each agent maximizes their utility by reporting their actual valuations rather than trying to manipulate the outcome through strategic bidding.</a:t>
            </a:r>
          </a:p>
          <a:p>
            <a:endParaRPr dirty="0"/>
          </a:p>
        </p:txBody>
      </p:sp>
    </p:spTree>
    <p:extLst>
      <p:ext uri="{BB962C8B-B14F-4D97-AF65-F5344CB8AC3E}">
        <p14:creationId xmlns:p14="http://schemas.microsoft.com/office/powerpoint/2010/main" val="2928524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notation for the VCG mechanism, defining the indifferent valuation function and the social welfare function that excludes a specific agent's contribution.</a:t>
                </a:r>
              </a:p>
              <a:p>
                <a:endParaRPr lang="en-US" b="0" i="0" dirty="0">
                  <a:solidFill>
                    <a:srgbClr val="E8E8E8"/>
                  </a:solidFill>
                  <a:effectLst/>
                  <a:latin typeface="Google Sans Text"/>
                </a:endParaRPr>
              </a:p>
              <a:p>
                <a:pPr marL="228600" indent="-228600">
                  <a:buFont typeface="+mj-lt"/>
                  <a:buAutoNum type="arabicPeriod"/>
                </a:pPr>
                <a:r>
                  <a:rPr lang="en-US" b="1" dirty="0"/>
                  <a:t>Indifferent Valuation Function</a:t>
                </a:r>
                <a:r>
                  <a:rPr lang="en-US" dirty="0"/>
                  <a:t>:</a:t>
                </a:r>
              </a:p>
              <a:p>
                <a:pPr marL="742950" lvl="1" indent="-285750">
                  <a:buFont typeface="Arial" panose="020B0604020202020204" pitchFamily="34" charset="0"/>
                  <a:buChar char="•"/>
                </a:pPr>
                <a:r>
                  <a:rPr lang="en-US" dirty="0"/>
                  <a:t>The indifferent valuation function is denoted as </a:t>
                </a:r>
                <a14:m>
                  <m:oMath xmlns:m="http://schemas.openxmlformats.org/officeDocument/2006/math">
                    <m:sSup>
                      <m:sSupPr>
                        <m:ctrlPr>
                          <a:rPr lang="en-US" sz="1200" b="0" i="1" spc="10" dirty="0" smtClean="0">
                            <a:latin typeface="Cambria Math" panose="02040503050406030204" pitchFamily="18" charset="0"/>
                            <a:cs typeface="Tahoma"/>
                          </a:rPr>
                        </m:ctrlPr>
                      </m:sSupPr>
                      <m:e>
                        <m:r>
                          <a:rPr lang="en-US" sz="1200" b="0" i="1" spc="10" dirty="0" smtClean="0">
                            <a:latin typeface="Cambria Math" panose="02040503050406030204" pitchFamily="18" charset="0"/>
                            <a:cs typeface="Tahoma"/>
                          </a:rPr>
                          <m:t>𝑣</m:t>
                        </m:r>
                      </m:e>
                      <m:sup>
                        <m:r>
                          <a:rPr lang="en-US" sz="1200" b="0" i="1" spc="10" dirty="0" smtClean="0">
                            <a:latin typeface="Cambria Math" panose="02040503050406030204" pitchFamily="18" charset="0"/>
                            <a:cs typeface="Tahoma"/>
                          </a:rPr>
                          <m:t>0</m:t>
                        </m:r>
                      </m:sup>
                    </m:sSup>
                    <m:r>
                      <a:rPr lang="en-MY" sz="1200" i="1" spc="10" dirty="0" smtClean="0">
                        <a:latin typeface="Cambria Math" panose="02040503050406030204" pitchFamily="18" charset="0"/>
                        <a:cs typeface="Tahoma"/>
                      </a:rPr>
                      <m:t>(</m:t>
                    </m:r>
                    <m:r>
                      <a:rPr lang="en-MY" sz="1200" i="1" spc="10" dirty="0" smtClean="0">
                        <a:latin typeface="Cambria Math" panose="02040503050406030204" pitchFamily="18" charset="0"/>
                        <a:cs typeface="Tahoma"/>
                      </a:rPr>
                      <m:t>𝑍</m:t>
                    </m:r>
                    <m:r>
                      <a:rPr lang="en-MY" sz="1200" i="1" spc="10" dirty="0" smtClean="0">
                        <a:latin typeface="Cambria Math" panose="02040503050406030204" pitchFamily="18" charset="0"/>
                        <a:cs typeface="Tahoma"/>
                      </a:rPr>
                      <m:t>) = </m:t>
                    </m:r>
                    <m:r>
                      <a:rPr lang="en-MY" sz="1200" i="1" spc="10" dirty="0" smtClean="0">
                        <a:latin typeface="Cambria Math" panose="02040503050406030204" pitchFamily="18" charset="0"/>
                        <a:cs typeface="Tahoma"/>
                      </a:rPr>
                      <m:t>0</m:t>
                    </m:r>
                    <m:r>
                      <a:rPr lang="en-MY" sz="1200" i="1" spc="10" dirty="0" smtClean="0">
                        <a:latin typeface="Cambria Math" panose="02040503050406030204" pitchFamily="18" charset="0"/>
                        <a:cs typeface="Tahoma"/>
                      </a:rPr>
                      <m:t> </m:t>
                    </m:r>
                  </m:oMath>
                </a14:m>
                <a:r>
                  <a:rPr lang="en-US" dirty="0"/>
                  <a:t>for all bundles </a:t>
                </a:r>
                <a14:m>
                  <m:oMath xmlns:m="http://schemas.openxmlformats.org/officeDocument/2006/math">
                    <m:r>
                      <a:rPr lang="en-US" i="1" dirty="0" smtClean="0">
                        <a:latin typeface="Cambria Math" panose="02040503050406030204" pitchFamily="18" charset="0"/>
                      </a:rPr>
                      <m:t>𝑍</m:t>
                    </m:r>
                  </m:oMath>
                </a14:m>
                <a:r>
                  <a:rPr lang="en-US" dirty="0"/>
                  <a:t>. This represents an agent who has no interest or valuation for any of the goods available in the auction.</a:t>
                </a:r>
              </a:p>
              <a:p>
                <a:pPr marL="228600" indent="-228600">
                  <a:buFont typeface="+mj-lt"/>
                  <a:buAutoNum type="arabicPeriod"/>
                </a:pPr>
                <a:r>
                  <a:rPr lang="en-US" b="1" dirty="0"/>
                  <a:t>Social Welfare Without Agent </a:t>
                </a:r>
                <a14:m>
                  <m:oMath xmlns:m="http://schemas.openxmlformats.org/officeDocument/2006/math">
                    <m:r>
                      <a:rPr lang="en-US" b="1" i="1" dirty="0" smtClean="0">
                        <a:latin typeface="Cambria Math" panose="02040503050406030204" pitchFamily="18" charset="0"/>
                      </a:rPr>
                      <m:t>𝒊</m:t>
                    </m:r>
                  </m:oMath>
                </a14:m>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social welfare function without the benefit of agent </a:t>
                </a:r>
                <a14:m>
                  <m:oMath xmlns:m="http://schemas.openxmlformats.org/officeDocument/2006/math">
                    <m:r>
                      <a:rPr lang="en-US" i="1" dirty="0" smtClean="0">
                        <a:latin typeface="Cambria Math" panose="02040503050406030204" pitchFamily="18" charset="0"/>
                      </a:rPr>
                      <m:t>𝑖</m:t>
                    </m:r>
                  </m:oMath>
                </a14:m>
                <a:r>
                  <a:rPr lang="en-US" dirty="0"/>
                  <a:t> is denoted as </a:t>
                </a:r>
                <a:br>
                  <a:rPr lang="en-US" dirty="0"/>
                </a:br>
                <a14:m>
                  <m:oMath xmlns:m="http://schemas.openxmlformats.org/officeDocument/2006/math">
                    <m:r>
                      <a:rPr lang="en-MY" sz="1200" i="1" spc="10" dirty="0" smtClean="0">
                        <a:latin typeface="Cambria Math" panose="02040503050406030204" pitchFamily="18" charset="0"/>
                        <a:cs typeface="Tahoma"/>
                      </a:rPr>
                      <m:t>𝑠</m:t>
                    </m:r>
                    <m:sSub>
                      <m:sSubPr>
                        <m:ctrlPr>
                          <a:rPr lang="en-MY" sz="1200" i="1" spc="10" dirty="0" smtClean="0">
                            <a:latin typeface="Cambria Math" panose="02040503050406030204" pitchFamily="18" charset="0"/>
                            <a:cs typeface="Tahoma"/>
                          </a:rPr>
                        </m:ctrlPr>
                      </m:sSubPr>
                      <m:e>
                        <m:r>
                          <a:rPr lang="en-MY" sz="1200" i="1" spc="10" dirty="0" smtClean="0">
                            <a:latin typeface="Cambria Math" panose="02040503050406030204" pitchFamily="18" charset="0"/>
                            <a:cs typeface="Tahoma"/>
                          </a:rPr>
                          <m:t>𝑤</m:t>
                        </m:r>
                      </m:e>
                      <m:sub>
                        <m:r>
                          <a:rPr lang="en-MY" sz="1200" i="1" spc="10" dirty="0" smtClean="0">
                            <a:latin typeface="Cambria Math" panose="02040503050406030204" pitchFamily="18" charset="0"/>
                            <a:cs typeface="Tahoma"/>
                          </a:rPr>
                          <m:t>−</m:t>
                        </m:r>
                        <m:r>
                          <a:rPr lang="en-MY" sz="1200" i="1" spc="10" dirty="0" err="1" smtClean="0">
                            <a:latin typeface="Cambria Math" panose="02040503050406030204" pitchFamily="18" charset="0"/>
                            <a:cs typeface="Tahoma"/>
                          </a:rPr>
                          <m:t>𝑖</m:t>
                        </m:r>
                      </m:sub>
                    </m:sSub>
                    <m:d>
                      <m:dPr>
                        <m:ctrlPr>
                          <a:rPr lang="en-MY" sz="1200" i="1" spc="10" dirty="0" smtClean="0">
                            <a:latin typeface="Cambria Math" panose="02040503050406030204" pitchFamily="18" charset="0"/>
                            <a:cs typeface="Tahoma"/>
                          </a:rPr>
                        </m:ctrlPr>
                      </m:dPr>
                      <m:e>
                        <m:sSub>
                          <m:sSubPr>
                            <m:ctrlPr>
                              <a:rPr lang="en-MY" sz="1200" i="1" spc="10" dirty="0" smtClean="0">
                                <a:latin typeface="Cambria Math" panose="02040503050406030204" pitchFamily="18" charset="0"/>
                                <a:cs typeface="Tahoma"/>
                              </a:rPr>
                            </m:ctrlPr>
                          </m:sSubPr>
                          <m:e>
                            <m:r>
                              <a:rPr lang="en-MY" sz="1200" i="1" spc="10" dirty="0" smtClean="0">
                                <a:latin typeface="Cambria Math" panose="02040503050406030204" pitchFamily="18" charset="0"/>
                                <a:cs typeface="Tahoma"/>
                              </a:rPr>
                              <m:t>𝑍</m:t>
                            </m:r>
                          </m:e>
                          <m:sub>
                            <m:r>
                              <a:rPr lang="en-MY" sz="1200" i="1" spc="10" dirty="0" smtClean="0">
                                <a:latin typeface="Cambria Math" panose="02040503050406030204" pitchFamily="18" charset="0"/>
                                <a:cs typeface="Tahoma"/>
                              </a:rPr>
                              <m:t>1</m:t>
                            </m:r>
                          </m:sub>
                        </m:sSub>
                        <m:r>
                          <a:rPr lang="en-MY" sz="1200" i="1" spc="10" dirty="0" smtClean="0">
                            <a:latin typeface="Cambria Math" panose="02040503050406030204" pitchFamily="18" charset="0"/>
                            <a:cs typeface="Tahoma"/>
                          </a:rPr>
                          <m:t>, …, </m:t>
                        </m:r>
                        <m:sSub>
                          <m:sSubPr>
                            <m:ctrlPr>
                              <a:rPr lang="en-MY" sz="1200" i="1" spc="10" dirty="0" err="1" smtClean="0">
                                <a:latin typeface="Cambria Math" panose="02040503050406030204" pitchFamily="18" charset="0"/>
                                <a:cs typeface="Tahoma"/>
                              </a:rPr>
                            </m:ctrlPr>
                          </m:sSubPr>
                          <m:e>
                            <m:r>
                              <a:rPr lang="en-MY" sz="1200" i="1" spc="10" dirty="0" err="1" smtClean="0">
                                <a:latin typeface="Cambria Math" panose="02040503050406030204" pitchFamily="18" charset="0"/>
                                <a:cs typeface="Tahoma"/>
                              </a:rPr>
                              <m:t>𝑍</m:t>
                            </m:r>
                          </m:e>
                          <m:sub>
                            <m:r>
                              <a:rPr lang="en-MY" sz="1200" i="1" spc="10" dirty="0" err="1" smtClean="0">
                                <a:latin typeface="Cambria Math" panose="02040503050406030204" pitchFamily="18" charset="0"/>
                                <a:cs typeface="Tahoma"/>
                              </a:rPr>
                              <m:t>𝑛</m:t>
                            </m:r>
                          </m:sub>
                        </m:sSub>
                        <m:r>
                          <a:rPr lang="en-US" sz="1200" b="0" i="1" spc="10" dirty="0" smtClean="0">
                            <a:latin typeface="Cambria Math" panose="02040503050406030204" pitchFamily="18" charset="0"/>
                            <a:cs typeface="Tahoma"/>
                          </a:rPr>
                          <m:t>,</m:t>
                        </m:r>
                        <m:sSub>
                          <m:sSubPr>
                            <m:ctrlPr>
                              <a:rPr lang="en-MY" sz="1200" i="1" spc="10" dirty="0" err="1" smtClean="0">
                                <a:latin typeface="Cambria Math" panose="02040503050406030204" pitchFamily="18" charset="0"/>
                                <a:cs typeface="Tahoma"/>
                              </a:rPr>
                            </m:ctrlPr>
                          </m:sSubPr>
                          <m:e>
                            <m:r>
                              <a:rPr lang="en-MY" sz="1200" i="1" spc="10" dirty="0">
                                <a:latin typeface="Cambria Math" panose="02040503050406030204" pitchFamily="18" charset="0"/>
                                <a:cs typeface="Tahoma"/>
                              </a:rPr>
                              <m:t>𝜐</m:t>
                            </m:r>
                          </m:e>
                          <m:sub>
                            <m:r>
                              <a:rPr lang="en-MY" sz="1200" i="1" spc="10" dirty="0">
                                <a:latin typeface="Cambria Math" panose="02040503050406030204" pitchFamily="18" charset="0"/>
                                <a:cs typeface="Tahoma"/>
                              </a:rPr>
                              <m:t>1</m:t>
                            </m:r>
                          </m:sub>
                        </m:sSub>
                        <m:r>
                          <a:rPr lang="en-US" sz="1200" b="0" i="1" spc="10" dirty="0" smtClean="0">
                            <a:latin typeface="Cambria Math" panose="02040503050406030204" pitchFamily="18" charset="0"/>
                            <a:cs typeface="Tahoma"/>
                          </a:rPr>
                          <m:t>,…,</m:t>
                        </m:r>
                        <m:sSub>
                          <m:sSubPr>
                            <m:ctrlPr>
                              <a:rPr lang="en-MY" sz="1200" b="0" i="1" spc="10" dirty="0" smtClean="0">
                                <a:latin typeface="Cambria Math" panose="02040503050406030204" pitchFamily="18" charset="0"/>
                                <a:cs typeface="Tahoma"/>
                              </a:rPr>
                            </m:ctrlPr>
                          </m:sSubPr>
                          <m:e>
                            <m:r>
                              <a:rPr lang="en-MY" sz="1200" i="1" spc="10" dirty="0">
                                <a:latin typeface="Cambria Math" panose="02040503050406030204" pitchFamily="18" charset="0"/>
                                <a:cs typeface="Tahoma"/>
                              </a:rPr>
                              <m:t>𝜐</m:t>
                            </m:r>
                          </m:e>
                          <m:sub>
                            <m:r>
                              <a:rPr lang="en-US" sz="1200" b="0" i="1" spc="10" dirty="0" smtClean="0">
                                <a:latin typeface="Cambria Math" panose="02040503050406030204" pitchFamily="18" charset="0"/>
                                <a:cs typeface="Tahoma"/>
                              </a:rPr>
                              <m:t>𝑛</m:t>
                            </m:r>
                          </m:sub>
                        </m:sSub>
                      </m:e>
                    </m:d>
                    <m:r>
                      <a:rPr lang="en-US" sz="1200" b="0" i="1" spc="10" dirty="0" smtClean="0">
                        <a:latin typeface="Cambria Math" panose="02040503050406030204" pitchFamily="18" charset="0"/>
                        <a:cs typeface="Tahoma"/>
                      </a:rPr>
                      <m:t>=</m:t>
                    </m:r>
                    <m:nary>
                      <m:naryPr>
                        <m:chr m:val="∑"/>
                        <m:supHide m:val="on"/>
                        <m:ctrlPr>
                          <a:rPr lang="en-US" sz="1200" b="0" i="1" spc="10" dirty="0" smtClean="0">
                            <a:latin typeface="Cambria Math" panose="02040503050406030204" pitchFamily="18" charset="0"/>
                            <a:cs typeface="Tahoma"/>
                          </a:rPr>
                        </m:ctrlPr>
                      </m:naryPr>
                      <m:sub>
                        <m:r>
                          <m:rPr>
                            <m:brk m:alnAt="7"/>
                          </m:rPr>
                          <a:rPr lang="en-US" sz="1200" b="0" i="1" spc="10" dirty="0" smtClean="0">
                            <a:latin typeface="Cambria Math" panose="02040503050406030204" pitchFamily="18" charset="0"/>
                            <a:cs typeface="Tahoma"/>
                          </a:rPr>
                          <m:t>𝑗</m:t>
                        </m:r>
                        <m:r>
                          <a:rPr lang="en-US" sz="1200" b="0" i="1" spc="10" dirty="0" smtClean="0">
                            <a:latin typeface="Cambria Math" panose="02040503050406030204" pitchFamily="18" charset="0"/>
                            <a:cs typeface="Tahoma"/>
                          </a:rPr>
                          <m:t>∈</m:t>
                        </m:r>
                        <m:r>
                          <a:rPr lang="en-US" sz="1200" b="0" i="1" spc="10" dirty="0" smtClean="0">
                            <a:latin typeface="Cambria Math" panose="02040503050406030204" pitchFamily="18" charset="0"/>
                            <a:cs typeface="Tahoma"/>
                          </a:rPr>
                          <m:t>𝐴𝑔</m:t>
                        </m:r>
                        <m:r>
                          <a:rPr lang="en-US" sz="1200" b="0" i="1" spc="10" dirty="0" smtClean="0">
                            <a:latin typeface="Cambria Math" panose="02040503050406030204" pitchFamily="18" charset="0"/>
                            <a:cs typeface="Tahoma"/>
                          </a:rPr>
                          <m:t>, </m:t>
                        </m:r>
                        <m:r>
                          <a:rPr lang="en-US" sz="1200" b="0" i="1" spc="10" dirty="0" smtClean="0">
                            <a:latin typeface="Cambria Math" panose="02040503050406030204" pitchFamily="18" charset="0"/>
                            <a:cs typeface="Tahoma"/>
                          </a:rPr>
                          <m:t>𝑗</m:t>
                        </m:r>
                        <m:r>
                          <a:rPr lang="en-US" sz="1200" b="0" i="1" spc="10" dirty="0" smtClean="0">
                            <a:latin typeface="Cambria Math" panose="02040503050406030204" pitchFamily="18" charset="0"/>
                            <a:cs typeface="Tahoma"/>
                          </a:rPr>
                          <m:t>≠</m:t>
                        </m:r>
                        <m:r>
                          <a:rPr lang="en-US" sz="1200" b="0" i="1" spc="10" dirty="0" smtClean="0">
                            <a:latin typeface="Cambria Math" panose="02040503050406030204" pitchFamily="18" charset="0"/>
                            <a:cs typeface="Tahoma"/>
                          </a:rPr>
                          <m:t>𝑖</m:t>
                        </m:r>
                      </m:sub>
                      <m:sup/>
                      <m:e>
                        <m:sSub>
                          <m:sSubPr>
                            <m:ctrlPr>
                              <a:rPr lang="en-US" sz="1200" b="0" i="1" spc="10" dirty="0" smtClean="0">
                                <a:latin typeface="Cambria Math" panose="02040503050406030204" pitchFamily="18" charset="0"/>
                                <a:cs typeface="Tahoma"/>
                              </a:rPr>
                            </m:ctrlPr>
                          </m:sSubPr>
                          <m:e>
                            <m:r>
                              <a:rPr lang="en-MY" sz="1200" i="1" spc="10" dirty="0">
                                <a:latin typeface="Cambria Math" panose="02040503050406030204" pitchFamily="18" charset="0"/>
                                <a:cs typeface="Tahoma"/>
                              </a:rPr>
                              <m:t>𝜐</m:t>
                            </m:r>
                          </m:e>
                          <m:sub>
                            <m:r>
                              <a:rPr lang="en-US" sz="1200" b="0" i="1" spc="10" dirty="0" smtClean="0">
                                <a:latin typeface="Cambria Math" panose="02040503050406030204" pitchFamily="18" charset="0"/>
                                <a:cs typeface="Tahoma"/>
                              </a:rPr>
                              <m:t>𝑗</m:t>
                            </m:r>
                          </m:sub>
                        </m:sSub>
                        <m:d>
                          <m:dPr>
                            <m:ctrlPr>
                              <a:rPr lang="en-US" sz="1200" b="0" i="1" spc="10" dirty="0" smtClean="0">
                                <a:latin typeface="Cambria Math" panose="02040503050406030204" pitchFamily="18" charset="0"/>
                                <a:cs typeface="Tahoma"/>
                              </a:rPr>
                            </m:ctrlPr>
                          </m:dPr>
                          <m:e>
                            <m:sSub>
                              <m:sSubPr>
                                <m:ctrlPr>
                                  <a:rPr lang="en-US" sz="1200" b="0" i="1" spc="10" dirty="0" smtClean="0">
                                    <a:latin typeface="Cambria Math" panose="02040503050406030204" pitchFamily="18" charset="0"/>
                                    <a:cs typeface="Tahoma"/>
                                  </a:rPr>
                                </m:ctrlPr>
                              </m:sSubPr>
                              <m:e>
                                <m:r>
                                  <a:rPr lang="en-US" sz="1200" b="0" i="1" spc="10" dirty="0" smtClean="0">
                                    <a:latin typeface="Cambria Math" panose="02040503050406030204" pitchFamily="18" charset="0"/>
                                    <a:cs typeface="Tahoma"/>
                                  </a:rPr>
                                  <m:t>𝑍</m:t>
                                </m:r>
                              </m:e>
                              <m:sub>
                                <m:r>
                                  <a:rPr lang="en-US" sz="1200" b="0" i="1" spc="10" dirty="0" smtClean="0">
                                    <a:latin typeface="Cambria Math" panose="02040503050406030204" pitchFamily="18" charset="0"/>
                                    <a:cs typeface="Tahoma"/>
                                  </a:rPr>
                                  <m:t>𝑗</m:t>
                                </m:r>
                              </m:sub>
                            </m:sSub>
                          </m:e>
                        </m:d>
                      </m:e>
                    </m:nary>
                    <m:r>
                      <a:rPr lang="en-MY" sz="1200" i="1" spc="10" dirty="0">
                        <a:latin typeface="Cambria Math" panose="02040503050406030204" pitchFamily="18" charset="0"/>
                        <a:cs typeface="Tahoma"/>
                      </a:rPr>
                      <m:t> </m:t>
                    </m:r>
                  </m:oMath>
                </a14:m>
                <a:endParaRPr lang="en-US" dirty="0"/>
              </a:p>
              <a:p>
                <a:pPr marL="742950" lvl="1" indent="-285750">
                  <a:buFont typeface="Arial" panose="020B0604020202020204" pitchFamily="34" charset="0"/>
                  <a:buChar char="•"/>
                </a:pPr>
                <a:r>
                  <a:rPr lang="en-US" dirty="0"/>
                  <a:t>This function measures the total social welfare by summing the valuations of all agents except for agent iii. It effectively captures the collective benefit derived from the allocation of goods to all agents other than iii.</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introduces notation for the VCG mechanism, defining the indifferent valuation function and the social welfare function that excludes a specific agent's contribution.</a:t>
                </a:r>
              </a:p>
              <a:p>
                <a:endParaRPr lang="en-US" b="0" i="0" dirty="0">
                  <a:solidFill>
                    <a:srgbClr val="E8E8E8"/>
                  </a:solidFill>
                  <a:effectLst/>
                  <a:latin typeface="Google Sans Text"/>
                </a:endParaRPr>
              </a:p>
              <a:p>
                <a:pPr marL="228600" indent="-228600">
                  <a:buFont typeface="+mj-lt"/>
                  <a:buAutoNum type="arabicPeriod"/>
                </a:pPr>
                <a:r>
                  <a:rPr lang="en-US" b="1" dirty="0"/>
                  <a:t>Indifferent Valuation Function</a:t>
                </a:r>
                <a:r>
                  <a:rPr lang="en-US" dirty="0"/>
                  <a:t>:</a:t>
                </a:r>
              </a:p>
              <a:p>
                <a:pPr marL="742950" lvl="1" indent="-285750">
                  <a:buFont typeface="Arial" panose="020B0604020202020204" pitchFamily="34" charset="0"/>
                  <a:buChar char="•"/>
                </a:pPr>
                <a:r>
                  <a:rPr lang="en-US" dirty="0"/>
                  <a:t>The indifferent valuation function is denoted as </a:t>
                </a:r>
                <a:r>
                  <a:rPr lang="en-US" sz="1200" b="0" i="0" spc="10" dirty="0">
                    <a:latin typeface="Cambria Math" panose="02040503050406030204" pitchFamily="18" charset="0"/>
                    <a:cs typeface="Tahoma"/>
                  </a:rPr>
                  <a:t>𝑣^0</a:t>
                </a:r>
                <a:r>
                  <a:rPr lang="en-MY" sz="1200" b="0" i="0" spc="10" dirty="0">
                    <a:latin typeface="Cambria Math" panose="02040503050406030204" pitchFamily="18" charset="0"/>
                    <a:cs typeface="Tahoma"/>
                  </a:rPr>
                  <a:t> </a:t>
                </a:r>
                <a:r>
                  <a:rPr lang="en-MY" sz="1200" i="0" spc="10" dirty="0">
                    <a:latin typeface="Cambria Math" panose="02040503050406030204" pitchFamily="18" charset="0"/>
                    <a:cs typeface="Tahoma"/>
                  </a:rPr>
                  <a:t>(𝑍) = 0 </a:t>
                </a:r>
                <a:r>
                  <a:rPr lang="en-US" dirty="0"/>
                  <a:t>for all bundles </a:t>
                </a:r>
                <a:r>
                  <a:rPr lang="en-US" i="0" dirty="0">
                    <a:latin typeface="Cambria Math" panose="02040503050406030204" pitchFamily="18" charset="0"/>
                  </a:rPr>
                  <a:t>𝑍</a:t>
                </a:r>
                <a:r>
                  <a:rPr lang="en-US" dirty="0"/>
                  <a:t>. This represents an agent who has no interest or valuation for any of the goods available in the auction.</a:t>
                </a:r>
              </a:p>
              <a:p>
                <a:pPr marL="228600" indent="-228600">
                  <a:buFont typeface="+mj-lt"/>
                  <a:buAutoNum type="arabicPeriod"/>
                </a:pPr>
                <a:r>
                  <a:rPr lang="en-US" b="1" dirty="0"/>
                  <a:t>Social Welfare Without Agent </a:t>
                </a:r>
                <a:r>
                  <a:rPr lang="en-US" b="1" i="0" dirty="0">
                    <a:latin typeface="Cambria Math" panose="02040503050406030204" pitchFamily="18" charset="0"/>
                  </a:rPr>
                  <a:t>𝒊</a:t>
                </a:r>
                <a:r>
                  <a:rPr lang="en-US" dirty="0"/>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social welfare function without the benefit of agent </a:t>
                </a:r>
                <a:r>
                  <a:rPr lang="en-US" i="0" dirty="0">
                    <a:latin typeface="Cambria Math" panose="02040503050406030204" pitchFamily="18" charset="0"/>
                  </a:rPr>
                  <a:t>𝑖</a:t>
                </a:r>
                <a:r>
                  <a:rPr lang="en-US" dirty="0"/>
                  <a:t> is denoted as </a:t>
                </a:r>
                <a:br>
                  <a:rPr lang="en-US" dirty="0"/>
                </a:br>
                <a:r>
                  <a:rPr lang="en-MY" sz="1200" i="0" spc="10" dirty="0">
                    <a:latin typeface="Cambria Math" panose="02040503050406030204" pitchFamily="18" charset="0"/>
                    <a:cs typeface="Tahoma"/>
                  </a:rPr>
                  <a:t>𝑠𝑤_(−</a:t>
                </a:r>
                <a:r>
                  <a:rPr lang="en-MY" sz="1200" i="0" spc="10" dirty="0" err="1">
                    <a:latin typeface="Cambria Math" panose="02040503050406030204" pitchFamily="18" charset="0"/>
                    <a:cs typeface="Tahoma"/>
                  </a:rPr>
                  <a:t>𝑖</a:t>
                </a:r>
                <a:r>
                  <a:rPr lang="en-MY" sz="1200" i="0" spc="10" dirty="0">
                    <a:latin typeface="Cambria Math" panose="02040503050406030204" pitchFamily="18" charset="0"/>
                    <a:cs typeface="Tahoma"/>
                  </a:rPr>
                  <a:t>) (𝑍_1, …, </a:t>
                </a:r>
                <a:r>
                  <a:rPr lang="en-MY" sz="1200" i="0" spc="10" dirty="0" err="1">
                    <a:latin typeface="Cambria Math" panose="02040503050406030204" pitchFamily="18" charset="0"/>
                    <a:cs typeface="Tahoma"/>
                  </a:rPr>
                  <a:t>𝑍_𝑛</a:t>
                </a:r>
                <a:r>
                  <a:rPr lang="en-US" sz="1200" b="0" i="0" spc="10" dirty="0">
                    <a:latin typeface="Cambria Math" panose="02040503050406030204" pitchFamily="18" charset="0"/>
                    <a:cs typeface="Tahoma"/>
                  </a:rPr>
                  <a:t>,</a:t>
                </a:r>
                <a:r>
                  <a:rPr lang="en-MY" sz="1200" i="0" spc="10" dirty="0">
                    <a:latin typeface="Cambria Math" panose="02040503050406030204" pitchFamily="18" charset="0"/>
                    <a:cs typeface="Tahoma"/>
                  </a:rPr>
                  <a:t>𝜐</a:t>
                </a:r>
                <a:r>
                  <a:rPr lang="en-MY" sz="1200" i="0" spc="10" dirty="0" err="1">
                    <a:latin typeface="Cambria Math" panose="02040503050406030204" pitchFamily="18" charset="0"/>
                    <a:cs typeface="Tahoma"/>
                  </a:rPr>
                  <a:t>_</a:t>
                </a:r>
                <a:r>
                  <a:rPr lang="en-MY" sz="1200" i="0" spc="10" dirty="0">
                    <a:latin typeface="Cambria Math" panose="02040503050406030204" pitchFamily="18" charset="0"/>
                    <a:cs typeface="Tahoma"/>
                  </a:rPr>
                  <a:t>1</a:t>
                </a:r>
                <a:r>
                  <a:rPr lang="en-US" sz="1200" b="0" i="0" spc="10" dirty="0">
                    <a:latin typeface="Cambria Math" panose="02040503050406030204" pitchFamily="18" charset="0"/>
                    <a:cs typeface="Tahoma"/>
                  </a:rPr>
                  <a:t>,…,</a:t>
                </a:r>
                <a:r>
                  <a:rPr lang="en-MY" sz="1200" i="0" spc="10" dirty="0">
                    <a:latin typeface="Cambria Math" panose="02040503050406030204" pitchFamily="18" charset="0"/>
                    <a:cs typeface="Tahoma"/>
                  </a:rPr>
                  <a:t>𝜐</a:t>
                </a:r>
                <a:r>
                  <a:rPr lang="en-MY" sz="1200" b="0" i="0" spc="10" dirty="0">
                    <a:latin typeface="Cambria Math" panose="02040503050406030204" pitchFamily="18" charset="0"/>
                    <a:cs typeface="Tahoma"/>
                  </a:rPr>
                  <a:t>_</a:t>
                </a:r>
                <a:r>
                  <a:rPr lang="en-US" sz="1200" b="0" i="0" spc="10" dirty="0">
                    <a:latin typeface="Cambria Math" panose="02040503050406030204" pitchFamily="18" charset="0"/>
                    <a:cs typeface="Tahoma"/>
                  </a:rPr>
                  <a:t>𝑛 )=∑_(𝑗∈𝐴𝑔, 𝑗≠𝑖)▒〖</a:t>
                </a:r>
                <a:r>
                  <a:rPr lang="en-MY" sz="1200" i="0" spc="10" dirty="0">
                    <a:latin typeface="Cambria Math" panose="02040503050406030204" pitchFamily="18" charset="0"/>
                    <a:cs typeface="Tahoma"/>
                  </a:rPr>
                  <a:t>𝜐</a:t>
                </a:r>
                <a:r>
                  <a:rPr lang="en-US" sz="1200" b="0" i="0" spc="10" dirty="0">
                    <a:latin typeface="Cambria Math" panose="02040503050406030204" pitchFamily="18" charset="0"/>
                    <a:cs typeface="Tahoma"/>
                  </a:rPr>
                  <a:t>_𝑗 (𝑍_𝑗 ) 〗</a:t>
                </a:r>
                <a:r>
                  <a:rPr lang="en-MY" sz="1200" b="0" i="0" spc="10" dirty="0">
                    <a:latin typeface="Cambria Math" panose="02040503050406030204" pitchFamily="18" charset="0"/>
                    <a:cs typeface="Tahoma"/>
                  </a:rPr>
                  <a:t> </a:t>
                </a:r>
                <a:r>
                  <a:rPr lang="en-MY" sz="1200" i="0" spc="10" dirty="0">
                    <a:latin typeface="Cambria Math" panose="02040503050406030204" pitchFamily="18" charset="0"/>
                    <a:cs typeface="Tahoma"/>
                  </a:rPr>
                  <a:t> </a:t>
                </a:r>
                <a:endParaRPr lang="en-US" dirty="0"/>
              </a:p>
              <a:p>
                <a:pPr marL="742950" lvl="1" indent="-285750">
                  <a:buFont typeface="Arial" panose="020B0604020202020204" pitchFamily="34" charset="0"/>
                  <a:buChar char="•"/>
                </a:pPr>
                <a:r>
                  <a:rPr lang="en-US" dirty="0"/>
                  <a:t>This function measures the total social welfare by summing the valuations of all agents except for agent iii. It effectively captures the collective benefit derived from the allocation of goods to all agents other than iii.</a:t>
                </a:r>
              </a:p>
              <a:p>
                <a:endParaRPr dirty="0"/>
              </a:p>
            </p:txBody>
          </p:sp>
        </mc:Fallback>
      </mc:AlternateContent>
    </p:spTree>
    <p:extLst>
      <p:ext uri="{BB962C8B-B14F-4D97-AF65-F5344CB8AC3E}">
        <p14:creationId xmlns:p14="http://schemas.microsoft.com/office/powerpoint/2010/main" val="2742644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describes the step-by-step functioning of the VCG mechanism, including the simultaneous declaration of valuations, the optimization process, and the payment rule that incentivizes truthful bidding.</a:t>
                </a:r>
              </a:p>
              <a:p>
                <a:endParaRPr lang="en-US" b="0" i="0" dirty="0">
                  <a:solidFill>
                    <a:srgbClr val="E8E8E8"/>
                  </a:solidFill>
                  <a:effectLst/>
                  <a:latin typeface="Google Sans Text"/>
                </a:endParaRPr>
              </a:p>
              <a:p>
                <a:pPr marL="228600" indent="-228600">
                  <a:buFont typeface="+mj-lt"/>
                  <a:buAutoNum type="arabicPeriod"/>
                </a:pPr>
                <a:r>
                  <a:rPr lang="en-MY" b="1" dirty="0"/>
                  <a:t>Simultaneous Declarations</a:t>
                </a:r>
                <a:r>
                  <a:rPr lang="en-MY" dirty="0"/>
                  <a:t>:</a:t>
                </a:r>
              </a:p>
              <a:p>
                <a:pPr marL="742950" lvl="1" indent="-285750">
                  <a:buFont typeface="Arial" panose="020B0604020202020204" pitchFamily="34" charset="0"/>
                  <a:buChar char="•"/>
                </a:pPr>
                <a:r>
                  <a:rPr lang="en-MY" dirty="0"/>
                  <a:t>Agents simultaneously declare their valuations, denoted as </a:t>
                </a:r>
                <a14:m>
                  <m:oMath xmlns:m="http://schemas.openxmlformats.org/officeDocument/2006/math">
                    <m:sSub>
                      <m:sSubPr>
                        <m:ctrlPr>
                          <a:rPr lang="en-US" sz="1200" b="0" i="1" spc="10" smtClean="0">
                            <a:latin typeface="Cambria Math" panose="02040503050406030204" pitchFamily="18" charset="0"/>
                            <a:cs typeface="Tahoma"/>
                          </a:rPr>
                        </m:ctrlPr>
                      </m:sSubPr>
                      <m:e>
                        <m:acc>
                          <m:accPr>
                            <m:chr m:val="̂"/>
                            <m:ctrlPr>
                              <a:rPr lang="en-US" sz="1200" i="1" spc="10" smtClean="0">
                                <a:latin typeface="Cambria Math" panose="02040503050406030204" pitchFamily="18" charset="0"/>
                                <a:cs typeface="Tahoma"/>
                              </a:rPr>
                            </m:ctrlPr>
                          </m:accPr>
                          <m:e>
                            <m:r>
                              <m:rPr>
                                <m:nor/>
                              </m:rPr>
                              <a:rPr lang="en-US" sz="1200" spc="10" dirty="0">
                                <a:latin typeface="Tahoma"/>
                                <a:cs typeface="Tahoma"/>
                              </a:rPr>
                              <m:t>𝜐</m:t>
                            </m:r>
                          </m:e>
                        </m:acc>
                      </m:e>
                      <m:sub>
                        <m:r>
                          <a:rPr lang="en-US" sz="1200" b="0" i="1" spc="10" smtClean="0">
                            <a:latin typeface="Cambria Math" panose="02040503050406030204" pitchFamily="18" charset="0"/>
                            <a:cs typeface="Tahoma"/>
                          </a:rPr>
                          <m:t>𝑖</m:t>
                        </m:r>
                      </m:sub>
                    </m:sSub>
                  </m:oMath>
                </a14:m>
                <a:r>
                  <a:rPr lang="en-MY" dirty="0"/>
                  <a:t>​, which may not necessarily reflect their true valuations for the items available in the auction.</a:t>
                </a:r>
              </a:p>
              <a:p>
                <a:pPr marL="228600" indent="-228600">
                  <a:buFont typeface="+mj-lt"/>
                  <a:buAutoNum type="arabicPeriod"/>
                </a:pPr>
                <a:r>
                  <a:rPr lang="en-MY" b="1" dirty="0"/>
                  <a:t>Social Welfare Maximization</a:t>
                </a:r>
                <a:r>
                  <a:rPr lang="en-MY" dirty="0"/>
                  <a:t>:</a:t>
                </a:r>
              </a:p>
              <a:p>
                <a:pPr marL="742950" lvl="1" indent="-285750">
                  <a:buFont typeface="Arial" panose="020B0604020202020204" pitchFamily="34" charset="0"/>
                  <a:buChar char="•"/>
                </a:pPr>
                <a:r>
                  <a:rPr lang="en-MY" dirty="0"/>
                  <a:t>The VCG mechanism seeks to determine the allocation </a:t>
                </a:r>
                <a14:m>
                  <m:oMath xmlns:m="http://schemas.openxmlformats.org/officeDocument/2006/math">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oMath>
                </a14:m>
                <a:r>
                  <a:rPr lang="en-US" sz="1200" spc="10" dirty="0">
                    <a:latin typeface="Tahoma"/>
                    <a:cs typeface="Tahoma"/>
                  </a:rPr>
                  <a:t> </a:t>
                </a:r>
                <a:r>
                  <a:rPr lang="en-MY" dirty="0"/>
                  <a:t>that maximizes overall social welfare based on the declared valuations. This is expressed mathematically as:</a:t>
                </a:r>
                <a:br>
                  <a:rPr lang="en-MY" dirty="0"/>
                </a:br>
                <a:br>
                  <a:rPr lang="en-MY" dirty="0"/>
                </a:br>
                <a14:m>
                  <m:oMath xmlns:m="http://schemas.openxmlformats.org/officeDocument/2006/math">
                    <m:sSubSup>
                      <m:sSubSupPr>
                        <m:ctrlPr>
                          <a:rPr lang="en-MY" sz="1200" i="1" spc="10" dirty="0" smtClean="0">
                            <a:latin typeface="Cambria Math" panose="02040503050406030204" pitchFamily="18" charset="0"/>
                            <a:cs typeface="Tahoma"/>
                          </a:rPr>
                        </m:ctrlPr>
                      </m:sSubSup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up>
                        <m:r>
                          <a:rPr lang="en-MY" sz="1200" i="1" spc="10" dirty="0">
                            <a:latin typeface="Cambria Math" panose="02040503050406030204" pitchFamily="18" charset="0"/>
                            <a:cs typeface="Tahoma"/>
                          </a:rPr>
                          <m:t>∗</m:t>
                        </m:r>
                      </m:sup>
                    </m:sSubSup>
                    <m:r>
                      <a:rPr lang="en-MY" sz="1200" i="1" spc="10" dirty="0">
                        <a:latin typeface="Cambria Math" panose="02040503050406030204" pitchFamily="18" charset="0"/>
                        <a:cs typeface="Tahoma"/>
                      </a:rPr>
                      <m:t>, …, </m:t>
                    </m:r>
                    <m:sSubSup>
                      <m:sSubSupPr>
                        <m:ctrlPr>
                          <a:rPr lang="en-MY" sz="1200" i="1" spc="10" dirty="0" err="1">
                            <a:latin typeface="Cambria Math" panose="02040503050406030204" pitchFamily="18" charset="0"/>
                            <a:cs typeface="Tahoma"/>
                          </a:rPr>
                        </m:ctrlPr>
                      </m:sSubSup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up>
                        <m:r>
                          <a:rPr lang="en-MY" sz="1200" i="1" spc="10" dirty="0">
                            <a:latin typeface="Cambria Math" panose="02040503050406030204" pitchFamily="18" charset="0"/>
                            <a:cs typeface="Tahoma"/>
                          </a:rPr>
                          <m:t>∗</m:t>
                        </m:r>
                      </m:sup>
                    </m:sSubSup>
                    <m:r>
                      <a:rPr lang="en-MY" sz="1200" i="1" spc="10" dirty="0">
                        <a:latin typeface="Cambria Math" panose="02040503050406030204" pitchFamily="18" charset="0"/>
                        <a:cs typeface="Tahoma"/>
                      </a:rPr>
                      <m:t>=</m:t>
                    </m:r>
                    <m:func>
                      <m:funcPr>
                        <m:ctrlPr>
                          <a:rPr lang="en-MY" sz="1200" i="1" spc="10" dirty="0">
                            <a:latin typeface="Cambria Math" panose="02040503050406030204" pitchFamily="18" charset="0"/>
                            <a:cs typeface="Tahoma"/>
                          </a:rPr>
                        </m:ctrlPr>
                      </m:funcPr>
                      <m:fName>
                        <m:limLow>
                          <m:limLowPr>
                            <m:ctrlPr>
                              <a:rPr lang="en-MY" sz="1200" i="1" spc="10" dirty="0">
                                <a:latin typeface="Cambria Math" panose="02040503050406030204" pitchFamily="18" charset="0"/>
                                <a:cs typeface="Tahoma"/>
                              </a:rPr>
                            </m:ctrlPr>
                          </m:limLowPr>
                          <m:e>
                            <m:r>
                              <m:rPr>
                                <m:sty m:val="p"/>
                              </m:rPr>
                              <a:rPr lang="en-US" sz="1200" spc="10" dirty="0">
                                <a:latin typeface="Cambria Math" panose="02040503050406030204" pitchFamily="18" charset="0"/>
                                <a:cs typeface="Tahoma"/>
                              </a:rPr>
                              <m:t>arg</m:t>
                            </m:r>
                            <m:r>
                              <m:rPr>
                                <m:sty m:val="p"/>
                              </m:rPr>
                              <a:rPr lang="en-MY" sz="1200" spc="10" dirty="0">
                                <a:latin typeface="Cambria Math" panose="02040503050406030204" pitchFamily="18" charset="0"/>
                                <a:cs typeface="Tahoma"/>
                              </a:rPr>
                              <m:t>max</m:t>
                            </m:r>
                          </m:e>
                          <m:lim>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 …, </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𝑛</m:t>
                                    </m:r>
                                  </m:sub>
                                </m:sSub>
                              </m:e>
                            </m:d>
                            <m:r>
                              <a:rPr lang="en-US" sz="1200" i="1" spc="10" dirty="0">
                                <a:latin typeface="Cambria Math" panose="02040503050406030204" pitchFamily="18" charset="0"/>
                                <a:cs typeface="Tahoma"/>
                              </a:rPr>
                              <m:t>∈</m:t>
                            </m:r>
                            <m:r>
                              <a:rPr lang="en-US" sz="1200" i="1" spc="10" dirty="0">
                                <a:latin typeface="Cambria Math" panose="02040503050406030204" pitchFamily="18" charset="0"/>
                                <a:cs typeface="Tahoma"/>
                              </a:rPr>
                              <m:t>𝑎𝑙𝑙𝑜𝑐</m:t>
                            </m:r>
                            <m:d>
                              <m:dPr>
                                <m:ctrlPr>
                                  <a:rPr lang="en-US" sz="1200" i="1" spc="10" dirty="0">
                                    <a:latin typeface="Cambria Math" panose="02040503050406030204" pitchFamily="18" charset="0"/>
                                    <a:cs typeface="Tahoma"/>
                                  </a:rPr>
                                </m:ctrlPr>
                              </m:dPr>
                              <m:e>
                                <m:r>
                                  <a:rPr lang="en-US" sz="1200" i="1" spc="10" dirty="0">
                                    <a:latin typeface="Cambria Math" panose="02040503050406030204" pitchFamily="18" charset="0"/>
                                    <a:ea typeface="Cambria Math" panose="02040503050406030204" pitchFamily="18" charset="0"/>
                                    <a:cs typeface="Tahoma"/>
                                  </a:rPr>
                                  <m:t>𝒵</m:t>
                                </m:r>
                                <m:r>
                                  <a:rPr lang="en-US" sz="1200" i="1" spc="10" dirty="0">
                                    <a:latin typeface="Cambria Math" panose="02040503050406030204" pitchFamily="18" charset="0"/>
                                    <a:ea typeface="Cambria Math" panose="02040503050406030204" pitchFamily="18" charset="0"/>
                                    <a:cs typeface="Tahoma"/>
                                  </a:rPr>
                                  <m:t>, </m:t>
                                </m:r>
                                <m:r>
                                  <a:rPr lang="en-US" sz="1200" i="1" spc="10" dirty="0">
                                    <a:latin typeface="Cambria Math" panose="02040503050406030204" pitchFamily="18" charset="0"/>
                                    <a:ea typeface="Cambria Math" panose="02040503050406030204" pitchFamily="18" charset="0"/>
                                    <a:cs typeface="Tahoma"/>
                                  </a:rPr>
                                  <m:t>𝐴𝑔</m:t>
                                </m:r>
                              </m:e>
                            </m:d>
                          </m:lim>
                        </m:limLow>
                      </m:fName>
                      <m:e>
                        <m:r>
                          <a:rPr lang="en-MY" sz="1200" i="1" spc="10" dirty="0">
                            <a:latin typeface="Cambria Math" panose="02040503050406030204" pitchFamily="18" charset="0"/>
                            <a:cs typeface="Tahoma"/>
                          </a:rPr>
                          <m:t>𝑠𝑤</m:t>
                        </m:r>
                        <m:d>
                          <m:dPr>
                            <m:ctrlPr>
                              <a:rPr lang="en-MY" sz="1200" i="1" spc="10" dirty="0">
                                <a:latin typeface="Cambria Math" panose="02040503050406030204" pitchFamily="18" charset="0"/>
                                <a:cs typeface="Tahoma"/>
                              </a:rPr>
                            </m:ctrlPr>
                          </m:dPr>
                          <m:e>
                            <m:sSub>
                              <m:sSubPr>
                                <m:ctrlPr>
                                  <a:rPr lang="en-MY" sz="1200" i="1" spc="10" dirty="0">
                                    <a:latin typeface="Cambria Math" panose="02040503050406030204" pitchFamily="18" charset="0"/>
                                    <a:cs typeface="Tahoma"/>
                                  </a:rPr>
                                </m:ctrlPr>
                              </m:sSub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Sub>
                            <m:r>
                              <a:rPr lang="en-MY" sz="1200" i="1" spc="10" dirty="0">
                                <a:latin typeface="Cambria Math" panose="02040503050406030204" pitchFamily="18" charset="0"/>
                                <a:cs typeface="Tahoma"/>
                              </a:rPr>
                              <m:t>, …, </m:t>
                            </m:r>
                            <m:sSub>
                              <m:sSubPr>
                                <m:ctrlPr>
                                  <a:rPr lang="en-MY" sz="1200" i="1" spc="10" dirty="0" err="1">
                                    <a:latin typeface="Cambria Math" panose="02040503050406030204" pitchFamily="18" charset="0"/>
                                    <a:cs typeface="Tahoma"/>
                                  </a:rPr>
                                </m:ctrlPr>
                              </m:sSub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Sub>
                            <m:r>
                              <a:rPr lang="en-US" sz="1200" i="1" spc="10" dirty="0">
                                <a:latin typeface="Cambria Math" panose="02040503050406030204" pitchFamily="18" charset="0"/>
                                <a:cs typeface="Tahoma"/>
                              </a:rPr>
                              <m:t>,</m:t>
                            </m:r>
                            <m:sSub>
                              <m:sSubPr>
                                <m:ctrlPr>
                                  <a:rPr lang="en-US" sz="1200" i="1" spc="10" dirty="0" smtClean="0">
                                    <a:latin typeface="Cambria Math" panose="02040503050406030204" pitchFamily="18" charset="0"/>
                                    <a:cs typeface="Tahoma"/>
                                  </a:rPr>
                                </m:ctrlPr>
                              </m:sSubPr>
                              <m:e>
                                <m:acc>
                                  <m:accPr>
                                    <m:chr m:val="̂"/>
                                    <m:ctrlPr>
                                      <a:rPr lang="en-US" sz="1200" i="1" spc="10" dirty="0" smtClean="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b="0" i="1" spc="10" dirty="0" smtClean="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b="0" i="1" spc="10" dirty="0" smtClean="0">
                                    <a:latin typeface="Cambria Math" panose="02040503050406030204" pitchFamily="18" charset="0"/>
                                    <a:cs typeface="Tahoma"/>
                                  </a:rPr>
                                  <m:t>𝑖</m:t>
                                </m:r>
                              </m:sub>
                            </m:sSub>
                            <m:r>
                              <a:rPr lang="en-US" sz="1200" b="0" i="1" spc="10" dirty="0" smtClean="0">
                                <a:latin typeface="Cambria Math" panose="02040503050406030204" pitchFamily="18" charset="0"/>
                                <a:cs typeface="Tahoma"/>
                              </a:rPr>
                              <m:t>, …,</m:t>
                            </m:r>
                            <m:sSub>
                              <m:sSubPr>
                                <m:ctrlPr>
                                  <a:rPr lang="en-US" sz="1200" i="1" spc="10" dirty="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𝑛</m:t>
                                </m:r>
                              </m:sub>
                            </m:sSub>
                          </m:e>
                        </m:d>
                      </m:e>
                    </m:func>
                  </m:oMath>
                </a14:m>
                <a:r>
                  <a:rPr lang="en-MY" dirty="0"/>
                  <a:t> </a:t>
                </a:r>
              </a:p>
              <a:p>
                <a:pPr marL="742950" lvl="1" indent="-285750">
                  <a:buFont typeface="Arial" panose="020B0604020202020204" pitchFamily="34" charset="0"/>
                  <a:buChar char="•"/>
                </a:pPr>
                <a:endParaRPr lang="en-MY" dirty="0"/>
              </a:p>
              <a:p>
                <a:pPr marL="742950" lvl="1" indent="-285750">
                  <a:buFont typeface="Arial" panose="020B0604020202020204" pitchFamily="34" charset="0"/>
                  <a:buChar char="•"/>
                </a:pPr>
                <a:r>
                  <a:rPr lang="en-MY" dirty="0"/>
                  <a:t>Here, </a:t>
                </a:r>
                <a14:m>
                  <m:oMath xmlns:m="http://schemas.openxmlformats.org/officeDocument/2006/math">
                    <m:r>
                      <a:rPr lang="en-US" sz="1200" i="1" spc="10" dirty="0" smtClean="0">
                        <a:latin typeface="Cambria Math" panose="02040503050406030204" pitchFamily="18" charset="0"/>
                        <a:cs typeface="Tahoma"/>
                      </a:rPr>
                      <m:t>𝑎𝑙𝑙𝑜𝑐</m:t>
                    </m:r>
                    <m:d>
                      <m:dPr>
                        <m:ctrlPr>
                          <a:rPr lang="en-US" sz="1200" i="1" spc="10" dirty="0">
                            <a:latin typeface="Cambria Math" panose="02040503050406030204" pitchFamily="18" charset="0"/>
                            <a:cs typeface="Tahoma"/>
                          </a:rPr>
                        </m:ctrlPr>
                      </m:dPr>
                      <m:e>
                        <m:r>
                          <a:rPr lang="en-US" sz="1200" i="1" spc="10" dirty="0">
                            <a:latin typeface="Cambria Math" panose="02040503050406030204" pitchFamily="18" charset="0"/>
                            <a:ea typeface="Cambria Math" panose="02040503050406030204" pitchFamily="18" charset="0"/>
                            <a:cs typeface="Tahoma"/>
                          </a:rPr>
                          <m:t>𝒵</m:t>
                        </m:r>
                        <m:r>
                          <a:rPr lang="en-US" sz="1200" i="1" spc="10" dirty="0">
                            <a:latin typeface="Cambria Math" panose="02040503050406030204" pitchFamily="18" charset="0"/>
                            <a:ea typeface="Cambria Math" panose="02040503050406030204" pitchFamily="18" charset="0"/>
                            <a:cs typeface="Tahoma"/>
                          </a:rPr>
                          <m:t>, </m:t>
                        </m:r>
                        <m:r>
                          <a:rPr lang="en-US" sz="1200" i="1" spc="10" dirty="0">
                            <a:latin typeface="Cambria Math" panose="02040503050406030204" pitchFamily="18" charset="0"/>
                            <a:ea typeface="Cambria Math" panose="02040503050406030204" pitchFamily="18" charset="0"/>
                            <a:cs typeface="Tahoma"/>
                          </a:rPr>
                          <m:t>𝐴𝑔</m:t>
                        </m:r>
                      </m:e>
                    </m:d>
                  </m:oMath>
                </a14:m>
                <a:r>
                  <a:rPr lang="en-MY" dirty="0"/>
                  <a:t> represents the set of all possible allocations of the items to agents, and </a:t>
                </a:r>
                <a14:m>
                  <m:oMath xmlns:m="http://schemas.openxmlformats.org/officeDocument/2006/math">
                    <m:r>
                      <a:rPr lang="en-MY" i="1" dirty="0" smtClean="0">
                        <a:latin typeface="Cambria Math" panose="02040503050406030204" pitchFamily="18" charset="0"/>
                      </a:rPr>
                      <m:t>𝑠𝑤</m:t>
                    </m:r>
                  </m:oMath>
                </a14:m>
                <a:r>
                  <a:rPr lang="en-MY" dirty="0"/>
                  <a:t> is the social welfare function that sums up the valuations of all agents for the allocated bundles.</a:t>
                </a:r>
              </a:p>
              <a:p>
                <a:pPr marL="228600" indent="-228600">
                  <a:buFont typeface="+mj-lt"/>
                  <a:buAutoNum type="arabicPeriod"/>
                </a:pPr>
                <a:r>
                  <a:rPr lang="en-MY" b="1" dirty="0"/>
                  <a:t>Payment Rule</a:t>
                </a:r>
                <a:r>
                  <a:rPr lang="en-MY" dirty="0"/>
                  <a:t>:</a:t>
                </a:r>
              </a:p>
              <a:p>
                <a:pPr marL="742950" lvl="1" indent="-285750">
                  <a:buFont typeface="Arial" panose="020B0604020202020204" pitchFamily="34" charset="0"/>
                  <a:buChar char="•"/>
                </a:pPr>
                <a:r>
                  <a:rPr lang="en-MY" dirty="0"/>
                  <a:t>Each agent </a:t>
                </a:r>
                <a14:m>
                  <m:oMath xmlns:m="http://schemas.openxmlformats.org/officeDocument/2006/math">
                    <m:r>
                      <a:rPr lang="en-MY" i="1" dirty="0" smtClean="0">
                        <a:latin typeface="Cambria Math" panose="02040503050406030204" pitchFamily="18" charset="0"/>
                      </a:rPr>
                      <m:t>𝑖</m:t>
                    </m:r>
                  </m:oMath>
                </a14:m>
                <a:r>
                  <a:rPr lang="en-MY" dirty="0"/>
                  <a:t> is required to pay an amount based on the social welfare derived from the allocations. The payment for agent </a:t>
                </a:r>
                <a14:m>
                  <m:oMath xmlns:m="http://schemas.openxmlformats.org/officeDocument/2006/math">
                    <m:r>
                      <a:rPr lang="en-MY" i="1" dirty="0" smtClean="0">
                        <a:latin typeface="Cambria Math" panose="02040503050406030204" pitchFamily="18" charset="0"/>
                      </a:rPr>
                      <m:t>𝑖</m:t>
                    </m:r>
                  </m:oMath>
                </a14:m>
                <a:r>
                  <a:rPr lang="en-MY" dirty="0"/>
                  <a:t> is calculated as follows:</a:t>
                </a:r>
                <a:br>
                  <a:rPr lang="en-MY"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sz="1200" i="1" spc="10" dirty="0" smtClean="0">
                        <a:latin typeface="Cambria Math" panose="02040503050406030204" pitchFamily="18" charset="0"/>
                        <a:cs typeface="Tahoma"/>
                      </a:rPr>
                      <m:t>(</m:t>
                    </m:r>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r>
                      <a:rPr lang="en-US" sz="1200" b="0" i="1" spc="10" dirty="0" smtClean="0">
                        <a:latin typeface="Cambria Math" panose="02040503050406030204" pitchFamily="18" charset="0"/>
                        <a:cs typeface="Tahoma"/>
                      </a:rPr>
                      <m:t>,</m:t>
                    </m:r>
                    <m:sSub>
                      <m:sSubPr>
                        <m:ctrlPr>
                          <a:rPr lang="en-US" sz="1200" i="1" spc="10" dirty="0" smtClean="0">
                            <a:latin typeface="Cambria Math" panose="02040503050406030204" pitchFamily="18" charset="0"/>
                            <a:cs typeface="Tahoma"/>
                          </a:rPr>
                        </m:ctrlPr>
                      </m:sSubPr>
                      <m:e>
                        <m:acc>
                          <m:accPr>
                            <m:chr m:val="̂"/>
                            <m:ctrlPr>
                              <a:rPr lang="en-US" sz="1200" i="1" spc="10" dirty="0" smtClean="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p>
                      <m:sSupPr>
                        <m:ctrlPr>
                          <a:rPr lang="en-US" sz="1200" b="0" i="1" spc="10" dirty="0" smtClean="0">
                            <a:latin typeface="Cambria Math" panose="02040503050406030204" pitchFamily="18" charset="0"/>
                            <a:cs typeface="Tahoma"/>
                          </a:rPr>
                        </m:ctrlPr>
                      </m:sSupPr>
                      <m:e>
                        <m:r>
                          <a:rPr lang="en-MY" sz="1200" i="1" spc="10" dirty="0" smtClean="0">
                            <a:latin typeface="Cambria Math" panose="02040503050406030204" pitchFamily="18" charset="0"/>
                            <a:cs typeface="Tahoma"/>
                          </a:rPr>
                          <m:t>𝜐</m:t>
                        </m:r>
                      </m:e>
                      <m:sup>
                        <m:r>
                          <a:rPr lang="en-US" sz="1200" b="0" i="1" spc="10" dirty="0" smtClean="0">
                            <a:latin typeface="Cambria Math" panose="02040503050406030204" pitchFamily="18" charset="0"/>
                            <a:cs typeface="Tahoma"/>
                          </a:rPr>
                          <m:t>0</m:t>
                        </m:r>
                      </m:sup>
                    </m:sSup>
                    <m:r>
                      <a:rPr lang="en-US" sz="1200" b="0" i="1" spc="10" dirty="0" smtClean="0">
                        <a:latin typeface="Cambria Math" panose="02040503050406030204" pitchFamily="18" charset="0"/>
                        <a:cs typeface="Tahoma"/>
                      </a:rPr>
                      <m:t>, …,</m:t>
                    </m:r>
                    <m:sSub>
                      <m:sSubPr>
                        <m:ctrlPr>
                          <a:rPr lang="en-US" sz="1200" i="1" spc="10" dirty="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𝑛</m:t>
                        </m:r>
                      </m:sub>
                    </m:sSub>
                    <m:r>
                      <a:rPr lang="en-US" sz="1200" i="1" spc="10" dirty="0" smtClean="0">
                        <a:latin typeface="Cambria Math" panose="02040503050406030204" pitchFamily="18" charset="0"/>
                        <a:cs typeface="Tahoma"/>
                      </a:rPr>
                      <m:t>) − </m:t>
                    </m:r>
                    <m:r>
                      <a:rPr lang="en-US" sz="1200" i="1" spc="10" dirty="0" err="1" smtClean="0">
                        <a:latin typeface="Cambria Math" panose="02040503050406030204" pitchFamily="18" charset="0"/>
                        <a:cs typeface="Tahoma"/>
                      </a:rPr>
                      <m:t>𝑠</m:t>
                    </m:r>
                    <m:sSub>
                      <m:sSubPr>
                        <m:ctrlPr>
                          <a:rPr lang="en-US" sz="1200" i="1" spc="10" dirty="0"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𝑤</m:t>
                        </m:r>
                      </m:e>
                      <m:sub>
                        <m:r>
                          <a:rPr lang="en-US" sz="1200" i="1" spc="10" dirty="0" smtClean="0">
                            <a:latin typeface="Cambria Math" panose="02040503050406030204" pitchFamily="18" charset="0"/>
                            <a:cs typeface="Tahoma"/>
                          </a:rPr>
                          <m:t>−</m:t>
                        </m:r>
                        <m:r>
                          <a:rPr lang="en-US" sz="1200" i="1" spc="10" dirty="0" err="1" smtClean="0">
                            <a:latin typeface="Cambria Math" panose="02040503050406030204" pitchFamily="18" charset="0"/>
                            <a:cs typeface="Tahoma"/>
                          </a:rPr>
                          <m:t>𝑖</m:t>
                        </m:r>
                      </m:sub>
                    </m:sSub>
                    <m:r>
                      <a:rPr lang="en-US" sz="1200" i="1" spc="10" dirty="0" smtClean="0">
                        <a:latin typeface="Cambria Math" panose="02040503050406030204" pitchFamily="18" charset="0"/>
                        <a:cs typeface="Tahoma"/>
                      </a:rPr>
                      <m:t>(</m:t>
                    </m:r>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r>
                      <a:rPr lang="en-US" sz="1200" b="0" i="1" spc="10" dirty="0" smtClean="0">
                        <a:latin typeface="Cambria Math" panose="02040503050406030204" pitchFamily="18" charset="0"/>
                        <a:cs typeface="Tahoma"/>
                      </a:rPr>
                      <m:t>,</m:t>
                    </m:r>
                    <m:sSub>
                      <m:sSubPr>
                        <m:ctrlPr>
                          <a:rPr lang="en-US" sz="1200" i="1" spc="10" dirty="0" smtClean="0">
                            <a:latin typeface="Cambria Math" panose="02040503050406030204" pitchFamily="18" charset="0"/>
                            <a:cs typeface="Tahoma"/>
                          </a:rPr>
                        </m:ctrlPr>
                      </m:sSubPr>
                      <m:e>
                        <m:acc>
                          <m:accPr>
                            <m:chr m:val="̂"/>
                            <m:ctrlPr>
                              <a:rPr lang="en-US" sz="1200" i="1" spc="10" dirty="0" smtClean="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b>
                      <m:sSubPr>
                        <m:ctrlPr>
                          <a:rPr lang="en-US" sz="1200" b="0" i="1" spc="10" dirty="0" smtClean="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b="0" i="1" spc="10" dirty="0" smtClean="0">
                            <a:latin typeface="Cambria Math" panose="02040503050406030204" pitchFamily="18" charset="0"/>
                            <a:cs typeface="Tahoma"/>
                          </a:rPr>
                          <m:t>𝑖</m:t>
                        </m:r>
                      </m:sub>
                    </m:sSub>
                    <m:r>
                      <a:rPr lang="en-US" sz="1200" b="0" i="1" spc="10" dirty="0" smtClean="0">
                        <a:latin typeface="Cambria Math" panose="02040503050406030204" pitchFamily="18" charset="0"/>
                        <a:cs typeface="Tahoma"/>
                      </a:rPr>
                      <m:t>, …,</m:t>
                    </m:r>
                    <m:sSub>
                      <m:sSubPr>
                        <m:ctrlPr>
                          <a:rPr lang="en-US" sz="1200" i="1" spc="10" dirty="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𝑛</m:t>
                        </m:r>
                      </m:sub>
                    </m:sSub>
                    <m:r>
                      <a:rPr lang="en-US" sz="1200" i="1" spc="10" dirty="0" smtClean="0">
                        <a:latin typeface="Cambria Math" panose="02040503050406030204" pitchFamily="18" charset="0"/>
                        <a:cs typeface="Tahoma"/>
                      </a:rPr>
                      <m:t>)</m:t>
                    </m:r>
                  </m:oMath>
                </a14:m>
                <a:endParaRPr lang="en-MY" dirty="0"/>
              </a:p>
              <a:p>
                <a:pPr marL="457200" lvl="1" indent="0">
                  <a:buFont typeface="Arial" panose="020B0604020202020204" pitchFamily="34" charset="0"/>
                  <a:buNone/>
                </a:pPr>
                <a:endParaRPr lang="en-MY" dirty="0"/>
              </a:p>
              <a:p>
                <a:pPr marL="742950" lvl="1" indent="-285750" algn="l">
                  <a:buFont typeface="Arial" panose="020B0604020202020204" pitchFamily="34" charset="0"/>
                  <a:buChar char="•"/>
                </a:pPr>
                <a:r>
                  <a:rPr lang="en-MY" dirty="0"/>
                  <a:t>In this equation, </a:t>
                </a:r>
                <a14:m>
                  <m:oMath xmlns:m="http://schemas.openxmlformats.org/officeDocument/2006/math">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oMath>
                </a14:m>
                <a:r>
                  <a:rPr lang="en-MY" dirty="0"/>
                  <a:t> represents the allocation that would maximize social welfare if agent </a:t>
                </a:r>
                <a14:m>
                  <m:oMath xmlns:m="http://schemas.openxmlformats.org/officeDocument/2006/math">
                    <m:r>
                      <a:rPr lang="en-MY" i="1" dirty="0" smtClean="0">
                        <a:latin typeface="Cambria Math" panose="02040503050406030204" pitchFamily="18" charset="0"/>
                      </a:rPr>
                      <m:t>𝑖</m:t>
                    </m:r>
                  </m:oMath>
                </a14:m>
                <a:r>
                  <a:rPr lang="en-MY" dirty="0"/>
                  <a:t> declared the indifferent valuation function </a:t>
                </a:r>
                <a14:m>
                  <m:oMath xmlns:m="http://schemas.openxmlformats.org/officeDocument/2006/math">
                    <m:sSup>
                      <m:sSupPr>
                        <m:ctrlPr>
                          <a:rPr lang="en-US" sz="1200" b="0" i="1" spc="10" dirty="0" smtClean="0">
                            <a:latin typeface="Cambria Math" panose="02040503050406030204" pitchFamily="18" charset="0"/>
                            <a:cs typeface="Tahoma"/>
                          </a:rPr>
                        </m:ctrlPr>
                      </m:sSupPr>
                      <m:e>
                        <m:r>
                          <a:rPr lang="en-US" sz="1200" i="1" spc="10" dirty="0" smtClean="0">
                            <a:latin typeface="Cambria Math" panose="02040503050406030204" pitchFamily="18" charset="0"/>
                            <a:cs typeface="Tahoma"/>
                          </a:rPr>
                          <m:t>𝑣</m:t>
                        </m:r>
                      </m:e>
                      <m:sup>
                        <m:r>
                          <a:rPr lang="en-US" sz="1200" i="1" spc="10" dirty="0" smtClean="0">
                            <a:latin typeface="Cambria Math" panose="02040503050406030204" pitchFamily="18" charset="0"/>
                            <a:cs typeface="Tahoma"/>
                          </a:rPr>
                          <m:t>0</m:t>
                        </m:r>
                      </m:sup>
                    </m:sSup>
                    <m:r>
                      <a:rPr lang="en-US" sz="1200" i="1" spc="10" dirty="0" smtClean="0">
                        <a:latin typeface="Cambria Math" panose="02040503050406030204" pitchFamily="18" charset="0"/>
                        <a:cs typeface="Tahoma"/>
                      </a:rPr>
                      <m:t> </m:t>
                    </m:r>
                  </m:oMath>
                </a14:m>
                <a:r>
                  <a:rPr lang="en-MY" dirty="0"/>
                  <a:t>(which yields zero valuation for all bundles). The payment reflects the difference in social welfare caused by agent </a:t>
                </a:r>
                <a14:m>
                  <m:oMath xmlns:m="http://schemas.openxmlformats.org/officeDocument/2006/math">
                    <m:r>
                      <a:rPr lang="en-MY" i="1" dirty="0" smtClean="0">
                        <a:latin typeface="Cambria Math" panose="02040503050406030204" pitchFamily="18" charset="0"/>
                      </a:rPr>
                      <m:t>𝑖</m:t>
                    </m:r>
                  </m:oMath>
                </a14:m>
                <a:r>
                  <a:rPr lang="en-MY" dirty="0"/>
                  <a:t>'s participation, incentivizing agents to report their true valuations.</a:t>
                </a:r>
                <a:br>
                  <a:rPr lang="en-MY" dirty="0"/>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𝑍</m:t>
                        </m:r>
                      </m:e>
                      <m:sub>
                        <m:r>
                          <a:rPr lang="en-US" b="0" i="1" smtClean="0">
                            <a:latin typeface="Cambria Math" panose="02040503050406030204" pitchFamily="18" charset="0"/>
                          </a:rPr>
                          <m:t>𝑛</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unc>
                      <m:funcPr>
                        <m:ctrlPr>
                          <a:rPr lang="en-MY" sz="1200" i="1" spc="10" dirty="0" smtClean="0">
                            <a:latin typeface="Cambria Math" panose="02040503050406030204" pitchFamily="18" charset="0"/>
                            <a:cs typeface="Tahoma"/>
                          </a:rPr>
                        </m:ctrlPr>
                      </m:funcPr>
                      <m:fName>
                        <m:limLow>
                          <m:limLowPr>
                            <m:ctrlPr>
                              <a:rPr lang="en-MY" sz="1200" i="1" spc="10" dirty="0">
                                <a:latin typeface="Cambria Math" panose="02040503050406030204" pitchFamily="18" charset="0"/>
                                <a:cs typeface="Tahoma"/>
                              </a:rPr>
                            </m:ctrlPr>
                          </m:limLowPr>
                          <m:e>
                            <m:r>
                              <m:rPr>
                                <m:sty m:val="p"/>
                              </m:rPr>
                              <a:rPr lang="en-US" sz="1200" spc="10" dirty="0">
                                <a:latin typeface="Cambria Math" panose="02040503050406030204" pitchFamily="18" charset="0"/>
                                <a:cs typeface="Tahoma"/>
                              </a:rPr>
                              <m:t>arg</m:t>
                            </m:r>
                            <m:r>
                              <m:rPr>
                                <m:sty m:val="p"/>
                              </m:rPr>
                              <a:rPr lang="en-MY" sz="1200" spc="10" dirty="0">
                                <a:latin typeface="Cambria Math" panose="02040503050406030204" pitchFamily="18" charset="0"/>
                                <a:cs typeface="Tahoma"/>
                              </a:rPr>
                              <m:t>max</m:t>
                            </m:r>
                          </m:e>
                          <m:lim>
                            <m:d>
                              <m:dPr>
                                <m:ctrlPr>
                                  <a:rPr lang="en-US" sz="1200" i="1" spc="10" dirty="0">
                                    <a:latin typeface="Cambria Math" panose="02040503050406030204" pitchFamily="18" charset="0"/>
                                    <a:cs typeface="Tahoma"/>
                                  </a:rPr>
                                </m:ctrlPr>
                              </m:dPr>
                              <m:e>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 …, </m:t>
                                </m:r>
                                <m:sSub>
                                  <m:sSubPr>
                                    <m:ctrlPr>
                                      <a:rPr lang="en-US" sz="1200" i="1" spc="10" dirty="0">
                                        <a:latin typeface="Cambria Math" panose="02040503050406030204" pitchFamily="18" charset="0"/>
                                        <a:cs typeface="Tahoma"/>
                                      </a:rPr>
                                    </m:ctrlPr>
                                  </m:sSubPr>
                                  <m:e>
                                    <m:r>
                                      <a:rPr lang="en-US" sz="1200" i="1" spc="10" dirty="0">
                                        <a:latin typeface="Cambria Math" panose="02040503050406030204" pitchFamily="18" charset="0"/>
                                        <a:cs typeface="Tahoma"/>
                                      </a:rPr>
                                      <m:t>𝑍</m:t>
                                    </m:r>
                                  </m:e>
                                  <m:sub>
                                    <m:r>
                                      <a:rPr lang="en-US" sz="1200" i="1" spc="10" dirty="0">
                                        <a:latin typeface="Cambria Math" panose="02040503050406030204" pitchFamily="18" charset="0"/>
                                        <a:cs typeface="Tahoma"/>
                                      </a:rPr>
                                      <m:t>𝑛</m:t>
                                    </m:r>
                                  </m:sub>
                                </m:sSub>
                              </m:e>
                            </m:d>
                            <m:r>
                              <a:rPr lang="en-US" sz="1200" i="1" spc="10" dirty="0">
                                <a:latin typeface="Cambria Math" panose="02040503050406030204" pitchFamily="18" charset="0"/>
                                <a:cs typeface="Tahoma"/>
                              </a:rPr>
                              <m:t>∈</m:t>
                            </m:r>
                            <m:r>
                              <a:rPr lang="en-US" sz="1200" i="1" spc="10" dirty="0">
                                <a:latin typeface="Cambria Math" panose="02040503050406030204" pitchFamily="18" charset="0"/>
                                <a:cs typeface="Tahoma"/>
                              </a:rPr>
                              <m:t>𝑎𝑙𝑙𝑜𝑐</m:t>
                            </m:r>
                            <m:d>
                              <m:dPr>
                                <m:ctrlPr>
                                  <a:rPr lang="en-US" sz="1200" i="1" spc="10" dirty="0">
                                    <a:latin typeface="Cambria Math" panose="02040503050406030204" pitchFamily="18" charset="0"/>
                                    <a:cs typeface="Tahoma"/>
                                  </a:rPr>
                                </m:ctrlPr>
                              </m:dPr>
                              <m:e>
                                <m:r>
                                  <a:rPr lang="en-US" sz="1200" i="1" spc="10" dirty="0">
                                    <a:latin typeface="Cambria Math" panose="02040503050406030204" pitchFamily="18" charset="0"/>
                                    <a:ea typeface="Cambria Math" panose="02040503050406030204" pitchFamily="18" charset="0"/>
                                    <a:cs typeface="Tahoma"/>
                                  </a:rPr>
                                  <m:t>𝒵</m:t>
                                </m:r>
                                <m:r>
                                  <a:rPr lang="en-US" sz="1200" i="1" spc="10" dirty="0">
                                    <a:latin typeface="Cambria Math" panose="02040503050406030204" pitchFamily="18" charset="0"/>
                                    <a:ea typeface="Cambria Math" panose="02040503050406030204" pitchFamily="18" charset="0"/>
                                    <a:cs typeface="Tahoma"/>
                                  </a:rPr>
                                  <m:t>, </m:t>
                                </m:r>
                                <m:r>
                                  <a:rPr lang="en-US" sz="1200" i="1" spc="10" dirty="0">
                                    <a:latin typeface="Cambria Math" panose="02040503050406030204" pitchFamily="18" charset="0"/>
                                    <a:ea typeface="Cambria Math" panose="02040503050406030204" pitchFamily="18" charset="0"/>
                                    <a:cs typeface="Tahoma"/>
                                  </a:rPr>
                                  <m:t>𝐴𝑔</m:t>
                                </m:r>
                              </m:e>
                            </m:d>
                          </m:lim>
                        </m:limLow>
                      </m:fName>
                      <m:e>
                        <m:r>
                          <a:rPr lang="en-MY" sz="1200" i="1" spc="10" dirty="0">
                            <a:latin typeface="Cambria Math" panose="02040503050406030204" pitchFamily="18" charset="0"/>
                            <a:cs typeface="Tahoma"/>
                          </a:rPr>
                          <m:t>𝑠𝑤</m:t>
                        </m:r>
                        <m:d>
                          <m:dPr>
                            <m:ctrlPr>
                              <a:rPr lang="en-MY" sz="1200" i="1" spc="10" dirty="0">
                                <a:latin typeface="Cambria Math" panose="02040503050406030204" pitchFamily="18" charset="0"/>
                                <a:cs typeface="Tahoma"/>
                              </a:rPr>
                            </m:ctrlPr>
                          </m:dPr>
                          <m:e>
                            <m:sSub>
                              <m:sSubPr>
                                <m:ctrlPr>
                                  <a:rPr lang="en-MY" sz="1200" i="1" spc="10" dirty="0">
                                    <a:latin typeface="Cambria Math" panose="02040503050406030204" pitchFamily="18" charset="0"/>
                                    <a:cs typeface="Tahoma"/>
                                  </a:rPr>
                                </m:ctrlPr>
                              </m:sSubPr>
                              <m:e>
                                <m:r>
                                  <a:rPr lang="en-MY" sz="1200" i="1" spc="10" dirty="0">
                                    <a:latin typeface="Cambria Math" panose="02040503050406030204" pitchFamily="18" charset="0"/>
                                    <a:cs typeface="Tahoma"/>
                                  </a:rPr>
                                  <m:t>𝑍</m:t>
                                </m:r>
                              </m:e>
                              <m:sub>
                                <m:r>
                                  <a:rPr lang="en-MY" sz="1200" i="1" spc="10" dirty="0">
                                    <a:latin typeface="Cambria Math" panose="02040503050406030204" pitchFamily="18" charset="0"/>
                                    <a:cs typeface="Tahoma"/>
                                  </a:rPr>
                                  <m:t>1</m:t>
                                </m:r>
                              </m:sub>
                            </m:sSub>
                            <m:r>
                              <a:rPr lang="en-MY" sz="1200" i="1" spc="10" dirty="0">
                                <a:latin typeface="Cambria Math" panose="02040503050406030204" pitchFamily="18" charset="0"/>
                                <a:cs typeface="Tahoma"/>
                              </a:rPr>
                              <m:t>, …, </m:t>
                            </m:r>
                            <m:sSub>
                              <m:sSubPr>
                                <m:ctrlPr>
                                  <a:rPr lang="en-MY" sz="1200" i="1" spc="10" dirty="0" err="1">
                                    <a:latin typeface="Cambria Math" panose="02040503050406030204" pitchFamily="18" charset="0"/>
                                    <a:cs typeface="Tahoma"/>
                                  </a:rPr>
                                </m:ctrlPr>
                              </m:sSubPr>
                              <m:e>
                                <m:r>
                                  <a:rPr lang="en-MY" sz="1200" i="1" spc="10" dirty="0" err="1">
                                    <a:latin typeface="Cambria Math" panose="02040503050406030204" pitchFamily="18" charset="0"/>
                                    <a:cs typeface="Tahoma"/>
                                  </a:rPr>
                                  <m:t>𝑍</m:t>
                                </m:r>
                              </m:e>
                              <m:sub>
                                <m:r>
                                  <a:rPr lang="en-MY" sz="1200" i="1" spc="10" dirty="0" err="1">
                                    <a:latin typeface="Cambria Math" panose="02040503050406030204" pitchFamily="18" charset="0"/>
                                    <a:cs typeface="Tahoma"/>
                                  </a:rPr>
                                  <m:t>𝑛</m:t>
                                </m:r>
                              </m:sub>
                            </m:sSub>
                            <m:r>
                              <a:rPr lang="en-US" sz="1200" i="1" spc="10" dirty="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acc>
                                  <m:accPr>
                                    <m:chr m:val="̂"/>
                                    <m:ctrlPr>
                                      <a:rPr lang="en-US" sz="1200" i="1" spc="10" dirty="0" smtClean="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1</m:t>
                                </m:r>
                              </m:sub>
                            </m:sSub>
                            <m:r>
                              <a:rPr lang="en-US" sz="1200" i="1" spc="10" dirty="0">
                                <a:latin typeface="Cambria Math" panose="02040503050406030204" pitchFamily="18" charset="0"/>
                                <a:cs typeface="Tahoma"/>
                              </a:rPr>
                              <m:t>,…,</m:t>
                            </m:r>
                            <m:sSup>
                              <m:sSupPr>
                                <m:ctrlPr>
                                  <a:rPr lang="en-US" sz="1200" b="0" i="1" spc="10" dirty="0" smtClean="0">
                                    <a:latin typeface="Cambria Math" panose="02040503050406030204" pitchFamily="18" charset="0"/>
                                    <a:cs typeface="Tahoma"/>
                                  </a:rPr>
                                </m:ctrlPr>
                              </m:sSupPr>
                              <m:e>
                                <m:r>
                                  <a:rPr lang="en-MY" sz="1200" i="1" spc="10" dirty="0" smtClean="0">
                                    <a:latin typeface="Cambria Math" panose="02040503050406030204" pitchFamily="18" charset="0"/>
                                    <a:cs typeface="Tahoma"/>
                                  </a:rPr>
                                  <m:t>𝜐</m:t>
                                </m:r>
                              </m:e>
                              <m:sup>
                                <m:r>
                                  <a:rPr lang="en-US" sz="1200" b="0" i="1" spc="10" dirty="0" smtClean="0">
                                    <a:latin typeface="Cambria Math" panose="02040503050406030204" pitchFamily="18" charset="0"/>
                                    <a:cs typeface="Tahoma"/>
                                  </a:rPr>
                                  <m:t>0</m:t>
                                </m:r>
                              </m:sup>
                            </m:sSup>
                            <m:r>
                              <a:rPr lang="en-US" sz="1200" b="0" i="1" spc="10" dirty="0" smtClean="0">
                                <a:latin typeface="Cambria Math" panose="02040503050406030204" pitchFamily="18" charset="0"/>
                                <a:cs typeface="Tahoma"/>
                              </a:rPr>
                              <m:t>,</m:t>
                            </m:r>
                            <m:r>
                              <a:rPr lang="en-US" sz="1200" b="0" i="1" spc="10" dirty="0" smtClean="0">
                                <a:latin typeface="Cambria Math" panose="02040503050406030204" pitchFamily="18" charset="0"/>
                                <a:cs typeface="Tahoma"/>
                              </a:rPr>
                              <m:t>…,</m:t>
                            </m:r>
                            <m:sSub>
                              <m:sSubPr>
                                <m:ctrlPr>
                                  <a:rPr lang="en-US" sz="1200" i="1" spc="10" dirty="0">
                                    <a:latin typeface="Cambria Math" panose="02040503050406030204" pitchFamily="18" charset="0"/>
                                    <a:cs typeface="Tahoma"/>
                                  </a:rPr>
                                </m:ctrlPr>
                              </m:sSubPr>
                              <m:e>
                                <m:acc>
                                  <m:accPr>
                                    <m:chr m:val="̂"/>
                                    <m:ctrlPr>
                                      <a:rPr lang="en-US" sz="1200" i="1" spc="10" dirty="0">
                                        <a:latin typeface="Cambria Math" panose="02040503050406030204" pitchFamily="18" charset="0"/>
                                        <a:cs typeface="Tahoma"/>
                                      </a:rPr>
                                    </m:ctrlPr>
                                  </m:accPr>
                                  <m:e>
                                    <m:r>
                                      <a:rPr lang="en-US" sz="1200" i="1" spc="10" dirty="0">
                                        <a:latin typeface="Cambria Math" panose="02040503050406030204" pitchFamily="18" charset="0"/>
                                        <a:cs typeface="Tahoma"/>
                                      </a:rPr>
                                      <m:t>𝜐</m:t>
                                    </m:r>
                                  </m:e>
                                </m:acc>
                              </m:e>
                              <m:sub>
                                <m:r>
                                  <a:rPr lang="en-US" sz="1200" i="1" spc="10" dirty="0">
                                    <a:latin typeface="Cambria Math" panose="02040503050406030204" pitchFamily="18" charset="0"/>
                                    <a:cs typeface="Tahoma"/>
                                  </a:rPr>
                                  <m:t>𝑛</m:t>
                                </m:r>
                              </m:sub>
                            </m:sSub>
                          </m:e>
                        </m:d>
                      </m:e>
                    </m:func>
                  </m:oMath>
                </a14:m>
                <a:endParaRPr lang="en-MY" dirty="0"/>
              </a:p>
              <a:p>
                <a:pPr marL="457200" lvl="1" indent="0">
                  <a:buFont typeface="Arial" panose="020B0604020202020204" pitchFamily="34" charset="0"/>
                  <a:buNone/>
                </a:pPr>
                <a:endParaRPr lang="en-MY" dirty="0"/>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describes the step-by-step functioning of the VCG mechanism, including the simultaneous declaration of valuations, the optimization process, and the payment rule that incentivizes truthful bidding.</a:t>
                </a:r>
              </a:p>
              <a:p>
                <a:endParaRPr lang="en-US" b="0" i="0" dirty="0">
                  <a:solidFill>
                    <a:srgbClr val="E8E8E8"/>
                  </a:solidFill>
                  <a:effectLst/>
                  <a:latin typeface="Google Sans Text"/>
                </a:endParaRPr>
              </a:p>
              <a:p>
                <a:pPr marL="228600" indent="-228600">
                  <a:buFont typeface="+mj-lt"/>
                  <a:buAutoNum type="arabicPeriod"/>
                </a:pPr>
                <a:r>
                  <a:rPr lang="en-MY" b="1" dirty="0"/>
                  <a:t>Simultaneous Declarations</a:t>
                </a:r>
                <a:r>
                  <a:rPr lang="en-MY" dirty="0"/>
                  <a:t>:</a:t>
                </a:r>
              </a:p>
              <a:p>
                <a:pPr marL="742950" lvl="1" indent="-285750">
                  <a:buFont typeface="Arial" panose="020B0604020202020204" pitchFamily="34" charset="0"/>
                  <a:buChar char="•"/>
                </a:pPr>
                <a:r>
                  <a:rPr lang="en-MY" dirty="0"/>
                  <a:t>Agents simultaneously declare their valuations, denoted as </a:t>
                </a:r>
                <a:r>
                  <a:rPr lang="en-US" sz="1200" i="0" spc="10" dirty="0">
                    <a:latin typeface="Tahoma"/>
                    <a:cs typeface="Tahoma"/>
                  </a:rPr>
                  <a:t>"𝜐</a:t>
                </a:r>
                <a:r>
                  <a:rPr lang="en-US" sz="1200" i="0" spc="10" dirty="0">
                    <a:latin typeface="Cambria Math" panose="02040503050406030204" pitchFamily="18" charset="0"/>
                    <a:cs typeface="Tahoma"/>
                  </a:rPr>
                  <a:t>" </a:t>
                </a:r>
                <a:r>
                  <a:rPr lang="en-US" sz="1200" i="0" spc="10">
                    <a:latin typeface="Cambria Math" panose="02040503050406030204" pitchFamily="18" charset="0"/>
                    <a:cs typeface="Tahoma"/>
                  </a:rPr>
                  <a:t> ̂</a:t>
                </a:r>
                <a:r>
                  <a:rPr lang="en-US" sz="1200" b="0" i="0" spc="10">
                    <a:latin typeface="Cambria Math" panose="02040503050406030204" pitchFamily="18" charset="0"/>
                    <a:cs typeface="Tahoma"/>
                  </a:rPr>
                  <a:t>_𝑖</a:t>
                </a:r>
                <a:r>
                  <a:rPr lang="en-MY" dirty="0"/>
                  <a:t>​, which may not necessarily reflect their true valuations for the items available in the auction.</a:t>
                </a:r>
              </a:p>
              <a:p>
                <a:pPr marL="228600" indent="-228600">
                  <a:buFont typeface="+mj-lt"/>
                  <a:buAutoNum type="arabicPeriod"/>
                </a:pPr>
                <a:r>
                  <a:rPr lang="en-MY" b="1" dirty="0"/>
                  <a:t>Social Welfare Maximization</a:t>
                </a:r>
                <a:r>
                  <a:rPr lang="en-MY" dirty="0"/>
                  <a:t>:</a:t>
                </a:r>
              </a:p>
              <a:p>
                <a:pPr marL="742950" lvl="1" indent="-285750">
                  <a:buFont typeface="Arial" panose="020B0604020202020204" pitchFamily="34" charset="0"/>
                  <a:buChar char="•"/>
                </a:pPr>
                <a:r>
                  <a:rPr lang="en-MY" dirty="0"/>
                  <a:t>The VCG mechanism seeks to determine the allocation </a:t>
                </a:r>
                <a:r>
                  <a:rPr lang="en-US" sz="1200" i="0" spc="10" dirty="0">
                    <a:latin typeface="Cambria Math" panose="02040503050406030204" pitchFamily="18" charset="0"/>
                    <a:cs typeface="Tahoma"/>
                  </a:rPr>
                  <a:t>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sz="1200" spc="10" dirty="0">
                    <a:latin typeface="Tahoma"/>
                    <a:cs typeface="Tahoma"/>
                  </a:rPr>
                  <a:t> </a:t>
                </a:r>
                <a:r>
                  <a:rPr lang="en-MY" dirty="0"/>
                  <a:t>that maximizes overall social welfare based on the declared valuations. This is expressed mathematically as:</a:t>
                </a:r>
                <a:br>
                  <a:rPr lang="en-MY" dirty="0"/>
                </a:br>
                <a:br>
                  <a:rPr lang="en-MY" dirty="0"/>
                </a:br>
                <a:r>
                  <a:rPr lang="en-MY" sz="1200" i="0" spc="10" dirty="0">
                    <a:latin typeface="Cambria Math" panose="02040503050406030204" pitchFamily="18" charset="0"/>
                    <a:cs typeface="Tahoma"/>
                  </a:rPr>
                  <a:t>𝑍_1^∗, …, </a:t>
                </a:r>
                <a:r>
                  <a:rPr lang="en-MY" sz="1200" i="0" spc="10" dirty="0" err="1">
                    <a:latin typeface="Cambria Math" panose="02040503050406030204" pitchFamily="18" charset="0"/>
                    <a:cs typeface="Tahoma"/>
                  </a:rPr>
                  <a:t>𝑍_𝑛^</a:t>
                </a:r>
                <a:r>
                  <a:rPr lang="en-MY" sz="1200" i="0" spc="10" dirty="0">
                    <a:latin typeface="Cambria Math" panose="02040503050406030204" pitchFamily="18" charset="0"/>
                    <a:cs typeface="Tahoma"/>
                  </a:rPr>
                  <a:t>∗=</a:t>
                </a:r>
                <a:r>
                  <a:rPr lang="en-US" sz="1200" i="0" spc="10" dirty="0">
                    <a:latin typeface="Cambria Math" panose="02040503050406030204" pitchFamily="18" charset="0"/>
                    <a:cs typeface="Tahoma"/>
                  </a:rPr>
                  <a:t>arg</a:t>
                </a:r>
                <a:r>
                  <a:rPr lang="en-MY" sz="1200" i="0" spc="10" dirty="0">
                    <a:latin typeface="Cambria Math" panose="02040503050406030204" pitchFamily="18" charset="0"/>
                    <a:cs typeface="Tahoma"/>
                  </a:rPr>
                  <a:t>max┬(</a:t>
                </a:r>
                <a:r>
                  <a:rPr lang="en-US" sz="1200" i="0" spc="10" dirty="0">
                    <a:latin typeface="Cambria Math" panose="02040503050406030204" pitchFamily="18" charset="0"/>
                    <a:cs typeface="Tahoma"/>
                  </a:rPr>
                  <a:t>(𝑍_1, …, 𝑍_𝑛 )∈𝑎𝑙𝑙𝑜𝑐(</a:t>
                </a:r>
                <a:r>
                  <a:rPr lang="en-US" sz="1200" i="0" spc="10" dirty="0">
                    <a:latin typeface="Cambria Math" panose="02040503050406030204" pitchFamily="18" charset="0"/>
                    <a:ea typeface="Cambria Math" panose="02040503050406030204" pitchFamily="18" charset="0"/>
                    <a:cs typeface="Tahoma"/>
                  </a:rPr>
                  <a:t>𝒵, 𝐴𝑔) </a:t>
                </a:r>
                <a:r>
                  <a:rPr lang="en-MY" sz="1200" i="0" spc="10" dirty="0">
                    <a:latin typeface="Cambria Math" panose="02040503050406030204" pitchFamily="18" charset="0"/>
                    <a:ea typeface="Cambria Math" panose="02040503050406030204" pitchFamily="18" charset="0"/>
                    <a:cs typeface="Tahoma"/>
                  </a:rPr>
                  <a:t>)⁡</a:t>
                </a:r>
                <a:r>
                  <a:rPr lang="en-MY" sz="1200" i="0" spc="10" dirty="0">
                    <a:latin typeface="Cambria Math" panose="02040503050406030204" pitchFamily="18" charset="0"/>
                    <a:cs typeface="Tahoma"/>
                  </a:rPr>
                  <a:t>𝑠𝑤(𝑍_1, …, </a:t>
                </a:r>
                <a:r>
                  <a:rPr lang="en-MY"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,𝜐 ̂_1,…,𝜐 ̂</a:t>
                </a:r>
                <a:r>
                  <a:rPr lang="en-US" sz="1200" b="0" i="0" spc="10" dirty="0">
                    <a:latin typeface="Cambria Math" panose="02040503050406030204" pitchFamily="18" charset="0"/>
                    <a:cs typeface="Tahoma"/>
                  </a:rPr>
                  <a:t>_𝑖, …,</a:t>
                </a:r>
                <a:r>
                  <a:rPr lang="en-US" sz="1200" i="0" spc="10" dirty="0">
                    <a:latin typeface="Cambria Math" panose="02040503050406030204" pitchFamily="18" charset="0"/>
                    <a:cs typeface="Tahoma"/>
                  </a:rPr>
                  <a:t>𝜐 ̂_𝑛 )</a:t>
                </a:r>
                <a:r>
                  <a:rPr lang="en-MY" dirty="0"/>
                  <a:t> </a:t>
                </a:r>
              </a:p>
              <a:p>
                <a:pPr marL="742950" lvl="1" indent="-285750">
                  <a:buFont typeface="Arial" panose="020B0604020202020204" pitchFamily="34" charset="0"/>
                  <a:buChar char="•"/>
                </a:pPr>
                <a:endParaRPr lang="en-MY" dirty="0"/>
              </a:p>
              <a:p>
                <a:pPr marL="742950" lvl="1" indent="-285750">
                  <a:buFont typeface="Arial" panose="020B0604020202020204" pitchFamily="34" charset="0"/>
                  <a:buChar char="•"/>
                </a:pPr>
                <a:r>
                  <a:rPr lang="en-MY" dirty="0"/>
                  <a:t>Here, </a:t>
                </a:r>
                <a:r>
                  <a:rPr lang="en-US" sz="1200" i="0" spc="10" dirty="0">
                    <a:latin typeface="Cambria Math" panose="02040503050406030204" pitchFamily="18" charset="0"/>
                    <a:cs typeface="Tahoma"/>
                  </a:rPr>
                  <a:t>𝑎𝑙𝑙𝑜𝑐(</a:t>
                </a:r>
                <a:r>
                  <a:rPr lang="en-US" sz="1200" i="0" spc="10" dirty="0">
                    <a:latin typeface="Cambria Math" panose="02040503050406030204" pitchFamily="18" charset="0"/>
                    <a:ea typeface="Cambria Math" panose="02040503050406030204" pitchFamily="18" charset="0"/>
                    <a:cs typeface="Tahoma"/>
                  </a:rPr>
                  <a:t>𝒵, 𝐴𝑔)</a:t>
                </a:r>
                <a:r>
                  <a:rPr lang="en-MY" dirty="0"/>
                  <a:t> represents the set of all possible allocations of the items to agents, and </a:t>
                </a:r>
                <a:r>
                  <a:rPr lang="en-MY" i="0" dirty="0">
                    <a:latin typeface="Cambria Math" panose="02040503050406030204" pitchFamily="18" charset="0"/>
                  </a:rPr>
                  <a:t>𝑠𝑤</a:t>
                </a:r>
                <a:r>
                  <a:rPr lang="en-MY" dirty="0"/>
                  <a:t> is the social welfare function that sums up the valuations of all agents for the allocated bundles.</a:t>
                </a:r>
              </a:p>
              <a:p>
                <a:pPr marL="228600" indent="-228600">
                  <a:buFont typeface="+mj-lt"/>
                  <a:buAutoNum type="arabicPeriod"/>
                </a:pPr>
                <a:r>
                  <a:rPr lang="en-MY" b="1" dirty="0"/>
                  <a:t>Payment Rule</a:t>
                </a:r>
                <a:r>
                  <a:rPr lang="en-MY" dirty="0"/>
                  <a:t>:</a:t>
                </a:r>
              </a:p>
              <a:p>
                <a:pPr marL="742950" lvl="1" indent="-285750">
                  <a:buFont typeface="Arial" panose="020B0604020202020204" pitchFamily="34" charset="0"/>
                  <a:buChar char="•"/>
                </a:pPr>
                <a:r>
                  <a:rPr lang="en-MY" dirty="0"/>
                  <a:t>Each agent </a:t>
                </a:r>
                <a:r>
                  <a:rPr lang="en-MY" i="0" dirty="0">
                    <a:latin typeface="Cambria Math" panose="02040503050406030204" pitchFamily="18" charset="0"/>
                  </a:rPr>
                  <a:t>𝑖</a:t>
                </a:r>
                <a:r>
                  <a:rPr lang="en-MY" dirty="0"/>
                  <a:t> is required to pay an amount based on the social welfare derived from the allocations. The payment for agent </a:t>
                </a:r>
                <a:r>
                  <a:rPr lang="en-MY" i="0" dirty="0">
                    <a:latin typeface="Cambria Math" panose="02040503050406030204" pitchFamily="18" charset="0"/>
                  </a:rPr>
                  <a:t>𝑖</a:t>
                </a:r>
                <a:r>
                  <a:rPr lang="en-MY" dirty="0"/>
                  <a:t> is calculated as follows:</a:t>
                </a:r>
                <a:br>
                  <a:rPr lang="en-MY" dirty="0"/>
                </a:br>
                <a:r>
                  <a:rPr lang="en-US" b="0" i="0">
                    <a:latin typeface="Cambria Math" panose="02040503050406030204" pitchFamily="18" charset="0"/>
                  </a:rPr>
                  <a:t>𝑝_𝑖=𝑠𝑤_(−1)</a:t>
                </a:r>
                <a:r>
                  <a:rPr lang="en-US" sz="1200" b="0" i="0" spc="10" dirty="0">
                    <a:latin typeface="Cambria Math" panose="02040503050406030204" pitchFamily="18" charset="0"/>
                  </a:rPr>
                  <a:t> </a:t>
                </a:r>
                <a:r>
                  <a:rPr lang="en-US" sz="1200" i="0" spc="10" dirty="0">
                    <a:latin typeface="Cambria Math" panose="02040503050406030204" pitchFamily="18" charset="0"/>
                    <a:cs typeface="Tahoma"/>
                  </a:rPr>
                  <a:t>(𝑍_1^′,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sz="1200" b="0" i="0" spc="10" dirty="0">
                    <a:latin typeface="Cambria Math" panose="02040503050406030204" pitchFamily="18" charset="0"/>
                    <a:cs typeface="Tahoma"/>
                  </a:rPr>
                  <a:t>,</a:t>
                </a:r>
                <a:r>
                  <a:rPr lang="en-US" sz="1200" i="0" spc="10" dirty="0">
                    <a:latin typeface="Cambria Math" panose="02040503050406030204" pitchFamily="18" charset="0"/>
                    <a:cs typeface="Tahoma"/>
                  </a:rPr>
                  <a:t>𝜐 ̂_1,…,</a:t>
                </a:r>
                <a:r>
                  <a:rPr lang="en-MY" sz="1200" i="0" spc="10" dirty="0">
                    <a:latin typeface="Cambria Math" panose="02040503050406030204" pitchFamily="18" charset="0"/>
                    <a:cs typeface="Tahoma"/>
                  </a:rPr>
                  <a:t>𝜐</a:t>
                </a:r>
                <a:r>
                  <a:rPr lang="en-US" sz="1200" b="0" i="0" spc="10" dirty="0">
                    <a:latin typeface="Cambria Math" panose="02040503050406030204" pitchFamily="18" charset="0"/>
                    <a:cs typeface="Tahoma"/>
                  </a:rPr>
                  <a:t>^0, …,</a:t>
                </a:r>
                <a:r>
                  <a:rPr lang="en-US" sz="1200" i="0" spc="10" dirty="0">
                    <a:latin typeface="Cambria Math" panose="02040503050406030204" pitchFamily="18" charset="0"/>
                    <a:cs typeface="Tahoma"/>
                  </a:rPr>
                  <a:t>𝜐 ̂_𝑛) − </a:t>
                </a:r>
                <a:r>
                  <a:rPr lang="en-US" sz="1200" i="0" spc="10" dirty="0" err="1">
                    <a:latin typeface="Cambria Math" panose="02040503050406030204" pitchFamily="18" charset="0"/>
                    <a:cs typeface="Tahoma"/>
                  </a:rPr>
                  <a:t>𝑠𝑤</a:t>
                </a:r>
                <a:r>
                  <a:rPr lang="en-US" sz="1200" i="0" spc="10" dirty="0">
                    <a:latin typeface="Cambria Math" panose="02040503050406030204" pitchFamily="18" charset="0"/>
                    <a:cs typeface="Tahoma"/>
                  </a:rPr>
                  <a:t>_(−</a:t>
                </a:r>
                <a:r>
                  <a:rPr lang="en-US" sz="1200" i="0" spc="10" dirty="0" err="1">
                    <a:latin typeface="Cambria Math" panose="02040503050406030204" pitchFamily="18" charset="0"/>
                    <a:cs typeface="Tahoma"/>
                  </a:rPr>
                  <a:t>𝑖</a:t>
                </a:r>
                <a:r>
                  <a:rPr lang="en-US" sz="1200" i="0" spc="10" dirty="0">
                    <a:latin typeface="Cambria Math" panose="02040503050406030204" pitchFamily="18" charset="0"/>
                    <a:cs typeface="Tahoma"/>
                  </a:rPr>
                  <a:t>) (𝑍_1^∗,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sz="1200" b="0" i="0" spc="10" dirty="0">
                    <a:latin typeface="Cambria Math" panose="02040503050406030204" pitchFamily="18" charset="0"/>
                    <a:cs typeface="Tahoma"/>
                  </a:rPr>
                  <a:t>,</a:t>
                </a:r>
                <a:r>
                  <a:rPr lang="en-US" sz="1200" i="0" spc="10" dirty="0">
                    <a:latin typeface="Cambria Math" panose="02040503050406030204" pitchFamily="18" charset="0"/>
                    <a:cs typeface="Tahoma"/>
                  </a:rPr>
                  <a:t>𝜐 ̂_1,…,𝜐 ̂</a:t>
                </a:r>
                <a:r>
                  <a:rPr lang="en-US" sz="1200" b="0" i="0" spc="10" dirty="0">
                    <a:latin typeface="Cambria Math" panose="02040503050406030204" pitchFamily="18" charset="0"/>
                    <a:cs typeface="Tahoma"/>
                  </a:rPr>
                  <a:t>_𝑖, …,</a:t>
                </a:r>
                <a:r>
                  <a:rPr lang="en-US" sz="1200" i="0" spc="10" dirty="0">
                    <a:latin typeface="Cambria Math" panose="02040503050406030204" pitchFamily="18" charset="0"/>
                    <a:cs typeface="Tahoma"/>
                  </a:rPr>
                  <a:t>𝜐 ̂_𝑛)</a:t>
                </a:r>
                <a:endParaRPr lang="en-MY" dirty="0"/>
              </a:p>
              <a:p>
                <a:pPr marL="457200" lvl="1" indent="0">
                  <a:buFont typeface="Arial" panose="020B0604020202020204" pitchFamily="34" charset="0"/>
                  <a:buNone/>
                </a:pPr>
                <a:endParaRPr lang="en-MY" dirty="0"/>
              </a:p>
              <a:p>
                <a:pPr marL="742950" lvl="1" indent="-285750" algn="l">
                  <a:buFont typeface="Arial" panose="020B0604020202020204" pitchFamily="34" charset="0"/>
                  <a:buChar char="•"/>
                </a:pPr>
                <a:r>
                  <a:rPr lang="en-MY" dirty="0"/>
                  <a:t>In this equation, </a:t>
                </a:r>
                <a:r>
                  <a:rPr lang="en-US" sz="1200" i="0" spc="10" dirty="0">
                    <a:latin typeface="Cambria Math" panose="02040503050406030204" pitchFamily="18" charset="0"/>
                    <a:cs typeface="Tahoma"/>
                  </a:rPr>
                  <a:t>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MY" dirty="0"/>
                  <a:t> represents the allocation that would maximize social welfare if agent </a:t>
                </a:r>
                <a:r>
                  <a:rPr lang="en-MY" i="0" dirty="0">
                    <a:latin typeface="Cambria Math" panose="02040503050406030204" pitchFamily="18" charset="0"/>
                  </a:rPr>
                  <a:t>𝑖</a:t>
                </a:r>
                <a:r>
                  <a:rPr lang="en-MY" dirty="0"/>
                  <a:t> declared the indifferent valuation function </a:t>
                </a:r>
                <a:r>
                  <a:rPr lang="en-US" sz="1200" i="0" spc="10" dirty="0">
                    <a:latin typeface="Cambria Math" panose="02040503050406030204" pitchFamily="18" charset="0"/>
                    <a:cs typeface="Tahoma"/>
                  </a:rPr>
                  <a:t>𝑣</a:t>
                </a:r>
                <a:r>
                  <a:rPr lang="en-US" sz="1200" b="0" i="0" spc="10" dirty="0">
                    <a:latin typeface="Cambria Math" panose="02040503050406030204" pitchFamily="18" charset="0"/>
                    <a:cs typeface="Tahoma"/>
                  </a:rPr>
                  <a:t>^</a:t>
                </a:r>
                <a:r>
                  <a:rPr lang="en-US" sz="1200" i="0" spc="10" dirty="0">
                    <a:latin typeface="Cambria Math" panose="02040503050406030204" pitchFamily="18" charset="0"/>
                    <a:cs typeface="Tahoma"/>
                  </a:rPr>
                  <a:t>0  </a:t>
                </a:r>
                <a:r>
                  <a:rPr lang="en-MY" dirty="0"/>
                  <a:t>(which yields zero valuation for all bundles). The payment reflects the difference in social welfare caused by agent </a:t>
                </a:r>
                <a:r>
                  <a:rPr lang="en-MY" i="0" dirty="0">
                    <a:latin typeface="Cambria Math" panose="02040503050406030204" pitchFamily="18" charset="0"/>
                  </a:rPr>
                  <a:t>𝑖</a:t>
                </a:r>
                <a:r>
                  <a:rPr lang="en-MY" dirty="0"/>
                  <a:t>'s participation, incentivizing agents to report their true valuations.</a:t>
                </a:r>
                <a:br>
                  <a:rPr lang="en-MY" dirty="0"/>
                </a:br>
                <a:r>
                  <a:rPr lang="en-US" b="0" i="0">
                    <a:latin typeface="Cambria Math" panose="02040503050406030204" pitchFamily="18" charset="0"/>
                  </a:rPr>
                  <a:t>𝑍_1^′,…, 𝑍_𝑛^′=</a:t>
                </a:r>
                <a:r>
                  <a:rPr lang="en-US" sz="1200" i="0" spc="10" dirty="0">
                    <a:latin typeface="Cambria Math" panose="02040503050406030204" pitchFamily="18" charset="0"/>
                    <a:cs typeface="Tahoma"/>
                  </a:rPr>
                  <a:t>arg</a:t>
                </a:r>
                <a:r>
                  <a:rPr lang="en-MY" sz="1200" i="0" spc="10" dirty="0">
                    <a:latin typeface="Cambria Math" panose="02040503050406030204" pitchFamily="18" charset="0"/>
                    <a:cs typeface="Tahoma"/>
                  </a:rPr>
                  <a:t>max┬(</a:t>
                </a:r>
                <a:r>
                  <a:rPr lang="en-US" sz="1200" i="0" spc="10" dirty="0">
                    <a:latin typeface="Cambria Math" panose="02040503050406030204" pitchFamily="18" charset="0"/>
                    <a:cs typeface="Tahoma"/>
                  </a:rPr>
                  <a:t>(𝑍_1, …, 𝑍_𝑛 )∈𝑎𝑙𝑙𝑜𝑐(</a:t>
                </a:r>
                <a:r>
                  <a:rPr lang="en-US" sz="1200" i="0" spc="10" dirty="0">
                    <a:latin typeface="Cambria Math" panose="02040503050406030204" pitchFamily="18" charset="0"/>
                    <a:ea typeface="Cambria Math" panose="02040503050406030204" pitchFamily="18" charset="0"/>
                    <a:cs typeface="Tahoma"/>
                  </a:rPr>
                  <a:t>𝒵, 𝐴𝑔) </a:t>
                </a:r>
                <a:r>
                  <a:rPr lang="en-MY" sz="1200" i="0" spc="10" dirty="0">
                    <a:latin typeface="Cambria Math" panose="02040503050406030204" pitchFamily="18" charset="0"/>
                    <a:ea typeface="Cambria Math" panose="02040503050406030204" pitchFamily="18" charset="0"/>
                    <a:cs typeface="Tahoma"/>
                  </a:rPr>
                  <a:t>)⁡</a:t>
                </a:r>
                <a:r>
                  <a:rPr lang="en-MY" sz="1200" i="0" spc="10" dirty="0">
                    <a:latin typeface="Cambria Math" panose="02040503050406030204" pitchFamily="18" charset="0"/>
                    <a:cs typeface="Tahoma"/>
                  </a:rPr>
                  <a:t>𝑠𝑤(𝑍_1, …, </a:t>
                </a:r>
                <a:r>
                  <a:rPr lang="en-MY"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,𝜐 ̂_1,…,</a:t>
                </a:r>
                <a:r>
                  <a:rPr lang="en-MY" sz="1200" i="0" spc="10" dirty="0">
                    <a:latin typeface="Cambria Math" panose="02040503050406030204" pitchFamily="18" charset="0"/>
                    <a:cs typeface="Tahoma"/>
                  </a:rPr>
                  <a:t>𝜐</a:t>
                </a:r>
                <a:r>
                  <a:rPr lang="en-US" sz="1200" b="0" i="0" spc="10" dirty="0">
                    <a:latin typeface="Cambria Math" panose="02040503050406030204" pitchFamily="18" charset="0"/>
                    <a:cs typeface="Tahoma"/>
                  </a:rPr>
                  <a:t>^0,…,</a:t>
                </a:r>
                <a:r>
                  <a:rPr lang="en-US" sz="1200" i="0" spc="10" dirty="0">
                    <a:latin typeface="Cambria Math" panose="02040503050406030204" pitchFamily="18" charset="0"/>
                    <a:cs typeface="Tahoma"/>
                  </a:rPr>
                  <a:t>𝜐 ̂_𝑛 )</a:t>
                </a:r>
                <a:endParaRPr lang="en-MY" dirty="0"/>
              </a:p>
              <a:p>
                <a:pPr marL="457200" lvl="1" indent="0">
                  <a:buFont typeface="Arial" panose="020B0604020202020204" pitchFamily="34" charset="0"/>
                  <a:buNone/>
                </a:pPr>
                <a:endParaRPr lang="en-MY" dirty="0"/>
              </a:p>
              <a:p>
                <a:endParaRPr dirty="0"/>
              </a:p>
            </p:txBody>
          </p:sp>
        </mc:Fallback>
      </mc:AlternateContent>
    </p:spTree>
    <p:extLst>
      <p:ext uri="{BB962C8B-B14F-4D97-AF65-F5344CB8AC3E}">
        <p14:creationId xmlns:p14="http://schemas.microsoft.com/office/powerpoint/2010/main" val="39310186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clarifies the rationale behind the VCG payment rule, emphasizing its role as compensation for the impact of an agent's participation on the overall social welfare.</a:t>
                </a:r>
              </a:p>
              <a:p>
                <a:endParaRPr lang="en-US" b="0" i="0" dirty="0">
                  <a:solidFill>
                    <a:srgbClr val="E8E8E8"/>
                  </a:solidFill>
                  <a:effectLst/>
                  <a:latin typeface="Google Sans Text"/>
                </a:endParaRPr>
              </a:p>
              <a:p>
                <a:pPr marL="228600" indent="-228600">
                  <a:buFont typeface="+mj-lt"/>
                  <a:buAutoNum type="arabicPeriod"/>
                </a:pPr>
                <a:r>
                  <a:rPr lang="en-US" b="1" dirty="0"/>
                  <a:t>Payment Interpretation</a:t>
                </a:r>
                <a:r>
                  <a:rPr lang="en-US" dirty="0"/>
                  <a:t>:</a:t>
                </a:r>
              </a:p>
              <a:p>
                <a:pPr marL="742950" lvl="1" indent="-285750">
                  <a:buFont typeface="Arial" panose="020B0604020202020204" pitchFamily="34" charset="0"/>
                  <a:buChar char="•"/>
                </a:pPr>
                <a:r>
                  <a:rPr lang="en-US" dirty="0"/>
                  <a:t>The payment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𝑖</m:t>
                        </m:r>
                      </m:sub>
                    </m:sSub>
                  </m:oMath>
                </a14:m>
                <a:r>
                  <a:rPr lang="en-US" dirty="0"/>
                  <a:t>​ made by agent </a:t>
                </a:r>
                <a14:m>
                  <m:oMath xmlns:m="http://schemas.openxmlformats.org/officeDocument/2006/math">
                    <m:r>
                      <a:rPr lang="en-US" i="1" dirty="0" smtClean="0">
                        <a:latin typeface="Cambria Math" panose="02040503050406030204" pitchFamily="18" charset="0"/>
                      </a:rPr>
                      <m:t>𝑖</m:t>
                    </m:r>
                  </m:oMath>
                </a14:m>
                <a:r>
                  <a:rPr lang="en-US" dirty="0"/>
                  <a:t> can be understood as a form of compensation to the other agents in the auction. This compensation is necessary due to the change in social welfare that results from the inclusion of agent </a:t>
                </a:r>
                <a14:m>
                  <m:oMath xmlns:m="http://schemas.openxmlformats.org/officeDocument/2006/math">
                    <m:r>
                      <a:rPr lang="en-US" i="1" dirty="0" smtClean="0">
                        <a:latin typeface="Cambria Math" panose="02040503050406030204" pitchFamily="18" charset="0"/>
                      </a:rPr>
                      <m:t>𝑖</m:t>
                    </m:r>
                  </m:oMath>
                </a14:m>
                <a:r>
                  <a:rPr lang="en-US" dirty="0"/>
                  <a:t> in the auction process.</a:t>
                </a:r>
              </a:p>
              <a:p>
                <a:pPr marL="228600" indent="-228600">
                  <a:buFont typeface="+mj-lt"/>
                  <a:buAutoNum type="arabicPeriod"/>
                </a:pPr>
                <a:r>
                  <a:rPr lang="en-US" b="1" dirty="0"/>
                  <a:t>Loss in Utility</a:t>
                </a:r>
                <a:r>
                  <a:rPr lang="en-US" dirty="0"/>
                  <a:t>:</a:t>
                </a:r>
              </a:p>
              <a:p>
                <a:pPr marL="742950" lvl="1" indent="-285750">
                  <a:buFont typeface="Arial" panose="020B0604020202020204" pitchFamily="34" charset="0"/>
                  <a:buChar char="•"/>
                </a:pPr>
                <a:r>
                  <a:rPr lang="en-US" dirty="0"/>
                  <a:t>The payment is specifically designed to reflect the loss in utility experienced by the other agents because of agent </a:t>
                </a:r>
                <a14:m>
                  <m:oMath xmlns:m="http://schemas.openxmlformats.org/officeDocument/2006/math">
                    <m:r>
                      <a:rPr lang="en-US" i="1" dirty="0" smtClean="0">
                        <a:latin typeface="Cambria Math" panose="02040503050406030204" pitchFamily="18" charset="0"/>
                      </a:rPr>
                      <m:t>𝑖</m:t>
                    </m:r>
                  </m:oMath>
                </a14:m>
                <a:r>
                  <a:rPr lang="en-US" dirty="0"/>
                  <a:t>'s participation. More formally, it accounts for the difference in social welfare between two scenarios:</a:t>
                </a:r>
              </a:p>
              <a:p>
                <a:pPr marL="1143000" lvl="2" indent="-228600">
                  <a:buFont typeface="Arial" panose="020B0604020202020204" pitchFamily="34" charset="0"/>
                  <a:buChar char="•"/>
                </a:pPr>
                <a:r>
                  <a:rPr lang="en-US" b="1" dirty="0"/>
                  <a:t>Without Agent </a:t>
                </a:r>
                <a14:m>
                  <m:oMath xmlns:m="http://schemas.openxmlformats.org/officeDocument/2006/math">
                    <m:r>
                      <a:rPr lang="en-US" b="1" i="1" dirty="0" smtClean="0">
                        <a:latin typeface="Cambria Math" panose="02040503050406030204" pitchFamily="18" charset="0"/>
                      </a:rPr>
                      <m:t>𝒊</m:t>
                    </m:r>
                  </m:oMath>
                </a14:m>
                <a:r>
                  <a:rPr lang="en-US" dirty="0"/>
                  <a:t>: The social welfare when agent </a:t>
                </a:r>
                <a14:m>
                  <m:oMath xmlns:m="http://schemas.openxmlformats.org/officeDocument/2006/math">
                    <m:r>
                      <a:rPr lang="en-US" i="1" dirty="0" smtClean="0">
                        <a:latin typeface="Cambria Math" panose="02040503050406030204" pitchFamily="18" charset="0"/>
                      </a:rPr>
                      <m:t>𝑖</m:t>
                    </m:r>
                  </m:oMath>
                </a14:m>
                <a:r>
                  <a:rPr lang="en-US" dirty="0"/>
                  <a:t> is absent, denoted as </a:t>
                </a:r>
                <a14:m>
                  <m:oMath xmlns:m="http://schemas.openxmlformats.org/officeDocument/2006/math">
                    <m:r>
                      <a:rPr lang="en-US" sz="1200" i="1" spc="10" dirty="0" smtClean="0">
                        <a:latin typeface="Cambria Math" panose="02040503050406030204" pitchFamily="18" charset="0"/>
                        <a:cs typeface="Tahoma"/>
                      </a:rPr>
                      <m:t>𝑠</m:t>
                    </m:r>
                    <m:sSub>
                      <m:sSubPr>
                        <m:ctrlPr>
                          <a:rPr lang="en-US" sz="1200" i="1" spc="10" dirty="0"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𝑤</m:t>
                        </m:r>
                      </m:e>
                      <m:sub>
                        <m:r>
                          <a:rPr lang="en-US" sz="1200" i="1" spc="10" dirty="0" smtClean="0">
                            <a:latin typeface="Cambria Math" panose="02040503050406030204" pitchFamily="18" charset="0"/>
                            <a:cs typeface="Tahoma"/>
                          </a:rPr>
                          <m:t>−</m:t>
                        </m:r>
                        <m:r>
                          <a:rPr lang="en-US" sz="1200" i="1" spc="10" dirty="0" err="1" smtClean="0">
                            <a:latin typeface="Cambria Math" panose="02040503050406030204" pitchFamily="18" charset="0"/>
                            <a:cs typeface="Tahoma"/>
                          </a:rPr>
                          <m:t>𝑖</m:t>
                        </m:r>
                      </m:sub>
                    </m:sSub>
                    <m:r>
                      <a:rPr lang="en-US" sz="1200" i="1" spc="10" dirty="0" smtClean="0">
                        <a:latin typeface="Cambria Math" panose="02040503050406030204" pitchFamily="18" charset="0"/>
                        <a:cs typeface="Tahoma"/>
                      </a:rPr>
                      <m:t>(</m:t>
                    </m:r>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m:t>
                    </m:r>
                  </m:oMath>
                </a14:m>
                <a:r>
                  <a:rPr lang="en-US" dirty="0"/>
                  <a:t>.</a:t>
                </a:r>
              </a:p>
              <a:p>
                <a:pPr marL="1143000" lvl="2" indent="-228600">
                  <a:buFont typeface="Arial" panose="020B0604020202020204" pitchFamily="34" charset="0"/>
                  <a:buChar char="•"/>
                </a:pPr>
                <a:r>
                  <a:rPr lang="en-US" b="1" dirty="0"/>
                  <a:t>With Agent iii</a:t>
                </a:r>
                <a:r>
                  <a:rPr lang="en-US" dirty="0"/>
                  <a:t>: The social welfare with agent iii present, denoted as </a:t>
                </a:r>
                <a14:m>
                  <m:oMath xmlns:m="http://schemas.openxmlformats.org/officeDocument/2006/math">
                    <m:r>
                      <a:rPr lang="en-US" sz="1200" i="1" spc="10" dirty="0" smtClean="0">
                        <a:latin typeface="Cambria Math" panose="02040503050406030204" pitchFamily="18" charset="0"/>
                        <a:cs typeface="Tahoma"/>
                      </a:rPr>
                      <m:t>𝑠</m:t>
                    </m:r>
                    <m:sSub>
                      <m:sSubPr>
                        <m:ctrlPr>
                          <a:rPr lang="en-US" sz="1200" i="1" spc="10" dirty="0" smtClean="0">
                            <a:latin typeface="Cambria Math" panose="02040503050406030204" pitchFamily="18" charset="0"/>
                            <a:cs typeface="Tahoma"/>
                          </a:rPr>
                        </m:ctrlPr>
                      </m:sSubPr>
                      <m:e>
                        <m:r>
                          <a:rPr lang="en-US" sz="1200" i="1" spc="10" dirty="0" err="1" smtClean="0">
                            <a:latin typeface="Cambria Math" panose="02040503050406030204" pitchFamily="18" charset="0"/>
                            <a:cs typeface="Tahoma"/>
                          </a:rPr>
                          <m:t>𝑤</m:t>
                        </m:r>
                      </m:e>
                      <m:sub>
                        <m:r>
                          <a:rPr lang="en-US" sz="1200" i="1" spc="10" dirty="0" smtClean="0">
                            <a:latin typeface="Cambria Math" panose="02040503050406030204" pitchFamily="18" charset="0"/>
                            <a:cs typeface="Tahoma"/>
                          </a:rPr>
                          <m:t>−</m:t>
                        </m:r>
                        <m:r>
                          <a:rPr lang="en-US" sz="1200" i="1" spc="10" dirty="0" err="1" smtClean="0">
                            <a:latin typeface="Cambria Math" panose="02040503050406030204" pitchFamily="18" charset="0"/>
                            <a:cs typeface="Tahoma"/>
                          </a:rPr>
                          <m:t>𝑖</m:t>
                        </m:r>
                      </m:sub>
                    </m:sSub>
                    <m:d>
                      <m:dPr>
                        <m:ctrlPr>
                          <a:rPr lang="en-US" sz="1200" i="1" spc="10" dirty="0" smtClean="0">
                            <a:latin typeface="Cambria Math" panose="02040503050406030204" pitchFamily="18" charset="0"/>
                            <a:cs typeface="Tahoma"/>
                          </a:rPr>
                        </m:ctrlPr>
                      </m:dPr>
                      <m:e>
                        <m:sSubSup>
                          <m:sSubSupPr>
                            <m:ctrlPr>
                              <a:rPr lang="en-US" sz="1200" i="1" spc="10" dirty="0" smtClean="0">
                                <a:latin typeface="Cambria Math" panose="02040503050406030204" pitchFamily="18" charset="0"/>
                                <a:cs typeface="Tahoma"/>
                              </a:rPr>
                            </m:ctrlPr>
                          </m:sSubSupPr>
                          <m:e>
                            <m:r>
                              <a:rPr lang="en-US" sz="1200" i="1" spc="10" dirty="0" smtClean="0">
                                <a:latin typeface="Cambria Math" panose="02040503050406030204" pitchFamily="18" charset="0"/>
                                <a:cs typeface="Tahoma"/>
                              </a:rPr>
                              <m:t>𝑍</m:t>
                            </m:r>
                          </m:e>
                          <m:sub>
                            <m:r>
                              <a:rPr lang="en-US" sz="1200" i="1" spc="10" dirty="0" smtClean="0">
                                <a:latin typeface="Cambria Math" panose="02040503050406030204" pitchFamily="18" charset="0"/>
                                <a:cs typeface="Tahoma"/>
                              </a:rPr>
                              <m:t>1</m:t>
                            </m:r>
                          </m:sub>
                          <m:sup>
                            <m:r>
                              <a:rPr lang="en-US" sz="1200" i="1" spc="10" dirty="0" smtClean="0">
                                <a:latin typeface="Cambria Math" panose="02040503050406030204" pitchFamily="18" charset="0"/>
                                <a:cs typeface="Tahoma"/>
                              </a:rPr>
                              <m:t>∗</m:t>
                            </m:r>
                          </m:sup>
                        </m:sSubSup>
                        <m:r>
                          <a:rPr lang="en-US" sz="1200" i="1" spc="10" dirty="0" smtClean="0">
                            <a:latin typeface="Cambria Math" panose="02040503050406030204" pitchFamily="18" charset="0"/>
                            <a:cs typeface="Tahoma"/>
                          </a:rPr>
                          <m:t>, …, </m:t>
                        </m:r>
                        <m:sSubSup>
                          <m:sSubSupPr>
                            <m:ctrlPr>
                              <a:rPr lang="en-US" sz="1200" i="1" spc="10" dirty="0" err="1" smtClean="0">
                                <a:latin typeface="Cambria Math" panose="02040503050406030204" pitchFamily="18" charset="0"/>
                                <a:cs typeface="Tahoma"/>
                              </a:rPr>
                            </m:ctrlPr>
                          </m:sSubSupPr>
                          <m:e>
                            <m:r>
                              <a:rPr lang="en-US" sz="1200" i="1" spc="10" dirty="0" err="1" smtClean="0">
                                <a:latin typeface="Cambria Math" panose="02040503050406030204" pitchFamily="18" charset="0"/>
                                <a:cs typeface="Tahoma"/>
                              </a:rPr>
                              <m:t>𝑍</m:t>
                            </m:r>
                          </m:e>
                          <m:sub>
                            <m:r>
                              <a:rPr lang="en-US" sz="1200" i="1" spc="10" dirty="0" err="1" smtClean="0">
                                <a:latin typeface="Cambria Math" panose="02040503050406030204" pitchFamily="18" charset="0"/>
                                <a:cs typeface="Tahoma"/>
                              </a:rPr>
                              <m:t>𝑛</m:t>
                            </m:r>
                          </m:sub>
                          <m:sup>
                            <m:r>
                              <a:rPr lang="en-US" sz="1200" i="1" spc="10" dirty="0" smtClean="0">
                                <a:latin typeface="Cambria Math" panose="02040503050406030204" pitchFamily="18" charset="0"/>
                                <a:cs typeface="Tahoma"/>
                              </a:rPr>
                              <m:t>∗</m:t>
                            </m:r>
                          </m:sup>
                        </m:sSubSup>
                      </m:e>
                    </m:d>
                  </m:oMath>
                </a14:m>
                <a:r>
                  <a:rPr lang="en-US" dirty="0"/>
                  <a:t>.</a:t>
                </a:r>
              </a:p>
              <a:p>
                <a:pPr marL="742950" lvl="1" indent="-285750">
                  <a:buFont typeface="Arial" panose="020B0604020202020204" pitchFamily="34" charset="0"/>
                  <a:buChar char="•"/>
                </a:pPr>
                <a:r>
                  <a:rPr lang="en-US" dirty="0"/>
                  <a:t>Therefore, the payment made by agent </a:t>
                </a:r>
                <a14:m>
                  <m:oMath xmlns:m="http://schemas.openxmlformats.org/officeDocument/2006/math">
                    <m:r>
                      <a:rPr lang="en-US" i="1" dirty="0" smtClean="0">
                        <a:latin typeface="Cambria Math" panose="02040503050406030204" pitchFamily="18" charset="0"/>
                      </a:rPr>
                      <m:t>𝑖</m:t>
                    </m:r>
                  </m:oMath>
                </a14:m>
                <a:r>
                  <a:rPr lang="en-US" dirty="0"/>
                  <a:t> serves to ensure that the overall impact of their participation does not unfairly disadvantage other agents. It is structured to maintain fairness in the auction, encouraging truthful bidding while also reflecting the true social cost of including agent </a:t>
                </a:r>
                <a14:m>
                  <m:oMath xmlns:m="http://schemas.openxmlformats.org/officeDocument/2006/math">
                    <m:r>
                      <a:rPr lang="en-US" i="1" dirty="0" smtClean="0">
                        <a:latin typeface="Cambria Math" panose="02040503050406030204" pitchFamily="18" charset="0"/>
                      </a:rPr>
                      <m:t>𝑖</m:t>
                    </m:r>
                  </m:oMath>
                </a14:m>
                <a:r>
                  <a:rPr lang="en-US" dirty="0"/>
                  <a:t> in the outcome.</a:t>
                </a:r>
              </a:p>
              <a:p>
                <a:endParaRPr dirty="0"/>
              </a:p>
            </p:txBody>
          </p:sp>
        </mc:Choice>
        <mc:Fallback>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clarifies the rationale behind the VCG payment rule, emphasizing its role as compensation for the impact of an agent's participation on the overall social welfare.</a:t>
                </a:r>
              </a:p>
              <a:p>
                <a:endParaRPr lang="en-US" b="0" i="0" dirty="0">
                  <a:solidFill>
                    <a:srgbClr val="E8E8E8"/>
                  </a:solidFill>
                  <a:effectLst/>
                  <a:latin typeface="Google Sans Text"/>
                </a:endParaRPr>
              </a:p>
              <a:p>
                <a:pPr marL="228600" indent="-228600">
                  <a:buFont typeface="+mj-lt"/>
                  <a:buAutoNum type="arabicPeriod"/>
                </a:pPr>
                <a:r>
                  <a:rPr lang="en-US" b="1" dirty="0"/>
                  <a:t>Payment Interpretation</a:t>
                </a:r>
                <a:r>
                  <a:rPr lang="en-US" dirty="0"/>
                  <a:t>:</a:t>
                </a:r>
              </a:p>
              <a:p>
                <a:pPr marL="742950" lvl="1" indent="-285750">
                  <a:buFont typeface="Arial" panose="020B0604020202020204" pitchFamily="34" charset="0"/>
                  <a:buChar char="•"/>
                </a:pPr>
                <a:r>
                  <a:rPr lang="en-US" dirty="0"/>
                  <a:t>The payment </a:t>
                </a:r>
                <a:r>
                  <a:rPr lang="en-US" i="0" dirty="0">
                    <a:latin typeface="Cambria Math" panose="02040503050406030204" pitchFamily="18" charset="0"/>
                  </a:rPr>
                  <a:t>𝑝_𝑖</a:t>
                </a:r>
                <a:r>
                  <a:rPr lang="en-US" dirty="0"/>
                  <a:t>​ made by agent </a:t>
                </a:r>
                <a:r>
                  <a:rPr lang="en-US" i="0" dirty="0">
                    <a:latin typeface="Cambria Math" panose="02040503050406030204" pitchFamily="18" charset="0"/>
                  </a:rPr>
                  <a:t>𝑖</a:t>
                </a:r>
                <a:r>
                  <a:rPr lang="en-US" dirty="0"/>
                  <a:t> can be understood as a form of compensation to the other agents in the auction. This compensation is necessary due to the change in social welfare that results from the inclusion of agent </a:t>
                </a:r>
                <a:r>
                  <a:rPr lang="en-US" i="0" dirty="0">
                    <a:latin typeface="Cambria Math" panose="02040503050406030204" pitchFamily="18" charset="0"/>
                  </a:rPr>
                  <a:t>𝑖</a:t>
                </a:r>
                <a:r>
                  <a:rPr lang="en-US" dirty="0"/>
                  <a:t> in the auction process.</a:t>
                </a:r>
              </a:p>
              <a:p>
                <a:pPr marL="228600" indent="-228600">
                  <a:buFont typeface="+mj-lt"/>
                  <a:buAutoNum type="arabicPeriod"/>
                </a:pPr>
                <a:r>
                  <a:rPr lang="en-US" b="1" dirty="0"/>
                  <a:t>Loss in Utility</a:t>
                </a:r>
                <a:r>
                  <a:rPr lang="en-US" dirty="0"/>
                  <a:t>:</a:t>
                </a:r>
              </a:p>
              <a:p>
                <a:pPr marL="742950" lvl="1" indent="-285750">
                  <a:buFont typeface="Arial" panose="020B0604020202020204" pitchFamily="34" charset="0"/>
                  <a:buChar char="•"/>
                </a:pPr>
                <a:r>
                  <a:rPr lang="en-US" dirty="0"/>
                  <a:t>The payment is specifically designed to reflect the loss in utility experienced by the other agents because of agent </a:t>
                </a:r>
                <a:r>
                  <a:rPr lang="en-US" i="0" dirty="0">
                    <a:latin typeface="Cambria Math" panose="02040503050406030204" pitchFamily="18" charset="0"/>
                  </a:rPr>
                  <a:t>𝑖</a:t>
                </a:r>
                <a:r>
                  <a:rPr lang="en-US" dirty="0"/>
                  <a:t>'s participation. More formally, it accounts for the difference in social welfare between two scenarios:</a:t>
                </a:r>
              </a:p>
              <a:p>
                <a:pPr marL="1143000" lvl="2" indent="-228600">
                  <a:buFont typeface="Arial" panose="020B0604020202020204" pitchFamily="34" charset="0"/>
                  <a:buChar char="•"/>
                </a:pPr>
                <a:r>
                  <a:rPr lang="en-US" b="1" dirty="0"/>
                  <a:t>Without Agent </a:t>
                </a:r>
                <a:r>
                  <a:rPr lang="en-US" b="1" i="0" dirty="0">
                    <a:latin typeface="Cambria Math" panose="02040503050406030204" pitchFamily="18" charset="0"/>
                  </a:rPr>
                  <a:t>𝒊</a:t>
                </a:r>
                <a:r>
                  <a:rPr lang="en-US" dirty="0"/>
                  <a:t>: The social welfare when agent </a:t>
                </a:r>
                <a:r>
                  <a:rPr lang="en-US" i="0" dirty="0">
                    <a:latin typeface="Cambria Math" panose="02040503050406030204" pitchFamily="18" charset="0"/>
                  </a:rPr>
                  <a:t>𝑖</a:t>
                </a:r>
                <a:r>
                  <a:rPr lang="en-US" dirty="0"/>
                  <a:t> is absent, denoted as </a:t>
                </a:r>
                <a:r>
                  <a:rPr lang="en-US" sz="1200" i="0" spc="10" dirty="0">
                    <a:latin typeface="Cambria Math" panose="02040503050406030204" pitchFamily="18" charset="0"/>
                    <a:cs typeface="Tahoma"/>
                  </a:rPr>
                  <a:t>𝑠</a:t>
                </a:r>
                <a:r>
                  <a:rPr lang="en-US" sz="1200" i="0" spc="10" dirty="0" err="1">
                    <a:latin typeface="Cambria Math" panose="02040503050406030204" pitchFamily="18" charset="0"/>
                    <a:cs typeface="Tahoma"/>
                  </a:rPr>
                  <a:t>𝑤</a:t>
                </a:r>
                <a:r>
                  <a:rPr lang="en-US" sz="1200" i="0" spc="10" dirty="0">
                    <a:latin typeface="Cambria Math" panose="02040503050406030204" pitchFamily="18" charset="0"/>
                    <a:cs typeface="Tahoma"/>
                  </a:rPr>
                  <a:t>_(−</a:t>
                </a:r>
                <a:r>
                  <a:rPr lang="en-US" sz="1200" i="0" spc="10" dirty="0" err="1">
                    <a:latin typeface="Cambria Math" panose="02040503050406030204" pitchFamily="18" charset="0"/>
                    <a:cs typeface="Tahoma"/>
                  </a:rPr>
                  <a:t>𝑖</a:t>
                </a:r>
                <a:r>
                  <a:rPr lang="en-US" sz="1200" i="0" spc="10" dirty="0">
                    <a:latin typeface="Cambria Math" panose="02040503050406030204" pitchFamily="18" charset="0"/>
                    <a:cs typeface="Tahoma"/>
                  </a:rPr>
                  <a:t>) (𝑍_1^′,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dirty="0"/>
                  <a:t>.</a:t>
                </a:r>
              </a:p>
              <a:p>
                <a:pPr marL="1143000" lvl="2" indent="-228600">
                  <a:buFont typeface="Arial" panose="020B0604020202020204" pitchFamily="34" charset="0"/>
                  <a:buChar char="•"/>
                </a:pPr>
                <a:r>
                  <a:rPr lang="en-US" b="1" dirty="0"/>
                  <a:t>With Agent iii</a:t>
                </a:r>
                <a:r>
                  <a:rPr lang="en-US" dirty="0"/>
                  <a:t>: The social welfare with agent iii present, denoted as </a:t>
                </a:r>
                <a:r>
                  <a:rPr lang="en-US" sz="1200" i="0" spc="10" dirty="0">
                    <a:latin typeface="Cambria Math" panose="02040503050406030204" pitchFamily="18" charset="0"/>
                    <a:cs typeface="Tahoma"/>
                  </a:rPr>
                  <a:t>𝑠</a:t>
                </a:r>
                <a:r>
                  <a:rPr lang="en-US" sz="1200" i="0" spc="10" dirty="0" err="1">
                    <a:latin typeface="Cambria Math" panose="02040503050406030204" pitchFamily="18" charset="0"/>
                    <a:cs typeface="Tahoma"/>
                  </a:rPr>
                  <a:t>𝑤</a:t>
                </a:r>
                <a:r>
                  <a:rPr lang="en-US" sz="1200" i="0" spc="10" dirty="0">
                    <a:latin typeface="Cambria Math" panose="02040503050406030204" pitchFamily="18" charset="0"/>
                    <a:cs typeface="Tahoma"/>
                  </a:rPr>
                  <a:t>_(−</a:t>
                </a:r>
                <a:r>
                  <a:rPr lang="en-US" sz="1200" i="0" spc="10" dirty="0" err="1">
                    <a:latin typeface="Cambria Math" panose="02040503050406030204" pitchFamily="18" charset="0"/>
                    <a:cs typeface="Tahoma"/>
                  </a:rPr>
                  <a:t>𝑖</a:t>
                </a:r>
                <a:r>
                  <a:rPr lang="en-US" sz="1200" i="0" spc="10" dirty="0">
                    <a:latin typeface="Cambria Math" panose="02040503050406030204" pitchFamily="18" charset="0"/>
                    <a:cs typeface="Tahoma"/>
                  </a:rPr>
                  <a:t>) (𝑍_1^∗, …, </a:t>
                </a:r>
                <a:r>
                  <a:rPr lang="en-US" sz="1200" i="0" spc="10" dirty="0" err="1">
                    <a:latin typeface="Cambria Math" panose="02040503050406030204" pitchFamily="18" charset="0"/>
                    <a:cs typeface="Tahoma"/>
                  </a:rPr>
                  <a:t>𝑍_𝑛^</a:t>
                </a:r>
                <a:r>
                  <a:rPr lang="en-US" sz="1200" i="0" spc="10" dirty="0">
                    <a:latin typeface="Cambria Math" panose="02040503050406030204" pitchFamily="18" charset="0"/>
                    <a:cs typeface="Tahoma"/>
                  </a:rPr>
                  <a:t>∗</a:t>
                </a:r>
                <a:r>
                  <a:rPr lang="en-US" sz="1200" b="0" i="0" spc="10" dirty="0">
                    <a:latin typeface="Cambria Math" panose="02040503050406030204" pitchFamily="18" charset="0"/>
                    <a:cs typeface="Tahoma"/>
                  </a:rPr>
                  <a:t> )</a:t>
                </a:r>
                <a:r>
                  <a:rPr lang="en-US" dirty="0"/>
                  <a:t>.</a:t>
                </a:r>
              </a:p>
              <a:p>
                <a:pPr marL="742950" lvl="1" indent="-285750">
                  <a:buFont typeface="Arial" panose="020B0604020202020204" pitchFamily="34" charset="0"/>
                  <a:buChar char="•"/>
                </a:pPr>
                <a:r>
                  <a:rPr lang="en-US" dirty="0"/>
                  <a:t>Therefore, the payment made by agent </a:t>
                </a:r>
                <a:r>
                  <a:rPr lang="en-US" i="0" dirty="0">
                    <a:latin typeface="Cambria Math" panose="02040503050406030204" pitchFamily="18" charset="0"/>
                  </a:rPr>
                  <a:t>𝑖</a:t>
                </a:r>
                <a:r>
                  <a:rPr lang="en-US" dirty="0"/>
                  <a:t> serves to ensure that the overall impact of their participation does not unfairly disadvantage other agents. It is structured to maintain fairness in the auction, encouraging truthful bidding while also reflecting the true social cost of including agent </a:t>
                </a:r>
                <a:r>
                  <a:rPr lang="en-US" i="0" dirty="0">
                    <a:latin typeface="Cambria Math" panose="02040503050406030204" pitchFamily="18" charset="0"/>
                  </a:rPr>
                  <a:t>𝑖</a:t>
                </a:r>
                <a:r>
                  <a:rPr lang="en-US" dirty="0"/>
                  <a:t> in the outcome.</a:t>
                </a:r>
              </a:p>
              <a:p>
                <a:endParaRPr dirty="0"/>
              </a:p>
            </p:txBody>
          </p:sp>
        </mc:Fallback>
      </mc:AlternateContent>
    </p:spTree>
    <p:extLst>
      <p:ext uri="{BB962C8B-B14F-4D97-AF65-F5344CB8AC3E}">
        <p14:creationId xmlns:p14="http://schemas.microsoft.com/office/powerpoint/2010/main" val="3582597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0" indent="0">
              <a:buFont typeface="+mj-lt"/>
              <a:buNone/>
            </a:pPr>
            <a:r>
              <a:rPr lang="en-US" b="0" i="0" dirty="0">
                <a:solidFill>
                  <a:srgbClr val="E8E8E8"/>
                </a:solidFill>
                <a:effectLst/>
                <a:latin typeface="Google Sans Text"/>
              </a:rPr>
              <a:t>This slide highlights the central achievement of the VCG mechanism: making truthful bidding a dominant strategy. It provides a simplified example with a single good to illustrate how the payment rule aligns incentives with truthful revelation.</a:t>
            </a:r>
          </a:p>
          <a:p>
            <a:pPr marL="0" indent="0">
              <a:buFont typeface="+mj-lt"/>
              <a:buNone/>
            </a:pPr>
            <a:endParaRPr lang="en-US" b="0" i="0" dirty="0">
              <a:solidFill>
                <a:srgbClr val="E8E8E8"/>
              </a:solidFill>
              <a:effectLst/>
              <a:latin typeface="Google Sans Text"/>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1" dirty="0"/>
              <a:t>Key Result</a:t>
            </a:r>
            <a:r>
              <a:rPr lang="en-US" dirty="0"/>
              <a:t>:</a:t>
            </a:r>
          </a:p>
          <a:p>
            <a:pPr marL="742950" lvl="1" indent="-285750">
              <a:buFont typeface="Arial" panose="020B0604020202020204" pitchFamily="34" charset="0"/>
              <a:buChar char="•"/>
            </a:pPr>
            <a:r>
              <a:rPr lang="en-US" dirty="0"/>
              <a:t>The VCG mechanism guarantees that truthful bidding is the dominant strategy for all agents involved. This means that each agent maximizes their utility by reporting their true valuation of the goods, as any deviation from this strategy would not yield a better outcome.</a:t>
            </a:r>
          </a:p>
          <a:p>
            <a:pPr marL="228600" indent="-228600">
              <a:buFont typeface="+mj-lt"/>
              <a:buAutoNum type="arabicPeriod"/>
            </a:pPr>
            <a:r>
              <a:rPr lang="en-US" b="1" dirty="0"/>
              <a:t>Single Good Example</a:t>
            </a:r>
            <a:r>
              <a:rPr lang="en-US" dirty="0"/>
              <a:t>:</a:t>
            </a:r>
          </a:p>
          <a:p>
            <a:pPr marL="742950" lvl="1" indent="-285750">
              <a:buFont typeface="Arial" panose="020B0604020202020204" pitchFamily="34" charset="0"/>
              <a:buChar char="•"/>
            </a:pPr>
            <a:r>
              <a:rPr lang="en-US" dirty="0"/>
              <a:t>Consider an auction for a single good among multiple agents. In this scenario:</a:t>
            </a:r>
          </a:p>
          <a:p>
            <a:pPr marL="1143000" lvl="2" indent="-228600">
              <a:buFont typeface="Arial" panose="020B0604020202020204" pitchFamily="34" charset="0"/>
              <a:buChar char="•"/>
            </a:pPr>
            <a:r>
              <a:rPr lang="en-US" dirty="0"/>
              <a:t>The agent with the highest valuation wins the auction and is awarded the good.</a:t>
            </a:r>
          </a:p>
          <a:p>
            <a:pPr marL="1143000" lvl="2" indent="-228600">
              <a:buFont typeface="Arial" panose="020B0604020202020204" pitchFamily="34" charset="0"/>
              <a:buChar char="•"/>
            </a:pPr>
            <a:r>
              <a:rPr lang="en-US" dirty="0"/>
              <a:t>The price paid by the winning agent is equivalent to the second-highest valuation among the other agents. This structure ensures that:</a:t>
            </a:r>
          </a:p>
          <a:p>
            <a:pPr marL="1600200" lvl="3" indent="-228600">
              <a:buFont typeface="Arial" panose="020B0604020202020204" pitchFamily="34" charset="0"/>
              <a:buChar char="•"/>
            </a:pPr>
            <a:r>
              <a:rPr lang="en-US" dirty="0"/>
              <a:t>The winning agent compensates the losing agents for their loss in not securing the good, which aligns with the principle of maximizing social welfare.</a:t>
            </a:r>
          </a:p>
          <a:p>
            <a:pPr marL="1600200" lvl="3" indent="-228600">
              <a:buFont typeface="Arial" panose="020B0604020202020204" pitchFamily="34" charset="0"/>
              <a:buChar char="•"/>
            </a:pPr>
            <a:r>
              <a:rPr lang="en-US" dirty="0"/>
              <a:t>Each agent is incentivized to reveal their true valuation, as bidding higher or lower would either not change their chances of winning or could result in them paying more than they would otherwise.</a:t>
            </a:r>
          </a:p>
          <a:p>
            <a:r>
              <a:rPr lang="en-US" dirty="0"/>
              <a:t>This feature of the VCG mechanism is crucial for maintaining fairness and encouraging honest participation in auctions, ultimately leading to efficient allocations based on true valuations. </a:t>
            </a:r>
            <a:endParaRPr dirty="0"/>
          </a:p>
        </p:txBody>
      </p:sp>
    </p:spTree>
    <p:extLst>
      <p:ext uri="{BB962C8B-B14F-4D97-AF65-F5344CB8AC3E}">
        <p14:creationId xmlns:p14="http://schemas.microsoft.com/office/powerpoint/2010/main" val="33041437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E8E8E8"/>
                </a:solidFill>
                <a:effectLst/>
                <a:latin typeface="Google Sans Text"/>
              </a:rPr>
              <a:t>This slide concludes by emphasizing that the VCG mechanism effectively addresses the challenges of strategic manipulation in combinatorial auctions. It guarantees both truthful bidding and the attainment of maximum social welfare.</a:t>
            </a:r>
          </a:p>
          <a:p>
            <a:endParaRPr lang="en-US" b="0" i="0" dirty="0">
              <a:solidFill>
                <a:srgbClr val="E8E8E8"/>
              </a:solidFill>
              <a:effectLst/>
              <a:latin typeface="Google Sans Text"/>
            </a:endParaRPr>
          </a:p>
          <a:p>
            <a:pPr marL="228600" indent="-228600">
              <a:buFont typeface="+mj-lt"/>
              <a:buAutoNum type="arabicPeriod"/>
            </a:pPr>
            <a:r>
              <a:rPr lang="en-US" b="1" dirty="0"/>
              <a:t>Dominant Strategy</a:t>
            </a:r>
            <a:r>
              <a:rPr lang="en-US" dirty="0"/>
              <a:t>:</a:t>
            </a:r>
          </a:p>
          <a:p>
            <a:pPr marL="742950" lvl="1" indent="-285750">
              <a:buFont typeface="Arial" panose="020B0604020202020204" pitchFamily="34" charset="0"/>
              <a:buChar char="•"/>
            </a:pPr>
            <a:r>
              <a:rPr lang="en-US" dirty="0"/>
              <a:t>The VCG mechanism ensures that truthful bidding is the optimal strategy for all agents, independent of the actions taken by other agents. This characteristic means that each agent maximizes their own utility by accurately reporting their valuation of the goods, leading to outcomes that reflect true preferences.</a:t>
            </a:r>
          </a:p>
          <a:p>
            <a:pPr marL="228600" indent="-228600">
              <a:buFont typeface="+mj-lt"/>
              <a:buAutoNum type="arabicPeriod"/>
            </a:pPr>
            <a:r>
              <a:rPr lang="en-US" b="1" dirty="0"/>
              <a:t>Social Welfare Guarantee</a:t>
            </a:r>
            <a:r>
              <a:rPr lang="en-US" dirty="0"/>
              <a:t>:</a:t>
            </a:r>
          </a:p>
          <a:p>
            <a:pPr marL="742950" lvl="1" indent="-285750">
              <a:buFont typeface="Arial" panose="020B0604020202020204" pitchFamily="34" charset="0"/>
              <a:buChar char="•"/>
            </a:pPr>
            <a:r>
              <a:rPr lang="en-US" dirty="0"/>
              <a:t>One of the key strengths of the VCG mechanism is its ability to guarantee that the allocation produced maximizes social welfare based on the true valuations submitted by agents. This means that:</a:t>
            </a:r>
          </a:p>
          <a:p>
            <a:pPr marL="1143000" lvl="2" indent="-228600">
              <a:buFont typeface="Arial" panose="020B0604020202020204" pitchFamily="34" charset="0"/>
              <a:buChar char="•"/>
            </a:pPr>
            <a:r>
              <a:rPr lang="en-US" dirty="0"/>
              <a:t>The mechanism selects the allocation that results in the highest total utility for all participants, thus achieving an efficient outcome.</a:t>
            </a:r>
          </a:p>
          <a:p>
            <a:pPr marL="1143000" lvl="2" indent="-228600">
              <a:buFont typeface="Arial" panose="020B0604020202020204" pitchFamily="34" charset="0"/>
              <a:buChar char="•"/>
            </a:pPr>
            <a:r>
              <a:rPr lang="en-US" dirty="0"/>
              <a:t>The VCG mechanism effectively aligns individual incentives with overall societal welfare, as each agent’s truthful declaration directly influences the allocation decision that maximizes collective benefit.</a:t>
            </a:r>
          </a:p>
          <a:p>
            <a:r>
              <a:rPr lang="en-US" dirty="0"/>
              <a:t>Overall, the VCG mechanism facilitates a framework where agents are encouraged to act honestly, thereby enhancing the efficiency and fairness of the auction process while ensuring that the overall social welfare is optimized. </a:t>
            </a:r>
          </a:p>
        </p:txBody>
      </p:sp>
    </p:spTree>
    <p:extLst>
      <p:ext uri="{BB962C8B-B14F-4D97-AF65-F5344CB8AC3E}">
        <p14:creationId xmlns:p14="http://schemas.microsoft.com/office/powerpoint/2010/main" val="4681422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460377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69"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4608195" cy="350520"/>
          </a:xfrm>
          <a:custGeom>
            <a:avLst/>
            <a:gdLst/>
            <a:ahLst/>
            <a:cxnLst/>
            <a:rect l="l" t="t" r="r" b="b"/>
            <a:pathLst>
              <a:path w="4608195" h="350520">
                <a:moveTo>
                  <a:pt x="0" y="350126"/>
                </a:moveTo>
                <a:lnTo>
                  <a:pt x="4608004" y="350126"/>
                </a:lnTo>
                <a:lnTo>
                  <a:pt x="4608004" y="12"/>
                </a:lnTo>
                <a:lnTo>
                  <a:pt x="0" y="12"/>
                </a:lnTo>
                <a:lnTo>
                  <a:pt x="0" y="350126"/>
                </a:lnTo>
              </a:path>
            </a:pathLst>
          </a:custGeom>
          <a:solidFill>
            <a:srgbClr val="F2F2F2"/>
          </a:solidFill>
        </p:spPr>
        <p:txBody>
          <a:bodyPr wrap="square" lIns="0" tIns="0" rIns="0" bIns="0" rtlCol="0"/>
          <a:lstStyle/>
          <a:p>
            <a:endParaRPr/>
          </a:p>
        </p:txBody>
      </p:sp>
      <p:sp>
        <p:nvSpPr>
          <p:cNvPr id="2" name="Holder 2"/>
          <p:cNvSpPr>
            <a:spLocks noGrp="1"/>
          </p:cNvSpPr>
          <p:nvPr>
            <p:ph type="title"/>
          </p:nvPr>
        </p:nvSpPr>
        <p:spPr>
          <a:xfrm>
            <a:off x="95300" y="105201"/>
            <a:ext cx="4419498" cy="207645"/>
          </a:xfrm>
          <a:prstGeom prst="rect">
            <a:avLst/>
          </a:prstGeom>
        </p:spPr>
        <p:txBody>
          <a:bodyPr wrap="square" lIns="0" tIns="0" rIns="0" bIns="0">
            <a:spAutoFit/>
          </a:bodyPr>
          <a:lstStyle>
            <a:lvl1pPr>
              <a:defRPr sz="1400" b="0" i="0">
                <a:solidFill>
                  <a:srgbClr val="CC0000"/>
                </a:solidFill>
                <a:latin typeface="Tahoma"/>
                <a:cs typeface="Tahoma"/>
              </a:defRPr>
            </a:lvl1pPr>
          </a:lstStyle>
          <a:p>
            <a:endParaRPr/>
          </a:p>
        </p:txBody>
      </p:sp>
      <p:sp>
        <p:nvSpPr>
          <p:cNvPr id="3" name="Holder 3"/>
          <p:cNvSpPr>
            <a:spLocks noGrp="1"/>
          </p:cNvSpPr>
          <p:nvPr>
            <p:ph type="body" idx="1"/>
          </p:nvPr>
        </p:nvSpPr>
        <p:spPr>
          <a:xfrm>
            <a:off x="347294" y="766200"/>
            <a:ext cx="3915511" cy="2092960"/>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1"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10/14/2024</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pixabay.com/"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23850" y="1044575"/>
            <a:ext cx="3888104" cy="384721"/>
          </a:xfrm>
          <a:prstGeom prst="rect">
            <a:avLst/>
          </a:prstGeom>
          <a:solidFill>
            <a:srgbClr val="D8D8D8"/>
          </a:solidFill>
        </p:spPr>
        <p:txBody>
          <a:bodyPr vert="horz" wrap="square" lIns="0" tIns="0" rIns="0" bIns="0" rtlCol="0">
            <a:spAutoFit/>
          </a:bodyPr>
          <a:lstStyle/>
          <a:p>
            <a:pPr algn="ctr">
              <a:lnSpc>
                <a:spcPct val="100000"/>
              </a:lnSpc>
            </a:pPr>
            <a:endParaRPr lang="en-US" sz="700" spc="-35" dirty="0">
              <a:solidFill>
                <a:srgbClr val="CC0000"/>
              </a:solidFill>
              <a:latin typeface="Tahoma"/>
              <a:cs typeface="Tahoma"/>
            </a:endParaRPr>
          </a:p>
          <a:p>
            <a:pPr algn="ctr">
              <a:lnSpc>
                <a:spcPct val="100000"/>
              </a:lnSpc>
            </a:pPr>
            <a:r>
              <a:rPr lang="en-US" sz="1400" spc="-35" dirty="0">
                <a:solidFill>
                  <a:srgbClr val="CC0000"/>
                </a:solidFill>
                <a:latin typeface="Tahoma"/>
                <a:cs typeface="Tahoma"/>
              </a:rPr>
              <a:t>Auctions </a:t>
            </a:r>
            <a:r>
              <a:rPr lang="en-US" sz="1400" spc="-45" dirty="0">
                <a:solidFill>
                  <a:srgbClr val="CC0000"/>
                </a:solidFill>
                <a:latin typeface="Tahoma"/>
                <a:cs typeface="Tahoma"/>
              </a:rPr>
              <a:t>(Resource Allocation)</a:t>
            </a:r>
          </a:p>
          <a:p>
            <a:pPr algn="ctr">
              <a:lnSpc>
                <a:spcPct val="100000"/>
              </a:lnSpc>
            </a:pPr>
            <a:r>
              <a:rPr lang="en-US" sz="400" spc="-45" dirty="0">
                <a:solidFill>
                  <a:srgbClr val="CC0000"/>
                </a:solidFill>
                <a:latin typeface="Tahoma"/>
                <a:cs typeface="Tahoma"/>
              </a:rPr>
              <a:t> </a:t>
            </a:r>
            <a:endParaRPr sz="400" dirty="0">
              <a:latin typeface="Tahoma"/>
              <a:cs typeface="Tahoma"/>
            </a:endParaRPr>
          </a:p>
        </p:txBody>
      </p:sp>
      <p:sp>
        <p:nvSpPr>
          <p:cNvPr id="3" name="object 3"/>
          <p:cNvSpPr txBox="1"/>
          <p:nvPr/>
        </p:nvSpPr>
        <p:spPr>
          <a:xfrm>
            <a:off x="648766" y="1533650"/>
            <a:ext cx="3310890" cy="969496"/>
          </a:xfrm>
          <a:prstGeom prst="rect">
            <a:avLst/>
          </a:prstGeom>
        </p:spPr>
        <p:txBody>
          <a:bodyPr vert="horz" wrap="square" lIns="0" tIns="0" rIns="0" bIns="0" rtlCol="0">
            <a:spAutoFit/>
          </a:bodyPr>
          <a:lstStyle/>
          <a:p>
            <a:pPr algn="ctr"/>
            <a:r>
              <a:rPr lang="en-US" sz="1100" spc="-20" dirty="0">
                <a:latin typeface="Tahoma"/>
                <a:cs typeface="Tahoma"/>
              </a:rPr>
              <a:t>Edited by: Fuad Noman</a:t>
            </a:r>
          </a:p>
          <a:p>
            <a:pPr algn="ctr">
              <a:lnSpc>
                <a:spcPct val="100000"/>
              </a:lnSpc>
            </a:pPr>
            <a:r>
              <a:rPr lang="en-US" sz="1100" spc="-20" dirty="0">
                <a:latin typeface="Tahoma"/>
                <a:cs typeface="Tahoma"/>
              </a:rPr>
              <a:t>Inspired from MUA slides by: Bernd Meyer</a:t>
            </a:r>
            <a:endParaRPr lang="en-US" sz="1100" dirty="0">
              <a:latin typeface="Tahoma"/>
              <a:cs typeface="Tahoma"/>
            </a:endParaRPr>
          </a:p>
          <a:p>
            <a:pPr>
              <a:lnSpc>
                <a:spcPct val="100000"/>
              </a:lnSpc>
              <a:spcBef>
                <a:spcPts val="19"/>
              </a:spcBef>
            </a:pPr>
            <a:endParaRPr sz="1050" dirty="0">
              <a:latin typeface="Times New Roman"/>
              <a:cs typeface="Times New Roman"/>
            </a:endParaRPr>
          </a:p>
          <a:p>
            <a:pPr marL="34925" algn="ctr">
              <a:lnSpc>
                <a:spcPct val="100000"/>
              </a:lnSpc>
            </a:pPr>
            <a:r>
              <a:rPr lang="en-US" sz="800" spc="25" dirty="0">
                <a:latin typeface="Lucida Sans Unicode"/>
                <a:cs typeface="Lucida Sans Unicode"/>
              </a:rPr>
              <a:t>School</a:t>
            </a:r>
            <a:r>
              <a:rPr sz="800" spc="25" dirty="0">
                <a:latin typeface="Lucida Sans Unicode"/>
                <a:cs typeface="Lucida Sans Unicode"/>
              </a:rPr>
              <a:t> </a:t>
            </a:r>
            <a:r>
              <a:rPr sz="800" spc="-55" dirty="0">
                <a:latin typeface="Lucida Sans Unicode"/>
                <a:cs typeface="Lucida Sans Unicode"/>
              </a:rPr>
              <a:t>of</a:t>
            </a:r>
            <a:r>
              <a:rPr sz="800" spc="25" dirty="0">
                <a:latin typeface="Lucida Sans Unicode"/>
                <a:cs typeface="Lucida Sans Unicode"/>
              </a:rPr>
              <a:t> </a:t>
            </a:r>
            <a:r>
              <a:rPr sz="800" spc="-40" dirty="0">
                <a:latin typeface="Lucida Sans Unicode"/>
                <a:cs typeface="Lucida Sans Unicode"/>
              </a:rPr>
              <a:t>Inf</a:t>
            </a:r>
            <a:r>
              <a:rPr sz="800" spc="-80" dirty="0">
                <a:latin typeface="Lucida Sans Unicode"/>
                <a:cs typeface="Lucida Sans Unicode"/>
              </a:rPr>
              <a:t>o</a:t>
            </a:r>
            <a:r>
              <a:rPr sz="800" spc="-45" dirty="0">
                <a:latin typeface="Lucida Sans Unicode"/>
                <a:cs typeface="Lucida Sans Unicode"/>
              </a:rPr>
              <a:t>rmation</a:t>
            </a:r>
            <a:r>
              <a:rPr sz="800" spc="25" dirty="0">
                <a:latin typeface="Lucida Sans Unicode"/>
                <a:cs typeface="Lucida Sans Unicode"/>
              </a:rPr>
              <a:t> </a:t>
            </a:r>
            <a:r>
              <a:rPr sz="800" spc="-5" dirty="0">
                <a:latin typeface="Lucida Sans Unicode"/>
                <a:cs typeface="Lucida Sans Unicode"/>
              </a:rPr>
              <a:t>T</a:t>
            </a:r>
            <a:r>
              <a:rPr sz="800" spc="-60" dirty="0">
                <a:latin typeface="Lucida Sans Unicode"/>
                <a:cs typeface="Lucida Sans Unicode"/>
              </a:rPr>
              <a:t>echnolog</a:t>
            </a:r>
            <a:r>
              <a:rPr sz="800" spc="-125" dirty="0">
                <a:latin typeface="Lucida Sans Unicode"/>
                <a:cs typeface="Lucida Sans Unicode"/>
              </a:rPr>
              <a:t>y</a:t>
            </a:r>
            <a:r>
              <a:rPr sz="800" spc="-20" dirty="0">
                <a:latin typeface="Lucida Sans Unicode"/>
                <a:cs typeface="Lucida Sans Unicode"/>
              </a:rPr>
              <a:t>,</a:t>
            </a:r>
            <a:r>
              <a:rPr sz="800" spc="25" dirty="0">
                <a:latin typeface="Lucida Sans Unicode"/>
                <a:cs typeface="Lucida Sans Unicode"/>
              </a:rPr>
              <a:t> </a:t>
            </a:r>
            <a:r>
              <a:rPr sz="800" spc="-50" dirty="0">
                <a:latin typeface="Lucida Sans Unicode"/>
                <a:cs typeface="Lucida Sans Unicode"/>
              </a:rPr>
              <a:t>Monash</a:t>
            </a:r>
            <a:r>
              <a:rPr sz="800" spc="30" dirty="0">
                <a:latin typeface="Lucida Sans Unicode"/>
                <a:cs typeface="Lucida Sans Unicode"/>
              </a:rPr>
              <a:t> </a:t>
            </a:r>
            <a:r>
              <a:rPr sz="800" spc="-35" dirty="0">
                <a:latin typeface="Lucida Sans Unicode"/>
                <a:cs typeface="Lucida Sans Unicode"/>
              </a:rPr>
              <a:t>Universi</a:t>
            </a:r>
            <a:r>
              <a:rPr sz="800" spc="-55" dirty="0">
                <a:latin typeface="Lucida Sans Unicode"/>
                <a:cs typeface="Lucida Sans Unicode"/>
              </a:rPr>
              <a:t>t</a:t>
            </a:r>
            <a:r>
              <a:rPr sz="800" spc="-30" dirty="0">
                <a:latin typeface="Lucida Sans Unicode"/>
                <a:cs typeface="Lucida Sans Unicode"/>
              </a:rPr>
              <a:t>y</a:t>
            </a:r>
            <a:r>
              <a:rPr lang="en-US" sz="800" spc="-30" dirty="0">
                <a:latin typeface="Lucida Sans Unicode"/>
                <a:cs typeface="Lucida Sans Unicode"/>
              </a:rPr>
              <a:t> Malaysia</a:t>
            </a:r>
            <a:endParaRPr sz="800" dirty="0">
              <a:latin typeface="Lucida Sans Unicode"/>
              <a:cs typeface="Lucida Sans Unicode"/>
            </a:endParaRPr>
          </a:p>
          <a:p>
            <a:pPr>
              <a:lnSpc>
                <a:spcPct val="100000"/>
              </a:lnSpc>
              <a:spcBef>
                <a:spcPts val="23"/>
              </a:spcBef>
            </a:pPr>
            <a:endParaRPr sz="1150" dirty="0">
              <a:latin typeface="Times New Roman"/>
              <a:cs typeface="Times New Roman"/>
            </a:endParaRPr>
          </a:p>
          <a:p>
            <a:pPr algn="ctr">
              <a:lnSpc>
                <a:spcPct val="100000"/>
              </a:lnSpc>
            </a:pPr>
            <a:r>
              <a:rPr sz="1100" spc="-40" dirty="0">
                <a:latin typeface="Tahoma"/>
                <a:cs typeface="Tahoma"/>
              </a:rPr>
              <a:t>FIT5226:</a:t>
            </a:r>
            <a:r>
              <a:rPr sz="1100" spc="135" dirty="0">
                <a:latin typeface="Tahoma"/>
                <a:cs typeface="Tahoma"/>
              </a:rPr>
              <a:t> </a:t>
            </a:r>
            <a:r>
              <a:rPr sz="1100" spc="-5" dirty="0">
                <a:latin typeface="Tahoma"/>
                <a:cs typeface="Tahoma"/>
              </a:rPr>
              <a:t>Multi-Agent</a:t>
            </a:r>
            <a:r>
              <a:rPr sz="1100" spc="25" dirty="0">
                <a:latin typeface="Tahoma"/>
                <a:cs typeface="Tahoma"/>
              </a:rPr>
              <a:t> </a:t>
            </a:r>
            <a:r>
              <a:rPr sz="1100" spc="-55" dirty="0">
                <a:latin typeface="Tahoma"/>
                <a:cs typeface="Tahoma"/>
              </a:rPr>
              <a:t>Systems</a:t>
            </a:r>
            <a:r>
              <a:rPr sz="1100" spc="15" dirty="0">
                <a:latin typeface="Tahoma"/>
                <a:cs typeface="Tahoma"/>
              </a:rPr>
              <a:t> </a:t>
            </a:r>
            <a:r>
              <a:rPr sz="1100" spc="-55" dirty="0">
                <a:latin typeface="Tahoma"/>
                <a:cs typeface="Tahoma"/>
              </a:rPr>
              <a:t>and</a:t>
            </a:r>
            <a:r>
              <a:rPr sz="1100" spc="15" dirty="0">
                <a:latin typeface="Tahoma"/>
                <a:cs typeface="Tahoma"/>
              </a:rPr>
              <a:t> </a:t>
            </a:r>
            <a:r>
              <a:rPr sz="1100" spc="-30" dirty="0">
                <a:latin typeface="Tahoma"/>
                <a:cs typeface="Tahoma"/>
              </a:rPr>
              <a:t>Collective</a:t>
            </a:r>
            <a:r>
              <a:rPr sz="1100" spc="25" dirty="0">
                <a:latin typeface="Tahoma"/>
                <a:cs typeface="Tahoma"/>
              </a:rPr>
              <a:t> </a:t>
            </a:r>
            <a:r>
              <a:rPr sz="1100" spc="-35" dirty="0">
                <a:latin typeface="Tahoma"/>
                <a:cs typeface="Tahoma"/>
              </a:rPr>
              <a:t>Behaviour</a:t>
            </a:r>
            <a:endParaRPr sz="1100" dirty="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Outlines</a:t>
            </a:r>
            <a:endParaRPr lang="en-MY" sz="1500" baseline="27777" dirty="0">
              <a:latin typeface="Tahoma"/>
              <a:cs typeface="Tahoma"/>
            </a:endParaRPr>
          </a:p>
        </p:txBody>
      </p:sp>
      <p:sp>
        <p:nvSpPr>
          <p:cNvPr id="3" name="object 3"/>
          <p:cNvSpPr txBox="1"/>
          <p:nvPr/>
        </p:nvSpPr>
        <p:spPr>
          <a:xfrm>
            <a:off x="247701" y="663575"/>
            <a:ext cx="4114749" cy="2420599"/>
          </a:xfrm>
          <a:prstGeom prst="rect">
            <a:avLst/>
          </a:prstGeom>
        </p:spPr>
        <p:txBody>
          <a:bodyPr vert="horz" wrap="square" lIns="0" tIns="0" rIns="0" bIns="0" rtlCol="0">
            <a:spAutoFit/>
          </a:bodyPr>
          <a:lstStyle/>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Introduction to Auctions. </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Key Auction Elements: </a:t>
            </a:r>
            <a:r>
              <a:rPr lang="en-US" sz="1100" spc="10" dirty="0">
                <a:latin typeface="Tahoma"/>
                <a:cs typeface="Tahoma"/>
              </a:rPr>
              <a:t>(Auctioneer, Bidders, and Good).</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Types of Value: </a:t>
            </a:r>
            <a:r>
              <a:rPr lang="en-US" sz="1100" spc="10" dirty="0">
                <a:latin typeface="Tahoma"/>
                <a:cs typeface="Tahoma"/>
              </a:rPr>
              <a:t>(Private Value, Common Value, Correlated Value).</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Auction Mechanisms: </a:t>
            </a:r>
            <a:r>
              <a:rPr lang="en-US" sz="1100" spc="10" dirty="0">
                <a:latin typeface="Tahoma"/>
                <a:cs typeface="Tahoma"/>
              </a:rPr>
              <a:t>(English Auction, Dutch Auction, First-Price Sealed-Bid, and Vickrey Auction)</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Combinatorial Auctions: </a:t>
            </a:r>
            <a:r>
              <a:rPr lang="en-US" sz="1100" spc="10" dirty="0">
                <a:latin typeface="Tahoma"/>
                <a:cs typeface="Tahoma"/>
              </a:rPr>
              <a:t>(Winner Determination and Bidding Languages).</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VCG Mechanism: </a:t>
            </a:r>
            <a:r>
              <a:rPr lang="en-US" sz="1100" spc="10" dirty="0">
                <a:latin typeface="Tahoma"/>
                <a:cs typeface="Tahoma"/>
              </a:rPr>
              <a:t>(Incentive Compatible, and Maximizes Social Welfare) </a:t>
            </a:r>
          </a:p>
          <a:p>
            <a:pPr marL="284163" indent="-230188">
              <a:lnSpc>
                <a:spcPts val="1400"/>
              </a:lnSpc>
              <a:spcBef>
                <a:spcPts val="600"/>
              </a:spcBef>
              <a:buClr>
                <a:srgbClr val="0000FF"/>
              </a:buClr>
              <a:buFont typeface="Wingdings 3" panose="05040102010807070707" pitchFamily="18" charset="2"/>
              <a:buChar char=""/>
            </a:pPr>
            <a:r>
              <a:rPr lang="en-US" sz="1100" b="1" spc="10" dirty="0">
                <a:latin typeface="Tahoma"/>
                <a:cs typeface="Tahoma"/>
              </a:rPr>
              <a:t>Collusion.</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Resource Allocation in Multi-agent Systems</a:t>
            </a:r>
            <a:endParaRPr lang="en-MY" sz="1500" baseline="27777" dirty="0">
              <a:latin typeface="Tahoma"/>
              <a:cs typeface="Tahoma"/>
            </a:endParaRPr>
          </a:p>
        </p:txBody>
      </p:sp>
      <p:sp>
        <p:nvSpPr>
          <p:cNvPr id="3" name="object 3"/>
          <p:cNvSpPr txBox="1"/>
          <p:nvPr/>
        </p:nvSpPr>
        <p:spPr>
          <a:xfrm>
            <a:off x="589707" y="510025"/>
            <a:ext cx="3405556" cy="175375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Central Problem</a:t>
            </a:r>
            <a:r>
              <a:rPr lang="en-MY" sz="1100" spc="10" dirty="0">
                <a:latin typeface="Tahoma"/>
                <a:cs typeface="Tahoma"/>
              </a:rPr>
              <a:t>: Allocation of </a:t>
            </a:r>
            <a:r>
              <a:rPr lang="en-MY" sz="1100" spc="10" dirty="0">
                <a:solidFill>
                  <a:srgbClr val="0000FF"/>
                </a:solidFill>
                <a:latin typeface="Tahoma"/>
                <a:cs typeface="Tahoma"/>
              </a:rPr>
              <a:t>scarce</a:t>
            </a:r>
            <a:r>
              <a:rPr lang="en-MY" sz="1100" spc="10" dirty="0">
                <a:latin typeface="Tahoma"/>
                <a:cs typeface="Tahoma"/>
              </a:rPr>
              <a:t> resources among multiple agents is a fundamental challenge in multi-agent systems.</a:t>
            </a:r>
          </a:p>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Diverse Resources</a:t>
            </a:r>
            <a:r>
              <a:rPr lang="en-MY" sz="1100" spc="10" dirty="0">
                <a:latin typeface="Tahoma"/>
                <a:cs typeface="Tahoma"/>
              </a:rPr>
              <a:t>: Resources encompass various forms:</a:t>
            </a:r>
          </a:p>
          <a:p>
            <a:pPr marL="741363" lvl="1" indent="-230188">
              <a:lnSpc>
                <a:spcPts val="1400"/>
              </a:lnSpc>
              <a:spcBef>
                <a:spcPts val="330"/>
              </a:spcBef>
              <a:buClr>
                <a:schemeClr val="tx2">
                  <a:lumMod val="40000"/>
                  <a:lumOff val="60000"/>
                </a:schemeClr>
              </a:buClr>
              <a:buFont typeface="Wingdings 3" panose="05040102010807070707" pitchFamily="18" charset="2"/>
              <a:buChar char=""/>
            </a:pPr>
            <a:r>
              <a:rPr lang="en-MY" sz="1100" spc="10" dirty="0">
                <a:latin typeface="Tahoma"/>
                <a:cs typeface="Tahoma"/>
              </a:rPr>
              <a:t>Physical objects (e.g., goods, equipment).</a:t>
            </a:r>
          </a:p>
          <a:p>
            <a:pPr marL="741363" lvl="1" indent="-230188">
              <a:lnSpc>
                <a:spcPts val="1400"/>
              </a:lnSpc>
              <a:spcBef>
                <a:spcPts val="330"/>
              </a:spcBef>
              <a:buClr>
                <a:schemeClr val="tx2">
                  <a:lumMod val="40000"/>
                  <a:lumOff val="60000"/>
                </a:schemeClr>
              </a:buClr>
              <a:buFont typeface="Wingdings 3" panose="05040102010807070707" pitchFamily="18" charset="2"/>
              <a:buChar char=""/>
            </a:pPr>
            <a:r>
              <a:rPr lang="en-MY" sz="1100" spc="10" dirty="0">
                <a:latin typeface="Tahoma"/>
                <a:cs typeface="Tahoma"/>
              </a:rPr>
              <a:t>Rights to use assets (e.g., land, licenses).</a:t>
            </a:r>
          </a:p>
          <a:p>
            <a:pPr marL="741363" lvl="1" indent="-230188">
              <a:lnSpc>
                <a:spcPts val="1400"/>
              </a:lnSpc>
              <a:spcBef>
                <a:spcPts val="330"/>
              </a:spcBef>
              <a:buClr>
                <a:schemeClr val="tx2">
                  <a:lumMod val="40000"/>
                  <a:lumOff val="60000"/>
                </a:schemeClr>
              </a:buClr>
              <a:buFont typeface="Wingdings 3" panose="05040102010807070707" pitchFamily="18" charset="2"/>
              <a:buChar char=""/>
            </a:pPr>
            <a:r>
              <a:rPr lang="en-MY" sz="1100" spc="10" dirty="0">
                <a:latin typeface="Tahoma"/>
                <a:cs typeface="Tahoma"/>
              </a:rPr>
              <a:t>Computational resources (e.g., processor time, memory).</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pic>
        <p:nvPicPr>
          <p:cNvPr id="20" name="Picture 19" descr="A diagram of a company&#10;&#10;Description automatically generated">
            <a:extLst>
              <a:ext uri="{FF2B5EF4-FFF2-40B4-BE49-F238E27FC236}">
                <a16:creationId xmlns:a16="http://schemas.microsoft.com/office/drawing/2014/main" id="{6544D4DD-D060-F2BE-6681-20D6205E5F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706" y="2328894"/>
            <a:ext cx="3405555" cy="936171"/>
          </a:xfrm>
          <a:prstGeom prst="rect">
            <a:avLst/>
          </a:prstGeom>
        </p:spPr>
      </p:pic>
    </p:spTree>
    <p:extLst>
      <p:ext uri="{BB962C8B-B14F-4D97-AF65-F5344CB8AC3E}">
        <p14:creationId xmlns:p14="http://schemas.microsoft.com/office/powerpoint/2010/main" val="893304032"/>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Supply and Demand</a:t>
            </a:r>
            <a:endParaRPr lang="en-MY" sz="1500" baseline="27777" dirty="0">
              <a:latin typeface="Tahoma"/>
              <a:cs typeface="Tahoma"/>
            </a:endParaRPr>
          </a:p>
        </p:txBody>
      </p:sp>
      <p:sp>
        <p:nvSpPr>
          <p:cNvPr id="3" name="object 3"/>
          <p:cNvSpPr txBox="1"/>
          <p:nvPr/>
        </p:nvSpPr>
        <p:spPr>
          <a:xfrm>
            <a:off x="589707" y="799351"/>
            <a:ext cx="3405556" cy="2112822"/>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Driving Force:</a:t>
            </a:r>
            <a:r>
              <a:rPr lang="en-US" sz="1100" spc="10" dirty="0">
                <a:latin typeface="Tahoma"/>
                <a:cs typeface="Tahoma"/>
              </a:rPr>
              <a:t> Resource allocation hinges on the balance between supply and demand.</a:t>
            </a:r>
          </a:p>
          <a:p>
            <a:pPr marL="53975">
              <a:lnSpc>
                <a:spcPts val="1400"/>
              </a:lnSpc>
              <a:spcBef>
                <a:spcPts val="330"/>
              </a:spcBef>
              <a:buClr>
                <a:srgbClr val="0000FF"/>
              </a:buClr>
            </a:pPr>
            <a:endParaRPr lang="en-US" sz="1100" b="1"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Simple Cases: </a:t>
            </a:r>
            <a:r>
              <a:rPr lang="en-US" sz="1100" spc="10" dirty="0">
                <a:latin typeface="Tahoma"/>
                <a:cs typeface="Tahoma"/>
              </a:rPr>
              <a:t>If a resource is abundant or there's no competition, allocation is straightforward.</a:t>
            </a:r>
          </a:p>
          <a:p>
            <a:pPr marL="53975">
              <a:lnSpc>
                <a:spcPts val="1400"/>
              </a:lnSpc>
              <a:spcBef>
                <a:spcPts val="330"/>
              </a:spcBef>
              <a:buClr>
                <a:srgbClr val="0000FF"/>
              </a:buClr>
            </a:pPr>
            <a:endParaRPr lang="en-US" sz="1100" b="1"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Challenge: </a:t>
            </a:r>
            <a:r>
              <a:rPr lang="en-US" sz="1100" spc="10" dirty="0">
                <a:latin typeface="Tahoma"/>
                <a:cs typeface="Tahoma"/>
              </a:rPr>
              <a:t>When demand exceeds supply, a mechanism is needed to determine how to distribute the limited resource fairly and efficiently.</a:t>
            </a:r>
            <a:endParaRPr lang="en-MY"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745138298"/>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Auctions and the Internet</a:t>
            </a:r>
            <a:endParaRPr sz="1500" baseline="27777" dirty="0">
              <a:latin typeface="Tahoma"/>
              <a:cs typeface="Tahoma"/>
            </a:endParaRPr>
          </a:p>
        </p:txBody>
      </p:sp>
      <p:sp>
        <p:nvSpPr>
          <p:cNvPr id="3" name="object 3"/>
          <p:cNvSpPr txBox="1"/>
          <p:nvPr/>
        </p:nvSpPr>
        <p:spPr>
          <a:xfrm>
            <a:off x="673140" y="547968"/>
            <a:ext cx="3536910" cy="280532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Traditional Rarity</a:t>
            </a:r>
            <a:r>
              <a:rPr lang="en-US" sz="1100" spc="10" dirty="0">
                <a:latin typeface="Tahoma"/>
                <a:cs typeface="Tahoma"/>
              </a:rPr>
              <a:t>: Auctions were historically uncommon.</a:t>
            </a:r>
          </a:p>
          <a:p>
            <a:pPr marL="53975">
              <a:lnSpc>
                <a:spcPts val="1400"/>
              </a:lnSpc>
              <a:spcBef>
                <a:spcPts val="330"/>
              </a:spcBef>
              <a:buClr>
                <a:srgbClr val="0000FF"/>
              </a:buCl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Internet Revolution</a:t>
            </a:r>
            <a:r>
              <a:rPr lang="en-US" sz="1100" spc="10" dirty="0">
                <a:latin typeface="Tahoma"/>
                <a:cs typeface="Tahoma"/>
              </a:rPr>
              <a:t>: The internet's advent has led to a dramatic surge in auction usage.</a:t>
            </a:r>
          </a:p>
          <a:p>
            <a:pPr marL="53975">
              <a:lnSpc>
                <a:spcPts val="1400"/>
              </a:lnSpc>
              <a:spcBef>
                <a:spcPts val="330"/>
              </a:spcBef>
              <a:buClr>
                <a:srgbClr val="0000FF"/>
              </a:buCl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Frictionless Commerce</a:t>
            </a:r>
            <a:r>
              <a:rPr lang="en-US" sz="1100" spc="10" dirty="0">
                <a:latin typeface="Tahoma"/>
                <a:cs typeface="Tahoma"/>
              </a:rPr>
              <a:t>: Online platforms facilitate smooth and efficient transactions.</a:t>
            </a:r>
          </a:p>
          <a:p>
            <a:pPr marL="53975">
              <a:lnSpc>
                <a:spcPts val="1400"/>
              </a:lnSpc>
              <a:spcBef>
                <a:spcPts val="330"/>
              </a:spcBef>
              <a:buClr>
                <a:srgbClr val="0000FF"/>
              </a:buCl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Expanded Scope</a:t>
            </a:r>
            <a:r>
              <a:rPr lang="en-US" sz="1100" spc="10" dirty="0">
                <a:latin typeface="Tahoma"/>
                <a:cs typeface="Tahoma"/>
              </a:rPr>
              <a:t>: Items that were previously unprofitable to auction are now viable.</a:t>
            </a:r>
          </a:p>
          <a:p>
            <a:pPr marL="53975">
              <a:lnSpc>
                <a:spcPts val="1400"/>
              </a:lnSpc>
              <a:spcBef>
                <a:spcPts val="330"/>
              </a:spcBef>
              <a:buClr>
                <a:srgbClr val="0000FF"/>
              </a:buCl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Prominent Examples</a:t>
            </a:r>
            <a:r>
              <a:rPr lang="en-US" sz="1100" spc="10" dirty="0">
                <a:latin typeface="Tahoma"/>
                <a:cs typeface="Tahoma"/>
              </a:rPr>
              <a:t>: eBay and </a:t>
            </a:r>
            <a:r>
              <a:rPr lang="en-US" sz="1100" spc="10" dirty="0" err="1">
                <a:latin typeface="Tahoma"/>
                <a:cs typeface="Tahoma"/>
              </a:rPr>
              <a:t>Adword</a:t>
            </a:r>
            <a:r>
              <a:rPr lang="en-US" sz="1100" spc="10" dirty="0">
                <a:latin typeface="Tahoma"/>
                <a:cs typeface="Tahoma"/>
              </a:rPr>
              <a:t> auctions.</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271484201"/>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10;Auctioneer: An image of a person with a gavel, perhaps standing on a podium, could represent the auctioneer. You could also use a more generic image of a person in a business suit to symbolise the role.&#10;●&#10;Bidders: An image of a group of people raising their hands or holding bidding paddles could depict bidders.&#10;●&#10;Good: This image will depend on the specific type of auction. For example, you could use an image of a painting for an art auction, a house for a real estate auction, or a smartphone for an online auction.">
            <a:extLst>
              <a:ext uri="{FF2B5EF4-FFF2-40B4-BE49-F238E27FC236}">
                <a16:creationId xmlns:a16="http://schemas.microsoft.com/office/drawing/2014/main" id="{FDBC957E-7E6D-9484-1EF2-5AC03F9E7F2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140"/>
          <a:stretch/>
        </p:blipFill>
        <p:spPr bwMode="auto">
          <a:xfrm>
            <a:off x="3286815" y="815975"/>
            <a:ext cx="1323285" cy="1577975"/>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Defining Auctions</a:t>
            </a:r>
            <a:endParaRPr sz="1500" baseline="27777" dirty="0">
              <a:latin typeface="Tahoma"/>
              <a:cs typeface="Tahoma"/>
            </a:endParaRPr>
          </a:p>
        </p:txBody>
      </p:sp>
      <p:sp>
        <p:nvSpPr>
          <p:cNvPr id="3" name="object 3"/>
          <p:cNvSpPr txBox="1"/>
          <p:nvPr/>
        </p:nvSpPr>
        <p:spPr>
          <a:xfrm>
            <a:off x="26344" y="672300"/>
            <a:ext cx="3405556" cy="218976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Formal Definition</a:t>
            </a:r>
            <a:r>
              <a:rPr lang="en-US" sz="1100" spc="10" dirty="0">
                <a:latin typeface="Tahoma"/>
                <a:cs typeface="Tahoma"/>
              </a:rPr>
              <a:t>: An auction is a market institution where:</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Traders exchange messages containing price information (bids or asks).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Higher bids and lower asks receive priority.</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Key Participants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Auctioneer</a:t>
            </a:r>
            <a:r>
              <a:rPr lang="en-US" sz="1100" spc="10" dirty="0">
                <a:latin typeface="Tahoma"/>
                <a:cs typeface="Tahoma"/>
              </a:rPr>
              <a:t>: The agent selling the good.</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Bidders</a:t>
            </a:r>
            <a:r>
              <a:rPr lang="en-US" sz="1100" spc="10" dirty="0">
                <a:latin typeface="Tahoma"/>
                <a:cs typeface="Tahoma"/>
              </a:rPr>
              <a:t>: Agents competing to buy the good.</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481329411"/>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Auction Objectives</a:t>
            </a:r>
            <a:endParaRPr sz="1500" baseline="27777" dirty="0">
              <a:latin typeface="Tahoma"/>
              <a:cs typeface="Tahoma"/>
            </a:endParaRPr>
          </a:p>
        </p:txBody>
      </p:sp>
      <p:sp>
        <p:nvSpPr>
          <p:cNvPr id="3" name="object 3"/>
          <p:cNvSpPr txBox="1"/>
          <p:nvPr/>
        </p:nvSpPr>
        <p:spPr>
          <a:xfrm>
            <a:off x="648789" y="511175"/>
            <a:ext cx="3405556" cy="95866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Auctioneer's Goal</a:t>
            </a:r>
            <a:r>
              <a:rPr lang="en-US" sz="1100" spc="10" dirty="0">
                <a:latin typeface="Tahoma"/>
                <a:cs typeface="Tahoma"/>
              </a:rPr>
              <a:t>: To allocate the good to a bidder while </a:t>
            </a:r>
            <a:r>
              <a:rPr lang="en-US" sz="1100" spc="10" dirty="0">
                <a:solidFill>
                  <a:srgbClr val="0000FF"/>
                </a:solidFill>
                <a:latin typeface="Tahoma"/>
                <a:cs typeface="Tahoma"/>
              </a:rPr>
              <a:t>maximizing</a:t>
            </a:r>
            <a:r>
              <a:rPr lang="en-US" sz="1100" spc="10" dirty="0">
                <a:latin typeface="Tahoma"/>
                <a:cs typeface="Tahoma"/>
              </a:rPr>
              <a:t> the selling price.</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Bidders' Goal</a:t>
            </a:r>
            <a:r>
              <a:rPr lang="en-US" sz="1100" spc="10" dirty="0">
                <a:latin typeface="Tahoma"/>
                <a:cs typeface="Tahoma"/>
              </a:rPr>
              <a:t>: To acquire the good at the </a:t>
            </a:r>
            <a:r>
              <a:rPr lang="en-US" sz="1100" spc="10" dirty="0">
                <a:solidFill>
                  <a:srgbClr val="0000FF"/>
                </a:solidFill>
                <a:latin typeface="Tahoma"/>
                <a:cs typeface="Tahoma"/>
              </a:rPr>
              <a:t>lowest</a:t>
            </a:r>
            <a:r>
              <a:rPr lang="en-US" sz="1100" spc="10" dirty="0">
                <a:latin typeface="Tahoma"/>
                <a:cs typeface="Tahoma"/>
              </a:rPr>
              <a:t> possible price.</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pic>
        <p:nvPicPr>
          <p:cNvPr id="6146" name="Picture 2" descr="Auctioneer's Goal: To allocate the good to a bidder while maximizing the selling price.&#10;&#10;Bidders' Goal: To acquire the good at the lowest possible price.&#10;">
            <a:extLst>
              <a:ext uri="{FF2B5EF4-FFF2-40B4-BE49-F238E27FC236}">
                <a16:creationId xmlns:a16="http://schemas.microsoft.com/office/drawing/2014/main" id="{C2B8C7F5-D20D-23B7-0C75-A88F0AEA8EC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6512" b="8820"/>
          <a:stretch/>
        </p:blipFill>
        <p:spPr bwMode="auto">
          <a:xfrm>
            <a:off x="1290285" y="1567172"/>
            <a:ext cx="2008189" cy="1700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677086"/>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Types of Value </a:t>
            </a:r>
            <a:endParaRPr sz="1500" baseline="27777" dirty="0">
              <a:latin typeface="Tahoma"/>
              <a:cs typeface="Tahoma"/>
            </a:endParaRPr>
          </a:p>
        </p:txBody>
      </p:sp>
      <p:sp>
        <p:nvSpPr>
          <p:cNvPr id="3" name="object 3"/>
          <p:cNvSpPr txBox="1"/>
          <p:nvPr/>
        </p:nvSpPr>
        <p:spPr>
          <a:xfrm>
            <a:off x="209574" y="511175"/>
            <a:ext cx="4229075" cy="268990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Private Value</a:t>
            </a:r>
            <a:r>
              <a:rPr lang="en-US" sz="1100" spc="10" dirty="0">
                <a:latin typeface="Tahoma"/>
                <a:cs typeface="Tahoma"/>
              </a:rPr>
              <a:t>: The good's value is subjective and independent of other bidders' valuations.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Example: A rare collectible item holds personal significance for a specific buyer.</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Common Value</a:t>
            </a:r>
            <a:r>
              <a:rPr lang="en-US" sz="1100" spc="10" dirty="0">
                <a:latin typeface="Tahoma"/>
                <a:cs typeface="Tahoma"/>
              </a:rPr>
              <a:t>: The good possesses the same inherent value for all bidders, but its exact value may be uncertain.</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Example: An oil field's value is the same for all oil companies, but its actual oil reserves are unknown.</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Correlated Value</a:t>
            </a:r>
            <a:r>
              <a:rPr lang="en-US" sz="1100" spc="10" dirty="0">
                <a:latin typeface="Tahoma"/>
                <a:cs typeface="Tahoma"/>
              </a:rPr>
              <a:t>: Individual bidders' valuations are interconnected, implying that higher bids from others suggest a higher value for you as well.</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Example: The value of a piece of land is influenced by its potential for development, and bids from developers indicate its attractiveness for such projects.</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8</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563190979"/>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Winner Determination and Bidding Visibility</a:t>
            </a:r>
            <a:endParaRPr sz="1500" baseline="27777" dirty="0">
              <a:latin typeface="Tahoma"/>
              <a:cs typeface="Tahoma"/>
            </a:endParaRPr>
          </a:p>
        </p:txBody>
      </p:sp>
      <p:sp>
        <p:nvSpPr>
          <p:cNvPr id="3" name="object 3"/>
          <p:cNvSpPr txBox="1"/>
          <p:nvPr/>
        </p:nvSpPr>
        <p:spPr>
          <a:xfrm>
            <a:off x="247650" y="739775"/>
            <a:ext cx="4114800" cy="2151295"/>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Winner Determination</a:t>
            </a:r>
            <a:r>
              <a:rPr lang="en-US" sz="1100" spc="10" dirty="0">
                <a:latin typeface="Tahoma"/>
                <a:cs typeface="Tahoma"/>
              </a:rPr>
              <a:t>: Mechanisms for selecting the winner and determining the price they pay:</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First-price auction</a:t>
            </a:r>
            <a:r>
              <a:rPr lang="en-US" sz="1100" spc="10" dirty="0">
                <a:latin typeface="Tahoma"/>
                <a:cs typeface="Tahoma"/>
              </a:rPr>
              <a:t>: The </a:t>
            </a:r>
            <a:r>
              <a:rPr lang="en-US" sz="1100" spc="10" dirty="0">
                <a:solidFill>
                  <a:srgbClr val="0000FF"/>
                </a:solidFill>
                <a:latin typeface="Tahoma"/>
                <a:cs typeface="Tahoma"/>
              </a:rPr>
              <a:t>highest bidder </a:t>
            </a:r>
            <a:r>
              <a:rPr lang="en-US" sz="1100" spc="10" dirty="0">
                <a:latin typeface="Tahoma"/>
                <a:cs typeface="Tahoma"/>
              </a:rPr>
              <a:t>wins and pays the amount of their bid.</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Second-price auction</a:t>
            </a:r>
            <a:r>
              <a:rPr lang="en-US" sz="1100" spc="10" dirty="0">
                <a:latin typeface="Tahoma"/>
                <a:cs typeface="Tahoma"/>
              </a:rPr>
              <a:t>: The </a:t>
            </a:r>
            <a:r>
              <a:rPr lang="en-US" sz="1100" spc="10" dirty="0">
                <a:solidFill>
                  <a:srgbClr val="0000FF"/>
                </a:solidFill>
                <a:latin typeface="Tahoma"/>
                <a:cs typeface="Tahoma"/>
              </a:rPr>
              <a:t>highest bidder </a:t>
            </a:r>
            <a:r>
              <a:rPr lang="en-US" sz="1100" spc="10" dirty="0">
                <a:latin typeface="Tahoma"/>
                <a:cs typeface="Tahoma"/>
              </a:rPr>
              <a:t>wins but only pays the amount of the second-highest bid.</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Open Cry vs Sealed-bid</a:t>
            </a:r>
            <a:r>
              <a:rPr lang="en-US" sz="1100" spc="10" dirty="0">
                <a:latin typeface="Tahoma"/>
                <a:cs typeface="Tahoma"/>
              </a:rPr>
              <a:t>: Whether bids are publicly visible or kept confidential:</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Open cry</a:t>
            </a:r>
            <a:r>
              <a:rPr lang="en-US" sz="1100" spc="10" dirty="0">
                <a:latin typeface="Tahoma"/>
                <a:cs typeface="Tahoma"/>
              </a:rPr>
              <a:t>: All bidders can observe each other's bids.</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Sealed-bid</a:t>
            </a:r>
            <a:r>
              <a:rPr lang="en-US" sz="1100" spc="10" dirty="0">
                <a:latin typeface="Tahoma"/>
                <a:cs typeface="Tahoma"/>
              </a:rPr>
              <a:t>: Bids are submitted secretly, and only the auctioneer knows the bid amounts.</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811586788"/>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One-Shot vs Iterated Bids</a:t>
            </a:r>
            <a:endParaRPr lang="en-MY" sz="1500" baseline="27777" dirty="0">
              <a:latin typeface="Tahoma"/>
              <a:cs typeface="Tahoma"/>
            </a:endParaRPr>
          </a:p>
        </p:txBody>
      </p:sp>
      <p:sp>
        <p:nvSpPr>
          <p:cNvPr id="3" name="object 3"/>
          <p:cNvSpPr txBox="1"/>
          <p:nvPr/>
        </p:nvSpPr>
        <p:spPr>
          <a:xfrm>
            <a:off x="552450" y="739775"/>
            <a:ext cx="3810000" cy="1933286"/>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One-shot</a:t>
            </a:r>
            <a:r>
              <a:rPr lang="en-US" sz="1100" spc="10" dirty="0">
                <a:latin typeface="Tahoma"/>
                <a:cs typeface="Tahoma"/>
              </a:rPr>
              <a:t>: A single round of bidding determines the winner.</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Iterated</a:t>
            </a:r>
            <a:r>
              <a:rPr lang="en-US" sz="1100" spc="10" dirty="0">
                <a:latin typeface="Tahoma"/>
                <a:cs typeface="Tahoma"/>
              </a:rPr>
              <a:t>: Multiple bidding rounds occur, with prices either ascending or descending:</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Ascending</a:t>
            </a:r>
            <a:r>
              <a:rPr lang="en-US" sz="1100" spc="10" dirty="0">
                <a:latin typeface="Tahoma"/>
                <a:cs typeface="Tahoma"/>
              </a:rPr>
              <a:t>: Bids increase in successive rounds.</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Descending</a:t>
            </a:r>
            <a:r>
              <a:rPr lang="en-US" sz="1100" spc="10" dirty="0">
                <a:latin typeface="Tahoma"/>
                <a:cs typeface="Tahoma"/>
              </a:rPr>
              <a:t>: Bids decrease in successive rounds.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Terminating Condition</a:t>
            </a:r>
            <a:r>
              <a:rPr lang="en-US" sz="1100" spc="10" dirty="0">
                <a:latin typeface="Tahoma"/>
                <a:cs typeface="Tahoma"/>
              </a:rPr>
              <a:t>: A rule that specifies when the auction ends (e.g., fixed time, no more bidding activity).</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111318150"/>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English Auctions</a:t>
            </a:r>
            <a:endParaRPr lang="en-MY" sz="1500" baseline="27777" dirty="0">
              <a:latin typeface="Tahoma"/>
              <a:cs typeface="Tahoma"/>
            </a:endParaRPr>
          </a:p>
        </p:txBody>
      </p:sp>
      <p:sp>
        <p:nvSpPr>
          <p:cNvPr id="3" name="object 3"/>
          <p:cNvSpPr txBox="1"/>
          <p:nvPr/>
        </p:nvSpPr>
        <p:spPr>
          <a:xfrm>
            <a:off x="400050" y="587375"/>
            <a:ext cx="3862756" cy="254883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Popularity</a:t>
            </a:r>
            <a:r>
              <a:rPr lang="en-US" sz="1100" spc="10" dirty="0">
                <a:latin typeface="Tahoma"/>
                <a:cs typeface="Tahoma"/>
              </a:rPr>
              <a:t>: The most widely known auction type, prevalent in various settings.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Procedure</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solidFill>
                  <a:srgbClr val="0000FF"/>
                </a:solidFill>
                <a:latin typeface="Tahoma"/>
                <a:cs typeface="Tahoma"/>
              </a:rPr>
              <a:t>Open cry </a:t>
            </a:r>
            <a:r>
              <a:rPr lang="en-US" sz="1100" spc="10" dirty="0">
                <a:latin typeface="Tahoma"/>
                <a:cs typeface="Tahoma"/>
              </a:rPr>
              <a:t>format with </a:t>
            </a:r>
            <a:r>
              <a:rPr lang="en-US" sz="1100" spc="10" dirty="0">
                <a:solidFill>
                  <a:srgbClr val="0000FF"/>
                </a:solidFill>
                <a:latin typeface="Tahoma"/>
                <a:cs typeface="Tahoma"/>
              </a:rPr>
              <a:t>ascending</a:t>
            </a:r>
            <a:r>
              <a:rPr lang="en-US" sz="1100" spc="10" dirty="0">
                <a:latin typeface="Tahoma"/>
                <a:cs typeface="Tahoma"/>
              </a:rPr>
              <a:t> bids.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Bidders call out increasingly higher bids, or the auctioneer announces prices with bidders signaling agreement.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Reserve Price</a:t>
            </a:r>
            <a:r>
              <a:rPr lang="en-US" sz="1100" spc="10" dirty="0">
                <a:latin typeface="Tahoma"/>
                <a:cs typeface="Tahoma"/>
              </a:rPr>
              <a:t>: The seller can establish a </a:t>
            </a:r>
            <a:r>
              <a:rPr lang="en-US" sz="1100" spc="10" dirty="0">
                <a:solidFill>
                  <a:srgbClr val="0000FF"/>
                </a:solidFill>
                <a:latin typeface="Tahoma"/>
                <a:cs typeface="Tahoma"/>
              </a:rPr>
              <a:t>minimum acceptable price</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Auction End</a:t>
            </a:r>
            <a:r>
              <a:rPr lang="en-US" sz="1100" spc="10" dirty="0">
                <a:latin typeface="Tahoma"/>
                <a:cs typeface="Tahoma"/>
              </a:rPr>
              <a:t>: Determined by a fixed time (common in online auctions) or when bidding ceases.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Payment</a:t>
            </a:r>
            <a:r>
              <a:rPr lang="en-US" sz="1100" spc="10" dirty="0">
                <a:latin typeface="Tahoma"/>
                <a:cs typeface="Tahoma"/>
              </a:rPr>
              <a:t>: The "last man standing" (highest bidder) pays their final bid</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883779810"/>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English Auction Strategy</a:t>
            </a:r>
            <a:endParaRPr lang="en-MY" sz="1500" baseline="27777" dirty="0">
              <a:latin typeface="Tahoma"/>
              <a:cs typeface="Tahoma"/>
            </a:endParaRPr>
          </a:p>
        </p:txBody>
      </p:sp>
      <p:sp>
        <p:nvSpPr>
          <p:cNvPr id="3" name="object 3"/>
          <p:cNvSpPr txBox="1"/>
          <p:nvPr/>
        </p:nvSpPr>
        <p:spPr>
          <a:xfrm>
            <a:off x="400050" y="739775"/>
            <a:ext cx="3862756" cy="157421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Recommended Strategy</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Incrementally outbid the current highest bid by a small amount until reaching your private valuation.</a:t>
            </a:r>
          </a:p>
          <a:p>
            <a:pPr marL="53975">
              <a:lnSpc>
                <a:spcPts val="1400"/>
              </a:lnSpc>
              <a:spcBef>
                <a:spcPts val="330"/>
              </a:spcBef>
              <a:buClr>
                <a:srgbClr val="0000FF"/>
              </a:buClr>
            </a:pPr>
            <a:endParaRPr lang="en-US" sz="1100" spc="10" dirty="0">
              <a:latin typeface="Tahoma"/>
              <a:cs typeface="Tahoma"/>
            </a:endParaRP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Withdraw from bidding once the price surpasses your valuation.</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669235088"/>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English Auction Classification and Risks</a:t>
            </a:r>
            <a:endParaRPr sz="1500" baseline="27777" dirty="0">
              <a:latin typeface="Tahoma"/>
              <a:cs typeface="Tahoma"/>
            </a:endParaRPr>
          </a:p>
        </p:txBody>
      </p:sp>
      <p:sp>
        <p:nvSpPr>
          <p:cNvPr id="3" name="object 3"/>
          <p:cNvSpPr txBox="1"/>
          <p:nvPr/>
        </p:nvSpPr>
        <p:spPr>
          <a:xfrm>
            <a:off x="325624" y="655728"/>
            <a:ext cx="3938956" cy="244624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Classification</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First-price</a:t>
            </a:r>
            <a:r>
              <a:rPr lang="en-US" sz="1100" spc="10" dirty="0">
                <a:latin typeface="Tahoma"/>
                <a:cs typeface="Tahoma"/>
              </a:rPr>
              <a:t>: The winner pays their own bid.</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Open cry</a:t>
            </a:r>
            <a:r>
              <a:rPr lang="en-US" sz="1100" spc="10" dirty="0">
                <a:latin typeface="Tahoma"/>
                <a:cs typeface="Tahoma"/>
              </a:rPr>
              <a:t>: Bids are publicly visible.</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Ascending</a:t>
            </a:r>
            <a:r>
              <a:rPr lang="en-US" sz="1100" spc="10" dirty="0">
                <a:latin typeface="Tahoma"/>
                <a:cs typeface="Tahoma"/>
              </a:rPr>
              <a:t>: Bids increase throughout the auction.</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Prevalence</a:t>
            </a:r>
            <a:r>
              <a:rPr lang="en-US" sz="1100" spc="10" dirty="0">
                <a:latin typeface="Tahoma"/>
                <a:cs typeface="Tahoma"/>
              </a:rPr>
              <a:t>: Accounts for approximately 95% of internet auctions.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Typical Uses</a:t>
            </a:r>
            <a:r>
              <a:rPr lang="en-US" sz="1100" spc="10" dirty="0">
                <a:latin typeface="Tahoma"/>
                <a:cs typeface="Tahoma"/>
              </a:rPr>
              <a:t>: Sale of antiques, artwork, and collectibles.</a:t>
            </a:r>
          </a:p>
          <a:p>
            <a:pPr marL="284163" indent="-230188">
              <a:lnSpc>
                <a:spcPts val="1400"/>
              </a:lnSpc>
              <a:spcBef>
                <a:spcPts val="330"/>
              </a:spcBef>
              <a:buClr>
                <a:srgbClr val="0000FF"/>
              </a:buClr>
              <a:buFont typeface="Wingdings 3" panose="05040102010807070707" pitchFamily="18" charset="2"/>
              <a:buChar char=""/>
            </a:pPr>
            <a:r>
              <a:rPr lang="en-US" sz="1100" b="1" spc="10" dirty="0">
                <a:solidFill>
                  <a:srgbClr val="0000FF"/>
                </a:solidFill>
                <a:latin typeface="Tahoma"/>
                <a:cs typeface="Tahoma"/>
              </a:rPr>
              <a:t>Vulnerabilities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Winner's curse</a:t>
            </a:r>
            <a:r>
              <a:rPr lang="en-US" sz="1100" spc="10" dirty="0">
                <a:latin typeface="Tahoma"/>
                <a:cs typeface="Tahoma"/>
              </a:rPr>
              <a:t>: The winning bidder may overpay, exceeding the item's true value.</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Shills</a:t>
            </a:r>
            <a:r>
              <a:rPr lang="en-US" sz="1100" spc="10" dirty="0">
                <a:latin typeface="Tahoma"/>
                <a:cs typeface="Tahoma"/>
              </a:rPr>
              <a:t>: Fake bidders can artificially inflate prices, manipulating the auction outcome.</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00504001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Dutch Auctions</a:t>
            </a:r>
            <a:endParaRPr sz="1500" baseline="27777" dirty="0">
              <a:latin typeface="Tahoma"/>
              <a:cs typeface="Tahoma"/>
            </a:endParaRPr>
          </a:p>
        </p:txBody>
      </p:sp>
      <p:sp>
        <p:nvSpPr>
          <p:cNvPr id="3" name="object 3"/>
          <p:cNvSpPr txBox="1"/>
          <p:nvPr/>
        </p:nvSpPr>
        <p:spPr>
          <a:xfrm>
            <a:off x="335571" y="725260"/>
            <a:ext cx="3938956" cy="201023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Alternative Name</a:t>
            </a:r>
            <a:r>
              <a:rPr lang="en-US" sz="1100" spc="10" dirty="0">
                <a:latin typeface="Tahoma"/>
                <a:cs typeface="Tahoma"/>
              </a:rPr>
              <a:t>: Descending clock auction.</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Procedure</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Starts with a high price displayed on a clock.</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 auctioneer announces descending prices.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A bidder claims the good by indicating acceptance of the current price.</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Ties are resolved by </a:t>
            </a:r>
            <a:r>
              <a:rPr lang="en-US" sz="1100" spc="10" dirty="0">
                <a:solidFill>
                  <a:srgbClr val="0000FF"/>
                </a:solidFill>
                <a:latin typeface="Tahoma"/>
                <a:cs typeface="Tahoma"/>
              </a:rPr>
              <a:t>restarting</a:t>
            </a:r>
            <a:r>
              <a:rPr lang="en-US" sz="1100" spc="10" dirty="0">
                <a:latin typeface="Tahoma"/>
                <a:cs typeface="Tahoma"/>
              </a:rPr>
              <a:t> the descent from a slightly </a:t>
            </a:r>
            <a:r>
              <a:rPr lang="en-US" sz="1100" spc="10" dirty="0">
                <a:solidFill>
                  <a:srgbClr val="0000FF"/>
                </a:solidFill>
                <a:latin typeface="Tahoma"/>
                <a:cs typeface="Tahoma"/>
              </a:rPr>
              <a:t>higher price</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Payment</a:t>
            </a:r>
            <a:r>
              <a:rPr lang="en-US" sz="1100" spc="10" dirty="0">
                <a:latin typeface="Tahoma"/>
                <a:cs typeface="Tahoma"/>
              </a:rPr>
              <a:t>: The winner pays the price at which they "stop the clock".</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282418483"/>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Dutch Auction Classification and Applications</a:t>
            </a:r>
            <a:endParaRPr sz="1500" baseline="27777" dirty="0">
              <a:latin typeface="Tahoma"/>
              <a:cs typeface="Tahoma"/>
            </a:endParaRPr>
          </a:p>
        </p:txBody>
      </p:sp>
      <p:sp>
        <p:nvSpPr>
          <p:cNvPr id="3" name="object 3"/>
          <p:cNvSpPr txBox="1"/>
          <p:nvPr/>
        </p:nvSpPr>
        <p:spPr>
          <a:xfrm>
            <a:off x="400050" y="852553"/>
            <a:ext cx="3862756" cy="1792222"/>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Classification</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First-price: The winner pays the price they agreed to.</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Open cry: Prices are announced publicly.</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Descending: Prices decrease throughout the auction.</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Advantages</a:t>
            </a:r>
            <a:r>
              <a:rPr lang="en-US" sz="1100" spc="10" dirty="0">
                <a:latin typeface="Tahoma"/>
                <a:cs typeface="Tahoma"/>
              </a:rPr>
              <a:t>: High volume and swift execution.</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Common Uses</a:t>
            </a:r>
            <a:r>
              <a:rPr lang="en-US" sz="1100" spc="10" dirty="0">
                <a:latin typeface="Tahoma"/>
                <a:cs typeface="Tahoma"/>
              </a:rPr>
              <a:t>: Sale of perishable goods (e.g., flowers, fish, tobacco).</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725749914"/>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First-Price Sealed-Bid (FPSB) Auctions</a:t>
            </a:r>
            <a:endParaRPr sz="1500" baseline="27777" dirty="0">
              <a:latin typeface="Tahoma"/>
              <a:cs typeface="Tahoma"/>
            </a:endParaRPr>
          </a:p>
        </p:txBody>
      </p:sp>
      <p:sp>
        <p:nvSpPr>
          <p:cNvPr id="3" name="object 3"/>
          <p:cNvSpPr txBox="1"/>
          <p:nvPr/>
        </p:nvSpPr>
        <p:spPr>
          <a:xfrm>
            <a:off x="400050" y="983770"/>
            <a:ext cx="3862756" cy="1356205"/>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Procedure</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Bidders submit sealed bids in a single round.</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 highest bidder wins and pays their bid amount.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Information Asymmetry</a:t>
            </a:r>
            <a:r>
              <a:rPr lang="en-US" sz="1100" spc="10" dirty="0">
                <a:latin typeface="Tahoma"/>
                <a:cs typeface="Tahoma"/>
              </a:rPr>
              <a:t>: Unlike English auctions, FPSB auctions provide limited information about the good's value, as other bidders' bids remain hidden.</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851845079"/>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 FPSB Auction Classification and Uses</a:t>
            </a:r>
            <a:endParaRPr sz="1500" baseline="27777" dirty="0">
              <a:latin typeface="Tahoma"/>
              <a:cs typeface="Tahoma"/>
            </a:endParaRPr>
          </a:p>
        </p:txBody>
      </p:sp>
      <p:sp>
        <p:nvSpPr>
          <p:cNvPr id="3" name="object 3"/>
          <p:cNvSpPr txBox="1"/>
          <p:nvPr/>
        </p:nvSpPr>
        <p:spPr>
          <a:xfrm>
            <a:off x="400050" y="890281"/>
            <a:ext cx="3862756" cy="183069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Classification</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One-shot: A single bidding round decides the winner.</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First-price: The winner pays their submitted bid.</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Sealed bid: Bids are kept confidential until the auction ends.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Common Applications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Government sales of treasury bonds.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Property sales (e.g., in Scotland).</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17</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504015257"/>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Vickrey Auctions</a:t>
            </a:r>
            <a:endParaRPr sz="1500" baseline="27777" dirty="0">
              <a:latin typeface="Tahoma"/>
              <a:cs typeface="Tahoma"/>
            </a:endParaRPr>
          </a:p>
        </p:txBody>
      </p:sp>
      <p:sp>
        <p:nvSpPr>
          <p:cNvPr id="3" name="object 3"/>
          <p:cNvSpPr txBox="1"/>
          <p:nvPr/>
        </p:nvSpPr>
        <p:spPr>
          <a:xfrm>
            <a:off x="400050" y="891025"/>
            <a:ext cx="3862756" cy="175375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Procedure</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solidFill>
                  <a:srgbClr val="0000FF"/>
                </a:solidFill>
                <a:latin typeface="Tahoma"/>
                <a:cs typeface="Tahoma"/>
              </a:rPr>
              <a:t>Sealed-bid</a:t>
            </a:r>
            <a:r>
              <a:rPr lang="en-US" sz="1100" spc="10" dirty="0">
                <a:latin typeface="Tahoma"/>
                <a:cs typeface="Tahoma"/>
              </a:rPr>
              <a:t> auction with a </a:t>
            </a:r>
            <a:r>
              <a:rPr lang="en-US" sz="1100" spc="10" dirty="0">
                <a:solidFill>
                  <a:srgbClr val="0000FF"/>
                </a:solidFill>
                <a:latin typeface="Tahoma"/>
                <a:cs typeface="Tahoma"/>
              </a:rPr>
              <a:t>single round</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 highest bidder wins but </a:t>
            </a:r>
            <a:r>
              <a:rPr lang="en-US" sz="1100" spc="10" dirty="0">
                <a:solidFill>
                  <a:srgbClr val="0000FF"/>
                </a:solidFill>
                <a:latin typeface="Tahoma"/>
                <a:cs typeface="Tahoma"/>
              </a:rPr>
              <a:t>pays</a:t>
            </a:r>
            <a:r>
              <a:rPr lang="en-US" sz="1100" spc="10" dirty="0">
                <a:latin typeface="Tahoma"/>
                <a:cs typeface="Tahoma"/>
              </a:rPr>
              <a:t> the amount of the </a:t>
            </a:r>
            <a:r>
              <a:rPr lang="en-US" sz="1100" spc="10" dirty="0">
                <a:solidFill>
                  <a:srgbClr val="0000FF"/>
                </a:solidFill>
                <a:latin typeface="Tahoma"/>
                <a:cs typeface="Tahoma"/>
              </a:rPr>
              <a:t>second-highest bid</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Unique Feature</a:t>
            </a:r>
            <a:r>
              <a:rPr lang="en-US" sz="1100" spc="10" dirty="0">
                <a:latin typeface="Tahoma"/>
                <a:cs typeface="Tahoma"/>
              </a:rPr>
              <a:t>: The payment rule encourages bidders to reveal their true valuations truthfully.</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Resistance to Manipulation</a:t>
            </a:r>
            <a:r>
              <a:rPr lang="en-US" sz="1100" spc="10" dirty="0">
                <a:latin typeface="Tahoma"/>
                <a:cs typeface="Tahoma"/>
              </a:rPr>
              <a:t>: Vickrey auctions are less susceptible to strategic bidding manipulations compared to other formats.</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10/15/2024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626695264"/>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Vickrey Auction Classification and Applications</a:t>
            </a:r>
            <a:endParaRPr sz="1500" baseline="27777" dirty="0">
              <a:latin typeface="Tahoma"/>
              <a:cs typeface="Tahoma"/>
            </a:endParaRPr>
          </a:p>
        </p:txBody>
      </p:sp>
      <p:sp>
        <p:nvSpPr>
          <p:cNvPr id="3" name="object 3"/>
          <p:cNvSpPr txBox="1"/>
          <p:nvPr/>
        </p:nvSpPr>
        <p:spPr>
          <a:xfrm>
            <a:off x="400050" y="1124834"/>
            <a:ext cx="3862756" cy="121514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Classification</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One-shot: Single bidding round.</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Sealed bid: Confidential bids.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Second-price: Winner pays the second-highest bid.</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Historical Uses</a:t>
            </a:r>
            <a:r>
              <a:rPr lang="en-US" sz="1100" spc="10" dirty="0">
                <a:latin typeface="Tahoma"/>
                <a:cs typeface="Tahoma"/>
              </a:rPr>
              <a:t>: Sales of stamps and other collectibles.</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06832720"/>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184666"/>
          </a:xfrm>
          <a:prstGeom prst="rect">
            <a:avLst/>
          </a:prstGeom>
        </p:spPr>
        <p:txBody>
          <a:bodyPr vert="horz" wrap="square" lIns="0" tIns="0" rIns="0" bIns="0" rtlCol="0">
            <a:spAutoFit/>
          </a:bodyPr>
          <a:lstStyle/>
          <a:p>
            <a:pPr marL="12700">
              <a:lnSpc>
                <a:spcPct val="100000"/>
              </a:lnSpc>
            </a:pPr>
            <a:r>
              <a:rPr lang="en-US" sz="1200" spc="-10" dirty="0"/>
              <a:t>Why Vickrey Auctions Encourage Truthful Bidding: Overbidding</a:t>
            </a:r>
            <a:endParaRPr baseline="27777" dirty="0">
              <a:latin typeface="Tahoma"/>
              <a:cs typeface="Tahoma"/>
            </a:endParaRPr>
          </a:p>
        </p:txBody>
      </p:sp>
      <p:sp>
        <p:nvSpPr>
          <p:cNvPr id="3" name="object 3"/>
          <p:cNvSpPr txBox="1"/>
          <p:nvPr/>
        </p:nvSpPr>
        <p:spPr>
          <a:xfrm>
            <a:off x="400050" y="595984"/>
            <a:ext cx="3862756" cy="155934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Scenario</a:t>
            </a:r>
            <a:r>
              <a:rPr lang="en-US" sz="1100" spc="10" dirty="0">
                <a:latin typeface="Tahoma"/>
                <a:cs typeface="Tahoma"/>
              </a:rPr>
              <a:t>: Assume a bidder bids higher than their true valuation (overbidding).</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Potential Outcomes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Winning but overpaying: If the second-highest bid is still below your valuation, you win but pay more than the good is worth to you.</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Losing: If the second-highest bid exceeds your bid, you lose regardless of whether you overbid or bid truthfully.</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
        <p:nvSpPr>
          <p:cNvPr id="10" name="TextBox 9">
            <a:extLst>
              <a:ext uri="{FF2B5EF4-FFF2-40B4-BE49-F238E27FC236}">
                <a16:creationId xmlns:a16="http://schemas.microsoft.com/office/drawing/2014/main" id="{D796EED4-C0C2-68EE-0CAC-BE44A1710054}"/>
              </a:ext>
            </a:extLst>
          </p:cNvPr>
          <p:cNvSpPr txBox="1"/>
          <p:nvPr/>
        </p:nvSpPr>
        <p:spPr>
          <a:xfrm>
            <a:off x="104191" y="2810104"/>
            <a:ext cx="4419498" cy="477054"/>
          </a:xfrm>
          <a:prstGeom prst="rect">
            <a:avLst/>
          </a:prstGeom>
          <a:noFill/>
        </p:spPr>
        <p:txBody>
          <a:bodyPr wrap="square">
            <a:spAutoFit/>
          </a:bodyPr>
          <a:lstStyle/>
          <a:p>
            <a:r>
              <a:rPr lang="en-US" sz="1400" dirty="0"/>
              <a:t>|--------------------|--------------------|---------------------------| </a:t>
            </a:r>
          </a:p>
          <a:p>
            <a:r>
              <a:rPr lang="en-US" sz="1100" dirty="0">
                <a:solidFill>
                  <a:srgbClr val="FF0000"/>
                </a:solidFill>
              </a:rPr>
              <a:t>                        True value </a:t>
            </a:r>
            <a:r>
              <a:rPr lang="en-US" sz="1100" dirty="0"/>
              <a:t>$40      </a:t>
            </a:r>
            <a:r>
              <a:rPr lang="en-US" sz="1100" dirty="0">
                <a:solidFill>
                  <a:srgbClr val="FF0000"/>
                </a:solidFill>
              </a:rPr>
              <a:t>2nd Highest: </a:t>
            </a:r>
            <a:r>
              <a:rPr lang="en-US" sz="1100" dirty="0"/>
              <a:t>$50                      </a:t>
            </a:r>
            <a:r>
              <a:rPr lang="en-US" sz="1100" dirty="0">
                <a:solidFill>
                  <a:srgbClr val="FF0000"/>
                </a:solidFill>
              </a:rPr>
              <a:t>Your bid: </a:t>
            </a:r>
            <a:r>
              <a:rPr lang="en-US" sz="1100" dirty="0"/>
              <a:t>$70</a:t>
            </a:r>
            <a:endParaRPr lang="en-MY" sz="1100" dirty="0"/>
          </a:p>
        </p:txBody>
      </p:sp>
      <p:sp>
        <p:nvSpPr>
          <p:cNvPr id="11" name="Rectangle 10">
            <a:extLst>
              <a:ext uri="{FF2B5EF4-FFF2-40B4-BE49-F238E27FC236}">
                <a16:creationId xmlns:a16="http://schemas.microsoft.com/office/drawing/2014/main" id="{975CFB06-D106-08BA-4B51-80D14FD3FDF9}"/>
              </a:ext>
            </a:extLst>
          </p:cNvPr>
          <p:cNvSpPr/>
          <p:nvPr/>
        </p:nvSpPr>
        <p:spPr>
          <a:xfrm>
            <a:off x="95300" y="2720975"/>
            <a:ext cx="4410610" cy="5634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928721596"/>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184666"/>
          </a:xfrm>
          <a:prstGeom prst="rect">
            <a:avLst/>
          </a:prstGeom>
        </p:spPr>
        <p:txBody>
          <a:bodyPr vert="horz" wrap="square" lIns="0" tIns="0" rIns="0" bIns="0" rtlCol="0">
            <a:spAutoFit/>
          </a:bodyPr>
          <a:lstStyle/>
          <a:p>
            <a:pPr marL="12700">
              <a:lnSpc>
                <a:spcPct val="100000"/>
              </a:lnSpc>
            </a:pPr>
            <a:r>
              <a:rPr lang="en-US" sz="1200" spc="-10" dirty="0"/>
              <a:t>Why Vickrey Auctions Encourage Truthful Bidding: Underbidding</a:t>
            </a:r>
            <a:endParaRPr baseline="27777" dirty="0">
              <a:latin typeface="Tahoma"/>
              <a:cs typeface="Tahoma"/>
            </a:endParaRPr>
          </a:p>
        </p:txBody>
      </p:sp>
      <p:sp>
        <p:nvSpPr>
          <p:cNvPr id="3" name="object 3"/>
          <p:cNvSpPr txBox="1"/>
          <p:nvPr/>
        </p:nvSpPr>
        <p:spPr>
          <a:xfrm>
            <a:off x="400050" y="597535"/>
            <a:ext cx="3862756" cy="189481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Scenario</a:t>
            </a:r>
            <a:r>
              <a:rPr lang="en-US" sz="1100" spc="10" dirty="0">
                <a:latin typeface="Tahoma"/>
                <a:cs typeface="Tahoma"/>
              </a:rPr>
              <a:t>: Assume a bidder bids lower than their true valuation (underbidding).</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Potential Outcomes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Losing a potential win: If your true valuation exceeds the second-highest bid, but you underbid (i.e., bid below your true valuation), you miss out on winning.</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Winning but with no price benefit: If you win, the price you pay is not influenced by your underbid; you still pay the second-highest bid.</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10/15/2024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
        <p:nvSpPr>
          <p:cNvPr id="4" name="TextBox 3">
            <a:extLst>
              <a:ext uri="{FF2B5EF4-FFF2-40B4-BE49-F238E27FC236}">
                <a16:creationId xmlns:a16="http://schemas.microsoft.com/office/drawing/2014/main" id="{1279E44C-4F08-8FA6-A2BD-31E030EA96C6}"/>
              </a:ext>
            </a:extLst>
          </p:cNvPr>
          <p:cNvSpPr txBox="1"/>
          <p:nvPr/>
        </p:nvSpPr>
        <p:spPr>
          <a:xfrm>
            <a:off x="104191" y="2810104"/>
            <a:ext cx="4419498" cy="492443"/>
          </a:xfrm>
          <a:prstGeom prst="rect">
            <a:avLst/>
          </a:prstGeom>
          <a:noFill/>
        </p:spPr>
        <p:txBody>
          <a:bodyPr wrap="square">
            <a:spAutoFit/>
          </a:bodyPr>
          <a:lstStyle/>
          <a:p>
            <a:r>
              <a:rPr lang="en-US" sz="1400" dirty="0"/>
              <a:t>|------------------|---------------------|---------------------------| </a:t>
            </a:r>
          </a:p>
          <a:p>
            <a:r>
              <a:rPr lang="en-US" sz="1100" dirty="0"/>
              <a:t>                      </a:t>
            </a:r>
            <a:r>
              <a:rPr lang="en-US" sz="1100" dirty="0">
                <a:solidFill>
                  <a:srgbClr val="FF0000"/>
                </a:solidFill>
              </a:rPr>
              <a:t>Your Bid</a:t>
            </a:r>
            <a:r>
              <a:rPr lang="en-US" sz="1100" dirty="0"/>
              <a:t>: $70         </a:t>
            </a:r>
            <a:r>
              <a:rPr lang="en-US" sz="1100" dirty="0">
                <a:solidFill>
                  <a:srgbClr val="FF0000"/>
                </a:solidFill>
              </a:rPr>
              <a:t>2nd Highest</a:t>
            </a:r>
            <a:r>
              <a:rPr lang="en-US" sz="1100" dirty="0"/>
              <a:t>: $80                 </a:t>
            </a:r>
            <a:r>
              <a:rPr lang="en-US" sz="1100" dirty="0">
                <a:solidFill>
                  <a:srgbClr val="FF0000"/>
                </a:solidFill>
              </a:rPr>
              <a:t>True Value</a:t>
            </a:r>
            <a:r>
              <a:rPr lang="en-US" sz="1100" dirty="0"/>
              <a:t>: $100 </a:t>
            </a:r>
            <a:endParaRPr lang="en-MY" sz="1100" dirty="0"/>
          </a:p>
        </p:txBody>
      </p:sp>
      <p:sp>
        <p:nvSpPr>
          <p:cNvPr id="5" name="Rectangle 4">
            <a:extLst>
              <a:ext uri="{FF2B5EF4-FFF2-40B4-BE49-F238E27FC236}">
                <a16:creationId xmlns:a16="http://schemas.microsoft.com/office/drawing/2014/main" id="{FD07AEA9-C9CA-9CED-FDA6-89EBC2588500}"/>
              </a:ext>
            </a:extLst>
          </p:cNvPr>
          <p:cNvSpPr/>
          <p:nvPr/>
        </p:nvSpPr>
        <p:spPr>
          <a:xfrm>
            <a:off x="95300" y="2720975"/>
            <a:ext cx="4410610" cy="5634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084475471"/>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Dominance of Truthful Bidding in Vickrey Auctions</a:t>
            </a:r>
            <a:endParaRPr sz="1500" baseline="27777" dirty="0">
              <a:latin typeface="Tahoma"/>
              <a:cs typeface="Tahoma"/>
            </a:endParaRPr>
          </a:p>
        </p:txBody>
      </p:sp>
      <p:sp>
        <p:nvSpPr>
          <p:cNvPr id="3" name="object 3"/>
          <p:cNvSpPr txBox="1"/>
          <p:nvPr/>
        </p:nvSpPr>
        <p:spPr>
          <a:xfrm>
            <a:off x="400050" y="1136170"/>
            <a:ext cx="3862756" cy="1356205"/>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Key Insight</a:t>
            </a:r>
            <a:r>
              <a:rPr lang="en-US" sz="1100" spc="10" dirty="0">
                <a:latin typeface="Tahoma"/>
                <a:cs typeface="Tahoma"/>
              </a:rPr>
              <a:t>: In a Vickrey auction, bidding your true valuation is always the </a:t>
            </a:r>
            <a:r>
              <a:rPr lang="en-US" sz="1100" spc="10" dirty="0">
                <a:solidFill>
                  <a:srgbClr val="0000FF"/>
                </a:solidFill>
                <a:latin typeface="Tahoma"/>
                <a:cs typeface="Tahoma"/>
              </a:rPr>
              <a:t>best strategy</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Reasoning</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Overbidding leads to potential losses or no gain compared to truthful bidding.</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Underbidding reduces winning chances or has no impact on the price paid.</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847005294"/>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Collusion in Auctions</a:t>
            </a:r>
            <a:endParaRPr sz="1500" baseline="27777" dirty="0">
              <a:latin typeface="Tahoma"/>
              <a:cs typeface="Tahoma"/>
            </a:endParaRPr>
          </a:p>
        </p:txBody>
      </p:sp>
      <p:sp>
        <p:nvSpPr>
          <p:cNvPr id="3" name="object 3"/>
          <p:cNvSpPr txBox="1"/>
          <p:nvPr/>
        </p:nvSpPr>
        <p:spPr>
          <a:xfrm>
            <a:off x="400050" y="1244889"/>
            <a:ext cx="3862756" cy="1933286"/>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Susceptibility</a:t>
            </a:r>
            <a:r>
              <a:rPr lang="en-US" sz="1100" spc="10" dirty="0">
                <a:latin typeface="Tahoma"/>
                <a:cs typeface="Tahoma"/>
              </a:rPr>
              <a:t>: All auction types are vulnerable to collusion among bidders.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Collusive Strategies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Bidders can </a:t>
            </a:r>
            <a:r>
              <a:rPr lang="en-US" sz="1100" spc="10" dirty="0">
                <a:solidFill>
                  <a:srgbClr val="0000FF"/>
                </a:solidFill>
                <a:latin typeface="Tahoma"/>
                <a:cs typeface="Tahoma"/>
              </a:rPr>
              <a:t>agree to suppress </a:t>
            </a:r>
            <a:r>
              <a:rPr lang="en-US" sz="1100" spc="10" dirty="0">
                <a:latin typeface="Tahoma"/>
                <a:cs typeface="Tahoma"/>
              </a:rPr>
              <a:t>bids artificially to acquire the good at a lower price and share the profits.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Auctioneer Manipulation</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Auctioneers can employ </a:t>
            </a:r>
            <a:r>
              <a:rPr lang="en-US" sz="1100" spc="10" dirty="0">
                <a:solidFill>
                  <a:srgbClr val="0000FF"/>
                </a:solidFill>
                <a:latin typeface="Tahoma"/>
                <a:cs typeface="Tahoma"/>
              </a:rPr>
              <a:t>fake bidders </a:t>
            </a:r>
            <a:r>
              <a:rPr lang="en-US" sz="1100" spc="10" dirty="0">
                <a:latin typeface="Tahoma"/>
                <a:cs typeface="Tahoma"/>
              </a:rPr>
              <a:t>(shills) to drive up prices, potentially leading to the winner's curse.</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
        <p:nvSpPr>
          <p:cNvPr id="4" name="Rectangle: Folded Corner 3">
            <a:extLst>
              <a:ext uri="{FF2B5EF4-FFF2-40B4-BE49-F238E27FC236}">
                <a16:creationId xmlns:a16="http://schemas.microsoft.com/office/drawing/2014/main" id="{0ED281BE-B5A5-48E3-7625-82BE7ED1F241}"/>
              </a:ext>
            </a:extLst>
          </p:cNvPr>
          <p:cNvSpPr/>
          <p:nvPr/>
        </p:nvSpPr>
        <p:spPr>
          <a:xfrm>
            <a:off x="323850" y="419453"/>
            <a:ext cx="3938956" cy="701322"/>
          </a:xfrm>
          <a:prstGeom prst="foldedCorner">
            <a:avLst/>
          </a:prstGeom>
        </p:spPr>
        <p:style>
          <a:lnRef idx="1">
            <a:schemeClr val="accent4"/>
          </a:lnRef>
          <a:fillRef idx="2">
            <a:schemeClr val="accent4"/>
          </a:fillRef>
          <a:effectRef idx="1">
            <a:schemeClr val="accent4"/>
          </a:effectRef>
          <a:fontRef idx="minor">
            <a:schemeClr val="dk1"/>
          </a:fontRef>
        </p:style>
        <p:txBody>
          <a:bodyPr tIns="137160" rtlCol="0" anchor="ctr"/>
          <a:lstStyle/>
          <a:p>
            <a:r>
              <a:rPr lang="en-US" sz="1100" spc="10" dirty="0">
                <a:solidFill>
                  <a:srgbClr val="0000FF"/>
                </a:solidFill>
                <a:latin typeface="Tahoma"/>
                <a:cs typeface="Tahoma"/>
              </a:rPr>
              <a:t>Collusion</a:t>
            </a:r>
            <a:r>
              <a:rPr lang="en-US" sz="1100" spc="10" dirty="0">
                <a:solidFill>
                  <a:schemeClr val="tx1"/>
                </a:solidFill>
                <a:latin typeface="Tahoma"/>
                <a:cs typeface="Tahoma"/>
              </a:rPr>
              <a:t> in auctions refers to an agreement among bidders to coordinate their bids, often resulting in higher prices, reduced competition, and unfair advantages, ultimately undermining the integrity of the auction process.</a:t>
            </a:r>
            <a:endParaRPr lang="en-MY" sz="1100" spc="10" dirty="0">
              <a:solidFill>
                <a:schemeClr val="tx1"/>
              </a:solidFill>
              <a:latin typeface="Tahoma"/>
              <a:cs typeface="Tahoma"/>
            </a:endParaRPr>
          </a:p>
        </p:txBody>
      </p:sp>
    </p:spTree>
    <p:extLst>
      <p:ext uri="{BB962C8B-B14F-4D97-AF65-F5344CB8AC3E}">
        <p14:creationId xmlns:p14="http://schemas.microsoft.com/office/powerpoint/2010/main" val="1049723430"/>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Combinatorial Auctions</a:t>
            </a:r>
            <a:endParaRPr sz="1500" baseline="27777" dirty="0">
              <a:latin typeface="Tahoma"/>
              <a:cs typeface="Tahoma"/>
            </a:endParaRPr>
          </a:p>
        </p:txBody>
      </p:sp>
      <p:sp>
        <p:nvSpPr>
          <p:cNvPr id="3" name="object 3"/>
          <p:cNvSpPr txBox="1"/>
          <p:nvPr/>
        </p:nvSpPr>
        <p:spPr>
          <a:xfrm>
            <a:off x="400050" y="1228915"/>
            <a:ext cx="3862756" cy="95866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Purpose</a:t>
            </a:r>
            <a:r>
              <a:rPr lang="en-US" sz="1100" spc="10" dirty="0">
                <a:latin typeface="Tahoma"/>
                <a:cs typeface="Tahoma"/>
              </a:rPr>
              <a:t>: To auction multiple goods simultaneously as bundles.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Bidding Flexibility</a:t>
            </a:r>
            <a:r>
              <a:rPr lang="en-US" sz="1100" spc="10" dirty="0">
                <a:latin typeface="Tahoma"/>
                <a:cs typeface="Tahoma"/>
              </a:rPr>
              <a:t>: Bidders can bid on any combination of items.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Example Bid</a:t>
            </a:r>
            <a:r>
              <a:rPr lang="en-US" sz="1100" spc="10" dirty="0">
                <a:latin typeface="Tahoma"/>
                <a:cs typeface="Tahoma"/>
              </a:rPr>
              <a:t>: "I bid $100 for the TV, VCR, and couch."</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256190782"/>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Set of Items and Valuation Functions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373671" y="1052272"/>
                <a:ext cx="3862756" cy="153574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Item Set</a:t>
                </a:r>
                <a:r>
                  <a:rPr lang="en-US" sz="1100" spc="10" dirty="0">
                    <a:latin typeface="Tahoma"/>
                    <a:cs typeface="Tahoma"/>
                  </a:rPr>
                  <a:t>: Define the set of goods to be auctioned as </a:t>
                </a:r>
                <a14:m>
                  <m:oMath xmlns:m="http://schemas.openxmlformats.org/officeDocument/2006/math">
                    <m:r>
                      <a:rPr lang="en-US" sz="1100" i="1" spc="10" dirty="0">
                        <a:latin typeface="Cambria Math" panose="02040503050406030204" pitchFamily="18" charset="0"/>
                        <a:ea typeface="Cambria Math" panose="02040503050406030204" pitchFamily="18" charset="0"/>
                        <a:cs typeface="Tahoma"/>
                      </a:rPr>
                      <m:t>𝒵</m:t>
                    </m:r>
                    <m:r>
                      <a:rPr lang="en-US" sz="1100" b="0" i="1" spc="10" dirty="0" smtClean="0">
                        <a:latin typeface="Cambria Math" panose="02040503050406030204" pitchFamily="18" charset="0"/>
                        <a:ea typeface="Cambria Math" panose="02040503050406030204" pitchFamily="18" charset="0"/>
                        <a:cs typeface="Tahoma"/>
                      </a:rPr>
                      <m:t>=</m:t>
                    </m:r>
                    <m:d>
                      <m:dPr>
                        <m:begChr m:val="{"/>
                        <m:endChr m:val="}"/>
                        <m:ctrlPr>
                          <a:rPr lang="en-US" sz="1100" b="0" i="1" spc="10" dirty="0" smtClean="0">
                            <a:latin typeface="Cambria Math" panose="02040503050406030204" pitchFamily="18" charset="0"/>
                            <a:ea typeface="Cambria Math" panose="02040503050406030204" pitchFamily="18" charset="0"/>
                            <a:cs typeface="Tahoma"/>
                          </a:rPr>
                        </m:ctrlPr>
                      </m:dPr>
                      <m:e>
                        <m:sSub>
                          <m:sSubPr>
                            <m:ctrlPr>
                              <a:rPr lang="en-US" sz="1100" b="0" i="1" spc="10" dirty="0" smtClean="0">
                                <a:latin typeface="Cambria Math" panose="02040503050406030204" pitchFamily="18" charset="0"/>
                                <a:ea typeface="Cambria Math" panose="02040503050406030204" pitchFamily="18" charset="0"/>
                                <a:cs typeface="Tahoma"/>
                              </a:rPr>
                            </m:ctrlPr>
                          </m:sSubPr>
                          <m:e>
                            <m:r>
                              <a:rPr lang="en-US" sz="1100" b="0" i="1" spc="10" dirty="0" smtClean="0">
                                <a:latin typeface="Cambria Math" panose="02040503050406030204" pitchFamily="18" charset="0"/>
                                <a:ea typeface="Cambria Math" panose="02040503050406030204" pitchFamily="18" charset="0"/>
                                <a:cs typeface="Tahoma"/>
                              </a:rPr>
                              <m:t>𝑍</m:t>
                            </m:r>
                          </m:e>
                          <m:sub>
                            <m:r>
                              <a:rPr lang="en-US" sz="1100" b="0" i="1" spc="10" dirty="0" smtClean="0">
                                <a:latin typeface="Cambria Math" panose="02040503050406030204" pitchFamily="18" charset="0"/>
                                <a:ea typeface="Cambria Math" panose="02040503050406030204" pitchFamily="18" charset="0"/>
                                <a:cs typeface="Tahoma"/>
                              </a:rPr>
                              <m:t>1</m:t>
                            </m:r>
                          </m:sub>
                        </m:sSub>
                        <m:r>
                          <a:rPr lang="en-US" sz="1100" b="0" i="1" spc="10" dirty="0" smtClean="0">
                            <a:latin typeface="Cambria Math" panose="02040503050406030204" pitchFamily="18" charset="0"/>
                            <a:ea typeface="Cambria Math" panose="02040503050406030204" pitchFamily="18" charset="0"/>
                            <a:cs typeface="Tahoma"/>
                          </a:rPr>
                          <m:t>,…, </m:t>
                        </m:r>
                        <m:sSub>
                          <m:sSubPr>
                            <m:ctrlPr>
                              <a:rPr lang="en-US" sz="1100" b="0" i="1" spc="10" dirty="0" smtClean="0">
                                <a:latin typeface="Cambria Math" panose="02040503050406030204" pitchFamily="18" charset="0"/>
                                <a:ea typeface="Cambria Math" panose="02040503050406030204" pitchFamily="18" charset="0"/>
                                <a:cs typeface="Tahoma"/>
                              </a:rPr>
                            </m:ctrlPr>
                          </m:sSubPr>
                          <m:e>
                            <m:r>
                              <a:rPr lang="en-US" sz="1100" b="0" i="1" spc="10" dirty="0" smtClean="0">
                                <a:latin typeface="Cambria Math" panose="02040503050406030204" pitchFamily="18" charset="0"/>
                                <a:ea typeface="Cambria Math" panose="02040503050406030204" pitchFamily="18" charset="0"/>
                                <a:cs typeface="Tahoma"/>
                              </a:rPr>
                              <m:t>𝑍</m:t>
                            </m:r>
                          </m:e>
                          <m:sub>
                            <m:r>
                              <a:rPr lang="en-US" sz="1100" b="0" i="1" spc="10" dirty="0" smtClean="0">
                                <a:latin typeface="Cambria Math" panose="02040503050406030204" pitchFamily="18" charset="0"/>
                                <a:ea typeface="Cambria Math" panose="02040503050406030204" pitchFamily="18" charset="0"/>
                                <a:cs typeface="Tahoma"/>
                              </a:rPr>
                              <m:t>𝑛</m:t>
                            </m:r>
                          </m:sub>
                        </m:sSub>
                      </m:e>
                    </m:d>
                  </m:oMath>
                </a14:m>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Valuation Functions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Each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has a valuation function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𝜐</m:t>
                        </m:r>
                      </m:e>
                      <m:sub>
                        <m:r>
                          <a:rPr lang="en-US" sz="1100" i="1" spc="10" dirty="0" err="1" smtClean="0">
                            <a:latin typeface="Cambria Math" panose="02040503050406030204" pitchFamily="18" charset="0"/>
                            <a:cs typeface="Tahoma"/>
                          </a:rPr>
                          <m:t>𝑖</m:t>
                        </m:r>
                      </m:sub>
                    </m:sSub>
                    <m:r>
                      <a:rPr lang="en-US" sz="1100" b="0" i="1" spc="10" dirty="0" smtClean="0">
                        <a:latin typeface="Cambria Math" panose="02040503050406030204" pitchFamily="18" charset="0"/>
                        <a:cs typeface="Tahoma"/>
                      </a:rPr>
                      <m:t>:</m:t>
                    </m:r>
                    <m:sSup>
                      <m:sSupPr>
                        <m:ctrlPr>
                          <a:rPr lang="en-US" sz="1100" b="0" i="1" spc="10" dirty="0" smtClean="0">
                            <a:latin typeface="Cambria Math" panose="02040503050406030204" pitchFamily="18" charset="0"/>
                            <a:cs typeface="Tahoma"/>
                          </a:rPr>
                        </m:ctrlPr>
                      </m:sSupPr>
                      <m:e>
                        <m:r>
                          <a:rPr lang="en-US" sz="1100" b="0" i="1" spc="10" dirty="0" smtClean="0">
                            <a:latin typeface="Cambria Math" panose="02040503050406030204" pitchFamily="18" charset="0"/>
                            <a:cs typeface="Tahoma"/>
                          </a:rPr>
                          <m:t>2</m:t>
                        </m:r>
                      </m:e>
                      <m:sup>
                        <m:r>
                          <a:rPr lang="en-US" sz="1100" i="1" spc="10" dirty="0">
                            <a:latin typeface="Cambria Math" panose="02040503050406030204" pitchFamily="18" charset="0"/>
                            <a:ea typeface="Cambria Math" panose="02040503050406030204" pitchFamily="18" charset="0"/>
                            <a:cs typeface="Tahoma"/>
                          </a:rPr>
                          <m:t>𝒵</m:t>
                        </m:r>
                      </m:sup>
                    </m:sSup>
                    <m:r>
                      <a:rPr lang="en-US" sz="1100" b="0" i="1" spc="10" dirty="0" smtClean="0">
                        <a:latin typeface="Cambria Math" panose="02040503050406030204" pitchFamily="18" charset="0"/>
                        <a:ea typeface="Cambria Math" panose="02040503050406030204" pitchFamily="18" charset="0"/>
                        <a:cs typeface="Tahoma"/>
                      </a:rPr>
                      <m:t>→</m:t>
                    </m:r>
                    <m:r>
                      <a:rPr lang="en-US" sz="1100" b="0" i="1" spc="10" dirty="0" smtClean="0">
                        <a:latin typeface="Cambria Math" panose="02040503050406030204" pitchFamily="18" charset="0"/>
                        <a:ea typeface="Cambria Math" panose="02040503050406030204" pitchFamily="18" charset="0"/>
                        <a:cs typeface="Tahoma"/>
                      </a:rPr>
                      <m:t>ℝ</m:t>
                    </m:r>
                  </m:oMath>
                </a14:m>
                <a:r>
                  <a:rPr lang="en-US" sz="1100" spc="10" dirty="0">
                    <a:latin typeface="Tahoma"/>
                    <a:cs typeface="Tahoma"/>
                  </a:rPr>
                  <a:t> that assigns a value to each possible subset of items.</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These functions represent the agents' preferences for different bundles.</a:t>
                </a: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73671" y="1052272"/>
                <a:ext cx="3862756" cy="1535741"/>
              </a:xfrm>
              <a:prstGeom prst="rect">
                <a:avLst/>
              </a:prstGeom>
              <a:blipFill>
                <a:blip r:embed="rId3"/>
                <a:stretch>
                  <a:fillRect l="-631" t="-3571" b="-476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25</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126810525"/>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Normalized Valuation and Free Disposal</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1071306"/>
                <a:ext cx="3862756" cy="1678793"/>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Normalized Valuation</a:t>
                </a:r>
                <a:r>
                  <a:rPr lang="en-US" sz="1100" spc="10" dirty="0">
                    <a:latin typeface="Tahoma"/>
                    <a:cs typeface="Tahoma"/>
                  </a:rPr>
                  <a:t>: A valuation function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𝜐</m:t>
                        </m:r>
                      </m:e>
                      <m:sub>
                        <m:r>
                          <a:rPr lang="en-US" sz="1100" i="1" spc="10" dirty="0" err="1" smtClean="0">
                            <a:latin typeface="Cambria Math" panose="02040503050406030204" pitchFamily="18" charset="0"/>
                            <a:cs typeface="Tahoma"/>
                          </a:rPr>
                          <m:t>𝑖</m:t>
                        </m:r>
                      </m:sub>
                    </m:sSub>
                  </m:oMath>
                </a14:m>
                <a:r>
                  <a:rPr lang="en-US" sz="1100" spc="10" dirty="0">
                    <a:latin typeface="Tahoma"/>
                    <a:cs typeface="Tahoma"/>
                  </a:rPr>
                  <a:t> is normalized if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𝜐</m:t>
                        </m:r>
                      </m:e>
                      <m:sub>
                        <m:r>
                          <a:rPr lang="en-US" sz="1100" i="1" spc="10" dirty="0" err="1"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 = 0</m:t>
                    </m:r>
                  </m:oMath>
                </a14:m>
                <a:r>
                  <a:rPr lang="en-US" sz="1100" spc="10" dirty="0">
                    <a:latin typeface="Tahoma"/>
                    <a:cs typeface="Tahoma"/>
                  </a:rPr>
                  <a:t>, meaning an agent derives no value from an empty set (no items).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Free Disposal</a:t>
                </a:r>
                <a:r>
                  <a:rPr lang="en-US" sz="1100" spc="10" dirty="0">
                    <a:latin typeface="Tahoma"/>
                    <a:cs typeface="Tahoma"/>
                  </a:rPr>
                  <a:t>: A valuation function exhibits free disposal if an agent is never worse off by receiving additional items; having more items never decreases their valuation. In free disposal, </a:t>
                </a:r>
                <a:br>
                  <a:rPr lang="en-US" sz="1100" spc="10" dirty="0">
                    <a:latin typeface="Tahoma"/>
                    <a:cs typeface="Tahoma"/>
                  </a:rPr>
                </a:br>
                <a14:m>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𝑍</m:t>
                        </m:r>
                      </m:e>
                      <m:sub>
                        <m:r>
                          <a:rPr lang="en-US" sz="1100" b="0" i="1" spc="10" smtClean="0">
                            <a:latin typeface="Cambria Math" panose="02040503050406030204" pitchFamily="18" charset="0"/>
                            <a:cs typeface="Tahoma"/>
                          </a:rPr>
                          <m:t>1</m:t>
                        </m:r>
                      </m:sub>
                    </m:sSub>
                    <m:r>
                      <a:rPr lang="en-US" sz="1100" b="0" i="1" spc="10" smtClean="0">
                        <a:latin typeface="Cambria Math" panose="02040503050406030204" pitchFamily="18" charset="0"/>
                        <a:ea typeface="Cambria Math" panose="02040503050406030204" pitchFamily="18" charset="0"/>
                        <a:cs typeface="Tahoma"/>
                      </a:rPr>
                      <m:t>⊆</m:t>
                    </m:r>
                    <m:sSub>
                      <m:sSubPr>
                        <m:ctrlPr>
                          <a:rPr lang="en-US" sz="1100" b="0" i="1" spc="10" smtClean="0">
                            <a:latin typeface="Cambria Math" panose="02040503050406030204" pitchFamily="18" charset="0"/>
                            <a:ea typeface="Cambria Math" panose="02040503050406030204" pitchFamily="18" charset="0"/>
                            <a:cs typeface="Tahoma"/>
                          </a:rPr>
                        </m:ctrlPr>
                      </m:sSubPr>
                      <m:e>
                        <m:r>
                          <a:rPr lang="en-US" sz="1100" b="0" i="1" spc="10" smtClean="0">
                            <a:latin typeface="Cambria Math" panose="02040503050406030204" pitchFamily="18" charset="0"/>
                            <a:ea typeface="Cambria Math" panose="02040503050406030204" pitchFamily="18" charset="0"/>
                            <a:cs typeface="Tahoma"/>
                          </a:rPr>
                          <m:t>𝑍</m:t>
                        </m:r>
                      </m:e>
                      <m:sub>
                        <m:r>
                          <a:rPr lang="en-US" sz="1100" b="0" i="1" spc="10" smtClean="0">
                            <a:latin typeface="Cambria Math" panose="02040503050406030204" pitchFamily="18" charset="0"/>
                            <a:ea typeface="Cambria Math" panose="02040503050406030204" pitchFamily="18" charset="0"/>
                            <a:cs typeface="Tahoma"/>
                          </a:rPr>
                          <m:t>2</m:t>
                        </m:r>
                      </m:sub>
                    </m:sSub>
                  </m:oMath>
                </a14:m>
                <a:r>
                  <a:rPr lang="en-US" sz="1100" spc="10" dirty="0">
                    <a:latin typeface="Tahoma"/>
                    <a:cs typeface="Tahoma"/>
                  </a:rPr>
                  <a:t> implies </a:t>
                </a:r>
                <a14:m>
                  <m:oMath xmlns:m="http://schemas.openxmlformats.org/officeDocument/2006/math">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err="1">
                            <a:latin typeface="Cambria Math" panose="02040503050406030204" pitchFamily="18" charset="0"/>
                            <a:cs typeface="Tahoma"/>
                          </a:rPr>
                          <m:t>𝑖</m:t>
                        </m:r>
                      </m:sub>
                    </m:sSub>
                    <m:d>
                      <m:dPr>
                        <m:ctrlPr>
                          <a:rPr lang="en-US" sz="1100" i="1" spc="10" dirty="0" err="1">
                            <a:latin typeface="Cambria Math" panose="02040503050406030204" pitchFamily="18" charset="0"/>
                            <a:cs typeface="Tahoma"/>
                          </a:rPr>
                        </m:ctrlPr>
                      </m:dPr>
                      <m:e>
                        <m:sSub>
                          <m:sSubPr>
                            <m:ctrlPr>
                              <a:rPr lang="en-US" sz="1100" b="0" i="1" spc="10" dirty="0" smtClean="0">
                                <a:latin typeface="Cambria Math" panose="02040503050406030204" pitchFamily="18" charset="0"/>
                                <a:cs typeface="Tahoma"/>
                              </a:rPr>
                            </m:ctrlPr>
                          </m:sSubPr>
                          <m:e>
                            <m:r>
                              <a:rPr lang="en-US" sz="1100" b="0" i="1" spc="10" dirty="0" smtClean="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1</m:t>
                            </m:r>
                          </m:sub>
                        </m:sSub>
                      </m:e>
                    </m:d>
                    <m:r>
                      <a:rPr lang="en-US" sz="1100" b="0" i="1" spc="10" dirty="0" smtClean="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err="1">
                            <a:latin typeface="Cambria Math" panose="02040503050406030204" pitchFamily="18" charset="0"/>
                            <a:cs typeface="Tahoma"/>
                          </a:rPr>
                          <m:t>𝑖</m:t>
                        </m:r>
                      </m:sub>
                    </m:sSub>
                    <m:d>
                      <m:dPr>
                        <m:ctrlPr>
                          <a:rPr lang="en-US" sz="1100" i="1" spc="10" dirty="0" err="1">
                            <a:latin typeface="Cambria Math" panose="02040503050406030204" pitchFamily="18" charset="0"/>
                            <a:cs typeface="Tahoma"/>
                          </a:rPr>
                        </m:ctrlPr>
                      </m:dPr>
                      <m:e>
                        <m:sSub>
                          <m:sSubPr>
                            <m:ctrlPr>
                              <a:rPr lang="en-US" sz="1100" b="0" i="1" spc="10" dirty="0" smtClean="0">
                                <a:latin typeface="Cambria Math" panose="02040503050406030204" pitchFamily="18" charset="0"/>
                                <a:cs typeface="Tahoma"/>
                              </a:rPr>
                            </m:ctrlPr>
                          </m:sSubPr>
                          <m:e>
                            <m:r>
                              <a:rPr lang="en-US" sz="1100" b="0" i="1" spc="10" dirty="0" smtClean="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2</m:t>
                            </m:r>
                          </m:sub>
                        </m:sSub>
                      </m:e>
                    </m:d>
                  </m:oMath>
                </a14:m>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1071306"/>
                <a:ext cx="3862756" cy="1678793"/>
              </a:xfrm>
              <a:prstGeom prst="rect">
                <a:avLst/>
              </a:prstGeom>
              <a:blipFill>
                <a:blip r:embed="rId3"/>
                <a:stretch>
                  <a:fillRect l="-790" t="-3273" b="-4364"/>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212570165"/>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Allocation of Goods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888397"/>
                <a:ext cx="3862756" cy="2151295"/>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Outcome</a:t>
                </a:r>
                <a:r>
                  <a:rPr lang="en-US" sz="1100" spc="10" dirty="0">
                    <a:latin typeface="Tahoma"/>
                    <a:cs typeface="Tahoma"/>
                  </a:rPr>
                  <a:t>: An allocation assigns goods to agents, potentially leaving some goods unallocated.</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Formal Definition</a:t>
                </a:r>
                <a:r>
                  <a:rPr lang="en-US" sz="1100" spc="10" dirty="0">
                    <a:latin typeface="Tahoma"/>
                    <a:cs typeface="Tahoma"/>
                  </a:rPr>
                  <a:t>: An allocation is a list of sets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Sub>
                    <m:r>
                      <a:rPr lang="en-US" sz="1100" i="1" spc="10" dirty="0" smtClean="0">
                        <a:latin typeface="Cambria Math" panose="02040503050406030204" pitchFamily="18" charset="0"/>
                        <a:cs typeface="Tahoma"/>
                      </a:rPr>
                      <m:t>, …,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𝑛</m:t>
                        </m:r>
                      </m:sub>
                    </m:sSub>
                  </m:oMath>
                </a14:m>
                <a:r>
                  <a:rPr lang="en-US" sz="1100" spc="10" dirty="0">
                    <a:latin typeface="Tahoma"/>
                    <a:cs typeface="Tahoma"/>
                  </a:rPr>
                  <a:t>(one for each agent in the set </a:t>
                </a:r>
                <a14:m>
                  <m:oMath xmlns:m="http://schemas.openxmlformats.org/officeDocument/2006/math">
                    <m:r>
                      <a:rPr lang="en-US" sz="1100" i="1" spc="10" dirty="0" smtClean="0">
                        <a:latin typeface="Cambria Math" panose="02040503050406030204" pitchFamily="18" charset="0"/>
                        <a:cs typeface="Tahoma"/>
                      </a:rPr>
                      <m:t>𝐴𝑔</m:t>
                    </m:r>
                  </m:oMath>
                </a14:m>
                <a:r>
                  <a:rPr lang="en-US" sz="1100" spc="10" dirty="0">
                    <a:latin typeface="Tahoma"/>
                    <a:cs typeface="Tahoma"/>
                  </a:rPr>
                  <a:t>) such that: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 union of all allocated sets is a subset of the total goods: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Sub>
                    <m:r>
                      <a:rPr lang="en-US" sz="1100" i="1" spc="10" dirty="0" smtClean="0">
                        <a:latin typeface="Cambria Math" panose="02040503050406030204" pitchFamily="18" charset="0"/>
                        <a:cs typeface="Tahoma"/>
                      </a:rPr>
                      <m:t>∪ … ∪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𝑛</m:t>
                        </m:r>
                      </m:sub>
                    </m:sSub>
                    <m:r>
                      <a:rPr lang="en-US" sz="1100" i="1" spc="10" dirty="0" smtClean="0">
                        <a:latin typeface="Cambria Math" panose="02040503050406030204" pitchFamily="18" charset="0"/>
                        <a:cs typeface="Tahoma"/>
                      </a:rPr>
                      <m:t>⊆</m:t>
                    </m:r>
                    <m:r>
                      <a:rPr lang="en-US" sz="1100" i="1" spc="10" dirty="0">
                        <a:latin typeface="Cambria Math" panose="02040503050406030204" pitchFamily="18" charset="0"/>
                        <a:ea typeface="Cambria Math" panose="02040503050406030204" pitchFamily="18" charset="0"/>
                        <a:cs typeface="Tahoma"/>
                      </a:rPr>
                      <m:t>𝒵</m:t>
                    </m:r>
                  </m:oMath>
                </a14:m>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No good is allocated to multiple agents: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𝑗</m:t>
                        </m:r>
                      </m:sub>
                    </m:sSub>
                    <m:r>
                      <a:rPr lang="en-US" sz="1100" i="1" spc="10" dirty="0" smtClean="0">
                        <a:latin typeface="Cambria Math" panose="02040503050406030204" pitchFamily="18" charset="0"/>
                        <a:cs typeface="Tahoma"/>
                      </a:rPr>
                      <m:t>= ∅</m:t>
                    </m:r>
                  </m:oMath>
                </a14:m>
                <a:r>
                  <a:rPr lang="en-US" sz="1100" spc="10" dirty="0">
                    <a:latin typeface="Tahoma"/>
                    <a:cs typeface="Tahoma"/>
                  </a:rPr>
                  <a:t> for all distinct agents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𝑗</m:t>
                    </m:r>
                  </m:oMath>
                </a14:m>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The set of all possible allocations of </a:t>
                </a:r>
                <a14:m>
                  <m:oMath xmlns:m="http://schemas.openxmlformats.org/officeDocument/2006/math">
                    <m:r>
                      <a:rPr lang="en-US" sz="1100" b="0" i="1" spc="10" smtClean="0">
                        <a:latin typeface="Cambria Math" panose="02040503050406030204" pitchFamily="18" charset="0"/>
                        <a:cs typeface="Tahoma"/>
                      </a:rPr>
                      <m:t>𝑍</m:t>
                    </m:r>
                  </m:oMath>
                </a14:m>
                <a:r>
                  <a:rPr lang="en-US" sz="1100" spc="10" dirty="0">
                    <a:latin typeface="Tahoma"/>
                    <a:cs typeface="Tahoma"/>
                  </a:rPr>
                  <a:t> to agents </a:t>
                </a:r>
                <a14:m>
                  <m:oMath xmlns:m="http://schemas.openxmlformats.org/officeDocument/2006/math">
                    <m:r>
                      <a:rPr lang="en-US" sz="1100" b="0" i="1" spc="10" smtClean="0">
                        <a:latin typeface="Cambria Math" panose="02040503050406030204" pitchFamily="18" charset="0"/>
                        <a:cs typeface="Tahoma"/>
                      </a:rPr>
                      <m:t>𝐴𝑔</m:t>
                    </m:r>
                  </m:oMath>
                </a14:m>
                <a:r>
                  <a:rPr lang="en-US" sz="1100" spc="10" dirty="0">
                    <a:latin typeface="Tahoma"/>
                    <a:cs typeface="Tahoma"/>
                  </a:rPr>
                  <a:t> is: </a:t>
                </a:r>
                <a14:m>
                  <m:oMath xmlns:m="http://schemas.openxmlformats.org/officeDocument/2006/math">
                    <m:r>
                      <a:rPr lang="en-US" sz="1100" b="0" i="1" spc="10" smtClean="0">
                        <a:latin typeface="Cambria Math" panose="02040503050406030204" pitchFamily="18" charset="0"/>
                        <a:cs typeface="Tahoma"/>
                      </a:rPr>
                      <m:t>𝑎𝑙𝑙𝑜𝑐</m:t>
                    </m:r>
                    <m:d>
                      <m:dPr>
                        <m:ctrlPr>
                          <a:rPr lang="en-US" sz="1100" b="0" i="1" spc="10" smtClean="0">
                            <a:latin typeface="Cambria Math" panose="02040503050406030204" pitchFamily="18" charset="0"/>
                            <a:cs typeface="Tahoma"/>
                          </a:rPr>
                        </m:ctrlPr>
                      </m:dPr>
                      <m:e>
                        <m:r>
                          <a:rPr lang="en-US" sz="1100" i="1" spc="10" dirty="0">
                            <a:latin typeface="Cambria Math" panose="02040503050406030204" pitchFamily="18" charset="0"/>
                            <a:ea typeface="Cambria Math" panose="02040503050406030204" pitchFamily="18" charset="0"/>
                            <a:cs typeface="Tahoma"/>
                          </a:rPr>
                          <m:t>𝒵</m:t>
                        </m:r>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𝐴𝑔</m:t>
                        </m:r>
                      </m:e>
                    </m:d>
                  </m:oMath>
                </a14:m>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888397"/>
                <a:ext cx="3862756" cy="2151295"/>
              </a:xfrm>
              <a:prstGeom prst="rect">
                <a:avLst/>
              </a:prstGeom>
              <a:blipFill>
                <a:blip r:embed="rId3"/>
                <a:stretch>
                  <a:fillRect l="-790" t="-2550" r="-790" b="-3116"/>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27</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753585502"/>
      </p:ext>
    </p:extLst>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Social Welfare Maximization</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587375"/>
                <a:ext cx="3862756" cy="223182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Auction as Voting</a:t>
                </a:r>
                <a:r>
                  <a:rPr lang="en-US" sz="1100" spc="10" dirty="0">
                    <a:latin typeface="Tahoma"/>
                    <a:cs typeface="Tahoma"/>
                  </a:rPr>
                  <a:t>: Combinatorial auctions can be viewed as voting mechanisms, with different outcomes corresponding to different allocations of goods.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Desirable Property</a:t>
                </a:r>
                <a:r>
                  <a:rPr lang="en-US" sz="1100" spc="10" dirty="0">
                    <a:latin typeface="Tahoma"/>
                    <a:cs typeface="Tahoma"/>
                  </a:rPr>
                  <a:t>: Maximizing social welfare, which represents the sum of utilities (valuations) for all agents.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Social Welfare Function</a:t>
                </a:r>
                <a:r>
                  <a:rPr lang="en-US" sz="1100" spc="10" dirty="0">
                    <a:latin typeface="Tahoma"/>
                    <a:cs typeface="Tahoma"/>
                  </a:rPr>
                  <a:t>: calculates the total social welfare for a given allocation.</a:t>
                </a:r>
              </a:p>
              <a:p>
                <a:pPr marL="53975">
                  <a:spcBef>
                    <a:spcPts val="330"/>
                  </a:spcBef>
                  <a:buClr>
                    <a:srgbClr val="0000FF"/>
                  </a:buClr>
                </a:pPr>
                <a14:m>
                  <m:oMathPara xmlns:m="http://schemas.openxmlformats.org/officeDocument/2006/math">
                    <m:oMathParaPr>
                      <m:jc m:val="centerGroup"/>
                    </m:oMathParaPr>
                    <m:oMath xmlns:m="http://schemas.openxmlformats.org/officeDocument/2006/math">
                      <m:r>
                        <a:rPr lang="en-US" sz="1100" i="1" spc="10" dirty="0">
                          <a:latin typeface="Cambria Math" panose="02040503050406030204" pitchFamily="18" charset="0"/>
                          <a:cs typeface="Tahoma"/>
                        </a:rPr>
                        <m:t>𝑠𝑤</m:t>
                      </m:r>
                      <m:d>
                        <m:dPr>
                          <m:ctrlPr>
                            <a:rPr lang="en-US" sz="1100" i="1" spc="10" dirty="0">
                              <a:latin typeface="Cambria Math" panose="02040503050406030204" pitchFamily="18" charset="0"/>
                              <a:cs typeface="Tahoma"/>
                            </a:rPr>
                          </m:ctrlPr>
                        </m:dPr>
                        <m:e>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𝑍</m:t>
                              </m:r>
                            </m:e>
                            <m:sub>
                              <m:r>
                                <a:rPr lang="en-US" sz="1100" i="1" spc="10" dirty="0">
                                  <a:latin typeface="Cambria Math" panose="02040503050406030204" pitchFamily="18" charset="0"/>
                                  <a:cs typeface="Tahoma"/>
                                </a:rPr>
                                <m:t>1</m:t>
                              </m:r>
                            </m:sub>
                          </m:sSub>
                          <m:r>
                            <a:rPr lang="en-US" sz="1100" i="1" spc="10" dirty="0">
                              <a:latin typeface="Cambria Math" panose="02040503050406030204" pitchFamily="18" charset="0"/>
                              <a:cs typeface="Tahoma"/>
                            </a:rPr>
                            <m:t>, …, </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𝑍</m:t>
                              </m:r>
                            </m:e>
                            <m:sub>
                              <m:r>
                                <a:rPr lang="en-US" sz="1100" i="1" spc="10" dirty="0">
                                  <a:latin typeface="Cambria Math" panose="02040503050406030204" pitchFamily="18" charset="0"/>
                                  <a:cs typeface="Tahoma"/>
                                </a:rPr>
                                <m:t>𝑛</m:t>
                              </m:r>
                            </m:sub>
                          </m:sSub>
                          <m:r>
                            <a:rPr lang="en-US" sz="1100" i="1" spc="10" dirty="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a:latin typeface="Cambria Math" panose="02040503050406030204" pitchFamily="18" charset="0"/>
                                  <a:cs typeface="Tahoma"/>
                                </a:rPr>
                                <m:t>1</m:t>
                              </m:r>
                            </m:sub>
                          </m:sSub>
                          <m:r>
                            <a:rPr lang="en-US" sz="1100" i="1" spc="10" dirty="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a:latin typeface="Cambria Math" panose="02040503050406030204" pitchFamily="18" charset="0"/>
                                  <a:cs typeface="Tahoma"/>
                                </a:rPr>
                                <m:t>𝑛</m:t>
                              </m:r>
                            </m:sub>
                          </m:sSub>
                        </m:e>
                      </m:d>
                      <m:r>
                        <a:rPr lang="en-US" sz="1100" i="1" spc="10" dirty="0">
                          <a:latin typeface="Cambria Math" panose="02040503050406030204" pitchFamily="18" charset="0"/>
                          <a:cs typeface="Tahoma"/>
                        </a:rPr>
                        <m:t>=</m:t>
                      </m:r>
                      <m:nary>
                        <m:naryPr>
                          <m:chr m:val="∑"/>
                          <m:ctrlPr>
                            <a:rPr lang="en-US" sz="1100" i="1" spc="10" smtClean="0">
                              <a:latin typeface="Cambria Math" panose="02040503050406030204" pitchFamily="18" charset="0"/>
                              <a:cs typeface="Tahoma"/>
                            </a:rPr>
                          </m:ctrlPr>
                        </m:naryPr>
                        <m:sub>
                          <m:r>
                            <m:rPr>
                              <m:brk m:alnAt="23"/>
                            </m:rPr>
                            <a:rPr lang="en-US" sz="1100" b="0" i="1" spc="10" smtClean="0">
                              <a:latin typeface="Cambria Math" panose="02040503050406030204" pitchFamily="18" charset="0"/>
                              <a:cs typeface="Tahoma"/>
                            </a:rPr>
                            <m:t>𝑖</m:t>
                          </m:r>
                          <m:r>
                            <a:rPr lang="en-US" sz="1100" b="0" i="1" spc="10" smtClean="0">
                              <a:latin typeface="Cambria Math" panose="02040503050406030204" pitchFamily="18" charset="0"/>
                              <a:cs typeface="Tahoma"/>
                            </a:rPr>
                            <m:t>=1</m:t>
                          </m:r>
                        </m:sub>
                        <m:sup>
                          <m:r>
                            <a:rPr lang="en-US" sz="1100" b="0" i="1" spc="10" smtClean="0">
                              <a:latin typeface="Cambria Math" panose="02040503050406030204" pitchFamily="18" charset="0"/>
                              <a:cs typeface="Tahoma"/>
                            </a:rPr>
                            <m:t>𝑛</m:t>
                          </m:r>
                        </m:sup>
                        <m:e>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b="0" i="1" spc="10" dirty="0" smtClean="0">
                                  <a:latin typeface="Cambria Math" panose="02040503050406030204" pitchFamily="18" charset="0"/>
                                  <a:cs typeface="Tahoma"/>
                                </a:rPr>
                                <m:t>𝑖</m:t>
                              </m:r>
                            </m:sub>
                          </m:sSub>
                          <m:d>
                            <m:dPr>
                              <m:ctrlPr>
                                <a:rPr lang="en-US" sz="1100" i="1" spc="10" dirty="0">
                                  <a:latin typeface="Cambria Math" panose="02040503050406030204" pitchFamily="18" charset="0"/>
                                  <a:cs typeface="Tahoma"/>
                                </a:rPr>
                              </m:ctrlPr>
                            </m:dPr>
                            <m:e>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𝑖</m:t>
                                  </m:r>
                                </m:sub>
                              </m:sSub>
                            </m:e>
                          </m:d>
                        </m:e>
                      </m:nary>
                    </m:oMath>
                  </m:oMathPara>
                </a14:m>
                <a:endParaRPr lang="en-US" sz="1100" i="1" spc="10" dirty="0">
                  <a:latin typeface="Cambria Math" panose="02040503050406030204" pitchFamily="18" charset="0"/>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587375"/>
                <a:ext cx="3862756" cy="2231829"/>
              </a:xfrm>
              <a:prstGeom prst="rect">
                <a:avLst/>
              </a:prstGeom>
              <a:blipFill>
                <a:blip r:embed="rId3"/>
                <a:stretch>
                  <a:fillRect l="-790" t="-2186" r="-2054" b="-3743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28</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cxnSp>
        <p:nvCxnSpPr>
          <p:cNvPr id="5" name="Straight Connector 4">
            <a:extLst>
              <a:ext uri="{FF2B5EF4-FFF2-40B4-BE49-F238E27FC236}">
                <a16:creationId xmlns:a16="http://schemas.microsoft.com/office/drawing/2014/main" id="{9CABD140-A56F-BC41-C47F-5CE1BCFA7579}"/>
              </a:ext>
            </a:extLst>
          </p:cNvPr>
          <p:cNvCxnSpPr/>
          <p:nvPr/>
        </p:nvCxnSpPr>
        <p:spPr>
          <a:xfrm>
            <a:off x="1458899" y="2705073"/>
            <a:ext cx="533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22507221-08CB-98F8-E1A1-048C414788CF}"/>
              </a:ext>
            </a:extLst>
          </p:cNvPr>
          <p:cNvCxnSpPr/>
          <p:nvPr/>
        </p:nvCxnSpPr>
        <p:spPr>
          <a:xfrm>
            <a:off x="2038350" y="2705073"/>
            <a:ext cx="533400" cy="0"/>
          </a:xfrm>
          <a:prstGeom prst="line">
            <a:avLst/>
          </a:prstGeom>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56080293-2F67-BE5A-B8F9-14EEFE39840D}"/>
              </a:ext>
            </a:extLst>
          </p:cNvPr>
          <p:cNvSpPr txBox="1"/>
          <p:nvPr/>
        </p:nvSpPr>
        <p:spPr>
          <a:xfrm>
            <a:off x="1380793" y="2728641"/>
            <a:ext cx="689612" cy="230832"/>
          </a:xfrm>
          <a:prstGeom prst="rect">
            <a:avLst/>
          </a:prstGeom>
          <a:noFill/>
        </p:spPr>
        <p:txBody>
          <a:bodyPr wrap="none" rtlCol="0">
            <a:spAutoFit/>
          </a:bodyPr>
          <a:lstStyle/>
          <a:p>
            <a:r>
              <a:rPr lang="en-US" sz="900" dirty="0">
                <a:solidFill>
                  <a:srgbClr val="C0504D"/>
                </a:solidFill>
              </a:rPr>
              <a:t>allocations</a:t>
            </a:r>
            <a:endParaRPr lang="en-MY" sz="900" dirty="0">
              <a:solidFill>
                <a:srgbClr val="C0504D"/>
              </a:solidFill>
            </a:endParaRPr>
          </a:p>
        </p:txBody>
      </p:sp>
      <p:sp>
        <p:nvSpPr>
          <p:cNvPr id="11" name="TextBox 10">
            <a:extLst>
              <a:ext uri="{FF2B5EF4-FFF2-40B4-BE49-F238E27FC236}">
                <a16:creationId xmlns:a16="http://schemas.microsoft.com/office/drawing/2014/main" id="{D4E75B5E-A389-2436-3531-C2E472F80EDD}"/>
              </a:ext>
            </a:extLst>
          </p:cNvPr>
          <p:cNvSpPr txBox="1"/>
          <p:nvPr/>
        </p:nvSpPr>
        <p:spPr>
          <a:xfrm>
            <a:off x="1960243" y="2720975"/>
            <a:ext cx="667170" cy="230832"/>
          </a:xfrm>
          <a:prstGeom prst="rect">
            <a:avLst/>
          </a:prstGeom>
          <a:noFill/>
        </p:spPr>
        <p:txBody>
          <a:bodyPr wrap="none" rtlCol="0">
            <a:spAutoFit/>
          </a:bodyPr>
          <a:lstStyle/>
          <a:p>
            <a:r>
              <a:rPr lang="en-US" sz="900" dirty="0">
                <a:solidFill>
                  <a:srgbClr val="4F81BD"/>
                </a:solidFill>
              </a:rPr>
              <a:t>valuations</a:t>
            </a:r>
            <a:endParaRPr lang="en-MY" sz="900" dirty="0">
              <a:solidFill>
                <a:srgbClr val="4F81BD"/>
              </a:solidFill>
            </a:endParaRPr>
          </a:p>
        </p:txBody>
      </p:sp>
    </p:spTree>
    <p:extLst>
      <p:ext uri="{BB962C8B-B14F-4D97-AF65-F5344CB8AC3E}">
        <p14:creationId xmlns:p14="http://schemas.microsoft.com/office/powerpoint/2010/main" val="4008698832"/>
      </p:ext>
    </p:extLst>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Winner Determination Problem</a:t>
            </a:r>
            <a:endParaRPr lang="en-MY"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587375"/>
                <a:ext cx="3862756" cy="1877822"/>
              </a:xfrm>
              <a:prstGeom prst="rect">
                <a:avLst/>
              </a:prstGeom>
            </p:spPr>
            <p:txBody>
              <a:bodyPr vert="horz" wrap="square" lIns="0" tIns="0" rIns="0" bIns="0" rtlCol="0">
                <a:spAutoFit/>
              </a:bodyPr>
              <a:lstStyle/>
              <a:p>
                <a:pPr marL="284163" indent="-230188">
                  <a:spcBef>
                    <a:spcPts val="330"/>
                  </a:spcBef>
                  <a:buClr>
                    <a:srgbClr val="0000FF"/>
                  </a:buClr>
                  <a:buFont typeface="Wingdings 3" panose="05040102010807070707" pitchFamily="18" charset="2"/>
                  <a:buChar char=""/>
                </a:pPr>
                <a:r>
                  <a:rPr lang="en-MY" sz="1100" b="1" spc="10" dirty="0">
                    <a:latin typeface="Tahoma"/>
                    <a:cs typeface="Tahoma"/>
                  </a:rPr>
                  <a:t>Formal Goal</a:t>
                </a:r>
                <a:r>
                  <a:rPr lang="en-MY" sz="1100" spc="10" dirty="0">
                    <a:latin typeface="Tahoma"/>
                    <a:cs typeface="Tahoma"/>
                  </a:rPr>
                  <a:t>: Given a set of goods </a:t>
                </a:r>
                <a14:m>
                  <m:oMath xmlns:m="http://schemas.openxmlformats.org/officeDocument/2006/math">
                    <m:r>
                      <a:rPr lang="en-MY" sz="1100" i="1" spc="10" dirty="0" smtClean="0">
                        <a:latin typeface="Cambria Math" panose="02040503050406030204" pitchFamily="18" charset="0"/>
                        <a:cs typeface="Tahoma"/>
                      </a:rPr>
                      <m:t>𝑍</m:t>
                    </m:r>
                  </m:oMath>
                </a14:m>
                <a:r>
                  <a:rPr lang="en-MY" sz="1100" spc="10" dirty="0">
                    <a:latin typeface="Tahoma"/>
                    <a:cs typeface="Tahoma"/>
                  </a:rPr>
                  <a:t> and valuation functions </a:t>
                </a:r>
                <a14:m>
                  <m:oMath xmlns:m="http://schemas.openxmlformats.org/officeDocument/2006/math">
                    <m:sSub>
                      <m:sSubPr>
                        <m:ctrlPr>
                          <a:rPr lang="en-MY" sz="110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𝜐</m:t>
                        </m:r>
                      </m:e>
                      <m:sub>
                        <m:r>
                          <a:rPr lang="en-MY" sz="1100" i="1" spc="10" dirty="0" smtClean="0">
                            <a:latin typeface="Cambria Math" panose="02040503050406030204" pitchFamily="18" charset="0"/>
                            <a:cs typeface="Tahoma"/>
                          </a:rPr>
                          <m:t>1</m:t>
                        </m:r>
                      </m:sub>
                    </m:sSub>
                    <m:r>
                      <a:rPr lang="en-MY" sz="1100" i="1" spc="10" dirty="0" smtClean="0">
                        <a:latin typeface="Cambria Math" panose="02040503050406030204" pitchFamily="18" charset="0"/>
                        <a:cs typeface="Tahoma"/>
                      </a:rPr>
                      <m:t>, …, </m:t>
                    </m:r>
                    <m:sSub>
                      <m:sSubPr>
                        <m:ctrlPr>
                          <a:rPr lang="en-MY" sz="110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𝜐</m:t>
                        </m:r>
                      </m:e>
                      <m:sub>
                        <m:r>
                          <a:rPr lang="en-MY" sz="1100" i="1" spc="10" dirty="0" smtClean="0">
                            <a:latin typeface="Cambria Math" panose="02040503050406030204" pitchFamily="18" charset="0"/>
                            <a:cs typeface="Tahoma"/>
                          </a:rPr>
                          <m:t>𝑛</m:t>
                        </m:r>
                      </m:sub>
                    </m:sSub>
                  </m:oMath>
                </a14:m>
                <a:r>
                  <a:rPr lang="en-MY" sz="1100" spc="10" dirty="0">
                    <a:latin typeface="Tahoma"/>
                    <a:cs typeface="Tahoma"/>
                  </a:rPr>
                  <a:t>for each agent, find an allocation </a:t>
                </a:r>
                <a14:m>
                  <m:oMath xmlns:m="http://schemas.openxmlformats.org/officeDocument/2006/math">
                    <m:sSubSup>
                      <m:sSubSupPr>
                        <m:ctrlPr>
                          <a:rPr lang="en-MY" sz="1100" i="1" spc="10" dirty="0" smtClean="0">
                            <a:latin typeface="Cambria Math" panose="02040503050406030204" pitchFamily="18" charset="0"/>
                            <a:cs typeface="Tahoma"/>
                          </a:rPr>
                        </m:ctrlPr>
                      </m:sSubSupPr>
                      <m:e>
                        <m:r>
                          <a:rPr lang="en-MY" sz="1100" i="1" spc="10" dirty="0" smtClean="0">
                            <a:latin typeface="Cambria Math" panose="02040503050406030204" pitchFamily="18" charset="0"/>
                            <a:cs typeface="Tahoma"/>
                          </a:rPr>
                          <m:t>𝑍</m:t>
                        </m:r>
                      </m:e>
                      <m:sub>
                        <m:r>
                          <a:rPr lang="en-MY" sz="1100" i="1" spc="10" dirty="0" smtClean="0">
                            <a:latin typeface="Cambria Math" panose="02040503050406030204" pitchFamily="18" charset="0"/>
                            <a:cs typeface="Tahoma"/>
                          </a:rPr>
                          <m:t>1</m:t>
                        </m:r>
                      </m:sub>
                      <m:sup>
                        <m:r>
                          <a:rPr lang="en-MY" sz="1100" i="1" spc="10" dirty="0" smtClean="0">
                            <a:latin typeface="Cambria Math" panose="02040503050406030204" pitchFamily="18" charset="0"/>
                            <a:cs typeface="Tahoma"/>
                          </a:rPr>
                          <m:t>∗</m:t>
                        </m:r>
                      </m:sup>
                    </m:sSubSup>
                    <m:r>
                      <a:rPr lang="en-MY" sz="1100" i="1" spc="10" dirty="0" smtClean="0">
                        <a:latin typeface="Cambria Math" panose="02040503050406030204" pitchFamily="18" charset="0"/>
                        <a:cs typeface="Tahoma"/>
                      </a:rPr>
                      <m:t>, …, </m:t>
                    </m:r>
                    <m:sSubSup>
                      <m:sSubSupPr>
                        <m:ctrlPr>
                          <a:rPr lang="en-MY" sz="1100" i="1" spc="10" dirty="0" err="1" smtClean="0">
                            <a:latin typeface="Cambria Math" panose="02040503050406030204" pitchFamily="18" charset="0"/>
                            <a:cs typeface="Tahoma"/>
                          </a:rPr>
                        </m:ctrlPr>
                      </m:sSubSupPr>
                      <m:e>
                        <m:r>
                          <a:rPr lang="en-MY" sz="1100" i="1" spc="10" dirty="0" err="1" smtClean="0">
                            <a:latin typeface="Cambria Math" panose="02040503050406030204" pitchFamily="18" charset="0"/>
                            <a:cs typeface="Tahoma"/>
                          </a:rPr>
                          <m:t>𝑍</m:t>
                        </m:r>
                      </m:e>
                      <m:sub>
                        <m:r>
                          <a:rPr lang="en-MY" sz="1100" i="1" spc="10" dirty="0" err="1" smtClean="0">
                            <a:latin typeface="Cambria Math" panose="02040503050406030204" pitchFamily="18" charset="0"/>
                            <a:cs typeface="Tahoma"/>
                          </a:rPr>
                          <m:t>𝑛</m:t>
                        </m:r>
                      </m:sub>
                      <m:sup>
                        <m:r>
                          <a:rPr lang="en-MY" sz="1100" i="1" spc="10" dirty="0" smtClean="0">
                            <a:latin typeface="Cambria Math" panose="02040503050406030204" pitchFamily="18" charset="0"/>
                            <a:cs typeface="Tahoma"/>
                          </a:rPr>
                          <m:t>∗</m:t>
                        </m:r>
                      </m:sup>
                    </m:sSubSup>
                  </m:oMath>
                </a14:m>
                <a:r>
                  <a:rPr lang="en-MY" sz="1100" spc="10" dirty="0">
                    <a:latin typeface="Tahoma"/>
                    <a:cs typeface="Tahoma"/>
                  </a:rPr>
                  <a:t> that maximizes social welfare (over all possible allocations)</a:t>
                </a:r>
                <a14:m>
                  <m:oMath xmlns:m="http://schemas.openxmlformats.org/officeDocument/2006/math">
                    <m:r>
                      <a:rPr lang="en-MY" sz="1100" i="1" spc="10" dirty="0" smtClean="0">
                        <a:latin typeface="Cambria Math" panose="02040503050406030204" pitchFamily="18" charset="0"/>
                        <a:cs typeface="Tahoma"/>
                      </a:rPr>
                      <m:t>: </m:t>
                    </m:r>
                  </m:oMath>
                </a14:m>
                <a:endParaRPr lang="en-US" sz="1100" i="1" spc="10" dirty="0">
                  <a:latin typeface="Cambria Math" panose="02040503050406030204" pitchFamily="18" charset="0"/>
                  <a:cs typeface="Tahoma"/>
                </a:endParaRPr>
              </a:p>
              <a:p>
                <a:pPr marL="53975">
                  <a:spcBef>
                    <a:spcPts val="330"/>
                  </a:spcBef>
                  <a:buClr>
                    <a:srgbClr val="0000FF"/>
                  </a:buClr>
                </a:pPr>
                <a:br>
                  <a:rPr lang="en-US" sz="1100" i="1" spc="10" dirty="0">
                    <a:latin typeface="Cambria Math" panose="02040503050406030204" pitchFamily="18" charset="0"/>
                    <a:cs typeface="Tahoma"/>
                  </a:rPr>
                </a:br>
                <a14:m>
                  <m:oMathPara xmlns:m="http://schemas.openxmlformats.org/officeDocument/2006/math">
                    <m:oMathParaPr>
                      <m:jc m:val="centerGroup"/>
                    </m:oMathParaPr>
                    <m:oMath xmlns:m="http://schemas.openxmlformats.org/officeDocument/2006/math">
                      <m:sSubSup>
                        <m:sSubSupPr>
                          <m:ctrlPr>
                            <a:rPr lang="en-MY" sz="1100" i="1" spc="10" dirty="0">
                              <a:latin typeface="Cambria Math" panose="02040503050406030204" pitchFamily="18" charset="0"/>
                              <a:cs typeface="Tahoma"/>
                            </a:rPr>
                          </m:ctrlPr>
                        </m:sSubSupPr>
                        <m:e>
                          <m:r>
                            <a:rPr lang="en-MY" sz="1100" i="1" spc="10" dirty="0">
                              <a:latin typeface="Cambria Math" panose="02040503050406030204" pitchFamily="18" charset="0"/>
                              <a:cs typeface="Tahoma"/>
                            </a:rPr>
                            <m:t>𝑍</m:t>
                          </m:r>
                        </m:e>
                        <m:sub>
                          <m:r>
                            <a:rPr lang="en-MY" sz="1100" i="1" spc="10" dirty="0">
                              <a:latin typeface="Cambria Math" panose="02040503050406030204" pitchFamily="18" charset="0"/>
                              <a:cs typeface="Tahoma"/>
                            </a:rPr>
                            <m:t>1</m:t>
                          </m:r>
                        </m:sub>
                        <m:sup>
                          <m:r>
                            <a:rPr lang="en-MY" sz="1100" i="1" spc="10" dirty="0">
                              <a:latin typeface="Cambria Math" panose="02040503050406030204" pitchFamily="18" charset="0"/>
                              <a:cs typeface="Tahoma"/>
                            </a:rPr>
                            <m:t>∗</m:t>
                          </m:r>
                        </m:sup>
                      </m:sSubSup>
                      <m:r>
                        <a:rPr lang="en-MY" sz="1100" i="1" spc="10" dirty="0">
                          <a:latin typeface="Cambria Math" panose="02040503050406030204" pitchFamily="18" charset="0"/>
                          <a:cs typeface="Tahoma"/>
                        </a:rPr>
                        <m:t>, …, </m:t>
                      </m:r>
                      <m:sSubSup>
                        <m:sSubSupPr>
                          <m:ctrlPr>
                            <a:rPr lang="en-MY" sz="1100" i="1" spc="10" dirty="0" err="1">
                              <a:latin typeface="Cambria Math" panose="02040503050406030204" pitchFamily="18" charset="0"/>
                              <a:cs typeface="Tahoma"/>
                            </a:rPr>
                          </m:ctrlPr>
                        </m:sSubSupPr>
                        <m:e>
                          <m:r>
                            <a:rPr lang="en-MY" sz="1100" i="1" spc="10" dirty="0" err="1">
                              <a:latin typeface="Cambria Math" panose="02040503050406030204" pitchFamily="18" charset="0"/>
                              <a:cs typeface="Tahoma"/>
                            </a:rPr>
                            <m:t>𝑍</m:t>
                          </m:r>
                        </m:e>
                        <m:sub>
                          <m:r>
                            <a:rPr lang="en-MY" sz="1100" i="1" spc="10" dirty="0" err="1">
                              <a:latin typeface="Cambria Math" panose="02040503050406030204" pitchFamily="18" charset="0"/>
                              <a:cs typeface="Tahoma"/>
                            </a:rPr>
                            <m:t>𝑛</m:t>
                          </m:r>
                        </m:sub>
                        <m:sup>
                          <m:r>
                            <a:rPr lang="en-MY" sz="1100" i="1" spc="10" dirty="0">
                              <a:latin typeface="Cambria Math" panose="02040503050406030204" pitchFamily="18" charset="0"/>
                              <a:cs typeface="Tahoma"/>
                            </a:rPr>
                            <m:t>∗</m:t>
                          </m:r>
                        </m:sup>
                      </m:sSubSup>
                      <m:r>
                        <a:rPr lang="en-MY" sz="1100" i="1" spc="10" dirty="0">
                          <a:latin typeface="Cambria Math" panose="02040503050406030204" pitchFamily="18" charset="0"/>
                          <a:cs typeface="Tahoma"/>
                        </a:rPr>
                        <m:t>=</m:t>
                      </m:r>
                      <m:func>
                        <m:funcPr>
                          <m:ctrlPr>
                            <a:rPr lang="en-MY" sz="1100" i="1" spc="10" dirty="0" smtClean="0">
                              <a:latin typeface="Cambria Math" panose="02040503050406030204" pitchFamily="18" charset="0"/>
                              <a:cs typeface="Tahoma"/>
                            </a:rPr>
                          </m:ctrlPr>
                        </m:funcPr>
                        <m:fName>
                          <m:limLow>
                            <m:limLowPr>
                              <m:ctrlPr>
                                <a:rPr lang="en-MY" sz="1100" i="1" spc="10" dirty="0" smtClean="0">
                                  <a:latin typeface="Cambria Math" panose="02040503050406030204" pitchFamily="18" charset="0"/>
                                  <a:cs typeface="Tahoma"/>
                                </a:rPr>
                              </m:ctrlPr>
                            </m:limLowPr>
                            <m:e>
                              <m:r>
                                <m:rPr>
                                  <m:sty m:val="p"/>
                                </m:rPr>
                                <a:rPr lang="en-US" sz="1100" b="0" i="0" spc="10" dirty="0" smtClean="0">
                                  <a:latin typeface="Cambria Math" panose="02040503050406030204" pitchFamily="18" charset="0"/>
                                  <a:cs typeface="Tahoma"/>
                                </a:rPr>
                                <m:t>arg</m:t>
                              </m:r>
                              <m:r>
                                <m:rPr>
                                  <m:sty m:val="p"/>
                                </m:rPr>
                                <a:rPr lang="en-MY" sz="1100" i="0" spc="10" dirty="0" smtClean="0">
                                  <a:latin typeface="Cambria Math" panose="02040503050406030204" pitchFamily="18" charset="0"/>
                                  <a:cs typeface="Tahoma"/>
                                </a:rPr>
                                <m:t>max</m:t>
                              </m:r>
                            </m:e>
                            <m:lim>
                              <m:d>
                                <m:dPr>
                                  <m:ctrlPr>
                                    <a:rPr lang="en-US" sz="1100" b="0" i="1" spc="10" dirty="0" smtClean="0">
                                      <a:latin typeface="Cambria Math" panose="02040503050406030204" pitchFamily="18" charset="0"/>
                                      <a:cs typeface="Tahoma"/>
                                    </a:rPr>
                                  </m:ctrlPr>
                                </m:dPr>
                                <m:e>
                                  <m:sSub>
                                    <m:sSubPr>
                                      <m:ctrlPr>
                                        <a:rPr lang="en-US" sz="1100" b="0" i="1" spc="10" dirty="0" smtClean="0">
                                          <a:latin typeface="Cambria Math" panose="02040503050406030204" pitchFamily="18" charset="0"/>
                                          <a:cs typeface="Tahoma"/>
                                        </a:rPr>
                                      </m:ctrlPr>
                                    </m:sSubPr>
                                    <m:e>
                                      <m:r>
                                        <a:rPr lang="en-US" sz="1100" b="0" i="1" spc="10" dirty="0" smtClean="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1</m:t>
                                      </m:r>
                                    </m:sub>
                                  </m:sSub>
                                  <m:r>
                                    <a:rPr lang="en-US" sz="1100" b="0" i="1" spc="10" dirty="0" smtClean="0">
                                      <a:latin typeface="Cambria Math" panose="02040503050406030204" pitchFamily="18" charset="0"/>
                                      <a:cs typeface="Tahoma"/>
                                    </a:rPr>
                                    <m:t>, …, </m:t>
                                  </m:r>
                                  <m:sSub>
                                    <m:sSubPr>
                                      <m:ctrlPr>
                                        <a:rPr lang="en-US" sz="1100" b="0" i="1" spc="10" dirty="0" smtClean="0">
                                          <a:latin typeface="Cambria Math" panose="02040503050406030204" pitchFamily="18" charset="0"/>
                                          <a:cs typeface="Tahoma"/>
                                        </a:rPr>
                                      </m:ctrlPr>
                                    </m:sSubPr>
                                    <m:e>
                                      <m:r>
                                        <a:rPr lang="en-US" sz="1100" b="0" i="1" spc="10" dirty="0" smtClean="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𝑛</m:t>
                                      </m:r>
                                    </m:sub>
                                  </m:sSub>
                                </m:e>
                              </m:d>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𝑎𝑙𝑙𝑜𝑐</m:t>
                              </m:r>
                              <m:d>
                                <m:dPr>
                                  <m:ctrlPr>
                                    <a:rPr lang="en-US" sz="1100" b="0" i="1" spc="10" dirty="0" smtClean="0">
                                      <a:latin typeface="Cambria Math" panose="02040503050406030204" pitchFamily="18" charset="0"/>
                                      <a:cs typeface="Tahoma"/>
                                    </a:rPr>
                                  </m:ctrlPr>
                                </m:dPr>
                                <m:e>
                                  <m:r>
                                    <a:rPr lang="en-US" sz="1100" b="0" i="1" spc="10" dirty="0" smtClean="0">
                                      <a:latin typeface="Cambria Math" panose="02040503050406030204" pitchFamily="18" charset="0"/>
                                      <a:ea typeface="Cambria Math" panose="02040503050406030204" pitchFamily="18" charset="0"/>
                                      <a:cs typeface="Tahoma"/>
                                    </a:rPr>
                                    <m:t>𝒵</m:t>
                                  </m:r>
                                  <m:r>
                                    <a:rPr lang="en-US" sz="1100" b="0" i="1" spc="10" dirty="0" smtClean="0">
                                      <a:latin typeface="Cambria Math" panose="02040503050406030204" pitchFamily="18" charset="0"/>
                                      <a:ea typeface="Cambria Math" panose="02040503050406030204" pitchFamily="18" charset="0"/>
                                      <a:cs typeface="Tahoma"/>
                                    </a:rPr>
                                    <m:t>, </m:t>
                                  </m:r>
                                  <m:r>
                                    <a:rPr lang="en-US" sz="1100" b="0" i="1" spc="10" dirty="0" smtClean="0">
                                      <a:latin typeface="Cambria Math" panose="02040503050406030204" pitchFamily="18" charset="0"/>
                                      <a:ea typeface="Cambria Math" panose="02040503050406030204" pitchFamily="18" charset="0"/>
                                      <a:cs typeface="Tahoma"/>
                                    </a:rPr>
                                    <m:t>𝐴𝑔</m:t>
                                  </m:r>
                                </m:e>
                              </m:d>
                            </m:lim>
                          </m:limLow>
                        </m:fName>
                        <m:e>
                          <m:r>
                            <a:rPr lang="en-MY" sz="1100" i="1" spc="10" dirty="0">
                              <a:latin typeface="Cambria Math" panose="02040503050406030204" pitchFamily="18" charset="0"/>
                              <a:cs typeface="Tahoma"/>
                            </a:rPr>
                            <m:t>𝑠𝑤</m:t>
                          </m:r>
                          <m:d>
                            <m:dPr>
                              <m:ctrlPr>
                                <a:rPr lang="en-MY" sz="1100" i="1" spc="10" dirty="0">
                                  <a:latin typeface="Cambria Math" panose="02040503050406030204" pitchFamily="18" charset="0"/>
                                  <a:cs typeface="Tahoma"/>
                                </a:rPr>
                              </m:ctrlPr>
                            </m:dPr>
                            <m:e>
                              <m:sSub>
                                <m:sSubPr>
                                  <m:ctrlPr>
                                    <a:rPr lang="en-MY" sz="1100" i="1" spc="10" dirty="0">
                                      <a:latin typeface="Cambria Math" panose="02040503050406030204" pitchFamily="18" charset="0"/>
                                      <a:cs typeface="Tahoma"/>
                                    </a:rPr>
                                  </m:ctrlPr>
                                </m:sSubPr>
                                <m:e>
                                  <m:r>
                                    <a:rPr lang="en-MY" sz="1100" i="1" spc="10" dirty="0">
                                      <a:latin typeface="Cambria Math" panose="02040503050406030204" pitchFamily="18" charset="0"/>
                                      <a:cs typeface="Tahoma"/>
                                    </a:rPr>
                                    <m:t>𝑍</m:t>
                                  </m:r>
                                </m:e>
                                <m:sub>
                                  <m:r>
                                    <a:rPr lang="en-MY" sz="1100" i="1" spc="10" dirty="0">
                                      <a:latin typeface="Cambria Math" panose="02040503050406030204" pitchFamily="18" charset="0"/>
                                      <a:cs typeface="Tahoma"/>
                                    </a:rPr>
                                    <m:t>1</m:t>
                                  </m:r>
                                </m:sub>
                              </m:sSub>
                              <m:r>
                                <a:rPr lang="en-MY" sz="1100" i="1" spc="10" dirty="0">
                                  <a:latin typeface="Cambria Math" panose="02040503050406030204" pitchFamily="18" charset="0"/>
                                  <a:cs typeface="Tahoma"/>
                                </a:rPr>
                                <m:t>, …, </m:t>
                              </m:r>
                              <m:sSub>
                                <m:sSubPr>
                                  <m:ctrlPr>
                                    <a:rPr lang="en-MY" sz="1100" i="1" spc="10" dirty="0" err="1">
                                      <a:latin typeface="Cambria Math" panose="02040503050406030204" pitchFamily="18" charset="0"/>
                                      <a:cs typeface="Tahoma"/>
                                    </a:rPr>
                                  </m:ctrlPr>
                                </m:sSubPr>
                                <m:e>
                                  <m:r>
                                    <a:rPr lang="en-MY" sz="1100" i="1" spc="10" dirty="0" err="1">
                                      <a:latin typeface="Cambria Math" panose="02040503050406030204" pitchFamily="18" charset="0"/>
                                      <a:cs typeface="Tahoma"/>
                                    </a:rPr>
                                    <m:t>𝑍</m:t>
                                  </m:r>
                                </m:e>
                                <m:sub>
                                  <m:r>
                                    <a:rPr lang="en-MY" sz="1100" i="1" spc="10" dirty="0" err="1">
                                      <a:latin typeface="Cambria Math" panose="02040503050406030204" pitchFamily="18" charset="0"/>
                                      <a:cs typeface="Tahoma"/>
                                    </a:rPr>
                                    <m:t>𝑛</m:t>
                                  </m:r>
                                </m:sub>
                              </m:sSub>
                              <m:r>
                                <a:rPr lang="en-US" sz="1100" i="1" spc="10" dirty="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a:latin typeface="Cambria Math" panose="02040503050406030204" pitchFamily="18" charset="0"/>
                                      <a:cs typeface="Tahoma"/>
                                    </a:rPr>
                                    <m:t>1</m:t>
                                  </m:r>
                                </m:sub>
                              </m:sSub>
                              <m:r>
                                <a:rPr lang="en-US" sz="1100" i="1" spc="10" dirty="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𝜐</m:t>
                                  </m:r>
                                </m:e>
                                <m:sub>
                                  <m:r>
                                    <a:rPr lang="en-US" sz="1100" i="1" spc="10" dirty="0">
                                      <a:latin typeface="Cambria Math" panose="02040503050406030204" pitchFamily="18" charset="0"/>
                                      <a:cs typeface="Tahoma"/>
                                    </a:rPr>
                                    <m:t>𝑛</m:t>
                                  </m:r>
                                </m:sub>
                              </m:sSub>
                            </m:e>
                          </m:d>
                        </m:e>
                      </m:func>
                    </m:oMath>
                  </m:oMathPara>
                </a14:m>
                <a:br>
                  <a:rPr lang="en-US" sz="1100" i="1" spc="10" dirty="0">
                    <a:latin typeface="Cambria Math" panose="02040503050406030204" pitchFamily="18" charset="0"/>
                    <a:cs typeface="Tahoma"/>
                  </a:rPr>
                </a:br>
                <a:br>
                  <a:rPr lang="en-US" sz="1100" i="1" spc="10" dirty="0">
                    <a:latin typeface="Cambria Math" panose="02040503050406030204" pitchFamily="18" charset="0"/>
                    <a:cs typeface="Tahoma"/>
                  </a:rPr>
                </a:br>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Challenge</a:t>
                </a:r>
                <a:r>
                  <a:rPr lang="en-MY" sz="1100" spc="10" dirty="0">
                    <a:latin typeface="Tahoma"/>
                    <a:cs typeface="Tahoma"/>
                  </a:rPr>
                  <a:t>: Determining this optimal allocation is known as the winner determination problem.</a:t>
                </a:r>
              </a:p>
            </p:txBody>
          </p:sp>
        </mc:Choice>
        <mc:Fallback>
          <p:sp>
            <p:nvSpPr>
              <p:cNvPr id="3" name="object 3"/>
              <p:cNvSpPr txBox="1">
                <a:spLocks noRot="1" noChangeAspect="1" noMove="1" noResize="1" noEditPoints="1" noAdjustHandles="1" noChangeArrowheads="1" noChangeShapeType="1" noTextEdit="1"/>
              </p:cNvSpPr>
              <p:nvPr/>
            </p:nvSpPr>
            <p:spPr>
              <a:xfrm>
                <a:off x="400050" y="587375"/>
                <a:ext cx="3862756" cy="1877822"/>
              </a:xfrm>
              <a:prstGeom prst="rect">
                <a:avLst/>
              </a:prstGeom>
              <a:blipFill>
                <a:blip r:embed="rId3"/>
                <a:stretch>
                  <a:fillRect l="-790" t="-2597" r="-2370" b="-3896"/>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833083383"/>
      </p:ext>
    </p:extLst>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Challenges of Winner Determination</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587375"/>
                <a:ext cx="3862756" cy="229235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Declared Valuations</a:t>
                </a:r>
                <a:r>
                  <a:rPr lang="en-US" sz="1100" spc="10" dirty="0">
                    <a:latin typeface="Tahoma"/>
                    <a:cs typeface="Tahoma"/>
                  </a:rPr>
                  <a:t>: Agents declare their valuations </a:t>
                </a:r>
                <a14:m>
                  <m:oMath xmlns:m="http://schemas.openxmlformats.org/officeDocument/2006/math">
                    <m:d>
                      <m:dPr>
                        <m:ctrlPr>
                          <a:rPr lang="en-US" sz="1100" i="1" spc="10" dirty="0" smtClean="0">
                            <a:latin typeface="Cambria Math" panose="02040503050406030204" pitchFamily="18" charset="0"/>
                            <a:cs typeface="Tahoma"/>
                          </a:rPr>
                        </m:ctrlPr>
                      </m:dPr>
                      <m:e>
                        <m:sSub>
                          <m:sSubPr>
                            <m:ctrlPr>
                              <a:rPr lang="en-US" sz="1100" b="0" i="1" spc="10" dirty="0" smtClean="0">
                                <a:latin typeface="Cambria Math" panose="02040503050406030204" pitchFamily="18" charset="0"/>
                                <a:cs typeface="Tahoma"/>
                              </a:rPr>
                            </m:ctrlPr>
                          </m:sSubPr>
                          <m:e>
                            <m:acc>
                              <m:accPr>
                                <m:chr m:val="̂"/>
                                <m:ctrlPr>
                                  <a:rPr lang="en-US" sz="1100" i="1" spc="10" dirty="0" smtClean="0">
                                    <a:latin typeface="Cambria Math" panose="02040503050406030204" pitchFamily="18" charset="0"/>
                                    <a:cs typeface="Tahoma"/>
                                  </a:rPr>
                                </m:ctrlPr>
                              </m:accPr>
                              <m:e>
                                <m:r>
                                  <a:rPr lang="en-US" sz="1100" i="1" spc="10" dirty="0">
                                    <a:latin typeface="Cambria Math" panose="02040503050406030204" pitchFamily="18" charset="0"/>
                                    <a:cs typeface="Tahoma"/>
                                  </a:rPr>
                                  <m:t>𝜐</m:t>
                                </m:r>
                              </m:e>
                            </m:acc>
                          </m:e>
                          <m:sub>
                            <m:r>
                              <a:rPr lang="en-US" sz="1100" b="0" i="1" spc="10" dirty="0" smtClean="0">
                                <a:latin typeface="Cambria Math" panose="02040503050406030204" pitchFamily="18" charset="0"/>
                                <a:cs typeface="Tahoma"/>
                              </a:rPr>
                              <m:t>𝑖</m:t>
                            </m:r>
                          </m:sub>
                        </m:sSub>
                      </m:e>
                    </m:d>
                  </m:oMath>
                </a14:m>
                <a:r>
                  <a:rPr lang="en-US" sz="1100" spc="10" dirty="0">
                    <a:latin typeface="Tahoma"/>
                    <a:cs typeface="Tahoma"/>
                  </a:rPr>
                  <a:t>, which may not be their true valuations, as agents can strategically misrepresent their preferences.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Representational Complexity</a:t>
                </a:r>
                <a:r>
                  <a:rPr lang="en-US" sz="1100" spc="10" dirty="0">
                    <a:latin typeface="Tahoma"/>
                    <a:cs typeface="Tahoma"/>
                  </a:rPr>
                  <a:t>: Valuations can be exponentially large, making naive representation impractical.</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Computational Intractability</a:t>
                </a:r>
                <a:r>
                  <a:rPr lang="en-US" sz="1100" spc="10" dirty="0">
                    <a:latin typeface="Tahoma"/>
                    <a:cs typeface="Tahoma"/>
                  </a:rPr>
                  <a:t>: Searching through all possible allocations to find the optimal one is computationally infeasible, especially for a large number of goods and agents.</a:t>
                </a:r>
              </a:p>
            </p:txBody>
          </p:sp>
        </mc:Choice>
        <mc:Fallback>
          <p:sp>
            <p:nvSpPr>
              <p:cNvPr id="3" name="object 3"/>
              <p:cNvSpPr txBox="1">
                <a:spLocks noRot="1" noChangeAspect="1" noMove="1" noResize="1" noEditPoints="1" noAdjustHandles="1" noChangeArrowheads="1" noChangeShapeType="1" noTextEdit="1"/>
              </p:cNvSpPr>
              <p:nvPr/>
            </p:nvSpPr>
            <p:spPr>
              <a:xfrm>
                <a:off x="400050" y="587375"/>
                <a:ext cx="3862756" cy="2292359"/>
              </a:xfrm>
              <a:prstGeom prst="rect">
                <a:avLst/>
              </a:prstGeom>
              <a:blipFill>
                <a:blip r:embed="rId3"/>
                <a:stretch>
                  <a:fillRect l="-790" t="-2128" r="-2686" b="-3191"/>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30</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449872640"/>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 Bidding Languages: Atomic Bids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1098442"/>
                <a:ext cx="3862756" cy="1317733"/>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Atomic Bid</a:t>
                </a:r>
                <a:r>
                  <a:rPr lang="en-US" sz="1100" spc="10" dirty="0">
                    <a:latin typeface="Tahoma"/>
                    <a:cs typeface="Tahoma"/>
                  </a:rPr>
                  <a:t>: A fundamental bid format represented as </a:t>
                </a:r>
                <a14:m>
                  <m:oMath xmlns:m="http://schemas.openxmlformats.org/officeDocument/2006/math">
                    <m:r>
                      <a:rPr lang="en-US" sz="1100" i="1" spc="10" dirty="0" smtClean="0">
                        <a:latin typeface="Cambria Math" panose="02040503050406030204" pitchFamily="18" charset="0"/>
                        <a:cs typeface="Tahoma"/>
                      </a:rPr>
                      <m:t>𝛽</m:t>
                    </m:r>
                    <m:r>
                      <a:rPr lang="en-US" sz="1100" i="1" spc="10" dirty="0" smtClean="0">
                        <a:latin typeface="Cambria Math" panose="02040503050406030204" pitchFamily="18" charset="0"/>
                        <a:cs typeface="Tahoma"/>
                      </a:rPr>
                      <m:t> = (</m:t>
                    </m:r>
                    <m:r>
                      <a:rPr lang="en-US" sz="1100" i="1" spc="10" dirty="0" smtClean="0">
                        <a:latin typeface="Cambria Math" panose="02040503050406030204" pitchFamily="18" charset="0"/>
                        <a:cs typeface="Tahoma"/>
                      </a:rPr>
                      <m:t>𝑍</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𝑝</m:t>
                    </m:r>
                    <m:r>
                      <a:rPr lang="en-US" sz="1100" i="1" spc="10" dirty="0" smtClean="0">
                        <a:latin typeface="Cambria Math" panose="02040503050406030204" pitchFamily="18" charset="0"/>
                        <a:cs typeface="Tahoma"/>
                      </a:rPr>
                      <m:t>), </m:t>
                    </m:r>
                  </m:oMath>
                </a14:m>
                <a:r>
                  <a:rPr lang="en-US" sz="1100" spc="10" dirty="0">
                    <a:latin typeface="Tahoma"/>
                    <a:cs typeface="Tahoma"/>
                  </a:rPr>
                  <a:t>where </a:t>
                </a:r>
                <a14:m>
                  <m:oMath xmlns:m="http://schemas.openxmlformats.org/officeDocument/2006/math">
                    <m:r>
                      <a:rPr lang="en-US" sz="1100" i="1" spc="10" dirty="0" smtClean="0">
                        <a:latin typeface="Cambria Math" panose="02040503050406030204" pitchFamily="18" charset="0"/>
                        <a:cs typeface="Tahoma"/>
                      </a:rPr>
                      <m:t>𝑍</m:t>
                    </m:r>
                  </m:oMath>
                </a14:m>
                <a:r>
                  <a:rPr lang="en-US" sz="1100" spc="10" dirty="0">
                    <a:latin typeface="Tahoma"/>
                    <a:cs typeface="Tahoma"/>
                  </a:rPr>
                  <a:t> is a set of items and </a:t>
                </a:r>
                <a14:m>
                  <m:oMath xmlns:m="http://schemas.openxmlformats.org/officeDocument/2006/math">
                    <m:r>
                      <a:rPr lang="en-US" sz="1100" i="1" spc="10" dirty="0" smtClean="0">
                        <a:latin typeface="Cambria Math" panose="02040503050406030204" pitchFamily="18" charset="0"/>
                        <a:cs typeface="Tahoma"/>
                      </a:rPr>
                      <m:t>𝑝</m:t>
                    </m:r>
                  </m:oMath>
                </a14:m>
                <a:r>
                  <a:rPr lang="en-US" sz="1100" spc="10" dirty="0">
                    <a:latin typeface="Tahoma"/>
                    <a:cs typeface="Tahoma"/>
                  </a:rPr>
                  <a:t> is the price the bidder is willing to pay for that set.</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Satisfaction</a:t>
                </a:r>
                <a:r>
                  <a:rPr lang="en-US" sz="1100" spc="10" dirty="0">
                    <a:latin typeface="Tahoma"/>
                    <a:cs typeface="Tahoma"/>
                  </a:rPr>
                  <a:t>: A bundle </a:t>
                </a:r>
                <a14:m>
                  <m:oMath xmlns:m="http://schemas.openxmlformats.org/officeDocument/2006/math">
                    <m:r>
                      <a:rPr lang="en-US" sz="1100" i="1" spc="10" dirty="0" smtClean="0">
                        <a:latin typeface="Cambria Math" panose="02040503050406030204" pitchFamily="18" charset="0"/>
                        <a:cs typeface="Tahoma"/>
                      </a:rPr>
                      <m:t>𝑍</m:t>
                    </m:r>
                    <m:r>
                      <a:rPr lang="en-US" sz="1100" b="0" i="1" spc="10" dirty="0" smtClean="0">
                        <a:latin typeface="Cambria Math" panose="02040503050406030204" pitchFamily="18" charset="0"/>
                        <a:cs typeface="Tahoma"/>
                      </a:rPr>
                      <m:t>′</m:t>
                    </m:r>
                  </m:oMath>
                </a14:m>
                <a:r>
                  <a:rPr lang="en-US" sz="1100" spc="10" dirty="0">
                    <a:latin typeface="Tahoma"/>
                    <a:cs typeface="Tahoma"/>
                  </a:rPr>
                  <a:t> satisfies an atomic bid </a:t>
                </a:r>
                <a14:m>
                  <m:oMath xmlns:m="http://schemas.openxmlformats.org/officeDocument/2006/math">
                    <m:r>
                      <a:rPr lang="en-US" sz="1100" i="1" spc="10" dirty="0" smtClean="0">
                        <a:latin typeface="Cambria Math" panose="02040503050406030204" pitchFamily="18" charset="0"/>
                        <a:cs typeface="Tahoma"/>
                      </a:rPr>
                      <m:t>(</m:t>
                    </m:r>
                    <m:r>
                      <a:rPr lang="en-US" sz="1100" i="1" spc="10" dirty="0" smtClean="0">
                        <a:latin typeface="Cambria Math" panose="02040503050406030204" pitchFamily="18" charset="0"/>
                        <a:cs typeface="Tahoma"/>
                      </a:rPr>
                      <m:t>𝑍</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𝑝</m:t>
                    </m:r>
                    <m:r>
                      <a:rPr lang="en-US" sz="1100" i="1" spc="10" dirty="0" smtClean="0">
                        <a:latin typeface="Cambria Math" panose="02040503050406030204" pitchFamily="18" charset="0"/>
                        <a:cs typeface="Tahoma"/>
                      </a:rPr>
                      <m:t>)</m:t>
                    </m:r>
                  </m:oMath>
                </a14:m>
                <a:r>
                  <a:rPr lang="en-US" sz="1100" spc="10" dirty="0">
                    <a:latin typeface="Tahoma"/>
                    <a:cs typeface="Tahoma"/>
                  </a:rPr>
                  <a:t> if </a:t>
                </a:r>
                <a14:m>
                  <m:oMath xmlns:m="http://schemas.openxmlformats.org/officeDocument/2006/math">
                    <m:r>
                      <a:rPr lang="en-US" sz="1100" i="1" spc="10" dirty="0" smtClean="0">
                        <a:latin typeface="Cambria Math" panose="02040503050406030204" pitchFamily="18" charset="0"/>
                        <a:cs typeface="Tahoma"/>
                      </a:rPr>
                      <m:t>𝑍</m:t>
                    </m:r>
                    <m:r>
                      <a:rPr lang="en-US" sz="1100" i="1" spc="10" dirty="0" smtClean="0">
                        <a:latin typeface="Cambria Math" panose="02040503050406030204" pitchFamily="18" charset="0"/>
                        <a:cs typeface="Tahoma"/>
                      </a:rPr>
                      <m:t> ⊆ </m:t>
                    </m:r>
                    <m:r>
                      <a:rPr lang="en-US" sz="1100" i="1" spc="10" dirty="0" smtClean="0">
                        <a:latin typeface="Cambria Math" panose="02040503050406030204" pitchFamily="18" charset="0"/>
                        <a:cs typeface="Tahoma"/>
                      </a:rPr>
                      <m:t>𝑍</m:t>
                    </m:r>
                    <m:r>
                      <a:rPr lang="en-US" sz="1100" i="1" spc="10" dirty="0" smtClean="0">
                        <a:latin typeface="Cambria Math" panose="02040503050406030204" pitchFamily="18" charset="0"/>
                        <a:cs typeface="Tahoma"/>
                      </a:rPr>
                      <m:t>′</m:t>
                    </m:r>
                  </m:oMath>
                </a14:m>
                <a:r>
                  <a:rPr lang="en-US" sz="1100" spc="10" dirty="0">
                    <a:latin typeface="Tahoma"/>
                    <a:cs typeface="Tahoma"/>
                  </a:rPr>
                  <a:t>, meaning the bundle contains at least all the items in the bid.</a:t>
                </a:r>
              </a:p>
            </p:txBody>
          </p:sp>
        </mc:Choice>
        <mc:Fallback>
          <p:sp>
            <p:nvSpPr>
              <p:cNvPr id="3" name="object 3"/>
              <p:cNvSpPr txBox="1">
                <a:spLocks noRot="1" noChangeAspect="1" noMove="1" noResize="1" noEditPoints="1" noAdjustHandles="1" noChangeArrowheads="1" noChangeShapeType="1" noTextEdit="1"/>
              </p:cNvSpPr>
              <p:nvPr/>
            </p:nvSpPr>
            <p:spPr>
              <a:xfrm>
                <a:off x="400050" y="1098442"/>
                <a:ext cx="3862756" cy="1317733"/>
              </a:xfrm>
              <a:prstGeom prst="rect">
                <a:avLst/>
              </a:prstGeom>
              <a:blipFill>
                <a:blip r:embed="rId3"/>
                <a:stretch>
                  <a:fillRect l="-790" t="-3704" r="-316" b="-6019"/>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335600737"/>
      </p:ext>
    </p:extLst>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Bidding Languages: Atomic Bid Limitations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1071306"/>
                <a:ext cx="3862756" cy="149726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Limited Expressiveness</a:t>
                </a:r>
                <a:r>
                  <a:rPr lang="en-US" sz="1100" spc="10" dirty="0">
                    <a:latin typeface="Tahoma"/>
                    <a:cs typeface="Tahoma"/>
                  </a:rPr>
                  <a:t>: Atomic bids alone are insufficient to represent many nuanced valuation functions.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Example</a:t>
                </a:r>
                <a:r>
                  <a:rPr lang="en-US" sz="1100" spc="10" dirty="0">
                    <a:latin typeface="Tahoma"/>
                    <a:cs typeface="Tahoma"/>
                  </a:rPr>
                  <a:t>: An atomic bid </a:t>
                </a:r>
                <a14:m>
                  <m:oMath xmlns:m="http://schemas.openxmlformats.org/officeDocument/2006/math">
                    <m:r>
                      <a:rPr lang="en-US" sz="1100" i="1" spc="10" dirty="0" smtClean="0">
                        <a:latin typeface="Cambria Math" panose="02040503050406030204" pitchFamily="18" charset="0"/>
                        <a:cs typeface="Tahoma"/>
                      </a:rPr>
                      <m:t>𝛽</m:t>
                    </m:r>
                    <m:r>
                      <a:rPr lang="en-US" sz="1100" i="1" spc="10" dirty="0" smtClean="0">
                        <a:latin typeface="Cambria Math" panose="02040503050406030204" pitchFamily="18" charset="0"/>
                        <a:cs typeface="Tahoma"/>
                      </a:rPr>
                      <m:t>=({</m:t>
                    </m:r>
                    <m:r>
                      <a:rPr lang="en-US" sz="1100" i="1" spc="10" dirty="0" smtClean="0">
                        <a:latin typeface="Cambria Math" panose="02040503050406030204" pitchFamily="18" charset="0"/>
                        <a:cs typeface="Tahoma"/>
                      </a:rPr>
                      <m:t>𝑎</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𝑏</m:t>
                    </m:r>
                    <m:r>
                      <a:rPr lang="en-US" sz="1100" i="1" spc="10" dirty="0" smtClean="0">
                        <a:latin typeface="Cambria Math" panose="02040503050406030204" pitchFamily="18" charset="0"/>
                        <a:cs typeface="Tahoma"/>
                      </a:rPr>
                      <m:t>}, 4)</m:t>
                    </m:r>
                  </m:oMath>
                </a14:m>
                <a:r>
                  <a:rPr lang="en-US" sz="1100" spc="10" dirty="0">
                    <a:latin typeface="Tahoma"/>
                    <a:cs typeface="Tahoma"/>
                  </a:rPr>
                  <a:t> is satisfied by bundles containing both </a:t>
                </a:r>
                <a14:m>
                  <m:oMath xmlns:m="http://schemas.openxmlformats.org/officeDocument/2006/math">
                    <m:r>
                      <a:rPr lang="en-US" sz="1100" i="1" spc="10" dirty="0" smtClean="0">
                        <a:latin typeface="Cambria Math" panose="02040503050406030204" pitchFamily="18" charset="0"/>
                        <a:cs typeface="Tahoma"/>
                      </a:rPr>
                      <m:t>𝑎</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𝑏</m:t>
                    </m:r>
                  </m:oMath>
                </a14:m>
                <a:r>
                  <a:rPr lang="en-US" sz="1100" spc="10" dirty="0">
                    <a:latin typeface="Tahoma"/>
                    <a:cs typeface="Tahoma"/>
                  </a:rPr>
                  <a:t> but cannot express preferences for bundles with additional items or different combinations.</a:t>
                </a: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1071306"/>
                <a:ext cx="3862756" cy="1497269"/>
              </a:xfrm>
              <a:prstGeom prst="rect">
                <a:avLst/>
              </a:prstGeom>
              <a:blipFill>
                <a:blip r:embed="rId3"/>
                <a:stretch>
                  <a:fillRect l="-790" t="-3673" b="-5306"/>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783141337"/>
      </p:ext>
    </p:extLst>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Bidding Languages: XOR Bids</a:t>
            </a:r>
            <a:endParaRPr lang="en-MY"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171502" y="771888"/>
                <a:ext cx="4267148" cy="225388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XOR Bid Structure</a:t>
                </a:r>
                <a:r>
                  <a:rPr lang="en-US" sz="1100" spc="10" dirty="0">
                    <a:latin typeface="Tahoma"/>
                    <a:cs typeface="Tahoma"/>
                  </a:rPr>
                  <a:t>:</a:t>
                </a:r>
                <a14:m>
                  <m:oMath xmlns:m="http://schemas.openxmlformats.org/officeDocument/2006/math">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𝛽</m:t>
                    </m:r>
                    <m:r>
                      <a:rPr lang="en-US" sz="1100" i="1" spc="10" dirty="0" smtClean="0">
                        <a:latin typeface="Cambria Math" panose="02040503050406030204" pitchFamily="18" charset="0"/>
                        <a:cs typeface="Tahoma"/>
                      </a:rPr>
                      <m:t> = </m:t>
                    </m:r>
                    <m:d>
                      <m:dPr>
                        <m:ctrlPr>
                          <a:rPr lang="en-US" sz="1100" i="1" spc="10" dirty="0" smtClean="0">
                            <a:latin typeface="Cambria Math" panose="02040503050406030204" pitchFamily="18" charset="0"/>
                            <a:cs typeface="Tahoma"/>
                          </a:rPr>
                        </m:ctrlPr>
                      </m:dPr>
                      <m:e>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Sub>
                        <m:r>
                          <a:rPr lang="en-US" sz="1100" i="1" spc="10" dirty="0" smtClean="0">
                            <a:latin typeface="Cambria Math" panose="02040503050406030204" pitchFamily="18" charset="0"/>
                            <a:cs typeface="Tahoma"/>
                          </a:rPr>
                          <m:t>, </m:t>
                        </m:r>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𝑝</m:t>
                            </m:r>
                          </m:e>
                          <m:sub>
                            <m:r>
                              <a:rPr lang="en-US" sz="1100" i="1" spc="10" dirty="0" smtClean="0">
                                <a:latin typeface="Cambria Math" panose="02040503050406030204" pitchFamily="18" charset="0"/>
                                <a:cs typeface="Tahoma"/>
                              </a:rPr>
                              <m:t>1</m:t>
                            </m:r>
                          </m:sub>
                        </m:sSub>
                      </m:e>
                    </m:d>
                    <m:r>
                      <m:rPr>
                        <m:sty m:val="p"/>
                      </m:rPr>
                      <a:rPr lang="en-US" sz="1100" i="0" spc="10" dirty="0" smtClean="0">
                        <a:latin typeface="Cambria Math" panose="02040503050406030204" pitchFamily="18" charset="0"/>
                        <a:cs typeface="Tahoma"/>
                      </a:rPr>
                      <m:t>XOR</m:t>
                    </m:r>
                    <m:r>
                      <a:rPr lang="en-US" sz="1100" i="1" spc="10" dirty="0" smtClean="0">
                        <a:latin typeface="Cambria Math" panose="02040503050406030204" pitchFamily="18" charset="0"/>
                        <a:cs typeface="Tahoma"/>
                      </a:rPr>
                      <m:t> … </m:t>
                    </m:r>
                    <m:r>
                      <m:rPr>
                        <m:sty m:val="p"/>
                      </m:rPr>
                      <a:rPr lang="en-US" sz="1100" i="0" spc="10" dirty="0" smtClean="0">
                        <a:latin typeface="Cambria Math" panose="02040503050406030204" pitchFamily="18" charset="0"/>
                        <a:cs typeface="Tahoma"/>
                      </a:rPr>
                      <m:t>XOR</m:t>
                    </m:r>
                    <m:r>
                      <a:rPr lang="en-US" sz="1100" i="1" spc="10" dirty="0" smtClean="0">
                        <a:latin typeface="Cambria Math" panose="02040503050406030204" pitchFamily="18" charset="0"/>
                        <a:cs typeface="Tahoma"/>
                      </a:rPr>
                      <m:t> </m:t>
                    </m:r>
                    <m:d>
                      <m:dPr>
                        <m:ctrlPr>
                          <a:rPr lang="en-US" sz="1100" i="1" spc="10" dirty="0" smtClean="0">
                            <a:latin typeface="Cambria Math" panose="02040503050406030204" pitchFamily="18" charset="0"/>
                            <a:cs typeface="Tahoma"/>
                          </a:rPr>
                        </m:ctrlPr>
                      </m:dPr>
                      <m:e>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𝑘</m:t>
                            </m:r>
                          </m:sub>
                        </m:sSub>
                        <m:r>
                          <a:rPr lang="en-US" sz="1100" i="1" spc="10" dirty="0" smtClean="0">
                            <a:latin typeface="Cambria Math" panose="02040503050406030204" pitchFamily="18" charset="0"/>
                            <a:cs typeface="Tahoma"/>
                          </a:rPr>
                          <m:t>,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𝑝</m:t>
                            </m:r>
                          </m:e>
                          <m:sub>
                            <m:r>
                              <a:rPr lang="en-US" sz="1100" i="1" spc="10" dirty="0" err="1" smtClean="0">
                                <a:latin typeface="Cambria Math" panose="02040503050406030204" pitchFamily="18" charset="0"/>
                                <a:cs typeface="Tahoma"/>
                              </a:rPr>
                              <m:t>𝑘</m:t>
                            </m:r>
                          </m:sub>
                        </m:sSub>
                      </m:e>
                    </m:d>
                  </m:oMath>
                </a14:m>
                <a:r>
                  <a:rPr lang="en-US" sz="1100" spc="10" dirty="0">
                    <a:latin typeface="Tahoma"/>
                    <a:cs typeface="Tahoma"/>
                  </a:rPr>
                  <a:t>, specifying multiple atomic bids with the condition that the bidder pays for </a:t>
                </a:r>
                <a:r>
                  <a:rPr lang="en-US" sz="1100" spc="10" dirty="0">
                    <a:solidFill>
                      <a:srgbClr val="0000FF"/>
                    </a:solidFill>
                    <a:latin typeface="Tahoma"/>
                    <a:cs typeface="Tahoma"/>
                  </a:rPr>
                  <a:t>at most one </a:t>
                </a:r>
                <a:r>
                  <a:rPr lang="en-US" sz="1100" spc="10" dirty="0">
                    <a:latin typeface="Tahoma"/>
                    <a:cs typeface="Tahoma"/>
                  </a:rPr>
                  <a:t>winning bid.</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Valuation Function</a:t>
                </a:r>
                <a:r>
                  <a:rPr lang="en-US" sz="1100" spc="10" dirty="0">
                    <a:latin typeface="Tahoma"/>
                    <a:cs typeface="Tahoma"/>
                  </a:rPr>
                  <a:t>: An XOR bid defines a valuation function </a:t>
                </a:r>
                <a14:m>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𝑣</m:t>
                        </m:r>
                      </m:e>
                      <m:sub>
                        <m:r>
                          <a:rPr lang="en-US" sz="1100" b="0" i="1" spc="10" smtClean="0">
                            <a:latin typeface="Cambria Math" panose="02040503050406030204" pitchFamily="18" charset="0"/>
                            <a:cs typeface="Tahoma"/>
                          </a:rPr>
                          <m:t>𝛽</m:t>
                        </m:r>
                      </m:sub>
                    </m:sSub>
                  </m:oMath>
                </a14:m>
                <a:r>
                  <a:rPr lang="en-US" sz="1100" spc="10" dirty="0">
                    <a:latin typeface="Tahoma"/>
                    <a:cs typeface="Tahoma"/>
                  </a:rPr>
                  <a:t> where the bidder pays the highest price </a:t>
                </a:r>
                <a14:m>
                  <m:oMath xmlns:m="http://schemas.openxmlformats.org/officeDocument/2006/math">
                    <m:func>
                      <m:funcPr>
                        <m:ctrlPr>
                          <a:rPr lang="en-US" sz="1100" b="0" i="1" spc="10" smtClean="0">
                            <a:latin typeface="Cambria Math" panose="02040503050406030204" pitchFamily="18" charset="0"/>
                            <a:cs typeface="Tahoma"/>
                          </a:rPr>
                        </m:ctrlPr>
                      </m:funcPr>
                      <m:fName>
                        <m:r>
                          <m:rPr>
                            <m:sty m:val="p"/>
                          </m:rPr>
                          <a:rPr lang="en-US" sz="1100" b="0" i="0" spc="10" smtClean="0">
                            <a:latin typeface="Cambria Math" panose="02040503050406030204" pitchFamily="18" charset="0"/>
                            <a:cs typeface="Tahoma"/>
                          </a:rPr>
                          <m:t>max</m:t>
                        </m:r>
                      </m:fName>
                      <m:e>
                        <m:d>
                          <m:dPr>
                            <m:begChr m:val="{"/>
                            <m:endChr m:val="}"/>
                            <m:ctrlPr>
                              <a:rPr lang="en-US" sz="1100" b="0" i="1" spc="10" smtClean="0">
                                <a:latin typeface="Cambria Math" panose="02040503050406030204" pitchFamily="18" charset="0"/>
                                <a:cs typeface="Tahoma"/>
                              </a:rPr>
                            </m:ctrlPr>
                          </m:dPr>
                          <m:e>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𝑝</m:t>
                                </m:r>
                              </m:e>
                              <m:sub>
                                <m:r>
                                  <a:rPr lang="en-US" sz="1100" b="0" i="1" spc="10" smtClean="0">
                                    <a:latin typeface="Cambria Math" panose="02040503050406030204" pitchFamily="18" charset="0"/>
                                    <a:cs typeface="Tahoma"/>
                                  </a:rPr>
                                  <m:t>𝑖</m:t>
                                </m:r>
                              </m:sub>
                            </m:sSub>
                            <m:r>
                              <a:rPr lang="en-US" sz="1100" b="0" i="1" spc="10" smtClean="0">
                                <a:latin typeface="Cambria Math" panose="02040503050406030204" pitchFamily="18" charset="0"/>
                                <a:cs typeface="Tahoma"/>
                              </a:rPr>
                              <m:t>|</m:t>
                            </m:r>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𝑍</m:t>
                                </m:r>
                              </m:e>
                              <m:sub>
                                <m:r>
                                  <a:rPr lang="en-US" sz="1100" b="0" i="1" spc="10" smtClean="0">
                                    <a:latin typeface="Cambria Math" panose="02040503050406030204" pitchFamily="18" charset="0"/>
                                    <a:cs typeface="Tahoma"/>
                                  </a:rPr>
                                  <m:t>𝑖</m:t>
                                </m:r>
                              </m:sub>
                            </m:sSub>
                            <m:r>
                              <a:rPr lang="en-US" sz="1100" b="0" i="1" spc="10" smtClean="0">
                                <a:latin typeface="Cambria Math" panose="02040503050406030204" pitchFamily="18" charset="0"/>
                                <a:ea typeface="Cambria Math" panose="02040503050406030204" pitchFamily="18" charset="0"/>
                                <a:cs typeface="Tahoma"/>
                              </a:rPr>
                              <m:t>⊆</m:t>
                            </m:r>
                            <m:r>
                              <a:rPr lang="en-US" sz="1100" b="0" i="1" spc="10" smtClean="0">
                                <a:latin typeface="Cambria Math" panose="02040503050406030204" pitchFamily="18" charset="0"/>
                                <a:ea typeface="Cambria Math" panose="02040503050406030204" pitchFamily="18" charset="0"/>
                                <a:cs typeface="Tahoma"/>
                              </a:rPr>
                              <m:t>𝑍</m:t>
                            </m:r>
                            <m:r>
                              <a:rPr lang="en-US" sz="1100" b="0" i="1" spc="10" smtClean="0">
                                <a:latin typeface="Cambria Math" panose="02040503050406030204" pitchFamily="18" charset="0"/>
                                <a:ea typeface="Cambria Math" panose="02040503050406030204" pitchFamily="18" charset="0"/>
                                <a:cs typeface="Tahoma"/>
                              </a:rPr>
                              <m:t>′</m:t>
                            </m:r>
                          </m:e>
                        </m:d>
                      </m:e>
                    </m:func>
                  </m:oMath>
                </a14:m>
                <a:r>
                  <a:rPr lang="en-US" sz="1100" spc="10" dirty="0">
                    <a:latin typeface="Tahoma"/>
                    <a:cs typeface="Tahoma"/>
                  </a:rPr>
                  <a:t> among the satisfied bids or zero if no bids are satisfied.</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Full Expressiveness</a:t>
                </a:r>
                <a:r>
                  <a:rPr lang="en-US" sz="1100" spc="10" dirty="0">
                    <a:latin typeface="Tahoma"/>
                    <a:cs typeface="Tahoma"/>
                  </a:rPr>
                  <a:t>: XOR bids can represent any valuation function, although this might require an </a:t>
                </a:r>
                <a:r>
                  <a:rPr lang="en-US" sz="1100" spc="10" dirty="0">
                    <a:solidFill>
                      <a:srgbClr val="0000FF"/>
                    </a:solidFill>
                    <a:latin typeface="Tahoma"/>
                    <a:cs typeface="Tahoma"/>
                  </a:rPr>
                  <a:t>exponential</a:t>
                </a:r>
                <a:r>
                  <a:rPr lang="en-US" sz="1100" spc="10" dirty="0">
                    <a:latin typeface="Tahoma"/>
                    <a:cs typeface="Tahoma"/>
                  </a:rPr>
                  <a:t> number of atomic bids.</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Polynomial-Time Valuation</a:t>
                </a:r>
                <a:r>
                  <a:rPr lang="en-US" sz="1100" spc="10" dirty="0">
                    <a:latin typeface="Tahoma"/>
                    <a:cs typeface="Tahoma"/>
                  </a:rPr>
                  <a:t>: Despite potential complexity, the valuation of a given bundle can be computed efficiently in </a:t>
                </a:r>
                <a:r>
                  <a:rPr lang="en-US" sz="1100" spc="10" dirty="0">
                    <a:solidFill>
                      <a:srgbClr val="0000FF"/>
                    </a:solidFill>
                    <a:latin typeface="Tahoma"/>
                    <a:cs typeface="Tahoma"/>
                  </a:rPr>
                  <a:t>polynomial</a:t>
                </a:r>
                <a:r>
                  <a:rPr lang="en-US" sz="1100" spc="10" dirty="0">
                    <a:latin typeface="Tahoma"/>
                    <a:cs typeface="Tahoma"/>
                  </a:rPr>
                  <a:t> time.</a:t>
                </a:r>
              </a:p>
            </p:txBody>
          </p:sp>
        </mc:Choice>
        <mc:Fallback>
          <p:sp>
            <p:nvSpPr>
              <p:cNvPr id="3" name="object 3"/>
              <p:cNvSpPr txBox="1">
                <a:spLocks noRot="1" noChangeAspect="1" noMove="1" noResize="1" noEditPoints="1" noAdjustHandles="1" noChangeArrowheads="1" noChangeShapeType="1" noTextEdit="1"/>
              </p:cNvSpPr>
              <p:nvPr/>
            </p:nvSpPr>
            <p:spPr>
              <a:xfrm>
                <a:off x="171502" y="771888"/>
                <a:ext cx="4267148" cy="2253887"/>
              </a:xfrm>
              <a:prstGeom prst="rect">
                <a:avLst/>
              </a:prstGeom>
              <a:blipFill>
                <a:blip r:embed="rId3"/>
                <a:stretch>
                  <a:fillRect l="-571" t="-2439" r="-3000" b="-2981"/>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33</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917624042"/>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Bidding Languages: XOR Bid Example</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587375"/>
                <a:ext cx="3862756" cy="265143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Example XOR Bid</a:t>
                </a:r>
                <a:r>
                  <a:rPr lang="en-US" sz="1100" spc="10" dirty="0">
                    <a:latin typeface="Tahoma"/>
                    <a:cs typeface="Tahoma"/>
                  </a:rPr>
                  <a:t>: </a:t>
                </a:r>
                <a14:m>
                  <m:oMath xmlns:m="http://schemas.openxmlformats.org/officeDocument/2006/math">
                    <m:sSub>
                      <m:sSubPr>
                        <m:ctrlPr>
                          <a:rPr lang="en-US" sz="1100" b="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𝛽</m:t>
                        </m:r>
                      </m:e>
                      <m:sub>
                        <m:r>
                          <a:rPr lang="en-US" sz="1100" i="1" spc="10" dirty="0" smtClean="0">
                            <a:latin typeface="Cambria Math" panose="02040503050406030204" pitchFamily="18" charset="0"/>
                            <a:cs typeface="Tahoma"/>
                          </a:rPr>
                          <m:t>1</m:t>
                        </m:r>
                      </m:sub>
                    </m:sSub>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𝑎</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𝑏</m:t>
                    </m:r>
                    <m:r>
                      <a:rPr lang="en-US" sz="1100" i="1" spc="10" dirty="0" smtClean="0">
                        <a:latin typeface="Cambria Math" panose="02040503050406030204" pitchFamily="18" charset="0"/>
                        <a:cs typeface="Tahoma"/>
                      </a:rPr>
                      <m:t>}, 3) </m:t>
                    </m:r>
                    <m:r>
                      <m:rPr>
                        <m:sty m:val="p"/>
                      </m:rPr>
                      <a:rPr lang="en-US" sz="1100" i="0" spc="10" dirty="0" smtClean="0">
                        <a:latin typeface="Cambria Math" panose="02040503050406030204" pitchFamily="18" charset="0"/>
                        <a:cs typeface="Tahoma"/>
                      </a:rPr>
                      <m:t>XOR</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𝑐</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𝑑</m:t>
                    </m:r>
                    <m:r>
                      <a:rPr lang="en-US" sz="1100" i="1" spc="10" dirty="0" smtClean="0">
                        <a:latin typeface="Cambria Math" panose="02040503050406030204" pitchFamily="18" charset="0"/>
                        <a:cs typeface="Tahoma"/>
                      </a:rPr>
                      <m:t>}, 5)</m:t>
                    </m:r>
                  </m:oMath>
                </a14:m>
                <a:r>
                  <a:rPr lang="en-US" sz="1100" spc="10" dirty="0">
                    <a:latin typeface="Tahoma"/>
                    <a:cs typeface="Tahoma"/>
                  </a:rPr>
                  <a:t> expresses a willingness to pay 3 for a bundle with </a:t>
                </a:r>
                <a14:m>
                  <m:oMath xmlns:m="http://schemas.openxmlformats.org/officeDocument/2006/math">
                    <m:r>
                      <a:rPr lang="en-US" sz="1100" i="1" spc="10" dirty="0" smtClean="0">
                        <a:latin typeface="Cambria Math" panose="02040503050406030204" pitchFamily="18" charset="0"/>
                        <a:cs typeface="Tahoma"/>
                      </a:rPr>
                      <m:t>𝑎</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𝑏</m:t>
                    </m:r>
                  </m:oMath>
                </a14:m>
                <a:r>
                  <a:rPr lang="en-US" sz="1100" spc="10" dirty="0">
                    <a:latin typeface="Tahoma"/>
                    <a:cs typeface="Tahoma"/>
                  </a:rPr>
                  <a:t> (excluding </a:t>
                </a:r>
                <a14:m>
                  <m:oMath xmlns:m="http://schemas.openxmlformats.org/officeDocument/2006/math">
                    <m:r>
                      <a:rPr lang="en-US" sz="1100" i="1" spc="10" dirty="0" smtClean="0">
                        <a:latin typeface="Cambria Math" panose="02040503050406030204" pitchFamily="18" charset="0"/>
                        <a:cs typeface="Tahoma"/>
                      </a:rPr>
                      <m:t>𝑐</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𝑑</m:t>
                    </m:r>
                  </m:oMath>
                </a14:m>
                <a:r>
                  <a:rPr lang="en-US" sz="1100" spc="10" dirty="0">
                    <a:latin typeface="Tahoma"/>
                    <a:cs typeface="Tahoma"/>
                  </a:rPr>
                  <a:t>), 5 for a bundle with </a:t>
                </a:r>
                <a14:m>
                  <m:oMath xmlns:m="http://schemas.openxmlformats.org/officeDocument/2006/math">
                    <m:r>
                      <a:rPr lang="en-US" sz="1100" i="1" spc="10" dirty="0" smtClean="0">
                        <a:latin typeface="Cambria Math" panose="02040503050406030204" pitchFamily="18" charset="0"/>
                        <a:cs typeface="Tahoma"/>
                      </a:rPr>
                      <m:t>𝑐</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𝑑</m:t>
                    </m:r>
                  </m:oMath>
                </a14:m>
                <a:r>
                  <a:rPr lang="en-US" sz="1100" spc="10" dirty="0">
                    <a:latin typeface="Tahoma"/>
                    <a:cs typeface="Tahoma"/>
                  </a:rPr>
                  <a:t> (excluding </a:t>
                </a:r>
                <a14:m>
                  <m:oMath xmlns:m="http://schemas.openxmlformats.org/officeDocument/2006/math">
                    <m:r>
                      <a:rPr lang="en-US" sz="1100" i="1" spc="10" dirty="0" smtClean="0">
                        <a:latin typeface="Cambria Math" panose="02040503050406030204" pitchFamily="18" charset="0"/>
                        <a:cs typeface="Tahoma"/>
                      </a:rPr>
                      <m:t>𝑎</m:t>
                    </m:r>
                  </m:oMath>
                </a14:m>
                <a:r>
                  <a:rPr lang="en-US" sz="1100" spc="10" dirty="0">
                    <a:latin typeface="Tahoma"/>
                    <a:cs typeface="Tahoma"/>
                  </a:rPr>
                  <a:t> and </a:t>
                </a:r>
                <a14:m>
                  <m:oMath xmlns:m="http://schemas.openxmlformats.org/officeDocument/2006/math">
                    <m:r>
                      <a:rPr lang="en-US" sz="1100" i="1" spc="10" dirty="0" smtClean="0">
                        <a:latin typeface="Cambria Math" panose="02040503050406030204" pitchFamily="18" charset="0"/>
                        <a:cs typeface="Tahoma"/>
                      </a:rPr>
                      <m:t>𝑏</m:t>
                    </m:r>
                  </m:oMath>
                </a14:m>
                <a:r>
                  <a:rPr lang="en-US" sz="1100" spc="10" dirty="0">
                    <a:latin typeface="Tahoma"/>
                    <a:cs typeface="Tahoma"/>
                  </a:rPr>
                  <a:t>), or 5 for a bundle with all four items.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Construct the valuation</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1</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𝑎</m:t>
                              </m:r>
                            </m:e>
                          </m:d>
                        </m:e>
                      </m:d>
                      <m:r>
                        <a:rPr lang="en-US" sz="1100" b="0" i="1" spc="10" smtClean="0">
                          <a:latin typeface="Cambria Math" panose="02040503050406030204" pitchFamily="18" charset="0"/>
                          <a:cs typeface="Tahoma"/>
                        </a:rPr>
                        <m:t>=0</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i="1" spc="10">
                                  <a:latin typeface="Cambria Math" panose="02040503050406030204" pitchFamily="18" charset="0"/>
                                  <a:cs typeface="Tahoma"/>
                                </a:rPr>
                                <m:t>1</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𝑏</m:t>
                              </m:r>
                            </m:e>
                          </m:d>
                        </m:e>
                      </m:d>
                      <m:r>
                        <a:rPr lang="en-US" sz="1100" b="0" i="1" spc="10" smtClean="0">
                          <a:latin typeface="Cambria Math" panose="02040503050406030204" pitchFamily="18" charset="0"/>
                          <a:cs typeface="Tahoma"/>
                        </a:rPr>
                        <m:t>=0</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r>
                        <a:rPr lang="en-US" sz="1100" b="0" i="1" spc="10" smtClean="0">
                          <a:latin typeface="Cambria Math" panose="02040503050406030204" pitchFamily="18" charset="0"/>
                          <a:cs typeface="Tahoma"/>
                        </a:rPr>
                        <m:t>        </m:t>
                      </m:r>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i="1" spc="10">
                                  <a:latin typeface="Cambria Math" panose="02040503050406030204" pitchFamily="18" charset="0"/>
                                  <a:cs typeface="Tahoma"/>
                                </a:rPr>
                                <m:t>1</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𝑎</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𝑏</m:t>
                              </m:r>
                            </m:e>
                          </m:d>
                        </m:e>
                      </m:d>
                      <m:r>
                        <a:rPr lang="en-US" sz="1100" b="0" i="1" spc="10" smtClean="0">
                          <a:latin typeface="Cambria Math" panose="02040503050406030204" pitchFamily="18" charset="0"/>
                          <a:cs typeface="Tahoma"/>
                        </a:rPr>
                        <m:t>=3</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i="1" spc="10">
                                  <a:latin typeface="Cambria Math" panose="02040503050406030204" pitchFamily="18" charset="0"/>
                                  <a:cs typeface="Tahoma"/>
                                </a:rPr>
                                <m:t>1</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e>
                          </m:d>
                        </m:e>
                      </m:d>
                      <m:r>
                        <a:rPr lang="en-US" sz="1100" b="0" i="1" spc="10" smtClean="0">
                          <a:latin typeface="Cambria Math" panose="02040503050406030204" pitchFamily="18" charset="0"/>
                          <a:cs typeface="Tahoma"/>
                        </a:rPr>
                        <m:t>=5</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i="1" spc="10">
                                  <a:latin typeface="Cambria Math" panose="02040503050406030204" pitchFamily="18" charset="0"/>
                                  <a:cs typeface="Tahoma"/>
                                </a:rPr>
                                <m:t>1</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i="1" spc="10">
                                  <a:latin typeface="Cambria Math" panose="02040503050406030204" pitchFamily="18" charset="0"/>
                                  <a:cs typeface="Tahoma"/>
                                </a:rPr>
                                <m:t>𝑎</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𝑏</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e>
                          </m:d>
                        </m:e>
                      </m:d>
                      <m:r>
                        <a:rPr lang="en-US" sz="1100" b="0" i="1" spc="10" smtClean="0">
                          <a:latin typeface="Cambria Math" panose="02040503050406030204" pitchFamily="18" charset="0"/>
                          <a:cs typeface="Tahoma"/>
                        </a:rPr>
                        <m:t>=5</m:t>
                      </m:r>
                    </m:oMath>
                  </m:oMathPara>
                </a14:m>
                <a:endParaRPr lang="en-US" sz="1100" spc="10" dirty="0">
                  <a:latin typeface="Tahoma"/>
                  <a:cs typeface="Tahoma"/>
                </a:endParaRPr>
              </a:p>
              <a:p>
                <a:pPr marL="53975">
                  <a:lnSpc>
                    <a:spcPts val="1400"/>
                  </a:lnSpc>
                  <a:spcBef>
                    <a:spcPts val="330"/>
                  </a:spcBef>
                  <a:buClr>
                    <a:srgbClr val="0000FF"/>
                  </a:buClr>
                </a:pP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587375"/>
                <a:ext cx="3862756" cy="2651431"/>
              </a:xfrm>
              <a:prstGeom prst="rect">
                <a:avLst/>
              </a:prstGeom>
              <a:blipFill>
                <a:blip r:embed="rId3"/>
                <a:stretch>
                  <a:fillRect l="-790" t="-1839" r="-2686"/>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34</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751542459"/>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Bidding Languages: XOR Bid Example</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587375"/>
                <a:ext cx="3862756" cy="2330831"/>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Example XOR Bid (Buyer)</a:t>
                </a:r>
                <a:r>
                  <a:rPr lang="en-US" sz="1100" spc="10" dirty="0">
                    <a:latin typeface="Tahoma"/>
                    <a:cs typeface="Tahoma"/>
                  </a:rPr>
                  <a:t>: </a:t>
                </a:r>
              </a:p>
              <a:p>
                <a:pPr marL="53975">
                  <a:lnSpc>
                    <a:spcPts val="1400"/>
                  </a:lnSpc>
                  <a:spcBef>
                    <a:spcPts val="330"/>
                  </a:spcBef>
                  <a:buClr>
                    <a:srgbClr val="0000FF"/>
                  </a:buClr>
                </a:pPr>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𝛽</m:t>
                          </m:r>
                        </m:e>
                        <m:sub>
                          <m:r>
                            <a:rPr lang="en-US" sz="1100" b="0" i="1" spc="10" dirty="0" smtClean="0">
                              <a:latin typeface="Cambria Math" panose="02040503050406030204" pitchFamily="18" charset="0"/>
                              <a:cs typeface="Tahoma"/>
                            </a:rPr>
                            <m:t>2</m:t>
                          </m:r>
                        </m:sub>
                      </m:sSub>
                      <m:r>
                        <a:rPr lang="en-US" sz="1100" i="1" spc="10" dirty="0" smtClean="0">
                          <a:latin typeface="Cambria Math" panose="02040503050406030204" pitchFamily="18" charset="0"/>
                          <a:cs typeface="Tahoma"/>
                        </a:rPr>
                        <m:t>= </m:t>
                      </m:r>
                      <m:d>
                        <m:dPr>
                          <m:ctrlPr>
                            <a:rPr lang="en-US" sz="1100" b="0" i="1" spc="10" dirty="0" smtClean="0">
                              <a:latin typeface="Cambria Math" panose="02040503050406030204" pitchFamily="18" charset="0"/>
                              <a:cs typeface="Tahoma"/>
                            </a:rPr>
                          </m:ctrlPr>
                        </m:dPr>
                        <m:e>
                          <m:d>
                            <m:dPr>
                              <m:begChr m:val="{"/>
                              <m:endChr m:val="}"/>
                              <m:ctrlPr>
                                <a:rPr lang="en-US" sz="1100" b="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𝑒</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𝑓</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𝑔</m:t>
                              </m:r>
                            </m:e>
                          </m:d>
                          <m:r>
                            <a:rPr lang="en-US" sz="110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2</m:t>
                          </m:r>
                        </m:e>
                      </m:d>
                      <m:r>
                        <a:rPr lang="en-US" sz="1100" b="0" i="0" spc="10" dirty="0" smtClean="0">
                          <a:latin typeface="Cambria Math" panose="02040503050406030204" pitchFamily="18" charset="0"/>
                          <a:cs typeface="Tahoma"/>
                        </a:rPr>
                        <m:t> </m:t>
                      </m:r>
                      <m:r>
                        <m:rPr>
                          <m:sty m:val="p"/>
                        </m:rPr>
                        <a:rPr lang="en-US" sz="1100" i="0" spc="10" dirty="0" smtClean="0">
                          <a:latin typeface="Cambria Math" panose="02040503050406030204" pitchFamily="18" charset="0"/>
                          <a:cs typeface="Tahoma"/>
                        </a:rPr>
                        <m:t>XOR</m:t>
                      </m:r>
                      <m:r>
                        <a:rPr lang="en-US" sz="1100" i="1" spc="10" dirty="0" smtClean="0">
                          <a:latin typeface="Cambria Math" panose="02040503050406030204" pitchFamily="18" charset="0"/>
                          <a:cs typeface="Tahoma"/>
                        </a:rPr>
                        <m:t> </m:t>
                      </m:r>
                      <m:d>
                        <m:dPr>
                          <m:ctrlPr>
                            <a:rPr lang="en-US" sz="1100" b="0" i="1" spc="10" dirty="0" smtClean="0">
                              <a:latin typeface="Cambria Math" panose="02040503050406030204" pitchFamily="18" charset="0"/>
                              <a:cs typeface="Tahoma"/>
                            </a:rPr>
                          </m:ctrlPr>
                        </m:dPr>
                        <m:e>
                          <m:d>
                            <m:dPr>
                              <m:begChr m:val="{"/>
                              <m:endChr m:val="}"/>
                              <m:ctrlPr>
                                <a:rPr lang="en-US" sz="1100" b="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𝑒</m:t>
                              </m:r>
                            </m:e>
                          </m:d>
                          <m:r>
                            <a:rPr lang="en-US" sz="1100" b="0" i="1" spc="10" dirty="0" smtClean="0">
                              <a:latin typeface="Cambria Math" panose="02040503050406030204" pitchFamily="18" charset="0"/>
                              <a:cs typeface="Tahoma"/>
                            </a:rPr>
                            <m:t>, 2</m:t>
                          </m:r>
                        </m:e>
                      </m:d>
                      <m:r>
                        <a:rPr lang="en-US" sz="1100" b="0" i="1" spc="10" dirty="0" smtClean="0">
                          <a:latin typeface="Cambria Math" panose="02040503050406030204" pitchFamily="18" charset="0"/>
                          <a:cs typeface="Tahoma"/>
                        </a:rPr>
                        <m:t> </m:t>
                      </m:r>
                      <m:r>
                        <m:rPr>
                          <m:sty m:val="p"/>
                        </m:rPr>
                        <a:rPr lang="en-US" sz="1100" b="0" i="0" spc="10" dirty="0" smtClean="0">
                          <a:latin typeface="Cambria Math" panose="02040503050406030204" pitchFamily="18" charset="0"/>
                          <a:cs typeface="Tahoma"/>
                        </a:rPr>
                        <m:t>XOR</m:t>
                      </m:r>
                      <m:r>
                        <a:rPr lang="en-US" sz="1100" b="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m:t>
                      </m:r>
                      <m:r>
                        <a:rPr lang="en-US" sz="1100" i="1" spc="10" dirty="0" smtClean="0">
                          <a:latin typeface="Cambria Math" panose="02040503050406030204" pitchFamily="18" charset="0"/>
                          <a:cs typeface="Tahoma"/>
                        </a:rPr>
                        <m:t>𝑐</m:t>
                      </m:r>
                      <m:r>
                        <a:rPr lang="en-US" sz="1100" i="1" spc="10" dirty="0" smtClean="0">
                          <a:latin typeface="Cambria Math" panose="02040503050406030204" pitchFamily="18" charset="0"/>
                          <a:cs typeface="Tahoma"/>
                        </a:rPr>
                        <m:t>, </m:t>
                      </m:r>
                      <m:r>
                        <a:rPr lang="en-US" sz="1100" i="1" spc="10" dirty="0" smtClean="0">
                          <a:latin typeface="Cambria Math" panose="02040503050406030204" pitchFamily="18" charset="0"/>
                          <a:cs typeface="Tahoma"/>
                        </a:rPr>
                        <m:t>𝑑</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𝑒</m:t>
                      </m:r>
                      <m:r>
                        <a:rPr lang="en-US" sz="110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4</m:t>
                      </m:r>
                      <m:r>
                        <a:rPr lang="en-US" sz="1100" i="1" spc="10" dirty="0" smtClean="0">
                          <a:latin typeface="Cambria Math" panose="02040503050406030204" pitchFamily="18" charset="0"/>
                          <a:cs typeface="Tahoma"/>
                        </a:rPr>
                        <m:t>)</m:t>
                      </m:r>
                    </m:oMath>
                  </m:oMathPara>
                </a14:m>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endParaRPr lang="en-US" sz="1100" b="1"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Construct the valuation</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2</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𝑒</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2</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b="0" i="1" spc="10" smtClean="0">
                                  <a:latin typeface="Cambria Math" panose="02040503050406030204" pitchFamily="18" charset="0"/>
                                  <a:cs typeface="Tahoma"/>
                                </a:rPr>
                                <m:t>2</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𝑒</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2</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r>
                        <a:rPr lang="en-US" sz="1100" b="0" i="1" spc="10" smtClean="0">
                          <a:latin typeface="Cambria Math" panose="02040503050406030204" pitchFamily="18" charset="0"/>
                          <a:cs typeface="Tahoma"/>
                        </a:rPr>
                        <m:t>        </m:t>
                      </m:r>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b="0" i="1" spc="10" smtClean="0">
                                  <a:latin typeface="Cambria Math" panose="02040503050406030204" pitchFamily="18" charset="0"/>
                                  <a:cs typeface="Tahoma"/>
                                </a:rPr>
                                <m:t>2</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𝑔</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0</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b="0" i="1" spc="10" smtClean="0">
                                  <a:latin typeface="Cambria Math" panose="02040503050406030204" pitchFamily="18" charset="0"/>
                                  <a:cs typeface="Tahoma"/>
                                </a:rPr>
                                <m:t>2</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𝑎</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𝑏</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𝑒</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𝑔</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m:t>
                      </m:r>
                    </m:oMath>
                  </m:oMathPara>
                </a14:m>
                <a:endParaRPr lang="en-US" sz="1100" b="0" i="1" spc="10" dirty="0">
                  <a:latin typeface="Cambria Math" panose="02040503050406030204" pitchFamily="18" charset="0"/>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i="1" spc="1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i="1" spc="10">
                              <a:latin typeface="Cambria Math" panose="02040503050406030204" pitchFamily="18" charset="0"/>
                              <a:cs typeface="Tahoma"/>
                            </a:rPr>
                            <m:t>𝑣</m:t>
                          </m:r>
                        </m:e>
                        <m:sub>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𝛽</m:t>
                              </m:r>
                            </m:e>
                            <m:sub>
                              <m:r>
                                <a:rPr lang="en-US" sz="1100" b="0" i="1" spc="10" smtClean="0">
                                  <a:latin typeface="Cambria Math" panose="02040503050406030204" pitchFamily="18" charset="0"/>
                                  <a:cs typeface="Tahoma"/>
                                </a:rPr>
                                <m:t>2</m:t>
                              </m:r>
                            </m:sub>
                          </m:sSub>
                        </m:sub>
                      </m:sSub>
                      <m:d>
                        <m:dPr>
                          <m:ctrlPr>
                            <a:rPr lang="en-US" sz="1100" i="1" spc="10">
                              <a:latin typeface="Cambria Math" panose="02040503050406030204" pitchFamily="18" charset="0"/>
                              <a:cs typeface="Tahoma"/>
                            </a:rPr>
                          </m:ctrlPr>
                        </m:dPr>
                        <m:e>
                          <m:d>
                            <m:dPr>
                              <m:begChr m:val="{"/>
                              <m:endChr m:val="}"/>
                              <m:ctrlPr>
                                <a:rPr lang="en-US" sz="1100" i="1" spc="10">
                                  <a:latin typeface="Cambria Math" panose="02040503050406030204" pitchFamily="18" charset="0"/>
                                  <a:cs typeface="Tahoma"/>
                                </a:rPr>
                              </m:ctrlPr>
                            </m:dPr>
                            <m:e>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𝑒</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m:t>
                      </m:r>
                    </m:oMath>
                  </m:oMathPara>
                </a14:m>
                <a:endParaRPr lang="en-US" sz="1100" spc="10" dirty="0">
                  <a:latin typeface="Tahoma"/>
                  <a:cs typeface="Tahoma"/>
                </a:endParaRPr>
              </a:p>
              <a:p>
                <a:pPr marL="53975">
                  <a:lnSpc>
                    <a:spcPts val="1400"/>
                  </a:lnSpc>
                  <a:spcBef>
                    <a:spcPts val="330"/>
                  </a:spcBef>
                  <a:buClr>
                    <a:srgbClr val="0000FF"/>
                  </a:buClr>
                </a:pP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587375"/>
                <a:ext cx="3862756" cy="2330831"/>
              </a:xfrm>
              <a:prstGeom prst="rect">
                <a:avLst/>
              </a:prstGeom>
              <a:blipFill>
                <a:blip r:embed="rId3"/>
                <a:stretch>
                  <a:fillRect l="-790" t="-2089"/>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35</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BAD790B-2629-7016-08DD-F09BBB4D32B6}"/>
                  </a:ext>
                </a:extLst>
              </p:cNvPr>
              <p:cNvSpPr txBox="1"/>
              <p:nvPr/>
            </p:nvSpPr>
            <p:spPr>
              <a:xfrm>
                <a:off x="3286815" y="1925965"/>
                <a:ext cx="1185905" cy="261610"/>
              </a:xfrm>
              <a:prstGeom prst="rect">
                <a:avLst/>
              </a:prstGeom>
              <a:noFill/>
            </p:spPr>
            <p:txBody>
              <a:bodyPr wrap="square">
                <a:spAutoFit/>
              </a:bodyPr>
              <a:lstStyle/>
              <a:p>
                <a:pPr/>
                <a:r>
                  <a:rPr lang="en-US" sz="1100" b="0" spc="10" dirty="0">
                    <a:solidFill>
                      <a:srgbClr val="0000FF"/>
                    </a:solidFill>
                    <a:ea typeface="Cambria Math" panose="02040503050406030204" pitchFamily="18" charset="0"/>
                    <a:cs typeface="Tahoma"/>
                  </a:rPr>
                  <a:t>// </a:t>
                </a:r>
                <a14:m>
                  <m:oMath xmlns:m="http://schemas.openxmlformats.org/officeDocument/2006/math">
                    <m:d>
                      <m:dPr>
                        <m:begChr m:val="{"/>
                        <m:endChr m:val="}"/>
                        <m:ctrlPr>
                          <a:rPr lang="en-US" sz="1100" b="0" i="1" spc="10" smtClean="0">
                            <a:solidFill>
                              <a:srgbClr val="0000FF"/>
                            </a:solidFill>
                            <a:latin typeface="Cambria Math" panose="02040503050406030204" pitchFamily="18" charset="0"/>
                            <a:ea typeface="Cambria Math" panose="02040503050406030204" pitchFamily="18" charset="0"/>
                            <a:cs typeface="Tahoma"/>
                          </a:rPr>
                        </m:ctrlPr>
                      </m:dPr>
                      <m:e>
                        <m:r>
                          <a:rPr lang="en-US" sz="1100" b="0" i="1" spc="10" smtClean="0">
                            <a:solidFill>
                              <a:srgbClr val="0000FF"/>
                            </a:solidFill>
                            <a:latin typeface="Cambria Math" panose="02040503050406030204" pitchFamily="18" charset="0"/>
                            <a:ea typeface="Cambria Math" panose="02040503050406030204" pitchFamily="18" charset="0"/>
                            <a:cs typeface="Tahoma"/>
                          </a:rPr>
                          <m:t>𝑒</m:t>
                        </m:r>
                      </m:e>
                    </m:d>
                    <m:r>
                      <a:rPr lang="en-US" sz="1100" b="0" i="1" spc="10" smtClean="0">
                        <a:solidFill>
                          <a:srgbClr val="0000FF"/>
                        </a:solidFill>
                        <a:latin typeface="Cambria Math" panose="02040503050406030204" pitchFamily="18" charset="0"/>
                        <a:ea typeface="Cambria Math" panose="02040503050406030204" pitchFamily="18" charset="0"/>
                        <a:cs typeface="Tahoma"/>
                      </a:rPr>
                      <m:t>⊆</m:t>
                    </m:r>
                    <m:r>
                      <a:rPr lang="en-US" sz="1100" b="0" i="1" spc="10" smtClean="0">
                        <a:solidFill>
                          <a:srgbClr val="0000FF"/>
                        </a:solidFill>
                        <a:latin typeface="Cambria Math" panose="02040503050406030204" pitchFamily="18" charset="0"/>
                        <a:ea typeface="Cambria Math" panose="02040503050406030204" pitchFamily="18" charset="0"/>
                        <a:cs typeface="Tahoma"/>
                      </a:rPr>
                      <m:t>{</m:t>
                    </m:r>
                    <m:r>
                      <a:rPr lang="en-US" sz="1100" b="0" i="1" spc="10" smtClean="0">
                        <a:solidFill>
                          <a:srgbClr val="0000FF"/>
                        </a:solidFill>
                        <a:latin typeface="Cambria Math" panose="02040503050406030204" pitchFamily="18" charset="0"/>
                        <a:ea typeface="Cambria Math" panose="02040503050406030204" pitchFamily="18" charset="0"/>
                        <a:cs typeface="Tahoma"/>
                      </a:rPr>
                      <m:t>𝑒</m:t>
                    </m:r>
                    <m:r>
                      <a:rPr lang="en-US" sz="1100" b="0" i="1" spc="10" smtClean="0">
                        <a:solidFill>
                          <a:srgbClr val="0000FF"/>
                        </a:solidFill>
                        <a:latin typeface="Cambria Math" panose="02040503050406030204" pitchFamily="18" charset="0"/>
                        <a:ea typeface="Cambria Math" panose="02040503050406030204" pitchFamily="18" charset="0"/>
                        <a:cs typeface="Tahoma"/>
                      </a:rPr>
                      <m:t>,</m:t>
                    </m:r>
                    <m:r>
                      <a:rPr lang="en-US" sz="1100" b="0" i="1" spc="10" smtClean="0">
                        <a:solidFill>
                          <a:srgbClr val="0000FF"/>
                        </a:solidFill>
                        <a:latin typeface="Cambria Math" panose="02040503050406030204" pitchFamily="18" charset="0"/>
                        <a:ea typeface="Cambria Math" panose="02040503050406030204" pitchFamily="18" charset="0"/>
                        <a:cs typeface="Tahoma"/>
                      </a:rPr>
                      <m:t>𝑓</m:t>
                    </m:r>
                    <m:r>
                      <a:rPr lang="en-US" sz="1100" b="0" i="1" spc="10" smtClean="0">
                        <a:solidFill>
                          <a:srgbClr val="0000FF"/>
                        </a:solidFill>
                        <a:latin typeface="Cambria Math" panose="02040503050406030204" pitchFamily="18" charset="0"/>
                        <a:ea typeface="Cambria Math" panose="02040503050406030204" pitchFamily="18" charset="0"/>
                        <a:cs typeface="Tahoma"/>
                      </a:rPr>
                      <m:t>}</m:t>
                    </m:r>
                  </m:oMath>
                </a14:m>
                <a:endParaRPr lang="en-MY" sz="1100" dirty="0">
                  <a:solidFill>
                    <a:srgbClr val="0000FF"/>
                  </a:solidFill>
                </a:endParaRPr>
              </a:p>
            </p:txBody>
          </p:sp>
        </mc:Choice>
        <mc:Fallback>
          <p:sp>
            <p:nvSpPr>
              <p:cNvPr id="5" name="TextBox 4">
                <a:extLst>
                  <a:ext uri="{FF2B5EF4-FFF2-40B4-BE49-F238E27FC236}">
                    <a16:creationId xmlns:a16="http://schemas.microsoft.com/office/drawing/2014/main" id="{0BAD790B-2629-7016-08DD-F09BBB4D32B6}"/>
                  </a:ext>
                </a:extLst>
              </p:cNvPr>
              <p:cNvSpPr txBox="1">
                <a:spLocks noRot="1" noChangeAspect="1" noMove="1" noResize="1" noEditPoints="1" noAdjustHandles="1" noChangeArrowheads="1" noChangeShapeType="1" noTextEdit="1"/>
              </p:cNvSpPr>
              <p:nvPr/>
            </p:nvSpPr>
            <p:spPr>
              <a:xfrm>
                <a:off x="3286815" y="1925965"/>
                <a:ext cx="1185905" cy="261610"/>
              </a:xfrm>
              <a:prstGeom prst="rect">
                <a:avLst/>
              </a:prstGeom>
              <a:blipFill>
                <a:blip r:embed="rId4"/>
                <a:stretch>
                  <a:fillRect b="-16279"/>
                </a:stretch>
              </a:blipFill>
            </p:spPr>
            <p:txBody>
              <a:bodyPr/>
              <a:lstStyle/>
              <a:p>
                <a:r>
                  <a:rPr lang="en-MY">
                    <a:noFill/>
                  </a:rPr>
                  <a:t> </a:t>
                </a:r>
              </a:p>
            </p:txBody>
          </p:sp>
        </mc:Fallback>
      </mc:AlternateContent>
    </p:spTree>
    <p:extLst>
      <p:ext uri="{BB962C8B-B14F-4D97-AF65-F5344CB8AC3E}">
        <p14:creationId xmlns:p14="http://schemas.microsoft.com/office/powerpoint/2010/main" val="1423712031"/>
      </p:ext>
    </p:extLst>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Bidding Languages: OR Bids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95300" y="523371"/>
                <a:ext cx="4419498" cy="273100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OR Bid Structure</a:t>
                </a:r>
                <a:r>
                  <a:rPr lang="en-US" sz="1100" spc="10" dirty="0">
                    <a:latin typeface="Tahoma"/>
                    <a:cs typeface="Tahoma"/>
                  </a:rPr>
                  <a:t>: </a:t>
                </a:r>
                <a14:m>
                  <m:oMath xmlns:m="http://schemas.openxmlformats.org/officeDocument/2006/math">
                    <m:r>
                      <a:rPr lang="en-US" sz="1100" i="1" spc="10" dirty="0" smtClean="0">
                        <a:latin typeface="Cambria Math" panose="02040503050406030204" pitchFamily="18" charset="0"/>
                        <a:cs typeface="Tahoma"/>
                      </a:rPr>
                      <m:t>𝛽</m:t>
                    </m:r>
                    <m:r>
                      <a:rPr lang="en-US" sz="1100" i="1" spc="10" dirty="0" smtClean="0">
                        <a:latin typeface="Cambria Math" panose="02040503050406030204" pitchFamily="18" charset="0"/>
                        <a:cs typeface="Tahoma"/>
                      </a:rPr>
                      <m:t> = </m:t>
                    </m:r>
                    <m:d>
                      <m:dPr>
                        <m:ctrlPr>
                          <a:rPr lang="en-US" sz="1100" i="1" spc="10" dirty="0" smtClean="0">
                            <a:latin typeface="Cambria Math" panose="02040503050406030204" pitchFamily="18" charset="0"/>
                            <a:cs typeface="Tahoma"/>
                          </a:rPr>
                        </m:ctrlPr>
                      </m:dPr>
                      <m:e>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Sub>
                        <m:r>
                          <a:rPr lang="en-US" sz="1100" i="1" spc="10" dirty="0" smtClean="0">
                            <a:latin typeface="Cambria Math" panose="02040503050406030204" pitchFamily="18" charset="0"/>
                            <a:cs typeface="Tahoma"/>
                          </a:rPr>
                          <m:t>, </m:t>
                        </m:r>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𝑝</m:t>
                            </m:r>
                          </m:e>
                          <m:sub>
                            <m:r>
                              <a:rPr lang="en-US" sz="1100" i="1" spc="10" dirty="0" smtClean="0">
                                <a:latin typeface="Cambria Math" panose="02040503050406030204" pitchFamily="18" charset="0"/>
                                <a:cs typeface="Tahoma"/>
                              </a:rPr>
                              <m:t>1</m:t>
                            </m:r>
                          </m:sub>
                        </m:sSub>
                      </m:e>
                    </m:d>
                    <m:r>
                      <a:rPr lang="en-US" sz="1100" b="0" i="0" spc="10" dirty="0" smtClean="0">
                        <a:latin typeface="Cambria Math" panose="02040503050406030204" pitchFamily="18" charset="0"/>
                        <a:cs typeface="Tahoma"/>
                      </a:rPr>
                      <m:t> </m:t>
                    </m:r>
                    <m:r>
                      <m:rPr>
                        <m:sty m:val="p"/>
                      </m:rPr>
                      <a:rPr lang="en-US" sz="1100" i="0" spc="10" dirty="0" smtClean="0">
                        <a:latin typeface="Cambria Math" panose="02040503050406030204" pitchFamily="18" charset="0"/>
                        <a:cs typeface="Tahoma"/>
                      </a:rPr>
                      <m:t>OR</m:t>
                    </m:r>
                    <m:r>
                      <a:rPr lang="en-US" sz="1100" i="1" spc="10" dirty="0" smtClean="0">
                        <a:latin typeface="Cambria Math" panose="02040503050406030204" pitchFamily="18" charset="0"/>
                        <a:cs typeface="Tahoma"/>
                      </a:rPr>
                      <m:t> … </m:t>
                    </m:r>
                    <m:r>
                      <m:rPr>
                        <m:sty m:val="p"/>
                      </m:rPr>
                      <a:rPr lang="en-US" sz="1100" i="0" spc="10" dirty="0" smtClean="0">
                        <a:latin typeface="Cambria Math" panose="02040503050406030204" pitchFamily="18" charset="0"/>
                        <a:cs typeface="Tahoma"/>
                      </a:rPr>
                      <m:t>OR</m:t>
                    </m:r>
                    <m:r>
                      <a:rPr lang="en-US" sz="1100" i="1" spc="10" dirty="0" smtClean="0">
                        <a:latin typeface="Cambria Math" panose="02040503050406030204" pitchFamily="18" charset="0"/>
                        <a:cs typeface="Tahoma"/>
                      </a:rPr>
                      <m:t> </m:t>
                    </m:r>
                    <m:d>
                      <m:dPr>
                        <m:ctrlPr>
                          <a:rPr lang="en-US" sz="1100" i="1" spc="10" dirty="0" smtClean="0">
                            <a:latin typeface="Cambria Math" panose="02040503050406030204" pitchFamily="18" charset="0"/>
                            <a:cs typeface="Tahoma"/>
                          </a:rPr>
                        </m:ctrlPr>
                      </m:dPr>
                      <m:e>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𝑘</m:t>
                            </m:r>
                          </m:sub>
                        </m:sSub>
                        <m:r>
                          <a:rPr lang="en-US" sz="1100" i="1" spc="10" dirty="0" smtClean="0">
                            <a:latin typeface="Cambria Math" panose="02040503050406030204" pitchFamily="18" charset="0"/>
                            <a:cs typeface="Tahoma"/>
                          </a:rPr>
                          <m:t>,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𝑝</m:t>
                            </m:r>
                          </m:e>
                          <m:sub>
                            <m:r>
                              <a:rPr lang="en-US" sz="1100" i="1" spc="10" dirty="0" err="1" smtClean="0">
                                <a:latin typeface="Cambria Math" panose="02040503050406030204" pitchFamily="18" charset="0"/>
                                <a:cs typeface="Tahoma"/>
                              </a:rPr>
                              <m:t>𝑘</m:t>
                            </m:r>
                          </m:sub>
                        </m:sSub>
                      </m:e>
                    </m:d>
                  </m:oMath>
                </a14:m>
                <a:r>
                  <a:rPr lang="en-US" sz="1100" spc="10" dirty="0">
                    <a:latin typeface="Tahoma"/>
                    <a:cs typeface="Tahoma"/>
                  </a:rPr>
                  <a:t>, specifying multiple atomic bids with the possibility of paying for multiple winning bids (</a:t>
                </a:r>
                <a:r>
                  <a:rPr lang="en-US" sz="1100" spc="10" dirty="0">
                    <a:solidFill>
                      <a:srgbClr val="0000FF"/>
                    </a:solidFill>
                    <a:latin typeface="Tahoma"/>
                    <a:cs typeface="Tahoma"/>
                  </a:rPr>
                  <a:t>possible overlap</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Valuation Function</a:t>
                </a:r>
                <a:r>
                  <a:rPr lang="en-US" sz="1100" spc="10" dirty="0">
                    <a:latin typeface="Tahoma"/>
                    <a:cs typeface="Tahoma"/>
                  </a:rPr>
                  <a:t>: OR bids define a valuation function based on finding the best set of satisfied atomic bids that are mutually disjoint (no overlapping items), maximizing the total price paid.</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Identify the set of atomic bids </a:t>
                </a:r>
                <a14:m>
                  <m:oMath xmlns:m="http://schemas.openxmlformats.org/officeDocument/2006/math">
                    <m:r>
                      <a:rPr lang="en-US" sz="1100" i="1" spc="10" dirty="0" smtClean="0">
                        <a:latin typeface="Cambria Math" panose="02040503050406030204" pitchFamily="18" charset="0"/>
                        <a:cs typeface="Tahoma"/>
                      </a:rPr>
                      <m:t>𝑊</m:t>
                    </m:r>
                  </m:oMath>
                </a14:m>
                <a:r>
                  <a:rPr lang="en-US" sz="1100" spc="10" dirty="0">
                    <a:latin typeface="Tahoma"/>
                    <a:cs typeface="Tahoma"/>
                  </a:rPr>
                  <a:t> within </a:t>
                </a:r>
                <a14:m>
                  <m:oMath xmlns:m="http://schemas.openxmlformats.org/officeDocument/2006/math">
                    <m:r>
                      <a:rPr lang="en-US" sz="1100" i="1" spc="10" dirty="0" smtClean="0">
                        <a:latin typeface="Cambria Math" panose="02040503050406030204" pitchFamily="18" charset="0"/>
                        <a:cs typeface="Tahoma"/>
                      </a:rPr>
                      <m:t>𝛽</m:t>
                    </m:r>
                  </m:oMath>
                </a14:m>
                <a:r>
                  <a:rPr lang="en-US" sz="1100" spc="10" dirty="0">
                    <a:latin typeface="Tahoma"/>
                    <a:cs typeface="Tahoma"/>
                  </a:rPr>
                  <a:t> that are satisfied by </a:t>
                </a:r>
                <a14:m>
                  <m:oMath xmlns:m="http://schemas.openxmlformats.org/officeDocument/2006/math">
                    <m:r>
                      <a:rPr lang="en-US" sz="1100" i="1" spc="10" dirty="0" smtClean="0">
                        <a:latin typeface="Cambria Math" panose="02040503050406030204" pitchFamily="18" charset="0"/>
                        <a:cs typeface="Tahoma"/>
                      </a:rPr>
                      <m:t>𝑍</m:t>
                    </m:r>
                    <m:r>
                      <a:rPr lang="en-US" sz="1100" i="1" spc="10" dirty="0" smtClean="0">
                        <a:latin typeface="Cambria Math" panose="02040503050406030204" pitchFamily="18" charset="0"/>
                        <a:cs typeface="Tahoma"/>
                      </a:rPr>
                      <m:t>′</m:t>
                    </m:r>
                  </m:oMath>
                </a14:m>
                <a:r>
                  <a:rPr lang="en-US" sz="1100" spc="10" dirty="0">
                    <a:latin typeface="Tahoma"/>
                    <a:cs typeface="Tahoma"/>
                  </a:rPr>
                  <a:t>.  </a:t>
                </a:r>
              </a:p>
              <a:p>
                <a:pPr marL="741363" lvl="1"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Ensure that each pair of bids in </a:t>
                </a:r>
                <a14:m>
                  <m:oMath xmlns:m="http://schemas.openxmlformats.org/officeDocument/2006/math">
                    <m:r>
                      <a:rPr lang="en-US" sz="1100" i="1" spc="10" dirty="0" smtClean="0">
                        <a:latin typeface="Cambria Math" panose="02040503050406030204" pitchFamily="18" charset="0"/>
                        <a:cs typeface="Tahoma"/>
                      </a:rPr>
                      <m:t>𝑊</m:t>
                    </m:r>
                  </m:oMath>
                </a14:m>
                <a:r>
                  <a:rPr lang="en-US" sz="1100" spc="10" dirty="0">
                    <a:latin typeface="Tahoma"/>
                    <a:cs typeface="Tahoma"/>
                  </a:rPr>
                  <a:t> involves </a:t>
                </a:r>
                <a:r>
                  <a:rPr lang="en-US" sz="1100" spc="10" dirty="0">
                    <a:solidFill>
                      <a:srgbClr val="0000FF"/>
                    </a:solidFill>
                    <a:latin typeface="Tahoma"/>
                    <a:cs typeface="Tahoma"/>
                  </a:rPr>
                  <a:t>mutually disjoint</a:t>
                </a:r>
                <a:r>
                  <a:rPr lang="en-US" sz="1100" spc="10" dirty="0">
                    <a:latin typeface="Tahoma"/>
                    <a:cs typeface="Tahoma"/>
                  </a:rPr>
                  <a:t> goods (i.e.,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 </m:t>
                    </m:r>
                    <m:sSub>
                      <m:sSubPr>
                        <m:ctrlPr>
                          <a:rPr lang="en-US" sz="1100" i="1" spc="10" dirty="0" err="1"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𝑗</m:t>
                        </m:r>
                      </m:sub>
                    </m:sSub>
                    <m:r>
                      <a:rPr lang="en-US" sz="1100" i="1" spc="10" dirty="0" smtClean="0">
                        <a:latin typeface="Cambria Math" panose="02040503050406030204" pitchFamily="18" charset="0"/>
                        <a:cs typeface="Tahoma"/>
                      </a:rPr>
                      <m:t>=</m:t>
                    </m:r>
                    <m:r>
                      <a:rPr lang="en-US" sz="1100" i="1" spc="10" dirty="0">
                        <a:latin typeface="Cambria Math" panose="02040503050406030204" pitchFamily="18" charset="0"/>
                        <a:cs typeface="Tahoma"/>
                      </a:rPr>
                      <m:t>∅</m:t>
                    </m:r>
                  </m:oMath>
                </a14:m>
                <a:r>
                  <a:rPr lang="en-US" sz="1100" spc="10" dirty="0">
                    <a:latin typeface="Tahoma"/>
                    <a:cs typeface="Tahoma"/>
                  </a:rPr>
                  <a:t> for all </a:t>
                </a:r>
                <a14:m>
                  <m:oMath xmlns:m="http://schemas.openxmlformats.org/officeDocument/2006/math">
                    <m:r>
                      <a:rPr lang="en-US" sz="1100" i="1" spc="10" dirty="0" smtClean="0">
                        <a:latin typeface="Cambria Math" panose="02040503050406030204" pitchFamily="18" charset="0"/>
                        <a:cs typeface="Tahoma"/>
                      </a:rPr>
                      <m:t>𝑖</m:t>
                    </m:r>
                    <m:r>
                      <a:rPr lang="en-US" sz="1100" i="1" spc="10" dirty="0" smtClean="0">
                        <a:latin typeface="Cambria Math" panose="02040503050406030204" pitchFamily="18" charset="0"/>
                        <a:cs typeface="Tahoma"/>
                      </a:rPr>
                      <m:t>≠</m:t>
                    </m:r>
                    <m:r>
                      <a:rPr lang="en-US" sz="1100" i="1" spc="10" dirty="0" smtClean="0">
                        <a:latin typeface="Cambria Math" panose="02040503050406030204" pitchFamily="18" charset="0"/>
                        <a:cs typeface="Tahoma"/>
                      </a:rPr>
                      <m:t>𝑗</m:t>
                    </m:r>
                  </m:oMath>
                </a14:m>
                <a:r>
                  <a:rPr lang="en-US" sz="1100" spc="10" dirty="0">
                    <a:latin typeface="Tahoma"/>
                    <a:cs typeface="Tahoma"/>
                  </a:rPr>
                  <a:t>).  </a:t>
                </a:r>
              </a:p>
              <a:p>
                <a:pPr marL="741363" lvl="1" indent="-230188">
                  <a:spcBef>
                    <a:spcPts val="330"/>
                  </a:spcBef>
                  <a:buClr>
                    <a:srgbClr val="0000FF"/>
                  </a:buClr>
                  <a:buFont typeface="Wingdings 3" panose="05040102010807070707" pitchFamily="18" charset="2"/>
                  <a:buChar char=""/>
                </a:pPr>
                <a:r>
                  <a:rPr lang="en-US" sz="1100" spc="10" dirty="0">
                    <a:latin typeface="Tahoma"/>
                    <a:cs typeface="Tahoma"/>
                  </a:rPr>
                  <a:t>Confirm that no other subset </a:t>
                </a:r>
                <a14:m>
                  <m:oMath xmlns:m="http://schemas.openxmlformats.org/officeDocument/2006/math">
                    <m:r>
                      <a:rPr lang="en-US" sz="1100" i="1" spc="10" dirty="0" smtClean="0">
                        <a:latin typeface="Cambria Math" panose="02040503050406030204" pitchFamily="18" charset="0"/>
                        <a:cs typeface="Tahoma"/>
                      </a:rPr>
                      <m:t>𝑊</m:t>
                    </m:r>
                    <m:r>
                      <a:rPr lang="en-US" sz="1100" i="1" spc="10" dirty="0" smtClean="0">
                        <a:latin typeface="Cambria Math" panose="02040503050406030204" pitchFamily="18" charset="0"/>
                        <a:cs typeface="Tahoma"/>
                      </a:rPr>
                      <m:t>′</m:t>
                    </m:r>
                  </m:oMath>
                </a14:m>
                <a:r>
                  <a:rPr lang="en-US" sz="1100" spc="10" dirty="0">
                    <a:latin typeface="Tahoma"/>
                    <a:cs typeface="Tahoma"/>
                  </a:rPr>
                  <a:t> meeting these conditions yields a higher total price:  </a:t>
                </a:r>
                <a:br>
                  <a:rPr lang="en-US" sz="1100" spc="10" dirty="0">
                    <a:latin typeface="Tahoma"/>
                    <a:cs typeface="Tahoma"/>
                  </a:rPr>
                </a:br>
                <a14:m>
                  <m:oMath xmlns:m="http://schemas.openxmlformats.org/officeDocument/2006/math">
                    <m:nary>
                      <m:naryPr>
                        <m:chr m:val="∑"/>
                        <m:supHide m:val="on"/>
                        <m:ctrlPr>
                          <a:rPr lang="en-US" sz="1100" i="1" spc="10" smtClean="0">
                            <a:latin typeface="Cambria Math" panose="02040503050406030204" pitchFamily="18" charset="0"/>
                            <a:cs typeface="Tahoma"/>
                          </a:rPr>
                        </m:ctrlPr>
                      </m:naryPr>
                      <m:sub>
                        <m:d>
                          <m:dPr>
                            <m:ctrlPr>
                              <a:rPr lang="en-US" sz="1100" b="0" i="1" spc="10" smtClean="0">
                                <a:latin typeface="Cambria Math" panose="02040503050406030204" pitchFamily="18" charset="0"/>
                                <a:cs typeface="Tahoma"/>
                              </a:rPr>
                            </m:ctrlPr>
                          </m:dPr>
                          <m:e>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𝑍</m:t>
                                </m:r>
                              </m:e>
                              <m:sub>
                                <m:r>
                                  <a:rPr lang="en-US" sz="1100" b="0" i="1" spc="10" smtClean="0">
                                    <a:latin typeface="Cambria Math" panose="02040503050406030204" pitchFamily="18" charset="0"/>
                                    <a:cs typeface="Tahoma"/>
                                  </a:rPr>
                                  <m:t>𝑖</m:t>
                                </m:r>
                              </m:sub>
                            </m:sSub>
                            <m:r>
                              <a:rPr lang="en-US" sz="1100" b="0" i="1" spc="10" smtClean="0">
                                <a:latin typeface="Cambria Math" panose="02040503050406030204" pitchFamily="18" charset="0"/>
                                <a:cs typeface="Tahoma"/>
                              </a:rPr>
                              <m:t>,</m:t>
                            </m:r>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𝑝</m:t>
                                </m:r>
                              </m:e>
                              <m:sub>
                                <m:r>
                                  <a:rPr lang="en-US" sz="1100" b="0" i="1" spc="10" smtClean="0">
                                    <a:latin typeface="Cambria Math" panose="02040503050406030204" pitchFamily="18" charset="0"/>
                                    <a:cs typeface="Tahoma"/>
                                  </a:rPr>
                                  <m:t>𝑖</m:t>
                                </m:r>
                              </m:sub>
                            </m:sSub>
                          </m:e>
                        </m:d>
                        <m:r>
                          <a:rPr lang="en-US" sz="1100" b="0" i="1" spc="10" smtClean="0">
                            <a:latin typeface="Cambria Math" panose="02040503050406030204" pitchFamily="18" charset="0"/>
                            <a:cs typeface="Tahoma"/>
                          </a:rPr>
                          <m:t>∈</m:t>
                        </m:r>
                        <m:sSup>
                          <m:sSupPr>
                            <m:ctrlPr>
                              <a:rPr lang="en-US" sz="1100" b="0" i="1" spc="10" smtClean="0">
                                <a:latin typeface="Cambria Math" panose="02040503050406030204" pitchFamily="18" charset="0"/>
                                <a:cs typeface="Tahoma"/>
                              </a:rPr>
                            </m:ctrlPr>
                          </m:sSupPr>
                          <m:e>
                            <m:r>
                              <a:rPr lang="en-US" sz="1100" b="0" i="1" spc="10" smtClean="0">
                                <a:latin typeface="Cambria Math" panose="02040503050406030204" pitchFamily="18" charset="0"/>
                                <a:cs typeface="Tahoma"/>
                              </a:rPr>
                              <m:t>𝑊</m:t>
                            </m:r>
                          </m:e>
                          <m:sup>
                            <m:r>
                              <a:rPr lang="en-US" sz="1100" b="0" i="1" spc="10" smtClean="0">
                                <a:latin typeface="Cambria Math" panose="02040503050406030204" pitchFamily="18" charset="0"/>
                                <a:cs typeface="Tahoma"/>
                              </a:rPr>
                              <m:t>′</m:t>
                            </m:r>
                          </m:sup>
                        </m:sSup>
                      </m:sub>
                      <m:sup/>
                      <m:e>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𝑝</m:t>
                            </m:r>
                          </m:e>
                          <m:sub>
                            <m:r>
                              <a:rPr lang="en-US" sz="1100" b="0" i="1" spc="10" smtClean="0">
                                <a:latin typeface="Cambria Math" panose="02040503050406030204" pitchFamily="18" charset="0"/>
                                <a:cs typeface="Tahoma"/>
                              </a:rPr>
                              <m:t>𝑖</m:t>
                            </m:r>
                          </m:sub>
                        </m:sSub>
                      </m:e>
                    </m:nary>
                    <m:r>
                      <a:rPr lang="en-US" sz="1100" b="0" i="1" spc="10" smtClean="0">
                        <a:latin typeface="Cambria Math" panose="02040503050406030204" pitchFamily="18" charset="0"/>
                        <a:cs typeface="Tahoma"/>
                      </a:rPr>
                      <m:t>&gt;</m:t>
                    </m:r>
                    <m:nary>
                      <m:naryPr>
                        <m:chr m:val="∑"/>
                        <m:supHide m:val="on"/>
                        <m:ctrlPr>
                          <a:rPr lang="en-US" sz="1100" i="1" spc="10">
                            <a:latin typeface="Cambria Math" panose="02040503050406030204" pitchFamily="18" charset="0"/>
                            <a:cs typeface="Tahoma"/>
                          </a:rPr>
                        </m:ctrlPr>
                      </m:naryPr>
                      <m:sub>
                        <m:d>
                          <m:dPr>
                            <m:ctrlPr>
                              <a:rPr lang="en-US" sz="1100" i="1" spc="10">
                                <a:latin typeface="Cambria Math" panose="02040503050406030204" pitchFamily="18" charset="0"/>
                                <a:cs typeface="Tahoma"/>
                              </a:rPr>
                            </m:ctrlPr>
                          </m:dPr>
                          <m:e>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𝑍</m:t>
                                </m:r>
                              </m:e>
                              <m:sub>
                                <m:r>
                                  <a:rPr lang="en-US" sz="1100" b="0" i="1" spc="10" smtClean="0">
                                    <a:latin typeface="Cambria Math" panose="02040503050406030204" pitchFamily="18" charset="0"/>
                                    <a:cs typeface="Tahoma"/>
                                  </a:rPr>
                                  <m:t>𝑗</m:t>
                                </m:r>
                              </m:sub>
                            </m:sSub>
                            <m:r>
                              <a:rPr lang="en-US" sz="1100" i="1" spc="10">
                                <a:latin typeface="Cambria Math" panose="02040503050406030204" pitchFamily="18" charset="0"/>
                                <a:cs typeface="Tahoma"/>
                              </a:rPr>
                              <m:t>,</m:t>
                            </m:r>
                            <m:sSub>
                              <m:sSubPr>
                                <m:ctrlPr>
                                  <a:rPr lang="en-US" sz="1100" i="1" spc="10">
                                    <a:latin typeface="Cambria Math" panose="02040503050406030204" pitchFamily="18" charset="0"/>
                                    <a:cs typeface="Tahoma"/>
                                  </a:rPr>
                                </m:ctrlPr>
                              </m:sSubPr>
                              <m:e>
                                <m:r>
                                  <a:rPr lang="en-US" sz="1100" i="1" spc="10">
                                    <a:latin typeface="Cambria Math" panose="02040503050406030204" pitchFamily="18" charset="0"/>
                                    <a:cs typeface="Tahoma"/>
                                  </a:rPr>
                                  <m:t>𝑝</m:t>
                                </m:r>
                              </m:e>
                              <m:sub>
                                <m:r>
                                  <a:rPr lang="en-US" sz="1100" b="0" i="1" spc="10" smtClean="0">
                                    <a:latin typeface="Cambria Math" panose="02040503050406030204" pitchFamily="18" charset="0"/>
                                    <a:cs typeface="Tahoma"/>
                                  </a:rPr>
                                  <m:t>𝑗</m:t>
                                </m:r>
                              </m:sub>
                            </m:sSub>
                          </m:e>
                        </m:d>
                        <m:r>
                          <a:rPr lang="en-US" sz="1100" i="1" spc="10">
                            <a:latin typeface="Cambria Math" panose="02040503050406030204" pitchFamily="18" charset="0"/>
                            <a:cs typeface="Tahoma"/>
                          </a:rPr>
                          <m:t>∈</m:t>
                        </m:r>
                        <m:sSup>
                          <m:sSupPr>
                            <m:ctrlPr>
                              <a:rPr lang="en-US" sz="1100" i="1" spc="10">
                                <a:latin typeface="Cambria Math" panose="02040503050406030204" pitchFamily="18" charset="0"/>
                                <a:cs typeface="Tahoma"/>
                              </a:rPr>
                            </m:ctrlPr>
                          </m:sSupPr>
                          <m:e>
                            <m:r>
                              <a:rPr lang="en-US" sz="1100" i="1" spc="10">
                                <a:latin typeface="Cambria Math" panose="02040503050406030204" pitchFamily="18" charset="0"/>
                                <a:cs typeface="Tahoma"/>
                              </a:rPr>
                              <m:t>𝑊</m:t>
                            </m:r>
                          </m:e>
                          <m:sup>
                            <m:r>
                              <a:rPr lang="en-US" sz="1100" i="1" spc="10">
                                <a:latin typeface="Cambria Math" panose="02040503050406030204" pitchFamily="18" charset="0"/>
                                <a:cs typeface="Tahoma"/>
                              </a:rPr>
                              <m:t>′</m:t>
                            </m:r>
                          </m:sup>
                        </m:sSup>
                      </m:sub>
                      <m:sup/>
                      <m:e>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𝑝</m:t>
                            </m:r>
                          </m:e>
                          <m:sub>
                            <m:r>
                              <a:rPr lang="en-US" sz="1100" b="0" i="1" spc="10" smtClean="0">
                                <a:latin typeface="Cambria Math" panose="02040503050406030204" pitchFamily="18" charset="0"/>
                                <a:cs typeface="Tahoma"/>
                              </a:rPr>
                              <m:t>𝑗</m:t>
                            </m:r>
                          </m:sub>
                        </m:sSub>
                      </m:e>
                    </m:nary>
                  </m:oMath>
                </a14:m>
                <a:endParaRPr lang="en-US"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95300" y="523371"/>
                <a:ext cx="4419498" cy="2731004"/>
              </a:xfrm>
              <a:prstGeom prst="rect">
                <a:avLst/>
              </a:prstGeom>
              <a:blipFill>
                <a:blip r:embed="rId3"/>
                <a:stretch>
                  <a:fillRect l="-690" t="-2009" r="-2345" b="-29018"/>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36</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364345132"/>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Bidding Languages: OR Bid Example</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95300" y="434975"/>
                <a:ext cx="4514800" cy="2791790"/>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Example OR Bid (Buyer)</a:t>
                </a:r>
                <a:r>
                  <a:rPr lang="en-US" sz="1100" spc="10" dirty="0">
                    <a:latin typeface="Tahoma"/>
                    <a:cs typeface="Tahoma"/>
                  </a:rPr>
                  <a:t>: </a:t>
                </a: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𝛽</m:t>
                          </m:r>
                        </m:e>
                        <m:sub>
                          <m:r>
                            <a:rPr lang="en-US" sz="1100" b="0" i="1" spc="10" dirty="0" smtClean="0">
                              <a:latin typeface="Cambria Math" panose="02040503050406030204" pitchFamily="18" charset="0"/>
                              <a:cs typeface="Tahoma"/>
                            </a:rPr>
                            <m:t>3</m:t>
                          </m:r>
                        </m:sub>
                      </m:sSub>
                      <m:r>
                        <a:rPr lang="en-US" sz="1100" i="1" spc="10" dirty="0" smtClean="0">
                          <a:latin typeface="Cambria Math" panose="02040503050406030204" pitchFamily="18" charset="0"/>
                          <a:cs typeface="Tahoma"/>
                        </a:rPr>
                        <m:t> = </m:t>
                      </m:r>
                      <m:d>
                        <m:dPr>
                          <m:ctrlPr>
                            <a:rPr lang="en-US" sz="1100" i="1" spc="10" dirty="0" smtClean="0">
                              <a:latin typeface="Cambria Math" panose="02040503050406030204" pitchFamily="18" charset="0"/>
                              <a:cs typeface="Tahoma"/>
                            </a:rPr>
                          </m:ctrlPr>
                        </m:dPr>
                        <m:e>
                          <m:d>
                            <m:dPr>
                              <m:begChr m:val="{"/>
                              <m:endChr m:val="}"/>
                              <m:ctrlPr>
                                <a:rPr lang="en-US" sz="110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𝑒</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𝑓</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𝑔</m:t>
                              </m:r>
                            </m:e>
                          </m:d>
                          <m:r>
                            <a:rPr lang="en-US" sz="110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4</m:t>
                          </m:r>
                        </m:e>
                      </m:d>
                      <m:r>
                        <a:rPr lang="en-US" sz="1100" b="0" i="0" spc="10" dirty="0" smtClean="0">
                          <a:latin typeface="Cambria Math" panose="02040503050406030204" pitchFamily="18" charset="0"/>
                          <a:cs typeface="Tahoma"/>
                        </a:rPr>
                        <m:t> </m:t>
                      </m:r>
                      <m:r>
                        <m:rPr>
                          <m:sty m:val="p"/>
                        </m:rPr>
                        <a:rPr lang="en-US" sz="1100" i="0" spc="10" dirty="0" smtClean="0">
                          <a:latin typeface="Cambria Math" panose="02040503050406030204" pitchFamily="18" charset="0"/>
                          <a:cs typeface="Tahoma"/>
                        </a:rPr>
                        <m:t>OR</m:t>
                      </m:r>
                      <m:r>
                        <a:rPr lang="en-US" sz="1100" i="1" spc="10" dirty="0" smtClean="0">
                          <a:latin typeface="Cambria Math" panose="02040503050406030204" pitchFamily="18" charset="0"/>
                          <a:cs typeface="Tahoma"/>
                        </a:rPr>
                        <m:t> </m:t>
                      </m:r>
                      <m:d>
                        <m:dPr>
                          <m:ctrlPr>
                            <a:rPr lang="en-US" sz="1100" i="1" spc="10" dirty="0" smtClean="0">
                              <a:latin typeface="Cambria Math" panose="02040503050406030204" pitchFamily="18" charset="0"/>
                              <a:cs typeface="Tahoma"/>
                            </a:rPr>
                          </m:ctrlPr>
                        </m:dPr>
                        <m:e>
                          <m:d>
                            <m:dPr>
                              <m:begChr m:val="{"/>
                              <m:endChr m:val="}"/>
                              <m:ctrlPr>
                                <a:rPr lang="en-US" sz="110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𝑓</m:t>
                              </m:r>
                              <m:r>
                                <a:rPr lang="en-US" sz="110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𝑔</m:t>
                              </m:r>
                            </m:e>
                          </m:d>
                          <m:r>
                            <a:rPr lang="en-US" sz="110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1</m:t>
                          </m:r>
                        </m:e>
                      </m:d>
                      <m:r>
                        <a:rPr lang="en-US" sz="1100" b="0" i="1" spc="10" dirty="0" smtClean="0">
                          <a:latin typeface="Cambria Math" panose="02040503050406030204" pitchFamily="18" charset="0"/>
                          <a:cs typeface="Tahoma"/>
                        </a:rPr>
                        <m:t> </m:t>
                      </m:r>
                      <m:r>
                        <m:rPr>
                          <m:sty m:val="p"/>
                        </m:rPr>
                        <a:rPr lang="en-US" sz="1100" b="0" i="0" spc="10" dirty="0" smtClean="0">
                          <a:latin typeface="Cambria Math" panose="02040503050406030204" pitchFamily="18" charset="0"/>
                          <a:cs typeface="Tahoma"/>
                        </a:rPr>
                        <m:t>OR</m:t>
                      </m:r>
                      <m:r>
                        <a:rPr lang="en-US" sz="1100" b="0" i="1" spc="10" dirty="0" smtClean="0">
                          <a:latin typeface="Cambria Math" panose="02040503050406030204" pitchFamily="18" charset="0"/>
                          <a:cs typeface="Tahoma"/>
                        </a:rPr>
                        <m:t> </m:t>
                      </m:r>
                      <m:d>
                        <m:dPr>
                          <m:ctrlPr>
                            <a:rPr lang="en-US" sz="1100" b="0" i="1" spc="10" dirty="0" smtClean="0">
                              <a:latin typeface="Cambria Math" panose="02040503050406030204" pitchFamily="18" charset="0"/>
                              <a:cs typeface="Tahoma"/>
                            </a:rPr>
                          </m:ctrlPr>
                        </m:dPr>
                        <m:e>
                          <m:d>
                            <m:dPr>
                              <m:begChr m:val="{"/>
                              <m:endChr m:val="}"/>
                              <m:ctrlPr>
                                <a:rPr lang="en-US" sz="1100" b="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𝑒</m:t>
                              </m:r>
                            </m:e>
                          </m:d>
                          <m:r>
                            <a:rPr lang="en-US" sz="1100" b="0" i="1" spc="10" dirty="0" smtClean="0">
                              <a:latin typeface="Cambria Math" panose="02040503050406030204" pitchFamily="18" charset="0"/>
                              <a:cs typeface="Tahoma"/>
                            </a:rPr>
                            <m:t>,3</m:t>
                          </m:r>
                        </m:e>
                      </m:d>
                      <m:r>
                        <a:rPr lang="en-US" sz="1100" b="0" i="1" spc="10" dirty="0" smtClean="0">
                          <a:latin typeface="Cambria Math" panose="02040503050406030204" pitchFamily="18" charset="0"/>
                          <a:cs typeface="Tahoma"/>
                        </a:rPr>
                        <m:t> </m:t>
                      </m:r>
                      <m:r>
                        <m:rPr>
                          <m:sty m:val="p"/>
                        </m:rPr>
                        <a:rPr lang="en-US" sz="1100" b="0" i="0" spc="10" dirty="0" smtClean="0">
                          <a:latin typeface="Cambria Math" panose="02040503050406030204" pitchFamily="18" charset="0"/>
                          <a:cs typeface="Tahoma"/>
                        </a:rPr>
                        <m:t>OR</m:t>
                      </m:r>
                      <m:r>
                        <a:rPr lang="en-US" sz="1100" b="0" i="1" spc="10" dirty="0" smtClean="0">
                          <a:latin typeface="Cambria Math" panose="02040503050406030204" pitchFamily="18" charset="0"/>
                          <a:cs typeface="Tahoma"/>
                        </a:rPr>
                        <m:t> </m:t>
                      </m:r>
                      <m:d>
                        <m:dPr>
                          <m:ctrlPr>
                            <a:rPr lang="en-US" sz="1100" b="0" i="1" spc="10" dirty="0" smtClean="0">
                              <a:latin typeface="Cambria Math" panose="02040503050406030204" pitchFamily="18" charset="0"/>
                              <a:cs typeface="Tahoma"/>
                            </a:rPr>
                          </m:ctrlPr>
                        </m:dPr>
                        <m:e>
                          <m:d>
                            <m:dPr>
                              <m:begChr m:val="{"/>
                              <m:endChr m:val="}"/>
                              <m:ctrlPr>
                                <a:rPr lang="en-US" sz="1100" b="0" i="1" spc="10" dirty="0" smtClean="0">
                                  <a:latin typeface="Cambria Math" panose="02040503050406030204" pitchFamily="18" charset="0"/>
                                  <a:cs typeface="Tahoma"/>
                                </a:rPr>
                              </m:ctrlPr>
                            </m:dPr>
                            <m:e>
                              <m:r>
                                <a:rPr lang="en-US" sz="1100" b="0" i="1" spc="10" dirty="0" smtClean="0">
                                  <a:latin typeface="Cambria Math" panose="02040503050406030204" pitchFamily="18" charset="0"/>
                                  <a:cs typeface="Tahoma"/>
                                </a:rPr>
                                <m:t>𝑐</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𝑑</m:t>
                              </m:r>
                            </m:e>
                          </m:d>
                          <m:r>
                            <a:rPr lang="en-US" sz="1100" b="0" i="1" spc="10" dirty="0" smtClean="0">
                              <a:latin typeface="Cambria Math" panose="02040503050406030204" pitchFamily="18" charset="0"/>
                              <a:cs typeface="Tahoma"/>
                            </a:rPr>
                            <m:t>, 4</m:t>
                          </m:r>
                        </m:e>
                      </m:d>
                    </m:oMath>
                  </m:oMathPara>
                </a14:m>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Construct the valuation:</a:t>
                </a: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𝑒</m:t>
                              </m:r>
                            </m:e>
                          </m:d>
                        </m:e>
                      </m:d>
                      <m:r>
                        <a:rPr lang="en-US" sz="1100" b="0" i="1" spc="10" smtClean="0">
                          <a:latin typeface="Cambria Math" panose="02040503050406030204" pitchFamily="18" charset="0"/>
                          <a:cs typeface="Tahoma"/>
                        </a:rPr>
                        <m:t>=3</m:t>
                      </m:r>
                    </m:oMath>
                  </m:oMathPara>
                </a14:m>
                <a:endParaRPr lang="en-US" sz="1100" b="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𝑒</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3</m:t>
                      </m:r>
                    </m:oMath>
                  </m:oMathPara>
                </a14:m>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𝑒</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𝑔</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m:t>
                      </m:r>
                    </m:oMath>
                  </m:oMathPara>
                </a14:m>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𝑏</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𝑔</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4+1=5</m:t>
                      </m:r>
                    </m:oMath>
                  </m:oMathPara>
                </a14:m>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𝑎</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𝑏</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𝑒</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𝑓</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𝑔</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4+4=8</m:t>
                      </m:r>
                    </m:oMath>
                  </m:oMathPara>
                </a14:m>
                <a:endParaRPr lang="en-US" sz="1100" spc="10" dirty="0">
                  <a:latin typeface="Tahoma"/>
                  <a:cs typeface="Tahoma"/>
                </a:endParaRPr>
              </a:p>
              <a:p>
                <a:pPr marL="53975">
                  <a:lnSpc>
                    <a:spcPts val="1400"/>
                  </a:lnSpc>
                  <a:spcBef>
                    <a:spcPts val="330"/>
                  </a:spcBef>
                  <a:buClr>
                    <a:srgbClr val="0000FF"/>
                  </a:buClr>
                </a:pPr>
                <a14:m>
                  <m:oMathPara xmlns:m="http://schemas.openxmlformats.org/officeDocument/2006/math">
                    <m:oMathParaPr>
                      <m:jc m:val="centerGroup"/>
                    </m:oMathParaPr>
                    <m:oMath xmlns:m="http://schemas.openxmlformats.org/officeDocument/2006/math">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                  </m:t>
                          </m:r>
                          <m:r>
                            <a:rPr lang="en-US" sz="1100" b="0" i="1" spc="10" smtClean="0">
                              <a:latin typeface="Cambria Math" panose="02040503050406030204" pitchFamily="18" charset="0"/>
                              <a:cs typeface="Tahoma"/>
                            </a:rPr>
                            <m:t>𝑣</m:t>
                          </m:r>
                        </m:e>
                        <m:sub>
                          <m:sSub>
                            <m:sSubPr>
                              <m:ctrlPr>
                                <a:rPr lang="en-US" sz="1100" b="0" i="1" spc="10" smtClean="0">
                                  <a:latin typeface="Cambria Math" panose="02040503050406030204" pitchFamily="18" charset="0"/>
                                  <a:cs typeface="Tahoma"/>
                                </a:rPr>
                              </m:ctrlPr>
                            </m:sSubPr>
                            <m:e>
                              <m:r>
                                <a:rPr lang="en-US" sz="1100" b="0" i="1" spc="10" smtClean="0">
                                  <a:latin typeface="Cambria Math" panose="02040503050406030204" pitchFamily="18" charset="0"/>
                                  <a:cs typeface="Tahoma"/>
                                </a:rPr>
                                <m:t>𝛽</m:t>
                              </m:r>
                            </m:e>
                            <m:sub>
                              <m:r>
                                <a:rPr lang="en-US" sz="1100" b="0" i="1" spc="10" smtClean="0">
                                  <a:latin typeface="Cambria Math" panose="02040503050406030204" pitchFamily="18" charset="0"/>
                                  <a:cs typeface="Tahoma"/>
                                </a:rPr>
                                <m:t>3</m:t>
                              </m:r>
                            </m:sub>
                          </m:sSub>
                        </m:sub>
                      </m:sSub>
                      <m:d>
                        <m:dPr>
                          <m:ctrlPr>
                            <a:rPr lang="en-US" sz="1100" b="0" i="1" spc="10" smtClean="0">
                              <a:latin typeface="Cambria Math" panose="02040503050406030204" pitchFamily="18" charset="0"/>
                              <a:cs typeface="Tahoma"/>
                            </a:rPr>
                          </m:ctrlPr>
                        </m:dPr>
                        <m:e>
                          <m:d>
                            <m:dPr>
                              <m:begChr m:val="{"/>
                              <m:endChr m:val="}"/>
                              <m:ctrlPr>
                                <a:rPr lang="en-US" sz="1100" b="0" i="1" spc="10" smtClean="0">
                                  <a:latin typeface="Cambria Math" panose="02040503050406030204" pitchFamily="18" charset="0"/>
                                  <a:cs typeface="Tahoma"/>
                                </a:rPr>
                              </m:ctrlPr>
                            </m:dPr>
                            <m:e>
                              <m:r>
                                <a:rPr lang="en-US" sz="1100" b="0" i="1" spc="10" smtClean="0">
                                  <a:latin typeface="Cambria Math" panose="02040503050406030204" pitchFamily="18" charset="0"/>
                                  <a:cs typeface="Tahoma"/>
                                </a:rPr>
                                <m:t>𝑐</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𝑑</m:t>
                              </m:r>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𝑒</m:t>
                              </m:r>
                            </m:e>
                          </m:d>
                        </m:e>
                      </m:d>
                      <m:r>
                        <a:rPr lang="en-US" sz="1100" b="0" i="1" spc="10" smtClean="0">
                          <a:latin typeface="Cambria Math" panose="02040503050406030204" pitchFamily="18" charset="0"/>
                          <a:cs typeface="Tahoma"/>
                        </a:rPr>
                        <m:t>=</m:t>
                      </m:r>
                      <m:r>
                        <a:rPr lang="en-US" sz="1100" b="0" i="1" spc="10" smtClean="0">
                          <a:latin typeface="Cambria Math" panose="02040503050406030204" pitchFamily="18" charset="0"/>
                          <a:cs typeface="Tahoma"/>
                        </a:rPr>
                        <m:t>4+3=7</m:t>
                      </m:r>
                    </m:oMath>
                  </m:oMathPara>
                </a14:m>
                <a:endParaRPr lang="en-US" sz="1100" spc="10" dirty="0">
                  <a:latin typeface="Tahoma"/>
                  <a:cs typeface="Tahoma"/>
                </a:endParaRPr>
              </a:p>
              <a:p>
                <a:pPr marL="53975">
                  <a:lnSpc>
                    <a:spcPts val="1400"/>
                  </a:lnSpc>
                  <a:spcBef>
                    <a:spcPts val="330"/>
                  </a:spcBef>
                  <a:buClr>
                    <a:srgbClr val="0000FF"/>
                  </a:buClr>
                </a:pPr>
                <a:r>
                  <a:rPr lang="en-MY" sz="1100" b="1" spc="10" dirty="0">
                    <a:latin typeface="Tahoma"/>
                    <a:cs typeface="Tahoma"/>
                  </a:rPr>
                  <a:t>First Scenario</a:t>
                </a:r>
                <a:r>
                  <a:rPr lang="en-MY" sz="1100" spc="10" dirty="0">
                    <a:latin typeface="Tahoma"/>
                    <a:cs typeface="Tahoma"/>
                  </a:rPr>
                  <a:t>: </a:t>
                </a:r>
                <a14:m>
                  <m:oMath xmlns:m="http://schemas.openxmlformats.org/officeDocument/2006/math">
                    <m:r>
                      <a:rPr lang="en-MY" sz="1000" i="1" spc="10" dirty="0" smtClean="0">
                        <a:latin typeface="Cambria Math" panose="02040503050406030204" pitchFamily="18" charset="0"/>
                        <a:cs typeface="Tahoma"/>
                      </a:rPr>
                      <m:t>𝑍</m:t>
                    </m:r>
                    <m:r>
                      <a:rPr lang="en-MY" sz="1000" i="1" spc="10" dirty="0" smtClean="0">
                        <a:latin typeface="Cambria Math" panose="02040503050406030204" pitchFamily="18" charset="0"/>
                        <a:cs typeface="Tahoma"/>
                      </a:rPr>
                      <m:t>′=</m:t>
                    </m:r>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oMath>
                </a14:m>
                <a:r>
                  <a:rPr lang="en-MY" sz="1000" spc="10" dirty="0">
                    <a:latin typeface="Tahoma"/>
                    <a:cs typeface="Tahoma"/>
                  </a:rPr>
                  <a:t> satisfies the bids </a:t>
                </a:r>
                <a14:m>
                  <m:oMath xmlns:m="http://schemas.openxmlformats.org/officeDocument/2006/math">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r>
                          <a:rPr lang="en-MY" sz="1000" i="1" spc="10" dirty="0" smtClean="0">
                            <a:latin typeface="Cambria Math" panose="02040503050406030204" pitchFamily="18" charset="0"/>
                            <a:cs typeface="Tahoma"/>
                          </a:rPr>
                          <m:t>,4</m:t>
                        </m:r>
                      </m:e>
                    </m:d>
                    <m:r>
                      <a:rPr lang="en-MY" sz="1000" i="1" spc="10" dirty="0" smtClean="0">
                        <a:latin typeface="Cambria Math" panose="02040503050406030204" pitchFamily="18" charset="0"/>
                        <a:cs typeface="Tahoma"/>
                      </a:rPr>
                      <m:t>, </m:t>
                    </m:r>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r>
                          <a:rPr lang="en-MY" sz="1000" i="1" spc="10" dirty="0" smtClean="0">
                            <a:latin typeface="Cambria Math" panose="02040503050406030204" pitchFamily="18" charset="0"/>
                            <a:cs typeface="Tahoma"/>
                          </a:rPr>
                          <m:t>,1</m:t>
                        </m:r>
                      </m:e>
                    </m:d>
                    <m:r>
                      <a:rPr lang="en-MY" sz="1000" i="1" spc="10" dirty="0" smtClean="0">
                        <a:latin typeface="Cambria Math" panose="02040503050406030204" pitchFamily="18" charset="0"/>
                        <a:cs typeface="Tahoma"/>
                      </a:rPr>
                      <m:t>, </m:t>
                    </m:r>
                    <m:r>
                      <a:rPr lang="en-US" sz="1000" b="0" i="1" spc="10" dirty="0" smtClean="0">
                        <a:latin typeface="Cambria Math" panose="02040503050406030204" pitchFamily="18" charset="0"/>
                        <a:cs typeface="Tahoma"/>
                      </a:rPr>
                      <m:t> </m:t>
                    </m:r>
                    <m:r>
                      <a:rPr lang="en-MY" sz="1000" i="1" spc="10" dirty="0" smtClean="0">
                        <a:latin typeface="Cambria Math" panose="02040503050406030204" pitchFamily="18" charset="0"/>
                        <a:cs typeface="Tahoma"/>
                      </a:rPr>
                      <m:t>𝑎𝑛𝑑</m:t>
                    </m:r>
                    <m:r>
                      <a:rPr lang="en-MY" sz="1000" i="1" spc="10" dirty="0" smtClean="0">
                        <a:latin typeface="Cambria Math" panose="02040503050406030204" pitchFamily="18" charset="0"/>
                        <a:cs typeface="Tahoma"/>
                      </a:rPr>
                      <m:t> </m:t>
                    </m:r>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e>
                        </m:d>
                        <m:r>
                          <a:rPr lang="en-MY" sz="1000" i="1" spc="10" dirty="0" smtClean="0">
                            <a:latin typeface="Cambria Math" panose="02040503050406030204" pitchFamily="18" charset="0"/>
                            <a:cs typeface="Tahoma"/>
                          </a:rPr>
                          <m:t>,3</m:t>
                        </m:r>
                      </m:e>
                    </m:d>
                  </m:oMath>
                </a14:m>
                <a:r>
                  <a:rPr lang="en-MY" sz="1000" spc="10" dirty="0">
                    <a:latin typeface="Tahoma"/>
                    <a:cs typeface="Tahoma"/>
                  </a:rPr>
                  <a:t>. However, </a:t>
                </a:r>
                <a14:m>
                  <m:oMath xmlns:m="http://schemas.openxmlformats.org/officeDocument/2006/math">
                    <m:r>
                      <a:rPr lang="en-MY" sz="1000" i="1" spc="10" dirty="0" smtClean="0">
                        <a:latin typeface="Cambria Math" panose="02040503050406030204" pitchFamily="18" charset="0"/>
                        <a:cs typeface="Tahoma"/>
                      </a:rPr>
                      <m:t>𝑊</m:t>
                    </m:r>
                  </m:oMath>
                </a14:m>
                <a:r>
                  <a:rPr lang="en-MY" sz="1000" spc="10" dirty="0">
                    <a:latin typeface="Tahoma"/>
                    <a:cs typeface="Tahoma"/>
                  </a:rPr>
                  <a:t> only includes </a:t>
                </a:r>
                <a14:m>
                  <m:oMath xmlns:m="http://schemas.openxmlformats.org/officeDocument/2006/math">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r>
                          <a:rPr lang="en-MY" sz="1000" i="1" spc="10" dirty="0" smtClean="0">
                            <a:latin typeface="Cambria Math" panose="02040503050406030204" pitchFamily="18" charset="0"/>
                            <a:cs typeface="Tahoma"/>
                          </a:rPr>
                          <m:t>,4</m:t>
                        </m:r>
                      </m:e>
                    </m:d>
                  </m:oMath>
                </a14:m>
                <a:r>
                  <a:rPr lang="en-MY" sz="1000" spc="10" dirty="0">
                    <a:latin typeface="Tahoma"/>
                    <a:cs typeface="Tahoma"/>
                  </a:rPr>
                  <a:t> due to the 2nd and 3rd conditions (</a:t>
                </a:r>
                <a:r>
                  <a:rPr lang="en-MY" sz="1000" spc="10" dirty="0">
                    <a:solidFill>
                      <a:srgbClr val="0000FF"/>
                    </a:solidFill>
                    <a:latin typeface="Tahoma"/>
                    <a:cs typeface="Tahoma"/>
                  </a:rPr>
                  <a:t>mutual </a:t>
                </a:r>
                <a:r>
                  <a:rPr lang="en-MY" sz="1000" spc="10" dirty="0" err="1">
                    <a:solidFill>
                      <a:srgbClr val="0000FF"/>
                    </a:solidFill>
                    <a:latin typeface="Tahoma"/>
                    <a:cs typeface="Tahoma"/>
                  </a:rPr>
                  <a:t>disjointness</a:t>
                </a:r>
                <a:r>
                  <a:rPr lang="en-MY" sz="1000" spc="10" dirty="0">
                    <a:solidFill>
                      <a:srgbClr val="0000FF"/>
                    </a:solidFill>
                    <a:latin typeface="Tahoma"/>
                    <a:cs typeface="Tahoma"/>
                  </a:rPr>
                  <a:t> </a:t>
                </a:r>
                <a:r>
                  <a:rPr lang="en-MY" sz="1000" spc="10" dirty="0">
                    <a:latin typeface="Tahoma"/>
                    <a:cs typeface="Tahoma"/>
                  </a:rPr>
                  <a:t>and </a:t>
                </a:r>
                <a:r>
                  <a:rPr lang="en-MY" sz="1000" spc="10" dirty="0">
                    <a:solidFill>
                      <a:srgbClr val="0000FF"/>
                    </a:solidFill>
                    <a:latin typeface="Tahoma"/>
                    <a:cs typeface="Tahoma"/>
                  </a:rPr>
                  <a:t>optimal price</a:t>
                </a:r>
                <a:r>
                  <a:rPr lang="en-MY" sz="1000" spc="10" dirty="0">
                    <a:latin typeface="Tahoma"/>
                    <a:cs typeface="Tahoma"/>
                  </a:rPr>
                  <a:t>).</a:t>
                </a:r>
              </a:p>
              <a:p>
                <a:pPr marL="53975">
                  <a:lnSpc>
                    <a:spcPts val="1400"/>
                  </a:lnSpc>
                  <a:spcBef>
                    <a:spcPts val="330"/>
                  </a:spcBef>
                  <a:buClr>
                    <a:srgbClr val="0000FF"/>
                  </a:buClr>
                </a:pPr>
                <a:r>
                  <a:rPr lang="en-MY" sz="1100" b="1" spc="10" dirty="0">
                    <a:latin typeface="Tahoma"/>
                    <a:cs typeface="Tahoma"/>
                  </a:rPr>
                  <a:t>Second Scenario</a:t>
                </a:r>
                <a:r>
                  <a:rPr lang="en-MY" sz="1100" spc="10" dirty="0">
                    <a:latin typeface="Tahoma"/>
                    <a:cs typeface="Tahoma"/>
                  </a:rPr>
                  <a:t>: </a:t>
                </a:r>
                <a14:m>
                  <m:oMath xmlns:m="http://schemas.openxmlformats.org/officeDocument/2006/math">
                    <m:sSup>
                      <m:sSupPr>
                        <m:ctrlPr>
                          <a:rPr lang="en-MY" sz="1100" i="1" spc="10" dirty="0">
                            <a:latin typeface="Cambria Math" panose="02040503050406030204" pitchFamily="18" charset="0"/>
                            <a:cs typeface="Tahoma"/>
                          </a:rPr>
                        </m:ctrlPr>
                      </m:sSupPr>
                      <m:e>
                        <m:r>
                          <a:rPr lang="en-MY" sz="1100" i="1" spc="10" dirty="0">
                            <a:latin typeface="Cambria Math" panose="02040503050406030204" pitchFamily="18" charset="0"/>
                            <a:cs typeface="Tahoma"/>
                          </a:rPr>
                          <m:t>𝑍</m:t>
                        </m:r>
                      </m:e>
                      <m:sup>
                        <m:r>
                          <a:rPr lang="en-MY" sz="1100" i="1" spc="10" dirty="0">
                            <a:latin typeface="Cambria Math" panose="02040503050406030204" pitchFamily="18" charset="0"/>
                            <a:cs typeface="Tahoma"/>
                          </a:rPr>
                          <m:t>′</m:t>
                        </m:r>
                      </m:sup>
                    </m:sSup>
                    <m:r>
                      <a:rPr lang="en-MY" sz="1100" i="1" spc="10" dirty="0">
                        <a:latin typeface="Cambria Math" panose="02040503050406030204" pitchFamily="18" charset="0"/>
                        <a:cs typeface="Tahoma"/>
                      </a:rPr>
                      <m:t>=</m:t>
                    </m:r>
                    <m:r>
                      <a:rPr lang="en-US" sz="1100" b="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𝑎</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𝑏</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𝑐</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𝑑</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r>
                      <a:rPr lang="en-MY" sz="1000" i="1" spc="10" dirty="0" smtClean="0">
                        <a:latin typeface="Cambria Math" panose="02040503050406030204" pitchFamily="18" charset="0"/>
                        <a:cs typeface="Tahoma"/>
                      </a:rPr>
                      <m:t>} </m:t>
                    </m:r>
                  </m:oMath>
                </a14:m>
                <a:r>
                  <a:rPr lang="en-MY" sz="1000" spc="10" dirty="0">
                    <a:latin typeface="Tahoma"/>
                    <a:cs typeface="Tahoma"/>
                  </a:rPr>
                  <a:t>satisfies the bids </a:t>
                </a:r>
                <a14:m>
                  <m:oMath xmlns:m="http://schemas.openxmlformats.org/officeDocument/2006/math">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r>
                          <a:rPr lang="en-MY" sz="1000" i="1" spc="10" dirty="0" smtClean="0">
                            <a:latin typeface="Cambria Math" panose="02040503050406030204" pitchFamily="18" charset="0"/>
                            <a:cs typeface="Tahoma"/>
                          </a:rPr>
                          <m:t>,4</m:t>
                        </m:r>
                      </m:e>
                    </m:d>
                    <m:r>
                      <a:rPr lang="en-MY" sz="1000" i="1" spc="10" dirty="0" smtClean="0">
                        <a:latin typeface="Cambria Math" panose="02040503050406030204" pitchFamily="18" charset="0"/>
                        <a:cs typeface="Tahoma"/>
                      </a:rPr>
                      <m:t>, </m:t>
                    </m:r>
                    <m:r>
                      <a:rPr lang="en-US" sz="1000" b="0" i="1" spc="10" dirty="0" smtClean="0">
                        <a:latin typeface="Cambria Math" panose="02040503050406030204" pitchFamily="18" charset="0"/>
                        <a:cs typeface="Tahoma"/>
                      </a:rPr>
                      <m:t> </m:t>
                    </m:r>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e>
                        </m:d>
                        <m:r>
                          <a:rPr lang="en-MY" sz="1000" i="1" spc="10" dirty="0" smtClean="0">
                            <a:latin typeface="Cambria Math" panose="02040503050406030204" pitchFamily="18" charset="0"/>
                            <a:cs typeface="Tahoma"/>
                          </a:rPr>
                          <m:t>,1</m:t>
                        </m:r>
                      </m:e>
                    </m:d>
                    <m:r>
                      <a:rPr lang="en-MY" sz="1000" i="1" spc="10" dirty="0" smtClean="0">
                        <a:latin typeface="Cambria Math" panose="02040503050406030204" pitchFamily="18" charset="0"/>
                        <a:cs typeface="Tahoma"/>
                      </a:rPr>
                      <m:t>, </m:t>
                    </m:r>
                    <m:r>
                      <a:rPr lang="en-US" sz="1000" b="0" i="1" spc="10" dirty="0" smtClean="0">
                        <a:latin typeface="Cambria Math" panose="02040503050406030204" pitchFamily="18" charset="0"/>
                        <a:cs typeface="Tahoma"/>
                      </a:rPr>
                      <m:t> </m:t>
                    </m:r>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𝑒</m:t>
                            </m:r>
                          </m:e>
                        </m:d>
                        <m:r>
                          <a:rPr lang="en-MY" sz="1000" i="1" spc="10" dirty="0" smtClean="0">
                            <a:latin typeface="Cambria Math" panose="02040503050406030204" pitchFamily="18" charset="0"/>
                            <a:cs typeface="Tahoma"/>
                          </a:rPr>
                          <m:t>,3</m:t>
                        </m:r>
                      </m:e>
                    </m:d>
                  </m:oMath>
                </a14:m>
                <a:r>
                  <a:rPr lang="en-MY" sz="1000" spc="10" dirty="0">
                    <a:latin typeface="Tahoma"/>
                    <a:cs typeface="Tahoma"/>
                  </a:rPr>
                  <a:t>, and </a:t>
                </a:r>
                <a14:m>
                  <m:oMath xmlns:m="http://schemas.openxmlformats.org/officeDocument/2006/math">
                    <m:d>
                      <m:dPr>
                        <m:ctrlPr>
                          <a:rPr lang="en-MY" sz="1000" i="1" spc="10" dirty="0" smtClean="0">
                            <a:latin typeface="Cambria Math" panose="02040503050406030204" pitchFamily="18" charset="0"/>
                            <a:cs typeface="Tahoma"/>
                          </a:rPr>
                        </m:ctrlPr>
                      </m:dPr>
                      <m:e>
                        <m:d>
                          <m:dPr>
                            <m:begChr m:val="{"/>
                            <m:endChr m:val="}"/>
                            <m:ctrlPr>
                              <a:rPr lang="en-MY" sz="1000" i="1" spc="10" dirty="0" smtClean="0">
                                <a:latin typeface="Cambria Math" panose="02040503050406030204" pitchFamily="18" charset="0"/>
                                <a:cs typeface="Tahoma"/>
                              </a:rPr>
                            </m:ctrlPr>
                          </m:dPr>
                          <m:e>
                            <m:r>
                              <a:rPr lang="en-MY" sz="1000" i="1" spc="10" dirty="0" smtClean="0">
                                <a:latin typeface="Cambria Math" panose="02040503050406030204" pitchFamily="18" charset="0"/>
                                <a:cs typeface="Tahoma"/>
                              </a:rPr>
                              <m:t>𝑐</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𝑑</m:t>
                            </m:r>
                          </m:e>
                        </m:d>
                        <m:r>
                          <a:rPr lang="en-MY" sz="1000" i="1" spc="10" dirty="0" smtClean="0">
                            <a:latin typeface="Cambria Math" panose="02040503050406030204" pitchFamily="18" charset="0"/>
                            <a:cs typeface="Tahoma"/>
                          </a:rPr>
                          <m:t>,3</m:t>
                        </m:r>
                      </m:e>
                    </m:d>
                  </m:oMath>
                </a14:m>
                <a:r>
                  <a:rPr lang="en-MY" sz="1000" spc="10" dirty="0">
                    <a:latin typeface="Tahoma"/>
                    <a:cs typeface="Tahoma"/>
                  </a:rPr>
                  <a:t>. Here, </a:t>
                </a:r>
                <a14:m>
                  <m:oMath xmlns:m="http://schemas.openxmlformats.org/officeDocument/2006/math">
                    <m:r>
                      <a:rPr lang="en-MY" sz="1000" i="1" spc="10" dirty="0" smtClean="0">
                        <a:latin typeface="Cambria Math" panose="02040503050406030204" pitchFamily="18" charset="0"/>
                        <a:cs typeface="Tahoma"/>
                      </a:rPr>
                      <m:t>𝑊</m:t>
                    </m:r>
                  </m:oMath>
                </a14:m>
                <a:r>
                  <a:rPr lang="en-MY" sz="1000" spc="10" dirty="0">
                    <a:latin typeface="Tahoma"/>
                    <a:cs typeface="Tahoma"/>
                  </a:rPr>
                  <a:t> includes only </a:t>
                </a:r>
                <a14:m>
                  <m:oMath xmlns:m="http://schemas.openxmlformats.org/officeDocument/2006/math">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𝑒</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𝑓</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𝑔</m:t>
                    </m:r>
                    <m:r>
                      <a:rPr lang="en-MY" sz="1000" i="1" spc="10" dirty="0" smtClean="0">
                        <a:latin typeface="Cambria Math" panose="02040503050406030204" pitchFamily="18" charset="0"/>
                        <a:cs typeface="Tahoma"/>
                      </a:rPr>
                      <m:t>},4) </m:t>
                    </m:r>
                  </m:oMath>
                </a14:m>
                <a:r>
                  <a:rPr lang="en-MY" sz="1000" spc="10" dirty="0">
                    <a:latin typeface="Tahoma"/>
                    <a:cs typeface="Tahoma"/>
                  </a:rPr>
                  <a:t>and </a:t>
                </a:r>
                <a14:m>
                  <m:oMath xmlns:m="http://schemas.openxmlformats.org/officeDocument/2006/math">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𝑐</m:t>
                    </m:r>
                    <m:r>
                      <a:rPr lang="en-MY" sz="1000" i="1" spc="10" dirty="0" smtClean="0">
                        <a:latin typeface="Cambria Math" panose="02040503050406030204" pitchFamily="18" charset="0"/>
                        <a:cs typeface="Tahoma"/>
                      </a:rPr>
                      <m:t>,</m:t>
                    </m:r>
                    <m:r>
                      <a:rPr lang="en-MY" sz="1000" i="1" spc="10" dirty="0" smtClean="0">
                        <a:latin typeface="Cambria Math" panose="02040503050406030204" pitchFamily="18" charset="0"/>
                        <a:cs typeface="Tahoma"/>
                      </a:rPr>
                      <m:t>𝑑</m:t>
                    </m:r>
                    <m:r>
                      <a:rPr lang="en-MY" sz="1000" i="1" spc="10" dirty="0" smtClean="0">
                        <a:latin typeface="Cambria Math" panose="02040503050406030204" pitchFamily="18" charset="0"/>
                        <a:cs typeface="Tahoma"/>
                      </a:rPr>
                      <m:t>},3)</m:t>
                    </m:r>
                  </m:oMath>
                </a14:m>
                <a:r>
                  <a:rPr lang="en-MY" sz="1000" spc="10" dirty="0">
                    <a:latin typeface="Tahoma"/>
                    <a:cs typeface="Tahoma"/>
                  </a:rPr>
                  <a:t> to meet the conditions of </a:t>
                </a:r>
                <a:r>
                  <a:rPr lang="en-MY" sz="1000" spc="10" dirty="0" err="1">
                    <a:latin typeface="Tahoma"/>
                    <a:cs typeface="Tahoma"/>
                  </a:rPr>
                  <a:t>disjointness</a:t>
                </a:r>
                <a:r>
                  <a:rPr lang="en-MY" sz="1000" spc="10" dirty="0">
                    <a:latin typeface="Tahoma"/>
                    <a:cs typeface="Tahoma"/>
                  </a:rPr>
                  <a:t> and optimal price.</a:t>
                </a: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95300" y="434975"/>
                <a:ext cx="4514800" cy="2791790"/>
              </a:xfrm>
              <a:prstGeom prst="rect">
                <a:avLst/>
              </a:prstGeom>
              <a:blipFill>
                <a:blip r:embed="rId3"/>
                <a:stretch>
                  <a:fillRect l="-811" t="-1747" b="-1747"/>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37</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777377260"/>
      </p:ext>
    </p:extLst>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Bidding Languages: OR Bid Limitations</a:t>
            </a:r>
            <a:endParaRPr sz="1500" baseline="27777" dirty="0">
              <a:latin typeface="Tahoma"/>
              <a:cs typeface="Tahoma"/>
            </a:endParaRPr>
          </a:p>
        </p:txBody>
      </p:sp>
      <p:sp>
        <p:nvSpPr>
          <p:cNvPr id="3" name="object 3"/>
          <p:cNvSpPr txBox="1"/>
          <p:nvPr/>
        </p:nvSpPr>
        <p:spPr>
          <a:xfrm>
            <a:off x="400050" y="1071306"/>
            <a:ext cx="3862756" cy="149726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Reduced Expressiveness</a:t>
            </a:r>
            <a:r>
              <a:rPr lang="en-US" sz="1100" spc="10" dirty="0">
                <a:latin typeface="Tahoma"/>
                <a:cs typeface="Tahoma"/>
              </a:rPr>
              <a:t>: OR bids are less expressive than XOR bids; certain valuation functions cannot be represented using OR bids.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Computational Complexity</a:t>
            </a:r>
            <a:r>
              <a:rPr lang="en-US" sz="1100" spc="10" dirty="0">
                <a:latin typeface="Tahoma"/>
                <a:cs typeface="Tahoma"/>
              </a:rPr>
              <a:t>: Determining the valuation of a bundle given an OR bid is NP-hard, meaning it can be computationally challenging for large problem instances.</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38</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1473736299"/>
      </p:ext>
    </p:extLst>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184666"/>
          </a:xfrm>
          <a:prstGeom prst="rect">
            <a:avLst/>
          </a:prstGeom>
        </p:spPr>
        <p:txBody>
          <a:bodyPr vert="horz" wrap="square" lIns="0" tIns="0" rIns="0" bIns="0" rtlCol="0">
            <a:spAutoFit/>
          </a:bodyPr>
          <a:lstStyle/>
          <a:p>
            <a:pPr marL="12700">
              <a:lnSpc>
                <a:spcPct val="100000"/>
              </a:lnSpc>
            </a:pPr>
            <a:r>
              <a:rPr lang="en-US" sz="1200" spc="-10" dirty="0"/>
              <a:t>Winner Determination: Computational Challenges and Approaches</a:t>
            </a:r>
            <a:endParaRPr baseline="27777" dirty="0">
              <a:latin typeface="Tahoma"/>
              <a:cs typeface="Tahoma"/>
            </a:endParaRPr>
          </a:p>
        </p:txBody>
      </p:sp>
      <p:sp>
        <p:nvSpPr>
          <p:cNvPr id="3" name="object 3"/>
          <p:cNvSpPr txBox="1"/>
          <p:nvPr/>
        </p:nvSpPr>
        <p:spPr>
          <a:xfrm>
            <a:off x="297471" y="511175"/>
            <a:ext cx="4015156" cy="2689904"/>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NP-Hardness</a:t>
            </a:r>
            <a:r>
              <a:rPr lang="en-US" sz="1100" spc="10" dirty="0">
                <a:latin typeface="Tahoma"/>
                <a:cs typeface="Tahoma"/>
              </a:rPr>
              <a:t>: Finding the winner in combinatorial auctions is NP-hard, indicating the problem's inherent computational complexity.</a:t>
            </a: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Practical Solutions</a:t>
            </a:r>
            <a:r>
              <a:rPr lang="en-US" sz="1100" spc="10" dirty="0">
                <a:latin typeface="Tahoma"/>
                <a:cs typeface="Tahoma"/>
              </a:rPr>
              <a:t>:</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Integer Linear Programming</a:t>
            </a:r>
            <a:r>
              <a:rPr lang="en-US" sz="1100" spc="10" dirty="0">
                <a:latin typeface="Tahoma"/>
                <a:cs typeface="Tahoma"/>
              </a:rPr>
              <a:t>: Encoding the problem as an integer linear program and using solvers, which often provide solutions in reasonable time despite the theoretical NP-hardness.</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Efficient Algorithms</a:t>
            </a:r>
            <a:r>
              <a:rPr lang="en-US" sz="1100" spc="10" dirty="0">
                <a:latin typeface="Tahoma"/>
                <a:cs typeface="Tahoma"/>
              </a:rPr>
              <a:t>: Several algorithms exist that perform well in many cases.</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Approximate Algorithms</a:t>
            </a:r>
            <a:r>
              <a:rPr lang="en-US" sz="1100" spc="10" dirty="0">
                <a:latin typeface="Tahoma"/>
                <a:cs typeface="Tahoma"/>
              </a:rPr>
              <a:t>: Exploring solutions with bounded approximation guarantees.</a:t>
            </a:r>
          </a:p>
          <a:p>
            <a:pPr marL="741363" lvl="1"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Heuristic Solutions</a:t>
            </a:r>
            <a:r>
              <a:rPr lang="en-US" sz="1100" spc="10" dirty="0">
                <a:latin typeface="Tahoma"/>
                <a:cs typeface="Tahoma"/>
              </a:rPr>
              <a:t>: Employing greedy algorithms that iteratively select the best bid to satisfy.</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39</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4220557679"/>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VCG Mechanism: Achieving Truthful Valuations</a:t>
            </a:r>
            <a:endParaRPr sz="1500" baseline="27777" dirty="0">
              <a:latin typeface="Tahoma"/>
              <a:cs typeface="Tahoma"/>
            </a:endParaRPr>
          </a:p>
        </p:txBody>
      </p:sp>
      <p:sp>
        <p:nvSpPr>
          <p:cNvPr id="3" name="object 3"/>
          <p:cNvSpPr txBox="1"/>
          <p:nvPr/>
        </p:nvSpPr>
        <p:spPr>
          <a:xfrm>
            <a:off x="400050" y="663575"/>
            <a:ext cx="3862756" cy="2112822"/>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Motivation</a:t>
            </a:r>
            <a:r>
              <a:rPr lang="en-US" sz="1100" spc="10" dirty="0">
                <a:latin typeface="Tahoma"/>
                <a:cs typeface="Tahoma"/>
              </a:rPr>
              <a:t>: Existing auction types are susceptible to strategic manipulation, making it difficult to ensure agents reveal their true valuations (i.e., underbid or overbid).</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VCG Mechanism</a:t>
            </a:r>
            <a:r>
              <a:rPr lang="en-US" sz="1100" spc="10" dirty="0">
                <a:latin typeface="Tahoma"/>
                <a:cs typeface="Tahoma"/>
              </a:rPr>
              <a:t>: A </a:t>
            </a:r>
            <a:r>
              <a:rPr lang="en-US" sz="1100" spc="10" dirty="0">
                <a:solidFill>
                  <a:srgbClr val="0000FF"/>
                </a:solidFill>
                <a:latin typeface="Tahoma"/>
                <a:cs typeface="Tahoma"/>
              </a:rPr>
              <a:t>generalization</a:t>
            </a:r>
            <a:r>
              <a:rPr lang="en-US" sz="1100" spc="10" dirty="0">
                <a:latin typeface="Tahoma"/>
                <a:cs typeface="Tahoma"/>
              </a:rPr>
              <a:t> of the Vickrey auction that incentivizes truthful bidding in </a:t>
            </a:r>
            <a:r>
              <a:rPr lang="en-US" sz="1100" spc="10" dirty="0">
                <a:solidFill>
                  <a:srgbClr val="0000FF"/>
                </a:solidFill>
                <a:latin typeface="Tahoma"/>
                <a:cs typeface="Tahoma"/>
              </a:rPr>
              <a:t>combinatorial</a:t>
            </a:r>
            <a:r>
              <a:rPr lang="en-US" sz="1100" spc="10" dirty="0">
                <a:latin typeface="Tahoma"/>
                <a:cs typeface="Tahoma"/>
              </a:rPr>
              <a:t> </a:t>
            </a:r>
            <a:r>
              <a:rPr lang="en-US" sz="1100" spc="10" dirty="0">
                <a:solidFill>
                  <a:srgbClr val="0000FF"/>
                </a:solidFill>
                <a:latin typeface="Tahoma"/>
                <a:cs typeface="Tahoma"/>
              </a:rPr>
              <a:t>settings</a:t>
            </a:r>
            <a:r>
              <a:rPr lang="en-US" sz="1100" spc="10" dirty="0">
                <a:latin typeface="Tahoma"/>
                <a:cs typeface="Tahoma"/>
              </a:rPr>
              <a:t>.</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Incentive Compatibility</a:t>
            </a:r>
            <a:r>
              <a:rPr lang="en-US" sz="1100" spc="10" dirty="0">
                <a:latin typeface="Tahoma"/>
                <a:cs typeface="Tahoma"/>
              </a:rPr>
              <a:t>: Telling the truth becomes a dominant strategy for all agents.</a:t>
            </a:r>
            <a:endParaRPr sz="1100" spc="10" dirty="0">
              <a:latin typeface="Tahoma"/>
              <a:cs typeface="Tahoma"/>
            </a:endParaRP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40</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
        <p:nvSpPr>
          <p:cNvPr id="5" name="TextBox 4">
            <a:extLst>
              <a:ext uri="{FF2B5EF4-FFF2-40B4-BE49-F238E27FC236}">
                <a16:creationId xmlns:a16="http://schemas.microsoft.com/office/drawing/2014/main" id="{23E02F2C-1E6F-1A80-E1B1-7B09A95A5BC7}"/>
              </a:ext>
            </a:extLst>
          </p:cNvPr>
          <p:cNvSpPr txBox="1"/>
          <p:nvPr/>
        </p:nvSpPr>
        <p:spPr>
          <a:xfrm>
            <a:off x="323850" y="3081725"/>
            <a:ext cx="2341880" cy="276999"/>
          </a:xfrm>
          <a:prstGeom prst="rect">
            <a:avLst/>
          </a:prstGeom>
          <a:noFill/>
        </p:spPr>
        <p:txBody>
          <a:bodyPr wrap="square">
            <a:spAutoFit/>
          </a:bodyPr>
          <a:lstStyle/>
          <a:p>
            <a:r>
              <a:rPr lang="en-US" sz="1200" dirty="0"/>
              <a:t>VCG (Vickrey-Clarke-Groves) </a:t>
            </a:r>
            <a:endParaRPr lang="en-MY" sz="1200" dirty="0"/>
          </a:p>
        </p:txBody>
      </p:sp>
      <p:cxnSp>
        <p:nvCxnSpPr>
          <p:cNvPr id="10" name="Straight Connector 9">
            <a:extLst>
              <a:ext uri="{FF2B5EF4-FFF2-40B4-BE49-F238E27FC236}">
                <a16:creationId xmlns:a16="http://schemas.microsoft.com/office/drawing/2014/main" id="{042817BF-9B98-1C6F-E4B4-92A9DD12D179}"/>
              </a:ext>
            </a:extLst>
          </p:cNvPr>
          <p:cNvCxnSpPr/>
          <p:nvPr/>
        </p:nvCxnSpPr>
        <p:spPr>
          <a:xfrm>
            <a:off x="400050" y="3101975"/>
            <a:ext cx="2209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2774814"/>
      </p:ext>
    </p:extLst>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VCG Mechanism: Notation</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76250" y="931292"/>
                <a:ext cx="3862756" cy="1788246"/>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Indifferent Valuation Function</a:t>
                </a:r>
                <a:r>
                  <a:rPr lang="en-MY" sz="1100" spc="10" dirty="0">
                    <a:latin typeface="Tahoma"/>
                    <a:cs typeface="Tahoma"/>
                  </a:rPr>
                  <a:t>: </a:t>
                </a:r>
                <a14:m>
                  <m:oMath xmlns:m="http://schemas.openxmlformats.org/officeDocument/2006/math">
                    <m:sSup>
                      <m:sSupPr>
                        <m:ctrlPr>
                          <a:rPr lang="en-US" sz="1100" b="0" i="1" spc="10" dirty="0" smtClean="0">
                            <a:latin typeface="Cambria Math" panose="02040503050406030204" pitchFamily="18" charset="0"/>
                            <a:cs typeface="Tahoma"/>
                          </a:rPr>
                        </m:ctrlPr>
                      </m:sSupPr>
                      <m:e>
                        <m:r>
                          <a:rPr lang="en-US" sz="1100" b="0" i="1" spc="10" dirty="0" smtClean="0">
                            <a:latin typeface="Cambria Math" panose="02040503050406030204" pitchFamily="18" charset="0"/>
                            <a:cs typeface="Tahoma"/>
                          </a:rPr>
                          <m:t>𝑣</m:t>
                        </m:r>
                      </m:e>
                      <m:sup>
                        <m:r>
                          <a:rPr lang="en-US" sz="1100" b="0" i="1" spc="10" dirty="0" smtClean="0">
                            <a:latin typeface="Cambria Math" panose="02040503050406030204" pitchFamily="18" charset="0"/>
                            <a:cs typeface="Tahoma"/>
                          </a:rPr>
                          <m:t>0</m:t>
                        </m:r>
                      </m:sup>
                    </m:sSup>
                    <m:r>
                      <a:rPr lang="en-MY" sz="1100" i="1" spc="10"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𝑍</m:t>
                    </m:r>
                    <m:r>
                      <a:rPr lang="en-MY" sz="1100" i="1" spc="10" dirty="0" smtClean="0">
                        <a:latin typeface="Cambria Math" panose="02040503050406030204" pitchFamily="18" charset="0"/>
                        <a:cs typeface="Tahoma"/>
                      </a:rPr>
                      <m:t>) = </m:t>
                    </m:r>
                    <m:r>
                      <a:rPr lang="en-MY" sz="1100" i="1" spc="10" dirty="0" smtClean="0">
                        <a:latin typeface="Cambria Math" panose="02040503050406030204" pitchFamily="18" charset="0"/>
                        <a:cs typeface="Tahoma"/>
                      </a:rPr>
                      <m:t>0</m:t>
                    </m:r>
                    <m:r>
                      <a:rPr lang="en-MY" sz="1100" i="1" spc="10" dirty="0" smtClean="0">
                        <a:latin typeface="Cambria Math" panose="02040503050406030204" pitchFamily="18" charset="0"/>
                        <a:cs typeface="Tahoma"/>
                      </a:rPr>
                      <m:t> </m:t>
                    </m:r>
                  </m:oMath>
                </a14:m>
                <a:r>
                  <a:rPr lang="en-MY" sz="1100" spc="10" dirty="0">
                    <a:latin typeface="Tahoma"/>
                    <a:cs typeface="Tahoma"/>
                  </a:rPr>
                  <a:t>for all bundles </a:t>
                </a:r>
                <a14:m>
                  <m:oMath xmlns:m="http://schemas.openxmlformats.org/officeDocument/2006/math">
                    <m:r>
                      <a:rPr lang="en-MY" sz="1100" i="1" spc="10" dirty="0" smtClean="0">
                        <a:latin typeface="Cambria Math" panose="02040503050406030204" pitchFamily="18" charset="0"/>
                        <a:cs typeface="Tahoma"/>
                      </a:rPr>
                      <m:t>𝑍</m:t>
                    </m:r>
                  </m:oMath>
                </a14:m>
                <a:r>
                  <a:rPr lang="en-MY" sz="1100" spc="10" dirty="0">
                    <a:latin typeface="Tahoma"/>
                    <a:cs typeface="Tahoma"/>
                  </a:rPr>
                  <a:t>, representing an agent who has no interest in any goods.</a:t>
                </a:r>
              </a:p>
              <a:p>
                <a:pPr marL="284163" indent="-230188">
                  <a:lnSpc>
                    <a:spcPts val="1400"/>
                  </a:lnSpc>
                  <a:spcBef>
                    <a:spcPts val="330"/>
                  </a:spcBef>
                  <a:buClr>
                    <a:srgbClr val="0000FF"/>
                  </a:buClr>
                  <a:buFont typeface="Wingdings 3" panose="05040102010807070707" pitchFamily="18" charset="2"/>
                  <a:buChar char=""/>
                </a:pPr>
                <a:endParaRPr lang="en-MY"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MY" sz="1100" b="1" spc="10" dirty="0">
                    <a:latin typeface="Tahoma"/>
                    <a:cs typeface="Tahoma"/>
                  </a:rPr>
                  <a:t>Social Welfare Without Agent </a:t>
                </a:r>
                <a14:m>
                  <m:oMath xmlns:m="http://schemas.openxmlformats.org/officeDocument/2006/math">
                    <m:r>
                      <a:rPr lang="en-MY" sz="1100" b="1" i="1" spc="10" dirty="0" smtClean="0">
                        <a:latin typeface="Cambria Math" panose="02040503050406030204" pitchFamily="18" charset="0"/>
                        <a:cs typeface="Tahoma"/>
                      </a:rPr>
                      <m:t>𝒊</m:t>
                    </m:r>
                  </m:oMath>
                </a14:m>
                <a:r>
                  <a:rPr lang="en-MY" sz="1100" spc="10" dirty="0">
                    <a:latin typeface="Tahoma"/>
                    <a:cs typeface="Tahoma"/>
                  </a:rPr>
                  <a:t>: let </a:t>
                </a:r>
                <a14:m>
                  <m:oMath xmlns:m="http://schemas.openxmlformats.org/officeDocument/2006/math">
                    <m:r>
                      <a:rPr lang="en-MY" sz="1100" i="1" spc="10" dirty="0">
                        <a:latin typeface="Cambria Math" panose="02040503050406030204" pitchFamily="18" charset="0"/>
                        <a:cs typeface="Tahoma"/>
                      </a:rPr>
                      <m:t>𝑠</m:t>
                    </m:r>
                    <m:sSub>
                      <m:sSubPr>
                        <m:ctrlPr>
                          <a:rPr lang="en-MY" sz="1100" i="1" spc="10" dirty="0">
                            <a:latin typeface="Cambria Math" panose="02040503050406030204" pitchFamily="18" charset="0"/>
                            <a:cs typeface="Tahoma"/>
                          </a:rPr>
                        </m:ctrlPr>
                      </m:sSubPr>
                      <m:e>
                        <m:r>
                          <a:rPr lang="en-MY" sz="1100" i="1" spc="10" dirty="0">
                            <a:latin typeface="Cambria Math" panose="02040503050406030204" pitchFamily="18" charset="0"/>
                            <a:cs typeface="Tahoma"/>
                          </a:rPr>
                          <m:t>𝑤</m:t>
                        </m:r>
                      </m:e>
                      <m:sub>
                        <m:r>
                          <a:rPr lang="en-MY" sz="1100" i="1" spc="10" dirty="0">
                            <a:latin typeface="Cambria Math" panose="02040503050406030204" pitchFamily="18" charset="0"/>
                            <a:cs typeface="Tahoma"/>
                          </a:rPr>
                          <m:t>−</m:t>
                        </m:r>
                        <m:r>
                          <a:rPr lang="en-MY" sz="1100" i="1" spc="10" dirty="0" err="1">
                            <a:latin typeface="Cambria Math" panose="02040503050406030204" pitchFamily="18" charset="0"/>
                            <a:cs typeface="Tahoma"/>
                          </a:rPr>
                          <m:t>𝑖</m:t>
                        </m:r>
                      </m:sub>
                    </m:sSub>
                  </m:oMath>
                </a14:m>
                <a:r>
                  <a:rPr lang="en-MY" sz="1100" spc="10" dirty="0">
                    <a:latin typeface="Tahoma"/>
                    <a:cs typeface="Tahoma"/>
                  </a:rPr>
                  <a:t> be the social welfare function without </a:t>
                </a:r>
                <a14:m>
                  <m:oMath xmlns:m="http://schemas.openxmlformats.org/officeDocument/2006/math">
                    <m:r>
                      <a:rPr lang="en-US" sz="1100" b="0" i="1" spc="10" smtClean="0">
                        <a:latin typeface="Cambria Math" panose="02040503050406030204" pitchFamily="18" charset="0"/>
                        <a:cs typeface="Tahoma"/>
                      </a:rPr>
                      <m:t>𝑖</m:t>
                    </m:r>
                  </m:oMath>
                </a14:m>
                <a:r>
                  <a:rPr lang="en-MY" sz="1100" spc="10" dirty="0">
                    <a:latin typeface="Tahoma"/>
                    <a:cs typeface="Tahoma"/>
                  </a:rPr>
                  <a:t>’s benefit:</a:t>
                </a:r>
              </a:p>
              <a:p>
                <a:pPr marL="53975">
                  <a:spcBef>
                    <a:spcPts val="330"/>
                  </a:spcBef>
                  <a:buClr>
                    <a:srgbClr val="0000FF"/>
                  </a:buClr>
                </a:pPr>
                <a14:m>
                  <m:oMathPara xmlns:m="http://schemas.openxmlformats.org/officeDocument/2006/math">
                    <m:oMathParaPr>
                      <m:jc m:val="centerGroup"/>
                    </m:oMathParaPr>
                    <m:oMath xmlns:m="http://schemas.openxmlformats.org/officeDocument/2006/math">
                      <m:r>
                        <a:rPr lang="en-MY" sz="1100" i="1" spc="10" dirty="0" smtClean="0">
                          <a:latin typeface="Cambria Math" panose="02040503050406030204" pitchFamily="18" charset="0"/>
                          <a:cs typeface="Tahoma"/>
                        </a:rPr>
                        <m:t>𝑠</m:t>
                      </m:r>
                      <m:sSub>
                        <m:sSubPr>
                          <m:ctrlPr>
                            <a:rPr lang="en-MY" sz="110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𝑤</m:t>
                          </m:r>
                        </m:e>
                        <m:sub>
                          <m:r>
                            <a:rPr lang="en-MY" sz="1100" i="1" spc="10" dirty="0" smtClean="0">
                              <a:latin typeface="Cambria Math" panose="02040503050406030204" pitchFamily="18" charset="0"/>
                              <a:cs typeface="Tahoma"/>
                            </a:rPr>
                            <m:t>−</m:t>
                          </m:r>
                          <m:r>
                            <a:rPr lang="en-MY" sz="1100" i="1" spc="10" dirty="0" err="1" smtClean="0">
                              <a:latin typeface="Cambria Math" panose="02040503050406030204" pitchFamily="18" charset="0"/>
                              <a:cs typeface="Tahoma"/>
                            </a:rPr>
                            <m:t>𝑖</m:t>
                          </m:r>
                        </m:sub>
                      </m:sSub>
                      <m:d>
                        <m:dPr>
                          <m:ctrlPr>
                            <a:rPr lang="en-MY" sz="1100" i="1" spc="10" dirty="0" smtClean="0">
                              <a:latin typeface="Cambria Math" panose="02040503050406030204" pitchFamily="18" charset="0"/>
                              <a:cs typeface="Tahoma"/>
                            </a:rPr>
                          </m:ctrlPr>
                        </m:dPr>
                        <m:e>
                          <m:sSub>
                            <m:sSubPr>
                              <m:ctrlPr>
                                <a:rPr lang="en-MY" sz="1100" i="1" spc="10" dirty="0" smtClean="0">
                                  <a:latin typeface="Cambria Math" panose="02040503050406030204" pitchFamily="18" charset="0"/>
                                  <a:cs typeface="Tahoma"/>
                                </a:rPr>
                              </m:ctrlPr>
                            </m:sSubPr>
                            <m:e>
                              <m:r>
                                <a:rPr lang="en-MY" sz="1100" i="1" spc="10" dirty="0" smtClean="0">
                                  <a:latin typeface="Cambria Math" panose="02040503050406030204" pitchFamily="18" charset="0"/>
                                  <a:cs typeface="Tahoma"/>
                                </a:rPr>
                                <m:t>𝑍</m:t>
                              </m:r>
                            </m:e>
                            <m:sub>
                              <m:r>
                                <a:rPr lang="en-MY" sz="1100" i="1" spc="10" dirty="0" smtClean="0">
                                  <a:latin typeface="Cambria Math" panose="02040503050406030204" pitchFamily="18" charset="0"/>
                                  <a:cs typeface="Tahoma"/>
                                </a:rPr>
                                <m:t>1</m:t>
                              </m:r>
                            </m:sub>
                          </m:sSub>
                          <m:r>
                            <a:rPr lang="en-MY" sz="1100" i="1" spc="10" dirty="0" smtClean="0">
                              <a:latin typeface="Cambria Math" panose="02040503050406030204" pitchFamily="18" charset="0"/>
                              <a:cs typeface="Tahoma"/>
                            </a:rPr>
                            <m:t>, …, </m:t>
                          </m:r>
                          <m:sSub>
                            <m:sSubPr>
                              <m:ctrlPr>
                                <a:rPr lang="en-MY" sz="1100" i="1" spc="10" dirty="0" err="1" smtClean="0">
                                  <a:latin typeface="Cambria Math" panose="02040503050406030204" pitchFamily="18" charset="0"/>
                                  <a:cs typeface="Tahoma"/>
                                </a:rPr>
                              </m:ctrlPr>
                            </m:sSubPr>
                            <m:e>
                              <m:r>
                                <a:rPr lang="en-MY" sz="1100" i="1" spc="10" dirty="0" err="1" smtClean="0">
                                  <a:latin typeface="Cambria Math" panose="02040503050406030204" pitchFamily="18" charset="0"/>
                                  <a:cs typeface="Tahoma"/>
                                </a:rPr>
                                <m:t>𝑍</m:t>
                              </m:r>
                            </m:e>
                            <m:sub>
                              <m:r>
                                <a:rPr lang="en-MY" sz="1100" i="1" spc="10" dirty="0" err="1" smtClean="0">
                                  <a:latin typeface="Cambria Math" panose="02040503050406030204" pitchFamily="18" charset="0"/>
                                  <a:cs typeface="Tahoma"/>
                                </a:rPr>
                                <m:t>𝑛</m:t>
                              </m:r>
                            </m:sub>
                          </m:sSub>
                          <m:r>
                            <a:rPr lang="en-US" sz="1100" b="0" i="1" spc="10" dirty="0" smtClean="0">
                              <a:latin typeface="Cambria Math" panose="02040503050406030204" pitchFamily="18" charset="0"/>
                              <a:cs typeface="Tahoma"/>
                            </a:rPr>
                            <m:t>,</m:t>
                          </m:r>
                          <m:sSub>
                            <m:sSubPr>
                              <m:ctrlPr>
                                <a:rPr lang="en-MY" sz="1100" i="1" spc="10" dirty="0" err="1" smtClean="0">
                                  <a:latin typeface="Cambria Math" panose="02040503050406030204" pitchFamily="18" charset="0"/>
                                  <a:cs typeface="Tahoma"/>
                                </a:rPr>
                              </m:ctrlPr>
                            </m:sSubPr>
                            <m:e>
                              <m:r>
                                <a:rPr lang="en-MY" sz="1100" i="1" spc="10" dirty="0">
                                  <a:latin typeface="Cambria Math" panose="02040503050406030204" pitchFamily="18" charset="0"/>
                                  <a:cs typeface="Tahoma"/>
                                </a:rPr>
                                <m:t>𝜐</m:t>
                              </m:r>
                            </m:e>
                            <m:sub>
                              <m:r>
                                <a:rPr lang="en-MY" sz="1100" i="1" spc="10" dirty="0">
                                  <a:latin typeface="Cambria Math" panose="02040503050406030204" pitchFamily="18" charset="0"/>
                                  <a:cs typeface="Tahoma"/>
                                </a:rPr>
                                <m:t>1</m:t>
                              </m:r>
                            </m:sub>
                          </m:sSub>
                          <m:r>
                            <a:rPr lang="en-US" sz="1100" b="0" i="1" spc="10" dirty="0" smtClean="0">
                              <a:latin typeface="Cambria Math" panose="02040503050406030204" pitchFamily="18" charset="0"/>
                              <a:cs typeface="Tahoma"/>
                            </a:rPr>
                            <m:t>,…,</m:t>
                          </m:r>
                          <m:sSub>
                            <m:sSubPr>
                              <m:ctrlPr>
                                <a:rPr lang="en-MY" sz="1100" b="0" i="1" spc="10" dirty="0" smtClean="0">
                                  <a:latin typeface="Cambria Math" panose="02040503050406030204" pitchFamily="18" charset="0"/>
                                  <a:cs typeface="Tahoma"/>
                                </a:rPr>
                              </m:ctrlPr>
                            </m:sSubPr>
                            <m:e>
                              <m:r>
                                <a:rPr lang="en-MY" sz="1100" i="1" spc="10" dirty="0">
                                  <a:latin typeface="Cambria Math" panose="02040503050406030204" pitchFamily="18" charset="0"/>
                                  <a:cs typeface="Tahoma"/>
                                </a:rPr>
                                <m:t>𝜐</m:t>
                              </m:r>
                            </m:e>
                            <m:sub>
                              <m:r>
                                <a:rPr lang="en-US" sz="1100" b="0" i="1" spc="10" dirty="0" smtClean="0">
                                  <a:latin typeface="Cambria Math" panose="02040503050406030204" pitchFamily="18" charset="0"/>
                                  <a:cs typeface="Tahoma"/>
                                </a:rPr>
                                <m:t>𝑛</m:t>
                              </m:r>
                            </m:sub>
                          </m:sSub>
                        </m:e>
                      </m:d>
                      <m:r>
                        <a:rPr lang="en-US" sz="1100" b="0" i="1" spc="10" dirty="0" smtClean="0">
                          <a:latin typeface="Cambria Math" panose="02040503050406030204" pitchFamily="18" charset="0"/>
                          <a:cs typeface="Tahoma"/>
                        </a:rPr>
                        <m:t>=</m:t>
                      </m:r>
                      <m:nary>
                        <m:naryPr>
                          <m:chr m:val="∑"/>
                          <m:supHide m:val="on"/>
                          <m:ctrlPr>
                            <a:rPr lang="en-US" sz="1100" b="0" i="1" spc="10" dirty="0" smtClean="0">
                              <a:latin typeface="Cambria Math" panose="02040503050406030204" pitchFamily="18" charset="0"/>
                              <a:cs typeface="Tahoma"/>
                            </a:rPr>
                          </m:ctrlPr>
                        </m:naryPr>
                        <m:sub>
                          <m:r>
                            <m:rPr>
                              <m:brk m:alnAt="7"/>
                            </m:rPr>
                            <a:rPr lang="en-US" sz="1100" b="0" i="1" spc="10" dirty="0" smtClean="0">
                              <a:latin typeface="Cambria Math" panose="02040503050406030204" pitchFamily="18" charset="0"/>
                              <a:cs typeface="Tahoma"/>
                            </a:rPr>
                            <m:t>𝑗</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𝐴𝑔</m:t>
                          </m:r>
                          <m:r>
                            <a:rPr lang="en-US" sz="1100" b="0" i="1" spc="10" dirty="0" smtClean="0">
                              <a:latin typeface="Cambria Math" panose="02040503050406030204" pitchFamily="18" charset="0"/>
                              <a:cs typeface="Tahoma"/>
                            </a:rPr>
                            <m:t>, </m:t>
                          </m:r>
                          <m:r>
                            <a:rPr lang="en-US" sz="1100" b="0" i="1" spc="10" dirty="0" smtClean="0">
                              <a:latin typeface="Cambria Math" panose="02040503050406030204" pitchFamily="18" charset="0"/>
                              <a:cs typeface="Tahoma"/>
                            </a:rPr>
                            <m:t>𝑗</m:t>
                          </m:r>
                          <m:r>
                            <a:rPr lang="en-US" sz="1100" b="0" i="1" spc="10" dirty="0" smtClean="0">
                              <a:latin typeface="Cambria Math" panose="02040503050406030204" pitchFamily="18" charset="0"/>
                              <a:cs typeface="Tahoma"/>
                            </a:rPr>
                            <m:t>≠</m:t>
                          </m:r>
                          <m:r>
                            <a:rPr lang="en-US" sz="1100" b="0" i="1" spc="10" dirty="0" smtClean="0">
                              <a:latin typeface="Cambria Math" panose="02040503050406030204" pitchFamily="18" charset="0"/>
                              <a:cs typeface="Tahoma"/>
                            </a:rPr>
                            <m:t>𝑖</m:t>
                          </m:r>
                        </m:sub>
                        <m:sup/>
                        <m:e>
                          <m:sSub>
                            <m:sSubPr>
                              <m:ctrlPr>
                                <a:rPr lang="en-US" sz="1100" b="0" i="1" spc="10" dirty="0" smtClean="0">
                                  <a:latin typeface="Cambria Math" panose="02040503050406030204" pitchFamily="18" charset="0"/>
                                  <a:cs typeface="Tahoma"/>
                                </a:rPr>
                              </m:ctrlPr>
                            </m:sSubPr>
                            <m:e>
                              <m:r>
                                <a:rPr lang="en-MY" sz="1100" i="1" spc="10" dirty="0">
                                  <a:latin typeface="Cambria Math" panose="02040503050406030204" pitchFamily="18" charset="0"/>
                                  <a:cs typeface="Tahoma"/>
                                </a:rPr>
                                <m:t>𝜐</m:t>
                              </m:r>
                            </m:e>
                            <m:sub>
                              <m:r>
                                <a:rPr lang="en-US" sz="1100" b="0" i="1" spc="10" dirty="0" smtClean="0">
                                  <a:latin typeface="Cambria Math" panose="02040503050406030204" pitchFamily="18" charset="0"/>
                                  <a:cs typeface="Tahoma"/>
                                </a:rPr>
                                <m:t>𝑗</m:t>
                              </m:r>
                            </m:sub>
                          </m:sSub>
                          <m:d>
                            <m:dPr>
                              <m:ctrlPr>
                                <a:rPr lang="en-US" sz="1100" b="0" i="1" spc="10" dirty="0" smtClean="0">
                                  <a:latin typeface="Cambria Math" panose="02040503050406030204" pitchFamily="18" charset="0"/>
                                  <a:cs typeface="Tahoma"/>
                                </a:rPr>
                              </m:ctrlPr>
                            </m:dPr>
                            <m:e>
                              <m:sSub>
                                <m:sSubPr>
                                  <m:ctrlPr>
                                    <a:rPr lang="en-US" sz="1100" b="0" i="1" spc="10" dirty="0" smtClean="0">
                                      <a:latin typeface="Cambria Math" panose="02040503050406030204" pitchFamily="18" charset="0"/>
                                      <a:cs typeface="Tahoma"/>
                                    </a:rPr>
                                  </m:ctrlPr>
                                </m:sSubPr>
                                <m:e>
                                  <m:r>
                                    <a:rPr lang="en-US" sz="1100" b="0" i="1" spc="10" dirty="0" smtClean="0">
                                      <a:latin typeface="Cambria Math" panose="02040503050406030204" pitchFamily="18" charset="0"/>
                                      <a:cs typeface="Tahoma"/>
                                    </a:rPr>
                                    <m:t>𝑍</m:t>
                                  </m:r>
                                </m:e>
                                <m:sub>
                                  <m:r>
                                    <a:rPr lang="en-US" sz="1100" b="0" i="1" spc="10" dirty="0" smtClean="0">
                                      <a:latin typeface="Cambria Math" panose="02040503050406030204" pitchFamily="18" charset="0"/>
                                      <a:cs typeface="Tahoma"/>
                                    </a:rPr>
                                    <m:t>𝑗</m:t>
                                  </m:r>
                                </m:sub>
                              </m:sSub>
                            </m:e>
                          </m:d>
                        </m:e>
                      </m:nary>
                      <m:r>
                        <a:rPr lang="en-MY" sz="1100" i="1" spc="10" dirty="0">
                          <a:latin typeface="Cambria Math" panose="02040503050406030204" pitchFamily="18" charset="0"/>
                          <a:cs typeface="Tahoma"/>
                        </a:rPr>
                        <m:t> </m:t>
                      </m:r>
                    </m:oMath>
                  </m:oMathPara>
                </a14:m>
                <a:endParaRPr lang="en-MY" sz="1100" spc="10" dirty="0">
                  <a:latin typeface="Tahoma"/>
                  <a:cs typeface="Tahoma"/>
                </a:endParaRPr>
              </a:p>
              <a:p>
                <a:pPr marL="284163">
                  <a:lnSpc>
                    <a:spcPts val="1400"/>
                  </a:lnSpc>
                  <a:spcBef>
                    <a:spcPts val="330"/>
                  </a:spcBef>
                  <a:buClr>
                    <a:srgbClr val="0000FF"/>
                  </a:buClr>
                </a:pPr>
                <a:r>
                  <a:rPr lang="en-MY" sz="1100" spc="10" dirty="0">
                    <a:latin typeface="Tahoma"/>
                    <a:cs typeface="Tahoma"/>
                  </a:rPr>
                  <a:t>measures the social welfare excluding agent </a:t>
                </a:r>
                <a14:m>
                  <m:oMath xmlns:m="http://schemas.openxmlformats.org/officeDocument/2006/math">
                    <m:r>
                      <a:rPr lang="en-MY" sz="1100" i="1" spc="10" dirty="0" smtClean="0">
                        <a:latin typeface="Cambria Math" panose="02040503050406030204" pitchFamily="18" charset="0"/>
                        <a:cs typeface="Tahoma"/>
                      </a:rPr>
                      <m:t>𝑖</m:t>
                    </m:r>
                  </m:oMath>
                </a14:m>
                <a:r>
                  <a:rPr lang="en-MY" sz="1100" spc="10" dirty="0">
                    <a:latin typeface="Tahoma"/>
                    <a:cs typeface="Tahoma"/>
                  </a:rPr>
                  <a:t> benefit.</a:t>
                </a:r>
              </a:p>
            </p:txBody>
          </p:sp>
        </mc:Choice>
        <mc:Fallback>
          <p:sp>
            <p:nvSpPr>
              <p:cNvPr id="3" name="object 3"/>
              <p:cNvSpPr txBox="1">
                <a:spLocks noRot="1" noChangeAspect="1" noMove="1" noResize="1" noEditPoints="1" noAdjustHandles="1" noChangeArrowheads="1" noChangeShapeType="1" noTextEdit="1"/>
              </p:cNvSpPr>
              <p:nvPr/>
            </p:nvSpPr>
            <p:spPr>
              <a:xfrm>
                <a:off x="476250" y="931292"/>
                <a:ext cx="3862756" cy="1788246"/>
              </a:xfrm>
              <a:prstGeom prst="rect">
                <a:avLst/>
              </a:prstGeom>
              <a:blipFill>
                <a:blip r:embed="rId3"/>
                <a:stretch>
                  <a:fillRect l="-631" t="-3072" r="-2524" b="-34471"/>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41</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445169706"/>
      </p:ext>
    </p:extLst>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VCG Mechanism: How it Works</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434975"/>
                <a:ext cx="3862756" cy="2823658"/>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Simultaneous Declarations</a:t>
                </a:r>
                <a:r>
                  <a:rPr lang="en-US" sz="1100" spc="10" dirty="0">
                    <a:latin typeface="Tahoma"/>
                    <a:cs typeface="Tahoma"/>
                  </a:rPr>
                  <a:t>: Agents simultaneously declare their valuations </a:t>
                </a:r>
                <a14:m>
                  <m:oMath xmlns:m="http://schemas.openxmlformats.org/officeDocument/2006/math">
                    <m:sSub>
                      <m:sSubPr>
                        <m:ctrlPr>
                          <a:rPr lang="en-US" sz="1100" b="0" i="1" spc="10" smtClean="0">
                            <a:latin typeface="Cambria Math" panose="02040503050406030204" pitchFamily="18" charset="0"/>
                            <a:cs typeface="Tahoma"/>
                          </a:rPr>
                        </m:ctrlPr>
                      </m:sSubPr>
                      <m:e>
                        <m:acc>
                          <m:accPr>
                            <m:chr m:val="̂"/>
                            <m:ctrlPr>
                              <a:rPr lang="en-US" sz="1100" i="1" spc="10" smtClean="0">
                                <a:latin typeface="Cambria Math" panose="02040503050406030204" pitchFamily="18" charset="0"/>
                                <a:cs typeface="Tahoma"/>
                              </a:rPr>
                            </m:ctrlPr>
                          </m:accPr>
                          <m:e>
                            <m:r>
                              <m:rPr>
                                <m:nor/>
                              </m:rPr>
                              <a:rPr lang="en-US" sz="1100" spc="10" dirty="0">
                                <a:latin typeface="Tahoma"/>
                                <a:cs typeface="Tahoma"/>
                              </a:rPr>
                              <m:t>𝜐</m:t>
                            </m:r>
                          </m:e>
                        </m:acc>
                      </m:e>
                      <m:sub>
                        <m:r>
                          <a:rPr lang="en-US" sz="1100" b="0" i="1" spc="10" smtClean="0">
                            <a:latin typeface="Cambria Math" panose="02040503050406030204" pitchFamily="18" charset="0"/>
                            <a:cs typeface="Tahoma"/>
                          </a:rPr>
                          <m:t>𝑖</m:t>
                        </m:r>
                      </m:sub>
                    </m:sSub>
                  </m:oMath>
                </a14:m>
                <a:r>
                  <a:rPr lang="en-US" sz="1100" spc="10" dirty="0">
                    <a:latin typeface="Tahoma"/>
                    <a:cs typeface="Tahoma"/>
                  </a:rPr>
                  <a:t>, which may not be their true valuations.</a:t>
                </a:r>
              </a:p>
              <a:p>
                <a:pPr marL="284163" indent="-230188">
                  <a:lnSpc>
                    <a:spcPts val="1400"/>
                  </a:lnSpc>
                  <a:spcBef>
                    <a:spcPts val="330"/>
                  </a:spcBef>
                  <a:buClr>
                    <a:srgbClr val="0000FF"/>
                  </a:buClr>
                  <a:buFont typeface="Wingdings 3" panose="05040102010807070707" pitchFamily="18" charset="2"/>
                  <a:buChar char=""/>
                </a:pPr>
                <a:endParaRPr lang="en-US" sz="9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Social Welfare Maximization</a:t>
                </a:r>
                <a:r>
                  <a:rPr lang="en-US" sz="1100" spc="10" dirty="0">
                    <a:latin typeface="Tahoma"/>
                    <a:cs typeface="Tahoma"/>
                  </a:rPr>
                  <a:t>: The mechanism determines the allocation </a:t>
                </a:r>
                <a14:m>
                  <m:oMath xmlns:m="http://schemas.openxmlformats.org/officeDocument/2006/math">
                    <m:sSubSup>
                      <m:sSubSupPr>
                        <m:ctrlPr>
                          <a:rPr lang="en-US" sz="1100" i="1" spc="10" dirty="0" smtClean="0">
                            <a:latin typeface="Cambria Math" panose="02040503050406030204" pitchFamily="18" charset="0"/>
                            <a:cs typeface="Tahoma"/>
                          </a:rPr>
                        </m:ctrlPr>
                      </m:sSubSup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 …, </m:t>
                    </m:r>
                    <m:sSubSup>
                      <m:sSubSupPr>
                        <m:ctrlPr>
                          <a:rPr lang="en-US" sz="1100" i="1" spc="10" dirty="0" err="1" smtClean="0">
                            <a:latin typeface="Cambria Math" panose="02040503050406030204" pitchFamily="18" charset="0"/>
                            <a:cs typeface="Tahoma"/>
                          </a:rPr>
                        </m:ctrlPr>
                      </m:sSubSup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𝑛</m:t>
                        </m:r>
                      </m:sub>
                      <m:sup>
                        <m:r>
                          <a:rPr lang="en-US" sz="1100" i="1" spc="10" dirty="0" smtClean="0">
                            <a:latin typeface="Cambria Math" panose="02040503050406030204" pitchFamily="18" charset="0"/>
                            <a:cs typeface="Tahoma"/>
                          </a:rPr>
                          <m:t>∗</m:t>
                        </m:r>
                      </m:sup>
                    </m:sSubSup>
                  </m:oMath>
                </a14:m>
                <a:r>
                  <a:rPr lang="en-US" sz="1100" spc="10" dirty="0">
                    <a:latin typeface="Tahoma"/>
                    <a:cs typeface="Tahoma"/>
                  </a:rPr>
                  <a:t> that maximizes social welfare based on the declared valuations,</a:t>
                </a:r>
              </a:p>
              <a:p>
                <a:pPr marL="284163" indent="-230188">
                  <a:lnSpc>
                    <a:spcPts val="1400"/>
                  </a:lnSpc>
                  <a:spcBef>
                    <a:spcPts val="330"/>
                  </a:spcBef>
                  <a:buClr>
                    <a:srgbClr val="0000FF"/>
                  </a:buClr>
                  <a:buFont typeface="Wingdings 3" panose="05040102010807070707" pitchFamily="18" charset="2"/>
                  <a:buChar char=""/>
                </a:pPr>
                <a:endParaRPr lang="en-US" sz="800" spc="10" dirty="0">
                  <a:latin typeface="Tahoma"/>
                  <a:cs typeface="Tahoma"/>
                </a:endParaRPr>
              </a:p>
              <a:p>
                <a:pPr marL="53975">
                  <a:spcBef>
                    <a:spcPts val="330"/>
                  </a:spcBef>
                  <a:buClr>
                    <a:srgbClr val="0000FF"/>
                  </a:buClr>
                </a:pPr>
                <a14:m>
                  <m:oMathPara xmlns:m="http://schemas.openxmlformats.org/officeDocument/2006/math">
                    <m:oMathParaPr>
                      <m:jc m:val="centerGroup"/>
                    </m:oMathParaPr>
                    <m:oMath xmlns:m="http://schemas.openxmlformats.org/officeDocument/2006/math">
                      <m:sSubSup>
                        <m:sSubSupPr>
                          <m:ctrlPr>
                            <a:rPr lang="en-MY" sz="1100" i="1" spc="10" dirty="0">
                              <a:latin typeface="Cambria Math" panose="02040503050406030204" pitchFamily="18" charset="0"/>
                              <a:cs typeface="Tahoma"/>
                            </a:rPr>
                          </m:ctrlPr>
                        </m:sSubSupPr>
                        <m:e>
                          <m:r>
                            <a:rPr lang="en-MY" sz="1100" i="1" spc="10" dirty="0">
                              <a:latin typeface="Cambria Math" panose="02040503050406030204" pitchFamily="18" charset="0"/>
                              <a:cs typeface="Tahoma"/>
                            </a:rPr>
                            <m:t>𝑍</m:t>
                          </m:r>
                        </m:e>
                        <m:sub>
                          <m:r>
                            <a:rPr lang="en-MY" sz="1100" i="1" spc="10" dirty="0">
                              <a:latin typeface="Cambria Math" panose="02040503050406030204" pitchFamily="18" charset="0"/>
                              <a:cs typeface="Tahoma"/>
                            </a:rPr>
                            <m:t>1</m:t>
                          </m:r>
                        </m:sub>
                        <m:sup>
                          <m:r>
                            <a:rPr lang="en-MY" sz="1100" i="1" spc="10" dirty="0">
                              <a:latin typeface="Cambria Math" panose="02040503050406030204" pitchFamily="18" charset="0"/>
                              <a:cs typeface="Tahoma"/>
                            </a:rPr>
                            <m:t>∗</m:t>
                          </m:r>
                        </m:sup>
                      </m:sSubSup>
                      <m:r>
                        <a:rPr lang="en-MY" sz="1100" i="1" spc="10" dirty="0">
                          <a:latin typeface="Cambria Math" panose="02040503050406030204" pitchFamily="18" charset="0"/>
                          <a:cs typeface="Tahoma"/>
                        </a:rPr>
                        <m:t>, …, </m:t>
                      </m:r>
                      <m:sSubSup>
                        <m:sSubSupPr>
                          <m:ctrlPr>
                            <a:rPr lang="en-MY" sz="1100" i="1" spc="10" dirty="0" err="1">
                              <a:latin typeface="Cambria Math" panose="02040503050406030204" pitchFamily="18" charset="0"/>
                              <a:cs typeface="Tahoma"/>
                            </a:rPr>
                          </m:ctrlPr>
                        </m:sSubSupPr>
                        <m:e>
                          <m:r>
                            <a:rPr lang="en-MY" sz="1100" i="1" spc="10" dirty="0" err="1">
                              <a:latin typeface="Cambria Math" panose="02040503050406030204" pitchFamily="18" charset="0"/>
                              <a:cs typeface="Tahoma"/>
                            </a:rPr>
                            <m:t>𝑍</m:t>
                          </m:r>
                        </m:e>
                        <m:sub>
                          <m:r>
                            <a:rPr lang="en-MY" sz="1100" i="1" spc="10" dirty="0" err="1">
                              <a:latin typeface="Cambria Math" panose="02040503050406030204" pitchFamily="18" charset="0"/>
                              <a:cs typeface="Tahoma"/>
                            </a:rPr>
                            <m:t>𝑛</m:t>
                          </m:r>
                        </m:sub>
                        <m:sup>
                          <m:r>
                            <a:rPr lang="en-MY" sz="1100" i="1" spc="10" dirty="0">
                              <a:latin typeface="Cambria Math" panose="02040503050406030204" pitchFamily="18" charset="0"/>
                              <a:cs typeface="Tahoma"/>
                            </a:rPr>
                            <m:t>∗</m:t>
                          </m:r>
                        </m:sup>
                      </m:sSubSup>
                      <m:r>
                        <a:rPr lang="en-MY" sz="1100" i="1" spc="10" dirty="0">
                          <a:latin typeface="Cambria Math" panose="02040503050406030204" pitchFamily="18" charset="0"/>
                          <a:cs typeface="Tahoma"/>
                        </a:rPr>
                        <m:t>=</m:t>
                      </m:r>
                      <m:func>
                        <m:funcPr>
                          <m:ctrlPr>
                            <a:rPr lang="en-MY" sz="1100" i="1" spc="10" dirty="0">
                              <a:latin typeface="Cambria Math" panose="02040503050406030204" pitchFamily="18" charset="0"/>
                              <a:cs typeface="Tahoma"/>
                            </a:rPr>
                          </m:ctrlPr>
                        </m:funcPr>
                        <m:fName>
                          <m:limLow>
                            <m:limLowPr>
                              <m:ctrlPr>
                                <a:rPr lang="en-MY" sz="1100" i="1" spc="10" dirty="0">
                                  <a:latin typeface="Cambria Math" panose="02040503050406030204" pitchFamily="18" charset="0"/>
                                  <a:cs typeface="Tahoma"/>
                                </a:rPr>
                              </m:ctrlPr>
                            </m:limLowPr>
                            <m:e>
                              <m:r>
                                <m:rPr>
                                  <m:sty m:val="p"/>
                                </m:rPr>
                                <a:rPr lang="en-US" sz="1100" spc="10" dirty="0">
                                  <a:latin typeface="Cambria Math" panose="02040503050406030204" pitchFamily="18" charset="0"/>
                                  <a:cs typeface="Tahoma"/>
                                </a:rPr>
                                <m:t>arg</m:t>
                              </m:r>
                              <m:r>
                                <m:rPr>
                                  <m:sty m:val="p"/>
                                </m:rPr>
                                <a:rPr lang="en-MY" sz="1100" spc="10" dirty="0">
                                  <a:latin typeface="Cambria Math" panose="02040503050406030204" pitchFamily="18" charset="0"/>
                                  <a:cs typeface="Tahoma"/>
                                </a:rPr>
                                <m:t>max</m:t>
                              </m:r>
                            </m:e>
                            <m:lim>
                              <m:d>
                                <m:dPr>
                                  <m:ctrlPr>
                                    <a:rPr lang="en-US" sz="1100" i="1" spc="10" dirty="0">
                                      <a:latin typeface="Cambria Math" panose="02040503050406030204" pitchFamily="18" charset="0"/>
                                      <a:cs typeface="Tahoma"/>
                                    </a:rPr>
                                  </m:ctrlPr>
                                </m:dPr>
                                <m:e>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𝑍</m:t>
                                      </m:r>
                                    </m:e>
                                    <m:sub>
                                      <m:r>
                                        <a:rPr lang="en-US" sz="1100" i="1" spc="10" dirty="0">
                                          <a:latin typeface="Cambria Math" panose="02040503050406030204" pitchFamily="18" charset="0"/>
                                          <a:cs typeface="Tahoma"/>
                                        </a:rPr>
                                        <m:t>1</m:t>
                                      </m:r>
                                    </m:sub>
                                  </m:sSub>
                                  <m:r>
                                    <a:rPr lang="en-US" sz="1100" i="1" spc="10" dirty="0">
                                      <a:latin typeface="Cambria Math" panose="02040503050406030204" pitchFamily="18" charset="0"/>
                                      <a:cs typeface="Tahoma"/>
                                    </a:rPr>
                                    <m:t>, …, </m:t>
                                  </m:r>
                                  <m:sSub>
                                    <m:sSubPr>
                                      <m:ctrlPr>
                                        <a:rPr lang="en-US" sz="1100" i="1" spc="10" dirty="0">
                                          <a:latin typeface="Cambria Math" panose="02040503050406030204" pitchFamily="18" charset="0"/>
                                          <a:cs typeface="Tahoma"/>
                                        </a:rPr>
                                      </m:ctrlPr>
                                    </m:sSubPr>
                                    <m:e>
                                      <m:r>
                                        <a:rPr lang="en-US" sz="1100" i="1" spc="10" dirty="0">
                                          <a:latin typeface="Cambria Math" panose="02040503050406030204" pitchFamily="18" charset="0"/>
                                          <a:cs typeface="Tahoma"/>
                                        </a:rPr>
                                        <m:t>𝑍</m:t>
                                      </m:r>
                                    </m:e>
                                    <m:sub>
                                      <m:r>
                                        <a:rPr lang="en-US" sz="1100" i="1" spc="10" dirty="0">
                                          <a:latin typeface="Cambria Math" panose="02040503050406030204" pitchFamily="18" charset="0"/>
                                          <a:cs typeface="Tahoma"/>
                                        </a:rPr>
                                        <m:t>𝑛</m:t>
                                      </m:r>
                                    </m:sub>
                                  </m:sSub>
                                </m:e>
                              </m:d>
                              <m:r>
                                <a:rPr lang="en-US" sz="1100" i="1" spc="10" dirty="0">
                                  <a:latin typeface="Cambria Math" panose="02040503050406030204" pitchFamily="18" charset="0"/>
                                  <a:cs typeface="Tahoma"/>
                                </a:rPr>
                                <m:t>∈</m:t>
                              </m:r>
                              <m:r>
                                <a:rPr lang="en-US" sz="1100" i="1" spc="10" dirty="0">
                                  <a:latin typeface="Cambria Math" panose="02040503050406030204" pitchFamily="18" charset="0"/>
                                  <a:cs typeface="Tahoma"/>
                                </a:rPr>
                                <m:t>𝑎𝑙𝑙𝑜𝑐</m:t>
                              </m:r>
                              <m:d>
                                <m:dPr>
                                  <m:ctrlPr>
                                    <a:rPr lang="en-US" sz="1100" i="1" spc="10" dirty="0">
                                      <a:latin typeface="Cambria Math" panose="02040503050406030204" pitchFamily="18" charset="0"/>
                                      <a:cs typeface="Tahoma"/>
                                    </a:rPr>
                                  </m:ctrlPr>
                                </m:dPr>
                                <m:e>
                                  <m:r>
                                    <a:rPr lang="en-US" sz="1100" i="1" spc="10" dirty="0">
                                      <a:latin typeface="Cambria Math" panose="02040503050406030204" pitchFamily="18" charset="0"/>
                                      <a:ea typeface="Cambria Math" panose="02040503050406030204" pitchFamily="18" charset="0"/>
                                      <a:cs typeface="Tahoma"/>
                                    </a:rPr>
                                    <m:t>𝒵</m:t>
                                  </m:r>
                                  <m:r>
                                    <a:rPr lang="en-US" sz="1100" i="1" spc="10" dirty="0">
                                      <a:latin typeface="Cambria Math" panose="02040503050406030204" pitchFamily="18" charset="0"/>
                                      <a:ea typeface="Cambria Math" panose="02040503050406030204" pitchFamily="18" charset="0"/>
                                      <a:cs typeface="Tahoma"/>
                                    </a:rPr>
                                    <m:t>, </m:t>
                                  </m:r>
                                  <m:r>
                                    <a:rPr lang="en-US" sz="1100" i="1" spc="10" dirty="0">
                                      <a:latin typeface="Cambria Math" panose="02040503050406030204" pitchFamily="18" charset="0"/>
                                      <a:ea typeface="Cambria Math" panose="02040503050406030204" pitchFamily="18" charset="0"/>
                                      <a:cs typeface="Tahoma"/>
                                    </a:rPr>
                                    <m:t>𝐴𝑔</m:t>
                                  </m:r>
                                </m:e>
                              </m:d>
                            </m:lim>
                          </m:limLow>
                        </m:fName>
                        <m:e>
                          <m:r>
                            <a:rPr lang="en-MY" sz="1100" i="1" spc="10" dirty="0">
                              <a:latin typeface="Cambria Math" panose="02040503050406030204" pitchFamily="18" charset="0"/>
                              <a:cs typeface="Tahoma"/>
                            </a:rPr>
                            <m:t>𝑠𝑤</m:t>
                          </m:r>
                          <m:d>
                            <m:dPr>
                              <m:ctrlPr>
                                <a:rPr lang="en-MY" sz="1100" i="1" spc="10" dirty="0">
                                  <a:latin typeface="Cambria Math" panose="02040503050406030204" pitchFamily="18" charset="0"/>
                                  <a:cs typeface="Tahoma"/>
                                </a:rPr>
                              </m:ctrlPr>
                            </m:dPr>
                            <m:e>
                              <m:sSub>
                                <m:sSubPr>
                                  <m:ctrlPr>
                                    <a:rPr lang="en-MY" sz="1100" i="1" spc="10" dirty="0">
                                      <a:latin typeface="Cambria Math" panose="02040503050406030204" pitchFamily="18" charset="0"/>
                                      <a:cs typeface="Tahoma"/>
                                    </a:rPr>
                                  </m:ctrlPr>
                                </m:sSubPr>
                                <m:e>
                                  <m:r>
                                    <a:rPr lang="en-MY" sz="1100" i="1" spc="10" dirty="0">
                                      <a:latin typeface="Cambria Math" panose="02040503050406030204" pitchFamily="18" charset="0"/>
                                      <a:cs typeface="Tahoma"/>
                                    </a:rPr>
                                    <m:t>𝑍</m:t>
                                  </m:r>
                                </m:e>
                                <m:sub>
                                  <m:r>
                                    <a:rPr lang="en-MY" sz="1100" i="1" spc="10" dirty="0">
                                      <a:latin typeface="Cambria Math" panose="02040503050406030204" pitchFamily="18" charset="0"/>
                                      <a:cs typeface="Tahoma"/>
                                    </a:rPr>
                                    <m:t>1</m:t>
                                  </m:r>
                                </m:sub>
                              </m:sSub>
                              <m:r>
                                <a:rPr lang="en-MY" sz="1100" i="1" spc="10" dirty="0">
                                  <a:latin typeface="Cambria Math" panose="02040503050406030204" pitchFamily="18" charset="0"/>
                                  <a:cs typeface="Tahoma"/>
                                </a:rPr>
                                <m:t>, …, </m:t>
                              </m:r>
                              <m:sSub>
                                <m:sSubPr>
                                  <m:ctrlPr>
                                    <a:rPr lang="en-MY" sz="1100" i="1" spc="10" dirty="0" err="1">
                                      <a:latin typeface="Cambria Math" panose="02040503050406030204" pitchFamily="18" charset="0"/>
                                      <a:cs typeface="Tahoma"/>
                                    </a:rPr>
                                  </m:ctrlPr>
                                </m:sSubPr>
                                <m:e>
                                  <m:r>
                                    <a:rPr lang="en-MY" sz="1100" i="1" spc="10" dirty="0" err="1">
                                      <a:latin typeface="Cambria Math" panose="02040503050406030204" pitchFamily="18" charset="0"/>
                                      <a:cs typeface="Tahoma"/>
                                    </a:rPr>
                                    <m:t>𝑍</m:t>
                                  </m:r>
                                </m:e>
                                <m:sub>
                                  <m:r>
                                    <a:rPr lang="en-MY" sz="1100" i="1" spc="10" dirty="0" err="1">
                                      <a:latin typeface="Cambria Math" panose="02040503050406030204" pitchFamily="18" charset="0"/>
                                      <a:cs typeface="Tahoma"/>
                                    </a:rPr>
                                    <m:t>𝑛</m:t>
                                  </m:r>
                                </m:sub>
                              </m:sSub>
                              <m:r>
                                <a:rPr lang="en-US" sz="1100" i="1" spc="10" dirty="0">
                                  <a:latin typeface="Cambria Math" panose="02040503050406030204" pitchFamily="18" charset="0"/>
                                  <a:cs typeface="Tahoma"/>
                                </a:rPr>
                                <m:t>,</m:t>
                              </m:r>
                              <m:sSub>
                                <m:sSubPr>
                                  <m:ctrlPr>
                                    <a:rPr lang="en-US" sz="1100" i="1" spc="10" dirty="0">
                                      <a:latin typeface="Cambria Math" panose="02040503050406030204" pitchFamily="18" charset="0"/>
                                      <a:cs typeface="Tahoma"/>
                                    </a:rPr>
                                  </m:ctrlPr>
                                </m:sSubPr>
                                <m:e>
                                  <m:acc>
                                    <m:accPr>
                                      <m:chr m:val="̂"/>
                                      <m:ctrlPr>
                                        <a:rPr lang="en-US" sz="1100" i="1" spc="10" dirty="0" smtClean="0">
                                          <a:latin typeface="Cambria Math" panose="02040503050406030204" pitchFamily="18" charset="0"/>
                                          <a:cs typeface="Tahoma"/>
                                        </a:rPr>
                                      </m:ctrlPr>
                                    </m:accPr>
                                    <m:e>
                                      <m:r>
                                        <a:rPr lang="en-US" sz="1100" i="1" spc="10" dirty="0">
                                          <a:latin typeface="Cambria Math" panose="02040503050406030204" pitchFamily="18" charset="0"/>
                                          <a:cs typeface="Tahoma"/>
                                        </a:rPr>
                                        <m:t>𝜐</m:t>
                                      </m:r>
                                    </m:e>
                                  </m:acc>
                                </m:e>
                                <m:sub>
                                  <m:r>
                                    <a:rPr lang="en-US" sz="1100" i="1" spc="10" dirty="0">
                                      <a:latin typeface="Cambria Math" panose="02040503050406030204" pitchFamily="18" charset="0"/>
                                      <a:cs typeface="Tahoma"/>
                                    </a:rPr>
                                    <m:t>1</m:t>
                                  </m:r>
                                </m:sub>
                              </m:sSub>
                              <m:r>
                                <a:rPr lang="en-US" sz="1100" i="1" spc="10" dirty="0">
                                  <a:latin typeface="Cambria Math" panose="02040503050406030204" pitchFamily="18" charset="0"/>
                                  <a:cs typeface="Tahoma"/>
                                </a:rPr>
                                <m:t>,…,</m:t>
                              </m:r>
                              <m:sSub>
                                <m:sSubPr>
                                  <m:ctrlPr>
                                    <a:rPr lang="en-US" sz="1100" b="0" i="1" spc="10" dirty="0" smtClean="0">
                                      <a:latin typeface="Cambria Math" panose="02040503050406030204" pitchFamily="18" charset="0"/>
                                      <a:cs typeface="Tahoma"/>
                                    </a:rPr>
                                  </m:ctrlPr>
                                </m:sSubPr>
                                <m:e>
                                  <m:acc>
                                    <m:accPr>
                                      <m:chr m:val="̂"/>
                                      <m:ctrlPr>
                                        <a:rPr lang="en-US" sz="1100" i="1" spc="10" dirty="0">
                                          <a:latin typeface="Cambria Math" panose="02040503050406030204" pitchFamily="18" charset="0"/>
                                          <a:cs typeface="Tahoma"/>
                                        </a:rPr>
                                      </m:ctrlPr>
                                    </m:accPr>
                                    <m:e>
                                      <m:r>
                                        <a:rPr lang="en-US" sz="1100" i="1" spc="10" dirty="0">
                                          <a:latin typeface="Cambria Math" panose="02040503050406030204" pitchFamily="18" charset="0"/>
                                          <a:cs typeface="Tahoma"/>
                                        </a:rPr>
                                        <m:t>𝜐</m:t>
                                      </m:r>
                                    </m:e>
                                  </m:acc>
                                </m:e>
                                <m:sub>
                                  <m:r>
                                    <a:rPr lang="en-US" sz="1100" b="0" i="1" spc="10" dirty="0" smtClean="0">
                                      <a:latin typeface="Cambria Math" panose="02040503050406030204" pitchFamily="18" charset="0"/>
                                      <a:cs typeface="Tahoma"/>
                                    </a:rPr>
                                    <m:t>𝑖</m:t>
                                  </m:r>
                                </m:sub>
                              </m:sSub>
                              <m:r>
                                <a:rPr lang="en-US" sz="1100" b="0" i="1" spc="10" dirty="0" smtClean="0">
                                  <a:latin typeface="Cambria Math" panose="02040503050406030204" pitchFamily="18" charset="0"/>
                                  <a:cs typeface="Tahoma"/>
                                </a:rPr>
                                <m:t>, …,</m:t>
                              </m:r>
                              <m:sSub>
                                <m:sSubPr>
                                  <m:ctrlPr>
                                    <a:rPr lang="en-US" sz="1100" i="1" spc="10" dirty="0">
                                      <a:latin typeface="Cambria Math" panose="02040503050406030204" pitchFamily="18" charset="0"/>
                                      <a:cs typeface="Tahoma"/>
                                    </a:rPr>
                                  </m:ctrlPr>
                                </m:sSubPr>
                                <m:e>
                                  <m:acc>
                                    <m:accPr>
                                      <m:chr m:val="̂"/>
                                      <m:ctrlPr>
                                        <a:rPr lang="en-US" sz="1100" i="1" spc="10" dirty="0">
                                          <a:latin typeface="Cambria Math" panose="02040503050406030204" pitchFamily="18" charset="0"/>
                                          <a:cs typeface="Tahoma"/>
                                        </a:rPr>
                                      </m:ctrlPr>
                                    </m:accPr>
                                    <m:e>
                                      <m:r>
                                        <a:rPr lang="en-US" sz="1100" i="1" spc="10" dirty="0">
                                          <a:latin typeface="Cambria Math" panose="02040503050406030204" pitchFamily="18" charset="0"/>
                                          <a:cs typeface="Tahoma"/>
                                        </a:rPr>
                                        <m:t>𝜐</m:t>
                                      </m:r>
                                    </m:e>
                                  </m:acc>
                                </m:e>
                                <m:sub>
                                  <m:r>
                                    <a:rPr lang="en-US" sz="1100" i="1" spc="10" dirty="0">
                                      <a:latin typeface="Cambria Math" panose="02040503050406030204" pitchFamily="18" charset="0"/>
                                      <a:cs typeface="Tahoma"/>
                                    </a:rPr>
                                    <m:t>𝑛</m:t>
                                  </m:r>
                                </m:sub>
                              </m:sSub>
                            </m:e>
                          </m:d>
                        </m:e>
                      </m:func>
                    </m:oMath>
                  </m:oMathPara>
                </a14:m>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Payment Rule</a:t>
                </a:r>
                <a:r>
                  <a:rPr lang="en-US" sz="1100" spc="10" dirty="0">
                    <a:latin typeface="Tahoma"/>
                    <a:cs typeface="Tahoma"/>
                  </a:rPr>
                  <a:t>: Each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pays </a:t>
                </a:r>
                <a:br>
                  <a:rPr lang="en-US" sz="1100" spc="10" dirty="0">
                    <a:latin typeface="Tahoma"/>
                    <a:cs typeface="Tahoma"/>
                  </a:rPr>
                </a:b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𝑝</m:t>
                        </m:r>
                      </m:e>
                      <m:sub>
                        <m:r>
                          <a:rPr lang="en-US" sz="1100" i="1" spc="10" dirty="0"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m:t>
                    </m:r>
                    <m:r>
                      <a:rPr lang="en-US" sz="1100" i="1" spc="10" dirty="0" err="1" smtClean="0">
                        <a:latin typeface="Cambria Math" panose="02040503050406030204" pitchFamily="18" charset="0"/>
                        <a:cs typeface="Tahoma"/>
                      </a:rPr>
                      <m:t>𝑠</m:t>
                    </m:r>
                    <m:sSub>
                      <m:sSubPr>
                        <m:ctrlPr>
                          <a:rPr lang="en-US" sz="1100" i="1" spc="10" dirty="0"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𝑤</m:t>
                        </m:r>
                      </m:e>
                      <m:sub>
                        <m:r>
                          <a:rPr lang="en-US" sz="1100" i="1" spc="10" dirty="0" smtClean="0">
                            <a:latin typeface="Cambria Math" panose="02040503050406030204" pitchFamily="18" charset="0"/>
                            <a:cs typeface="Tahoma"/>
                          </a:rPr>
                          <m:t>−</m:t>
                        </m:r>
                        <m:r>
                          <a:rPr lang="en-US" sz="1100" i="1" spc="10" dirty="0" err="1"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m:t>
                    </m:r>
                    <m:sSubSup>
                      <m:sSubSupPr>
                        <m:ctrlPr>
                          <a:rPr lang="en-US" sz="1100" i="1" spc="10" dirty="0" smtClean="0">
                            <a:latin typeface="Cambria Math" panose="02040503050406030204" pitchFamily="18" charset="0"/>
                            <a:cs typeface="Tahoma"/>
                          </a:rPr>
                        </m:ctrlPr>
                      </m:sSubSup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 …, </m:t>
                    </m:r>
                    <m:sSubSup>
                      <m:sSubSupPr>
                        <m:ctrlPr>
                          <a:rPr lang="en-US" sz="1100" i="1" spc="10" dirty="0" err="1" smtClean="0">
                            <a:latin typeface="Cambria Math" panose="02040503050406030204" pitchFamily="18" charset="0"/>
                            <a:cs typeface="Tahoma"/>
                          </a:rPr>
                        </m:ctrlPr>
                      </m:sSubSup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𝑛</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 − </m:t>
                    </m:r>
                    <m:r>
                      <a:rPr lang="en-US" sz="1100" i="1" spc="10" dirty="0" err="1" smtClean="0">
                        <a:latin typeface="Cambria Math" panose="02040503050406030204" pitchFamily="18" charset="0"/>
                        <a:cs typeface="Tahoma"/>
                      </a:rPr>
                      <m:t>𝑠</m:t>
                    </m:r>
                    <m:sSub>
                      <m:sSubPr>
                        <m:ctrlPr>
                          <a:rPr lang="en-US" sz="1100" i="1" spc="10" dirty="0" smtClean="0">
                            <a:latin typeface="Cambria Math" panose="02040503050406030204" pitchFamily="18" charset="0"/>
                            <a:cs typeface="Tahoma"/>
                          </a:rPr>
                        </m:ctrlPr>
                      </m:sSubPr>
                      <m:e>
                        <m:r>
                          <a:rPr lang="en-US" sz="1100" i="1" spc="10" dirty="0" err="1" smtClean="0">
                            <a:latin typeface="Cambria Math" panose="02040503050406030204" pitchFamily="18" charset="0"/>
                            <a:cs typeface="Tahoma"/>
                          </a:rPr>
                          <m:t>𝑤</m:t>
                        </m:r>
                      </m:e>
                      <m:sub>
                        <m:r>
                          <a:rPr lang="en-US" sz="1100" i="1" spc="10" dirty="0" smtClean="0">
                            <a:latin typeface="Cambria Math" panose="02040503050406030204" pitchFamily="18" charset="0"/>
                            <a:cs typeface="Tahoma"/>
                          </a:rPr>
                          <m:t>−</m:t>
                        </m:r>
                        <m:r>
                          <a:rPr lang="en-US" sz="1100" i="1" spc="10" dirty="0" err="1" smtClean="0">
                            <a:latin typeface="Cambria Math" panose="02040503050406030204" pitchFamily="18" charset="0"/>
                            <a:cs typeface="Tahoma"/>
                          </a:rPr>
                          <m:t>𝑖</m:t>
                        </m:r>
                      </m:sub>
                    </m:sSub>
                    <m:r>
                      <a:rPr lang="en-US" sz="1100" i="1" spc="10" dirty="0" smtClean="0">
                        <a:latin typeface="Cambria Math" panose="02040503050406030204" pitchFamily="18" charset="0"/>
                        <a:cs typeface="Tahoma"/>
                      </a:rPr>
                      <m:t>(</m:t>
                    </m:r>
                    <m:sSubSup>
                      <m:sSubSupPr>
                        <m:ctrlPr>
                          <a:rPr lang="en-US" sz="1100" i="1" spc="10" dirty="0" smtClean="0">
                            <a:latin typeface="Cambria Math" panose="02040503050406030204" pitchFamily="18" charset="0"/>
                            <a:cs typeface="Tahoma"/>
                          </a:rPr>
                        </m:ctrlPr>
                      </m:sSubSup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 …, </m:t>
                    </m:r>
                    <m:sSubSup>
                      <m:sSubSupPr>
                        <m:ctrlPr>
                          <a:rPr lang="en-US" sz="1100" i="1" spc="10" dirty="0" err="1" smtClean="0">
                            <a:latin typeface="Cambria Math" panose="02040503050406030204" pitchFamily="18" charset="0"/>
                            <a:cs typeface="Tahoma"/>
                          </a:rPr>
                        </m:ctrlPr>
                      </m:sSubSupPr>
                      <m:e>
                        <m:r>
                          <a:rPr lang="en-US" sz="1100" i="1" spc="10" dirty="0" err="1" smtClean="0">
                            <a:latin typeface="Cambria Math" panose="02040503050406030204" pitchFamily="18" charset="0"/>
                            <a:cs typeface="Tahoma"/>
                          </a:rPr>
                          <m:t>𝑍</m:t>
                        </m:r>
                      </m:e>
                      <m:sub>
                        <m:r>
                          <a:rPr lang="en-US" sz="1100" i="1" spc="10" dirty="0" err="1" smtClean="0">
                            <a:latin typeface="Cambria Math" panose="02040503050406030204" pitchFamily="18" charset="0"/>
                            <a:cs typeface="Tahoma"/>
                          </a:rPr>
                          <m:t>𝑛</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m:t>
                    </m:r>
                  </m:oMath>
                </a14:m>
                <a:r>
                  <a:rPr lang="en-US" sz="1100" spc="10" dirty="0">
                    <a:latin typeface="Tahoma"/>
                    <a:cs typeface="Tahoma"/>
                  </a:rPr>
                  <a:t> where </a:t>
                </a:r>
                <a14:m>
                  <m:oMath xmlns:m="http://schemas.openxmlformats.org/officeDocument/2006/math">
                    <m:sSubSup>
                      <m:sSubSupPr>
                        <m:ctrlPr>
                          <a:rPr lang="en-US" sz="1100" b="0" i="1" spc="10" dirty="0" smtClean="0">
                            <a:latin typeface="Cambria Math" panose="02040503050406030204" pitchFamily="18" charset="0"/>
                            <a:cs typeface="Tahoma"/>
                          </a:rPr>
                        </m:ctrlPr>
                      </m:sSubSup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1</m:t>
                        </m:r>
                      </m:sub>
                      <m:sup>
                        <m:r>
                          <a:rPr lang="en-US" sz="1100" i="1" spc="10" dirty="0" smtClean="0">
                            <a:latin typeface="Cambria Math" panose="02040503050406030204" pitchFamily="18" charset="0"/>
                            <a:cs typeface="Tahoma"/>
                          </a:rPr>
                          <m:t>’</m:t>
                        </m:r>
                      </m:sup>
                    </m:sSubSup>
                    <m:r>
                      <a:rPr lang="en-US" sz="1100" i="1" spc="10" dirty="0" smtClean="0">
                        <a:latin typeface="Cambria Math" panose="02040503050406030204" pitchFamily="18" charset="0"/>
                        <a:cs typeface="Tahoma"/>
                      </a:rPr>
                      <m:t>, …, </m:t>
                    </m:r>
                    <m:sSubSup>
                      <m:sSubSupPr>
                        <m:ctrlPr>
                          <a:rPr lang="en-US" sz="1100" b="0" i="1" spc="10" dirty="0" smtClean="0">
                            <a:latin typeface="Cambria Math" panose="02040503050406030204" pitchFamily="18" charset="0"/>
                            <a:cs typeface="Tahoma"/>
                          </a:rPr>
                        </m:ctrlPr>
                      </m:sSubSupPr>
                      <m:e>
                        <m:r>
                          <a:rPr lang="en-US" sz="1100" i="1" spc="10" dirty="0" smtClean="0">
                            <a:latin typeface="Cambria Math" panose="02040503050406030204" pitchFamily="18" charset="0"/>
                            <a:cs typeface="Tahoma"/>
                          </a:rPr>
                          <m:t>𝑍</m:t>
                        </m:r>
                      </m:e>
                      <m:sub>
                        <m:r>
                          <a:rPr lang="en-US" sz="1100" i="1" spc="10" dirty="0" smtClean="0">
                            <a:latin typeface="Cambria Math" panose="02040503050406030204" pitchFamily="18" charset="0"/>
                            <a:cs typeface="Tahoma"/>
                          </a:rPr>
                          <m:t>𝑛</m:t>
                        </m:r>
                      </m:sub>
                      <m:sup>
                        <m:r>
                          <a:rPr lang="en-US" sz="1100" i="1" spc="10" dirty="0" smtClean="0">
                            <a:latin typeface="Cambria Math" panose="02040503050406030204" pitchFamily="18" charset="0"/>
                            <a:cs typeface="Tahoma"/>
                          </a:rPr>
                          <m:t>′</m:t>
                        </m:r>
                      </m:sup>
                    </m:sSubSup>
                  </m:oMath>
                </a14:m>
                <a:r>
                  <a:rPr lang="en-US" sz="1100" spc="10" dirty="0">
                    <a:latin typeface="Tahoma"/>
                    <a:cs typeface="Tahoma"/>
                  </a:rPr>
                  <a:t> is the allocation that maximizes social welfare when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declares the indifferent valuation function </a:t>
                </a:r>
                <a14:m>
                  <m:oMath xmlns:m="http://schemas.openxmlformats.org/officeDocument/2006/math">
                    <m:sSup>
                      <m:sSupPr>
                        <m:ctrlPr>
                          <a:rPr lang="en-US" sz="1100" b="0" i="1" spc="10" dirty="0" smtClean="0">
                            <a:latin typeface="Cambria Math" panose="02040503050406030204" pitchFamily="18" charset="0"/>
                            <a:cs typeface="Tahoma"/>
                          </a:rPr>
                        </m:ctrlPr>
                      </m:sSupPr>
                      <m:e>
                        <m:r>
                          <a:rPr lang="en-US" sz="1100" i="1" spc="10" dirty="0" smtClean="0">
                            <a:latin typeface="Cambria Math" panose="02040503050406030204" pitchFamily="18" charset="0"/>
                            <a:cs typeface="Tahoma"/>
                          </a:rPr>
                          <m:t>𝑣</m:t>
                        </m:r>
                      </m:e>
                      <m:sup>
                        <m:r>
                          <a:rPr lang="en-US" sz="1100" i="1" spc="10" dirty="0" smtClean="0">
                            <a:latin typeface="Cambria Math" panose="02040503050406030204" pitchFamily="18" charset="0"/>
                            <a:cs typeface="Tahoma"/>
                          </a:rPr>
                          <m:t>0</m:t>
                        </m:r>
                      </m:sup>
                    </m:sSup>
                  </m:oMath>
                </a14:m>
                <a:r>
                  <a:rPr lang="en-US" sz="1100" spc="10" dirty="0">
                    <a:latin typeface="Tahoma"/>
                    <a:cs typeface="Tahoma"/>
                  </a:rPr>
                  <a:t>.</a:t>
                </a:r>
              </a:p>
            </p:txBody>
          </p:sp>
        </mc:Choice>
        <mc:Fallback>
          <p:sp>
            <p:nvSpPr>
              <p:cNvPr id="3" name="object 3"/>
              <p:cNvSpPr txBox="1">
                <a:spLocks noRot="1" noChangeAspect="1" noMove="1" noResize="1" noEditPoints="1" noAdjustHandles="1" noChangeArrowheads="1" noChangeShapeType="1" noTextEdit="1"/>
              </p:cNvSpPr>
              <p:nvPr/>
            </p:nvSpPr>
            <p:spPr>
              <a:xfrm>
                <a:off x="400050" y="434975"/>
                <a:ext cx="3862756" cy="2823658"/>
              </a:xfrm>
              <a:prstGeom prst="rect">
                <a:avLst/>
              </a:prstGeom>
              <a:blipFill>
                <a:blip r:embed="rId3"/>
                <a:stretch>
                  <a:fillRect l="-790" t="-1724" r="-2686" b="-647"/>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42</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4055742847"/>
      </p:ext>
    </p:extLst>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MY" spc="-10" dirty="0"/>
              <a:t>VCG Mechanism: Compensation Principle</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3" name="object 3"/>
              <p:cNvSpPr txBox="1"/>
              <p:nvPr/>
            </p:nvSpPr>
            <p:spPr>
              <a:xfrm>
                <a:off x="400050" y="967969"/>
                <a:ext cx="3862756" cy="1676806"/>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Payment Interpretation</a:t>
                </a:r>
                <a:r>
                  <a:rPr lang="en-US" sz="1100" spc="10" dirty="0">
                    <a:latin typeface="Tahoma"/>
                    <a:cs typeface="Tahoma"/>
                  </a:rPr>
                  <a:t>: The payment </a:t>
                </a:r>
                <a14:m>
                  <m:oMath xmlns:m="http://schemas.openxmlformats.org/officeDocument/2006/math">
                    <m:sSub>
                      <m:sSubPr>
                        <m:ctrlPr>
                          <a:rPr lang="en-US" sz="1100" i="1" spc="10" dirty="0" smtClean="0">
                            <a:latin typeface="Cambria Math" panose="02040503050406030204" pitchFamily="18" charset="0"/>
                            <a:cs typeface="Tahoma"/>
                          </a:rPr>
                        </m:ctrlPr>
                      </m:sSubPr>
                      <m:e>
                        <m:r>
                          <a:rPr lang="en-US" sz="1100" i="1" spc="10" dirty="0" smtClean="0">
                            <a:latin typeface="Cambria Math" panose="02040503050406030204" pitchFamily="18" charset="0"/>
                            <a:cs typeface="Tahoma"/>
                          </a:rPr>
                          <m:t>𝑝</m:t>
                        </m:r>
                      </m:e>
                      <m:sub>
                        <m:r>
                          <a:rPr lang="en-US" sz="1100" i="1" spc="10" dirty="0" smtClean="0">
                            <a:latin typeface="Cambria Math" panose="02040503050406030204" pitchFamily="18" charset="0"/>
                            <a:cs typeface="Tahoma"/>
                          </a:rPr>
                          <m:t>𝑖</m:t>
                        </m:r>
                      </m:sub>
                    </m:sSub>
                  </m:oMath>
                </a14:m>
                <a:r>
                  <a:rPr lang="en-US" sz="1100" spc="10" dirty="0">
                    <a:latin typeface="Tahoma"/>
                    <a:cs typeface="Tahoma"/>
                  </a:rPr>
                  <a:t>can be viewed as compensation to the other agents for the reduction in social welfare caused by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's participation.</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Loss in Utility</a:t>
                </a:r>
                <a:r>
                  <a:rPr lang="en-US" sz="1100" spc="10" dirty="0">
                    <a:latin typeface="Tahoma"/>
                    <a:cs typeface="Tahoma"/>
                  </a:rPr>
                  <a:t>: The payment reflects the difference in social welfare for the other agents between the outcome with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absent and the outcome with agent </a:t>
                </a:r>
                <a14:m>
                  <m:oMath xmlns:m="http://schemas.openxmlformats.org/officeDocument/2006/math">
                    <m:r>
                      <a:rPr lang="en-US" sz="1100" i="1" spc="10" dirty="0" smtClean="0">
                        <a:latin typeface="Cambria Math" panose="02040503050406030204" pitchFamily="18" charset="0"/>
                        <a:cs typeface="Tahoma"/>
                      </a:rPr>
                      <m:t>𝑖</m:t>
                    </m:r>
                  </m:oMath>
                </a14:m>
                <a:r>
                  <a:rPr lang="en-US" sz="1100" spc="10" dirty="0">
                    <a:latin typeface="Tahoma"/>
                    <a:cs typeface="Tahoma"/>
                  </a:rPr>
                  <a:t> participating.</a:t>
                </a:r>
                <a:endParaRPr sz="1100" spc="1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00050" y="967969"/>
                <a:ext cx="3862756" cy="1676806"/>
              </a:xfrm>
              <a:prstGeom prst="rect">
                <a:avLst/>
              </a:prstGeom>
              <a:blipFill>
                <a:blip r:embed="rId3"/>
                <a:stretch>
                  <a:fillRect l="-790" t="-3273" r="-3318" b="-4364"/>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43</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751491079"/>
      </p:ext>
    </p:extLst>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184666"/>
          </a:xfrm>
          <a:prstGeom prst="rect">
            <a:avLst/>
          </a:prstGeom>
        </p:spPr>
        <p:txBody>
          <a:bodyPr vert="horz" wrap="square" lIns="0" tIns="0" rIns="0" bIns="0" rtlCol="0">
            <a:spAutoFit/>
          </a:bodyPr>
          <a:lstStyle/>
          <a:p>
            <a:pPr marL="12700">
              <a:lnSpc>
                <a:spcPct val="100000"/>
              </a:lnSpc>
            </a:pPr>
            <a:r>
              <a:rPr lang="en-US" sz="1200" spc="-10" dirty="0"/>
              <a:t>VCG Mechanism: Truthful Bidding as a Dominant Strategy</a:t>
            </a:r>
            <a:endParaRPr baseline="27777" dirty="0">
              <a:latin typeface="Tahoma"/>
              <a:cs typeface="Tahoma"/>
            </a:endParaRPr>
          </a:p>
        </p:txBody>
      </p:sp>
      <p:sp>
        <p:nvSpPr>
          <p:cNvPr id="3" name="object 3"/>
          <p:cNvSpPr txBox="1"/>
          <p:nvPr/>
        </p:nvSpPr>
        <p:spPr>
          <a:xfrm>
            <a:off x="400050" y="995106"/>
            <a:ext cx="3862756" cy="1497269"/>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Key Result</a:t>
            </a:r>
            <a:r>
              <a:rPr lang="en-US" sz="1100" spc="10" dirty="0">
                <a:latin typeface="Tahoma"/>
                <a:cs typeface="Tahoma"/>
              </a:rPr>
              <a:t>: The VCG mechanism ensures that no agent can benefit by declaring anything other than their true valuation.</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Single Good Example</a:t>
            </a:r>
            <a:r>
              <a:rPr lang="en-US" sz="1100" spc="10" dirty="0">
                <a:latin typeface="Tahoma"/>
                <a:cs typeface="Tahoma"/>
              </a:rPr>
              <a:t>: In an auction for a single good, the agent with the highest valuation pays the second-highest valuation, effectively compensating the others for their loss in not winning.</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44</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3314119674"/>
      </p:ext>
    </p:extLst>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VCG Mechanism: Achieving Social Welfare Maximization</a:t>
            </a:r>
            <a:endParaRPr sz="1500" baseline="27777" dirty="0">
              <a:latin typeface="Tahoma"/>
              <a:cs typeface="Tahoma"/>
            </a:endParaRPr>
          </a:p>
        </p:txBody>
      </p:sp>
      <p:sp>
        <p:nvSpPr>
          <p:cNvPr id="3" name="object 3"/>
          <p:cNvSpPr txBox="1"/>
          <p:nvPr/>
        </p:nvSpPr>
        <p:spPr>
          <a:xfrm>
            <a:off x="400050" y="1125578"/>
            <a:ext cx="3862756" cy="1138197"/>
          </a:xfrm>
          <a:prstGeom prst="rect">
            <a:avLst/>
          </a:prstGeom>
        </p:spPr>
        <p:txBody>
          <a:bodyPr vert="horz" wrap="square" lIns="0" tIns="0" rIns="0" bIns="0" rtlCol="0">
            <a:spAutoFit/>
          </a:bodyPr>
          <a:lstStyle/>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Dominant Strategy</a:t>
            </a:r>
            <a:r>
              <a:rPr lang="en-US" sz="1100" spc="10" dirty="0">
                <a:latin typeface="Tahoma"/>
                <a:cs typeface="Tahoma"/>
              </a:rPr>
              <a:t>: Truthful bidding is the best strategy for all agents, regardless of others' actions.</a:t>
            </a:r>
          </a:p>
          <a:p>
            <a:pPr marL="284163" indent="-230188">
              <a:lnSpc>
                <a:spcPts val="1400"/>
              </a:lnSpc>
              <a:spcBef>
                <a:spcPts val="330"/>
              </a:spcBef>
              <a:buClr>
                <a:srgbClr val="0000FF"/>
              </a:buClr>
              <a:buFont typeface="Wingdings 3" panose="05040102010807070707" pitchFamily="18" charset="2"/>
              <a:buChar char=""/>
            </a:pPr>
            <a:endParaRPr lang="en-US" sz="1100" spc="10" dirty="0">
              <a:latin typeface="Tahoma"/>
              <a:cs typeface="Tahoma"/>
            </a:endParaRPr>
          </a:p>
          <a:p>
            <a:pPr marL="284163" indent="-230188">
              <a:lnSpc>
                <a:spcPts val="1400"/>
              </a:lnSpc>
              <a:spcBef>
                <a:spcPts val="330"/>
              </a:spcBef>
              <a:buClr>
                <a:srgbClr val="0000FF"/>
              </a:buClr>
              <a:buFont typeface="Wingdings 3" panose="05040102010807070707" pitchFamily="18" charset="2"/>
              <a:buChar char=""/>
            </a:pPr>
            <a:r>
              <a:rPr lang="en-US" sz="1100" b="1" spc="10" dirty="0">
                <a:latin typeface="Tahoma"/>
                <a:cs typeface="Tahoma"/>
              </a:rPr>
              <a:t>Social Welfare Guarantee</a:t>
            </a:r>
            <a:r>
              <a:rPr lang="en-US" sz="1100" spc="10" dirty="0">
                <a:latin typeface="Tahoma"/>
                <a:cs typeface="Tahoma"/>
              </a:rPr>
              <a:t>: The VCG mechanism guarantees that the allocation selected maximizes social welfare based on the true valuations.</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45</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124826740"/>
      </p:ext>
    </p:extLst>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105201"/>
            <a:ext cx="4419498" cy="215444"/>
          </a:xfrm>
          <a:prstGeom prst="rect">
            <a:avLst/>
          </a:prstGeom>
        </p:spPr>
        <p:txBody>
          <a:bodyPr vert="horz" wrap="square" lIns="0" tIns="0" rIns="0" bIns="0" rtlCol="0">
            <a:spAutoFit/>
          </a:bodyPr>
          <a:lstStyle/>
          <a:p>
            <a:pPr marL="12700">
              <a:lnSpc>
                <a:spcPct val="100000"/>
              </a:lnSpc>
            </a:pPr>
            <a:r>
              <a:rPr lang="en-US" spc="-10" dirty="0"/>
              <a:t>Resources</a:t>
            </a:r>
            <a:endParaRPr sz="1500" baseline="27777" dirty="0">
              <a:latin typeface="Tahoma"/>
              <a:cs typeface="Tahoma"/>
            </a:endParaRPr>
          </a:p>
        </p:txBody>
      </p:sp>
      <p:sp>
        <p:nvSpPr>
          <p:cNvPr id="3" name="object 3"/>
          <p:cNvSpPr txBox="1"/>
          <p:nvPr/>
        </p:nvSpPr>
        <p:spPr>
          <a:xfrm>
            <a:off x="671082" y="1044575"/>
            <a:ext cx="3405556" cy="1523559"/>
          </a:xfrm>
          <a:prstGeom prst="rect">
            <a:avLst/>
          </a:prstGeom>
        </p:spPr>
        <p:txBody>
          <a:bodyPr vert="horz" wrap="square" lIns="0" tIns="0" rIns="0" bIns="0" rtlCol="0">
            <a:spAutoFit/>
          </a:bodyPr>
          <a:lstStyle/>
          <a:p>
            <a:r>
              <a:rPr lang="en-US" sz="1100" dirty="0">
                <a:effectLst/>
              </a:rPr>
              <a:t>This lecture includes materials adapted from:</a:t>
            </a:r>
          </a:p>
          <a:p>
            <a:pPr algn="l"/>
            <a:r>
              <a:rPr lang="en-US" sz="1100" dirty="0">
                <a:effectLst/>
              </a:rPr>
              <a:t>○</a:t>
            </a:r>
          </a:p>
          <a:p>
            <a:pPr marL="284163" indent="-230188">
              <a:lnSpc>
                <a:spcPts val="1400"/>
              </a:lnSpc>
              <a:spcBef>
                <a:spcPts val="330"/>
              </a:spcBef>
              <a:buClr>
                <a:srgbClr val="0000FF"/>
              </a:buClr>
              <a:buFont typeface="Wingdings 3" panose="05040102010807070707" pitchFamily="18" charset="2"/>
              <a:buChar char=""/>
            </a:pPr>
            <a:r>
              <a:rPr lang="en-US" sz="1100" spc="10" dirty="0">
                <a:latin typeface="Tahoma"/>
                <a:cs typeface="Tahoma"/>
              </a:rPr>
              <a:t>"Multiagent Systems" by Michael Woolridge (Wiley, 2009).</a:t>
            </a:r>
          </a:p>
          <a:p>
            <a:pPr marL="284163" indent="-230188">
              <a:lnSpc>
                <a:spcPts val="1400"/>
              </a:lnSpc>
              <a:spcBef>
                <a:spcPts val="330"/>
              </a:spcBef>
              <a:buClr>
                <a:srgbClr val="0000FF"/>
              </a:buClr>
              <a:buFont typeface="Wingdings 3" panose="05040102010807070707" pitchFamily="18" charset="2"/>
              <a:buChar char=""/>
            </a:pPr>
            <a:r>
              <a:rPr lang="en-US" sz="1100" dirty="0">
                <a:effectLst/>
              </a:rPr>
              <a:t>Course materials designed by Terry Payne, University of Liverpool.</a:t>
            </a:r>
          </a:p>
          <a:p>
            <a:pPr marL="284163" indent="-230188">
              <a:lnSpc>
                <a:spcPts val="1400"/>
              </a:lnSpc>
              <a:spcBef>
                <a:spcPts val="330"/>
              </a:spcBef>
              <a:buClr>
                <a:srgbClr val="0000FF"/>
              </a:buClr>
              <a:buFont typeface="Wingdings 3" panose="05040102010807070707" pitchFamily="18" charset="2"/>
              <a:buChar char=""/>
            </a:pPr>
            <a:r>
              <a:rPr lang="en-US" sz="1100" dirty="0">
                <a:effectLst/>
              </a:rPr>
              <a:t>Artwork published under Creative Commons by </a:t>
            </a:r>
            <a:r>
              <a:rPr lang="en-US" sz="1100" dirty="0">
                <a:effectLst/>
                <a:hlinkClick r:id="rId3"/>
              </a:rPr>
              <a:t>http://pixabay.com</a:t>
            </a:r>
            <a:r>
              <a:rPr lang="en-US" sz="1100" dirty="0">
                <a:effectLst/>
              </a:rPr>
              <a:t>.</a:t>
            </a:r>
          </a:p>
        </p:txBody>
      </p:sp>
      <p:sp>
        <p:nvSpPr>
          <p:cNvPr id="6" name="Date Placeholder 3">
            <a:extLst>
              <a:ext uri="{FF2B5EF4-FFF2-40B4-BE49-F238E27FC236}">
                <a16:creationId xmlns:a16="http://schemas.microsoft.com/office/drawing/2014/main" id="{AE58CBD7-4BB2-401C-99E7-FDF31819E5E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10/14/2024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B202655-005D-4AF1-BCAB-B664D2EBF1C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7763E44-3FE0-4B7A-A8B0-04B7B255C4F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46</a:t>
            </a:fld>
            <a:r>
              <a:rPr kumimoji="0" lang="en-US" sz="800" b="0" i="0" u="none" strike="noStrike" kern="1200" cap="none" spc="0" normalizeH="0" baseline="0" noProof="0" dirty="0">
                <a:ln>
                  <a:noFill/>
                </a:ln>
                <a:solidFill>
                  <a:prstClr val="black"/>
                </a:solidFill>
                <a:effectLst/>
                <a:uLnTx/>
                <a:uFillTx/>
                <a:latin typeface="Calibri"/>
                <a:ea typeface="+mn-ea"/>
                <a:cs typeface="+mn-cs"/>
              </a:rPr>
              <a:t>/46</a:t>
            </a:r>
          </a:p>
        </p:txBody>
      </p:sp>
    </p:spTree>
    <p:extLst>
      <p:ext uri="{BB962C8B-B14F-4D97-AF65-F5344CB8AC3E}">
        <p14:creationId xmlns:p14="http://schemas.microsoft.com/office/powerpoint/2010/main" val="263853066"/>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3977</TotalTime>
  <Words>18983</Words>
  <Application>Microsoft Office PowerPoint</Application>
  <PresentationFormat>Custom</PresentationFormat>
  <Paragraphs>1420</Paragraphs>
  <Slides>46</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Cambria</vt:lpstr>
      <vt:lpstr>Cambria Math</vt:lpstr>
      <vt:lpstr>Google Sans Text</vt:lpstr>
      <vt:lpstr>Lucida Sans Unicode</vt:lpstr>
      <vt:lpstr>Tahoma</vt:lpstr>
      <vt:lpstr>Times New Roman</vt:lpstr>
      <vt:lpstr>Wingdings 3</vt:lpstr>
      <vt:lpstr>Office Theme</vt:lpstr>
      <vt:lpstr>PowerPoint Presentation</vt:lpstr>
      <vt:lpstr>Outlines</vt:lpstr>
      <vt:lpstr>Resource Allocation in Multi-agent Systems</vt:lpstr>
      <vt:lpstr>Supply and Demand</vt:lpstr>
      <vt:lpstr>Auctions and the Internet</vt:lpstr>
      <vt:lpstr>Defining Auctions</vt:lpstr>
      <vt:lpstr>Auction Objectives</vt:lpstr>
      <vt:lpstr>Types of Value </vt:lpstr>
      <vt:lpstr>Winner Determination and Bidding Visibility</vt:lpstr>
      <vt:lpstr>One-Shot vs Iterated Bids</vt:lpstr>
      <vt:lpstr>English Auctions</vt:lpstr>
      <vt:lpstr>English Auction Strategy</vt:lpstr>
      <vt:lpstr>English Auction Classification and Risks</vt:lpstr>
      <vt:lpstr>Dutch Auctions</vt:lpstr>
      <vt:lpstr>Dutch Auction Classification and Applications</vt:lpstr>
      <vt:lpstr>First-Price Sealed-Bid (FPSB) Auctions</vt:lpstr>
      <vt:lpstr> FPSB Auction Classification and Uses</vt:lpstr>
      <vt:lpstr>Vickrey Auctions</vt:lpstr>
      <vt:lpstr>Vickrey Auction Classification and Applications</vt:lpstr>
      <vt:lpstr>Why Vickrey Auctions Encourage Truthful Bidding: Overbidding</vt:lpstr>
      <vt:lpstr>Why Vickrey Auctions Encourage Truthful Bidding: Underbidding</vt:lpstr>
      <vt:lpstr>Dominance of Truthful Bidding in Vickrey Auctions</vt:lpstr>
      <vt:lpstr>Collusion in Auctions</vt:lpstr>
      <vt:lpstr>Combinatorial Auctions</vt:lpstr>
      <vt:lpstr>Set of Items and Valuation Functions</vt:lpstr>
      <vt:lpstr>Normalized Valuation and Free Disposal</vt:lpstr>
      <vt:lpstr>Allocation of Goods</vt:lpstr>
      <vt:lpstr>Social Welfare Maximization</vt:lpstr>
      <vt:lpstr>Winner Determination Problem</vt:lpstr>
      <vt:lpstr>Challenges of Winner Determination</vt:lpstr>
      <vt:lpstr> Bidding Languages: Atomic Bids</vt:lpstr>
      <vt:lpstr>Bidding Languages: Atomic Bid Limitations</vt:lpstr>
      <vt:lpstr>Bidding Languages: XOR Bids</vt:lpstr>
      <vt:lpstr>Bidding Languages: XOR Bid Example</vt:lpstr>
      <vt:lpstr>Bidding Languages: XOR Bid Example</vt:lpstr>
      <vt:lpstr>Bidding Languages: OR Bids</vt:lpstr>
      <vt:lpstr>Bidding Languages: OR Bid Example</vt:lpstr>
      <vt:lpstr>Bidding Languages: OR Bid Limitations</vt:lpstr>
      <vt:lpstr>Winner Determination: Computational Challenges and Approaches</vt:lpstr>
      <vt:lpstr>VCG Mechanism: Achieving Truthful Valuations</vt:lpstr>
      <vt:lpstr>VCG Mechanism: Notation</vt:lpstr>
      <vt:lpstr>VCG Mechanism: How it Works</vt:lpstr>
      <vt:lpstr>VCG Mechanism: Compensation Principle</vt:lpstr>
      <vt:lpstr>VCG Mechanism: Truthful Bidding as a Dominant Strategy</vt:lpstr>
      <vt:lpstr>VCG Mechanism: Achieving Social Welfare Maximization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Choice and Group Decisions </dc:title>
  <dc:creator>Julian Gutierrez</dc:creator>
  <cp:lastModifiedBy>Fuad Noman</cp:lastModifiedBy>
  <cp:revision>184</cp:revision>
  <dcterms:created xsi:type="dcterms:W3CDTF">2023-10-10T19:09:53Z</dcterms:created>
  <dcterms:modified xsi:type="dcterms:W3CDTF">2024-10-15T15:44:23Z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2022-10-13T00:00:00Z</vt:filetime>
  </property>
  <property fmtid="{D5CDD505-2E9C-101B-9397-08002B2CF9AE}" pid="3" name="LastSaved">
    <vt:filetime>2023-10-10T00:00:00Z</vt:filetime>
  </property>
</Properties>
</file>
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0" autoAdjust="0"/>
    <p:restoredTop sz="77352" autoAdjust="0"/>
  </p:normalViewPr>
  <p:slideViewPr>
    <p:cSldViewPr>
      <p:cViewPr varScale="1">
        <p:scale>
          <a:sx n="96" d="100"/>
          <a:sy n="96" d="100"/>
        </p:scale>
        <p:origin x="226" y="58"/>
      </p:cViewPr>
      <p:guideLst>
        <p:guide orient="horz" pos="2880"/>
        <p:guide pos="2160"/>
      </p:guideLst>
    </p:cSldViewPr>
  </p:slideViewPr>
  <p:notesTextViewPr>
    <p:cViewPr>
      <p:scale>
        <a:sx n="100" d="100"/>
        <a:sy n="100" d="100"/>
      </p:scale>
      <p:origin x="0" y="-118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406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Social choice and group decision-making refer to the process of making collective decisions, typically involving a group of individuals with varying preferences or opinions. It is a field of study that examines the methods, rules, and procedures used to reach decisions that reflect the collective will or choice of the group.</a:t>
            </a:r>
            <a:br>
              <a:rPr lang="en-US" b="0" i="0" dirty="0">
                <a:solidFill>
                  <a:srgbClr val="D1D5DB"/>
                </a:solidFill>
                <a:effectLst/>
                <a:latin typeface="Söhne"/>
              </a:rPr>
            </a:br>
            <a:br>
              <a:rPr lang="en-US" b="0" i="0" dirty="0">
                <a:solidFill>
                  <a:srgbClr val="D1D5DB"/>
                </a:solidFill>
                <a:effectLst/>
                <a:latin typeface="Söhne"/>
              </a:rPr>
            </a:br>
            <a:r>
              <a:rPr lang="en-US" b="0" i="0" dirty="0">
                <a:solidFill>
                  <a:srgbClr val="D1D5DB"/>
                </a:solidFill>
                <a:effectLst/>
                <a:latin typeface="Söhne"/>
              </a:rPr>
              <a:t>S</a:t>
            </a:r>
            <a:r>
              <a:rPr lang="en-US" b="0" i="0" dirty="0">
                <a:solidFill>
                  <a:srgbClr val="FFFFFF"/>
                </a:solidFill>
                <a:effectLst/>
                <a:latin typeface="Söhne"/>
              </a:rPr>
              <a:t>ocial choice and group decision-making have applications in various fields, including politics, economics, ethics, and public policy. Researchers and policymakers continuously explore these topics to improve the quality of collective decisions and ensure they align with societal values and objectives.</a:t>
            </a:r>
          </a:p>
          <a:p>
            <a:br>
              <a:rPr lang="en-US" b="0" i="0" dirty="0">
                <a:solidFill>
                  <a:srgbClr val="FFFFFF"/>
                </a:solidFill>
                <a:effectLst/>
                <a:latin typeface="Söhne"/>
              </a:rPr>
            </a:br>
            <a:r>
              <a:rPr lang="en-US" b="0" i="0" dirty="0">
                <a:solidFill>
                  <a:srgbClr val="FFFFFF"/>
                </a:solidFill>
                <a:effectLst/>
                <a:latin typeface="Söhne"/>
              </a:rPr>
              <a:t>I</a:t>
            </a:r>
            <a:r>
              <a:rPr lang="en-US" b="0" i="0" dirty="0">
                <a:solidFill>
                  <a:srgbClr val="D1D5DB"/>
                </a:solidFill>
                <a:effectLst/>
                <a:latin typeface="Söhne"/>
              </a:rPr>
              <a:t>n the context of </a:t>
            </a:r>
            <a:r>
              <a:rPr lang="en-US" b="1" i="0" dirty="0">
                <a:solidFill>
                  <a:srgbClr val="D1D5DB"/>
                </a:solidFill>
                <a:effectLst/>
                <a:latin typeface="Söhne"/>
              </a:rPr>
              <a:t>game theory</a:t>
            </a:r>
            <a:r>
              <a:rPr lang="en-US" b="0" i="0" dirty="0">
                <a:solidFill>
                  <a:srgbClr val="D1D5DB"/>
                </a:solidFill>
                <a:effectLst/>
                <a:latin typeface="Söhne"/>
              </a:rPr>
              <a:t>, social choice and group decisions refer to the mechanisms and strategies employed by a group of rational individuals to collectively make decisions, often in situations involving conflicts of interest, strategic interactions, and varying preferences.</a:t>
            </a:r>
            <a:br>
              <a:rPr lang="en-US" b="0" i="0" dirty="0">
                <a:solidFill>
                  <a:srgbClr val="D1D5DB"/>
                </a:solidFill>
                <a:effectLst/>
                <a:latin typeface="Söhne"/>
              </a:rPr>
            </a:br>
            <a:br>
              <a:rPr lang="en-US" b="0" i="0" dirty="0">
                <a:solidFill>
                  <a:srgbClr val="D1D5DB"/>
                </a:solidFill>
                <a:effectLst/>
                <a:latin typeface="Söhne"/>
              </a:rPr>
            </a:br>
            <a:r>
              <a:rPr lang="en-US" b="0" i="0" dirty="0">
                <a:solidFill>
                  <a:srgbClr val="D1D5DB"/>
                </a:solidFill>
                <a:effectLst/>
                <a:latin typeface="Söhne"/>
              </a:rPr>
              <a:t>Social choice and group decisions in game theory are essential for understanding how rational actors make choices in collective decision-making settings. These concepts help analyze elections, negotiations, and other scenarios where individuals must reconcile their preferences with those of the group while accounting for strategic behavior and incentives.</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How voting works.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Social choice theory is a branch of social science and economics that deals with the aggregation of individual preferences to arrive at a collective or social choice. It focuses on understanding how to make decisions on behalf of a group when individual members have varying preferences. This theory plays a crucial role in various fields, including economics, political science, ethics, and philosophy. Here are some key points related to social choice theory:</a:t>
            </a:r>
          </a:p>
          <a:p>
            <a:endParaRPr lang="en-US" dirty="0"/>
          </a:p>
          <a:p>
            <a:pPr marL="228600" indent="-228600">
              <a:buFont typeface="+mj-lt"/>
              <a:buAutoNum type="arabicPeriod"/>
            </a:pPr>
            <a:r>
              <a:rPr lang="en-US" b="1" dirty="0"/>
              <a:t>Individual Preferences</a:t>
            </a:r>
            <a:r>
              <a:rPr lang="en-US" dirty="0"/>
              <a:t>: Social choice theory begins with the assumption that there are multiple individuals, each with their own preferences over a set of alternatives. These alternatives could be policy choices, candidates in an election, or any decision that affects the group.</a:t>
            </a:r>
          </a:p>
          <a:p>
            <a:pPr marL="228600" indent="-228600">
              <a:buFont typeface="+mj-lt"/>
              <a:buAutoNum type="arabicPeriod"/>
            </a:pPr>
            <a:endParaRPr lang="en-US" dirty="0"/>
          </a:p>
          <a:p>
            <a:pPr marL="228600" indent="-228600">
              <a:buFont typeface="+mj-lt"/>
              <a:buAutoNum type="arabicPeriod"/>
            </a:pPr>
            <a:r>
              <a:rPr lang="en-US" b="1" dirty="0"/>
              <a:t>Social Welfare Function</a:t>
            </a:r>
            <a:r>
              <a:rPr lang="en-US" dirty="0"/>
              <a:t>: The central concept in social choice theory is the social welfare function. This function takes individual preferences as input and produces a social preference ordering or outcome. The goal is to design a social welfare function that fairly represents the collective preferences of the group.</a:t>
            </a:r>
          </a:p>
          <a:p>
            <a:pPr marL="228600" indent="-228600">
              <a:buFont typeface="+mj-lt"/>
              <a:buAutoNum type="arabicPeriod"/>
            </a:pPr>
            <a:endParaRPr lang="en-US" dirty="0"/>
          </a:p>
          <a:p>
            <a:pPr marL="228600" indent="-228600">
              <a:buFont typeface="+mj-lt"/>
              <a:buAutoNum type="arabicPeriod"/>
            </a:pPr>
            <a:r>
              <a:rPr lang="en-US" b="1" dirty="0"/>
              <a:t>Voting Systems</a:t>
            </a:r>
            <a:r>
              <a:rPr lang="en-US" dirty="0"/>
              <a:t>: A classic example of social choice theory is the study of voting systems. Voting mechanisms, such as majority rule, plurality voting, and ranked-choice voting, are used to aggregate individual votes into a collective decision. Different voting systems can yield different outcomes, and social choice theory helps evaluate their properties.</a:t>
            </a:r>
          </a:p>
          <a:p>
            <a:pPr marL="228600" indent="-228600">
              <a:buFont typeface="+mj-lt"/>
              <a:buAutoNum type="arabicPeriod"/>
            </a:pPr>
            <a:endParaRPr lang="en-US" dirty="0"/>
          </a:p>
          <a:p>
            <a:pPr marL="228600" indent="-228600">
              <a:buFont typeface="+mj-lt"/>
              <a:buAutoNum type="arabicPeriod"/>
            </a:pPr>
            <a:r>
              <a:rPr lang="en-US" b="1" dirty="0"/>
              <a:t>Arrow's Impossibility Theorem</a:t>
            </a:r>
            <a:r>
              <a:rPr lang="en-US" dirty="0"/>
              <a:t>: A fundamental result in social choice theory is Arrow's Impossibility Theorem, developed by economist Kenneth Arrow. This theorem states that there is no perfect voting system that can consistently satisfy a set of desirable criteria, such as Pareto efficiency, non-dictatorship, and independence of irrelevant alternatives.</a:t>
            </a:r>
          </a:p>
          <a:p>
            <a:pPr marL="228600" indent="-228600">
              <a:buFont typeface="+mj-lt"/>
              <a:buAutoNum type="arabicPeriod"/>
            </a:pPr>
            <a:endParaRPr lang="en-US" dirty="0"/>
          </a:p>
          <a:p>
            <a:pPr marL="228600" indent="-228600">
              <a:buFont typeface="+mj-lt"/>
              <a:buAutoNum type="arabicPeriod"/>
            </a:pPr>
            <a:r>
              <a:rPr lang="en-US" b="1" dirty="0"/>
              <a:t>Voting Paradoxes</a:t>
            </a:r>
            <a:r>
              <a:rPr lang="en-US" dirty="0"/>
              <a:t>: Social choice theory highlights various paradoxes and challenges in aggregating individual preferences. The Condorcet paradox, for example, occurs when a majority prefers alternative A to B, B to C, and C to A. Resolving such paradoxes is a key concern.</a:t>
            </a:r>
          </a:p>
          <a:p>
            <a:pPr marL="228600" indent="-228600">
              <a:buFont typeface="+mj-lt"/>
              <a:buAutoNum type="arabicPeriod"/>
            </a:pPr>
            <a:endParaRPr lang="en-US" dirty="0"/>
          </a:p>
          <a:p>
            <a:pPr marL="228600" indent="-228600">
              <a:buFont typeface="+mj-lt"/>
              <a:buAutoNum type="arabicPeriod"/>
            </a:pPr>
            <a:r>
              <a:rPr lang="en-US" b="1" dirty="0"/>
              <a:t>Fairness and Equity</a:t>
            </a:r>
            <a:r>
              <a:rPr lang="en-US" dirty="0"/>
              <a:t>: Social choice theory also delves into questions of fairness and equity in collective decision-making. It explores how to design mechanisms that consider the interests and welfare of all members of the group.</a:t>
            </a:r>
          </a:p>
          <a:p>
            <a:pPr marL="228600" indent="-228600">
              <a:buFont typeface="+mj-lt"/>
              <a:buAutoNum type="arabicPeriod"/>
            </a:pPr>
            <a:endParaRPr lang="en-US" dirty="0"/>
          </a:p>
          <a:p>
            <a:pPr marL="228600" indent="-228600">
              <a:buFont typeface="+mj-lt"/>
              <a:buAutoNum type="arabicPeriod"/>
            </a:pPr>
            <a:r>
              <a:rPr lang="en-US" b="1" dirty="0"/>
              <a:t>Public Choice</a:t>
            </a:r>
            <a:r>
              <a:rPr lang="en-US" dirty="0"/>
              <a:t>: In political science, social choice theory is applied to analyze the functioning of democratic systems, public policies, and the decision-making processes of governments and legislative bodies. It helps evaluate the implications of different voting rules and electoral systems.</a:t>
            </a:r>
          </a:p>
          <a:p>
            <a:pPr marL="228600" indent="-228600">
              <a:buFont typeface="+mj-lt"/>
              <a:buAutoNum type="arabicPeriod"/>
            </a:pPr>
            <a:endParaRPr lang="en-US" dirty="0"/>
          </a:p>
          <a:p>
            <a:pPr marL="228600" indent="-228600">
              <a:buFont typeface="+mj-lt"/>
              <a:buAutoNum type="arabicPeriod"/>
            </a:pPr>
            <a:r>
              <a:rPr lang="en-US" b="1" dirty="0"/>
              <a:t>Mechanism Design</a:t>
            </a:r>
            <a:r>
              <a:rPr lang="en-US" dirty="0"/>
              <a:t>: Beyond voting, social choice theory is used in mechanism design, where designers create rules or mechanisms that elicit truthful preferences from participants. This is especially relevant in auctions and public goods provision.</a:t>
            </a:r>
          </a:p>
          <a:p>
            <a:pPr marL="228600" indent="-228600">
              <a:buFont typeface="+mj-lt"/>
              <a:buAutoNum type="arabicPeriod"/>
            </a:pPr>
            <a:endParaRPr lang="en-US" dirty="0"/>
          </a:p>
          <a:p>
            <a:pPr marL="228600" indent="-228600">
              <a:buFont typeface="+mj-lt"/>
              <a:buAutoNum type="arabicPeriod"/>
            </a:pPr>
            <a:r>
              <a:rPr lang="en-US" b="1" dirty="0" err="1"/>
              <a:t>Borda</a:t>
            </a:r>
            <a:r>
              <a:rPr lang="en-US" b="1" dirty="0"/>
              <a:t> Count</a:t>
            </a:r>
            <a:r>
              <a:rPr lang="en-US" dirty="0"/>
              <a:t>: The </a:t>
            </a:r>
            <a:r>
              <a:rPr lang="en-US" dirty="0" err="1"/>
              <a:t>Borda</a:t>
            </a:r>
            <a:r>
              <a:rPr lang="en-US" dirty="0"/>
              <a:t> Count is a well-known voting method in social choice theory. It assigns points to each alternative based on the ranking provided by voters. The alternative with the highest total score is considered the winner.</a:t>
            </a:r>
          </a:p>
          <a:p>
            <a:endParaRPr lang="en-US" dirty="0"/>
          </a:p>
          <a:p>
            <a:r>
              <a:rPr lang="en-US" dirty="0"/>
              <a:t>Social choice theory is essential for understanding and improving decision-making processes in various contexts, from elections and public policy to market design and resource allocation. It offers a framework for exploring the trade-offs and challenges involved in aggregating individual preferences to reach a collective choice that respects fairness and equity.</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In social choice theory, a formal model is used to describe the components involved in collective decision-making. Here are the key elements of this formal model:</a:t>
                </a:r>
              </a:p>
              <a:p>
                <a:endParaRPr lang="en-US" dirty="0"/>
              </a:p>
              <a:p>
                <a:pPr marL="228600" indent="-228600">
                  <a:buFont typeface="+mj-lt"/>
                  <a:buAutoNum type="arabicPeriod"/>
                </a:pPr>
                <a:r>
                  <a:rPr lang="en-US" b="1" dirty="0"/>
                  <a:t>Agents/Voters (𝑁): </a:t>
                </a:r>
                <a:r>
                  <a:rPr lang="en-US" dirty="0"/>
                  <a:t>These are the individuals participating in the decision-making process. The set 𝑁 represents the voters, and it typically consists of 𝑛 individuals, where 𝑛 is the total number of agents.</a:t>
                </a:r>
              </a:p>
              <a:p>
                <a:pPr marL="228600" indent="-228600">
                  <a:buFont typeface="+mj-lt"/>
                  <a:buAutoNum type="arabicPeriod"/>
                </a:pPr>
                <a:endParaRPr lang="en-US" dirty="0"/>
              </a:p>
              <a:p>
                <a:pPr marL="228600" indent="-228600">
                  <a:buFont typeface="+mj-lt"/>
                  <a:buAutoNum type="arabicPeriod"/>
                </a:pPr>
                <a:r>
                  <a:rPr lang="en-US" b="1" dirty="0"/>
                  <a:t>Outcomes/Candidates (Ω): </a:t>
                </a:r>
                <a:r>
                  <a:rPr lang="en-US" dirty="0"/>
                  <a:t>These are the available alternatives, choices, or candidates that the agents are selecting from. The set Ω encompasses all the possible outcomes under consideration, denoted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oMath>
                </a14:m>
                <a:r>
                  <a:rPr lang="en-US" dirty="0"/>
                  <a:t>, and so on, up to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𝑘</m:t>
                        </m:r>
                      </m:sub>
                    </m:sSub>
                    <m:r>
                      <a:rPr lang="en-US" i="1" dirty="0" smtClean="0">
                        <a:latin typeface="Cambria Math" panose="02040503050406030204" pitchFamily="18" charset="0"/>
                      </a:rPr>
                      <m:t>.</m:t>
                    </m:r>
                  </m:oMath>
                </a14:m>
                <a:r>
                  <a:rPr lang="en-US" dirty="0"/>
                  <a:t> </a:t>
                </a:r>
              </a:p>
              <a:p>
                <a:pPr marL="228600" indent="-228600">
                  <a:buFont typeface="+mj-lt"/>
                  <a:buAutoNum type="arabicPeriod"/>
                </a:pPr>
                <a:endParaRPr lang="en-US" dirty="0"/>
              </a:p>
              <a:p>
                <a:pPr marL="228600" indent="-228600">
                  <a:buFont typeface="+mj-lt"/>
                  <a:buAutoNum type="arabicPeriod"/>
                </a:pPr>
                <a:r>
                  <a:rPr lang="en-US" b="1" dirty="0"/>
                  <a:t>Preference Orderings (Π(Ω)): </a:t>
                </a:r>
                <a:r>
                  <a:rPr lang="en-US" dirty="0"/>
                  <a:t>Each agent in the set 𝑁 has their own preference ordering over the outcomes in Ω. </a:t>
                </a:r>
                <a:r>
                  <a:rPr lang="en-US" u="sng" dirty="0"/>
                  <a:t>Π(Ω) represents the space of all possible preference orderings</a:t>
                </a:r>
                <a:r>
                  <a:rPr lang="en-US" dirty="0"/>
                  <a:t>. A preference ordering is a ranking of the outcomes, indicating the agent's order of preference from most preferred to least preferred.</a:t>
                </a:r>
              </a:p>
              <a:p>
                <a:endParaRPr lang="en-US" dirty="0"/>
              </a:p>
              <a:p>
                <a:r>
                  <a:rPr lang="en-US" dirty="0"/>
                  <a:t>These three components form the foundation of the formal model in social choice theory. The goal is to aggregate the individual preference orderings of the agents to determine a collective choice or outcome that represents the group's preferences. Various voting rules and mechanisms are designed and analyzed to achieve this aggregation, taking into account criteria such as fairness, consistency, and efficiency.</a:t>
                </a:r>
              </a:p>
              <a:p>
                <a:endParaRPr lang="en-US" dirty="0"/>
              </a:p>
              <a:p>
                <a:r>
                  <a:rPr lang="en-US" dirty="0"/>
                  <a:t>Social choice theory explores the complexities and challenges of finding a suitable method to arrive at a collective decision that respects the preferences and values of all agents, despite potentially conflicting individual rankings of the outcomes. This theory plays a crucial role in understanding democratic processes, voting systems, and collective decision-making in various fields, including economics, political science, ethics, and philosophy.</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In social choice theory, a formal model is used to describe the components involved in collective decision-making. Here are the key elements of this formal model:</a:t>
                </a:r>
              </a:p>
              <a:p>
                <a:endParaRPr lang="en-US" dirty="0"/>
              </a:p>
              <a:p>
                <a:pPr marL="228600" indent="-228600">
                  <a:buFont typeface="+mj-lt"/>
                  <a:buAutoNum type="arabicPeriod"/>
                </a:pPr>
                <a:r>
                  <a:rPr lang="en-US" b="1" dirty="0"/>
                  <a:t>Agents/Voters (𝑁): </a:t>
                </a:r>
                <a:r>
                  <a:rPr lang="en-US" dirty="0"/>
                  <a:t>These are the individuals participating in the decision-making process. The set 𝑁 represents the voters, and it typically consists of 𝑛 individuals, where 𝑛 is the total number of agents.</a:t>
                </a:r>
              </a:p>
              <a:p>
                <a:pPr marL="228600" indent="-228600">
                  <a:buFont typeface="+mj-lt"/>
                  <a:buAutoNum type="arabicPeriod"/>
                </a:pPr>
                <a:endParaRPr lang="en-US" dirty="0"/>
              </a:p>
              <a:p>
                <a:pPr marL="228600" indent="-228600">
                  <a:buFont typeface="+mj-lt"/>
                  <a:buAutoNum type="arabicPeriod"/>
                </a:pPr>
                <a:r>
                  <a:rPr lang="en-US" b="1" dirty="0"/>
                  <a:t>Outcomes/Candidates (Ω): </a:t>
                </a:r>
                <a:r>
                  <a:rPr lang="en-US" dirty="0"/>
                  <a:t>These are the available alternatives, choices, or candidates that the agents are selecting from. The set Ω encompasses all the possible outcomes under consideration, denoted as </a:t>
                </a:r>
                <a:r>
                  <a:rPr lang="en-US" i="0" dirty="0">
                    <a:latin typeface="Cambria Math" panose="02040503050406030204" pitchFamily="18" charset="0"/>
                  </a:rPr>
                  <a:t>𝜔_1</a:t>
                </a:r>
                <a:r>
                  <a:rPr lang="en-US" dirty="0"/>
                  <a:t>, </a:t>
                </a:r>
                <a:r>
                  <a:rPr lang="en-US" i="0" dirty="0">
                    <a:latin typeface="Cambria Math" panose="02040503050406030204" pitchFamily="18" charset="0"/>
                  </a:rPr>
                  <a:t>𝜔_2</a:t>
                </a:r>
                <a:r>
                  <a:rPr lang="en-US" dirty="0"/>
                  <a:t>, and so on, up to </a:t>
                </a:r>
                <a:r>
                  <a:rPr lang="en-US" i="0" dirty="0">
                    <a:latin typeface="Cambria Math" panose="02040503050406030204" pitchFamily="18" charset="0"/>
                  </a:rPr>
                  <a:t>𝜔_𝑘.</a:t>
                </a:r>
                <a:r>
                  <a:rPr lang="en-US" dirty="0"/>
                  <a:t> </a:t>
                </a:r>
              </a:p>
              <a:p>
                <a:pPr marL="228600" indent="-228600">
                  <a:buFont typeface="+mj-lt"/>
                  <a:buAutoNum type="arabicPeriod"/>
                </a:pPr>
                <a:endParaRPr lang="en-US" dirty="0"/>
              </a:p>
              <a:p>
                <a:pPr marL="228600" indent="-228600">
                  <a:buFont typeface="+mj-lt"/>
                  <a:buAutoNum type="arabicPeriod"/>
                </a:pPr>
                <a:r>
                  <a:rPr lang="en-US" b="1" dirty="0"/>
                  <a:t>Preference Orderings (Π(Ω)): </a:t>
                </a:r>
                <a:r>
                  <a:rPr lang="en-US" dirty="0"/>
                  <a:t>Each agent in the set 𝑁 has their own preference ordering over the outcomes in Ω. </a:t>
                </a:r>
                <a:r>
                  <a:rPr lang="en-US" u="sng" dirty="0"/>
                  <a:t>Π(Ω) represents the space of all possible preference orderings</a:t>
                </a:r>
                <a:r>
                  <a:rPr lang="en-US" dirty="0"/>
                  <a:t>. A preference ordering is a ranking of the outcomes, indicating the agent's order of preference from most preferred to least preferred.</a:t>
                </a:r>
              </a:p>
              <a:p>
                <a:endParaRPr lang="en-US" dirty="0"/>
              </a:p>
              <a:p>
                <a:r>
                  <a:rPr lang="en-US" dirty="0"/>
                  <a:t>These three components form the foundation of the formal model in social choice theory. The goal is to aggregate the individual preference orderings of the agents to determine a collective choice or outcome that represents the group's preferences. Various voting rules and mechanisms are designed and analyzed to achieve this aggregation, taking into account criteria such as fairness, consistency, and efficiency.</a:t>
                </a:r>
              </a:p>
              <a:p>
                <a:endParaRPr lang="en-US" dirty="0"/>
              </a:p>
              <a:p>
                <a:r>
                  <a:rPr lang="en-US" dirty="0"/>
                  <a:t>Social choice theory explores the complexities and challenges of finding a suitable method to arrive at a collective decision that respects the preferences and values of all agents, despite potentially conflicting individual rankings of the outcomes. This theory plays a crucial role in understanding democratic processes, voting systems, and collective decision-making in various fields, including economics, political science, ethics, and philosophy.</a:t>
                </a:r>
                <a:endParaRPr dirty="0"/>
              </a:p>
            </p:txBody>
          </p:sp>
        </mc:Fallback>
      </mc:AlternateContent>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In this example, we have an agent or voter, denoted as “</a:t>
                </a:r>
                <a:r>
                  <a:rPr lang="en-US" dirty="0" err="1"/>
                  <a:t>i</a:t>
                </a:r>
                <a:r>
                  <a:rPr lang="en-US" dirty="0"/>
                  <a:t>," with a preference ordering over a set of outcomes or candidates. The agent's preferences over the outcomes in the set Ω = {Australian, British, Canadian} are represented as follows:</a:t>
                </a:r>
              </a:p>
              <a:p>
                <a:endParaRPr lang="en-US" dirty="0"/>
              </a:p>
              <a:p>
                <a14:m>
                  <m:oMath xmlns:m="http://schemas.openxmlformats.org/officeDocument/2006/math">
                    <m:sSub>
                      <m:sSubPr>
                        <m:ctrlPr>
                          <a:rPr lang="en-US" b="0" i="1" dirty="0" smtClean="0">
                            <a:latin typeface="Cambria Math" panose="02040503050406030204" pitchFamily="18" charset="0"/>
                          </a:rPr>
                        </m:ctrlPr>
                      </m:sSubPr>
                      <m:e>
                        <m:r>
                          <m:rPr>
                            <m:sty m:val="p"/>
                          </m:rPr>
                          <a:rPr lang="en-US" i="0" dirty="0" smtClean="0">
                            <a:latin typeface="Cambria Math" panose="02040503050406030204" pitchFamily="18" charset="0"/>
                          </a:rPr>
                          <m:t>Π</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Ω</m:t>
                    </m:r>
                    <m:r>
                      <a:rPr lang="en-US" i="1" dirty="0" smtClean="0">
                        <a:latin typeface="Cambria Math" panose="02040503050406030204" pitchFamily="18" charset="0"/>
                      </a:rPr>
                      <m:t>) = </m:t>
                    </m:r>
                  </m:oMath>
                </a14:m>
                <a:r>
                  <a:rPr lang="en-US" dirty="0"/>
                  <a:t>British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m:t>
                        </m:r>
                      </m:e>
                      <m:sub>
                        <m:r>
                          <a:rPr lang="en-US" b="0" i="1" dirty="0" smtClean="0">
                            <a:latin typeface="Cambria Math" panose="02040503050406030204" pitchFamily="18" charset="0"/>
                          </a:rPr>
                          <m:t>𝑖</m:t>
                        </m:r>
                      </m:sub>
                    </m:sSub>
                    <m:r>
                      <a:rPr lang="en-US" i="1" dirty="0" smtClean="0">
                        <a:latin typeface="Cambria Math" panose="02040503050406030204" pitchFamily="18" charset="0"/>
                      </a:rPr>
                      <m:t> </m:t>
                    </m:r>
                  </m:oMath>
                </a14:m>
                <a:r>
                  <a:rPr lang="en-US" dirty="0"/>
                  <a:t>Australian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m:t>
                        </m:r>
                      </m:e>
                      <m:sub>
                        <m:r>
                          <a:rPr lang="en-US" b="0" i="1" dirty="0" smtClean="0">
                            <a:latin typeface="Cambria Math" panose="02040503050406030204" pitchFamily="18" charset="0"/>
                          </a:rPr>
                          <m:t>𝑖</m:t>
                        </m:r>
                      </m:sub>
                    </m:sSub>
                  </m:oMath>
                </a14:m>
                <a:r>
                  <a:rPr lang="en-US" dirty="0"/>
                  <a:t> Canadian</a:t>
                </a:r>
              </a:p>
              <a:p>
                <a:endParaRPr lang="en-US" dirty="0"/>
              </a:p>
              <a:p>
                <a:r>
                  <a:rPr lang="en-US" dirty="0"/>
                  <a:t>In this preference ordering:</a:t>
                </a:r>
              </a:p>
              <a:p>
                <a:endParaRPr lang="en-US" dirty="0"/>
              </a:p>
              <a:p>
                <a:pPr marL="171450" indent="-171450">
                  <a:buFont typeface="Arial" panose="020B0604020202020204" pitchFamily="34" charset="0"/>
                  <a:buChar char="•"/>
                </a:pPr>
                <a:r>
                  <a:rPr lang="en-US" dirty="0"/>
                  <a:t>The symbol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m:t>
                        </m:r>
                      </m:e>
                      <m:sub>
                        <m:r>
                          <a:rPr lang="en-US" b="0" i="1" dirty="0" smtClean="0">
                            <a:latin typeface="Cambria Math" panose="02040503050406030204" pitchFamily="18" charset="0"/>
                          </a:rPr>
                          <m:t>𝑖</m:t>
                        </m:r>
                      </m:sub>
                    </m:sSub>
                  </m:oMath>
                </a14:m>
                <a:r>
                  <a:rPr lang="en-US" dirty="0"/>
                  <a:t>" represents "preferred to" or "greater preference" for agent </a:t>
                </a:r>
                <a14:m>
                  <m:oMath xmlns:m="http://schemas.openxmlformats.org/officeDocument/2006/math">
                    <m:r>
                      <a:rPr lang="en-US" b="0" i="1" dirty="0" smtClean="0">
                        <a:latin typeface="Cambria Math" panose="02040503050406030204" pitchFamily="18" charset="0"/>
                      </a:rPr>
                      <m:t>𝑖</m:t>
                    </m:r>
                  </m:oMath>
                </a14:m>
                <a:r>
                  <a:rPr lang="en-US" dirty="0" err="1"/>
                  <a:t>.</a:t>
                </a:r>
                <a:endParaRPr lang="en-US" dirty="0"/>
              </a:p>
              <a:p>
                <a:pPr marL="171450" indent="-171450">
                  <a:buFont typeface="Arial" panose="020B0604020202020204" pitchFamily="34" charset="0"/>
                  <a:buChar char="•"/>
                </a:pPr>
                <a:r>
                  <a:rPr lang="en-US" dirty="0"/>
                  <a:t>The agent </a:t>
                </a:r>
                <a14:m>
                  <m:oMath xmlns:m="http://schemas.openxmlformats.org/officeDocument/2006/math">
                    <m:r>
                      <a:rPr lang="en-US" b="0" i="1" dirty="0" smtClean="0">
                        <a:latin typeface="Cambria Math" panose="02040503050406030204" pitchFamily="18" charset="0"/>
                      </a:rPr>
                      <m:t>𝑖</m:t>
                    </m:r>
                  </m:oMath>
                </a14:m>
                <a:r>
                  <a:rPr lang="en-US" dirty="0" err="1"/>
                  <a:t>'s</a:t>
                </a:r>
                <a:r>
                  <a:rPr lang="en-US" dirty="0"/>
                  <a:t> most preferred outcome is "British."</a:t>
                </a:r>
              </a:p>
              <a:p>
                <a:pPr marL="171450" indent="-171450">
                  <a:buFont typeface="Arial" panose="020B0604020202020204" pitchFamily="34" charset="0"/>
                  <a:buChar char="•"/>
                </a:pPr>
                <a:r>
                  <a:rPr lang="en-US" dirty="0"/>
                  <a:t>The agent </a:t>
                </a:r>
                <a14:m>
                  <m:oMath xmlns:m="http://schemas.openxmlformats.org/officeDocument/2006/math">
                    <m:r>
                      <a:rPr lang="en-US" b="0" i="1" dirty="0" smtClean="0">
                        <a:latin typeface="Cambria Math" panose="02040503050406030204" pitchFamily="18" charset="0"/>
                      </a:rPr>
                      <m:t>𝑖</m:t>
                    </m:r>
                  </m:oMath>
                </a14:m>
                <a:r>
                  <a:rPr lang="en-US" dirty="0" err="1"/>
                  <a:t>'s</a:t>
                </a:r>
                <a:r>
                  <a:rPr lang="en-US" dirty="0"/>
                  <a:t> second preference is "Australian."</a:t>
                </a:r>
              </a:p>
              <a:p>
                <a:pPr marL="171450" indent="-171450">
                  <a:buFont typeface="Arial" panose="020B0604020202020204" pitchFamily="34" charset="0"/>
                  <a:buChar char="•"/>
                </a:pPr>
                <a:r>
                  <a:rPr lang="en-US" dirty="0"/>
                  <a:t>The agent </a:t>
                </a:r>
                <a14:m>
                  <m:oMath xmlns:m="http://schemas.openxmlformats.org/officeDocument/2006/math">
                    <m:r>
                      <a:rPr lang="en-US" b="0" i="1" dirty="0" smtClean="0">
                        <a:latin typeface="Cambria Math" panose="02040503050406030204" pitchFamily="18" charset="0"/>
                      </a:rPr>
                      <m:t>𝑖</m:t>
                    </m:r>
                  </m:oMath>
                </a14:m>
                <a:r>
                  <a:rPr lang="en-US" dirty="0" err="1"/>
                  <a:t>'s</a:t>
                </a:r>
                <a:r>
                  <a:rPr lang="en-US" dirty="0"/>
                  <a:t> least preferred outcome is "Canadian."</a:t>
                </a:r>
              </a:p>
              <a:p>
                <a:endParaRPr lang="en-US" dirty="0"/>
              </a:p>
              <a:p>
                <a:r>
                  <a:rPr lang="en-US" dirty="0"/>
                  <a:t>This preference ordering reflects agent </a:t>
                </a:r>
                <a14:m>
                  <m:oMath xmlns:m="http://schemas.openxmlformats.org/officeDocument/2006/math">
                    <m:r>
                      <a:rPr lang="en-US" b="0" i="1" smtClean="0">
                        <a:latin typeface="Cambria Math" panose="02040503050406030204" pitchFamily="18" charset="0"/>
                      </a:rPr>
                      <m:t>𝑖</m:t>
                    </m:r>
                  </m:oMath>
                </a14:m>
                <a:r>
                  <a:rPr lang="en-US" dirty="0"/>
                  <a:t>'s ranking of the three candidates or outcomes based on their preferences. Such preference orderings are essential in social choice theory and voting systems to understand how individuals prioritize and rank different options or candidates when making collective decisions.</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In this example, we have an agent or voter, denoted as "</a:t>
                </a:r>
                <a:r>
                  <a:rPr lang="en-US" dirty="0" err="1"/>
                  <a:t>jg</a:t>
                </a:r>
                <a:r>
                  <a:rPr lang="en-US" dirty="0"/>
                  <a:t>," with a preference ordering over a set of outcomes or candidates. The agent's preferences over the outcomes in the set Ω = {Australian, British, Canadian} are represented as follows:</a:t>
                </a:r>
              </a:p>
              <a:p>
                <a:endParaRPr lang="en-US" dirty="0"/>
              </a:p>
              <a:p>
                <a:r>
                  <a:rPr lang="en-US" i="0" dirty="0">
                    <a:latin typeface="Cambria Math" panose="02040503050406030204" pitchFamily="18" charset="0"/>
                  </a:rPr>
                  <a:t>Π</a:t>
                </a:r>
                <a:r>
                  <a:rPr lang="en-US" b="0" i="0" dirty="0">
                    <a:latin typeface="Cambria Math" panose="02040503050406030204" pitchFamily="18" charset="0"/>
                  </a:rPr>
                  <a:t>_</a:t>
                </a:r>
                <a:r>
                  <a:rPr lang="en-US" i="0" dirty="0" err="1">
                    <a:latin typeface="Cambria Math" panose="02040503050406030204" pitchFamily="18" charset="0"/>
                  </a:rPr>
                  <a:t>𝑗𝑔</a:t>
                </a:r>
                <a:r>
                  <a:rPr lang="en-US" i="0" dirty="0">
                    <a:latin typeface="Cambria Math" panose="02040503050406030204" pitchFamily="18" charset="0"/>
                  </a:rPr>
                  <a:t> (Ω) = </a:t>
                </a:r>
                <a:r>
                  <a:rPr lang="en-US" dirty="0"/>
                  <a:t>British </a:t>
                </a:r>
                <a:r>
                  <a:rPr lang="en-US" i="0" dirty="0">
                    <a:latin typeface="Cambria Math" panose="02040503050406030204" pitchFamily="18" charset="0"/>
                  </a:rPr>
                  <a:t>≻</a:t>
                </a:r>
                <a:r>
                  <a:rPr lang="en-US" b="0" i="0" dirty="0">
                    <a:latin typeface="Cambria Math" panose="02040503050406030204" pitchFamily="18" charset="0"/>
                  </a:rPr>
                  <a:t>_</a:t>
                </a:r>
                <a:r>
                  <a:rPr lang="en-US" i="0" dirty="0" err="1">
                    <a:latin typeface="Cambria Math" panose="02040503050406030204" pitchFamily="18" charset="0"/>
                  </a:rPr>
                  <a:t>𝑗𝑔</a:t>
                </a:r>
                <a:r>
                  <a:rPr lang="en-US" i="0" dirty="0">
                    <a:latin typeface="Cambria Math" panose="02040503050406030204" pitchFamily="18" charset="0"/>
                  </a:rPr>
                  <a:t>  </a:t>
                </a:r>
                <a:r>
                  <a:rPr lang="en-US" dirty="0"/>
                  <a:t>Australian </a:t>
                </a:r>
                <a:r>
                  <a:rPr lang="en-US" i="0" dirty="0">
                    <a:latin typeface="Cambria Math" panose="02040503050406030204" pitchFamily="18" charset="0"/>
                  </a:rPr>
                  <a:t>≻</a:t>
                </a:r>
                <a:r>
                  <a:rPr lang="en-US" b="0" i="0" dirty="0">
                    <a:latin typeface="Cambria Math" panose="02040503050406030204" pitchFamily="18" charset="0"/>
                  </a:rPr>
                  <a:t>_</a:t>
                </a:r>
                <a:r>
                  <a:rPr lang="en-US" i="0" dirty="0" err="1">
                    <a:latin typeface="Cambria Math" panose="02040503050406030204" pitchFamily="18" charset="0"/>
                  </a:rPr>
                  <a:t>𝑗𝑔</a:t>
                </a:r>
                <a:r>
                  <a:rPr lang="en-US" dirty="0"/>
                  <a:t> Canadian</a:t>
                </a:r>
              </a:p>
              <a:p>
                <a:endParaRPr lang="en-US" dirty="0"/>
              </a:p>
              <a:p>
                <a:r>
                  <a:rPr lang="en-US" dirty="0"/>
                  <a:t>In this preference ordering:</a:t>
                </a:r>
              </a:p>
              <a:p>
                <a:endParaRPr lang="en-US" dirty="0"/>
              </a:p>
              <a:p>
                <a:pPr marL="171450" indent="-171450">
                  <a:buFont typeface="Arial" panose="020B0604020202020204" pitchFamily="34" charset="0"/>
                  <a:buChar char="•"/>
                </a:pPr>
                <a:r>
                  <a:rPr lang="en-US" dirty="0"/>
                  <a:t>The symbol "</a:t>
                </a:r>
                <a:r>
                  <a:rPr lang="en-US" i="0" dirty="0">
                    <a:latin typeface="Cambria Math" panose="02040503050406030204" pitchFamily="18" charset="0"/>
                  </a:rPr>
                  <a:t>≻</a:t>
                </a:r>
                <a:r>
                  <a:rPr lang="en-US" b="0" i="0" dirty="0">
                    <a:latin typeface="Cambria Math" panose="02040503050406030204" pitchFamily="18" charset="0"/>
                  </a:rPr>
                  <a:t>_</a:t>
                </a:r>
                <a:r>
                  <a:rPr lang="en-US" i="0" dirty="0" err="1">
                    <a:latin typeface="Cambria Math" panose="02040503050406030204" pitchFamily="18" charset="0"/>
                  </a:rPr>
                  <a:t>𝑗𝑔</a:t>
                </a:r>
                <a:r>
                  <a:rPr lang="en-US" dirty="0"/>
                  <a:t>" represents "preferred to" or "greater preference" for agent </a:t>
                </a:r>
                <a:r>
                  <a:rPr lang="en-US" i="0" dirty="0">
                    <a:latin typeface="Cambria Math" panose="02040503050406030204" pitchFamily="18" charset="0"/>
                  </a:rPr>
                  <a:t>𝑗𝑔</a:t>
                </a:r>
                <a:r>
                  <a:rPr lang="en-US" dirty="0" err="1"/>
                  <a:t>.</a:t>
                </a:r>
                <a:endParaRPr lang="en-US" dirty="0"/>
              </a:p>
              <a:p>
                <a:pPr marL="171450" indent="-171450">
                  <a:buFont typeface="Arial" panose="020B0604020202020204" pitchFamily="34" charset="0"/>
                  <a:buChar char="•"/>
                </a:pPr>
                <a:r>
                  <a:rPr lang="en-US" dirty="0"/>
                  <a:t>The agent </a:t>
                </a:r>
                <a:r>
                  <a:rPr lang="en-US" i="0" dirty="0">
                    <a:latin typeface="Cambria Math" panose="02040503050406030204" pitchFamily="18" charset="0"/>
                  </a:rPr>
                  <a:t>𝑗𝑔</a:t>
                </a:r>
                <a:r>
                  <a:rPr lang="en-US" dirty="0" err="1"/>
                  <a:t>'s</a:t>
                </a:r>
                <a:r>
                  <a:rPr lang="en-US" dirty="0"/>
                  <a:t> most preferred outcome is "British."</a:t>
                </a:r>
              </a:p>
              <a:p>
                <a:pPr marL="171450" indent="-171450">
                  <a:buFont typeface="Arial" panose="020B0604020202020204" pitchFamily="34" charset="0"/>
                  <a:buChar char="•"/>
                </a:pPr>
                <a:r>
                  <a:rPr lang="en-US" dirty="0"/>
                  <a:t>The agent </a:t>
                </a:r>
                <a:r>
                  <a:rPr lang="en-US" i="0" dirty="0">
                    <a:latin typeface="Cambria Math" panose="02040503050406030204" pitchFamily="18" charset="0"/>
                  </a:rPr>
                  <a:t>𝑗𝑔</a:t>
                </a:r>
                <a:r>
                  <a:rPr lang="en-US" dirty="0" err="1"/>
                  <a:t>'s</a:t>
                </a:r>
                <a:r>
                  <a:rPr lang="en-US" dirty="0"/>
                  <a:t> second preference is "Australian."</a:t>
                </a:r>
              </a:p>
              <a:p>
                <a:pPr marL="171450" indent="-171450">
                  <a:buFont typeface="Arial" panose="020B0604020202020204" pitchFamily="34" charset="0"/>
                  <a:buChar char="•"/>
                </a:pPr>
                <a:r>
                  <a:rPr lang="en-US" dirty="0"/>
                  <a:t>The agent </a:t>
                </a:r>
                <a:r>
                  <a:rPr lang="en-US" i="0" dirty="0">
                    <a:latin typeface="Cambria Math" panose="02040503050406030204" pitchFamily="18" charset="0"/>
                  </a:rPr>
                  <a:t>𝑗𝑔</a:t>
                </a:r>
                <a:r>
                  <a:rPr lang="en-US" dirty="0" err="1"/>
                  <a:t>'s</a:t>
                </a:r>
                <a:r>
                  <a:rPr lang="en-US" dirty="0"/>
                  <a:t> least preferred outcome is "Canadian."</a:t>
                </a:r>
              </a:p>
              <a:p>
                <a:endParaRPr lang="en-US" dirty="0"/>
              </a:p>
              <a:p>
                <a:r>
                  <a:rPr lang="en-US" dirty="0"/>
                  <a:t>This preference ordering reflects agent </a:t>
                </a:r>
                <a:r>
                  <a:rPr lang="en-US" i="0" dirty="0">
                    <a:latin typeface="Cambria Math" panose="02040503050406030204" pitchFamily="18" charset="0"/>
                  </a:rPr>
                  <a:t>𝑗𝑔</a:t>
                </a:r>
                <a:r>
                  <a:rPr lang="en-US" dirty="0" err="1"/>
                  <a:t>'s</a:t>
                </a:r>
                <a:r>
                  <a:rPr lang="en-US" dirty="0"/>
                  <a:t> ranking of the three candidates or outcomes based on their preferences. Such preference orderings are essential in social choice theory and voting systems to understand how individuals prioritize and rank different options or candidates when making collective decisions.</a:t>
                </a:r>
                <a:endParaRPr dirty="0"/>
              </a:p>
            </p:txBody>
          </p:sp>
        </mc:Fallback>
      </mc:AlternateContent>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Aggregating preferences is a fundamental problem in social choice theory, which deals with making collective decisions based on individual preferences. The basic problem can be described as follows:</a:t>
            </a:r>
          </a:p>
          <a:p>
            <a:endParaRPr lang="en-US" dirty="0"/>
          </a:p>
          <a:p>
            <a:r>
              <a:rPr lang="en-US" b="1" dirty="0"/>
              <a:t>Given</a:t>
            </a:r>
            <a:r>
              <a:rPr lang="en-US" dirty="0"/>
              <a:t>: A collection of preference orders {Π𝑖(Ω)} for each agent 𝑖 in the set 𝑁.</a:t>
            </a:r>
          </a:p>
          <a:p>
            <a:endParaRPr lang="en-US" dirty="0"/>
          </a:p>
          <a:p>
            <a:r>
              <a:rPr lang="en-US" b="1" dirty="0"/>
              <a:t>Question</a:t>
            </a:r>
            <a:r>
              <a:rPr lang="en-US" dirty="0"/>
              <a:t>: How do we combine these individual preference orders to derive a social outcome or group decision that best represents the preferences of all the agents in the system?</a:t>
            </a:r>
          </a:p>
          <a:p>
            <a:endParaRPr lang="en-US" dirty="0"/>
          </a:p>
          <a:p>
            <a:r>
              <a:rPr lang="en-US" dirty="0"/>
              <a:t>To tackle this problem, there are two common approaches or variants:</a:t>
            </a:r>
          </a:p>
          <a:p>
            <a:endParaRPr lang="en-US" dirty="0"/>
          </a:p>
          <a:p>
            <a:pPr marL="228600" indent="-228600">
              <a:buFont typeface="+mj-lt"/>
              <a:buAutoNum type="arabicPeriod"/>
            </a:pPr>
            <a:r>
              <a:rPr lang="en-US" b="1" dirty="0"/>
              <a:t>Social Welfare Functions</a:t>
            </a:r>
            <a:r>
              <a:rPr lang="en-US" dirty="0"/>
              <a:t>: These functions aim to determine a social outcome or group preference order that reflects the collective preferences of the agents while considering various criteria, such as </a:t>
            </a:r>
            <a:r>
              <a:rPr lang="en-US" u="sng" dirty="0"/>
              <a:t>fairness and efficiency</a:t>
            </a:r>
            <a:r>
              <a:rPr lang="en-US" dirty="0"/>
              <a:t>.</a:t>
            </a:r>
          </a:p>
          <a:p>
            <a:pPr marL="228600" indent="-228600">
              <a:buFont typeface="+mj-lt"/>
              <a:buAutoNum type="arabicPeriod"/>
            </a:pPr>
            <a:endParaRPr lang="en-US" dirty="0"/>
          </a:p>
          <a:p>
            <a:pPr marL="228600" indent="-228600">
              <a:buFont typeface="+mj-lt"/>
              <a:buAutoNum type="arabicPeriod"/>
            </a:pPr>
            <a:r>
              <a:rPr lang="en-US" b="1" dirty="0"/>
              <a:t>Social Choice Functions</a:t>
            </a:r>
            <a:r>
              <a:rPr lang="en-US" dirty="0"/>
              <a:t>: These functions focus on identifying a specific alternative or outcome that will be selected as the group's choice based on the individual preferences of the agents. Social choice functions are concerned with selecting the most preferred option according to some predefined rules or criteria.</a:t>
            </a:r>
          </a:p>
          <a:p>
            <a:endParaRPr lang="en-US" dirty="0"/>
          </a:p>
          <a:p>
            <a:r>
              <a:rPr lang="en-US" dirty="0"/>
              <a:t>Both social welfare functions and social choice functions play essential roles in understanding and addressing the challenges of aggregating preferences in collective decision-making processes. These methods are used in contexts like voting systems, resource allocation, and public policy decision-making.</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In social choice theory, social welfare functions are used to determine a collective preference order or ranking of outcomes based on the individual preferences of agents or voters. Here are the key components of social welfare functions:</a:t>
                </a:r>
              </a:p>
              <a:p>
                <a:endParaRPr lang="en-US" dirty="0"/>
              </a:p>
              <a:p>
                <a:pPr marL="228600" indent="-228600">
                  <a:buFont typeface="+mj-lt"/>
                  <a:buAutoNum type="arabicPeriod"/>
                </a:pPr>
                <a:r>
                  <a:rPr lang="en-US" b="1" dirty="0"/>
                  <a:t>Agents/Voters: </a:t>
                </a:r>
                <a:r>
                  <a:rPr lang="en-US" dirty="0"/>
                  <a:t>The set of agents or voters is denoted as 𝑁 = {1, 2, ..., 𝑛}, where 𝑛 represents the total number of agents participating in the decision-making process.</a:t>
                </a:r>
              </a:p>
              <a:p>
                <a:pPr marL="228600" indent="-228600">
                  <a:buFont typeface="+mj-lt"/>
                  <a:buAutoNum type="arabicPeriod"/>
                </a:pPr>
                <a:endParaRPr lang="en-US" dirty="0"/>
              </a:p>
              <a:p>
                <a:pPr marL="228600" indent="-228600">
                  <a:buFont typeface="+mj-lt"/>
                  <a:buAutoNum type="arabicPeriod"/>
                </a:pPr>
                <a:r>
                  <a:rPr lang="en-US" b="1" dirty="0"/>
                  <a:t>Outcomes/Candidates: </a:t>
                </a:r>
                <a:r>
                  <a:rPr lang="en-US" dirty="0"/>
                  <a:t>The set of potential outcomes or candidates is represented as Ω = {𝜔₁, 𝜔₂, ..., 𝜔ₖ}, where 𝑘 is the total number of possible alternatives.</a:t>
                </a:r>
              </a:p>
              <a:p>
                <a:pPr marL="228600" indent="-228600">
                  <a:buFont typeface="+mj-lt"/>
                  <a:buAutoNum type="arabicPeriod"/>
                </a:pPr>
                <a:endParaRPr lang="en-US" dirty="0"/>
              </a:p>
              <a:p>
                <a:pPr marL="228600" indent="-228600">
                  <a:buFont typeface="+mj-lt"/>
                  <a:buAutoNum type="arabicPeriod"/>
                </a:pPr>
                <a:r>
                  <a:rPr lang="en-US" b="1" dirty="0"/>
                  <a:t>Preference Orderings: </a:t>
                </a:r>
                <a:r>
                  <a:rPr lang="en-US" dirty="0"/>
                  <a:t>Each agent 𝑖 in 𝑁 has a preference ordering, Π𝑖(Ω), which specifies their ranked preferences over the outcomes in Ω. For example, Π₁(Ω) might represent the preference order of the first agent.</a:t>
                </a:r>
              </a:p>
              <a:p>
                <a:endParaRPr lang="en-US" dirty="0"/>
              </a:p>
              <a:p>
                <a:r>
                  <a:rPr lang="en-US" dirty="0"/>
                  <a:t>A social welfare function, denoted as 𝑓, takes the individual preference orderings of all agents (Π₁(Ω), Π₂(Ω), ..., Π𝑛(Ω)) and produces a social preference order, often denoted as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m:t>
                        </m:r>
                      </m:e>
                      <m:sup>
                        <m:r>
                          <a:rPr lang="en-US" i="1" dirty="0" smtClean="0">
                            <a:latin typeface="Cambria Math" panose="02040503050406030204" pitchFamily="18" charset="0"/>
                          </a:rPr>
                          <m:t>∗</m:t>
                        </m:r>
                      </m:sup>
                    </m:sSup>
                  </m:oMath>
                </a14:m>
                <a:r>
                  <a:rPr lang="en-US" dirty="0"/>
                  <a:t>. This social preference order represents the collective ranking of outcomes that best captures the preferences of the entire group.</a:t>
                </a:r>
              </a:p>
              <a:p>
                <a:endParaRPr lang="en-US" dirty="0"/>
              </a:p>
              <a:p>
                <a:r>
                  <a:rPr lang="en-US" dirty="0"/>
                  <a:t>The social preference order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m:t>
                        </m:r>
                      </m:e>
                      <m:sup>
                        <m:r>
                          <a:rPr lang="en-US" i="1" dirty="0" smtClean="0">
                            <a:latin typeface="Cambria Math" panose="02040503050406030204" pitchFamily="18" charset="0"/>
                          </a:rPr>
                          <m:t>∗</m:t>
                        </m:r>
                      </m:sup>
                    </m:sSup>
                    <m:r>
                      <a:rPr lang="en-US" i="1" dirty="0" smtClean="0">
                        <a:latin typeface="Cambria Math" panose="02040503050406030204" pitchFamily="18" charset="0"/>
                      </a:rPr>
                      <m:t> </m:t>
                    </m:r>
                  </m:oMath>
                </a14:m>
                <a:r>
                  <a:rPr lang="en-US" dirty="0"/>
                  <a:t>is determined by aggregating the individual preference orders based on some predefined rules or criteria. Social welfare functions are designed to address questions like "What is the collective ranking of outcomes that maximizes overall social welfare?" and aim to make group decisions that consider fairness, efficiency, and other societal values.</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In social choice theory, social welfare functions are used to determine a collective preference order or ranking of outcomes based on the individual preferences of agents or voters. Here are the key components of social welfare functions:</a:t>
                </a:r>
              </a:p>
              <a:p>
                <a:endParaRPr lang="en-US" dirty="0"/>
              </a:p>
              <a:p>
                <a:pPr marL="228600" indent="-228600">
                  <a:buFont typeface="+mj-lt"/>
                  <a:buAutoNum type="arabicPeriod"/>
                </a:pPr>
                <a:r>
                  <a:rPr lang="en-US" b="1" dirty="0"/>
                  <a:t>Agents/Voters: </a:t>
                </a:r>
                <a:r>
                  <a:rPr lang="en-US" dirty="0"/>
                  <a:t>The set of agents or voters is denoted as 𝑁 = {1, 2, ..., 𝑛}, where 𝑛 represents the total number of agents participating in the decision-making process.</a:t>
                </a:r>
              </a:p>
              <a:p>
                <a:pPr marL="228600" indent="-228600">
                  <a:buFont typeface="+mj-lt"/>
                  <a:buAutoNum type="arabicPeriod"/>
                </a:pPr>
                <a:endParaRPr lang="en-US" dirty="0"/>
              </a:p>
              <a:p>
                <a:pPr marL="228600" indent="-228600">
                  <a:buFont typeface="+mj-lt"/>
                  <a:buAutoNum type="arabicPeriod"/>
                </a:pPr>
                <a:r>
                  <a:rPr lang="en-US" b="1" dirty="0"/>
                  <a:t>Outcomes/Candidates: </a:t>
                </a:r>
                <a:r>
                  <a:rPr lang="en-US" dirty="0"/>
                  <a:t>The set of potential outcomes or candidates is represented as Ω = {𝜔₁, 𝜔₂, ..., 𝜔ₖ}, where 𝑘 is the total number of possible alternatives.</a:t>
                </a:r>
              </a:p>
              <a:p>
                <a:pPr marL="228600" indent="-228600">
                  <a:buFont typeface="+mj-lt"/>
                  <a:buAutoNum type="arabicPeriod"/>
                </a:pPr>
                <a:endParaRPr lang="en-US" dirty="0"/>
              </a:p>
              <a:p>
                <a:pPr marL="228600" indent="-228600">
                  <a:buFont typeface="+mj-lt"/>
                  <a:buAutoNum type="arabicPeriod"/>
                </a:pPr>
                <a:r>
                  <a:rPr lang="en-US" b="1" dirty="0"/>
                  <a:t>Preference Orderings: </a:t>
                </a:r>
                <a:r>
                  <a:rPr lang="en-US" dirty="0"/>
                  <a:t>Each agent 𝑖 in 𝑁 has a preference ordering, Π𝑖(Ω), which specifies their ranked preferences over the outcomes in Ω. For example, Π₁(Ω) might represent the preference order of the first agent.</a:t>
                </a:r>
              </a:p>
              <a:p>
                <a:endParaRPr lang="en-US" dirty="0"/>
              </a:p>
              <a:p>
                <a:r>
                  <a:rPr lang="en-US" dirty="0"/>
                  <a:t>A social welfare function, denoted as 𝑓, takes the individual preference orderings of all agents (Π₁(Ω), Π₂(Ω), ..., Π𝑛(Ω)) and produces a social preference order, often denoted as </a:t>
                </a:r>
                <a:r>
                  <a:rPr lang="en-US" i="0" dirty="0">
                    <a:latin typeface="Cambria Math" panose="02040503050406030204" pitchFamily="18" charset="0"/>
                  </a:rPr>
                  <a:t>≻^∗</a:t>
                </a:r>
                <a:r>
                  <a:rPr lang="en-US" dirty="0"/>
                  <a:t>. This social preference order represents the collective ranking of outcomes that best captures the preferences of the entire group.</a:t>
                </a:r>
              </a:p>
              <a:p>
                <a:endParaRPr lang="en-US" dirty="0"/>
              </a:p>
              <a:p>
                <a:r>
                  <a:rPr lang="en-US" dirty="0"/>
                  <a:t>The social preference order </a:t>
                </a:r>
                <a:r>
                  <a:rPr lang="en-US" i="0" dirty="0">
                    <a:latin typeface="Cambria Math" panose="02040503050406030204" pitchFamily="18" charset="0"/>
                  </a:rPr>
                  <a:t>≻^∗  </a:t>
                </a:r>
                <a:r>
                  <a:rPr lang="en-US" dirty="0"/>
                  <a:t>is determined by aggregating the individual preference orders based on some predefined rules or criteria. Social welfare functions are designed to address questions like "What is the collective ranking of outcomes that maximizes overall social welfare?" and aim to make group decisions that consider fairness, efficiency, and other societal values.</a:t>
                </a:r>
                <a:endParaRPr dirty="0"/>
              </a:p>
            </p:txBody>
          </p:sp>
        </mc:Fallback>
      </mc:AlternateContent>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In social choice theory, social choice functions are employed to determine the winning outcome or "winner" of an election based on the individual preferences of agents or voters. Here are the key components of social choice functions:</a:t>
                </a:r>
              </a:p>
              <a:p>
                <a:endParaRPr lang="en-US" dirty="0"/>
              </a:p>
              <a:p>
                <a:pPr marL="228600" indent="-228600">
                  <a:buFont typeface="+mj-lt"/>
                  <a:buAutoNum type="arabicPeriod"/>
                </a:pPr>
                <a:r>
                  <a:rPr lang="en-US" b="1" dirty="0"/>
                  <a:t>Agents/Voters: </a:t>
                </a:r>
                <a:r>
                  <a:rPr lang="en-US" dirty="0"/>
                  <a:t>The set of agents or voters is represented as 𝑁 = {1, 2, ..., 𝑛}, where 𝑛 indicates the total number of agents participating in the election.</a:t>
                </a:r>
              </a:p>
              <a:p>
                <a:pPr marL="228600" indent="-228600">
                  <a:buFont typeface="+mj-lt"/>
                  <a:buAutoNum type="arabicPeriod"/>
                </a:pPr>
                <a:endParaRPr lang="en-US" dirty="0"/>
              </a:p>
              <a:p>
                <a:pPr marL="228600" indent="-228600">
                  <a:buFont typeface="+mj-lt"/>
                  <a:buAutoNum type="arabicPeriod"/>
                </a:pPr>
                <a:r>
                  <a:rPr lang="en-US" b="1" dirty="0"/>
                  <a:t>Outcomes/Candidates: </a:t>
                </a:r>
                <a:r>
                  <a:rPr lang="en-US" dirty="0"/>
                  <a:t>The set of potential outcomes or candidates is defined as Ω = {𝜔₁, 𝜔₂, ..., 𝜔ₖ}, where 𝑘 is the total number of possible alternatives or candidates.</a:t>
                </a:r>
              </a:p>
              <a:p>
                <a:pPr marL="228600" indent="-228600">
                  <a:buFont typeface="+mj-lt"/>
                  <a:buAutoNum type="arabicPeriod"/>
                </a:pPr>
                <a:endParaRPr lang="en-US" dirty="0"/>
              </a:p>
              <a:p>
                <a:pPr marL="228600" indent="-228600">
                  <a:buFont typeface="+mj-lt"/>
                  <a:buAutoNum type="arabicPeriod"/>
                </a:pPr>
                <a:r>
                  <a:rPr lang="en-US" b="1" dirty="0"/>
                  <a:t>Preference Orderings: </a:t>
                </a:r>
                <a:r>
                  <a:rPr lang="en-US" dirty="0"/>
                  <a:t>Each agent 𝑖 in 𝑁 has a preference ordering, Π𝑖(Ω), which specifies their ranked preferences over the outcomes in Ω.</a:t>
                </a:r>
              </a:p>
              <a:p>
                <a:endParaRPr lang="en-US" dirty="0"/>
              </a:p>
              <a:p>
                <a:r>
                  <a:rPr lang="en-US" dirty="0"/>
                  <a:t>A social choice function, denoted as 𝑓, takes the individual preference orderings of all agents (Π₁(Ω), Π₂(Ω), ..., Π𝑛(Ω)) and produces a social outcome, often represented by the "winner" ω, which is an element of Ω.</a:t>
                </a:r>
              </a:p>
              <a:p>
                <a:endParaRPr lang="en-US" dirty="0"/>
              </a:p>
              <a:p>
                <a:r>
                  <a:rPr lang="en-US" dirty="0"/>
                  <a:t>The winning outcome ω ∈ Ω is determined by the social choice function in such a way that it satisfies the condition:</a:t>
                </a:r>
              </a:p>
              <a:p>
                <a:endParaRPr lang="en-US" dirty="0"/>
              </a:p>
              <a:p>
                <a14:m>
                  <m:oMath xmlns:m="http://schemas.openxmlformats.org/officeDocument/2006/math">
                    <m:r>
                      <a:rPr lang="en-US" i="1" dirty="0" smtClean="0">
                        <a:latin typeface="Cambria Math" panose="02040503050406030204" pitchFamily="18" charset="0"/>
                      </a:rPr>
                      <m:t>𝜔</m:t>
                    </m:r>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m:t>
                        </m:r>
                      </m:e>
                      <m:sup>
                        <m:r>
                          <a:rPr lang="en-US" i="1" dirty="0" smtClean="0">
                            <a:latin typeface="Cambria Math" panose="02040503050406030204" pitchFamily="18" charset="0"/>
                          </a:rPr>
                          <m:t>∗</m:t>
                        </m:r>
                      </m:sup>
                    </m:sSup>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𝜔</m:t>
                        </m:r>
                      </m:e>
                      <m:sup>
                        <m:r>
                          <a:rPr lang="en-US" i="1" dirty="0" smtClean="0">
                            <a:latin typeface="Cambria Math" panose="02040503050406030204" pitchFamily="18" charset="0"/>
                          </a:rPr>
                          <m:t>′</m:t>
                        </m:r>
                      </m:sup>
                    </m:sSup>
                    <m:r>
                      <a:rPr lang="en-US" i="1" dirty="0" smtClean="0">
                        <a:latin typeface="Cambria Math" panose="02040503050406030204" pitchFamily="18" charset="0"/>
                      </a:rPr>
                      <m:t> </m:t>
                    </m:r>
                    <m:r>
                      <a:rPr lang="en-US" b="0" i="1" dirty="0" smtClean="0">
                        <a:latin typeface="Cambria Math" panose="02040503050406030204" pitchFamily="18" charset="0"/>
                      </a:rPr>
                      <m:t> </m:t>
                    </m:r>
                  </m:oMath>
                </a14:m>
                <a:r>
                  <a:rPr lang="en-US" dirty="0"/>
                  <a:t> </a:t>
                </a:r>
              </a:p>
              <a:p>
                <a:endParaRPr lang="en-US" dirty="0"/>
              </a:p>
              <a:p>
                <a:r>
                  <a:rPr lang="en-US" dirty="0"/>
                  <a:t>for all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𝜔</m:t>
                        </m:r>
                      </m:e>
                      <m:sup>
                        <m:r>
                          <a:rPr lang="en-US" i="1" dirty="0" smtClean="0">
                            <a:latin typeface="Cambria Math" panose="02040503050406030204" pitchFamily="18" charset="0"/>
                          </a:rPr>
                          <m:t>′</m:t>
                        </m:r>
                      </m:sup>
                    </m:sSup>
                    <m:r>
                      <a:rPr lang="en-US" i="1" dirty="0" smtClean="0">
                        <a:latin typeface="Cambria Math" panose="02040503050406030204" pitchFamily="18" charset="0"/>
                      </a:rPr>
                      <m:t> </m:t>
                    </m:r>
                  </m:oMath>
                </a14:m>
                <a:r>
                  <a:rPr lang="en-US" dirty="0"/>
                  <a:t>∈ Ω \ {𝜔}, meaning that the winning outcome ω is preferred to all other outcomes by a collective measure of the group's preferences.</a:t>
                </a:r>
              </a:p>
              <a:p>
                <a:endParaRPr lang="en-US" dirty="0"/>
              </a:p>
              <a:p>
                <a:r>
                  <a:rPr lang="en-US" dirty="0"/>
                  <a:t>Social choice functions aim to identify the outcome that best represents the collective choice of the group based on various aggregation methods and criteria, such as majority rule, ranked preference systems, and more. These functions play a crucial role in voting systems and decision-making processes, especially in elections and other scenarios involving multiple stakeholders.</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In social choice theory, social choice functions are employed to determine the winning outcome or "winner" of an election based on the individual preferences of agents or voters. Here are the key components of social choice functions:</a:t>
                </a:r>
              </a:p>
              <a:p>
                <a:endParaRPr lang="en-US" dirty="0"/>
              </a:p>
              <a:p>
                <a:pPr marL="228600" indent="-228600">
                  <a:buFont typeface="+mj-lt"/>
                  <a:buAutoNum type="arabicPeriod"/>
                </a:pPr>
                <a:r>
                  <a:rPr lang="en-US" b="1" dirty="0"/>
                  <a:t>Agents/Voters: </a:t>
                </a:r>
                <a:r>
                  <a:rPr lang="en-US" dirty="0"/>
                  <a:t>The set of agents or voters is represented as 𝑁 = {1, 2, ..., 𝑛}, where 𝑛 indicates the total number of agents participating in the election.</a:t>
                </a:r>
              </a:p>
              <a:p>
                <a:pPr marL="228600" indent="-228600">
                  <a:buFont typeface="+mj-lt"/>
                  <a:buAutoNum type="arabicPeriod"/>
                </a:pPr>
                <a:endParaRPr lang="en-US" dirty="0"/>
              </a:p>
              <a:p>
                <a:pPr marL="228600" indent="-228600">
                  <a:buFont typeface="+mj-lt"/>
                  <a:buAutoNum type="arabicPeriod"/>
                </a:pPr>
                <a:r>
                  <a:rPr lang="en-US" b="1" dirty="0"/>
                  <a:t>Outcomes/Candidates: </a:t>
                </a:r>
                <a:r>
                  <a:rPr lang="en-US" dirty="0"/>
                  <a:t>The set of potential outcomes or candidates is defined as Ω = {𝜔₁, 𝜔₂, ..., 𝜔ₖ}, where 𝑘 is the total number of possible alternatives or candidates.</a:t>
                </a:r>
              </a:p>
              <a:p>
                <a:pPr marL="228600" indent="-228600">
                  <a:buFont typeface="+mj-lt"/>
                  <a:buAutoNum type="arabicPeriod"/>
                </a:pPr>
                <a:endParaRPr lang="en-US" dirty="0"/>
              </a:p>
              <a:p>
                <a:pPr marL="228600" indent="-228600">
                  <a:buFont typeface="+mj-lt"/>
                  <a:buAutoNum type="arabicPeriod"/>
                </a:pPr>
                <a:r>
                  <a:rPr lang="en-US" b="1" dirty="0"/>
                  <a:t>Preference Orderings: </a:t>
                </a:r>
                <a:r>
                  <a:rPr lang="en-US" dirty="0"/>
                  <a:t>Each agent 𝑖 in 𝑁 has a preference ordering, Π𝑖(Ω), which specifies their ranked preferences over the outcomes in Ω.</a:t>
                </a:r>
              </a:p>
              <a:p>
                <a:endParaRPr lang="en-US" dirty="0"/>
              </a:p>
              <a:p>
                <a:r>
                  <a:rPr lang="en-US" dirty="0"/>
                  <a:t>A social choice function, denoted as 𝑓, takes the individual preference orderings of all agents (Π₁(Ω), Π₂(Ω), ..., Π𝑛(Ω)) and produces a social outcome, often represented by the "winner" ω, which is an element of Ω.</a:t>
                </a:r>
              </a:p>
              <a:p>
                <a:endParaRPr lang="en-US" dirty="0"/>
              </a:p>
              <a:p>
                <a:r>
                  <a:rPr lang="en-US" dirty="0"/>
                  <a:t>The winning outcome ω ∈ Ω is determined by the social choice function in such a way that it satisfies the condition:</a:t>
                </a:r>
              </a:p>
              <a:p>
                <a:endParaRPr lang="en-US" dirty="0"/>
              </a:p>
              <a:p>
                <a:r>
                  <a:rPr lang="en-US" i="0" dirty="0">
                    <a:latin typeface="Cambria Math" panose="02040503050406030204" pitchFamily="18" charset="0"/>
                  </a:rPr>
                  <a:t>𝜔 ≻^∗   𝜔^′  </a:t>
                </a:r>
                <a:r>
                  <a:rPr lang="en-US" b="0" i="0" dirty="0">
                    <a:latin typeface="Cambria Math" panose="02040503050406030204" pitchFamily="18" charset="0"/>
                  </a:rPr>
                  <a:t> </a:t>
                </a:r>
                <a:r>
                  <a:rPr lang="en-US" dirty="0"/>
                  <a:t> </a:t>
                </a:r>
              </a:p>
              <a:p>
                <a:endParaRPr lang="en-US" dirty="0"/>
              </a:p>
              <a:p>
                <a:r>
                  <a:rPr lang="en-US" dirty="0"/>
                  <a:t>for all </a:t>
                </a:r>
                <a:r>
                  <a:rPr lang="en-US" i="0" dirty="0">
                    <a:latin typeface="Cambria Math" panose="02040503050406030204" pitchFamily="18" charset="0"/>
                  </a:rPr>
                  <a:t>𝜔^′  </a:t>
                </a:r>
                <a:r>
                  <a:rPr lang="en-US" dirty="0"/>
                  <a:t>∈ Ω \ {𝜔}, meaning that the winning outcome ω is preferred to all other outcomes by a collective measure of the group's preferences.</a:t>
                </a:r>
              </a:p>
              <a:p>
                <a:endParaRPr lang="en-US" dirty="0"/>
              </a:p>
              <a:p>
                <a:r>
                  <a:rPr lang="en-US" dirty="0"/>
                  <a:t>Social choice functions aim to identify the outcome that best represents the collective choice of the group based on various aggregation methods and criteria, such as majority rule, ranked preference systems, and more. These functions play a crucial role in voting systems and decision-making processes, especially in elections and other scenarios involving multiple stakeholders.</a:t>
                </a:r>
                <a:endParaRPr dirty="0"/>
              </a:p>
            </p:txBody>
          </p:sp>
        </mc:Fallback>
      </mc:AlternateContent>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Certainly, there are various rules and methods to choose a winner in social choice theory, each with its own set of principles and considerations. Here's a brief overview of some of the methods you mentioned:</a:t>
            </a:r>
          </a:p>
          <a:p>
            <a:endParaRPr lang="en-US" dirty="0"/>
          </a:p>
          <a:p>
            <a:pPr marL="228600" indent="-228600">
              <a:buFont typeface="+mj-lt"/>
              <a:buAutoNum type="arabicPeriod"/>
            </a:pPr>
            <a:r>
              <a:rPr lang="en-US" b="1" dirty="0"/>
              <a:t>Plurality: </a:t>
            </a:r>
            <a:r>
              <a:rPr lang="en-US" dirty="0"/>
              <a:t>The winner is the candidate who receives the most first-place votes, regardless of the majority. This method is simple and commonly used in many elections.</a:t>
            </a:r>
          </a:p>
          <a:p>
            <a:pPr marL="228600" indent="-228600">
              <a:buFont typeface="+mj-lt"/>
              <a:buAutoNum type="arabicPeriod"/>
            </a:pPr>
            <a:endParaRPr lang="en-US" dirty="0"/>
          </a:p>
          <a:p>
            <a:pPr marL="228600" indent="-228600">
              <a:buFont typeface="+mj-lt"/>
              <a:buAutoNum type="arabicPeriod"/>
            </a:pPr>
            <a:r>
              <a:rPr lang="en-US" b="1" dirty="0"/>
              <a:t>Plurality with Elimination: </a:t>
            </a:r>
            <a:r>
              <a:rPr lang="en-US" dirty="0"/>
              <a:t>Candidates with the fewest first-place votes are successively eliminated, and the winner is determined by a series of run-off votes. This process continues until one candidate receives a majority of the votes.</a:t>
            </a:r>
          </a:p>
          <a:p>
            <a:pPr marL="228600" indent="-228600">
              <a:buFont typeface="+mj-lt"/>
              <a:buAutoNum type="arabicPeriod"/>
            </a:pPr>
            <a:endParaRPr lang="en-US" dirty="0"/>
          </a:p>
          <a:p>
            <a:pPr marL="228600" indent="-228600">
              <a:buFont typeface="+mj-lt"/>
              <a:buAutoNum type="arabicPeriod"/>
            </a:pPr>
            <a:r>
              <a:rPr lang="en-US" b="1" dirty="0"/>
              <a:t>Approval Voting: </a:t>
            </a:r>
            <a:r>
              <a:rPr lang="en-US" dirty="0"/>
              <a:t>In this method, voters can "approve" or "disapprove" of each candidate. The winner is the candidate with the most approvals.</a:t>
            </a:r>
          </a:p>
          <a:p>
            <a:pPr marL="228600" indent="-228600">
              <a:buFont typeface="+mj-lt"/>
              <a:buAutoNum type="arabicPeriod"/>
            </a:pPr>
            <a:endParaRPr lang="en-US" dirty="0"/>
          </a:p>
          <a:p>
            <a:pPr marL="228600" indent="-228600">
              <a:buFont typeface="+mj-lt"/>
              <a:buAutoNum type="arabicPeriod"/>
            </a:pPr>
            <a:r>
              <a:rPr lang="en-US" b="1" dirty="0" err="1"/>
              <a:t>Borda</a:t>
            </a:r>
            <a:r>
              <a:rPr lang="en-US" b="1" dirty="0"/>
              <a:t> Count: </a:t>
            </a:r>
            <a:r>
              <a:rPr lang="en-US" dirty="0"/>
              <a:t>Each candidate receives points based on their rank in each voter's preference list. The candidate with the highest total score wins. This method considers the ranking of all candidates.</a:t>
            </a:r>
          </a:p>
          <a:p>
            <a:pPr marL="228600" indent="-228600">
              <a:buFont typeface="+mj-lt"/>
              <a:buAutoNum type="arabicPeriod"/>
            </a:pPr>
            <a:endParaRPr lang="en-US" dirty="0"/>
          </a:p>
          <a:p>
            <a:pPr marL="228600" indent="-228600">
              <a:buFont typeface="+mj-lt"/>
              <a:buAutoNum type="arabicPeriod"/>
            </a:pPr>
            <a:r>
              <a:rPr lang="en-US" b="1" dirty="0"/>
              <a:t>Condorcet Method: </a:t>
            </a:r>
            <a:r>
              <a:rPr lang="en-US" dirty="0"/>
              <a:t>The Condorcet winner is the candidate who would win a one-on-one majority vote against every other candidate. If a Condorcet winner exists, they are declared the overall winner.</a:t>
            </a:r>
          </a:p>
          <a:p>
            <a:pPr marL="228600" indent="-228600">
              <a:buFont typeface="+mj-lt"/>
              <a:buAutoNum type="arabicPeriod"/>
            </a:pPr>
            <a:endParaRPr lang="en-US" dirty="0"/>
          </a:p>
          <a:p>
            <a:pPr marL="228600" indent="-228600">
              <a:buFont typeface="+mj-lt"/>
              <a:buAutoNum type="arabicPeriod"/>
            </a:pPr>
            <a:r>
              <a:rPr lang="en-US" b="1" dirty="0"/>
              <a:t>Utilitarian: </a:t>
            </a:r>
            <a:r>
              <a:rPr lang="en-US" dirty="0"/>
              <a:t>The winner is determined based on maximizing overall utility or well-being for all voters. This approach considers the collective happiness or satisfaction of the group.</a:t>
            </a:r>
          </a:p>
          <a:p>
            <a:pPr marL="228600" indent="-228600">
              <a:buFont typeface="+mj-lt"/>
              <a:buAutoNum type="arabicPeriod"/>
            </a:pPr>
            <a:endParaRPr lang="en-US" dirty="0"/>
          </a:p>
          <a:p>
            <a:pPr marL="228600" indent="-228600">
              <a:buFont typeface="+mj-lt"/>
              <a:buAutoNum type="arabicPeriod"/>
            </a:pPr>
            <a:r>
              <a:rPr lang="en-US" b="1" dirty="0"/>
              <a:t>Egalitarian: </a:t>
            </a:r>
            <a:r>
              <a:rPr lang="en-US" dirty="0"/>
              <a:t>This method aims to minimize inequality among voters. The winner is selected to reduce disparities in individual welfare.</a:t>
            </a:r>
          </a:p>
          <a:p>
            <a:pPr marL="228600" indent="-228600">
              <a:buFont typeface="+mj-lt"/>
              <a:buAutoNum type="arabicPeriod"/>
            </a:pPr>
            <a:endParaRPr lang="en-US" dirty="0"/>
          </a:p>
          <a:p>
            <a:pPr marL="228600" indent="-228600">
              <a:buFont typeface="+mj-lt"/>
              <a:buAutoNum type="arabicPeriod"/>
            </a:pPr>
            <a:r>
              <a:rPr lang="en-US" b="1" dirty="0"/>
              <a:t>Sequential Majority</a:t>
            </a:r>
            <a:r>
              <a:rPr lang="en-US" dirty="0"/>
              <a:t>: In a sequence of votes, candidates are successively compared, and the one who consistently wins in pairwise comparisons becomes the winner.</a:t>
            </a:r>
          </a:p>
          <a:p>
            <a:endParaRPr lang="en-US" dirty="0"/>
          </a:p>
          <a:p>
            <a:r>
              <a:rPr lang="en-US" dirty="0"/>
              <a:t>These are just a few examples of rules and methods for choosing a winner in social choice theory. The choice of method depends on the specific context and the criteria that need to be considered, such as fairness, efficiency, and the type of preferences expressed by voters. Different rules may yield different outcomes, and selecting the most appropriate one is a fundamental challenge in social choice theory.</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lang="en-US" dirty="0"/>
          </a:p>
          <a:p>
            <a:pPr marL="171450" indent="-171450">
              <a:buFont typeface="Arial" panose="020B0604020202020204" pitchFamily="34" charset="0"/>
              <a:buChar char="•"/>
            </a:pPr>
            <a:r>
              <a:rPr lang="en-US" b="1" dirty="0"/>
              <a:t>Each candidate gets 1 vote for every preference order in which it is ranked first</a:t>
            </a:r>
            <a:r>
              <a:rPr lang="en-US" dirty="0"/>
              <a:t>. This means that voters express their preference by selecting their top choice, and each candidate accumulates votes based on how often they are ranked first.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The candidate with the largest number of votes wins.</a:t>
            </a:r>
            <a:r>
              <a:rPr lang="en-US" dirty="0"/>
              <a:t> In a Plurality system, the winner is the candidate who receives the most first-place votes, even if they do not have an overall majority of the votes.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It offers a very limited way of expressing preferences. </a:t>
            </a:r>
            <a:r>
              <a:rPr lang="en-US" dirty="0"/>
              <a:t>Plurality only considers the top choice of voters and does not take into account their preferences for other candidates. This simplicity can be an advantage for some elections but may not capture the nuances of voters' preferences.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It may require a tie-breaking rule. </a:t>
            </a:r>
            <a:r>
              <a:rPr lang="en-US" dirty="0"/>
              <a:t>When two or more candidates receive the same number of first-place votes, a tie-breaking rule is necessary to determine the winner. Common tie-breakers include considering the second-choice votes or using a random draw.</a:t>
            </a:r>
          </a:p>
          <a:p>
            <a:endParaRPr lang="en-US" dirty="0"/>
          </a:p>
          <a:p>
            <a:r>
              <a:rPr lang="en-US" dirty="0"/>
              <a:t>Plurality is often used in various elections, such as political elections in some countries, but it has its limitations, including its inability to represent more detailed voter preferences.</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In this example of the Plurality method:</a:t>
                </a:r>
              </a:p>
              <a:p>
                <a:endParaRPr lang="en-US" dirty="0"/>
              </a:p>
              <a:p>
                <a:pPr marL="171450" indent="-171450">
                  <a:buFont typeface="Arial" panose="020B0604020202020204" pitchFamily="34" charset="0"/>
                  <a:buChar char="•"/>
                </a:pPr>
                <a:r>
                  <a:rPr lang="en-US" dirty="0"/>
                  <a:t>There are 5 voters, numbered from 1 to 5.</a:t>
                </a:r>
              </a:p>
              <a:p>
                <a:pPr marL="171450" indent="-171450">
                  <a:buFont typeface="Arial" panose="020B0604020202020204" pitchFamily="34" charset="0"/>
                  <a:buChar char="•"/>
                </a:pPr>
                <a:r>
                  <a:rPr lang="en-US" dirty="0"/>
                  <a:t>There are 3 outcomes (candidates): Left (L), Center (C), and Right (R).</a:t>
                </a:r>
              </a:p>
              <a:p>
                <a:pPr marL="171450" indent="-171450">
                  <a:buFont typeface="Arial" panose="020B0604020202020204" pitchFamily="34" charset="0"/>
                  <a:buChar char="•"/>
                </a:pPr>
                <a:r>
                  <a:rPr lang="en-US" dirty="0"/>
                  <a:t>Each voter has a preference ordering Π(Ω) that represents their ranking of the candidates.</a:t>
                </a:r>
              </a:p>
              <a:p>
                <a:endParaRPr lang="en-US" dirty="0"/>
              </a:p>
              <a:p>
                <a:r>
                  <a:rPr lang="en-US" dirty="0"/>
                  <a:t>For instance, voter 1 (represented by </a:t>
                </a:r>
                <a14:m>
                  <m:oMath xmlns:m="http://schemas.openxmlformats.org/officeDocument/2006/math">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Π</m:t>
                        </m:r>
                      </m:e>
                      <m:sub>
                        <m:r>
                          <a:rPr lang="en-US" i="1" dirty="0" smtClean="0">
                            <a:latin typeface="Cambria Math" panose="02040503050406030204" pitchFamily="18" charset="0"/>
                          </a:rPr>
                          <m:t>1</m:t>
                        </m:r>
                      </m:sub>
                    </m:sSub>
                  </m:oMath>
                </a14:m>
                <a:r>
                  <a:rPr lang="en-US" dirty="0"/>
                  <a:t>) prefers Left (L) over Center (C) and Right (R). The preferences of all agents are shown in a similar manner.</a:t>
                </a:r>
              </a:p>
              <a:p>
                <a:endParaRPr lang="en-US" dirty="0"/>
              </a:p>
              <a:p>
                <a:pPr marL="171450" indent="-171450">
                  <a:buFont typeface="Arial" panose="020B0604020202020204" pitchFamily="34" charset="0"/>
                  <a:buChar char="•"/>
                </a:pPr>
                <a:r>
                  <a:rPr lang="en-US" dirty="0"/>
                  <a:t>The social choice function 𝑓 takes the preferences of all agents and produces a social outcome.</a:t>
                </a:r>
              </a:p>
              <a:p>
                <a:pPr marL="171450" indent="-171450">
                  <a:buFont typeface="Arial" panose="020B0604020202020204" pitchFamily="34" charset="0"/>
                  <a:buChar char="•"/>
                </a:pPr>
                <a:r>
                  <a:rPr lang="en-US" dirty="0"/>
                  <a:t>The outcome of this Plurality election is "C" (Center). This is because "C" received the most first-place votes. Even though other candidates may have been ranked first by some agents, "C" received the highest number of first-place votes, making it the winner.</a:t>
                </a:r>
              </a:p>
              <a:p>
                <a:endParaRPr lang="en-US" dirty="0"/>
              </a:p>
              <a:p>
                <a:r>
                  <a:rPr lang="en-US" dirty="0"/>
                  <a:t>In Plurality, the winner is determined solely based on the number of first-place votes each candidate receives, which in this case is "C."</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In this example of the Plurality method:</a:t>
                </a:r>
              </a:p>
              <a:p>
                <a:endParaRPr lang="en-US" dirty="0"/>
              </a:p>
              <a:p>
                <a:pPr marL="171450" indent="-171450">
                  <a:buFont typeface="Arial" panose="020B0604020202020204" pitchFamily="34" charset="0"/>
                  <a:buChar char="•"/>
                </a:pPr>
                <a:r>
                  <a:rPr lang="en-US" dirty="0"/>
                  <a:t>There are 5 voters, numbered from 1 to 5.</a:t>
                </a:r>
              </a:p>
              <a:p>
                <a:pPr marL="171450" indent="-171450">
                  <a:buFont typeface="Arial" panose="020B0604020202020204" pitchFamily="34" charset="0"/>
                  <a:buChar char="•"/>
                </a:pPr>
                <a:r>
                  <a:rPr lang="en-US" dirty="0"/>
                  <a:t>There are 3 outcomes (candidates): Left (L), Center (C), and Right (R).</a:t>
                </a:r>
              </a:p>
              <a:p>
                <a:pPr marL="171450" indent="-171450">
                  <a:buFont typeface="Arial" panose="020B0604020202020204" pitchFamily="34" charset="0"/>
                  <a:buChar char="•"/>
                </a:pPr>
                <a:r>
                  <a:rPr lang="en-US" dirty="0"/>
                  <a:t>Each voter has a preference ordering Π(Ω) that represents their ranking of the candidates.</a:t>
                </a:r>
              </a:p>
              <a:p>
                <a:endParaRPr lang="en-US" dirty="0"/>
              </a:p>
              <a:p>
                <a:r>
                  <a:rPr lang="en-US" dirty="0"/>
                  <a:t>For instance, voter 1 (represented by </a:t>
                </a:r>
                <a:r>
                  <a:rPr lang="en-US" i="0" dirty="0">
                    <a:latin typeface="Cambria Math" panose="02040503050406030204" pitchFamily="18" charset="0"/>
                  </a:rPr>
                  <a:t>Π_1</a:t>
                </a:r>
                <a:r>
                  <a:rPr lang="en-US" dirty="0"/>
                  <a:t>) prefers Left (L) over Center (C) and Right (R). The preferences of all agents are shown in a similar manner.</a:t>
                </a:r>
              </a:p>
              <a:p>
                <a:endParaRPr lang="en-US" dirty="0"/>
              </a:p>
              <a:p>
                <a:pPr marL="171450" indent="-171450">
                  <a:buFont typeface="Arial" panose="020B0604020202020204" pitchFamily="34" charset="0"/>
                  <a:buChar char="•"/>
                </a:pPr>
                <a:r>
                  <a:rPr lang="en-US" dirty="0"/>
                  <a:t>The social choice function 𝑓 takes the preferences of all agents and produces a social outcome.</a:t>
                </a:r>
              </a:p>
              <a:p>
                <a:pPr marL="171450" indent="-171450">
                  <a:buFont typeface="Arial" panose="020B0604020202020204" pitchFamily="34" charset="0"/>
                  <a:buChar char="•"/>
                </a:pPr>
                <a:r>
                  <a:rPr lang="en-US" dirty="0"/>
                  <a:t>The outcome of this Plurality election is "C" (Center). This is because "C" received the most first-place votes. Even though other candidates may have been ranked first by some agents, "C" received the highest number of first-place votes, making it the winner.</a:t>
                </a:r>
              </a:p>
              <a:p>
                <a:endParaRPr lang="en-US" dirty="0"/>
              </a:p>
              <a:p>
                <a:r>
                  <a:rPr lang="en-US" dirty="0"/>
                  <a:t>In Plurality, the winner is determined solely based on the number of first-place votes each candidate receives, which in this case is "C."</a:t>
                </a:r>
                <a:endParaRPr dirty="0"/>
              </a:p>
            </p:txBody>
          </p:sp>
        </mc:Fallback>
      </mc:AlternateContent>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Plurality with elimination is an alternative voting method that involves several steps:</a:t>
            </a:r>
          </a:p>
          <a:p>
            <a:endParaRPr lang="en-US" dirty="0"/>
          </a:p>
          <a:p>
            <a:pPr marL="228600" indent="-228600">
              <a:buFont typeface="+mj-lt"/>
              <a:buAutoNum type="arabicPeriod"/>
            </a:pPr>
            <a:r>
              <a:rPr lang="en-US" dirty="0"/>
              <a:t>Each candidate initially receives 1 vote for every preference order in which they are ranked first by a voter.</a:t>
            </a:r>
          </a:p>
          <a:p>
            <a:pPr marL="228600" indent="-228600">
              <a:buFont typeface="+mj-lt"/>
              <a:buAutoNum type="arabicPeriod"/>
            </a:pPr>
            <a:endParaRPr lang="en-US" dirty="0"/>
          </a:p>
          <a:p>
            <a:pPr marL="228600" indent="-228600">
              <a:buFont typeface="+mj-lt"/>
              <a:buAutoNum type="arabicPeriod"/>
            </a:pPr>
            <a:r>
              <a:rPr lang="en-US" dirty="0"/>
              <a:t>The candidate with the fewest votes is eliminated from the race.</a:t>
            </a:r>
          </a:p>
          <a:p>
            <a:pPr marL="228600" indent="-228600">
              <a:buFont typeface="+mj-lt"/>
              <a:buAutoNum type="arabicPeriod"/>
            </a:pPr>
            <a:endParaRPr lang="en-US" dirty="0"/>
          </a:p>
          <a:p>
            <a:pPr marL="228600" indent="-228600">
              <a:buFont typeface="+mj-lt"/>
              <a:buAutoNum type="arabicPeriod"/>
            </a:pPr>
            <a:r>
              <a:rPr lang="en-US" dirty="0"/>
              <a:t>Voters who had their top candidate eliminated cast a new vote, taking into account the remaining candidates.</a:t>
            </a:r>
          </a:p>
          <a:p>
            <a:pPr marL="228600" indent="-228600">
              <a:buFont typeface="+mj-lt"/>
              <a:buAutoNum type="arabicPeriod"/>
            </a:pPr>
            <a:endParaRPr lang="en-US" dirty="0"/>
          </a:p>
          <a:p>
            <a:pPr marL="228600" indent="-228600">
              <a:buFont typeface="+mj-lt"/>
              <a:buAutoNum type="arabicPeriod"/>
            </a:pPr>
            <a:r>
              <a:rPr lang="en-US" dirty="0"/>
              <a:t>This process of elimination and re-voting continues until only one candidate remains.</a:t>
            </a:r>
          </a:p>
          <a:p>
            <a:pPr marL="228600" indent="-228600">
              <a:buFont typeface="+mj-lt"/>
              <a:buAutoNum type="arabicPeriod"/>
            </a:pPr>
            <a:endParaRPr lang="en-US" dirty="0"/>
          </a:p>
          <a:p>
            <a:pPr marL="228600" indent="-228600">
              <a:buFont typeface="+mj-lt"/>
              <a:buAutoNum type="arabicPeriod"/>
            </a:pPr>
            <a:r>
              <a:rPr lang="en-US" dirty="0"/>
              <a:t>In some cases, tie-breaking rules may be necessary to determine which candidate is eliminated when there is a tie in the number of votes.</a:t>
            </a:r>
          </a:p>
          <a:p>
            <a:endParaRPr lang="en-US" dirty="0"/>
          </a:p>
          <a:p>
            <a:r>
              <a:rPr lang="en-US" dirty="0"/>
              <a:t>Plurality with elimination is a more involved voting method compared to simple Plurality, as it allows voters to re-cast their votes after their preferred candidates are eliminated. This process continues until a single candidate emerges as the winner, making it a more comprehensive way to determine the ultimate choice of the voters.</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Example: Plurality with elimination</a:t>
            </a:r>
          </a:p>
          <a:p>
            <a:endParaRPr lang="en-US" dirty="0"/>
          </a:p>
          <a:p>
            <a:r>
              <a:rPr lang="en-US" dirty="0"/>
              <a:t>In this example, we have 5 agents/voters, 3 candidates, and their preference orderings:</a:t>
            </a:r>
          </a:p>
          <a:p>
            <a:endParaRPr lang="en-US" dirty="0"/>
          </a:p>
          <a:p>
            <a:r>
              <a:rPr lang="en-US" dirty="0"/>
              <a:t>Agents/Voters: 𝑁 = {1, 2, 3, 4, 5}</a:t>
            </a:r>
          </a:p>
          <a:p>
            <a:r>
              <a:rPr lang="en-US" dirty="0"/>
              <a:t>Outcomes/Candidates: Ω = {𝐿, 𝐶, 𝑅}</a:t>
            </a:r>
          </a:p>
          <a:p>
            <a:r>
              <a:rPr lang="en-US" dirty="0"/>
              <a:t>Preference orderings: Π(Ω)</a:t>
            </a:r>
          </a:p>
          <a:p>
            <a:endParaRPr lang="en-US" dirty="0"/>
          </a:p>
          <a:p>
            <a:r>
              <a:rPr lang="en-US" dirty="0"/>
              <a:t>The voting process unfolds in two rounds:</a:t>
            </a:r>
          </a:p>
          <a:p>
            <a:endParaRPr lang="en-US" dirty="0"/>
          </a:p>
          <a:p>
            <a:r>
              <a:rPr lang="en-US" b="1" dirty="0"/>
              <a:t>Round 1 (candidate L is eliminated):</a:t>
            </a:r>
          </a:p>
          <a:p>
            <a:pPr marL="171450" indent="-171450">
              <a:buFont typeface="Arial" panose="020B0604020202020204" pitchFamily="34" charset="0"/>
              <a:buChar char="•"/>
            </a:pPr>
            <a:r>
              <a:rPr lang="en-US" dirty="0"/>
              <a:t>Voter 1: 𝐿 ≻ 𝑅 ≻ 𝐶</a:t>
            </a:r>
          </a:p>
          <a:p>
            <a:pPr marL="171450" indent="-171450">
              <a:buFont typeface="Arial" panose="020B0604020202020204" pitchFamily="34" charset="0"/>
              <a:buChar char="•"/>
            </a:pPr>
            <a:r>
              <a:rPr lang="en-US" dirty="0"/>
              <a:t>Voter 2: 𝐶 ≻ 𝐿 ≻ 𝑅</a:t>
            </a:r>
          </a:p>
          <a:p>
            <a:pPr marL="171450" indent="-171450">
              <a:buFont typeface="Arial" panose="020B0604020202020204" pitchFamily="34" charset="0"/>
              <a:buChar char="•"/>
            </a:pPr>
            <a:r>
              <a:rPr lang="en-US" dirty="0"/>
              <a:t>Voter 3: 𝑅 ≻ 𝐶 ≻ 𝐿</a:t>
            </a:r>
          </a:p>
          <a:p>
            <a:pPr marL="171450" indent="-171450">
              <a:buFont typeface="Arial" panose="020B0604020202020204" pitchFamily="34" charset="0"/>
              <a:buChar char="•"/>
            </a:pPr>
            <a:r>
              <a:rPr lang="en-US" dirty="0"/>
              <a:t>Voter 4: 𝐶 ≻ 𝐿 ≻ 𝑅</a:t>
            </a:r>
          </a:p>
          <a:p>
            <a:pPr marL="171450" indent="-171450">
              <a:buFont typeface="Arial" panose="020B0604020202020204" pitchFamily="34" charset="0"/>
              <a:buChar char="•"/>
            </a:pPr>
            <a:r>
              <a:rPr lang="en-US" dirty="0"/>
              <a:t>Voter 5: 𝑅 ≻ 𝐿 ≻ 𝐶</a:t>
            </a:r>
          </a:p>
          <a:p>
            <a:endParaRPr lang="en-US" dirty="0"/>
          </a:p>
          <a:p>
            <a:r>
              <a:rPr lang="en-US" dirty="0"/>
              <a:t>After this round, candidate L has the fewest votes and is eliminated.</a:t>
            </a:r>
          </a:p>
          <a:p>
            <a:endParaRPr lang="en-US" dirty="0"/>
          </a:p>
          <a:p>
            <a:r>
              <a:rPr lang="en-US" b="1" dirty="0"/>
              <a:t>Round 2 (candidate 𝐶 is eliminated):</a:t>
            </a:r>
          </a:p>
          <a:p>
            <a:pPr marL="171450" indent="-171450">
              <a:buFont typeface="Arial" panose="020B0604020202020204" pitchFamily="34" charset="0"/>
              <a:buChar char="•"/>
            </a:pPr>
            <a:r>
              <a:rPr lang="en-US" dirty="0"/>
              <a:t>Voter 1: 𝑅 ≻ 𝐶</a:t>
            </a:r>
          </a:p>
          <a:p>
            <a:pPr marL="171450" indent="-171450">
              <a:buFont typeface="Arial" panose="020B0604020202020204" pitchFamily="34" charset="0"/>
              <a:buChar char="•"/>
            </a:pPr>
            <a:r>
              <a:rPr lang="en-US" dirty="0"/>
              <a:t>Voter 2: 𝐶 ≻ 𝑅</a:t>
            </a:r>
          </a:p>
          <a:p>
            <a:pPr marL="171450" indent="-171450">
              <a:buFont typeface="Arial" panose="020B0604020202020204" pitchFamily="34" charset="0"/>
              <a:buChar char="•"/>
            </a:pPr>
            <a:r>
              <a:rPr lang="en-US" dirty="0"/>
              <a:t>Voter 3: 𝑅 ≻ 𝐶</a:t>
            </a:r>
          </a:p>
          <a:p>
            <a:pPr marL="171450" indent="-171450">
              <a:buFont typeface="Arial" panose="020B0604020202020204" pitchFamily="34" charset="0"/>
              <a:buChar char="•"/>
            </a:pPr>
            <a:r>
              <a:rPr lang="en-US" dirty="0"/>
              <a:t>Voter 4: 𝐶 ≻ 𝑅</a:t>
            </a:r>
          </a:p>
          <a:p>
            <a:pPr marL="171450" indent="-171450">
              <a:buFont typeface="Arial" panose="020B0604020202020204" pitchFamily="34" charset="0"/>
              <a:buChar char="•"/>
            </a:pPr>
            <a:r>
              <a:rPr lang="en-US" dirty="0"/>
              <a:t>Voter 5: 𝑅 ≻ 𝐶</a:t>
            </a:r>
          </a:p>
          <a:p>
            <a:endParaRPr lang="en-US" dirty="0"/>
          </a:p>
          <a:p>
            <a:r>
              <a:rPr lang="en-US" dirty="0"/>
              <a:t>Following the elimination of candidate C, the process concludes, and the social outcome (the "winner") is candidate R.</a:t>
            </a:r>
          </a:p>
          <a:p>
            <a:endParaRPr lang="en-US" dirty="0"/>
          </a:p>
          <a:p>
            <a:r>
              <a:rPr lang="en-US" dirty="0"/>
              <a:t>Plurality with elimination is a voting method that progressively narrows down the choices, allowing voters to reconsider their preferences as candidates are eliminated. In this case, candidate R is the ultimate winner.</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Approval voting is a relatively straightforward voting method:</a:t>
            </a:r>
          </a:p>
          <a:p>
            <a:endParaRPr lang="en-US" dirty="0"/>
          </a:p>
          <a:p>
            <a:pPr marL="171450" indent="-171450">
              <a:buFont typeface="Arial" panose="020B0604020202020204" pitchFamily="34" charset="0"/>
              <a:buChar char="•"/>
            </a:pPr>
            <a:r>
              <a:rPr lang="en-US" dirty="0"/>
              <a:t>In approval voting, each voter can "approve" one or more candidates by giving them a vote. All other candidates receive 0 votes from that voter.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candidate who receives the most votes (approvals) is declared the winner.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 the case of a tie, a tie-breaking rule may be necessary to determine the winner.</a:t>
            </a:r>
          </a:p>
          <a:p>
            <a:endParaRPr lang="en-US" dirty="0"/>
          </a:p>
          <a:p>
            <a:r>
              <a:rPr lang="en-US" dirty="0"/>
              <a:t>Approval voting allows voters to express their support for multiple candidates simultaneously, potentially leading to a more representative outcome. It is a simple yet effective way to gauge preferences in a multi-candidate election.</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In the example of Approval voting:</a:t>
                </a:r>
              </a:p>
              <a:p>
                <a:endParaRPr lang="en-US" dirty="0"/>
              </a:p>
              <a:p>
                <a:pPr marL="171450" indent="-171450">
                  <a:buFont typeface="Arial" panose="020B0604020202020204" pitchFamily="34" charset="0"/>
                  <a:buChar char="•"/>
                </a:pPr>
                <a:r>
                  <a:rPr lang="en-US" dirty="0"/>
                  <a:t>Agents/Voters: 𝑁 = {1, 2, 3, 4, 5}</a:t>
                </a:r>
              </a:p>
              <a:p>
                <a:pPr marL="171450" indent="-171450">
                  <a:buFont typeface="Arial" panose="020B0604020202020204" pitchFamily="34" charset="0"/>
                  <a:buChar char="•"/>
                </a:pPr>
                <a:r>
                  <a:rPr lang="en-US" dirty="0"/>
                  <a:t>Outcomes/Candidates: Ω = {𝐿, 𝐶, 𝑅}</a:t>
                </a:r>
              </a:p>
              <a:p>
                <a:pPr marL="171450" indent="-171450">
                  <a:buFont typeface="Arial" panose="020B0604020202020204" pitchFamily="34" charset="0"/>
                  <a:buChar char="•"/>
                </a:pPr>
                <a:r>
                  <a:rPr lang="en-US" dirty="0"/>
                  <a:t>Preference orderings: Π(Ω)</a:t>
                </a:r>
              </a:p>
              <a:p>
                <a:endParaRPr lang="en-US" dirty="0"/>
              </a:p>
              <a:p>
                <a:r>
                  <a:rPr lang="en-US" dirty="0"/>
                  <a:t>The social choice function 𝑓 takes into account the approvals of each voter and produces a social outcome (the "winner"). In Approval voting, each voter can approve (give a vote to) one or more candidates:</a:t>
                </a:r>
              </a:p>
              <a:p>
                <a:endParaRPr lang="en-US" dirty="0"/>
              </a:p>
              <a:p>
                <a:pPr marL="171450"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𝐿</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1</m:t>
                        </m:r>
                      </m:sub>
                    </m:sSub>
                    <m:r>
                      <a:rPr lang="en-US" i="1" dirty="0" smtClean="0">
                        <a:latin typeface="Cambria Math" panose="02040503050406030204" pitchFamily="18" charset="0"/>
                      </a:rPr>
                      <m:t>𝐶</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1</m:t>
                        </m:r>
                      </m:sub>
                    </m:sSub>
                    <m:r>
                      <a:rPr lang="en-US" i="1" dirty="0" smtClean="0">
                        <a:latin typeface="Cambria Math" panose="02040503050406030204" pitchFamily="18" charset="0"/>
                      </a:rPr>
                      <m:t>𝑅</m:t>
                    </m:r>
                    <m:r>
                      <a:rPr lang="en-US" i="1" dirty="0" smtClean="0">
                        <a:latin typeface="Cambria Math" panose="02040503050406030204" pitchFamily="18" charset="0"/>
                      </a:rPr>
                      <m:t> </m:t>
                    </m:r>
                  </m:oMath>
                </a14:m>
                <a:r>
                  <a:rPr lang="en-US" dirty="0"/>
                  <a:t>(Voter 1 approves L, does not approve C and</a:t>
                </a:r>
                <a:r>
                  <a:rPr lang="en-US" baseline="0" dirty="0"/>
                  <a:t> </a:t>
                </a:r>
                <a:r>
                  <a:rPr lang="en-US" dirty="0"/>
                  <a:t>R)</a:t>
                </a:r>
              </a:p>
              <a:p>
                <a:pPr marL="171450"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𝐶</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2</m:t>
                        </m:r>
                      </m:sub>
                    </m:sSub>
                    <m:r>
                      <a:rPr lang="en-US" i="1" dirty="0" smtClean="0">
                        <a:latin typeface="Cambria Math" panose="02040503050406030204" pitchFamily="18" charset="0"/>
                      </a:rPr>
                      <m:t>𝐿</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2</m:t>
                        </m:r>
                      </m:sub>
                    </m:sSub>
                    <m:r>
                      <a:rPr lang="en-US" i="1" dirty="0" smtClean="0">
                        <a:latin typeface="Cambria Math" panose="02040503050406030204" pitchFamily="18" charset="0"/>
                      </a:rPr>
                      <m:t>𝑅</m:t>
                    </m:r>
                    <m:r>
                      <a:rPr lang="en-US" i="1" dirty="0" smtClean="0">
                        <a:latin typeface="Cambria Math" panose="02040503050406030204" pitchFamily="18" charset="0"/>
                      </a:rPr>
                      <m:t> </m:t>
                    </m:r>
                  </m:oMath>
                </a14:m>
                <a:r>
                  <a:rPr lang="en-US" dirty="0"/>
                  <a:t>(Voter 2 approves C and L, does not approve R)</a:t>
                </a:r>
              </a:p>
              <a:p>
                <a:pPr marL="171450"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𝑅</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3</m:t>
                        </m:r>
                      </m:sub>
                    </m:sSub>
                    <m:r>
                      <a:rPr lang="en-US" i="1" dirty="0" smtClean="0">
                        <a:latin typeface="Cambria Math" panose="02040503050406030204" pitchFamily="18" charset="0"/>
                      </a:rPr>
                      <m:t>𝐶</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3</m:t>
                        </m:r>
                      </m:sub>
                    </m:sSub>
                    <m:r>
                      <a:rPr lang="en-US" i="1" dirty="0" smtClean="0">
                        <a:latin typeface="Cambria Math" panose="02040503050406030204" pitchFamily="18" charset="0"/>
                      </a:rPr>
                      <m:t>𝐿</m:t>
                    </m:r>
                    <m:r>
                      <a:rPr lang="en-US" i="1" dirty="0" smtClean="0">
                        <a:latin typeface="Cambria Math" panose="02040503050406030204" pitchFamily="18" charset="0"/>
                      </a:rPr>
                      <m:t> </m:t>
                    </m:r>
                  </m:oMath>
                </a14:m>
                <a:r>
                  <a:rPr lang="en-US" dirty="0"/>
                  <a:t>(Voter 3 approves R, does not approve C and L)</a:t>
                </a:r>
              </a:p>
              <a:p>
                <a:pPr marL="171450"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𝐶</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4</m:t>
                        </m:r>
                      </m:sub>
                    </m:sSub>
                    <m:r>
                      <a:rPr lang="en-US" i="1" dirty="0" smtClean="0">
                        <a:latin typeface="Cambria Math" panose="02040503050406030204" pitchFamily="18" charset="0"/>
                      </a:rPr>
                      <m:t>𝐿</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4</m:t>
                        </m:r>
                      </m:sub>
                    </m:sSub>
                    <m:r>
                      <a:rPr lang="en-US" i="1" dirty="0" smtClean="0">
                        <a:latin typeface="Cambria Math" panose="02040503050406030204" pitchFamily="18" charset="0"/>
                      </a:rPr>
                      <m:t>𝑅</m:t>
                    </m:r>
                    <m:r>
                      <a:rPr lang="en-US" i="1" dirty="0" smtClean="0">
                        <a:latin typeface="Cambria Math" panose="02040503050406030204" pitchFamily="18" charset="0"/>
                      </a:rPr>
                      <m:t> </m:t>
                    </m:r>
                  </m:oMath>
                </a14:m>
                <a:r>
                  <a:rPr lang="en-US" dirty="0"/>
                  <a:t>(Voter 4 approves C and L, does not approve R)</a:t>
                </a:r>
              </a:p>
              <a:p>
                <a:pPr marL="171450"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𝐶</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5</m:t>
                        </m:r>
                      </m:sub>
                    </m:sSub>
                    <m:r>
                      <a:rPr lang="en-US" i="1" dirty="0" smtClean="0">
                        <a:latin typeface="Cambria Math" panose="02040503050406030204" pitchFamily="18" charset="0"/>
                      </a:rPr>
                      <m:t>𝑅</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m:t>
                        </m:r>
                      </m:e>
                      <m:sub>
                        <m:r>
                          <a:rPr lang="en-US" i="1" dirty="0" smtClean="0">
                            <a:latin typeface="Cambria Math" panose="02040503050406030204" pitchFamily="18" charset="0"/>
                          </a:rPr>
                          <m:t>5</m:t>
                        </m:r>
                      </m:sub>
                    </m:sSub>
                    <m:r>
                      <a:rPr lang="en-US" i="1" dirty="0" smtClean="0">
                        <a:latin typeface="Cambria Math" panose="02040503050406030204" pitchFamily="18" charset="0"/>
                      </a:rPr>
                      <m:t>𝐿</m:t>
                    </m:r>
                    <m:r>
                      <a:rPr lang="en-US" i="1" dirty="0" smtClean="0">
                        <a:latin typeface="Cambria Math" panose="02040503050406030204" pitchFamily="18" charset="0"/>
                      </a:rPr>
                      <m:t> </m:t>
                    </m:r>
                  </m:oMath>
                </a14:m>
                <a:r>
                  <a:rPr lang="en-US" dirty="0"/>
                  <a:t>(Voter 5 approves C,</a:t>
                </a:r>
                <a:r>
                  <a:rPr lang="en-US" baseline="0" dirty="0"/>
                  <a:t> </a:t>
                </a:r>
                <a:r>
                  <a:rPr lang="en-US" dirty="0"/>
                  <a:t>R, and L)</a:t>
                </a:r>
              </a:p>
              <a:p>
                <a:endParaRPr lang="en-US" dirty="0"/>
              </a:p>
              <a:p>
                <a:r>
                  <a:rPr lang="en-US" dirty="0"/>
                  <a:t>In this example, the candidate L has the most approvals, making it the "winner" of the election in the context of Approval voting.</a:t>
                </a:r>
              </a:p>
              <a:p>
                <a:endParaRPr lang="en-US" dirty="0"/>
              </a:p>
              <a:p>
                <a:pPr>
                  <a:lnSpc>
                    <a:spcPts val="700"/>
                  </a:lnSpc>
                </a:pPr>
                <a:r>
                  <a:rPr lang="en-US" dirty="0"/>
                  <a:t>        |    L    |     C    |      R</a:t>
                </a:r>
              </a:p>
              <a:p>
                <a:pPr>
                  <a:lnSpc>
                    <a:spcPts val="700"/>
                  </a:lnSpc>
                </a:pPr>
                <a:r>
                  <a:rPr lang="en-US" dirty="0"/>
                  <a:t>-----------------------------</a:t>
                </a:r>
              </a:p>
              <a:p>
                <a:pPr marL="228600" indent="-228600">
                  <a:lnSpc>
                    <a:spcPts val="700"/>
                  </a:lnSpc>
                  <a:buAutoNum type="arabicPlain"/>
                </a:pPr>
                <a:r>
                  <a:rPr lang="en-US" dirty="0"/>
                  <a:t>  |    1    |     0    |      0</a:t>
                </a:r>
              </a:p>
              <a:p>
                <a:pPr>
                  <a:lnSpc>
                    <a:spcPts val="700"/>
                  </a:lnSpc>
                </a:pPr>
                <a:r>
                  <a:rPr lang="en-US" dirty="0"/>
                  <a:t>-----------------------------</a:t>
                </a:r>
              </a:p>
              <a:p>
                <a:pPr>
                  <a:lnSpc>
                    <a:spcPts val="700"/>
                  </a:lnSpc>
                </a:pPr>
                <a:r>
                  <a:rPr lang="en-US" dirty="0"/>
                  <a:t>2      |    1    |     1    |      0</a:t>
                </a:r>
              </a:p>
              <a:p>
                <a:pPr>
                  <a:lnSpc>
                    <a:spcPts val="700"/>
                  </a:lnSpc>
                </a:pPr>
                <a:r>
                  <a:rPr lang="en-US" dirty="0"/>
                  <a:t>-----------------------------</a:t>
                </a:r>
              </a:p>
              <a:p>
                <a:pPr>
                  <a:lnSpc>
                    <a:spcPts val="700"/>
                  </a:lnSpc>
                </a:pPr>
                <a:r>
                  <a:rPr lang="en-US" dirty="0"/>
                  <a:t>3      |    0    |     0    |      1</a:t>
                </a:r>
              </a:p>
              <a:p>
                <a:pPr>
                  <a:lnSpc>
                    <a:spcPts val="700"/>
                  </a:lnSpc>
                </a:pPr>
                <a:r>
                  <a:rPr lang="en-US" dirty="0"/>
                  <a:t>-----------------------------</a:t>
                </a:r>
              </a:p>
              <a:p>
                <a:pPr>
                  <a:lnSpc>
                    <a:spcPts val="700"/>
                  </a:lnSpc>
                </a:pPr>
                <a:r>
                  <a:rPr lang="en-US" dirty="0"/>
                  <a:t>4      |    1    |     1    |      0</a:t>
                </a:r>
              </a:p>
              <a:p>
                <a:pPr>
                  <a:lnSpc>
                    <a:spcPts val="700"/>
                  </a:lnSpc>
                </a:pPr>
                <a:r>
                  <a:rPr lang="en-US" dirty="0"/>
                  <a:t>-----------------------------</a:t>
                </a:r>
              </a:p>
              <a:p>
                <a:pPr>
                  <a:lnSpc>
                    <a:spcPts val="700"/>
                  </a:lnSpc>
                </a:pPr>
                <a:r>
                  <a:rPr lang="en-US" dirty="0"/>
                  <a:t>5      |    1    |     1    |      1</a:t>
                </a:r>
              </a:p>
              <a:p>
                <a:pPr>
                  <a:lnSpc>
                    <a:spcPts val="700"/>
                  </a:lnSpc>
                </a:pPr>
                <a:r>
                  <a:rPr lang="en-US" dirty="0"/>
                  <a:t>-----------------------------</a:t>
                </a:r>
              </a:p>
              <a:p>
                <a:pPr>
                  <a:lnSpc>
                    <a:spcPts val="700"/>
                  </a:lnSpc>
                </a:pPr>
                <a:r>
                  <a:rPr lang="en-US" dirty="0"/>
                  <a:t>Tot   |    </a:t>
                </a:r>
                <a:r>
                  <a:rPr lang="en-US" b="1" dirty="0"/>
                  <a:t>4</a:t>
                </a:r>
                <a:r>
                  <a:rPr lang="en-US" dirty="0"/>
                  <a:t>    |     3    |     </a:t>
                </a:r>
                <a:r>
                  <a:rPr lang="en-US" b="1" dirty="0"/>
                  <a:t> </a:t>
                </a:r>
                <a:r>
                  <a:rPr lang="en-US" b="0" dirty="0"/>
                  <a:t>2</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In the example of Approval voting:</a:t>
                </a:r>
              </a:p>
              <a:p>
                <a:endParaRPr lang="en-US" dirty="0"/>
              </a:p>
              <a:p>
                <a:pPr marL="171450" indent="-171450">
                  <a:buFont typeface="Arial" panose="020B0604020202020204" pitchFamily="34" charset="0"/>
                  <a:buChar char="•"/>
                </a:pPr>
                <a:r>
                  <a:rPr lang="en-US" dirty="0"/>
                  <a:t>Agents/Voters: 𝑁 = {1, 2, 3, 4, 5}</a:t>
                </a:r>
              </a:p>
              <a:p>
                <a:pPr marL="171450" indent="-171450">
                  <a:buFont typeface="Arial" panose="020B0604020202020204" pitchFamily="34" charset="0"/>
                  <a:buChar char="•"/>
                </a:pPr>
                <a:r>
                  <a:rPr lang="en-US" dirty="0"/>
                  <a:t>Outcomes/Candidates: Ω = {𝐿, 𝐶, 𝑅}</a:t>
                </a:r>
              </a:p>
              <a:p>
                <a:pPr marL="171450" indent="-171450">
                  <a:buFont typeface="Arial" panose="020B0604020202020204" pitchFamily="34" charset="0"/>
                  <a:buChar char="•"/>
                </a:pPr>
                <a:r>
                  <a:rPr lang="en-US" dirty="0"/>
                  <a:t>Preference orderings: Π(Ω)</a:t>
                </a:r>
              </a:p>
              <a:p>
                <a:endParaRPr lang="en-US" dirty="0"/>
              </a:p>
              <a:p>
                <a:r>
                  <a:rPr lang="en-US" dirty="0"/>
                  <a:t>The social choice function 𝑓 takes into account the approvals of each voter and produces a social outcome (the "winner"). In Approval voting, each voter can approve (give a vote to) one or more candidates:</a:t>
                </a:r>
              </a:p>
              <a:p>
                <a:endParaRPr lang="en-US" dirty="0"/>
              </a:p>
              <a:p>
                <a:pPr marL="171450" indent="-171450">
                  <a:buFont typeface="Arial" panose="020B0604020202020204" pitchFamily="34" charset="0"/>
                  <a:buChar char="•"/>
                </a:pPr>
                <a:r>
                  <a:rPr lang="en-US" i="0" dirty="0">
                    <a:latin typeface="Cambria Math" panose="02040503050406030204" pitchFamily="18" charset="0"/>
                  </a:rPr>
                  <a:t>𝐿≻_1 𝐶≽_1 𝑅 </a:t>
                </a:r>
                <a:r>
                  <a:rPr lang="en-US" dirty="0"/>
                  <a:t>(Voter 1 approves L, does not approve C and</a:t>
                </a:r>
                <a:r>
                  <a:rPr lang="en-US" baseline="0" dirty="0"/>
                  <a:t> </a:t>
                </a:r>
                <a:r>
                  <a:rPr lang="en-US" dirty="0"/>
                  <a:t>R)</a:t>
                </a:r>
              </a:p>
              <a:p>
                <a:pPr marL="171450" indent="-171450">
                  <a:buFont typeface="Arial" panose="020B0604020202020204" pitchFamily="34" charset="0"/>
                  <a:buChar char="•"/>
                </a:pPr>
                <a:r>
                  <a:rPr lang="en-US" i="0" dirty="0">
                    <a:latin typeface="Cambria Math" panose="02040503050406030204" pitchFamily="18" charset="0"/>
                  </a:rPr>
                  <a:t>𝐶≽_2 𝐿≻_2 𝑅 </a:t>
                </a:r>
                <a:r>
                  <a:rPr lang="en-US" dirty="0"/>
                  <a:t>(Voter 2 approves C and L, does not approve R)</a:t>
                </a:r>
              </a:p>
              <a:p>
                <a:pPr marL="171450" indent="-171450">
                  <a:buFont typeface="Arial" panose="020B0604020202020204" pitchFamily="34" charset="0"/>
                  <a:buChar char="•"/>
                </a:pPr>
                <a:r>
                  <a:rPr lang="en-US" i="0" dirty="0">
                    <a:latin typeface="Cambria Math" panose="02040503050406030204" pitchFamily="18" charset="0"/>
                  </a:rPr>
                  <a:t>𝑅≻_3 𝐶≽_3 𝐿 </a:t>
                </a:r>
                <a:r>
                  <a:rPr lang="en-US" dirty="0"/>
                  <a:t>(Voter 3 approves R, does not approve C and L)</a:t>
                </a:r>
              </a:p>
              <a:p>
                <a:pPr marL="171450" indent="-171450">
                  <a:buFont typeface="Arial" panose="020B0604020202020204" pitchFamily="34" charset="0"/>
                  <a:buChar char="•"/>
                </a:pPr>
                <a:r>
                  <a:rPr lang="en-US" i="0" dirty="0">
                    <a:latin typeface="Cambria Math" panose="02040503050406030204" pitchFamily="18" charset="0"/>
                  </a:rPr>
                  <a:t>𝐶≽_4 𝐿≻_4 𝑅 </a:t>
                </a:r>
                <a:r>
                  <a:rPr lang="en-US" dirty="0"/>
                  <a:t>(Voter 4 approves C and L, does not approve R)</a:t>
                </a:r>
              </a:p>
              <a:p>
                <a:pPr marL="171450" indent="-171450">
                  <a:buFont typeface="Arial" panose="020B0604020202020204" pitchFamily="34" charset="0"/>
                  <a:buChar char="•"/>
                </a:pPr>
                <a:r>
                  <a:rPr lang="en-US" i="0" dirty="0">
                    <a:latin typeface="Cambria Math" panose="02040503050406030204" pitchFamily="18" charset="0"/>
                  </a:rPr>
                  <a:t>𝐶≽_5 𝑅≽_5 𝐿 </a:t>
                </a:r>
                <a:r>
                  <a:rPr lang="en-US" dirty="0"/>
                  <a:t>(Voter 5 approves C,</a:t>
                </a:r>
                <a:r>
                  <a:rPr lang="en-US" baseline="0" dirty="0"/>
                  <a:t> </a:t>
                </a:r>
                <a:r>
                  <a:rPr lang="en-US" dirty="0"/>
                  <a:t>R, and L)</a:t>
                </a:r>
              </a:p>
              <a:p>
                <a:endParaRPr lang="en-US" dirty="0"/>
              </a:p>
              <a:p>
                <a:r>
                  <a:rPr lang="en-US" dirty="0"/>
                  <a:t>In this example, the candidate L has the most approvals, making it the "winner" of the election in the context of Approval voting.</a:t>
                </a:r>
              </a:p>
              <a:p>
                <a:endParaRPr lang="en-US" dirty="0"/>
              </a:p>
              <a:p>
                <a:pPr>
                  <a:lnSpc>
                    <a:spcPts val="700"/>
                  </a:lnSpc>
                </a:pPr>
                <a:r>
                  <a:rPr lang="en-US" dirty="0"/>
                  <a:t>        |    L    |     C    |      R</a:t>
                </a:r>
              </a:p>
              <a:p>
                <a:pPr>
                  <a:lnSpc>
                    <a:spcPts val="700"/>
                  </a:lnSpc>
                </a:pPr>
                <a:r>
                  <a:rPr lang="en-US" dirty="0"/>
                  <a:t>-----------------------------</a:t>
                </a:r>
              </a:p>
              <a:p>
                <a:pPr marL="228600" indent="-228600">
                  <a:lnSpc>
                    <a:spcPts val="700"/>
                  </a:lnSpc>
                  <a:buAutoNum type="arabicPlain"/>
                </a:pPr>
                <a:r>
                  <a:rPr lang="en-US" dirty="0"/>
                  <a:t>  |    1    |     0    |      0</a:t>
                </a:r>
              </a:p>
              <a:p>
                <a:pPr>
                  <a:lnSpc>
                    <a:spcPts val="700"/>
                  </a:lnSpc>
                </a:pPr>
                <a:r>
                  <a:rPr lang="en-US" dirty="0"/>
                  <a:t>-----------------------------</a:t>
                </a:r>
              </a:p>
              <a:p>
                <a:pPr>
                  <a:lnSpc>
                    <a:spcPts val="700"/>
                  </a:lnSpc>
                </a:pPr>
                <a:r>
                  <a:rPr lang="en-US" dirty="0"/>
                  <a:t>2      |    1    |     1    |      0</a:t>
                </a:r>
              </a:p>
              <a:p>
                <a:pPr>
                  <a:lnSpc>
                    <a:spcPts val="700"/>
                  </a:lnSpc>
                </a:pPr>
                <a:r>
                  <a:rPr lang="en-US" dirty="0"/>
                  <a:t>-----------------------------</a:t>
                </a:r>
              </a:p>
              <a:p>
                <a:pPr>
                  <a:lnSpc>
                    <a:spcPts val="700"/>
                  </a:lnSpc>
                </a:pPr>
                <a:r>
                  <a:rPr lang="en-US" dirty="0"/>
                  <a:t>3      |    0    |     0    |      1</a:t>
                </a:r>
              </a:p>
              <a:p>
                <a:pPr>
                  <a:lnSpc>
                    <a:spcPts val="700"/>
                  </a:lnSpc>
                </a:pPr>
                <a:r>
                  <a:rPr lang="en-US" dirty="0"/>
                  <a:t>-----------------------------</a:t>
                </a:r>
              </a:p>
              <a:p>
                <a:pPr>
                  <a:lnSpc>
                    <a:spcPts val="700"/>
                  </a:lnSpc>
                </a:pPr>
                <a:r>
                  <a:rPr lang="en-US" dirty="0"/>
                  <a:t>4      |    1    |     1    |      0</a:t>
                </a:r>
              </a:p>
              <a:p>
                <a:pPr>
                  <a:lnSpc>
                    <a:spcPts val="700"/>
                  </a:lnSpc>
                </a:pPr>
                <a:r>
                  <a:rPr lang="en-US" dirty="0"/>
                  <a:t>-----------------------------</a:t>
                </a:r>
              </a:p>
              <a:p>
                <a:pPr>
                  <a:lnSpc>
                    <a:spcPts val="700"/>
                  </a:lnSpc>
                </a:pPr>
                <a:r>
                  <a:rPr lang="en-US" dirty="0"/>
                  <a:t>5      |    1    |     1    |      1</a:t>
                </a:r>
              </a:p>
              <a:p>
                <a:pPr>
                  <a:lnSpc>
                    <a:spcPts val="700"/>
                  </a:lnSpc>
                </a:pPr>
                <a:r>
                  <a:rPr lang="en-US" dirty="0"/>
                  <a:t>-----------------------------</a:t>
                </a:r>
              </a:p>
              <a:p>
                <a:pPr>
                  <a:lnSpc>
                    <a:spcPts val="700"/>
                  </a:lnSpc>
                </a:pPr>
                <a:r>
                  <a:rPr lang="en-US" dirty="0"/>
                  <a:t>Tot   |    </a:t>
                </a:r>
                <a:r>
                  <a:rPr lang="en-US" b="1" dirty="0"/>
                  <a:t>4</a:t>
                </a:r>
                <a:r>
                  <a:rPr lang="en-US" dirty="0"/>
                  <a:t>    |     3    |     </a:t>
                </a:r>
                <a:r>
                  <a:rPr lang="en-US" b="1" dirty="0"/>
                  <a:t> </a:t>
                </a:r>
                <a:r>
                  <a:rPr lang="en-US" b="0" dirty="0"/>
                  <a:t>2</a:t>
                </a:r>
                <a:endParaRPr dirty="0"/>
              </a:p>
            </p:txBody>
          </p:sp>
        </mc:Fallback>
      </mc:AlternateContent>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The </a:t>
                </a:r>
                <a:r>
                  <a:rPr lang="en-US" dirty="0" err="1"/>
                  <a:t>Borda</a:t>
                </a:r>
                <a:r>
                  <a:rPr lang="en-US" dirty="0"/>
                  <a:t> count is a voting method used in social choice theory. Here's how it works:</a:t>
                </a:r>
              </a:p>
              <a:p>
                <a:endParaRPr lang="en-US" dirty="0"/>
              </a:p>
              <a:p>
                <a:pPr marL="171450" indent="-171450">
                  <a:buFont typeface="Arial" panose="020B0604020202020204" pitchFamily="34" charset="0"/>
                  <a:buChar char="•"/>
                </a:pPr>
                <a:r>
                  <a:rPr lang="en-US" dirty="0"/>
                  <a:t>For an election with 𝑘 candidates </a:t>
                </a:r>
                <a14:m>
                  <m:oMath xmlns:m="http://schemas.openxmlformats.org/officeDocument/2006/math">
                    <m:r>
                      <a:rPr lang="en-US" i="1" dirty="0" smtClean="0">
                        <a:latin typeface="Cambria Math" panose="02040503050406030204" pitchFamily="18" charset="0"/>
                      </a:rPr>
                      <m:t>Ω</m:t>
                    </m:r>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 . .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𝑘</m:t>
                        </m:r>
                      </m:sub>
                    </m:sSub>
                    <m:r>
                      <a:rPr lang="en-US" i="1" dirty="0" smtClean="0">
                        <a:latin typeface="Cambria Math" panose="02040503050406030204" pitchFamily="18" charset="0"/>
                      </a:rPr>
                      <m:t>}</m:t>
                    </m:r>
                  </m:oMath>
                </a14:m>
                <a:r>
                  <a:rPr lang="en-US" dirty="0"/>
                  <a:t>, 𝑘 variables are defined.</a:t>
                </a:r>
              </a:p>
              <a:p>
                <a:pPr marL="171450" indent="-171450">
                  <a:buFont typeface="Arial" panose="020B0604020202020204" pitchFamily="34" charset="0"/>
                  <a:buChar char="•"/>
                </a:pPr>
                <a:r>
                  <a:rPr lang="en-US" dirty="0"/>
                  <a:t>Candidates receive points based on their rank in the preference order of each voter. Specifically, candidates receive 𝑘 − 1 points if they are ranked first, 𝑘 − 2 points if they are ranked second, and so on, down to 0 points if they are ranked last.</a:t>
                </a:r>
              </a:p>
              <a:p>
                <a:pPr marL="171450" indent="-171450">
                  <a:buFont typeface="Arial" panose="020B0604020202020204" pitchFamily="34" charset="0"/>
                  <a:buChar char="•"/>
                </a:pPr>
                <a:r>
                  <a:rPr lang="en-US" dirty="0"/>
                  <a:t>The candidate with the largest number of points, often referred to as the </a:t>
                </a:r>
                <a:r>
                  <a:rPr lang="en-US" dirty="0" err="1"/>
                  <a:t>Borda</a:t>
                </a:r>
                <a:r>
                  <a:rPr lang="en-US" dirty="0"/>
                  <a:t> score, is declared the winner.</a:t>
                </a:r>
              </a:p>
              <a:p>
                <a:pPr marL="171450" indent="-171450">
                  <a:buFont typeface="Arial" panose="020B0604020202020204" pitchFamily="34" charset="0"/>
                  <a:buChar char="•"/>
                </a:pPr>
                <a:r>
                  <a:rPr lang="en-US" dirty="0"/>
                  <a:t>In situations where there is a tie, a tie-breaking rule may be needed to determine the winner.</a:t>
                </a:r>
              </a:p>
              <a:p>
                <a:endParaRPr lang="en-US" dirty="0"/>
              </a:p>
              <a:p>
                <a:r>
                  <a:rPr lang="en-US" dirty="0"/>
                  <a:t>The </a:t>
                </a:r>
                <a:r>
                  <a:rPr lang="en-US" dirty="0" err="1"/>
                  <a:t>Borda</a:t>
                </a:r>
                <a:r>
                  <a:rPr lang="en-US" dirty="0"/>
                  <a:t> count is a ranked voting system that takes into account not only voters' preferences but also the order in which candidates are ranked in those preferences. It aims to find a consensus candidate by considering the rankings from all voters.</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The </a:t>
                </a:r>
                <a:r>
                  <a:rPr lang="en-US" dirty="0" err="1"/>
                  <a:t>Borda</a:t>
                </a:r>
                <a:r>
                  <a:rPr lang="en-US" dirty="0"/>
                  <a:t> count is a voting method used in social choice theory. Here's how it works:</a:t>
                </a:r>
              </a:p>
              <a:p>
                <a:endParaRPr lang="en-US" dirty="0"/>
              </a:p>
              <a:p>
                <a:pPr marL="171450" indent="-171450">
                  <a:buFont typeface="Arial" panose="020B0604020202020204" pitchFamily="34" charset="0"/>
                  <a:buChar char="•"/>
                </a:pPr>
                <a:r>
                  <a:rPr lang="en-US" dirty="0"/>
                  <a:t>For an election with 𝑘 candidates </a:t>
                </a:r>
                <a:r>
                  <a:rPr lang="en-US" i="0" dirty="0">
                    <a:latin typeface="Cambria Math" panose="02040503050406030204" pitchFamily="18" charset="0"/>
                  </a:rPr>
                  <a:t>Ω = {𝜔_1, . . . , 𝜔_𝑘}</a:t>
                </a:r>
                <a:r>
                  <a:rPr lang="en-US" dirty="0"/>
                  <a:t>, 𝑘 variables are defined.</a:t>
                </a:r>
              </a:p>
              <a:p>
                <a:pPr marL="171450" indent="-171450">
                  <a:buFont typeface="Arial" panose="020B0604020202020204" pitchFamily="34" charset="0"/>
                  <a:buChar char="•"/>
                </a:pPr>
                <a:r>
                  <a:rPr lang="en-US" dirty="0"/>
                  <a:t>Candidates receive points based on their rank in the preference order of each voter. Specifically, candidates receive 𝑘 − 1 points if they are ranked first, 𝑘 − 2 points if they are ranked second, and so on, down to 0 points if they are ranked last.</a:t>
                </a:r>
              </a:p>
              <a:p>
                <a:pPr marL="171450" indent="-171450">
                  <a:buFont typeface="Arial" panose="020B0604020202020204" pitchFamily="34" charset="0"/>
                  <a:buChar char="•"/>
                </a:pPr>
                <a:r>
                  <a:rPr lang="en-US" dirty="0"/>
                  <a:t>The candidate with the largest number of points, often referred to as the </a:t>
                </a:r>
                <a:r>
                  <a:rPr lang="en-US" dirty="0" err="1"/>
                  <a:t>Borda</a:t>
                </a:r>
                <a:r>
                  <a:rPr lang="en-US" dirty="0"/>
                  <a:t> score, is declared the winner.</a:t>
                </a:r>
              </a:p>
              <a:p>
                <a:pPr marL="171450" indent="-171450">
                  <a:buFont typeface="Arial" panose="020B0604020202020204" pitchFamily="34" charset="0"/>
                  <a:buChar char="•"/>
                </a:pPr>
                <a:r>
                  <a:rPr lang="en-US" dirty="0"/>
                  <a:t>In situations where there is a tie, a tie-breaking rule may be needed to determine the winner.</a:t>
                </a:r>
              </a:p>
              <a:p>
                <a:endParaRPr lang="en-US" dirty="0"/>
              </a:p>
              <a:p>
                <a:r>
                  <a:rPr lang="en-US" dirty="0"/>
                  <a:t>The </a:t>
                </a:r>
                <a:r>
                  <a:rPr lang="en-US" dirty="0" err="1"/>
                  <a:t>Borda</a:t>
                </a:r>
                <a:r>
                  <a:rPr lang="en-US" dirty="0"/>
                  <a:t> count is a ranked voting system that takes into account not only voters' preferences but also the order in which candidates are ranked in those preferences. It aims to find a consensus candidate by considering the rankings from all voters.</a:t>
                </a:r>
                <a:endParaRPr dirty="0"/>
              </a:p>
            </p:txBody>
          </p:sp>
        </mc:Fallback>
      </mc:AlternateContent>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In this example of the </a:t>
            </a:r>
            <a:r>
              <a:rPr lang="en-US" dirty="0" err="1"/>
              <a:t>Borda</a:t>
            </a:r>
            <a:r>
              <a:rPr lang="en-US" dirty="0"/>
              <a:t> count, we have five voters and three candidates: Ω = {𝐿, 𝐶, 𝑅}. Each voter has their own preference order, and candidates are ranked within those preferences. The </a:t>
            </a:r>
            <a:r>
              <a:rPr lang="en-US" dirty="0" err="1"/>
              <a:t>Borda</a:t>
            </a:r>
            <a:r>
              <a:rPr lang="en-US" dirty="0"/>
              <a:t> count assigns points to candidates based on their rank in each voter's preference order:</a:t>
            </a:r>
          </a:p>
          <a:p>
            <a:endParaRPr lang="en-US" dirty="0"/>
          </a:p>
          <a:p>
            <a:r>
              <a:rPr lang="en-US" dirty="0"/>
              <a:t>        |    L    |     C    |      R</a:t>
            </a:r>
          </a:p>
          <a:p>
            <a:r>
              <a:rPr lang="en-US" dirty="0"/>
              <a:t>-----------------------------</a:t>
            </a:r>
          </a:p>
          <a:p>
            <a:pPr marL="228600" indent="-228600">
              <a:buAutoNum type="arabicPlain"/>
            </a:pPr>
            <a:r>
              <a:rPr lang="en-US" dirty="0"/>
              <a:t>  |    2    |     1    |      0</a:t>
            </a:r>
          </a:p>
          <a:p>
            <a:r>
              <a:rPr lang="en-US" dirty="0"/>
              <a:t>-----------------------------</a:t>
            </a:r>
          </a:p>
          <a:p>
            <a:r>
              <a:rPr lang="en-US" dirty="0"/>
              <a:t>2      |    1    |     2    |      0</a:t>
            </a:r>
          </a:p>
          <a:p>
            <a:r>
              <a:rPr lang="en-US" dirty="0"/>
              <a:t>-----------------------------</a:t>
            </a:r>
          </a:p>
          <a:p>
            <a:r>
              <a:rPr lang="en-US" dirty="0"/>
              <a:t>3      |    1    |     0    |      2</a:t>
            </a:r>
          </a:p>
          <a:p>
            <a:r>
              <a:rPr lang="en-US" dirty="0"/>
              <a:t>-----------------------------</a:t>
            </a:r>
          </a:p>
          <a:p>
            <a:r>
              <a:rPr lang="en-US" dirty="0"/>
              <a:t>4      |    1    |     2    |      0</a:t>
            </a:r>
          </a:p>
          <a:p>
            <a:r>
              <a:rPr lang="en-US" dirty="0"/>
              <a:t>-----------------------------</a:t>
            </a:r>
          </a:p>
          <a:p>
            <a:r>
              <a:rPr lang="en-US" dirty="0"/>
              <a:t>5      |    1    |     0    |      2</a:t>
            </a:r>
          </a:p>
          <a:p>
            <a:r>
              <a:rPr lang="en-US" dirty="0"/>
              <a:t>-----------------------------</a:t>
            </a:r>
          </a:p>
          <a:p>
            <a:r>
              <a:rPr lang="en-US" dirty="0"/>
              <a:t>Tot   |    </a:t>
            </a:r>
            <a:r>
              <a:rPr lang="en-US" b="1" dirty="0"/>
              <a:t>6</a:t>
            </a:r>
            <a:r>
              <a:rPr lang="en-US" dirty="0"/>
              <a:t>    |     5    |     </a:t>
            </a:r>
            <a:r>
              <a:rPr lang="en-US" b="1" dirty="0"/>
              <a:t> </a:t>
            </a:r>
            <a:r>
              <a:rPr lang="en-US" b="0" dirty="0"/>
              <a:t>4</a:t>
            </a:r>
          </a:p>
          <a:p>
            <a:endParaRPr lang="en-US" dirty="0"/>
          </a:p>
          <a:p>
            <a:r>
              <a:rPr lang="en-US" dirty="0"/>
              <a:t>The </a:t>
            </a:r>
            <a:r>
              <a:rPr lang="en-US" dirty="0" err="1"/>
              <a:t>Borda</a:t>
            </a:r>
            <a:r>
              <a:rPr lang="en-US" dirty="0"/>
              <a:t> score for each candidate is the sum of the points they receive from all voters. In this case:</a:t>
            </a:r>
          </a:p>
          <a:p>
            <a:endParaRPr lang="en-US" dirty="0"/>
          </a:p>
          <a:p>
            <a:pPr marL="171450" indent="-171450">
              <a:buFont typeface="Arial" panose="020B0604020202020204" pitchFamily="34" charset="0"/>
              <a:buChar char="•"/>
            </a:pPr>
            <a:r>
              <a:rPr lang="en-US" dirty="0"/>
              <a:t>𝐿 receives 6 points.</a:t>
            </a:r>
          </a:p>
          <a:p>
            <a:pPr marL="171450" indent="-171450">
              <a:buFont typeface="Arial" panose="020B0604020202020204" pitchFamily="34" charset="0"/>
              <a:buChar char="•"/>
            </a:pPr>
            <a:r>
              <a:rPr lang="en-US" dirty="0"/>
              <a:t>𝐶 receives 5 points.</a:t>
            </a:r>
          </a:p>
          <a:p>
            <a:pPr marL="171450" indent="-171450">
              <a:buFont typeface="Arial" panose="020B0604020202020204" pitchFamily="34" charset="0"/>
              <a:buChar char="•"/>
            </a:pPr>
            <a:r>
              <a:rPr lang="en-US" dirty="0"/>
              <a:t>𝑅 receives 4 points.</a:t>
            </a:r>
          </a:p>
          <a:p>
            <a:endParaRPr lang="en-US" dirty="0"/>
          </a:p>
          <a:p>
            <a:r>
              <a:rPr lang="en-US" dirty="0"/>
              <a:t>Therefore, the social outcome (the "winner") according to the </a:t>
            </a:r>
            <a:r>
              <a:rPr lang="en-US" dirty="0" err="1"/>
              <a:t>Borda</a:t>
            </a:r>
            <a:r>
              <a:rPr lang="en-US" dirty="0"/>
              <a:t> count is candidate 𝐿, as it has the highest </a:t>
            </a:r>
            <a:r>
              <a:rPr lang="en-US" dirty="0" err="1"/>
              <a:t>Borda</a:t>
            </a:r>
            <a:r>
              <a:rPr lang="en-US" dirty="0"/>
              <a:t> score. This demonstrates how the </a:t>
            </a:r>
            <a:r>
              <a:rPr lang="en-US" dirty="0" err="1"/>
              <a:t>Borda</a:t>
            </a:r>
            <a:r>
              <a:rPr lang="en-US" dirty="0"/>
              <a:t> count considers the rankings from all voters to determine the winner.</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The Condorcet rule is a method for choosing a winner in an election that involves a head-to-head comparison of candidates. Here are the key features of the Condorcet rule:</a:t>
            </a:r>
          </a:p>
          <a:p>
            <a:endParaRPr lang="en-US" dirty="0"/>
          </a:p>
          <a:p>
            <a:pPr marL="228600" indent="-228600">
              <a:buFont typeface="+mj-lt"/>
              <a:buAutoNum type="arabicPeriod"/>
            </a:pPr>
            <a:r>
              <a:rPr lang="en-US" b="1" dirty="0"/>
              <a:t>Head-to-Head Elections: </a:t>
            </a:r>
            <a:r>
              <a:rPr lang="en-US" dirty="0"/>
              <a:t>In the Condorcet rule, every candidate is pitted against each other in a series of head-to-head elections. This means that for each pair of candidates, voters express their preferences, and a winner is determined in these one-on-one matchups.</a:t>
            </a:r>
          </a:p>
          <a:p>
            <a:pPr marL="228600" indent="-228600">
              <a:buFont typeface="+mj-lt"/>
              <a:buAutoNum type="arabicPeriod"/>
            </a:pPr>
            <a:endParaRPr lang="en-US" dirty="0"/>
          </a:p>
          <a:p>
            <a:pPr marL="228600" indent="-228600">
              <a:buFont typeface="+mj-lt"/>
              <a:buAutoNum type="arabicPeriod"/>
            </a:pPr>
            <a:r>
              <a:rPr lang="en-US" b="1" dirty="0"/>
              <a:t>The Condorcet Winner: </a:t>
            </a:r>
            <a:r>
              <a:rPr lang="en-US" dirty="0"/>
              <a:t>The Condorcet winner is the candidate who, when compared to every other candidate individually, wins in a head-to-head election. In other words, a Condorcet winner is a candidate who would beat all other candidates if they were considered in separate two-candidate races.</a:t>
            </a:r>
          </a:p>
          <a:p>
            <a:pPr marL="228600" indent="-228600">
              <a:buFont typeface="+mj-lt"/>
              <a:buAutoNum type="arabicPeriod"/>
            </a:pPr>
            <a:endParaRPr lang="en-US" dirty="0"/>
          </a:p>
          <a:p>
            <a:pPr marL="228600" indent="-228600">
              <a:buFont typeface="+mj-lt"/>
              <a:buAutoNum type="arabicPeriod"/>
            </a:pPr>
            <a:r>
              <a:rPr lang="en-US" b="1" dirty="0"/>
              <a:t>Not Always Existing: </a:t>
            </a:r>
            <a:r>
              <a:rPr lang="en-US" dirty="0"/>
              <a:t>It's important to note that a Condorcet winner may not always exist in an election. In some cases, there might be no single candidate who can beat every other candidate in a head-to-head election. This can happen when voter preferences are not transitive, leading to cycles where A beats B, B beats C, and C beats A.</a:t>
            </a:r>
          </a:p>
          <a:p>
            <a:endParaRPr lang="en-US" dirty="0"/>
          </a:p>
          <a:p>
            <a:r>
              <a:rPr lang="en-US" dirty="0"/>
              <a:t>The Condorcet rule aims to select a candidate who has majority support when compared to every other candidate individually. However, in cases where there is no clear Condorcet winner due to cycles in preferences, alternative methods or tie-breaking rules may be needed to determine the election's outcome.</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In this example of the Condorcet rule, we have five agents (voters) and three candidates (outcomes). The preference orderings of the agents are as follows:</a:t>
            </a:r>
          </a:p>
          <a:p>
            <a:endParaRPr lang="en-US" dirty="0"/>
          </a:p>
          <a:p>
            <a:pPr marL="171450" indent="-171450">
              <a:buFont typeface="Arial" panose="020B0604020202020204" pitchFamily="34" charset="0"/>
              <a:buChar char="•"/>
            </a:pPr>
            <a:r>
              <a:rPr lang="en-US" dirty="0"/>
              <a:t>Voter 1 prefers 𝐿, then 𝐶, and finally 𝑅.</a:t>
            </a:r>
          </a:p>
          <a:p>
            <a:pPr marL="171450" indent="-171450">
              <a:buFont typeface="Arial" panose="020B0604020202020204" pitchFamily="34" charset="0"/>
              <a:buChar char="•"/>
            </a:pPr>
            <a:r>
              <a:rPr lang="en-US" dirty="0"/>
              <a:t>Voter 2 prefers 𝐶, then 𝐿, and finally 𝑅.</a:t>
            </a:r>
          </a:p>
          <a:p>
            <a:pPr marL="171450" indent="-171450">
              <a:buFont typeface="Arial" panose="020B0604020202020204" pitchFamily="34" charset="0"/>
              <a:buChar char="•"/>
            </a:pPr>
            <a:r>
              <a:rPr lang="en-US" dirty="0"/>
              <a:t>Voter 3 prefers 𝑅, then 𝐶, and finally 𝐿.</a:t>
            </a:r>
          </a:p>
          <a:p>
            <a:pPr marL="171450" indent="-171450">
              <a:buFont typeface="Arial" panose="020B0604020202020204" pitchFamily="34" charset="0"/>
              <a:buChar char="•"/>
            </a:pPr>
            <a:r>
              <a:rPr lang="en-US" dirty="0"/>
              <a:t>Voter 4 prefers 𝐶, then 𝐿, and finally 𝑅.</a:t>
            </a:r>
          </a:p>
          <a:p>
            <a:pPr marL="171450" indent="-171450">
              <a:buFont typeface="Arial" panose="020B0604020202020204" pitchFamily="34" charset="0"/>
              <a:buChar char="•"/>
            </a:pPr>
            <a:r>
              <a:rPr lang="en-US" dirty="0"/>
              <a:t>Voter 5 prefers 𝐶, then 𝑅, and finally 𝐿.</a:t>
            </a:r>
          </a:p>
          <a:p>
            <a:endParaRPr lang="en-US" dirty="0"/>
          </a:p>
          <a:p>
            <a:r>
              <a:rPr lang="en-US" dirty="0"/>
              <a:t>Using these preference orderings, the social choice function determines the Condorcet winner by conducting head-to-head elections between the candidates. </a:t>
            </a:r>
          </a:p>
          <a:p>
            <a:endParaRPr lang="en-US" dirty="0"/>
          </a:p>
          <a:p>
            <a:r>
              <a:rPr lang="en-US" dirty="0"/>
              <a:t>       |  L  |  C  |               |  C  |  R  |                |  L  |  R  |  </a:t>
            </a:r>
          </a:p>
          <a:p>
            <a:r>
              <a:rPr lang="en-US" dirty="0"/>
              <a:t>---------------        ---------------        ---------------</a:t>
            </a:r>
          </a:p>
          <a:p>
            <a:pPr marL="228600" marR="0" lvl="0" indent="-228600" algn="l" defTabSz="914400" rtl="0" eaLnBrk="1" fontAlgn="auto" latinLnBrk="0" hangingPunct="1">
              <a:lnSpc>
                <a:spcPct val="100000"/>
              </a:lnSpc>
              <a:spcBef>
                <a:spcPts val="0"/>
              </a:spcBef>
              <a:spcAft>
                <a:spcPts val="0"/>
              </a:spcAft>
              <a:buClrTx/>
              <a:buSzTx/>
              <a:buFontTx/>
              <a:buAutoNum type="arabicPlain"/>
              <a:tabLst/>
              <a:defRPr/>
            </a:pPr>
            <a:r>
              <a:rPr lang="en-US" dirty="0"/>
              <a:t> |  1  |  0  |        1     |  1  |  0  |         1     |  1  |  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  0  |  1  |        2     |  1  |  0  |         2     |  1  |  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  0  |  1  |        3     |  0  |  1  |         3     |  0  |  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  0  |  1  |        4     |  1  |  0  |         4     |  1  |  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     |  0  |  1  |        5     |  1  |  0  |         5     |  0  |  1  |        </a:t>
            </a:r>
          </a:p>
          <a:p>
            <a:r>
              <a:rPr lang="en-US" dirty="0"/>
              <a:t>---------------        ---------------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Tot  |  1  |  </a:t>
            </a:r>
            <a:r>
              <a:rPr lang="en-US" b="1" dirty="0"/>
              <a:t>4  </a:t>
            </a:r>
            <a:r>
              <a:rPr lang="en-US" dirty="0"/>
              <a:t>|       Tot  |  </a:t>
            </a:r>
            <a:r>
              <a:rPr lang="en-US" b="1" dirty="0"/>
              <a:t>4</a:t>
            </a:r>
            <a:r>
              <a:rPr lang="en-US" dirty="0"/>
              <a:t>  |  </a:t>
            </a:r>
            <a:r>
              <a:rPr lang="en-US" b="0" dirty="0"/>
              <a:t>1</a:t>
            </a:r>
            <a:r>
              <a:rPr lang="en-US" b="1" dirty="0"/>
              <a:t>  </a:t>
            </a:r>
            <a:r>
              <a:rPr lang="en-US" dirty="0"/>
              <a:t>|         Tot  |  3  |  </a:t>
            </a:r>
            <a:r>
              <a:rPr lang="en-US" b="0" dirty="0"/>
              <a:t>2</a:t>
            </a:r>
            <a:r>
              <a:rPr lang="en-US" b="1" dirty="0"/>
              <a:t>  </a:t>
            </a:r>
            <a:r>
              <a:rPr lang="en-US" dirty="0"/>
              <a:t>|</a:t>
            </a:r>
          </a:p>
          <a:p>
            <a:pPr marL="228600" indent="-228600">
              <a:buAutoNum type="arabicPlain"/>
            </a:pPr>
            <a:endParaRPr lang="en-US" dirty="0"/>
          </a:p>
          <a:p>
            <a:r>
              <a:rPr lang="en-US" dirty="0"/>
              <a:t>The result is that 𝐶 emerges as the Condorcet winner because it beats both 𝐿 and 𝑅 when compared in individual head-to-head matchups. Therefore, 𝐶 is selected as the social outcome (the "winner") based on the Condorcet rule.</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The utilitarian rule, sometimes referred to as the max-sum rule, is a social choice function that aims to maximize the total utility among all agents or voters. Here's how it works:</a:t>
                </a:r>
              </a:p>
              <a:p>
                <a:endParaRPr lang="en-US" dirty="0"/>
              </a:p>
              <a:p>
                <a:pPr marL="228600" indent="-228600">
                  <a:buFont typeface="+mj-lt"/>
                  <a:buAutoNum type="arabicPeriod"/>
                </a:pPr>
                <a:r>
                  <a:rPr lang="en-US" dirty="0"/>
                  <a:t>Each agent or voter, denoted as 𝑖∈𝑁, assigns a utility function 𝑢_i(𝜔) to every candidate or outcome 𝜔∈Ω. This utility function represents the desirability of 𝜔 from the perspective of agent 𝑖.</a:t>
                </a:r>
              </a:p>
              <a:p>
                <a:pPr marL="228600" indent="-228600">
                  <a:buFont typeface="+mj-lt"/>
                  <a:buAutoNum type="arabicPeriod"/>
                </a:pPr>
                <a:endParaRPr lang="en-US" dirty="0"/>
              </a:p>
              <a:p>
                <a:pPr marL="228600" indent="-228600">
                  <a:buFont typeface="+mj-lt"/>
                  <a:buAutoNum type="arabicPeriod"/>
                </a:pPr>
                <a:r>
                  <a:rPr lang="en-US" dirty="0"/>
                  <a:t>The social choice function computes the total utility for each candidate 𝜔 by summing up the utilities assigned by all agents: </a:t>
                </a:r>
                <a14:m>
                  <m:oMath xmlns:m="http://schemas.openxmlformats.org/officeDocument/2006/math">
                    <m:r>
                      <a:rPr lang="en-MY" i="1" spc="-15" dirty="0" smtClean="0">
                        <a:latin typeface="Cambria Math" panose="02040503050406030204" pitchFamily="18" charset="0"/>
                        <a:cs typeface="Trebuchet MS"/>
                      </a:rPr>
                      <m:t>𝑢</m:t>
                    </m:r>
                    <m:r>
                      <a:rPr lang="en-MY" i="1" dirty="0">
                        <a:latin typeface="Cambria Math" panose="02040503050406030204" pitchFamily="18" charset="0"/>
                      </a:rPr>
                      <m:t>(</m:t>
                    </m:r>
                    <m:r>
                      <a:rPr lang="en-MY" i="1" spc="-190" dirty="0">
                        <a:latin typeface="Cambria Math" panose="02040503050406030204" pitchFamily="18" charset="0"/>
                        <a:cs typeface="Verdana"/>
                      </a:rPr>
                      <m:t>𝜔</m:t>
                    </m:r>
                    <m:r>
                      <a:rPr lang="en-MY" i="1" dirty="0">
                        <a:latin typeface="Cambria Math" panose="02040503050406030204" pitchFamily="18" charset="0"/>
                      </a:rPr>
                      <m:t>)</m:t>
                    </m:r>
                    <m:r>
                      <a:rPr lang="en-MY" i="1" spc="-40" dirty="0">
                        <a:latin typeface="Cambria Math" panose="02040503050406030204" pitchFamily="18" charset="0"/>
                      </a:rPr>
                      <m:t> </m:t>
                    </m:r>
                    <m:r>
                      <a:rPr lang="en-MY" i="1" spc="40" dirty="0">
                        <a:latin typeface="Cambria Math" panose="02040503050406030204" pitchFamily="18" charset="0"/>
                      </a:rPr>
                      <m:t>=</m:t>
                    </m:r>
                    <m:r>
                      <a:rPr lang="en-MY" i="1" spc="-45" dirty="0">
                        <a:latin typeface="Cambria Math" panose="02040503050406030204" pitchFamily="18" charset="0"/>
                      </a:rPr>
                      <m:t> </m:t>
                    </m:r>
                    <m:nary>
                      <m:naryPr>
                        <m:chr m:val="∑"/>
                        <m:limLoc m:val="subSup"/>
                        <m:supHide m:val="on"/>
                        <m:ctrlPr>
                          <a:rPr lang="ar-SA" i="1" spc="-45" dirty="0" smtClean="0">
                            <a:latin typeface="Cambria Math" panose="02040503050406030204" pitchFamily="18" charset="0"/>
                          </a:rPr>
                        </m:ctrlPr>
                      </m:naryPr>
                      <m:sub>
                        <m:r>
                          <m:rPr>
                            <m:brk m:alnAt="9"/>
                          </m:rPr>
                          <a:rPr lang="ar-SA" b="0" i="1" spc="-45" dirty="0" smtClean="0">
                            <a:latin typeface="Cambria Math" panose="02040503050406030204" pitchFamily="18" charset="0"/>
                          </a:rPr>
                          <m:t>𝑖</m:t>
                        </m:r>
                        <m:r>
                          <a:rPr lang="en-MY" b="0" i="1" spc="-45" dirty="0" smtClean="0">
                            <a:latin typeface="Cambria Math" panose="02040503050406030204" pitchFamily="18" charset="0"/>
                          </a:rPr>
                          <m:t>∈</m:t>
                        </m:r>
                        <m:r>
                          <a:rPr lang="en-MY" b="0" i="1" spc="-45" dirty="0" smtClean="0">
                            <a:latin typeface="Cambria Math" panose="02040503050406030204" pitchFamily="18" charset="0"/>
                          </a:rPr>
                          <m:t>𝑁</m:t>
                        </m:r>
                      </m:sub>
                      <m:sup/>
                      <m:e>
                        <m:sSub>
                          <m:sSubPr>
                            <m:ctrlPr>
                              <a:rPr lang="en-MY" b="0" i="1" spc="-45" dirty="0" smtClean="0">
                                <a:latin typeface="Cambria Math" panose="02040503050406030204" pitchFamily="18" charset="0"/>
                              </a:rPr>
                            </m:ctrlPr>
                          </m:sSubPr>
                          <m:e>
                            <m:r>
                              <a:rPr lang="en-MY" b="0" i="1" spc="-45" dirty="0" smtClean="0">
                                <a:latin typeface="Cambria Math" panose="02040503050406030204" pitchFamily="18" charset="0"/>
                              </a:rPr>
                              <m:t>𝑢</m:t>
                            </m:r>
                          </m:e>
                          <m:sub>
                            <m:r>
                              <a:rPr lang="en-MY" b="0" i="1" spc="-45" dirty="0" smtClean="0">
                                <a:latin typeface="Cambria Math" panose="02040503050406030204" pitchFamily="18" charset="0"/>
                              </a:rPr>
                              <m:t>𝑖</m:t>
                            </m:r>
                          </m:sub>
                        </m:sSub>
                        <m:d>
                          <m:dPr>
                            <m:ctrlPr>
                              <a:rPr lang="en-MY" b="0" i="1" spc="-45" dirty="0" smtClean="0">
                                <a:latin typeface="Cambria Math" panose="02040503050406030204" pitchFamily="18" charset="0"/>
                              </a:rPr>
                            </m:ctrlPr>
                          </m:dPr>
                          <m:e>
                            <m:r>
                              <a:rPr lang="en-MY" i="1" spc="-190" dirty="0">
                                <a:latin typeface="Cambria Math" panose="02040503050406030204" pitchFamily="18" charset="0"/>
                                <a:cs typeface="Verdana"/>
                              </a:rPr>
                              <m:t>𝜔</m:t>
                            </m:r>
                          </m:e>
                        </m:d>
                      </m:e>
                    </m:nary>
                  </m:oMath>
                </a14:m>
                <a:r>
                  <a:rPr lang="en-US" dirty="0"/>
                  <a:t>.</a:t>
                </a:r>
              </a:p>
              <a:p>
                <a:pPr marL="0" indent="0">
                  <a:buFont typeface="+mj-lt"/>
                  <a:buNone/>
                </a:pPr>
                <a:endParaRPr lang="en-US" dirty="0"/>
              </a:p>
              <a:p>
                <a:pPr marL="228600" indent="-228600">
                  <a:buFont typeface="+mj-lt"/>
                  <a:buAutoNum type="arabicPeriod" startAt="3"/>
                </a:pPr>
                <a:r>
                  <a:rPr lang="en-US" dirty="0"/>
                  <a:t>The candidate 𝜔 that maximizes the total utility 𝑢(𝜔) is chosen as the winner according to the utilitarian rule.</a:t>
                </a:r>
              </a:p>
              <a:p>
                <a:endParaRPr lang="en-US" dirty="0"/>
              </a:p>
              <a:p>
                <a:r>
                  <a:rPr lang="en-US" dirty="0"/>
                  <a:t>It's important to note that the utilitarian rule may require a tie-breaking mechanism in cases where multiple candidates have the same maximum total utility. This rule is focused on selecting the candidate that collectively maximizes the overall well-being or utility of the agents in the system.</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The utilitarian rule, sometimes referred to as the max-sum rule, is a social choice function that aims to maximize the total utility among all agents or voters. Here's how it works:</a:t>
                </a:r>
              </a:p>
              <a:p>
                <a:endParaRPr lang="en-US" dirty="0"/>
              </a:p>
              <a:p>
                <a:pPr marL="228600" indent="-228600">
                  <a:buFont typeface="+mj-lt"/>
                  <a:buAutoNum type="arabicPeriod"/>
                </a:pPr>
                <a:r>
                  <a:rPr lang="en-US" dirty="0"/>
                  <a:t>Each agent or voter, denoted as 𝑖∈𝑁, assigns a utility function 𝑢_i(𝜔) to every candidate or outcome 𝜔∈Ω. This utility function represents the desirability of 𝜔 from the perspective of agent 𝑖.</a:t>
                </a:r>
              </a:p>
              <a:p>
                <a:pPr marL="228600" indent="-228600">
                  <a:buFont typeface="+mj-lt"/>
                  <a:buAutoNum type="arabicPeriod"/>
                </a:pPr>
                <a:endParaRPr lang="en-US" dirty="0"/>
              </a:p>
              <a:p>
                <a:pPr marL="228600" indent="-228600">
                  <a:buFont typeface="+mj-lt"/>
                  <a:buAutoNum type="arabicPeriod"/>
                </a:pPr>
                <a:r>
                  <a:rPr lang="en-US" dirty="0"/>
                  <a:t>The social choice function computes the total utility for each candidate 𝜔 by summing up the utilities assigned by all agents: </a:t>
                </a:r>
                <a:r>
                  <a:rPr lang="en-MY" i="0" spc="-15" dirty="0">
                    <a:latin typeface="Cambria Math" panose="02040503050406030204" pitchFamily="18" charset="0"/>
                    <a:cs typeface="Trebuchet MS"/>
                  </a:rPr>
                  <a:t>𝑢</a:t>
                </a:r>
                <a:r>
                  <a:rPr lang="en-MY" i="0" dirty="0">
                    <a:latin typeface="Cambria Math" panose="02040503050406030204" pitchFamily="18" charset="0"/>
                  </a:rPr>
                  <a:t>(</a:t>
                </a:r>
                <a:r>
                  <a:rPr lang="en-MY" i="0" spc="-190" dirty="0">
                    <a:latin typeface="Cambria Math" panose="02040503050406030204" pitchFamily="18" charset="0"/>
                    <a:cs typeface="Verdana"/>
                  </a:rPr>
                  <a:t>𝜔</a:t>
                </a:r>
                <a:r>
                  <a:rPr lang="en-MY" i="0" dirty="0">
                    <a:latin typeface="Cambria Math" panose="02040503050406030204" pitchFamily="18" charset="0"/>
                  </a:rPr>
                  <a:t>)</a:t>
                </a:r>
                <a:r>
                  <a:rPr lang="en-MY" i="0" spc="-40" dirty="0">
                    <a:latin typeface="Cambria Math" panose="02040503050406030204" pitchFamily="18" charset="0"/>
                  </a:rPr>
                  <a:t> </a:t>
                </a:r>
                <a:r>
                  <a:rPr lang="en-MY" i="0" spc="40" dirty="0">
                    <a:latin typeface="Cambria Math" panose="02040503050406030204" pitchFamily="18" charset="0"/>
                  </a:rPr>
                  <a:t>=</a:t>
                </a:r>
                <a:r>
                  <a:rPr lang="en-MY" i="0" spc="-45" dirty="0">
                    <a:latin typeface="Cambria Math" panose="02040503050406030204" pitchFamily="18" charset="0"/>
                  </a:rPr>
                  <a:t> </a:t>
                </a:r>
                <a:r>
                  <a:rPr lang="ar-SA" i="0" spc="-45" dirty="0">
                    <a:latin typeface="Cambria Math" panose="02040503050406030204" pitchFamily="18" charset="0"/>
                  </a:rPr>
                  <a:t>∑2</a:t>
                </a:r>
                <a:r>
                  <a:rPr lang="en-MY" b="0" i="0" spc="-45" dirty="0">
                    <a:latin typeface="Cambria Math" panose="02040503050406030204" pitchFamily="18" charset="0"/>
                  </a:rPr>
                  <a:t>_</a:t>
                </a:r>
                <a:r>
                  <a:rPr lang="ar-SA" b="0" i="0" spc="-45" dirty="0">
                    <a:latin typeface="Cambria Math" panose="02040503050406030204" pitchFamily="18" charset="0"/>
                  </a:rPr>
                  <a:t>(𝑖</a:t>
                </a:r>
                <a:r>
                  <a:rPr lang="en-MY" b="0" i="0" spc="-45" dirty="0">
                    <a:latin typeface="Cambria Math" panose="02040503050406030204" pitchFamily="18" charset="0"/>
                  </a:rPr>
                  <a:t>∈𝑁</a:t>
                </a:r>
                <a:r>
                  <a:rPr lang="ar-SA" b="0" i="0" spc="-45" dirty="0">
                    <a:latin typeface="Cambria Math" panose="02040503050406030204" pitchFamily="18" charset="0"/>
                  </a:rPr>
                  <a:t>)</a:t>
                </a:r>
                <a:r>
                  <a:rPr lang="en-MY" b="0" i="0" spc="-190" dirty="0">
                    <a:latin typeface="Cambria Math" panose="02040503050406030204" pitchFamily="18" charset="0"/>
                  </a:rPr>
                  <a:t>▒</a:t>
                </a:r>
                <a:r>
                  <a:rPr lang="ar-SA" b="0" i="0" spc="-45" dirty="0">
                    <a:latin typeface="Cambria Math" panose="02040503050406030204" pitchFamily="18" charset="0"/>
                  </a:rPr>
                  <a:t>〖</a:t>
                </a:r>
                <a:r>
                  <a:rPr lang="en-MY" b="0" i="0" spc="-45" dirty="0">
                    <a:latin typeface="Cambria Math" panose="02040503050406030204" pitchFamily="18" charset="0"/>
                  </a:rPr>
                  <a:t>𝑢_𝑖 (</a:t>
                </a:r>
                <a:r>
                  <a:rPr lang="en-MY" i="0" spc="-190" dirty="0">
                    <a:latin typeface="Cambria Math" panose="02040503050406030204" pitchFamily="18" charset="0"/>
                    <a:cs typeface="Verdana"/>
                  </a:rPr>
                  <a:t>𝜔) </a:t>
                </a:r>
                <a:r>
                  <a:rPr lang="ar-SA" i="0" spc="-45" dirty="0">
                    <a:latin typeface="Cambria Math" panose="02040503050406030204" pitchFamily="18" charset="0"/>
                    <a:cs typeface="Verdana"/>
                  </a:rPr>
                  <a:t>〗</a:t>
                </a:r>
                <a:r>
                  <a:rPr lang="en-US" dirty="0"/>
                  <a:t>.</a:t>
                </a:r>
              </a:p>
              <a:p>
                <a:pPr marL="0" indent="0">
                  <a:buFont typeface="+mj-lt"/>
                  <a:buNone/>
                </a:pPr>
                <a:endParaRPr lang="en-US" dirty="0"/>
              </a:p>
              <a:p>
                <a:pPr marL="228600" indent="-228600">
                  <a:buFont typeface="+mj-lt"/>
                  <a:buAutoNum type="arabicPeriod" startAt="3"/>
                </a:pPr>
                <a:r>
                  <a:rPr lang="en-US" dirty="0"/>
                  <a:t>The candidate 𝜔 that maximizes the total utility 𝑢(𝜔) is chosen as the winner according to the utilitarian rule.</a:t>
                </a:r>
              </a:p>
              <a:p>
                <a:endParaRPr lang="en-US" dirty="0"/>
              </a:p>
              <a:p>
                <a:r>
                  <a:rPr lang="en-US" dirty="0"/>
                  <a:t>It's important to note that the utilitarian rule may require a tie-breaking mechanism in cases where multiple candidates have the same maximum total utility. This rule is focused on selecting the candidate that collectively maximizes the overall well-being or utility of the agents in the system.</a:t>
                </a:r>
                <a:endParaRPr dirty="0"/>
              </a:p>
            </p:txBody>
          </p:sp>
        </mc:Fallback>
      </mc:AlternateContent>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In the example of the Utilitarian rule:</a:t>
                </a:r>
              </a:p>
              <a:p>
                <a:endParaRPr lang="en-US" dirty="0"/>
              </a:p>
              <a:p>
                <a:r>
                  <a:rPr lang="en-US" dirty="0"/>
                  <a:t>Agents/Voters: 𝑁={1, 2, 3, 4, 5}</a:t>
                </a:r>
              </a:p>
              <a:p>
                <a:r>
                  <a:rPr lang="en-US" dirty="0"/>
                  <a:t>Outcomes/Candidates: </a:t>
                </a:r>
                <a:r>
                  <a:rPr lang="el-GR" dirty="0"/>
                  <a:t>Ω={𝐿, 𝐶, 𝑅}</a:t>
                </a:r>
              </a:p>
              <a:p>
                <a:endParaRPr lang="el-GR" dirty="0"/>
              </a:p>
              <a:p>
                <a:r>
                  <a:rPr lang="en-US" dirty="0"/>
                  <a:t>Assuming that 𝑢_𝑖 gives utilities as the </a:t>
                </a:r>
                <a:r>
                  <a:rPr lang="en-US" dirty="0" err="1"/>
                  <a:t>Borda</a:t>
                </a:r>
                <a:r>
                  <a:rPr lang="en-US" dirty="0"/>
                  <a:t> count method, the preference orders and utilities assigned by each agent are as follows:</a:t>
                </a:r>
              </a:p>
              <a:p>
                <a:endParaRPr lang="en-US" dirty="0"/>
              </a:p>
              <a:p>
                <a:endParaRPr lang="en-US" dirty="0"/>
              </a:p>
              <a:p>
                <a:r>
                  <a:rPr lang="en-US" dirty="0"/>
                  <a:t>        |    L    |     C    |      R</a:t>
                </a:r>
              </a:p>
              <a:p>
                <a:r>
                  <a:rPr lang="en-US" dirty="0"/>
                  <a:t>-----------------------------</a:t>
                </a:r>
              </a:p>
              <a:p>
                <a:pPr marL="228600" indent="-228600">
                  <a:buAutoNum type="arabicPlain"/>
                </a:pPr>
                <a:r>
                  <a:rPr lang="en-US" dirty="0"/>
                  <a:t>  |    2    |     1    |      0</a:t>
                </a:r>
              </a:p>
              <a:p>
                <a:r>
                  <a:rPr lang="en-US" dirty="0"/>
                  <a:t>-----------------------------</a:t>
                </a:r>
              </a:p>
              <a:p>
                <a:r>
                  <a:rPr lang="en-US" dirty="0"/>
                  <a:t>2      |    1    |     2    |      0</a:t>
                </a:r>
              </a:p>
              <a:p>
                <a:r>
                  <a:rPr lang="en-US" dirty="0"/>
                  <a:t>-----------------------------</a:t>
                </a:r>
              </a:p>
              <a:p>
                <a:r>
                  <a:rPr lang="en-US" dirty="0"/>
                  <a:t>3      |    0    |     1    |      2</a:t>
                </a:r>
              </a:p>
              <a:p>
                <a:r>
                  <a:rPr lang="en-US" dirty="0"/>
                  <a:t>-----------------------------</a:t>
                </a:r>
              </a:p>
              <a:p>
                <a:r>
                  <a:rPr lang="en-US" dirty="0"/>
                  <a:t>4      |    1    |     2    |      0</a:t>
                </a:r>
              </a:p>
              <a:p>
                <a:r>
                  <a:rPr lang="en-US" dirty="0"/>
                  <a:t>-----------------------------</a:t>
                </a:r>
              </a:p>
              <a:p>
                <a:r>
                  <a:rPr lang="en-US" dirty="0"/>
                  <a:t>5      |    0    |     2    |      1</a:t>
                </a:r>
              </a:p>
              <a:p>
                <a:r>
                  <a:rPr lang="en-US" dirty="0"/>
                  <a:t>-----------------------------</a:t>
                </a:r>
              </a:p>
              <a:p>
                <a:r>
                  <a:rPr lang="en-US" dirty="0"/>
                  <a:t>Tot   |    </a:t>
                </a:r>
                <a:r>
                  <a:rPr lang="en-US" b="0" dirty="0"/>
                  <a:t>4</a:t>
                </a:r>
                <a:r>
                  <a:rPr lang="en-US" dirty="0"/>
                  <a:t>    |     </a:t>
                </a:r>
                <a:r>
                  <a:rPr lang="en-US" b="1" dirty="0"/>
                  <a:t>8</a:t>
                </a:r>
                <a:r>
                  <a:rPr lang="en-US" dirty="0"/>
                  <a:t>    |     </a:t>
                </a:r>
                <a:r>
                  <a:rPr lang="en-US" b="1" dirty="0"/>
                  <a:t> </a:t>
                </a:r>
                <a:r>
                  <a:rPr lang="en-US" b="0" dirty="0"/>
                  <a:t>3</a:t>
                </a:r>
              </a:p>
              <a:p>
                <a:endParaRPr lang="en-US" dirty="0"/>
              </a:p>
              <a:p>
                <a:r>
                  <a:rPr lang="en-US" dirty="0"/>
                  <a:t>Now, the Utilitarian rule calculates the total utility for each candidate:</a:t>
                </a:r>
              </a:p>
              <a:p>
                <a:endParaRPr lang="en-US" dirty="0"/>
              </a:p>
              <a:p>
                <a:pPr marL="171450"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𝑢</m:t>
                    </m:r>
                    <m:r>
                      <a:rPr lang="en-US" i="1" dirty="0" smtClean="0">
                        <a:latin typeface="Cambria Math" panose="02040503050406030204" pitchFamily="18" charset="0"/>
                      </a:rPr>
                      <m:t>(</m:t>
                    </m:r>
                    <m:r>
                      <a:rPr lang="en-US" i="1" dirty="0" smtClean="0">
                        <a:latin typeface="Cambria Math" panose="02040503050406030204" pitchFamily="18" charset="0"/>
                      </a:rPr>
                      <m:t>𝐿</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𝐿</m:t>
                    </m:r>
                    <m:r>
                      <a:rPr lang="en-US" i="1" dirty="0" smtClean="0">
                        <a:latin typeface="Cambria Math" panose="02040503050406030204" pitchFamily="18" charset="0"/>
                      </a:rPr>
                      <m:t>) </m:t>
                    </m:r>
                  </m:oMath>
                </a14:m>
                <a:r>
                  <a:rPr lang="en-US" dirty="0"/>
                  <a:t>= 2 + 1 + 0 + 1 + 0 = 4</a:t>
                </a:r>
              </a:p>
              <a:p>
                <a:pPr marL="171450"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𝑢</m:t>
                    </m:r>
                    <m:r>
                      <a:rPr lang="en-US" i="1" dirty="0" smtClean="0">
                        <a:latin typeface="Cambria Math" panose="02040503050406030204" pitchFamily="18" charset="0"/>
                      </a:rPr>
                      <m:t>(</m:t>
                    </m:r>
                    <m:r>
                      <a:rPr lang="en-US" i="1" dirty="0" smtClean="0">
                        <a:latin typeface="Cambria Math" panose="02040503050406030204" pitchFamily="18" charset="0"/>
                      </a:rPr>
                      <m:t>𝐶</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𝐶</m:t>
                    </m:r>
                    <m:r>
                      <a:rPr lang="en-US" i="1" dirty="0" smtClean="0">
                        <a:latin typeface="Cambria Math" panose="02040503050406030204" pitchFamily="18" charset="0"/>
                      </a:rPr>
                      <m:t>) </m:t>
                    </m:r>
                  </m:oMath>
                </a14:m>
                <a:r>
                  <a:rPr lang="en-US" dirty="0"/>
                  <a:t>= 1 + 2 + 1 + 2 + 2 = 8</a:t>
                </a:r>
              </a:p>
              <a:p>
                <a:pPr marL="171450" indent="-1714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𝑢</m:t>
                    </m:r>
                    <m:r>
                      <a:rPr lang="en-US" i="1" dirty="0" smtClean="0">
                        <a:latin typeface="Cambria Math" panose="02040503050406030204" pitchFamily="18" charset="0"/>
                      </a:rPr>
                      <m:t>(</m:t>
                    </m:r>
                    <m:r>
                      <a:rPr lang="en-US" i="1" dirty="0" smtClean="0">
                        <a:latin typeface="Cambria Math" panose="02040503050406030204" pitchFamily="18" charset="0"/>
                      </a:rPr>
                      <m:t>𝑅</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𝑅</m:t>
                    </m:r>
                    <m:r>
                      <a:rPr lang="en-US" i="1" dirty="0" smtClean="0">
                        <a:latin typeface="Cambria Math" panose="02040503050406030204" pitchFamily="18" charset="0"/>
                      </a:rPr>
                      <m:t>) </m:t>
                    </m:r>
                  </m:oMath>
                </a14:m>
                <a:r>
                  <a:rPr lang="en-US" dirty="0"/>
                  <a:t>= 0 + 0 + 2 + 0 + 1 = 3</a:t>
                </a:r>
              </a:p>
              <a:p>
                <a:endParaRPr lang="en-US" dirty="0"/>
              </a:p>
              <a:p>
                <a:r>
                  <a:rPr lang="en-US" dirty="0"/>
                  <a:t>The candidate 𝐶 has the highest total utility, and therefore, according to the Utilitarian rule, 𝐶 is chosen as the social outcome (the "winner").</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In the example of the Utilitarian rule:</a:t>
                </a:r>
              </a:p>
              <a:p>
                <a:endParaRPr lang="en-US" dirty="0"/>
              </a:p>
              <a:p>
                <a:r>
                  <a:rPr lang="en-US" dirty="0"/>
                  <a:t>Agents/Voters: 𝑁={1, 2, 3, 4, 5}</a:t>
                </a:r>
              </a:p>
              <a:p>
                <a:r>
                  <a:rPr lang="en-US" dirty="0"/>
                  <a:t>Outcomes/Candidates: </a:t>
                </a:r>
                <a:r>
                  <a:rPr lang="el-GR" dirty="0"/>
                  <a:t>Ω={𝐿, 𝐶, 𝑅}</a:t>
                </a:r>
              </a:p>
              <a:p>
                <a:endParaRPr lang="el-GR" dirty="0"/>
              </a:p>
              <a:p>
                <a:r>
                  <a:rPr lang="en-US" dirty="0"/>
                  <a:t>Assuming that 𝑢_𝑖 gives utilities as the </a:t>
                </a:r>
                <a:r>
                  <a:rPr lang="en-US" dirty="0" err="1"/>
                  <a:t>Borda</a:t>
                </a:r>
                <a:r>
                  <a:rPr lang="en-US" dirty="0"/>
                  <a:t> count method, the preference orders and utilities assigned by each agent are as follows:</a:t>
                </a:r>
              </a:p>
              <a:p>
                <a:endParaRPr lang="en-US" dirty="0"/>
              </a:p>
              <a:p>
                <a:endParaRPr lang="en-US" dirty="0"/>
              </a:p>
              <a:p>
                <a:r>
                  <a:rPr lang="en-US" dirty="0"/>
                  <a:t>        |    L    |     C    |      R</a:t>
                </a:r>
              </a:p>
              <a:p>
                <a:r>
                  <a:rPr lang="en-US" dirty="0"/>
                  <a:t>-----------------------------</a:t>
                </a:r>
              </a:p>
              <a:p>
                <a:pPr marL="228600" indent="-228600">
                  <a:buAutoNum type="arabicPlain"/>
                </a:pPr>
                <a:r>
                  <a:rPr lang="en-US" dirty="0"/>
                  <a:t>  |    2    |     1    |      0</a:t>
                </a:r>
              </a:p>
              <a:p>
                <a:r>
                  <a:rPr lang="en-US" dirty="0"/>
                  <a:t>-----------------------------</a:t>
                </a:r>
              </a:p>
              <a:p>
                <a:r>
                  <a:rPr lang="en-US" dirty="0"/>
                  <a:t>2      |    1    |     2    |      0</a:t>
                </a:r>
              </a:p>
              <a:p>
                <a:r>
                  <a:rPr lang="en-US" dirty="0"/>
                  <a:t>-----------------------------</a:t>
                </a:r>
              </a:p>
              <a:p>
                <a:r>
                  <a:rPr lang="en-US" dirty="0"/>
                  <a:t>3      |    0    |     1    |      2</a:t>
                </a:r>
              </a:p>
              <a:p>
                <a:r>
                  <a:rPr lang="en-US" dirty="0"/>
                  <a:t>-----------------------------</a:t>
                </a:r>
              </a:p>
              <a:p>
                <a:r>
                  <a:rPr lang="en-US" dirty="0"/>
                  <a:t>4      |    1    |     2    |      0</a:t>
                </a:r>
              </a:p>
              <a:p>
                <a:r>
                  <a:rPr lang="en-US" dirty="0"/>
                  <a:t>-----------------------------</a:t>
                </a:r>
              </a:p>
              <a:p>
                <a:r>
                  <a:rPr lang="en-US" dirty="0"/>
                  <a:t>5      |    0    |     2    |      1</a:t>
                </a:r>
              </a:p>
              <a:p>
                <a:r>
                  <a:rPr lang="en-US" dirty="0"/>
                  <a:t>-----------------------------</a:t>
                </a:r>
              </a:p>
              <a:p>
                <a:r>
                  <a:rPr lang="en-US" dirty="0"/>
                  <a:t>Tot   |    </a:t>
                </a:r>
                <a:r>
                  <a:rPr lang="en-US" b="0" dirty="0"/>
                  <a:t>4</a:t>
                </a:r>
                <a:r>
                  <a:rPr lang="en-US" dirty="0"/>
                  <a:t>    |     </a:t>
                </a:r>
                <a:r>
                  <a:rPr lang="en-US" b="1" dirty="0"/>
                  <a:t>8</a:t>
                </a:r>
                <a:r>
                  <a:rPr lang="en-US" dirty="0"/>
                  <a:t>    |     </a:t>
                </a:r>
                <a:r>
                  <a:rPr lang="en-US" b="1" dirty="0"/>
                  <a:t> </a:t>
                </a:r>
                <a:r>
                  <a:rPr lang="en-US" b="0" dirty="0"/>
                  <a:t>3</a:t>
                </a:r>
              </a:p>
              <a:p>
                <a:endParaRPr lang="en-US" dirty="0"/>
              </a:p>
              <a:p>
                <a:r>
                  <a:rPr lang="en-US" dirty="0"/>
                  <a:t>Now, the Utilitarian rule calculates the total utility for each candidate:</a:t>
                </a:r>
              </a:p>
              <a:p>
                <a:endParaRPr lang="en-US" dirty="0"/>
              </a:p>
              <a:p>
                <a:pPr marL="171450" indent="-171450">
                  <a:buFont typeface="Arial" panose="020B0604020202020204" pitchFamily="34" charset="0"/>
                  <a:buChar char="•"/>
                </a:pPr>
                <a:r>
                  <a:rPr lang="en-US" i="0" dirty="0">
                    <a:latin typeface="Cambria Math" panose="02040503050406030204" pitchFamily="18" charset="0"/>
                  </a:rPr>
                  <a:t>𝑢(𝐿)=∑𝑢_𝑖 (𝐿) </a:t>
                </a:r>
                <a:r>
                  <a:rPr lang="en-US" dirty="0"/>
                  <a:t>= 2 + 1 + 0 + 1 + 0 = 4</a:t>
                </a:r>
              </a:p>
              <a:p>
                <a:pPr marL="171450" indent="-171450">
                  <a:buFont typeface="Arial" panose="020B0604020202020204" pitchFamily="34" charset="0"/>
                  <a:buChar char="•"/>
                </a:pPr>
                <a:r>
                  <a:rPr lang="en-US" i="0" dirty="0">
                    <a:latin typeface="Cambria Math" panose="02040503050406030204" pitchFamily="18" charset="0"/>
                  </a:rPr>
                  <a:t>𝑢(𝐶)=∑𝑢_𝑖 (𝐶) </a:t>
                </a:r>
                <a:r>
                  <a:rPr lang="en-US" dirty="0"/>
                  <a:t>= 1 + 2 + 1 + 2 + 2 = 8</a:t>
                </a:r>
              </a:p>
              <a:p>
                <a:pPr marL="171450" indent="-171450">
                  <a:buFont typeface="Arial" panose="020B0604020202020204" pitchFamily="34" charset="0"/>
                  <a:buChar char="•"/>
                </a:pPr>
                <a:r>
                  <a:rPr lang="en-US" i="0" dirty="0">
                    <a:latin typeface="Cambria Math" panose="02040503050406030204" pitchFamily="18" charset="0"/>
                  </a:rPr>
                  <a:t>𝑢(𝑅)=∑𝑢_𝑖 (𝑅) </a:t>
                </a:r>
                <a:r>
                  <a:rPr lang="en-US" dirty="0"/>
                  <a:t>= 0 + 0 + 2 + 0 + 1 = 3</a:t>
                </a:r>
              </a:p>
              <a:p>
                <a:endParaRPr lang="en-US" dirty="0"/>
              </a:p>
              <a:p>
                <a:r>
                  <a:rPr lang="en-US" dirty="0"/>
                  <a:t>The candidate 𝐶 has the highest total utility, and therefore, according to the Utilitarian rule, 𝐶 is chosen as the social outcome (the "winner").</a:t>
                </a:r>
                <a:endParaRPr dirty="0"/>
              </a:p>
            </p:txBody>
          </p:sp>
        </mc:Fallback>
      </mc:AlternateContent>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The Egalitarian rule, also known as the max-min rule, aims to maximize the minimal individual utility among all agents/voters. Here's how it works:</a:t>
                </a:r>
              </a:p>
              <a:p>
                <a:endParaRPr lang="en-US" dirty="0"/>
              </a:p>
              <a:p>
                <a:pPr marL="171450" indent="-171450">
                  <a:buFont typeface="Arial" panose="020B0604020202020204" pitchFamily="34" charset="0"/>
                  <a:buChar char="•"/>
                </a:pPr>
                <a:r>
                  <a:rPr lang="en-US" dirty="0"/>
                  <a:t>For each agent/voter 𝑖∈𝑁, a utility function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oMath>
                </a14:m>
                <a:r>
                  <a:rPr lang="en-US" dirty="0"/>
                  <a:t>: Ω → 𝑅 is assigned. This utility function represents the preferences and values of each agent for the outcomes/candidates.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Egalitarian rule then considers all possible outcomes/candidates 𝜔∈Ω and calculates the minimal individual utility for each outcome by finding the minimum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𝑖</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𝜔</m:t>
                        </m:r>
                      </m:e>
                    </m:d>
                    <m:r>
                      <a:rPr lang="en-US" i="1" dirty="0" smtClean="0">
                        <a:latin typeface="Cambria Math" panose="02040503050406030204" pitchFamily="18" charset="0"/>
                      </a:rPr>
                      <m:t> </m:t>
                    </m:r>
                  </m:oMath>
                </a14:m>
                <a:r>
                  <a:rPr lang="en-US" dirty="0"/>
                  <a:t>over all agents 𝑖∈𝑁.</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outcome 𝜔 that maximizes this minimal individual utility is chosen as the winner according to the Egalitarian rule.</a:t>
                </a:r>
              </a:p>
              <a:p>
                <a:endParaRPr lang="en-US" dirty="0"/>
              </a:p>
              <a:p>
                <a:r>
                  <a:rPr lang="en-US" dirty="0"/>
                  <a:t>This rule aims to ensure that even the agent with the lowest utility (i.e., the one with the least preferred outcome) receives the highest possible utility among all outcomes. It focuses on achieving fairness and equitable results in the decision-making process.</a:t>
                </a:r>
              </a:p>
              <a:p>
                <a:endParaRPr lang="en-US" dirty="0"/>
              </a:p>
              <a:p>
                <a:r>
                  <a:rPr lang="en-US" dirty="0"/>
                  <a:t>Like other social choice rules, the Egalitarian rule may require a tie-breaking mechanism in case multiple outcomes have the same maximal minimal individual utility.</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The Egalitarian rule, also known as the max-min rule, aims to maximize the minimal individual utility among all agents/voters. Here's how it works:</a:t>
                </a:r>
              </a:p>
              <a:p>
                <a:endParaRPr lang="en-US" dirty="0"/>
              </a:p>
              <a:p>
                <a:pPr marL="171450" indent="-171450">
                  <a:buFont typeface="Arial" panose="020B0604020202020204" pitchFamily="34" charset="0"/>
                  <a:buChar char="•"/>
                </a:pPr>
                <a:r>
                  <a:rPr lang="en-US" dirty="0"/>
                  <a:t>For each agent/voter 𝑖∈𝑁, a utility function </a:t>
                </a:r>
                <a:r>
                  <a:rPr lang="en-US" i="0" dirty="0">
                    <a:latin typeface="Cambria Math" panose="02040503050406030204" pitchFamily="18" charset="0"/>
                  </a:rPr>
                  <a:t>𝑢_𝑖  </a:t>
                </a:r>
                <a:r>
                  <a:rPr lang="en-US" dirty="0"/>
                  <a:t>: Ω → 𝑅 is assigned. This utility function represents the preferences and values of each agent for the outcomes/candidates.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Egalitarian rule then considers all possible outcomes/candidates 𝜔∈Ω and calculates the minimal individual utility for each outcome by finding the minimum </a:t>
                </a:r>
                <a:r>
                  <a:rPr lang="en-US" i="0" dirty="0">
                    <a:latin typeface="Cambria Math" panose="02040503050406030204" pitchFamily="18" charset="0"/>
                  </a:rPr>
                  <a:t>𝑢_𝑖 (𝜔)  </a:t>
                </a:r>
                <a:r>
                  <a:rPr lang="en-US" dirty="0"/>
                  <a:t>over all agents 𝑖∈𝑁.</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outcome 𝜔 that maximizes this minimal individual utility is chosen as the winner according to the Egalitarian rule.</a:t>
                </a:r>
              </a:p>
              <a:p>
                <a:endParaRPr lang="en-US" dirty="0"/>
              </a:p>
              <a:p>
                <a:r>
                  <a:rPr lang="en-US" dirty="0"/>
                  <a:t>This rule aims to ensure that even the agent with the lowest utility (i.e., the one with the least preferred outcome) receives the highest possible utility among all outcomes. It focuses on achieving fairness and equitable results in the decision-making process.</a:t>
                </a:r>
              </a:p>
              <a:p>
                <a:endParaRPr lang="en-US" dirty="0"/>
              </a:p>
              <a:p>
                <a:r>
                  <a:rPr lang="en-US" dirty="0"/>
                  <a:t>Like other social choice rules, the Egalitarian rule may require a tie-breaking mechanism in case multiple outcomes have the same maximal minimal individual utility.</a:t>
                </a:r>
                <a:endParaRPr dirty="0"/>
              </a:p>
            </p:txBody>
          </p:sp>
        </mc:Fallback>
      </mc:AlternateContent>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The Egalitarian rule aims to maximize the minimal individual utility among all agents/voters. In this example:</a:t>
            </a:r>
          </a:p>
          <a:p>
            <a:endParaRPr lang="en-US" dirty="0"/>
          </a:p>
          <a:p>
            <a:r>
              <a:rPr lang="en-US" dirty="0"/>
              <a:t>Agents/Voters: 𝑁 = {1, 2, 3, 4, 5}</a:t>
            </a:r>
          </a:p>
          <a:p>
            <a:r>
              <a:rPr lang="en-US" dirty="0"/>
              <a:t>Outcomes/Candidates: Ω = {𝐿, 𝐶, 𝑅}</a:t>
            </a:r>
          </a:p>
          <a:p>
            <a:endParaRPr lang="en-US" dirty="0"/>
          </a:p>
          <a:p>
            <a:r>
              <a:rPr lang="en-US" dirty="0"/>
              <a:t>Assume that the utility functions 𝑢_𝑖 are assigned based on the </a:t>
            </a:r>
            <a:r>
              <a:rPr lang="en-US" dirty="0" err="1"/>
              <a:t>Borda</a:t>
            </a:r>
            <a:r>
              <a:rPr lang="en-US" dirty="0"/>
              <a:t> count method, where higher-ranked candidates receive more points according to the </a:t>
            </a:r>
            <a:r>
              <a:rPr lang="en-US" dirty="0" err="1"/>
              <a:t>Borda</a:t>
            </a:r>
            <a:r>
              <a:rPr lang="en-US" dirty="0"/>
              <a:t> count rules.</a:t>
            </a:r>
          </a:p>
          <a:p>
            <a:endParaRPr lang="en-US" dirty="0"/>
          </a:p>
          <a:p>
            <a:r>
              <a:rPr lang="en-US" dirty="0"/>
              <a:t>For each candidate (𝐿, 𝐶, 𝑅), we calculate the minimal individual utility among all agents:</a:t>
            </a:r>
          </a:p>
          <a:p>
            <a:endParaRPr lang="en-US" dirty="0"/>
          </a:p>
          <a:p>
            <a:pPr marL="171450" indent="-171450">
              <a:buFont typeface="Arial" panose="020B0604020202020204" pitchFamily="34" charset="0"/>
              <a:buChar char="•"/>
            </a:pPr>
            <a:r>
              <a:rPr lang="en-US" dirty="0"/>
              <a:t>For candidate 𝐿: The minimal utility is 0, which is the minimum of individual utilities for 𝐿.</a:t>
            </a:r>
          </a:p>
          <a:p>
            <a:pPr marL="171450" indent="-171450">
              <a:buFont typeface="Arial" panose="020B0604020202020204" pitchFamily="34" charset="0"/>
              <a:buChar char="•"/>
            </a:pPr>
            <a:r>
              <a:rPr lang="en-US" dirty="0"/>
              <a:t>For candidate 𝐶: The minimal utility is 1, which is the minimum of individual utilities for 𝐶.</a:t>
            </a:r>
          </a:p>
          <a:p>
            <a:pPr marL="171450" indent="-171450">
              <a:buFont typeface="Arial" panose="020B0604020202020204" pitchFamily="34" charset="0"/>
              <a:buChar char="•"/>
            </a:pPr>
            <a:r>
              <a:rPr lang="en-US" dirty="0"/>
              <a:t>For candidate 𝑅: The minimal utility is 0, which is the minimum of individual utilities for 𝑅.</a:t>
            </a:r>
          </a:p>
          <a:p>
            <a:pPr marL="171450" indent="-171450">
              <a:buFont typeface="Arial" panose="020B0604020202020204" pitchFamily="34" charset="0"/>
              <a:buChar char="•"/>
            </a:pPr>
            <a:endParaRPr lang="en-US" dirty="0"/>
          </a:p>
          <a:p>
            <a:r>
              <a:rPr lang="en-US" dirty="0"/>
              <a:t>        |    L    |     C    |      R</a:t>
            </a:r>
          </a:p>
          <a:p>
            <a:r>
              <a:rPr lang="en-US" dirty="0"/>
              <a:t>-----------------------------</a:t>
            </a:r>
          </a:p>
          <a:p>
            <a:pPr marL="228600" indent="-228600">
              <a:buAutoNum type="arabicPlain"/>
            </a:pPr>
            <a:r>
              <a:rPr lang="en-US" dirty="0"/>
              <a:t>  |    2    |     1    |      0</a:t>
            </a:r>
          </a:p>
          <a:p>
            <a:r>
              <a:rPr lang="en-US" dirty="0"/>
              <a:t>-----------------------------</a:t>
            </a:r>
          </a:p>
          <a:p>
            <a:r>
              <a:rPr lang="en-US" dirty="0"/>
              <a:t>2      |    1    |     2    |      0</a:t>
            </a:r>
          </a:p>
          <a:p>
            <a:r>
              <a:rPr lang="en-US" dirty="0"/>
              <a:t>-----------------------------</a:t>
            </a:r>
          </a:p>
          <a:p>
            <a:r>
              <a:rPr lang="en-US" dirty="0"/>
              <a:t>3      |    0    |     1    |      2</a:t>
            </a:r>
          </a:p>
          <a:p>
            <a:r>
              <a:rPr lang="en-US" dirty="0"/>
              <a:t>-----------------------------</a:t>
            </a:r>
          </a:p>
          <a:p>
            <a:r>
              <a:rPr lang="en-US" dirty="0"/>
              <a:t>4      |    1    |     2    |      0</a:t>
            </a:r>
          </a:p>
          <a:p>
            <a:r>
              <a:rPr lang="en-US" dirty="0"/>
              <a:t>-----------------------------</a:t>
            </a:r>
          </a:p>
          <a:p>
            <a:r>
              <a:rPr lang="en-US" dirty="0"/>
              <a:t>5      |    0    |     2    |      1</a:t>
            </a:r>
          </a:p>
          <a:p>
            <a:r>
              <a:rPr lang="en-US" dirty="0"/>
              <a:t>-----------------------------</a:t>
            </a:r>
          </a:p>
          <a:p>
            <a:r>
              <a:rPr lang="en-US" dirty="0"/>
              <a:t>Min  |    </a:t>
            </a:r>
            <a:r>
              <a:rPr lang="en-US" b="0" dirty="0"/>
              <a:t>0</a:t>
            </a:r>
            <a:r>
              <a:rPr lang="en-US" dirty="0"/>
              <a:t>    |     </a:t>
            </a:r>
            <a:r>
              <a:rPr lang="en-US" b="1" dirty="0"/>
              <a:t>1</a:t>
            </a:r>
            <a:r>
              <a:rPr lang="en-US" dirty="0"/>
              <a:t>    |     </a:t>
            </a:r>
            <a:r>
              <a:rPr lang="en-US" b="1" dirty="0"/>
              <a:t> </a:t>
            </a:r>
            <a:r>
              <a:rPr lang="en-US" b="0" dirty="0"/>
              <a:t>0</a:t>
            </a:r>
            <a:endParaRPr lang="en-US" dirty="0"/>
          </a:p>
          <a:p>
            <a:endParaRPr lang="en-US" dirty="0"/>
          </a:p>
          <a:p>
            <a:r>
              <a:rPr lang="en-US" dirty="0"/>
              <a:t>Among these candidates, candidate 𝐶 has the highest minimal individual utility, making it the winner according to the Egalitarian rule. This rule prioritizes candidates that provide the best outcome for the agent with the lowest utility while still considering the preferences of all agents.</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Sequential majority is a voting system that involves a series of rounds, forming linear or tree-like sequences known as tournaments. In each round of this system, a pair-wise plurality election is held among the remaining candidates. The candidate who wins this pair-wise election continues in the contest, while the losing candidate is eliminated. The process continues through subsequent rounds until only a single candidate remains as the winner. Sequential majority may require a tie-breaking rule in the case of a draw or uncertainty in any of the rounds. This method allows for a step-by-step elimination of candidates, helping to identify a single winning candidate through a sequence of pair-wise elections.</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In the given example of Sequential Majority, there are three agents/voters (N = {1, 2, 3) and four potential outcomes/candidates (Ω = </a:t>
                </a:r>
                <a14:m>
                  <m:oMath xmlns:m="http://schemas.openxmlformats.org/officeDocument/2006/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4</m:t>
                        </m:r>
                      </m:sub>
                    </m:sSub>
                    <m:r>
                      <a:rPr lang="en-US" i="1" dirty="0" smtClean="0">
                        <a:latin typeface="Cambria Math" panose="02040503050406030204" pitchFamily="18" charset="0"/>
                      </a:rPr>
                      <m:t>}</m:t>
                    </m:r>
                  </m:oMath>
                </a14:m>
                <a:r>
                  <a:rPr lang="en-US" dirty="0"/>
                  <a:t>). Here are the preference orderings for the agents:</a:t>
                </a:r>
              </a:p>
              <a:p>
                <a:endParaRPr lang="en-US" dirty="0"/>
              </a:p>
              <a:p>
                <a:r>
                  <a:rPr lang="en-US" dirty="0"/>
                  <a:t>Voter 1: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4</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oMath>
                </a14:m>
                <a:endParaRPr lang="en-US" dirty="0"/>
              </a:p>
              <a:p>
                <a:r>
                  <a:rPr lang="en-US" dirty="0"/>
                  <a:t>Voter 2: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4</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oMath>
                </a14:m>
                <a:endParaRPr lang="en-US" dirty="0"/>
              </a:p>
              <a:p>
                <a:r>
                  <a:rPr lang="en-US" dirty="0"/>
                  <a:t>Voter 3: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4</m:t>
                        </m:r>
                      </m:sub>
                    </m:sSub>
                  </m:oMath>
                </a14:m>
                <a:endParaRPr lang="en-US" dirty="0"/>
              </a:p>
              <a:p>
                <a:endParaRPr lang="en-US" dirty="0"/>
              </a:p>
              <a:p>
                <a:r>
                  <a:rPr lang="en-US" dirty="0"/>
                  <a:t>Now, let's determine the outcome through Sequential Majority rounds.</a:t>
                </a:r>
              </a:p>
              <a:p>
                <a:endParaRPr lang="en-US" dirty="0"/>
              </a:p>
              <a:p>
                <a:r>
                  <a:rPr lang="en-US" b="1" dirty="0"/>
                  <a:t>Upper Example:</a:t>
                </a:r>
              </a:p>
              <a:p>
                <a:pPr marL="628650" lvl="1" indent="-171450">
                  <a:buFont typeface="Arial" panose="020B0604020202020204" pitchFamily="34" charset="0"/>
                  <a:buChar char="•"/>
                </a:pPr>
                <a:r>
                  <a:rPr lang="en-US" b="1" dirty="0"/>
                  <a:t>Round 1:</a:t>
                </a:r>
                <a:r>
                  <a:rPr lang="en-US" b="1" baseline="0" dirty="0"/>
                  <a:t> </a:t>
                </a:r>
                <a:r>
                  <a:rPr lang="en-US" dirty="0"/>
                  <a:t>Voters vote for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2</m:t>
                        </m:r>
                      </m:sub>
                    </m:sSub>
                  </m:oMath>
                </a14:m>
                <a:r>
                  <a:rPr lang="en-US" dirty="0"/>
                  <a:t> vs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3</m:t>
                        </m:r>
                      </m:sub>
                    </m:sSub>
                  </m:oMath>
                </a14:m>
                <a:r>
                  <a:rPr lang="en-US" dirty="0"/>
                  <a:t>, candidate</a:t>
                </a:r>
                <a:r>
                  <a:rPr lang="en-US" baseline="0"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2</m:t>
                        </m:r>
                      </m:sub>
                    </m:sSub>
                  </m:oMath>
                </a14:m>
                <a:r>
                  <a:rPr lang="en-US" dirty="0"/>
                  <a:t> wins</a:t>
                </a:r>
                <a:r>
                  <a:rPr lang="en-US" baseline="0" dirty="0"/>
                  <a:t> (use plurality)</a:t>
                </a:r>
                <a:endParaRPr lang="en-US" dirty="0"/>
              </a:p>
              <a:p>
                <a:pPr marL="628650" lvl="1" indent="-171450">
                  <a:buFont typeface="Arial" panose="020B0604020202020204" pitchFamily="34" charset="0"/>
                  <a:buChar char="•"/>
                </a:pPr>
                <a:r>
                  <a:rPr lang="en-US" b="1" dirty="0"/>
                  <a:t>Round 2:</a:t>
                </a:r>
                <a:r>
                  <a:rPr lang="en-US" b="1" baseline="0" dirty="0"/>
                  <a:t> </a:t>
                </a:r>
                <a:r>
                  <a:rPr lang="en-US" dirty="0"/>
                  <a:t>Voters vote for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2</m:t>
                        </m:r>
                      </m:sub>
                    </m:sSub>
                  </m:oMath>
                </a14:m>
                <a:r>
                  <a:rPr lang="en-US" dirty="0"/>
                  <a:t> vs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r>
                  <a:rPr lang="en-US" dirty="0"/>
                  <a:t>, candidate</a:t>
                </a:r>
                <a:r>
                  <a:rPr lang="en-US" baseline="0"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r>
                  <a:rPr lang="en-US" dirty="0"/>
                  <a:t> wins</a:t>
                </a:r>
                <a:r>
                  <a:rPr lang="en-US" baseline="0" dirty="0"/>
                  <a:t> </a:t>
                </a:r>
              </a:p>
              <a:p>
                <a:pPr marL="628650" lvl="1" indent="-171450">
                  <a:buFont typeface="Arial" panose="020B0604020202020204" pitchFamily="34" charset="0"/>
                  <a:buChar char="•"/>
                </a:pPr>
                <a:r>
                  <a:rPr lang="en-US" b="1" dirty="0"/>
                  <a:t>Round 3: </a:t>
                </a:r>
                <a:r>
                  <a:rPr lang="en-US" dirty="0"/>
                  <a:t>Voters vote for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r>
                  <a:rPr lang="en-US" dirty="0"/>
                  <a:t> vs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1</m:t>
                        </m:r>
                      </m:sub>
                    </m:sSub>
                  </m:oMath>
                </a14:m>
                <a:r>
                  <a:rPr lang="en-US" dirty="0"/>
                  <a:t>, candidate</a:t>
                </a:r>
                <a:r>
                  <a:rPr lang="en-US" baseline="0"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1</m:t>
                        </m:r>
                      </m:sub>
                    </m:sSub>
                  </m:oMath>
                </a14:m>
                <a:r>
                  <a:rPr lang="en-US" dirty="0"/>
                  <a:t> wins</a:t>
                </a:r>
                <a:r>
                  <a:rPr lang="en-US" baseline="0" dirty="0"/>
                  <a:t> </a:t>
                </a:r>
              </a:p>
              <a:p>
                <a:pPr marL="628650" lvl="1" indent="-171450">
                  <a:buFont typeface="Arial" panose="020B0604020202020204" pitchFamily="34" charset="0"/>
                  <a:buChar char="•"/>
                </a:pPr>
                <a:r>
                  <a:rPr lang="en-US" baseline="0" dirty="0"/>
                  <a:t>The winner is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1</m:t>
                        </m:r>
                      </m:sub>
                    </m:sSub>
                  </m:oMath>
                </a14:m>
                <a:endParaRPr lang="en-US" dirty="0"/>
              </a:p>
              <a:p>
                <a:pPr marL="457200" lvl="1" indent="0">
                  <a:buFont typeface="Arial" panose="020B0604020202020204" pitchFamily="34" charset="0"/>
                  <a:buNone/>
                </a:pPr>
                <a:endParaRPr lang="en-US" dirty="0"/>
              </a:p>
              <a:p>
                <a:r>
                  <a:rPr lang="en-US" b="1" dirty="0"/>
                  <a:t>Lower Example:</a:t>
                </a:r>
              </a:p>
              <a:p>
                <a:pPr marL="628650" lvl="1" indent="-171450">
                  <a:buFont typeface="Arial" panose="020B0604020202020204" pitchFamily="34" charset="0"/>
                  <a:buChar char="•"/>
                </a:pPr>
                <a:r>
                  <a:rPr lang="en-US" b="1" dirty="0"/>
                  <a:t>Round 1-1:</a:t>
                </a:r>
                <a:r>
                  <a:rPr lang="en-US" b="1" baseline="0" dirty="0"/>
                  <a:t> </a:t>
                </a:r>
                <a:r>
                  <a:rPr lang="en-US" dirty="0"/>
                  <a:t>Voters vote for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1</m:t>
                        </m:r>
                      </m:sub>
                    </m:sSub>
                  </m:oMath>
                </a14:m>
                <a:r>
                  <a:rPr lang="en-US" dirty="0"/>
                  <a:t> vs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2</m:t>
                        </m:r>
                      </m:sub>
                    </m:sSub>
                  </m:oMath>
                </a14:m>
                <a:r>
                  <a:rPr lang="en-US" dirty="0"/>
                  <a:t>, candidate</a:t>
                </a:r>
                <a:r>
                  <a:rPr lang="en-US" baseline="0"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2</m:t>
                        </m:r>
                      </m:sub>
                    </m:sSub>
                  </m:oMath>
                </a14:m>
                <a:r>
                  <a:rPr lang="en-US" dirty="0"/>
                  <a:t> wins</a:t>
                </a:r>
              </a:p>
              <a:p>
                <a:pPr marL="628650" lvl="1" indent="-171450">
                  <a:buFont typeface="Arial" panose="020B0604020202020204" pitchFamily="34" charset="0"/>
                  <a:buChar char="•"/>
                </a:pPr>
                <a:r>
                  <a:rPr lang="en-US" b="1" dirty="0"/>
                  <a:t>Round 1-2:</a:t>
                </a:r>
                <a:r>
                  <a:rPr lang="en-US" b="1" baseline="0" dirty="0"/>
                  <a:t> </a:t>
                </a:r>
                <a:r>
                  <a:rPr lang="en-US" dirty="0"/>
                  <a:t>Voters vote for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3</m:t>
                        </m:r>
                      </m:sub>
                    </m:sSub>
                  </m:oMath>
                </a14:m>
                <a:r>
                  <a:rPr lang="en-US" dirty="0"/>
                  <a:t> vs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r>
                  <a:rPr lang="en-US" dirty="0"/>
                  <a:t>, candidate</a:t>
                </a:r>
                <a:r>
                  <a:rPr lang="en-US" baseline="0"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r>
                  <a:rPr lang="en-US" dirty="0"/>
                  <a:t> wins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Round 2:</a:t>
                </a:r>
                <a:r>
                  <a:rPr lang="en-US" b="1" baseline="0" dirty="0"/>
                  <a:t> </a:t>
                </a:r>
                <a:r>
                  <a:rPr lang="en-US" dirty="0"/>
                  <a:t>Voters vote for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r>
                  <a:rPr lang="en-US" dirty="0"/>
                  <a:t> vs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r>
                  <a:rPr lang="en-US" dirty="0"/>
                  <a:t>, candidate</a:t>
                </a:r>
                <a:r>
                  <a:rPr lang="en-US" baseline="0"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r>
                  <a:rPr lang="en-US" dirty="0"/>
                  <a:t> wins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winner is </a:t>
                </a:r>
                <a:r>
                  <a:rPr lang="en-US" baseline="0"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4</m:t>
                        </m:r>
                      </m:sub>
                    </m:sSub>
                  </m:oMath>
                </a14:m>
                <a:endParaRPr lang="en-US"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In the given example of Sequential Majority, there are three agents/voters (N = {1, 2, 3) and four potential outcomes/candidates (Ω = </a:t>
                </a:r>
                <a:r>
                  <a:rPr lang="en-US" i="0" dirty="0">
                    <a:latin typeface="Cambria Math" panose="02040503050406030204" pitchFamily="18" charset="0"/>
                  </a:rPr>
                  <a:t>{𝜔_1, 𝜔_2, 𝜔_3, 𝜔_4}</a:t>
                </a:r>
                <a:r>
                  <a:rPr lang="en-US" dirty="0"/>
                  <a:t>). Here are the preference orderings for the agents:</a:t>
                </a:r>
              </a:p>
              <a:p>
                <a:endParaRPr lang="en-US" dirty="0"/>
              </a:p>
              <a:p>
                <a:r>
                  <a:rPr lang="en-US" dirty="0"/>
                  <a:t>Voter 1: </a:t>
                </a:r>
                <a:r>
                  <a:rPr lang="en-US" i="0" dirty="0">
                    <a:latin typeface="Cambria Math" panose="02040503050406030204" pitchFamily="18" charset="0"/>
                  </a:rPr>
                  <a:t>𝜔_4  ≻ 𝜔_2  ≻ 𝜔_3  ≻ 𝜔_1</a:t>
                </a:r>
                <a:endParaRPr lang="en-US" dirty="0"/>
              </a:p>
              <a:p>
                <a:r>
                  <a:rPr lang="en-US" dirty="0"/>
                  <a:t>Voter 2: </a:t>
                </a:r>
                <a:r>
                  <a:rPr lang="en-US" i="0" dirty="0">
                    <a:latin typeface="Cambria Math" panose="02040503050406030204" pitchFamily="18" charset="0"/>
                  </a:rPr>
                  <a:t>𝜔_1  ≻ 𝜔_4  ≻ 𝜔_2  ≻ 𝜔_3</a:t>
                </a:r>
                <a:endParaRPr lang="en-US" dirty="0"/>
              </a:p>
              <a:p>
                <a:r>
                  <a:rPr lang="en-US" dirty="0"/>
                  <a:t>Voter 3: </a:t>
                </a:r>
                <a:r>
                  <a:rPr lang="en-US" i="0" dirty="0">
                    <a:latin typeface="Cambria Math" panose="02040503050406030204" pitchFamily="18" charset="0"/>
                  </a:rPr>
                  <a:t>𝜔_2  ≻ 𝜔_3  ≻ 𝜔_1  ≻ 𝜔_4</a:t>
                </a:r>
                <a:endParaRPr lang="en-US" dirty="0"/>
              </a:p>
              <a:p>
                <a:endParaRPr lang="en-US" dirty="0"/>
              </a:p>
              <a:p>
                <a:r>
                  <a:rPr lang="en-US" dirty="0"/>
                  <a:t>Now, let's determine the outcome through Sequential Majority rounds.</a:t>
                </a:r>
              </a:p>
              <a:p>
                <a:endParaRPr lang="en-US" dirty="0"/>
              </a:p>
              <a:p>
                <a:r>
                  <a:rPr lang="en-US" b="1" dirty="0"/>
                  <a:t>Upper Example:</a:t>
                </a:r>
              </a:p>
              <a:p>
                <a:pPr marL="628650" lvl="1" indent="-171450">
                  <a:buFont typeface="Arial" panose="020B0604020202020204" pitchFamily="34" charset="0"/>
                  <a:buChar char="•"/>
                </a:pPr>
                <a:r>
                  <a:rPr lang="en-US" b="1" dirty="0"/>
                  <a:t>Round 1:</a:t>
                </a:r>
                <a:r>
                  <a:rPr lang="en-US" b="1" baseline="0" dirty="0"/>
                  <a:t> </a:t>
                </a:r>
                <a:r>
                  <a:rPr lang="en-US" dirty="0"/>
                  <a:t>Voters vote for </a:t>
                </a:r>
                <a:r>
                  <a:rPr lang="en-US" i="0" dirty="0">
                    <a:latin typeface="Cambria Math" panose="02040503050406030204" pitchFamily="18" charset="0"/>
                  </a:rPr>
                  <a:t>𝜔_</a:t>
                </a:r>
                <a:r>
                  <a:rPr lang="en-US" b="0" i="0" dirty="0">
                    <a:latin typeface="Cambria Math" panose="02040503050406030204" pitchFamily="18" charset="0"/>
                  </a:rPr>
                  <a:t>2</a:t>
                </a:r>
                <a:r>
                  <a:rPr lang="en-US" dirty="0"/>
                  <a:t> vs </a:t>
                </a:r>
                <a:r>
                  <a:rPr lang="en-US" i="0" dirty="0">
                    <a:latin typeface="Cambria Math" panose="02040503050406030204" pitchFamily="18" charset="0"/>
                  </a:rPr>
                  <a:t>𝜔_</a:t>
                </a:r>
                <a:r>
                  <a:rPr lang="en-US" b="0" i="0" dirty="0">
                    <a:latin typeface="Cambria Math" panose="02040503050406030204" pitchFamily="18" charset="0"/>
                  </a:rPr>
                  <a:t>3</a:t>
                </a:r>
                <a:r>
                  <a:rPr lang="en-US" dirty="0"/>
                  <a:t>, candidate</a:t>
                </a:r>
                <a:r>
                  <a:rPr lang="en-US" baseline="0" dirty="0"/>
                  <a:t> </a:t>
                </a:r>
                <a:r>
                  <a:rPr lang="en-US" i="0" dirty="0">
                    <a:latin typeface="Cambria Math" panose="02040503050406030204" pitchFamily="18" charset="0"/>
                  </a:rPr>
                  <a:t>𝜔_</a:t>
                </a:r>
                <a:r>
                  <a:rPr lang="en-US" b="0" i="0" dirty="0">
                    <a:latin typeface="Cambria Math" panose="02040503050406030204" pitchFamily="18" charset="0"/>
                  </a:rPr>
                  <a:t>2</a:t>
                </a:r>
                <a:r>
                  <a:rPr lang="en-US" dirty="0"/>
                  <a:t> wins</a:t>
                </a:r>
                <a:r>
                  <a:rPr lang="en-US" baseline="0" dirty="0"/>
                  <a:t> (use plurality)</a:t>
                </a:r>
                <a:endParaRPr lang="en-US" dirty="0"/>
              </a:p>
              <a:p>
                <a:pPr marL="628650" lvl="1" indent="-171450">
                  <a:buFont typeface="Arial" panose="020B0604020202020204" pitchFamily="34" charset="0"/>
                  <a:buChar char="•"/>
                </a:pPr>
                <a:r>
                  <a:rPr lang="en-US" b="1" dirty="0"/>
                  <a:t>Round 2:</a:t>
                </a:r>
                <a:r>
                  <a:rPr lang="en-US" b="1" baseline="0" dirty="0"/>
                  <a:t> </a:t>
                </a:r>
                <a:r>
                  <a:rPr lang="en-US" dirty="0"/>
                  <a:t>Voters vote for </a:t>
                </a:r>
                <a:r>
                  <a:rPr lang="en-US" i="0" dirty="0">
                    <a:latin typeface="Cambria Math" panose="02040503050406030204" pitchFamily="18" charset="0"/>
                  </a:rPr>
                  <a:t>𝜔_</a:t>
                </a:r>
                <a:r>
                  <a:rPr lang="en-US" b="0" i="0" dirty="0">
                    <a:latin typeface="Cambria Math" panose="02040503050406030204" pitchFamily="18" charset="0"/>
                  </a:rPr>
                  <a:t>2</a:t>
                </a:r>
                <a:r>
                  <a:rPr lang="en-US" dirty="0"/>
                  <a:t> vs </a:t>
                </a:r>
                <a:r>
                  <a:rPr lang="en-US" i="0" dirty="0">
                    <a:latin typeface="Cambria Math" panose="02040503050406030204" pitchFamily="18" charset="0"/>
                  </a:rPr>
                  <a:t>𝜔_</a:t>
                </a:r>
                <a:r>
                  <a:rPr lang="en-US" b="0" i="0" dirty="0">
                    <a:latin typeface="Cambria Math" panose="02040503050406030204" pitchFamily="18" charset="0"/>
                  </a:rPr>
                  <a:t>4</a:t>
                </a:r>
                <a:r>
                  <a:rPr lang="en-US" dirty="0"/>
                  <a:t>, candidate</a:t>
                </a:r>
                <a:r>
                  <a:rPr lang="en-US" baseline="0" dirty="0"/>
                  <a:t> </a:t>
                </a:r>
                <a:r>
                  <a:rPr lang="en-US" i="0" dirty="0">
                    <a:latin typeface="Cambria Math" panose="02040503050406030204" pitchFamily="18" charset="0"/>
                  </a:rPr>
                  <a:t>𝜔_</a:t>
                </a:r>
                <a:r>
                  <a:rPr lang="en-US" b="0" i="0" dirty="0">
                    <a:latin typeface="Cambria Math" panose="02040503050406030204" pitchFamily="18" charset="0"/>
                  </a:rPr>
                  <a:t>4</a:t>
                </a:r>
                <a:r>
                  <a:rPr lang="en-US" dirty="0"/>
                  <a:t> wins</a:t>
                </a:r>
                <a:r>
                  <a:rPr lang="en-US" baseline="0" dirty="0"/>
                  <a:t> </a:t>
                </a:r>
              </a:p>
              <a:p>
                <a:pPr marL="628650" lvl="1" indent="-171450">
                  <a:buFont typeface="Arial" panose="020B0604020202020204" pitchFamily="34" charset="0"/>
                  <a:buChar char="•"/>
                </a:pPr>
                <a:r>
                  <a:rPr lang="en-US" b="1" dirty="0"/>
                  <a:t>Round 3: </a:t>
                </a:r>
                <a:r>
                  <a:rPr lang="en-US" dirty="0"/>
                  <a:t>Voters vote for </a:t>
                </a:r>
                <a:r>
                  <a:rPr lang="en-US" i="0" dirty="0">
                    <a:latin typeface="Cambria Math" panose="02040503050406030204" pitchFamily="18" charset="0"/>
                  </a:rPr>
                  <a:t>𝜔_</a:t>
                </a:r>
                <a:r>
                  <a:rPr lang="en-US" b="0" i="0" dirty="0">
                    <a:latin typeface="Cambria Math" panose="02040503050406030204" pitchFamily="18" charset="0"/>
                  </a:rPr>
                  <a:t>4</a:t>
                </a:r>
                <a:r>
                  <a:rPr lang="en-US" dirty="0"/>
                  <a:t> vs </a:t>
                </a:r>
                <a:r>
                  <a:rPr lang="en-US" i="0" dirty="0">
                    <a:latin typeface="Cambria Math" panose="02040503050406030204" pitchFamily="18" charset="0"/>
                  </a:rPr>
                  <a:t>𝜔_</a:t>
                </a:r>
                <a:r>
                  <a:rPr lang="en-US" b="0" i="0" dirty="0">
                    <a:latin typeface="Cambria Math" panose="02040503050406030204" pitchFamily="18" charset="0"/>
                  </a:rPr>
                  <a:t>1</a:t>
                </a:r>
                <a:r>
                  <a:rPr lang="en-US" dirty="0"/>
                  <a:t>, candidate</a:t>
                </a:r>
                <a:r>
                  <a:rPr lang="en-US" baseline="0" dirty="0"/>
                  <a:t> </a:t>
                </a:r>
                <a:r>
                  <a:rPr lang="en-US" i="0" dirty="0">
                    <a:latin typeface="Cambria Math" panose="02040503050406030204" pitchFamily="18" charset="0"/>
                  </a:rPr>
                  <a:t>𝜔_</a:t>
                </a:r>
                <a:r>
                  <a:rPr lang="en-US" b="0" i="0" dirty="0">
                    <a:latin typeface="Cambria Math" panose="02040503050406030204" pitchFamily="18" charset="0"/>
                  </a:rPr>
                  <a:t>1</a:t>
                </a:r>
                <a:r>
                  <a:rPr lang="en-US" dirty="0"/>
                  <a:t> wins</a:t>
                </a:r>
                <a:r>
                  <a:rPr lang="en-US" baseline="0" dirty="0"/>
                  <a:t> </a:t>
                </a:r>
              </a:p>
              <a:p>
                <a:pPr marL="628650" lvl="1" indent="-171450">
                  <a:buFont typeface="Arial" panose="020B0604020202020204" pitchFamily="34" charset="0"/>
                  <a:buChar char="•"/>
                </a:pPr>
                <a:r>
                  <a:rPr lang="en-US" baseline="0" dirty="0"/>
                  <a:t>The winner is </a:t>
                </a:r>
                <a:r>
                  <a:rPr lang="en-US" i="0" dirty="0">
                    <a:latin typeface="Cambria Math" panose="02040503050406030204" pitchFamily="18" charset="0"/>
                  </a:rPr>
                  <a:t>𝜔_</a:t>
                </a:r>
                <a:r>
                  <a:rPr lang="en-US" b="0" i="0" dirty="0">
                    <a:latin typeface="Cambria Math" panose="02040503050406030204" pitchFamily="18" charset="0"/>
                  </a:rPr>
                  <a:t>1</a:t>
                </a:r>
                <a:endParaRPr lang="en-US" dirty="0"/>
              </a:p>
              <a:p>
                <a:pPr marL="457200" lvl="1" indent="0">
                  <a:buFont typeface="Arial" panose="020B0604020202020204" pitchFamily="34" charset="0"/>
                  <a:buNone/>
                </a:pPr>
                <a:endParaRPr lang="en-US" dirty="0"/>
              </a:p>
              <a:p>
                <a:r>
                  <a:rPr lang="en-US" b="1" dirty="0"/>
                  <a:t>Lower Example:</a:t>
                </a:r>
              </a:p>
              <a:p>
                <a:pPr marL="628650" lvl="1" indent="-171450">
                  <a:buFont typeface="Arial" panose="020B0604020202020204" pitchFamily="34" charset="0"/>
                  <a:buChar char="•"/>
                </a:pPr>
                <a:r>
                  <a:rPr lang="en-US" b="1" dirty="0"/>
                  <a:t>Round 1-1:</a:t>
                </a:r>
                <a:r>
                  <a:rPr lang="en-US" b="1" baseline="0" dirty="0"/>
                  <a:t> </a:t>
                </a:r>
                <a:r>
                  <a:rPr lang="en-US" dirty="0"/>
                  <a:t>Voters vote for </a:t>
                </a:r>
                <a:r>
                  <a:rPr lang="en-US" i="0" dirty="0">
                    <a:latin typeface="Cambria Math" panose="02040503050406030204" pitchFamily="18" charset="0"/>
                  </a:rPr>
                  <a:t>𝜔_</a:t>
                </a:r>
                <a:r>
                  <a:rPr lang="en-US" b="0" i="0" dirty="0">
                    <a:latin typeface="Cambria Math" panose="02040503050406030204" pitchFamily="18" charset="0"/>
                  </a:rPr>
                  <a:t>1</a:t>
                </a:r>
                <a:r>
                  <a:rPr lang="en-US" dirty="0"/>
                  <a:t> vs </a:t>
                </a:r>
                <a:r>
                  <a:rPr lang="en-US" i="0" dirty="0">
                    <a:latin typeface="Cambria Math" panose="02040503050406030204" pitchFamily="18" charset="0"/>
                  </a:rPr>
                  <a:t>𝜔_</a:t>
                </a:r>
                <a:r>
                  <a:rPr lang="en-US" b="0" i="0" dirty="0">
                    <a:latin typeface="Cambria Math" panose="02040503050406030204" pitchFamily="18" charset="0"/>
                  </a:rPr>
                  <a:t>2</a:t>
                </a:r>
                <a:r>
                  <a:rPr lang="en-US" dirty="0"/>
                  <a:t>, candidate</a:t>
                </a:r>
                <a:r>
                  <a:rPr lang="en-US" baseline="0" dirty="0"/>
                  <a:t> </a:t>
                </a:r>
                <a:r>
                  <a:rPr lang="en-US" i="0" dirty="0">
                    <a:latin typeface="Cambria Math" panose="02040503050406030204" pitchFamily="18" charset="0"/>
                  </a:rPr>
                  <a:t>𝜔_</a:t>
                </a:r>
                <a:r>
                  <a:rPr lang="en-US" b="0" i="0" dirty="0">
                    <a:latin typeface="Cambria Math" panose="02040503050406030204" pitchFamily="18" charset="0"/>
                  </a:rPr>
                  <a:t>2</a:t>
                </a:r>
                <a:r>
                  <a:rPr lang="en-US" dirty="0"/>
                  <a:t> wins</a:t>
                </a:r>
              </a:p>
              <a:p>
                <a:pPr marL="628650" lvl="1" indent="-171450">
                  <a:buFont typeface="Arial" panose="020B0604020202020204" pitchFamily="34" charset="0"/>
                  <a:buChar char="•"/>
                </a:pPr>
                <a:r>
                  <a:rPr lang="en-US" b="1" dirty="0"/>
                  <a:t>Round 1-2:</a:t>
                </a:r>
                <a:r>
                  <a:rPr lang="en-US" b="1" baseline="0" dirty="0"/>
                  <a:t> </a:t>
                </a:r>
                <a:r>
                  <a:rPr lang="en-US" dirty="0"/>
                  <a:t>Voters vote for </a:t>
                </a:r>
                <a:r>
                  <a:rPr lang="en-US" i="0" dirty="0">
                    <a:latin typeface="Cambria Math" panose="02040503050406030204" pitchFamily="18" charset="0"/>
                  </a:rPr>
                  <a:t>𝜔_</a:t>
                </a:r>
                <a:r>
                  <a:rPr lang="en-US" b="0" i="0" dirty="0">
                    <a:latin typeface="Cambria Math" panose="02040503050406030204" pitchFamily="18" charset="0"/>
                  </a:rPr>
                  <a:t>3</a:t>
                </a:r>
                <a:r>
                  <a:rPr lang="en-US" dirty="0"/>
                  <a:t> vs </a:t>
                </a:r>
                <a:r>
                  <a:rPr lang="en-US" i="0" dirty="0">
                    <a:latin typeface="Cambria Math" panose="02040503050406030204" pitchFamily="18" charset="0"/>
                  </a:rPr>
                  <a:t>𝜔_</a:t>
                </a:r>
                <a:r>
                  <a:rPr lang="en-US" b="0" i="0" dirty="0">
                    <a:latin typeface="Cambria Math" panose="02040503050406030204" pitchFamily="18" charset="0"/>
                  </a:rPr>
                  <a:t>4</a:t>
                </a:r>
                <a:r>
                  <a:rPr lang="en-US" dirty="0"/>
                  <a:t>, candidate</a:t>
                </a:r>
                <a:r>
                  <a:rPr lang="en-US" baseline="0" dirty="0"/>
                  <a:t> </a:t>
                </a:r>
                <a:r>
                  <a:rPr lang="en-US" i="0" dirty="0">
                    <a:latin typeface="Cambria Math" panose="02040503050406030204" pitchFamily="18" charset="0"/>
                  </a:rPr>
                  <a:t>𝜔_</a:t>
                </a:r>
                <a:r>
                  <a:rPr lang="en-US" b="0" i="0" dirty="0">
                    <a:latin typeface="Cambria Math" panose="02040503050406030204" pitchFamily="18" charset="0"/>
                  </a:rPr>
                  <a:t>4</a:t>
                </a:r>
                <a:r>
                  <a:rPr lang="en-US" dirty="0"/>
                  <a:t> wins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Round 2:</a:t>
                </a:r>
                <a:r>
                  <a:rPr lang="en-US" b="1" baseline="0" dirty="0"/>
                  <a:t> </a:t>
                </a:r>
                <a:r>
                  <a:rPr lang="en-US" dirty="0"/>
                  <a:t>Voters vote for </a:t>
                </a:r>
                <a:r>
                  <a:rPr lang="en-US" i="0" dirty="0">
                    <a:latin typeface="Cambria Math" panose="02040503050406030204" pitchFamily="18" charset="0"/>
                  </a:rPr>
                  <a:t>𝜔_</a:t>
                </a:r>
                <a:r>
                  <a:rPr lang="en-US" b="0" i="0" dirty="0">
                    <a:latin typeface="Cambria Math" panose="02040503050406030204" pitchFamily="18" charset="0"/>
                  </a:rPr>
                  <a:t>4</a:t>
                </a:r>
                <a:r>
                  <a:rPr lang="en-US" dirty="0"/>
                  <a:t> vs </a:t>
                </a:r>
                <a:r>
                  <a:rPr lang="en-US" i="0" dirty="0">
                    <a:latin typeface="Cambria Math" panose="02040503050406030204" pitchFamily="18" charset="0"/>
                  </a:rPr>
                  <a:t>𝜔_</a:t>
                </a:r>
                <a:r>
                  <a:rPr lang="en-US" b="0" i="0" dirty="0">
                    <a:latin typeface="Cambria Math" panose="02040503050406030204" pitchFamily="18" charset="0"/>
                  </a:rPr>
                  <a:t>4</a:t>
                </a:r>
                <a:r>
                  <a:rPr lang="en-US" dirty="0"/>
                  <a:t>, candidate</a:t>
                </a:r>
                <a:r>
                  <a:rPr lang="en-US" baseline="0" dirty="0"/>
                  <a:t> </a:t>
                </a:r>
                <a:r>
                  <a:rPr lang="en-US" i="0" dirty="0">
                    <a:latin typeface="Cambria Math" panose="02040503050406030204" pitchFamily="18" charset="0"/>
                  </a:rPr>
                  <a:t>𝜔_</a:t>
                </a:r>
                <a:r>
                  <a:rPr lang="en-US" b="0" i="0" dirty="0">
                    <a:latin typeface="Cambria Math" panose="02040503050406030204" pitchFamily="18" charset="0"/>
                  </a:rPr>
                  <a:t>4</a:t>
                </a:r>
                <a:r>
                  <a:rPr lang="en-US" dirty="0"/>
                  <a:t> wins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winner is </a:t>
                </a:r>
                <a:r>
                  <a:rPr lang="en-US" baseline="0" dirty="0"/>
                  <a:t> </a:t>
                </a:r>
                <a:r>
                  <a:rPr lang="en-US" i="0" dirty="0">
                    <a:latin typeface="Cambria Math" panose="02040503050406030204" pitchFamily="18" charset="0"/>
                  </a:rPr>
                  <a:t>𝜔_</a:t>
                </a:r>
                <a:r>
                  <a:rPr lang="en-US" b="0" i="0" dirty="0">
                    <a:latin typeface="Cambria Math" panose="02040503050406030204" pitchFamily="18" charset="0"/>
                  </a:rPr>
                  <a:t>4</a:t>
                </a:r>
                <a:endParaRPr lang="en-US" dirty="0"/>
              </a:p>
            </p:txBody>
          </p:sp>
        </mc:Fallback>
      </mc:AlternateContent>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These are some of the key properties and principles in social choice theory:</a:t>
            </a:r>
          </a:p>
          <a:p>
            <a:endParaRPr lang="en-US" dirty="0"/>
          </a:p>
          <a:p>
            <a:pPr marL="228600" indent="-228600">
              <a:buFont typeface="+mj-lt"/>
              <a:buAutoNum type="arabicPeriod"/>
            </a:pPr>
            <a:r>
              <a:rPr lang="en-US" b="1" dirty="0"/>
              <a:t>Majority Criterion: </a:t>
            </a:r>
            <a:r>
              <a:rPr lang="en-US" dirty="0"/>
              <a:t>The majority of the society should not prefer another outcome. In other words, if a candidate has the majority of first-place votes, they should be the winner.</a:t>
            </a:r>
          </a:p>
          <a:p>
            <a:pPr marL="228600" indent="-228600">
              <a:buFont typeface="+mj-lt"/>
              <a:buAutoNum type="arabicPeriod"/>
            </a:pPr>
            <a:endParaRPr lang="en-US" dirty="0"/>
          </a:p>
          <a:p>
            <a:pPr marL="228600" indent="-228600">
              <a:buFont typeface="+mj-lt"/>
              <a:buAutoNum type="arabicPeriod"/>
            </a:pPr>
            <a:r>
              <a:rPr lang="en-US" b="1" dirty="0"/>
              <a:t>Independence of Irrelevant Alternatives: </a:t>
            </a:r>
            <a:r>
              <a:rPr lang="en-US" dirty="0"/>
              <a:t>Removing a losing candidate should not affect the outcome. This principle ensures that the addition or removal of a candidate who cannot win should not change the result among the remaining candidates.</a:t>
            </a:r>
          </a:p>
          <a:p>
            <a:pPr marL="228600" indent="-228600">
              <a:buFont typeface="+mj-lt"/>
              <a:buAutoNum type="arabicPeriod"/>
            </a:pPr>
            <a:endParaRPr lang="en-US" dirty="0"/>
          </a:p>
          <a:p>
            <a:pPr marL="228600" indent="-228600">
              <a:buFont typeface="+mj-lt"/>
              <a:buAutoNum type="arabicPeriod"/>
            </a:pPr>
            <a:r>
              <a:rPr lang="en-US" b="1" dirty="0"/>
              <a:t>Non-Dictatorship: </a:t>
            </a:r>
            <a:r>
              <a:rPr lang="en-US" dirty="0"/>
              <a:t>The outcome should not be determined by a single agent, known as a dictator. No single voter's preferences should solely determine the group decision.</a:t>
            </a:r>
          </a:p>
          <a:p>
            <a:pPr marL="228600" indent="-228600">
              <a:buFont typeface="+mj-lt"/>
              <a:buAutoNum type="arabicPeriod"/>
            </a:pPr>
            <a:endParaRPr lang="en-US" dirty="0"/>
          </a:p>
          <a:p>
            <a:pPr marL="228600" indent="-228600">
              <a:buFont typeface="+mj-lt"/>
              <a:buAutoNum type="arabicPeriod"/>
            </a:pPr>
            <a:r>
              <a:rPr lang="en-US" b="1" dirty="0"/>
              <a:t>Pareto Efficiency: </a:t>
            </a:r>
            <a:r>
              <a:rPr lang="en-US" dirty="0"/>
              <a:t>The chosen outcome should be at least as good as every other outcome for every voter. In other words, if everyone prefers candidate A to candidate B, then the collective choice should also prefer A to B.</a:t>
            </a:r>
          </a:p>
          <a:p>
            <a:pPr marL="228600" indent="-228600">
              <a:buFont typeface="+mj-lt"/>
              <a:buAutoNum type="arabicPeriod"/>
            </a:pPr>
            <a:endParaRPr lang="en-US" dirty="0"/>
          </a:p>
          <a:p>
            <a:pPr marL="228600" indent="-228600">
              <a:buFont typeface="+mj-lt"/>
              <a:buAutoNum type="arabicPeriod"/>
            </a:pPr>
            <a:r>
              <a:rPr lang="en-US" b="1" dirty="0"/>
              <a:t>Independence of Irrelevant Choices: </a:t>
            </a:r>
            <a:r>
              <a:rPr lang="en-US" dirty="0"/>
              <a:t>The outcome should not be influenced by irrelevant choices. This means that the relative ranking of two candidates should not be affected by how they are ranked in comparison to other candidates.</a:t>
            </a:r>
          </a:p>
          <a:p>
            <a:endParaRPr lang="en-US" dirty="0"/>
          </a:p>
          <a:p>
            <a:r>
              <a:rPr lang="en-US" dirty="0"/>
              <a:t>These properties help guide the design of fair and effective voting systems and are essential for ensuring desirable outcomes in collective decision-making. However, it's important to note that achieving all of these properties simultaneously can be challenging, and some properties may conflict with others in certain situations, leading to paradoxes. Social choice theory aims to explore the trade-offs and challenges in designing fair and robust voting systems.</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Condorcet's paradox is a fascinating paradox in social choice theory, demonstrating how the outcome of a ranked-choice election can be highly dependent on the chosen method and lead to seemingly contradictory results. In this example, we have:</a:t>
                </a:r>
              </a:p>
              <a:p>
                <a:endParaRPr lang="en-US" dirty="0"/>
              </a:p>
              <a:p>
                <a:pPr marL="171450" indent="-171450">
                  <a:buFont typeface="Arial" panose="020B0604020202020204" pitchFamily="34" charset="0"/>
                  <a:buChar char="•"/>
                </a:pPr>
                <a:r>
                  <a:rPr lang="en-US" dirty="0"/>
                  <a:t>Three voters: 1, 2, and 3.</a:t>
                </a:r>
              </a:p>
              <a:p>
                <a:pPr marL="171450" indent="-171450">
                  <a:buFont typeface="Arial" panose="020B0604020202020204" pitchFamily="34" charset="0"/>
                  <a:buChar char="•"/>
                </a:pPr>
                <a:r>
                  <a:rPr lang="en-US" dirty="0"/>
                  <a:t>Three candidates: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oMath>
                </a14:m>
                <a:r>
                  <a:rPr lang="en-US" dirty="0"/>
                  <a:t>, 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oMath>
                </a14:m>
                <a:r>
                  <a:rPr lang="en-US" dirty="0"/>
                  <a:t>.</a:t>
                </a:r>
              </a:p>
              <a:p>
                <a:endParaRPr lang="en-US" dirty="0"/>
              </a:p>
              <a:p>
                <a:r>
                  <a:rPr lang="en-US" dirty="0"/>
                  <a:t>Each voter has their own preference order, as you described:</a:t>
                </a:r>
              </a:p>
              <a:p>
                <a:endParaRPr lang="en-US" dirty="0"/>
              </a:p>
              <a:p>
                <a:pPr marL="171450" indent="-171450">
                  <a:buFont typeface="Arial" panose="020B0604020202020204" pitchFamily="34" charset="0"/>
                  <a:buChar char="•"/>
                </a:pPr>
                <a:r>
                  <a:rPr lang="en-US" dirty="0"/>
                  <a:t>Voter 1 prefers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ea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oMath>
                </a14:m>
                <a:r>
                  <a:rPr lang="en-US" dirty="0"/>
                  <a:t>.</a:t>
                </a:r>
              </a:p>
              <a:p>
                <a:pPr marL="171450" indent="-171450">
                  <a:buFont typeface="Arial" panose="020B0604020202020204" pitchFamily="34" charset="0"/>
                  <a:buChar char="•"/>
                </a:pPr>
                <a:r>
                  <a:rPr lang="en-US" dirty="0"/>
                  <a:t>Voter 2 prefers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1</m:t>
                        </m:r>
                      </m:sub>
                    </m:sSub>
                  </m:oMath>
                </a14:m>
                <a:r>
                  <a:rPr lang="en-US" dirty="0"/>
                  <a:t>.</a:t>
                </a:r>
              </a:p>
              <a:p>
                <a:pPr marL="171450" indent="-171450">
                  <a:buFont typeface="Arial" panose="020B0604020202020204" pitchFamily="34" charset="0"/>
                  <a:buChar char="•"/>
                </a:pPr>
                <a:r>
                  <a:rPr lang="en-US" dirty="0"/>
                  <a:t>Voter 3 prefers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oMath>
                </a14:m>
                <a:r>
                  <a:rPr lang="en-US" dirty="0"/>
                  <a:t>.</a:t>
                </a:r>
              </a:p>
              <a:p>
                <a:endParaRPr lang="en-US" dirty="0"/>
              </a:p>
              <a:p>
                <a:r>
                  <a:rPr lang="en-US" dirty="0"/>
                  <a:t>When different winners are chosen based on the Condorcet method (where each candidate is voted on in a head-to-head matchup), we see the paradox:</a:t>
                </a:r>
              </a:p>
              <a:p>
                <a:endParaRPr lang="en-US" dirty="0"/>
              </a:p>
              <a:p>
                <a:pPr marL="171450" indent="-171450">
                  <a:buFont typeface="Arial" panose="020B0604020202020204" pitchFamily="34" charset="0"/>
                  <a:buChar char="•"/>
                </a:pPr>
                <a:r>
                  <a:rPr lang="en-US" dirty="0"/>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is chosen, then 2 out of 3 voters (2 and 3) prefer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oMath>
                </a14:m>
                <a:r>
                  <a:rPr lang="en-US" dirty="0"/>
                  <a:t>.</a:t>
                </a:r>
              </a:p>
              <a:p>
                <a:pPr marL="171450" indent="-171450">
                  <a:buFont typeface="Arial" panose="020B0604020202020204" pitchFamily="34" charset="0"/>
                  <a:buChar char="•"/>
                </a:pPr>
                <a:r>
                  <a:rPr lang="en-US" dirty="0"/>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is chosen, then 2 out of 3 voters (1 and 3) prefer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oMath>
                </a14:m>
                <a:r>
                  <a:rPr lang="en-US" dirty="0"/>
                  <a:t>.</a:t>
                </a:r>
              </a:p>
              <a:p>
                <a:pPr marL="171450" indent="-171450">
                  <a:buFont typeface="Arial" panose="020B0604020202020204" pitchFamily="34" charset="0"/>
                  <a:buChar char="•"/>
                </a:pPr>
                <a:r>
                  <a:rPr lang="en-US" dirty="0"/>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oMath>
                </a14:m>
                <a:r>
                  <a:rPr lang="en-US" dirty="0"/>
                  <a:t>is chosen, then 2 out of 3 voters (1 and 2) prefer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oMath>
                </a14:m>
                <a:r>
                  <a:rPr lang="en-US" dirty="0"/>
                  <a:t>.</a:t>
                </a:r>
              </a:p>
              <a:p>
                <a:endParaRPr lang="en-US" dirty="0"/>
              </a:p>
              <a:p>
                <a:r>
                  <a:rPr lang="en-US" dirty="0"/>
                  <a:t>This paradox highlights the challenges and complexities of aggregating individual preferences into a collective choice. It demonstrates that different methods of choosing a winner can lead to very different outcomes, even when preferences remain consistent.</a:t>
                </a:r>
              </a:p>
              <a:p>
                <a:endParaRPr lang="en-US" dirty="0"/>
              </a:p>
              <a:p>
                <a:r>
                  <a:rPr lang="en-US" dirty="0"/>
                  <a:t>Condorcet's paradox is one of the classic paradoxes in social choice theory and illustrates the difficulties in designing fair and consistent voting systems.</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Condorcet's paradox is a fascinating paradox in social choice theory, demonstrating how the outcome of a ranked-choice election can be highly dependent on the chosen method and lead to seemingly contradictory results. In this example, we have:</a:t>
                </a:r>
              </a:p>
              <a:p>
                <a:endParaRPr lang="en-US" dirty="0"/>
              </a:p>
              <a:p>
                <a:pPr marL="171450" indent="-171450">
                  <a:buFont typeface="Arial" panose="020B0604020202020204" pitchFamily="34" charset="0"/>
                  <a:buChar char="•"/>
                </a:pPr>
                <a:r>
                  <a:rPr lang="en-US" dirty="0"/>
                  <a:t>Three voters: 1, 2, and 3.</a:t>
                </a:r>
              </a:p>
              <a:p>
                <a:pPr marL="171450" indent="-171450">
                  <a:buFont typeface="Arial" panose="020B0604020202020204" pitchFamily="34" charset="0"/>
                  <a:buChar char="•"/>
                </a:pPr>
                <a:r>
                  <a:rPr lang="en-US" dirty="0"/>
                  <a:t>Three candidates: </a:t>
                </a:r>
                <a:r>
                  <a:rPr lang="en-US" i="0" dirty="0">
                    <a:latin typeface="Cambria Math" panose="02040503050406030204" pitchFamily="18" charset="0"/>
                  </a:rPr>
                  <a:t>𝜔_1</a:t>
                </a:r>
                <a:r>
                  <a:rPr lang="en-US" dirty="0"/>
                  <a:t>, </a:t>
                </a:r>
                <a:r>
                  <a:rPr lang="en-US" i="0" dirty="0">
                    <a:latin typeface="Cambria Math" panose="02040503050406030204" pitchFamily="18" charset="0"/>
                  </a:rPr>
                  <a:t>𝜔_2</a:t>
                </a:r>
                <a:r>
                  <a:rPr lang="en-US" dirty="0"/>
                  <a:t>, and </a:t>
                </a:r>
                <a:r>
                  <a:rPr lang="en-US" i="0" dirty="0">
                    <a:latin typeface="Cambria Math" panose="02040503050406030204" pitchFamily="18" charset="0"/>
                  </a:rPr>
                  <a:t>𝜔_3</a:t>
                </a:r>
                <a:r>
                  <a:rPr lang="en-US" dirty="0"/>
                  <a:t>.</a:t>
                </a:r>
              </a:p>
              <a:p>
                <a:endParaRPr lang="en-US" dirty="0"/>
              </a:p>
              <a:p>
                <a:r>
                  <a:rPr lang="en-US" dirty="0"/>
                  <a:t>Each voter has their own preference order, as you described:</a:t>
                </a:r>
              </a:p>
              <a:p>
                <a:endParaRPr lang="en-US" dirty="0"/>
              </a:p>
              <a:p>
                <a:pPr marL="171450" indent="-171450">
                  <a:buFont typeface="Arial" panose="020B0604020202020204" pitchFamily="34" charset="0"/>
                  <a:buChar char="•"/>
                </a:pPr>
                <a:r>
                  <a:rPr lang="en-US" dirty="0"/>
                  <a:t>Voter 1 prefers </a:t>
                </a:r>
                <a:r>
                  <a:rPr lang="en-US" i="0" dirty="0">
                    <a:latin typeface="Cambria Math" panose="02040503050406030204" pitchFamily="18" charset="0"/>
                  </a:rPr>
                  <a:t>𝜔_1</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a:t>
                </a:r>
                <a:r>
                  <a:rPr lang="en-US" i="0" dirty="0">
                    <a:latin typeface="Cambria Math" panose="02040503050406030204" pitchFamily="18" charset="0"/>
                    <a:ea typeface="Cambria Math" panose="02040503050406030204" pitchFamily="18" charset="0"/>
                  </a:rPr>
                  <a:t>_</a:t>
                </a:r>
                <a:r>
                  <a:rPr lang="en-US" i="0" dirty="0">
                    <a:latin typeface="Cambria Math" panose="02040503050406030204" pitchFamily="18" charset="0"/>
                  </a:rPr>
                  <a:t>2</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𝜔_3</a:t>
                </a:r>
                <a:r>
                  <a:rPr lang="en-US" dirty="0"/>
                  <a:t>.</a:t>
                </a:r>
              </a:p>
              <a:p>
                <a:pPr marL="171450" indent="-171450">
                  <a:buFont typeface="Arial" panose="020B0604020202020204" pitchFamily="34" charset="0"/>
                  <a:buChar char="•"/>
                </a:pPr>
                <a:r>
                  <a:rPr lang="en-US" dirty="0"/>
                  <a:t>Voter 2 prefers </a:t>
                </a:r>
                <a:r>
                  <a:rPr lang="en-US" i="0" dirty="0">
                    <a:latin typeface="Cambria Math" panose="02040503050406030204" pitchFamily="18" charset="0"/>
                  </a:rPr>
                  <a:t>𝜔_2</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𝜔_3</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a:t>
                </a:r>
                <a:r>
                  <a:rPr lang="en-US" b="0" i="0" dirty="0">
                    <a:latin typeface="Cambria Math" panose="02040503050406030204" pitchFamily="18" charset="0"/>
                  </a:rPr>
                  <a:t>1</a:t>
                </a:r>
                <a:r>
                  <a:rPr lang="en-US" dirty="0"/>
                  <a:t>.</a:t>
                </a:r>
              </a:p>
              <a:p>
                <a:pPr marL="171450" indent="-171450">
                  <a:buFont typeface="Arial" panose="020B0604020202020204" pitchFamily="34" charset="0"/>
                  <a:buChar char="•"/>
                </a:pPr>
                <a:r>
                  <a:rPr lang="en-US" dirty="0"/>
                  <a:t>Voter 3 prefers </a:t>
                </a:r>
                <a:r>
                  <a:rPr lang="en-US" i="0" dirty="0">
                    <a:latin typeface="Cambria Math" panose="02040503050406030204" pitchFamily="18" charset="0"/>
                  </a:rPr>
                  <a:t>𝜔_3</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𝜔_1</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𝜔_2</a:t>
                </a:r>
                <a:r>
                  <a:rPr lang="en-US" dirty="0"/>
                  <a:t>.</a:t>
                </a:r>
              </a:p>
              <a:p>
                <a:endParaRPr lang="en-US" dirty="0"/>
              </a:p>
              <a:p>
                <a:r>
                  <a:rPr lang="en-US" dirty="0"/>
                  <a:t>When different winners are chosen based on the Condorcet method (where each candidate is voted on in a head-to-head matchup), we see the paradox:</a:t>
                </a:r>
              </a:p>
              <a:p>
                <a:endParaRPr lang="en-US" dirty="0"/>
              </a:p>
              <a:p>
                <a:pPr marL="171450" indent="-171450">
                  <a:buFont typeface="Arial" panose="020B0604020202020204" pitchFamily="34" charset="0"/>
                  <a:buChar char="•"/>
                </a:pPr>
                <a:r>
                  <a:rPr lang="en-US" dirty="0"/>
                  <a:t>If </a:t>
                </a:r>
                <a:r>
                  <a:rPr lang="en-US" i="0" dirty="0">
                    <a:latin typeface="Cambria Math" panose="02040503050406030204" pitchFamily="18" charset="0"/>
                  </a:rPr>
                  <a:t>𝜔_1  </a:t>
                </a:r>
                <a:r>
                  <a:rPr lang="en-US" dirty="0"/>
                  <a:t>is chosen, then 2 out of 3 voters (2 and 3) prefer </a:t>
                </a:r>
                <a:r>
                  <a:rPr lang="en-US" i="0" dirty="0">
                    <a:latin typeface="Cambria Math" panose="02040503050406030204" pitchFamily="18" charset="0"/>
                  </a:rPr>
                  <a:t>𝜔_3</a:t>
                </a:r>
                <a:r>
                  <a:rPr lang="en-US" dirty="0"/>
                  <a:t>.</a:t>
                </a:r>
              </a:p>
              <a:p>
                <a:pPr marL="171450" indent="-171450">
                  <a:buFont typeface="Arial" panose="020B0604020202020204" pitchFamily="34" charset="0"/>
                  <a:buChar char="•"/>
                </a:pPr>
                <a:r>
                  <a:rPr lang="en-US" dirty="0"/>
                  <a:t>If </a:t>
                </a:r>
                <a:r>
                  <a:rPr lang="en-US" i="0" dirty="0">
                    <a:latin typeface="Cambria Math" panose="02040503050406030204" pitchFamily="18" charset="0"/>
                  </a:rPr>
                  <a:t>𝜔_2  </a:t>
                </a:r>
                <a:r>
                  <a:rPr lang="en-US" dirty="0"/>
                  <a:t>is chosen, then 2 out of 3 voters (1 and 3) prefer </a:t>
                </a:r>
                <a:r>
                  <a:rPr lang="en-US" i="0" dirty="0">
                    <a:latin typeface="Cambria Math" panose="02040503050406030204" pitchFamily="18" charset="0"/>
                  </a:rPr>
                  <a:t>𝜔_1</a:t>
                </a:r>
                <a:r>
                  <a:rPr lang="en-US" dirty="0"/>
                  <a:t>.</a:t>
                </a:r>
              </a:p>
              <a:p>
                <a:pPr marL="171450" indent="-171450">
                  <a:buFont typeface="Arial" panose="020B0604020202020204" pitchFamily="34" charset="0"/>
                  <a:buChar char="•"/>
                </a:pPr>
                <a:r>
                  <a:rPr lang="en-US" dirty="0"/>
                  <a:t>If </a:t>
                </a:r>
                <a:r>
                  <a:rPr lang="en-US" i="0" dirty="0">
                    <a:latin typeface="Cambria Math" panose="02040503050406030204" pitchFamily="18" charset="0"/>
                  </a:rPr>
                  <a:t>𝜔_3  </a:t>
                </a:r>
                <a:r>
                  <a:rPr lang="en-US" dirty="0"/>
                  <a:t>is chosen, then 2 out of 3 voters (1 and 2) prefer </a:t>
                </a:r>
                <a:r>
                  <a:rPr lang="en-US" i="0" dirty="0">
                    <a:latin typeface="Cambria Math" panose="02040503050406030204" pitchFamily="18" charset="0"/>
                  </a:rPr>
                  <a:t>𝜔_2</a:t>
                </a:r>
                <a:r>
                  <a:rPr lang="en-US" dirty="0"/>
                  <a:t>.</a:t>
                </a:r>
              </a:p>
              <a:p>
                <a:endParaRPr lang="en-US" dirty="0"/>
              </a:p>
              <a:p>
                <a:r>
                  <a:rPr lang="en-US" dirty="0"/>
                  <a:t>This paradox highlights the challenges and complexities of aggregating individual preferences into a collective choice. It demonstrates that different methods of choosing a winner can lead to very different outcomes, even when preferences remain consistent.</a:t>
                </a:r>
              </a:p>
              <a:p>
                <a:endParaRPr lang="en-US" dirty="0"/>
              </a:p>
              <a:p>
                <a:r>
                  <a:rPr lang="en-US" dirty="0"/>
                  <a:t>Condorcet's paradox is one of the classic paradoxes in social choice theory and illustrates the difficulties in designing fair and consistent voting systems.</a:t>
                </a:r>
                <a:endParaRPr dirty="0"/>
              </a:p>
            </p:txBody>
          </p:sp>
        </mc:Fallback>
      </mc:AlternateContent>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This example demonstrates how the agenda, or the order in which candidates are considered in a sequential majority election, can be manipulated to determine the outcome. Here's how it works:</a:t>
                </a:r>
              </a:p>
              <a:p>
                <a:endParaRPr lang="en-US" dirty="0"/>
              </a:p>
              <a:p>
                <a:pPr marL="171450" indent="-171450">
                  <a:buFont typeface="Arial" panose="020B0604020202020204" pitchFamily="34" charset="0"/>
                  <a:buChar char="•"/>
                </a:pPr>
                <a:r>
                  <a:rPr lang="en-US" dirty="0"/>
                  <a:t>Agents/Voters: 𝑁 = {1, 2, 3}</a:t>
                </a:r>
              </a:p>
              <a:p>
                <a:pPr marL="171450" indent="-171450">
                  <a:buFont typeface="Arial" panose="020B0604020202020204" pitchFamily="34" charset="0"/>
                  <a:buChar char="•"/>
                </a:pPr>
                <a:r>
                  <a:rPr lang="en-US" dirty="0"/>
                  <a:t>Outcomes/Candidates: Ω =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oMath>
                </a14:m>
                <a:r>
                  <a:rPr lang="en-US" dirty="0"/>
                  <a:t>}</a:t>
                </a:r>
              </a:p>
              <a:p>
                <a:endParaRPr lang="en-US" dirty="0"/>
              </a:p>
              <a:p>
                <a:r>
                  <a:rPr lang="en-US" dirty="0"/>
                  <a:t>Each voter has their own preference order, as you described:</a:t>
                </a:r>
              </a:p>
              <a:p>
                <a:endParaRPr lang="en-US" dirty="0"/>
              </a:p>
              <a:p>
                <a:pPr marL="171450" indent="-171450">
                  <a:buFont typeface="Arial" panose="020B0604020202020204" pitchFamily="34" charset="0"/>
                  <a:buChar char="•"/>
                </a:pPr>
                <a:r>
                  <a:rPr lang="en-US" dirty="0"/>
                  <a:t>Voter 1 prefers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ea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oMath>
                </a14:m>
                <a:r>
                  <a:rPr lang="en-US" dirty="0"/>
                  <a:t>.</a:t>
                </a:r>
              </a:p>
              <a:p>
                <a:pPr marL="171450" indent="-171450">
                  <a:buFont typeface="Arial" panose="020B0604020202020204" pitchFamily="34" charset="0"/>
                  <a:buChar char="•"/>
                </a:pPr>
                <a:r>
                  <a:rPr lang="en-US" dirty="0"/>
                  <a:t>Voter 2 prefers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b="0" i="1" dirty="0" smtClean="0">
                            <a:latin typeface="Cambria Math" panose="02040503050406030204" pitchFamily="18" charset="0"/>
                          </a:rPr>
                          <m:t>1</m:t>
                        </m:r>
                      </m:sub>
                    </m:sSub>
                  </m:oMath>
                </a14:m>
                <a:r>
                  <a:rPr lang="en-US" dirty="0"/>
                  <a:t>.</a:t>
                </a:r>
              </a:p>
              <a:p>
                <a:pPr marL="171450" indent="-171450">
                  <a:buFont typeface="Arial" panose="020B0604020202020204" pitchFamily="34" charset="0"/>
                  <a:buChar char="•"/>
                </a:pPr>
                <a:r>
                  <a:rPr lang="en-US" dirty="0"/>
                  <a:t>Voter 3 prefers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oMath>
                </a14:m>
                <a:r>
                  <a:rPr lang="en-US" dirty="0"/>
                  <a:t>.</a:t>
                </a:r>
              </a:p>
              <a:p>
                <a:endParaRPr lang="en-US" dirty="0"/>
              </a:p>
              <a:p>
                <a:r>
                  <a:rPr lang="en-US" dirty="0"/>
                  <a:t>Now, consider different agendas (orders in which candidates are considered) for the sequential majority election:</a:t>
                </a:r>
              </a:p>
              <a:p>
                <a:endParaRPr lang="en-US" dirty="0"/>
              </a:p>
              <a:p>
                <a:pPr marL="171450" indent="-171450">
                  <a:buFont typeface="Arial" panose="020B0604020202020204" pitchFamily="34" charset="0"/>
                  <a:buChar char="•"/>
                </a:pPr>
                <a:r>
                  <a:rPr lang="en-US" dirty="0"/>
                  <a:t>Agenda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oMath>
                </a14:m>
                <a:r>
                  <a:rPr lang="en-US" dirty="0"/>
                  <a:t>]: In this case,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oMath>
                </a14:m>
                <a:r>
                  <a:rPr lang="en-US" dirty="0"/>
                  <a:t>is considered first, 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oMath>
                </a14:m>
                <a:r>
                  <a:rPr lang="en-US" dirty="0"/>
                  <a:t>wins.</a:t>
                </a:r>
              </a:p>
              <a:p>
                <a:pPr marL="171450" indent="-171450">
                  <a:buFont typeface="Arial" panose="020B0604020202020204" pitchFamily="34" charset="0"/>
                  <a:buChar char="•"/>
                </a:pPr>
                <a:r>
                  <a:rPr lang="en-US" dirty="0"/>
                  <a:t>Agenda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oMath>
                </a14:m>
                <a:r>
                  <a:rPr lang="en-US" dirty="0"/>
                  <a:t>]: In this case,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is considered first, 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wins.</a:t>
                </a:r>
              </a:p>
              <a:p>
                <a:pPr marL="171450" indent="-171450">
                  <a:buFont typeface="Arial" panose="020B0604020202020204" pitchFamily="34" charset="0"/>
                  <a:buChar char="•"/>
                </a:pPr>
                <a:r>
                  <a:rPr lang="en-US" dirty="0"/>
                  <a:t>Agenda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oMath>
                </a14:m>
                <a:r>
                  <a:rPr lang="en-US" dirty="0"/>
                  <a:t>]: In this case,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is considered first, 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oMath>
                </a14:m>
                <a:r>
                  <a:rPr lang="en-US" dirty="0"/>
                  <a:t>wins.</a:t>
                </a:r>
              </a:p>
              <a:p>
                <a:endParaRPr lang="en-US" dirty="0"/>
              </a:p>
              <a:p>
                <a:r>
                  <a:rPr lang="en-US" dirty="0"/>
                  <a:t>This example illustrates how the agenda-setting can be manipulated to produce different outcomes, emphasizing the importance of agenda control in sequential majority elections. It's one of the challenges in designing fair and robust voting systems to prevent strategic manipulation.</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This example demonstrates how the agenda, or the order in which candidates are considered in a sequential majority election, can be manipulated to determine the outcome. Here's how it works:</a:t>
                </a:r>
              </a:p>
              <a:p>
                <a:endParaRPr lang="en-US" dirty="0"/>
              </a:p>
              <a:p>
                <a:pPr marL="171450" indent="-171450">
                  <a:buFont typeface="Arial" panose="020B0604020202020204" pitchFamily="34" charset="0"/>
                  <a:buChar char="•"/>
                </a:pPr>
                <a:r>
                  <a:rPr lang="en-US" dirty="0"/>
                  <a:t>Agents/Voters: 𝑁 = {1, 2, 3}</a:t>
                </a:r>
              </a:p>
              <a:p>
                <a:pPr marL="171450" indent="-171450">
                  <a:buFont typeface="Arial" panose="020B0604020202020204" pitchFamily="34" charset="0"/>
                  <a:buChar char="•"/>
                </a:pPr>
                <a:r>
                  <a:rPr lang="en-US" dirty="0"/>
                  <a:t>Outcomes/Candidates: Ω = {</a:t>
                </a:r>
                <a:r>
                  <a:rPr lang="en-US" i="0" dirty="0">
                    <a:latin typeface="Cambria Math" panose="02040503050406030204" pitchFamily="18" charset="0"/>
                  </a:rPr>
                  <a:t>𝜔_1, 𝜔_2, 𝜔_3</a:t>
                </a:r>
                <a:r>
                  <a:rPr lang="en-US" dirty="0"/>
                  <a:t>}</a:t>
                </a:r>
              </a:p>
              <a:p>
                <a:endParaRPr lang="en-US" dirty="0"/>
              </a:p>
              <a:p>
                <a:r>
                  <a:rPr lang="en-US" dirty="0"/>
                  <a:t>Each voter has their own preference order, as you described:</a:t>
                </a:r>
              </a:p>
              <a:p>
                <a:endParaRPr lang="en-US" dirty="0"/>
              </a:p>
              <a:p>
                <a:pPr marL="171450" indent="-171450">
                  <a:buFont typeface="Arial" panose="020B0604020202020204" pitchFamily="34" charset="0"/>
                  <a:buChar char="•"/>
                </a:pPr>
                <a:r>
                  <a:rPr lang="en-US" dirty="0"/>
                  <a:t>Voter 1 prefers </a:t>
                </a:r>
                <a:r>
                  <a:rPr lang="en-US" i="0" dirty="0">
                    <a:latin typeface="Cambria Math" panose="02040503050406030204" pitchFamily="18" charset="0"/>
                  </a:rPr>
                  <a:t>𝜔_1</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a:t>
                </a:r>
                <a:r>
                  <a:rPr lang="en-US" i="0" dirty="0">
                    <a:latin typeface="Cambria Math" panose="02040503050406030204" pitchFamily="18" charset="0"/>
                    <a:ea typeface="Cambria Math" panose="02040503050406030204" pitchFamily="18" charset="0"/>
                  </a:rPr>
                  <a:t>_</a:t>
                </a:r>
                <a:r>
                  <a:rPr lang="en-US" i="0" dirty="0">
                    <a:latin typeface="Cambria Math" panose="02040503050406030204" pitchFamily="18" charset="0"/>
                  </a:rPr>
                  <a:t>2</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𝜔_3</a:t>
                </a:r>
                <a:r>
                  <a:rPr lang="en-US" dirty="0"/>
                  <a:t>.</a:t>
                </a:r>
              </a:p>
              <a:p>
                <a:pPr marL="171450" indent="-171450">
                  <a:buFont typeface="Arial" panose="020B0604020202020204" pitchFamily="34" charset="0"/>
                  <a:buChar char="•"/>
                </a:pPr>
                <a:r>
                  <a:rPr lang="en-US" dirty="0"/>
                  <a:t>Voter 2 prefers </a:t>
                </a:r>
                <a:r>
                  <a:rPr lang="en-US" i="0" dirty="0">
                    <a:latin typeface="Cambria Math" panose="02040503050406030204" pitchFamily="18" charset="0"/>
                  </a:rPr>
                  <a:t>𝜔_2</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𝜔_3</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a:t>
                </a:r>
                <a:r>
                  <a:rPr lang="en-US" b="0" i="0" dirty="0">
                    <a:latin typeface="Cambria Math" panose="02040503050406030204" pitchFamily="18" charset="0"/>
                  </a:rPr>
                  <a:t>1</a:t>
                </a:r>
                <a:r>
                  <a:rPr lang="en-US" dirty="0"/>
                  <a:t>.</a:t>
                </a:r>
              </a:p>
              <a:p>
                <a:pPr marL="171450" indent="-171450">
                  <a:buFont typeface="Arial" panose="020B0604020202020204" pitchFamily="34" charset="0"/>
                  <a:buChar char="•"/>
                </a:pPr>
                <a:r>
                  <a:rPr lang="en-US" dirty="0"/>
                  <a:t>Voter 3 prefers </a:t>
                </a:r>
                <a:r>
                  <a:rPr lang="en-US" i="0" dirty="0">
                    <a:latin typeface="Cambria Math" panose="02040503050406030204" pitchFamily="18" charset="0"/>
                  </a:rPr>
                  <a:t>𝜔_3</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𝜔_1</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𝜔_2</a:t>
                </a:r>
                <a:r>
                  <a:rPr lang="en-US" dirty="0"/>
                  <a:t>.</a:t>
                </a:r>
              </a:p>
              <a:p>
                <a:endParaRPr lang="en-US" dirty="0"/>
              </a:p>
              <a:p>
                <a:r>
                  <a:rPr lang="en-US" dirty="0"/>
                  <a:t>Now, consider different agendas (orders in which candidates are considered) for the sequential majority election:</a:t>
                </a:r>
              </a:p>
              <a:p>
                <a:endParaRPr lang="en-US" dirty="0"/>
              </a:p>
              <a:p>
                <a:pPr marL="171450" indent="-171450">
                  <a:buFont typeface="Arial" panose="020B0604020202020204" pitchFamily="34" charset="0"/>
                  <a:buChar char="•"/>
                </a:pPr>
                <a:r>
                  <a:rPr lang="en-US" dirty="0"/>
                  <a:t>Agenda [</a:t>
                </a:r>
                <a:r>
                  <a:rPr lang="en-US" i="0" dirty="0">
                    <a:latin typeface="Cambria Math" panose="02040503050406030204" pitchFamily="18" charset="0"/>
                  </a:rPr>
                  <a:t>𝜔_3, 𝜔_2, 𝜔_1</a:t>
                </a:r>
                <a:r>
                  <a:rPr lang="en-US" dirty="0"/>
                  <a:t>]: In this case, </a:t>
                </a:r>
                <a:r>
                  <a:rPr lang="en-US" i="0" dirty="0">
                    <a:latin typeface="Cambria Math" panose="02040503050406030204" pitchFamily="18" charset="0"/>
                  </a:rPr>
                  <a:t>𝜔_3  </a:t>
                </a:r>
                <a:r>
                  <a:rPr lang="en-US" dirty="0"/>
                  <a:t>is considered first, and </a:t>
                </a:r>
                <a:r>
                  <a:rPr lang="en-US" i="0" dirty="0">
                    <a:latin typeface="Cambria Math" panose="02040503050406030204" pitchFamily="18" charset="0"/>
                  </a:rPr>
                  <a:t>𝜔_3  </a:t>
                </a:r>
                <a:r>
                  <a:rPr lang="en-US" dirty="0"/>
                  <a:t>wins.</a:t>
                </a:r>
              </a:p>
              <a:p>
                <a:pPr marL="171450" indent="-171450">
                  <a:buFont typeface="Arial" panose="020B0604020202020204" pitchFamily="34" charset="0"/>
                  <a:buChar char="•"/>
                </a:pPr>
                <a:r>
                  <a:rPr lang="en-US" dirty="0"/>
                  <a:t>Agenda [</a:t>
                </a:r>
                <a:r>
                  <a:rPr lang="en-US" i="0" dirty="0">
                    <a:latin typeface="Cambria Math" panose="02040503050406030204" pitchFamily="18" charset="0"/>
                  </a:rPr>
                  <a:t>𝜔_1, 𝜔_3, 𝜔_2</a:t>
                </a:r>
                <a:r>
                  <a:rPr lang="en-US" dirty="0"/>
                  <a:t>]: In this case, </a:t>
                </a:r>
                <a:r>
                  <a:rPr lang="en-US" i="0" dirty="0">
                    <a:latin typeface="Cambria Math" panose="02040503050406030204" pitchFamily="18" charset="0"/>
                  </a:rPr>
                  <a:t>𝜔_1  </a:t>
                </a:r>
                <a:r>
                  <a:rPr lang="en-US" dirty="0"/>
                  <a:t>is considered first, and </a:t>
                </a:r>
                <a:r>
                  <a:rPr lang="en-US" i="0" dirty="0">
                    <a:latin typeface="Cambria Math" panose="02040503050406030204" pitchFamily="18" charset="0"/>
                  </a:rPr>
                  <a:t>𝜔_2  </a:t>
                </a:r>
                <a:r>
                  <a:rPr lang="en-US" dirty="0"/>
                  <a:t>wins.</a:t>
                </a:r>
              </a:p>
              <a:p>
                <a:pPr marL="171450" indent="-171450">
                  <a:buFont typeface="Arial" panose="020B0604020202020204" pitchFamily="34" charset="0"/>
                  <a:buChar char="•"/>
                </a:pPr>
                <a:r>
                  <a:rPr lang="en-US" dirty="0"/>
                  <a:t>Agenda [</a:t>
                </a:r>
                <a:r>
                  <a:rPr lang="en-US" i="0" dirty="0">
                    <a:latin typeface="Cambria Math" panose="02040503050406030204" pitchFamily="18" charset="0"/>
                  </a:rPr>
                  <a:t>𝜔_2, 𝜔_1, 𝜔_3</a:t>
                </a:r>
                <a:r>
                  <a:rPr lang="en-US" dirty="0"/>
                  <a:t>]: In this case, </a:t>
                </a:r>
                <a:r>
                  <a:rPr lang="en-US" i="0" dirty="0">
                    <a:latin typeface="Cambria Math" panose="02040503050406030204" pitchFamily="18" charset="0"/>
                  </a:rPr>
                  <a:t>𝜔_2  </a:t>
                </a:r>
                <a:r>
                  <a:rPr lang="en-US" dirty="0"/>
                  <a:t>is considered first, and </a:t>
                </a:r>
                <a:r>
                  <a:rPr lang="en-US" i="0" dirty="0">
                    <a:latin typeface="Cambria Math" panose="02040503050406030204" pitchFamily="18" charset="0"/>
                  </a:rPr>
                  <a:t>𝜔_3  </a:t>
                </a:r>
                <a:r>
                  <a:rPr lang="en-US" dirty="0"/>
                  <a:t>wins.</a:t>
                </a:r>
              </a:p>
              <a:p>
                <a:endParaRPr lang="en-US" dirty="0"/>
              </a:p>
              <a:p>
                <a:r>
                  <a:rPr lang="en-US" dirty="0"/>
                  <a:t>This example illustrates how the agenda-setting can be manipulated to produce different outcomes, emphasizing the importance of agenda control in sequential majority elections. It's one of the challenges in designing fair and robust voting systems to prevent strategic manipulation.</a:t>
                </a:r>
                <a:endParaRPr dirty="0"/>
              </a:p>
            </p:txBody>
          </p:sp>
        </mc:Fallback>
      </mc:AlternateContent>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fontScale="25000" lnSpcReduction="20000"/>
              </a:bodyPr>
              <a:lstStyle/>
              <a:p>
                <a:r>
                  <a:rPr lang="en-US" dirty="0"/>
                  <a:t>Pareto efficiency and independence of irrelevant alternatives are fundamental concepts in social choice theory.</a:t>
                </a:r>
              </a:p>
              <a:p>
                <a:endParaRPr lang="en-US" dirty="0"/>
              </a:p>
              <a:p>
                <a:r>
                  <a:rPr lang="en-US" b="1" dirty="0"/>
                  <a:t>Pareto efficiency: </a:t>
                </a:r>
                <a:r>
                  <a:rPr lang="en-US" dirty="0"/>
                  <a:t>This principle suggests that if everyone in a group or society prefers one outcome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𝑖</m:t>
                        </m:r>
                      </m:sub>
                    </m:sSub>
                  </m:oMath>
                </a14:m>
                <a:r>
                  <a:rPr lang="en-US" dirty="0"/>
                  <a:t>) over another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𝑗</m:t>
                        </m:r>
                      </m:sub>
                    </m:sSub>
                  </m:oMath>
                </a14:m>
                <a:r>
                  <a:rPr lang="en-US" dirty="0"/>
                  <a:t>), then the social welfare outcome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m:t>
                        </m:r>
                      </m:e>
                      <m:sup>
                        <m:r>
                          <a:rPr lang="en-US" i="1" dirty="0" smtClean="0">
                            <a:latin typeface="Cambria Math" panose="02040503050406030204" pitchFamily="18" charset="0"/>
                          </a:rPr>
                          <m:t>∗</m:t>
                        </m:r>
                      </m:sup>
                    </m:sSup>
                  </m:oMath>
                </a14:m>
                <a:r>
                  <a:rPr lang="en-US" dirty="0"/>
                  <a:t>) should reflect this preference by ranking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𝑖</m:t>
                        </m:r>
                      </m:sub>
                    </m:sSub>
                  </m:oMath>
                </a14:m>
                <a:r>
                  <a:rPr lang="en-US" dirty="0"/>
                  <a:t> above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𝑗</m:t>
                        </m:r>
                      </m:sub>
                    </m:sSub>
                  </m:oMath>
                </a14:m>
                <a:r>
                  <a:rPr lang="en-US" dirty="0"/>
                  <a:t>. In other words, if there is a clear preference for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𝑖</m:t>
                        </m:r>
                      </m:sub>
                    </m:sSub>
                  </m:oMath>
                </a14:m>
                <a:r>
                  <a:rPr lang="en-US" dirty="0"/>
                  <a:t> over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𝑗</m:t>
                        </m:r>
                      </m:sub>
                    </m:sSub>
                  </m:oMath>
                </a14:m>
                <a:r>
                  <a:rPr lang="en-US" dirty="0"/>
                  <a:t> among all individuals, the social choice should respect this preference.</a:t>
                </a:r>
              </a:p>
              <a:p>
                <a:endParaRPr lang="en-US" dirty="0"/>
              </a:p>
              <a:p>
                <a:r>
                  <a:rPr lang="en-US" b="1" dirty="0"/>
                  <a:t>Independence of irrelevant alternatives (IIA): </a:t>
                </a:r>
                <a:r>
                  <a:rPr lang="en-US" dirty="0"/>
                  <a:t>This principle emphasizes that whether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𝑖</m:t>
                        </m:r>
                      </m:sub>
                    </m:sSub>
                  </m:oMath>
                </a14:m>
                <a:r>
                  <a:rPr lang="en-US" dirty="0"/>
                  <a:t> is ranked above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𝑗</m:t>
                        </m:r>
                      </m:sub>
                    </m:sSub>
                  </m:oMath>
                </a14:m>
                <a:r>
                  <a:rPr lang="en-US" dirty="0"/>
                  <a:t> in the social welfare outcome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m:t>
                        </m:r>
                      </m:e>
                      <m:sup>
                        <m:r>
                          <a:rPr lang="en-US" i="1" dirty="0" smtClean="0">
                            <a:latin typeface="Cambria Math" panose="02040503050406030204" pitchFamily="18" charset="0"/>
                          </a:rPr>
                          <m:t>∗</m:t>
                        </m:r>
                      </m:sup>
                    </m:sSup>
                  </m:oMath>
                </a14:m>
                <a:r>
                  <a:rPr lang="en-US" dirty="0"/>
                  <a:t>) should depend solely on the relative orderings of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𝑖</m:t>
                        </m:r>
                      </m:sub>
                    </m:sSub>
                  </m:oMath>
                </a14:m>
                <a:r>
                  <a:rPr lang="en-US" dirty="0"/>
                  <a:t> 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𝑗</m:t>
                        </m:r>
                      </m:sub>
                    </m:sSub>
                  </m:oMath>
                </a14:m>
                <a:r>
                  <a:rPr lang="en-US" dirty="0"/>
                  <a:t> in the voters' preference orders. In other words, the outcome should not be influenced by the inclusion or exclusion of other alternatives. The relative ranking of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𝑖</m:t>
                        </m:r>
                      </m:sub>
                    </m:sSub>
                  </m:oMath>
                </a14:m>
                <a:r>
                  <a:rPr lang="en-US" dirty="0"/>
                  <a:t> 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𝜔</m:t>
                        </m:r>
                      </m:e>
                      <m:sub>
                        <m:r>
                          <a:rPr lang="en-US" i="1" dirty="0" smtClean="0">
                            <a:latin typeface="Cambria Math" panose="02040503050406030204" pitchFamily="18" charset="0"/>
                          </a:rPr>
                          <m:t>𝑗</m:t>
                        </m:r>
                      </m:sub>
                    </m:sSub>
                  </m:oMath>
                </a14:m>
                <a:r>
                  <a:rPr lang="en-US" dirty="0"/>
                  <a:t> should be determined by the preferences of the voters and should remain consistent regardless of other available alternatives.</a:t>
                </a:r>
              </a:p>
              <a:p>
                <a:endParaRPr lang="en-US" dirty="0"/>
              </a:p>
              <a:p>
                <a:r>
                  <a:rPr lang="en-US" dirty="0"/>
                  <a:t>These principles are essential for ensuring fairness and rationality in collective decision-making processes and are key criteria for evaluating the performance of different social choice functions and voting systems.</a:t>
                </a:r>
                <a:endParaRPr dirty="0"/>
              </a:p>
            </p:txBody>
          </p:sp>
        </mc:Choice>
        <mc:Fallback xmlns="">
          <p:sp>
            <p:nvSpPr>
              <p:cNvPr id="2" name="Notes Placeholder"/>
              <p:cNvSpPr>
                <a:spLocks noGrp="1"/>
              </p:cNvSpPr>
              <p:nvPr>
                <p:ph type="body" idx="1"/>
              </p:nvPr>
            </p:nvSpPr>
            <p:spPr/>
            <p:txBody>
              <a:bodyPr>
                <a:normAutofit fontScale="25000" lnSpcReduction="20000"/>
              </a:bodyPr>
              <a:lstStyle/>
              <a:p>
                <a:r>
                  <a:rPr lang="en-US" dirty="0"/>
                  <a:t>Pareto efficiency and independence of irrelevant alternatives are fundamental concepts in social choice theory.</a:t>
                </a:r>
              </a:p>
              <a:p>
                <a:endParaRPr lang="en-US" dirty="0"/>
              </a:p>
              <a:p>
                <a:r>
                  <a:rPr lang="en-US" b="1" dirty="0"/>
                  <a:t>Pareto efficiency: </a:t>
                </a:r>
                <a:r>
                  <a:rPr lang="en-US" dirty="0"/>
                  <a:t>This principle suggests that if everyone in a group or society prefers one outcome (</a:t>
                </a:r>
                <a:r>
                  <a:rPr lang="en-US" i="0" dirty="0">
                    <a:latin typeface="Cambria Math" panose="02040503050406030204" pitchFamily="18" charset="0"/>
                  </a:rPr>
                  <a:t>𝜔_𝑖</a:t>
                </a:r>
                <a:r>
                  <a:rPr lang="en-US" dirty="0"/>
                  <a:t>) over another (</a:t>
                </a:r>
                <a:r>
                  <a:rPr lang="en-US" i="0" dirty="0">
                    <a:latin typeface="Cambria Math" panose="02040503050406030204" pitchFamily="18" charset="0"/>
                  </a:rPr>
                  <a:t>𝜔_𝑗</a:t>
                </a:r>
                <a:r>
                  <a:rPr lang="en-US" dirty="0"/>
                  <a:t>), then the social welfare outcome (</a:t>
                </a:r>
                <a:r>
                  <a:rPr lang="en-US" i="0" dirty="0">
                    <a:latin typeface="Cambria Math" panose="02040503050406030204" pitchFamily="18" charset="0"/>
                  </a:rPr>
                  <a:t>≻^∗</a:t>
                </a:r>
                <a:r>
                  <a:rPr lang="en-US" dirty="0"/>
                  <a:t>) should reflect this preference by ranking </a:t>
                </a:r>
                <a:r>
                  <a:rPr lang="en-US" i="0" dirty="0">
                    <a:latin typeface="Cambria Math" panose="02040503050406030204" pitchFamily="18" charset="0"/>
                  </a:rPr>
                  <a:t>𝜔_𝑖</a:t>
                </a:r>
                <a:r>
                  <a:rPr lang="en-US" dirty="0"/>
                  <a:t> above </a:t>
                </a:r>
                <a:r>
                  <a:rPr lang="en-US" i="0" dirty="0">
                    <a:latin typeface="Cambria Math" panose="02040503050406030204" pitchFamily="18" charset="0"/>
                  </a:rPr>
                  <a:t>𝜔_𝑗</a:t>
                </a:r>
                <a:r>
                  <a:rPr lang="en-US" dirty="0"/>
                  <a:t>. In other words, if there is a clear preference for </a:t>
                </a:r>
                <a:r>
                  <a:rPr lang="en-US" i="0" dirty="0">
                    <a:latin typeface="Cambria Math" panose="02040503050406030204" pitchFamily="18" charset="0"/>
                  </a:rPr>
                  <a:t>𝜔_𝑖</a:t>
                </a:r>
                <a:r>
                  <a:rPr lang="en-US" dirty="0"/>
                  <a:t> over </a:t>
                </a:r>
                <a:r>
                  <a:rPr lang="en-US" i="0" dirty="0">
                    <a:latin typeface="Cambria Math" panose="02040503050406030204" pitchFamily="18" charset="0"/>
                  </a:rPr>
                  <a:t>𝜔_𝑗</a:t>
                </a:r>
                <a:r>
                  <a:rPr lang="en-US" dirty="0"/>
                  <a:t> among all individuals, the social choice should respect this preference.</a:t>
                </a:r>
              </a:p>
              <a:p>
                <a:endParaRPr lang="en-US" dirty="0"/>
              </a:p>
              <a:p>
                <a:r>
                  <a:rPr lang="en-US" b="1" dirty="0"/>
                  <a:t>Independence of irrelevant alternatives (IIA): </a:t>
                </a:r>
                <a:r>
                  <a:rPr lang="en-US" dirty="0"/>
                  <a:t>This principle emphasizes that whether </a:t>
                </a:r>
                <a:r>
                  <a:rPr lang="en-US" i="0" dirty="0">
                    <a:latin typeface="Cambria Math" panose="02040503050406030204" pitchFamily="18" charset="0"/>
                  </a:rPr>
                  <a:t>𝜔_𝑖</a:t>
                </a:r>
                <a:r>
                  <a:rPr lang="en-US" dirty="0"/>
                  <a:t> is ranked above </a:t>
                </a:r>
                <a:r>
                  <a:rPr lang="en-US" i="0" dirty="0">
                    <a:latin typeface="Cambria Math" panose="02040503050406030204" pitchFamily="18" charset="0"/>
                  </a:rPr>
                  <a:t>𝜔_𝑗</a:t>
                </a:r>
                <a:r>
                  <a:rPr lang="en-US" dirty="0"/>
                  <a:t> in the social welfare outcome (</a:t>
                </a:r>
                <a:r>
                  <a:rPr lang="en-US" i="0" dirty="0">
                    <a:latin typeface="Cambria Math" panose="02040503050406030204" pitchFamily="18" charset="0"/>
                  </a:rPr>
                  <a:t>≻^∗</a:t>
                </a:r>
                <a:r>
                  <a:rPr lang="en-US" dirty="0"/>
                  <a:t>) should depend solely on the relative orderings of </a:t>
                </a:r>
                <a:r>
                  <a:rPr lang="en-US" i="0" dirty="0">
                    <a:latin typeface="Cambria Math" panose="02040503050406030204" pitchFamily="18" charset="0"/>
                  </a:rPr>
                  <a:t>𝜔_𝑖</a:t>
                </a:r>
                <a:r>
                  <a:rPr lang="en-US" dirty="0"/>
                  <a:t> and </a:t>
                </a:r>
                <a:r>
                  <a:rPr lang="en-US" i="0" dirty="0">
                    <a:latin typeface="Cambria Math" panose="02040503050406030204" pitchFamily="18" charset="0"/>
                  </a:rPr>
                  <a:t>𝜔_𝑗</a:t>
                </a:r>
                <a:r>
                  <a:rPr lang="en-US" dirty="0"/>
                  <a:t> in the voters' preference orders. In other words, the outcome should not be influenced by the inclusion or exclusion of other alternatives. The relative ranking of </a:t>
                </a:r>
                <a:r>
                  <a:rPr lang="en-US" i="0" dirty="0">
                    <a:latin typeface="Cambria Math" panose="02040503050406030204" pitchFamily="18" charset="0"/>
                  </a:rPr>
                  <a:t>𝜔_𝑖</a:t>
                </a:r>
                <a:r>
                  <a:rPr lang="en-US" dirty="0"/>
                  <a:t> and </a:t>
                </a:r>
                <a:r>
                  <a:rPr lang="en-US" i="0" dirty="0">
                    <a:latin typeface="Cambria Math" panose="02040503050406030204" pitchFamily="18" charset="0"/>
                  </a:rPr>
                  <a:t>𝜔_𝑗</a:t>
                </a:r>
                <a:r>
                  <a:rPr lang="en-US" dirty="0"/>
                  <a:t> should be determined by the preferences of the voters and should remain consistent regardless of other available alternatives.</a:t>
                </a:r>
              </a:p>
              <a:p>
                <a:endParaRPr lang="en-US" dirty="0"/>
              </a:p>
              <a:p>
                <a:r>
                  <a:rPr lang="en-US" dirty="0"/>
                  <a:t>These principles are essential for ensuring fairness and rationality in collective decision-making processes and are key criteria for evaluating the performance of different social choice functions and voting systems.</a:t>
                </a:r>
                <a:endParaRPr dirty="0"/>
              </a:p>
            </p:txBody>
          </p:sp>
        </mc:Fallback>
      </mc:AlternateContent>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Arrow's theorem, formulated by Kenneth Arrow, is a fundamental result in social choice theory. It states that if the set of alternatives (Ω) contains more than two options (|Ω| &gt; 2), and a decision-making method satisfies both Pareto efficiency (PE) and independence of irrelevant alternatives (IIA), then the only outcome produced by this method is a dictatorship (D).</a:t>
            </a:r>
          </a:p>
          <a:p>
            <a:endParaRPr lang="en-US" dirty="0"/>
          </a:p>
          <a:p>
            <a:r>
              <a:rPr lang="en-US" dirty="0"/>
              <a:t>In other words, Arrow's theorem reveals that in a setting with three or more alternatives, it is impossible to design a fair and rational social choice function that consistently respects Pareto efficiency and independence of irrelevant alternatives. Instead, the only method that can satisfy these conditions is a dictatorship, where a single individual's preferences dictate the outcome.</a:t>
            </a:r>
          </a:p>
          <a:p>
            <a:endParaRPr lang="en-US" dirty="0"/>
          </a:p>
          <a:p>
            <a:r>
              <a:rPr lang="en-US" dirty="0"/>
              <a:t>Kenneth Arrow's work on this theorem was groundbreaking and earned him the Nobel Prize in Economics in 1972. Arrow's theorem highlights the inherent challenges and limitations in designing collective decision-making systems that meet certain desirable criteria, and it has significant implications for fields such as political science and economics. The theorem was initially presented in Arrow's doctoral thesis in 1951 and continues to be a cornerstone in the study of social choice and voting theory.</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69"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4608195" cy="350520"/>
          </a:xfrm>
          <a:custGeom>
            <a:avLst/>
            <a:gdLst/>
            <a:ahLst/>
            <a:cxnLst/>
            <a:rect l="l" t="t" r="r" b="b"/>
            <a:pathLst>
              <a:path w="4608195" h="350520">
                <a:moveTo>
                  <a:pt x="0" y="350126"/>
                </a:moveTo>
                <a:lnTo>
                  <a:pt x="4608004" y="350126"/>
                </a:lnTo>
                <a:lnTo>
                  <a:pt x="4608004" y="12"/>
                </a:lnTo>
                <a:lnTo>
                  <a:pt x="0" y="12"/>
                </a:lnTo>
                <a:lnTo>
                  <a:pt x="0" y="350126"/>
                </a:lnTo>
              </a:path>
            </a:pathLst>
          </a:custGeom>
          <a:solidFill>
            <a:srgbClr val="F2F2F2"/>
          </a:solidFill>
        </p:spPr>
        <p:txBody>
          <a:bodyPr wrap="square" lIns="0" tIns="0" rIns="0" bIns="0" rtlCol="0"/>
          <a:lstStyle/>
          <a:p>
            <a:endParaRPr/>
          </a:p>
        </p:txBody>
      </p:sp>
      <p:sp>
        <p:nvSpPr>
          <p:cNvPr id="2" name="Holder 2"/>
          <p:cNvSpPr>
            <a:spLocks noGrp="1"/>
          </p:cNvSpPr>
          <p:nvPr>
            <p:ph type="title"/>
          </p:nvPr>
        </p:nvSpPr>
        <p:spPr>
          <a:xfrm>
            <a:off x="95300" y="105201"/>
            <a:ext cx="4419498" cy="207645"/>
          </a:xfrm>
          <a:prstGeom prst="rect">
            <a:avLst/>
          </a:prstGeom>
        </p:spPr>
        <p:txBody>
          <a:bodyPr wrap="square" lIns="0" tIns="0" rIns="0" bIns="0">
            <a:spAutoFit/>
          </a:bodyPr>
          <a:lstStyle>
            <a:lvl1pPr>
              <a:defRPr sz="1400" b="0" i="0">
                <a:solidFill>
                  <a:srgbClr val="CC0000"/>
                </a:solidFill>
                <a:latin typeface="Tahoma"/>
                <a:cs typeface="Tahoma"/>
              </a:defRPr>
            </a:lvl1pPr>
          </a:lstStyle>
          <a:p>
            <a:endParaRPr/>
          </a:p>
        </p:txBody>
      </p:sp>
      <p:sp>
        <p:nvSpPr>
          <p:cNvPr id="3" name="Holder 3"/>
          <p:cNvSpPr>
            <a:spLocks noGrp="1"/>
          </p:cNvSpPr>
          <p:nvPr>
            <p:ph type="body" idx="1"/>
          </p:nvPr>
        </p:nvSpPr>
        <p:spPr>
          <a:xfrm>
            <a:off x="347294" y="766200"/>
            <a:ext cx="3915511" cy="2092960"/>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1567434" y="3218497"/>
            <a:ext cx="1475231"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10/9/2024</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XfR9iY5y94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youtube.com/watch?v=tT4d1LQy4es" TargetMode="External"/><Relationship Id="rId4" Type="http://schemas.openxmlformats.org/officeDocument/2006/relationships/hyperlink" Target="https://www.youtube.com/watch?v=ax7krBKzmVI"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7" Type="http://schemas.openxmlformats.org/officeDocument/2006/relationships/image" Target="../media/image7.jp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6.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3850" y="1044575"/>
            <a:ext cx="3888104" cy="384721"/>
          </a:xfrm>
          <a:prstGeom prst="rect">
            <a:avLst/>
          </a:prstGeom>
          <a:solidFill>
            <a:srgbClr val="D8D8D8"/>
          </a:solidFill>
        </p:spPr>
        <p:txBody>
          <a:bodyPr vert="horz" wrap="square" lIns="0" tIns="0" rIns="0" bIns="0" rtlCol="0">
            <a:spAutoFit/>
          </a:bodyPr>
          <a:lstStyle/>
          <a:p>
            <a:pPr algn="ctr">
              <a:lnSpc>
                <a:spcPct val="100000"/>
              </a:lnSpc>
            </a:pPr>
            <a:endParaRPr lang="en-US" sz="700" spc="-35" dirty="0">
              <a:solidFill>
                <a:srgbClr val="CC0000"/>
              </a:solidFill>
              <a:latin typeface="Tahoma"/>
              <a:cs typeface="Tahoma"/>
            </a:endParaRPr>
          </a:p>
          <a:p>
            <a:pPr algn="ctr">
              <a:lnSpc>
                <a:spcPct val="100000"/>
              </a:lnSpc>
            </a:pPr>
            <a:r>
              <a:rPr sz="1400" spc="-35" dirty="0">
                <a:solidFill>
                  <a:srgbClr val="CC0000"/>
                </a:solidFill>
                <a:latin typeface="Tahoma"/>
                <a:cs typeface="Tahoma"/>
              </a:rPr>
              <a:t>S</a:t>
            </a:r>
            <a:r>
              <a:rPr sz="1400" dirty="0">
                <a:solidFill>
                  <a:srgbClr val="CC0000"/>
                </a:solidFill>
                <a:latin typeface="Tahoma"/>
                <a:cs typeface="Tahoma"/>
              </a:rPr>
              <a:t>o</a:t>
            </a:r>
            <a:r>
              <a:rPr sz="1400" spc="-25" dirty="0">
                <a:solidFill>
                  <a:srgbClr val="CC0000"/>
                </a:solidFill>
                <a:latin typeface="Tahoma"/>
                <a:cs typeface="Tahoma"/>
              </a:rPr>
              <a:t>cial</a:t>
            </a:r>
            <a:r>
              <a:rPr sz="1400" spc="30" dirty="0">
                <a:solidFill>
                  <a:srgbClr val="CC0000"/>
                </a:solidFill>
                <a:latin typeface="Tahoma"/>
                <a:cs typeface="Tahoma"/>
              </a:rPr>
              <a:t> </a:t>
            </a:r>
            <a:r>
              <a:rPr sz="1400" spc="-40" dirty="0">
                <a:solidFill>
                  <a:srgbClr val="CC0000"/>
                </a:solidFill>
                <a:latin typeface="Tahoma"/>
                <a:cs typeface="Tahoma"/>
              </a:rPr>
              <a:t>Choice</a:t>
            </a:r>
            <a:r>
              <a:rPr sz="1400" spc="30" dirty="0">
                <a:solidFill>
                  <a:srgbClr val="CC0000"/>
                </a:solidFill>
                <a:latin typeface="Tahoma"/>
                <a:cs typeface="Tahoma"/>
              </a:rPr>
              <a:t> </a:t>
            </a:r>
            <a:r>
              <a:rPr sz="1400" spc="-65" dirty="0">
                <a:solidFill>
                  <a:srgbClr val="CC0000"/>
                </a:solidFill>
                <a:latin typeface="Tahoma"/>
                <a:cs typeface="Tahoma"/>
              </a:rPr>
              <a:t>and</a:t>
            </a:r>
            <a:r>
              <a:rPr sz="1400" spc="25" dirty="0">
                <a:solidFill>
                  <a:srgbClr val="CC0000"/>
                </a:solidFill>
                <a:latin typeface="Tahoma"/>
                <a:cs typeface="Tahoma"/>
              </a:rPr>
              <a:t> </a:t>
            </a:r>
            <a:r>
              <a:rPr sz="1400" spc="-50" dirty="0">
                <a:solidFill>
                  <a:srgbClr val="CC0000"/>
                </a:solidFill>
                <a:latin typeface="Tahoma"/>
                <a:cs typeface="Tahoma"/>
              </a:rPr>
              <a:t>Group</a:t>
            </a:r>
            <a:r>
              <a:rPr sz="1400" spc="30" dirty="0">
                <a:solidFill>
                  <a:srgbClr val="CC0000"/>
                </a:solidFill>
                <a:latin typeface="Tahoma"/>
                <a:cs typeface="Tahoma"/>
              </a:rPr>
              <a:t> </a:t>
            </a:r>
            <a:r>
              <a:rPr sz="1400" spc="-45" dirty="0">
                <a:solidFill>
                  <a:srgbClr val="CC0000"/>
                </a:solidFill>
                <a:latin typeface="Tahoma"/>
                <a:cs typeface="Tahoma"/>
              </a:rPr>
              <a:t>Decisions</a:t>
            </a:r>
            <a:r>
              <a:rPr lang="en-US" sz="1400" spc="-45" dirty="0">
                <a:solidFill>
                  <a:srgbClr val="CC0000"/>
                </a:solidFill>
                <a:latin typeface="Tahoma"/>
                <a:cs typeface="Tahoma"/>
              </a:rPr>
              <a:t> (Voting)</a:t>
            </a:r>
          </a:p>
          <a:p>
            <a:pPr algn="ctr">
              <a:lnSpc>
                <a:spcPct val="100000"/>
              </a:lnSpc>
            </a:pPr>
            <a:r>
              <a:rPr lang="en-US" sz="400" spc="-45" dirty="0">
                <a:solidFill>
                  <a:srgbClr val="CC0000"/>
                </a:solidFill>
                <a:latin typeface="Tahoma"/>
                <a:cs typeface="Tahoma"/>
              </a:rPr>
              <a:t> </a:t>
            </a:r>
            <a:endParaRPr sz="400" dirty="0">
              <a:latin typeface="Tahoma"/>
              <a:cs typeface="Tahoma"/>
            </a:endParaRPr>
          </a:p>
        </p:txBody>
      </p:sp>
      <p:sp>
        <p:nvSpPr>
          <p:cNvPr id="3" name="object 3"/>
          <p:cNvSpPr txBox="1"/>
          <p:nvPr/>
        </p:nvSpPr>
        <p:spPr>
          <a:xfrm>
            <a:off x="648766" y="1533650"/>
            <a:ext cx="3310890" cy="969496"/>
          </a:xfrm>
          <a:prstGeom prst="rect">
            <a:avLst/>
          </a:prstGeom>
        </p:spPr>
        <p:txBody>
          <a:bodyPr vert="horz" wrap="square" lIns="0" tIns="0" rIns="0" bIns="0" rtlCol="0">
            <a:spAutoFit/>
          </a:bodyPr>
          <a:lstStyle/>
          <a:p>
            <a:pPr algn="ctr"/>
            <a:r>
              <a:rPr lang="en-US" sz="1100" spc="-20" dirty="0">
                <a:latin typeface="Tahoma"/>
                <a:cs typeface="Tahoma"/>
              </a:rPr>
              <a:t>Edited by: Fuad Noman</a:t>
            </a:r>
          </a:p>
          <a:p>
            <a:pPr algn="ctr">
              <a:lnSpc>
                <a:spcPct val="100000"/>
              </a:lnSpc>
            </a:pPr>
            <a:r>
              <a:rPr lang="en-US" sz="1100" spc="-20" dirty="0">
                <a:latin typeface="Tahoma"/>
                <a:cs typeface="Tahoma"/>
              </a:rPr>
              <a:t>Prepared by: Julian</a:t>
            </a:r>
            <a:r>
              <a:rPr lang="en-US" sz="1100" spc="20" dirty="0">
                <a:latin typeface="Tahoma"/>
                <a:cs typeface="Tahoma"/>
              </a:rPr>
              <a:t> </a:t>
            </a:r>
            <a:r>
              <a:rPr lang="en-US" sz="1100" spc="-40" dirty="0">
                <a:latin typeface="Tahoma"/>
                <a:cs typeface="Tahoma"/>
              </a:rPr>
              <a:t>Gutierrez</a:t>
            </a:r>
            <a:endParaRPr lang="en-US" sz="1100" dirty="0">
              <a:latin typeface="Tahoma"/>
              <a:cs typeface="Tahoma"/>
            </a:endParaRPr>
          </a:p>
          <a:p>
            <a:pPr>
              <a:lnSpc>
                <a:spcPct val="100000"/>
              </a:lnSpc>
              <a:spcBef>
                <a:spcPts val="19"/>
              </a:spcBef>
            </a:pPr>
            <a:endParaRPr sz="1050" dirty="0">
              <a:latin typeface="Times New Roman"/>
              <a:cs typeface="Times New Roman"/>
            </a:endParaRPr>
          </a:p>
          <a:p>
            <a:pPr marL="34925" algn="ctr">
              <a:lnSpc>
                <a:spcPct val="100000"/>
              </a:lnSpc>
            </a:pPr>
            <a:r>
              <a:rPr lang="en-US" sz="800" spc="25" dirty="0">
                <a:latin typeface="Lucida Sans Unicode"/>
                <a:cs typeface="Lucida Sans Unicode"/>
              </a:rPr>
              <a:t>School</a:t>
            </a:r>
            <a:r>
              <a:rPr sz="800" spc="25" dirty="0">
                <a:latin typeface="Lucida Sans Unicode"/>
                <a:cs typeface="Lucida Sans Unicode"/>
              </a:rPr>
              <a:t> </a:t>
            </a:r>
            <a:r>
              <a:rPr sz="800" spc="-55" dirty="0">
                <a:latin typeface="Lucida Sans Unicode"/>
                <a:cs typeface="Lucida Sans Unicode"/>
              </a:rPr>
              <a:t>of</a:t>
            </a:r>
            <a:r>
              <a:rPr sz="800" spc="25" dirty="0">
                <a:latin typeface="Lucida Sans Unicode"/>
                <a:cs typeface="Lucida Sans Unicode"/>
              </a:rPr>
              <a:t> </a:t>
            </a:r>
            <a:r>
              <a:rPr sz="800" spc="-40" dirty="0">
                <a:latin typeface="Lucida Sans Unicode"/>
                <a:cs typeface="Lucida Sans Unicode"/>
              </a:rPr>
              <a:t>Inf</a:t>
            </a:r>
            <a:r>
              <a:rPr sz="800" spc="-80" dirty="0">
                <a:latin typeface="Lucida Sans Unicode"/>
                <a:cs typeface="Lucida Sans Unicode"/>
              </a:rPr>
              <a:t>o</a:t>
            </a:r>
            <a:r>
              <a:rPr sz="800" spc="-45" dirty="0">
                <a:latin typeface="Lucida Sans Unicode"/>
                <a:cs typeface="Lucida Sans Unicode"/>
              </a:rPr>
              <a:t>rmation</a:t>
            </a:r>
            <a:r>
              <a:rPr sz="800" spc="25" dirty="0">
                <a:latin typeface="Lucida Sans Unicode"/>
                <a:cs typeface="Lucida Sans Unicode"/>
              </a:rPr>
              <a:t> </a:t>
            </a:r>
            <a:r>
              <a:rPr sz="800" spc="-5" dirty="0">
                <a:latin typeface="Lucida Sans Unicode"/>
                <a:cs typeface="Lucida Sans Unicode"/>
              </a:rPr>
              <a:t>T</a:t>
            </a:r>
            <a:r>
              <a:rPr sz="800" spc="-60" dirty="0">
                <a:latin typeface="Lucida Sans Unicode"/>
                <a:cs typeface="Lucida Sans Unicode"/>
              </a:rPr>
              <a:t>echnolog</a:t>
            </a:r>
            <a:r>
              <a:rPr sz="800" spc="-125" dirty="0">
                <a:latin typeface="Lucida Sans Unicode"/>
                <a:cs typeface="Lucida Sans Unicode"/>
              </a:rPr>
              <a:t>y</a:t>
            </a:r>
            <a:r>
              <a:rPr sz="800" spc="-20" dirty="0">
                <a:latin typeface="Lucida Sans Unicode"/>
                <a:cs typeface="Lucida Sans Unicode"/>
              </a:rPr>
              <a:t>,</a:t>
            </a:r>
            <a:r>
              <a:rPr sz="800" spc="25" dirty="0">
                <a:latin typeface="Lucida Sans Unicode"/>
                <a:cs typeface="Lucida Sans Unicode"/>
              </a:rPr>
              <a:t> </a:t>
            </a:r>
            <a:r>
              <a:rPr sz="800" spc="-50" dirty="0">
                <a:latin typeface="Lucida Sans Unicode"/>
                <a:cs typeface="Lucida Sans Unicode"/>
              </a:rPr>
              <a:t>Monash</a:t>
            </a:r>
            <a:r>
              <a:rPr sz="800" spc="30" dirty="0">
                <a:latin typeface="Lucida Sans Unicode"/>
                <a:cs typeface="Lucida Sans Unicode"/>
              </a:rPr>
              <a:t> </a:t>
            </a:r>
            <a:r>
              <a:rPr sz="800" spc="-35" dirty="0">
                <a:latin typeface="Lucida Sans Unicode"/>
                <a:cs typeface="Lucida Sans Unicode"/>
              </a:rPr>
              <a:t>Universi</a:t>
            </a:r>
            <a:r>
              <a:rPr sz="800" spc="-55" dirty="0">
                <a:latin typeface="Lucida Sans Unicode"/>
                <a:cs typeface="Lucida Sans Unicode"/>
              </a:rPr>
              <a:t>t</a:t>
            </a:r>
            <a:r>
              <a:rPr sz="800" spc="-30" dirty="0">
                <a:latin typeface="Lucida Sans Unicode"/>
                <a:cs typeface="Lucida Sans Unicode"/>
              </a:rPr>
              <a:t>y</a:t>
            </a:r>
            <a:r>
              <a:rPr lang="en-US" sz="800" spc="-30" dirty="0">
                <a:latin typeface="Lucida Sans Unicode"/>
                <a:cs typeface="Lucida Sans Unicode"/>
              </a:rPr>
              <a:t> Malaysia</a:t>
            </a:r>
            <a:endParaRPr sz="800" dirty="0">
              <a:latin typeface="Lucida Sans Unicode"/>
              <a:cs typeface="Lucida Sans Unicode"/>
            </a:endParaRPr>
          </a:p>
          <a:p>
            <a:pPr>
              <a:lnSpc>
                <a:spcPct val="100000"/>
              </a:lnSpc>
              <a:spcBef>
                <a:spcPts val="23"/>
              </a:spcBef>
            </a:pPr>
            <a:endParaRPr sz="1150" dirty="0">
              <a:latin typeface="Times New Roman"/>
              <a:cs typeface="Times New Roman"/>
            </a:endParaRPr>
          </a:p>
          <a:p>
            <a:pPr algn="ctr">
              <a:lnSpc>
                <a:spcPct val="100000"/>
              </a:lnSpc>
            </a:pPr>
            <a:r>
              <a:rPr sz="1100" spc="-40" dirty="0">
                <a:latin typeface="Tahoma"/>
                <a:cs typeface="Tahoma"/>
              </a:rPr>
              <a:t>FIT5226:</a:t>
            </a:r>
            <a:r>
              <a:rPr sz="1100" spc="135" dirty="0">
                <a:latin typeface="Tahoma"/>
                <a:cs typeface="Tahoma"/>
              </a:rPr>
              <a:t> </a:t>
            </a:r>
            <a:r>
              <a:rPr sz="1100" spc="-5" dirty="0">
                <a:latin typeface="Tahoma"/>
                <a:cs typeface="Tahoma"/>
              </a:rPr>
              <a:t>Multi-Agent</a:t>
            </a:r>
            <a:r>
              <a:rPr sz="1100" spc="25" dirty="0">
                <a:latin typeface="Tahoma"/>
                <a:cs typeface="Tahoma"/>
              </a:rPr>
              <a:t> </a:t>
            </a:r>
            <a:r>
              <a:rPr sz="1100" spc="-55" dirty="0">
                <a:latin typeface="Tahoma"/>
                <a:cs typeface="Tahoma"/>
              </a:rPr>
              <a:t>Systems</a:t>
            </a:r>
            <a:r>
              <a:rPr sz="1100" spc="15" dirty="0">
                <a:latin typeface="Tahoma"/>
                <a:cs typeface="Tahoma"/>
              </a:rPr>
              <a:t> </a:t>
            </a:r>
            <a:r>
              <a:rPr sz="1100" spc="-55" dirty="0">
                <a:latin typeface="Tahoma"/>
                <a:cs typeface="Tahoma"/>
              </a:rPr>
              <a:t>and</a:t>
            </a:r>
            <a:r>
              <a:rPr sz="1100" spc="15" dirty="0">
                <a:latin typeface="Tahoma"/>
                <a:cs typeface="Tahoma"/>
              </a:rPr>
              <a:t> </a:t>
            </a:r>
            <a:r>
              <a:rPr sz="1100" spc="-30" dirty="0">
                <a:latin typeface="Tahoma"/>
                <a:cs typeface="Tahoma"/>
              </a:rPr>
              <a:t>Collective</a:t>
            </a:r>
            <a:r>
              <a:rPr sz="1100" spc="25" dirty="0">
                <a:latin typeface="Tahoma"/>
                <a:cs typeface="Tahoma"/>
              </a:rPr>
              <a:t> </a:t>
            </a:r>
            <a:r>
              <a:rPr sz="1100" spc="-35" dirty="0">
                <a:latin typeface="Tahoma"/>
                <a:cs typeface="Tahoma"/>
              </a:rPr>
              <a:t>Behaviour</a:t>
            </a:r>
            <a:endParaRPr sz="1100" dirty="0">
              <a:latin typeface="Tahoma"/>
              <a:cs typeface="Tahoma"/>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0" dirty="0"/>
              <a:t>Motivation</a:t>
            </a:r>
            <a:r>
              <a:rPr spc="30" dirty="0"/>
              <a:t> </a:t>
            </a:r>
            <a:r>
              <a:rPr spc="-65" dirty="0"/>
              <a:t>and</a:t>
            </a:r>
            <a:r>
              <a:rPr spc="30" dirty="0"/>
              <a:t> </a:t>
            </a:r>
            <a:r>
              <a:rPr spc="-50" dirty="0"/>
              <a:t>ackn</a:t>
            </a:r>
            <a:r>
              <a:rPr spc="-95" dirty="0"/>
              <a:t>o</a:t>
            </a:r>
            <a:r>
              <a:rPr spc="-75" dirty="0"/>
              <a:t>wledgemen</a:t>
            </a:r>
            <a:r>
              <a:rPr spc="-50" dirty="0"/>
              <a:t>t</a:t>
            </a:r>
            <a:r>
              <a:rPr sz="1500" spc="-75" baseline="27777" dirty="0">
                <a:latin typeface="Tahoma"/>
                <a:cs typeface="Tahoma"/>
              </a:rPr>
              <a:t>1</a:t>
            </a:r>
            <a:endParaRPr sz="1500" baseline="27777">
              <a:latin typeface="Tahoma"/>
              <a:cs typeface="Tahoma"/>
            </a:endParaRPr>
          </a:p>
        </p:txBody>
      </p:sp>
      <p:sp>
        <p:nvSpPr>
          <p:cNvPr id="3" name="object 3"/>
          <p:cNvSpPr txBox="1"/>
          <p:nvPr/>
        </p:nvSpPr>
        <p:spPr>
          <a:xfrm>
            <a:off x="347294" y="1151786"/>
            <a:ext cx="3405556" cy="976614"/>
          </a:xfrm>
          <a:prstGeom prst="rect">
            <a:avLst/>
          </a:prstGeom>
        </p:spPr>
        <p:txBody>
          <a:bodyPr vert="horz" wrap="square" lIns="0" tIns="0" rIns="0" bIns="0" rtlCol="0">
            <a:spAutoFit/>
          </a:bodyPr>
          <a:lstStyle/>
          <a:p>
            <a:pPr marL="12700">
              <a:lnSpc>
                <a:spcPct val="100000"/>
              </a:lnSpc>
            </a:pPr>
            <a:r>
              <a:rPr sz="1100" i="1" spc="-55" dirty="0">
                <a:latin typeface="Trebuchet MS"/>
                <a:cs typeface="Trebuchet MS"/>
              </a:rPr>
              <a:t>Let’s</a:t>
            </a:r>
            <a:r>
              <a:rPr sz="1100" i="1" spc="30" dirty="0">
                <a:latin typeface="Trebuchet MS"/>
                <a:cs typeface="Trebuchet MS"/>
              </a:rPr>
              <a:t> </a:t>
            </a:r>
            <a:r>
              <a:rPr sz="1100" i="1" spc="-65" dirty="0">
                <a:latin typeface="Trebuchet MS"/>
                <a:cs typeface="Trebuchet MS"/>
              </a:rPr>
              <a:t>pl</a:t>
            </a:r>
            <a:r>
              <a:rPr sz="1100" i="1" spc="-105" dirty="0">
                <a:latin typeface="Trebuchet MS"/>
                <a:cs typeface="Trebuchet MS"/>
              </a:rPr>
              <a:t>a</a:t>
            </a:r>
            <a:r>
              <a:rPr sz="1100" i="1" spc="-55" dirty="0">
                <a:latin typeface="Trebuchet MS"/>
                <a:cs typeface="Trebuchet MS"/>
              </a:rPr>
              <a:t>y!</a:t>
            </a:r>
            <a:endParaRPr sz="1100" dirty="0">
              <a:latin typeface="Trebuchet MS"/>
              <a:cs typeface="Trebuchet MS"/>
            </a:endParaRPr>
          </a:p>
          <a:p>
            <a:pPr>
              <a:lnSpc>
                <a:spcPct val="100000"/>
              </a:lnSpc>
            </a:pPr>
            <a:endParaRPr sz="1100" dirty="0">
              <a:latin typeface="Times New Roman"/>
              <a:cs typeface="Times New Roman"/>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A: </a:t>
            </a:r>
            <a:r>
              <a:rPr sz="1100" spc="10" dirty="0">
                <a:latin typeface="Tahoma"/>
                <a:cs typeface="Tahoma"/>
                <a:hlinkClick r:id="rId3">
                  <a:extLst>
                    <a:ext uri="{A12FA001-AC4F-418D-AE19-62706E023703}">
                      <ahyp:hlinkClr xmlns:ahyp="http://schemas.microsoft.com/office/drawing/2018/hyperlinkcolor" val="tx"/>
                    </a:ext>
                  </a:extLst>
                </a:hlinkClick>
              </a:rPr>
              <a:t>Australian (Men at Work - Down under)</a:t>
            </a:r>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B: </a:t>
            </a:r>
            <a:r>
              <a:rPr sz="1100" spc="10" dirty="0">
                <a:latin typeface="Tahoma"/>
                <a:cs typeface="Tahoma"/>
                <a:hlinkClick r:id="rId4">
                  <a:extLst>
                    <a:ext uri="{A12FA001-AC4F-418D-AE19-62706E023703}">
                      <ahyp:hlinkClr xmlns:ahyp="http://schemas.microsoft.com/office/drawing/2018/hyperlinkcolor" val="tx"/>
                    </a:ext>
                  </a:extLst>
                </a:hlinkClick>
              </a:rPr>
              <a:t>British (The Beatles - Real love)</a:t>
            </a:r>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C: </a:t>
            </a:r>
            <a:r>
              <a:rPr sz="1100" spc="10" dirty="0">
                <a:latin typeface="Tahoma"/>
                <a:cs typeface="Tahoma"/>
                <a:hlinkClick r:id="rId5">
                  <a:extLst>
                    <a:ext uri="{A12FA001-AC4F-418D-AE19-62706E023703}">
                      <ahyp:hlinkClr xmlns:ahyp="http://schemas.microsoft.com/office/drawing/2018/hyperlinkcolor" val="tx"/>
                    </a:ext>
                  </a:extLst>
                </a:hlinkClick>
              </a:rPr>
              <a:t>Canadian (Alannah Myles - Black velvet)</a:t>
            </a:r>
            <a:endParaRPr sz="1100" spc="10" dirty="0">
              <a:latin typeface="Tahoma"/>
              <a:cs typeface="Tahoma"/>
            </a:endParaRPr>
          </a:p>
        </p:txBody>
      </p:sp>
      <p:sp>
        <p:nvSpPr>
          <p:cNvPr id="4" name="object 4"/>
          <p:cNvSpPr/>
          <p:nvPr/>
        </p:nvSpPr>
        <p:spPr>
          <a:xfrm>
            <a:off x="359994" y="3025775"/>
            <a:ext cx="1828800"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a:p>
        </p:txBody>
      </p:sp>
      <p:sp>
        <p:nvSpPr>
          <p:cNvPr id="5" name="object 5"/>
          <p:cNvSpPr txBox="1"/>
          <p:nvPr/>
        </p:nvSpPr>
        <p:spPr>
          <a:xfrm>
            <a:off x="511301" y="3041175"/>
            <a:ext cx="3066415" cy="159385"/>
          </a:xfrm>
          <a:prstGeom prst="rect">
            <a:avLst/>
          </a:prstGeom>
        </p:spPr>
        <p:txBody>
          <a:bodyPr vert="horz" wrap="square" lIns="0" tIns="0" rIns="0" bIns="0" rtlCol="0">
            <a:spAutoFit/>
          </a:bodyPr>
          <a:lstStyle/>
          <a:p>
            <a:pPr marL="12700">
              <a:lnSpc>
                <a:spcPct val="100000"/>
              </a:lnSpc>
            </a:pPr>
            <a:r>
              <a:rPr sz="900" spc="-22" baseline="37037" dirty="0">
                <a:latin typeface="Lucida Sans Unicode"/>
                <a:cs typeface="Lucida Sans Unicode"/>
              </a:rPr>
              <a:t>1</a:t>
            </a:r>
            <a:r>
              <a:rPr sz="900" b="1" spc="-20" dirty="0">
                <a:latin typeface="Gill Sans MT"/>
                <a:cs typeface="Gill Sans MT"/>
              </a:rPr>
              <a:t>Slides</a:t>
            </a:r>
            <a:r>
              <a:rPr sz="900" b="1" spc="80" dirty="0">
                <a:latin typeface="Gill Sans MT"/>
                <a:cs typeface="Gill Sans MT"/>
              </a:rPr>
              <a:t> </a:t>
            </a:r>
            <a:r>
              <a:rPr sz="900" b="1" spc="-20" dirty="0">
                <a:latin typeface="Gill Sans MT"/>
                <a:cs typeface="Gill Sans MT"/>
              </a:rPr>
              <a:t>based</a:t>
            </a:r>
            <a:r>
              <a:rPr sz="900" b="1" spc="75" dirty="0">
                <a:latin typeface="Gill Sans MT"/>
                <a:cs typeface="Gill Sans MT"/>
              </a:rPr>
              <a:t> </a:t>
            </a:r>
            <a:r>
              <a:rPr sz="900" b="1" spc="-35" dirty="0">
                <a:latin typeface="Gill Sans MT"/>
                <a:cs typeface="Gill Sans MT"/>
              </a:rPr>
              <a:t>on</a:t>
            </a:r>
            <a:r>
              <a:rPr sz="900" b="1" spc="75" dirty="0">
                <a:latin typeface="Gill Sans MT"/>
                <a:cs typeface="Gill Sans MT"/>
              </a:rPr>
              <a:t> </a:t>
            </a:r>
            <a:r>
              <a:rPr sz="900" b="1" spc="-5" dirty="0">
                <a:latin typeface="Gill Sans MT"/>
                <a:cs typeface="Gill Sans MT"/>
              </a:rPr>
              <a:t>Michael</a:t>
            </a:r>
            <a:r>
              <a:rPr sz="900" b="1" spc="75" dirty="0">
                <a:latin typeface="Gill Sans MT"/>
                <a:cs typeface="Gill Sans MT"/>
              </a:rPr>
              <a:t> </a:t>
            </a:r>
            <a:r>
              <a:rPr sz="900" b="1" spc="-160" dirty="0">
                <a:latin typeface="Gill Sans MT"/>
                <a:cs typeface="Gill Sans MT"/>
              </a:rPr>
              <a:t>W</a:t>
            </a:r>
            <a:r>
              <a:rPr sz="900" b="1" spc="-20" dirty="0">
                <a:latin typeface="Gill Sans MT"/>
                <a:cs typeface="Gill Sans MT"/>
              </a:rPr>
              <a:t>o</a:t>
            </a:r>
            <a:r>
              <a:rPr sz="900" b="1" spc="-45" dirty="0">
                <a:latin typeface="Gill Sans MT"/>
                <a:cs typeface="Gill Sans MT"/>
              </a:rPr>
              <a:t>o</a:t>
            </a:r>
            <a:r>
              <a:rPr sz="900" b="1" spc="-25" dirty="0">
                <a:latin typeface="Gill Sans MT"/>
                <a:cs typeface="Gill Sans MT"/>
              </a:rPr>
              <a:t>l</a:t>
            </a:r>
            <a:r>
              <a:rPr sz="900" b="1" spc="-50" dirty="0">
                <a:latin typeface="Gill Sans MT"/>
                <a:cs typeface="Gill Sans MT"/>
              </a:rPr>
              <a:t>dr</a:t>
            </a:r>
            <a:r>
              <a:rPr sz="900" b="1" spc="-25" dirty="0">
                <a:latin typeface="Gill Sans MT"/>
                <a:cs typeface="Gill Sans MT"/>
              </a:rPr>
              <a:t>idge</a:t>
            </a:r>
            <a:r>
              <a:rPr sz="900" b="1" spc="20" dirty="0">
                <a:latin typeface="Gill Sans MT"/>
                <a:cs typeface="Gill Sans MT"/>
              </a:rPr>
              <a:t>’</a:t>
            </a:r>
            <a:r>
              <a:rPr sz="900" b="1" spc="-10" dirty="0">
                <a:latin typeface="Gill Sans MT"/>
                <a:cs typeface="Gill Sans MT"/>
              </a:rPr>
              <a:t>s</a:t>
            </a:r>
            <a:r>
              <a:rPr sz="900" b="1" spc="75" dirty="0">
                <a:latin typeface="Gill Sans MT"/>
                <a:cs typeface="Gill Sans MT"/>
              </a:rPr>
              <a:t> </a:t>
            </a:r>
            <a:r>
              <a:rPr sz="900" b="1" spc="-20" dirty="0">
                <a:latin typeface="Gill Sans MT"/>
                <a:cs typeface="Gill Sans MT"/>
              </a:rPr>
              <a:t>teaching</a:t>
            </a:r>
            <a:r>
              <a:rPr sz="900" b="1" spc="75" dirty="0">
                <a:latin typeface="Gill Sans MT"/>
                <a:cs typeface="Gill Sans MT"/>
              </a:rPr>
              <a:t> </a:t>
            </a:r>
            <a:r>
              <a:rPr sz="900" b="1" spc="-35" dirty="0">
                <a:latin typeface="Gill Sans MT"/>
                <a:cs typeface="Gill Sans MT"/>
              </a:rPr>
              <a:t>materials</a:t>
            </a:r>
            <a:r>
              <a:rPr sz="900" spc="-5" dirty="0">
                <a:latin typeface="Britannic Bold"/>
                <a:cs typeface="Britannic Bold"/>
              </a:rPr>
              <a:t>.</a:t>
            </a:r>
            <a:endParaRPr sz="900" dirty="0">
              <a:latin typeface="Britannic Bold"/>
              <a:cs typeface="Britannic Bold"/>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5" dirty="0"/>
              <a:t>S</a:t>
            </a:r>
            <a:r>
              <a:rPr dirty="0"/>
              <a:t>o</a:t>
            </a:r>
            <a:r>
              <a:rPr spc="-25" dirty="0"/>
              <a:t>cial</a:t>
            </a:r>
            <a:r>
              <a:rPr spc="30" dirty="0"/>
              <a:t> </a:t>
            </a:r>
            <a:r>
              <a:rPr spc="-50" dirty="0"/>
              <a:t>choice</a:t>
            </a:r>
            <a:r>
              <a:rPr spc="30" dirty="0"/>
              <a:t> </a:t>
            </a:r>
            <a:r>
              <a:rPr spc="-55" dirty="0"/>
              <a:t>the</a:t>
            </a:r>
            <a:r>
              <a:rPr spc="-105" dirty="0"/>
              <a:t>o</a:t>
            </a:r>
            <a:r>
              <a:rPr spc="-45" dirty="0"/>
              <a:t>ry</a:t>
            </a:r>
          </a:p>
        </p:txBody>
      </p:sp>
      <p:sp>
        <p:nvSpPr>
          <p:cNvPr id="3" name="object 3"/>
          <p:cNvSpPr txBox="1"/>
          <p:nvPr/>
        </p:nvSpPr>
        <p:spPr>
          <a:xfrm>
            <a:off x="447356" y="1271667"/>
            <a:ext cx="3915093" cy="121514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Social choice theory is about aggregating preferences</a:t>
            </a:r>
          </a:p>
          <a:p>
            <a:pPr marL="284163" indent="-230188">
              <a:lnSpc>
                <a:spcPts val="1400"/>
              </a:lnSpc>
              <a:spcBef>
                <a:spcPts val="330"/>
              </a:spcBef>
              <a:buClr>
                <a:srgbClr val="0000FF"/>
              </a:buClr>
              <a:buFont typeface="Wingdings 3" panose="05040102010807070707" pitchFamily="18" charset="2"/>
              <a:buChar char=""/>
            </a:pPr>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Classic example: Voting systems</a:t>
            </a:r>
          </a:p>
          <a:p>
            <a:pPr marL="284163" indent="-230188">
              <a:lnSpc>
                <a:spcPts val="1400"/>
              </a:lnSpc>
              <a:spcBef>
                <a:spcPts val="330"/>
              </a:spcBef>
              <a:buClr>
                <a:srgbClr val="0000FF"/>
              </a:buClr>
              <a:buFont typeface="Wingdings 3" panose="05040102010807070707" pitchFamily="18" charset="2"/>
              <a:buChar char=""/>
            </a:pPr>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Problem: Combining preferences to derive a social outcome</a:t>
            </a:r>
          </a:p>
        </p:txBody>
      </p:sp>
      <p:sp>
        <p:nvSpPr>
          <p:cNvPr id="4" name="Date Placeholder 3">
            <a:extLst>
              <a:ext uri="{FF2B5EF4-FFF2-40B4-BE49-F238E27FC236}">
                <a16:creationId xmlns:a16="http://schemas.microsoft.com/office/drawing/2014/main" id="{1499979A-4FE9-4F54-8919-0B104F1AFF6C}"/>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6C2917F-7AE3-427E-B91A-B5F60C789447}"/>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2A31DEEA-569E-47DD-A4AF-6F50F3C43AA6}"/>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5" dirty="0"/>
              <a:t>S</a:t>
            </a:r>
            <a:r>
              <a:rPr dirty="0"/>
              <a:t>o</a:t>
            </a:r>
            <a:r>
              <a:rPr spc="-25" dirty="0"/>
              <a:t>cial</a:t>
            </a:r>
            <a:r>
              <a:rPr spc="30" dirty="0"/>
              <a:t> </a:t>
            </a:r>
            <a:r>
              <a:rPr spc="-50" dirty="0"/>
              <a:t>choice</a:t>
            </a:r>
            <a:r>
              <a:rPr spc="30" dirty="0"/>
              <a:t> </a:t>
            </a:r>
            <a:r>
              <a:rPr spc="-55" dirty="0"/>
              <a:t>the</a:t>
            </a:r>
            <a:r>
              <a:rPr spc="-105" dirty="0"/>
              <a:t>o</a:t>
            </a:r>
            <a:r>
              <a:rPr spc="-70" dirty="0"/>
              <a:t>ry:</a:t>
            </a:r>
            <a:r>
              <a:rPr spc="185" dirty="0"/>
              <a:t> </a:t>
            </a:r>
            <a:r>
              <a:rPr spc="80" dirty="0"/>
              <a:t>A</a:t>
            </a:r>
            <a:r>
              <a:rPr spc="25" dirty="0"/>
              <a:t> </a:t>
            </a:r>
            <a:r>
              <a:rPr spc="-35" dirty="0"/>
              <a:t>f</a:t>
            </a:r>
            <a:r>
              <a:rPr spc="-95" dirty="0"/>
              <a:t>o</a:t>
            </a:r>
            <a:r>
              <a:rPr spc="-45" dirty="0"/>
              <a:t>rmal</a:t>
            </a:r>
            <a:r>
              <a:rPr spc="25" dirty="0"/>
              <a:t> </a:t>
            </a:r>
            <a:r>
              <a:rPr spc="-85" dirty="0"/>
              <a:t>m</a:t>
            </a:r>
            <a:r>
              <a:rPr spc="-15" dirty="0"/>
              <a:t>o</a:t>
            </a:r>
            <a:r>
              <a:rPr spc="-95" dirty="0"/>
              <a:t>de</a:t>
            </a:r>
            <a:r>
              <a:rPr spc="5" dirty="0"/>
              <a:t>l</a:t>
            </a:r>
          </a:p>
        </p:txBody>
      </p:sp>
      <mc:AlternateContent xmlns:mc="http://schemas.openxmlformats.org/markup-compatibility/2006" xmlns:a14="http://schemas.microsoft.com/office/drawing/2010/main">
        <mc:Choice Requires="a14">
          <p:sp>
            <p:nvSpPr>
              <p:cNvPr id="3" name="object 3"/>
              <p:cNvSpPr txBox="1"/>
              <p:nvPr/>
            </p:nvSpPr>
            <p:spPr>
              <a:xfrm>
                <a:off x="447356" y="1406249"/>
                <a:ext cx="3534093" cy="599588"/>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 </a:t>
                </a:r>
                <a14:m>
                  <m:oMath xmlns:m="http://schemas.openxmlformats.org/officeDocument/2006/math">
                    <m:r>
                      <a:rPr lang="en-MY" sz="1100" i="1" spc="10" dirty="0" smtClean="0">
                        <a:latin typeface="Cambria Math" panose="02040503050406030204" pitchFamily="18" charset="0"/>
                        <a:cs typeface="Tahoma"/>
                      </a:rPr>
                      <m:t>𝑁</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 . . , </m:t>
                    </m:r>
                    <m:r>
                      <a:rPr lang="en-MY" sz="1100" i="1" spc="10" dirty="0">
                        <a:latin typeface="Cambria Math" panose="02040503050406030204" pitchFamily="18" charset="0"/>
                        <a:cs typeface="Tahoma"/>
                      </a:rPr>
                      <m:t>𝑛</m:t>
                    </m:r>
                    <m:r>
                      <a:rPr lang="en-MY" sz="1100" i="1" spc="10" dirty="0">
                        <a:latin typeface="Cambria Math" panose="02040503050406030204" pitchFamily="18" charset="0"/>
                        <a:cs typeface="Tahoma"/>
                      </a:rPr>
                      <m:t>}</m:t>
                    </m:r>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Outcomes/Candidates: </a:t>
                </a:r>
                <a14:m>
                  <m:oMath xmlns:m="http://schemas.openxmlformats.org/officeDocument/2006/math">
                    <m:r>
                      <a:rPr lang="el-GR" sz="1100" i="1" spc="10" dirty="0" smtClean="0">
                        <a:latin typeface="Cambria Math" panose="02040503050406030204" pitchFamily="18" charset="0"/>
                        <a:cs typeface="Tahoma"/>
                      </a:rPr>
                      <m:t>Ω</m:t>
                    </m:r>
                    <m:r>
                      <a:rPr lang="el-GR" sz="1100" i="1" spc="10" dirty="0" smtClean="0">
                        <a:latin typeface="Cambria Math" panose="02040503050406030204" pitchFamily="18" charset="0"/>
                        <a:cs typeface="Tahoma"/>
                      </a:rPr>
                      <m:t>={</m:t>
                    </m:r>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1</m:t>
                        </m:r>
                      </m:sub>
                    </m:sSub>
                    <m:r>
                      <a:rPr lang="el-GR"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2</m:t>
                        </m:r>
                      </m:sub>
                    </m:sSub>
                    <m:r>
                      <a:rPr lang="el-GR" sz="1100" i="1" spc="10" dirty="0" smtClean="0">
                        <a:latin typeface="Cambria Math" panose="02040503050406030204" pitchFamily="18" charset="0"/>
                        <a:cs typeface="Tahoma"/>
                      </a:rPr>
                      <m:t>, . </m:t>
                    </m:r>
                    <m:r>
                      <a:rPr lang="el-GR" sz="1100" i="1" spc="10" dirty="0">
                        <a:latin typeface="Cambria Math" panose="02040503050406030204" pitchFamily="18" charset="0"/>
                        <a:cs typeface="Tahoma"/>
                      </a:rPr>
                      <m:t>. . , </m:t>
                    </m:r>
                    <m:sSub>
                      <m:sSubPr>
                        <m:ctrlPr>
                          <a:rPr lang="en-MY" sz="1100" b="0" i="1" spc="10" dirty="0" smtClean="0">
                            <a:latin typeface="Cambria Math" panose="02040503050406030204" pitchFamily="18" charset="0"/>
                            <a:cs typeface="Tahoma"/>
                          </a:rPr>
                        </m:ctrlPr>
                      </m:sSubPr>
                      <m:e>
                        <m:r>
                          <a:rPr lang="el-GR" sz="1100" i="1" spc="10" dirty="0">
                            <a:latin typeface="Cambria Math" panose="02040503050406030204" pitchFamily="18" charset="0"/>
                            <a:cs typeface="Tahoma"/>
                          </a:rPr>
                          <m:t>𝜔</m:t>
                        </m:r>
                      </m:e>
                      <m:sub>
                        <m:r>
                          <a:rPr lang="el-GR" sz="1100" i="1" spc="10" dirty="0">
                            <a:latin typeface="Cambria Math" panose="02040503050406030204" pitchFamily="18" charset="0"/>
                            <a:cs typeface="Tahoma"/>
                          </a:rPr>
                          <m:t>𝑘</m:t>
                        </m:r>
                      </m:sub>
                    </m:sSub>
                    <m:r>
                      <a:rPr lang="el-GR" sz="1100" i="1" spc="10" dirty="0">
                        <a:latin typeface="Cambria Math" panose="02040503050406030204" pitchFamily="18" charset="0"/>
                        <a:cs typeface="Tahoma"/>
                      </a:rPr>
                      <m:t>}</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Preference orderings: </a:t>
                </a:r>
                <a14:m>
                  <m:oMath xmlns:m="http://schemas.openxmlformats.org/officeDocument/2006/math">
                    <m:r>
                      <m:rPr>
                        <m:sty m:val="p"/>
                      </m:rPr>
                      <a:rPr lang="el-GR" sz="1100" i="0" spc="10" dirty="0" smtClean="0">
                        <a:latin typeface="Cambria Math" panose="02040503050406030204" pitchFamily="18" charset="0"/>
                        <a:cs typeface="Tahoma"/>
                      </a:rPr>
                      <m:t>Π</m:t>
                    </m:r>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m:t>
                    </m:r>
                  </m:oMath>
                </a14:m>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47356" y="1406249"/>
                <a:ext cx="3534093" cy="599588"/>
              </a:xfrm>
              <a:prstGeom prst="rect">
                <a:avLst/>
              </a:prstGeom>
              <a:blipFill>
                <a:blip r:embed="rId3"/>
                <a:stretch>
                  <a:fillRect l="-690" t="-9184" b="-1428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1A73EEF-439B-4FA4-A48B-4DA7BF0B57EC}"/>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8A02060A-51E6-46B5-ADD3-2BB2CD3015B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DDBB2853-B33F-4302-BC0A-8D37C31FC1C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spc="80" dirty="0"/>
              <a:t>A</a:t>
            </a:r>
            <a:r>
              <a:rPr spc="30" dirty="0"/>
              <a:t> </a:t>
            </a:r>
            <a:r>
              <a:rPr spc="-95" dirty="0"/>
              <a:t>p</a:t>
            </a:r>
            <a:r>
              <a:rPr spc="-75" dirty="0"/>
              <a:t>reference</a:t>
            </a:r>
            <a:r>
              <a:rPr spc="25" dirty="0"/>
              <a:t> </a:t>
            </a:r>
            <a:r>
              <a:rPr spc="-105" dirty="0"/>
              <a:t>o</a:t>
            </a:r>
            <a:r>
              <a:rPr spc="-55" dirty="0"/>
              <a:t>rdering</a:t>
            </a:r>
          </a:p>
        </p:txBody>
      </p:sp>
      <mc:AlternateContent xmlns:mc="http://schemas.openxmlformats.org/markup-compatibility/2006">
        <mc:Choice xmlns:a14="http://schemas.microsoft.com/office/drawing/2010/main" Requires="a14">
          <p:sp>
            <p:nvSpPr>
              <p:cNvPr id="3" name="object 3"/>
              <p:cNvSpPr txBox="1"/>
              <p:nvPr/>
            </p:nvSpPr>
            <p:spPr>
              <a:xfrm>
                <a:off x="447357" y="923788"/>
                <a:ext cx="3339465" cy="180652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a:t>
                </a:r>
              </a:p>
              <a:p>
                <a:pPr>
                  <a:lnSpc>
                    <a:spcPct val="100000"/>
                  </a:lnSpc>
                  <a:spcBef>
                    <a:spcPts val="38"/>
                  </a:spcBef>
                </a:pPr>
                <a:endParaRPr lang="en-MY" sz="950" dirty="0">
                  <a:latin typeface="Times New Roman"/>
                  <a:cs typeface="Times New Roman"/>
                </a:endParaRPr>
              </a:p>
              <a:p>
                <a:pPr marL="650875" algn="ctr">
                  <a:lnSpc>
                    <a:spcPct val="100000"/>
                  </a:lnSpc>
                </a:pPr>
                <a14:m>
                  <m:oMathPara xmlns:m="http://schemas.openxmlformats.org/officeDocument/2006/math">
                    <m:oMathParaPr>
                      <m:jc m:val="centerGroup"/>
                    </m:oMathParaPr>
                    <m:oMath xmlns:m="http://schemas.openxmlformats.org/officeDocument/2006/math">
                      <m:r>
                        <a:rPr lang="en-MY" sz="1100" i="1" spc="70" dirty="0" smtClean="0">
                          <a:latin typeface="Cambria Math" panose="02040503050406030204" pitchFamily="18" charset="0"/>
                          <a:cs typeface="Trebuchet MS"/>
                        </a:rPr>
                        <m:t>𝑁</m:t>
                      </m:r>
                      <m:r>
                        <a:rPr lang="en-MY" sz="1100" i="1" spc="60" dirty="0">
                          <a:latin typeface="Cambria Math" panose="02040503050406030204" pitchFamily="18" charset="0"/>
                          <a:cs typeface="Trebuchet MS"/>
                        </a:rPr>
                        <m:t> </m:t>
                      </m:r>
                      <m:r>
                        <a:rPr lang="en-MY" sz="1100" i="1" spc="40" dirty="0">
                          <a:latin typeface="Cambria Math" panose="02040503050406030204" pitchFamily="18" charset="0"/>
                          <a:cs typeface="Tahoma"/>
                        </a:rPr>
                        <m:t>=</m:t>
                      </m:r>
                      <m:r>
                        <a:rPr lang="en-MY" sz="1100" i="1" spc="-45" dirty="0">
                          <a:latin typeface="Cambria Math" panose="02040503050406030204" pitchFamily="18" charset="0"/>
                          <a:cs typeface="Tahoma"/>
                        </a:rPr>
                        <m:t> </m:t>
                      </m:r>
                      <m:r>
                        <a:rPr lang="en-MY" sz="1100" i="1" spc="-120" dirty="0">
                          <a:latin typeface="Cambria Math" panose="02040503050406030204" pitchFamily="18" charset="0"/>
                          <a:cs typeface="Meiryo"/>
                        </a:rPr>
                        <m:t>{</m:t>
                      </m:r>
                      <m:r>
                        <a:rPr lang="en-MY" sz="1100" i="1" spc="-60" dirty="0">
                          <a:latin typeface="Cambria Math" panose="02040503050406030204" pitchFamily="18" charset="0"/>
                          <a:cs typeface="Tahoma"/>
                        </a:rPr>
                        <m:t>1</m:t>
                      </m:r>
                      <m:r>
                        <a:rPr lang="en-MY" sz="1100" i="1" spc="-100" dirty="0">
                          <a:latin typeface="Cambria Math" panose="02040503050406030204" pitchFamily="18" charset="0"/>
                          <a:cs typeface="Verdana"/>
                        </a:rPr>
                        <m:t>,</m:t>
                      </m:r>
                      <m:r>
                        <a:rPr lang="en-MY" sz="1100" i="1" spc="-204" dirty="0">
                          <a:latin typeface="Cambria Math" panose="02040503050406030204" pitchFamily="18" charset="0"/>
                          <a:cs typeface="Verdana"/>
                        </a:rPr>
                        <m:t> </m:t>
                      </m:r>
                      <m:r>
                        <a:rPr lang="en-MY" sz="1100" i="1" spc="-100" dirty="0">
                          <a:latin typeface="Cambria Math" panose="02040503050406030204" pitchFamily="18" charset="0"/>
                          <a:cs typeface="Verdana"/>
                        </a:rPr>
                        <m:t>.</m:t>
                      </m:r>
                      <m:r>
                        <a:rPr lang="en-MY" sz="1100" i="1" spc="-210" dirty="0">
                          <a:latin typeface="Cambria Math" panose="02040503050406030204" pitchFamily="18" charset="0"/>
                          <a:cs typeface="Verdana"/>
                        </a:rPr>
                        <m:t> </m:t>
                      </m:r>
                      <m:r>
                        <a:rPr lang="en-MY" sz="1100" i="1" spc="-100" dirty="0">
                          <a:latin typeface="Cambria Math" panose="02040503050406030204" pitchFamily="18" charset="0"/>
                          <a:cs typeface="Verdana"/>
                        </a:rPr>
                        <m:t>.</m:t>
                      </m:r>
                      <m:r>
                        <a:rPr lang="en-MY" sz="1100" i="1" spc="-204" dirty="0">
                          <a:latin typeface="Cambria Math" panose="02040503050406030204" pitchFamily="18" charset="0"/>
                          <a:cs typeface="Verdana"/>
                        </a:rPr>
                        <m:t> </m:t>
                      </m:r>
                      <m:r>
                        <a:rPr lang="en-MY" sz="1100" i="1" spc="-100" dirty="0">
                          <a:latin typeface="Cambria Math" panose="02040503050406030204" pitchFamily="18" charset="0"/>
                          <a:cs typeface="Verdana"/>
                        </a:rPr>
                        <m:t>.</m:t>
                      </m:r>
                      <m:r>
                        <a:rPr lang="en-MY" sz="1100" i="1" spc="-204" dirty="0">
                          <a:latin typeface="Cambria Math" panose="02040503050406030204" pitchFamily="18" charset="0"/>
                          <a:cs typeface="Verdana"/>
                        </a:rPr>
                        <m:t> </m:t>
                      </m:r>
                      <m:r>
                        <a:rPr lang="en-MY" sz="1100" i="1" spc="-100" dirty="0">
                          <a:latin typeface="Cambria Math" panose="02040503050406030204" pitchFamily="18" charset="0"/>
                          <a:cs typeface="Verdana"/>
                        </a:rPr>
                        <m:t>,</m:t>
                      </m:r>
                      <m:r>
                        <a:rPr lang="en-MY" sz="1100" i="1" spc="-204" dirty="0">
                          <a:latin typeface="Cambria Math" panose="02040503050406030204" pitchFamily="18" charset="0"/>
                          <a:cs typeface="Verdana"/>
                        </a:rPr>
                        <m:t> </m:t>
                      </m:r>
                      <m:r>
                        <a:rPr lang="en-US" sz="1100" b="0" i="1" spc="-204" dirty="0" smtClean="0">
                          <a:latin typeface="Cambria Math" panose="02040503050406030204" pitchFamily="18" charset="0"/>
                          <a:cs typeface="Verdana"/>
                        </a:rPr>
                        <m:t>𝑖</m:t>
                      </m:r>
                      <m:r>
                        <a:rPr lang="en-MY" sz="1100" i="1" spc="-215" dirty="0">
                          <a:latin typeface="Cambria Math" panose="02040503050406030204" pitchFamily="18" charset="0"/>
                          <a:cs typeface="Trebuchet MS"/>
                        </a:rPr>
                        <m:t> </m:t>
                      </m:r>
                      <m:r>
                        <a:rPr lang="en-MY" sz="1100" i="1" spc="-100" dirty="0">
                          <a:latin typeface="Cambria Math" panose="02040503050406030204" pitchFamily="18" charset="0"/>
                          <a:cs typeface="Verdana"/>
                        </a:rPr>
                        <m:t>,</m:t>
                      </m:r>
                      <m:r>
                        <a:rPr lang="en-MY" sz="1100" i="1" spc="-204" dirty="0">
                          <a:latin typeface="Cambria Math" panose="02040503050406030204" pitchFamily="18" charset="0"/>
                          <a:cs typeface="Verdana"/>
                        </a:rPr>
                        <m:t> </m:t>
                      </m:r>
                      <m:r>
                        <a:rPr lang="en-MY" sz="1100" i="1" spc="-100" dirty="0">
                          <a:latin typeface="Cambria Math" panose="02040503050406030204" pitchFamily="18" charset="0"/>
                          <a:cs typeface="Verdana"/>
                        </a:rPr>
                        <m:t>.</m:t>
                      </m:r>
                      <m:r>
                        <a:rPr lang="en-MY" sz="1100" i="1" spc="-210" dirty="0">
                          <a:latin typeface="Cambria Math" panose="02040503050406030204" pitchFamily="18" charset="0"/>
                          <a:cs typeface="Verdana"/>
                        </a:rPr>
                        <m:t> </m:t>
                      </m:r>
                      <m:r>
                        <a:rPr lang="en-MY" sz="1100" i="1" spc="-100" dirty="0">
                          <a:latin typeface="Cambria Math" panose="02040503050406030204" pitchFamily="18" charset="0"/>
                          <a:cs typeface="Verdana"/>
                        </a:rPr>
                        <m:t>.</m:t>
                      </m:r>
                      <m:r>
                        <a:rPr lang="en-MY" sz="1100" i="1" spc="-204" dirty="0">
                          <a:latin typeface="Cambria Math" panose="02040503050406030204" pitchFamily="18" charset="0"/>
                          <a:cs typeface="Verdana"/>
                        </a:rPr>
                        <m:t> </m:t>
                      </m:r>
                      <m:r>
                        <a:rPr lang="en-MY" sz="1100" i="1" spc="-100" dirty="0">
                          <a:latin typeface="Cambria Math" panose="02040503050406030204" pitchFamily="18" charset="0"/>
                          <a:cs typeface="Verdana"/>
                        </a:rPr>
                        <m:t>.</m:t>
                      </m:r>
                      <m:r>
                        <a:rPr lang="en-MY" sz="1100" i="1" spc="-204" dirty="0">
                          <a:latin typeface="Cambria Math" panose="02040503050406030204" pitchFamily="18" charset="0"/>
                          <a:cs typeface="Verdana"/>
                        </a:rPr>
                        <m:t> </m:t>
                      </m:r>
                      <m:r>
                        <a:rPr lang="en-MY" sz="1100" i="1" spc="-100" dirty="0">
                          <a:latin typeface="Cambria Math" panose="02040503050406030204" pitchFamily="18" charset="0"/>
                          <a:cs typeface="Verdana"/>
                        </a:rPr>
                        <m:t>,</m:t>
                      </m:r>
                      <m:r>
                        <a:rPr lang="en-MY" sz="1100" i="1" spc="-204" dirty="0">
                          <a:latin typeface="Cambria Math" panose="02040503050406030204" pitchFamily="18" charset="0"/>
                          <a:cs typeface="Verdana"/>
                        </a:rPr>
                        <m:t> </m:t>
                      </m:r>
                      <m:r>
                        <a:rPr lang="en-MY" sz="1100" i="1" spc="-25" dirty="0">
                          <a:latin typeface="Cambria Math" panose="02040503050406030204" pitchFamily="18" charset="0"/>
                          <a:cs typeface="Trebuchet MS"/>
                        </a:rPr>
                        <m:t>𝑛</m:t>
                      </m:r>
                      <m:r>
                        <a:rPr lang="en-MY" sz="1100" i="1" spc="-120" dirty="0">
                          <a:latin typeface="Cambria Math" panose="02040503050406030204" pitchFamily="18" charset="0"/>
                          <a:cs typeface="Meiryo"/>
                        </a:rPr>
                        <m:t>}</m:t>
                      </m:r>
                    </m:oMath>
                  </m:oMathPara>
                </a14:m>
                <a:endParaRPr lang="en-MY" sz="1100" dirty="0">
                  <a:latin typeface="Meiryo"/>
                  <a:cs typeface="Meiryo"/>
                </a:endParaRPr>
              </a:p>
              <a:p>
                <a:pPr marL="284163" indent="-230188">
                  <a:lnSpc>
                    <a:spcPts val="1400"/>
                  </a:lnSpc>
                  <a:spcBef>
                    <a:spcPts val="1200"/>
                  </a:spcBef>
                  <a:buClr>
                    <a:srgbClr val="0000FF"/>
                  </a:buClr>
                  <a:buFont typeface="Wingdings 3" panose="05040102010807070707" pitchFamily="18" charset="2"/>
                  <a:buChar char=""/>
                </a:pPr>
                <a:r>
                  <a:rPr lang="en-MY" sz="1100" spc="10" dirty="0">
                    <a:latin typeface="Tahoma"/>
                    <a:cs typeface="Tahoma"/>
                  </a:rPr>
                  <a:t>Outcomes/Candidates:</a:t>
                </a:r>
              </a:p>
              <a:p>
                <a:pPr>
                  <a:lnSpc>
                    <a:spcPct val="100000"/>
                  </a:lnSpc>
                  <a:spcBef>
                    <a:spcPts val="38"/>
                  </a:spcBef>
                </a:pPr>
                <a:endParaRPr lang="en-MY" sz="950" dirty="0">
                  <a:latin typeface="Times New Roman"/>
                  <a:cs typeface="Times New Roman"/>
                </a:endParaRPr>
              </a:p>
              <a:p>
                <a:pPr marL="344488" algn="ctr">
                  <a:lnSpc>
                    <a:spcPct val="100000"/>
                  </a:lnSpc>
                  <a:tabLst>
                    <a:tab pos="285750" algn="l"/>
                  </a:tabLst>
                </a:pPr>
                <a14:m>
                  <m:oMath xmlns:m="http://schemas.openxmlformats.org/officeDocument/2006/math">
                    <m:r>
                      <a:rPr lang="el-GR" sz="1100" i="1" spc="5" dirty="0" smtClean="0">
                        <a:latin typeface="Cambria Math" panose="02040503050406030204" pitchFamily="18" charset="0"/>
                        <a:cs typeface="Tahoma"/>
                      </a:rPr>
                      <m:t>Ω</m:t>
                    </m:r>
                    <m:r>
                      <a:rPr lang="el-GR" sz="1100" i="1" spc="-45" dirty="0">
                        <a:latin typeface="Cambria Math" panose="02040503050406030204" pitchFamily="18" charset="0"/>
                        <a:cs typeface="Tahoma"/>
                      </a:rPr>
                      <m:t> </m:t>
                    </m:r>
                    <m:r>
                      <a:rPr lang="el-GR" sz="1100" i="1" spc="40" dirty="0">
                        <a:latin typeface="Cambria Math" panose="02040503050406030204" pitchFamily="18" charset="0"/>
                        <a:cs typeface="Tahoma"/>
                      </a:rPr>
                      <m:t>=</m:t>
                    </m:r>
                    <m:r>
                      <a:rPr lang="el-GR" sz="1100" i="1" spc="-45" dirty="0">
                        <a:latin typeface="Cambria Math" panose="02040503050406030204" pitchFamily="18" charset="0"/>
                        <a:cs typeface="Tahoma"/>
                      </a:rPr>
                      <m:t> </m:t>
                    </m:r>
                    <m:r>
                      <a:rPr lang="el-GR" sz="1100" i="1" spc="-120" dirty="0">
                        <a:latin typeface="Cambria Math" panose="02040503050406030204" pitchFamily="18" charset="0"/>
                        <a:cs typeface="Meiryo"/>
                      </a:rPr>
                      <m:t>{</m:t>
                    </m:r>
                  </m:oMath>
                </a14:m>
                <a:r>
                  <a:rPr lang="en-MY" sz="1100" i="1" spc="-50" dirty="0">
                    <a:latin typeface="Trebuchet MS"/>
                    <a:cs typeface="Trebuchet MS"/>
                  </a:rPr>
                  <a:t>Australia</a:t>
                </a:r>
                <a:r>
                  <a:rPr lang="en-MY" sz="1100" i="1" spc="-45" dirty="0">
                    <a:latin typeface="Trebuchet MS"/>
                    <a:cs typeface="Trebuchet MS"/>
                  </a:rPr>
                  <a:t>n</a:t>
                </a:r>
                <a:r>
                  <a:rPr lang="en-MY" sz="1100" i="1" spc="-100" dirty="0">
                    <a:latin typeface="Verdana"/>
                    <a:cs typeface="Verdana"/>
                  </a:rPr>
                  <a:t>,</a:t>
                </a:r>
                <a:r>
                  <a:rPr lang="en-MY" sz="1100" i="1" spc="-204" dirty="0">
                    <a:latin typeface="Verdana"/>
                    <a:cs typeface="Verdana"/>
                  </a:rPr>
                  <a:t> </a:t>
                </a:r>
                <a:r>
                  <a:rPr lang="en-MY" sz="1100" i="1" spc="-40" dirty="0">
                    <a:latin typeface="Trebuchet MS"/>
                    <a:cs typeface="Trebuchet MS"/>
                  </a:rPr>
                  <a:t>Britis</a:t>
                </a:r>
                <a:r>
                  <a:rPr lang="en-MY" sz="1100" i="1" spc="-45" dirty="0">
                    <a:latin typeface="Trebuchet MS"/>
                    <a:cs typeface="Trebuchet MS"/>
                  </a:rPr>
                  <a:t>h</a:t>
                </a:r>
                <a:r>
                  <a:rPr lang="en-MY" sz="1100" i="1" spc="-100" dirty="0">
                    <a:latin typeface="Verdana"/>
                    <a:cs typeface="Verdana"/>
                  </a:rPr>
                  <a:t>,</a:t>
                </a:r>
                <a:r>
                  <a:rPr lang="en-MY" sz="1100" i="1" spc="-204" dirty="0">
                    <a:latin typeface="Verdana"/>
                    <a:cs typeface="Verdana"/>
                  </a:rPr>
                  <a:t> </a:t>
                </a:r>
                <a:r>
                  <a:rPr lang="en-MY" sz="1100" i="1" spc="-50" dirty="0">
                    <a:latin typeface="Trebuchet MS"/>
                    <a:cs typeface="Trebuchet MS"/>
                  </a:rPr>
                  <a:t>Canadia</a:t>
                </a:r>
                <a:r>
                  <a:rPr lang="en-MY" sz="1100" i="1" spc="-25" dirty="0">
                    <a:latin typeface="Trebuchet MS"/>
                    <a:cs typeface="Trebuchet MS"/>
                  </a:rPr>
                  <a:t>n</a:t>
                </a:r>
                <a14:m>
                  <m:oMath xmlns:m="http://schemas.openxmlformats.org/officeDocument/2006/math">
                    <m:r>
                      <a:rPr lang="en-MY" sz="1100" i="1" spc="-120" dirty="0" smtClean="0">
                        <a:latin typeface="Cambria Math" panose="02040503050406030204" pitchFamily="18" charset="0"/>
                        <a:cs typeface="Meiryo"/>
                      </a:rPr>
                      <m:t>}</m:t>
                    </m:r>
                  </m:oMath>
                </a14:m>
                <a:endParaRPr lang="en-MY" sz="1100" dirty="0">
                  <a:latin typeface="Meiryo"/>
                  <a:cs typeface="Meiryo"/>
                </a:endParaRPr>
              </a:p>
              <a:p>
                <a:pPr marL="284163" indent="-230188">
                  <a:lnSpc>
                    <a:spcPts val="1400"/>
                  </a:lnSpc>
                  <a:spcBef>
                    <a:spcPts val="1200"/>
                  </a:spcBef>
                  <a:buClr>
                    <a:srgbClr val="0000FF"/>
                  </a:buClr>
                  <a:buFont typeface="Wingdings 3" panose="05040102010807070707" pitchFamily="18" charset="2"/>
                  <a:buChar char=""/>
                </a:pPr>
                <a:r>
                  <a:rPr lang="en-MY" sz="1100" spc="10" dirty="0">
                    <a:latin typeface="Tahoma"/>
                    <a:cs typeface="Tahoma"/>
                  </a:rPr>
                  <a:t>Preference ordering of </a:t>
                </a:r>
                <a14:m>
                  <m:oMath xmlns:m="http://schemas.openxmlformats.org/officeDocument/2006/math">
                    <m:r>
                      <a:rPr lang="en-MY" sz="1100" i="1" spc="10" dirty="0" smtClean="0">
                        <a:latin typeface="Cambria Math" panose="02040503050406030204" pitchFamily="18" charset="0"/>
                        <a:cs typeface="Tahoma"/>
                      </a:rPr>
                      <m:t>𝑖</m:t>
                    </m:r>
                  </m:oMath>
                </a14:m>
                <a:r>
                  <a:rPr lang="en-MY" sz="1100" spc="10" dirty="0">
                    <a:latin typeface="Tahoma"/>
                    <a:cs typeface="Tahoma"/>
                  </a:rPr>
                  <a:t> :</a:t>
                </a:r>
              </a:p>
              <a:p>
                <a:pPr>
                  <a:lnSpc>
                    <a:spcPct val="100000"/>
                  </a:lnSpc>
                  <a:spcBef>
                    <a:spcPts val="38"/>
                  </a:spcBef>
                </a:pPr>
                <a:endParaRPr lang="en-MY" sz="950" dirty="0">
                  <a:latin typeface="Times New Roman"/>
                  <a:cs typeface="Times New Roman"/>
                </a:endParaRPr>
              </a:p>
              <a:p>
                <a:pPr marL="647700" algn="ctr">
                  <a:lnSpc>
                    <a:spcPct val="100000"/>
                  </a:lnSpc>
                </a:pPr>
                <a14:m>
                  <m:oMath xmlns:m="http://schemas.openxmlformats.org/officeDocument/2006/math">
                    <m:r>
                      <m:rPr>
                        <m:sty m:val="p"/>
                      </m:rPr>
                      <a:rPr lang="el-GR" sz="1100" i="0" spc="25" dirty="0" smtClean="0">
                        <a:latin typeface="Cambria Math" panose="02040503050406030204" pitchFamily="18" charset="0"/>
                        <a:cs typeface="Tahoma"/>
                      </a:rPr>
                      <m:t>Π</m:t>
                    </m:r>
                    <m:r>
                      <a:rPr lang="en-US" sz="1200" b="0" i="1" spc="15" baseline="-10416" dirty="0" smtClean="0">
                        <a:latin typeface="Cambria Math" panose="02040503050406030204" pitchFamily="18" charset="0"/>
                        <a:cs typeface="Arial"/>
                      </a:rPr>
                      <m:t>𝑖</m:t>
                    </m:r>
                    <m:r>
                      <a:rPr lang="el-GR" sz="1200" i="1" spc="-135" baseline="-10416" dirty="0">
                        <a:latin typeface="Cambria Math" panose="02040503050406030204" pitchFamily="18" charset="0"/>
                        <a:cs typeface="Arial"/>
                      </a:rPr>
                      <m:t> </m:t>
                    </m:r>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m:t>
                    </m:r>
                  </m:oMath>
                </a14:m>
                <a:r>
                  <a:rPr lang="en-MY" sz="1100" i="1" spc="-45" dirty="0">
                    <a:latin typeface="Trebuchet MS"/>
                    <a:cs typeface="Trebuchet MS"/>
                  </a:rPr>
                  <a:t>British </a:t>
                </a:r>
                <a14:m>
                  <m:oMath xmlns:m="http://schemas.openxmlformats.org/officeDocument/2006/math">
                    <m:sSub>
                      <m:sSubPr>
                        <m:ctrlPr>
                          <a:rPr lang="en-MY" sz="1100" b="0" i="1" spc="-45" smtClean="0">
                            <a:latin typeface="Cambria Math" panose="02040503050406030204" pitchFamily="18" charset="0"/>
                            <a:ea typeface="Cambria Math" panose="02040503050406030204" pitchFamily="18" charset="0"/>
                            <a:cs typeface="Trebuchet MS"/>
                          </a:rPr>
                        </m:ctrlPr>
                      </m:sSubPr>
                      <m:e>
                        <m:r>
                          <a:rPr lang="en-MY" sz="1100" i="1" spc="-45" smtClean="0">
                            <a:latin typeface="Cambria Math" panose="02040503050406030204" pitchFamily="18" charset="0"/>
                            <a:ea typeface="Cambria Math" panose="02040503050406030204" pitchFamily="18" charset="0"/>
                            <a:cs typeface="Trebuchet MS"/>
                          </a:rPr>
                          <m:t>≻</m:t>
                        </m:r>
                      </m:e>
                      <m:sub>
                        <m:r>
                          <a:rPr lang="en-US" sz="1100" b="0" i="1" spc="-45" smtClean="0">
                            <a:latin typeface="Cambria Math" panose="02040503050406030204" pitchFamily="18" charset="0"/>
                            <a:ea typeface="Cambria Math" panose="02040503050406030204" pitchFamily="18" charset="0"/>
                            <a:cs typeface="Trebuchet MS"/>
                          </a:rPr>
                          <m:t>𝑖</m:t>
                        </m:r>
                      </m:sub>
                    </m:sSub>
                  </m:oMath>
                </a14:m>
                <a:r>
                  <a:rPr lang="en-MY" sz="1100" i="1" spc="-55" dirty="0">
                    <a:latin typeface="Trebuchet MS"/>
                    <a:cs typeface="Trebuchet MS"/>
                  </a:rPr>
                  <a:t> Australian</a:t>
                </a:r>
                <a:r>
                  <a:rPr lang="en-MY" sz="1100" i="1" spc="-10" dirty="0">
                    <a:latin typeface="Trebuchet MS"/>
                    <a:cs typeface="Trebuchet MS"/>
                  </a:rPr>
                  <a:t> </a:t>
                </a:r>
                <a14:m>
                  <m:oMath xmlns:m="http://schemas.openxmlformats.org/officeDocument/2006/math">
                    <m:sSub>
                      <m:sSubPr>
                        <m:ctrlPr>
                          <a:rPr lang="en-MY" sz="1200" b="0" i="1" spc="-45" smtClean="0">
                            <a:latin typeface="Cambria Math" panose="02040503050406030204" pitchFamily="18" charset="0"/>
                            <a:ea typeface="Cambria Math" panose="02040503050406030204" pitchFamily="18" charset="0"/>
                            <a:cs typeface="Trebuchet MS"/>
                          </a:rPr>
                        </m:ctrlPr>
                      </m:sSubPr>
                      <m:e>
                        <m:r>
                          <a:rPr lang="en-MY" sz="1200" i="1" spc="-45" smtClean="0">
                            <a:latin typeface="Cambria Math" panose="02040503050406030204" pitchFamily="18" charset="0"/>
                            <a:ea typeface="Cambria Math" panose="02040503050406030204" pitchFamily="18" charset="0"/>
                            <a:cs typeface="Trebuchet MS"/>
                          </a:rPr>
                          <m:t>≻</m:t>
                        </m:r>
                      </m:e>
                      <m:sub>
                        <m:r>
                          <a:rPr lang="en-US" sz="1200" b="0" i="1" spc="-45" smtClean="0">
                            <a:latin typeface="Cambria Math" panose="02040503050406030204" pitchFamily="18" charset="0"/>
                            <a:ea typeface="Cambria Math" panose="02040503050406030204" pitchFamily="18" charset="0"/>
                            <a:cs typeface="Trebuchet MS"/>
                          </a:rPr>
                          <m:t>𝑖</m:t>
                        </m:r>
                      </m:sub>
                    </m:sSub>
                    <m:r>
                      <a:rPr lang="en-MY" sz="1200" b="0" i="1" spc="-45" smtClean="0">
                        <a:latin typeface="Cambria Math" panose="02040503050406030204" pitchFamily="18" charset="0"/>
                        <a:ea typeface="Cambria Math" panose="02040503050406030204" pitchFamily="18" charset="0"/>
                        <a:cs typeface="Trebuchet MS"/>
                      </a:rPr>
                      <m:t> </m:t>
                    </m:r>
                  </m:oMath>
                </a14:m>
                <a:r>
                  <a:rPr lang="en-MY" sz="1100" i="1" spc="-55" dirty="0">
                    <a:latin typeface="Trebuchet MS"/>
                    <a:cs typeface="Trebuchet MS"/>
                  </a:rPr>
                  <a:t>Canadian</a:t>
                </a:r>
                <a:endParaRPr sz="1100" dirty="0">
                  <a:latin typeface="Trebuchet MS"/>
                  <a:cs typeface="Trebuchet MS"/>
                </a:endParaRPr>
              </a:p>
            </p:txBody>
          </p:sp>
        </mc:Choice>
        <mc:Fallback>
          <p:sp>
            <p:nvSpPr>
              <p:cNvPr id="3" name="object 3"/>
              <p:cNvSpPr txBox="1">
                <a:spLocks noRot="1" noChangeAspect="1" noMove="1" noResize="1" noEditPoints="1" noAdjustHandles="1" noChangeArrowheads="1" noChangeShapeType="1" noTextEdit="1"/>
              </p:cNvSpPr>
              <p:nvPr/>
            </p:nvSpPr>
            <p:spPr>
              <a:xfrm>
                <a:off x="447357" y="923788"/>
                <a:ext cx="3339465" cy="1806520"/>
              </a:xfrm>
              <a:prstGeom prst="rect">
                <a:avLst/>
              </a:prstGeom>
              <a:blipFill>
                <a:blip r:embed="rId3"/>
                <a:stretch>
                  <a:fillRect l="-730" t="-3041" b="-3716"/>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2EF33B46-7D79-4CEB-80FC-19BED75D73DF}"/>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A9034EE-ABF3-440A-9BAB-A544FC5734C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7E096625-81E9-4581-BD08-BCBDB951580B}"/>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45" dirty="0"/>
              <a:t>Aggregating</a:t>
            </a:r>
            <a:r>
              <a:rPr spc="35" dirty="0"/>
              <a:t> </a:t>
            </a:r>
            <a:r>
              <a:rPr spc="-95" dirty="0"/>
              <a:t>p</a:t>
            </a:r>
            <a:r>
              <a:rPr spc="-75" dirty="0"/>
              <a:t>references</a:t>
            </a:r>
          </a:p>
        </p:txBody>
      </p:sp>
      <mc:AlternateContent xmlns:mc="http://schemas.openxmlformats.org/markup-compatibility/2006" xmlns:a14="http://schemas.microsoft.com/office/drawing/2010/main">
        <mc:Choice Requires="a14">
          <p:sp>
            <p:nvSpPr>
              <p:cNvPr id="3" name="object 3"/>
              <p:cNvSpPr txBox="1"/>
              <p:nvPr/>
            </p:nvSpPr>
            <p:spPr>
              <a:xfrm>
                <a:off x="347294" y="865020"/>
                <a:ext cx="4260687" cy="2064091"/>
              </a:xfrm>
              <a:prstGeom prst="rect">
                <a:avLst/>
              </a:prstGeom>
            </p:spPr>
            <p:txBody>
              <a:bodyPr vert="horz" wrap="square" lIns="0" tIns="0" rIns="0" bIns="0" rtlCol="0">
                <a:spAutoFit/>
              </a:bodyPr>
              <a:lstStyle/>
              <a:p>
                <a:pPr marL="12700">
                  <a:lnSpc>
                    <a:spcPct val="100000"/>
                  </a:lnSpc>
                </a:pPr>
                <a:r>
                  <a:rPr lang="en-US" sz="1100" spc="-15" dirty="0">
                    <a:latin typeface="Tahoma"/>
                    <a:cs typeface="Tahoma"/>
                  </a:rPr>
                  <a:t>Basic</a:t>
                </a:r>
                <a:r>
                  <a:rPr lang="en-US" sz="1100" spc="15" dirty="0">
                    <a:latin typeface="Tahoma"/>
                    <a:cs typeface="Tahoma"/>
                  </a:rPr>
                  <a:t> </a:t>
                </a:r>
                <a:r>
                  <a:rPr lang="en-US" sz="1100" spc="-80" dirty="0">
                    <a:latin typeface="Tahoma"/>
                    <a:cs typeface="Tahoma"/>
                  </a:rPr>
                  <a:t>p</a:t>
                </a:r>
                <a:r>
                  <a:rPr lang="en-US" sz="1100" spc="-40" dirty="0">
                    <a:latin typeface="Tahoma"/>
                    <a:cs typeface="Tahoma"/>
                  </a:rPr>
                  <a:t>ro</a:t>
                </a:r>
                <a:r>
                  <a:rPr lang="en-US" sz="1100" spc="-55" dirty="0">
                    <a:latin typeface="Tahoma"/>
                    <a:cs typeface="Tahoma"/>
                  </a:rPr>
                  <a:t>b</a:t>
                </a:r>
                <a:r>
                  <a:rPr lang="en-US" sz="1100" spc="-50" dirty="0">
                    <a:latin typeface="Tahoma"/>
                    <a:cs typeface="Tahoma"/>
                  </a:rPr>
                  <a:t>le</a:t>
                </a:r>
                <a:r>
                  <a:rPr lang="en-US" sz="1100" spc="-65" dirty="0">
                    <a:latin typeface="Tahoma"/>
                    <a:cs typeface="Tahoma"/>
                  </a:rPr>
                  <a:t>m</a:t>
                </a:r>
                <a:r>
                  <a:rPr lang="en-US" sz="1100" spc="15" dirty="0">
                    <a:latin typeface="Tahoma"/>
                    <a:cs typeface="Tahoma"/>
                  </a:rPr>
                  <a:t> </a:t>
                </a:r>
                <a:r>
                  <a:rPr lang="en-US" sz="1100" spc="-25" dirty="0">
                    <a:latin typeface="Tahoma"/>
                    <a:cs typeface="Tahoma"/>
                  </a:rPr>
                  <a:t>in</a:t>
                </a:r>
                <a:r>
                  <a:rPr lang="en-US" sz="1100" spc="15" dirty="0">
                    <a:latin typeface="Tahoma"/>
                    <a:cs typeface="Tahoma"/>
                  </a:rPr>
                  <a:t> </a:t>
                </a:r>
                <a:r>
                  <a:rPr lang="en-US" sz="1100" spc="-60" dirty="0">
                    <a:latin typeface="Tahoma"/>
                    <a:cs typeface="Tahoma"/>
                  </a:rPr>
                  <a:t>s</a:t>
                </a:r>
                <a:r>
                  <a:rPr lang="en-US" sz="1100" spc="-45" dirty="0">
                    <a:latin typeface="Tahoma"/>
                    <a:cs typeface="Tahoma"/>
                  </a:rPr>
                  <a:t>o</a:t>
                </a:r>
                <a:r>
                  <a:rPr lang="en-US" sz="1100" spc="-20" dirty="0">
                    <a:latin typeface="Tahoma"/>
                    <a:cs typeface="Tahoma"/>
                  </a:rPr>
                  <a:t>cial</a:t>
                </a:r>
                <a:r>
                  <a:rPr lang="en-US" sz="1100" spc="20" dirty="0">
                    <a:latin typeface="Tahoma"/>
                    <a:cs typeface="Tahoma"/>
                  </a:rPr>
                  <a:t> </a:t>
                </a:r>
                <a:r>
                  <a:rPr lang="en-US" sz="1100" spc="-45" dirty="0">
                    <a:latin typeface="Tahoma"/>
                    <a:cs typeface="Tahoma"/>
                  </a:rPr>
                  <a:t>choice</a:t>
                </a:r>
                <a:r>
                  <a:rPr lang="en-US" sz="1100" spc="20" dirty="0">
                    <a:latin typeface="Tahoma"/>
                    <a:cs typeface="Tahoma"/>
                  </a:rPr>
                  <a:t> </a:t>
                </a:r>
                <a:r>
                  <a:rPr lang="en-US" sz="1100" spc="-45" dirty="0">
                    <a:latin typeface="Tahoma"/>
                    <a:cs typeface="Tahoma"/>
                  </a:rPr>
                  <a:t>the</a:t>
                </a:r>
                <a:r>
                  <a:rPr lang="en-US" sz="1100" spc="-80" dirty="0">
                    <a:latin typeface="Tahoma"/>
                    <a:cs typeface="Tahoma"/>
                  </a:rPr>
                  <a:t>o</a:t>
                </a:r>
                <a:r>
                  <a:rPr lang="en-US" sz="1100" spc="-55" dirty="0">
                    <a:latin typeface="Tahoma"/>
                    <a:cs typeface="Tahoma"/>
                  </a:rPr>
                  <a:t>ry:</a:t>
                </a:r>
                <a:endParaRPr lang="en-US" sz="1100" dirty="0">
                  <a:latin typeface="Tahoma"/>
                  <a:cs typeface="Tahoma"/>
                </a:endParaRPr>
              </a:p>
              <a:p>
                <a:pPr>
                  <a:lnSpc>
                    <a:spcPct val="100000"/>
                  </a:lnSpc>
                  <a:spcBef>
                    <a:spcPts val="21"/>
                  </a:spcBef>
                </a:pPr>
                <a:endParaRPr lang="en-US" sz="1300" dirty="0">
                  <a:latin typeface="Times New Roman"/>
                  <a:cs typeface="Times New Roman"/>
                </a:endParaRPr>
              </a:p>
              <a:p>
                <a:pPr marL="361950" marR="5080">
                  <a:lnSpc>
                    <a:spcPts val="1600"/>
                  </a:lnSpc>
                </a:pPr>
                <a:r>
                  <a:rPr lang="en-US" sz="1100" b="1" spc="-15" dirty="0">
                    <a:latin typeface="Tahoma"/>
                    <a:cs typeface="Tahoma"/>
                  </a:rPr>
                  <a:t>Given</a:t>
                </a:r>
                <a:r>
                  <a:rPr lang="en-US" sz="1100" spc="-15" dirty="0">
                    <a:latin typeface="Tahoma"/>
                    <a:cs typeface="Tahoma"/>
                  </a:rPr>
                  <a:t>: </a:t>
                </a:r>
                <a:r>
                  <a:rPr lang="en-US" sz="1100" i="1" spc="-15" dirty="0">
                    <a:latin typeface="Tahoma"/>
                    <a:cs typeface="Tahoma"/>
                  </a:rPr>
                  <a:t>A collection of preference orders </a:t>
                </a:r>
                <a14:m>
                  <m:oMath xmlns:m="http://schemas.openxmlformats.org/officeDocument/2006/math">
                    <m:sSub>
                      <m:sSubPr>
                        <m:ctrlPr>
                          <a:rPr lang="en-MY" sz="1100" b="0" i="1" spc="-15" dirty="0" smtClean="0">
                            <a:latin typeface="Cambria Math" panose="02040503050406030204" pitchFamily="18" charset="0"/>
                            <a:cs typeface="Tahoma"/>
                          </a:rPr>
                        </m:ctrlPr>
                      </m:sSubPr>
                      <m:e>
                        <m:d>
                          <m:dPr>
                            <m:begChr m:val="{"/>
                            <m:endChr m:val="}"/>
                            <m:ctrlPr>
                              <a:rPr lang="en-US" sz="1100" b="0" i="1" spc="-15" dirty="0" smtClean="0">
                                <a:latin typeface="Cambria Math" panose="02040503050406030204" pitchFamily="18" charset="0"/>
                                <a:cs typeface="Tahoma"/>
                              </a:rPr>
                            </m:ctrlPr>
                          </m:dPr>
                          <m:e>
                            <m:sSub>
                              <m:sSubPr>
                                <m:ctrlPr>
                                  <a:rPr lang="en-US" sz="1100" b="0" i="1" spc="-15" dirty="0" smtClean="0">
                                    <a:latin typeface="Cambria Math" panose="02040503050406030204" pitchFamily="18" charset="0"/>
                                    <a:cs typeface="Tahoma"/>
                                  </a:rPr>
                                </m:ctrlPr>
                              </m:sSubPr>
                              <m:e>
                                <m:r>
                                  <m:rPr>
                                    <m:sty m:val="p"/>
                                  </m:rPr>
                                  <a:rPr lang="en-US" sz="1100" i="0" spc="-15" dirty="0">
                                    <a:latin typeface="Cambria Math" panose="02040503050406030204" pitchFamily="18" charset="0"/>
                                    <a:cs typeface="Tahoma"/>
                                  </a:rPr>
                                  <m:t>Π</m:t>
                                </m:r>
                              </m:e>
                              <m:sub>
                                <m:r>
                                  <a:rPr lang="en-MY" sz="1100" b="0" i="1" spc="-15" dirty="0" smtClean="0">
                                    <a:latin typeface="Cambria Math" panose="02040503050406030204" pitchFamily="18" charset="0"/>
                                    <a:cs typeface="Tahoma"/>
                                  </a:rPr>
                                  <m:t>𝑖</m:t>
                                </m:r>
                              </m:sub>
                            </m:sSub>
                            <m:d>
                              <m:dPr>
                                <m:ctrlPr>
                                  <a:rPr lang="en-US" sz="1100" b="0" i="1" spc="-15" dirty="0">
                                    <a:latin typeface="Cambria Math" panose="02040503050406030204" pitchFamily="18" charset="0"/>
                                    <a:cs typeface="Tahoma"/>
                                  </a:rPr>
                                </m:ctrlPr>
                              </m:dPr>
                              <m:e>
                                <m:r>
                                  <a:rPr lang="en-US" sz="1100" i="1" spc="-15" dirty="0">
                                    <a:latin typeface="Cambria Math" panose="02040503050406030204" pitchFamily="18" charset="0"/>
                                    <a:cs typeface="Tahoma"/>
                                  </a:rPr>
                                  <m:t>Ω</m:t>
                                </m:r>
                              </m:e>
                            </m:d>
                          </m:e>
                        </m:d>
                      </m:e>
                      <m:sub>
                        <m:r>
                          <a:rPr lang="en-MY" sz="1100" b="0" i="1" spc="-15" dirty="0" smtClean="0">
                            <a:latin typeface="Cambria Math" panose="02040503050406030204" pitchFamily="18" charset="0"/>
                            <a:cs typeface="Tahoma"/>
                          </a:rPr>
                          <m:t>𝑖</m:t>
                        </m:r>
                        <m:r>
                          <a:rPr lang="en-MY" sz="1100" b="0" i="1" spc="-15" dirty="0" smtClean="0">
                            <a:latin typeface="Cambria Math" panose="02040503050406030204" pitchFamily="18" charset="0"/>
                            <a:cs typeface="Tahoma"/>
                          </a:rPr>
                          <m:t>∈</m:t>
                        </m:r>
                        <m:r>
                          <a:rPr lang="en-MY" sz="1100" b="0" i="1" spc="-15" dirty="0" smtClean="0">
                            <a:latin typeface="Cambria Math" panose="02040503050406030204" pitchFamily="18" charset="0"/>
                            <a:cs typeface="Tahoma"/>
                          </a:rPr>
                          <m:t>𝑁</m:t>
                        </m:r>
                      </m:sub>
                    </m:sSub>
                  </m:oMath>
                </a14:m>
                <a:endParaRPr lang="en-MY" sz="1100" b="0" i="1" spc="-15" dirty="0">
                  <a:latin typeface="Tahoma"/>
                  <a:cs typeface="Tahoma"/>
                </a:endParaRPr>
              </a:p>
              <a:p>
                <a:pPr marL="361950" marR="5080">
                  <a:lnSpc>
                    <a:spcPts val="1600"/>
                  </a:lnSpc>
                </a:pPr>
                <a:r>
                  <a:rPr lang="en-US" sz="1100" b="1" spc="-15" dirty="0">
                    <a:latin typeface="Tahoma"/>
                    <a:cs typeface="Tahoma"/>
                  </a:rPr>
                  <a:t>Question</a:t>
                </a:r>
                <a:r>
                  <a:rPr lang="en-US" sz="1100" spc="-15" dirty="0">
                    <a:latin typeface="Tahoma"/>
                    <a:cs typeface="Tahoma"/>
                  </a:rPr>
                  <a:t>: </a:t>
                </a:r>
                <a:r>
                  <a:rPr lang="en-US" sz="1100" i="1" spc="-15" dirty="0">
                    <a:latin typeface="Tahoma"/>
                    <a:cs typeface="Tahoma"/>
                  </a:rPr>
                  <a:t>How do we combine these preference orders to derive a social outcome – a group decision – that reflects as close as possible the preferences of agents in the system?</a:t>
                </a:r>
              </a:p>
              <a:p>
                <a:pPr>
                  <a:lnSpc>
                    <a:spcPct val="100000"/>
                  </a:lnSpc>
                </a:pPr>
                <a:endParaRPr lang="en-US" sz="1100" dirty="0">
                  <a:latin typeface="Times New Roman"/>
                  <a:cs typeface="Times New Roman"/>
                </a:endParaRPr>
              </a:p>
              <a:p>
                <a:pPr marL="12700">
                  <a:lnSpc>
                    <a:spcPct val="100000"/>
                  </a:lnSpc>
                  <a:spcBef>
                    <a:spcPts val="935"/>
                  </a:spcBef>
                </a:pPr>
                <a:r>
                  <a:rPr lang="en-US" sz="1100" spc="5" dirty="0">
                    <a:latin typeface="Tahoma"/>
                    <a:cs typeface="Tahoma"/>
                  </a:rPr>
                  <a:t>T</a:t>
                </a:r>
                <a:r>
                  <a:rPr lang="en-US" sz="1100" spc="-30" dirty="0">
                    <a:latin typeface="Tahoma"/>
                    <a:cs typeface="Tahoma"/>
                  </a:rPr>
                  <a:t>w</a:t>
                </a:r>
                <a:r>
                  <a:rPr lang="en-US" sz="1100" spc="-55" dirty="0">
                    <a:latin typeface="Tahoma"/>
                    <a:cs typeface="Tahoma"/>
                  </a:rPr>
                  <a:t>o</a:t>
                </a:r>
                <a:r>
                  <a:rPr lang="en-US" sz="1100" spc="20" dirty="0">
                    <a:latin typeface="Tahoma"/>
                    <a:cs typeface="Tahoma"/>
                  </a:rPr>
                  <a:t> </a:t>
                </a:r>
                <a:r>
                  <a:rPr lang="en-US" sz="1100" spc="-50" dirty="0">
                    <a:latin typeface="Tahoma"/>
                    <a:cs typeface="Tahoma"/>
                  </a:rPr>
                  <a:t>v</a:t>
                </a:r>
                <a:r>
                  <a:rPr lang="en-US" sz="1100" spc="-85" dirty="0">
                    <a:latin typeface="Tahoma"/>
                    <a:cs typeface="Tahoma"/>
                  </a:rPr>
                  <a:t>a</a:t>
                </a:r>
                <a:r>
                  <a:rPr lang="en-US" sz="1100" spc="-40" dirty="0">
                    <a:latin typeface="Tahoma"/>
                    <a:cs typeface="Tahoma"/>
                  </a:rPr>
                  <a:t>riants:</a:t>
                </a:r>
                <a:endParaRPr lang="en-US" sz="110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Social </a:t>
                </a:r>
                <a:r>
                  <a:rPr lang="en-US" sz="1100" i="1" spc="10" dirty="0">
                    <a:latin typeface="Tahoma"/>
                    <a:cs typeface="Tahoma"/>
                  </a:rPr>
                  <a:t>welfare</a:t>
                </a:r>
                <a:r>
                  <a:rPr lang="en-US" sz="1100" spc="10" dirty="0">
                    <a:latin typeface="Tahoma"/>
                    <a:cs typeface="Tahoma"/>
                  </a:rPr>
                  <a:t> functions</a:t>
                </a:r>
              </a:p>
              <a:p>
                <a:pPr marL="284163"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Social choice functions</a:t>
                </a:r>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47294" y="865020"/>
                <a:ext cx="4260687" cy="2064091"/>
              </a:xfrm>
              <a:prstGeom prst="rect">
                <a:avLst/>
              </a:prstGeom>
              <a:blipFill>
                <a:blip r:embed="rId3"/>
                <a:stretch>
                  <a:fillRect l="-1860" t="-2367" b="-355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8B1C13A-3C30-46A1-BF4D-0DE528DDF21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6857D0D7-527E-44EF-8ADE-F19763C48E7D}"/>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5228B4A9-D406-4645-A57F-358498143BAC}"/>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5" dirty="0"/>
              <a:t>S</a:t>
            </a:r>
            <a:r>
              <a:rPr dirty="0"/>
              <a:t>o</a:t>
            </a:r>
            <a:r>
              <a:rPr spc="-25" dirty="0"/>
              <a:t>cial</a:t>
            </a:r>
            <a:r>
              <a:rPr spc="30" dirty="0"/>
              <a:t> </a:t>
            </a:r>
            <a:r>
              <a:rPr spc="-135" dirty="0"/>
              <a:t>w</a:t>
            </a:r>
            <a:r>
              <a:rPr spc="-45" dirty="0"/>
              <a:t>elf</a:t>
            </a:r>
            <a:r>
              <a:rPr spc="-110" dirty="0"/>
              <a:t>a</a:t>
            </a:r>
            <a:r>
              <a:rPr spc="-75" dirty="0"/>
              <a:t>re</a:t>
            </a:r>
            <a:r>
              <a:rPr spc="30" dirty="0"/>
              <a:t> </a:t>
            </a:r>
            <a:r>
              <a:rPr spc="-40" dirty="0"/>
              <a:t>functions</a:t>
            </a:r>
          </a:p>
        </p:txBody>
      </p:sp>
      <mc:AlternateContent xmlns:mc="http://schemas.openxmlformats.org/markup-compatibility/2006" xmlns:a14="http://schemas.microsoft.com/office/drawing/2010/main">
        <mc:Choice Requires="a14">
          <p:sp>
            <p:nvSpPr>
              <p:cNvPr id="3" name="object 3"/>
              <p:cNvSpPr txBox="1"/>
              <p:nvPr/>
            </p:nvSpPr>
            <p:spPr>
              <a:xfrm>
                <a:off x="447357" y="947258"/>
                <a:ext cx="3564890" cy="209942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 </a:t>
                </a:r>
                <a14:m>
                  <m:oMath xmlns:m="http://schemas.openxmlformats.org/officeDocument/2006/math">
                    <m:r>
                      <a:rPr lang="en-MY" sz="1100" i="1" spc="10" dirty="0" smtClean="0">
                        <a:latin typeface="Cambria Math" panose="02040503050406030204" pitchFamily="18" charset="0"/>
                        <a:cs typeface="Tahoma"/>
                      </a:rPr>
                      <m:t>𝑁</m:t>
                    </m:r>
                    <m:r>
                      <a:rPr lang="en-MY" sz="1100" i="1" spc="10" dirty="0" smtClean="0">
                        <a:latin typeface="Cambria Math" panose="02040503050406030204" pitchFamily="18" charset="0"/>
                        <a:cs typeface="Tahoma"/>
                      </a:rPr>
                      <m:t> = {</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 . . , </m:t>
                    </m:r>
                    <m:r>
                      <a:rPr lang="en-MY" sz="1100" i="1" spc="10" dirty="0">
                        <a:latin typeface="Cambria Math" panose="02040503050406030204" pitchFamily="18" charset="0"/>
                        <a:cs typeface="Tahoma"/>
                      </a:rPr>
                      <m:t>𝑛</m:t>
                    </m:r>
                    <m:r>
                      <a:rPr lang="en-MY" sz="1100" i="1" spc="10" dirty="0">
                        <a:latin typeface="Cambria Math" panose="02040503050406030204" pitchFamily="18" charset="0"/>
                        <a:cs typeface="Tahoma"/>
                      </a:rPr>
                      <m:t>}</m:t>
                    </m:r>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Outcomes/Candidates: </a:t>
                </a:r>
                <a14:m>
                  <m:oMath xmlns:m="http://schemas.openxmlformats.org/officeDocument/2006/math">
                    <m:r>
                      <a:rPr lang="el-GR" sz="1100" i="1" spc="10" dirty="0" smtClean="0">
                        <a:latin typeface="Cambria Math" panose="02040503050406030204" pitchFamily="18" charset="0"/>
                        <a:cs typeface="Tahoma"/>
                      </a:rPr>
                      <m:t>Ω</m:t>
                    </m:r>
                    <m:r>
                      <a:rPr lang="el-GR" sz="1100" i="1" spc="10" dirty="0" smtClean="0">
                        <a:latin typeface="Cambria Math" panose="02040503050406030204" pitchFamily="18" charset="0"/>
                        <a:cs typeface="Tahoma"/>
                      </a:rPr>
                      <m:t> = {</m:t>
                    </m:r>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i="1" spc="10" dirty="0" smtClean="0">
                            <a:latin typeface="Cambria Math" panose="02040503050406030204" pitchFamily="18" charset="0"/>
                            <a:cs typeface="Tahoma"/>
                          </a:rPr>
                          <m:t>1</m:t>
                        </m:r>
                      </m:sub>
                    </m:sSub>
                    <m:r>
                      <a:rPr lang="ar-SA" sz="1100" i="1" spc="10" dirty="0" smtClean="0">
                        <a:latin typeface="Cambria Math" panose="02040503050406030204" pitchFamily="18" charset="0"/>
                        <a:cs typeface="Tahoma"/>
                      </a:rPr>
                      <m:t>, </m:t>
                    </m:r>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i="1" spc="10" dirty="0" smtClean="0">
                            <a:latin typeface="Cambria Math" panose="02040503050406030204" pitchFamily="18" charset="0"/>
                            <a:cs typeface="Tahoma"/>
                          </a:rPr>
                          <m:t>2</m:t>
                        </m:r>
                      </m:sub>
                    </m:sSub>
                    <m:r>
                      <a:rPr lang="ar-SA" sz="1100" i="1" spc="10" dirty="0" smtClean="0">
                        <a:latin typeface="Cambria Math" panose="02040503050406030204" pitchFamily="18" charset="0"/>
                        <a:cs typeface="Tahoma"/>
                      </a:rPr>
                      <m:t>, . </m:t>
                    </m:r>
                    <m:r>
                      <a:rPr lang="ar-SA" sz="1100" i="1" spc="10" dirty="0">
                        <a:latin typeface="Cambria Math" panose="02040503050406030204" pitchFamily="18" charset="0"/>
                        <a:cs typeface="Tahoma"/>
                      </a:rPr>
                      <m:t>. . , </m:t>
                    </m:r>
                    <m:sSub>
                      <m:sSubPr>
                        <m:ctrlPr>
                          <a:rPr lang="ar-SA" sz="1100" b="0" i="1" spc="10" dirty="0" smtClean="0">
                            <a:latin typeface="Cambria Math" panose="02040503050406030204" pitchFamily="18" charset="0"/>
                            <a:cs typeface="Tahoma"/>
                          </a:rPr>
                        </m:ctrlPr>
                      </m:sSubPr>
                      <m:e>
                        <m:r>
                          <a:rPr lang="ar-SA" sz="1100" i="1" spc="10" dirty="0">
                            <a:latin typeface="Cambria Math" panose="02040503050406030204" pitchFamily="18" charset="0"/>
                            <a:cs typeface="Tahoma"/>
                          </a:rPr>
                          <m:t>𝜔</m:t>
                        </m:r>
                      </m:e>
                      <m:sub>
                        <m:r>
                          <a:rPr lang="ar-SA" sz="1100" i="1" spc="10" dirty="0">
                            <a:latin typeface="Cambria Math" panose="02040503050406030204" pitchFamily="18" charset="0"/>
                            <a:cs typeface="Tahoma"/>
                          </a:rPr>
                          <m:t>𝑘</m:t>
                        </m:r>
                      </m:sub>
                    </m:sSub>
                    <m:r>
                      <a:rPr lang="ar-SA" sz="1100" i="1" spc="10" dirty="0">
                        <a:latin typeface="Cambria Math" panose="02040503050406030204" pitchFamily="18" charset="0"/>
                        <a:cs typeface="Tahoma"/>
                      </a:rPr>
                      <m:t>}</m:t>
                    </m:r>
                  </m:oMath>
                </a14:m>
                <a:endParaRPr lang="ar-SA"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Preference orderings: </a:t>
                </a:r>
                <a14:m>
                  <m:oMath xmlns:m="http://schemas.openxmlformats.org/officeDocument/2006/math">
                    <m:r>
                      <m:rPr>
                        <m:sty m:val="p"/>
                      </m:rPr>
                      <a:rPr lang="el-GR" sz="1100" i="0" spc="10" dirty="0" smtClean="0">
                        <a:latin typeface="Cambria Math" panose="02040503050406030204" pitchFamily="18" charset="0"/>
                        <a:cs typeface="Tahoma"/>
                      </a:rPr>
                      <m:t>Π</m:t>
                    </m:r>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endParaRPr lang="el-GR" sz="1100" spc="10" dirty="0">
                  <a:latin typeface="Tahoma"/>
                  <a:cs typeface="Tahoma"/>
                </a:endParaRPr>
              </a:p>
              <a:p>
                <a:pPr marL="284163" marR="5080"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 social </a:t>
                </a:r>
                <a:r>
                  <a:rPr lang="en-MY" sz="1100" i="1" spc="10" dirty="0">
                    <a:latin typeface="Tahoma"/>
                    <a:cs typeface="Tahoma"/>
                  </a:rPr>
                  <a:t>welfare</a:t>
                </a:r>
                <a:r>
                  <a:rPr lang="en-MY" sz="1100" spc="10" dirty="0">
                    <a:latin typeface="Tahoma"/>
                    <a:cs typeface="Tahoma"/>
                  </a:rPr>
                  <a:t> function takes the voters’ preferences and produces a social preference order:</a:t>
                </a:r>
              </a:p>
              <a:p>
                <a:pPr>
                  <a:lnSpc>
                    <a:spcPct val="100000"/>
                  </a:lnSpc>
                  <a:spcBef>
                    <a:spcPts val="38"/>
                  </a:spcBef>
                </a:pPr>
                <a:endParaRPr lang="en-MY" sz="950" dirty="0">
                  <a:latin typeface="Times New Roman"/>
                  <a:cs typeface="Times New Roman"/>
                </a:endParaRPr>
              </a:p>
              <a:p>
                <a:pPr marL="1022350">
                  <a:lnSpc>
                    <a:spcPct val="100000"/>
                  </a:lnSpc>
                </a:pPr>
                <a14:m>
                  <m:oMathPara xmlns:m="http://schemas.openxmlformats.org/officeDocument/2006/math">
                    <m:oMathParaPr>
                      <m:jc m:val="centerGroup"/>
                    </m:oMathParaPr>
                    <m:oMath xmlns:m="http://schemas.openxmlformats.org/officeDocument/2006/math">
                      <m:r>
                        <a:rPr lang="en-MY" sz="1100" i="1" spc="-114" dirty="0" smtClean="0">
                          <a:latin typeface="Cambria Math" panose="02040503050406030204" pitchFamily="18" charset="0"/>
                          <a:cs typeface="Trebuchet MS"/>
                        </a:rPr>
                        <m:t>𝑓</m:t>
                      </m:r>
                      <m:r>
                        <a:rPr lang="en-MY" sz="1100" i="1" spc="-114" dirty="0" smtClean="0">
                          <a:latin typeface="Cambria Math" panose="02040503050406030204" pitchFamily="18" charset="0"/>
                          <a:cs typeface="Trebuchet MS"/>
                        </a:rPr>
                        <m:t>  : </m:t>
                      </m:r>
                      <m:r>
                        <m:rPr>
                          <m:sty m:val="p"/>
                        </m:rPr>
                        <a:rPr lang="el-GR" sz="1100" i="0" spc="25" dirty="0">
                          <a:latin typeface="Cambria Math" panose="02040503050406030204" pitchFamily="18" charset="0"/>
                          <a:cs typeface="Tahoma"/>
                        </a:rPr>
                        <m:t>Π</m:t>
                      </m:r>
                      <m:r>
                        <a:rPr lang="el-GR" sz="1200" i="1" spc="-60" baseline="-10416" dirty="0">
                          <a:latin typeface="Cambria Math" panose="02040503050406030204" pitchFamily="18" charset="0"/>
                          <a:cs typeface="Lucida Sans Unicode"/>
                        </a:rPr>
                        <m:t>1</m:t>
                      </m:r>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 . .  × </m:t>
                      </m:r>
                      <m:r>
                        <m:rPr>
                          <m:sty m:val="p"/>
                        </m:rPr>
                        <a:rPr lang="el-GR" sz="1100" i="0" spc="25" dirty="0">
                          <a:latin typeface="Cambria Math" panose="02040503050406030204" pitchFamily="18" charset="0"/>
                          <a:cs typeface="Tahoma"/>
                        </a:rPr>
                        <m:t>Π</m:t>
                      </m:r>
                      <m:r>
                        <a:rPr lang="el-GR" sz="1200" i="1" spc="75" baseline="-10416" dirty="0">
                          <a:latin typeface="Cambria Math" panose="02040503050406030204" pitchFamily="18" charset="0"/>
                          <a:cs typeface="Arial"/>
                        </a:rPr>
                        <m:t>𝑛</m:t>
                      </m:r>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m:t>
                      </m:r>
                      <m:r>
                        <m:rPr>
                          <m:sty m:val="p"/>
                        </m:rPr>
                        <a:rPr lang="el-GR" sz="1100" i="0" spc="10" dirty="0">
                          <a:latin typeface="Cambria Math" panose="02040503050406030204" pitchFamily="18" charset="0"/>
                          <a:cs typeface="Tahoma"/>
                        </a:rPr>
                        <m:t>Π</m:t>
                      </m:r>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smtClean="0">
                          <a:latin typeface="Cambria Math" panose="02040503050406030204" pitchFamily="18" charset="0"/>
                          <a:cs typeface="Tahoma"/>
                        </a:rPr>
                        <m:t>)</m:t>
                      </m:r>
                    </m:oMath>
                  </m:oMathPara>
                </a14:m>
                <a:endParaRPr lang="el-GR" sz="1100" spc="10" dirty="0">
                  <a:latin typeface="Tahoma"/>
                  <a:cs typeface="Tahoma"/>
                </a:endParaRPr>
              </a:p>
              <a:p>
                <a:pPr marL="1022350">
                  <a:lnSpc>
                    <a:spcPct val="100000"/>
                  </a:lnSpc>
                </a:pPr>
                <a:endParaRPr lang="el-GR" sz="110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 of a social welfare function: </a:t>
                </a:r>
                <a14:m>
                  <m:oMath xmlns:m="http://schemas.openxmlformats.org/officeDocument/2006/math">
                    <m:sSup>
                      <m:sSupPr>
                        <m:ctrlPr>
                          <a:rPr lang="en-MY" sz="1100" b="0" i="1" spc="10" smtClean="0">
                            <a:latin typeface="Cambria Math" panose="02040503050406030204" pitchFamily="18" charset="0"/>
                            <a:ea typeface="Cambria Math" panose="02040503050406030204" pitchFamily="18" charset="0"/>
                            <a:cs typeface="Tahoma"/>
                          </a:rPr>
                        </m:ctrlPr>
                      </m:sSupPr>
                      <m:e>
                        <m:r>
                          <a:rPr lang="en-MY" sz="1100" i="1" spc="10" smtClean="0">
                            <a:latin typeface="Cambria Math" panose="02040503050406030204" pitchFamily="18" charset="0"/>
                            <a:ea typeface="Cambria Math" panose="02040503050406030204" pitchFamily="18" charset="0"/>
                            <a:cs typeface="Tahoma"/>
                          </a:rPr>
                          <m:t>≻</m:t>
                        </m:r>
                      </m:e>
                      <m:sup>
                        <m:r>
                          <a:rPr lang="en-MY" sz="1100" b="0" i="1" spc="10" smtClean="0">
                            <a:latin typeface="Cambria Math" panose="02040503050406030204" pitchFamily="18" charset="0"/>
                            <a:ea typeface="Cambria Math" panose="02040503050406030204" pitchFamily="18" charset="0"/>
                            <a:cs typeface="Tahoma"/>
                          </a:rPr>
                          <m:t>∗</m:t>
                        </m:r>
                      </m:sup>
                    </m:sSup>
                  </m:oMath>
                </a14:m>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47357" y="947258"/>
                <a:ext cx="3564890" cy="2099421"/>
              </a:xfrm>
              <a:prstGeom prst="rect">
                <a:avLst/>
              </a:prstGeom>
              <a:blipFill>
                <a:blip r:embed="rId3"/>
                <a:stretch>
                  <a:fillRect l="-684" t="-2319" b="-3188"/>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074DBAC9-05E7-411D-9E38-66072CA51614}"/>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253707A-F2AE-40D0-B0A7-29D131DE4CF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54FC54BF-8B64-4658-A8BF-0D3C82816E01}"/>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7</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5" dirty="0"/>
              <a:t>S</a:t>
            </a:r>
            <a:r>
              <a:rPr dirty="0"/>
              <a:t>o</a:t>
            </a:r>
            <a:r>
              <a:rPr spc="-25" dirty="0"/>
              <a:t>cial</a:t>
            </a:r>
            <a:r>
              <a:rPr spc="30" dirty="0"/>
              <a:t> </a:t>
            </a:r>
            <a:r>
              <a:rPr spc="-50" dirty="0"/>
              <a:t>choice</a:t>
            </a:r>
            <a:r>
              <a:rPr spc="30" dirty="0"/>
              <a:t> </a:t>
            </a:r>
            <a:r>
              <a:rPr spc="-40" dirty="0"/>
              <a:t>functions</a:t>
            </a:r>
          </a:p>
        </p:txBody>
      </p:sp>
      <mc:AlternateContent xmlns:mc="http://schemas.openxmlformats.org/markup-compatibility/2006" xmlns:a14="http://schemas.microsoft.com/office/drawing/2010/main">
        <mc:Choice Requires="a14">
          <p:sp>
            <p:nvSpPr>
              <p:cNvPr id="3" name="object 3"/>
              <p:cNvSpPr txBox="1"/>
              <p:nvPr/>
            </p:nvSpPr>
            <p:spPr>
              <a:xfrm>
                <a:off x="453341" y="739775"/>
                <a:ext cx="3915093" cy="2522422"/>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 </a:t>
                </a:r>
                <a14:m>
                  <m:oMath xmlns:m="http://schemas.openxmlformats.org/officeDocument/2006/math">
                    <m:r>
                      <a:rPr lang="en-MY" sz="1100" i="1" spc="10" dirty="0">
                        <a:latin typeface="Cambria Math" panose="02040503050406030204" pitchFamily="18" charset="0"/>
                        <a:cs typeface="Tahoma"/>
                      </a:rPr>
                      <m:t>𝑁</m:t>
                    </m:r>
                    <m:r>
                      <a:rPr lang="en-MY" sz="1100" i="1" spc="10" dirty="0">
                        <a:latin typeface="Cambria Math" panose="02040503050406030204" pitchFamily="18" charset="0"/>
                        <a:cs typeface="Tahoma"/>
                      </a:rPr>
                      <m:t> = {</m:t>
                    </m:r>
                    <m:r>
                      <a:rPr lang="en-MY" sz="1100" i="1" spc="10" dirty="0">
                        <a:latin typeface="Cambria Math" panose="02040503050406030204" pitchFamily="18" charset="0"/>
                        <a:cs typeface="Tahoma"/>
                      </a:rPr>
                      <m:t>1</m:t>
                    </m:r>
                    <m:r>
                      <a:rPr lang="en-MY" sz="1100" i="1" spc="10" dirty="0">
                        <a:latin typeface="Cambria Math" panose="02040503050406030204" pitchFamily="18" charset="0"/>
                        <a:cs typeface="Tahoma"/>
                      </a:rPr>
                      <m:t>, . . . , </m:t>
                    </m:r>
                    <m:r>
                      <a:rPr lang="en-MY" sz="1100" i="1" spc="10" dirty="0">
                        <a:latin typeface="Cambria Math" panose="02040503050406030204" pitchFamily="18" charset="0"/>
                        <a:cs typeface="Tahoma"/>
                      </a:rPr>
                      <m:t>𝑛</m:t>
                    </m:r>
                    <m:r>
                      <a:rPr lang="en-MY" sz="1100" i="1" spc="10" dirty="0">
                        <a:latin typeface="Cambria Math" panose="02040503050406030204" pitchFamily="18" charset="0"/>
                        <a:cs typeface="Tahoma"/>
                      </a:rPr>
                      <m:t>}</m:t>
                    </m:r>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Outcomes/Candidates: </a:t>
                </a:r>
                <a14:m>
                  <m:oMath xmlns:m="http://schemas.openxmlformats.org/officeDocument/2006/math">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 = {</m:t>
                    </m:r>
                    <m:sSub>
                      <m:sSubPr>
                        <m:ctrlPr>
                          <a:rPr lang="ar-SA" sz="1100" i="1" spc="10" dirty="0">
                            <a:latin typeface="Cambria Math" panose="02040503050406030204" pitchFamily="18" charset="0"/>
                            <a:cs typeface="Tahoma"/>
                          </a:rPr>
                        </m:ctrlPr>
                      </m:sSubPr>
                      <m:e>
                        <m:r>
                          <a:rPr lang="ar-SA" sz="1100" i="1" spc="10" dirty="0">
                            <a:latin typeface="Cambria Math" panose="02040503050406030204" pitchFamily="18" charset="0"/>
                            <a:cs typeface="Tahoma"/>
                          </a:rPr>
                          <m:t>𝜔</m:t>
                        </m:r>
                      </m:e>
                      <m:sub>
                        <m:r>
                          <a:rPr lang="ar-SA" sz="1100" i="1" spc="10" dirty="0">
                            <a:latin typeface="Cambria Math" panose="02040503050406030204" pitchFamily="18" charset="0"/>
                            <a:cs typeface="Tahoma"/>
                          </a:rPr>
                          <m:t>1</m:t>
                        </m:r>
                      </m:sub>
                    </m:sSub>
                    <m:r>
                      <a:rPr lang="ar-SA" sz="1100" i="1" spc="10" dirty="0">
                        <a:latin typeface="Cambria Math" panose="02040503050406030204" pitchFamily="18" charset="0"/>
                        <a:cs typeface="Tahoma"/>
                      </a:rPr>
                      <m:t>, </m:t>
                    </m:r>
                    <m:sSub>
                      <m:sSubPr>
                        <m:ctrlPr>
                          <a:rPr lang="ar-SA" sz="1100" i="1" spc="10" dirty="0">
                            <a:latin typeface="Cambria Math" panose="02040503050406030204" pitchFamily="18" charset="0"/>
                            <a:cs typeface="Tahoma"/>
                          </a:rPr>
                        </m:ctrlPr>
                      </m:sSubPr>
                      <m:e>
                        <m:r>
                          <a:rPr lang="ar-SA" sz="1100" i="1" spc="10" dirty="0">
                            <a:latin typeface="Cambria Math" panose="02040503050406030204" pitchFamily="18" charset="0"/>
                            <a:cs typeface="Tahoma"/>
                          </a:rPr>
                          <m:t>𝜔</m:t>
                        </m:r>
                      </m:e>
                      <m:sub>
                        <m:r>
                          <a:rPr lang="ar-SA" sz="1100" i="1" spc="10" dirty="0">
                            <a:latin typeface="Cambria Math" panose="02040503050406030204" pitchFamily="18" charset="0"/>
                            <a:cs typeface="Tahoma"/>
                          </a:rPr>
                          <m:t>2</m:t>
                        </m:r>
                      </m:sub>
                    </m:sSub>
                    <m:r>
                      <a:rPr lang="ar-SA" sz="1100" i="1" spc="10" dirty="0">
                        <a:latin typeface="Cambria Math" panose="02040503050406030204" pitchFamily="18" charset="0"/>
                        <a:cs typeface="Tahoma"/>
                      </a:rPr>
                      <m:t>, . . . , </m:t>
                    </m:r>
                    <m:sSub>
                      <m:sSubPr>
                        <m:ctrlPr>
                          <a:rPr lang="ar-SA" sz="1100" i="1" spc="10" dirty="0">
                            <a:latin typeface="Cambria Math" panose="02040503050406030204" pitchFamily="18" charset="0"/>
                            <a:cs typeface="Tahoma"/>
                          </a:rPr>
                        </m:ctrlPr>
                      </m:sSubPr>
                      <m:e>
                        <m:r>
                          <a:rPr lang="ar-SA" sz="1100" i="1" spc="10" dirty="0">
                            <a:latin typeface="Cambria Math" panose="02040503050406030204" pitchFamily="18" charset="0"/>
                            <a:cs typeface="Tahoma"/>
                          </a:rPr>
                          <m:t>𝜔</m:t>
                        </m:r>
                      </m:e>
                      <m:sub>
                        <m:r>
                          <a:rPr lang="ar-SA" sz="1100" i="1" spc="10" dirty="0">
                            <a:latin typeface="Cambria Math" panose="02040503050406030204" pitchFamily="18" charset="0"/>
                            <a:cs typeface="Tahoma"/>
                          </a:rPr>
                          <m:t>𝑘</m:t>
                        </m:r>
                      </m:sub>
                    </m:sSub>
                    <m:r>
                      <a:rPr lang="ar-SA" sz="1100" i="1" spc="10" dirty="0">
                        <a:latin typeface="Cambria Math" panose="02040503050406030204" pitchFamily="18" charset="0"/>
                        <a:cs typeface="Tahoma"/>
                      </a:rPr>
                      <m:t>}</m:t>
                    </m:r>
                  </m:oMath>
                </a14:m>
                <a:endParaRPr lang="ar-SA"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Preference orderings: </a:t>
                </a:r>
                <a14:m>
                  <m:oMath xmlns:m="http://schemas.openxmlformats.org/officeDocument/2006/math">
                    <m:r>
                      <m:rPr>
                        <m:sty m:val="p"/>
                      </m:rPr>
                      <a:rPr lang="el-GR" sz="1100" spc="10" dirty="0">
                        <a:latin typeface="Cambria Math" panose="02040503050406030204" pitchFamily="18" charset="0"/>
                        <a:cs typeface="Tahoma"/>
                      </a:rPr>
                      <m:t>Π</m:t>
                    </m:r>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m:t>
                    </m:r>
                  </m:oMath>
                </a14:m>
                <a:endParaRPr lang="el-GR" sz="1100" spc="10" dirty="0">
                  <a:latin typeface="Tahoma"/>
                  <a:cs typeface="Tahoma"/>
                </a:endParaRPr>
              </a:p>
              <a:p>
                <a:pPr>
                  <a:lnSpc>
                    <a:spcPct val="100000"/>
                  </a:lnSpc>
                  <a:spcBef>
                    <a:spcPts val="44"/>
                  </a:spcBef>
                </a:pPr>
                <a:endParaRPr lang="el-GR" sz="1400" dirty="0">
                  <a:latin typeface="Times New Roman"/>
                  <a:cs typeface="Times New Roman"/>
                </a:endParaRPr>
              </a:p>
              <a:p>
                <a:pPr marL="284163" marR="5080"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 social </a:t>
                </a:r>
                <a:r>
                  <a:rPr lang="en-MY" sz="1100" i="1" spc="10" dirty="0">
                    <a:latin typeface="Tahoma"/>
                    <a:cs typeface="Tahoma"/>
                  </a:rPr>
                  <a:t>a</a:t>
                </a:r>
                <a:r>
                  <a:rPr lang="en-MY" sz="1100" spc="10" dirty="0">
                    <a:latin typeface="Tahoma"/>
                    <a:cs typeface="Tahoma"/>
                  </a:rPr>
                  <a:t> function takes the voters’ preferences and produces a social outcome – the “winner” of the election:</a:t>
                </a:r>
              </a:p>
              <a:p>
                <a:pPr>
                  <a:lnSpc>
                    <a:spcPct val="100000"/>
                  </a:lnSpc>
                  <a:spcBef>
                    <a:spcPts val="10"/>
                  </a:spcBef>
                </a:pPr>
                <a:endParaRPr lang="en-MY" sz="1200" dirty="0">
                  <a:latin typeface="Times New Roman"/>
                  <a:cs typeface="Times New Roman"/>
                </a:endParaRPr>
              </a:p>
              <a:p>
                <a:pPr marL="438150" algn="ctr">
                  <a:lnSpc>
                    <a:spcPct val="100000"/>
                  </a:lnSpc>
                </a:pPr>
                <a14:m>
                  <m:oMathPara xmlns:m="http://schemas.openxmlformats.org/officeDocument/2006/math">
                    <m:oMathParaPr>
                      <m:jc m:val="centerGroup"/>
                    </m:oMathParaPr>
                    <m:oMath xmlns:m="http://schemas.openxmlformats.org/officeDocument/2006/math">
                      <m:r>
                        <a:rPr lang="en-MY" sz="1100" i="1" spc="-114" dirty="0" smtClean="0">
                          <a:latin typeface="Cambria Math" panose="02040503050406030204" pitchFamily="18" charset="0"/>
                          <a:cs typeface="Trebuchet MS"/>
                        </a:rPr>
                        <m:t>𝑓</m:t>
                      </m:r>
                      <m:r>
                        <a:rPr lang="en-MY" sz="1100" i="1" spc="-114" dirty="0" smtClean="0">
                          <a:latin typeface="Cambria Math" panose="02040503050406030204" pitchFamily="18" charset="0"/>
                          <a:cs typeface="Trebuchet MS"/>
                        </a:rPr>
                        <m:t>  : </m:t>
                      </m:r>
                      <m:r>
                        <m:rPr>
                          <m:sty m:val="p"/>
                        </m:rPr>
                        <a:rPr lang="el-GR" sz="1100" i="0" spc="25" dirty="0">
                          <a:latin typeface="Cambria Math" panose="02040503050406030204" pitchFamily="18" charset="0"/>
                          <a:cs typeface="Tahoma"/>
                        </a:rPr>
                        <m:t>Π</m:t>
                      </m:r>
                      <m:r>
                        <a:rPr lang="el-GR" sz="1200" i="1" spc="-60" baseline="-10416" dirty="0">
                          <a:latin typeface="Cambria Math" panose="02040503050406030204" pitchFamily="18" charset="0"/>
                          <a:cs typeface="Lucida Sans Unicode"/>
                        </a:rPr>
                        <m:t>1</m:t>
                      </m:r>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 . .  × </m:t>
                      </m:r>
                      <m:r>
                        <m:rPr>
                          <m:sty m:val="p"/>
                        </m:rPr>
                        <a:rPr lang="el-GR" sz="1100" i="0" spc="25" dirty="0">
                          <a:latin typeface="Cambria Math" panose="02040503050406030204" pitchFamily="18" charset="0"/>
                          <a:cs typeface="Tahoma"/>
                        </a:rPr>
                        <m:t>Π</m:t>
                      </m:r>
                      <m:r>
                        <a:rPr lang="el-GR" sz="1200" i="1" spc="75" baseline="-10416" dirty="0">
                          <a:latin typeface="Cambria Math" panose="02040503050406030204" pitchFamily="18" charset="0"/>
                          <a:cs typeface="Arial"/>
                        </a:rPr>
                        <m:t>𝑛</m:t>
                      </m:r>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m:t>
                      </m:r>
                      <m:r>
                        <a:rPr lang="el-GR" sz="1100" i="1" spc="5" dirty="0">
                          <a:latin typeface="Cambria Math" panose="02040503050406030204" pitchFamily="18" charset="0"/>
                          <a:cs typeface="Tahoma"/>
                        </a:rPr>
                        <m:t>Ω</m:t>
                      </m:r>
                    </m:oMath>
                  </m:oMathPara>
                </a14:m>
                <a:endParaRPr lang="en-MY" sz="1100" dirty="0">
                  <a:latin typeface="Tahoma"/>
                  <a:cs typeface="Tahoma"/>
                </a:endParaRPr>
              </a:p>
              <a:p>
                <a:pPr marL="438150" algn="ctr">
                  <a:lnSpc>
                    <a:spcPct val="100000"/>
                  </a:lnSpc>
                </a:pPr>
                <a:endParaRPr lang="el-GR" sz="1100" dirty="0">
                  <a:latin typeface="Tahoma"/>
                  <a:cs typeface="Tahoma"/>
                </a:endParaRPr>
              </a:p>
              <a:p>
                <a:pPr marL="284163" indent="-230188">
                  <a:lnSpc>
                    <a:spcPts val="1400"/>
                  </a:lnSpc>
                  <a:spcBef>
                    <a:spcPts val="330"/>
                  </a:spcBef>
                  <a:spcAft>
                    <a:spcPts val="600"/>
                  </a:spcAft>
                  <a:buClr>
                    <a:srgbClr val="0000FF"/>
                  </a:buClr>
                  <a:buFont typeface="Wingdings 3" panose="05040102010807070707" pitchFamily="18" charset="2"/>
                  <a:buChar char=""/>
                </a:pPr>
                <a:r>
                  <a:rPr lang="en-MY" sz="1100" spc="10" dirty="0">
                    <a:latin typeface="Tahoma"/>
                    <a:cs typeface="Tahoma"/>
                  </a:rPr>
                  <a:t>The winner </a:t>
                </a:r>
                <a:r>
                  <a:rPr lang="el-GR" sz="1100" spc="10" dirty="0">
                    <a:latin typeface="Tahoma"/>
                    <a:cs typeface="Tahoma"/>
                  </a:rPr>
                  <a:t>ω ∈ Ω </a:t>
                </a:r>
                <a:r>
                  <a:rPr lang="en-MY" sz="1100" spc="10" dirty="0">
                    <a:latin typeface="Tahoma"/>
                    <a:cs typeface="Tahoma"/>
                  </a:rPr>
                  <a:t>of an election satisfies that</a:t>
                </a:r>
              </a:p>
              <a:p>
                <a:pPr marL="431800" algn="ctr">
                  <a:lnSpc>
                    <a:spcPct val="100000"/>
                  </a:lnSpc>
                  <a:spcBef>
                    <a:spcPts val="1130"/>
                  </a:spcBef>
                </a:pPr>
                <a14:m>
                  <m:oMathPara xmlns:m="http://schemas.openxmlformats.org/officeDocument/2006/math">
                    <m:oMathParaPr>
                      <m:jc m:val="centerGroup"/>
                    </m:oMathParaPr>
                    <m:oMath xmlns:m="http://schemas.openxmlformats.org/officeDocument/2006/math">
                      <m:r>
                        <a:rPr lang="el-GR" sz="1100" i="1" spc="-225" dirty="0" smtClean="0">
                          <a:latin typeface="Cambria Math" panose="02040503050406030204" pitchFamily="18" charset="0"/>
                          <a:cs typeface="Verdana"/>
                        </a:rPr>
                        <m:t>𝜔</m:t>
                      </m:r>
                      <m:r>
                        <a:rPr lang="el-GR" sz="1100" i="1" spc="-45" dirty="0">
                          <a:latin typeface="Cambria Math" panose="02040503050406030204" pitchFamily="18" charset="0"/>
                          <a:cs typeface="Verdana"/>
                        </a:rPr>
                        <m:t> </m:t>
                      </m:r>
                      <m:sSup>
                        <m:sSupPr>
                          <m:ctrlPr>
                            <a:rPr lang="en-MY" sz="1100" b="0" i="1" spc="-270" dirty="0" smtClean="0">
                              <a:latin typeface="Cambria Math" panose="02040503050406030204" pitchFamily="18" charset="0"/>
                              <a:ea typeface="Cambria Math" panose="02040503050406030204" pitchFamily="18" charset="0"/>
                              <a:cs typeface="Verdana"/>
                            </a:rPr>
                          </m:ctrlPr>
                        </m:sSupPr>
                        <m:e>
                          <m:r>
                            <a:rPr lang="el-GR" sz="1100" i="1" spc="-270" dirty="0">
                              <a:latin typeface="Cambria Math" panose="02040503050406030204" pitchFamily="18" charset="0"/>
                              <a:ea typeface="Cambria Math" panose="02040503050406030204" pitchFamily="18" charset="0"/>
                              <a:cs typeface="Verdana"/>
                            </a:rPr>
                            <m:t>≻</m:t>
                          </m:r>
                        </m:e>
                        <m:sup>
                          <m:r>
                            <a:rPr lang="en-MY" sz="1100" b="0" i="1" spc="-270" dirty="0" smtClean="0">
                              <a:latin typeface="Cambria Math" panose="02040503050406030204" pitchFamily="18" charset="0"/>
                              <a:ea typeface="Cambria Math" panose="02040503050406030204" pitchFamily="18" charset="0"/>
                              <a:cs typeface="Verdana"/>
                            </a:rPr>
                            <m:t>∗</m:t>
                          </m:r>
                        </m:sup>
                      </m:sSup>
                      <m:r>
                        <a:rPr lang="el-GR" sz="1200" i="1" spc="120" baseline="31250" dirty="0">
                          <a:latin typeface="Cambria Math" panose="02040503050406030204" pitchFamily="18" charset="0"/>
                          <a:cs typeface="Meiryo"/>
                        </a:rPr>
                        <m:t> </m:t>
                      </m:r>
                      <m:sSup>
                        <m:sSupPr>
                          <m:ctrlPr>
                            <a:rPr lang="en-MY" sz="1100" b="0" i="1" spc="-190" dirty="0" smtClean="0">
                              <a:latin typeface="Cambria Math" panose="02040503050406030204" pitchFamily="18" charset="0"/>
                              <a:cs typeface="Verdana"/>
                            </a:rPr>
                          </m:ctrlPr>
                        </m:sSupPr>
                        <m:e>
                          <m:r>
                            <a:rPr lang="el-GR" sz="1100" i="1" spc="-190" dirty="0">
                              <a:latin typeface="Cambria Math" panose="02040503050406030204" pitchFamily="18" charset="0"/>
                              <a:cs typeface="Verdana"/>
                            </a:rPr>
                            <m:t>𝜔</m:t>
                          </m:r>
                        </m:e>
                        <m:sup>
                          <m:r>
                            <a:rPr lang="en-MY" sz="1100" b="0" i="1" spc="-190" dirty="0" smtClean="0">
                              <a:latin typeface="Cambria Math" panose="02040503050406030204" pitchFamily="18" charset="0"/>
                              <a:cs typeface="Verdana"/>
                            </a:rPr>
                            <m:t>   </m:t>
                          </m:r>
                          <m:r>
                            <a:rPr lang="en-MY" sz="1100" b="0" i="1" spc="-190" dirty="0" smtClean="0">
                              <a:latin typeface="Cambria Math" panose="02040503050406030204" pitchFamily="18" charset="0"/>
                              <a:cs typeface="Verdana"/>
                            </a:rPr>
                            <m:t>′</m:t>
                          </m:r>
                          <m:r>
                            <a:rPr lang="en-MY" sz="1100" b="0" i="1" spc="-190" dirty="0" smtClean="0">
                              <a:latin typeface="Cambria Math" panose="02040503050406030204" pitchFamily="18" charset="0"/>
                              <a:cs typeface="Verdana"/>
                            </a:rPr>
                            <m:t>  </m:t>
                          </m:r>
                        </m:sup>
                      </m:sSup>
                    </m:oMath>
                  </m:oMathPara>
                </a14:m>
                <a:endParaRPr lang="en-MY" sz="1200" baseline="31250" dirty="0">
                  <a:latin typeface="Meiryo"/>
                  <a:cs typeface="Meiryo"/>
                </a:endParaRPr>
              </a:p>
              <a:p>
                <a:pPr marL="287338">
                  <a:lnSpc>
                    <a:spcPts val="1400"/>
                  </a:lnSpc>
                  <a:spcBef>
                    <a:spcPts val="600"/>
                  </a:spcBef>
                  <a:spcAft>
                    <a:spcPts val="600"/>
                  </a:spcAft>
                  <a:buClr>
                    <a:srgbClr val="0000FF"/>
                  </a:buClr>
                </a:pPr>
                <a:r>
                  <a:rPr lang="en-MY" sz="1100" spc="10" dirty="0">
                    <a:latin typeface="Tahoma"/>
                    <a:cs typeface="Tahoma"/>
                  </a:rPr>
                  <a:t>for all </a:t>
                </a:r>
                <a14:m>
                  <m:oMath xmlns:m="http://schemas.openxmlformats.org/officeDocument/2006/math">
                    <m:sSup>
                      <m:sSupPr>
                        <m:ctrlPr>
                          <a:rPr lang="en-MY" sz="1100" i="1" spc="10" dirty="0">
                            <a:latin typeface="Cambria Math" panose="02040503050406030204" pitchFamily="18" charset="0"/>
                            <a:cs typeface="Tahoma"/>
                          </a:rPr>
                        </m:ctrlPr>
                      </m:sSupPr>
                      <m:e>
                        <m:r>
                          <a:rPr lang="el-GR" sz="1100" spc="10" dirty="0">
                            <a:latin typeface="Cambria Math" panose="02040503050406030204" pitchFamily="18" charset="0"/>
                            <a:cs typeface="Tahoma"/>
                          </a:rPr>
                          <m:t>𝜔</m:t>
                        </m:r>
                      </m:e>
                      <m:sup>
                        <m:r>
                          <a:rPr lang="en-MY" sz="1100" spc="10" dirty="0">
                            <a:latin typeface="Cambria Math" panose="02040503050406030204" pitchFamily="18" charset="0"/>
                            <a:cs typeface="Tahoma"/>
                          </a:rPr>
                          <m:t>′</m:t>
                        </m:r>
                      </m:sup>
                    </m:sSup>
                    <m:r>
                      <a:rPr lang="en-MY" sz="1100" spc="10" dirty="0">
                        <a:latin typeface="Cambria Math" panose="02040503050406030204" pitchFamily="18" charset="0"/>
                        <a:cs typeface="Tahoma"/>
                      </a:rPr>
                      <m:t>∈ </m:t>
                    </m:r>
                    <m:r>
                      <a:rPr lang="el-GR" sz="1100" spc="10" dirty="0">
                        <a:latin typeface="Cambria Math" panose="02040503050406030204" pitchFamily="18" charset="0"/>
                        <a:cs typeface="Tahoma"/>
                      </a:rPr>
                      <m:t>Ω</m:t>
                    </m:r>
                    <m:r>
                      <a:rPr lang="el-GR" sz="1100" spc="10" dirty="0">
                        <a:latin typeface="Cambria Math" panose="02040503050406030204" pitchFamily="18" charset="0"/>
                        <a:cs typeface="Tahoma"/>
                      </a:rPr>
                      <m:t> \</m:t>
                    </m:r>
                    <m:r>
                      <m:rPr>
                        <m:lit/>
                      </m:rPr>
                      <a:rPr lang="el-GR" sz="1100" spc="10" dirty="0">
                        <a:latin typeface="Cambria Math" panose="02040503050406030204" pitchFamily="18" charset="0"/>
                        <a:cs typeface="Tahoma"/>
                      </a:rPr>
                      <m:t> </m:t>
                    </m:r>
                    <m:r>
                      <a:rPr lang="el-GR" sz="1100" spc="10" dirty="0">
                        <a:latin typeface="Cambria Math" panose="02040503050406030204" pitchFamily="18" charset="0"/>
                        <a:cs typeface="Tahoma"/>
                      </a:rPr>
                      <m:t>{</m:t>
                    </m:r>
                    <m:r>
                      <a:rPr lang="el-GR" sz="1100" spc="10" dirty="0">
                        <a:latin typeface="Cambria Math" panose="02040503050406030204" pitchFamily="18" charset="0"/>
                        <a:cs typeface="Tahoma"/>
                      </a:rPr>
                      <m:t>𝜔</m:t>
                    </m:r>
                    <m:r>
                      <a:rPr lang="el-GR" sz="1100" spc="10" dirty="0">
                        <a:latin typeface="Cambria Math" panose="02040503050406030204" pitchFamily="18" charset="0"/>
                        <a:cs typeface="Tahoma"/>
                      </a:rPr>
                      <m:t>}</m:t>
                    </m:r>
                  </m:oMath>
                </a14:m>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53341" y="739775"/>
                <a:ext cx="3915093" cy="2522422"/>
              </a:xfrm>
              <a:prstGeom prst="rect">
                <a:avLst/>
              </a:prstGeom>
              <a:blipFill>
                <a:blip r:embed="rId3"/>
                <a:stretch>
                  <a:fillRect l="-622" t="-1932" r="-1711" b="-48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25267BF9-68A4-4214-90CF-A38184A0C3BF}"/>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75DAE3D-6F00-4107-91AD-C79AC58BB215}"/>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977A45ED-BD71-4092-8776-C2BD23B8DFD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8</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65" dirty="0"/>
              <a:t>Some</a:t>
            </a:r>
            <a:r>
              <a:rPr spc="25" dirty="0"/>
              <a:t> </a:t>
            </a:r>
            <a:r>
              <a:rPr spc="-120" dirty="0"/>
              <a:t>wa</a:t>
            </a:r>
            <a:r>
              <a:rPr spc="-40" dirty="0"/>
              <a:t>ys/rules</a:t>
            </a:r>
            <a:r>
              <a:rPr spc="25" dirty="0"/>
              <a:t> </a:t>
            </a:r>
            <a:r>
              <a:rPr spc="-15" dirty="0"/>
              <a:t>to</a:t>
            </a:r>
            <a:r>
              <a:rPr spc="30" dirty="0"/>
              <a:t> </a:t>
            </a:r>
            <a:r>
              <a:rPr spc="-50" dirty="0"/>
              <a:t>ch</a:t>
            </a:r>
            <a:r>
              <a:rPr spc="-20" dirty="0"/>
              <a:t>o</a:t>
            </a:r>
            <a:r>
              <a:rPr spc="-95" dirty="0"/>
              <a:t>ose</a:t>
            </a:r>
            <a:r>
              <a:rPr spc="25" dirty="0"/>
              <a:t> </a:t>
            </a:r>
            <a:r>
              <a:rPr spc="-70" dirty="0"/>
              <a:t>a</a:t>
            </a:r>
            <a:r>
              <a:rPr spc="30" dirty="0"/>
              <a:t> </a:t>
            </a:r>
            <a:r>
              <a:rPr spc="-65" dirty="0"/>
              <a:t>winner</a:t>
            </a:r>
          </a:p>
        </p:txBody>
      </p:sp>
      <p:sp>
        <p:nvSpPr>
          <p:cNvPr id="3" name="object 3"/>
          <p:cNvSpPr txBox="1"/>
          <p:nvPr/>
        </p:nvSpPr>
        <p:spPr>
          <a:xfrm>
            <a:off x="447357" y="916029"/>
            <a:ext cx="3457893" cy="1907638"/>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Plurality</a:t>
            </a: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Plurality with elimination</a:t>
            </a: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a:t>
            </a:r>
            <a:r>
              <a:rPr sz="1100" spc="10" dirty="0" err="1">
                <a:latin typeface="Tahoma"/>
                <a:cs typeface="Tahoma"/>
              </a:rPr>
              <a:t>pproval</a:t>
            </a:r>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err="1">
                <a:latin typeface="Tahoma"/>
                <a:cs typeface="Tahoma"/>
              </a:rPr>
              <a:t>Borda</a:t>
            </a:r>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Condorcet</a:t>
            </a: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Utilitarian</a:t>
            </a: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Egalitarian</a:t>
            </a: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Sequential majority</a:t>
            </a: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 . .</a:t>
            </a:r>
          </a:p>
        </p:txBody>
      </p:sp>
      <p:sp>
        <p:nvSpPr>
          <p:cNvPr id="4" name="Date Placeholder 3">
            <a:extLst>
              <a:ext uri="{FF2B5EF4-FFF2-40B4-BE49-F238E27FC236}">
                <a16:creationId xmlns:a16="http://schemas.microsoft.com/office/drawing/2014/main" id="{E1B4F03E-C919-42E6-A9E7-FD8BE694205F}"/>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4EA45D71-AF7E-4987-8053-A52FA425789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7D2BA306-AA93-419E-9A65-8FB784911CE8}"/>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9</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Plurali</a:t>
            </a:r>
            <a:r>
              <a:rPr spc="-40" dirty="0"/>
              <a:t>t</a:t>
            </a:r>
            <a:r>
              <a:rPr spc="-65" dirty="0"/>
              <a:t>y</a:t>
            </a:r>
          </a:p>
        </p:txBody>
      </p:sp>
      <p:sp>
        <p:nvSpPr>
          <p:cNvPr id="3" name="object 3"/>
          <p:cNvSpPr txBox="1">
            <a:spLocks noGrp="1"/>
          </p:cNvSpPr>
          <p:nvPr>
            <p:ph type="body" idx="1"/>
          </p:nvPr>
        </p:nvSpPr>
        <p:spPr>
          <a:xfrm>
            <a:off x="347294" y="766200"/>
            <a:ext cx="3915511" cy="1708282"/>
          </a:xfrm>
          <a:prstGeom prst="rect">
            <a:avLst/>
          </a:prstGeom>
        </p:spPr>
        <p:txBody>
          <a:bodyPr vert="horz" wrap="square" lIns="0" tIns="475101"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kern="1200" spc="10" dirty="0"/>
              <a:t>Each candidate gets 1 vote for every preference order </a:t>
            </a:r>
            <a:r>
              <a:rPr lang="en-US" kern="1200" spc="10" dirty="0"/>
              <a:t>that ranks </a:t>
            </a:r>
            <a:r>
              <a:rPr kern="1200" spc="10" dirty="0"/>
              <a:t>it first</a:t>
            </a:r>
          </a:p>
          <a:p>
            <a:pPr marL="284163" indent="-230188" algn="l" rtl="0">
              <a:lnSpc>
                <a:spcPts val="1400"/>
              </a:lnSpc>
              <a:spcBef>
                <a:spcPts val="330"/>
              </a:spcBef>
              <a:buClr>
                <a:srgbClr val="0000FF"/>
              </a:buClr>
              <a:buFont typeface="Wingdings 3" panose="05040102010807070707" pitchFamily="18" charset="2"/>
              <a:buChar char=""/>
            </a:pPr>
            <a:r>
              <a:rPr kern="1200" spc="10" dirty="0"/>
              <a:t>The candidate with the largest number of votes wins</a:t>
            </a:r>
          </a:p>
          <a:p>
            <a:pPr marL="284163" indent="-230188" algn="l" rtl="0">
              <a:lnSpc>
                <a:spcPts val="1400"/>
              </a:lnSpc>
              <a:spcBef>
                <a:spcPts val="330"/>
              </a:spcBef>
              <a:buClr>
                <a:srgbClr val="0000FF"/>
              </a:buClr>
              <a:buFont typeface="Wingdings 3" panose="05040102010807070707" pitchFamily="18" charset="2"/>
              <a:buChar char=""/>
            </a:pPr>
            <a:r>
              <a:rPr kern="1200" spc="10" dirty="0"/>
              <a:t>Very limited way of expressing preferences</a:t>
            </a:r>
          </a:p>
          <a:p>
            <a:pPr marL="284163" indent="-230188" algn="l" rtl="0">
              <a:lnSpc>
                <a:spcPts val="1400"/>
              </a:lnSpc>
              <a:spcBef>
                <a:spcPts val="330"/>
              </a:spcBef>
              <a:buClr>
                <a:srgbClr val="0000FF"/>
              </a:buClr>
              <a:buFont typeface="Wingdings 3" panose="05040102010807070707" pitchFamily="18" charset="2"/>
              <a:buChar char=""/>
            </a:pPr>
            <a:r>
              <a:rPr kern="1200" spc="10" dirty="0"/>
              <a:t>It may require a tie-breaking rule</a:t>
            </a:r>
          </a:p>
          <a:p>
            <a:pPr marL="284163" indent="-230188" algn="l" rtl="0">
              <a:lnSpc>
                <a:spcPts val="1400"/>
              </a:lnSpc>
              <a:spcBef>
                <a:spcPts val="330"/>
              </a:spcBef>
              <a:buClr>
                <a:srgbClr val="0000FF"/>
              </a:buClr>
              <a:buFont typeface="Wingdings 3" panose="05040102010807070707" pitchFamily="18" charset="2"/>
              <a:buChar char=""/>
            </a:pPr>
            <a:r>
              <a:rPr kern="1200" spc="10" dirty="0"/>
              <a:t>Example...</a:t>
            </a:r>
          </a:p>
        </p:txBody>
      </p:sp>
      <p:sp>
        <p:nvSpPr>
          <p:cNvPr id="4" name="Date Placeholder 3">
            <a:extLst>
              <a:ext uri="{FF2B5EF4-FFF2-40B4-BE49-F238E27FC236}">
                <a16:creationId xmlns:a16="http://schemas.microsoft.com/office/drawing/2014/main" id="{94AEF88B-3BC6-44DD-8021-328A6C13C8A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0891530E-4FCE-4A28-93E0-E89EF5612A5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0EF2CA46-0FA2-4451-9B20-B7401FBD723D}"/>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10</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dirty="0"/>
              <a:t>Plurali</a:t>
            </a:r>
            <a:r>
              <a:rPr spc="-40" dirty="0"/>
              <a:t>t</a:t>
            </a:r>
            <a:r>
              <a:rPr spc="-65" dirty="0"/>
              <a:t>y</a:t>
            </a:r>
          </a:p>
        </p:txBody>
      </p:sp>
      <p:sp>
        <p:nvSpPr>
          <p:cNvPr id="3" name="object 3"/>
          <p:cNvSpPr txBox="1">
            <a:spLocks noGrp="1"/>
          </p:cNvSpPr>
          <p:nvPr>
            <p:ph type="body" idx="1"/>
          </p:nvPr>
        </p:nvSpPr>
        <p:spPr>
          <a:xfrm>
            <a:off x="347294" y="766200"/>
            <a:ext cx="3915511" cy="830997"/>
          </a:xfrm>
          <a:prstGeom prst="rect">
            <a:avLst/>
          </a:prstGeom>
        </p:spPr>
        <p:txBody>
          <a:bodyPr vert="horz" wrap="square" lIns="0" tIns="0"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kern="1200" spc="10" dirty="0"/>
              <a:t>Agents/Voters: N = {1, 2, 3, 4, 5}</a:t>
            </a:r>
          </a:p>
          <a:p>
            <a:pPr marL="284163" indent="-230188" algn="l" rtl="0">
              <a:lnSpc>
                <a:spcPts val="1400"/>
              </a:lnSpc>
              <a:spcBef>
                <a:spcPts val="330"/>
              </a:spcBef>
              <a:buClr>
                <a:srgbClr val="0000FF"/>
              </a:buClr>
              <a:buFont typeface="Wingdings 3" panose="05040102010807070707" pitchFamily="18" charset="2"/>
              <a:buChar char=""/>
            </a:pPr>
            <a:r>
              <a:rPr kern="1200" spc="10" dirty="0"/>
              <a:t>Outcomes/Candidates: Ω = {L, C, R}</a:t>
            </a:r>
          </a:p>
          <a:p>
            <a:pPr marL="284163" indent="-230188" algn="l" rtl="0">
              <a:lnSpc>
                <a:spcPts val="1400"/>
              </a:lnSpc>
              <a:spcBef>
                <a:spcPts val="330"/>
              </a:spcBef>
              <a:buClr>
                <a:srgbClr val="0000FF"/>
              </a:buClr>
              <a:buFont typeface="Wingdings 3" panose="05040102010807070707" pitchFamily="18" charset="2"/>
              <a:buChar char=""/>
            </a:pPr>
            <a:r>
              <a:rPr kern="1200" spc="10" dirty="0"/>
              <a:t>Preference orderings: Π(Ω)</a:t>
            </a:r>
          </a:p>
          <a:p>
            <a:pPr marL="284163" indent="-230188" algn="l" rtl="0">
              <a:lnSpc>
                <a:spcPts val="1400"/>
              </a:lnSpc>
              <a:spcBef>
                <a:spcPts val="330"/>
              </a:spcBef>
              <a:buClr>
                <a:srgbClr val="0000FF"/>
              </a:buClr>
              <a:buFont typeface="Wingdings 3" panose="05040102010807070707" pitchFamily="18" charset="2"/>
              <a:buChar char=""/>
            </a:pPr>
            <a:r>
              <a:rPr kern="1200" spc="10" dirty="0"/>
              <a:t>Social </a:t>
            </a:r>
            <a:r>
              <a:rPr i="1" kern="1200" spc="10" dirty="0"/>
              <a:t>choice</a:t>
            </a:r>
            <a:r>
              <a:rPr kern="1200" spc="10" dirty="0"/>
              <a:t> function:</a:t>
            </a:r>
          </a:p>
        </p:txBody>
      </p:sp>
      <mc:AlternateContent xmlns:mc="http://schemas.openxmlformats.org/markup-compatibility/2006">
        <mc:Choice xmlns:a14="http://schemas.microsoft.com/office/drawing/2010/main" Requires="a14">
          <p:sp>
            <p:nvSpPr>
              <p:cNvPr id="4" name="object 4"/>
              <p:cNvSpPr txBox="1"/>
              <p:nvPr/>
            </p:nvSpPr>
            <p:spPr>
              <a:xfrm>
                <a:off x="901484" y="1702128"/>
                <a:ext cx="2772093" cy="1079783"/>
              </a:xfrm>
              <a:prstGeom prst="rect">
                <a:avLst/>
              </a:prstGeom>
            </p:spPr>
            <p:txBody>
              <a:bodyPr vert="horz" wrap="square" lIns="0" tIns="0" rIns="0" bIns="0" rtlCol="0">
                <a:spAutoFit/>
              </a:bodyPr>
              <a:lstStyle/>
              <a:p>
                <a:pPr marL="671195">
                  <a:lnSpc>
                    <a:spcPct val="100000"/>
                  </a:lnSpc>
                </a:pPr>
                <a14:m>
                  <m:oMathPara xmlns:m="http://schemas.openxmlformats.org/officeDocument/2006/math">
                    <m:oMathParaPr>
                      <m:jc m:val="centerGroup"/>
                    </m:oMathParaPr>
                    <m:oMath xmlns:m="http://schemas.openxmlformats.org/officeDocument/2006/math">
                      <m:r>
                        <a:rPr lang="el-GR" sz="1100" i="1" spc="-114" dirty="0" smtClean="0">
                          <a:latin typeface="Cambria Math" panose="02040503050406030204" pitchFamily="18" charset="0"/>
                          <a:cs typeface="Trebuchet MS"/>
                        </a:rPr>
                        <m:t>𝑓</m:t>
                      </m:r>
                      <m:r>
                        <a:rPr lang="el-GR" sz="1100" i="1" spc="-114" dirty="0" smtClean="0">
                          <a:latin typeface="Cambria Math" panose="02040503050406030204" pitchFamily="18" charset="0"/>
                          <a:cs typeface="Trebuchet MS"/>
                        </a:rPr>
                        <m:t>  : </m:t>
                      </m:r>
                      <m:sSub>
                        <m:sSubPr>
                          <m:ctrlPr>
                            <a:rPr lang="el-GR" sz="1100" b="0" i="1" spc="25" dirty="0" smtClean="0">
                              <a:latin typeface="Cambria Math" panose="02040503050406030204" pitchFamily="18" charset="0"/>
                              <a:cs typeface="Tahoma"/>
                            </a:rPr>
                          </m:ctrlPr>
                        </m:sSubPr>
                        <m:e>
                          <m:r>
                            <m:rPr>
                              <m:sty m:val="p"/>
                            </m:rPr>
                            <a:rPr lang="el-GR" sz="1100" i="0" spc="25" dirty="0">
                              <a:latin typeface="Cambria Math" panose="02040503050406030204" pitchFamily="18" charset="0"/>
                              <a:cs typeface="Tahoma"/>
                            </a:rPr>
                            <m:t>Π</m:t>
                          </m:r>
                        </m:e>
                        <m:sub>
                          <m:r>
                            <a:rPr lang="en-US" sz="1100" b="0" i="1" spc="25" dirty="0" smtClean="0">
                              <a:latin typeface="Cambria Math" panose="02040503050406030204" pitchFamily="18" charset="0"/>
                              <a:cs typeface="Tahoma"/>
                            </a:rPr>
                            <m:t>1</m:t>
                          </m:r>
                        </m:sub>
                      </m:sSub>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 . . × </m:t>
                      </m:r>
                      <m:sSub>
                        <m:sSubPr>
                          <m:ctrlPr>
                            <a:rPr lang="en-US" sz="1100" b="0" i="1" spc="25" dirty="0" smtClean="0">
                              <a:latin typeface="Cambria Math" panose="02040503050406030204" pitchFamily="18" charset="0"/>
                              <a:cs typeface="Meiryo"/>
                            </a:rPr>
                          </m:ctrlPr>
                        </m:sSubPr>
                        <m:e>
                          <m:r>
                            <m:rPr>
                              <m:sty m:val="p"/>
                            </m:rPr>
                            <a:rPr lang="el-GR" sz="1100" i="0" spc="25" dirty="0">
                              <a:latin typeface="Cambria Math" panose="02040503050406030204" pitchFamily="18" charset="0"/>
                              <a:cs typeface="Tahoma"/>
                            </a:rPr>
                            <m:t>Π</m:t>
                          </m:r>
                        </m:e>
                        <m:sub>
                          <m:r>
                            <a:rPr lang="en-US" sz="1100" b="0" i="1" spc="25" dirty="0" smtClean="0">
                              <a:latin typeface="Cambria Math" panose="02040503050406030204" pitchFamily="18" charset="0"/>
                              <a:cs typeface="Tahoma"/>
                            </a:rPr>
                            <m:t>𝑛</m:t>
                          </m:r>
                        </m:sub>
                      </m:sSub>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smtClean="0">
                          <a:latin typeface="Cambria Math" panose="02040503050406030204" pitchFamily="18" charset="0"/>
                          <a:cs typeface="Tahoma"/>
                        </a:rPr>
                        <m:t>)</m:t>
                      </m:r>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oMath>
                  </m:oMathPara>
                </a14:m>
                <a:endParaRPr lang="el-GR" sz="1100" dirty="0">
                  <a:latin typeface="Tahoma"/>
                  <a:cs typeface="Tahoma"/>
                </a:endParaRPr>
              </a:p>
              <a:p>
                <a:pPr marL="12700">
                  <a:lnSpc>
                    <a:spcPts val="1200"/>
                  </a:lnSpc>
                  <a:spcBef>
                    <a:spcPts val="1070"/>
                  </a:spcBef>
                </a:pPr>
                <a14:m>
                  <m:oMath xmlns:m="http://schemas.openxmlformats.org/officeDocument/2006/math">
                    <m:r>
                      <a:rPr lang="el-GR" sz="1000" i="1" spc="30" dirty="0" smtClean="0">
                        <a:latin typeface="Cambria Math" panose="02040503050406030204" pitchFamily="18" charset="0"/>
                        <a:cs typeface="Trebuchet MS"/>
                      </a:rPr>
                      <m:t>𝐿</m:t>
                    </m:r>
                    <m:r>
                      <a:rPr lang="el-GR" sz="1000" i="1" spc="-25" dirty="0">
                        <a:latin typeface="Cambria Math" panose="02040503050406030204" pitchFamily="18" charset="0"/>
                        <a:cs typeface="Trebuchet MS"/>
                      </a:rPr>
                      <m:t> </m:t>
                    </m:r>
                    <m:r>
                      <a:rPr lang="en-US" sz="1000" b="0" i="1" spc="-25" dirty="0" smtClean="0">
                        <a:latin typeface="Cambria Math" panose="02040503050406030204" pitchFamily="18" charset="0"/>
                        <a:cs typeface="Trebuchet MS"/>
                      </a:rPr>
                      <m:t> </m:t>
                    </m:r>
                    <m:r>
                      <a:rPr lang="el-GR" sz="1000" i="1" spc="-240" dirty="0">
                        <a:latin typeface="Cambria Math" panose="02040503050406030204" pitchFamily="18" charset="0"/>
                        <a:ea typeface="Cambria Math" panose="02040503050406030204" pitchFamily="18" charset="0"/>
                        <a:cs typeface="Trebuchet MS"/>
                      </a:rPr>
                      <m:t>≻</m:t>
                    </m:r>
                    <m:r>
                      <a:rPr lang="el-GR" sz="1050" i="1" spc="-120" baseline="-11904" dirty="0">
                        <a:latin typeface="Cambria Math" panose="02040503050406030204" pitchFamily="18" charset="0"/>
                        <a:cs typeface="Lucida Sans Unicode"/>
                      </a:rPr>
                      <m:t>1</m:t>
                    </m:r>
                    <m:r>
                      <a:rPr lang="el-GR" sz="1050" i="1" spc="157" baseline="-11904" dirty="0">
                        <a:latin typeface="Cambria Math" panose="02040503050406030204" pitchFamily="18" charset="0"/>
                        <a:cs typeface="Lucida Sans Unicode"/>
                      </a:rPr>
                      <m:t> </m:t>
                    </m:r>
                    <m:r>
                      <a:rPr lang="en-US" sz="1050" b="0" i="1" spc="157" baseline="-11904" dirty="0" smtClean="0">
                        <a:latin typeface="Cambria Math" panose="02040503050406030204" pitchFamily="18" charset="0"/>
                        <a:cs typeface="Lucida Sans Unicode"/>
                      </a:rPr>
                      <m:t> </m:t>
                    </m:r>
                    <m:r>
                      <a:rPr lang="el-GR" sz="1000" i="1" spc="35" dirty="0">
                        <a:latin typeface="Cambria Math" panose="02040503050406030204" pitchFamily="18" charset="0"/>
                        <a:cs typeface="Trebuchet MS"/>
                      </a:rPr>
                      <m:t>𝐶</m:t>
                    </m:r>
                    <m:r>
                      <a:rPr lang="el-GR" sz="1000" i="1" spc="-240" dirty="0" smtClean="0">
                        <a:latin typeface="Cambria Math" panose="02040503050406030204" pitchFamily="18" charset="0"/>
                        <a:ea typeface="Cambria Math" panose="02040503050406030204" pitchFamily="18" charset="0"/>
                        <a:cs typeface="Meiryo"/>
                      </a:rPr>
                      <m:t>≻</m:t>
                    </m:r>
                    <m:r>
                      <a:rPr lang="el-GR" sz="1050" i="1" spc="-120" baseline="-11904" dirty="0">
                        <a:latin typeface="Cambria Math" panose="02040503050406030204" pitchFamily="18" charset="0"/>
                        <a:cs typeface="Lucida Sans Unicode"/>
                      </a:rPr>
                      <m:t>1</m:t>
                    </m:r>
                    <m:r>
                      <a:rPr lang="el-GR" sz="1050" i="1" spc="157" baseline="-11904" dirty="0">
                        <a:latin typeface="Cambria Math" panose="02040503050406030204" pitchFamily="18" charset="0"/>
                        <a:cs typeface="Lucida Sans Unicode"/>
                      </a:rPr>
                      <m:t> </m:t>
                    </m:r>
                    <m:r>
                      <a:rPr lang="el-GR" sz="1000" i="1" spc="55" dirty="0">
                        <a:latin typeface="Cambria Math" panose="02040503050406030204" pitchFamily="18" charset="0"/>
                        <a:cs typeface="Trebuchet MS"/>
                      </a:rPr>
                      <m:t>𝑅</m:t>
                    </m:r>
                  </m:oMath>
                </a14:m>
                <a:r>
                  <a:rPr lang="el-GR" sz="1000" dirty="0">
                    <a:latin typeface="Trebuchet MS"/>
                    <a:cs typeface="Trebuchet MS"/>
                  </a:rPr>
                  <a:t> </a:t>
                </a:r>
              </a:p>
              <a:p>
                <a:pPr marL="12700">
                  <a:lnSpc>
                    <a:spcPts val="1195"/>
                  </a:lnSpc>
                </a:pPr>
                <a14:m>
                  <m:oMath xmlns:m="http://schemas.openxmlformats.org/officeDocument/2006/math">
                    <m:r>
                      <a:rPr lang="el-GR" sz="1000" i="1" spc="35" dirty="0" smtClean="0">
                        <a:latin typeface="Cambria Math" panose="02040503050406030204" pitchFamily="18" charset="0"/>
                        <a:cs typeface="Trebuchet MS"/>
                      </a:rPr>
                      <m:t>𝐶</m:t>
                    </m:r>
                    <m:r>
                      <a:rPr lang="el-GR" sz="1000" i="1" spc="95" dirty="0">
                        <a:latin typeface="Cambria Math" panose="02040503050406030204" pitchFamily="18" charset="0"/>
                        <a:cs typeface="Trebuchet MS"/>
                      </a:rPr>
                      <m:t> </m:t>
                    </m:r>
                    <m:r>
                      <a:rPr lang="el-GR" sz="1000" i="1" spc="-240" dirty="0" smtClean="0">
                        <a:latin typeface="Cambria Math" panose="02040503050406030204" pitchFamily="18" charset="0"/>
                        <a:ea typeface="Cambria Math" panose="02040503050406030204" pitchFamily="18" charset="0"/>
                        <a:cs typeface="Meiryo"/>
                      </a:rPr>
                      <m:t>≻</m:t>
                    </m:r>
                    <m:r>
                      <a:rPr lang="el-GR" sz="1050" i="1" spc="-120" baseline="-11904" dirty="0">
                        <a:latin typeface="Cambria Math" panose="02040503050406030204" pitchFamily="18" charset="0"/>
                        <a:cs typeface="Lucida Sans Unicode"/>
                      </a:rPr>
                      <m:t>2</m:t>
                    </m:r>
                    <m:r>
                      <a:rPr lang="el-GR" sz="1050" i="1" spc="157" baseline="-11904" dirty="0">
                        <a:latin typeface="Cambria Math" panose="02040503050406030204" pitchFamily="18" charset="0"/>
                        <a:cs typeface="Lucida Sans Unicode"/>
                      </a:rPr>
                      <m:t> </m:t>
                    </m:r>
                    <m:r>
                      <a:rPr lang="en-US" sz="1050" b="0" i="1" spc="157" baseline="-11904" dirty="0" smtClean="0">
                        <a:latin typeface="Cambria Math" panose="02040503050406030204" pitchFamily="18" charset="0"/>
                        <a:cs typeface="Lucida Sans Unicode"/>
                      </a:rPr>
                      <m:t> </m:t>
                    </m:r>
                    <m:r>
                      <a:rPr lang="el-GR" sz="1000" i="1" spc="30" dirty="0">
                        <a:latin typeface="Cambria Math" panose="02040503050406030204" pitchFamily="18" charset="0"/>
                        <a:cs typeface="Trebuchet MS"/>
                      </a:rPr>
                      <m:t>𝐿</m:t>
                    </m:r>
                    <m:r>
                      <a:rPr lang="el-GR" sz="1000" i="1" spc="-25" dirty="0">
                        <a:latin typeface="Cambria Math" panose="02040503050406030204" pitchFamily="18" charset="0"/>
                        <a:cs typeface="Trebuchet MS"/>
                      </a:rPr>
                      <m:t> </m:t>
                    </m:r>
                    <m:r>
                      <a:rPr lang="el-GR" sz="1000" i="1" spc="-240" dirty="0" smtClean="0">
                        <a:latin typeface="Cambria Math" panose="02040503050406030204" pitchFamily="18" charset="0"/>
                        <a:ea typeface="Cambria Math" panose="02040503050406030204" pitchFamily="18" charset="0"/>
                        <a:cs typeface="Meiryo"/>
                      </a:rPr>
                      <m:t>≻</m:t>
                    </m:r>
                    <m:r>
                      <a:rPr lang="el-GR" sz="1050" i="1" spc="-120" baseline="-11904" dirty="0">
                        <a:latin typeface="Cambria Math" panose="02040503050406030204" pitchFamily="18" charset="0"/>
                        <a:cs typeface="Lucida Sans Unicode"/>
                      </a:rPr>
                      <m:t>2</m:t>
                    </m:r>
                    <m:r>
                      <a:rPr lang="el-GR" sz="1050" i="1" spc="157" baseline="-11904" dirty="0">
                        <a:latin typeface="Cambria Math" panose="02040503050406030204" pitchFamily="18" charset="0"/>
                        <a:cs typeface="Lucida Sans Unicode"/>
                      </a:rPr>
                      <m:t> </m:t>
                    </m:r>
                    <m:r>
                      <a:rPr lang="el-GR" sz="1000" i="1" spc="55" dirty="0">
                        <a:latin typeface="Cambria Math" panose="02040503050406030204" pitchFamily="18" charset="0"/>
                        <a:cs typeface="Trebuchet MS"/>
                      </a:rPr>
                      <m:t>𝑅</m:t>
                    </m:r>
                  </m:oMath>
                </a14:m>
                <a:r>
                  <a:rPr lang="el-GR" sz="1000" dirty="0">
                    <a:latin typeface="Trebuchet MS"/>
                    <a:cs typeface="Trebuchet MS"/>
                  </a:rPr>
                  <a:t> </a:t>
                </a:r>
              </a:p>
              <a:p>
                <a:pPr marL="12700">
                  <a:lnSpc>
                    <a:spcPts val="1195"/>
                  </a:lnSpc>
                </a:pPr>
                <a14:m>
                  <m:oMath xmlns:m="http://schemas.openxmlformats.org/officeDocument/2006/math">
                    <m:r>
                      <a:rPr lang="el-GR" sz="1000" i="1" spc="55" dirty="0" smtClean="0">
                        <a:latin typeface="Cambria Math" panose="02040503050406030204" pitchFamily="18" charset="0"/>
                        <a:cs typeface="Trebuchet MS"/>
                      </a:rPr>
                      <m:t>𝑅</m:t>
                    </m:r>
                    <m:r>
                      <a:rPr lang="en-US" sz="1000" b="0" i="1" spc="55" dirty="0" smtClean="0">
                        <a:latin typeface="Cambria Math" panose="02040503050406030204" pitchFamily="18" charset="0"/>
                        <a:cs typeface="Trebuchet MS"/>
                      </a:rPr>
                      <m:t> </m:t>
                    </m:r>
                    <m:r>
                      <a:rPr lang="el-GR" sz="1000" i="1" spc="-240" dirty="0">
                        <a:latin typeface="Cambria Math" panose="02040503050406030204" pitchFamily="18" charset="0"/>
                        <a:ea typeface="Cambria Math" panose="02040503050406030204" pitchFamily="18" charset="0"/>
                        <a:cs typeface="Meiryo"/>
                      </a:rPr>
                      <m:t>≻</m:t>
                    </m:r>
                    <m:r>
                      <a:rPr lang="el-GR" sz="1050" i="1" spc="-120" baseline="-11904" dirty="0">
                        <a:latin typeface="Cambria Math" panose="02040503050406030204" pitchFamily="18" charset="0"/>
                        <a:cs typeface="Lucida Sans Unicode"/>
                      </a:rPr>
                      <m:t>3</m:t>
                    </m:r>
                    <m:r>
                      <a:rPr lang="en-US" sz="1050" b="0" i="1" spc="-120" baseline="-11904" dirty="0" smtClean="0">
                        <a:latin typeface="Cambria Math" panose="02040503050406030204" pitchFamily="18" charset="0"/>
                        <a:cs typeface="Lucida Sans Unicode"/>
                      </a:rPr>
                      <m:t>      </m:t>
                    </m:r>
                    <m:r>
                      <a:rPr lang="el-GR" sz="1000" i="1" spc="35" dirty="0">
                        <a:latin typeface="Cambria Math" panose="02040503050406030204" pitchFamily="18" charset="0"/>
                        <a:cs typeface="Trebuchet MS"/>
                      </a:rPr>
                      <m:t>𝐶</m:t>
                    </m:r>
                    <m:r>
                      <a:rPr lang="el-GR" sz="1000" i="1" spc="95" dirty="0">
                        <a:latin typeface="Cambria Math" panose="02040503050406030204" pitchFamily="18" charset="0"/>
                        <a:cs typeface="Trebuchet MS"/>
                      </a:rPr>
                      <m:t> </m:t>
                    </m:r>
                    <m:r>
                      <a:rPr lang="el-GR" sz="1000" i="1" spc="-240" dirty="0" smtClean="0">
                        <a:latin typeface="Cambria Math" panose="02040503050406030204" pitchFamily="18" charset="0"/>
                        <a:ea typeface="Cambria Math" panose="02040503050406030204" pitchFamily="18" charset="0"/>
                        <a:cs typeface="Meiryo"/>
                      </a:rPr>
                      <m:t>≻</m:t>
                    </m:r>
                    <m:r>
                      <a:rPr lang="el-GR" sz="1050" i="1" spc="-120" baseline="-11904" dirty="0">
                        <a:latin typeface="Cambria Math" panose="02040503050406030204" pitchFamily="18" charset="0"/>
                        <a:cs typeface="Lucida Sans Unicode"/>
                      </a:rPr>
                      <m:t>3</m:t>
                    </m:r>
                    <m:r>
                      <a:rPr lang="el-GR" sz="1050" i="1" spc="157" baseline="-11904" dirty="0">
                        <a:latin typeface="Cambria Math" panose="02040503050406030204" pitchFamily="18" charset="0"/>
                        <a:cs typeface="Lucida Sans Unicode"/>
                      </a:rPr>
                      <m:t> </m:t>
                    </m:r>
                    <m:r>
                      <a:rPr lang="el-GR" sz="1000" i="1" spc="30" dirty="0">
                        <a:latin typeface="Cambria Math" panose="02040503050406030204" pitchFamily="18" charset="0"/>
                        <a:cs typeface="Trebuchet MS"/>
                      </a:rPr>
                      <m:t>𝐿</m:t>
                    </m:r>
                  </m:oMath>
                </a14:m>
                <a:r>
                  <a:rPr lang="el-GR" sz="1000" dirty="0">
                    <a:latin typeface="Trebuchet MS"/>
                    <a:cs typeface="Trebuchet MS"/>
                  </a:rPr>
                  <a:t> </a:t>
                </a:r>
              </a:p>
              <a:p>
                <a:pPr marL="12700">
                  <a:lnSpc>
                    <a:spcPts val="1195"/>
                  </a:lnSpc>
                </a:pPr>
                <a14:m>
                  <m:oMath xmlns:m="http://schemas.openxmlformats.org/officeDocument/2006/math">
                    <m:r>
                      <a:rPr lang="el-GR" sz="1000" i="1" spc="35" dirty="0" smtClean="0">
                        <a:latin typeface="Cambria Math" panose="02040503050406030204" pitchFamily="18" charset="0"/>
                        <a:cs typeface="Trebuchet MS"/>
                      </a:rPr>
                      <m:t>𝐶</m:t>
                    </m:r>
                    <m:r>
                      <a:rPr lang="el-GR" sz="1000" i="1" spc="95" dirty="0">
                        <a:latin typeface="Cambria Math" panose="02040503050406030204" pitchFamily="18" charset="0"/>
                        <a:cs typeface="Trebuchet MS"/>
                      </a:rPr>
                      <m:t> </m:t>
                    </m:r>
                    <m:r>
                      <a:rPr lang="el-GR" sz="1000" i="1" spc="-240" dirty="0" smtClean="0">
                        <a:latin typeface="Cambria Math" panose="02040503050406030204" pitchFamily="18" charset="0"/>
                        <a:ea typeface="Cambria Math" panose="02040503050406030204" pitchFamily="18" charset="0"/>
                        <a:cs typeface="Meiryo"/>
                      </a:rPr>
                      <m:t>≻</m:t>
                    </m:r>
                    <m:r>
                      <a:rPr lang="el-GR" sz="1050" i="1" spc="-120" baseline="-11904" dirty="0">
                        <a:latin typeface="Cambria Math" panose="02040503050406030204" pitchFamily="18" charset="0"/>
                        <a:cs typeface="Lucida Sans Unicode"/>
                      </a:rPr>
                      <m:t>4</m:t>
                    </m:r>
                    <m:r>
                      <a:rPr lang="el-GR" sz="1050" i="1" spc="157" baseline="-11904" dirty="0">
                        <a:latin typeface="Cambria Math" panose="02040503050406030204" pitchFamily="18" charset="0"/>
                        <a:cs typeface="Lucida Sans Unicode"/>
                      </a:rPr>
                      <m:t> </m:t>
                    </m:r>
                    <m:r>
                      <a:rPr lang="en-US" sz="1050" b="0" i="1" spc="157" baseline="-11904" dirty="0" smtClean="0">
                        <a:latin typeface="Cambria Math" panose="02040503050406030204" pitchFamily="18" charset="0"/>
                        <a:cs typeface="Lucida Sans Unicode"/>
                      </a:rPr>
                      <m:t> </m:t>
                    </m:r>
                    <m:r>
                      <a:rPr lang="el-GR" sz="1000" i="1" spc="30" dirty="0">
                        <a:latin typeface="Cambria Math" panose="02040503050406030204" pitchFamily="18" charset="0"/>
                        <a:cs typeface="Trebuchet MS"/>
                      </a:rPr>
                      <m:t>𝐿</m:t>
                    </m:r>
                    <m:r>
                      <a:rPr lang="el-GR" sz="1000" i="1" spc="-25" dirty="0">
                        <a:latin typeface="Cambria Math" panose="02040503050406030204" pitchFamily="18" charset="0"/>
                        <a:cs typeface="Trebuchet MS"/>
                      </a:rPr>
                      <m:t> </m:t>
                    </m:r>
                    <m:r>
                      <a:rPr lang="el-GR" sz="1000" i="1" spc="-240" dirty="0" smtClean="0">
                        <a:latin typeface="Cambria Math" panose="02040503050406030204" pitchFamily="18" charset="0"/>
                        <a:ea typeface="Cambria Math" panose="02040503050406030204" pitchFamily="18" charset="0"/>
                        <a:cs typeface="Meiryo"/>
                      </a:rPr>
                      <m:t>≻</m:t>
                    </m:r>
                    <m:r>
                      <a:rPr lang="el-GR" sz="1050" i="1" spc="-120" baseline="-11904" dirty="0">
                        <a:latin typeface="Cambria Math" panose="02040503050406030204" pitchFamily="18" charset="0"/>
                        <a:cs typeface="Lucida Sans Unicode"/>
                      </a:rPr>
                      <m:t>4</m:t>
                    </m:r>
                    <m:r>
                      <a:rPr lang="el-GR" sz="1050" i="1" spc="157" baseline="-11904" dirty="0">
                        <a:latin typeface="Cambria Math" panose="02040503050406030204" pitchFamily="18" charset="0"/>
                        <a:cs typeface="Lucida Sans Unicode"/>
                      </a:rPr>
                      <m:t> </m:t>
                    </m:r>
                    <m:r>
                      <a:rPr lang="el-GR" sz="1000" i="1" spc="55" dirty="0">
                        <a:latin typeface="Cambria Math" panose="02040503050406030204" pitchFamily="18" charset="0"/>
                        <a:cs typeface="Trebuchet MS"/>
                      </a:rPr>
                      <m:t>𝑅</m:t>
                    </m:r>
                  </m:oMath>
                </a14:m>
                <a:r>
                  <a:rPr lang="el-GR" sz="1000" dirty="0">
                    <a:latin typeface="Trebuchet MS"/>
                    <a:cs typeface="Trebuchet MS"/>
                  </a:rPr>
                  <a:t> </a:t>
                </a:r>
              </a:p>
              <a:p>
                <a:pPr marL="12700">
                  <a:lnSpc>
                    <a:spcPts val="1200"/>
                  </a:lnSpc>
                </a:pPr>
                <a14:m>
                  <m:oMath xmlns:m="http://schemas.openxmlformats.org/officeDocument/2006/math">
                    <m:r>
                      <a:rPr lang="el-GR" sz="1000" i="1" spc="35" dirty="0" smtClean="0">
                        <a:latin typeface="Cambria Math" panose="02040503050406030204" pitchFamily="18" charset="0"/>
                        <a:cs typeface="Trebuchet MS"/>
                      </a:rPr>
                      <m:t>𝐶</m:t>
                    </m:r>
                    <m:r>
                      <a:rPr lang="el-GR" sz="1000" i="1" spc="95" dirty="0">
                        <a:latin typeface="Cambria Math" panose="02040503050406030204" pitchFamily="18" charset="0"/>
                        <a:cs typeface="Trebuchet MS"/>
                      </a:rPr>
                      <m:t> </m:t>
                    </m:r>
                    <m:r>
                      <a:rPr lang="el-GR" sz="1000" i="1" spc="-240" dirty="0" smtClean="0">
                        <a:latin typeface="Cambria Math" panose="02040503050406030204" pitchFamily="18" charset="0"/>
                        <a:ea typeface="Cambria Math" panose="02040503050406030204" pitchFamily="18" charset="0"/>
                        <a:cs typeface="Meiryo"/>
                      </a:rPr>
                      <m:t>≻</m:t>
                    </m:r>
                    <m:r>
                      <a:rPr lang="el-GR" sz="1050" i="1" spc="-120" baseline="-11904" dirty="0">
                        <a:latin typeface="Cambria Math" panose="02040503050406030204" pitchFamily="18" charset="0"/>
                        <a:cs typeface="Lucida Sans Unicode"/>
                      </a:rPr>
                      <m:t>5</m:t>
                    </m:r>
                    <m:r>
                      <a:rPr lang="el-GR" sz="1050" i="1" spc="157" baseline="-11904" dirty="0">
                        <a:latin typeface="Cambria Math" panose="02040503050406030204" pitchFamily="18" charset="0"/>
                        <a:cs typeface="Lucida Sans Unicode"/>
                      </a:rPr>
                      <m:t> </m:t>
                    </m:r>
                    <m:r>
                      <a:rPr lang="en-US" sz="1050" b="0" i="1" spc="157" baseline="-11904" dirty="0" smtClean="0">
                        <a:latin typeface="Cambria Math" panose="02040503050406030204" pitchFamily="18" charset="0"/>
                        <a:cs typeface="Lucida Sans Unicode"/>
                      </a:rPr>
                      <m:t> </m:t>
                    </m:r>
                    <m:r>
                      <a:rPr lang="el-GR" sz="1000" i="1" spc="55" dirty="0">
                        <a:latin typeface="Cambria Math" panose="02040503050406030204" pitchFamily="18" charset="0"/>
                        <a:cs typeface="Trebuchet MS"/>
                      </a:rPr>
                      <m:t>𝑅</m:t>
                    </m:r>
                    <m:r>
                      <a:rPr lang="el-GR" sz="1000" i="1" spc="-240" dirty="0">
                        <a:latin typeface="Cambria Math" panose="02040503050406030204" pitchFamily="18" charset="0"/>
                        <a:ea typeface="Cambria Math" panose="02040503050406030204" pitchFamily="18" charset="0"/>
                        <a:cs typeface="Meiryo"/>
                      </a:rPr>
                      <m:t>≻</m:t>
                    </m:r>
                    <m:r>
                      <a:rPr lang="en-US" sz="1050" b="0" i="1" spc="-120" baseline="-11904" dirty="0" smtClean="0">
                        <a:latin typeface="Cambria Math" panose="02040503050406030204" pitchFamily="18" charset="0"/>
                        <a:cs typeface="Lucida Sans Unicode"/>
                      </a:rPr>
                      <m:t>5</m:t>
                    </m:r>
                    <m:r>
                      <a:rPr lang="en-US" sz="1050" b="0" i="1" spc="-120" baseline="-11904" dirty="0" smtClean="0">
                        <a:latin typeface="Cambria Math" panose="02040503050406030204" pitchFamily="18" charset="0"/>
                        <a:cs typeface="Lucida Sans Unicode"/>
                      </a:rPr>
                      <m:t>     </m:t>
                    </m:r>
                    <m:r>
                      <a:rPr lang="el-GR" sz="1000" i="1" spc="30" dirty="0">
                        <a:latin typeface="Cambria Math" panose="02040503050406030204" pitchFamily="18" charset="0"/>
                        <a:cs typeface="Trebuchet MS"/>
                      </a:rPr>
                      <m:t>𝐿</m:t>
                    </m:r>
                  </m:oMath>
                </a14:m>
                <a:r>
                  <a:rPr lang="el-GR" sz="1000" dirty="0">
                    <a:latin typeface="Trebuchet MS"/>
                    <a:cs typeface="Trebuchet MS"/>
                  </a:rPr>
                  <a:t> </a:t>
                </a:r>
                <a:endParaRPr sz="1000" dirty="0">
                  <a:latin typeface="Trebuchet MS"/>
                  <a:cs typeface="Trebuchet MS"/>
                </a:endParaRPr>
              </a:p>
            </p:txBody>
          </p:sp>
        </mc:Choice>
        <mc:Fallback>
          <p:sp>
            <p:nvSpPr>
              <p:cNvPr id="4" name="object 4"/>
              <p:cNvSpPr txBox="1">
                <a:spLocks noRot="1" noChangeAspect="1" noMove="1" noResize="1" noEditPoints="1" noAdjustHandles="1" noChangeArrowheads="1" noChangeShapeType="1" noTextEdit="1"/>
              </p:cNvSpPr>
              <p:nvPr/>
            </p:nvSpPr>
            <p:spPr>
              <a:xfrm>
                <a:off x="901484" y="1702128"/>
                <a:ext cx="2772093" cy="1079783"/>
              </a:xfrm>
              <a:prstGeom prst="rect">
                <a:avLst/>
              </a:prstGeom>
              <a:blipFill>
                <a:blip r:embed="rId3"/>
                <a:stretch>
                  <a:fillRect l="-1319" b="-1130"/>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6" name="object 6"/>
              <p:cNvSpPr txBox="1"/>
              <p:nvPr/>
            </p:nvSpPr>
            <p:spPr>
              <a:xfrm>
                <a:off x="370947" y="2807711"/>
                <a:ext cx="2772093" cy="165558"/>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sz="1000" spc="10" dirty="0">
                    <a:latin typeface="Tahoma"/>
                    <a:cs typeface="Tahoma"/>
                  </a:rPr>
                  <a:t>Social outcome </a:t>
                </a:r>
                <a14:m>
                  <m:oMath xmlns:m="http://schemas.openxmlformats.org/officeDocument/2006/math">
                    <m:r>
                      <a:rPr lang="en-MY" sz="1100" i="1" spc="10" dirty="0" smtClean="0">
                        <a:latin typeface="Cambria Math" panose="02040503050406030204" pitchFamily="18" charset="0"/>
                        <a:cs typeface="Tahoma"/>
                      </a:rPr>
                      <m:t>(</m:t>
                    </m:r>
                  </m:oMath>
                </a14:m>
                <a:r>
                  <a:rPr sz="1000" spc="10" dirty="0">
                    <a:latin typeface="Tahoma"/>
                    <a:cs typeface="Tahoma"/>
                  </a:rPr>
                  <a:t>the</a:t>
                </a:r>
                <a:r>
                  <a:rPr sz="1100" spc="10" dirty="0">
                    <a:latin typeface="Tahoma"/>
                    <a:cs typeface="Tahoma"/>
                  </a:rPr>
                  <a:t> </a:t>
                </a:r>
                <a14:m>
                  <m:oMath xmlns:m="http://schemas.openxmlformats.org/officeDocument/2006/math">
                    <m:r>
                      <a:rPr lang="en-MY" sz="1100" i="1" spc="10" dirty="0" smtClean="0">
                        <a:latin typeface="Cambria Math" panose="02040503050406030204" pitchFamily="18" charset="0"/>
                        <a:cs typeface="Tahoma"/>
                      </a:rPr>
                      <m:t>“</m:t>
                    </m:r>
                  </m:oMath>
                </a14:m>
                <a:r>
                  <a:rPr sz="1000" spc="10" dirty="0">
                    <a:latin typeface="Tahoma"/>
                    <a:cs typeface="Tahoma"/>
                  </a:rPr>
                  <a:t>winner</a:t>
                </a:r>
                <a14:m>
                  <m:oMath xmlns:m="http://schemas.openxmlformats.org/officeDocument/2006/math">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m:t>
                    </m:r>
                  </m:oMath>
                </a14:m>
                <a:r>
                  <a:rPr sz="1100" spc="10" dirty="0">
                    <a:latin typeface="Tahoma"/>
                    <a:cs typeface="Tahoma"/>
                  </a:rPr>
                  <a:t> </a:t>
                </a:r>
                <a14:m>
                  <m:oMath xmlns:m="http://schemas.openxmlformats.org/officeDocument/2006/math">
                    <m:r>
                      <a:rPr lang="en-MY" sz="1100" i="1" spc="10" dirty="0" smtClean="0">
                        <a:latin typeface="Cambria Math" panose="02040503050406030204" pitchFamily="18" charset="0"/>
                        <a:cs typeface="Tahoma"/>
                      </a:rPr>
                      <m:t>𝐶</m:t>
                    </m:r>
                  </m:oMath>
                </a14:m>
                <a:endParaRPr sz="1100" spc="10" dirty="0">
                  <a:latin typeface="Tahoma"/>
                  <a:cs typeface="Tahoma"/>
                </a:endParaRPr>
              </a:p>
            </p:txBody>
          </p:sp>
        </mc:Choice>
        <mc:Fallback xmlns="">
          <p:sp>
            <p:nvSpPr>
              <p:cNvPr id="6" name="object 6"/>
              <p:cNvSpPr txBox="1">
                <a:spLocks noRot="1" noChangeAspect="1" noMove="1" noResize="1" noEditPoints="1" noAdjustHandles="1" noChangeArrowheads="1" noChangeShapeType="1" noTextEdit="1"/>
              </p:cNvSpPr>
              <p:nvPr/>
            </p:nvSpPr>
            <p:spPr>
              <a:xfrm>
                <a:off x="370947" y="2807711"/>
                <a:ext cx="2772093" cy="165558"/>
              </a:xfrm>
              <a:prstGeom prst="rect">
                <a:avLst/>
              </a:prstGeom>
              <a:blipFill>
                <a:blip r:embed="rId4"/>
                <a:stretch>
                  <a:fillRect l="-659" t="-22222" b="-44444"/>
                </a:stretch>
              </a:blipFill>
            </p:spPr>
            <p:txBody>
              <a:bodyPr/>
              <a:lstStyle/>
              <a:p>
                <a:r>
                  <a:rPr lang="en-MY">
                    <a:noFill/>
                  </a:rPr>
                  <a:t> </a:t>
                </a:r>
              </a:p>
            </p:txBody>
          </p:sp>
        </mc:Fallback>
      </mc:AlternateContent>
      <p:sp>
        <p:nvSpPr>
          <p:cNvPr id="7" name="Date Placeholder 3">
            <a:extLst>
              <a:ext uri="{FF2B5EF4-FFF2-40B4-BE49-F238E27FC236}">
                <a16:creationId xmlns:a16="http://schemas.microsoft.com/office/drawing/2014/main" id="{F2A12F60-4DDD-49D6-B87A-E90AD030996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360599FC-7F5A-49D5-A3A2-AAE365DC76F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D3F5F8D7-21B7-43C9-A162-F8A9E8F3B21A}"/>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11</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
        <p:nvSpPr>
          <p:cNvPr id="10" name="TextBox 9">
            <a:extLst>
              <a:ext uri="{FF2B5EF4-FFF2-40B4-BE49-F238E27FC236}">
                <a16:creationId xmlns:a16="http://schemas.microsoft.com/office/drawing/2014/main" id="{2E07D04E-51A4-4D86-8D4F-AD2A10ED3D1C}"/>
              </a:ext>
            </a:extLst>
          </p:cNvPr>
          <p:cNvSpPr txBox="1"/>
          <p:nvPr/>
        </p:nvSpPr>
        <p:spPr>
          <a:xfrm>
            <a:off x="247650" y="1965932"/>
            <a:ext cx="457200" cy="255904"/>
          </a:xfrm>
          <a:prstGeom prst="rect">
            <a:avLst/>
          </a:prstGeom>
          <a:noFill/>
        </p:spPr>
        <p:txBody>
          <a:bodyPr wrap="square"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Plurali</a:t>
            </a:r>
            <a:r>
              <a:rPr spc="-40" dirty="0"/>
              <a:t>t</a:t>
            </a:r>
            <a:r>
              <a:rPr spc="-65" dirty="0"/>
              <a:t>y</a:t>
            </a:r>
            <a:r>
              <a:rPr spc="30" dirty="0"/>
              <a:t> </a:t>
            </a:r>
            <a:r>
              <a:rPr spc="-30" dirty="0"/>
              <a:t>with</a:t>
            </a:r>
            <a:r>
              <a:rPr spc="30" dirty="0"/>
              <a:t> </a:t>
            </a:r>
            <a:r>
              <a:rPr spc="-40" dirty="0"/>
              <a:t>elimination</a:t>
            </a:r>
          </a:p>
        </p:txBody>
      </p:sp>
      <p:sp>
        <p:nvSpPr>
          <p:cNvPr id="3" name="object 3"/>
          <p:cNvSpPr txBox="1">
            <a:spLocks noGrp="1"/>
          </p:cNvSpPr>
          <p:nvPr>
            <p:ph type="body" idx="1"/>
          </p:nvPr>
        </p:nvSpPr>
        <p:spPr>
          <a:xfrm>
            <a:off x="190602" y="766200"/>
            <a:ext cx="4419498" cy="1648522"/>
          </a:xfrm>
          <a:prstGeom prst="rect">
            <a:avLst/>
          </a:prstGeom>
        </p:spPr>
        <p:txBody>
          <a:bodyPr vert="horz" wrap="square" lIns="0" tIns="391090"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kern="1200" spc="10" dirty="0"/>
              <a:t>Each </a:t>
            </a:r>
            <a:r>
              <a:rPr i="1" kern="1200" spc="10" dirty="0"/>
              <a:t>candidate</a:t>
            </a:r>
            <a:r>
              <a:rPr kern="1200" spc="10" dirty="0"/>
              <a:t> gets 1 vote for every preference order it </a:t>
            </a:r>
            <a:r>
              <a:rPr lang="en-US" kern="1200" spc="10" dirty="0"/>
              <a:t>as</a:t>
            </a:r>
            <a:r>
              <a:rPr kern="1200" spc="10" dirty="0"/>
              <a:t> first</a:t>
            </a:r>
          </a:p>
          <a:p>
            <a:pPr marL="284163" indent="-230188" algn="l" rtl="0">
              <a:lnSpc>
                <a:spcPts val="1400"/>
              </a:lnSpc>
              <a:spcBef>
                <a:spcPts val="330"/>
              </a:spcBef>
              <a:buClr>
                <a:srgbClr val="0000FF"/>
              </a:buClr>
              <a:buFont typeface="Wingdings 3" panose="05040102010807070707" pitchFamily="18" charset="2"/>
              <a:buChar char=""/>
            </a:pPr>
            <a:r>
              <a:rPr kern="1200" spc="10" dirty="0"/>
              <a:t>The candidate with the </a:t>
            </a:r>
            <a:r>
              <a:rPr i="1" kern="1200" spc="10" dirty="0"/>
              <a:t>fewest</a:t>
            </a:r>
            <a:r>
              <a:rPr kern="1200" spc="10" dirty="0"/>
              <a:t> number of votes is eliminated</a:t>
            </a:r>
          </a:p>
          <a:p>
            <a:pPr marL="284163" indent="-230188" algn="l" rtl="0">
              <a:lnSpc>
                <a:spcPts val="1400"/>
              </a:lnSpc>
              <a:spcBef>
                <a:spcPts val="330"/>
              </a:spcBef>
              <a:buClr>
                <a:srgbClr val="0000FF"/>
              </a:buClr>
              <a:buFont typeface="Wingdings 3" panose="05040102010807070707" pitchFamily="18" charset="2"/>
              <a:buChar char=""/>
            </a:pPr>
            <a:r>
              <a:rPr kern="1200" spc="10" dirty="0"/>
              <a:t>Voters who get their top candidate eliminated cast a new vote</a:t>
            </a:r>
          </a:p>
          <a:p>
            <a:pPr marL="284163" indent="-230188" algn="l" rtl="0">
              <a:lnSpc>
                <a:spcPts val="1400"/>
              </a:lnSpc>
              <a:spcBef>
                <a:spcPts val="330"/>
              </a:spcBef>
              <a:buClr>
                <a:srgbClr val="0000FF"/>
              </a:buClr>
              <a:buFont typeface="Wingdings 3" panose="05040102010807070707" pitchFamily="18" charset="2"/>
              <a:buChar char=""/>
            </a:pPr>
            <a:r>
              <a:rPr kern="1200" spc="10" dirty="0"/>
              <a:t>The process continues until a single candidate is left</a:t>
            </a:r>
          </a:p>
          <a:p>
            <a:pPr marL="284163" indent="-230188" algn="l" rtl="0">
              <a:lnSpc>
                <a:spcPts val="1400"/>
              </a:lnSpc>
              <a:spcBef>
                <a:spcPts val="330"/>
              </a:spcBef>
              <a:buClr>
                <a:srgbClr val="0000FF"/>
              </a:buClr>
              <a:buFont typeface="Wingdings 3" panose="05040102010807070707" pitchFamily="18" charset="2"/>
              <a:buChar char=""/>
            </a:pPr>
            <a:r>
              <a:rPr kern="1200" spc="10" dirty="0"/>
              <a:t>It may require tie-breaking rules</a:t>
            </a:r>
          </a:p>
          <a:p>
            <a:pPr marL="284163" indent="-230188" algn="l" rtl="0">
              <a:lnSpc>
                <a:spcPts val="1400"/>
              </a:lnSpc>
              <a:spcBef>
                <a:spcPts val="330"/>
              </a:spcBef>
              <a:buClr>
                <a:srgbClr val="0000FF"/>
              </a:buClr>
              <a:buFont typeface="Wingdings 3" panose="05040102010807070707" pitchFamily="18" charset="2"/>
              <a:buChar char=""/>
            </a:pPr>
            <a:r>
              <a:rPr kern="1200" spc="10" dirty="0"/>
              <a:t>Example...</a:t>
            </a:r>
          </a:p>
        </p:txBody>
      </p:sp>
      <p:sp>
        <p:nvSpPr>
          <p:cNvPr id="4" name="Date Placeholder 3">
            <a:extLst>
              <a:ext uri="{FF2B5EF4-FFF2-40B4-BE49-F238E27FC236}">
                <a16:creationId xmlns:a16="http://schemas.microsoft.com/office/drawing/2014/main" id="{F13C5546-9693-4FD4-B15A-4612623FD3B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C3749AF-0B73-4314-8089-A45A9787C5E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687AA34C-9FC3-4F9C-B17B-51275B378C64}"/>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12</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dirty="0"/>
              <a:t>Plurali</a:t>
            </a:r>
            <a:r>
              <a:rPr spc="-40" dirty="0"/>
              <a:t>t</a:t>
            </a:r>
            <a:r>
              <a:rPr spc="-65" dirty="0"/>
              <a:t>y</a:t>
            </a:r>
            <a:r>
              <a:rPr spc="30" dirty="0"/>
              <a:t> </a:t>
            </a:r>
            <a:r>
              <a:rPr spc="-30" dirty="0"/>
              <a:t>with</a:t>
            </a:r>
            <a:r>
              <a:rPr spc="30" dirty="0"/>
              <a:t> </a:t>
            </a:r>
            <a:r>
              <a:rPr spc="-40" dirty="0"/>
              <a:t>elimination</a:t>
            </a:r>
          </a:p>
        </p:txBody>
      </p:sp>
      <mc:AlternateContent xmlns:mc="http://schemas.openxmlformats.org/markup-compatibility/2006" xmlns:a14="http://schemas.microsoft.com/office/drawing/2010/main">
        <mc:Choice Requires="a14">
          <p:sp>
            <p:nvSpPr>
              <p:cNvPr id="3" name="object 3"/>
              <p:cNvSpPr txBox="1"/>
              <p:nvPr/>
            </p:nvSpPr>
            <p:spPr>
              <a:xfrm>
                <a:off x="312094" y="423803"/>
                <a:ext cx="4126556" cy="2862322"/>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000" spc="10" dirty="0">
                    <a:latin typeface="Tahoma"/>
                    <a:cs typeface="Tahoma"/>
                  </a:rPr>
                  <a:t>Agents/Voters</a:t>
                </a:r>
                <a14:m>
                  <m:oMath xmlns:m="http://schemas.openxmlformats.org/officeDocument/2006/math">
                    <m:r>
                      <a:rPr lang="en-MY" sz="1000" i="1" spc="10" dirty="0" smtClean="0">
                        <a:latin typeface="Cambria Math" panose="02040503050406030204" pitchFamily="18" charset="0"/>
                        <a:cs typeface="Tahoma"/>
                      </a:rPr>
                      <m:t>: </m:t>
                    </m:r>
                    <m:r>
                      <a:rPr lang="en-MY" sz="1000" i="1" spc="10" dirty="0" smtClean="0">
                        <a:latin typeface="Cambria Math" panose="02040503050406030204" pitchFamily="18" charset="0"/>
                        <a:cs typeface="Tahoma"/>
                      </a:rPr>
                      <m:t>𝑁</m:t>
                    </m:r>
                    <m:r>
                      <a:rPr lang="en-MY" sz="1000" i="1" spc="10" dirty="0" smtClean="0">
                        <a:latin typeface="Cambria Math" panose="02040503050406030204" pitchFamily="18" charset="0"/>
                        <a:cs typeface="Tahoma"/>
                      </a:rPr>
                      <m:t> = {</m:t>
                    </m:r>
                    <m:r>
                      <a:rPr lang="en-MY" sz="1000" i="1" spc="10" dirty="0" smtClean="0">
                        <a:latin typeface="Cambria Math" panose="02040503050406030204" pitchFamily="18" charset="0"/>
                        <a:cs typeface="Tahoma"/>
                      </a:rPr>
                      <m:t>1</m:t>
                    </m:r>
                    <m:r>
                      <a:rPr lang="en-MY" sz="1000" i="1" spc="10" dirty="0" smtClean="0">
                        <a:latin typeface="Cambria Math" panose="02040503050406030204" pitchFamily="18" charset="0"/>
                        <a:cs typeface="Tahoma"/>
                      </a:rPr>
                      <m:t>, </m:t>
                    </m:r>
                    <m:r>
                      <a:rPr lang="en-MY" sz="1000" i="1" spc="10" dirty="0" smtClean="0">
                        <a:latin typeface="Cambria Math" panose="02040503050406030204" pitchFamily="18" charset="0"/>
                        <a:cs typeface="Tahoma"/>
                      </a:rPr>
                      <m:t>2</m:t>
                    </m:r>
                    <m:r>
                      <a:rPr lang="en-MY" sz="1000" i="1" spc="10" dirty="0" smtClean="0">
                        <a:latin typeface="Cambria Math" panose="02040503050406030204" pitchFamily="18" charset="0"/>
                        <a:cs typeface="Tahoma"/>
                      </a:rPr>
                      <m:t>, </m:t>
                    </m:r>
                    <m:r>
                      <a:rPr lang="en-MY" sz="1000" i="1" spc="10" dirty="0" smtClean="0">
                        <a:latin typeface="Cambria Math" panose="02040503050406030204" pitchFamily="18" charset="0"/>
                        <a:cs typeface="Tahoma"/>
                      </a:rPr>
                      <m:t>3</m:t>
                    </m:r>
                    <m:r>
                      <a:rPr lang="en-MY" sz="1000" i="1" spc="10" dirty="0" smtClean="0">
                        <a:latin typeface="Cambria Math" panose="02040503050406030204" pitchFamily="18" charset="0"/>
                        <a:cs typeface="Tahoma"/>
                      </a:rPr>
                      <m:t>, </m:t>
                    </m:r>
                    <m:r>
                      <a:rPr lang="en-MY" sz="1000" i="1" spc="10" dirty="0" smtClean="0">
                        <a:latin typeface="Cambria Math" panose="02040503050406030204" pitchFamily="18" charset="0"/>
                        <a:cs typeface="Tahoma"/>
                      </a:rPr>
                      <m:t>4</m:t>
                    </m:r>
                    <m:r>
                      <a:rPr lang="en-MY" sz="1000" i="1" spc="10" dirty="0" smtClean="0">
                        <a:latin typeface="Cambria Math" panose="02040503050406030204" pitchFamily="18" charset="0"/>
                        <a:cs typeface="Tahoma"/>
                      </a:rPr>
                      <m:t>, </m:t>
                    </m:r>
                    <m:r>
                      <a:rPr lang="en-MY" sz="1000" i="1" spc="10" dirty="0" smtClean="0">
                        <a:latin typeface="Cambria Math" panose="02040503050406030204" pitchFamily="18" charset="0"/>
                        <a:cs typeface="Tahoma"/>
                      </a:rPr>
                      <m:t>5</m:t>
                    </m:r>
                    <m:r>
                      <a:rPr lang="en-MY" sz="1000" i="1" spc="10" dirty="0" smtClean="0">
                        <a:latin typeface="Cambria Math" panose="02040503050406030204" pitchFamily="18" charset="0"/>
                        <a:cs typeface="Tahoma"/>
                      </a:rPr>
                      <m:t>}</m:t>
                    </m:r>
                  </m:oMath>
                </a14:m>
                <a:endParaRPr lang="en-MY" sz="10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000" spc="10" dirty="0">
                    <a:latin typeface="Tahoma"/>
                    <a:cs typeface="Tahoma"/>
                  </a:rPr>
                  <a:t>Outcomes/Candidates: </a:t>
                </a:r>
                <a14:m>
                  <m:oMath xmlns:m="http://schemas.openxmlformats.org/officeDocument/2006/math">
                    <m:r>
                      <a:rPr lang="el-GR" sz="1000" i="1" spc="10" dirty="0" smtClean="0">
                        <a:latin typeface="Cambria Math" panose="02040503050406030204" pitchFamily="18" charset="0"/>
                        <a:cs typeface="Tahoma"/>
                      </a:rPr>
                      <m:t>Ω</m:t>
                    </m:r>
                    <m:r>
                      <a:rPr lang="el-GR" sz="1000" i="1" spc="10" dirty="0" smtClean="0">
                        <a:latin typeface="Cambria Math" panose="02040503050406030204" pitchFamily="18" charset="0"/>
                        <a:cs typeface="Tahoma"/>
                      </a:rPr>
                      <m:t> = {</m:t>
                    </m:r>
                    <m:r>
                      <a:rPr lang="el-GR" sz="1000" i="1" spc="10" dirty="0" smtClean="0">
                        <a:latin typeface="Cambria Math" panose="02040503050406030204" pitchFamily="18" charset="0"/>
                        <a:cs typeface="Tahoma"/>
                      </a:rPr>
                      <m:t>𝐿</m:t>
                    </m:r>
                    <m:r>
                      <a:rPr lang="el-GR" sz="1000" i="1" spc="10" dirty="0" smtClean="0">
                        <a:latin typeface="Cambria Math" panose="02040503050406030204" pitchFamily="18" charset="0"/>
                        <a:cs typeface="Tahoma"/>
                      </a:rPr>
                      <m:t>, </m:t>
                    </m:r>
                    <m:r>
                      <a:rPr lang="el-GR" sz="1000" i="1" spc="10" dirty="0" smtClean="0">
                        <a:latin typeface="Cambria Math" panose="02040503050406030204" pitchFamily="18" charset="0"/>
                        <a:cs typeface="Tahoma"/>
                      </a:rPr>
                      <m:t>𝐶</m:t>
                    </m:r>
                    <m:r>
                      <a:rPr lang="el-GR" sz="1000" i="1" spc="10" dirty="0" smtClean="0">
                        <a:latin typeface="Cambria Math" panose="02040503050406030204" pitchFamily="18" charset="0"/>
                        <a:cs typeface="Tahoma"/>
                      </a:rPr>
                      <m:t>, </m:t>
                    </m:r>
                    <m:r>
                      <a:rPr lang="el-GR" sz="1000" i="1" spc="10" dirty="0" smtClean="0">
                        <a:latin typeface="Cambria Math" panose="02040503050406030204" pitchFamily="18" charset="0"/>
                        <a:cs typeface="Tahoma"/>
                      </a:rPr>
                      <m:t>𝑅</m:t>
                    </m:r>
                    <m:r>
                      <a:rPr lang="el-GR" sz="1000" i="1" spc="10" dirty="0" smtClean="0">
                        <a:latin typeface="Cambria Math" panose="02040503050406030204" pitchFamily="18" charset="0"/>
                        <a:cs typeface="Tahoma"/>
                      </a:rPr>
                      <m:t>}</m:t>
                    </m:r>
                  </m:oMath>
                </a14:m>
                <a:endParaRPr lang="el-GR" sz="10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000" spc="10" dirty="0">
                    <a:latin typeface="Tahoma"/>
                    <a:cs typeface="Tahoma"/>
                  </a:rPr>
                  <a:t>Preference orderings</a:t>
                </a:r>
                <a14:m>
                  <m:oMath xmlns:m="http://schemas.openxmlformats.org/officeDocument/2006/math">
                    <m:r>
                      <a:rPr lang="en-MY" sz="1000" i="1" spc="10" dirty="0" smtClean="0">
                        <a:latin typeface="Cambria Math" panose="02040503050406030204" pitchFamily="18" charset="0"/>
                        <a:cs typeface="Tahoma"/>
                      </a:rPr>
                      <m:t>: </m:t>
                    </m:r>
                    <m:r>
                      <m:rPr>
                        <m:sty m:val="p"/>
                      </m:rPr>
                      <a:rPr lang="el-GR" sz="1000" i="0" spc="10" dirty="0">
                        <a:latin typeface="Cambria Math" panose="02040503050406030204" pitchFamily="18" charset="0"/>
                        <a:cs typeface="Tahoma"/>
                      </a:rPr>
                      <m:t>Π</m:t>
                    </m:r>
                    <m:r>
                      <a:rPr lang="el-GR" sz="1000" i="1" spc="10" dirty="0">
                        <a:latin typeface="Cambria Math" panose="02040503050406030204" pitchFamily="18" charset="0"/>
                        <a:cs typeface="Tahoma"/>
                      </a:rPr>
                      <m:t>(</m:t>
                    </m:r>
                    <m:r>
                      <a:rPr lang="el-GR" sz="1000" i="1" spc="10" dirty="0">
                        <a:latin typeface="Cambria Math" panose="02040503050406030204" pitchFamily="18" charset="0"/>
                        <a:cs typeface="Tahoma"/>
                      </a:rPr>
                      <m:t>Ω</m:t>
                    </m:r>
                    <m:r>
                      <a:rPr lang="el-GR" sz="1000" i="1" spc="10" dirty="0">
                        <a:latin typeface="Cambria Math" panose="02040503050406030204" pitchFamily="18" charset="0"/>
                        <a:cs typeface="Tahoma"/>
                      </a:rPr>
                      <m:t>)</m:t>
                    </m:r>
                  </m:oMath>
                </a14:m>
                <a:endParaRPr lang="el-GR" sz="10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000" spc="10" dirty="0">
                    <a:latin typeface="Tahoma"/>
                    <a:cs typeface="Tahoma"/>
                  </a:rPr>
                  <a:t>Round 1 (candidate </a:t>
                </a:r>
                <a:r>
                  <a:rPr lang="en-MY" sz="1000" i="1" spc="10" dirty="0">
                    <a:latin typeface="Tahoma"/>
                    <a:cs typeface="Tahoma"/>
                  </a:rPr>
                  <a:t>L</a:t>
                </a:r>
                <a:r>
                  <a:rPr lang="en-MY" sz="1000" spc="10" dirty="0">
                    <a:latin typeface="Tahoma"/>
                    <a:cs typeface="Tahoma"/>
                  </a:rPr>
                  <a:t> is eliminated):</a:t>
                </a:r>
              </a:p>
              <a:p>
                <a:pPr marL="466725">
                  <a:lnSpc>
                    <a:spcPts val="1200"/>
                  </a:lnSpc>
                  <a:spcBef>
                    <a:spcPts val="175"/>
                  </a:spcBef>
                </a:pPr>
                <a14:m>
                  <m:oMath xmlns:m="http://schemas.openxmlformats.org/officeDocument/2006/math">
                    <m:r>
                      <a:rPr lang="en-MY" sz="1000" i="1" spc="30" dirty="0" smtClean="0">
                        <a:latin typeface="Cambria Math" panose="02040503050406030204" pitchFamily="18" charset="0"/>
                        <a:cs typeface="Trebuchet MS"/>
                      </a:rPr>
                      <m:t>𝐿</m:t>
                    </m:r>
                    <m:r>
                      <a:rPr lang="en-MY" sz="1000" i="1" spc="-25" dirty="0" smtClean="0">
                        <a:latin typeface="Cambria Math" panose="02040503050406030204" pitchFamily="18" charset="0"/>
                        <a:cs typeface="Trebuchet MS"/>
                      </a:rPr>
                      <m:t> </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1</m:t>
                        </m:r>
                      </m:sub>
                    </m:sSub>
                    <m:r>
                      <a:rPr lang="en-MY" sz="1000" i="1" spc="55" dirty="0" smtClean="0">
                        <a:latin typeface="Cambria Math" panose="02040503050406030204" pitchFamily="18" charset="0"/>
                        <a:cs typeface="Trebuchet MS"/>
                      </a:rPr>
                      <m:t>𝑅</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1</m:t>
                        </m:r>
                      </m:sub>
                    </m:sSub>
                    <m:r>
                      <a:rPr lang="en-MY" sz="1000" i="1" spc="35" dirty="0" smtClean="0">
                        <a:latin typeface="Cambria Math" panose="02040503050406030204" pitchFamily="18" charset="0"/>
                        <a:cs typeface="Trebuchet MS"/>
                      </a:rPr>
                      <m:t>𝐶</m:t>
                    </m:r>
                  </m:oMath>
                </a14:m>
                <a:r>
                  <a:rPr lang="en-MY" sz="1000" dirty="0">
                    <a:latin typeface="Trebuchet MS"/>
                    <a:cs typeface="Trebuchet MS"/>
                  </a:rPr>
                  <a:t> </a:t>
                </a:r>
              </a:p>
              <a:p>
                <a:pPr marL="466725">
                  <a:lnSpc>
                    <a:spcPts val="1195"/>
                  </a:lnSpc>
                </a:pPr>
                <a14:m>
                  <m:oMath xmlns:m="http://schemas.openxmlformats.org/officeDocument/2006/math">
                    <m:r>
                      <a:rPr lang="en-MY" sz="1000" i="1" spc="35" dirty="0" smtClean="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2</m:t>
                        </m:r>
                      </m:sub>
                    </m:sSub>
                    <m:r>
                      <a:rPr lang="en-MY" sz="1000" i="1" spc="30" dirty="0">
                        <a:latin typeface="Cambria Math" panose="02040503050406030204" pitchFamily="18" charset="0"/>
                        <a:cs typeface="Trebuchet MS"/>
                      </a:rPr>
                      <m:t>𝐿</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2</m:t>
                        </m:r>
                      </m:sub>
                    </m:sSub>
                    <m:r>
                      <a:rPr lang="en-MY" sz="1000" i="1" spc="55" dirty="0" smtClean="0">
                        <a:latin typeface="Cambria Math" panose="02040503050406030204" pitchFamily="18" charset="0"/>
                        <a:cs typeface="Trebuchet MS"/>
                      </a:rPr>
                      <m:t>𝑅</m:t>
                    </m:r>
                    <m:r>
                      <a:rPr lang="en-MY" sz="1000" b="0" i="1" spc="55" dirty="0" smtClean="0">
                        <a:latin typeface="Cambria Math" panose="02040503050406030204" pitchFamily="18" charset="0"/>
                        <a:cs typeface="Trebuchet MS"/>
                      </a:rPr>
                      <m:t> </m:t>
                    </m:r>
                  </m:oMath>
                </a14:m>
                <a:r>
                  <a:rPr lang="en-MY" sz="1000" dirty="0">
                    <a:latin typeface="Trebuchet MS"/>
                    <a:cs typeface="Trebuchet MS"/>
                  </a:rPr>
                  <a:t> </a:t>
                </a:r>
              </a:p>
              <a:p>
                <a:pPr marL="466725">
                  <a:lnSpc>
                    <a:spcPts val="1195"/>
                  </a:lnSpc>
                </a:pPr>
                <a14:m>
                  <m:oMath xmlns:m="http://schemas.openxmlformats.org/officeDocument/2006/math">
                    <m:r>
                      <a:rPr lang="en-MY" sz="1000" i="1" spc="55" dirty="0" smtClean="0">
                        <a:latin typeface="Cambria Math" panose="02040503050406030204" pitchFamily="18" charset="0"/>
                        <a:cs typeface="Trebuchet MS"/>
                      </a:rPr>
                      <m:t>𝑅</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3</m:t>
                        </m:r>
                      </m:sub>
                    </m:sSub>
                    <m:r>
                      <a:rPr lang="en-MY" sz="1000" i="1" spc="35" dirty="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3</m:t>
                        </m:r>
                      </m:sub>
                    </m:sSub>
                    <m:r>
                      <a:rPr lang="en-MY" sz="1000" i="1" spc="30" dirty="0">
                        <a:latin typeface="Cambria Math" panose="02040503050406030204" pitchFamily="18" charset="0"/>
                        <a:cs typeface="Trebuchet MS"/>
                      </a:rPr>
                      <m:t>𝐿</m:t>
                    </m:r>
                  </m:oMath>
                </a14:m>
                <a:r>
                  <a:rPr lang="en-MY" sz="1000" dirty="0">
                    <a:latin typeface="Trebuchet MS"/>
                    <a:cs typeface="Trebuchet MS"/>
                  </a:rPr>
                  <a:t> </a:t>
                </a:r>
              </a:p>
              <a:p>
                <a:pPr marL="466725">
                  <a:lnSpc>
                    <a:spcPts val="1195"/>
                  </a:lnSpc>
                </a:pPr>
                <a14:m>
                  <m:oMath xmlns:m="http://schemas.openxmlformats.org/officeDocument/2006/math">
                    <m:r>
                      <a:rPr lang="en-MY" sz="1000" i="1" spc="35" dirty="0" smtClean="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4</m:t>
                        </m:r>
                      </m:sub>
                    </m:sSub>
                    <m:r>
                      <a:rPr lang="en-MY" sz="1000" i="1" spc="30" dirty="0">
                        <a:latin typeface="Cambria Math" panose="02040503050406030204" pitchFamily="18" charset="0"/>
                        <a:cs typeface="Trebuchet MS"/>
                      </a:rPr>
                      <m:t>𝐿</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4</m:t>
                        </m:r>
                      </m:sub>
                    </m:sSub>
                    <m:r>
                      <a:rPr lang="en-MY" sz="1000" i="1" spc="55" dirty="0">
                        <a:latin typeface="Cambria Math" panose="02040503050406030204" pitchFamily="18" charset="0"/>
                        <a:cs typeface="Trebuchet MS"/>
                      </a:rPr>
                      <m:t>𝑅</m:t>
                    </m:r>
                  </m:oMath>
                </a14:m>
                <a:r>
                  <a:rPr lang="en-MY" sz="1000" dirty="0">
                    <a:latin typeface="Trebuchet MS"/>
                    <a:cs typeface="Trebuchet MS"/>
                  </a:rPr>
                  <a:t> </a:t>
                </a:r>
              </a:p>
              <a:p>
                <a:pPr marL="466725">
                  <a:lnSpc>
                    <a:spcPts val="1200"/>
                  </a:lnSpc>
                </a:pPr>
                <a14:m>
                  <m:oMath xmlns:m="http://schemas.openxmlformats.org/officeDocument/2006/math">
                    <m:r>
                      <a:rPr lang="en-MY" sz="1000" i="1" spc="55" dirty="0" smtClean="0">
                        <a:latin typeface="Cambria Math" panose="02040503050406030204" pitchFamily="18" charset="0"/>
                        <a:cs typeface="Trebuchet MS"/>
                      </a:rPr>
                      <m:t>𝑅</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5</m:t>
                        </m:r>
                      </m:sub>
                    </m:sSub>
                    <m:r>
                      <a:rPr lang="en-MY" sz="1000" i="1" spc="30" dirty="0">
                        <a:latin typeface="Cambria Math" panose="02040503050406030204" pitchFamily="18" charset="0"/>
                        <a:cs typeface="Trebuchet MS"/>
                      </a:rPr>
                      <m:t>𝐿</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5</m:t>
                        </m:r>
                      </m:sub>
                    </m:sSub>
                    <m:r>
                      <a:rPr lang="en-MY" sz="1000" i="1" spc="35" dirty="0" smtClean="0">
                        <a:latin typeface="Cambria Math" panose="02040503050406030204" pitchFamily="18" charset="0"/>
                        <a:cs typeface="Trebuchet MS"/>
                      </a:rPr>
                      <m:t>𝐶</m:t>
                    </m:r>
                  </m:oMath>
                </a14:m>
                <a:r>
                  <a:rPr lang="en-MY" sz="1000" dirty="0">
                    <a:latin typeface="Trebuchet MS"/>
                    <a:cs typeface="Trebuchet MS"/>
                  </a:rPr>
                  <a:t> </a:t>
                </a:r>
              </a:p>
              <a:p>
                <a:pPr marL="284163" indent="-230188">
                  <a:lnSpc>
                    <a:spcPts val="1400"/>
                  </a:lnSpc>
                  <a:spcBef>
                    <a:spcPts val="330"/>
                  </a:spcBef>
                  <a:buClr>
                    <a:srgbClr val="0000FF"/>
                  </a:buClr>
                  <a:buFont typeface="Wingdings 3" panose="05040102010807070707" pitchFamily="18" charset="2"/>
                  <a:buChar char=""/>
                </a:pPr>
                <a:r>
                  <a:rPr lang="en-MY" sz="1000" spc="10" dirty="0">
                    <a:latin typeface="Tahoma"/>
                    <a:cs typeface="Tahoma"/>
                  </a:rPr>
                  <a:t>Round 2 (candidate </a:t>
                </a:r>
                <a14:m>
                  <m:oMath xmlns:m="http://schemas.openxmlformats.org/officeDocument/2006/math">
                    <m:r>
                      <a:rPr lang="en-MY" sz="1000" i="1" spc="10" dirty="0" smtClean="0">
                        <a:latin typeface="Cambria Math" panose="02040503050406030204" pitchFamily="18" charset="0"/>
                        <a:cs typeface="Tahoma"/>
                      </a:rPr>
                      <m:t>𝐶</m:t>
                    </m:r>
                  </m:oMath>
                </a14:m>
                <a:r>
                  <a:rPr lang="en-MY" sz="1000" spc="10" dirty="0">
                    <a:latin typeface="Tahoma"/>
                    <a:cs typeface="Tahoma"/>
                  </a:rPr>
                  <a:t> is eliminated):</a:t>
                </a:r>
              </a:p>
              <a:p>
                <a:pPr marL="466725">
                  <a:lnSpc>
                    <a:spcPts val="1200"/>
                  </a:lnSpc>
                  <a:spcBef>
                    <a:spcPts val="175"/>
                  </a:spcBef>
                </a:pPr>
                <a14:m>
                  <m:oMath xmlns:m="http://schemas.openxmlformats.org/officeDocument/2006/math">
                    <m:r>
                      <a:rPr lang="en-MY" sz="1000" i="1" spc="55" dirty="0" smtClean="0">
                        <a:latin typeface="Cambria Math" panose="02040503050406030204" pitchFamily="18" charset="0"/>
                        <a:cs typeface="Trebuchet MS"/>
                      </a:rPr>
                      <m:t>𝑅</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1</m:t>
                        </m:r>
                      </m:sub>
                    </m:sSub>
                    <m:r>
                      <a:rPr lang="en-MY" sz="1000" i="1" spc="35" dirty="0">
                        <a:latin typeface="Cambria Math" panose="02040503050406030204" pitchFamily="18" charset="0"/>
                        <a:cs typeface="Trebuchet MS"/>
                      </a:rPr>
                      <m:t>𝐶</m:t>
                    </m:r>
                  </m:oMath>
                </a14:m>
                <a:r>
                  <a:rPr lang="en-MY" sz="1000" dirty="0">
                    <a:latin typeface="Trebuchet MS"/>
                    <a:cs typeface="Trebuchet MS"/>
                  </a:rPr>
                  <a:t> </a:t>
                </a:r>
              </a:p>
              <a:p>
                <a:pPr marL="466725">
                  <a:lnSpc>
                    <a:spcPts val="1195"/>
                  </a:lnSpc>
                </a:pPr>
                <a14:m>
                  <m:oMath xmlns:m="http://schemas.openxmlformats.org/officeDocument/2006/math">
                    <m:r>
                      <a:rPr lang="en-MY" sz="1000" i="1" spc="35" dirty="0" smtClean="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2</m:t>
                        </m:r>
                      </m:sub>
                    </m:sSub>
                    <m:r>
                      <a:rPr lang="en-MY" sz="1000" i="1" spc="55" dirty="0">
                        <a:latin typeface="Cambria Math" panose="02040503050406030204" pitchFamily="18" charset="0"/>
                        <a:cs typeface="Trebuchet MS"/>
                      </a:rPr>
                      <m:t>𝑅</m:t>
                    </m:r>
                  </m:oMath>
                </a14:m>
                <a:r>
                  <a:rPr lang="en-MY" sz="1000" dirty="0">
                    <a:latin typeface="Trebuchet MS"/>
                    <a:cs typeface="Trebuchet MS"/>
                  </a:rPr>
                  <a:t> </a:t>
                </a:r>
              </a:p>
              <a:p>
                <a:pPr marL="466725">
                  <a:lnSpc>
                    <a:spcPts val="1195"/>
                  </a:lnSpc>
                </a:pPr>
                <a14:m>
                  <m:oMath xmlns:m="http://schemas.openxmlformats.org/officeDocument/2006/math">
                    <m:r>
                      <a:rPr lang="en-MY" sz="1000" i="1" spc="55" dirty="0" smtClean="0">
                        <a:latin typeface="Cambria Math" panose="02040503050406030204" pitchFamily="18" charset="0"/>
                        <a:cs typeface="Trebuchet MS"/>
                      </a:rPr>
                      <m:t>𝑅</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3</m:t>
                        </m:r>
                      </m:sub>
                    </m:sSub>
                    <m:r>
                      <a:rPr lang="en-MY" sz="1000" i="1" spc="35" dirty="0">
                        <a:latin typeface="Cambria Math" panose="02040503050406030204" pitchFamily="18" charset="0"/>
                        <a:cs typeface="Trebuchet MS"/>
                      </a:rPr>
                      <m:t>𝐶</m:t>
                    </m:r>
                  </m:oMath>
                </a14:m>
                <a:r>
                  <a:rPr lang="en-MY" sz="1000" dirty="0">
                    <a:latin typeface="Trebuchet MS"/>
                    <a:cs typeface="Trebuchet MS"/>
                  </a:rPr>
                  <a:t> </a:t>
                </a:r>
              </a:p>
              <a:p>
                <a:pPr marL="466725">
                  <a:lnSpc>
                    <a:spcPts val="1195"/>
                  </a:lnSpc>
                </a:pPr>
                <a14:m>
                  <m:oMath xmlns:m="http://schemas.openxmlformats.org/officeDocument/2006/math">
                    <m:r>
                      <a:rPr lang="en-MY" sz="1000" i="1" spc="35" dirty="0" smtClean="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4</m:t>
                        </m:r>
                      </m:sub>
                    </m:sSub>
                    <m:r>
                      <a:rPr lang="en-MY" sz="1000" i="1" spc="55" dirty="0">
                        <a:latin typeface="Cambria Math" panose="02040503050406030204" pitchFamily="18" charset="0"/>
                        <a:cs typeface="Trebuchet MS"/>
                      </a:rPr>
                      <m:t>𝑅</m:t>
                    </m:r>
                  </m:oMath>
                </a14:m>
                <a:r>
                  <a:rPr lang="en-MY" sz="1000" dirty="0">
                    <a:latin typeface="Trebuchet MS"/>
                    <a:cs typeface="Trebuchet MS"/>
                  </a:rPr>
                  <a:t> </a:t>
                </a:r>
              </a:p>
              <a:p>
                <a:pPr marL="466725">
                  <a:lnSpc>
                    <a:spcPts val="1200"/>
                  </a:lnSpc>
                </a:pPr>
                <a14:m>
                  <m:oMath xmlns:m="http://schemas.openxmlformats.org/officeDocument/2006/math">
                    <m:r>
                      <a:rPr lang="en-MY" sz="1000" i="1" spc="55" dirty="0" smtClean="0">
                        <a:latin typeface="Cambria Math" panose="02040503050406030204" pitchFamily="18" charset="0"/>
                        <a:cs typeface="Trebuchet MS"/>
                      </a:rPr>
                      <m:t>𝑅</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5</m:t>
                        </m:r>
                      </m:sub>
                    </m:sSub>
                    <m:r>
                      <a:rPr lang="en-MY" sz="1000" i="1" spc="35" dirty="0">
                        <a:latin typeface="Cambria Math" panose="02040503050406030204" pitchFamily="18" charset="0"/>
                        <a:cs typeface="Trebuchet MS"/>
                      </a:rPr>
                      <m:t>𝐶</m:t>
                    </m:r>
                  </m:oMath>
                </a14:m>
                <a:r>
                  <a:rPr lang="en-MY" sz="1000" dirty="0">
                    <a:latin typeface="Trebuchet MS"/>
                    <a:cs typeface="Trebuchet MS"/>
                  </a:rPr>
                  <a:t> </a:t>
                </a: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Social outcome (the “winner”): R</a:t>
                </a:r>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12094" y="423803"/>
                <a:ext cx="4126556" cy="2862322"/>
              </a:xfrm>
              <a:prstGeom prst="rect">
                <a:avLst/>
              </a:prstGeom>
              <a:blipFill>
                <a:blip r:embed="rId4"/>
                <a:stretch>
                  <a:fillRect l="-591" t="-1279" b="-1493"/>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011C4B27-2A5D-44D3-9992-385403C21CE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0431A28-960B-44BA-88B6-73E3C7BE8B6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299038E3-129A-403C-B1ED-B375733E4DB9}"/>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13</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0" dirty="0"/>
              <a:t>Ap</a:t>
            </a:r>
            <a:r>
              <a:rPr spc="-50" dirty="0"/>
              <a:t>p</a:t>
            </a:r>
            <a:r>
              <a:rPr spc="-45" dirty="0"/>
              <a:t>roval</a:t>
            </a:r>
            <a:r>
              <a:rPr spc="25" dirty="0"/>
              <a:t> </a:t>
            </a:r>
            <a:r>
              <a:rPr spc="-40" dirty="0"/>
              <a:t>voting</a:t>
            </a:r>
          </a:p>
        </p:txBody>
      </p:sp>
      <p:sp>
        <p:nvSpPr>
          <p:cNvPr id="3" name="object 3"/>
          <p:cNvSpPr txBox="1">
            <a:spLocks noGrp="1"/>
          </p:cNvSpPr>
          <p:nvPr>
            <p:ph type="body" idx="1"/>
          </p:nvPr>
        </p:nvSpPr>
        <p:spPr>
          <a:xfrm>
            <a:off x="95300" y="766200"/>
            <a:ext cx="4512681" cy="1382167"/>
          </a:xfrm>
          <a:prstGeom prst="rect">
            <a:avLst/>
          </a:prstGeom>
        </p:spPr>
        <p:txBody>
          <a:bodyPr vert="horz" wrap="square" lIns="0" tIns="559111"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kern="1200" spc="10" dirty="0"/>
              <a:t>Each “approved” candidate gets 1 vote; other candidates get 0</a:t>
            </a:r>
          </a:p>
          <a:p>
            <a:pPr marL="284163" indent="-230188" algn="l" rtl="0">
              <a:lnSpc>
                <a:spcPts val="1400"/>
              </a:lnSpc>
              <a:spcBef>
                <a:spcPts val="330"/>
              </a:spcBef>
              <a:buClr>
                <a:srgbClr val="0000FF"/>
              </a:buClr>
              <a:buFont typeface="Wingdings 3" panose="05040102010807070707" pitchFamily="18" charset="2"/>
              <a:buChar char=""/>
            </a:pPr>
            <a:r>
              <a:rPr kern="1200" spc="10" dirty="0"/>
              <a:t>The candidate with the largest number of votes wins</a:t>
            </a:r>
          </a:p>
          <a:p>
            <a:pPr marL="284163" indent="-230188" algn="l" rtl="0">
              <a:lnSpc>
                <a:spcPts val="1400"/>
              </a:lnSpc>
              <a:spcBef>
                <a:spcPts val="330"/>
              </a:spcBef>
              <a:buClr>
                <a:srgbClr val="0000FF"/>
              </a:buClr>
              <a:buFont typeface="Wingdings 3" panose="05040102010807070707" pitchFamily="18" charset="2"/>
              <a:buChar char=""/>
            </a:pPr>
            <a:r>
              <a:rPr kern="1200" spc="10" dirty="0"/>
              <a:t>It may require a tie-breaking rule</a:t>
            </a:r>
          </a:p>
          <a:p>
            <a:pPr marL="284163" indent="-230188" algn="l" rtl="0">
              <a:lnSpc>
                <a:spcPts val="1400"/>
              </a:lnSpc>
              <a:spcBef>
                <a:spcPts val="330"/>
              </a:spcBef>
              <a:buClr>
                <a:srgbClr val="0000FF"/>
              </a:buClr>
              <a:buFont typeface="Wingdings 3" panose="05040102010807070707" pitchFamily="18" charset="2"/>
              <a:buChar char=""/>
            </a:pPr>
            <a:r>
              <a:rPr kern="1200" spc="10" dirty="0"/>
              <a:t>Example...</a:t>
            </a:r>
          </a:p>
        </p:txBody>
      </p:sp>
      <p:sp>
        <p:nvSpPr>
          <p:cNvPr id="4" name="Date Placeholder 3">
            <a:extLst>
              <a:ext uri="{FF2B5EF4-FFF2-40B4-BE49-F238E27FC236}">
                <a16:creationId xmlns:a16="http://schemas.microsoft.com/office/drawing/2014/main" id="{86C9465F-8C61-4776-9F68-747D2E31B07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2F11DC48-63EE-4D0C-A361-4EC9E3A528B3}"/>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338865E-4C26-4395-991F-C83C6B5E93C1}"/>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14</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spc="-10" dirty="0"/>
              <a:t>Ap</a:t>
            </a:r>
            <a:r>
              <a:rPr spc="-50" dirty="0"/>
              <a:t>p</a:t>
            </a:r>
            <a:r>
              <a:rPr spc="-45" dirty="0"/>
              <a:t>roval</a:t>
            </a:r>
            <a:r>
              <a:rPr spc="25" dirty="0"/>
              <a:t> </a:t>
            </a:r>
            <a:r>
              <a:rPr spc="-40" dirty="0"/>
              <a:t>voting</a:t>
            </a:r>
          </a:p>
        </p:txBody>
      </p:sp>
      <mc:AlternateContent xmlns:mc="http://schemas.openxmlformats.org/markup-compatibility/2006" xmlns:a14="http://schemas.microsoft.com/office/drawing/2010/main">
        <mc:Choice Requires="a14">
          <p:sp>
            <p:nvSpPr>
              <p:cNvPr id="3" name="object 3"/>
              <p:cNvSpPr txBox="1"/>
              <p:nvPr/>
            </p:nvSpPr>
            <p:spPr>
              <a:xfrm>
                <a:off x="447356" y="601551"/>
                <a:ext cx="3000693" cy="817596"/>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Agents/Voters: </a:t>
                </a:r>
                <a14:m>
                  <m:oMath xmlns:m="http://schemas.openxmlformats.org/officeDocument/2006/math">
                    <m:r>
                      <a:rPr lang="en-MY" sz="1100" i="1" spc="10" dirty="0" smtClean="0">
                        <a:latin typeface="Cambria Math" panose="02040503050406030204" pitchFamily="18" charset="0"/>
                        <a:cs typeface="Tahoma"/>
                      </a:rPr>
                      <m:t>𝑁</m:t>
                    </m:r>
                    <m:r>
                      <a:rPr lang="en-MY" sz="1100" i="1" spc="10" dirty="0" smtClean="0">
                        <a:latin typeface="Cambria Math" panose="02040503050406030204" pitchFamily="18" charset="0"/>
                        <a:cs typeface="Tahoma"/>
                      </a:rPr>
                      <m:t> = {</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2</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3</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4</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5</m:t>
                    </m:r>
                    <m:r>
                      <a:rPr lang="en-MY" sz="1100" i="1" spc="10" dirty="0" smtClean="0">
                        <a:latin typeface="Cambria Math" panose="02040503050406030204" pitchFamily="18" charset="0"/>
                        <a:cs typeface="Tahoma"/>
                      </a:rPr>
                      <m:t>}</m:t>
                    </m:r>
                  </m:oMath>
                </a14:m>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Outcomes/Candidates: </a:t>
                </a:r>
                <a14:m>
                  <m:oMath xmlns:m="http://schemas.openxmlformats.org/officeDocument/2006/math">
                    <m:r>
                      <a:rPr lang="el-GR" sz="1100" i="1" spc="10" dirty="0" smtClean="0">
                        <a:latin typeface="Cambria Math" panose="02040503050406030204" pitchFamily="18" charset="0"/>
                        <a:cs typeface="Tahoma"/>
                      </a:rPr>
                      <m:t>Ω</m:t>
                    </m:r>
                    <m:r>
                      <a:rPr lang="el-GR" sz="1100" i="1" spc="10" dirty="0" smtClean="0">
                        <a:latin typeface="Cambria Math" panose="02040503050406030204" pitchFamily="18" charset="0"/>
                        <a:cs typeface="Tahoma"/>
                      </a:rPr>
                      <m:t> = {</m:t>
                    </m:r>
                    <m:r>
                      <a:rPr lang="el-GR" sz="1100" i="1" spc="10" dirty="0" smtClean="0">
                        <a:latin typeface="Cambria Math" panose="02040503050406030204" pitchFamily="18" charset="0"/>
                        <a:cs typeface="Tahoma"/>
                      </a:rPr>
                      <m:t>𝐿</m:t>
                    </m:r>
                    <m:r>
                      <a:rPr lang="el-GR" sz="1100" i="1" spc="10" dirty="0" smtClean="0">
                        <a:latin typeface="Cambria Math" panose="02040503050406030204" pitchFamily="18" charset="0"/>
                        <a:cs typeface="Tahoma"/>
                      </a:rPr>
                      <m:t>, </m:t>
                    </m:r>
                    <m:r>
                      <a:rPr lang="el-GR" sz="1100" i="1" spc="10" dirty="0" smtClean="0">
                        <a:latin typeface="Cambria Math" panose="02040503050406030204" pitchFamily="18" charset="0"/>
                        <a:cs typeface="Tahoma"/>
                      </a:rPr>
                      <m:t>𝐶</m:t>
                    </m:r>
                    <m:r>
                      <a:rPr lang="el-GR" sz="1100" i="1" spc="10" dirty="0" smtClean="0">
                        <a:latin typeface="Cambria Math" panose="02040503050406030204" pitchFamily="18" charset="0"/>
                        <a:cs typeface="Tahoma"/>
                      </a:rPr>
                      <m:t>, </m:t>
                    </m:r>
                    <m:r>
                      <a:rPr lang="el-GR" sz="1100" i="1" spc="10" dirty="0" smtClean="0">
                        <a:latin typeface="Cambria Math" panose="02040503050406030204" pitchFamily="18" charset="0"/>
                        <a:cs typeface="Tahoma"/>
                      </a:rPr>
                      <m:t>𝑅</m:t>
                    </m:r>
                    <m:r>
                      <a:rPr lang="el-GR" sz="1100" i="1" spc="10" dirty="0" smtClean="0">
                        <a:latin typeface="Cambria Math" panose="02040503050406030204" pitchFamily="18" charset="0"/>
                        <a:cs typeface="Tahoma"/>
                      </a:rPr>
                      <m:t>}</m:t>
                    </m:r>
                  </m:oMath>
                </a14:m>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Preference orderings: </a:t>
                </a:r>
                <a14:m>
                  <m:oMath xmlns:m="http://schemas.openxmlformats.org/officeDocument/2006/math">
                    <m:r>
                      <m:rPr>
                        <m:sty m:val="p"/>
                      </m:rPr>
                      <a:rPr lang="el-GR" sz="1100" i="0" spc="10" dirty="0" smtClean="0">
                        <a:latin typeface="Cambria Math" panose="02040503050406030204" pitchFamily="18" charset="0"/>
                        <a:cs typeface="Tahoma"/>
                      </a:rPr>
                      <m:t>Π</m:t>
                    </m:r>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m:t>
                    </m:r>
                  </m:oMath>
                </a14:m>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Social choice function:</a:t>
                </a:r>
              </a:p>
            </p:txBody>
          </p:sp>
        </mc:Choice>
        <mc:Fallback xmlns="">
          <p:sp>
            <p:nvSpPr>
              <p:cNvPr id="3" name="object 3"/>
              <p:cNvSpPr txBox="1">
                <a:spLocks noRot="1" noChangeAspect="1" noMove="1" noResize="1" noEditPoints="1" noAdjustHandles="1" noChangeArrowheads="1" noChangeShapeType="1" noTextEdit="1"/>
              </p:cNvSpPr>
              <p:nvPr/>
            </p:nvSpPr>
            <p:spPr>
              <a:xfrm>
                <a:off x="447356" y="601551"/>
                <a:ext cx="3000693" cy="817596"/>
              </a:xfrm>
              <a:prstGeom prst="rect">
                <a:avLst/>
              </a:prstGeom>
              <a:blipFill>
                <a:blip r:embed="rId3"/>
                <a:stretch>
                  <a:fillRect l="-811" t="-6716" b="-9701"/>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4" name="object 4"/>
              <p:cNvSpPr txBox="1"/>
              <p:nvPr/>
            </p:nvSpPr>
            <p:spPr>
              <a:xfrm>
                <a:off x="901484" y="1549283"/>
                <a:ext cx="2851366" cy="1041311"/>
              </a:xfrm>
              <a:prstGeom prst="rect">
                <a:avLst/>
              </a:prstGeom>
            </p:spPr>
            <p:txBody>
              <a:bodyPr vert="horz" wrap="square" lIns="0" tIns="0" rIns="0" bIns="0" rtlCol="0">
                <a:spAutoFit/>
              </a:bodyPr>
              <a:lstStyle/>
              <a:p>
                <a:pPr marL="671195">
                  <a:lnSpc>
                    <a:spcPct val="100000"/>
                  </a:lnSpc>
                  <a:spcAft>
                    <a:spcPts val="600"/>
                  </a:spcAft>
                </a:pPr>
                <a14:m>
                  <m:oMathPara xmlns:m="http://schemas.openxmlformats.org/officeDocument/2006/math">
                    <m:oMathParaPr>
                      <m:jc m:val="centerGroup"/>
                    </m:oMathParaPr>
                    <m:oMath xmlns:m="http://schemas.openxmlformats.org/officeDocument/2006/math">
                      <m:r>
                        <a:rPr lang="el-GR" sz="1100" i="1" spc="-114" dirty="0" smtClean="0">
                          <a:latin typeface="Cambria Math" panose="02040503050406030204" pitchFamily="18" charset="0"/>
                          <a:cs typeface="Trebuchet MS"/>
                        </a:rPr>
                        <m:t>𝑓</m:t>
                      </m:r>
                      <m:r>
                        <a:rPr lang="el-GR" sz="1100" i="1" spc="-114" dirty="0" smtClean="0">
                          <a:latin typeface="Cambria Math" panose="02040503050406030204" pitchFamily="18" charset="0"/>
                          <a:cs typeface="Trebuchet MS"/>
                        </a:rPr>
                        <m:t>  : </m:t>
                      </m:r>
                      <m:r>
                        <m:rPr>
                          <m:sty m:val="p"/>
                        </m:rPr>
                        <a:rPr lang="el-GR" sz="1100" i="0" spc="25" dirty="0">
                          <a:latin typeface="Cambria Math" panose="02040503050406030204" pitchFamily="18" charset="0"/>
                          <a:cs typeface="Tahoma"/>
                        </a:rPr>
                        <m:t>Π</m:t>
                      </m:r>
                      <m:r>
                        <a:rPr lang="el-GR" sz="1200" i="1" spc="-60" baseline="-10416" dirty="0">
                          <a:latin typeface="Cambria Math" panose="02040503050406030204" pitchFamily="18" charset="0"/>
                          <a:cs typeface="Lucida Sans Unicode"/>
                        </a:rPr>
                        <m:t>1</m:t>
                      </m:r>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 . . × </m:t>
                      </m:r>
                      <m:r>
                        <m:rPr>
                          <m:sty m:val="p"/>
                        </m:rPr>
                        <a:rPr lang="el-GR" sz="1100" i="0" spc="25" dirty="0">
                          <a:latin typeface="Cambria Math" panose="02040503050406030204" pitchFamily="18" charset="0"/>
                          <a:cs typeface="Tahoma"/>
                        </a:rPr>
                        <m:t>Π</m:t>
                      </m:r>
                      <m:r>
                        <a:rPr lang="el-GR" sz="1200" i="1" spc="75" baseline="-10416" dirty="0">
                          <a:latin typeface="Cambria Math" panose="02040503050406030204" pitchFamily="18" charset="0"/>
                          <a:cs typeface="Arial"/>
                        </a:rPr>
                        <m:t>𝑛</m:t>
                      </m:r>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m:t>
                      </m:r>
                      <m:r>
                        <a:rPr lang="el-GR" sz="1100" i="1" spc="5" dirty="0">
                          <a:latin typeface="Cambria Math" panose="02040503050406030204" pitchFamily="18" charset="0"/>
                          <a:cs typeface="Tahoma"/>
                        </a:rPr>
                        <m:t>Ω</m:t>
                      </m:r>
                    </m:oMath>
                  </m:oMathPara>
                </a14:m>
                <a:endParaRPr lang="el-GR" sz="1100" dirty="0">
                  <a:latin typeface="Tahoma"/>
                  <a:cs typeface="Tahoma"/>
                </a:endParaRPr>
              </a:p>
              <a:p>
                <a:pPr>
                  <a:lnSpc>
                    <a:spcPts val="1200"/>
                  </a:lnSpc>
                  <a:spcBef>
                    <a:spcPts val="175"/>
                  </a:spcBef>
                </a:pPr>
                <a14:m>
                  <m:oMath xmlns:m="http://schemas.openxmlformats.org/officeDocument/2006/math">
                    <m:r>
                      <a:rPr lang="en-MY" sz="1000" i="1" spc="30" dirty="0" smtClean="0">
                        <a:latin typeface="Cambria Math" panose="02040503050406030204" pitchFamily="18" charset="0"/>
                        <a:cs typeface="Trebuchet MS"/>
                      </a:rPr>
                      <m:t>𝐿</m:t>
                    </m:r>
                    <m:r>
                      <a:rPr lang="en-MY" sz="1000" i="1" spc="-25" dirty="0" smtClean="0">
                        <a:latin typeface="Cambria Math" panose="02040503050406030204" pitchFamily="18" charset="0"/>
                        <a:cs typeface="Trebuchet MS"/>
                      </a:rPr>
                      <m:t> </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1</m:t>
                        </m:r>
                      </m:sub>
                    </m:sSub>
                    <m:r>
                      <a:rPr lang="en-MY" sz="1000" b="0" i="1" spc="55" dirty="0" smtClean="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b="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1</m:t>
                        </m:r>
                      </m:sub>
                    </m:sSub>
                    <m:r>
                      <a:rPr lang="en-MY" sz="1000" b="0" i="1" spc="-25" dirty="0" smtClean="0">
                        <a:latin typeface="Cambria Math" panose="02040503050406030204" pitchFamily="18" charset="0"/>
                        <a:ea typeface="Cambria Math" panose="02040503050406030204" pitchFamily="18" charset="0"/>
                        <a:cs typeface="Trebuchet MS"/>
                      </a:rPr>
                      <m:t>𝑅</m:t>
                    </m:r>
                  </m:oMath>
                </a14:m>
                <a:r>
                  <a:rPr lang="en-MY" sz="1000" dirty="0">
                    <a:latin typeface="Trebuchet MS"/>
                    <a:cs typeface="Trebuchet MS"/>
                  </a:rPr>
                  <a:t> </a:t>
                </a:r>
              </a:p>
              <a:p>
                <a:pPr>
                  <a:lnSpc>
                    <a:spcPts val="1195"/>
                  </a:lnSpc>
                </a:pPr>
                <a14:m>
                  <m:oMath xmlns:m="http://schemas.openxmlformats.org/officeDocument/2006/math">
                    <m:r>
                      <a:rPr lang="en-MY" sz="1000" i="1" spc="35" dirty="0" smtClean="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b="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2</m:t>
                        </m:r>
                      </m:sub>
                    </m:sSub>
                    <m:r>
                      <a:rPr lang="en-MY" sz="1000" i="1" spc="30" dirty="0">
                        <a:latin typeface="Cambria Math" panose="02040503050406030204" pitchFamily="18" charset="0"/>
                        <a:cs typeface="Trebuchet MS"/>
                      </a:rPr>
                      <m:t>𝐿</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2</m:t>
                        </m:r>
                      </m:sub>
                    </m:sSub>
                    <m:r>
                      <a:rPr lang="en-MY" sz="1000" i="1" spc="55" dirty="0" smtClean="0">
                        <a:latin typeface="Cambria Math" panose="02040503050406030204" pitchFamily="18" charset="0"/>
                        <a:cs typeface="Trebuchet MS"/>
                      </a:rPr>
                      <m:t>𝑅</m:t>
                    </m:r>
                    <m:r>
                      <a:rPr lang="en-MY" sz="1000" b="0" i="1" spc="55" dirty="0" smtClean="0">
                        <a:latin typeface="Cambria Math" panose="02040503050406030204" pitchFamily="18" charset="0"/>
                        <a:cs typeface="Trebuchet MS"/>
                      </a:rPr>
                      <m:t>  </m:t>
                    </m:r>
                    <m:r>
                      <m:rPr>
                        <m:nor/>
                      </m:rPr>
                      <a:rPr lang="en-MY" sz="1000" dirty="0">
                        <a:latin typeface="Trebuchet MS"/>
                        <a:cs typeface="Trebuchet MS"/>
                      </a:rPr>
                      <m:t> </m:t>
                    </m:r>
                  </m:oMath>
                </a14:m>
                <a:r>
                  <a:rPr lang="en-MY" sz="1000" dirty="0">
                    <a:latin typeface="Trebuchet MS"/>
                    <a:cs typeface="Trebuchet MS"/>
                  </a:rPr>
                  <a:t> </a:t>
                </a:r>
              </a:p>
              <a:p>
                <a:pPr>
                  <a:lnSpc>
                    <a:spcPts val="1195"/>
                  </a:lnSpc>
                </a:pPr>
                <a14:m>
                  <m:oMath xmlns:m="http://schemas.openxmlformats.org/officeDocument/2006/math">
                    <m:r>
                      <a:rPr lang="en-MY" sz="1000" i="1" spc="55" dirty="0" smtClean="0">
                        <a:latin typeface="Cambria Math" panose="02040503050406030204" pitchFamily="18" charset="0"/>
                        <a:cs typeface="Trebuchet MS"/>
                      </a:rPr>
                      <m:t>𝑅</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3</m:t>
                        </m:r>
                      </m:sub>
                    </m:sSub>
                    <m:r>
                      <a:rPr lang="en-MY" sz="1000" i="1" spc="35" dirty="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b="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3</m:t>
                        </m:r>
                      </m:sub>
                    </m:sSub>
                    <m:r>
                      <a:rPr lang="en-MY" sz="1000" i="1" spc="30" dirty="0">
                        <a:latin typeface="Cambria Math" panose="02040503050406030204" pitchFamily="18" charset="0"/>
                        <a:cs typeface="Trebuchet MS"/>
                      </a:rPr>
                      <m:t>𝐿</m:t>
                    </m:r>
                    <m:r>
                      <m:rPr>
                        <m:nor/>
                      </m:rPr>
                      <a:rPr lang="en-MY" sz="1000" dirty="0">
                        <a:latin typeface="Trebuchet MS"/>
                        <a:cs typeface="Trebuchet MS"/>
                      </a:rPr>
                      <m:t> </m:t>
                    </m:r>
                  </m:oMath>
                </a14:m>
                <a:r>
                  <a:rPr lang="en-MY" sz="1000" dirty="0">
                    <a:latin typeface="Trebuchet MS"/>
                    <a:cs typeface="Trebuchet MS"/>
                  </a:rPr>
                  <a:t> </a:t>
                </a:r>
              </a:p>
              <a:p>
                <a:pPr>
                  <a:lnSpc>
                    <a:spcPts val="1195"/>
                  </a:lnSpc>
                </a:pPr>
                <a14:m>
                  <m:oMath xmlns:m="http://schemas.openxmlformats.org/officeDocument/2006/math">
                    <m:r>
                      <a:rPr lang="en-MY" sz="1000" i="1" spc="35" dirty="0" smtClean="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b="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4</m:t>
                        </m:r>
                      </m:sub>
                    </m:sSub>
                    <m:r>
                      <a:rPr lang="en-MY" sz="1000" i="1" spc="30" dirty="0">
                        <a:latin typeface="Cambria Math" panose="02040503050406030204" pitchFamily="18" charset="0"/>
                        <a:cs typeface="Trebuchet MS"/>
                      </a:rPr>
                      <m:t>𝐿</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4</m:t>
                        </m:r>
                      </m:sub>
                    </m:sSub>
                    <m:r>
                      <a:rPr lang="en-MY" sz="1000" i="1" spc="55" dirty="0">
                        <a:latin typeface="Cambria Math" panose="02040503050406030204" pitchFamily="18" charset="0"/>
                        <a:cs typeface="Trebuchet MS"/>
                      </a:rPr>
                      <m:t>𝑅</m:t>
                    </m:r>
                    <m:r>
                      <m:rPr>
                        <m:nor/>
                      </m:rPr>
                      <a:rPr lang="en-MY" sz="1000" dirty="0">
                        <a:latin typeface="Trebuchet MS"/>
                        <a:cs typeface="Trebuchet MS"/>
                      </a:rPr>
                      <m:t> </m:t>
                    </m:r>
                  </m:oMath>
                </a14:m>
                <a:r>
                  <a:rPr lang="en-MY" sz="1000" dirty="0">
                    <a:latin typeface="Trebuchet MS"/>
                    <a:cs typeface="Trebuchet MS"/>
                  </a:rPr>
                  <a:t>  </a:t>
                </a:r>
              </a:p>
              <a:p>
                <a:pPr>
                  <a:lnSpc>
                    <a:spcPts val="1200"/>
                  </a:lnSpc>
                </a:pPr>
                <a14:m>
                  <m:oMath xmlns:m="http://schemas.openxmlformats.org/officeDocument/2006/math">
                    <m:r>
                      <a:rPr lang="en-MY" sz="1000" b="0" i="1" spc="55" dirty="0" smtClean="0">
                        <a:latin typeface="Cambria Math" panose="02040503050406030204" pitchFamily="18" charset="0"/>
                        <a:cs typeface="Trebuchet MS"/>
                      </a:rPr>
                      <m:t>𝐶</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b="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5</m:t>
                        </m:r>
                      </m:sub>
                    </m:sSub>
                    <m:r>
                      <a:rPr lang="en-MY" sz="1000" b="0" i="1" spc="30" dirty="0" smtClean="0">
                        <a:latin typeface="Cambria Math" panose="02040503050406030204" pitchFamily="18" charset="0"/>
                        <a:cs typeface="Trebuchet MS"/>
                      </a:rPr>
                      <m:t>𝑅</m:t>
                    </m:r>
                    <m:sSub>
                      <m:sSubPr>
                        <m:ctrlPr>
                          <a:rPr lang="en-MY" sz="1000" b="0" i="1" spc="-25" dirty="0" smtClean="0">
                            <a:latin typeface="Cambria Math" panose="02040503050406030204" pitchFamily="18" charset="0"/>
                            <a:ea typeface="Cambria Math" panose="02040503050406030204" pitchFamily="18" charset="0"/>
                            <a:cs typeface="Trebuchet MS"/>
                          </a:rPr>
                        </m:ctrlPr>
                      </m:sSubPr>
                      <m:e>
                        <m:r>
                          <a:rPr lang="en-MY" sz="1000" b="0" i="1" spc="-25" dirty="0" smtClean="0">
                            <a:latin typeface="Cambria Math" panose="02040503050406030204" pitchFamily="18" charset="0"/>
                            <a:ea typeface="Cambria Math" panose="02040503050406030204" pitchFamily="18" charset="0"/>
                            <a:cs typeface="Trebuchet MS"/>
                          </a:rPr>
                          <m:t>≽</m:t>
                        </m:r>
                      </m:e>
                      <m:sub>
                        <m:r>
                          <a:rPr lang="en-MY" sz="1000" b="0" i="1" spc="-25" dirty="0" smtClean="0">
                            <a:latin typeface="Cambria Math" panose="02040503050406030204" pitchFamily="18" charset="0"/>
                            <a:ea typeface="Cambria Math" panose="02040503050406030204" pitchFamily="18" charset="0"/>
                            <a:cs typeface="Trebuchet MS"/>
                          </a:rPr>
                          <m:t>5</m:t>
                        </m:r>
                      </m:sub>
                    </m:sSub>
                    <m:r>
                      <a:rPr lang="en-MY" sz="1000" b="0" i="1" spc="-25" dirty="0" smtClean="0">
                        <a:latin typeface="Cambria Math" panose="02040503050406030204" pitchFamily="18" charset="0"/>
                        <a:ea typeface="Cambria Math" panose="02040503050406030204" pitchFamily="18" charset="0"/>
                        <a:cs typeface="Trebuchet MS"/>
                      </a:rPr>
                      <m:t>𝐿</m:t>
                    </m:r>
                  </m:oMath>
                </a14:m>
                <a:r>
                  <a:rPr lang="en-MY" sz="1000" dirty="0">
                    <a:latin typeface="Trebuchet MS"/>
                    <a:cs typeface="Trebuchet MS"/>
                  </a:rPr>
                  <a:t> </a:t>
                </a:r>
                <a:endParaRPr sz="1000" dirty="0">
                  <a:latin typeface="Trebuchet MS"/>
                  <a:cs typeface="Trebuchet MS"/>
                </a:endParaRPr>
              </a:p>
            </p:txBody>
          </p:sp>
        </mc:Choice>
        <mc:Fallback xmlns="">
          <p:sp>
            <p:nvSpPr>
              <p:cNvPr id="4" name="object 4"/>
              <p:cNvSpPr txBox="1">
                <a:spLocks noRot="1" noChangeAspect="1" noMove="1" noResize="1" noEditPoints="1" noAdjustHandles="1" noChangeArrowheads="1" noChangeShapeType="1" noTextEdit="1"/>
              </p:cNvSpPr>
              <p:nvPr/>
            </p:nvSpPr>
            <p:spPr>
              <a:xfrm>
                <a:off x="901484" y="1549283"/>
                <a:ext cx="2851366" cy="1041311"/>
              </a:xfrm>
              <a:prstGeom prst="rect">
                <a:avLst/>
              </a:prstGeom>
              <a:blipFill>
                <a:blip r:embed="rId4"/>
                <a:stretch>
                  <a:fillRect l="-1709" b="-1754"/>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6" name="object 6"/>
              <p:cNvSpPr txBox="1"/>
              <p:nvPr/>
            </p:nvSpPr>
            <p:spPr>
              <a:xfrm>
                <a:off x="447356" y="2710727"/>
                <a:ext cx="4162744" cy="52463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Social outcome (the “winner”): </a:t>
                </a:r>
                <a14:m>
                  <m:oMath xmlns:m="http://schemas.openxmlformats.org/officeDocument/2006/math">
                    <m:r>
                      <a:rPr lang="en-US" sz="1100" i="1" spc="10" dirty="0" smtClean="0">
                        <a:latin typeface="Cambria Math" panose="02040503050406030204" pitchFamily="18" charset="0"/>
                        <a:cs typeface="Tahoma"/>
                      </a:rPr>
                      <m:t>𝐿</m:t>
                    </m:r>
                  </m:oMath>
                </a14:m>
                <a:br>
                  <a:rPr lang="en-MY" sz="1100" spc="-50" dirty="0">
                    <a:latin typeface="Tahoma"/>
                    <a:cs typeface="Tahoma"/>
                  </a:rPr>
                </a:br>
                <a:r>
                  <a:rPr lang="en-US" sz="1100" spc="10" dirty="0">
                    <a:latin typeface="Tahoma"/>
                    <a:cs typeface="Tahoma"/>
                  </a:rPr>
                  <a:t>Here, if </a:t>
                </a:r>
                <a14:m>
                  <m:oMath xmlns:m="http://schemas.openxmlformats.org/officeDocument/2006/math">
                    <m:r>
                      <a:rPr lang="en-US" sz="1100" spc="10" dirty="0">
                        <a:latin typeface="Cambria Math" panose="02040503050406030204" pitchFamily="18" charset="0"/>
                        <a:cs typeface="Tahoma"/>
                      </a:rPr>
                      <m:t>𝜔</m:t>
                    </m:r>
                    <m:sSub>
                      <m:sSubPr>
                        <m:ctrlPr>
                          <a:rPr lang="en-MY" sz="1100" i="1" spc="10" dirty="0">
                            <a:latin typeface="Cambria Math" panose="02040503050406030204" pitchFamily="18" charset="0"/>
                            <a:cs typeface="Tahoma"/>
                          </a:rPr>
                        </m:ctrlPr>
                      </m:sSubPr>
                      <m:e>
                        <m:r>
                          <a:rPr lang="en-MY" sz="1100" spc="10" dirty="0">
                            <a:latin typeface="Cambria Math" panose="02040503050406030204" pitchFamily="18" charset="0"/>
                            <a:cs typeface="Tahoma"/>
                          </a:rPr>
                          <m:t>≻</m:t>
                        </m:r>
                      </m:e>
                      <m:sub>
                        <m:r>
                          <a:rPr lang="en-MY" sz="1100" spc="10" dirty="0">
                            <a:latin typeface="Cambria Math" panose="02040503050406030204" pitchFamily="18" charset="0"/>
                            <a:cs typeface="Tahoma"/>
                          </a:rPr>
                          <m:t>𝑖</m:t>
                        </m:r>
                      </m:sub>
                    </m:sSub>
                    <m:r>
                      <a:rPr lang="en-US" sz="1100" spc="10" dirty="0">
                        <a:latin typeface="Cambria Math" panose="02040503050406030204" pitchFamily="18" charset="0"/>
                        <a:cs typeface="Tahoma"/>
                      </a:rPr>
                      <m:t>𝜔</m:t>
                    </m:r>
                    <m:r>
                      <a:rPr lang="en-MY" sz="1100" spc="10" dirty="0">
                        <a:latin typeface="Cambria Math" panose="02040503050406030204" pitchFamily="18" charset="0"/>
                        <a:cs typeface="Tahoma"/>
                      </a:rPr>
                      <m:t>′</m:t>
                    </m:r>
                  </m:oMath>
                </a14:m>
                <a:r>
                  <a:rPr lang="en-US" sz="1100" spc="10" dirty="0">
                    <a:latin typeface="Tahoma"/>
                    <a:cs typeface="Tahoma"/>
                  </a:rPr>
                  <a:t>, then </a:t>
                </a:r>
                <a14:m>
                  <m:oMath xmlns:m="http://schemas.openxmlformats.org/officeDocument/2006/math">
                    <m:r>
                      <a:rPr lang="en-US" sz="1100" spc="10" dirty="0">
                        <a:latin typeface="Cambria Math" panose="02040503050406030204" pitchFamily="18" charset="0"/>
                        <a:cs typeface="Tahoma"/>
                      </a:rPr>
                      <m:t>𝜔</m:t>
                    </m:r>
                    <m:r>
                      <a:rPr lang="en-US" sz="1100" spc="10" dirty="0">
                        <a:latin typeface="Cambria Math" panose="02040503050406030204" pitchFamily="18" charset="0"/>
                        <a:cs typeface="Tahoma"/>
                      </a:rPr>
                      <m:t> </m:t>
                    </m:r>
                  </m:oMath>
                </a14:m>
                <a:r>
                  <a:rPr lang="en-US" sz="1100" spc="10" dirty="0">
                    <a:latin typeface="Tahoma"/>
                    <a:cs typeface="Tahoma"/>
                  </a:rPr>
                  <a:t>is approved and </a:t>
                </a:r>
                <a14:m>
                  <m:oMath xmlns:m="http://schemas.openxmlformats.org/officeDocument/2006/math">
                    <m:sSup>
                      <m:sSupPr>
                        <m:ctrlPr>
                          <a:rPr lang="en-MY" sz="1100" i="1" spc="10" dirty="0">
                            <a:latin typeface="Cambria Math" panose="02040503050406030204" pitchFamily="18" charset="0"/>
                            <a:cs typeface="Tahoma"/>
                          </a:rPr>
                        </m:ctrlPr>
                      </m:sSupPr>
                      <m:e>
                        <m:r>
                          <a:rPr lang="en-US" sz="1100" spc="10" dirty="0">
                            <a:latin typeface="Cambria Math" panose="02040503050406030204" pitchFamily="18" charset="0"/>
                            <a:cs typeface="Tahoma"/>
                          </a:rPr>
                          <m:t>𝜔</m:t>
                        </m:r>
                      </m:e>
                      <m:sup>
                        <m:r>
                          <a:rPr lang="en-MY" sz="1100" spc="10" dirty="0">
                            <a:latin typeface="Cambria Math" panose="02040503050406030204" pitchFamily="18" charset="0"/>
                            <a:cs typeface="Tahoma"/>
                          </a:rPr>
                          <m:t>′</m:t>
                        </m:r>
                        <m:r>
                          <a:rPr lang="en-MY" sz="1100" spc="10" dirty="0">
                            <a:latin typeface="Cambria Math" panose="02040503050406030204" pitchFamily="18" charset="0"/>
                            <a:cs typeface="Tahoma"/>
                          </a:rPr>
                          <m:t> </m:t>
                        </m:r>
                      </m:sup>
                    </m:sSup>
                  </m:oMath>
                </a14:m>
                <a:r>
                  <a:rPr lang="en-US" sz="1100" spc="10" dirty="0">
                    <a:latin typeface="Tahoma"/>
                    <a:cs typeface="Tahoma"/>
                  </a:rPr>
                  <a:t>is not; and, if</a:t>
                </a:r>
                <a14:m>
                  <m:oMath xmlns:m="http://schemas.openxmlformats.org/officeDocument/2006/math">
                    <m:r>
                      <a:rPr lang="en-MY" sz="1100" spc="10" dirty="0">
                        <a:latin typeface="Cambria Math" panose="02040503050406030204" pitchFamily="18" charset="0"/>
                        <a:cs typeface="Tahoma"/>
                      </a:rPr>
                      <m:t> </m:t>
                    </m:r>
                    <m:r>
                      <a:rPr lang="en-US" sz="1100" spc="10" dirty="0">
                        <a:latin typeface="Cambria Math" panose="02040503050406030204" pitchFamily="18" charset="0"/>
                        <a:cs typeface="Tahoma"/>
                      </a:rPr>
                      <m:t>𝜔</m:t>
                    </m:r>
                    <m:sSub>
                      <m:sSubPr>
                        <m:ctrlPr>
                          <a:rPr lang="en-MY" sz="1100" i="1" spc="10" dirty="0">
                            <a:latin typeface="Cambria Math" panose="02040503050406030204" pitchFamily="18" charset="0"/>
                            <a:cs typeface="Tahoma"/>
                          </a:rPr>
                        </m:ctrlPr>
                      </m:sSubPr>
                      <m:e>
                        <m:r>
                          <a:rPr lang="en-US" sz="1100" spc="10" dirty="0">
                            <a:latin typeface="Cambria Math" panose="02040503050406030204" pitchFamily="18" charset="0"/>
                            <a:cs typeface="Tahoma"/>
                          </a:rPr>
                          <m:t>≽</m:t>
                        </m:r>
                      </m:e>
                      <m:sub>
                        <m:r>
                          <a:rPr lang="en-MY" sz="1100" spc="10" dirty="0">
                            <a:latin typeface="Cambria Math" panose="02040503050406030204" pitchFamily="18" charset="0"/>
                            <a:cs typeface="Tahoma"/>
                          </a:rPr>
                          <m:t>𝑖</m:t>
                        </m:r>
                      </m:sub>
                    </m:sSub>
                    <m:r>
                      <a:rPr lang="en-US" sz="1100" spc="10" dirty="0">
                        <a:latin typeface="Cambria Math" panose="02040503050406030204" pitchFamily="18" charset="0"/>
                        <a:cs typeface="Tahoma"/>
                      </a:rPr>
                      <m:t>𝜔</m:t>
                    </m:r>
                    <m:r>
                      <a:rPr lang="en-US" sz="1100" spc="10" dirty="0">
                        <a:latin typeface="Cambria Math" panose="02040503050406030204" pitchFamily="18" charset="0"/>
                        <a:cs typeface="Tahoma"/>
                      </a:rPr>
                      <m:t>′</m:t>
                    </m:r>
                  </m:oMath>
                </a14:m>
                <a:r>
                  <a:rPr lang="en-US" sz="1100" spc="10" dirty="0">
                    <a:latin typeface="Tahoma"/>
                    <a:cs typeface="Tahoma"/>
                  </a:rPr>
                  <a:t>, then both candidates are approved/not approved.</a:t>
                </a:r>
                <a:endParaRPr sz="1100" spc="10" dirty="0">
                  <a:latin typeface="Tahoma"/>
                  <a:cs typeface="Tahoma"/>
                </a:endParaRPr>
              </a:p>
            </p:txBody>
          </p:sp>
        </mc:Choice>
        <mc:Fallback xmlns="">
          <p:sp>
            <p:nvSpPr>
              <p:cNvPr id="6" name="object 6"/>
              <p:cNvSpPr txBox="1">
                <a:spLocks noRot="1" noChangeAspect="1" noMove="1" noResize="1" noEditPoints="1" noAdjustHandles="1" noChangeArrowheads="1" noChangeShapeType="1" noTextEdit="1"/>
              </p:cNvSpPr>
              <p:nvPr/>
            </p:nvSpPr>
            <p:spPr>
              <a:xfrm>
                <a:off x="447356" y="2710727"/>
                <a:ext cx="4162744" cy="524631"/>
              </a:xfrm>
              <a:prstGeom prst="rect">
                <a:avLst/>
              </a:prstGeom>
              <a:blipFill>
                <a:blip r:embed="rId5"/>
                <a:stretch>
                  <a:fillRect l="-586" t="-10465" r="-293" b="-15116"/>
                </a:stretch>
              </a:blipFill>
            </p:spPr>
            <p:txBody>
              <a:bodyPr/>
              <a:lstStyle/>
              <a:p>
                <a:r>
                  <a:rPr lang="en-US">
                    <a:noFill/>
                  </a:rPr>
                  <a:t> </a:t>
                </a:r>
              </a:p>
            </p:txBody>
          </p:sp>
        </mc:Fallback>
      </mc:AlternateContent>
      <p:sp>
        <p:nvSpPr>
          <p:cNvPr id="7" name="Date Placeholder 3">
            <a:extLst>
              <a:ext uri="{FF2B5EF4-FFF2-40B4-BE49-F238E27FC236}">
                <a16:creationId xmlns:a16="http://schemas.microsoft.com/office/drawing/2014/main" id="{187BF24E-E842-4ECD-9E03-5E938D68D7C1}"/>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DE2B6DE3-BAEE-450D-8AA1-C053177B8CF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62EFCBF4-BAC6-43A6-AC2B-504FC12B3B3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15</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
        <p:nvSpPr>
          <p:cNvPr id="10" name="TextBox 9">
            <a:extLst>
              <a:ext uri="{FF2B5EF4-FFF2-40B4-BE49-F238E27FC236}">
                <a16:creationId xmlns:a16="http://schemas.microsoft.com/office/drawing/2014/main" id="{7A737845-6013-4CF6-8516-D5B8A3F121EE}"/>
              </a:ext>
            </a:extLst>
          </p:cNvPr>
          <p:cNvSpPr txBox="1"/>
          <p:nvPr/>
        </p:nvSpPr>
        <p:spPr>
          <a:xfrm>
            <a:off x="349250" y="1779271"/>
            <a:ext cx="457200" cy="255904"/>
          </a:xfrm>
          <a:prstGeom prst="rect">
            <a:avLst/>
          </a:prstGeom>
          <a:noFill/>
        </p:spPr>
        <p:txBody>
          <a:bodyPr wrap="square"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0" dirty="0"/>
              <a:t>B</a:t>
            </a:r>
            <a:r>
              <a:rPr spc="-20" dirty="0"/>
              <a:t>o</a:t>
            </a:r>
            <a:r>
              <a:rPr spc="-55" dirty="0"/>
              <a:t>rda</a:t>
            </a:r>
            <a:r>
              <a:rPr spc="25" dirty="0"/>
              <a:t> </a:t>
            </a:r>
            <a:r>
              <a:rPr spc="-35" dirty="0"/>
              <a:t>count</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271041" y="684502"/>
                <a:ext cx="4336939" cy="1735418"/>
              </a:xfrm>
              <a:prstGeom prst="rect">
                <a:avLst/>
              </a:prstGeom>
            </p:spPr>
            <p:txBody>
              <a:bodyPr vert="horz" wrap="square" lIns="0" tIns="337445"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lang="en-US" kern="1200" spc="10" dirty="0"/>
                  <a:t>For an election with </a:t>
                </a:r>
                <a14:m>
                  <m:oMath xmlns:m="http://schemas.openxmlformats.org/officeDocument/2006/math">
                    <m:r>
                      <a:rPr lang="en-US" i="1" kern="1200" spc="10" dirty="0" smtClean="0">
                        <a:latin typeface="Cambria Math" panose="02040503050406030204" pitchFamily="18" charset="0"/>
                      </a:rPr>
                      <m:t>Ω</m:t>
                    </m:r>
                    <m:r>
                      <a:rPr lang="en-US" i="1" kern="1200" spc="10" dirty="0" smtClean="0">
                        <a:latin typeface="Cambria Math" panose="02040503050406030204" pitchFamily="18" charset="0"/>
                      </a:rPr>
                      <m:t> = {</m:t>
                    </m:r>
                    <m:sSub>
                      <m:sSubPr>
                        <m:ctrlPr>
                          <a:rPr lang="en-US" b="0" i="1" kern="1200" spc="10" dirty="0" smtClean="0">
                            <a:latin typeface="Cambria Math" panose="02040503050406030204" pitchFamily="18" charset="0"/>
                          </a:rPr>
                        </m:ctrlPr>
                      </m:sSubPr>
                      <m:e>
                        <m:r>
                          <a:rPr lang="en-US" i="1" kern="1200" spc="10" dirty="0" smtClean="0">
                            <a:latin typeface="Cambria Math" panose="02040503050406030204" pitchFamily="18" charset="0"/>
                          </a:rPr>
                          <m:t>𝜔</m:t>
                        </m:r>
                      </m:e>
                      <m:sub>
                        <m:r>
                          <a:rPr lang="en-US" i="1" kern="1200" spc="10" dirty="0" smtClean="0">
                            <a:latin typeface="Cambria Math" panose="02040503050406030204" pitchFamily="18" charset="0"/>
                          </a:rPr>
                          <m:t>1</m:t>
                        </m:r>
                      </m:sub>
                    </m:sSub>
                    <m:r>
                      <a:rPr lang="en-US" i="1" kern="1200" spc="10" dirty="0" smtClean="0">
                        <a:latin typeface="Cambria Math" panose="02040503050406030204" pitchFamily="18" charset="0"/>
                      </a:rPr>
                      <m:t>, . </m:t>
                    </m:r>
                    <m:r>
                      <a:rPr lang="en-US" i="1" kern="1200" spc="10" dirty="0">
                        <a:latin typeface="Cambria Math" panose="02040503050406030204" pitchFamily="18" charset="0"/>
                      </a:rPr>
                      <m:t>. . , </m:t>
                    </m:r>
                    <m:sSub>
                      <m:sSubPr>
                        <m:ctrlPr>
                          <a:rPr lang="en-MY" b="0" i="1" kern="1200" spc="10" dirty="0" smtClean="0">
                            <a:latin typeface="Cambria Math" panose="02040503050406030204" pitchFamily="18" charset="0"/>
                          </a:rPr>
                        </m:ctrlPr>
                      </m:sSubPr>
                      <m:e>
                        <m:r>
                          <a:rPr lang="en-US" i="1" kern="1200" spc="10" dirty="0">
                            <a:latin typeface="Cambria Math" panose="02040503050406030204" pitchFamily="18" charset="0"/>
                          </a:rPr>
                          <m:t>𝜔</m:t>
                        </m:r>
                      </m:e>
                      <m:sub>
                        <m:r>
                          <a:rPr lang="en-US" i="1" kern="1200" spc="10" dirty="0">
                            <a:latin typeface="Cambria Math" panose="02040503050406030204" pitchFamily="18" charset="0"/>
                          </a:rPr>
                          <m:t>𝑘</m:t>
                        </m:r>
                      </m:sub>
                    </m:sSub>
                    <m:r>
                      <a:rPr lang="en-US" i="1" kern="1200" spc="10" dirty="0">
                        <a:latin typeface="Cambria Math" panose="02040503050406030204" pitchFamily="18" charset="0"/>
                      </a:rPr>
                      <m:t>}, </m:t>
                    </m:r>
                  </m:oMath>
                </a14:m>
                <a:r>
                  <a:rPr lang="en-US" kern="1200" spc="10" dirty="0"/>
                  <a:t>we define </a:t>
                </a:r>
                <a14:m>
                  <m:oMath xmlns:m="http://schemas.openxmlformats.org/officeDocument/2006/math">
                    <m:r>
                      <a:rPr lang="en-US" i="1" kern="1200" spc="10" dirty="0" smtClean="0">
                        <a:latin typeface="Cambria Math" panose="02040503050406030204" pitchFamily="18" charset="0"/>
                      </a:rPr>
                      <m:t>𝑘</m:t>
                    </m:r>
                  </m:oMath>
                </a14:m>
                <a:r>
                  <a:rPr lang="en-US" kern="1200" spc="10" dirty="0"/>
                  <a:t> variables</a:t>
                </a:r>
              </a:p>
              <a:p>
                <a:pPr marL="284163" marR="5080" indent="-230188" algn="l" rtl="0">
                  <a:lnSpc>
                    <a:spcPts val="1400"/>
                  </a:lnSpc>
                  <a:spcBef>
                    <a:spcPts val="330"/>
                  </a:spcBef>
                  <a:buClr>
                    <a:srgbClr val="0000FF"/>
                  </a:buClr>
                  <a:buFont typeface="Wingdings 3" panose="05040102010807070707" pitchFamily="18" charset="2"/>
                  <a:buChar char=""/>
                </a:pPr>
                <a:r>
                  <a:rPr lang="en-US" kern="1200" spc="10" dirty="0"/>
                  <a:t>Candidates get points according to their rank in the preference order of each voter; they get </a:t>
                </a:r>
                <a14:m>
                  <m:oMath xmlns:m="http://schemas.openxmlformats.org/officeDocument/2006/math">
                    <m:r>
                      <a:rPr lang="en-US" i="1" kern="1200" spc="10" dirty="0" smtClean="0">
                        <a:latin typeface="Cambria Math" panose="02040503050406030204" pitchFamily="18" charset="0"/>
                      </a:rPr>
                      <m:t>𝑘</m:t>
                    </m:r>
                    <m:r>
                      <a:rPr lang="en-US" i="1" kern="1200" spc="10" dirty="0" smtClean="0">
                        <a:latin typeface="Cambria Math" panose="02040503050406030204" pitchFamily="18" charset="0"/>
                      </a:rPr>
                      <m:t> − </m:t>
                    </m:r>
                    <m:r>
                      <a:rPr lang="en-US" i="1" kern="1200" spc="10" dirty="0" smtClean="0">
                        <a:latin typeface="Cambria Math" panose="02040503050406030204" pitchFamily="18" charset="0"/>
                      </a:rPr>
                      <m:t>1</m:t>
                    </m:r>
                    <m:r>
                      <a:rPr lang="en-US" i="1" kern="1200" spc="10" dirty="0" smtClean="0">
                        <a:latin typeface="Cambria Math" panose="02040503050406030204" pitchFamily="18" charset="0"/>
                      </a:rPr>
                      <m:t> </m:t>
                    </m:r>
                  </m:oMath>
                </a14:m>
                <a:r>
                  <a:rPr lang="en-US" kern="1200" spc="10" dirty="0"/>
                  <a:t>points if they are first,</a:t>
                </a:r>
                <a:br>
                  <a:rPr lang="en-US" kern="1200" spc="10" dirty="0"/>
                </a:br>
                <a14:m>
                  <m:oMath xmlns:m="http://schemas.openxmlformats.org/officeDocument/2006/math">
                    <m:r>
                      <a:rPr lang="en-US" i="1" kern="1200" spc="10" dirty="0" smtClean="0">
                        <a:latin typeface="Cambria Math" panose="02040503050406030204" pitchFamily="18" charset="0"/>
                      </a:rPr>
                      <m:t>𝑘</m:t>
                    </m:r>
                    <m:r>
                      <a:rPr lang="en-US" i="1" kern="1200" spc="10" dirty="0" smtClean="0">
                        <a:latin typeface="Cambria Math" panose="02040503050406030204" pitchFamily="18" charset="0"/>
                      </a:rPr>
                      <m:t> − </m:t>
                    </m:r>
                    <m:r>
                      <a:rPr lang="en-US" i="1" kern="1200" spc="10" dirty="0" smtClean="0">
                        <a:latin typeface="Cambria Math" panose="02040503050406030204" pitchFamily="18" charset="0"/>
                      </a:rPr>
                      <m:t>2</m:t>
                    </m:r>
                    <m:r>
                      <a:rPr lang="en-US" i="1" kern="1200" spc="10" dirty="0" smtClean="0">
                        <a:latin typeface="Cambria Math" panose="02040503050406030204" pitchFamily="18" charset="0"/>
                      </a:rPr>
                      <m:t> </m:t>
                    </m:r>
                  </m:oMath>
                </a14:m>
                <a:r>
                  <a:rPr lang="en-US" kern="1200" spc="10" dirty="0"/>
                  <a:t>points if they are second, ..., and 0 points if they are last</a:t>
                </a:r>
              </a:p>
              <a:p>
                <a:pPr marL="284163" indent="-230188" algn="l" rtl="0">
                  <a:lnSpc>
                    <a:spcPts val="1400"/>
                  </a:lnSpc>
                  <a:spcBef>
                    <a:spcPts val="330"/>
                  </a:spcBef>
                  <a:buClr>
                    <a:srgbClr val="0000FF"/>
                  </a:buClr>
                  <a:buFont typeface="Wingdings 3" panose="05040102010807070707" pitchFamily="18" charset="2"/>
                  <a:buChar char=""/>
                </a:pPr>
                <a:r>
                  <a:rPr lang="en-US" kern="1200" spc="10" dirty="0"/>
                  <a:t>The candidate with the </a:t>
                </a:r>
                <a:r>
                  <a:rPr lang="en-US" i="1" kern="1200" spc="10" dirty="0"/>
                  <a:t>largest</a:t>
                </a:r>
                <a:r>
                  <a:rPr lang="en-US" kern="1200" spc="10" dirty="0"/>
                  <a:t> number of votes wins</a:t>
                </a:r>
              </a:p>
              <a:p>
                <a:pPr marL="284163" indent="-230188" algn="l" rtl="0">
                  <a:lnSpc>
                    <a:spcPts val="1400"/>
                  </a:lnSpc>
                  <a:spcBef>
                    <a:spcPts val="330"/>
                  </a:spcBef>
                  <a:buClr>
                    <a:srgbClr val="0000FF"/>
                  </a:buClr>
                  <a:buFont typeface="Wingdings 3" panose="05040102010807070707" pitchFamily="18" charset="2"/>
                  <a:buChar char=""/>
                </a:pPr>
                <a:r>
                  <a:rPr lang="en-US" kern="1200" spc="10" dirty="0"/>
                  <a:t>It may require a tie-breaking rule</a:t>
                </a:r>
              </a:p>
              <a:p>
                <a:pPr marL="284163" indent="-230188" algn="l" rtl="0">
                  <a:lnSpc>
                    <a:spcPts val="1400"/>
                  </a:lnSpc>
                  <a:spcBef>
                    <a:spcPts val="330"/>
                  </a:spcBef>
                  <a:buClr>
                    <a:srgbClr val="0000FF"/>
                  </a:buClr>
                  <a:buFont typeface="Wingdings 3" panose="05040102010807070707" pitchFamily="18" charset="2"/>
                  <a:buChar char=""/>
                </a:pPr>
                <a:r>
                  <a:rPr lang="en-US" kern="1200" spc="10" dirty="0"/>
                  <a:t>Example...</a:t>
                </a:r>
                <a:endParaRPr kern="1200" spc="1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271041" y="684502"/>
                <a:ext cx="4336939" cy="1735418"/>
              </a:xfrm>
              <a:prstGeom prst="rect">
                <a:avLst/>
              </a:prstGeom>
              <a:blipFill>
                <a:blip r:embed="rId3"/>
                <a:stretch>
                  <a:fillRect l="-562" r="-1264" b="-4211"/>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04870EAE-EF9C-42CD-AE57-1F5D163B258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CB070DA-163C-4819-8D46-6DB60DF513E7}"/>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2BB75891-8000-46AB-8AF4-095430B19B70}"/>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16</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spc="20" dirty="0"/>
              <a:t>B</a:t>
            </a:r>
            <a:r>
              <a:rPr spc="-20" dirty="0"/>
              <a:t>o</a:t>
            </a:r>
            <a:r>
              <a:rPr spc="-55" dirty="0"/>
              <a:t>rda</a:t>
            </a:r>
            <a:r>
              <a:rPr spc="25" dirty="0"/>
              <a:t> </a:t>
            </a:r>
            <a:r>
              <a:rPr spc="-35" dirty="0"/>
              <a:t>count</a:t>
            </a:r>
          </a:p>
        </p:txBody>
      </p:sp>
      <mc:AlternateContent xmlns:mc="http://schemas.openxmlformats.org/markup-compatibility/2006" xmlns:a14="http://schemas.microsoft.com/office/drawing/2010/main">
        <mc:Choice Requires="a14">
          <p:sp>
            <p:nvSpPr>
              <p:cNvPr id="3" name="object 3"/>
              <p:cNvSpPr txBox="1"/>
              <p:nvPr/>
            </p:nvSpPr>
            <p:spPr>
              <a:xfrm>
                <a:off x="447356" y="1003392"/>
                <a:ext cx="3381693" cy="39498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Agents/Voters: </a:t>
                </a:r>
                <a14:m>
                  <m:oMath xmlns:m="http://schemas.openxmlformats.org/officeDocument/2006/math">
                    <m:r>
                      <a:rPr lang="en-MY" sz="1100" spc="10" dirty="0">
                        <a:latin typeface="Cambria Math" panose="02040503050406030204" pitchFamily="18" charset="0"/>
                        <a:cs typeface="Tahoma"/>
                      </a:rPr>
                      <m:t>𝑁</m:t>
                    </m:r>
                    <m:r>
                      <a:rPr lang="en-MY" sz="1100" spc="10" dirty="0">
                        <a:latin typeface="Cambria Math" panose="02040503050406030204" pitchFamily="18" charset="0"/>
                        <a:cs typeface="Tahoma"/>
                      </a:rPr>
                      <m:t> = {</m:t>
                    </m:r>
                    <m:r>
                      <a:rPr lang="en-MY" sz="1100" spc="10" dirty="0">
                        <a:latin typeface="Cambria Math" panose="02040503050406030204" pitchFamily="18" charset="0"/>
                        <a:cs typeface="Tahoma"/>
                      </a:rPr>
                      <m:t>1</m:t>
                    </m:r>
                    <m:r>
                      <a:rPr lang="en-MY" sz="1100" spc="10" dirty="0">
                        <a:latin typeface="Cambria Math" panose="02040503050406030204" pitchFamily="18" charset="0"/>
                        <a:cs typeface="Tahoma"/>
                      </a:rPr>
                      <m:t>, </m:t>
                    </m:r>
                    <m:r>
                      <a:rPr lang="en-MY" sz="1100" spc="10" dirty="0">
                        <a:latin typeface="Cambria Math" panose="02040503050406030204" pitchFamily="18" charset="0"/>
                        <a:cs typeface="Tahoma"/>
                      </a:rPr>
                      <m:t>2</m:t>
                    </m:r>
                    <m:r>
                      <a:rPr lang="en-MY" sz="1100" spc="10" dirty="0">
                        <a:latin typeface="Cambria Math" panose="02040503050406030204" pitchFamily="18" charset="0"/>
                        <a:cs typeface="Tahoma"/>
                      </a:rPr>
                      <m:t>, </m:t>
                    </m:r>
                    <m:r>
                      <a:rPr lang="en-MY" sz="1100" spc="10" dirty="0">
                        <a:latin typeface="Cambria Math" panose="02040503050406030204" pitchFamily="18" charset="0"/>
                        <a:cs typeface="Tahoma"/>
                      </a:rPr>
                      <m:t>3</m:t>
                    </m:r>
                    <m:r>
                      <a:rPr lang="en-MY" sz="1100" spc="10" dirty="0">
                        <a:latin typeface="Cambria Math" panose="02040503050406030204" pitchFamily="18" charset="0"/>
                        <a:cs typeface="Tahoma"/>
                      </a:rPr>
                      <m:t>, </m:t>
                    </m:r>
                    <m:r>
                      <a:rPr lang="en-MY" sz="1100" spc="10" dirty="0">
                        <a:latin typeface="Cambria Math" panose="02040503050406030204" pitchFamily="18" charset="0"/>
                        <a:cs typeface="Tahoma"/>
                      </a:rPr>
                      <m:t>4</m:t>
                    </m:r>
                    <m:r>
                      <a:rPr lang="en-MY" sz="1100" spc="10" dirty="0">
                        <a:latin typeface="Cambria Math" panose="02040503050406030204" pitchFamily="18" charset="0"/>
                        <a:cs typeface="Tahoma"/>
                      </a:rPr>
                      <m:t>, </m:t>
                    </m:r>
                    <m:r>
                      <a:rPr lang="en-MY" sz="1100" spc="10" dirty="0">
                        <a:latin typeface="Cambria Math" panose="02040503050406030204" pitchFamily="18" charset="0"/>
                        <a:cs typeface="Tahoma"/>
                      </a:rPr>
                      <m:t>5</m:t>
                    </m:r>
                    <m:r>
                      <a:rPr lang="en-MY" sz="1100" spc="10" dirty="0">
                        <a:latin typeface="Cambria Math" panose="02040503050406030204" pitchFamily="18" charset="0"/>
                        <a:cs typeface="Tahoma"/>
                      </a:rPr>
                      <m:t>}</m:t>
                    </m:r>
                  </m:oMath>
                </a14:m>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Outcomes/Candidates: </a:t>
                </a:r>
                <a14:m>
                  <m:oMath xmlns:m="http://schemas.openxmlformats.org/officeDocument/2006/math">
                    <m:r>
                      <a:rPr lang="el-GR" sz="1100" spc="10" dirty="0">
                        <a:latin typeface="Cambria Math" panose="02040503050406030204" pitchFamily="18" charset="0"/>
                        <a:cs typeface="Tahoma"/>
                      </a:rPr>
                      <m:t>Ω</m:t>
                    </m:r>
                    <m:r>
                      <a:rPr lang="el-GR" sz="1100" spc="10" dirty="0">
                        <a:latin typeface="Cambria Math" panose="02040503050406030204" pitchFamily="18" charset="0"/>
                        <a:cs typeface="Tahoma"/>
                      </a:rPr>
                      <m:t> = {</m:t>
                    </m:r>
                    <m:r>
                      <a:rPr lang="el-GR" sz="1100" spc="10" dirty="0">
                        <a:latin typeface="Cambria Math" panose="02040503050406030204" pitchFamily="18" charset="0"/>
                        <a:cs typeface="Tahoma"/>
                      </a:rPr>
                      <m:t>𝐿</m:t>
                    </m:r>
                    <m:r>
                      <a:rPr lang="el-GR" sz="1100" spc="10" dirty="0">
                        <a:latin typeface="Cambria Math" panose="02040503050406030204" pitchFamily="18" charset="0"/>
                        <a:cs typeface="Tahoma"/>
                      </a:rPr>
                      <m:t>, </m:t>
                    </m:r>
                    <m:r>
                      <a:rPr lang="el-GR" sz="1100" spc="10" dirty="0">
                        <a:latin typeface="Cambria Math" panose="02040503050406030204" pitchFamily="18" charset="0"/>
                        <a:cs typeface="Tahoma"/>
                      </a:rPr>
                      <m:t>𝐶</m:t>
                    </m:r>
                    <m:r>
                      <a:rPr lang="el-GR" sz="1100" spc="10" dirty="0">
                        <a:latin typeface="Cambria Math" panose="02040503050406030204" pitchFamily="18" charset="0"/>
                        <a:cs typeface="Tahoma"/>
                      </a:rPr>
                      <m:t>, </m:t>
                    </m:r>
                    <m:r>
                      <a:rPr lang="el-GR" sz="1100" spc="10" dirty="0">
                        <a:latin typeface="Cambria Math" panose="02040503050406030204" pitchFamily="18" charset="0"/>
                        <a:cs typeface="Tahoma"/>
                      </a:rPr>
                      <m:t>𝑅</m:t>
                    </m:r>
                    <m:r>
                      <a:rPr lang="el-GR" sz="1100" spc="10" dirty="0">
                        <a:latin typeface="Cambria Math" panose="02040503050406030204" pitchFamily="18" charset="0"/>
                        <a:cs typeface="Tahoma"/>
                      </a:rPr>
                      <m:t>}</m:t>
                    </m:r>
                  </m:oMath>
                </a14:m>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47356" y="1003392"/>
                <a:ext cx="3381693" cy="394980"/>
              </a:xfrm>
              <a:prstGeom prst="rect">
                <a:avLst/>
              </a:prstGeom>
              <a:blipFill>
                <a:blip r:embed="rId3"/>
                <a:stretch>
                  <a:fillRect l="-721" t="-14063" b="-18750"/>
                </a:stretch>
              </a:blipFill>
            </p:spPr>
            <p:txBody>
              <a:bodyPr/>
              <a:lstStyle/>
              <a:p>
                <a:r>
                  <a:rPr lang="en-MY">
                    <a:noFill/>
                  </a:rPr>
                  <a:t> </a:t>
                </a:r>
              </a:p>
            </p:txBody>
          </p:sp>
        </mc:Fallback>
      </mc:AlternateContent>
      <p:sp>
        <p:nvSpPr>
          <p:cNvPr id="4" name="object 4"/>
          <p:cNvSpPr txBox="1"/>
          <p:nvPr/>
        </p:nvSpPr>
        <p:spPr>
          <a:xfrm>
            <a:off x="447357" y="1403213"/>
            <a:ext cx="133350" cy="16357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endParaRPr sz="1100" spc="10" dirty="0">
              <a:latin typeface="Tahoma"/>
              <a:cs typeface="Tahoma"/>
            </a:endParaRPr>
          </a:p>
        </p:txBody>
      </p:sp>
      <mc:AlternateContent xmlns:mc="http://schemas.openxmlformats.org/markup-compatibility/2006" xmlns:a14="http://schemas.microsoft.com/office/drawing/2010/main">
        <mc:Choice Requires="a14">
          <p:sp>
            <p:nvSpPr>
              <p:cNvPr id="5" name="object 5"/>
              <p:cNvSpPr txBox="1"/>
              <p:nvPr/>
            </p:nvSpPr>
            <p:spPr>
              <a:xfrm>
                <a:off x="901484" y="1418638"/>
                <a:ext cx="716280" cy="769441"/>
              </a:xfrm>
              <a:prstGeom prst="rect">
                <a:avLst/>
              </a:prstGeom>
            </p:spPr>
            <p:txBody>
              <a:bodyPr vert="horz" wrap="square" lIns="0" tIns="0" rIns="0" bIns="0" rtlCol="0">
                <a:spAutoFit/>
              </a:bodyPr>
              <a:lstStyle/>
              <a:p>
                <a:pPr>
                  <a:lnSpc>
                    <a:spcPts val="1200"/>
                  </a:lnSpc>
                  <a:spcBef>
                    <a:spcPts val="175"/>
                  </a:spcBef>
                </a:pPr>
                <a14:m>
                  <m:oMathPara xmlns:m="http://schemas.openxmlformats.org/officeDocument/2006/math">
                    <m:oMathParaPr>
                      <m:jc m:val="centerGroup"/>
                    </m:oMathParaPr>
                    <m:oMath xmlns:m="http://schemas.openxmlformats.org/officeDocument/2006/math">
                      <m:r>
                        <a:rPr lang="ar-SA" sz="1000" i="1" spc="30" dirty="0" smtClean="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1</m:t>
                          </m:r>
                        </m:sub>
                      </m:sSub>
                      <m:r>
                        <a:rPr lang="ar-SA" sz="1000" b="0" i="1" spc="5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1</m:t>
                          </m:r>
                        </m:sub>
                      </m:sSub>
                      <m:r>
                        <a:rPr lang="ar-SA" sz="1000" b="0" i="1" spc="-25" dirty="0" smtClean="0">
                          <a:latin typeface="Cambria Math" panose="02040503050406030204" pitchFamily="18" charset="0"/>
                          <a:ea typeface="Cambria Math" panose="02040503050406030204" pitchFamily="18" charset="0"/>
                          <a:cs typeface="Trebuchet MS"/>
                        </a:rPr>
                        <m:t>𝑅</m:t>
                      </m:r>
                    </m:oMath>
                  </m:oMathPara>
                </a14:m>
                <a:endParaRPr lang="ar-SA" sz="1000" dirty="0">
                  <a:latin typeface="Trebuchet MS"/>
                  <a:cs typeface="Trebuchet MS"/>
                </a:endParaRPr>
              </a:p>
              <a:p>
                <a:pPr>
                  <a:lnSpc>
                    <a:spcPts val="1195"/>
                  </a:lnSpc>
                </a:pPr>
                <a14:m>
                  <m:oMathPara xmlns:m="http://schemas.openxmlformats.org/officeDocument/2006/math">
                    <m:oMathParaPr>
                      <m:jc m:val="centerGroup"/>
                    </m:oMathParaPr>
                    <m:oMath xmlns:m="http://schemas.openxmlformats.org/officeDocument/2006/math">
                      <m:r>
                        <a:rPr lang="ar-SA" sz="1000" i="1" spc="3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2</m:t>
                          </m:r>
                        </m:sub>
                      </m:sSub>
                      <m:r>
                        <a:rPr lang="ar-SA" sz="1000" i="1" spc="30" dirty="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2</m:t>
                          </m:r>
                        </m:sub>
                      </m:sSub>
                      <m:r>
                        <a:rPr lang="ar-SA" sz="1000" i="1" spc="55" dirty="0" smtClean="0">
                          <a:latin typeface="Cambria Math" panose="02040503050406030204" pitchFamily="18" charset="0"/>
                          <a:cs typeface="Trebuchet MS"/>
                        </a:rPr>
                        <m:t>𝑅</m:t>
                      </m:r>
                    </m:oMath>
                  </m:oMathPara>
                </a14:m>
                <a:endParaRPr lang="ar-SA" sz="1000" dirty="0">
                  <a:latin typeface="Trebuchet MS"/>
                  <a:cs typeface="Trebuchet MS"/>
                </a:endParaRPr>
              </a:p>
              <a:p>
                <a:pPr>
                  <a:lnSpc>
                    <a:spcPts val="1195"/>
                  </a:lnSpc>
                </a:pPr>
                <a14:m>
                  <m:oMathPara xmlns:m="http://schemas.openxmlformats.org/officeDocument/2006/math">
                    <m:oMathParaPr>
                      <m:jc m:val="centerGroup"/>
                    </m:oMathParaPr>
                    <m:oMath xmlns:m="http://schemas.openxmlformats.org/officeDocument/2006/math">
                      <m:r>
                        <a:rPr lang="ar-SA" sz="1000" i="1" spc="55" dirty="0" smtClean="0">
                          <a:latin typeface="Cambria Math" panose="02040503050406030204" pitchFamily="18" charset="0"/>
                          <a:cs typeface="Trebuchet MS"/>
                        </a:rPr>
                        <m:t>𝑅</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3</m:t>
                          </m:r>
                        </m:sub>
                      </m:sSub>
                      <m:r>
                        <a:rPr lang="en-MY" sz="1000" b="0" i="1" spc="-25" dirty="0" smtClean="0">
                          <a:latin typeface="Cambria Math" panose="02040503050406030204" pitchFamily="18" charset="0"/>
                          <a:ea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3</m:t>
                          </m:r>
                        </m:sub>
                      </m:sSub>
                      <m:r>
                        <a:rPr lang="en-MY" sz="1000" b="0" i="1" spc="-25" dirty="0" smtClean="0">
                          <a:latin typeface="Cambria Math" panose="02040503050406030204" pitchFamily="18" charset="0"/>
                          <a:ea typeface="Cambria Math" panose="02040503050406030204" pitchFamily="18" charset="0"/>
                          <a:cs typeface="Trebuchet MS"/>
                        </a:rPr>
                        <m:t>𝐶</m:t>
                      </m:r>
                    </m:oMath>
                  </m:oMathPara>
                </a14:m>
                <a:endParaRPr lang="ar-SA" sz="1000" dirty="0">
                  <a:latin typeface="Trebuchet MS"/>
                  <a:cs typeface="Trebuchet MS"/>
                </a:endParaRPr>
              </a:p>
              <a:p>
                <a:pPr>
                  <a:lnSpc>
                    <a:spcPts val="1195"/>
                  </a:lnSpc>
                </a:pPr>
                <a14:m>
                  <m:oMathPara xmlns:m="http://schemas.openxmlformats.org/officeDocument/2006/math">
                    <m:oMathParaPr>
                      <m:jc m:val="centerGroup"/>
                    </m:oMathParaPr>
                    <m:oMath xmlns:m="http://schemas.openxmlformats.org/officeDocument/2006/math">
                      <m:r>
                        <a:rPr lang="ar-SA" sz="1000" i="1" spc="3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4</m:t>
                          </m:r>
                        </m:sub>
                      </m:sSub>
                      <m:r>
                        <a:rPr lang="ar-SA" sz="1000" i="1" spc="30" dirty="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4</m:t>
                          </m:r>
                        </m:sub>
                      </m:sSub>
                      <m:r>
                        <a:rPr lang="ar-SA" sz="1000" i="1" spc="55" dirty="0">
                          <a:latin typeface="Cambria Math" panose="02040503050406030204" pitchFamily="18" charset="0"/>
                          <a:cs typeface="Trebuchet MS"/>
                        </a:rPr>
                        <m:t>𝑅</m:t>
                      </m:r>
                    </m:oMath>
                  </m:oMathPara>
                </a14:m>
                <a:endParaRPr lang="en-MY" sz="1000" dirty="0">
                  <a:latin typeface="Trebuchet MS"/>
                  <a:cs typeface="Trebuchet MS"/>
                </a:endParaRPr>
              </a:p>
              <a:p>
                <a:pPr>
                  <a:lnSpc>
                    <a:spcPts val="1195"/>
                  </a:lnSpc>
                </a:pPr>
                <a14:m>
                  <m:oMathPara xmlns:m="http://schemas.openxmlformats.org/officeDocument/2006/math">
                    <m:oMathParaPr>
                      <m:jc m:val="centerGroup"/>
                    </m:oMathParaPr>
                    <m:oMath xmlns:m="http://schemas.openxmlformats.org/officeDocument/2006/math">
                      <m:r>
                        <a:rPr lang="en-MY" sz="1000" b="0" i="1" spc="55" dirty="0" smtClean="0">
                          <a:latin typeface="Cambria Math" panose="02040503050406030204" pitchFamily="18" charset="0"/>
                          <a:cs typeface="Trebuchet MS"/>
                        </a:rPr>
                        <m:t>𝑅</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5</m:t>
                          </m:r>
                        </m:sub>
                      </m:sSub>
                      <m:r>
                        <a:rPr lang="en-MY" sz="1000" b="0" i="1" spc="-25" dirty="0" smtClean="0">
                          <a:latin typeface="Cambria Math" panose="02040503050406030204" pitchFamily="18" charset="0"/>
                          <a:ea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5</m:t>
                          </m:r>
                        </m:sub>
                      </m:sSub>
                      <m:r>
                        <a:rPr lang="en-MY" sz="1000" b="0" i="1" spc="-25" dirty="0" smtClean="0">
                          <a:latin typeface="Cambria Math" panose="02040503050406030204" pitchFamily="18" charset="0"/>
                          <a:ea typeface="Cambria Math" panose="02040503050406030204" pitchFamily="18" charset="0"/>
                          <a:cs typeface="Trebuchet MS"/>
                        </a:rPr>
                        <m:t>𝐶</m:t>
                      </m:r>
                      <m:r>
                        <a:rPr lang="en-MY" sz="1000" b="0" i="1" spc="-25" dirty="0" smtClean="0">
                          <a:latin typeface="Cambria Math" panose="02040503050406030204" pitchFamily="18" charset="0"/>
                          <a:ea typeface="Cambria Math" panose="02040503050406030204" pitchFamily="18" charset="0"/>
                          <a:cs typeface="Trebuchet MS"/>
                        </a:rPr>
                        <m:t> </m:t>
                      </m:r>
                    </m:oMath>
                  </m:oMathPara>
                </a14:m>
                <a:endParaRPr lang="ar-SA" sz="1000" dirty="0">
                  <a:latin typeface="Trebuchet MS"/>
                  <a:cs typeface="Trebuchet MS"/>
                </a:endParaRPr>
              </a:p>
            </p:txBody>
          </p:sp>
        </mc:Choice>
        <mc:Fallback xmlns="">
          <p:sp>
            <p:nvSpPr>
              <p:cNvPr id="5" name="object 5"/>
              <p:cNvSpPr txBox="1">
                <a:spLocks noRot="1" noChangeAspect="1" noMove="1" noResize="1" noEditPoints="1" noAdjustHandles="1" noChangeArrowheads="1" noChangeShapeType="1" noTextEdit="1"/>
              </p:cNvSpPr>
              <p:nvPr/>
            </p:nvSpPr>
            <p:spPr>
              <a:xfrm>
                <a:off x="901484" y="1418638"/>
                <a:ext cx="716280" cy="769441"/>
              </a:xfrm>
              <a:prstGeom prst="rect">
                <a:avLst/>
              </a:prstGeom>
              <a:blipFill>
                <a:blip r:embed="rId4"/>
                <a:stretch>
                  <a:fillRect l="-5983" r="-3419"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6"/>
              <p:cNvSpPr txBox="1"/>
              <p:nvPr/>
            </p:nvSpPr>
            <p:spPr>
              <a:xfrm>
                <a:off x="447357" y="2220573"/>
                <a:ext cx="2772093" cy="383567"/>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14:m>
                  <m:oMath xmlns:m="http://schemas.openxmlformats.org/officeDocument/2006/math">
                    <m:sSub>
                      <m:sSubPr>
                        <m:ctrlPr>
                          <a:rPr lang="en-US" sz="1100" i="1" spc="10" dirty="0">
                            <a:latin typeface="Cambria Math" panose="02040503050406030204" pitchFamily="18" charset="0"/>
                            <a:cs typeface="Tahoma"/>
                          </a:rPr>
                        </m:ctrlPr>
                      </m:sSubPr>
                      <m:e>
                        <m:r>
                          <a:rPr lang="en-US" sz="1100" spc="10" dirty="0">
                            <a:latin typeface="Cambria Math" panose="02040503050406030204" pitchFamily="18" charset="0"/>
                            <a:cs typeface="Tahoma"/>
                          </a:rPr>
                          <m:t>𝑣</m:t>
                        </m:r>
                      </m:e>
                      <m:sub>
                        <m:r>
                          <a:rPr lang="en-MY" sz="1100" spc="10" dirty="0">
                            <a:latin typeface="Cambria Math" panose="02040503050406030204" pitchFamily="18" charset="0"/>
                            <a:cs typeface="Tahoma"/>
                          </a:rPr>
                          <m:t>𝐿</m:t>
                        </m:r>
                      </m:sub>
                    </m:sSub>
                    <m:r>
                      <a:rPr lang="en-US" sz="1100" spc="10" dirty="0">
                        <a:latin typeface="Cambria Math" panose="02040503050406030204" pitchFamily="18" charset="0"/>
                        <a:cs typeface="Tahoma"/>
                      </a:rPr>
                      <m:t>=</m:t>
                    </m:r>
                    <m:r>
                      <a:rPr lang="en-US" sz="1100" spc="10" dirty="0">
                        <a:latin typeface="Cambria Math" panose="02040503050406030204" pitchFamily="18" charset="0"/>
                        <a:cs typeface="Tahoma"/>
                      </a:rPr>
                      <m:t>6</m:t>
                    </m:r>
                    <m:r>
                      <a:rPr lang="en-US" sz="1100" spc="10" dirty="0">
                        <a:latin typeface="Cambria Math" panose="02040503050406030204" pitchFamily="18" charset="0"/>
                        <a:cs typeface="Tahoma"/>
                      </a:rPr>
                      <m:t>; </m:t>
                    </m:r>
                    <m:sSub>
                      <m:sSubPr>
                        <m:ctrlPr>
                          <a:rPr lang="en-MY" sz="1100" i="1" spc="10" dirty="0">
                            <a:latin typeface="Cambria Math" panose="02040503050406030204" pitchFamily="18" charset="0"/>
                            <a:cs typeface="Tahoma"/>
                          </a:rPr>
                        </m:ctrlPr>
                      </m:sSubPr>
                      <m:e>
                        <m:r>
                          <a:rPr lang="en-US" sz="1100" spc="10" dirty="0">
                            <a:latin typeface="Cambria Math" panose="02040503050406030204" pitchFamily="18" charset="0"/>
                            <a:cs typeface="Tahoma"/>
                          </a:rPr>
                          <m:t>𝑣</m:t>
                        </m:r>
                      </m:e>
                      <m:sub>
                        <m:r>
                          <a:rPr lang="en-MY" sz="1100" spc="10" dirty="0">
                            <a:latin typeface="Cambria Math" panose="02040503050406030204" pitchFamily="18" charset="0"/>
                            <a:cs typeface="Tahoma"/>
                          </a:rPr>
                          <m:t>𝐶</m:t>
                        </m:r>
                      </m:sub>
                    </m:sSub>
                    <m:r>
                      <a:rPr lang="en-US" sz="1100" spc="10" dirty="0">
                        <a:latin typeface="Cambria Math" panose="02040503050406030204" pitchFamily="18" charset="0"/>
                        <a:cs typeface="Tahoma"/>
                      </a:rPr>
                      <m:t>= </m:t>
                    </m:r>
                    <m:r>
                      <a:rPr lang="en-US" sz="1100" spc="10" dirty="0">
                        <a:latin typeface="Cambria Math" panose="02040503050406030204" pitchFamily="18" charset="0"/>
                        <a:cs typeface="Tahoma"/>
                      </a:rPr>
                      <m:t>5</m:t>
                    </m:r>
                    <m:r>
                      <a:rPr lang="en-US" sz="1100" spc="10" dirty="0">
                        <a:latin typeface="Cambria Math" panose="02040503050406030204" pitchFamily="18" charset="0"/>
                        <a:cs typeface="Tahoma"/>
                      </a:rPr>
                      <m:t>; </m:t>
                    </m:r>
                    <m:sSub>
                      <m:sSubPr>
                        <m:ctrlPr>
                          <a:rPr lang="en-MY" sz="1100" i="1" spc="10" dirty="0">
                            <a:latin typeface="Cambria Math" panose="02040503050406030204" pitchFamily="18" charset="0"/>
                            <a:cs typeface="Tahoma"/>
                          </a:rPr>
                        </m:ctrlPr>
                      </m:sSubPr>
                      <m:e>
                        <m:r>
                          <a:rPr lang="en-US" sz="1100" spc="10" dirty="0">
                            <a:latin typeface="Cambria Math" panose="02040503050406030204" pitchFamily="18" charset="0"/>
                            <a:cs typeface="Tahoma"/>
                          </a:rPr>
                          <m:t>𝑣</m:t>
                        </m:r>
                      </m:e>
                      <m:sub>
                        <m:r>
                          <a:rPr lang="en-MY" sz="1100" spc="10" dirty="0">
                            <a:latin typeface="Cambria Math" panose="02040503050406030204" pitchFamily="18" charset="0"/>
                            <a:cs typeface="Tahoma"/>
                          </a:rPr>
                          <m:t>𝑅</m:t>
                        </m:r>
                      </m:sub>
                    </m:sSub>
                    <m:r>
                      <a:rPr lang="en-US" sz="1100" spc="10" dirty="0">
                        <a:latin typeface="Cambria Math" panose="02040503050406030204" pitchFamily="18" charset="0"/>
                        <a:cs typeface="Tahoma"/>
                      </a:rPr>
                      <m:t>= </m:t>
                    </m:r>
                    <m:r>
                      <a:rPr lang="en-US" sz="1100" spc="10" dirty="0">
                        <a:latin typeface="Cambria Math" panose="02040503050406030204" pitchFamily="18" charset="0"/>
                        <a:cs typeface="Tahoma"/>
                      </a:rPr>
                      <m:t>4</m:t>
                    </m:r>
                  </m:oMath>
                </a14:m>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Social outcome (the “winner”): </a:t>
                </a:r>
                <a14:m>
                  <m:oMath xmlns:m="http://schemas.openxmlformats.org/officeDocument/2006/math">
                    <m:r>
                      <a:rPr lang="en-US" sz="1100" spc="10" dirty="0">
                        <a:latin typeface="Cambria Math" panose="02040503050406030204" pitchFamily="18" charset="0"/>
                        <a:cs typeface="Tahoma"/>
                      </a:rPr>
                      <m:t>𝐿</m:t>
                    </m:r>
                  </m:oMath>
                </a14:m>
                <a:endParaRPr sz="1100" spc="10" dirty="0">
                  <a:latin typeface="Tahoma"/>
                  <a:cs typeface="Tahoma"/>
                </a:endParaRPr>
              </a:p>
            </p:txBody>
          </p:sp>
        </mc:Choice>
        <mc:Fallback xmlns="">
          <p:sp>
            <p:nvSpPr>
              <p:cNvPr id="6" name="object 6"/>
              <p:cNvSpPr txBox="1">
                <a:spLocks noRot="1" noChangeAspect="1" noMove="1" noResize="1" noEditPoints="1" noAdjustHandles="1" noChangeArrowheads="1" noChangeShapeType="1" noTextEdit="1"/>
              </p:cNvSpPr>
              <p:nvPr/>
            </p:nvSpPr>
            <p:spPr>
              <a:xfrm>
                <a:off x="447357" y="2220573"/>
                <a:ext cx="2772093" cy="383567"/>
              </a:xfrm>
              <a:prstGeom prst="rect">
                <a:avLst/>
              </a:prstGeom>
              <a:blipFill>
                <a:blip r:embed="rId5"/>
                <a:stretch>
                  <a:fillRect l="-879" t="-9524" b="-22222"/>
                </a:stretch>
              </a:blipFill>
            </p:spPr>
            <p:txBody>
              <a:bodyPr/>
              <a:lstStyle/>
              <a:p>
                <a:r>
                  <a:rPr lang="en-MY">
                    <a:noFill/>
                  </a:rPr>
                  <a:t> </a:t>
                </a:r>
              </a:p>
            </p:txBody>
          </p:sp>
        </mc:Fallback>
      </mc:AlternateContent>
      <p:sp>
        <p:nvSpPr>
          <p:cNvPr id="7" name="Date Placeholder 3">
            <a:extLst>
              <a:ext uri="{FF2B5EF4-FFF2-40B4-BE49-F238E27FC236}">
                <a16:creationId xmlns:a16="http://schemas.microsoft.com/office/drawing/2014/main" id="{887D086F-BA3E-4CB6-AEB1-69AEC2C306B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E680B105-6A45-4675-AD41-A3B59654A237}"/>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FF6C06A6-8F91-42A7-B64C-EB561AD168B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17</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45" dirty="0"/>
              <a:t>Cond</a:t>
            </a:r>
            <a:r>
              <a:rPr spc="-75" dirty="0"/>
              <a:t>o</a:t>
            </a:r>
            <a:r>
              <a:rPr spc="-40" dirty="0"/>
              <a:t>rcet</a:t>
            </a:r>
            <a:r>
              <a:rPr spc="25" dirty="0"/>
              <a:t> </a:t>
            </a:r>
            <a:r>
              <a:rPr spc="-55" dirty="0"/>
              <a:t>rule</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347294" y="766200"/>
                <a:ext cx="4167504" cy="1382167"/>
              </a:xfrm>
              <a:prstGeom prst="rect">
                <a:avLst/>
              </a:prstGeom>
            </p:spPr>
            <p:txBody>
              <a:bodyPr vert="horz" wrap="square" lIns="0" tIns="559111"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kern="1200" spc="10" dirty="0"/>
                  <a:t>Every candidate is voted using plurality against each another</a:t>
                </a:r>
              </a:p>
              <a:p>
                <a:pPr marL="284163" indent="-230188" algn="l" rtl="0">
                  <a:lnSpc>
                    <a:spcPts val="1400"/>
                  </a:lnSpc>
                  <a:spcBef>
                    <a:spcPts val="330"/>
                  </a:spcBef>
                  <a:buClr>
                    <a:srgbClr val="0000FF"/>
                  </a:buClr>
                  <a:buFont typeface="Wingdings 3" panose="05040102010807070707" pitchFamily="18" charset="2"/>
                  <a:buChar char=""/>
                </a:pPr>
                <a:r>
                  <a:rPr kern="1200" spc="10" dirty="0"/>
                  <a:t>The candidate winning every “head-to-head” election wins</a:t>
                </a:r>
              </a:p>
              <a:p>
                <a:pPr marL="284163" indent="-230188" algn="l" rtl="0">
                  <a:lnSpc>
                    <a:spcPts val="1400"/>
                  </a:lnSpc>
                  <a:spcBef>
                    <a:spcPts val="330"/>
                  </a:spcBef>
                  <a:buClr>
                    <a:srgbClr val="0000FF"/>
                  </a:buClr>
                  <a:buFont typeface="Wingdings 3" panose="05040102010807070707" pitchFamily="18" charset="2"/>
                  <a:buChar char=""/>
                </a:pPr>
                <a:r>
                  <a:rPr kern="1200" spc="10" dirty="0"/>
                  <a:t>The </a:t>
                </a:r>
                <a14:m>
                  <m:oMath xmlns:m="http://schemas.openxmlformats.org/officeDocument/2006/math">
                    <m:r>
                      <a:rPr lang="en-US" i="1" kern="1200" spc="10" dirty="0" smtClean="0">
                        <a:latin typeface="Cambria Math" panose="02040503050406030204" pitchFamily="18" charset="0"/>
                      </a:rPr>
                      <m:t>𝐶𝑜𝑛𝑑𝑜𝑟𝑐𝑒𝑡</m:t>
                    </m:r>
                    <m:r>
                      <a:rPr lang="en-US" i="1" kern="1200" spc="10" dirty="0" smtClean="0">
                        <a:latin typeface="Cambria Math" panose="02040503050406030204" pitchFamily="18" charset="0"/>
                      </a:rPr>
                      <m:t> </m:t>
                    </m:r>
                    <m:r>
                      <a:rPr lang="en-US" i="1" kern="1200" spc="10" dirty="0" smtClean="0">
                        <a:latin typeface="Cambria Math" panose="02040503050406030204" pitchFamily="18" charset="0"/>
                      </a:rPr>
                      <m:t>𝑤𝑖𝑛𝑛𝑒𝑟</m:t>
                    </m:r>
                    <m:r>
                      <a:rPr lang="en-US" i="1" kern="1200" spc="10" dirty="0" smtClean="0">
                        <a:latin typeface="Cambria Math" panose="02040503050406030204" pitchFamily="18" charset="0"/>
                      </a:rPr>
                      <m:t> </m:t>
                    </m:r>
                  </m:oMath>
                </a14:m>
                <a:r>
                  <a:rPr kern="1200" spc="10" dirty="0"/>
                  <a:t>not always exists</a:t>
                </a:r>
              </a:p>
              <a:p>
                <a:pPr marL="284163" indent="-230188" algn="l" rtl="0">
                  <a:lnSpc>
                    <a:spcPts val="1400"/>
                  </a:lnSpc>
                  <a:spcBef>
                    <a:spcPts val="330"/>
                  </a:spcBef>
                  <a:buClr>
                    <a:srgbClr val="0000FF"/>
                  </a:buClr>
                  <a:buFont typeface="Wingdings 3" panose="05040102010807070707" pitchFamily="18" charset="2"/>
                  <a:buChar char=""/>
                </a:pPr>
                <a:r>
                  <a:rPr kern="1200" spc="10" dirty="0"/>
                  <a:t>Example...</a:t>
                </a:r>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347294" y="766200"/>
                <a:ext cx="4167504" cy="1382167"/>
              </a:xfrm>
              <a:prstGeom prst="rect">
                <a:avLst/>
              </a:prstGeom>
              <a:blipFill>
                <a:blip r:embed="rId3"/>
                <a:stretch>
                  <a:fillRect l="-731" r="-585" b="-575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974FDA8-9F3A-47B2-948F-B93410A0D4D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0763AA95-9489-4944-9ACD-2D7DDF1DAF0F}"/>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A23A52E2-1A53-4AFB-9185-C7DA82B41744}"/>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18</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
        <p:nvSpPr>
          <p:cNvPr id="7" name="TextBox 6">
            <a:extLst>
              <a:ext uri="{FF2B5EF4-FFF2-40B4-BE49-F238E27FC236}">
                <a16:creationId xmlns:a16="http://schemas.microsoft.com/office/drawing/2014/main" id="{978F4132-2126-72EF-B86A-D844F7A83FA4}"/>
              </a:ext>
            </a:extLst>
          </p:cNvPr>
          <p:cNvSpPr txBox="1"/>
          <p:nvPr/>
        </p:nvSpPr>
        <p:spPr>
          <a:xfrm>
            <a:off x="1771650" y="2797175"/>
            <a:ext cx="968535" cy="255904"/>
          </a:xfrm>
          <a:prstGeom prst="rect">
            <a:avLst/>
          </a:prstGeom>
          <a:noFill/>
        </p:spPr>
        <p:txBody>
          <a:bodyPr wrap="none" rtlCol="0">
            <a:spAutoFit/>
          </a:bodyPr>
          <a:lstStyle/>
          <a:p>
            <a:pPr marL="53975">
              <a:lnSpc>
                <a:spcPts val="1400"/>
              </a:lnSpc>
              <a:spcBef>
                <a:spcPts val="330"/>
              </a:spcBef>
              <a:buClr>
                <a:srgbClr val="0000FF"/>
              </a:buClr>
            </a:pPr>
            <a:r>
              <a:rPr lang="en-US" sz="1100" spc="10" dirty="0">
                <a:latin typeface="Tahoma"/>
                <a:cs typeface="Tahoma"/>
              </a:rPr>
              <a:t>One-vs-one</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spc="-45" dirty="0"/>
              <a:t>Cond</a:t>
            </a:r>
            <a:r>
              <a:rPr spc="-75" dirty="0"/>
              <a:t>o</a:t>
            </a:r>
            <a:r>
              <a:rPr spc="-40" dirty="0"/>
              <a:t>rcet</a:t>
            </a:r>
            <a:r>
              <a:rPr spc="25" dirty="0"/>
              <a:t> </a:t>
            </a:r>
            <a:r>
              <a:rPr spc="-55" dirty="0"/>
              <a:t>rule</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347294" y="766200"/>
                <a:ext cx="3915511" cy="830997"/>
              </a:xfrm>
              <a:prstGeom prst="rect">
                <a:avLst/>
              </a:prstGeom>
            </p:spPr>
            <p:txBody>
              <a:bodyPr vert="horz" wrap="square" lIns="0" tIns="0"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kern="1200" spc="10" dirty="0"/>
                  <a:t>Agents/Voters: </a:t>
                </a:r>
                <a14:m>
                  <m:oMath xmlns:m="http://schemas.openxmlformats.org/officeDocument/2006/math">
                    <m:r>
                      <a:rPr lang="en-MY" kern="1200" spc="10" dirty="0">
                        <a:latin typeface="Cambria Math" panose="02040503050406030204" pitchFamily="18" charset="0"/>
                      </a:rPr>
                      <m:t>𝑁</m:t>
                    </m:r>
                    <m:r>
                      <a:rPr lang="en-MY" kern="1200" spc="10" dirty="0">
                        <a:latin typeface="Cambria Math" panose="02040503050406030204" pitchFamily="18" charset="0"/>
                      </a:rPr>
                      <m:t>={</m:t>
                    </m:r>
                    <m:r>
                      <a:rPr lang="en-MY" kern="1200" spc="10" dirty="0">
                        <a:latin typeface="Cambria Math" panose="02040503050406030204" pitchFamily="18" charset="0"/>
                      </a:rPr>
                      <m:t>1</m:t>
                    </m:r>
                    <m:r>
                      <a:rPr lang="en-MY" kern="1200" spc="10" dirty="0">
                        <a:latin typeface="Cambria Math" panose="02040503050406030204" pitchFamily="18" charset="0"/>
                      </a:rPr>
                      <m:t>, </m:t>
                    </m:r>
                    <m:r>
                      <a:rPr lang="en-MY" kern="1200" spc="10" dirty="0">
                        <a:latin typeface="Cambria Math" panose="02040503050406030204" pitchFamily="18" charset="0"/>
                      </a:rPr>
                      <m:t>2</m:t>
                    </m:r>
                    <m:r>
                      <a:rPr lang="en-MY" kern="1200" spc="10" dirty="0">
                        <a:latin typeface="Cambria Math" panose="02040503050406030204" pitchFamily="18" charset="0"/>
                      </a:rPr>
                      <m:t>, </m:t>
                    </m:r>
                    <m:r>
                      <a:rPr lang="en-MY" kern="1200" spc="10" dirty="0">
                        <a:latin typeface="Cambria Math" panose="02040503050406030204" pitchFamily="18" charset="0"/>
                      </a:rPr>
                      <m:t>3</m:t>
                    </m:r>
                    <m:r>
                      <a:rPr lang="en-MY" kern="1200" spc="10" dirty="0">
                        <a:latin typeface="Cambria Math" panose="02040503050406030204" pitchFamily="18" charset="0"/>
                      </a:rPr>
                      <m:t>, </m:t>
                    </m:r>
                    <m:r>
                      <a:rPr lang="en-MY" kern="1200" spc="10" dirty="0">
                        <a:latin typeface="Cambria Math" panose="02040503050406030204" pitchFamily="18" charset="0"/>
                      </a:rPr>
                      <m:t>4</m:t>
                    </m:r>
                    <m:r>
                      <a:rPr lang="en-MY" kern="1200" spc="10" dirty="0">
                        <a:latin typeface="Cambria Math" panose="02040503050406030204" pitchFamily="18" charset="0"/>
                      </a:rPr>
                      <m:t>, </m:t>
                    </m:r>
                    <m:r>
                      <a:rPr lang="en-MY" kern="1200" spc="10" dirty="0">
                        <a:latin typeface="Cambria Math" panose="02040503050406030204" pitchFamily="18" charset="0"/>
                      </a:rPr>
                      <m:t>5</m:t>
                    </m:r>
                    <m:r>
                      <a:rPr lang="en-MY" kern="1200" spc="10" dirty="0">
                        <a:latin typeface="Cambria Math" panose="02040503050406030204" pitchFamily="18" charset="0"/>
                      </a:rPr>
                      <m:t>}</m:t>
                    </m:r>
                  </m:oMath>
                </a14:m>
                <a:endParaRPr kern="1200" spc="10" dirty="0"/>
              </a:p>
              <a:p>
                <a:pPr marL="284163" indent="-230188" algn="l" rtl="0">
                  <a:lnSpc>
                    <a:spcPts val="1400"/>
                  </a:lnSpc>
                  <a:spcBef>
                    <a:spcPts val="330"/>
                  </a:spcBef>
                  <a:buClr>
                    <a:srgbClr val="0000FF"/>
                  </a:buClr>
                  <a:buFont typeface="Wingdings 3" panose="05040102010807070707" pitchFamily="18" charset="2"/>
                  <a:buChar char=""/>
                </a:pPr>
                <a:r>
                  <a:rPr kern="1200" spc="10" dirty="0"/>
                  <a:t>Outcomes/Candidates: </a:t>
                </a:r>
                <a14:m>
                  <m:oMath xmlns:m="http://schemas.openxmlformats.org/officeDocument/2006/math">
                    <m:r>
                      <a:rPr lang="el-GR" kern="1200" spc="10" dirty="0">
                        <a:latin typeface="Cambria Math" panose="02040503050406030204" pitchFamily="18" charset="0"/>
                      </a:rPr>
                      <m:t>Ω</m:t>
                    </m:r>
                    <m:r>
                      <a:rPr lang="el-GR" kern="1200" spc="10" dirty="0">
                        <a:latin typeface="Cambria Math" panose="02040503050406030204" pitchFamily="18" charset="0"/>
                      </a:rPr>
                      <m:t> = {</m:t>
                    </m:r>
                    <m:r>
                      <a:rPr lang="el-GR" kern="1200" spc="10" dirty="0">
                        <a:latin typeface="Cambria Math" panose="02040503050406030204" pitchFamily="18" charset="0"/>
                      </a:rPr>
                      <m:t>𝐿</m:t>
                    </m:r>
                    <m:r>
                      <a:rPr lang="el-GR" kern="1200" spc="10" dirty="0">
                        <a:latin typeface="Cambria Math" panose="02040503050406030204" pitchFamily="18" charset="0"/>
                      </a:rPr>
                      <m:t>, </m:t>
                    </m:r>
                    <m:r>
                      <a:rPr lang="el-GR" kern="1200" spc="10" dirty="0">
                        <a:latin typeface="Cambria Math" panose="02040503050406030204" pitchFamily="18" charset="0"/>
                      </a:rPr>
                      <m:t>𝐶</m:t>
                    </m:r>
                    <m:r>
                      <a:rPr lang="el-GR" kern="1200" spc="10" dirty="0">
                        <a:latin typeface="Cambria Math" panose="02040503050406030204" pitchFamily="18" charset="0"/>
                      </a:rPr>
                      <m:t>, </m:t>
                    </m:r>
                    <m:r>
                      <a:rPr lang="el-GR" kern="1200" spc="10" dirty="0">
                        <a:latin typeface="Cambria Math" panose="02040503050406030204" pitchFamily="18" charset="0"/>
                      </a:rPr>
                      <m:t>𝑅</m:t>
                    </m:r>
                    <m:r>
                      <a:rPr lang="el-GR" kern="1200" spc="10" dirty="0">
                        <a:latin typeface="Cambria Math" panose="02040503050406030204" pitchFamily="18" charset="0"/>
                      </a:rPr>
                      <m:t>}</m:t>
                    </m:r>
                  </m:oMath>
                </a14:m>
                <a:endParaRPr kern="1200" spc="10" dirty="0"/>
              </a:p>
              <a:p>
                <a:pPr marL="284163" indent="-230188" algn="l" rtl="0">
                  <a:lnSpc>
                    <a:spcPts val="1400"/>
                  </a:lnSpc>
                  <a:spcBef>
                    <a:spcPts val="330"/>
                  </a:spcBef>
                  <a:buClr>
                    <a:srgbClr val="0000FF"/>
                  </a:buClr>
                  <a:buFont typeface="Wingdings 3" panose="05040102010807070707" pitchFamily="18" charset="2"/>
                  <a:buChar char=""/>
                </a:pPr>
                <a:r>
                  <a:rPr kern="1200" spc="10" dirty="0"/>
                  <a:t>Preference orderings: </a:t>
                </a:r>
                <a14:m>
                  <m:oMath xmlns:m="http://schemas.openxmlformats.org/officeDocument/2006/math">
                    <m:r>
                      <m:rPr>
                        <m:sty m:val="p"/>
                      </m:rPr>
                      <a:rPr lang="el-GR" kern="1200" spc="10" dirty="0">
                        <a:latin typeface="Cambria Math" panose="02040503050406030204" pitchFamily="18" charset="0"/>
                      </a:rPr>
                      <m:t>Π</m:t>
                    </m:r>
                    <m:r>
                      <a:rPr lang="el-GR" kern="1200" spc="10" dirty="0">
                        <a:latin typeface="Cambria Math" panose="02040503050406030204" pitchFamily="18" charset="0"/>
                      </a:rPr>
                      <m:t>(</m:t>
                    </m:r>
                    <m:r>
                      <a:rPr lang="el-GR" kern="1200" spc="10" dirty="0">
                        <a:latin typeface="Cambria Math" panose="02040503050406030204" pitchFamily="18" charset="0"/>
                      </a:rPr>
                      <m:t>Ω</m:t>
                    </m:r>
                    <m:r>
                      <a:rPr lang="el-GR" kern="1200" spc="10" dirty="0">
                        <a:latin typeface="Cambria Math" panose="02040503050406030204" pitchFamily="18" charset="0"/>
                      </a:rPr>
                      <m:t>)</m:t>
                    </m:r>
                  </m:oMath>
                </a14:m>
                <a:endParaRPr kern="1200" spc="10" dirty="0"/>
              </a:p>
              <a:p>
                <a:pPr marL="284163" indent="-230188" algn="l" rtl="0">
                  <a:lnSpc>
                    <a:spcPts val="1400"/>
                  </a:lnSpc>
                  <a:spcBef>
                    <a:spcPts val="330"/>
                  </a:spcBef>
                  <a:buClr>
                    <a:srgbClr val="0000FF"/>
                  </a:buClr>
                  <a:buFont typeface="Wingdings 3" panose="05040102010807070707" pitchFamily="18" charset="2"/>
                  <a:buChar char=""/>
                </a:pPr>
                <a:r>
                  <a:rPr kern="1200" spc="10" dirty="0"/>
                  <a:t>Social choice function:</a:t>
                </a:r>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347294" y="766200"/>
                <a:ext cx="3915511" cy="830997"/>
              </a:xfrm>
              <a:prstGeom prst="rect">
                <a:avLst/>
              </a:prstGeom>
              <a:blipFill>
                <a:blip r:embed="rId3"/>
                <a:stretch>
                  <a:fillRect l="-779" t="-6618" b="-8088"/>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4" name="object 4"/>
              <p:cNvSpPr txBox="1"/>
              <p:nvPr/>
            </p:nvSpPr>
            <p:spPr>
              <a:xfrm>
                <a:off x="901195" y="1701619"/>
                <a:ext cx="2927855" cy="1041311"/>
              </a:xfrm>
              <a:prstGeom prst="rect">
                <a:avLst/>
              </a:prstGeom>
            </p:spPr>
            <p:txBody>
              <a:bodyPr vert="horz" wrap="square" lIns="0" tIns="0" rIns="0" bIns="0" rtlCol="0">
                <a:spAutoFit/>
              </a:bodyPr>
              <a:lstStyle/>
              <a:p>
                <a:pPr marL="671195">
                  <a:lnSpc>
                    <a:spcPct val="100000"/>
                  </a:lnSpc>
                  <a:spcAft>
                    <a:spcPts val="600"/>
                  </a:spcAft>
                </a:pPr>
                <a14:m>
                  <m:oMathPara xmlns:m="http://schemas.openxmlformats.org/officeDocument/2006/math">
                    <m:oMathParaPr>
                      <m:jc m:val="centerGroup"/>
                    </m:oMathParaPr>
                    <m:oMath xmlns:m="http://schemas.openxmlformats.org/officeDocument/2006/math">
                      <m:r>
                        <a:rPr lang="el-GR" sz="1100" i="1" spc="-114" dirty="0" smtClean="0">
                          <a:latin typeface="Cambria Math" panose="02040503050406030204" pitchFamily="18" charset="0"/>
                          <a:cs typeface="Trebuchet MS"/>
                        </a:rPr>
                        <m:t>𝑓</m:t>
                      </m:r>
                      <m:r>
                        <a:rPr lang="el-GR" sz="1100" i="1" spc="-114" dirty="0" smtClean="0">
                          <a:latin typeface="Cambria Math" panose="02040503050406030204" pitchFamily="18" charset="0"/>
                          <a:cs typeface="Trebuchet MS"/>
                        </a:rPr>
                        <m:t>  : </m:t>
                      </m:r>
                      <m:sSub>
                        <m:sSubPr>
                          <m:ctrlPr>
                            <a:rPr lang="en-US" sz="1100" b="0" i="1" spc="25" dirty="0" smtClean="0">
                              <a:latin typeface="Cambria Math" panose="02040503050406030204" pitchFamily="18" charset="0"/>
                              <a:cs typeface="Tahoma"/>
                            </a:rPr>
                          </m:ctrlPr>
                        </m:sSubPr>
                        <m:e>
                          <m:r>
                            <m:rPr>
                              <m:sty m:val="p"/>
                            </m:rPr>
                            <a:rPr lang="el-GR" sz="1100" i="0" spc="25" dirty="0">
                              <a:latin typeface="Cambria Math" panose="02040503050406030204" pitchFamily="18" charset="0"/>
                              <a:cs typeface="Tahoma"/>
                            </a:rPr>
                            <m:t>Π</m:t>
                          </m:r>
                        </m:e>
                        <m:sub>
                          <m:r>
                            <a:rPr lang="en-US" sz="1100" b="0" i="1" spc="25" dirty="0" smtClean="0">
                              <a:latin typeface="Cambria Math" panose="02040503050406030204" pitchFamily="18" charset="0"/>
                              <a:cs typeface="Tahoma"/>
                            </a:rPr>
                            <m:t>1</m:t>
                          </m:r>
                        </m:sub>
                      </m:sSub>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 . .  × </m:t>
                      </m:r>
                      <m:sSub>
                        <m:sSubPr>
                          <m:ctrlPr>
                            <a:rPr lang="en-US" sz="1100" b="0" i="1" spc="25" dirty="0" smtClean="0">
                              <a:latin typeface="Cambria Math" panose="02040503050406030204" pitchFamily="18" charset="0"/>
                              <a:cs typeface="Meiryo"/>
                            </a:rPr>
                          </m:ctrlPr>
                        </m:sSubPr>
                        <m:e>
                          <m:r>
                            <m:rPr>
                              <m:sty m:val="p"/>
                            </m:rPr>
                            <a:rPr lang="el-GR" sz="1100" i="0" spc="25" dirty="0">
                              <a:latin typeface="Cambria Math" panose="02040503050406030204" pitchFamily="18" charset="0"/>
                              <a:cs typeface="Tahoma"/>
                            </a:rPr>
                            <m:t>Π</m:t>
                          </m:r>
                        </m:e>
                        <m:sub>
                          <m:r>
                            <a:rPr lang="en-US" sz="1100" b="0" i="1" spc="25" dirty="0" smtClean="0">
                              <a:latin typeface="Cambria Math" panose="02040503050406030204" pitchFamily="18" charset="0"/>
                              <a:cs typeface="Tahoma"/>
                            </a:rPr>
                            <m:t>𝑛</m:t>
                          </m:r>
                        </m:sub>
                      </m:sSub>
                      <m:r>
                        <a:rPr lang="el-GR" sz="1100" i="1" spc="5" dirty="0">
                          <a:latin typeface="Cambria Math" panose="02040503050406030204" pitchFamily="18" charset="0"/>
                          <a:cs typeface="Tahoma"/>
                        </a:rPr>
                        <m:t>(</m:t>
                      </m:r>
                      <m:r>
                        <a:rPr lang="el-GR" sz="1100" i="1" spc="5" dirty="0">
                          <a:latin typeface="Cambria Math" panose="02040503050406030204" pitchFamily="18" charset="0"/>
                          <a:cs typeface="Tahoma"/>
                        </a:rPr>
                        <m:t>Ω</m:t>
                      </m:r>
                      <m:r>
                        <a:rPr lang="el-GR" sz="1100" i="1" spc="5" dirty="0">
                          <a:latin typeface="Cambria Math" panose="02040503050406030204" pitchFamily="18" charset="0"/>
                          <a:cs typeface="Tahoma"/>
                        </a:rPr>
                        <m:t>) → </m:t>
                      </m:r>
                      <m:r>
                        <a:rPr lang="el-GR" sz="1100" i="1" spc="5" dirty="0">
                          <a:latin typeface="Cambria Math" panose="02040503050406030204" pitchFamily="18" charset="0"/>
                          <a:cs typeface="Tahoma"/>
                        </a:rPr>
                        <m:t>Ω</m:t>
                      </m:r>
                    </m:oMath>
                  </m:oMathPara>
                </a14:m>
                <a:endParaRPr lang="el-GR" sz="1100" dirty="0">
                  <a:latin typeface="Tahoma"/>
                  <a:cs typeface="Tahoma"/>
                </a:endParaRPr>
              </a:p>
              <a:p>
                <a:pPr>
                  <a:lnSpc>
                    <a:spcPts val="1200"/>
                  </a:lnSpc>
                  <a:spcBef>
                    <a:spcPts val="175"/>
                  </a:spcBef>
                </a:pPr>
                <a14:m>
                  <m:oMath xmlns:m="http://schemas.openxmlformats.org/officeDocument/2006/math">
                    <m:r>
                      <a:rPr lang="el-GR" sz="1000" i="1" spc="30" dirty="0" smtClean="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1</m:t>
                        </m:r>
                      </m:sub>
                    </m:sSub>
                    <m:r>
                      <a:rPr lang="ar-SA" sz="1000" b="0" i="1" spc="5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1</m:t>
                        </m:r>
                      </m:sub>
                    </m:sSub>
                    <m:r>
                      <a:rPr lang="ar-SA" sz="1000" b="0" i="1" spc="-25" dirty="0" smtClean="0">
                        <a:latin typeface="Cambria Math" panose="02040503050406030204" pitchFamily="18" charset="0"/>
                        <a:ea typeface="Cambria Math" panose="02040503050406030204" pitchFamily="18" charset="0"/>
                        <a:cs typeface="Trebuchet MS"/>
                      </a:rPr>
                      <m:t>𝑅</m:t>
                    </m:r>
                  </m:oMath>
                </a14:m>
                <a:r>
                  <a:rPr lang="en-MY" sz="1000" dirty="0">
                    <a:latin typeface="Trebuchet MS"/>
                    <a:cs typeface="Trebuchet MS"/>
                  </a:rPr>
                  <a:t> </a:t>
                </a:r>
                <a:endParaRPr lang="ar-SA" sz="1000" dirty="0">
                  <a:latin typeface="Trebuchet MS"/>
                  <a:cs typeface="Trebuchet MS"/>
                </a:endParaRPr>
              </a:p>
              <a:p>
                <a:pPr>
                  <a:lnSpc>
                    <a:spcPts val="1195"/>
                  </a:lnSpc>
                </a:pPr>
                <a14:m>
                  <m:oMath xmlns:m="http://schemas.openxmlformats.org/officeDocument/2006/math">
                    <m:r>
                      <a:rPr lang="ar-SA" sz="1000" i="1" spc="3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2</m:t>
                        </m:r>
                      </m:sub>
                    </m:sSub>
                    <m:r>
                      <a:rPr lang="ar-SA" sz="1000" i="1" spc="30" dirty="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2</m:t>
                        </m:r>
                      </m:sub>
                    </m:sSub>
                    <m:r>
                      <a:rPr lang="ar-SA" sz="1000" i="1" spc="55" dirty="0" smtClean="0">
                        <a:latin typeface="Cambria Math" panose="02040503050406030204" pitchFamily="18" charset="0"/>
                        <a:cs typeface="Trebuchet MS"/>
                      </a:rPr>
                      <m:t>𝑅</m:t>
                    </m:r>
                  </m:oMath>
                </a14:m>
                <a:r>
                  <a:rPr lang="en-MY" sz="1000" dirty="0">
                    <a:latin typeface="Trebuchet MS"/>
                    <a:cs typeface="Trebuchet MS"/>
                  </a:rPr>
                  <a:t> </a:t>
                </a:r>
                <a:endParaRPr lang="ar-SA" sz="1000" dirty="0">
                  <a:latin typeface="Trebuchet MS"/>
                  <a:cs typeface="Trebuchet MS"/>
                </a:endParaRPr>
              </a:p>
              <a:p>
                <a:pPr>
                  <a:lnSpc>
                    <a:spcPts val="1195"/>
                  </a:lnSpc>
                </a:pPr>
                <a14:m>
                  <m:oMath xmlns:m="http://schemas.openxmlformats.org/officeDocument/2006/math">
                    <m:r>
                      <a:rPr lang="ar-SA" sz="1000" i="1" spc="55" dirty="0" smtClean="0">
                        <a:latin typeface="Cambria Math" panose="02040503050406030204" pitchFamily="18" charset="0"/>
                        <a:cs typeface="Trebuchet MS"/>
                      </a:rPr>
                      <m:t>𝑅</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3</m:t>
                        </m:r>
                      </m:sub>
                    </m:sSub>
                    <m:r>
                      <a:rPr lang="en-MY" sz="1000" b="0" i="1" spc="-25" dirty="0" smtClean="0">
                        <a:latin typeface="Cambria Math" panose="02040503050406030204" pitchFamily="18" charset="0"/>
                        <a:ea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3</m:t>
                        </m:r>
                      </m:sub>
                    </m:sSub>
                    <m:r>
                      <a:rPr lang="ar-SA" sz="1000" b="0" i="1" spc="-25" dirty="0" smtClean="0">
                        <a:latin typeface="Cambria Math" panose="02040503050406030204" pitchFamily="18" charset="0"/>
                        <a:ea typeface="Cambria Math" panose="02040503050406030204" pitchFamily="18" charset="0"/>
                        <a:cs typeface="Trebuchet MS"/>
                      </a:rPr>
                      <m:t>𝐿</m:t>
                    </m:r>
                  </m:oMath>
                </a14:m>
                <a:r>
                  <a:rPr lang="en-MY" sz="1000" dirty="0">
                    <a:latin typeface="Trebuchet MS"/>
                    <a:cs typeface="Trebuchet MS"/>
                  </a:rPr>
                  <a:t> </a:t>
                </a:r>
                <a:endParaRPr lang="ar-SA" sz="1000" dirty="0">
                  <a:latin typeface="Trebuchet MS"/>
                  <a:cs typeface="Trebuchet MS"/>
                </a:endParaRPr>
              </a:p>
              <a:p>
                <a:pPr>
                  <a:lnSpc>
                    <a:spcPts val="1195"/>
                  </a:lnSpc>
                </a:pPr>
                <a14:m>
                  <m:oMath xmlns:m="http://schemas.openxmlformats.org/officeDocument/2006/math">
                    <m:r>
                      <a:rPr lang="ar-SA" sz="1000" i="1" spc="3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4</m:t>
                        </m:r>
                      </m:sub>
                    </m:sSub>
                    <m:r>
                      <a:rPr lang="ar-SA" sz="1000" i="1" spc="30" dirty="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4</m:t>
                        </m:r>
                      </m:sub>
                    </m:sSub>
                    <m:r>
                      <a:rPr lang="ar-SA" sz="1000" i="1" spc="55" dirty="0">
                        <a:latin typeface="Cambria Math" panose="02040503050406030204" pitchFamily="18" charset="0"/>
                        <a:cs typeface="Trebuchet MS"/>
                      </a:rPr>
                      <m:t>𝑅</m:t>
                    </m:r>
                  </m:oMath>
                </a14:m>
                <a:r>
                  <a:rPr lang="en-MY" sz="1000" dirty="0">
                    <a:latin typeface="Trebuchet MS"/>
                    <a:cs typeface="Trebuchet MS"/>
                  </a:rPr>
                  <a:t> </a:t>
                </a:r>
                <a:endParaRPr lang="ar-SA" sz="1000" dirty="0">
                  <a:latin typeface="Trebuchet MS"/>
                  <a:cs typeface="Trebuchet MS"/>
                </a:endParaRPr>
              </a:p>
              <a:p>
                <a:pPr>
                  <a:lnSpc>
                    <a:spcPts val="1195"/>
                  </a:lnSpc>
                </a:pPr>
                <a14:m>
                  <m:oMath xmlns:m="http://schemas.openxmlformats.org/officeDocument/2006/math">
                    <m:r>
                      <a:rPr lang="en-MY" sz="1000" b="0" i="1" spc="5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5</m:t>
                        </m:r>
                      </m:sub>
                    </m:sSub>
                    <m:r>
                      <a:rPr lang="en-MY" sz="1000" b="0" i="1" spc="-25" dirty="0" smtClean="0">
                        <a:latin typeface="Cambria Math" panose="02040503050406030204" pitchFamily="18" charset="0"/>
                        <a:ea typeface="Cambria Math" panose="02040503050406030204" pitchFamily="18" charset="0"/>
                        <a:cs typeface="Trebuchet MS"/>
                      </a:rPr>
                      <m:t>𝑅</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5</m:t>
                        </m:r>
                      </m:sub>
                    </m:sSub>
                    <m:r>
                      <a:rPr lang="en-MY" sz="1000" b="0" i="1" spc="-25" dirty="0" smtClean="0">
                        <a:latin typeface="Cambria Math" panose="02040503050406030204" pitchFamily="18" charset="0"/>
                        <a:ea typeface="Cambria Math" panose="02040503050406030204" pitchFamily="18" charset="0"/>
                        <a:cs typeface="Trebuchet MS"/>
                      </a:rPr>
                      <m:t>𝐿</m:t>
                    </m:r>
                  </m:oMath>
                </a14:m>
                <a:r>
                  <a:rPr lang="en-MY" sz="1000" dirty="0">
                    <a:latin typeface="Trebuchet MS"/>
                    <a:cs typeface="Trebuchet MS"/>
                  </a:rPr>
                  <a:t> </a:t>
                </a:r>
                <a:endParaRPr lang="ar-SA" sz="1000" dirty="0">
                  <a:latin typeface="Trebuchet MS"/>
                  <a:cs typeface="Trebuchet MS"/>
                </a:endParaRPr>
              </a:p>
            </p:txBody>
          </p:sp>
        </mc:Choice>
        <mc:Fallback xmlns="">
          <p:sp>
            <p:nvSpPr>
              <p:cNvPr id="4" name="object 4"/>
              <p:cNvSpPr txBox="1">
                <a:spLocks noRot="1" noChangeAspect="1" noMove="1" noResize="1" noEditPoints="1" noAdjustHandles="1" noChangeArrowheads="1" noChangeShapeType="1" noTextEdit="1"/>
              </p:cNvSpPr>
              <p:nvPr/>
            </p:nvSpPr>
            <p:spPr>
              <a:xfrm>
                <a:off x="901195" y="1701619"/>
                <a:ext cx="2927855" cy="1041311"/>
              </a:xfrm>
              <a:prstGeom prst="rect">
                <a:avLst/>
              </a:prstGeom>
              <a:blipFill>
                <a:blip r:embed="rId4"/>
                <a:stretch>
                  <a:fillRect l="-1667" b="-1754"/>
                </a:stretch>
              </a:blipFill>
            </p:spPr>
            <p:txBody>
              <a:bodyPr/>
              <a:lstStyle/>
              <a:p>
                <a:r>
                  <a:rPr lang="en-US">
                    <a:noFill/>
                  </a:rPr>
                  <a:t> </a:t>
                </a:r>
              </a:p>
            </p:txBody>
          </p:sp>
        </mc:Fallback>
      </mc:AlternateContent>
      <p:sp>
        <p:nvSpPr>
          <p:cNvPr id="5" name="object 5"/>
          <p:cNvSpPr txBox="1"/>
          <p:nvPr/>
        </p:nvSpPr>
        <p:spPr>
          <a:xfrm>
            <a:off x="447357" y="1986753"/>
            <a:ext cx="133350" cy="16357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endParaRPr sz="1100" spc="10" dirty="0">
              <a:latin typeface="Tahoma"/>
              <a:cs typeface="Tahoma"/>
            </a:endParaRPr>
          </a:p>
        </p:txBody>
      </p:sp>
      <mc:AlternateContent xmlns:mc="http://schemas.openxmlformats.org/markup-compatibility/2006" xmlns:a14="http://schemas.microsoft.com/office/drawing/2010/main">
        <mc:Choice Requires="a14">
          <p:sp>
            <p:nvSpPr>
              <p:cNvPr id="6" name="object 6"/>
              <p:cNvSpPr txBox="1"/>
              <p:nvPr/>
            </p:nvSpPr>
            <p:spPr>
              <a:xfrm>
                <a:off x="447356" y="2804099"/>
                <a:ext cx="2467293" cy="165558"/>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Social outcome (the “winner”): </a:t>
                </a:r>
                <a14:m>
                  <m:oMath xmlns:m="http://schemas.openxmlformats.org/officeDocument/2006/math">
                    <m:r>
                      <a:rPr lang="en-MY" sz="1100" spc="10" dirty="0">
                        <a:latin typeface="Cambria Math" panose="02040503050406030204" pitchFamily="18" charset="0"/>
                        <a:cs typeface="Tahoma"/>
                      </a:rPr>
                      <m:t>𝐶</m:t>
                    </m:r>
                  </m:oMath>
                </a14:m>
                <a:endParaRPr sz="1100" spc="10" dirty="0">
                  <a:latin typeface="Tahoma"/>
                  <a:cs typeface="Tahoma"/>
                </a:endParaRPr>
              </a:p>
            </p:txBody>
          </p:sp>
        </mc:Choice>
        <mc:Fallback xmlns="">
          <p:sp>
            <p:nvSpPr>
              <p:cNvPr id="6" name="object 6"/>
              <p:cNvSpPr txBox="1">
                <a:spLocks noRot="1" noChangeAspect="1" noMove="1" noResize="1" noEditPoints="1" noAdjustHandles="1" noChangeArrowheads="1" noChangeShapeType="1" noTextEdit="1"/>
              </p:cNvSpPr>
              <p:nvPr/>
            </p:nvSpPr>
            <p:spPr>
              <a:xfrm>
                <a:off x="447356" y="2804099"/>
                <a:ext cx="2467293" cy="165558"/>
              </a:xfrm>
              <a:prstGeom prst="rect">
                <a:avLst/>
              </a:prstGeom>
              <a:blipFill>
                <a:blip r:embed="rId5"/>
                <a:stretch>
                  <a:fillRect l="-988" t="-33333" b="-51852"/>
                </a:stretch>
              </a:blipFill>
            </p:spPr>
            <p:txBody>
              <a:bodyPr/>
              <a:lstStyle/>
              <a:p>
                <a:r>
                  <a:rPr lang="en-MY">
                    <a:noFill/>
                  </a:rPr>
                  <a:t> </a:t>
                </a:r>
              </a:p>
            </p:txBody>
          </p:sp>
        </mc:Fallback>
      </mc:AlternateContent>
      <p:sp>
        <p:nvSpPr>
          <p:cNvPr id="7" name="Date Placeholder 3">
            <a:extLst>
              <a:ext uri="{FF2B5EF4-FFF2-40B4-BE49-F238E27FC236}">
                <a16:creationId xmlns:a16="http://schemas.microsoft.com/office/drawing/2014/main" id="{5E8B1E62-06C1-4FCE-AC3D-1B2CCA7A082C}"/>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BF4BC6F5-ABDB-4F3B-88DF-B72C4A4B5356}"/>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6057120A-C641-435E-B76A-E1F12A9D6D80}"/>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19</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 dirty="0"/>
              <a:t>Utilit</a:t>
            </a:r>
            <a:r>
              <a:rPr spc="-30" dirty="0"/>
              <a:t>a</a:t>
            </a:r>
            <a:r>
              <a:rPr spc="-45" dirty="0"/>
              <a:t>rian</a:t>
            </a:r>
            <a:r>
              <a:rPr spc="25" dirty="0"/>
              <a:t> </a:t>
            </a:r>
            <a:r>
              <a:rPr spc="-55" dirty="0"/>
              <a:t>rule</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347294" y="766200"/>
                <a:ext cx="4015156" cy="2003093"/>
              </a:xfrm>
              <a:prstGeom prst="rect">
                <a:avLst/>
              </a:prstGeom>
            </p:spPr>
            <p:txBody>
              <a:bodyPr vert="horz" wrap="square" lIns="0" tIns="310115"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lang="en-MY" kern="1200" spc="10" dirty="0"/>
                  <a:t>Also called the max-sum rule</a:t>
                </a:r>
              </a:p>
              <a:p>
                <a:pPr marL="284163" indent="-230188" algn="l" rtl="0">
                  <a:lnSpc>
                    <a:spcPts val="1400"/>
                  </a:lnSpc>
                  <a:spcBef>
                    <a:spcPts val="330"/>
                  </a:spcBef>
                  <a:buClr>
                    <a:srgbClr val="0000FF"/>
                  </a:buClr>
                  <a:buFont typeface="Wingdings 3" panose="05040102010807070707" pitchFamily="18" charset="2"/>
                  <a:buChar char=""/>
                </a:pPr>
                <a:r>
                  <a:rPr lang="en-MY" kern="1200" spc="10" dirty="0"/>
                  <a:t>Assigns a utility </a:t>
                </a:r>
                <a14:m>
                  <m:oMath xmlns:m="http://schemas.openxmlformats.org/officeDocument/2006/math">
                    <m:sSub>
                      <m:sSubPr>
                        <m:ctrlPr>
                          <a:rPr lang="en-US" b="0" i="1" kern="1200" spc="10" dirty="0" smtClean="0">
                            <a:latin typeface="Cambria Math" panose="02040503050406030204" pitchFamily="18" charset="0"/>
                          </a:rPr>
                        </m:ctrlPr>
                      </m:sSubPr>
                      <m:e>
                        <m:r>
                          <a:rPr lang="en-MY" i="1" kern="1200" spc="10" dirty="0" smtClean="0">
                            <a:latin typeface="Cambria Math" panose="02040503050406030204" pitchFamily="18" charset="0"/>
                          </a:rPr>
                          <m:t>𝑢</m:t>
                        </m:r>
                      </m:e>
                      <m:sub>
                        <m:r>
                          <a:rPr lang="en-MY" i="1" kern="1200" spc="10" dirty="0" smtClean="0">
                            <a:latin typeface="Cambria Math" panose="02040503050406030204" pitchFamily="18" charset="0"/>
                          </a:rPr>
                          <m:t>𝑖</m:t>
                        </m:r>
                      </m:sub>
                    </m:sSub>
                    <m:r>
                      <a:rPr lang="en-MY" i="1" kern="1200" spc="10" dirty="0" smtClean="0">
                        <a:latin typeface="Cambria Math" panose="02040503050406030204" pitchFamily="18" charset="0"/>
                      </a:rPr>
                      <m:t> :</m:t>
                    </m:r>
                    <m:r>
                      <a:rPr lang="el-GR" i="1" kern="1200" spc="10" dirty="0" smtClean="0">
                        <a:latin typeface="Cambria Math" panose="02040503050406030204" pitchFamily="18" charset="0"/>
                      </a:rPr>
                      <m:t>Ω</m:t>
                    </m:r>
                    <m:r>
                      <a:rPr lang="el-GR" i="1" kern="1200" spc="10" dirty="0" smtClean="0">
                        <a:latin typeface="Cambria Math" panose="02040503050406030204" pitchFamily="18" charset="0"/>
                      </a:rPr>
                      <m:t>→</m:t>
                    </m:r>
                    <m:r>
                      <a:rPr lang="el-GR" i="1" kern="1200" spc="10" dirty="0" smtClean="0">
                        <a:latin typeface="Cambria Math" panose="02040503050406030204" pitchFamily="18" charset="0"/>
                      </a:rPr>
                      <m:t>𝑅</m:t>
                    </m:r>
                    <m:r>
                      <a:rPr lang="el-GR" i="1" kern="1200" spc="10" dirty="0" smtClean="0">
                        <a:latin typeface="Cambria Math" panose="02040503050406030204" pitchFamily="18" charset="0"/>
                      </a:rPr>
                      <m:t> </m:t>
                    </m:r>
                  </m:oMath>
                </a14:m>
                <a:r>
                  <a:rPr lang="en-MY" kern="1200" spc="10" dirty="0"/>
                  <a:t>to every agent/voter </a:t>
                </a:r>
                <a14:m>
                  <m:oMath xmlns:m="http://schemas.openxmlformats.org/officeDocument/2006/math">
                    <m:r>
                      <a:rPr lang="en-MY" i="1" kern="1200" spc="10" dirty="0" smtClean="0">
                        <a:latin typeface="Cambria Math" panose="02040503050406030204" pitchFamily="18" charset="0"/>
                      </a:rPr>
                      <m:t>𝑖</m:t>
                    </m:r>
                    <m:r>
                      <a:rPr lang="en-MY" i="1" kern="1200" spc="10" dirty="0" smtClean="0">
                        <a:latin typeface="Cambria Math" panose="02040503050406030204" pitchFamily="18" charset="0"/>
                      </a:rPr>
                      <m:t>∈</m:t>
                    </m:r>
                    <m:r>
                      <a:rPr lang="en-MY" i="1" kern="1200" spc="10" dirty="0" smtClean="0">
                        <a:latin typeface="Cambria Math" panose="02040503050406030204" pitchFamily="18" charset="0"/>
                      </a:rPr>
                      <m:t>𝑁</m:t>
                    </m:r>
                  </m:oMath>
                </a14:m>
                <a:endParaRPr lang="en-MY" kern="1200" spc="10" dirty="0"/>
              </a:p>
              <a:p>
                <a:pPr marL="284163" indent="-230188" algn="l" rtl="0">
                  <a:lnSpc>
                    <a:spcPts val="1400"/>
                  </a:lnSpc>
                  <a:spcBef>
                    <a:spcPts val="330"/>
                  </a:spcBef>
                  <a:spcAft>
                    <a:spcPts val="600"/>
                  </a:spcAft>
                  <a:buClr>
                    <a:srgbClr val="0000FF"/>
                  </a:buClr>
                  <a:buFont typeface="Wingdings 3" panose="05040102010807070707" pitchFamily="18" charset="2"/>
                  <a:buChar char=""/>
                </a:pPr>
                <a:r>
                  <a:rPr lang="en-MY" kern="1200" spc="10" dirty="0"/>
                  <a:t>Chooses as winner the </a:t>
                </a:r>
                <a14:m>
                  <m:oMath xmlns:m="http://schemas.openxmlformats.org/officeDocument/2006/math">
                    <m:r>
                      <a:rPr lang="en-MY" i="1" kern="1200" spc="10" dirty="0" smtClean="0">
                        <a:latin typeface="Cambria Math" panose="02040503050406030204" pitchFamily="18" charset="0"/>
                      </a:rPr>
                      <m:t>𝜔</m:t>
                    </m:r>
                    <m:r>
                      <a:rPr lang="en-MY" i="1" kern="1200" spc="10" dirty="0" smtClean="0">
                        <a:latin typeface="Cambria Math" panose="02040503050406030204" pitchFamily="18" charset="0"/>
                      </a:rPr>
                      <m:t>∈</m:t>
                    </m:r>
                    <m:r>
                      <a:rPr lang="en-MY" i="1" kern="1200" spc="10" dirty="0" smtClean="0">
                        <a:latin typeface="Cambria Math" panose="02040503050406030204" pitchFamily="18" charset="0"/>
                      </a:rPr>
                      <m:t>Ω</m:t>
                    </m:r>
                    <m:r>
                      <a:rPr lang="en-MY" i="1" kern="1200" spc="10" dirty="0" smtClean="0">
                        <a:latin typeface="Cambria Math" panose="02040503050406030204" pitchFamily="18" charset="0"/>
                      </a:rPr>
                      <m:t> </m:t>
                    </m:r>
                  </m:oMath>
                </a14:m>
                <a:r>
                  <a:rPr lang="en-MY" kern="1200" spc="10" dirty="0"/>
                  <a:t>that maximises total utility:</a:t>
                </a:r>
              </a:p>
              <a:p>
                <a:pPr marL="1558925">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MY" i="1" spc="-15" dirty="0" smtClean="0">
                          <a:latin typeface="Cambria Math" panose="02040503050406030204" pitchFamily="18" charset="0"/>
                          <a:cs typeface="Trebuchet MS"/>
                        </a:rPr>
                        <m:t>𝑢</m:t>
                      </m:r>
                      <m:r>
                        <a:rPr lang="en-MY" i="1" dirty="0">
                          <a:latin typeface="Cambria Math" panose="02040503050406030204" pitchFamily="18" charset="0"/>
                        </a:rPr>
                        <m:t>(</m:t>
                      </m:r>
                      <m:r>
                        <a:rPr lang="en-MY" i="1" spc="-190" dirty="0">
                          <a:latin typeface="Cambria Math" panose="02040503050406030204" pitchFamily="18" charset="0"/>
                          <a:cs typeface="Verdana"/>
                        </a:rPr>
                        <m:t>𝜔</m:t>
                      </m:r>
                      <m:r>
                        <a:rPr lang="en-MY" i="1" dirty="0">
                          <a:latin typeface="Cambria Math" panose="02040503050406030204" pitchFamily="18" charset="0"/>
                        </a:rPr>
                        <m:t>)</m:t>
                      </m:r>
                      <m:r>
                        <a:rPr lang="en-MY" i="1" spc="-40" dirty="0">
                          <a:latin typeface="Cambria Math" panose="02040503050406030204" pitchFamily="18" charset="0"/>
                        </a:rPr>
                        <m:t> </m:t>
                      </m:r>
                      <m:r>
                        <a:rPr lang="en-MY" i="1" spc="40" dirty="0">
                          <a:latin typeface="Cambria Math" panose="02040503050406030204" pitchFamily="18" charset="0"/>
                        </a:rPr>
                        <m:t>=</m:t>
                      </m:r>
                      <m:r>
                        <a:rPr lang="en-MY" i="1" spc="-45" dirty="0">
                          <a:latin typeface="Cambria Math" panose="02040503050406030204" pitchFamily="18" charset="0"/>
                        </a:rPr>
                        <m:t> </m:t>
                      </m:r>
                      <m:nary>
                        <m:naryPr>
                          <m:chr m:val="∑"/>
                          <m:limLoc m:val="subSup"/>
                          <m:supHide m:val="on"/>
                          <m:ctrlPr>
                            <a:rPr lang="ar-SA" i="1" spc="-45" dirty="0" smtClean="0">
                              <a:latin typeface="Cambria Math" panose="02040503050406030204" pitchFamily="18" charset="0"/>
                            </a:rPr>
                          </m:ctrlPr>
                        </m:naryPr>
                        <m:sub>
                          <m:r>
                            <m:rPr>
                              <m:brk m:alnAt="9"/>
                            </m:rPr>
                            <a:rPr lang="ar-SA" b="0" i="1" spc="-45" dirty="0" smtClean="0">
                              <a:latin typeface="Cambria Math" panose="02040503050406030204" pitchFamily="18" charset="0"/>
                            </a:rPr>
                            <m:t>𝑖</m:t>
                          </m:r>
                          <m:r>
                            <a:rPr lang="en-MY" b="0" i="1" spc="-45" dirty="0" smtClean="0">
                              <a:latin typeface="Cambria Math" panose="02040503050406030204" pitchFamily="18" charset="0"/>
                            </a:rPr>
                            <m:t>∈</m:t>
                          </m:r>
                          <m:r>
                            <a:rPr lang="en-MY" b="0" i="1" spc="-45" dirty="0" smtClean="0">
                              <a:latin typeface="Cambria Math" panose="02040503050406030204" pitchFamily="18" charset="0"/>
                            </a:rPr>
                            <m:t>𝑁</m:t>
                          </m:r>
                        </m:sub>
                        <m:sup/>
                        <m:e>
                          <m:sSub>
                            <m:sSubPr>
                              <m:ctrlPr>
                                <a:rPr lang="en-MY" b="0" i="1" spc="-45" dirty="0" smtClean="0">
                                  <a:latin typeface="Cambria Math" panose="02040503050406030204" pitchFamily="18" charset="0"/>
                                </a:rPr>
                              </m:ctrlPr>
                            </m:sSubPr>
                            <m:e>
                              <m:r>
                                <a:rPr lang="en-MY" b="0" i="1" spc="-45" dirty="0" smtClean="0">
                                  <a:latin typeface="Cambria Math" panose="02040503050406030204" pitchFamily="18" charset="0"/>
                                </a:rPr>
                                <m:t>𝑢</m:t>
                              </m:r>
                            </m:e>
                            <m:sub>
                              <m:r>
                                <a:rPr lang="en-MY" b="0" i="1" spc="-45" dirty="0" smtClean="0">
                                  <a:latin typeface="Cambria Math" panose="02040503050406030204" pitchFamily="18" charset="0"/>
                                </a:rPr>
                                <m:t>𝑖</m:t>
                              </m:r>
                            </m:sub>
                          </m:sSub>
                          <m:d>
                            <m:dPr>
                              <m:ctrlPr>
                                <a:rPr lang="en-MY" b="0" i="1" spc="-45" dirty="0" smtClean="0">
                                  <a:latin typeface="Cambria Math" panose="02040503050406030204" pitchFamily="18" charset="0"/>
                                </a:rPr>
                              </m:ctrlPr>
                            </m:dPr>
                            <m:e>
                              <m:r>
                                <a:rPr lang="en-MY" i="1" spc="-190" dirty="0">
                                  <a:latin typeface="Cambria Math" panose="02040503050406030204" pitchFamily="18" charset="0"/>
                                  <a:cs typeface="Verdana"/>
                                </a:rPr>
                                <m:t>𝜔</m:t>
                              </m:r>
                            </m:e>
                          </m:d>
                        </m:e>
                      </m:nary>
                    </m:oMath>
                  </m:oMathPara>
                </a14:m>
                <a:endParaRPr lang="ar-SA" sz="1100" dirty="0">
                  <a:latin typeface="Verdana"/>
                  <a:cs typeface="Verdana"/>
                </a:endParaRPr>
              </a:p>
              <a:p>
                <a:pPr marL="284163" indent="-230188" algn="l" rtl="0">
                  <a:lnSpc>
                    <a:spcPts val="1400"/>
                  </a:lnSpc>
                  <a:spcBef>
                    <a:spcPts val="330"/>
                  </a:spcBef>
                  <a:buClr>
                    <a:srgbClr val="0000FF"/>
                  </a:buClr>
                  <a:buFont typeface="Wingdings 3" panose="05040102010807070707" pitchFamily="18" charset="2"/>
                  <a:buChar char=""/>
                </a:pPr>
                <a:r>
                  <a:rPr lang="en-MY" kern="1200" spc="10" dirty="0"/>
                  <a:t>It may require a tie-breaking rule</a:t>
                </a:r>
              </a:p>
              <a:p>
                <a:pPr marL="284163" indent="-230188" algn="l" rtl="0">
                  <a:lnSpc>
                    <a:spcPts val="1400"/>
                  </a:lnSpc>
                  <a:spcBef>
                    <a:spcPts val="330"/>
                  </a:spcBef>
                  <a:buClr>
                    <a:srgbClr val="0000FF"/>
                  </a:buClr>
                  <a:buFont typeface="Wingdings 3" panose="05040102010807070707" pitchFamily="18" charset="2"/>
                  <a:buChar char=""/>
                </a:pPr>
                <a:r>
                  <a:rPr lang="en-MY" kern="1200" spc="10" dirty="0"/>
                  <a:t>Example...</a:t>
                </a:r>
                <a:endParaRPr kern="1200" spc="1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347294" y="766200"/>
                <a:ext cx="4015156" cy="2003093"/>
              </a:xfrm>
              <a:prstGeom prst="rect">
                <a:avLst/>
              </a:prstGeom>
              <a:blipFill>
                <a:blip r:embed="rId3"/>
                <a:stretch>
                  <a:fillRect l="-759" b="-213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BA8F5AC-16B8-432F-88D3-3E8A422D8BE4}"/>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FE143E6B-C16F-428A-8E59-9B37E0A4CB3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70252D83-8686-4C51-9E22-DB555D21145B}"/>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20</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spc="5" dirty="0"/>
              <a:t>Utilit</a:t>
            </a:r>
            <a:r>
              <a:rPr spc="-30" dirty="0"/>
              <a:t>a</a:t>
            </a:r>
            <a:r>
              <a:rPr spc="-45" dirty="0"/>
              <a:t>rian</a:t>
            </a:r>
            <a:r>
              <a:rPr spc="25" dirty="0"/>
              <a:t> </a:t>
            </a:r>
            <a:r>
              <a:rPr spc="-55" dirty="0"/>
              <a:t>rule</a:t>
            </a:r>
          </a:p>
        </p:txBody>
      </p:sp>
      <mc:AlternateContent xmlns:mc="http://schemas.openxmlformats.org/markup-compatibility/2006" xmlns:a14="http://schemas.microsoft.com/office/drawing/2010/main">
        <mc:Choice Requires="a14">
          <p:sp>
            <p:nvSpPr>
              <p:cNvPr id="3" name="object 3"/>
              <p:cNvSpPr txBox="1"/>
              <p:nvPr/>
            </p:nvSpPr>
            <p:spPr>
              <a:xfrm>
                <a:off x="447356" y="919381"/>
                <a:ext cx="4067441" cy="599588"/>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 </a:t>
                </a:r>
                <a14:m>
                  <m:oMath xmlns:m="http://schemas.openxmlformats.org/officeDocument/2006/math">
                    <m:r>
                      <a:rPr lang="en-MY" sz="1100" i="1" spc="10" dirty="0" smtClean="0">
                        <a:latin typeface="Cambria Math" panose="02040503050406030204" pitchFamily="18" charset="0"/>
                        <a:cs typeface="Tahoma"/>
                      </a:rPr>
                      <m:t>𝑁</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2</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3</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4</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5</m:t>
                    </m:r>
                    <m:r>
                      <a:rPr lang="en-MY" sz="1100" i="1" spc="10" dirty="0" smtClean="0">
                        <a:latin typeface="Cambria Math" panose="02040503050406030204" pitchFamily="18" charset="0"/>
                        <a:cs typeface="Tahoma"/>
                      </a:rPr>
                      <m:t>}</m:t>
                    </m:r>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Outcomes/Candidates: </a:t>
                </a:r>
                <a14:m>
                  <m:oMath xmlns:m="http://schemas.openxmlformats.org/officeDocument/2006/math">
                    <m:r>
                      <a:rPr lang="el-GR" sz="1100" i="1" spc="10" dirty="0" smtClean="0">
                        <a:latin typeface="Cambria Math" panose="02040503050406030204" pitchFamily="18" charset="0"/>
                        <a:cs typeface="Tahoma"/>
                      </a:rPr>
                      <m:t>Ω</m:t>
                    </m:r>
                    <m:r>
                      <a:rPr lang="el-GR" sz="1100" i="1" spc="10" dirty="0" smtClean="0">
                        <a:latin typeface="Cambria Math" panose="02040503050406030204" pitchFamily="18" charset="0"/>
                        <a:cs typeface="Tahoma"/>
                      </a:rPr>
                      <m:t>={</m:t>
                    </m:r>
                    <m:r>
                      <a:rPr lang="el-GR" sz="1100" i="1" spc="10" dirty="0" smtClean="0">
                        <a:latin typeface="Cambria Math" panose="02040503050406030204" pitchFamily="18" charset="0"/>
                        <a:cs typeface="Tahoma"/>
                      </a:rPr>
                      <m:t>𝐿</m:t>
                    </m:r>
                    <m:r>
                      <a:rPr lang="el-GR" sz="1100" i="1" spc="10" dirty="0" smtClean="0">
                        <a:latin typeface="Cambria Math" panose="02040503050406030204" pitchFamily="18" charset="0"/>
                        <a:cs typeface="Tahoma"/>
                      </a:rPr>
                      <m:t>, </m:t>
                    </m:r>
                    <m:r>
                      <a:rPr lang="el-GR" sz="1100" i="1" spc="10" dirty="0" smtClean="0">
                        <a:latin typeface="Cambria Math" panose="02040503050406030204" pitchFamily="18" charset="0"/>
                        <a:cs typeface="Tahoma"/>
                      </a:rPr>
                      <m:t>𝐶</m:t>
                    </m:r>
                    <m:r>
                      <a:rPr lang="el-GR" sz="1100" i="1" spc="10" dirty="0" smtClean="0">
                        <a:latin typeface="Cambria Math" panose="02040503050406030204" pitchFamily="18" charset="0"/>
                        <a:cs typeface="Tahoma"/>
                      </a:rPr>
                      <m:t>, </m:t>
                    </m:r>
                    <m:r>
                      <a:rPr lang="el-GR" sz="1100" i="1" spc="10" dirty="0" smtClean="0">
                        <a:latin typeface="Cambria Math" panose="02040503050406030204" pitchFamily="18" charset="0"/>
                        <a:cs typeface="Tahoma"/>
                      </a:rPr>
                      <m:t>𝑅</m:t>
                    </m:r>
                    <m:r>
                      <a:rPr lang="el-GR" sz="1100" i="1" spc="10" dirty="0" smtClean="0">
                        <a:latin typeface="Cambria Math" panose="02040503050406030204" pitchFamily="18" charset="0"/>
                        <a:cs typeface="Tahoma"/>
                      </a:rPr>
                      <m:t>}</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Assume that </a:t>
                </a:r>
                <a14:m>
                  <m:oMath xmlns:m="http://schemas.openxmlformats.org/officeDocument/2006/math">
                    <m:sSub>
                      <m:sSubPr>
                        <m:ctrlPr>
                          <a:rPr lang="en-MY" sz="1100" b="0" i="1" spc="10" dirty="0" smtClean="0">
                            <a:latin typeface="Cambria Math" panose="02040503050406030204" pitchFamily="18" charset="0"/>
                            <a:cs typeface="Tahoma"/>
                          </a:rPr>
                        </m:ctrlPr>
                      </m:sSubPr>
                      <m:e>
                        <m:r>
                          <a:rPr lang="en-MY" sz="1100" i="1" spc="10" dirty="0" smtClean="0">
                            <a:latin typeface="Cambria Math" panose="02040503050406030204" pitchFamily="18" charset="0"/>
                            <a:cs typeface="Tahoma"/>
                          </a:rPr>
                          <m:t>𝑢</m:t>
                        </m:r>
                      </m:e>
                      <m:sub>
                        <m:r>
                          <a:rPr lang="en-MY" sz="1100" i="1" spc="10" dirty="0" smtClean="0">
                            <a:latin typeface="Cambria Math" panose="02040503050406030204" pitchFamily="18" charset="0"/>
                            <a:cs typeface="Tahoma"/>
                          </a:rPr>
                          <m:t>𝑖</m:t>
                        </m:r>
                      </m:sub>
                    </m:sSub>
                  </m:oMath>
                </a14:m>
                <a:r>
                  <a:rPr lang="en-MY" sz="1100" spc="10" dirty="0">
                    <a:latin typeface="Tahoma"/>
                    <a:cs typeface="Tahoma"/>
                  </a:rPr>
                  <a:t> gives utilities as the </a:t>
                </a:r>
                <a:r>
                  <a:rPr lang="en-MY" sz="1100" b="1" spc="10" dirty="0">
                    <a:latin typeface="Tahoma"/>
                    <a:cs typeface="Tahoma"/>
                  </a:rPr>
                  <a:t>Borda</a:t>
                </a:r>
                <a:r>
                  <a:rPr lang="en-MY" sz="1100" spc="10" dirty="0">
                    <a:latin typeface="Tahoma"/>
                    <a:cs typeface="Tahoma"/>
                  </a:rPr>
                  <a:t> count method.</a:t>
                </a:r>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47356" y="919381"/>
                <a:ext cx="4067441" cy="599588"/>
              </a:xfrm>
              <a:prstGeom prst="rect">
                <a:avLst/>
              </a:prstGeom>
              <a:blipFill>
                <a:blip r:embed="rId3"/>
                <a:stretch>
                  <a:fillRect l="-599" t="-9184" b="-14286"/>
                </a:stretch>
              </a:blipFill>
            </p:spPr>
            <p:txBody>
              <a:bodyPr/>
              <a:lstStyle/>
              <a:p>
                <a:r>
                  <a:rPr lang="en-US">
                    <a:noFill/>
                  </a:rPr>
                  <a:t> </a:t>
                </a:r>
              </a:p>
            </p:txBody>
          </p:sp>
        </mc:Fallback>
      </mc:AlternateContent>
      <p:sp>
        <p:nvSpPr>
          <p:cNvPr id="4" name="object 4"/>
          <p:cNvSpPr txBox="1"/>
          <p:nvPr/>
        </p:nvSpPr>
        <p:spPr>
          <a:xfrm>
            <a:off x="447356" y="1529235"/>
            <a:ext cx="257493" cy="169277"/>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endParaRPr sz="1100" spc="10" dirty="0">
              <a:latin typeface="Tahoma"/>
              <a:cs typeface="Tahoma"/>
            </a:endParaRPr>
          </a:p>
        </p:txBody>
      </p:sp>
      <mc:AlternateContent xmlns:mc="http://schemas.openxmlformats.org/markup-compatibility/2006" xmlns:a14="http://schemas.microsoft.com/office/drawing/2010/main">
        <mc:Choice Requires="a14">
          <p:sp>
            <p:nvSpPr>
              <p:cNvPr id="5" name="object 5"/>
              <p:cNvSpPr txBox="1"/>
              <p:nvPr/>
            </p:nvSpPr>
            <p:spPr>
              <a:xfrm>
                <a:off x="901484" y="1544660"/>
                <a:ext cx="726440" cy="769441"/>
              </a:xfrm>
              <a:prstGeom prst="rect">
                <a:avLst/>
              </a:prstGeom>
            </p:spPr>
            <p:txBody>
              <a:bodyPr vert="horz" wrap="square" lIns="0" tIns="0" rIns="0" bIns="0" rtlCol="0">
                <a:spAutoFit/>
              </a:bodyPr>
              <a:lstStyle/>
              <a:p>
                <a:pPr>
                  <a:lnSpc>
                    <a:spcPts val="1200"/>
                  </a:lnSpc>
                  <a:spcBef>
                    <a:spcPts val="175"/>
                  </a:spcBef>
                </a:pPr>
                <a14:m>
                  <m:oMath xmlns:m="http://schemas.openxmlformats.org/officeDocument/2006/math">
                    <m:r>
                      <a:rPr lang="el-GR" sz="1000" i="1" spc="30" dirty="0" smtClean="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1</m:t>
                        </m:r>
                      </m:sub>
                    </m:sSub>
                    <m:r>
                      <a:rPr lang="ar-SA" sz="1000" b="0" i="1" spc="5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1</m:t>
                        </m:r>
                      </m:sub>
                    </m:sSub>
                    <m:r>
                      <a:rPr lang="ar-SA" sz="1000" b="0" i="1" spc="-25" dirty="0" smtClean="0">
                        <a:latin typeface="Cambria Math" panose="02040503050406030204" pitchFamily="18" charset="0"/>
                        <a:ea typeface="Cambria Math" panose="02040503050406030204" pitchFamily="18" charset="0"/>
                        <a:cs typeface="Trebuchet MS"/>
                      </a:rPr>
                      <m:t>𝑅</m:t>
                    </m:r>
                  </m:oMath>
                </a14:m>
                <a:r>
                  <a:rPr lang="en-MY" sz="1000" dirty="0">
                    <a:latin typeface="Trebuchet MS"/>
                    <a:cs typeface="Trebuchet MS"/>
                  </a:rPr>
                  <a:t> </a:t>
                </a:r>
                <a:endParaRPr lang="ar-SA" sz="1000" dirty="0">
                  <a:latin typeface="Trebuchet MS"/>
                  <a:cs typeface="Trebuchet MS"/>
                </a:endParaRPr>
              </a:p>
              <a:p>
                <a:pPr>
                  <a:lnSpc>
                    <a:spcPts val="1195"/>
                  </a:lnSpc>
                </a:pPr>
                <a14:m>
                  <m:oMath xmlns:m="http://schemas.openxmlformats.org/officeDocument/2006/math">
                    <m:r>
                      <a:rPr lang="ar-SA" sz="1000" i="1" spc="3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2</m:t>
                        </m:r>
                      </m:sub>
                    </m:sSub>
                    <m:r>
                      <a:rPr lang="ar-SA" sz="1000" i="1" spc="30" dirty="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2</m:t>
                        </m:r>
                      </m:sub>
                    </m:sSub>
                    <m:r>
                      <a:rPr lang="ar-SA" sz="1000" i="1" spc="55" dirty="0" smtClean="0">
                        <a:latin typeface="Cambria Math" panose="02040503050406030204" pitchFamily="18" charset="0"/>
                        <a:cs typeface="Trebuchet MS"/>
                      </a:rPr>
                      <m:t>𝑅</m:t>
                    </m:r>
                  </m:oMath>
                </a14:m>
                <a:r>
                  <a:rPr lang="en-MY" sz="1000" dirty="0">
                    <a:latin typeface="Trebuchet MS"/>
                    <a:cs typeface="Trebuchet MS"/>
                  </a:rPr>
                  <a:t> </a:t>
                </a:r>
                <a:endParaRPr lang="ar-SA" sz="1000" dirty="0">
                  <a:latin typeface="Trebuchet MS"/>
                  <a:cs typeface="Trebuchet MS"/>
                </a:endParaRPr>
              </a:p>
              <a:p>
                <a:pPr>
                  <a:lnSpc>
                    <a:spcPts val="1195"/>
                  </a:lnSpc>
                </a:pPr>
                <a14:m>
                  <m:oMath xmlns:m="http://schemas.openxmlformats.org/officeDocument/2006/math">
                    <m:r>
                      <a:rPr lang="ar-SA" sz="1000" i="1" spc="55" dirty="0" smtClean="0">
                        <a:latin typeface="Cambria Math" panose="02040503050406030204" pitchFamily="18" charset="0"/>
                        <a:cs typeface="Trebuchet MS"/>
                      </a:rPr>
                      <m:t>𝑅</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3</m:t>
                        </m:r>
                      </m:sub>
                    </m:sSub>
                    <m:r>
                      <a:rPr lang="en-MY" sz="1000" b="0" i="1" spc="-25" dirty="0" smtClean="0">
                        <a:latin typeface="Cambria Math" panose="02040503050406030204" pitchFamily="18" charset="0"/>
                        <a:ea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3</m:t>
                        </m:r>
                      </m:sub>
                    </m:sSub>
                    <m:r>
                      <a:rPr lang="ar-SA" sz="1000" b="0" i="1" spc="-25" dirty="0" smtClean="0">
                        <a:latin typeface="Cambria Math" panose="02040503050406030204" pitchFamily="18" charset="0"/>
                        <a:ea typeface="Cambria Math" panose="02040503050406030204" pitchFamily="18" charset="0"/>
                        <a:cs typeface="Trebuchet MS"/>
                      </a:rPr>
                      <m:t>𝐿</m:t>
                    </m:r>
                  </m:oMath>
                </a14:m>
                <a:r>
                  <a:rPr lang="en-MY" sz="1000" dirty="0">
                    <a:latin typeface="Trebuchet MS"/>
                    <a:cs typeface="Trebuchet MS"/>
                  </a:rPr>
                  <a:t> </a:t>
                </a:r>
                <a:endParaRPr lang="ar-SA" sz="1000" dirty="0">
                  <a:latin typeface="Trebuchet MS"/>
                  <a:cs typeface="Trebuchet MS"/>
                </a:endParaRPr>
              </a:p>
              <a:p>
                <a:pPr>
                  <a:lnSpc>
                    <a:spcPts val="1195"/>
                  </a:lnSpc>
                </a:pPr>
                <a14:m>
                  <m:oMath xmlns:m="http://schemas.openxmlformats.org/officeDocument/2006/math">
                    <m:r>
                      <a:rPr lang="ar-SA" sz="1000" i="1" spc="3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4</m:t>
                        </m:r>
                      </m:sub>
                    </m:sSub>
                    <m:r>
                      <a:rPr lang="ar-SA" sz="1000" i="1" spc="30" dirty="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4</m:t>
                        </m:r>
                      </m:sub>
                    </m:sSub>
                    <m:r>
                      <a:rPr lang="ar-SA" sz="1000" i="1" spc="55" dirty="0">
                        <a:latin typeface="Cambria Math" panose="02040503050406030204" pitchFamily="18" charset="0"/>
                        <a:cs typeface="Trebuchet MS"/>
                      </a:rPr>
                      <m:t>𝑅</m:t>
                    </m:r>
                  </m:oMath>
                </a14:m>
                <a:r>
                  <a:rPr lang="en-MY" sz="1000" dirty="0">
                    <a:latin typeface="Trebuchet MS"/>
                    <a:cs typeface="Trebuchet MS"/>
                  </a:rPr>
                  <a:t> </a:t>
                </a:r>
                <a:endParaRPr lang="ar-SA" sz="1000" dirty="0">
                  <a:latin typeface="Trebuchet MS"/>
                  <a:cs typeface="Trebuchet MS"/>
                </a:endParaRPr>
              </a:p>
              <a:p>
                <a:pPr>
                  <a:lnSpc>
                    <a:spcPts val="1195"/>
                  </a:lnSpc>
                </a:pPr>
                <a14:m>
                  <m:oMathPara xmlns:m="http://schemas.openxmlformats.org/officeDocument/2006/math">
                    <m:oMathParaPr>
                      <m:jc m:val="centerGroup"/>
                    </m:oMathParaPr>
                    <m:oMath xmlns:m="http://schemas.openxmlformats.org/officeDocument/2006/math">
                      <m:r>
                        <a:rPr lang="en-MY" sz="1000" b="0" i="1" spc="5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5</m:t>
                          </m:r>
                        </m:sub>
                      </m:sSub>
                      <m:r>
                        <a:rPr lang="en-MY" sz="1000" b="0" i="1" spc="-25" dirty="0" smtClean="0">
                          <a:latin typeface="Cambria Math" panose="02040503050406030204" pitchFamily="18" charset="0"/>
                          <a:ea typeface="Cambria Math" panose="02040503050406030204" pitchFamily="18" charset="0"/>
                          <a:cs typeface="Trebuchet MS"/>
                        </a:rPr>
                        <m:t>𝑅</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5</m:t>
                          </m:r>
                        </m:sub>
                      </m:sSub>
                      <m:r>
                        <a:rPr lang="en-MY" sz="1000" b="0" i="1" spc="-25" dirty="0" smtClean="0">
                          <a:latin typeface="Cambria Math" panose="02040503050406030204" pitchFamily="18" charset="0"/>
                          <a:ea typeface="Cambria Math" panose="02040503050406030204" pitchFamily="18" charset="0"/>
                          <a:cs typeface="Trebuchet MS"/>
                        </a:rPr>
                        <m:t>𝐿</m:t>
                      </m:r>
                      <m:r>
                        <a:rPr lang="en-MY" sz="1000" b="0" i="1" spc="-25" dirty="0" smtClean="0">
                          <a:latin typeface="Cambria Math" panose="02040503050406030204" pitchFamily="18" charset="0"/>
                          <a:ea typeface="Cambria Math" panose="02040503050406030204" pitchFamily="18" charset="0"/>
                          <a:cs typeface="Trebuchet MS"/>
                        </a:rPr>
                        <m:t>  </m:t>
                      </m:r>
                    </m:oMath>
                  </m:oMathPara>
                </a14:m>
                <a:endParaRPr sz="1000" dirty="0">
                  <a:latin typeface="Trebuchet MS"/>
                  <a:cs typeface="Trebuchet MS"/>
                </a:endParaRPr>
              </a:p>
            </p:txBody>
          </p:sp>
        </mc:Choice>
        <mc:Fallback xmlns="">
          <p:sp>
            <p:nvSpPr>
              <p:cNvPr id="5" name="object 5"/>
              <p:cNvSpPr txBox="1">
                <a:spLocks noRot="1" noChangeAspect="1" noMove="1" noResize="1" noEditPoints="1" noAdjustHandles="1" noChangeArrowheads="1" noChangeShapeType="1" noTextEdit="1"/>
              </p:cNvSpPr>
              <p:nvPr/>
            </p:nvSpPr>
            <p:spPr>
              <a:xfrm>
                <a:off x="901484" y="1544660"/>
                <a:ext cx="726440" cy="769441"/>
              </a:xfrm>
              <a:prstGeom prst="rect">
                <a:avLst/>
              </a:prstGeom>
              <a:blipFill>
                <a:blip r:embed="rId4"/>
                <a:stretch>
                  <a:fillRect l="-6723" r="-840" b="-2362"/>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6" name="object 6"/>
              <p:cNvSpPr txBox="1"/>
              <p:nvPr/>
            </p:nvSpPr>
            <p:spPr>
              <a:xfrm>
                <a:off x="447356" y="2346595"/>
                <a:ext cx="3991293" cy="38157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14:m>
                  <m:oMath xmlns:m="http://schemas.openxmlformats.org/officeDocument/2006/math">
                    <m:r>
                      <a:rPr lang="en-MY" sz="1100" i="1" spc="10" dirty="0" smtClean="0">
                        <a:latin typeface="Cambria Math" panose="02040503050406030204" pitchFamily="18" charset="0"/>
                        <a:cs typeface="Tahoma"/>
                      </a:rPr>
                      <m:t>𝑢</m:t>
                    </m:r>
                    <m:r>
                      <a:rPr lang="en-MY" sz="1100" i="1" spc="10" dirty="0">
                        <a:latin typeface="Cambria Math" panose="02040503050406030204" pitchFamily="18" charset="0"/>
                        <a:cs typeface="Tahoma"/>
                      </a:rPr>
                      <m:t>(</m:t>
                    </m:r>
                    <m:r>
                      <a:rPr lang="en-MY" sz="1100" i="1" spc="10" dirty="0">
                        <a:latin typeface="Cambria Math" panose="02040503050406030204" pitchFamily="18" charset="0"/>
                        <a:cs typeface="Tahoma"/>
                      </a:rPr>
                      <m:t>𝐿</m:t>
                    </m:r>
                    <m:r>
                      <a:rPr lang="en-MY" sz="1100" i="1" spc="10" dirty="0">
                        <a:latin typeface="Cambria Math" panose="02040503050406030204" pitchFamily="18" charset="0"/>
                        <a:cs typeface="Tahoma"/>
                      </a:rPr>
                      <m:t>)=</m:t>
                    </m:r>
                    <m:r>
                      <a:rPr lang="en-MY" sz="1100" i="1" spc="10" dirty="0">
                        <a:latin typeface="Cambria Math" panose="02040503050406030204" pitchFamily="18" charset="0"/>
                        <a:cs typeface="Tahoma"/>
                      </a:rPr>
                      <m:t>4</m:t>
                    </m:r>
                    <m:r>
                      <a:rPr lang="en-MY" sz="1100" i="1" spc="10" dirty="0">
                        <a:latin typeface="Cambria Math" panose="02040503050406030204" pitchFamily="18" charset="0"/>
                        <a:cs typeface="Tahoma"/>
                      </a:rPr>
                      <m:t>; </m:t>
                    </m:r>
                    <m:r>
                      <a:rPr lang="en-MY" sz="1100" i="1" spc="10" dirty="0">
                        <a:latin typeface="Cambria Math" panose="02040503050406030204" pitchFamily="18" charset="0"/>
                        <a:cs typeface="Tahoma"/>
                      </a:rPr>
                      <m:t>𝑢</m:t>
                    </m:r>
                    <m:r>
                      <a:rPr lang="en-MY" sz="1100" i="1" spc="10" dirty="0">
                        <a:latin typeface="Cambria Math" panose="02040503050406030204" pitchFamily="18" charset="0"/>
                        <a:cs typeface="Tahoma"/>
                      </a:rPr>
                      <m:t>(</m:t>
                    </m:r>
                    <m:r>
                      <a:rPr lang="en-MY" sz="1100" i="1" spc="10" dirty="0">
                        <a:latin typeface="Cambria Math" panose="02040503050406030204" pitchFamily="18" charset="0"/>
                        <a:cs typeface="Tahoma"/>
                      </a:rPr>
                      <m:t>𝐶</m:t>
                    </m:r>
                    <m:r>
                      <a:rPr lang="en-MY" sz="1100" i="1" spc="10" dirty="0">
                        <a:latin typeface="Cambria Math" panose="02040503050406030204" pitchFamily="18" charset="0"/>
                        <a:cs typeface="Tahoma"/>
                      </a:rPr>
                      <m:t> )=</m:t>
                    </m:r>
                    <m:r>
                      <a:rPr lang="en-MY" sz="1100" i="1" spc="10" dirty="0">
                        <a:latin typeface="Cambria Math" panose="02040503050406030204" pitchFamily="18" charset="0"/>
                        <a:cs typeface="Tahoma"/>
                      </a:rPr>
                      <m:t>8</m:t>
                    </m:r>
                    <m:r>
                      <a:rPr lang="en-MY" sz="1100" i="1" spc="10" dirty="0">
                        <a:latin typeface="Cambria Math" panose="02040503050406030204" pitchFamily="18" charset="0"/>
                        <a:cs typeface="Tahoma"/>
                      </a:rPr>
                      <m:t>; </m:t>
                    </m:r>
                    <m:r>
                      <a:rPr lang="en-MY" sz="1100" i="1" spc="10" dirty="0">
                        <a:latin typeface="Cambria Math" panose="02040503050406030204" pitchFamily="18" charset="0"/>
                        <a:cs typeface="Tahoma"/>
                      </a:rPr>
                      <m:t>𝑢</m:t>
                    </m:r>
                    <m:r>
                      <a:rPr lang="en-MY" sz="1100" i="1" spc="10" dirty="0">
                        <a:latin typeface="Cambria Math" panose="02040503050406030204" pitchFamily="18" charset="0"/>
                        <a:cs typeface="Tahoma"/>
                      </a:rPr>
                      <m:t>(</m:t>
                    </m:r>
                    <m:r>
                      <a:rPr lang="en-MY" sz="1100" i="1" spc="10" dirty="0">
                        <a:latin typeface="Cambria Math" panose="02040503050406030204" pitchFamily="18" charset="0"/>
                        <a:cs typeface="Tahoma"/>
                      </a:rPr>
                      <m:t>𝑅</m:t>
                    </m:r>
                    <m:r>
                      <a:rPr lang="en-MY" sz="1100" i="1" spc="10" dirty="0">
                        <a:latin typeface="Cambria Math" panose="02040503050406030204" pitchFamily="18" charset="0"/>
                        <a:cs typeface="Tahoma"/>
                      </a:rPr>
                      <m:t>)=</m:t>
                    </m:r>
                    <m:r>
                      <a:rPr lang="en-MY" sz="1100" i="1" spc="10" dirty="0">
                        <a:latin typeface="Cambria Math" panose="02040503050406030204" pitchFamily="18" charset="0"/>
                        <a:cs typeface="Tahoma"/>
                      </a:rPr>
                      <m:t>3</m:t>
                    </m:r>
                  </m:oMath>
                </a14:m>
                <a:endParaRP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sz="1100" spc="10" dirty="0">
                    <a:latin typeface="Tahoma"/>
                    <a:cs typeface="Tahoma"/>
                  </a:rPr>
                  <a:t>Social outcome (the “winner”): </a:t>
                </a:r>
                <a14:m>
                  <m:oMath xmlns:m="http://schemas.openxmlformats.org/officeDocument/2006/math">
                    <m:r>
                      <a:rPr lang="en-MY" sz="1100" i="1" spc="10" dirty="0" smtClean="0">
                        <a:latin typeface="Cambria Math" panose="02040503050406030204" pitchFamily="18" charset="0"/>
                        <a:cs typeface="Tahoma"/>
                      </a:rPr>
                      <m:t>𝐶</m:t>
                    </m:r>
                  </m:oMath>
                </a14:m>
                <a:endParaRPr sz="1100" spc="10" dirty="0">
                  <a:latin typeface="Tahoma"/>
                  <a:cs typeface="Tahoma"/>
                </a:endParaRPr>
              </a:p>
            </p:txBody>
          </p:sp>
        </mc:Choice>
        <mc:Fallback xmlns="">
          <p:sp>
            <p:nvSpPr>
              <p:cNvPr id="6" name="object 6"/>
              <p:cNvSpPr txBox="1">
                <a:spLocks noRot="1" noChangeAspect="1" noMove="1" noResize="1" noEditPoints="1" noAdjustHandles="1" noChangeArrowheads="1" noChangeShapeType="1" noTextEdit="1"/>
              </p:cNvSpPr>
              <p:nvPr/>
            </p:nvSpPr>
            <p:spPr>
              <a:xfrm>
                <a:off x="447356" y="2346595"/>
                <a:ext cx="3991293" cy="381579"/>
              </a:xfrm>
              <a:prstGeom prst="rect">
                <a:avLst/>
              </a:prstGeom>
              <a:blipFill>
                <a:blip r:embed="rId5"/>
                <a:stretch>
                  <a:fillRect l="-611" t="-9524" b="-20635"/>
                </a:stretch>
              </a:blipFill>
            </p:spPr>
            <p:txBody>
              <a:bodyPr/>
              <a:lstStyle/>
              <a:p>
                <a:r>
                  <a:rPr lang="en-MY">
                    <a:noFill/>
                  </a:rPr>
                  <a:t> </a:t>
                </a:r>
              </a:p>
            </p:txBody>
          </p:sp>
        </mc:Fallback>
      </mc:AlternateContent>
      <p:sp>
        <p:nvSpPr>
          <p:cNvPr id="7" name="Date Placeholder 3">
            <a:extLst>
              <a:ext uri="{FF2B5EF4-FFF2-40B4-BE49-F238E27FC236}">
                <a16:creationId xmlns:a16="http://schemas.microsoft.com/office/drawing/2014/main" id="{1FCBF079-3A44-4A96-B82C-BF10418DA96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80264D61-82D4-4924-8985-C314D978D19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085B7062-0757-4470-970C-EE28C7BF4AA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21</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0" dirty="0"/>
              <a:t>Egalit</a:t>
            </a:r>
            <a:r>
              <a:rPr spc="-65" dirty="0"/>
              <a:t>a</a:t>
            </a:r>
            <a:r>
              <a:rPr spc="-45" dirty="0"/>
              <a:t>rian</a:t>
            </a:r>
            <a:r>
              <a:rPr spc="25" dirty="0"/>
              <a:t> </a:t>
            </a:r>
            <a:r>
              <a:rPr spc="-55" dirty="0"/>
              <a:t>rule</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347294" y="766200"/>
                <a:ext cx="3915511" cy="1625387"/>
              </a:xfrm>
              <a:prstGeom prst="rect">
                <a:avLst/>
              </a:prstGeom>
            </p:spPr>
            <p:txBody>
              <a:bodyPr vert="horz" wrap="square" lIns="0" tIns="406279"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lang="en-US" kern="1200" spc="10" dirty="0"/>
                  <a:t>Also called the max-min rule</a:t>
                </a:r>
              </a:p>
              <a:p>
                <a:pPr marL="284163" indent="-230188" algn="l" rtl="0">
                  <a:lnSpc>
                    <a:spcPts val="1400"/>
                  </a:lnSpc>
                  <a:spcBef>
                    <a:spcPts val="330"/>
                  </a:spcBef>
                  <a:buClr>
                    <a:srgbClr val="0000FF"/>
                  </a:buClr>
                  <a:buFont typeface="Wingdings 3" panose="05040102010807070707" pitchFamily="18" charset="2"/>
                  <a:buChar char=""/>
                </a:pPr>
                <a:r>
                  <a:rPr lang="en-US" kern="1200" spc="10" dirty="0"/>
                  <a:t>Assigns a utility </a:t>
                </a:r>
                <a14:m>
                  <m:oMath xmlns:m="http://schemas.openxmlformats.org/officeDocument/2006/math">
                    <m:sSub>
                      <m:sSubPr>
                        <m:ctrlPr>
                          <a:rPr lang="en-US" b="0" i="1" kern="1200" spc="10" dirty="0" smtClean="0">
                            <a:latin typeface="Cambria Math" panose="02040503050406030204" pitchFamily="18" charset="0"/>
                          </a:rPr>
                        </m:ctrlPr>
                      </m:sSubPr>
                      <m:e>
                        <m:r>
                          <a:rPr lang="en-US" i="1" kern="1200" spc="10" dirty="0" smtClean="0">
                            <a:latin typeface="Cambria Math" panose="02040503050406030204" pitchFamily="18" charset="0"/>
                          </a:rPr>
                          <m:t>𝑢</m:t>
                        </m:r>
                      </m:e>
                      <m:sub>
                        <m:r>
                          <a:rPr lang="en-US" i="1" kern="1200" spc="10" dirty="0" smtClean="0">
                            <a:latin typeface="Cambria Math" panose="02040503050406030204" pitchFamily="18" charset="0"/>
                          </a:rPr>
                          <m:t>𝑖</m:t>
                        </m:r>
                      </m:sub>
                    </m:sSub>
                    <m:r>
                      <a:rPr lang="en-US" i="1" kern="1200" spc="10" dirty="0" smtClean="0">
                        <a:latin typeface="Cambria Math" panose="02040503050406030204" pitchFamily="18" charset="0"/>
                      </a:rPr>
                      <m:t> :</m:t>
                    </m:r>
                    <m:r>
                      <a:rPr lang="en-US" i="1" kern="1200" spc="10" dirty="0" smtClean="0">
                        <a:latin typeface="Cambria Math" panose="02040503050406030204" pitchFamily="18" charset="0"/>
                      </a:rPr>
                      <m:t>Ω</m:t>
                    </m:r>
                    <m:r>
                      <a:rPr lang="en-US" i="1" kern="1200" spc="10" dirty="0" smtClean="0">
                        <a:latin typeface="Cambria Math" panose="02040503050406030204" pitchFamily="18" charset="0"/>
                      </a:rPr>
                      <m:t>→</m:t>
                    </m:r>
                    <m:r>
                      <a:rPr lang="en-US" i="1" kern="1200" spc="10" dirty="0" smtClean="0">
                        <a:latin typeface="Cambria Math" panose="02040503050406030204" pitchFamily="18" charset="0"/>
                      </a:rPr>
                      <m:t>𝑅</m:t>
                    </m:r>
                    <m:r>
                      <a:rPr lang="en-US" i="1" kern="1200" spc="10" dirty="0" smtClean="0">
                        <a:latin typeface="Cambria Math" panose="02040503050406030204" pitchFamily="18" charset="0"/>
                      </a:rPr>
                      <m:t> </m:t>
                    </m:r>
                  </m:oMath>
                </a14:m>
                <a:r>
                  <a:rPr lang="en-US" kern="1200" spc="10" dirty="0"/>
                  <a:t>to every agent/voter </a:t>
                </a:r>
                <a14:m>
                  <m:oMath xmlns:m="http://schemas.openxmlformats.org/officeDocument/2006/math">
                    <m:r>
                      <a:rPr lang="en-US" i="1" kern="1200" spc="10" dirty="0" smtClean="0">
                        <a:latin typeface="Cambria Math" panose="02040503050406030204" pitchFamily="18" charset="0"/>
                      </a:rPr>
                      <m:t>𝑖</m:t>
                    </m:r>
                    <m:r>
                      <a:rPr lang="en-US" i="1" kern="1200" spc="10" dirty="0" smtClean="0">
                        <a:latin typeface="Cambria Math" panose="02040503050406030204" pitchFamily="18" charset="0"/>
                      </a:rPr>
                      <m:t>∈</m:t>
                    </m:r>
                    <m:r>
                      <a:rPr lang="en-US" i="1" kern="1200" spc="10" dirty="0" smtClean="0">
                        <a:latin typeface="Cambria Math" panose="02040503050406030204" pitchFamily="18" charset="0"/>
                      </a:rPr>
                      <m:t>𝑁</m:t>
                    </m:r>
                  </m:oMath>
                </a14:m>
                <a:endParaRPr lang="en-US" kern="1200" spc="10" dirty="0"/>
              </a:p>
              <a:p>
                <a:pPr marL="284163" marR="5080" indent="-230188" algn="l" rtl="0">
                  <a:lnSpc>
                    <a:spcPts val="1400"/>
                  </a:lnSpc>
                  <a:spcBef>
                    <a:spcPts val="330"/>
                  </a:spcBef>
                  <a:buClr>
                    <a:srgbClr val="0000FF"/>
                  </a:buClr>
                  <a:buFont typeface="Wingdings 3" panose="05040102010807070707" pitchFamily="18" charset="2"/>
                  <a:buChar char=""/>
                </a:pPr>
                <a:r>
                  <a:rPr lang="en-US" kern="1200" spc="10" dirty="0"/>
                  <a:t>Chooses as winner the </a:t>
                </a:r>
                <a14:m>
                  <m:oMath xmlns:m="http://schemas.openxmlformats.org/officeDocument/2006/math">
                    <m:r>
                      <a:rPr lang="en-US" i="1" kern="1200" spc="10" dirty="0" smtClean="0">
                        <a:latin typeface="Cambria Math" panose="02040503050406030204" pitchFamily="18" charset="0"/>
                      </a:rPr>
                      <m:t>𝜔</m:t>
                    </m:r>
                    <m:r>
                      <a:rPr lang="en-US" i="1" kern="1200" spc="10" dirty="0" smtClean="0">
                        <a:latin typeface="Cambria Math" panose="02040503050406030204" pitchFamily="18" charset="0"/>
                      </a:rPr>
                      <m:t>∈</m:t>
                    </m:r>
                    <m:r>
                      <a:rPr lang="en-US" i="1" kern="1200" spc="10" dirty="0" smtClean="0">
                        <a:latin typeface="Cambria Math" panose="02040503050406030204" pitchFamily="18" charset="0"/>
                      </a:rPr>
                      <m:t>Ω</m:t>
                    </m:r>
                    <m:r>
                      <a:rPr lang="en-US" i="1" kern="1200" spc="10" dirty="0" smtClean="0">
                        <a:latin typeface="Cambria Math" panose="02040503050406030204" pitchFamily="18" charset="0"/>
                      </a:rPr>
                      <m:t> </m:t>
                    </m:r>
                  </m:oMath>
                </a14:m>
                <a:r>
                  <a:rPr lang="en-US" kern="1200" spc="10" dirty="0"/>
                  <a:t>that maximises the minimal individual utility when considering all possible outcomes.</a:t>
                </a:r>
              </a:p>
              <a:p>
                <a:pPr marL="284163" indent="-230188" algn="l" rtl="0">
                  <a:lnSpc>
                    <a:spcPts val="1400"/>
                  </a:lnSpc>
                  <a:spcBef>
                    <a:spcPts val="330"/>
                  </a:spcBef>
                  <a:buClr>
                    <a:srgbClr val="0000FF"/>
                  </a:buClr>
                  <a:buFont typeface="Wingdings 3" panose="05040102010807070707" pitchFamily="18" charset="2"/>
                  <a:buChar char=""/>
                </a:pPr>
                <a:r>
                  <a:rPr lang="en-US" kern="1200" spc="10" dirty="0"/>
                  <a:t>It may require a tie-breaking rule</a:t>
                </a:r>
              </a:p>
              <a:p>
                <a:pPr marL="284163" indent="-230188" algn="l" rtl="0">
                  <a:lnSpc>
                    <a:spcPts val="1400"/>
                  </a:lnSpc>
                  <a:spcBef>
                    <a:spcPts val="330"/>
                  </a:spcBef>
                  <a:buClr>
                    <a:srgbClr val="0000FF"/>
                  </a:buClr>
                  <a:buFont typeface="Wingdings 3" panose="05040102010807070707" pitchFamily="18" charset="2"/>
                  <a:buChar char=""/>
                </a:pPr>
                <a:r>
                  <a:rPr lang="en-US" kern="1200" spc="10" dirty="0"/>
                  <a:t>Example...</a:t>
                </a:r>
                <a:endParaRPr kern="1200" spc="1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347294" y="766200"/>
                <a:ext cx="3915511" cy="1625387"/>
              </a:xfrm>
              <a:prstGeom prst="rect">
                <a:avLst/>
              </a:prstGeom>
              <a:blipFill>
                <a:blip r:embed="rId3"/>
                <a:stretch>
                  <a:fillRect l="-779" r="-2492" b="-488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2B03D40-6BEA-46AE-95AC-BC62E3DDB476}"/>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43346DE4-401E-456B-99B6-47DA8A11973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BD762EB-B8D8-4C06-A02B-4FF9EDB0E066}"/>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22</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spc="-20" dirty="0"/>
              <a:t>Egalit</a:t>
            </a:r>
            <a:r>
              <a:rPr spc="-65" dirty="0"/>
              <a:t>a</a:t>
            </a:r>
            <a:r>
              <a:rPr spc="-45" dirty="0"/>
              <a:t>rian</a:t>
            </a:r>
            <a:r>
              <a:rPr spc="30" dirty="0"/>
              <a:t> </a:t>
            </a:r>
            <a:r>
              <a:rPr spc="-55" dirty="0"/>
              <a:t>rule</a:t>
            </a:r>
          </a:p>
        </p:txBody>
      </p:sp>
      <mc:AlternateContent xmlns:mc="http://schemas.openxmlformats.org/markup-compatibility/2006" xmlns:a14="http://schemas.microsoft.com/office/drawing/2010/main">
        <mc:Choice Requires="a14">
          <p:sp>
            <p:nvSpPr>
              <p:cNvPr id="3" name="object 3"/>
              <p:cNvSpPr txBox="1"/>
              <p:nvPr/>
            </p:nvSpPr>
            <p:spPr>
              <a:xfrm>
                <a:off x="447356" y="735155"/>
                <a:ext cx="4067441" cy="601575"/>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 </a:t>
                </a:r>
                <a14:m>
                  <m:oMath xmlns:m="http://schemas.openxmlformats.org/officeDocument/2006/math">
                    <m:r>
                      <a:rPr lang="en-MY" sz="1100" i="1" spc="10" dirty="0" smtClean="0">
                        <a:latin typeface="Cambria Math" panose="02040503050406030204" pitchFamily="18" charset="0"/>
                        <a:cs typeface="Tahoma"/>
                      </a:rPr>
                      <m:t>𝑁</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2</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3</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4</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5</m:t>
                    </m:r>
                    <m:r>
                      <a:rPr lang="en-MY" sz="1100" i="1" spc="10" dirty="0" smtClean="0">
                        <a:latin typeface="Cambria Math" panose="02040503050406030204" pitchFamily="18" charset="0"/>
                        <a:cs typeface="Tahoma"/>
                      </a:rPr>
                      <m:t>}</m:t>
                    </m:r>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Outcomes/Candidates: </a:t>
                </a:r>
                <a14:m>
                  <m:oMath xmlns:m="http://schemas.openxmlformats.org/officeDocument/2006/math">
                    <m:r>
                      <a:rPr lang="el-GR" sz="1100" i="1" spc="10" dirty="0" smtClean="0">
                        <a:latin typeface="Cambria Math" panose="02040503050406030204" pitchFamily="18" charset="0"/>
                        <a:cs typeface="Tahoma"/>
                      </a:rPr>
                      <m:t>Ω</m:t>
                    </m:r>
                    <m:r>
                      <a:rPr lang="el-GR" sz="1100" i="1" spc="10" dirty="0" smtClean="0">
                        <a:latin typeface="Cambria Math" panose="02040503050406030204" pitchFamily="18" charset="0"/>
                        <a:cs typeface="Tahoma"/>
                      </a:rPr>
                      <m:t>={</m:t>
                    </m:r>
                    <m:r>
                      <a:rPr lang="el-GR" sz="1100" i="1" spc="10" dirty="0" smtClean="0">
                        <a:latin typeface="Cambria Math" panose="02040503050406030204" pitchFamily="18" charset="0"/>
                        <a:cs typeface="Tahoma"/>
                      </a:rPr>
                      <m:t>𝐿</m:t>
                    </m:r>
                    <m:r>
                      <a:rPr lang="el-GR" sz="1100" i="1" spc="10" dirty="0" smtClean="0">
                        <a:latin typeface="Cambria Math" panose="02040503050406030204" pitchFamily="18" charset="0"/>
                        <a:cs typeface="Tahoma"/>
                      </a:rPr>
                      <m:t>, </m:t>
                    </m:r>
                    <m:r>
                      <a:rPr lang="el-GR" sz="1100" i="1" spc="10" dirty="0" smtClean="0">
                        <a:latin typeface="Cambria Math" panose="02040503050406030204" pitchFamily="18" charset="0"/>
                        <a:cs typeface="Tahoma"/>
                      </a:rPr>
                      <m:t>𝐶</m:t>
                    </m:r>
                    <m:r>
                      <a:rPr lang="el-GR" sz="1100" i="1" spc="10" dirty="0" smtClean="0">
                        <a:latin typeface="Cambria Math" panose="02040503050406030204" pitchFamily="18" charset="0"/>
                        <a:cs typeface="Tahoma"/>
                      </a:rPr>
                      <m:t>, </m:t>
                    </m:r>
                    <m:r>
                      <a:rPr lang="el-GR" sz="1100" i="1" spc="10" dirty="0" smtClean="0">
                        <a:latin typeface="Cambria Math" panose="02040503050406030204" pitchFamily="18" charset="0"/>
                        <a:cs typeface="Tahoma"/>
                      </a:rPr>
                      <m:t>𝑅</m:t>
                    </m:r>
                    <m:r>
                      <a:rPr lang="el-GR" sz="1100" i="1" spc="10" dirty="0" smtClean="0">
                        <a:latin typeface="Cambria Math" panose="02040503050406030204" pitchFamily="18" charset="0"/>
                        <a:cs typeface="Tahoma"/>
                      </a:rPr>
                      <m:t>}</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Assume that </a:t>
                </a:r>
                <a14:m>
                  <m:oMath xmlns:m="http://schemas.openxmlformats.org/officeDocument/2006/math">
                    <m:sSub>
                      <m:sSubPr>
                        <m:ctrlPr>
                          <a:rPr lang="en-MY" sz="1100" b="0" i="1" spc="10" dirty="0" smtClean="0">
                            <a:latin typeface="Cambria Math" panose="02040503050406030204" pitchFamily="18" charset="0"/>
                            <a:cs typeface="Tahoma"/>
                          </a:rPr>
                        </m:ctrlPr>
                      </m:sSubPr>
                      <m:e>
                        <m:r>
                          <a:rPr lang="en-MY" sz="1100" i="1" spc="10" dirty="0" smtClean="0">
                            <a:latin typeface="Cambria Math" panose="02040503050406030204" pitchFamily="18" charset="0"/>
                            <a:cs typeface="Tahoma"/>
                          </a:rPr>
                          <m:t>𝑢</m:t>
                        </m:r>
                      </m:e>
                      <m:sub>
                        <m:r>
                          <a:rPr lang="en-MY" sz="1100" i="1" spc="10" dirty="0" smtClean="0">
                            <a:latin typeface="Cambria Math" panose="02040503050406030204" pitchFamily="18" charset="0"/>
                            <a:cs typeface="Tahoma"/>
                          </a:rPr>
                          <m:t>𝑖</m:t>
                        </m:r>
                      </m:sub>
                    </m:sSub>
                  </m:oMath>
                </a14:m>
                <a:r>
                  <a:rPr lang="en-MY" sz="1100" spc="10" dirty="0">
                    <a:latin typeface="Tahoma"/>
                    <a:cs typeface="Tahoma"/>
                  </a:rPr>
                  <a:t> gives utilities as the </a:t>
                </a:r>
                <a:r>
                  <a:rPr lang="en-MY" sz="1100" b="1" spc="10" dirty="0">
                    <a:latin typeface="Tahoma"/>
                    <a:cs typeface="Tahoma"/>
                  </a:rPr>
                  <a:t>Borda</a:t>
                </a:r>
                <a:r>
                  <a:rPr lang="en-MY" sz="1100" spc="10" dirty="0">
                    <a:latin typeface="Tahoma"/>
                    <a:cs typeface="Tahoma"/>
                  </a:rPr>
                  <a:t> count method.</a:t>
                </a:r>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47356" y="735155"/>
                <a:ext cx="4067441" cy="601575"/>
              </a:xfrm>
              <a:prstGeom prst="rect">
                <a:avLst/>
              </a:prstGeom>
              <a:blipFill>
                <a:blip r:embed="rId3"/>
                <a:stretch>
                  <a:fillRect l="-599" t="-9184" b="-14286"/>
                </a:stretch>
              </a:blipFill>
            </p:spPr>
            <p:txBody>
              <a:bodyPr/>
              <a:lstStyle/>
              <a:p>
                <a:r>
                  <a:rPr lang="en-US">
                    <a:noFill/>
                  </a:rPr>
                  <a:t> </a:t>
                </a:r>
              </a:p>
            </p:txBody>
          </p:sp>
        </mc:Fallback>
      </mc:AlternateContent>
      <p:sp>
        <p:nvSpPr>
          <p:cNvPr id="4" name="object 4"/>
          <p:cNvSpPr txBox="1"/>
          <p:nvPr/>
        </p:nvSpPr>
        <p:spPr>
          <a:xfrm>
            <a:off x="447357" y="1345009"/>
            <a:ext cx="133350" cy="16357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endParaRPr sz="1100" spc="10" dirty="0">
              <a:latin typeface="Tahoma"/>
              <a:cs typeface="Tahoma"/>
            </a:endParaRPr>
          </a:p>
        </p:txBody>
      </p:sp>
      <mc:AlternateContent xmlns:mc="http://schemas.openxmlformats.org/markup-compatibility/2006" xmlns:a14="http://schemas.microsoft.com/office/drawing/2010/main">
        <mc:Choice Requires="a14">
          <p:sp>
            <p:nvSpPr>
              <p:cNvPr id="5" name="object 5"/>
              <p:cNvSpPr txBox="1"/>
              <p:nvPr/>
            </p:nvSpPr>
            <p:spPr>
              <a:xfrm>
                <a:off x="901484" y="1360447"/>
                <a:ext cx="726440" cy="769441"/>
              </a:xfrm>
              <a:prstGeom prst="rect">
                <a:avLst/>
              </a:prstGeom>
            </p:spPr>
            <p:txBody>
              <a:bodyPr vert="horz" wrap="square" lIns="0" tIns="0" rIns="0" bIns="0" rtlCol="0">
                <a:spAutoFit/>
              </a:bodyPr>
              <a:lstStyle/>
              <a:p>
                <a:pPr>
                  <a:lnSpc>
                    <a:spcPts val="1200"/>
                  </a:lnSpc>
                  <a:spcBef>
                    <a:spcPts val="175"/>
                  </a:spcBef>
                </a:pPr>
                <a14:m>
                  <m:oMath xmlns:m="http://schemas.openxmlformats.org/officeDocument/2006/math">
                    <m:r>
                      <a:rPr lang="ar-SA" sz="1000" i="1" spc="30" dirty="0" smtClean="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1</m:t>
                        </m:r>
                      </m:sub>
                    </m:sSub>
                    <m:r>
                      <a:rPr lang="ar-SA" sz="1000" b="0" i="1" spc="5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1</m:t>
                        </m:r>
                      </m:sub>
                    </m:sSub>
                    <m:r>
                      <a:rPr lang="ar-SA" sz="1000" b="0" i="1" spc="-25" dirty="0" smtClean="0">
                        <a:latin typeface="Cambria Math" panose="02040503050406030204" pitchFamily="18" charset="0"/>
                        <a:ea typeface="Cambria Math" panose="02040503050406030204" pitchFamily="18" charset="0"/>
                        <a:cs typeface="Trebuchet MS"/>
                      </a:rPr>
                      <m:t>𝑅</m:t>
                    </m:r>
                  </m:oMath>
                </a14:m>
                <a:r>
                  <a:rPr lang="ar-SA" sz="1000" dirty="0">
                    <a:latin typeface="Trebuchet MS"/>
                    <a:cs typeface="Trebuchet MS"/>
                  </a:rPr>
                  <a:t> </a:t>
                </a:r>
              </a:p>
              <a:p>
                <a:pPr>
                  <a:lnSpc>
                    <a:spcPts val="1195"/>
                  </a:lnSpc>
                </a:pPr>
                <a14:m>
                  <m:oMathPara xmlns:m="http://schemas.openxmlformats.org/officeDocument/2006/math">
                    <m:oMathParaPr>
                      <m:jc m:val="centerGroup"/>
                    </m:oMathParaPr>
                    <m:oMath xmlns:m="http://schemas.openxmlformats.org/officeDocument/2006/math">
                      <m:r>
                        <a:rPr lang="ar-SA" sz="1000" i="1" spc="3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2</m:t>
                          </m:r>
                        </m:sub>
                      </m:sSub>
                      <m:r>
                        <a:rPr lang="ar-SA" sz="1000" i="1" spc="30" dirty="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2</m:t>
                          </m:r>
                        </m:sub>
                      </m:sSub>
                      <m:r>
                        <a:rPr lang="ar-SA" sz="1000" i="1" spc="55" dirty="0" smtClean="0">
                          <a:latin typeface="Cambria Math" panose="02040503050406030204" pitchFamily="18" charset="0"/>
                          <a:cs typeface="Trebuchet MS"/>
                        </a:rPr>
                        <m:t>𝑅</m:t>
                      </m:r>
                      <m:r>
                        <a:rPr lang="en-MY" sz="1000" b="0" i="1" spc="55" dirty="0" smtClean="0">
                          <a:latin typeface="Cambria Math" panose="02040503050406030204" pitchFamily="18" charset="0"/>
                          <a:cs typeface="Trebuchet MS"/>
                        </a:rPr>
                        <m:t> </m:t>
                      </m:r>
                    </m:oMath>
                  </m:oMathPara>
                </a14:m>
                <a:endParaRPr lang="ar-SA" sz="1000" dirty="0">
                  <a:latin typeface="Trebuchet MS"/>
                  <a:cs typeface="Trebuchet MS"/>
                </a:endParaRPr>
              </a:p>
              <a:p>
                <a:pPr>
                  <a:lnSpc>
                    <a:spcPts val="1195"/>
                  </a:lnSpc>
                </a:pPr>
                <a14:m>
                  <m:oMath xmlns:m="http://schemas.openxmlformats.org/officeDocument/2006/math">
                    <m:r>
                      <a:rPr lang="ar-SA" sz="1000" i="1" spc="55" dirty="0" smtClean="0">
                        <a:latin typeface="Cambria Math" panose="02040503050406030204" pitchFamily="18" charset="0"/>
                        <a:cs typeface="Trebuchet MS"/>
                      </a:rPr>
                      <m:t>𝑅</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3</m:t>
                        </m:r>
                      </m:sub>
                    </m:sSub>
                    <m:r>
                      <a:rPr lang="ar-SA" sz="1000" b="0" i="1" spc="-25" dirty="0" smtClean="0">
                        <a:latin typeface="Cambria Math" panose="02040503050406030204" pitchFamily="18" charset="0"/>
                        <a:ea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3</m:t>
                        </m:r>
                      </m:sub>
                    </m:sSub>
                    <m:r>
                      <a:rPr lang="ar-SA" sz="1000" b="0" i="1" spc="-25" dirty="0" smtClean="0">
                        <a:latin typeface="Cambria Math" panose="02040503050406030204" pitchFamily="18" charset="0"/>
                        <a:ea typeface="Cambria Math" panose="02040503050406030204" pitchFamily="18" charset="0"/>
                        <a:cs typeface="Trebuchet MS"/>
                      </a:rPr>
                      <m:t>𝐿</m:t>
                    </m:r>
                  </m:oMath>
                </a14:m>
                <a:r>
                  <a:rPr lang="ar-SA" sz="1000" dirty="0">
                    <a:latin typeface="Trebuchet MS"/>
                    <a:cs typeface="Trebuchet MS"/>
                  </a:rPr>
                  <a:t> </a:t>
                </a:r>
              </a:p>
              <a:p>
                <a:pPr>
                  <a:lnSpc>
                    <a:spcPts val="1195"/>
                  </a:lnSpc>
                </a:pPr>
                <a14:m>
                  <m:oMathPara xmlns:m="http://schemas.openxmlformats.org/officeDocument/2006/math">
                    <m:oMathParaPr>
                      <m:jc m:val="centerGroup"/>
                    </m:oMathParaPr>
                    <m:oMath xmlns:m="http://schemas.openxmlformats.org/officeDocument/2006/math">
                      <m:r>
                        <a:rPr lang="ar-SA" sz="1000" i="1" spc="3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4</m:t>
                          </m:r>
                        </m:sub>
                      </m:sSub>
                      <m:r>
                        <a:rPr lang="ar-SA" sz="1000" i="1" spc="30" dirty="0">
                          <a:latin typeface="Cambria Math" panose="02040503050406030204" pitchFamily="18" charset="0"/>
                          <a:cs typeface="Trebuchet MS"/>
                        </a:rPr>
                        <m:t>𝐿</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4</m:t>
                          </m:r>
                        </m:sub>
                      </m:sSub>
                      <m:r>
                        <a:rPr lang="ar-SA" sz="1000" i="1" spc="55" dirty="0">
                          <a:latin typeface="Cambria Math" panose="02040503050406030204" pitchFamily="18" charset="0"/>
                          <a:cs typeface="Trebuchet MS"/>
                        </a:rPr>
                        <m:t>𝑅</m:t>
                      </m:r>
                      <m:r>
                        <a:rPr lang="en-MY" sz="1000" b="0" i="1" spc="55" dirty="0" smtClean="0">
                          <a:latin typeface="Cambria Math" panose="02040503050406030204" pitchFamily="18" charset="0"/>
                          <a:cs typeface="Trebuchet MS"/>
                        </a:rPr>
                        <m:t> </m:t>
                      </m:r>
                    </m:oMath>
                  </m:oMathPara>
                </a14:m>
                <a:endParaRPr lang="ar-SA" sz="1000" dirty="0">
                  <a:latin typeface="Trebuchet MS"/>
                  <a:cs typeface="Trebuchet MS"/>
                </a:endParaRPr>
              </a:p>
              <a:p>
                <a:pPr>
                  <a:lnSpc>
                    <a:spcPts val="1195"/>
                  </a:lnSpc>
                </a:pPr>
                <a14:m>
                  <m:oMathPara xmlns:m="http://schemas.openxmlformats.org/officeDocument/2006/math">
                    <m:oMathParaPr>
                      <m:jc m:val="centerGroup"/>
                    </m:oMathParaPr>
                    <m:oMath xmlns:m="http://schemas.openxmlformats.org/officeDocument/2006/math">
                      <m:r>
                        <a:rPr lang="ar-SA" sz="1000" b="0" i="1" spc="55" dirty="0" smtClean="0">
                          <a:latin typeface="Cambria Math" panose="02040503050406030204" pitchFamily="18" charset="0"/>
                          <a:cs typeface="Trebuchet MS"/>
                        </a:rPr>
                        <m:t>𝐶</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5</m:t>
                          </m:r>
                        </m:sub>
                      </m:sSub>
                      <m:r>
                        <a:rPr lang="ar-SA" sz="1000" b="0" i="1" spc="-25" dirty="0" smtClean="0">
                          <a:latin typeface="Cambria Math" panose="02040503050406030204" pitchFamily="18" charset="0"/>
                          <a:ea typeface="Cambria Math" panose="02040503050406030204" pitchFamily="18" charset="0"/>
                          <a:cs typeface="Trebuchet MS"/>
                        </a:rPr>
                        <m:t>𝑅</m:t>
                      </m:r>
                      <m:sSub>
                        <m:sSubPr>
                          <m:ctrlPr>
                            <a:rPr lang="ar-SA" sz="1000" b="0" i="1" spc="-25" dirty="0" smtClean="0">
                              <a:latin typeface="Cambria Math" panose="02040503050406030204" pitchFamily="18" charset="0"/>
                              <a:ea typeface="Cambria Math" panose="02040503050406030204" pitchFamily="18" charset="0"/>
                              <a:cs typeface="Trebuchet MS"/>
                            </a:rPr>
                          </m:ctrlPr>
                        </m:sSubPr>
                        <m:e>
                          <m:r>
                            <a:rPr lang="ar-SA" sz="1000" i="1" spc="-25" dirty="0" smtClean="0">
                              <a:latin typeface="Cambria Math" panose="02040503050406030204" pitchFamily="18" charset="0"/>
                              <a:ea typeface="Cambria Math" panose="02040503050406030204" pitchFamily="18" charset="0"/>
                              <a:cs typeface="Trebuchet MS"/>
                            </a:rPr>
                            <m:t>≻</m:t>
                          </m:r>
                        </m:e>
                        <m:sub>
                          <m:r>
                            <a:rPr lang="ar-SA" sz="1000" b="0" i="1" spc="-25" dirty="0" smtClean="0">
                              <a:latin typeface="Cambria Math" panose="02040503050406030204" pitchFamily="18" charset="0"/>
                              <a:ea typeface="Cambria Math" panose="02040503050406030204" pitchFamily="18" charset="0"/>
                              <a:cs typeface="Trebuchet MS"/>
                            </a:rPr>
                            <m:t>5</m:t>
                          </m:r>
                        </m:sub>
                      </m:sSub>
                      <m:r>
                        <a:rPr lang="ar-SA" sz="1000" b="0" i="1" spc="-25" dirty="0" smtClean="0">
                          <a:latin typeface="Cambria Math" panose="02040503050406030204" pitchFamily="18" charset="0"/>
                          <a:ea typeface="Cambria Math" panose="02040503050406030204" pitchFamily="18" charset="0"/>
                          <a:cs typeface="Trebuchet MS"/>
                        </a:rPr>
                        <m:t>𝐿</m:t>
                      </m:r>
                      <m:r>
                        <a:rPr lang="ar-SA" sz="1000" b="0" i="1" spc="-25" dirty="0" smtClean="0">
                          <a:latin typeface="Cambria Math" panose="02040503050406030204" pitchFamily="18" charset="0"/>
                          <a:ea typeface="Cambria Math" panose="02040503050406030204" pitchFamily="18" charset="0"/>
                          <a:cs typeface="Trebuchet MS"/>
                        </a:rPr>
                        <m:t>  </m:t>
                      </m:r>
                    </m:oMath>
                  </m:oMathPara>
                </a14:m>
                <a:endParaRPr lang="ar-SA" sz="1000" dirty="0">
                  <a:latin typeface="Trebuchet MS"/>
                  <a:cs typeface="Trebuchet MS"/>
                </a:endParaRPr>
              </a:p>
            </p:txBody>
          </p:sp>
        </mc:Choice>
        <mc:Fallback xmlns="">
          <p:sp>
            <p:nvSpPr>
              <p:cNvPr id="5" name="object 5"/>
              <p:cNvSpPr txBox="1">
                <a:spLocks noRot="1" noChangeAspect="1" noMove="1" noResize="1" noEditPoints="1" noAdjustHandles="1" noChangeArrowheads="1" noChangeShapeType="1" noTextEdit="1"/>
              </p:cNvSpPr>
              <p:nvPr/>
            </p:nvSpPr>
            <p:spPr>
              <a:xfrm>
                <a:off x="901484" y="1360447"/>
                <a:ext cx="726440" cy="769441"/>
              </a:xfrm>
              <a:prstGeom prst="rect">
                <a:avLst/>
              </a:prstGeom>
              <a:blipFill>
                <a:blip r:embed="rId4"/>
                <a:stretch>
                  <a:fillRect l="-6723" t="-5556" r="-8403" b="-3175"/>
                </a:stretch>
              </a:blipFill>
            </p:spPr>
            <p:txBody>
              <a:bodyPr/>
              <a:lstStyle/>
              <a:p>
                <a:r>
                  <a:rPr lang="en-MY">
                    <a:noFill/>
                  </a:rPr>
                  <a:t> </a:t>
                </a:r>
              </a:p>
            </p:txBody>
          </p:sp>
        </mc:Fallback>
      </mc:AlternateContent>
      <p:sp>
        <p:nvSpPr>
          <p:cNvPr id="7" name="Date Placeholder 3">
            <a:extLst>
              <a:ext uri="{FF2B5EF4-FFF2-40B4-BE49-F238E27FC236}">
                <a16:creationId xmlns:a16="http://schemas.microsoft.com/office/drawing/2014/main" id="{267AFE61-A677-4EE4-BF32-145C3AB858C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EB5E9D9A-3D3D-48CB-9C59-D5029F17B94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2162731B-1B71-413C-8C05-B72D939BFC0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23</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mc:AlternateContent xmlns:mc="http://schemas.openxmlformats.org/markup-compatibility/2006" xmlns:a14="http://schemas.microsoft.com/office/drawing/2010/main">
        <mc:Choice Requires="a14">
          <p:sp>
            <p:nvSpPr>
              <p:cNvPr id="10" name="object 6">
                <a:extLst>
                  <a:ext uri="{FF2B5EF4-FFF2-40B4-BE49-F238E27FC236}">
                    <a16:creationId xmlns:a16="http://schemas.microsoft.com/office/drawing/2014/main" id="{AFB53FAF-3B55-4128-AFE2-37CEF8767B34}"/>
                  </a:ext>
                </a:extLst>
              </p:cNvPr>
              <p:cNvSpPr txBox="1"/>
              <p:nvPr/>
            </p:nvSpPr>
            <p:spPr>
              <a:xfrm>
                <a:off x="447356" y="1967761"/>
                <a:ext cx="3838893" cy="1063240"/>
              </a:xfrm>
              <a:prstGeom prst="rect">
                <a:avLst/>
              </a:prstGeom>
            </p:spPr>
            <p:txBody>
              <a:bodyPr vert="horz" wrap="square" lIns="0" tIns="0" rIns="0" bIns="0" rtlCol="0">
                <a:spAutoFit/>
              </a:bodyPr>
              <a:lstStyle/>
              <a:p>
                <a:pPr marL="466725">
                  <a:lnSpc>
                    <a:spcPct val="100000"/>
                  </a:lnSpc>
                </a:pPr>
                <a:endParaRPr lang="en-MY" sz="1000" dirty="0">
                  <a:latin typeface="Trebuchet MS"/>
                  <a:cs typeface="Trebuchet MS"/>
                </a:endParaRPr>
              </a:p>
              <a:p>
                <a:pPr marL="284163" indent="-230188">
                  <a:lnSpc>
                    <a:spcPts val="1400"/>
                  </a:lnSpc>
                  <a:spcBef>
                    <a:spcPts val="330"/>
                  </a:spcBef>
                  <a:buClr>
                    <a:srgbClr val="0000FF"/>
                  </a:buClr>
                  <a:buFont typeface="Wingdings 3" panose="05040102010807070707" pitchFamily="18" charset="2"/>
                  <a:buChar char=""/>
                </a:pPr>
                <a:r>
                  <a:rPr lang="en-MY" sz="1100" b="1" spc="10" dirty="0">
                    <a:latin typeface="Tahoma"/>
                    <a:cs typeface="Tahoma"/>
                  </a:rPr>
                  <a:t>max of</a:t>
                </a:r>
                <a:r>
                  <a:rPr lang="en-MY" sz="1100" spc="10" dirty="0">
                    <a:latin typeface="Tahoma"/>
                    <a:cs typeface="Tahoma"/>
                  </a:rPr>
                  <a:t>: </a:t>
                </a:r>
                <a14:m>
                  <m:oMath xmlns:m="http://schemas.openxmlformats.org/officeDocument/2006/math">
                    <m:r>
                      <a:rPr lang="en-MY" sz="1100" i="1" spc="10" dirty="0" smtClean="0">
                        <a:latin typeface="Cambria Math" panose="02040503050406030204" pitchFamily="18" charset="0"/>
                        <a:cs typeface="Tahoma"/>
                      </a:rPr>
                      <m:t>𝑢</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𝐿</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0</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𝑢</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𝐶</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𝑢</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𝑅</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0</m:t>
                    </m:r>
                  </m:oMath>
                </a14:m>
                <a:endParaRPr lang="en-MY" sz="1100" spc="10" dirty="0">
                  <a:latin typeface="Tahoma"/>
                  <a:cs typeface="Tahoma"/>
                </a:endParaRPr>
              </a:p>
              <a:p>
                <a:pPr marL="280670" marR="5080" indent="12700">
                  <a:lnSpc>
                    <a:spcPct val="100000"/>
                  </a:lnSpc>
                  <a:spcBef>
                    <a:spcPts val="175"/>
                  </a:spcBef>
                </a:pPr>
                <a:r>
                  <a:rPr lang="en-MY" sz="1000" spc="-25" dirty="0">
                    <a:solidFill>
                      <a:srgbClr val="3333B2"/>
                    </a:solidFill>
                    <a:latin typeface="Tahoma"/>
                    <a:cs typeface="Tahoma"/>
                  </a:rPr>
                  <a:t>L: </a:t>
                </a:r>
                <a:r>
                  <a:rPr lang="en-MY" sz="1000" spc="-85" dirty="0">
                    <a:solidFill>
                      <a:srgbClr val="3333B2"/>
                    </a:solidFill>
                    <a:latin typeface="Tahoma"/>
                    <a:cs typeface="Tahoma"/>
                  </a:rPr>
                  <a:t> </a:t>
                </a:r>
                <a:r>
                  <a:rPr lang="en-MY" sz="1000" spc="-35" dirty="0">
                    <a:latin typeface="Tahoma"/>
                    <a:cs typeface="Tahoma"/>
                  </a:rPr>
                  <a:t>min</a:t>
                </a:r>
                <a:r>
                  <a:rPr lang="en-MY" sz="1000" spc="20" dirty="0">
                    <a:latin typeface="Tahoma"/>
                    <a:cs typeface="Tahoma"/>
                  </a:rPr>
                  <a:t> </a:t>
                </a:r>
                <a:r>
                  <a:rPr lang="en-MY" sz="1000" spc="-35" dirty="0">
                    <a:latin typeface="Tahoma"/>
                    <a:cs typeface="Tahoma"/>
                  </a:rPr>
                  <a:t>of</a:t>
                </a:r>
                <a:r>
                  <a:rPr lang="en-MY" sz="1000" spc="15" dirty="0">
                    <a:latin typeface="Tahoma"/>
                    <a:cs typeface="Tahoma"/>
                  </a:rPr>
                  <a:t> </a:t>
                </a:r>
                <a14:m>
                  <m:oMath xmlns:m="http://schemas.openxmlformats.org/officeDocument/2006/math">
                    <m:sSub>
                      <m:sSubPr>
                        <m:ctrlPr>
                          <a:rPr lang="en-MY" sz="1000" b="0" i="1" spc="-45" dirty="0" smtClean="0">
                            <a:latin typeface="Cambria Math" panose="02040503050406030204" pitchFamily="18" charset="0"/>
                            <a:cs typeface="Trebuchet MS"/>
                          </a:rPr>
                        </m:ctrlPr>
                      </m:sSubPr>
                      <m:e>
                        <m:r>
                          <a:rPr lang="en-MY" sz="1000" i="1" spc="-45" dirty="0" smtClean="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1</m:t>
                        </m:r>
                      </m:sub>
                    </m:sSub>
                    <m:r>
                      <a:rPr lang="en-MY" sz="1000" i="1" dirty="0">
                        <a:latin typeface="Cambria Math" panose="02040503050406030204" pitchFamily="18" charset="0"/>
                        <a:cs typeface="Tahoma"/>
                      </a:rPr>
                      <m:t>(</m:t>
                    </m:r>
                    <m:r>
                      <a:rPr lang="en-MY" sz="1000" i="1" spc="30" dirty="0">
                        <a:latin typeface="Cambria Math" panose="02040503050406030204" pitchFamily="18" charset="0"/>
                        <a:cs typeface="Trebuchet MS"/>
                      </a:rPr>
                      <m:t>𝐿</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r>
                      <a:rPr lang="en-MY" sz="1000" i="1" spc="-65" dirty="0">
                        <a:latin typeface="Cambria Math" panose="02040503050406030204" pitchFamily="18" charset="0"/>
                        <a:cs typeface="Tahoma"/>
                      </a:rPr>
                      <m:t>2</m:t>
                    </m:r>
                    <m:r>
                      <a:rPr lang="en-MY" sz="1000" i="1" spc="-65" dirty="0">
                        <a:latin typeface="Cambria Math" panose="02040503050406030204" pitchFamily="18" charset="0"/>
                        <a:cs typeface="Tahoma"/>
                      </a:rPr>
                      <m:t>; </m:t>
                    </m:r>
                    <m:sSub>
                      <m:sSubPr>
                        <m:ctrlPr>
                          <a:rPr lang="en-MY" sz="1000" b="0" i="1" spc="-45" dirty="0" smtClean="0">
                            <a:latin typeface="Cambria Math" panose="02040503050406030204" pitchFamily="18" charset="0"/>
                            <a:cs typeface="Tahoma"/>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2</m:t>
                        </m:r>
                      </m:sub>
                    </m:sSub>
                    <m:r>
                      <a:rPr lang="en-MY" sz="1000" i="1" dirty="0">
                        <a:latin typeface="Cambria Math" panose="02040503050406030204" pitchFamily="18" charset="0"/>
                        <a:cs typeface="Tahoma"/>
                      </a:rPr>
                      <m:t>(</m:t>
                    </m:r>
                    <m:r>
                      <a:rPr lang="en-MY" sz="1000" i="1" spc="30" dirty="0">
                        <a:latin typeface="Cambria Math" panose="02040503050406030204" pitchFamily="18" charset="0"/>
                        <a:cs typeface="Trebuchet MS"/>
                      </a:rPr>
                      <m:t>𝐿</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sSub>
                      <m:sSubPr>
                        <m:ctrlPr>
                          <a:rPr lang="en-MY" sz="1000" b="0" i="1" spc="-45" dirty="0" smtClean="0">
                            <a:latin typeface="Cambria Math" panose="02040503050406030204" pitchFamily="18" charset="0"/>
                            <a:cs typeface="Trebuchet MS"/>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4</m:t>
                        </m:r>
                      </m:sub>
                    </m:sSub>
                    <m:r>
                      <a:rPr lang="en-MY" sz="1000" i="1" dirty="0">
                        <a:latin typeface="Cambria Math" panose="02040503050406030204" pitchFamily="18" charset="0"/>
                        <a:cs typeface="Tahoma"/>
                      </a:rPr>
                      <m:t>(</m:t>
                    </m:r>
                    <m:r>
                      <a:rPr lang="en-MY" sz="1000" i="1" spc="30" dirty="0">
                        <a:latin typeface="Cambria Math" panose="02040503050406030204" pitchFamily="18" charset="0"/>
                        <a:cs typeface="Trebuchet MS"/>
                      </a:rPr>
                      <m:t>𝐿</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r>
                      <a:rPr lang="en-MY" sz="1000" i="1" spc="-65" dirty="0">
                        <a:latin typeface="Cambria Math" panose="02040503050406030204" pitchFamily="18" charset="0"/>
                        <a:cs typeface="Tahoma"/>
                      </a:rPr>
                      <m:t>1</m:t>
                    </m:r>
                    <m:r>
                      <a:rPr lang="en-MY" sz="1000" i="1" spc="-65" dirty="0">
                        <a:latin typeface="Cambria Math" panose="02040503050406030204" pitchFamily="18" charset="0"/>
                        <a:cs typeface="Tahoma"/>
                      </a:rPr>
                      <m:t>; </m:t>
                    </m:r>
                    <m:sSub>
                      <m:sSubPr>
                        <m:ctrlPr>
                          <a:rPr lang="en-MY" sz="1000" b="0" i="1" spc="-45" dirty="0" smtClean="0">
                            <a:latin typeface="Cambria Math" panose="02040503050406030204" pitchFamily="18" charset="0"/>
                            <a:cs typeface="Tahoma"/>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3</m:t>
                        </m:r>
                      </m:sub>
                    </m:sSub>
                    <m:r>
                      <a:rPr lang="en-MY" sz="1000" i="1" dirty="0">
                        <a:latin typeface="Cambria Math" panose="02040503050406030204" pitchFamily="18" charset="0"/>
                        <a:cs typeface="Tahoma"/>
                      </a:rPr>
                      <m:t>(</m:t>
                    </m:r>
                    <m:r>
                      <a:rPr lang="en-MY" sz="1000" i="1" spc="30" dirty="0">
                        <a:latin typeface="Cambria Math" panose="02040503050406030204" pitchFamily="18" charset="0"/>
                        <a:cs typeface="Trebuchet MS"/>
                      </a:rPr>
                      <m:t>𝐿</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sSub>
                      <m:sSubPr>
                        <m:ctrlPr>
                          <a:rPr lang="en-MY" sz="1000" b="0" i="1" spc="-45" dirty="0" smtClean="0">
                            <a:latin typeface="Cambria Math" panose="02040503050406030204" pitchFamily="18" charset="0"/>
                            <a:cs typeface="Trebuchet MS"/>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5</m:t>
                        </m:r>
                      </m:sub>
                    </m:sSub>
                    <m:r>
                      <a:rPr lang="en-MY" sz="1000" i="1" dirty="0">
                        <a:latin typeface="Cambria Math" panose="02040503050406030204" pitchFamily="18" charset="0"/>
                        <a:cs typeface="Tahoma"/>
                      </a:rPr>
                      <m:t>(</m:t>
                    </m:r>
                    <m:r>
                      <a:rPr lang="en-MY" sz="1000" i="1" spc="30" dirty="0">
                        <a:latin typeface="Cambria Math" panose="02040503050406030204" pitchFamily="18" charset="0"/>
                        <a:cs typeface="Trebuchet MS"/>
                      </a:rPr>
                      <m:t>𝐿</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r>
                      <a:rPr lang="en-MY" sz="1000" i="1" spc="-50" dirty="0">
                        <a:latin typeface="Cambria Math" panose="02040503050406030204" pitchFamily="18" charset="0"/>
                        <a:cs typeface="Tahoma"/>
                      </a:rPr>
                      <m:t>0</m:t>
                    </m:r>
                    <m:r>
                      <a:rPr lang="en-MY" sz="1000" i="1" spc="-30" dirty="0">
                        <a:latin typeface="Cambria Math" panose="02040503050406030204" pitchFamily="18" charset="0"/>
                        <a:cs typeface="Tahoma"/>
                      </a:rPr>
                      <m:t> </m:t>
                    </m:r>
                  </m:oMath>
                </a14:m>
                <a:br>
                  <a:rPr lang="en-MY" sz="1000" spc="-30" dirty="0">
                    <a:latin typeface="Tahoma"/>
                    <a:cs typeface="Tahoma"/>
                  </a:rPr>
                </a:br>
                <a:r>
                  <a:rPr lang="en-MY" sz="1000" spc="-25" dirty="0">
                    <a:solidFill>
                      <a:srgbClr val="3333B2"/>
                    </a:solidFill>
                    <a:latin typeface="Tahoma"/>
                    <a:cs typeface="Tahoma"/>
                  </a:rPr>
                  <a:t>C:</a:t>
                </a:r>
                <a:r>
                  <a:rPr lang="en-MY" sz="1000" dirty="0">
                    <a:solidFill>
                      <a:srgbClr val="3333B2"/>
                    </a:solidFill>
                    <a:latin typeface="Tahoma"/>
                    <a:cs typeface="Tahoma"/>
                  </a:rPr>
                  <a:t> </a:t>
                </a:r>
                <a:r>
                  <a:rPr lang="en-MY" sz="1000" spc="-85" dirty="0">
                    <a:solidFill>
                      <a:srgbClr val="3333B2"/>
                    </a:solidFill>
                    <a:latin typeface="Tahoma"/>
                    <a:cs typeface="Tahoma"/>
                  </a:rPr>
                  <a:t> </a:t>
                </a:r>
                <a:r>
                  <a:rPr lang="en-MY" sz="1000" spc="-55" dirty="0">
                    <a:latin typeface="Tahoma"/>
                    <a:cs typeface="Tahoma"/>
                  </a:rPr>
                  <a:t>m</a:t>
                </a:r>
                <a:r>
                  <a:rPr lang="en-MY" sz="1000" spc="-20" dirty="0">
                    <a:latin typeface="Tahoma"/>
                    <a:cs typeface="Tahoma"/>
                  </a:rPr>
                  <a:t>in</a:t>
                </a:r>
                <a:r>
                  <a:rPr lang="en-MY" sz="1000" spc="15" dirty="0">
                    <a:latin typeface="Tahoma"/>
                    <a:cs typeface="Tahoma"/>
                  </a:rPr>
                  <a:t> </a:t>
                </a:r>
                <a:r>
                  <a:rPr lang="en-MY" sz="1000" spc="-35" dirty="0">
                    <a:latin typeface="Tahoma"/>
                    <a:cs typeface="Tahoma"/>
                  </a:rPr>
                  <a:t>of</a:t>
                </a:r>
                <a:r>
                  <a:rPr lang="en-MY" sz="1000" spc="15" dirty="0">
                    <a:latin typeface="Tahoma"/>
                    <a:cs typeface="Tahoma"/>
                  </a:rPr>
                  <a:t> </a:t>
                </a:r>
                <a14:m>
                  <m:oMath xmlns:m="http://schemas.openxmlformats.org/officeDocument/2006/math">
                    <m:sSub>
                      <m:sSubPr>
                        <m:ctrlPr>
                          <a:rPr lang="en-MY" sz="1000" b="0" i="1" spc="-45" dirty="0" smtClean="0">
                            <a:latin typeface="Cambria Math" panose="02040503050406030204" pitchFamily="18" charset="0"/>
                            <a:cs typeface="Trebuchet MS"/>
                          </a:rPr>
                        </m:ctrlPr>
                      </m:sSubPr>
                      <m:e>
                        <m:r>
                          <a:rPr lang="en-MY" sz="1000" i="1" spc="-45" dirty="0" smtClean="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1</m:t>
                        </m:r>
                      </m:sub>
                    </m:sSub>
                    <m:r>
                      <a:rPr lang="en-MY" sz="1000" i="1" dirty="0">
                        <a:latin typeface="Cambria Math" panose="02040503050406030204" pitchFamily="18" charset="0"/>
                        <a:cs typeface="Tahoma"/>
                      </a:rPr>
                      <m:t>(</m:t>
                    </m:r>
                    <m:r>
                      <a:rPr lang="en-MY" sz="1000" i="1" spc="35" dirty="0">
                        <a:latin typeface="Cambria Math" panose="02040503050406030204" pitchFamily="18" charset="0"/>
                        <a:cs typeface="Trebuchet MS"/>
                      </a:rPr>
                      <m:t>𝐶</m:t>
                    </m:r>
                    <m:r>
                      <a:rPr lang="en-MY" sz="1000" i="1" spc="-185" dirty="0">
                        <a:latin typeface="Cambria Math" panose="02040503050406030204" pitchFamily="18" charset="0"/>
                        <a:cs typeface="Trebuchet MS"/>
                      </a:rPr>
                      <m:t> </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sSub>
                      <m:sSubPr>
                        <m:ctrlPr>
                          <a:rPr lang="en-MY" sz="1000" b="0" i="1" spc="-45" dirty="0" smtClean="0">
                            <a:latin typeface="Cambria Math" panose="02040503050406030204" pitchFamily="18" charset="0"/>
                            <a:cs typeface="Trebuchet MS"/>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3</m:t>
                        </m:r>
                      </m:sub>
                    </m:sSub>
                    <m:r>
                      <a:rPr lang="en-MY" sz="1000" i="1" dirty="0">
                        <a:latin typeface="Cambria Math" panose="02040503050406030204" pitchFamily="18" charset="0"/>
                        <a:cs typeface="Tahoma"/>
                      </a:rPr>
                      <m:t>(</m:t>
                    </m:r>
                    <m:r>
                      <a:rPr lang="en-MY" sz="1000" i="1" spc="35" dirty="0">
                        <a:latin typeface="Cambria Math" panose="02040503050406030204" pitchFamily="18" charset="0"/>
                        <a:cs typeface="Trebuchet MS"/>
                      </a:rPr>
                      <m:t>𝐶</m:t>
                    </m:r>
                    <m:r>
                      <a:rPr lang="en-MY" sz="1000" i="1" spc="-185" dirty="0">
                        <a:latin typeface="Cambria Math" panose="02040503050406030204" pitchFamily="18" charset="0"/>
                        <a:cs typeface="Trebuchet MS"/>
                      </a:rPr>
                      <m:t> </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r>
                      <a:rPr lang="en-MY" sz="1000" i="1" spc="-65" dirty="0">
                        <a:latin typeface="Cambria Math" panose="02040503050406030204" pitchFamily="18" charset="0"/>
                        <a:cs typeface="Tahoma"/>
                      </a:rPr>
                      <m:t>1</m:t>
                    </m:r>
                    <m:r>
                      <a:rPr lang="en-MY" sz="1000" i="1" spc="-65" dirty="0">
                        <a:latin typeface="Cambria Math" panose="02040503050406030204" pitchFamily="18" charset="0"/>
                        <a:cs typeface="Tahoma"/>
                      </a:rPr>
                      <m:t>; </m:t>
                    </m:r>
                    <m:sSub>
                      <m:sSubPr>
                        <m:ctrlPr>
                          <a:rPr lang="en-MY" sz="1000" b="0" i="1" spc="-45" dirty="0" smtClean="0">
                            <a:latin typeface="Cambria Math" panose="02040503050406030204" pitchFamily="18" charset="0"/>
                            <a:cs typeface="Tahoma"/>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2</m:t>
                        </m:r>
                      </m:sub>
                    </m:sSub>
                    <m:r>
                      <a:rPr lang="en-MY" sz="1000" i="1" dirty="0">
                        <a:latin typeface="Cambria Math" panose="02040503050406030204" pitchFamily="18" charset="0"/>
                        <a:cs typeface="Tahoma"/>
                      </a:rPr>
                      <m:t>(</m:t>
                    </m:r>
                    <m:r>
                      <a:rPr lang="en-MY" sz="1000" i="1" spc="35" dirty="0">
                        <a:latin typeface="Cambria Math" panose="02040503050406030204" pitchFamily="18" charset="0"/>
                        <a:cs typeface="Trebuchet MS"/>
                      </a:rPr>
                      <m:t>𝐶</m:t>
                    </m:r>
                    <m:r>
                      <a:rPr lang="en-MY" sz="1000" i="1" spc="-185" dirty="0">
                        <a:latin typeface="Cambria Math" panose="02040503050406030204" pitchFamily="18" charset="0"/>
                        <a:cs typeface="Trebuchet MS"/>
                      </a:rPr>
                      <m:t> </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sSub>
                      <m:sSubPr>
                        <m:ctrlPr>
                          <a:rPr lang="en-MY" sz="1000" b="0" i="1" spc="-45" dirty="0" smtClean="0">
                            <a:latin typeface="Cambria Math" panose="02040503050406030204" pitchFamily="18" charset="0"/>
                            <a:cs typeface="Trebuchet MS"/>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4</m:t>
                        </m:r>
                      </m:sub>
                    </m:sSub>
                    <m:r>
                      <a:rPr lang="en-MY" sz="1000" i="1" dirty="0">
                        <a:latin typeface="Cambria Math" panose="02040503050406030204" pitchFamily="18" charset="0"/>
                        <a:cs typeface="Tahoma"/>
                      </a:rPr>
                      <m:t>(</m:t>
                    </m:r>
                    <m:r>
                      <a:rPr lang="en-MY" sz="1000" i="1" spc="35" dirty="0">
                        <a:latin typeface="Cambria Math" panose="02040503050406030204" pitchFamily="18" charset="0"/>
                        <a:cs typeface="Trebuchet MS"/>
                      </a:rPr>
                      <m:t>𝐶</m:t>
                    </m:r>
                    <m:r>
                      <a:rPr lang="en-MY" sz="1000" i="1" spc="-185" dirty="0">
                        <a:latin typeface="Cambria Math" panose="02040503050406030204" pitchFamily="18" charset="0"/>
                        <a:cs typeface="Trebuchet MS"/>
                      </a:rPr>
                      <m:t> </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sSub>
                      <m:sSubPr>
                        <m:ctrlPr>
                          <a:rPr lang="en-MY" sz="1000" b="0" i="1" spc="-45" dirty="0" smtClean="0">
                            <a:latin typeface="Cambria Math" panose="02040503050406030204" pitchFamily="18" charset="0"/>
                            <a:cs typeface="Trebuchet MS"/>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5</m:t>
                        </m:r>
                      </m:sub>
                    </m:sSub>
                    <m:r>
                      <a:rPr lang="en-MY" sz="1000" i="1" dirty="0">
                        <a:latin typeface="Cambria Math" panose="02040503050406030204" pitchFamily="18" charset="0"/>
                        <a:cs typeface="Tahoma"/>
                      </a:rPr>
                      <m:t>(</m:t>
                    </m:r>
                    <m:r>
                      <a:rPr lang="en-MY" sz="1000" i="1" spc="35" dirty="0">
                        <a:latin typeface="Cambria Math" panose="02040503050406030204" pitchFamily="18" charset="0"/>
                        <a:cs typeface="Trebuchet MS"/>
                      </a:rPr>
                      <m:t>𝐶</m:t>
                    </m:r>
                    <m:r>
                      <a:rPr lang="en-MY" sz="1000" i="1" spc="-185" dirty="0">
                        <a:latin typeface="Cambria Math" panose="02040503050406030204" pitchFamily="18" charset="0"/>
                        <a:cs typeface="Trebuchet MS"/>
                      </a:rPr>
                      <m:t> </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r>
                      <a:rPr lang="en-MY" sz="1000" i="1" spc="-50" dirty="0">
                        <a:latin typeface="Cambria Math" panose="02040503050406030204" pitchFamily="18" charset="0"/>
                        <a:cs typeface="Tahoma"/>
                      </a:rPr>
                      <m:t>2</m:t>
                    </m:r>
                    <m:r>
                      <a:rPr lang="en-MY" sz="1000" i="1" spc="-30" dirty="0">
                        <a:latin typeface="Cambria Math" panose="02040503050406030204" pitchFamily="18" charset="0"/>
                        <a:cs typeface="Tahoma"/>
                      </a:rPr>
                      <m:t> </m:t>
                    </m:r>
                  </m:oMath>
                </a14:m>
                <a:br>
                  <a:rPr lang="en-MY" sz="1000" spc="-30" dirty="0">
                    <a:latin typeface="Tahoma"/>
                    <a:cs typeface="Tahoma"/>
                  </a:rPr>
                </a:br>
                <a:r>
                  <a:rPr lang="en-MY" sz="1000" spc="-30" dirty="0">
                    <a:solidFill>
                      <a:srgbClr val="3333B2"/>
                    </a:solidFill>
                    <a:latin typeface="Tahoma"/>
                    <a:cs typeface="Tahoma"/>
                  </a:rPr>
                  <a:t>R:</a:t>
                </a:r>
                <a:r>
                  <a:rPr lang="en-MY" sz="1000" dirty="0">
                    <a:solidFill>
                      <a:srgbClr val="3333B2"/>
                    </a:solidFill>
                    <a:latin typeface="Tahoma"/>
                    <a:cs typeface="Tahoma"/>
                  </a:rPr>
                  <a:t> </a:t>
                </a:r>
                <a:r>
                  <a:rPr lang="en-MY" sz="1000" spc="-80" dirty="0">
                    <a:solidFill>
                      <a:srgbClr val="3333B2"/>
                    </a:solidFill>
                    <a:latin typeface="Tahoma"/>
                    <a:cs typeface="Tahoma"/>
                  </a:rPr>
                  <a:t> </a:t>
                </a:r>
                <a:r>
                  <a:rPr lang="en-MY" sz="1000" spc="-35" dirty="0">
                    <a:latin typeface="Tahoma"/>
                    <a:cs typeface="Tahoma"/>
                  </a:rPr>
                  <a:t>min</a:t>
                </a:r>
                <a:r>
                  <a:rPr lang="en-MY" sz="1000" spc="20" dirty="0">
                    <a:latin typeface="Tahoma"/>
                    <a:cs typeface="Tahoma"/>
                  </a:rPr>
                  <a:t> </a:t>
                </a:r>
                <a:r>
                  <a:rPr lang="en-MY" sz="1000" spc="-35" dirty="0">
                    <a:latin typeface="Tahoma"/>
                    <a:cs typeface="Tahoma"/>
                  </a:rPr>
                  <a:t>of</a:t>
                </a:r>
                <a:r>
                  <a:rPr lang="en-MY" sz="1000" spc="15" dirty="0">
                    <a:latin typeface="Tahoma"/>
                    <a:cs typeface="Tahoma"/>
                  </a:rPr>
                  <a:t> </a:t>
                </a:r>
                <a14:m>
                  <m:oMath xmlns:m="http://schemas.openxmlformats.org/officeDocument/2006/math">
                    <m:sSub>
                      <m:sSubPr>
                        <m:ctrlPr>
                          <a:rPr lang="en-MY" sz="1000" b="0" i="1" spc="-45" dirty="0" smtClean="0">
                            <a:latin typeface="Cambria Math" panose="02040503050406030204" pitchFamily="18" charset="0"/>
                            <a:cs typeface="Trebuchet MS"/>
                          </a:rPr>
                        </m:ctrlPr>
                      </m:sSubPr>
                      <m:e>
                        <m:r>
                          <a:rPr lang="en-MY" sz="1000" i="1" spc="-45" dirty="0" smtClean="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1</m:t>
                        </m:r>
                      </m:sub>
                    </m:sSub>
                    <m:r>
                      <a:rPr lang="en-MY" sz="1000" i="1" dirty="0">
                        <a:latin typeface="Cambria Math" panose="02040503050406030204" pitchFamily="18" charset="0"/>
                        <a:cs typeface="Tahoma"/>
                      </a:rPr>
                      <m:t>(</m:t>
                    </m:r>
                    <m:r>
                      <a:rPr lang="en-MY" sz="1000" i="1" spc="135" dirty="0">
                        <a:latin typeface="Cambria Math" panose="02040503050406030204" pitchFamily="18" charset="0"/>
                        <a:cs typeface="Trebuchet MS"/>
                      </a:rPr>
                      <m:t>𝑅</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sSub>
                      <m:sSubPr>
                        <m:ctrlPr>
                          <a:rPr lang="en-MY" sz="1000" b="0" i="1" spc="-45" dirty="0" smtClean="0">
                            <a:latin typeface="Cambria Math" panose="02040503050406030204" pitchFamily="18" charset="0"/>
                            <a:cs typeface="Trebuchet MS"/>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2</m:t>
                        </m:r>
                      </m:sub>
                    </m:sSub>
                    <m:r>
                      <a:rPr lang="en-MY" sz="1000" i="1" dirty="0">
                        <a:latin typeface="Cambria Math" panose="02040503050406030204" pitchFamily="18" charset="0"/>
                        <a:cs typeface="Tahoma"/>
                      </a:rPr>
                      <m:t>(</m:t>
                    </m:r>
                    <m:r>
                      <a:rPr lang="en-MY" sz="1000" i="1" spc="135" dirty="0">
                        <a:latin typeface="Cambria Math" panose="02040503050406030204" pitchFamily="18" charset="0"/>
                        <a:cs typeface="Trebuchet MS"/>
                      </a:rPr>
                      <m:t>𝑅</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sSub>
                      <m:sSubPr>
                        <m:ctrlPr>
                          <a:rPr lang="en-MY" sz="1000" b="0" i="1" spc="-45" dirty="0" smtClean="0">
                            <a:latin typeface="Cambria Math" panose="02040503050406030204" pitchFamily="18" charset="0"/>
                            <a:cs typeface="Trebuchet MS"/>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4</m:t>
                        </m:r>
                      </m:sub>
                    </m:sSub>
                    <m:r>
                      <a:rPr lang="en-MY" sz="1000" i="1" dirty="0">
                        <a:latin typeface="Cambria Math" panose="02040503050406030204" pitchFamily="18" charset="0"/>
                        <a:cs typeface="Tahoma"/>
                      </a:rPr>
                      <m:t>(</m:t>
                    </m:r>
                    <m:r>
                      <a:rPr lang="en-MY" sz="1000" i="1" spc="135" dirty="0">
                        <a:latin typeface="Cambria Math" panose="02040503050406030204" pitchFamily="18" charset="0"/>
                        <a:cs typeface="Trebuchet MS"/>
                      </a:rPr>
                      <m:t>𝑅</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r>
                      <a:rPr lang="en-MY" sz="1000" i="1" spc="-65" dirty="0">
                        <a:latin typeface="Cambria Math" panose="02040503050406030204" pitchFamily="18" charset="0"/>
                        <a:cs typeface="Tahoma"/>
                      </a:rPr>
                      <m:t>0</m:t>
                    </m:r>
                    <m:r>
                      <a:rPr lang="en-MY" sz="1000" i="1" spc="-65" dirty="0">
                        <a:latin typeface="Cambria Math" panose="02040503050406030204" pitchFamily="18" charset="0"/>
                        <a:cs typeface="Tahoma"/>
                      </a:rPr>
                      <m:t>; </m:t>
                    </m:r>
                    <m:sSub>
                      <m:sSubPr>
                        <m:ctrlPr>
                          <a:rPr lang="en-MY" sz="1000" b="0" i="1" spc="-45" dirty="0" smtClean="0">
                            <a:latin typeface="Cambria Math" panose="02040503050406030204" pitchFamily="18" charset="0"/>
                            <a:cs typeface="Tahoma"/>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3</m:t>
                        </m:r>
                      </m:sub>
                    </m:sSub>
                    <m:r>
                      <a:rPr lang="en-MY" sz="1000" i="1" dirty="0">
                        <a:latin typeface="Cambria Math" panose="02040503050406030204" pitchFamily="18" charset="0"/>
                        <a:cs typeface="Tahoma"/>
                      </a:rPr>
                      <m:t>(</m:t>
                    </m:r>
                    <m:r>
                      <a:rPr lang="en-MY" sz="1000" i="1" spc="135" dirty="0">
                        <a:latin typeface="Cambria Math" panose="02040503050406030204" pitchFamily="18" charset="0"/>
                        <a:cs typeface="Trebuchet MS"/>
                      </a:rPr>
                      <m:t>𝑅</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r>
                      <a:rPr lang="en-MY" sz="1000" i="1" spc="-65" dirty="0">
                        <a:latin typeface="Cambria Math" panose="02040503050406030204" pitchFamily="18" charset="0"/>
                        <a:cs typeface="Tahoma"/>
                      </a:rPr>
                      <m:t>2</m:t>
                    </m:r>
                    <m:r>
                      <a:rPr lang="en-MY" sz="1000" i="1" spc="-65" dirty="0">
                        <a:latin typeface="Cambria Math" panose="02040503050406030204" pitchFamily="18" charset="0"/>
                        <a:cs typeface="Tahoma"/>
                      </a:rPr>
                      <m:t>; </m:t>
                    </m:r>
                    <m:sSub>
                      <m:sSubPr>
                        <m:ctrlPr>
                          <a:rPr lang="en-MY" sz="1000" b="0" i="1" spc="-45" dirty="0" smtClean="0">
                            <a:latin typeface="Cambria Math" panose="02040503050406030204" pitchFamily="18" charset="0"/>
                            <a:cs typeface="Tahoma"/>
                          </a:rPr>
                        </m:ctrlPr>
                      </m:sSubPr>
                      <m:e>
                        <m:r>
                          <a:rPr lang="en-MY" sz="1000" i="1" spc="-45" dirty="0">
                            <a:latin typeface="Cambria Math" panose="02040503050406030204" pitchFamily="18" charset="0"/>
                            <a:cs typeface="Trebuchet MS"/>
                          </a:rPr>
                          <m:t>𝑢</m:t>
                        </m:r>
                      </m:e>
                      <m:sub>
                        <m:r>
                          <a:rPr lang="en-MY" sz="1000" b="0" i="1" spc="-45" dirty="0" smtClean="0">
                            <a:latin typeface="Cambria Math" panose="02040503050406030204" pitchFamily="18" charset="0"/>
                            <a:cs typeface="Trebuchet MS"/>
                          </a:rPr>
                          <m:t>5</m:t>
                        </m:r>
                      </m:sub>
                    </m:sSub>
                    <m:r>
                      <a:rPr lang="en-MY" sz="1000" i="1" dirty="0">
                        <a:latin typeface="Cambria Math" panose="02040503050406030204" pitchFamily="18" charset="0"/>
                        <a:cs typeface="Tahoma"/>
                      </a:rPr>
                      <m:t>(</m:t>
                    </m:r>
                    <m:r>
                      <a:rPr lang="en-MY" sz="1000" i="1" spc="135" dirty="0">
                        <a:latin typeface="Cambria Math" panose="02040503050406030204" pitchFamily="18" charset="0"/>
                        <a:cs typeface="Trebuchet MS"/>
                      </a:rPr>
                      <m:t>𝑅</m:t>
                    </m:r>
                    <m:r>
                      <a:rPr lang="en-MY" sz="1000" i="1" dirty="0">
                        <a:latin typeface="Cambria Math" panose="02040503050406030204" pitchFamily="18" charset="0"/>
                        <a:cs typeface="Tahoma"/>
                      </a:rPr>
                      <m:t>)</m:t>
                    </m:r>
                    <m:r>
                      <a:rPr lang="en-MY" sz="1000" i="1" spc="40" dirty="0">
                        <a:latin typeface="Cambria Math" panose="02040503050406030204" pitchFamily="18" charset="0"/>
                        <a:cs typeface="Tahoma"/>
                      </a:rPr>
                      <m:t>=</m:t>
                    </m:r>
                    <m:r>
                      <a:rPr lang="en-MY" sz="1000" i="1" spc="-50" dirty="0">
                        <a:latin typeface="Cambria Math" panose="02040503050406030204" pitchFamily="18" charset="0"/>
                        <a:cs typeface="Tahoma"/>
                      </a:rPr>
                      <m:t>1</m:t>
                    </m:r>
                  </m:oMath>
                </a14:m>
                <a:endParaRPr lang="en-MY" sz="100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Social outcome (the “winner”): </a:t>
                </a:r>
                <a14:m>
                  <m:oMath xmlns:m="http://schemas.openxmlformats.org/officeDocument/2006/math">
                    <m:r>
                      <a:rPr lang="en-MY" sz="1100" i="1" spc="10" dirty="0" smtClean="0">
                        <a:latin typeface="Cambria Math" panose="02040503050406030204" pitchFamily="18" charset="0"/>
                        <a:cs typeface="Tahoma"/>
                      </a:rPr>
                      <m:t>𝐶</m:t>
                    </m:r>
                  </m:oMath>
                </a14:m>
                <a:endParaRPr sz="1100" spc="10" dirty="0">
                  <a:latin typeface="Tahoma"/>
                  <a:cs typeface="Tahoma"/>
                </a:endParaRPr>
              </a:p>
            </p:txBody>
          </p:sp>
        </mc:Choice>
        <mc:Fallback xmlns="">
          <p:sp>
            <p:nvSpPr>
              <p:cNvPr id="10" name="object 6">
                <a:extLst>
                  <a:ext uri="{FF2B5EF4-FFF2-40B4-BE49-F238E27FC236}">
                    <a16:creationId xmlns:a16="http://schemas.microsoft.com/office/drawing/2014/main" id="{AFB53FAF-3B55-4128-AFE2-37CEF8767B34}"/>
                  </a:ext>
                </a:extLst>
              </p:cNvPr>
              <p:cNvSpPr txBox="1">
                <a:spLocks noRot="1" noChangeAspect="1" noMove="1" noResize="1" noEditPoints="1" noAdjustHandles="1" noChangeArrowheads="1" noChangeShapeType="1" noTextEdit="1"/>
              </p:cNvSpPr>
              <p:nvPr/>
            </p:nvSpPr>
            <p:spPr>
              <a:xfrm>
                <a:off x="447356" y="1967761"/>
                <a:ext cx="3838893" cy="1063240"/>
              </a:xfrm>
              <a:prstGeom prst="rect">
                <a:avLst/>
              </a:prstGeom>
              <a:blipFill>
                <a:blip r:embed="rId5"/>
                <a:stretch>
                  <a:fillRect l="-635" b="-7471"/>
                </a:stretch>
              </a:blipFill>
            </p:spPr>
            <p:txBody>
              <a:bodyPr/>
              <a:lstStyle/>
              <a:p>
                <a:r>
                  <a:rPr lang="en-MY">
                    <a:noFill/>
                  </a:rPr>
                  <a:t> </a:t>
                </a:r>
              </a:p>
            </p:txBody>
          </p:sp>
        </mc:Fallback>
      </mc:AlternateContent>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45" dirty="0"/>
              <a:t>Sequential</a:t>
            </a:r>
            <a:r>
              <a:rPr spc="20" dirty="0"/>
              <a:t> </a:t>
            </a:r>
            <a:r>
              <a:rPr spc="-55" dirty="0"/>
              <a:t>maj</a:t>
            </a:r>
            <a:r>
              <a:rPr spc="-95" dirty="0"/>
              <a:t>o</a:t>
            </a:r>
            <a:r>
              <a:rPr dirty="0"/>
              <a:t>ri</a:t>
            </a:r>
            <a:r>
              <a:rPr spc="-40" dirty="0"/>
              <a:t>t</a:t>
            </a:r>
            <a:r>
              <a:rPr spc="-65" dirty="0"/>
              <a:t>y</a:t>
            </a:r>
          </a:p>
        </p:txBody>
      </p:sp>
      <p:sp>
        <p:nvSpPr>
          <p:cNvPr id="3" name="object 3"/>
          <p:cNvSpPr txBox="1">
            <a:spLocks noGrp="1"/>
          </p:cNvSpPr>
          <p:nvPr>
            <p:ph type="body" idx="1"/>
          </p:nvPr>
        </p:nvSpPr>
        <p:spPr>
          <a:xfrm>
            <a:off x="347294" y="766200"/>
            <a:ext cx="3915511" cy="1781700"/>
          </a:xfrm>
          <a:prstGeom prst="rect">
            <a:avLst/>
          </a:prstGeom>
        </p:spPr>
        <p:txBody>
          <a:bodyPr vert="horz" wrap="square" lIns="0" tIns="307080"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kern="1200" spc="10" dirty="0"/>
              <a:t>Another variant of plurality, played in a series of rounds</a:t>
            </a:r>
          </a:p>
          <a:p>
            <a:pPr marL="284163" indent="-230188" algn="l" rtl="0">
              <a:lnSpc>
                <a:spcPts val="1400"/>
              </a:lnSpc>
              <a:spcBef>
                <a:spcPts val="330"/>
              </a:spcBef>
              <a:buClr>
                <a:srgbClr val="0000FF"/>
              </a:buClr>
              <a:buFont typeface="Wingdings 3" panose="05040102010807070707" pitchFamily="18" charset="2"/>
              <a:buChar char=""/>
            </a:pPr>
            <a:r>
              <a:rPr kern="1200" spc="10" dirty="0"/>
              <a:t>Rounds form linear or tree-like sequences (tournaments)</a:t>
            </a:r>
          </a:p>
          <a:p>
            <a:pPr marL="284163" indent="-230188" algn="l" rtl="0">
              <a:lnSpc>
                <a:spcPts val="1400"/>
              </a:lnSpc>
              <a:spcBef>
                <a:spcPts val="330"/>
              </a:spcBef>
              <a:buClr>
                <a:srgbClr val="0000FF"/>
              </a:buClr>
              <a:buFont typeface="Wingdings 3" panose="05040102010807070707" pitchFamily="18" charset="2"/>
              <a:buChar char=""/>
            </a:pPr>
            <a:r>
              <a:rPr kern="1200" spc="10" dirty="0"/>
              <a:t>In each round a pair-wise plurality election takes place</a:t>
            </a:r>
          </a:p>
          <a:p>
            <a:pPr marL="284163" indent="-230188" algn="l" rtl="0">
              <a:lnSpc>
                <a:spcPts val="1400"/>
              </a:lnSpc>
              <a:spcBef>
                <a:spcPts val="330"/>
              </a:spcBef>
              <a:buClr>
                <a:srgbClr val="0000FF"/>
              </a:buClr>
              <a:buFont typeface="Wingdings 3" panose="05040102010807070707" pitchFamily="18" charset="2"/>
              <a:buChar char=""/>
            </a:pPr>
            <a:r>
              <a:rPr kern="1200" spc="10" dirty="0"/>
              <a:t>The candidate that wins continues in the contest</a:t>
            </a:r>
          </a:p>
          <a:p>
            <a:pPr marL="284163" indent="-230188" algn="l" rtl="0">
              <a:lnSpc>
                <a:spcPts val="1400"/>
              </a:lnSpc>
              <a:spcBef>
                <a:spcPts val="330"/>
              </a:spcBef>
              <a:buClr>
                <a:srgbClr val="0000FF"/>
              </a:buClr>
              <a:buFont typeface="Wingdings 3" panose="05040102010807070707" pitchFamily="18" charset="2"/>
              <a:buChar char=""/>
            </a:pPr>
            <a:r>
              <a:rPr kern="1200" spc="10" dirty="0"/>
              <a:t>The process continues until a single candidate is left</a:t>
            </a:r>
          </a:p>
          <a:p>
            <a:pPr marL="284163" indent="-230188" algn="l" rtl="0">
              <a:lnSpc>
                <a:spcPts val="1400"/>
              </a:lnSpc>
              <a:spcBef>
                <a:spcPts val="330"/>
              </a:spcBef>
              <a:buClr>
                <a:srgbClr val="0000FF"/>
              </a:buClr>
              <a:buFont typeface="Wingdings 3" panose="05040102010807070707" pitchFamily="18" charset="2"/>
              <a:buChar char=""/>
            </a:pPr>
            <a:r>
              <a:rPr kern="1200" spc="10" dirty="0"/>
              <a:t>It may require a tie-breaking rule</a:t>
            </a:r>
          </a:p>
          <a:p>
            <a:pPr marL="284163" indent="-230188" algn="l" rtl="0">
              <a:lnSpc>
                <a:spcPts val="1400"/>
              </a:lnSpc>
              <a:spcBef>
                <a:spcPts val="330"/>
              </a:spcBef>
              <a:buClr>
                <a:srgbClr val="0000FF"/>
              </a:buClr>
              <a:buFont typeface="Wingdings 3" panose="05040102010807070707" pitchFamily="18" charset="2"/>
              <a:buChar char=""/>
            </a:pPr>
            <a:r>
              <a:rPr kern="1200" spc="10" dirty="0"/>
              <a:t>Example...</a:t>
            </a:r>
          </a:p>
        </p:txBody>
      </p:sp>
      <p:sp>
        <p:nvSpPr>
          <p:cNvPr id="4" name="Date Placeholder 3">
            <a:extLst>
              <a:ext uri="{FF2B5EF4-FFF2-40B4-BE49-F238E27FC236}">
                <a16:creationId xmlns:a16="http://schemas.microsoft.com/office/drawing/2014/main" id="{C1881DDF-1BE0-44E1-9D8E-F9904FCF63C1}"/>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1878D43F-3020-4AAE-80C5-B2C9C7FE952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5524C75D-943C-4DC1-B775-363D6C1873F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24</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0" dirty="0"/>
              <a:t>Example:</a:t>
            </a:r>
            <a:r>
              <a:rPr spc="185" dirty="0"/>
              <a:t> </a:t>
            </a:r>
            <a:r>
              <a:rPr spc="-45" dirty="0"/>
              <a:t>Sequential</a:t>
            </a:r>
            <a:r>
              <a:rPr spc="20" dirty="0"/>
              <a:t> </a:t>
            </a:r>
            <a:r>
              <a:rPr spc="-55" dirty="0"/>
              <a:t>maj</a:t>
            </a:r>
            <a:r>
              <a:rPr spc="-95" dirty="0"/>
              <a:t>o</a:t>
            </a:r>
            <a:r>
              <a:rPr dirty="0"/>
              <a:t>ri</a:t>
            </a:r>
            <a:r>
              <a:rPr spc="-40" dirty="0"/>
              <a:t>t</a:t>
            </a:r>
            <a:r>
              <a:rPr spc="-65" dirty="0"/>
              <a:t>y</a:t>
            </a:r>
          </a:p>
        </p:txBody>
      </p:sp>
      <mc:AlternateContent xmlns:mc="http://schemas.openxmlformats.org/markup-compatibility/2006" xmlns:a14="http://schemas.microsoft.com/office/drawing/2010/main">
        <mc:Choice Requires="a14">
          <p:sp>
            <p:nvSpPr>
              <p:cNvPr id="3" name="object 3"/>
              <p:cNvSpPr txBox="1"/>
              <p:nvPr/>
            </p:nvSpPr>
            <p:spPr>
              <a:xfrm>
                <a:off x="447356" y="465153"/>
                <a:ext cx="3686494" cy="38157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 </a:t>
                </a:r>
                <a14:m>
                  <m:oMath xmlns:m="http://schemas.openxmlformats.org/officeDocument/2006/math">
                    <m:r>
                      <a:rPr lang="en-MY" sz="1100" i="1" spc="10" dirty="0" smtClean="0">
                        <a:latin typeface="Cambria Math" panose="02040503050406030204" pitchFamily="18" charset="0"/>
                        <a:cs typeface="Tahoma"/>
                      </a:rPr>
                      <m:t>𝑁</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2</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3</m:t>
                    </m:r>
                    <m:r>
                      <a:rPr lang="en-MY" sz="1100" i="1" spc="10" dirty="0" smtClean="0">
                        <a:latin typeface="Cambria Math" panose="02040503050406030204" pitchFamily="18" charset="0"/>
                        <a:cs typeface="Tahoma"/>
                      </a:rPr>
                      <m:t>}</m:t>
                    </m:r>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Outcomes/Candidates: </a:t>
                </a:r>
                <a14:m>
                  <m:oMath xmlns:m="http://schemas.openxmlformats.org/officeDocument/2006/math">
                    <m:r>
                      <a:rPr lang="el-GR" sz="1100" i="1" spc="10" dirty="0" smtClean="0">
                        <a:latin typeface="Cambria Math" panose="02040503050406030204" pitchFamily="18" charset="0"/>
                        <a:cs typeface="Tahoma"/>
                      </a:rPr>
                      <m:t>Ω</m:t>
                    </m:r>
                    <m:r>
                      <a:rPr lang="el-GR" sz="1100" i="1" spc="10" dirty="0" smtClean="0">
                        <a:latin typeface="Cambria Math" panose="02040503050406030204" pitchFamily="18" charset="0"/>
                        <a:cs typeface="Tahoma"/>
                      </a:rPr>
                      <m:t>={</m:t>
                    </m:r>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1</m:t>
                        </m:r>
                      </m:sub>
                    </m:sSub>
                    <m:r>
                      <a:rPr lang="el-GR"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2</m:t>
                        </m:r>
                      </m:sub>
                    </m:sSub>
                    <m:r>
                      <a:rPr lang="el-GR"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3</m:t>
                        </m:r>
                      </m:sub>
                    </m:sSub>
                    <m:r>
                      <a:rPr lang="el-GR"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4</m:t>
                        </m:r>
                      </m:sub>
                    </m:sSub>
                    <m:r>
                      <a:rPr lang="el-GR" sz="1100" i="1" spc="10" dirty="0" smtClean="0">
                        <a:latin typeface="Cambria Math" panose="02040503050406030204" pitchFamily="18" charset="0"/>
                        <a:cs typeface="Tahoma"/>
                      </a:rPr>
                      <m:t>}</m:t>
                    </m:r>
                  </m:oMath>
                </a14:m>
                <a:endParaRPr lang="el-G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47356" y="465153"/>
                <a:ext cx="3686494" cy="381579"/>
              </a:xfrm>
              <a:prstGeom prst="rect">
                <a:avLst/>
              </a:prstGeom>
              <a:blipFill>
                <a:blip r:embed="rId4"/>
                <a:stretch>
                  <a:fillRect l="-661" t="-12698" b="-22222"/>
                </a:stretch>
              </a:blipFill>
            </p:spPr>
            <p:txBody>
              <a:bodyPr/>
              <a:lstStyle/>
              <a:p>
                <a:r>
                  <a:rPr lang="en-MY">
                    <a:noFill/>
                  </a:rPr>
                  <a:t> </a:t>
                </a:r>
              </a:p>
            </p:txBody>
          </p:sp>
        </mc:Fallback>
      </mc:AlternateContent>
      <p:sp>
        <p:nvSpPr>
          <p:cNvPr id="5" name="object 5"/>
          <p:cNvSpPr txBox="1"/>
          <p:nvPr/>
        </p:nvSpPr>
        <p:spPr>
          <a:xfrm>
            <a:off x="447357" y="893704"/>
            <a:ext cx="133350" cy="16357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endParaRPr sz="1100" spc="10" dirty="0">
              <a:latin typeface="Tahoma"/>
              <a:cs typeface="Tahoma"/>
            </a:endParaRPr>
          </a:p>
        </p:txBody>
      </p:sp>
      <mc:AlternateContent xmlns:mc="http://schemas.openxmlformats.org/markup-compatibility/2006" xmlns:a14="http://schemas.microsoft.com/office/drawing/2010/main">
        <mc:Choice Requires="a14">
          <p:sp>
            <p:nvSpPr>
              <p:cNvPr id="6" name="object 6"/>
              <p:cNvSpPr txBox="1"/>
              <p:nvPr/>
            </p:nvSpPr>
            <p:spPr>
              <a:xfrm>
                <a:off x="901484" y="868274"/>
                <a:ext cx="1479766" cy="461665"/>
              </a:xfrm>
              <a:prstGeom prst="rect">
                <a:avLst/>
              </a:prstGeom>
            </p:spPr>
            <p:txBody>
              <a:bodyPr vert="horz" wrap="square" lIns="0" tIns="0" rIns="0" bIns="0" rtlCol="0">
                <a:spAutoFit/>
              </a:bodyPr>
              <a:lstStyle/>
              <a:p>
                <a:pPr marL="12700">
                  <a:lnSpc>
                    <a:spcPts val="1200"/>
                  </a:lnSpc>
                </a:pPr>
                <a14:m>
                  <m:oMathPara xmlns:m="http://schemas.openxmlformats.org/officeDocument/2006/math">
                    <m:oMathParaPr>
                      <m:jc m:val="centerGroup"/>
                    </m:oMathParaPr>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4</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1</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1</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1</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1</m:t>
                          </m:r>
                        </m:sub>
                      </m:sSub>
                    </m:oMath>
                  </m:oMathPara>
                </a14:m>
                <a:endParaRPr lang="en-MY" sz="1100" baseline="-11904" dirty="0">
                  <a:latin typeface="Lucida Sans Unicode"/>
                  <a:cs typeface="Lucida Sans Unicode"/>
                </a:endParaRPr>
              </a:p>
              <a:p>
                <a:pPr marL="12700">
                  <a:lnSpc>
                    <a:spcPts val="1200"/>
                  </a:lnSpc>
                </a:pPr>
                <a14:m>
                  <m:oMathPara xmlns:m="http://schemas.openxmlformats.org/officeDocument/2006/math">
                    <m:oMathParaPr>
                      <m:jc m:val="centerGroup"/>
                    </m:oMathParaPr>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1</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2</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4</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2</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2</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oMath>
                  </m:oMathPara>
                </a14:m>
                <a:endParaRPr lang="en-MY" sz="1100" baseline="-11904" dirty="0">
                  <a:latin typeface="Lucida Sans Unicode"/>
                  <a:cs typeface="Lucida Sans Unicode"/>
                </a:endParaRPr>
              </a:p>
              <a:p>
                <a:pPr marL="12700">
                  <a:lnSpc>
                    <a:spcPts val="1200"/>
                  </a:lnSpc>
                </a:pPr>
                <a14:m>
                  <m:oMathPara xmlns:m="http://schemas.openxmlformats.org/officeDocument/2006/math">
                    <m:oMathParaPr>
                      <m:jc m:val="centerGroup"/>
                    </m:oMathParaPr>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3</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3</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1</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3</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4</m:t>
                          </m:r>
                        </m:sub>
                      </m:sSub>
                    </m:oMath>
                  </m:oMathPara>
                </a14:m>
                <a:endParaRPr sz="1100" baseline="-11904" dirty="0">
                  <a:latin typeface="Lucida Sans Unicode"/>
                  <a:cs typeface="Lucida Sans Unicode"/>
                </a:endParaRPr>
              </a:p>
            </p:txBody>
          </p:sp>
        </mc:Choice>
        <mc:Fallback xmlns="">
          <p:sp>
            <p:nvSpPr>
              <p:cNvPr id="6" name="object 6"/>
              <p:cNvSpPr txBox="1">
                <a:spLocks noRot="1" noChangeAspect="1" noMove="1" noResize="1" noEditPoints="1" noAdjustHandles="1" noChangeArrowheads="1" noChangeShapeType="1" noTextEdit="1"/>
              </p:cNvSpPr>
              <p:nvPr/>
            </p:nvSpPr>
            <p:spPr>
              <a:xfrm>
                <a:off x="901484" y="868274"/>
                <a:ext cx="1479766" cy="461665"/>
              </a:xfrm>
              <a:prstGeom prst="rect">
                <a:avLst/>
              </a:prstGeom>
              <a:blipFill>
                <a:blip r:embed="rId6"/>
                <a:stretch>
                  <a:fillRect l="-412" b="-6579"/>
                </a:stretch>
              </a:blipFill>
            </p:spPr>
            <p:txBody>
              <a:bodyPr/>
              <a:lstStyle/>
              <a:p>
                <a:r>
                  <a:rPr lang="en-MY">
                    <a:noFill/>
                  </a:rPr>
                  <a:t> </a:t>
                </a:r>
              </a:p>
            </p:txBody>
          </p:sp>
        </mc:Fallback>
      </mc:AlternateContent>
      <p:sp>
        <p:nvSpPr>
          <p:cNvPr id="7" name="object 7"/>
          <p:cNvSpPr/>
          <p:nvPr/>
        </p:nvSpPr>
        <p:spPr>
          <a:xfrm>
            <a:off x="876541" y="1323543"/>
            <a:ext cx="2854960" cy="2057400"/>
          </a:xfrm>
          <a:prstGeom prst="rect">
            <a:avLst/>
          </a:prstGeom>
          <a:blipFill>
            <a:blip r:embed="rId7" cstate="print"/>
            <a:stretch>
              <a:fillRect/>
            </a:stretch>
          </a:blipFill>
        </p:spPr>
        <p:txBody>
          <a:bodyPr wrap="square" lIns="0" tIns="0" rIns="0" bIns="0" rtlCol="0"/>
          <a:lstStyle/>
          <a:p>
            <a:endParaRPr dirty="0"/>
          </a:p>
        </p:txBody>
      </p:sp>
      <p:sp>
        <p:nvSpPr>
          <p:cNvPr id="8" name="Date Placeholder 3">
            <a:extLst>
              <a:ext uri="{FF2B5EF4-FFF2-40B4-BE49-F238E27FC236}">
                <a16:creationId xmlns:a16="http://schemas.microsoft.com/office/drawing/2014/main" id="{A51120DA-D771-4840-B2AB-B0D3E45DB92C}"/>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F1D85565-A088-41CB-8F96-E54A2365BB0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0" name="Slide Number Placeholder 7">
            <a:extLst>
              <a:ext uri="{FF2B5EF4-FFF2-40B4-BE49-F238E27FC236}">
                <a16:creationId xmlns:a16="http://schemas.microsoft.com/office/drawing/2014/main" id="{0EE3CC65-9BC0-4B47-97F1-1FA0D0BA598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25</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
        <p:nvSpPr>
          <p:cNvPr id="4" name="Arrow: Right 3">
            <a:extLst>
              <a:ext uri="{FF2B5EF4-FFF2-40B4-BE49-F238E27FC236}">
                <a16:creationId xmlns:a16="http://schemas.microsoft.com/office/drawing/2014/main" id="{56C41226-2AF1-8D5A-FB1B-724EEBB2BA17}"/>
              </a:ext>
            </a:extLst>
          </p:cNvPr>
          <p:cNvSpPr/>
          <p:nvPr/>
        </p:nvSpPr>
        <p:spPr>
          <a:xfrm>
            <a:off x="2381250" y="1730375"/>
            <a:ext cx="228600" cy="123111"/>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Arrow: Right 10">
            <a:extLst>
              <a:ext uri="{FF2B5EF4-FFF2-40B4-BE49-F238E27FC236}">
                <a16:creationId xmlns:a16="http://schemas.microsoft.com/office/drawing/2014/main" id="{7E3FF430-6012-212F-F109-6403BBE9C972}"/>
              </a:ext>
            </a:extLst>
          </p:cNvPr>
          <p:cNvSpPr/>
          <p:nvPr/>
        </p:nvSpPr>
        <p:spPr>
          <a:xfrm>
            <a:off x="2199640" y="2724648"/>
            <a:ext cx="228600" cy="123111"/>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E7A89E26-9A05-1168-6161-8011E0F47CDB}"/>
              </a:ext>
            </a:extLst>
          </p:cNvPr>
          <p:cNvSpPr txBox="1"/>
          <p:nvPr/>
        </p:nvSpPr>
        <p:spPr>
          <a:xfrm>
            <a:off x="400050" y="1654175"/>
            <a:ext cx="635110" cy="246221"/>
          </a:xfrm>
          <a:prstGeom prst="rect">
            <a:avLst/>
          </a:prstGeom>
          <a:noFill/>
        </p:spPr>
        <p:txBody>
          <a:bodyPr wrap="none" rtlCol="0">
            <a:spAutoFit/>
          </a:bodyPr>
          <a:lstStyle/>
          <a:p>
            <a:r>
              <a:rPr lang="en-US" sz="1000" dirty="0">
                <a:solidFill>
                  <a:srgbClr val="FF0000"/>
                </a:solidFill>
                <a:latin typeface="Tahoma" panose="020B0604030504040204" pitchFamily="34" charset="0"/>
                <a:ea typeface="Tahoma" panose="020B0604030504040204" pitchFamily="34" charset="0"/>
                <a:cs typeface="Tahoma" panose="020B0604030504040204" pitchFamily="34" charset="0"/>
              </a:rPr>
              <a:t>Plurality</a:t>
            </a:r>
          </a:p>
        </p:txBody>
      </p:sp>
      <p:sp>
        <p:nvSpPr>
          <p:cNvPr id="13" name="TextBox 12">
            <a:extLst>
              <a:ext uri="{FF2B5EF4-FFF2-40B4-BE49-F238E27FC236}">
                <a16:creationId xmlns:a16="http://schemas.microsoft.com/office/drawing/2014/main" id="{EBCA6F1F-BDF6-E464-BE34-BC689406AF8F}"/>
              </a:ext>
            </a:extLst>
          </p:cNvPr>
          <p:cNvSpPr txBox="1"/>
          <p:nvPr/>
        </p:nvSpPr>
        <p:spPr>
          <a:xfrm>
            <a:off x="400050" y="2671268"/>
            <a:ext cx="635110" cy="246221"/>
          </a:xfrm>
          <a:prstGeom prst="rect">
            <a:avLst/>
          </a:prstGeom>
          <a:noFill/>
        </p:spPr>
        <p:txBody>
          <a:bodyPr wrap="none" rtlCol="0">
            <a:spAutoFit/>
          </a:bodyPr>
          <a:lstStyle/>
          <a:p>
            <a:r>
              <a:rPr lang="en-US" sz="1000" dirty="0">
                <a:solidFill>
                  <a:srgbClr val="FF0000"/>
                </a:solidFill>
                <a:latin typeface="Tahoma" panose="020B0604030504040204" pitchFamily="34" charset="0"/>
                <a:ea typeface="Tahoma" panose="020B0604030504040204" pitchFamily="34" charset="0"/>
                <a:cs typeface="Tahoma" panose="020B0604030504040204" pitchFamily="34" charset="0"/>
              </a:rPr>
              <a:t>Plurality</a:t>
            </a:r>
          </a:p>
        </p:txBody>
      </p:sp>
      <p:sp>
        <p:nvSpPr>
          <p:cNvPr id="14" name="TextBox 13">
            <a:extLst>
              <a:ext uri="{FF2B5EF4-FFF2-40B4-BE49-F238E27FC236}">
                <a16:creationId xmlns:a16="http://schemas.microsoft.com/office/drawing/2014/main" id="{FA4BACC7-8D5B-57BA-66E6-3EA375EDE9D0}"/>
              </a:ext>
            </a:extLst>
          </p:cNvPr>
          <p:cNvSpPr txBox="1"/>
          <p:nvPr/>
        </p:nvSpPr>
        <p:spPr>
          <a:xfrm>
            <a:off x="3429024" y="2809215"/>
            <a:ext cx="954107" cy="200055"/>
          </a:xfrm>
          <a:prstGeom prst="rect">
            <a:avLst/>
          </a:prstGeom>
          <a:noFill/>
        </p:spPr>
        <p:txBody>
          <a:bodyPr wrap="none" rtlCol="0">
            <a:spAutoFit/>
          </a:bodyPr>
          <a:lstStyle/>
          <a:p>
            <a:r>
              <a:rPr lang="en-US" sz="700" dirty="0"/>
              <a:t>Balanced Binary Tree</a:t>
            </a:r>
            <a:endParaRPr lang="en-MY" sz="700" dirty="0"/>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75" dirty="0"/>
              <a:t>P</a:t>
            </a:r>
            <a:r>
              <a:rPr spc="-110" dirty="0"/>
              <a:t>a</a:t>
            </a:r>
            <a:r>
              <a:rPr spc="-55" dirty="0"/>
              <a:t>rad</a:t>
            </a:r>
            <a:r>
              <a:rPr spc="-110" dirty="0"/>
              <a:t>o</a:t>
            </a:r>
            <a:r>
              <a:rPr spc="-75" dirty="0"/>
              <a:t>xes,</a:t>
            </a:r>
            <a:r>
              <a:rPr spc="30" dirty="0"/>
              <a:t> </a:t>
            </a:r>
            <a:r>
              <a:rPr spc="-60" dirty="0"/>
              <a:t>desirable</a:t>
            </a:r>
            <a:r>
              <a:rPr spc="30" dirty="0"/>
              <a:t> </a:t>
            </a:r>
            <a:r>
              <a:rPr spc="-65" dirty="0"/>
              <a:t>and</a:t>
            </a:r>
            <a:r>
              <a:rPr spc="30" dirty="0"/>
              <a:t> </a:t>
            </a:r>
            <a:r>
              <a:rPr spc="-60" dirty="0"/>
              <a:t>undesirable</a:t>
            </a:r>
            <a:r>
              <a:rPr spc="30" dirty="0"/>
              <a:t> </a:t>
            </a:r>
            <a:r>
              <a:rPr spc="-95" dirty="0"/>
              <a:t>p</a:t>
            </a:r>
            <a:r>
              <a:rPr spc="-45" dirty="0"/>
              <a:t>ro</a:t>
            </a:r>
            <a:r>
              <a:rPr spc="-20" dirty="0"/>
              <a:t>p</a:t>
            </a:r>
            <a:r>
              <a:rPr spc="-55" dirty="0"/>
              <a:t>erties</a:t>
            </a:r>
          </a:p>
        </p:txBody>
      </p:sp>
      <p:sp>
        <p:nvSpPr>
          <p:cNvPr id="3" name="object 3"/>
          <p:cNvSpPr txBox="1">
            <a:spLocks noGrp="1"/>
          </p:cNvSpPr>
          <p:nvPr>
            <p:ph type="body" idx="1"/>
          </p:nvPr>
        </p:nvSpPr>
        <p:spPr>
          <a:xfrm>
            <a:off x="347294" y="766200"/>
            <a:ext cx="4260687" cy="1648522"/>
          </a:xfrm>
          <a:prstGeom prst="rect">
            <a:avLst/>
          </a:prstGeom>
        </p:spPr>
        <p:txBody>
          <a:bodyPr vert="horz" wrap="square" lIns="0" tIns="391090" rIns="0" bIns="0" rtlCol="0">
            <a:spAutoFit/>
          </a:bodyPr>
          <a:lstStyle/>
          <a:p>
            <a:pPr marL="284163" indent="-230188" algn="l" rtl="0">
              <a:lnSpc>
                <a:spcPts val="1400"/>
              </a:lnSpc>
              <a:spcBef>
                <a:spcPts val="330"/>
              </a:spcBef>
              <a:buClr>
                <a:srgbClr val="0000FF"/>
              </a:buClr>
              <a:buFont typeface="Wingdings 3" panose="05040102010807070707" pitchFamily="18" charset="2"/>
              <a:buChar char=""/>
            </a:pPr>
            <a:r>
              <a:rPr kern="1200" spc="10" dirty="0"/>
              <a:t>The majority of the society should not prefer another outcome</a:t>
            </a:r>
          </a:p>
          <a:p>
            <a:pPr marL="284163" indent="-230188" algn="l" rtl="0">
              <a:lnSpc>
                <a:spcPts val="1400"/>
              </a:lnSpc>
              <a:spcBef>
                <a:spcPts val="330"/>
              </a:spcBef>
              <a:buClr>
                <a:srgbClr val="0000FF"/>
              </a:buClr>
              <a:buFont typeface="Wingdings 3" panose="05040102010807070707" pitchFamily="18" charset="2"/>
              <a:buChar char=""/>
            </a:pPr>
            <a:r>
              <a:rPr kern="1200" spc="10" dirty="0"/>
              <a:t>The outcome should not be determined by the “agenda”</a:t>
            </a:r>
          </a:p>
          <a:p>
            <a:pPr marL="284163" indent="-230188" algn="l" rtl="0">
              <a:lnSpc>
                <a:spcPts val="1400"/>
              </a:lnSpc>
              <a:spcBef>
                <a:spcPts val="330"/>
              </a:spcBef>
              <a:buClr>
                <a:srgbClr val="0000FF"/>
              </a:buClr>
              <a:buFont typeface="Wingdings 3" panose="05040102010807070707" pitchFamily="18" charset="2"/>
              <a:buChar char=""/>
            </a:pPr>
            <a:r>
              <a:rPr kern="1200" spc="10" dirty="0"/>
              <a:t>Removing a losing candidate should not affect the outcome</a:t>
            </a:r>
          </a:p>
          <a:p>
            <a:pPr marL="284163" indent="-230188" algn="l" rtl="0">
              <a:lnSpc>
                <a:spcPts val="1400"/>
              </a:lnSpc>
              <a:spcBef>
                <a:spcPts val="330"/>
              </a:spcBef>
              <a:buClr>
                <a:srgbClr val="0000FF"/>
              </a:buClr>
              <a:buFont typeface="Wingdings 3" panose="05040102010807070707" pitchFamily="18" charset="2"/>
              <a:buChar char=""/>
            </a:pPr>
            <a:r>
              <a:rPr kern="1200" spc="10" dirty="0"/>
              <a:t>The outcome should not be determined by a single agent</a:t>
            </a:r>
          </a:p>
          <a:p>
            <a:pPr marL="284163" indent="-230188" algn="l" rtl="0">
              <a:lnSpc>
                <a:spcPts val="1400"/>
              </a:lnSpc>
              <a:spcBef>
                <a:spcPts val="330"/>
              </a:spcBef>
              <a:buClr>
                <a:srgbClr val="0000FF"/>
              </a:buClr>
              <a:buFont typeface="Wingdings 3" panose="05040102010807070707" pitchFamily="18" charset="2"/>
              <a:buChar char=""/>
            </a:pPr>
            <a:r>
              <a:rPr kern="1200" spc="10" dirty="0"/>
              <a:t>Pareto efficient</a:t>
            </a:r>
          </a:p>
          <a:p>
            <a:pPr marL="284163" indent="-230188" algn="l" rtl="0">
              <a:lnSpc>
                <a:spcPts val="1400"/>
              </a:lnSpc>
              <a:spcBef>
                <a:spcPts val="330"/>
              </a:spcBef>
              <a:buClr>
                <a:srgbClr val="0000FF"/>
              </a:buClr>
              <a:buFont typeface="Wingdings 3" panose="05040102010807070707" pitchFamily="18" charset="2"/>
              <a:buChar char=""/>
            </a:pPr>
            <a:r>
              <a:rPr kern="1200" spc="10" dirty="0"/>
              <a:t>Independence of irrelevant choices</a:t>
            </a:r>
          </a:p>
        </p:txBody>
      </p:sp>
      <p:sp>
        <p:nvSpPr>
          <p:cNvPr id="4" name="Date Placeholder 3">
            <a:extLst>
              <a:ext uri="{FF2B5EF4-FFF2-40B4-BE49-F238E27FC236}">
                <a16:creationId xmlns:a16="http://schemas.microsoft.com/office/drawing/2014/main" id="{91458163-DECA-49B6-B50D-FC954BA09801}"/>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122DBACB-3A22-46D1-BB9D-E7B7FD78C287}"/>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B3673FFB-79D3-4F8F-A14C-802F7BB670C1}"/>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26</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45" dirty="0"/>
              <a:t>Cond</a:t>
            </a:r>
            <a:r>
              <a:rPr spc="-75" dirty="0"/>
              <a:t>o</a:t>
            </a:r>
            <a:r>
              <a:rPr spc="-25" dirty="0"/>
              <a:t>rcet’s</a:t>
            </a:r>
            <a:r>
              <a:rPr spc="25" dirty="0"/>
              <a:t> </a:t>
            </a:r>
            <a:r>
              <a:rPr spc="-65" dirty="0"/>
              <a:t>p</a:t>
            </a:r>
            <a:r>
              <a:rPr spc="-100" dirty="0"/>
              <a:t>a</a:t>
            </a:r>
            <a:r>
              <a:rPr spc="-55" dirty="0"/>
              <a:t>rad</a:t>
            </a:r>
            <a:r>
              <a:rPr spc="-105" dirty="0"/>
              <a:t>o</a:t>
            </a:r>
            <a:r>
              <a:rPr spc="-60" dirty="0"/>
              <a:t>x</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347294" y="766200"/>
                <a:ext cx="3915511" cy="925927"/>
              </a:xfrm>
              <a:prstGeom prst="rect">
                <a:avLst/>
              </a:prstGeom>
            </p:spPr>
            <p:txBody>
              <a:bodyPr vert="horz" wrap="square" lIns="0" tIns="132112" rIns="0" bIns="0" rtlCol="0">
                <a:spAutoFit/>
              </a:bodyPr>
              <a:lstStyle/>
              <a:p>
                <a:pPr marL="284163" marR="5080" indent="-230188" algn="l" rtl="0">
                  <a:lnSpc>
                    <a:spcPts val="1400"/>
                  </a:lnSpc>
                  <a:spcBef>
                    <a:spcPts val="330"/>
                  </a:spcBef>
                  <a:buClr>
                    <a:srgbClr val="0000FF"/>
                  </a:buClr>
                  <a:buFont typeface="Wingdings 3" panose="05040102010807070707" pitchFamily="18" charset="2"/>
                  <a:buChar char=""/>
                </a:pPr>
                <a:r>
                  <a:rPr lang="en-US" kern="1200" spc="10" dirty="0"/>
                  <a:t>No matter which outcome we choose, a majority of voters will prefer another outcome</a:t>
                </a:r>
              </a:p>
              <a:p>
                <a:pPr marL="284163" indent="-230188" algn="l" rtl="0">
                  <a:lnSpc>
                    <a:spcPts val="1400"/>
                  </a:lnSpc>
                  <a:spcBef>
                    <a:spcPts val="330"/>
                  </a:spcBef>
                  <a:buClr>
                    <a:srgbClr val="0000FF"/>
                  </a:buClr>
                  <a:buFont typeface="Wingdings 3" panose="05040102010807070707" pitchFamily="18" charset="2"/>
                  <a:buChar char=""/>
                </a:pPr>
                <a:r>
                  <a:rPr lang="en-US" kern="1200" spc="10" dirty="0"/>
                  <a:t>Agents/Voters: </a:t>
                </a:r>
                <a14:m>
                  <m:oMath xmlns:m="http://schemas.openxmlformats.org/officeDocument/2006/math">
                    <m:r>
                      <a:rPr lang="en-US" i="1" kern="1200" spc="10" dirty="0" smtClean="0">
                        <a:latin typeface="Cambria Math" panose="02040503050406030204" pitchFamily="18" charset="0"/>
                      </a:rPr>
                      <m:t>𝑁</m:t>
                    </m:r>
                    <m:r>
                      <a:rPr lang="en-US" i="1" kern="1200" spc="10" dirty="0" smtClean="0">
                        <a:latin typeface="Cambria Math" panose="02040503050406030204" pitchFamily="18" charset="0"/>
                      </a:rPr>
                      <m:t>={</m:t>
                    </m:r>
                    <m:r>
                      <a:rPr lang="en-US" i="1" kern="1200" spc="10" dirty="0" smtClean="0">
                        <a:latin typeface="Cambria Math" panose="02040503050406030204" pitchFamily="18" charset="0"/>
                      </a:rPr>
                      <m:t>1</m:t>
                    </m:r>
                    <m:r>
                      <a:rPr lang="en-US" i="1" kern="1200" spc="10" dirty="0" smtClean="0">
                        <a:latin typeface="Cambria Math" panose="02040503050406030204" pitchFamily="18" charset="0"/>
                      </a:rPr>
                      <m:t>, </m:t>
                    </m:r>
                    <m:r>
                      <a:rPr lang="en-US" i="1" kern="1200" spc="10" dirty="0" smtClean="0">
                        <a:latin typeface="Cambria Math" panose="02040503050406030204" pitchFamily="18" charset="0"/>
                      </a:rPr>
                      <m:t>2</m:t>
                    </m:r>
                    <m:r>
                      <a:rPr lang="en-US" i="1" kern="1200" spc="10" dirty="0" smtClean="0">
                        <a:latin typeface="Cambria Math" panose="02040503050406030204" pitchFamily="18" charset="0"/>
                      </a:rPr>
                      <m:t>, </m:t>
                    </m:r>
                    <m:r>
                      <a:rPr lang="en-US" i="1" kern="1200" spc="10" dirty="0" smtClean="0">
                        <a:latin typeface="Cambria Math" panose="02040503050406030204" pitchFamily="18" charset="0"/>
                      </a:rPr>
                      <m:t>3</m:t>
                    </m:r>
                    <m:r>
                      <a:rPr lang="en-US" i="1" kern="1200" spc="10" dirty="0" smtClean="0">
                        <a:latin typeface="Cambria Math" panose="02040503050406030204" pitchFamily="18" charset="0"/>
                      </a:rPr>
                      <m:t>}</m:t>
                    </m:r>
                  </m:oMath>
                </a14:m>
                <a:endParaRPr lang="en-US" kern="1200" spc="10" dirty="0"/>
              </a:p>
              <a:p>
                <a:pPr marL="284163" indent="-230188" algn="l" rtl="0">
                  <a:lnSpc>
                    <a:spcPts val="1400"/>
                  </a:lnSpc>
                  <a:spcBef>
                    <a:spcPts val="330"/>
                  </a:spcBef>
                  <a:buClr>
                    <a:srgbClr val="0000FF"/>
                  </a:buClr>
                  <a:buFont typeface="Wingdings 3" panose="05040102010807070707" pitchFamily="18" charset="2"/>
                  <a:buChar char=""/>
                </a:pPr>
                <a:r>
                  <a:rPr lang="en-US" kern="1200" spc="10" dirty="0"/>
                  <a:t>Outcomes/Candidates: </a:t>
                </a:r>
                <a14:m>
                  <m:oMath xmlns:m="http://schemas.openxmlformats.org/officeDocument/2006/math">
                    <m:r>
                      <a:rPr lang="en-US" i="1" kern="1200" spc="10" dirty="0" smtClean="0">
                        <a:latin typeface="Cambria Math" panose="02040503050406030204" pitchFamily="18" charset="0"/>
                      </a:rPr>
                      <m:t>Ω</m:t>
                    </m:r>
                    <m:r>
                      <a:rPr lang="en-US" i="1" kern="1200" spc="10" dirty="0" smtClean="0">
                        <a:latin typeface="Cambria Math" panose="02040503050406030204" pitchFamily="18" charset="0"/>
                      </a:rPr>
                      <m:t> = {</m:t>
                    </m:r>
                    <m:sSub>
                      <m:sSubPr>
                        <m:ctrlPr>
                          <a:rPr lang="en-MY" b="0" i="1" kern="1200" spc="10" dirty="0" smtClean="0">
                            <a:latin typeface="Cambria Math" panose="02040503050406030204" pitchFamily="18" charset="0"/>
                          </a:rPr>
                        </m:ctrlPr>
                      </m:sSubPr>
                      <m:e>
                        <m:r>
                          <a:rPr lang="en-US" i="1" kern="1200" spc="10" dirty="0" smtClean="0">
                            <a:latin typeface="Cambria Math" panose="02040503050406030204" pitchFamily="18" charset="0"/>
                          </a:rPr>
                          <m:t>𝜔</m:t>
                        </m:r>
                      </m:e>
                      <m:sub>
                        <m:r>
                          <a:rPr lang="en-US" i="1" kern="1200" spc="10" dirty="0" smtClean="0">
                            <a:latin typeface="Cambria Math" panose="02040503050406030204" pitchFamily="18" charset="0"/>
                          </a:rPr>
                          <m:t>1</m:t>
                        </m:r>
                      </m:sub>
                    </m:sSub>
                    <m:r>
                      <a:rPr lang="en-US" i="1" kern="1200" spc="10" dirty="0" smtClean="0">
                        <a:latin typeface="Cambria Math" panose="02040503050406030204" pitchFamily="18" charset="0"/>
                      </a:rPr>
                      <m:t>, </m:t>
                    </m:r>
                    <m:sSub>
                      <m:sSubPr>
                        <m:ctrlPr>
                          <a:rPr lang="en-US" b="0" i="1" kern="1200" spc="10" dirty="0" smtClean="0">
                            <a:latin typeface="Cambria Math" panose="02040503050406030204" pitchFamily="18" charset="0"/>
                          </a:rPr>
                        </m:ctrlPr>
                      </m:sSubPr>
                      <m:e>
                        <m:r>
                          <a:rPr lang="en-US" i="1" kern="1200" spc="10" dirty="0" smtClean="0">
                            <a:latin typeface="Cambria Math" panose="02040503050406030204" pitchFamily="18" charset="0"/>
                          </a:rPr>
                          <m:t>𝜔</m:t>
                        </m:r>
                      </m:e>
                      <m:sub>
                        <m:r>
                          <a:rPr lang="en-MY" b="0" i="1" kern="1200" spc="10" dirty="0" smtClean="0">
                            <a:latin typeface="Cambria Math" panose="02040503050406030204" pitchFamily="18" charset="0"/>
                          </a:rPr>
                          <m:t>2</m:t>
                        </m:r>
                      </m:sub>
                    </m:sSub>
                    <m:r>
                      <a:rPr lang="en-US" i="1" kern="1200" spc="10" dirty="0" smtClean="0">
                        <a:latin typeface="Cambria Math" panose="02040503050406030204" pitchFamily="18" charset="0"/>
                      </a:rPr>
                      <m:t>, </m:t>
                    </m:r>
                    <m:sSub>
                      <m:sSubPr>
                        <m:ctrlPr>
                          <a:rPr lang="en-MY" b="0" i="1" kern="1200" spc="10" dirty="0" smtClean="0">
                            <a:latin typeface="Cambria Math" panose="02040503050406030204" pitchFamily="18" charset="0"/>
                          </a:rPr>
                        </m:ctrlPr>
                      </m:sSubPr>
                      <m:e>
                        <m:r>
                          <a:rPr lang="en-US" i="1" kern="1200" spc="10" dirty="0" smtClean="0">
                            <a:latin typeface="Cambria Math" panose="02040503050406030204" pitchFamily="18" charset="0"/>
                          </a:rPr>
                          <m:t>𝜔</m:t>
                        </m:r>
                      </m:e>
                      <m:sub>
                        <m:r>
                          <a:rPr lang="en-US" i="1" kern="1200" spc="10" dirty="0" smtClean="0">
                            <a:latin typeface="Cambria Math" panose="02040503050406030204" pitchFamily="18" charset="0"/>
                          </a:rPr>
                          <m:t>3</m:t>
                        </m:r>
                      </m:sub>
                    </m:sSub>
                    <m:r>
                      <a:rPr lang="en-US" i="1" kern="1200" spc="10" dirty="0" smtClean="0">
                        <a:latin typeface="Cambria Math" panose="02040503050406030204" pitchFamily="18" charset="0"/>
                      </a:rPr>
                      <m:t>}</m:t>
                    </m:r>
                  </m:oMath>
                </a14:m>
                <a:endParaRPr kern="1200" spc="1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347294" y="766200"/>
                <a:ext cx="3915511" cy="925927"/>
              </a:xfrm>
              <a:prstGeom prst="rect">
                <a:avLst/>
              </a:prstGeom>
              <a:blipFill>
                <a:blip r:embed="rId5"/>
                <a:stretch>
                  <a:fillRect l="-779" b="-7237"/>
                </a:stretch>
              </a:blipFill>
            </p:spPr>
            <p:txBody>
              <a:bodyPr/>
              <a:lstStyle/>
              <a:p>
                <a:r>
                  <a:rPr lang="en-MY">
                    <a:noFill/>
                  </a:rPr>
                  <a:t> </a:t>
                </a:r>
              </a:p>
            </p:txBody>
          </p:sp>
        </mc:Fallback>
      </mc:AlternateContent>
      <p:sp>
        <p:nvSpPr>
          <p:cNvPr id="4" name="object 4"/>
          <p:cNvSpPr txBox="1"/>
          <p:nvPr/>
        </p:nvSpPr>
        <p:spPr>
          <a:xfrm>
            <a:off x="342900" y="1780437"/>
            <a:ext cx="133350" cy="16357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endParaRPr sz="1100" spc="10" dirty="0">
              <a:latin typeface="Tahoma"/>
              <a:cs typeface="Tahoma"/>
            </a:endParaRPr>
          </a:p>
        </p:txBody>
      </p:sp>
      <mc:AlternateContent xmlns:mc="http://schemas.openxmlformats.org/markup-compatibility/2006" xmlns:a14="http://schemas.microsoft.com/office/drawing/2010/main">
        <mc:Choice Requires="a14">
          <p:sp>
            <p:nvSpPr>
              <p:cNvPr id="5" name="object 5"/>
              <p:cNvSpPr txBox="1"/>
              <p:nvPr/>
            </p:nvSpPr>
            <p:spPr>
              <a:xfrm>
                <a:off x="781050" y="1796157"/>
                <a:ext cx="3708617" cy="1319720"/>
              </a:xfrm>
              <a:prstGeom prst="rect">
                <a:avLst/>
              </a:prstGeom>
            </p:spPr>
            <p:txBody>
              <a:bodyPr vert="horz" wrap="square" lIns="0" tIns="0" rIns="0" bIns="0" rtlCol="0">
                <a:spAutoFit/>
              </a:bodyPr>
              <a:lstStyle/>
              <a:p>
                <a:pPr marL="12700" algn="just">
                  <a:lnSpc>
                    <a:spcPts val="1200"/>
                  </a:lnSpc>
                </a:pPr>
                <a14:m>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1</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n-MY"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1</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n-MY"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1</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oMath>
                </a14:m>
                <a:r>
                  <a:rPr lang="en-MY" sz="1100" b="0" i="1" spc="10" dirty="0">
                    <a:latin typeface="Cambria Math" panose="02040503050406030204" pitchFamily="18" charset="0"/>
                    <a:cs typeface="Tahoma"/>
                  </a:rPr>
                  <a:t> </a:t>
                </a:r>
                <a:br>
                  <a:rPr lang="en-MY" sz="1100" b="0" i="1" spc="10" dirty="0">
                    <a:latin typeface="Cambria Math" panose="02040503050406030204" pitchFamily="18" charset="0"/>
                    <a:cs typeface="Tahoma"/>
                  </a:rPr>
                </a:br>
                <a14:m>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n-MY"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2</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n-MY"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2</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1</m:t>
                        </m:r>
                      </m:sub>
                    </m:sSub>
                  </m:oMath>
                </a14:m>
                <a:r>
                  <a:rPr lang="en-MY" sz="1100" b="0" i="1" spc="10" dirty="0">
                    <a:latin typeface="Cambria Math" panose="02040503050406030204" pitchFamily="18" charset="0"/>
                    <a:cs typeface="Tahoma"/>
                  </a:rPr>
                  <a:t> </a:t>
                </a:r>
                <a:br>
                  <a:rPr lang="en-MY" sz="1100" b="0" i="1" spc="10" dirty="0">
                    <a:latin typeface="Cambria Math" panose="02040503050406030204" pitchFamily="18" charset="0"/>
                    <a:cs typeface="Tahoma"/>
                  </a:rPr>
                </a:br>
                <a14:m>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n-MY"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3</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1</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n-MY"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3</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oMath>
                </a14:m>
                <a:r>
                  <a:rPr lang="en-MY" sz="1100" dirty="0">
                    <a:latin typeface="Times New Roman"/>
                    <a:cs typeface="Times New Roman"/>
                  </a:rPr>
                  <a:t> </a:t>
                </a:r>
              </a:p>
              <a:p>
                <a:pPr marL="53975" marR="5080">
                  <a:lnSpc>
                    <a:spcPts val="1400"/>
                  </a:lnSpc>
                  <a:spcBef>
                    <a:spcPts val="330"/>
                  </a:spcBef>
                  <a:buClr>
                    <a:srgbClr val="0000FF"/>
                  </a:buClr>
                </a:pPr>
                <a:endParaRPr lang="en-MY" sz="1100" spc="10" dirty="0">
                  <a:latin typeface="Tahoma"/>
                  <a:cs typeface="Tahoma"/>
                </a:endParaRPr>
              </a:p>
              <a:p>
                <a:pPr marL="53975" marR="5080">
                  <a:lnSpc>
                    <a:spcPts val="1400"/>
                  </a:lnSpc>
                  <a:spcBef>
                    <a:spcPts val="330"/>
                  </a:spcBef>
                  <a:buClr>
                    <a:srgbClr val="0000FF"/>
                  </a:buClr>
                </a:pPr>
                <a:r>
                  <a:rPr lang="en-MY" sz="1100" spc="10" dirty="0">
                    <a:latin typeface="Tahoma"/>
                    <a:cs typeface="Tahoma"/>
                  </a:rPr>
                  <a:t>Choose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1</m:t>
                        </m:r>
                      </m:sub>
                    </m:sSub>
                  </m:oMath>
                </a14:m>
                <a:r>
                  <a:rPr lang="el-GR" sz="1100" spc="10" dirty="0">
                    <a:latin typeface="Tahoma"/>
                    <a:cs typeface="Tahoma"/>
                  </a:rPr>
                  <a:t> </a:t>
                </a:r>
                <a:r>
                  <a:rPr lang="en-MY" sz="1100" spc="10" dirty="0">
                    <a:latin typeface="Tahoma"/>
                    <a:cs typeface="Tahoma"/>
                  </a:rPr>
                  <a:t>as winner; then, 2/3 of voters (2, 3) prefer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3</m:t>
                        </m:r>
                      </m:sub>
                    </m:sSub>
                  </m:oMath>
                </a14:m>
                <a:endParaRPr lang="en-MY" sz="1100" spc="10" dirty="0">
                  <a:latin typeface="Tahoma"/>
                  <a:cs typeface="Tahoma"/>
                </a:endParaRPr>
              </a:p>
              <a:p>
                <a:pPr marL="53975" marR="5080">
                  <a:lnSpc>
                    <a:spcPts val="1400"/>
                  </a:lnSpc>
                  <a:spcBef>
                    <a:spcPts val="330"/>
                  </a:spcBef>
                  <a:buClr>
                    <a:srgbClr val="0000FF"/>
                  </a:buClr>
                </a:pPr>
                <a:r>
                  <a:rPr lang="en-MY" sz="1100" spc="10" dirty="0">
                    <a:latin typeface="Tahoma"/>
                    <a:cs typeface="Tahoma"/>
                  </a:rPr>
                  <a:t>Choose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2</m:t>
                        </m:r>
                      </m:sub>
                    </m:sSub>
                  </m:oMath>
                </a14:m>
                <a:r>
                  <a:rPr lang="el-GR" sz="1100" spc="10" dirty="0">
                    <a:latin typeface="Tahoma"/>
                    <a:cs typeface="Tahoma"/>
                  </a:rPr>
                  <a:t> </a:t>
                </a:r>
                <a:r>
                  <a:rPr lang="en-MY" sz="1100" spc="10" dirty="0">
                    <a:latin typeface="Tahoma"/>
                    <a:cs typeface="Tahoma"/>
                  </a:rPr>
                  <a:t>as winner; then, 2/3 of voters (1, 3) prefer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1</m:t>
                        </m:r>
                      </m:sub>
                    </m:sSub>
                  </m:oMath>
                </a14:m>
                <a:endParaRPr lang="en-MY" sz="1100" spc="10" dirty="0">
                  <a:latin typeface="Tahoma"/>
                  <a:cs typeface="Tahoma"/>
                </a:endParaRPr>
              </a:p>
              <a:p>
                <a:pPr marL="53975" marR="5080">
                  <a:lnSpc>
                    <a:spcPts val="1400"/>
                  </a:lnSpc>
                  <a:spcBef>
                    <a:spcPts val="330"/>
                  </a:spcBef>
                  <a:buClr>
                    <a:srgbClr val="0000FF"/>
                  </a:buClr>
                </a:pPr>
                <a:r>
                  <a:rPr lang="en-MY" sz="1100" spc="10" dirty="0">
                    <a:latin typeface="Tahoma"/>
                    <a:cs typeface="Tahoma"/>
                  </a:rPr>
                  <a:t>Choose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3</m:t>
                        </m:r>
                      </m:sub>
                    </m:sSub>
                  </m:oMath>
                </a14:m>
                <a:r>
                  <a:rPr lang="el-GR" sz="1100" spc="10" dirty="0">
                    <a:latin typeface="Tahoma"/>
                    <a:cs typeface="Tahoma"/>
                  </a:rPr>
                  <a:t> </a:t>
                </a:r>
                <a:r>
                  <a:rPr lang="en-MY" sz="1100" spc="10" dirty="0">
                    <a:latin typeface="Tahoma"/>
                    <a:cs typeface="Tahoma"/>
                  </a:rPr>
                  <a:t>as winner; then, 2/3 of voters (1, 2) prefer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2</m:t>
                        </m:r>
                      </m:sub>
                    </m:sSub>
                  </m:oMath>
                </a14:m>
                <a:endParaRPr sz="1100" spc="10" dirty="0">
                  <a:latin typeface="Tahoma"/>
                  <a:cs typeface="Tahoma"/>
                </a:endParaRPr>
              </a:p>
            </p:txBody>
          </p:sp>
        </mc:Choice>
        <mc:Fallback xmlns="">
          <p:sp>
            <p:nvSpPr>
              <p:cNvPr id="5" name="object 5"/>
              <p:cNvSpPr txBox="1">
                <a:spLocks noRot="1" noChangeAspect="1" noMove="1" noResize="1" noEditPoints="1" noAdjustHandles="1" noChangeArrowheads="1" noChangeShapeType="1" noTextEdit="1"/>
              </p:cNvSpPr>
              <p:nvPr/>
            </p:nvSpPr>
            <p:spPr>
              <a:xfrm>
                <a:off x="781050" y="1796157"/>
                <a:ext cx="3708617" cy="1319720"/>
              </a:xfrm>
              <a:prstGeom prst="rect">
                <a:avLst/>
              </a:prstGeom>
              <a:blipFill>
                <a:blip r:embed="rId6"/>
                <a:stretch>
                  <a:fillRect l="-822" r="-493" b="-5556"/>
                </a:stretch>
              </a:blipFill>
            </p:spPr>
            <p:txBody>
              <a:bodyPr/>
              <a:lstStyle/>
              <a:p>
                <a:r>
                  <a:rPr lang="en-US">
                    <a:noFill/>
                  </a:rPr>
                  <a:t> </a:t>
                </a:r>
              </a:p>
            </p:txBody>
          </p:sp>
        </mc:Fallback>
      </mc:AlternateContent>
      <p:sp>
        <p:nvSpPr>
          <p:cNvPr id="6" name="Date Placeholder 3">
            <a:extLst>
              <a:ext uri="{FF2B5EF4-FFF2-40B4-BE49-F238E27FC236}">
                <a16:creationId xmlns:a16="http://schemas.microsoft.com/office/drawing/2014/main" id="{1EE4EF7E-91C8-4FA0-9CDB-FA894B6D29BE}"/>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06C3EFC6-ED32-4D75-813B-CB3319CC3D2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F35AD0B2-D4A1-4AE7-89E0-877C76E91C3B}"/>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27</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0" dirty="0"/>
              <a:t>Manipulation</a:t>
            </a:r>
            <a:r>
              <a:rPr spc="30" dirty="0"/>
              <a:t> </a:t>
            </a:r>
            <a:r>
              <a:rPr spc="-45" dirty="0"/>
              <a:t>of</a:t>
            </a:r>
            <a:r>
              <a:rPr spc="25" dirty="0"/>
              <a:t> </a:t>
            </a:r>
            <a:r>
              <a:rPr spc="-50" dirty="0"/>
              <a:t>the</a:t>
            </a:r>
            <a:r>
              <a:rPr spc="25" dirty="0"/>
              <a:t> </a:t>
            </a:r>
            <a:r>
              <a:rPr spc="-60" dirty="0"/>
              <a:t>outcome:</a:t>
            </a:r>
            <a:r>
              <a:rPr spc="185" dirty="0"/>
              <a:t> </a:t>
            </a:r>
            <a:r>
              <a:rPr spc="-20" dirty="0"/>
              <a:t>The</a:t>
            </a:r>
            <a:r>
              <a:rPr spc="30" dirty="0"/>
              <a:t> </a:t>
            </a:r>
            <a:r>
              <a:rPr spc="-80" dirty="0"/>
              <a:t>agenda</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347294" y="766200"/>
                <a:ext cx="3915511" cy="925927"/>
              </a:xfrm>
              <a:prstGeom prst="rect">
                <a:avLst/>
              </a:prstGeom>
            </p:spPr>
            <p:txBody>
              <a:bodyPr vert="horz" wrap="square" lIns="0" tIns="132112" rIns="0" bIns="0" rtlCol="0">
                <a:spAutoFit/>
              </a:bodyPr>
              <a:lstStyle/>
              <a:p>
                <a:pPr marL="284163" marR="5080" indent="-230188" algn="l" rtl="0">
                  <a:lnSpc>
                    <a:spcPts val="1400"/>
                  </a:lnSpc>
                  <a:spcBef>
                    <a:spcPts val="330"/>
                  </a:spcBef>
                  <a:buClr>
                    <a:srgbClr val="0000FF"/>
                  </a:buClr>
                  <a:buFont typeface="Wingdings 3" panose="05040102010807070707" pitchFamily="18" charset="2"/>
                  <a:buChar char=""/>
                </a:pPr>
                <a:r>
                  <a:rPr lang="en-US" kern="1200" spc="10" dirty="0"/>
                  <a:t>For every candidate, we may be able to fix an agenda for that candidate to win in a sequential majority election</a:t>
                </a:r>
              </a:p>
              <a:p>
                <a:pPr marL="284163" indent="-230188" algn="l" rtl="0">
                  <a:lnSpc>
                    <a:spcPts val="1400"/>
                  </a:lnSpc>
                  <a:spcBef>
                    <a:spcPts val="330"/>
                  </a:spcBef>
                  <a:buClr>
                    <a:srgbClr val="0000FF"/>
                  </a:buClr>
                  <a:buFont typeface="Wingdings 3" panose="05040102010807070707" pitchFamily="18" charset="2"/>
                  <a:buChar char=""/>
                </a:pPr>
                <a:r>
                  <a:rPr lang="en-US" kern="1200" spc="10" dirty="0"/>
                  <a:t>Agents/Voters: </a:t>
                </a:r>
                <a14:m>
                  <m:oMath xmlns:m="http://schemas.openxmlformats.org/officeDocument/2006/math">
                    <m:r>
                      <a:rPr lang="en-US" i="1" kern="1200" spc="10" dirty="0" smtClean="0">
                        <a:latin typeface="Cambria Math" panose="02040503050406030204" pitchFamily="18" charset="0"/>
                      </a:rPr>
                      <m:t>𝑁</m:t>
                    </m:r>
                    <m:r>
                      <a:rPr lang="en-US" i="1" kern="1200" spc="10" dirty="0" smtClean="0">
                        <a:latin typeface="Cambria Math" panose="02040503050406030204" pitchFamily="18" charset="0"/>
                      </a:rPr>
                      <m:t>={</m:t>
                    </m:r>
                    <m:r>
                      <a:rPr lang="en-US" i="1" kern="1200" spc="10" dirty="0" smtClean="0">
                        <a:latin typeface="Cambria Math" panose="02040503050406030204" pitchFamily="18" charset="0"/>
                      </a:rPr>
                      <m:t>1</m:t>
                    </m:r>
                    <m:r>
                      <a:rPr lang="en-US" i="1" kern="1200" spc="10" dirty="0" smtClean="0">
                        <a:latin typeface="Cambria Math" panose="02040503050406030204" pitchFamily="18" charset="0"/>
                      </a:rPr>
                      <m:t>, </m:t>
                    </m:r>
                    <m:r>
                      <a:rPr lang="en-US" i="1" kern="1200" spc="10" dirty="0" smtClean="0">
                        <a:latin typeface="Cambria Math" panose="02040503050406030204" pitchFamily="18" charset="0"/>
                      </a:rPr>
                      <m:t>2</m:t>
                    </m:r>
                    <m:r>
                      <a:rPr lang="en-US" i="1" kern="1200" spc="10" dirty="0" smtClean="0">
                        <a:latin typeface="Cambria Math" panose="02040503050406030204" pitchFamily="18" charset="0"/>
                      </a:rPr>
                      <m:t>, </m:t>
                    </m:r>
                    <m:r>
                      <a:rPr lang="en-US" i="1" kern="1200" spc="10" dirty="0" smtClean="0">
                        <a:latin typeface="Cambria Math" panose="02040503050406030204" pitchFamily="18" charset="0"/>
                      </a:rPr>
                      <m:t>3</m:t>
                    </m:r>
                    <m:r>
                      <a:rPr lang="en-US" i="1" kern="1200" spc="10" dirty="0" smtClean="0">
                        <a:latin typeface="Cambria Math" panose="02040503050406030204" pitchFamily="18" charset="0"/>
                      </a:rPr>
                      <m:t>}</m:t>
                    </m:r>
                  </m:oMath>
                </a14:m>
                <a:endParaRPr lang="en-US" kern="1200" spc="10" dirty="0"/>
              </a:p>
              <a:p>
                <a:pPr marL="284163" indent="-230188" algn="l" rtl="0">
                  <a:lnSpc>
                    <a:spcPts val="1400"/>
                  </a:lnSpc>
                  <a:spcBef>
                    <a:spcPts val="330"/>
                  </a:spcBef>
                  <a:buClr>
                    <a:srgbClr val="0000FF"/>
                  </a:buClr>
                  <a:buFont typeface="Wingdings 3" panose="05040102010807070707" pitchFamily="18" charset="2"/>
                  <a:buChar char=""/>
                </a:pPr>
                <a:r>
                  <a:rPr lang="en-US" kern="1200" spc="10" dirty="0"/>
                  <a:t>Outcomes/Candidates: </a:t>
                </a:r>
                <a14:m>
                  <m:oMath xmlns:m="http://schemas.openxmlformats.org/officeDocument/2006/math">
                    <m:r>
                      <a:rPr lang="en-US" i="1" kern="1200" spc="10" dirty="0" smtClean="0">
                        <a:latin typeface="Cambria Math" panose="02040503050406030204" pitchFamily="18" charset="0"/>
                      </a:rPr>
                      <m:t>Ω</m:t>
                    </m:r>
                    <m:r>
                      <a:rPr lang="en-US" i="1" kern="1200" spc="10" dirty="0" smtClean="0">
                        <a:latin typeface="Cambria Math" panose="02040503050406030204" pitchFamily="18" charset="0"/>
                      </a:rPr>
                      <m:t>={</m:t>
                    </m:r>
                    <m:sSub>
                      <m:sSubPr>
                        <m:ctrlPr>
                          <a:rPr lang="en-US" b="0" i="1" kern="1200" spc="10" dirty="0" smtClean="0">
                            <a:latin typeface="Cambria Math" panose="02040503050406030204" pitchFamily="18" charset="0"/>
                          </a:rPr>
                        </m:ctrlPr>
                      </m:sSubPr>
                      <m:e>
                        <m:r>
                          <a:rPr lang="en-US" i="1" kern="1200" spc="10" dirty="0" smtClean="0">
                            <a:latin typeface="Cambria Math" panose="02040503050406030204" pitchFamily="18" charset="0"/>
                          </a:rPr>
                          <m:t>𝜔</m:t>
                        </m:r>
                      </m:e>
                      <m:sub>
                        <m:r>
                          <a:rPr lang="en-US" i="1" kern="1200" spc="10" dirty="0" smtClean="0">
                            <a:latin typeface="Cambria Math" panose="02040503050406030204" pitchFamily="18" charset="0"/>
                          </a:rPr>
                          <m:t>1</m:t>
                        </m:r>
                      </m:sub>
                    </m:sSub>
                    <m:r>
                      <a:rPr lang="en-US" i="1" kern="1200" spc="10" dirty="0" smtClean="0">
                        <a:latin typeface="Cambria Math" panose="02040503050406030204" pitchFamily="18" charset="0"/>
                      </a:rPr>
                      <m:t>, </m:t>
                    </m:r>
                    <m:sSub>
                      <m:sSubPr>
                        <m:ctrlPr>
                          <a:rPr lang="en-MY" b="0" i="1" kern="1200" spc="10" dirty="0" smtClean="0">
                            <a:latin typeface="Cambria Math" panose="02040503050406030204" pitchFamily="18" charset="0"/>
                          </a:rPr>
                        </m:ctrlPr>
                      </m:sSubPr>
                      <m:e>
                        <m:r>
                          <a:rPr lang="en-US" i="1" kern="1200" spc="10" dirty="0" smtClean="0">
                            <a:latin typeface="Cambria Math" panose="02040503050406030204" pitchFamily="18" charset="0"/>
                          </a:rPr>
                          <m:t>𝜔</m:t>
                        </m:r>
                      </m:e>
                      <m:sub>
                        <m:r>
                          <a:rPr lang="en-US" i="1" kern="1200" spc="10" dirty="0" smtClean="0">
                            <a:latin typeface="Cambria Math" panose="02040503050406030204" pitchFamily="18" charset="0"/>
                          </a:rPr>
                          <m:t>2</m:t>
                        </m:r>
                      </m:sub>
                    </m:sSub>
                    <m:r>
                      <a:rPr lang="en-US" i="1" kern="1200" spc="10" dirty="0" smtClean="0">
                        <a:latin typeface="Cambria Math" panose="02040503050406030204" pitchFamily="18" charset="0"/>
                      </a:rPr>
                      <m:t>, </m:t>
                    </m:r>
                    <m:sSub>
                      <m:sSubPr>
                        <m:ctrlPr>
                          <a:rPr lang="en-MY" b="0" i="1" kern="1200" spc="10" dirty="0" smtClean="0">
                            <a:latin typeface="Cambria Math" panose="02040503050406030204" pitchFamily="18" charset="0"/>
                          </a:rPr>
                        </m:ctrlPr>
                      </m:sSubPr>
                      <m:e>
                        <m:r>
                          <a:rPr lang="en-US" i="1" kern="1200" spc="10" dirty="0" smtClean="0">
                            <a:latin typeface="Cambria Math" panose="02040503050406030204" pitchFamily="18" charset="0"/>
                          </a:rPr>
                          <m:t>𝜔</m:t>
                        </m:r>
                      </m:e>
                      <m:sub>
                        <m:r>
                          <a:rPr lang="en-US" i="1" kern="1200" spc="10" dirty="0" smtClean="0">
                            <a:latin typeface="Cambria Math" panose="02040503050406030204" pitchFamily="18" charset="0"/>
                          </a:rPr>
                          <m:t>3</m:t>
                        </m:r>
                      </m:sub>
                    </m:sSub>
                    <m:r>
                      <a:rPr lang="en-US" i="1" kern="1200" spc="10" dirty="0" smtClean="0">
                        <a:latin typeface="Cambria Math" panose="02040503050406030204" pitchFamily="18" charset="0"/>
                      </a:rPr>
                      <m:t>}</m:t>
                    </m:r>
                  </m:oMath>
                </a14:m>
                <a:endParaRPr kern="1200" spc="1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347294" y="766200"/>
                <a:ext cx="3915511" cy="925927"/>
              </a:xfrm>
              <a:prstGeom prst="rect">
                <a:avLst/>
              </a:prstGeom>
              <a:blipFill>
                <a:blip r:embed="rId3"/>
                <a:stretch>
                  <a:fillRect l="-779" r="-3115" b="-7237"/>
                </a:stretch>
              </a:blipFill>
            </p:spPr>
            <p:txBody>
              <a:bodyPr/>
              <a:lstStyle/>
              <a:p>
                <a:r>
                  <a:rPr lang="en-MY">
                    <a:noFill/>
                  </a:rPr>
                  <a:t> </a:t>
                </a:r>
              </a:p>
            </p:txBody>
          </p:sp>
        </mc:Fallback>
      </mc:AlternateContent>
      <p:sp>
        <p:nvSpPr>
          <p:cNvPr id="4" name="object 4"/>
          <p:cNvSpPr txBox="1"/>
          <p:nvPr/>
        </p:nvSpPr>
        <p:spPr>
          <a:xfrm>
            <a:off x="352107" y="1754455"/>
            <a:ext cx="133350" cy="16357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endParaRPr sz="1100" spc="10" dirty="0">
              <a:latin typeface="Tahoma"/>
              <a:cs typeface="Tahoma"/>
            </a:endParaRPr>
          </a:p>
        </p:txBody>
      </p:sp>
      <mc:AlternateContent xmlns:mc="http://schemas.openxmlformats.org/markup-compatibility/2006" xmlns:a14="http://schemas.microsoft.com/office/drawing/2010/main">
        <mc:Choice Requires="a14">
          <p:sp>
            <p:nvSpPr>
              <p:cNvPr id="5" name="object 5"/>
              <p:cNvSpPr txBox="1"/>
              <p:nvPr/>
            </p:nvSpPr>
            <p:spPr>
              <a:xfrm>
                <a:off x="781050" y="1770175"/>
                <a:ext cx="2775166" cy="1255600"/>
              </a:xfrm>
              <a:prstGeom prst="rect">
                <a:avLst/>
              </a:prstGeom>
            </p:spPr>
            <p:txBody>
              <a:bodyPr vert="horz" wrap="square" lIns="0" tIns="0" rIns="0" bIns="0" rtlCol="0">
                <a:spAutoFit/>
              </a:bodyPr>
              <a:lstStyle/>
              <a:p>
                <a:pPr marL="12700" algn="just">
                  <a:lnSpc>
                    <a:spcPts val="1200"/>
                  </a:lnSpc>
                </a:pPr>
                <a14:m>
                  <m:oMath xmlns:m="http://schemas.openxmlformats.org/officeDocument/2006/math">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1</m:t>
                        </m:r>
                      </m:sub>
                    </m:sSub>
                    <m:sSub>
                      <m:sSubPr>
                        <m:ctrlPr>
                          <a:rPr lang="ar-SA" sz="1100" b="0" i="1" spc="10" dirty="0" smtClean="0">
                            <a:latin typeface="Cambria Math" panose="02040503050406030204" pitchFamily="18" charset="0"/>
                            <a:ea typeface="Cambria Math" panose="02040503050406030204" pitchFamily="18" charset="0"/>
                            <a:cs typeface="Tahoma"/>
                          </a:rPr>
                        </m:ctrlPr>
                      </m:sSubPr>
                      <m:e>
                        <m:r>
                          <a:rPr lang="ar-SA" sz="1100" i="1" spc="10" dirty="0" smtClean="0">
                            <a:latin typeface="Cambria Math" panose="02040503050406030204" pitchFamily="18" charset="0"/>
                            <a:ea typeface="Cambria Math" panose="02040503050406030204" pitchFamily="18" charset="0"/>
                            <a:cs typeface="Tahoma"/>
                          </a:rPr>
                          <m:t>≻</m:t>
                        </m:r>
                      </m:e>
                      <m:sub>
                        <m:r>
                          <a:rPr lang="ar-SA" sz="1100" b="0" i="1" spc="10" dirty="0" smtClean="0">
                            <a:latin typeface="Cambria Math" panose="02040503050406030204" pitchFamily="18" charset="0"/>
                            <a:ea typeface="Cambria Math" panose="02040503050406030204" pitchFamily="18" charset="0"/>
                            <a:cs typeface="Tahoma"/>
                          </a:rPr>
                          <m:t>1</m:t>
                        </m:r>
                      </m:sub>
                    </m:sSub>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2</m:t>
                        </m:r>
                      </m:sub>
                    </m:sSub>
                    <m:sSub>
                      <m:sSubPr>
                        <m:ctrlPr>
                          <a:rPr lang="ar-SA" sz="1100" b="0" i="1" spc="10" dirty="0" smtClean="0">
                            <a:latin typeface="Cambria Math" panose="02040503050406030204" pitchFamily="18" charset="0"/>
                            <a:ea typeface="Cambria Math" panose="02040503050406030204" pitchFamily="18" charset="0"/>
                            <a:cs typeface="Tahoma"/>
                          </a:rPr>
                        </m:ctrlPr>
                      </m:sSubPr>
                      <m:e>
                        <m:r>
                          <a:rPr lang="ar-SA" sz="1100" i="1" spc="10" dirty="0" smtClean="0">
                            <a:latin typeface="Cambria Math" panose="02040503050406030204" pitchFamily="18" charset="0"/>
                            <a:ea typeface="Cambria Math" panose="02040503050406030204" pitchFamily="18" charset="0"/>
                            <a:cs typeface="Tahoma"/>
                          </a:rPr>
                          <m:t>≻</m:t>
                        </m:r>
                      </m:e>
                      <m:sub>
                        <m:r>
                          <a:rPr lang="ar-SA" sz="1100" b="0" i="1" spc="10" dirty="0" smtClean="0">
                            <a:latin typeface="Cambria Math" panose="02040503050406030204" pitchFamily="18" charset="0"/>
                            <a:ea typeface="Cambria Math" panose="02040503050406030204" pitchFamily="18" charset="0"/>
                            <a:cs typeface="Tahoma"/>
                          </a:rPr>
                          <m:t>1</m:t>
                        </m:r>
                      </m:sub>
                    </m:sSub>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3</m:t>
                        </m:r>
                      </m:sub>
                    </m:sSub>
                  </m:oMath>
                </a14:m>
                <a:r>
                  <a:rPr lang="ar-SA" sz="1100" b="0" i="1" spc="10" dirty="0">
                    <a:latin typeface="Cambria Math" panose="02040503050406030204" pitchFamily="18" charset="0"/>
                    <a:cs typeface="Tahoma"/>
                  </a:rPr>
                  <a:t> </a:t>
                </a:r>
                <a:br>
                  <a:rPr lang="ar-SA" sz="1100" b="0" i="1" spc="10" dirty="0">
                    <a:latin typeface="Cambria Math" panose="02040503050406030204" pitchFamily="18" charset="0"/>
                    <a:cs typeface="Tahoma"/>
                  </a:rPr>
                </a:br>
                <a14:m>
                  <m:oMath xmlns:m="http://schemas.openxmlformats.org/officeDocument/2006/math">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2</m:t>
                        </m:r>
                      </m:sub>
                    </m:sSub>
                    <m:sSub>
                      <m:sSubPr>
                        <m:ctrlPr>
                          <a:rPr lang="ar-SA" sz="1100" b="0" i="1" spc="10" dirty="0" smtClean="0">
                            <a:latin typeface="Cambria Math" panose="02040503050406030204" pitchFamily="18" charset="0"/>
                            <a:ea typeface="Cambria Math" panose="02040503050406030204" pitchFamily="18" charset="0"/>
                            <a:cs typeface="Tahoma"/>
                          </a:rPr>
                        </m:ctrlPr>
                      </m:sSubPr>
                      <m:e>
                        <m:r>
                          <a:rPr lang="ar-SA" sz="1100" i="1" spc="10" dirty="0" smtClean="0">
                            <a:latin typeface="Cambria Math" panose="02040503050406030204" pitchFamily="18" charset="0"/>
                            <a:ea typeface="Cambria Math" panose="02040503050406030204" pitchFamily="18" charset="0"/>
                            <a:cs typeface="Tahoma"/>
                          </a:rPr>
                          <m:t>≻</m:t>
                        </m:r>
                      </m:e>
                      <m:sub>
                        <m:r>
                          <a:rPr lang="ar-SA" sz="1100" b="0" i="1" spc="10" dirty="0" smtClean="0">
                            <a:latin typeface="Cambria Math" panose="02040503050406030204" pitchFamily="18" charset="0"/>
                            <a:ea typeface="Cambria Math" panose="02040503050406030204" pitchFamily="18" charset="0"/>
                            <a:cs typeface="Tahoma"/>
                          </a:rPr>
                          <m:t>2</m:t>
                        </m:r>
                      </m:sub>
                    </m:sSub>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3</m:t>
                        </m:r>
                      </m:sub>
                    </m:sSub>
                    <m:sSub>
                      <m:sSubPr>
                        <m:ctrlPr>
                          <a:rPr lang="ar-SA" sz="1100" b="0" i="1" spc="10" dirty="0" smtClean="0">
                            <a:latin typeface="Cambria Math" panose="02040503050406030204" pitchFamily="18" charset="0"/>
                            <a:ea typeface="Cambria Math" panose="02040503050406030204" pitchFamily="18" charset="0"/>
                            <a:cs typeface="Tahoma"/>
                          </a:rPr>
                        </m:ctrlPr>
                      </m:sSubPr>
                      <m:e>
                        <m:r>
                          <a:rPr lang="ar-SA" sz="1100" i="1" spc="10" dirty="0" smtClean="0">
                            <a:latin typeface="Cambria Math" panose="02040503050406030204" pitchFamily="18" charset="0"/>
                            <a:ea typeface="Cambria Math" panose="02040503050406030204" pitchFamily="18" charset="0"/>
                            <a:cs typeface="Tahoma"/>
                          </a:rPr>
                          <m:t>≻</m:t>
                        </m:r>
                      </m:e>
                      <m:sub>
                        <m:r>
                          <a:rPr lang="ar-SA" sz="1100" b="0" i="1" spc="10" dirty="0" smtClean="0">
                            <a:latin typeface="Cambria Math" panose="02040503050406030204" pitchFamily="18" charset="0"/>
                            <a:ea typeface="Cambria Math" panose="02040503050406030204" pitchFamily="18" charset="0"/>
                            <a:cs typeface="Tahoma"/>
                          </a:rPr>
                          <m:t>2</m:t>
                        </m:r>
                      </m:sub>
                    </m:sSub>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1</m:t>
                        </m:r>
                      </m:sub>
                    </m:sSub>
                  </m:oMath>
                </a14:m>
                <a:r>
                  <a:rPr lang="ar-SA" sz="1100" b="0" i="1" spc="10" dirty="0">
                    <a:latin typeface="Cambria Math" panose="02040503050406030204" pitchFamily="18" charset="0"/>
                    <a:cs typeface="Tahoma"/>
                  </a:rPr>
                  <a:t> </a:t>
                </a:r>
                <a:br>
                  <a:rPr lang="ar-SA" sz="1100" b="0" i="1" spc="10" dirty="0">
                    <a:latin typeface="Cambria Math" panose="02040503050406030204" pitchFamily="18" charset="0"/>
                    <a:cs typeface="Tahoma"/>
                  </a:rPr>
                </a:br>
                <a14:m>
                  <m:oMath xmlns:m="http://schemas.openxmlformats.org/officeDocument/2006/math">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3</m:t>
                        </m:r>
                      </m:sub>
                    </m:sSub>
                    <m:sSub>
                      <m:sSubPr>
                        <m:ctrlPr>
                          <a:rPr lang="ar-SA" sz="1100" b="0" i="1" spc="10" dirty="0" smtClean="0">
                            <a:latin typeface="Cambria Math" panose="02040503050406030204" pitchFamily="18" charset="0"/>
                            <a:ea typeface="Cambria Math" panose="02040503050406030204" pitchFamily="18" charset="0"/>
                            <a:cs typeface="Tahoma"/>
                          </a:rPr>
                        </m:ctrlPr>
                      </m:sSubPr>
                      <m:e>
                        <m:r>
                          <a:rPr lang="ar-SA" sz="1100" i="1" spc="10" dirty="0" smtClean="0">
                            <a:latin typeface="Cambria Math" panose="02040503050406030204" pitchFamily="18" charset="0"/>
                            <a:ea typeface="Cambria Math" panose="02040503050406030204" pitchFamily="18" charset="0"/>
                            <a:cs typeface="Tahoma"/>
                          </a:rPr>
                          <m:t>≻</m:t>
                        </m:r>
                      </m:e>
                      <m:sub>
                        <m:r>
                          <a:rPr lang="ar-SA" sz="1100" b="0" i="1" spc="10" dirty="0" smtClean="0">
                            <a:latin typeface="Cambria Math" panose="02040503050406030204" pitchFamily="18" charset="0"/>
                            <a:ea typeface="Cambria Math" panose="02040503050406030204" pitchFamily="18" charset="0"/>
                            <a:cs typeface="Tahoma"/>
                          </a:rPr>
                          <m:t>3</m:t>
                        </m:r>
                      </m:sub>
                    </m:sSub>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1</m:t>
                        </m:r>
                      </m:sub>
                    </m:sSub>
                    <m:sSub>
                      <m:sSubPr>
                        <m:ctrlPr>
                          <a:rPr lang="ar-SA" sz="1100" b="0" i="1" spc="10" dirty="0" smtClean="0">
                            <a:latin typeface="Cambria Math" panose="02040503050406030204" pitchFamily="18" charset="0"/>
                            <a:ea typeface="Cambria Math" panose="02040503050406030204" pitchFamily="18" charset="0"/>
                            <a:cs typeface="Tahoma"/>
                          </a:rPr>
                        </m:ctrlPr>
                      </m:sSubPr>
                      <m:e>
                        <m:r>
                          <a:rPr lang="ar-SA" sz="1100" i="1" spc="10" dirty="0" smtClean="0">
                            <a:latin typeface="Cambria Math" panose="02040503050406030204" pitchFamily="18" charset="0"/>
                            <a:ea typeface="Cambria Math" panose="02040503050406030204" pitchFamily="18" charset="0"/>
                            <a:cs typeface="Tahoma"/>
                          </a:rPr>
                          <m:t>≻</m:t>
                        </m:r>
                      </m:e>
                      <m:sub>
                        <m:r>
                          <a:rPr lang="ar-SA" sz="1100" b="0" i="1" spc="10" dirty="0" smtClean="0">
                            <a:latin typeface="Cambria Math" panose="02040503050406030204" pitchFamily="18" charset="0"/>
                            <a:ea typeface="Cambria Math" panose="02040503050406030204" pitchFamily="18" charset="0"/>
                            <a:cs typeface="Tahoma"/>
                          </a:rPr>
                          <m:t>3</m:t>
                        </m:r>
                      </m:sub>
                    </m:sSub>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ar-SA" sz="1100" b="0" i="1" spc="10" dirty="0" smtClean="0">
                            <a:latin typeface="Cambria Math" panose="02040503050406030204" pitchFamily="18" charset="0"/>
                            <a:cs typeface="Tahoma"/>
                          </a:rPr>
                          <m:t>2</m:t>
                        </m:r>
                      </m:sub>
                    </m:sSub>
                  </m:oMath>
                </a14:m>
                <a:r>
                  <a:rPr lang="ar-SA" sz="1100" dirty="0">
                    <a:latin typeface="Times New Roman"/>
                    <a:cs typeface="Times New Roman"/>
                  </a:rPr>
                  <a:t> </a:t>
                </a:r>
                <a:endParaRPr lang="en-US" sz="1100" dirty="0">
                  <a:latin typeface="Times New Roman"/>
                  <a:cs typeface="Times New Roman"/>
                </a:endParaRPr>
              </a:p>
              <a:p>
                <a:pPr marL="12700" algn="just">
                  <a:lnSpc>
                    <a:spcPts val="1200"/>
                  </a:lnSpc>
                </a:pPr>
                <a:endParaRPr lang="ar-SA" sz="1100" dirty="0">
                  <a:latin typeface="Times New Roman"/>
                  <a:cs typeface="Times New Roman"/>
                </a:endParaRPr>
              </a:p>
              <a:p>
                <a:pPr marL="53975" marR="5080">
                  <a:lnSpc>
                    <a:spcPts val="1400"/>
                  </a:lnSpc>
                  <a:spcBef>
                    <a:spcPts val="330"/>
                  </a:spcBef>
                  <a:buClr>
                    <a:srgbClr val="0000FF"/>
                  </a:buClr>
                </a:pPr>
                <a:r>
                  <a:rPr lang="en-MY" sz="1100" spc="10" dirty="0">
                    <a:latin typeface="Tahoma"/>
                    <a:cs typeface="Tahoma"/>
                  </a:rPr>
                  <a:t>Agenda </a:t>
                </a:r>
                <a14:m>
                  <m:oMath xmlns:m="http://schemas.openxmlformats.org/officeDocument/2006/math">
                    <m:d>
                      <m:dPr>
                        <m:begChr m:val="["/>
                        <m:endChr m:val="]"/>
                        <m:ctrlPr>
                          <a:rPr lang="ar-SA" sz="1100" i="1" spc="10" dirty="0">
                            <a:latin typeface="Cambria Math" panose="02040503050406030204" pitchFamily="18" charset="0"/>
                            <a:cs typeface="Tahoma"/>
                          </a:rPr>
                        </m:ctrlPr>
                      </m:dPr>
                      <m:e>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3</m:t>
                            </m:r>
                          </m:sub>
                        </m:sSub>
                        <m:r>
                          <a:rPr lang="en-MY" sz="1100" spc="10" dirty="0">
                            <a:latin typeface="Cambria Math" panose="02040503050406030204" pitchFamily="18" charset="0"/>
                            <a:cs typeface="Tahoma"/>
                          </a:rPr>
                          <m:t>,</m:t>
                        </m:r>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2</m:t>
                            </m:r>
                          </m:sub>
                        </m:sSub>
                        <m:r>
                          <a:rPr lang="en-MY" sz="1100" spc="10" dirty="0">
                            <a:latin typeface="Cambria Math" panose="02040503050406030204" pitchFamily="18" charset="0"/>
                            <a:cs typeface="Tahoma"/>
                          </a:rPr>
                          <m:t>,</m:t>
                        </m:r>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1</m:t>
                            </m:r>
                          </m:sub>
                        </m:sSub>
                      </m:e>
                    </m:d>
                  </m:oMath>
                </a14:m>
                <a:r>
                  <a:rPr lang="en-MY" sz="1100" spc="10" dirty="0">
                    <a:latin typeface="Tahoma"/>
                    <a:cs typeface="Tahoma"/>
                  </a:rPr>
                  <a:t>; then,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1</m:t>
                        </m:r>
                      </m:sub>
                    </m:sSub>
                  </m:oMath>
                </a14:m>
                <a:r>
                  <a:rPr lang="el-GR" sz="1100" spc="10" dirty="0">
                    <a:latin typeface="Tahoma"/>
                    <a:cs typeface="Tahoma"/>
                  </a:rPr>
                  <a:t> </a:t>
                </a:r>
                <a:r>
                  <a:rPr lang="en-MY" sz="1100" spc="10" dirty="0">
                    <a:latin typeface="Tahoma"/>
                    <a:cs typeface="Tahoma"/>
                  </a:rPr>
                  <a:t>wins </a:t>
                </a:r>
              </a:p>
              <a:p>
                <a:pPr marL="53975" marR="5080">
                  <a:lnSpc>
                    <a:spcPts val="1400"/>
                  </a:lnSpc>
                  <a:spcBef>
                    <a:spcPts val="330"/>
                  </a:spcBef>
                  <a:buClr>
                    <a:srgbClr val="0000FF"/>
                  </a:buClr>
                </a:pPr>
                <a:r>
                  <a:rPr lang="en-MY" sz="1100" spc="10" dirty="0">
                    <a:latin typeface="Tahoma"/>
                    <a:cs typeface="Tahoma"/>
                  </a:rPr>
                  <a:t>Agenda </a:t>
                </a:r>
                <a14:m>
                  <m:oMath xmlns:m="http://schemas.openxmlformats.org/officeDocument/2006/math">
                    <m:d>
                      <m:dPr>
                        <m:begChr m:val="["/>
                        <m:endChr m:val="]"/>
                        <m:ctrlPr>
                          <a:rPr lang="ar-SA" sz="1100" i="1" spc="10" dirty="0">
                            <a:latin typeface="Cambria Math" panose="02040503050406030204" pitchFamily="18" charset="0"/>
                            <a:cs typeface="Tahoma"/>
                          </a:rPr>
                        </m:ctrlPr>
                      </m:dPr>
                      <m:e>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1</m:t>
                            </m:r>
                          </m:sub>
                        </m:sSub>
                        <m:r>
                          <a:rPr lang="en-MY" sz="1100" spc="10" dirty="0">
                            <a:latin typeface="Cambria Math" panose="02040503050406030204" pitchFamily="18" charset="0"/>
                            <a:cs typeface="Tahoma"/>
                          </a:rPr>
                          <m:t>,</m:t>
                        </m:r>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3</m:t>
                            </m:r>
                          </m:sub>
                        </m:sSub>
                        <m:r>
                          <a:rPr lang="en-MY" sz="1100" spc="10" dirty="0">
                            <a:latin typeface="Cambria Math" panose="02040503050406030204" pitchFamily="18" charset="0"/>
                            <a:cs typeface="Tahoma"/>
                          </a:rPr>
                          <m:t>,</m:t>
                        </m:r>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2</m:t>
                            </m:r>
                          </m:sub>
                        </m:sSub>
                      </m:e>
                    </m:d>
                  </m:oMath>
                </a14:m>
                <a:r>
                  <a:rPr lang="el-GR" sz="1100" spc="10" dirty="0">
                    <a:latin typeface="Tahoma"/>
                    <a:cs typeface="Tahoma"/>
                  </a:rPr>
                  <a:t>; </a:t>
                </a:r>
                <a:r>
                  <a:rPr lang="en-MY" sz="1100" spc="10" dirty="0">
                    <a:latin typeface="Tahoma"/>
                    <a:cs typeface="Tahoma"/>
                  </a:rPr>
                  <a:t>then,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2</m:t>
                        </m:r>
                      </m:sub>
                    </m:sSub>
                  </m:oMath>
                </a14:m>
                <a:r>
                  <a:rPr lang="el-GR" sz="1100" spc="10" dirty="0">
                    <a:latin typeface="Tahoma"/>
                    <a:cs typeface="Tahoma"/>
                  </a:rPr>
                  <a:t>  </a:t>
                </a:r>
                <a:r>
                  <a:rPr lang="en-MY" sz="1100" spc="10" dirty="0">
                    <a:latin typeface="Tahoma"/>
                    <a:cs typeface="Tahoma"/>
                  </a:rPr>
                  <a:t>wins </a:t>
                </a:r>
              </a:p>
              <a:p>
                <a:pPr marL="53975" marR="5080">
                  <a:lnSpc>
                    <a:spcPts val="1400"/>
                  </a:lnSpc>
                  <a:spcBef>
                    <a:spcPts val="330"/>
                  </a:spcBef>
                  <a:buClr>
                    <a:srgbClr val="0000FF"/>
                  </a:buClr>
                </a:pPr>
                <a:r>
                  <a:rPr lang="en-MY" sz="1100" spc="10" dirty="0">
                    <a:latin typeface="Tahoma"/>
                    <a:cs typeface="Tahoma"/>
                  </a:rPr>
                  <a:t>Agenda </a:t>
                </a:r>
                <a14:m>
                  <m:oMath xmlns:m="http://schemas.openxmlformats.org/officeDocument/2006/math">
                    <m:d>
                      <m:dPr>
                        <m:begChr m:val="["/>
                        <m:endChr m:val="]"/>
                        <m:ctrlPr>
                          <a:rPr lang="ar-SA" sz="1100" i="1" spc="10" dirty="0">
                            <a:latin typeface="Cambria Math" panose="02040503050406030204" pitchFamily="18" charset="0"/>
                            <a:cs typeface="Tahoma"/>
                          </a:rPr>
                        </m:ctrlPr>
                      </m:dPr>
                      <m:e>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2</m:t>
                            </m:r>
                          </m:sub>
                        </m:sSub>
                        <m:r>
                          <a:rPr lang="en-MY" sz="1100" spc="10" dirty="0">
                            <a:latin typeface="Cambria Math" panose="02040503050406030204" pitchFamily="18" charset="0"/>
                            <a:cs typeface="Tahoma"/>
                          </a:rPr>
                          <m:t>,</m:t>
                        </m:r>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1</m:t>
                            </m:r>
                          </m:sub>
                        </m:sSub>
                        <m:r>
                          <a:rPr lang="en-MY" sz="1100" spc="10" dirty="0">
                            <a:latin typeface="Cambria Math" panose="02040503050406030204" pitchFamily="18" charset="0"/>
                            <a:cs typeface="Tahoma"/>
                          </a:rPr>
                          <m:t>,</m:t>
                        </m:r>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3</m:t>
                            </m:r>
                          </m:sub>
                        </m:sSub>
                      </m:e>
                    </m:d>
                  </m:oMath>
                </a14:m>
                <a:r>
                  <a:rPr lang="el-GR" sz="1100" spc="10" dirty="0">
                    <a:latin typeface="Tahoma"/>
                    <a:cs typeface="Tahoma"/>
                  </a:rPr>
                  <a:t>; </a:t>
                </a:r>
                <a:r>
                  <a:rPr lang="en-MY" sz="1100" spc="10" dirty="0">
                    <a:latin typeface="Tahoma"/>
                    <a:cs typeface="Tahoma"/>
                  </a:rPr>
                  <a:t>then, </a:t>
                </a:r>
                <a14:m>
                  <m:oMath xmlns:m="http://schemas.openxmlformats.org/officeDocument/2006/math">
                    <m:sSub>
                      <m:sSubPr>
                        <m:ctrlPr>
                          <a:rPr lang="el-GR" sz="1100" i="1" spc="10" dirty="0">
                            <a:latin typeface="Cambria Math" panose="02040503050406030204" pitchFamily="18" charset="0"/>
                            <a:cs typeface="Tahoma"/>
                          </a:rPr>
                        </m:ctrlPr>
                      </m:sSubPr>
                      <m:e>
                        <m:r>
                          <a:rPr lang="el-GR" sz="1100" spc="10" dirty="0">
                            <a:latin typeface="Cambria Math" panose="02040503050406030204" pitchFamily="18" charset="0"/>
                            <a:cs typeface="Tahoma"/>
                          </a:rPr>
                          <m:t>𝜔</m:t>
                        </m:r>
                      </m:e>
                      <m:sub>
                        <m:r>
                          <a:rPr lang="en-MY" sz="1100" spc="10" dirty="0">
                            <a:latin typeface="Cambria Math" panose="02040503050406030204" pitchFamily="18" charset="0"/>
                            <a:cs typeface="Tahoma"/>
                          </a:rPr>
                          <m:t>3</m:t>
                        </m:r>
                      </m:sub>
                    </m:sSub>
                  </m:oMath>
                </a14:m>
                <a:r>
                  <a:rPr lang="el-GR" sz="1100" spc="10" dirty="0">
                    <a:latin typeface="Tahoma"/>
                    <a:cs typeface="Tahoma"/>
                  </a:rPr>
                  <a:t>  </a:t>
                </a:r>
                <a:r>
                  <a:rPr lang="en-MY" sz="1100" spc="10" dirty="0">
                    <a:latin typeface="Tahoma"/>
                    <a:cs typeface="Tahoma"/>
                  </a:rPr>
                  <a:t>wins</a:t>
                </a:r>
                <a:endParaRPr sz="1100" spc="10" dirty="0">
                  <a:latin typeface="Tahoma"/>
                  <a:cs typeface="Tahoma"/>
                </a:endParaRPr>
              </a:p>
            </p:txBody>
          </p:sp>
        </mc:Choice>
        <mc:Fallback xmlns="">
          <p:sp>
            <p:nvSpPr>
              <p:cNvPr id="5" name="object 5"/>
              <p:cNvSpPr txBox="1">
                <a:spLocks noRot="1" noChangeAspect="1" noMove="1" noResize="1" noEditPoints="1" noAdjustHandles="1" noChangeArrowheads="1" noChangeShapeType="1" noTextEdit="1"/>
              </p:cNvSpPr>
              <p:nvPr/>
            </p:nvSpPr>
            <p:spPr>
              <a:xfrm>
                <a:off x="781050" y="1770175"/>
                <a:ext cx="2775166" cy="1255600"/>
              </a:xfrm>
              <a:prstGeom prst="rect">
                <a:avLst/>
              </a:prstGeom>
              <a:blipFill>
                <a:blip r:embed="rId4"/>
                <a:stretch>
                  <a:fillRect l="-1099" t="-4854" r="-3077" b="-6311"/>
                </a:stretch>
              </a:blipFill>
            </p:spPr>
            <p:txBody>
              <a:bodyPr/>
              <a:lstStyle/>
              <a:p>
                <a:r>
                  <a:rPr lang="en-US">
                    <a:noFill/>
                  </a:rPr>
                  <a:t> </a:t>
                </a:r>
              </a:p>
            </p:txBody>
          </p:sp>
        </mc:Fallback>
      </mc:AlternateContent>
      <p:sp>
        <p:nvSpPr>
          <p:cNvPr id="6" name="Date Placeholder 3">
            <a:extLst>
              <a:ext uri="{FF2B5EF4-FFF2-40B4-BE49-F238E27FC236}">
                <a16:creationId xmlns:a16="http://schemas.microsoft.com/office/drawing/2014/main" id="{1735563D-C61C-4D6A-BEF5-E80A32B37594}"/>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450A1FD3-C78D-4A45-BE83-E7D3C58CEEC8}"/>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F5433A06-D1C3-41EA-9B2E-293CA26BC7D3}"/>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28</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Sensitivi</a:t>
            </a:r>
            <a:r>
              <a:rPr spc="-65" dirty="0"/>
              <a:t>ty</a:t>
            </a:r>
            <a:r>
              <a:rPr spc="30" dirty="0"/>
              <a:t> </a:t>
            </a:r>
            <a:r>
              <a:rPr spc="-15" dirty="0"/>
              <a:t>to</a:t>
            </a:r>
            <a:r>
              <a:rPr spc="30" dirty="0"/>
              <a:t> </a:t>
            </a:r>
            <a:r>
              <a:rPr spc="-70" dirty="0"/>
              <a:t>a</a:t>
            </a:r>
            <a:r>
              <a:rPr spc="30" dirty="0"/>
              <a:t> </a:t>
            </a:r>
            <a:r>
              <a:rPr spc="-50" dirty="0"/>
              <a:t>losing</a:t>
            </a:r>
            <a:r>
              <a:rPr spc="30" dirty="0"/>
              <a:t> </a:t>
            </a:r>
            <a:r>
              <a:rPr spc="-40" dirty="0"/>
              <a:t>candi</a:t>
            </a:r>
            <a:r>
              <a:rPr spc="-55" dirty="0"/>
              <a:t>date</a:t>
            </a:r>
          </a:p>
        </p:txBody>
      </p:sp>
      <p:sp>
        <p:nvSpPr>
          <p:cNvPr id="7" name="object 7"/>
          <p:cNvSpPr/>
          <p:nvPr/>
        </p:nvSpPr>
        <p:spPr>
          <a:xfrm>
            <a:off x="876541" y="1323543"/>
            <a:ext cx="2854960" cy="2057400"/>
          </a:xfrm>
          <a:prstGeom prst="rect">
            <a:avLst/>
          </a:prstGeom>
          <a:blipFill>
            <a:blip r:embed="rId3" cstate="print"/>
            <a:stretch>
              <a:fillRect/>
            </a:stretch>
          </a:blipFill>
        </p:spPr>
        <p:txBody>
          <a:bodyPr wrap="square" lIns="0" tIns="0" rIns="0" bIns="0" rtlCol="0"/>
          <a:lstStyle/>
          <a:p>
            <a:endParaRPr/>
          </a:p>
        </p:txBody>
      </p:sp>
      <p:sp>
        <p:nvSpPr>
          <p:cNvPr id="8" name="Date Placeholder 3">
            <a:extLst>
              <a:ext uri="{FF2B5EF4-FFF2-40B4-BE49-F238E27FC236}">
                <a16:creationId xmlns:a16="http://schemas.microsoft.com/office/drawing/2014/main" id="{97B10602-94A7-4765-8D87-73EA44DEBE7F}"/>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4870344B-EBE3-4F2F-955C-95847F42039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0" name="Slide Number Placeholder 7">
            <a:extLst>
              <a:ext uri="{FF2B5EF4-FFF2-40B4-BE49-F238E27FC236}">
                <a16:creationId xmlns:a16="http://schemas.microsoft.com/office/drawing/2014/main" id="{8D206F6E-AD6C-4192-ACFB-3C7D3E904A1A}"/>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29</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mc:AlternateContent xmlns:mc="http://schemas.openxmlformats.org/markup-compatibility/2006" xmlns:a14="http://schemas.microsoft.com/office/drawing/2010/main">
        <mc:Choice Requires="a14">
          <p:sp>
            <p:nvSpPr>
              <p:cNvPr id="11" name="object 3">
                <a:extLst>
                  <a:ext uri="{FF2B5EF4-FFF2-40B4-BE49-F238E27FC236}">
                    <a16:creationId xmlns:a16="http://schemas.microsoft.com/office/drawing/2014/main" id="{5EF778E2-9D2E-4FFE-A0B2-A2078FEDE347}"/>
                  </a:ext>
                </a:extLst>
              </p:cNvPr>
              <p:cNvSpPr txBox="1"/>
              <p:nvPr/>
            </p:nvSpPr>
            <p:spPr>
              <a:xfrm>
                <a:off x="447356" y="465153"/>
                <a:ext cx="3686494" cy="38157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 </a:t>
                </a:r>
                <a14:m>
                  <m:oMath xmlns:m="http://schemas.openxmlformats.org/officeDocument/2006/math">
                    <m:r>
                      <a:rPr lang="en-MY" sz="1100" i="1" spc="10" dirty="0" smtClean="0">
                        <a:latin typeface="Cambria Math" panose="02040503050406030204" pitchFamily="18" charset="0"/>
                        <a:cs typeface="Tahoma"/>
                      </a:rPr>
                      <m:t>𝑁</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2</m:t>
                    </m:r>
                    <m:r>
                      <a:rPr lang="en-MY" sz="1100" i="1" spc="10" dirty="0" smtClean="0">
                        <a:latin typeface="Cambria Math" panose="02040503050406030204" pitchFamily="18" charset="0"/>
                        <a:cs typeface="Tahoma"/>
                      </a:rPr>
                      <m:t>, </m:t>
                    </m:r>
                    <m:r>
                      <a:rPr lang="en-MY" sz="1100" i="1" spc="10" dirty="0" smtClean="0">
                        <a:latin typeface="Cambria Math" panose="02040503050406030204" pitchFamily="18" charset="0"/>
                        <a:cs typeface="Tahoma"/>
                      </a:rPr>
                      <m:t>3</m:t>
                    </m:r>
                    <m:r>
                      <a:rPr lang="en-MY" sz="1100" i="1" spc="10" dirty="0" smtClean="0">
                        <a:latin typeface="Cambria Math" panose="02040503050406030204" pitchFamily="18" charset="0"/>
                        <a:cs typeface="Tahoma"/>
                      </a:rPr>
                      <m:t>}</m:t>
                    </m:r>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Outcomes/Candidates: </a:t>
                </a:r>
                <a14:m>
                  <m:oMath xmlns:m="http://schemas.openxmlformats.org/officeDocument/2006/math">
                    <m:r>
                      <a:rPr lang="el-GR" sz="1100" i="1" spc="10" dirty="0" smtClean="0">
                        <a:latin typeface="Cambria Math" panose="02040503050406030204" pitchFamily="18" charset="0"/>
                        <a:cs typeface="Tahoma"/>
                      </a:rPr>
                      <m:t>Ω</m:t>
                    </m:r>
                    <m:r>
                      <a:rPr lang="el-GR" sz="1100" i="1" spc="10" dirty="0" smtClean="0">
                        <a:latin typeface="Cambria Math" panose="02040503050406030204" pitchFamily="18" charset="0"/>
                        <a:cs typeface="Tahoma"/>
                      </a:rPr>
                      <m:t>={</m:t>
                    </m:r>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1</m:t>
                        </m:r>
                      </m:sub>
                    </m:sSub>
                    <m:r>
                      <a:rPr lang="el-GR"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2</m:t>
                        </m:r>
                      </m:sub>
                    </m:sSub>
                    <m:r>
                      <a:rPr lang="el-GR"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3</m:t>
                        </m:r>
                      </m:sub>
                    </m:sSub>
                    <m:r>
                      <a:rPr lang="el-GR"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4</m:t>
                        </m:r>
                      </m:sub>
                    </m:sSub>
                    <m:r>
                      <a:rPr lang="el-GR" sz="1100" i="1" spc="10" dirty="0" smtClean="0">
                        <a:latin typeface="Cambria Math" panose="02040503050406030204" pitchFamily="18" charset="0"/>
                        <a:cs typeface="Tahoma"/>
                      </a:rPr>
                      <m:t>}</m:t>
                    </m:r>
                  </m:oMath>
                </a14:m>
                <a:endParaRPr lang="el-GR" sz="1100" spc="10" dirty="0">
                  <a:latin typeface="Tahoma"/>
                  <a:cs typeface="Tahoma"/>
                </a:endParaRPr>
              </a:p>
            </p:txBody>
          </p:sp>
        </mc:Choice>
        <mc:Fallback xmlns="">
          <p:sp>
            <p:nvSpPr>
              <p:cNvPr id="11" name="object 3">
                <a:extLst>
                  <a:ext uri="{FF2B5EF4-FFF2-40B4-BE49-F238E27FC236}">
                    <a16:creationId xmlns:a16="http://schemas.microsoft.com/office/drawing/2014/main" id="{5EF778E2-9D2E-4FFE-A0B2-A2078FEDE347}"/>
                  </a:ext>
                </a:extLst>
              </p:cNvPr>
              <p:cNvSpPr txBox="1">
                <a:spLocks noRot="1" noChangeAspect="1" noMove="1" noResize="1" noEditPoints="1" noAdjustHandles="1" noChangeArrowheads="1" noChangeShapeType="1" noTextEdit="1"/>
              </p:cNvSpPr>
              <p:nvPr/>
            </p:nvSpPr>
            <p:spPr>
              <a:xfrm>
                <a:off x="447356" y="465153"/>
                <a:ext cx="3686494" cy="381579"/>
              </a:xfrm>
              <a:prstGeom prst="rect">
                <a:avLst/>
              </a:prstGeom>
              <a:blipFill>
                <a:blip r:embed="rId4"/>
                <a:stretch>
                  <a:fillRect l="-661" t="-12698" b="-22222"/>
                </a:stretch>
              </a:blipFill>
            </p:spPr>
            <p:txBody>
              <a:bodyPr/>
              <a:lstStyle/>
              <a:p>
                <a:r>
                  <a:rPr lang="en-MY">
                    <a:noFill/>
                  </a:rPr>
                  <a:t> </a:t>
                </a:r>
              </a:p>
            </p:txBody>
          </p:sp>
        </mc:Fallback>
      </mc:AlternateContent>
      <p:sp>
        <p:nvSpPr>
          <p:cNvPr id="12" name="object 5">
            <a:extLst>
              <a:ext uri="{FF2B5EF4-FFF2-40B4-BE49-F238E27FC236}">
                <a16:creationId xmlns:a16="http://schemas.microsoft.com/office/drawing/2014/main" id="{44F00EC8-498B-42A0-B847-B0A9A796927A}"/>
              </a:ext>
            </a:extLst>
          </p:cNvPr>
          <p:cNvSpPr txBox="1"/>
          <p:nvPr/>
        </p:nvSpPr>
        <p:spPr>
          <a:xfrm>
            <a:off x="447357" y="893704"/>
            <a:ext cx="133350" cy="16357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 </a:t>
            </a:r>
            <a:endParaRPr sz="1100" spc="10" dirty="0">
              <a:latin typeface="Tahoma"/>
              <a:cs typeface="Tahoma"/>
            </a:endParaRPr>
          </a:p>
        </p:txBody>
      </p:sp>
      <mc:AlternateContent xmlns:mc="http://schemas.openxmlformats.org/markup-compatibility/2006" xmlns:a14="http://schemas.microsoft.com/office/drawing/2010/main">
        <mc:Choice Requires="a14">
          <p:sp>
            <p:nvSpPr>
              <p:cNvPr id="13" name="object 6">
                <a:extLst>
                  <a:ext uri="{FF2B5EF4-FFF2-40B4-BE49-F238E27FC236}">
                    <a16:creationId xmlns:a16="http://schemas.microsoft.com/office/drawing/2014/main" id="{09111BAE-F8D4-402C-88C7-0852164D09E2}"/>
                  </a:ext>
                </a:extLst>
              </p:cNvPr>
              <p:cNvSpPr txBox="1"/>
              <p:nvPr/>
            </p:nvSpPr>
            <p:spPr>
              <a:xfrm>
                <a:off x="901484" y="868274"/>
                <a:ext cx="1479766" cy="461665"/>
              </a:xfrm>
              <a:prstGeom prst="rect">
                <a:avLst/>
              </a:prstGeom>
            </p:spPr>
            <p:txBody>
              <a:bodyPr vert="horz" wrap="square" lIns="0" tIns="0" rIns="0" bIns="0" rtlCol="0">
                <a:spAutoFit/>
              </a:bodyPr>
              <a:lstStyle/>
              <a:p>
                <a:pPr marL="12700">
                  <a:lnSpc>
                    <a:spcPts val="1200"/>
                  </a:lnSpc>
                </a:pPr>
                <a14:m>
                  <m:oMathPara xmlns:m="http://schemas.openxmlformats.org/officeDocument/2006/math">
                    <m:oMathParaPr>
                      <m:jc m:val="centerGroup"/>
                    </m:oMathParaPr>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4</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1</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1</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1</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1</m:t>
                          </m:r>
                        </m:sub>
                      </m:sSub>
                    </m:oMath>
                  </m:oMathPara>
                </a14:m>
                <a:endParaRPr lang="en-MY" sz="1100" baseline="-11904" dirty="0">
                  <a:latin typeface="Lucida Sans Unicode"/>
                  <a:cs typeface="Lucida Sans Unicode"/>
                </a:endParaRPr>
              </a:p>
              <a:p>
                <a:pPr marL="12700">
                  <a:lnSpc>
                    <a:spcPts val="1200"/>
                  </a:lnSpc>
                </a:pPr>
                <a14:m>
                  <m:oMathPara xmlns:m="http://schemas.openxmlformats.org/officeDocument/2006/math">
                    <m:oMathParaPr>
                      <m:jc m:val="centerGroup"/>
                    </m:oMathParaPr>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1</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2</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4</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2</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2</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oMath>
                  </m:oMathPara>
                </a14:m>
                <a:endParaRPr lang="en-MY" sz="1100" baseline="-11904" dirty="0">
                  <a:latin typeface="Lucida Sans Unicode"/>
                  <a:cs typeface="Lucida Sans Unicode"/>
                </a:endParaRPr>
              </a:p>
              <a:p>
                <a:pPr marL="12700">
                  <a:lnSpc>
                    <a:spcPts val="1200"/>
                  </a:lnSpc>
                </a:pPr>
                <a14:m>
                  <m:oMathPara xmlns:m="http://schemas.openxmlformats.org/officeDocument/2006/math">
                    <m:oMathParaPr>
                      <m:jc m:val="centerGroup"/>
                    </m:oMathParaPr>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2</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3</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3</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3</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1</m:t>
                          </m:r>
                        </m:sub>
                      </m:sSub>
                      <m:sSub>
                        <m:sSubPr>
                          <m:ctrlPr>
                            <a:rPr lang="en-MY" sz="1100" b="0" i="1" spc="10" dirty="0" smtClean="0">
                              <a:latin typeface="Cambria Math" panose="02040503050406030204" pitchFamily="18" charset="0"/>
                              <a:ea typeface="Cambria Math" panose="02040503050406030204" pitchFamily="18" charset="0"/>
                              <a:cs typeface="Tahoma"/>
                            </a:rPr>
                          </m:ctrlPr>
                        </m:sSubPr>
                        <m:e>
                          <m:r>
                            <a:rPr lang="el-GR" sz="1100" i="1" spc="10" dirty="0" smtClean="0">
                              <a:latin typeface="Cambria Math" panose="02040503050406030204" pitchFamily="18" charset="0"/>
                              <a:ea typeface="Cambria Math" panose="02040503050406030204" pitchFamily="18" charset="0"/>
                              <a:cs typeface="Tahoma"/>
                            </a:rPr>
                            <m:t>≻</m:t>
                          </m:r>
                        </m:e>
                        <m:sub>
                          <m:r>
                            <a:rPr lang="en-MY" sz="1100" b="0" i="1" spc="10" dirty="0" smtClean="0">
                              <a:latin typeface="Cambria Math" panose="02040503050406030204" pitchFamily="18" charset="0"/>
                              <a:ea typeface="Cambria Math" panose="02040503050406030204" pitchFamily="18" charset="0"/>
                              <a:cs typeface="Tahoma"/>
                            </a:rPr>
                            <m:t>3</m:t>
                          </m:r>
                        </m:sub>
                      </m:sSub>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4</m:t>
                          </m:r>
                        </m:sub>
                      </m:sSub>
                    </m:oMath>
                  </m:oMathPara>
                </a14:m>
                <a:endParaRPr sz="1100" baseline="-11904" dirty="0">
                  <a:latin typeface="Lucida Sans Unicode"/>
                  <a:cs typeface="Lucida Sans Unicode"/>
                </a:endParaRPr>
              </a:p>
            </p:txBody>
          </p:sp>
        </mc:Choice>
        <mc:Fallback xmlns="">
          <p:sp>
            <p:nvSpPr>
              <p:cNvPr id="13" name="object 6">
                <a:extLst>
                  <a:ext uri="{FF2B5EF4-FFF2-40B4-BE49-F238E27FC236}">
                    <a16:creationId xmlns:a16="http://schemas.microsoft.com/office/drawing/2014/main" id="{09111BAE-F8D4-402C-88C7-0852164D09E2}"/>
                  </a:ext>
                </a:extLst>
              </p:cNvPr>
              <p:cNvSpPr txBox="1">
                <a:spLocks noRot="1" noChangeAspect="1" noMove="1" noResize="1" noEditPoints="1" noAdjustHandles="1" noChangeArrowheads="1" noChangeShapeType="1" noTextEdit="1"/>
              </p:cNvSpPr>
              <p:nvPr/>
            </p:nvSpPr>
            <p:spPr>
              <a:xfrm>
                <a:off x="901484" y="868274"/>
                <a:ext cx="1479766" cy="461665"/>
              </a:xfrm>
              <a:prstGeom prst="rect">
                <a:avLst/>
              </a:prstGeom>
              <a:blipFill>
                <a:blip r:embed="rId5"/>
                <a:stretch>
                  <a:fillRect l="-412" b="-6579"/>
                </a:stretch>
              </a:blipFill>
            </p:spPr>
            <p:txBody>
              <a:bodyPr/>
              <a:lstStyle/>
              <a:p>
                <a:r>
                  <a:rPr lang="en-MY">
                    <a:noFill/>
                  </a:rPr>
                  <a:t> </a:t>
                </a:r>
              </a:p>
            </p:txBody>
          </p:sp>
        </mc:Fallback>
      </mc:AlternateContent>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75" dirty="0"/>
              <a:t>P</a:t>
            </a:r>
            <a:r>
              <a:rPr spc="-110" dirty="0"/>
              <a:t>a</a:t>
            </a:r>
            <a:r>
              <a:rPr spc="-45" dirty="0"/>
              <a:t>reto</a:t>
            </a:r>
            <a:r>
              <a:rPr spc="25" dirty="0"/>
              <a:t> </a:t>
            </a:r>
            <a:r>
              <a:rPr spc="-50" dirty="0"/>
              <a:t>efficiency</a:t>
            </a:r>
            <a:r>
              <a:rPr spc="30" dirty="0"/>
              <a:t> </a:t>
            </a:r>
            <a:r>
              <a:rPr spc="110" dirty="0"/>
              <a:t>&amp;</a:t>
            </a:r>
            <a:r>
              <a:rPr spc="30" dirty="0"/>
              <a:t> </a:t>
            </a:r>
            <a:r>
              <a:rPr spc="-60" dirty="0"/>
              <a:t>inde</a:t>
            </a:r>
            <a:r>
              <a:rPr spc="-35" dirty="0"/>
              <a:t>p</a:t>
            </a:r>
            <a:r>
              <a:rPr spc="-85" dirty="0"/>
              <a:t>endence</a:t>
            </a:r>
            <a:r>
              <a:rPr spc="30" dirty="0"/>
              <a:t> </a:t>
            </a:r>
            <a:r>
              <a:rPr spc="-45" dirty="0"/>
              <a:t>of</a:t>
            </a:r>
            <a:r>
              <a:rPr spc="30" dirty="0"/>
              <a:t> </a:t>
            </a:r>
            <a:r>
              <a:rPr spc="-45" dirty="0"/>
              <a:t>irre</a:t>
            </a:r>
            <a:r>
              <a:rPr spc="5" dirty="0"/>
              <a:t>l</a:t>
            </a:r>
            <a:r>
              <a:rPr spc="-125" dirty="0"/>
              <a:t>e</a:t>
            </a:r>
            <a:r>
              <a:rPr spc="-65" dirty="0"/>
              <a:t>va</a:t>
            </a:r>
            <a:r>
              <a:rPr spc="-15" dirty="0"/>
              <a:t>nt</a:t>
            </a:r>
            <a:r>
              <a:rPr spc="30" dirty="0"/>
              <a:t> </a:t>
            </a:r>
            <a:r>
              <a:rPr spc="-45" dirty="0"/>
              <a:t>alternatives</a:t>
            </a:r>
          </a:p>
        </p:txBody>
      </p:sp>
      <mc:AlternateContent xmlns:mc="http://schemas.openxmlformats.org/markup-compatibility/2006" xmlns:a14="http://schemas.microsoft.com/office/drawing/2010/main">
        <mc:Choice Requires="a14">
          <p:sp>
            <p:nvSpPr>
              <p:cNvPr id="3" name="object 3"/>
              <p:cNvSpPr txBox="1"/>
              <p:nvPr/>
            </p:nvSpPr>
            <p:spPr>
              <a:xfrm>
                <a:off x="447357" y="1031738"/>
                <a:ext cx="3813810" cy="1542858"/>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b="1" spc="10" dirty="0">
                    <a:latin typeface="Tahoma"/>
                    <a:cs typeface="Tahoma"/>
                  </a:rPr>
                  <a:t>Pareto efficiency:</a:t>
                </a:r>
                <a:br>
                  <a:rPr lang="en-MY" sz="100" i="1" spc="10" dirty="0">
                    <a:latin typeface="Tahoma"/>
                    <a:cs typeface="Tahoma"/>
                  </a:rPr>
                </a:br>
                <a:r>
                  <a:rPr lang="en-MY" sz="1100" spc="-65" dirty="0">
                    <a:latin typeface="Tahoma"/>
                    <a:cs typeface="Tahoma"/>
                  </a:rPr>
                  <a:t>If</a:t>
                </a:r>
                <a:r>
                  <a:rPr lang="en-MY" sz="1100" spc="15" dirty="0">
                    <a:latin typeface="Tahoma"/>
                    <a:cs typeface="Tahoma"/>
                  </a:rPr>
                  <a:t> </a:t>
                </a:r>
                <a:r>
                  <a:rPr lang="en-MY" sz="1100" spc="-65" dirty="0">
                    <a:latin typeface="Tahoma"/>
                    <a:cs typeface="Tahoma"/>
                  </a:rPr>
                  <a:t>ever</a:t>
                </a:r>
                <a:r>
                  <a:rPr lang="en-MY" sz="1100" spc="-100" dirty="0">
                    <a:latin typeface="Tahoma"/>
                    <a:cs typeface="Tahoma"/>
                  </a:rPr>
                  <a:t>y</a:t>
                </a:r>
                <a:r>
                  <a:rPr lang="en-MY" sz="1100" spc="-55" dirty="0">
                    <a:latin typeface="Tahoma"/>
                    <a:cs typeface="Tahoma"/>
                  </a:rPr>
                  <a:t>o</a:t>
                </a:r>
                <a:r>
                  <a:rPr lang="en-MY" sz="1100" spc="-65" dirty="0">
                    <a:latin typeface="Tahoma"/>
                    <a:cs typeface="Tahoma"/>
                  </a:rPr>
                  <a:t>n</a:t>
                </a:r>
                <a:r>
                  <a:rPr lang="en-MY" sz="1100" spc="-100" dirty="0">
                    <a:latin typeface="Tahoma"/>
                    <a:cs typeface="Tahoma"/>
                  </a:rPr>
                  <a:t>e</a:t>
                </a:r>
                <a:r>
                  <a:rPr lang="en-MY" sz="1100" spc="15" dirty="0">
                    <a:latin typeface="Tahoma"/>
                    <a:cs typeface="Tahoma"/>
                  </a:rPr>
                  <a:t> </a:t>
                </a:r>
                <a:r>
                  <a:rPr lang="en-MY" sz="1100" spc="-80" dirty="0">
                    <a:latin typeface="Tahoma"/>
                    <a:cs typeface="Tahoma"/>
                  </a:rPr>
                  <a:t>p</a:t>
                </a:r>
                <a:r>
                  <a:rPr lang="en-MY" sz="1100" spc="-60" dirty="0">
                    <a:latin typeface="Tahoma"/>
                    <a:cs typeface="Tahoma"/>
                  </a:rPr>
                  <a:t>refers</a:t>
                </a:r>
                <a:r>
                  <a:rPr lang="en-MY" sz="1100" spc="15" dirty="0">
                    <a:latin typeface="Tahoma"/>
                    <a:cs typeface="Tahoma"/>
                  </a:rPr>
                  <a:t> </a:t>
                </a:r>
                <a14:m>
                  <m:oMath xmlns:m="http://schemas.openxmlformats.org/officeDocument/2006/math">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𝑖</m:t>
                        </m:r>
                      </m:sub>
                    </m:sSub>
                  </m:oMath>
                </a14:m>
                <a:r>
                  <a:rPr lang="ar-SA" sz="1200" i="1" spc="60" baseline="-10416" dirty="0">
                    <a:latin typeface="Arial"/>
                    <a:cs typeface="Arial"/>
                  </a:rPr>
                  <a:t> </a:t>
                </a:r>
                <a:r>
                  <a:rPr lang="en-MY" sz="1100" spc="-60" dirty="0">
                    <a:latin typeface="Tahoma"/>
                    <a:cs typeface="Tahoma"/>
                  </a:rPr>
                  <a:t>over</a:t>
                </a:r>
                <a:r>
                  <a:rPr lang="en-MY" sz="1100" spc="15" dirty="0">
                    <a:latin typeface="Tahoma"/>
                    <a:cs typeface="Tahoma"/>
                  </a:rPr>
                  <a:t> </a:t>
                </a:r>
                <a14:m>
                  <m:oMath xmlns:m="http://schemas.openxmlformats.org/officeDocument/2006/math">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𝑗</m:t>
                        </m:r>
                      </m:sub>
                    </m:sSub>
                  </m:oMath>
                </a14:m>
                <a:r>
                  <a:rPr lang="ar-SA" sz="1100" spc="-35" dirty="0">
                    <a:latin typeface="Tahoma"/>
                    <a:cs typeface="Tahoma"/>
                  </a:rPr>
                  <a:t>,</a:t>
                </a:r>
                <a:r>
                  <a:rPr lang="ar-SA" sz="1100" spc="15" dirty="0">
                    <a:latin typeface="Tahoma"/>
                    <a:cs typeface="Tahoma"/>
                  </a:rPr>
                  <a:t> </a:t>
                </a:r>
                <a:r>
                  <a:rPr lang="en-MY" sz="1100" spc="-45" dirty="0">
                    <a:latin typeface="Tahoma"/>
                    <a:cs typeface="Tahoma"/>
                  </a:rPr>
                  <a:t>then</a:t>
                </a:r>
                <a:r>
                  <a:rPr lang="en-MY" sz="1100" spc="15" dirty="0">
                    <a:latin typeface="Tahoma"/>
                    <a:cs typeface="Tahoma"/>
                  </a:rPr>
                  <a:t> </a:t>
                </a:r>
                <a14:m>
                  <m:oMath xmlns:m="http://schemas.openxmlformats.org/officeDocument/2006/math">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𝑖</m:t>
                        </m:r>
                      </m:sub>
                    </m:sSub>
                  </m:oMath>
                </a14:m>
                <a:r>
                  <a:rPr lang="ar-SA" sz="1200" i="1" spc="60" baseline="-10416" dirty="0">
                    <a:latin typeface="Arial"/>
                    <a:cs typeface="Arial"/>
                  </a:rPr>
                  <a:t> </a:t>
                </a:r>
                <a:r>
                  <a:rPr lang="en-MY" sz="1100" spc="-50" dirty="0">
                    <a:latin typeface="Tahoma"/>
                    <a:cs typeface="Tahoma"/>
                  </a:rPr>
                  <a:t>should</a:t>
                </a:r>
                <a:r>
                  <a:rPr lang="en-MY" sz="1100" spc="15" dirty="0">
                    <a:latin typeface="Tahoma"/>
                    <a:cs typeface="Tahoma"/>
                  </a:rPr>
                  <a:t> </a:t>
                </a:r>
                <a:r>
                  <a:rPr lang="en-MY" sz="1100" spc="-20" dirty="0">
                    <a:latin typeface="Tahoma"/>
                    <a:cs typeface="Tahoma"/>
                  </a:rPr>
                  <a:t>b</a:t>
                </a:r>
                <a:r>
                  <a:rPr lang="en-MY" sz="1100" spc="-100" dirty="0">
                    <a:latin typeface="Tahoma"/>
                    <a:cs typeface="Tahoma"/>
                  </a:rPr>
                  <a:t>e</a:t>
                </a:r>
                <a:r>
                  <a:rPr lang="en-MY" sz="1100" spc="15" dirty="0">
                    <a:latin typeface="Tahoma"/>
                    <a:cs typeface="Tahoma"/>
                  </a:rPr>
                  <a:t> </a:t>
                </a:r>
                <a:r>
                  <a:rPr lang="en-MY" sz="1100" spc="-40" dirty="0">
                    <a:latin typeface="Tahoma"/>
                    <a:cs typeface="Tahoma"/>
                  </a:rPr>
                  <a:t>ran</a:t>
                </a:r>
                <a:r>
                  <a:rPr lang="en-MY" sz="1100" spc="-70" dirty="0">
                    <a:latin typeface="Tahoma"/>
                    <a:cs typeface="Tahoma"/>
                  </a:rPr>
                  <a:t>k</a:t>
                </a:r>
                <a:r>
                  <a:rPr lang="en-MY" sz="1100" spc="-100" dirty="0">
                    <a:latin typeface="Tahoma"/>
                    <a:cs typeface="Tahoma"/>
                  </a:rPr>
                  <a:t>e</a:t>
                </a:r>
                <a:r>
                  <a:rPr lang="en-MY" sz="1100" spc="-50" dirty="0">
                    <a:latin typeface="Tahoma"/>
                    <a:cs typeface="Tahoma"/>
                  </a:rPr>
                  <a:t>d</a:t>
                </a:r>
                <a:r>
                  <a:rPr lang="en-MY" sz="1100" spc="15" dirty="0">
                    <a:latin typeface="Tahoma"/>
                    <a:cs typeface="Tahoma"/>
                  </a:rPr>
                  <a:t> </a:t>
                </a:r>
                <a:r>
                  <a:rPr lang="en-MY" sz="1100" spc="-55" dirty="0">
                    <a:latin typeface="Tahoma"/>
                    <a:cs typeface="Tahoma"/>
                  </a:rPr>
                  <a:t>a</a:t>
                </a:r>
                <a:r>
                  <a:rPr lang="en-MY" sz="1100" spc="-25" dirty="0">
                    <a:latin typeface="Tahoma"/>
                    <a:cs typeface="Tahoma"/>
                  </a:rPr>
                  <a:t>b</a:t>
                </a:r>
                <a:r>
                  <a:rPr lang="en-MY" sz="1100" spc="-55" dirty="0">
                    <a:latin typeface="Tahoma"/>
                    <a:cs typeface="Tahoma"/>
                  </a:rPr>
                  <a:t>ov</a:t>
                </a:r>
                <a:r>
                  <a:rPr lang="en-MY" sz="1100" spc="-100" dirty="0">
                    <a:latin typeface="Tahoma"/>
                    <a:cs typeface="Tahoma"/>
                  </a:rPr>
                  <a:t>e </a:t>
                </a:r>
                <a14:m>
                  <m:oMath xmlns:m="http://schemas.openxmlformats.org/officeDocument/2006/math">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𝑗</m:t>
                        </m:r>
                      </m:sub>
                    </m:sSub>
                  </m:oMath>
                </a14:m>
                <a:r>
                  <a:rPr lang="ar-SA" sz="1200" i="1" spc="67" baseline="-10416" dirty="0">
                    <a:latin typeface="Arial"/>
                    <a:cs typeface="Arial"/>
                  </a:rPr>
                  <a:t> </a:t>
                </a:r>
                <a:r>
                  <a:rPr lang="en-MY" sz="1100" spc="-25" dirty="0">
                    <a:latin typeface="Tahoma"/>
                    <a:cs typeface="Tahoma"/>
                  </a:rPr>
                  <a:t>in</a:t>
                </a:r>
                <a:r>
                  <a:rPr lang="en-MY" sz="1100" spc="15" dirty="0">
                    <a:latin typeface="Tahoma"/>
                    <a:cs typeface="Tahoma"/>
                  </a:rPr>
                  <a:t> </a:t>
                </a:r>
                <a:r>
                  <a:rPr lang="en-MY" sz="1100" spc="-45" dirty="0">
                    <a:latin typeface="Tahoma"/>
                    <a:cs typeface="Tahoma"/>
                  </a:rPr>
                  <a:t>the</a:t>
                </a:r>
                <a:r>
                  <a:rPr lang="en-MY" sz="1100" spc="20" dirty="0">
                    <a:latin typeface="Tahoma"/>
                    <a:cs typeface="Tahoma"/>
                  </a:rPr>
                  <a:t> </a:t>
                </a:r>
                <a:r>
                  <a:rPr lang="en-MY" sz="1100" spc="-60" dirty="0">
                    <a:latin typeface="Tahoma"/>
                    <a:cs typeface="Tahoma"/>
                  </a:rPr>
                  <a:t>s</a:t>
                </a:r>
                <a:r>
                  <a:rPr lang="en-MY" sz="1100" spc="-50" dirty="0">
                    <a:latin typeface="Tahoma"/>
                    <a:cs typeface="Tahoma"/>
                  </a:rPr>
                  <a:t>o</a:t>
                </a:r>
                <a:r>
                  <a:rPr lang="en-MY" sz="1100" spc="-30" dirty="0">
                    <a:latin typeface="Tahoma"/>
                    <a:cs typeface="Tahoma"/>
                  </a:rPr>
                  <a:t>c</a:t>
                </a:r>
                <a:r>
                  <a:rPr lang="en-MY" sz="1100" dirty="0">
                    <a:latin typeface="Tahoma"/>
                    <a:cs typeface="Tahoma"/>
                  </a:rPr>
                  <a:t>i</a:t>
                </a:r>
                <a:r>
                  <a:rPr lang="en-MY" sz="1100" spc="-25" dirty="0">
                    <a:latin typeface="Tahoma"/>
                    <a:cs typeface="Tahoma"/>
                  </a:rPr>
                  <a:t>al</a:t>
                </a:r>
                <a:r>
                  <a:rPr lang="en-MY" sz="1100" spc="20" dirty="0">
                    <a:latin typeface="Tahoma"/>
                    <a:cs typeface="Tahoma"/>
                  </a:rPr>
                  <a:t> </a:t>
                </a:r>
                <a:r>
                  <a:rPr lang="en-MY" sz="1100" spc="-110" dirty="0">
                    <a:latin typeface="Tahoma"/>
                    <a:cs typeface="Tahoma"/>
                  </a:rPr>
                  <a:t>w</a:t>
                </a:r>
                <a:r>
                  <a:rPr lang="en-MY" sz="1100" spc="-40" dirty="0">
                    <a:latin typeface="Tahoma"/>
                    <a:cs typeface="Tahoma"/>
                  </a:rPr>
                  <a:t>elf</a:t>
                </a:r>
                <a:r>
                  <a:rPr lang="en-MY" sz="1100" spc="-85" dirty="0">
                    <a:latin typeface="Tahoma"/>
                    <a:cs typeface="Tahoma"/>
                  </a:rPr>
                  <a:t>a</a:t>
                </a:r>
                <a:r>
                  <a:rPr lang="en-MY" sz="1100" spc="-65" dirty="0">
                    <a:latin typeface="Tahoma"/>
                    <a:cs typeface="Tahoma"/>
                  </a:rPr>
                  <a:t>re</a:t>
                </a:r>
                <a:r>
                  <a:rPr lang="en-MY" sz="1100" spc="20" dirty="0">
                    <a:latin typeface="Tahoma"/>
                    <a:cs typeface="Tahoma"/>
                  </a:rPr>
                  <a:t> </a:t>
                </a:r>
                <a:r>
                  <a:rPr lang="en-MY" sz="1100" spc="-50" dirty="0">
                    <a:latin typeface="Tahoma"/>
                    <a:cs typeface="Tahoma"/>
                  </a:rPr>
                  <a:t>outcome</a:t>
                </a:r>
                <a:r>
                  <a:rPr lang="en-MY" sz="1100" spc="20" dirty="0">
                    <a:latin typeface="Tahoma"/>
                    <a:cs typeface="Tahoma"/>
                  </a:rPr>
                  <a:t> </a:t>
                </a:r>
                <a14:m>
                  <m:oMath xmlns:m="http://schemas.openxmlformats.org/officeDocument/2006/math">
                    <m:sSup>
                      <m:sSupPr>
                        <m:ctrlPr>
                          <a:rPr lang="en-MY" sz="1100" b="0" i="1" spc="20" smtClean="0">
                            <a:latin typeface="Cambria Math" panose="02040503050406030204" pitchFamily="18" charset="0"/>
                            <a:ea typeface="Cambria Math" panose="02040503050406030204" pitchFamily="18" charset="0"/>
                            <a:cs typeface="Tahoma"/>
                          </a:rPr>
                        </m:ctrlPr>
                      </m:sSupPr>
                      <m:e>
                        <m:r>
                          <a:rPr lang="en-MY" sz="1100" i="1" spc="20" smtClean="0">
                            <a:latin typeface="Cambria Math" panose="02040503050406030204" pitchFamily="18" charset="0"/>
                            <a:ea typeface="Cambria Math" panose="02040503050406030204" pitchFamily="18" charset="0"/>
                            <a:cs typeface="Tahoma"/>
                          </a:rPr>
                          <m:t>≻</m:t>
                        </m:r>
                      </m:e>
                      <m:sup>
                        <m:r>
                          <a:rPr lang="en-MY" sz="1100" b="0" i="1" spc="20" smtClean="0">
                            <a:latin typeface="Cambria Math" panose="02040503050406030204" pitchFamily="18" charset="0"/>
                            <a:ea typeface="Cambria Math" panose="02040503050406030204" pitchFamily="18" charset="0"/>
                            <a:cs typeface="Tahoma"/>
                          </a:rPr>
                          <m:t>∗</m:t>
                        </m:r>
                      </m:sup>
                    </m:sSup>
                  </m:oMath>
                </a14:m>
                <a:r>
                  <a:rPr lang="en-MY" sz="1100" spc="-35" dirty="0">
                    <a:latin typeface="Tahoma"/>
                    <a:cs typeface="Tahoma"/>
                  </a:rPr>
                  <a:t>,</a:t>
                </a:r>
                <a:r>
                  <a:rPr lang="en-MY" sz="1100" spc="15" dirty="0">
                    <a:latin typeface="Tahoma"/>
                    <a:cs typeface="Tahoma"/>
                  </a:rPr>
                  <a:t> </a:t>
                </a:r>
                <a:r>
                  <a:rPr lang="en-MY" sz="1100" spc="-15" dirty="0">
                    <a:latin typeface="Tahoma"/>
                    <a:cs typeface="Tahoma"/>
                  </a:rPr>
                  <a:t>that</a:t>
                </a:r>
                <a:r>
                  <a:rPr lang="en-MY" sz="1100" spc="20" dirty="0">
                    <a:latin typeface="Tahoma"/>
                    <a:cs typeface="Tahoma"/>
                  </a:rPr>
                  <a:t> </a:t>
                </a:r>
                <a:r>
                  <a:rPr lang="en-MY" sz="1100" spc="-35" dirty="0">
                    <a:latin typeface="Tahoma"/>
                    <a:cs typeface="Tahoma"/>
                  </a:rPr>
                  <a:t>is,</a:t>
                </a:r>
                <a:r>
                  <a:rPr lang="en-MY" sz="1100" spc="15" dirty="0">
                    <a:latin typeface="Tahoma"/>
                    <a:cs typeface="Tahoma"/>
                  </a:rPr>
                  <a:t> </a:t>
                </a:r>
                <a14:m>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𝑖</m:t>
                        </m:r>
                      </m:sub>
                    </m:sSub>
                    <m:r>
                      <a:rPr lang="en-MY" sz="1100" b="0" i="1" spc="10" dirty="0" smtClean="0">
                        <a:latin typeface="Cambria Math" panose="02040503050406030204" pitchFamily="18" charset="0"/>
                        <a:cs typeface="Tahoma"/>
                      </a:rPr>
                      <m:t> </m:t>
                    </m:r>
                    <m:sSup>
                      <m:sSupPr>
                        <m:ctrlPr>
                          <a:rPr lang="en-MY" sz="1100" b="0" i="1" spc="10" dirty="0" smtClean="0">
                            <a:latin typeface="Cambria Math" panose="02040503050406030204" pitchFamily="18" charset="0"/>
                            <a:ea typeface="Cambria Math" panose="02040503050406030204" pitchFamily="18" charset="0"/>
                            <a:cs typeface="Tahoma"/>
                          </a:rPr>
                        </m:ctrlPr>
                      </m:sSupPr>
                      <m:e>
                        <m:r>
                          <a:rPr lang="en-MY" sz="1100" b="0" i="1" spc="10" dirty="0" smtClean="0">
                            <a:latin typeface="Cambria Math" panose="02040503050406030204" pitchFamily="18" charset="0"/>
                            <a:ea typeface="Cambria Math" panose="02040503050406030204" pitchFamily="18" charset="0"/>
                            <a:cs typeface="Tahoma"/>
                          </a:rPr>
                          <m:t>≻</m:t>
                        </m:r>
                      </m:e>
                      <m:sup>
                        <m:r>
                          <a:rPr lang="en-MY" sz="1100" b="0" i="1" spc="10" dirty="0" smtClean="0">
                            <a:latin typeface="Cambria Math" panose="02040503050406030204" pitchFamily="18" charset="0"/>
                            <a:ea typeface="Cambria Math" panose="02040503050406030204" pitchFamily="18" charset="0"/>
                            <a:cs typeface="Tahoma"/>
                          </a:rPr>
                          <m:t>∗</m:t>
                        </m:r>
                      </m:sup>
                    </m:sSup>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𝑗</m:t>
                        </m:r>
                      </m:sub>
                    </m:sSub>
                  </m:oMath>
                </a14:m>
                <a:endParaRPr lang="en-MY" sz="1200" baseline="-10416" dirty="0">
                  <a:latin typeface="Arial"/>
                  <a:cs typeface="Arial"/>
                </a:endParaRPr>
              </a:p>
              <a:p>
                <a:pPr>
                  <a:lnSpc>
                    <a:spcPct val="100000"/>
                  </a:lnSpc>
                  <a:spcBef>
                    <a:spcPts val="32"/>
                  </a:spcBef>
                </a:pPr>
                <a:endParaRPr lang="en-MY" sz="1700" dirty="0">
                  <a:latin typeface="Times New Roman"/>
                  <a:cs typeface="Times New Roman"/>
                </a:endParaRPr>
              </a:p>
              <a:p>
                <a:pPr marL="284163" indent="-230188">
                  <a:lnSpc>
                    <a:spcPts val="1400"/>
                  </a:lnSpc>
                  <a:spcBef>
                    <a:spcPts val="330"/>
                  </a:spcBef>
                  <a:buClr>
                    <a:srgbClr val="0000FF"/>
                  </a:buClr>
                  <a:buFont typeface="Wingdings 3" panose="05040102010807070707" pitchFamily="18" charset="2"/>
                  <a:buChar char=""/>
                </a:pPr>
                <a:r>
                  <a:rPr lang="en-MY" sz="1100" b="1" spc="10" dirty="0">
                    <a:latin typeface="Tahoma"/>
                    <a:cs typeface="Tahoma"/>
                  </a:rPr>
                  <a:t>Independence of irrelevant alternatives (IIA):</a:t>
                </a:r>
                <a:br>
                  <a:rPr lang="en-MY" sz="1100" i="1" spc="10" dirty="0">
                    <a:latin typeface="Tahoma"/>
                    <a:cs typeface="Tahoma"/>
                  </a:rPr>
                </a:br>
                <a:r>
                  <a:rPr lang="en-MY" sz="1100" spc="-45" dirty="0">
                    <a:latin typeface="Tahoma"/>
                    <a:cs typeface="Tahoma"/>
                  </a:rPr>
                  <a:t>Whether</a:t>
                </a:r>
                <a:r>
                  <a:rPr lang="en-MY" sz="1100" spc="20" dirty="0">
                    <a:latin typeface="Tahoma"/>
                    <a:cs typeface="Tahoma"/>
                  </a:rPr>
                  <a:t> </a:t>
                </a:r>
                <a14:m>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𝑖</m:t>
                        </m:r>
                      </m:sub>
                    </m:sSub>
                    <m:r>
                      <a:rPr lang="en-MY" sz="1100" b="0" i="1" spc="10" dirty="0" smtClean="0">
                        <a:latin typeface="Cambria Math" panose="02040503050406030204" pitchFamily="18" charset="0"/>
                        <a:cs typeface="Tahoma"/>
                      </a:rPr>
                      <m:t> </m:t>
                    </m:r>
                  </m:oMath>
                </a14:m>
                <a:r>
                  <a:rPr lang="en-MY" sz="1100" spc="-35" dirty="0">
                    <a:latin typeface="Tahoma"/>
                    <a:cs typeface="Tahoma"/>
                  </a:rPr>
                  <a:t>is</a:t>
                </a:r>
                <a:r>
                  <a:rPr lang="en-MY" sz="1100" spc="15" dirty="0">
                    <a:latin typeface="Tahoma"/>
                    <a:cs typeface="Tahoma"/>
                  </a:rPr>
                  <a:t> </a:t>
                </a:r>
                <a:r>
                  <a:rPr lang="en-MY" sz="1100" spc="-40" dirty="0">
                    <a:latin typeface="Tahoma"/>
                    <a:cs typeface="Tahoma"/>
                  </a:rPr>
                  <a:t>ran</a:t>
                </a:r>
                <a:r>
                  <a:rPr lang="en-MY" sz="1100" spc="-70" dirty="0">
                    <a:latin typeface="Tahoma"/>
                    <a:cs typeface="Tahoma"/>
                  </a:rPr>
                  <a:t>k</a:t>
                </a:r>
                <a:r>
                  <a:rPr lang="en-MY" sz="1100" spc="-100" dirty="0">
                    <a:latin typeface="Tahoma"/>
                    <a:cs typeface="Tahoma"/>
                  </a:rPr>
                  <a:t>e</a:t>
                </a:r>
                <a:r>
                  <a:rPr lang="en-MY" sz="1100" spc="-50" dirty="0">
                    <a:latin typeface="Tahoma"/>
                    <a:cs typeface="Tahoma"/>
                  </a:rPr>
                  <a:t>d</a:t>
                </a:r>
                <a:r>
                  <a:rPr lang="en-MY" sz="1100" spc="15" dirty="0">
                    <a:latin typeface="Tahoma"/>
                    <a:cs typeface="Tahoma"/>
                  </a:rPr>
                  <a:t> </a:t>
                </a:r>
                <a:r>
                  <a:rPr lang="en-MY" sz="1100" spc="-55" dirty="0">
                    <a:latin typeface="Tahoma"/>
                    <a:cs typeface="Tahoma"/>
                  </a:rPr>
                  <a:t>a</a:t>
                </a:r>
                <a:r>
                  <a:rPr lang="en-MY" sz="1100" spc="-25" dirty="0">
                    <a:latin typeface="Tahoma"/>
                    <a:cs typeface="Tahoma"/>
                  </a:rPr>
                  <a:t>b</a:t>
                </a:r>
                <a:r>
                  <a:rPr lang="en-MY" sz="1100" spc="-70" dirty="0">
                    <a:latin typeface="Tahoma"/>
                    <a:cs typeface="Tahoma"/>
                  </a:rPr>
                  <a:t>ove</a:t>
                </a:r>
                <a:r>
                  <a:rPr lang="en-MY" sz="1100" spc="15" dirty="0">
                    <a:latin typeface="Tahoma"/>
                    <a:cs typeface="Tahoma"/>
                  </a:rPr>
                  <a:t> </a:t>
                </a:r>
                <a14:m>
                  <m:oMath xmlns:m="http://schemas.openxmlformats.org/officeDocument/2006/math">
                    <m:sSub>
                      <m:sSubPr>
                        <m:ctrlPr>
                          <a:rPr lang="ar-SA" sz="1100" b="0" i="1" spc="10" dirty="0" smtClean="0">
                            <a:latin typeface="Cambria Math" panose="02040503050406030204" pitchFamily="18" charset="0"/>
                            <a:cs typeface="Tahoma"/>
                          </a:rPr>
                        </m:ctrlPr>
                      </m:sSubPr>
                      <m:e>
                        <m:r>
                          <a:rPr lang="ar-SA"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𝑗</m:t>
                        </m:r>
                      </m:sub>
                    </m:sSub>
                  </m:oMath>
                </a14:m>
                <a:r>
                  <a:rPr lang="ar-SA" sz="1200" i="1" spc="60" baseline="-10416" dirty="0">
                    <a:latin typeface="Arial"/>
                    <a:cs typeface="Arial"/>
                  </a:rPr>
                  <a:t> </a:t>
                </a:r>
                <a:r>
                  <a:rPr lang="en-MY" sz="1100" spc="-25" dirty="0">
                    <a:latin typeface="Tahoma"/>
                    <a:cs typeface="Tahoma"/>
                  </a:rPr>
                  <a:t>in</a:t>
                </a:r>
                <a:r>
                  <a:rPr lang="en-MY" sz="1100" spc="20" dirty="0">
                    <a:latin typeface="Tahoma"/>
                    <a:cs typeface="Tahoma"/>
                  </a:rPr>
                  <a:t> </a:t>
                </a:r>
                <a14:m>
                  <m:oMath xmlns:m="http://schemas.openxmlformats.org/officeDocument/2006/math">
                    <m:sSup>
                      <m:sSupPr>
                        <m:ctrlPr>
                          <a:rPr lang="en-MY" sz="1100" b="0" i="1" spc="20" smtClean="0">
                            <a:latin typeface="Cambria Math" panose="02040503050406030204" pitchFamily="18" charset="0"/>
                            <a:ea typeface="Cambria Math" panose="02040503050406030204" pitchFamily="18" charset="0"/>
                            <a:cs typeface="Tahoma"/>
                          </a:rPr>
                        </m:ctrlPr>
                      </m:sSupPr>
                      <m:e>
                        <m:r>
                          <a:rPr lang="en-MY" sz="1100" i="1" spc="20" smtClean="0">
                            <a:latin typeface="Cambria Math" panose="02040503050406030204" pitchFamily="18" charset="0"/>
                            <a:ea typeface="Cambria Math" panose="02040503050406030204" pitchFamily="18" charset="0"/>
                            <a:cs typeface="Tahoma"/>
                          </a:rPr>
                          <m:t>≻</m:t>
                        </m:r>
                      </m:e>
                      <m:sup>
                        <m:r>
                          <a:rPr lang="en-MY" sz="1100" b="0" i="1" spc="20" smtClean="0">
                            <a:latin typeface="Cambria Math" panose="02040503050406030204" pitchFamily="18" charset="0"/>
                            <a:ea typeface="Cambria Math" panose="02040503050406030204" pitchFamily="18" charset="0"/>
                            <a:cs typeface="Tahoma"/>
                          </a:rPr>
                          <m:t>∗</m:t>
                        </m:r>
                      </m:sup>
                    </m:sSup>
                    <m:r>
                      <a:rPr lang="en-MY" sz="1100" b="0" i="1" spc="20" smtClean="0">
                        <a:latin typeface="Cambria Math" panose="02040503050406030204" pitchFamily="18" charset="0"/>
                        <a:ea typeface="Cambria Math" panose="02040503050406030204" pitchFamily="18" charset="0"/>
                        <a:cs typeface="Tahoma"/>
                      </a:rPr>
                      <m:t> </m:t>
                    </m:r>
                  </m:oMath>
                </a14:m>
                <a:r>
                  <a:rPr lang="en-MY" sz="1100" spc="-50" dirty="0">
                    <a:latin typeface="Tahoma"/>
                    <a:cs typeface="Tahoma"/>
                  </a:rPr>
                  <a:t>should</a:t>
                </a:r>
                <a:r>
                  <a:rPr lang="en-MY" sz="1100" spc="20" dirty="0">
                    <a:latin typeface="Tahoma"/>
                    <a:cs typeface="Tahoma"/>
                  </a:rPr>
                  <a:t> </a:t>
                </a:r>
                <a:r>
                  <a:rPr lang="en-MY" sz="1100" spc="-70" dirty="0">
                    <a:latin typeface="Tahoma"/>
                    <a:cs typeface="Tahoma"/>
                  </a:rPr>
                  <a:t>de</a:t>
                </a:r>
                <a:r>
                  <a:rPr lang="en-MY" sz="1100" spc="-40" dirty="0">
                    <a:latin typeface="Tahoma"/>
                    <a:cs typeface="Tahoma"/>
                  </a:rPr>
                  <a:t>p</a:t>
                </a:r>
                <a:r>
                  <a:rPr lang="en-MY" sz="1100" spc="-70" dirty="0">
                    <a:latin typeface="Tahoma"/>
                    <a:cs typeface="Tahoma"/>
                  </a:rPr>
                  <a:t>end</a:t>
                </a:r>
                <a:r>
                  <a:rPr lang="en-MY" sz="1100" spc="20" dirty="0">
                    <a:latin typeface="Tahoma"/>
                    <a:cs typeface="Tahoma"/>
                  </a:rPr>
                  <a:t> </a:t>
                </a:r>
                <a:r>
                  <a:rPr lang="en-MY" sz="1100" spc="-40" dirty="0">
                    <a:latin typeface="Tahoma"/>
                    <a:cs typeface="Tahoma"/>
                  </a:rPr>
                  <a:t>only</a:t>
                </a:r>
                <a:r>
                  <a:rPr lang="en-MY" sz="1100" spc="20" dirty="0">
                    <a:latin typeface="Tahoma"/>
                    <a:cs typeface="Tahoma"/>
                  </a:rPr>
                  <a:t> </a:t>
                </a:r>
                <a:r>
                  <a:rPr lang="en-MY" sz="1100" spc="-55" dirty="0">
                    <a:latin typeface="Tahoma"/>
                    <a:cs typeface="Tahoma"/>
                  </a:rPr>
                  <a:t>on</a:t>
                </a:r>
                <a:r>
                  <a:rPr lang="en-MY" sz="1100" spc="-35" dirty="0">
                    <a:latin typeface="Tahoma"/>
                    <a:cs typeface="Tahoma"/>
                  </a:rPr>
                  <a:t> </a:t>
                </a:r>
                <a:r>
                  <a:rPr lang="en-MY" sz="1100" spc="-45" dirty="0">
                    <a:latin typeface="Tahoma"/>
                    <a:cs typeface="Tahoma"/>
                  </a:rPr>
                  <a:t>the</a:t>
                </a:r>
                <a:r>
                  <a:rPr lang="en-MY" sz="1100" spc="20" dirty="0">
                    <a:latin typeface="Tahoma"/>
                    <a:cs typeface="Tahoma"/>
                  </a:rPr>
                  <a:t> </a:t>
                </a:r>
                <a:r>
                  <a:rPr lang="en-MY" sz="1100" spc="-40" dirty="0">
                    <a:latin typeface="Tahoma"/>
                    <a:cs typeface="Tahoma"/>
                  </a:rPr>
                  <a:t>relative</a:t>
                </a:r>
                <a:r>
                  <a:rPr lang="en-MY" sz="1100" spc="15" dirty="0">
                    <a:latin typeface="Tahoma"/>
                    <a:cs typeface="Tahoma"/>
                  </a:rPr>
                  <a:t> </a:t>
                </a:r>
                <a:r>
                  <a:rPr lang="en-MY" sz="1100" spc="-90" dirty="0">
                    <a:latin typeface="Tahoma"/>
                    <a:cs typeface="Tahoma"/>
                  </a:rPr>
                  <a:t>o</a:t>
                </a:r>
                <a:r>
                  <a:rPr lang="en-MY" sz="1100" spc="-50" dirty="0">
                    <a:latin typeface="Tahoma"/>
                    <a:cs typeface="Tahoma"/>
                  </a:rPr>
                  <a:t>rderings</a:t>
                </a:r>
                <a:r>
                  <a:rPr lang="en-MY" sz="1100" spc="15" dirty="0">
                    <a:latin typeface="Tahoma"/>
                    <a:cs typeface="Tahoma"/>
                  </a:rPr>
                  <a:t> </a:t>
                </a:r>
                <a:r>
                  <a:rPr lang="en-MY" sz="1100" spc="-40" dirty="0">
                    <a:latin typeface="Tahoma"/>
                    <a:cs typeface="Tahoma"/>
                  </a:rPr>
                  <a:t>of</a:t>
                </a:r>
                <a:r>
                  <a:rPr lang="en-MY" sz="1100" spc="20" dirty="0">
                    <a:latin typeface="Tahoma"/>
                    <a:cs typeface="Tahoma"/>
                  </a:rPr>
                  <a:t> </a:t>
                </a:r>
                <a14:m>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𝑖</m:t>
                        </m:r>
                      </m:sub>
                    </m:sSub>
                    <m:r>
                      <a:rPr lang="en-MY" sz="1100" b="0" i="1" spc="10" dirty="0" smtClean="0">
                        <a:latin typeface="Cambria Math" panose="02040503050406030204" pitchFamily="18" charset="0"/>
                        <a:cs typeface="Tahoma"/>
                      </a:rPr>
                      <m:t> </m:t>
                    </m:r>
                  </m:oMath>
                </a14:m>
                <a:r>
                  <a:rPr lang="en-MY" sz="1100" spc="-55" dirty="0">
                    <a:latin typeface="Tahoma"/>
                    <a:cs typeface="Tahoma"/>
                  </a:rPr>
                  <a:t>and</a:t>
                </a:r>
                <a:r>
                  <a:rPr lang="en-MY" sz="1100" spc="20" dirty="0">
                    <a:latin typeface="Tahoma"/>
                    <a:cs typeface="Tahoma"/>
                  </a:rPr>
                  <a:t> </a:t>
                </a:r>
                <a14:m>
                  <m:oMath xmlns:m="http://schemas.openxmlformats.org/officeDocument/2006/math">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n-MY" sz="1100" b="0" i="1" spc="10" dirty="0" smtClean="0">
                            <a:latin typeface="Cambria Math" panose="02040503050406030204" pitchFamily="18" charset="0"/>
                            <a:cs typeface="Tahoma"/>
                          </a:rPr>
                          <m:t>𝑗</m:t>
                        </m:r>
                      </m:sub>
                    </m:sSub>
                    <m:r>
                      <a:rPr lang="en-MY" sz="1100" b="0" i="1" spc="10" dirty="0" smtClean="0">
                        <a:latin typeface="Cambria Math" panose="02040503050406030204" pitchFamily="18" charset="0"/>
                        <a:cs typeface="Tahoma"/>
                      </a:rPr>
                      <m:t> </m:t>
                    </m:r>
                  </m:oMath>
                </a14:m>
                <a:r>
                  <a:rPr lang="en-MY" sz="1100" spc="-25" dirty="0">
                    <a:latin typeface="Tahoma"/>
                    <a:cs typeface="Tahoma"/>
                  </a:rPr>
                  <a:t>in</a:t>
                </a:r>
                <a:r>
                  <a:rPr lang="en-MY" sz="1100" spc="15" dirty="0">
                    <a:latin typeface="Tahoma"/>
                    <a:cs typeface="Tahoma"/>
                  </a:rPr>
                  <a:t> </a:t>
                </a:r>
                <a:r>
                  <a:rPr lang="en-MY" sz="1100" spc="-45" dirty="0">
                    <a:latin typeface="Tahoma"/>
                    <a:cs typeface="Tahoma"/>
                  </a:rPr>
                  <a:t>the</a:t>
                </a:r>
                <a:r>
                  <a:rPr lang="en-MY" sz="1100" spc="20" dirty="0">
                    <a:latin typeface="Tahoma"/>
                    <a:cs typeface="Tahoma"/>
                  </a:rPr>
                  <a:t> </a:t>
                </a:r>
                <a:r>
                  <a:rPr lang="en-MY" sz="1100" spc="-45" dirty="0">
                    <a:latin typeface="Tahoma"/>
                    <a:cs typeface="Tahoma"/>
                  </a:rPr>
                  <a:t>voters</a:t>
                </a:r>
                <a:r>
                  <a:rPr lang="en-MY" sz="1100" spc="20" dirty="0">
                    <a:latin typeface="Tahoma"/>
                    <a:cs typeface="Tahoma"/>
                  </a:rPr>
                  <a:t> </a:t>
                </a:r>
                <a:r>
                  <a:rPr lang="en-MY" sz="1100" spc="-80" dirty="0">
                    <a:latin typeface="Tahoma"/>
                    <a:cs typeface="Tahoma"/>
                  </a:rPr>
                  <a:t>p</a:t>
                </a:r>
                <a:r>
                  <a:rPr lang="en-MY" sz="1100" spc="-65" dirty="0">
                    <a:latin typeface="Tahoma"/>
                    <a:cs typeface="Tahoma"/>
                  </a:rPr>
                  <a:t>reference</a:t>
                </a:r>
                <a:r>
                  <a:rPr lang="en-MY" sz="1100" spc="-45" dirty="0">
                    <a:latin typeface="Tahoma"/>
                    <a:cs typeface="Tahoma"/>
                  </a:rPr>
                  <a:t> </a:t>
                </a:r>
                <a:r>
                  <a:rPr lang="en-MY" sz="1100" spc="-90" dirty="0">
                    <a:latin typeface="Tahoma"/>
                    <a:cs typeface="Tahoma"/>
                  </a:rPr>
                  <a:t>o</a:t>
                </a:r>
                <a:r>
                  <a:rPr lang="en-MY" sz="1100" spc="-55" dirty="0">
                    <a:latin typeface="Tahoma"/>
                    <a:cs typeface="Tahoma"/>
                  </a:rPr>
                  <a:t>rders,</a:t>
                </a:r>
                <a:r>
                  <a:rPr lang="en-MY" sz="1100" spc="15" dirty="0">
                    <a:latin typeface="Tahoma"/>
                    <a:cs typeface="Tahoma"/>
                  </a:rPr>
                  <a:t> </a:t>
                </a:r>
                <a:r>
                  <a:rPr lang="en-MY" sz="1100" spc="25" dirty="0">
                    <a:latin typeface="Tahoma"/>
                    <a:cs typeface="Tahoma"/>
                  </a:rPr>
                  <a:t>t</a:t>
                </a:r>
                <a:r>
                  <a:rPr lang="en-MY" sz="1100" spc="-65" dirty="0">
                    <a:latin typeface="Tahoma"/>
                    <a:cs typeface="Tahoma"/>
                  </a:rPr>
                  <a:t>h</a:t>
                </a:r>
                <a:r>
                  <a:rPr lang="en-MY" sz="1100" spc="-15" dirty="0">
                    <a:latin typeface="Tahoma"/>
                    <a:cs typeface="Tahoma"/>
                  </a:rPr>
                  <a:t>at</a:t>
                </a:r>
                <a:r>
                  <a:rPr lang="en-MY" sz="1100" spc="20" dirty="0">
                    <a:latin typeface="Tahoma"/>
                    <a:cs typeface="Tahoma"/>
                  </a:rPr>
                  <a:t> </a:t>
                </a:r>
                <a:r>
                  <a:rPr lang="en-MY" sz="1100" spc="-35" dirty="0">
                    <a:latin typeface="Tahoma"/>
                    <a:cs typeface="Tahoma"/>
                  </a:rPr>
                  <a:t>is,</a:t>
                </a:r>
                <a:r>
                  <a:rPr lang="en-MY" sz="1100" spc="15" dirty="0">
                    <a:latin typeface="Tahoma"/>
                    <a:cs typeface="Tahoma"/>
                  </a:rPr>
                  <a:t> </a:t>
                </a:r>
                <a:r>
                  <a:rPr lang="en-MY" sz="1100" spc="-55" dirty="0">
                    <a:latin typeface="Tahoma"/>
                    <a:cs typeface="Tahoma"/>
                  </a:rPr>
                  <a:t>on</a:t>
                </a:r>
                <a:r>
                  <a:rPr lang="en-MY" sz="1100" spc="15" dirty="0">
                    <a:latin typeface="Tahoma"/>
                    <a:cs typeface="Tahoma"/>
                  </a:rPr>
                  <a:t> </a:t>
                </a:r>
                <a:r>
                  <a:rPr lang="en-MY" sz="1100" spc="-35" dirty="0">
                    <a:latin typeface="Tahoma"/>
                    <a:cs typeface="Tahoma"/>
                  </a:rPr>
                  <a:t>their</a:t>
                </a:r>
                <a:r>
                  <a:rPr lang="en-MY" sz="1100" spc="20" dirty="0">
                    <a:latin typeface="Tahoma"/>
                    <a:cs typeface="Tahoma"/>
                  </a:rPr>
                  <a:t> </a:t>
                </a:r>
                <a:r>
                  <a:rPr lang="en-MY" sz="1100" spc="-90" dirty="0">
                    <a:latin typeface="Tahoma"/>
                    <a:cs typeface="Tahoma"/>
                  </a:rPr>
                  <a:t>o</a:t>
                </a:r>
                <a:r>
                  <a:rPr lang="en-MY" sz="1100" spc="-50" dirty="0">
                    <a:latin typeface="Tahoma"/>
                    <a:cs typeface="Tahoma"/>
                  </a:rPr>
                  <a:t>rderings</a:t>
                </a:r>
                <a:r>
                  <a:rPr lang="en-MY" sz="1100" spc="15" dirty="0">
                    <a:latin typeface="Tahoma"/>
                    <a:cs typeface="Tahoma"/>
                  </a:rPr>
                  <a:t> </a:t>
                </a:r>
                <a:r>
                  <a:rPr lang="en-MY" sz="1100" spc="-25" dirty="0">
                    <a:latin typeface="Tahoma"/>
                    <a:cs typeface="Tahoma"/>
                  </a:rPr>
                  <a:t>in</a:t>
                </a:r>
                <a:r>
                  <a:rPr lang="en-MY" sz="1100" spc="20" dirty="0">
                    <a:latin typeface="Tahoma"/>
                    <a:cs typeface="Tahoma"/>
                  </a:rPr>
                  <a:t> </a:t>
                </a:r>
                <a14:m>
                  <m:oMath xmlns:m="http://schemas.openxmlformats.org/officeDocument/2006/math">
                    <m:sSub>
                      <m:sSubPr>
                        <m:ctrlPr>
                          <a:rPr lang="en-MY" sz="1100" b="0" i="1" spc="-120" dirty="0" smtClean="0">
                            <a:latin typeface="Cambria Math" panose="02040503050406030204" pitchFamily="18" charset="0"/>
                            <a:cs typeface="Tahoma"/>
                          </a:rPr>
                        </m:ctrlPr>
                      </m:sSubPr>
                      <m:e>
                        <m:d>
                          <m:dPr>
                            <m:begChr m:val="{"/>
                            <m:endChr m:val="}"/>
                            <m:ctrlPr>
                              <a:rPr lang="en-MY" sz="1100" i="1" spc="-120" dirty="0" smtClean="0">
                                <a:latin typeface="Cambria Math" panose="02040503050406030204" pitchFamily="18" charset="0"/>
                                <a:cs typeface="Tahoma"/>
                              </a:rPr>
                            </m:ctrlPr>
                          </m:dPr>
                          <m:e>
                            <m:sSub>
                              <m:sSubPr>
                                <m:ctrlPr>
                                  <a:rPr lang="en-MY" sz="1100" b="0" i="1" spc="25" dirty="0" smtClean="0">
                                    <a:latin typeface="Cambria Math" panose="02040503050406030204" pitchFamily="18" charset="0"/>
                                    <a:cs typeface="Tahoma"/>
                                  </a:rPr>
                                </m:ctrlPr>
                              </m:sSubPr>
                              <m:e>
                                <m:r>
                                  <m:rPr>
                                    <m:sty m:val="p"/>
                                  </m:rPr>
                                  <a:rPr lang="el-GR" sz="1100" i="0" spc="25" dirty="0">
                                    <a:latin typeface="Cambria Math" panose="02040503050406030204" pitchFamily="18" charset="0"/>
                                    <a:cs typeface="Tahoma"/>
                                  </a:rPr>
                                  <m:t>Π</m:t>
                                </m:r>
                              </m:e>
                              <m:sub>
                                <m:r>
                                  <a:rPr lang="en-MY" sz="1100" b="0" i="1" spc="25" dirty="0" smtClean="0">
                                    <a:latin typeface="Cambria Math" panose="02040503050406030204" pitchFamily="18" charset="0"/>
                                    <a:cs typeface="Tahoma"/>
                                  </a:rPr>
                                  <m:t>𝑘</m:t>
                                </m:r>
                              </m:sub>
                            </m:sSub>
                            <m:d>
                              <m:dPr>
                                <m:ctrlPr>
                                  <a:rPr lang="en-MY" sz="1100" b="0" i="1" spc="25" dirty="0" smtClean="0">
                                    <a:latin typeface="Cambria Math" panose="02040503050406030204" pitchFamily="18" charset="0"/>
                                    <a:cs typeface="Tahoma"/>
                                  </a:rPr>
                                </m:ctrlPr>
                              </m:dPr>
                              <m:e>
                                <m:r>
                                  <a:rPr lang="el-GR" sz="1100" i="1" spc="10" dirty="0" smtClean="0">
                                    <a:latin typeface="Cambria Math" panose="02040503050406030204" pitchFamily="18" charset="0"/>
                                    <a:cs typeface="Tahoma"/>
                                  </a:rPr>
                                  <m:t>Ω</m:t>
                                </m:r>
                              </m:e>
                            </m:d>
                          </m:e>
                        </m:d>
                      </m:e>
                      <m:sub>
                        <m:r>
                          <a:rPr lang="en-MY" sz="1100" b="0" i="1" spc="-120" dirty="0" smtClean="0">
                            <a:latin typeface="Cambria Math" panose="02040503050406030204" pitchFamily="18" charset="0"/>
                            <a:cs typeface="Meiryo"/>
                          </a:rPr>
                          <m:t>𝑘</m:t>
                        </m:r>
                        <m:r>
                          <a:rPr lang="en-MY" sz="1100" b="0" i="1" spc="-120" dirty="0" smtClean="0">
                            <a:latin typeface="Cambria Math" panose="02040503050406030204" pitchFamily="18" charset="0"/>
                            <a:cs typeface="Meiryo"/>
                          </a:rPr>
                          <m:t>∈</m:t>
                        </m:r>
                        <m:r>
                          <a:rPr lang="en-MY" sz="1100" b="0" i="1" spc="-120" dirty="0" smtClean="0">
                            <a:latin typeface="Cambria Math" panose="02040503050406030204" pitchFamily="18" charset="0"/>
                            <a:cs typeface="Meiryo"/>
                          </a:rPr>
                          <m:t>𝑁</m:t>
                        </m:r>
                      </m:sub>
                    </m:sSub>
                  </m:oMath>
                </a14:m>
                <a:endParaRPr sz="1200" baseline="-13888" dirty="0">
                  <a:latin typeface="Arial"/>
                  <a:cs typeface="Arial"/>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47357" y="1031738"/>
                <a:ext cx="3813810" cy="1542858"/>
              </a:xfrm>
              <a:prstGeom prst="rect">
                <a:avLst/>
              </a:prstGeom>
              <a:blipFill>
                <a:blip r:embed="rId3"/>
                <a:stretch>
                  <a:fillRect l="-639" t="-3162" r="-639" b="-5138"/>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3E2FDA0A-36C3-432D-A09D-0D68F0F0CFF7}"/>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30ACD84F-BB52-44DF-B80A-D74667A33F0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576C82B3-914E-4699-95B7-DFFBA83E0AC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30</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0" dirty="0"/>
              <a:t>Arr</a:t>
            </a:r>
            <a:r>
              <a:rPr spc="-50" dirty="0"/>
              <a:t>o</a:t>
            </a:r>
            <a:r>
              <a:rPr spc="-30" dirty="0"/>
              <a:t>w’s</a:t>
            </a:r>
            <a:r>
              <a:rPr spc="30" dirty="0"/>
              <a:t> </a:t>
            </a:r>
            <a:r>
              <a:rPr spc="-55" dirty="0"/>
              <a:t>the</a:t>
            </a:r>
            <a:r>
              <a:rPr spc="-105" dirty="0"/>
              <a:t>o</a:t>
            </a:r>
            <a:r>
              <a:rPr spc="-75" dirty="0"/>
              <a:t>rem</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347294" y="766200"/>
                <a:ext cx="3915511" cy="2325701"/>
              </a:xfrm>
              <a:prstGeom prst="rect">
                <a:avLst/>
              </a:prstGeom>
            </p:spPr>
            <p:txBody>
              <a:bodyPr vert="horz" wrap="square" lIns="0" tIns="0" rIns="0" bIns="0" rtlCol="0">
                <a:spAutoFit/>
              </a:bodyPr>
              <a:lstStyle/>
              <a:p>
                <a:pPr marL="12700">
                  <a:lnSpc>
                    <a:spcPct val="100000"/>
                  </a:lnSpc>
                </a:pPr>
                <a:r>
                  <a:rPr lang="en-MY" b="1" spc="-35" dirty="0">
                    <a:latin typeface="Tahoma" panose="020B0604030504040204" pitchFamily="34" charset="0"/>
                    <a:ea typeface="Tahoma" panose="020B0604030504040204" pitchFamily="34" charset="0"/>
                    <a:cs typeface="Tahoma" panose="020B0604030504040204" pitchFamily="34" charset="0"/>
                  </a:rPr>
                  <a:t>The</a:t>
                </a:r>
                <a:r>
                  <a:rPr lang="en-MY" b="1" spc="-70" dirty="0">
                    <a:latin typeface="Tahoma" panose="020B0604030504040204" pitchFamily="34" charset="0"/>
                    <a:ea typeface="Tahoma" panose="020B0604030504040204" pitchFamily="34" charset="0"/>
                    <a:cs typeface="Tahoma" panose="020B0604030504040204" pitchFamily="34" charset="0"/>
                  </a:rPr>
                  <a:t>o</a:t>
                </a:r>
                <a:r>
                  <a:rPr lang="en-MY" b="1" spc="-90" dirty="0">
                    <a:latin typeface="Tahoma" panose="020B0604030504040204" pitchFamily="34" charset="0"/>
                    <a:ea typeface="Tahoma" panose="020B0604030504040204" pitchFamily="34" charset="0"/>
                    <a:cs typeface="Tahoma" panose="020B0604030504040204" pitchFamily="34" charset="0"/>
                  </a:rPr>
                  <a:t>rem</a:t>
                </a:r>
                <a:r>
                  <a:rPr lang="en-MY" b="1" spc="90" dirty="0">
                    <a:latin typeface="Tahoma" panose="020B0604030504040204" pitchFamily="34" charset="0"/>
                    <a:ea typeface="Tahoma" panose="020B0604030504040204" pitchFamily="34" charset="0"/>
                    <a:cs typeface="Tahoma" panose="020B0604030504040204" pitchFamily="34" charset="0"/>
                  </a:rPr>
                  <a:t> </a:t>
                </a:r>
                <a:r>
                  <a:rPr lang="en-MY" b="1" spc="-55" dirty="0">
                    <a:latin typeface="Tahoma" panose="020B0604030504040204" pitchFamily="34" charset="0"/>
                    <a:ea typeface="Tahoma" panose="020B0604030504040204" pitchFamily="34" charset="0"/>
                    <a:cs typeface="Tahoma" panose="020B0604030504040204" pitchFamily="34" charset="0"/>
                  </a:rPr>
                  <a:t>(Arr</a:t>
                </a:r>
                <a:r>
                  <a:rPr lang="en-MY" b="1" spc="-95" dirty="0">
                    <a:latin typeface="Tahoma" panose="020B0604030504040204" pitchFamily="34" charset="0"/>
                    <a:ea typeface="Tahoma" panose="020B0604030504040204" pitchFamily="34" charset="0"/>
                    <a:cs typeface="Tahoma" panose="020B0604030504040204" pitchFamily="34" charset="0"/>
                  </a:rPr>
                  <a:t>o</a:t>
                </a:r>
                <a:r>
                  <a:rPr lang="en-MY" b="1" spc="-15" dirty="0">
                    <a:latin typeface="Tahoma" panose="020B0604030504040204" pitchFamily="34" charset="0"/>
                    <a:ea typeface="Tahoma" panose="020B0604030504040204" pitchFamily="34" charset="0"/>
                    <a:cs typeface="Tahoma" panose="020B0604030504040204" pitchFamily="34" charset="0"/>
                  </a:rPr>
                  <a:t>w,</a:t>
                </a:r>
                <a:r>
                  <a:rPr lang="en-MY" b="1" spc="90" dirty="0">
                    <a:latin typeface="Tahoma" panose="020B0604030504040204" pitchFamily="34" charset="0"/>
                    <a:ea typeface="Tahoma" panose="020B0604030504040204" pitchFamily="34" charset="0"/>
                    <a:cs typeface="Tahoma" panose="020B0604030504040204" pitchFamily="34" charset="0"/>
                  </a:rPr>
                  <a:t> </a:t>
                </a:r>
                <a:r>
                  <a:rPr lang="en-MY" b="1" spc="5" dirty="0">
                    <a:latin typeface="Tahoma" panose="020B0604030504040204" pitchFamily="34" charset="0"/>
                    <a:ea typeface="Tahoma" panose="020B0604030504040204" pitchFamily="34" charset="0"/>
                    <a:cs typeface="Tahoma" panose="020B0604030504040204" pitchFamily="34" charset="0"/>
                  </a:rPr>
                  <a:t>1951):</a:t>
                </a:r>
              </a:p>
              <a:p>
                <a:pPr marL="53975" marR="5080" algn="l" rtl="0">
                  <a:lnSpc>
                    <a:spcPts val="1400"/>
                  </a:lnSpc>
                  <a:spcBef>
                    <a:spcPts val="330"/>
                  </a:spcBef>
                  <a:buClr>
                    <a:srgbClr val="0000FF"/>
                  </a:buClr>
                </a:pPr>
                <a:r>
                  <a:rPr lang="en-MY" kern="1200" spc="10" dirty="0"/>
                  <a:t>If |</a:t>
                </a:r>
                <a:r>
                  <a:rPr lang="el-GR" kern="1200" spc="10" dirty="0"/>
                  <a:t>Ω| &gt; 2, </a:t>
                </a:r>
                <a:r>
                  <a:rPr lang="en-MY" kern="1200" spc="10" dirty="0"/>
                  <a:t>the only method satisfying Pareto efficiency (PE) and independence of irrelevant alternatives (IIA) is a dictatorship (D).</a:t>
                </a:r>
              </a:p>
              <a:p>
                <a:pPr>
                  <a:lnSpc>
                    <a:spcPct val="100000"/>
                  </a:lnSpc>
                  <a:spcBef>
                    <a:spcPts val="9"/>
                  </a:spcBef>
                </a:pPr>
                <a:endParaRPr lang="en-MY" sz="1200" dirty="0">
                  <a:latin typeface="Tahoma" panose="020B0604030504040204" pitchFamily="34" charset="0"/>
                  <a:ea typeface="Tahoma" panose="020B0604030504040204" pitchFamily="34" charset="0"/>
                  <a:cs typeface="Tahoma" panose="020B0604030504040204" pitchFamily="34" charset="0"/>
                </a:endParaRPr>
              </a:p>
              <a:p>
                <a:pPr marL="53975" algn="l" rtl="0">
                  <a:lnSpc>
                    <a:spcPts val="1400"/>
                  </a:lnSpc>
                  <a:spcBef>
                    <a:spcPts val="330"/>
                  </a:spcBef>
                  <a:spcAft>
                    <a:spcPts val="1200"/>
                  </a:spcAft>
                  <a:buClr>
                    <a:srgbClr val="0000FF"/>
                  </a:buClr>
                </a:pPr>
                <a:r>
                  <a:rPr lang="en-MY" kern="1200" spc="10" dirty="0"/>
                  <a:t>That is, if </a:t>
                </a:r>
                <a14:m>
                  <m:oMath xmlns:m="http://schemas.openxmlformats.org/officeDocument/2006/math">
                    <m:r>
                      <a:rPr lang="en-MY" i="1" kern="1200" spc="10" dirty="0" smtClean="0">
                        <a:latin typeface="Cambria Math" panose="02040503050406030204" pitchFamily="18" charset="0"/>
                      </a:rPr>
                      <m:t>|</m:t>
                    </m:r>
                    <m:r>
                      <a:rPr lang="el-GR" i="1" kern="1200" spc="10" dirty="0">
                        <a:latin typeface="Cambria Math" panose="02040503050406030204" pitchFamily="18" charset="0"/>
                      </a:rPr>
                      <m:t>Ω</m:t>
                    </m:r>
                    <m:r>
                      <a:rPr lang="el-GR" i="1" kern="1200" spc="10" dirty="0">
                        <a:latin typeface="Cambria Math" panose="02040503050406030204" pitchFamily="18" charset="0"/>
                      </a:rPr>
                      <m:t>|&gt;</m:t>
                    </m:r>
                    <m:r>
                      <a:rPr lang="el-GR" i="1" kern="1200" spc="10" dirty="0">
                        <a:latin typeface="Cambria Math" panose="02040503050406030204" pitchFamily="18" charset="0"/>
                      </a:rPr>
                      <m:t>2</m:t>
                    </m:r>
                    <m:r>
                      <a:rPr lang="el-GR" i="1" kern="1200" spc="10" dirty="0">
                        <a:latin typeface="Cambria Math" panose="02040503050406030204" pitchFamily="18" charset="0"/>
                      </a:rPr>
                      <m:t> </m:t>
                    </m:r>
                  </m:oMath>
                </a14:m>
                <a:r>
                  <a:rPr lang="en-MY" kern="1200" spc="10" dirty="0"/>
                  <a:t>we have:</a:t>
                </a:r>
              </a:p>
              <a:p>
                <a:pPr marL="82550" algn="ctr" rtl="0">
                  <a:lnSpc>
                    <a:spcPct val="100000"/>
                  </a:lnSpc>
                  <a:spcBef>
                    <a:spcPts val="1200"/>
                  </a:spcBef>
                </a:pPr>
                <a14:m>
                  <m:oMathPara xmlns:m="http://schemas.openxmlformats.org/officeDocument/2006/math">
                    <m:oMathParaPr>
                      <m:jc m:val="centerGroup"/>
                    </m:oMathParaPr>
                    <m:oMath xmlns:m="http://schemas.openxmlformats.org/officeDocument/2006/math">
                      <m:d>
                        <m:dPr>
                          <m:ctrlPr>
                            <a:rPr lang="ar-SA" i="1" spc="60" dirty="0" smtClean="0">
                              <a:latin typeface="Cambria Math" panose="02040503050406030204" pitchFamily="18" charset="0"/>
                              <a:ea typeface="Tahoma" panose="020B0604030504040204" pitchFamily="34" charset="0"/>
                              <a:cs typeface="Tahoma" panose="020B0604030504040204" pitchFamily="34" charset="0"/>
                            </a:rPr>
                          </m:ctrlPr>
                        </m:dPr>
                        <m:e>
                          <m:r>
                            <m:rPr>
                              <m:sty m:val="p"/>
                            </m:rPr>
                            <a:rPr lang="en-MY" i="0" spc="60" dirty="0" smtClean="0">
                              <a:latin typeface="Cambria Math" panose="02040503050406030204" pitchFamily="18" charset="0"/>
                              <a:ea typeface="Tahoma" panose="020B0604030504040204" pitchFamily="34" charset="0"/>
                              <a:cs typeface="Tahoma" panose="020B0604030504040204" pitchFamily="34" charset="0"/>
                            </a:rPr>
                            <m:t>PE</m:t>
                          </m:r>
                          <m:r>
                            <a:rPr lang="en-MY" i="0" spc="-160" dirty="0" smtClean="0">
                              <a:latin typeface="Cambria Math" panose="02040503050406030204" pitchFamily="18" charset="0"/>
                              <a:ea typeface="Tahoma" panose="020B0604030504040204" pitchFamily="34" charset="0"/>
                              <a:cs typeface="Tahoma" panose="020B0604030504040204" pitchFamily="34" charset="0"/>
                            </a:rPr>
                            <m:t>∧</m:t>
                          </m:r>
                          <m:r>
                            <a:rPr lang="en-MY" i="0" spc="-10" dirty="0" smtClean="0">
                              <a:latin typeface="Cambria Math" panose="02040503050406030204" pitchFamily="18" charset="0"/>
                              <a:ea typeface="Tahoma" panose="020B0604030504040204" pitchFamily="34" charset="0"/>
                              <a:cs typeface="Tahoma" panose="020B0604030504040204" pitchFamily="34" charset="0"/>
                            </a:rPr>
                            <m:t> </m:t>
                          </m:r>
                          <m:r>
                            <m:rPr>
                              <m:sty m:val="p"/>
                            </m:rPr>
                            <a:rPr lang="en-MY" i="0" spc="-85" dirty="0" smtClean="0">
                              <a:latin typeface="Cambria Math" panose="02040503050406030204" pitchFamily="18" charset="0"/>
                              <a:ea typeface="Tahoma" panose="020B0604030504040204" pitchFamily="34" charset="0"/>
                              <a:cs typeface="Tahoma" panose="020B0604030504040204" pitchFamily="34" charset="0"/>
                            </a:rPr>
                            <m:t>I</m:t>
                          </m:r>
                          <m:r>
                            <m:rPr>
                              <m:sty m:val="p"/>
                            </m:rPr>
                            <a:rPr lang="en-MY" i="0" spc="-25" dirty="0" smtClean="0">
                              <a:latin typeface="Cambria Math" panose="02040503050406030204" pitchFamily="18" charset="0"/>
                              <a:ea typeface="Tahoma" panose="020B0604030504040204" pitchFamily="34" charset="0"/>
                              <a:cs typeface="Tahoma" panose="020B0604030504040204" pitchFamily="34" charset="0"/>
                            </a:rPr>
                            <m:t>IA</m:t>
                          </m:r>
                        </m:e>
                      </m:d>
                      <m:r>
                        <a:rPr lang="ar-SA" i="1" spc="20" dirty="0" smtClean="0">
                          <a:latin typeface="Cambria Math" panose="02040503050406030204" pitchFamily="18" charset="0"/>
                          <a:ea typeface="Tahoma" panose="020B0604030504040204" pitchFamily="34" charset="0"/>
                          <a:cs typeface="Tahoma" panose="020B0604030504040204" pitchFamily="34" charset="0"/>
                        </a:rPr>
                        <m:t> </m:t>
                      </m:r>
                      <m:r>
                        <a:rPr lang="ar-SA" i="1" spc="-15" dirty="0">
                          <a:latin typeface="Cambria Math" panose="02040503050406030204" pitchFamily="18" charset="0"/>
                          <a:ea typeface="Tahoma" panose="020B0604030504040204" pitchFamily="34" charset="0"/>
                          <a:cs typeface="Tahoma" panose="020B0604030504040204" pitchFamily="34" charset="0"/>
                        </a:rPr>
                        <m:t>→ </m:t>
                      </m:r>
                      <m:r>
                        <a:rPr lang="ar-SA" i="1" spc="35" dirty="0">
                          <a:latin typeface="Cambria Math" panose="02040503050406030204" pitchFamily="18" charset="0"/>
                          <a:ea typeface="Tahoma" panose="020B0604030504040204" pitchFamily="34" charset="0"/>
                          <a:cs typeface="Tahoma" panose="020B0604030504040204" pitchFamily="34" charset="0"/>
                        </a:rPr>
                        <m:t>𝐷</m:t>
                      </m:r>
                    </m:oMath>
                  </m:oMathPara>
                </a14:m>
                <a:endParaRPr lang="ar-SA" spc="35" dirty="0">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9"/>
                  </a:spcBef>
                </a:pPr>
                <a:endParaRPr lang="ar-SA" sz="1400" dirty="0">
                  <a:latin typeface="Tahoma" panose="020B0604030504040204" pitchFamily="34" charset="0"/>
                  <a:ea typeface="Tahoma" panose="020B0604030504040204" pitchFamily="34" charset="0"/>
                  <a:cs typeface="Tahoma" panose="020B0604030504040204" pitchFamily="34" charset="0"/>
                </a:endParaRPr>
              </a:p>
              <a:p>
                <a:pPr marL="284163" indent="-230188" algn="l" rtl="0">
                  <a:lnSpc>
                    <a:spcPts val="1400"/>
                  </a:lnSpc>
                  <a:spcBef>
                    <a:spcPts val="330"/>
                  </a:spcBef>
                  <a:buClr>
                    <a:srgbClr val="0000FF"/>
                  </a:buClr>
                  <a:buFont typeface="Wingdings 3" panose="05040102010807070707" pitchFamily="18" charset="2"/>
                  <a:buChar char=""/>
                </a:pPr>
                <a:r>
                  <a:rPr lang="en-MY" kern="1200" spc="10" dirty="0"/>
                  <a:t>Kenneth Arrow: Nobel Prize in Economics, 1972</a:t>
                </a:r>
              </a:p>
              <a:p>
                <a:pPr marL="284163" indent="-230188" algn="l" rtl="0">
                  <a:lnSpc>
                    <a:spcPts val="1400"/>
                  </a:lnSpc>
                  <a:spcBef>
                    <a:spcPts val="330"/>
                  </a:spcBef>
                  <a:buClr>
                    <a:srgbClr val="0000FF"/>
                  </a:buClr>
                  <a:buFont typeface="Wingdings 3" panose="05040102010807070707" pitchFamily="18" charset="2"/>
                  <a:buChar char=""/>
                </a:pPr>
                <a:r>
                  <a:rPr lang="en-MY" kern="1200" spc="10" dirty="0"/>
                  <a:t>Arrow’s theorem is the main result in social choice theory</a:t>
                </a:r>
              </a:p>
              <a:p>
                <a:pPr marL="284163" indent="-230188" algn="l" rtl="0">
                  <a:lnSpc>
                    <a:spcPts val="1400"/>
                  </a:lnSpc>
                  <a:spcBef>
                    <a:spcPts val="330"/>
                  </a:spcBef>
                  <a:buClr>
                    <a:srgbClr val="0000FF"/>
                  </a:buClr>
                  <a:buFont typeface="Wingdings 3" panose="05040102010807070707" pitchFamily="18" charset="2"/>
                  <a:buChar char=""/>
                </a:pPr>
                <a:r>
                  <a:rPr lang="en-MY" kern="1200" spc="10" dirty="0"/>
                  <a:t>Initially proved in Arrow’s Doctoral thesis, in 1951</a:t>
                </a:r>
                <a:endParaRPr kern="1200" spc="1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347294" y="766200"/>
                <a:ext cx="3915511" cy="2325701"/>
              </a:xfrm>
              <a:prstGeom prst="rect">
                <a:avLst/>
              </a:prstGeom>
              <a:blipFill>
                <a:blip r:embed="rId3"/>
                <a:stretch>
                  <a:fillRect l="-2025" t="-2100" r="-1402" b="-2887"/>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8ADD2F11-9E51-4EDA-AE8F-E9775A69560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22FCE7A-A26E-4772-9331-A7F4487026A8}"/>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14669747-CCE7-4B6B-9874-F24CD9EB788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31</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70" dirty="0"/>
              <a:t>References</a:t>
            </a:r>
          </a:p>
        </p:txBody>
      </p:sp>
      <p:sp>
        <p:nvSpPr>
          <p:cNvPr id="3" name="object 3"/>
          <p:cNvSpPr txBox="1">
            <a:spLocks noGrp="1"/>
          </p:cNvSpPr>
          <p:nvPr>
            <p:ph type="body" idx="1"/>
          </p:nvPr>
        </p:nvSpPr>
        <p:spPr>
          <a:xfrm>
            <a:off x="347294" y="766200"/>
            <a:ext cx="3915511" cy="1734425"/>
          </a:xfrm>
          <a:prstGeom prst="rect">
            <a:avLst/>
          </a:prstGeom>
        </p:spPr>
        <p:txBody>
          <a:bodyPr vert="horz" wrap="square" lIns="0" tIns="412662" rIns="0" bIns="0" rtlCol="0">
            <a:spAutoFit/>
          </a:bodyPr>
          <a:lstStyle/>
          <a:p>
            <a:pPr marL="53975" algn="l" rtl="0">
              <a:lnSpc>
                <a:spcPts val="1400"/>
              </a:lnSpc>
              <a:spcBef>
                <a:spcPts val="330"/>
              </a:spcBef>
              <a:buClr>
                <a:srgbClr val="0000FF"/>
              </a:buClr>
            </a:pPr>
            <a:r>
              <a:rPr kern="1200" spc="10" dirty="0"/>
              <a:t>Some suggested readings:</a:t>
            </a:r>
          </a:p>
          <a:p>
            <a:pPr marL="538163" marR="36830" indent="-230188" algn="l" rtl="0">
              <a:lnSpc>
                <a:spcPts val="1400"/>
              </a:lnSpc>
              <a:spcBef>
                <a:spcPts val="330"/>
              </a:spcBef>
              <a:buClr>
                <a:srgbClr val="0000FF"/>
              </a:buClr>
              <a:buFont typeface="Wingdings 3" panose="05040102010807070707" pitchFamily="18" charset="2"/>
              <a:buChar char=""/>
            </a:pPr>
            <a:r>
              <a:rPr kern="1200" spc="10" dirty="0"/>
              <a:t>Yoav </a:t>
            </a:r>
            <a:r>
              <a:rPr b="1" kern="1200" spc="10" dirty="0"/>
              <a:t>S</a:t>
            </a:r>
            <a:r>
              <a:rPr kern="1200" spc="10" dirty="0"/>
              <a:t>hoham and Kevin </a:t>
            </a:r>
            <a:r>
              <a:rPr b="1" kern="1200" spc="10" dirty="0"/>
              <a:t>L</a:t>
            </a:r>
            <a:r>
              <a:rPr kern="1200" spc="10" dirty="0"/>
              <a:t>eyton-</a:t>
            </a:r>
            <a:r>
              <a:rPr b="1" kern="1200" spc="10" dirty="0"/>
              <a:t>B</a:t>
            </a:r>
            <a:r>
              <a:rPr kern="1200" spc="10" dirty="0"/>
              <a:t>rown. Multiagent Systems: Algorithmic, Game-Theoretic, and Logical Foundations.</a:t>
            </a:r>
            <a:r>
              <a:rPr lang="en-MY" kern="1200" spc="10" dirty="0"/>
              <a:t> </a:t>
            </a:r>
            <a:r>
              <a:rPr kern="1200" spc="10" dirty="0"/>
              <a:t>Chapter 9, Cambridge University Press, 2008.</a:t>
            </a:r>
          </a:p>
          <a:p>
            <a:pPr marL="538163" indent="-230188" algn="l" rtl="0">
              <a:lnSpc>
                <a:spcPts val="1400"/>
              </a:lnSpc>
              <a:spcBef>
                <a:spcPts val="330"/>
              </a:spcBef>
              <a:buClr>
                <a:srgbClr val="0000FF"/>
              </a:buClr>
              <a:buFont typeface="Wingdings 3" panose="05040102010807070707" pitchFamily="18" charset="2"/>
              <a:buChar char=""/>
            </a:pPr>
            <a:r>
              <a:rPr kern="1200" spc="10" dirty="0"/>
              <a:t>Michael Wooldridge. An Introduction to MultiAgent Systems.</a:t>
            </a:r>
            <a:r>
              <a:rPr lang="en-MY" kern="1200" spc="10" dirty="0"/>
              <a:t> </a:t>
            </a:r>
            <a:r>
              <a:rPr kern="1200" spc="10" dirty="0"/>
              <a:t>Chapter 12, Wiley, 2009.</a:t>
            </a:r>
          </a:p>
        </p:txBody>
      </p:sp>
      <p:sp>
        <p:nvSpPr>
          <p:cNvPr id="4" name="Date Placeholder 3">
            <a:extLst>
              <a:ext uri="{FF2B5EF4-FFF2-40B4-BE49-F238E27FC236}">
                <a16:creationId xmlns:a16="http://schemas.microsoft.com/office/drawing/2014/main" id="{CBD2A752-12A6-4618-A932-A3F5A89EE4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E38D8982-C312-4A7F-8811-820B1C03014D}"/>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59BC0A62-B0CE-4204-8BD7-F6BE60CB772A}"/>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32</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60" dirty="0"/>
              <a:t>Summ</a:t>
            </a:r>
            <a:r>
              <a:rPr spc="-90" dirty="0"/>
              <a:t>a</a:t>
            </a:r>
            <a:r>
              <a:rPr spc="-45" dirty="0"/>
              <a:t>ry</a:t>
            </a:r>
            <a:r>
              <a:rPr spc="30" dirty="0"/>
              <a:t> </a:t>
            </a:r>
            <a:r>
              <a:rPr spc="-45" dirty="0"/>
              <a:t>of</a:t>
            </a:r>
            <a:r>
              <a:rPr spc="30" dirty="0"/>
              <a:t> </a:t>
            </a:r>
            <a:r>
              <a:rPr spc="-40" dirty="0"/>
              <a:t>no</a:t>
            </a:r>
            <a:r>
              <a:rPr spc="-30" dirty="0"/>
              <a:t>t</a:t>
            </a:r>
            <a:r>
              <a:rPr spc="-70" dirty="0"/>
              <a:t>a</a:t>
            </a:r>
            <a:r>
              <a:rPr spc="-40" dirty="0"/>
              <a:t>tions</a:t>
            </a:r>
          </a:p>
        </p:txBody>
      </p:sp>
      <mc:AlternateContent xmlns:mc="http://schemas.openxmlformats.org/markup-compatibility/2006" xmlns:a14="http://schemas.microsoft.com/office/drawing/2010/main">
        <mc:Choice Requires="a14">
          <p:sp>
            <p:nvSpPr>
              <p:cNvPr id="3" name="object 3"/>
              <p:cNvSpPr txBox="1"/>
              <p:nvPr/>
            </p:nvSpPr>
            <p:spPr>
              <a:xfrm>
                <a:off x="447357" y="434975"/>
                <a:ext cx="3766820" cy="2702728"/>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Agents/Voters: </a:t>
                </a:r>
                <a14:m>
                  <m:oMath xmlns:m="http://schemas.openxmlformats.org/officeDocument/2006/math">
                    <m:r>
                      <a:rPr lang="en-MY" sz="1100" i="1" spc="10" dirty="0" smtClean="0">
                        <a:latin typeface="Cambria Math" panose="02040503050406030204" pitchFamily="18" charset="0"/>
                        <a:cs typeface="Tahoma"/>
                      </a:rPr>
                      <m:t>𝑁</m:t>
                    </m:r>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1</m:t>
                    </m:r>
                    <m:r>
                      <a:rPr lang="en-MY" sz="1100" i="1" spc="10" dirty="0" smtClean="0">
                        <a:latin typeface="Cambria Math" panose="02040503050406030204" pitchFamily="18" charset="0"/>
                        <a:cs typeface="Tahoma"/>
                      </a:rPr>
                      <m:t>, . . . , </m:t>
                    </m:r>
                    <m:r>
                      <a:rPr lang="en-MY" sz="1100" i="1" spc="10" dirty="0">
                        <a:latin typeface="Cambria Math" panose="02040503050406030204" pitchFamily="18" charset="0"/>
                        <a:cs typeface="Tahoma"/>
                      </a:rPr>
                      <m:t>𝑛</m:t>
                    </m:r>
                    <m:r>
                      <a:rPr lang="en-MY" sz="1100" i="1" spc="10" dirty="0">
                        <a:latin typeface="Cambria Math" panose="02040503050406030204" pitchFamily="18" charset="0"/>
                        <a:cs typeface="Tahoma"/>
                      </a:rPr>
                      <m:t>}</m:t>
                    </m:r>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Outcomes/Candidates: </a:t>
                </a:r>
                <a14:m>
                  <m:oMath xmlns:m="http://schemas.openxmlformats.org/officeDocument/2006/math">
                    <m:r>
                      <a:rPr lang="el-GR" sz="1100" i="1" spc="10" dirty="0" smtClean="0">
                        <a:latin typeface="Cambria Math" panose="02040503050406030204" pitchFamily="18" charset="0"/>
                        <a:cs typeface="Tahoma"/>
                      </a:rPr>
                      <m:t>Ω</m:t>
                    </m:r>
                    <m:r>
                      <a:rPr lang="el-GR" sz="1100" i="1" spc="10" dirty="0" smtClean="0">
                        <a:latin typeface="Cambria Math" panose="02040503050406030204" pitchFamily="18" charset="0"/>
                        <a:cs typeface="Tahoma"/>
                      </a:rPr>
                      <m:t>={</m:t>
                    </m:r>
                    <m:sSub>
                      <m:sSubPr>
                        <m:ctrlPr>
                          <a:rPr lang="el-GR"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1</m:t>
                        </m:r>
                      </m:sub>
                    </m:sSub>
                    <m:r>
                      <a:rPr lang="el-GR"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l-GR" sz="1100" i="1" spc="10" dirty="0" smtClean="0">
                            <a:latin typeface="Cambria Math" panose="02040503050406030204" pitchFamily="18" charset="0"/>
                            <a:cs typeface="Tahoma"/>
                          </a:rPr>
                          <m:t>𝜔</m:t>
                        </m:r>
                      </m:e>
                      <m:sub>
                        <m:r>
                          <a:rPr lang="el-GR" sz="1100" i="1" spc="10" dirty="0" smtClean="0">
                            <a:latin typeface="Cambria Math" panose="02040503050406030204" pitchFamily="18" charset="0"/>
                            <a:cs typeface="Tahoma"/>
                          </a:rPr>
                          <m:t>2</m:t>
                        </m:r>
                      </m:sub>
                    </m:sSub>
                    <m:r>
                      <a:rPr lang="el-GR" sz="1100" i="1" spc="10" dirty="0" smtClean="0">
                        <a:latin typeface="Cambria Math" panose="02040503050406030204" pitchFamily="18" charset="0"/>
                        <a:cs typeface="Tahoma"/>
                      </a:rPr>
                      <m:t>, . </m:t>
                    </m:r>
                    <m:r>
                      <a:rPr lang="el-GR" sz="1100" i="1" spc="10" dirty="0">
                        <a:latin typeface="Cambria Math" panose="02040503050406030204" pitchFamily="18" charset="0"/>
                        <a:cs typeface="Tahoma"/>
                      </a:rPr>
                      <m:t>. . , </m:t>
                    </m:r>
                    <m:sSub>
                      <m:sSubPr>
                        <m:ctrlPr>
                          <a:rPr lang="en-MY" sz="1100" b="0" i="1" spc="10" dirty="0" smtClean="0">
                            <a:latin typeface="Cambria Math" panose="02040503050406030204" pitchFamily="18" charset="0"/>
                            <a:cs typeface="Tahoma"/>
                          </a:rPr>
                        </m:ctrlPr>
                      </m:sSubPr>
                      <m:e>
                        <m:r>
                          <a:rPr lang="el-GR" sz="1100" i="1" spc="10" dirty="0">
                            <a:latin typeface="Cambria Math" panose="02040503050406030204" pitchFamily="18" charset="0"/>
                            <a:cs typeface="Tahoma"/>
                          </a:rPr>
                          <m:t>𝜔</m:t>
                        </m:r>
                      </m:e>
                      <m:sub>
                        <m:r>
                          <a:rPr lang="el-GR" sz="1100" i="1" spc="10" dirty="0">
                            <a:latin typeface="Cambria Math" panose="02040503050406030204" pitchFamily="18" charset="0"/>
                            <a:cs typeface="Tahoma"/>
                          </a:rPr>
                          <m:t>𝑘</m:t>
                        </m:r>
                      </m:sub>
                    </m:sSub>
                    <m:r>
                      <a:rPr lang="el-GR" sz="1100" i="1" spc="10" dirty="0">
                        <a:latin typeface="Cambria Math" panose="02040503050406030204" pitchFamily="18" charset="0"/>
                        <a:cs typeface="Tahoma"/>
                      </a:rPr>
                      <m:t>}</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Preference orderings: </a:t>
                </a:r>
                <a14:m>
                  <m:oMath xmlns:m="http://schemas.openxmlformats.org/officeDocument/2006/math">
                    <m:r>
                      <m:rPr>
                        <m:sty m:val="p"/>
                      </m:rPr>
                      <a:rPr lang="el-GR" sz="1100" i="0" spc="10" dirty="0" smtClean="0">
                        <a:latin typeface="Cambria Math" panose="02040503050406030204" pitchFamily="18" charset="0"/>
                        <a:cs typeface="Tahoma"/>
                      </a:rPr>
                      <m:t>Π</m:t>
                    </m:r>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 i ’s preference ordering: </a:t>
                </a:r>
                <a14:m>
                  <m:oMath xmlns:m="http://schemas.openxmlformats.org/officeDocument/2006/math">
                    <m:sSub>
                      <m:sSubPr>
                        <m:ctrlPr>
                          <a:rPr lang="en-MY" sz="1100" b="0" i="1" spc="10" dirty="0" smtClean="0">
                            <a:latin typeface="Cambria Math" panose="02040503050406030204" pitchFamily="18" charset="0"/>
                            <a:cs typeface="Tahoma"/>
                          </a:rPr>
                        </m:ctrlPr>
                      </m:sSubPr>
                      <m:e>
                        <m:r>
                          <m:rPr>
                            <m:sty m:val="p"/>
                          </m:rPr>
                          <a:rPr lang="el-GR" sz="1100" i="0" spc="10" dirty="0" smtClean="0">
                            <a:latin typeface="Cambria Math" panose="02040503050406030204" pitchFamily="18" charset="0"/>
                            <a:cs typeface="Tahoma"/>
                          </a:rPr>
                          <m:t>Π</m:t>
                        </m:r>
                      </m:e>
                      <m:sub>
                        <m:r>
                          <a:rPr lang="en-MY" sz="1100" b="0" i="1" spc="10" dirty="0" smtClean="0">
                            <a:latin typeface="Cambria Math" panose="02040503050406030204" pitchFamily="18" charset="0"/>
                            <a:cs typeface="Tahoma"/>
                          </a:rPr>
                          <m:t>𝑖</m:t>
                        </m:r>
                      </m:sub>
                    </m:sSub>
                    <m:r>
                      <a:rPr lang="en-MY"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Agent i ’s total preference ordering (over </a:t>
                </a:r>
                <a:r>
                  <a:rPr lang="el-GR" sz="1100" spc="10" dirty="0">
                    <a:latin typeface="Tahoma"/>
                    <a:cs typeface="Tahoma"/>
                  </a:rPr>
                  <a:t>Ω): </a:t>
                </a:r>
                <a14:m>
                  <m:oMath xmlns:m="http://schemas.openxmlformats.org/officeDocument/2006/math">
                    <m:sSub>
                      <m:sSubPr>
                        <m:ctrlPr>
                          <a:rPr lang="en-MY" sz="1100" b="0" i="1" spc="10" smtClean="0">
                            <a:latin typeface="Cambria Math" panose="02040503050406030204" pitchFamily="18" charset="0"/>
                            <a:ea typeface="Cambria Math" panose="02040503050406030204" pitchFamily="18" charset="0"/>
                            <a:cs typeface="Tahoma"/>
                          </a:rPr>
                        </m:ctrlPr>
                      </m:sSubPr>
                      <m:e>
                        <m:r>
                          <a:rPr lang="el-GR" sz="1100" i="1" spc="10" smtClean="0">
                            <a:latin typeface="Cambria Math" panose="02040503050406030204" pitchFamily="18" charset="0"/>
                            <a:ea typeface="Cambria Math" panose="02040503050406030204" pitchFamily="18" charset="0"/>
                            <a:cs typeface="Tahoma"/>
                          </a:rPr>
                          <m:t>≻</m:t>
                        </m:r>
                      </m:e>
                      <m:sub>
                        <m:r>
                          <a:rPr lang="en-MY" sz="1100" b="0" i="1" spc="10" smtClean="0">
                            <a:latin typeface="Cambria Math" panose="02040503050406030204" pitchFamily="18" charset="0"/>
                            <a:ea typeface="Cambria Math" panose="02040503050406030204" pitchFamily="18" charset="0"/>
                            <a:cs typeface="Tahoma"/>
                          </a:rPr>
                          <m:t>𝑖</m:t>
                        </m:r>
                      </m:sub>
                    </m:sSub>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Collection of preference orders: </a:t>
                </a:r>
                <a14:m>
                  <m:oMath xmlns:m="http://schemas.openxmlformats.org/officeDocument/2006/math">
                    <m:sSub>
                      <m:sSubPr>
                        <m:ctrlPr>
                          <a:rPr lang="en-MY" sz="1100" b="0" i="1" spc="10" dirty="0" smtClean="0">
                            <a:latin typeface="Cambria Math" panose="02040503050406030204" pitchFamily="18" charset="0"/>
                            <a:cs typeface="Tahoma"/>
                          </a:rPr>
                        </m:ctrlPr>
                      </m:sSubPr>
                      <m:e>
                        <m:d>
                          <m:dPr>
                            <m:begChr m:val="{"/>
                            <m:endChr m:val="}"/>
                            <m:ctrlPr>
                              <a:rPr lang="en-MY" sz="1100" b="0" i="1" spc="10" dirty="0" smtClean="0">
                                <a:latin typeface="Cambria Math" panose="02040503050406030204" pitchFamily="18" charset="0"/>
                                <a:cs typeface="Tahoma"/>
                              </a:rPr>
                            </m:ctrlPr>
                          </m:dPr>
                          <m:e>
                            <m:sSub>
                              <m:sSubPr>
                                <m:ctrlPr>
                                  <a:rPr lang="en-MY" sz="1100" b="0" i="1" spc="10" dirty="0" smtClean="0">
                                    <a:latin typeface="Cambria Math" panose="02040503050406030204" pitchFamily="18" charset="0"/>
                                    <a:cs typeface="Tahoma"/>
                                  </a:rPr>
                                </m:ctrlPr>
                              </m:sSubPr>
                              <m:e>
                                <m:r>
                                  <m:rPr>
                                    <m:sty m:val="p"/>
                                  </m:rPr>
                                  <a:rPr lang="el-GR" sz="1100" i="0" spc="10" dirty="0">
                                    <a:latin typeface="Cambria Math" panose="02040503050406030204" pitchFamily="18" charset="0"/>
                                    <a:cs typeface="Tahoma"/>
                                  </a:rPr>
                                  <m:t>Π</m:t>
                                </m:r>
                              </m:e>
                              <m:sub>
                                <m:r>
                                  <a:rPr lang="en-MY" sz="1100" b="0" i="1" spc="10" dirty="0" smtClean="0">
                                    <a:latin typeface="Cambria Math" panose="02040503050406030204" pitchFamily="18" charset="0"/>
                                    <a:cs typeface="Tahoma"/>
                                  </a:rPr>
                                  <m:t>𝑖</m:t>
                                </m:r>
                              </m:sub>
                            </m:sSub>
                            <m:d>
                              <m:dPr>
                                <m:ctrlPr>
                                  <a:rPr lang="en-MY" sz="1100" b="0" i="1" spc="10" dirty="0">
                                    <a:latin typeface="Cambria Math" panose="02040503050406030204" pitchFamily="18" charset="0"/>
                                    <a:cs typeface="Tahoma"/>
                                  </a:rPr>
                                </m:ctrlPr>
                              </m:dPr>
                              <m:e>
                                <m:r>
                                  <a:rPr lang="el-GR" sz="1100" i="1" spc="10" dirty="0">
                                    <a:latin typeface="Cambria Math" panose="02040503050406030204" pitchFamily="18" charset="0"/>
                                    <a:cs typeface="Tahoma"/>
                                  </a:rPr>
                                  <m:t>Ω</m:t>
                                </m:r>
                              </m:e>
                            </m:d>
                          </m:e>
                        </m:d>
                      </m:e>
                      <m:sub>
                        <m:r>
                          <a:rPr lang="en-MY" sz="1100" b="0" i="1" spc="10" dirty="0" smtClean="0">
                            <a:latin typeface="Cambria Math" panose="02040503050406030204" pitchFamily="18" charset="0"/>
                            <a:cs typeface="Tahoma"/>
                          </a:rPr>
                          <m:t>𝑖</m:t>
                        </m:r>
                        <m:r>
                          <a:rPr lang="en-MY" sz="1100" b="0" i="1" spc="10" dirty="0" smtClean="0">
                            <a:latin typeface="Cambria Math" panose="02040503050406030204" pitchFamily="18" charset="0"/>
                            <a:cs typeface="Tahoma"/>
                          </a:rPr>
                          <m:t>∈</m:t>
                        </m:r>
                        <m:r>
                          <a:rPr lang="en-MY" sz="1100" b="0" i="1" spc="10" dirty="0" smtClean="0">
                            <a:latin typeface="Cambria Math" panose="02040503050406030204" pitchFamily="18" charset="0"/>
                            <a:cs typeface="Tahoma"/>
                          </a:rPr>
                          <m:t>𝑁</m:t>
                        </m:r>
                      </m:sub>
                    </m:sSub>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Social welfare function: </a:t>
                </a:r>
                <a14:m>
                  <m:oMath xmlns:m="http://schemas.openxmlformats.org/officeDocument/2006/math">
                    <m:r>
                      <a:rPr lang="en-MY" sz="1100" i="1" spc="10" dirty="0" smtClean="0">
                        <a:latin typeface="Cambria Math" panose="02040503050406030204" pitchFamily="18" charset="0"/>
                        <a:cs typeface="Tahoma"/>
                      </a:rPr>
                      <m:t>𝑓</m:t>
                    </m:r>
                    <m:r>
                      <a:rPr lang="en-MY"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m:rPr>
                            <m:sty m:val="p"/>
                          </m:rPr>
                          <a:rPr lang="el-GR" sz="1100" i="0" spc="10" dirty="0">
                            <a:latin typeface="Cambria Math" panose="02040503050406030204" pitchFamily="18" charset="0"/>
                            <a:cs typeface="Tahoma"/>
                          </a:rPr>
                          <m:t>Π</m:t>
                        </m:r>
                      </m:e>
                      <m:sub>
                        <m:r>
                          <a:rPr lang="en-MY" sz="1100" b="0" i="1" spc="10" dirty="0" smtClean="0">
                            <a:latin typeface="Cambria Math" panose="02040503050406030204" pitchFamily="18" charset="0"/>
                            <a:cs typeface="Tahoma"/>
                          </a:rPr>
                          <m:t>1</m:t>
                        </m:r>
                      </m:sub>
                    </m:sSub>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 . . . ×</m:t>
                    </m:r>
                    <m:sSub>
                      <m:sSubPr>
                        <m:ctrlPr>
                          <a:rPr lang="en-MY" sz="1100" b="0" i="1" spc="10" dirty="0" smtClean="0">
                            <a:latin typeface="Cambria Math" panose="02040503050406030204" pitchFamily="18" charset="0"/>
                            <a:cs typeface="Tahoma"/>
                          </a:rPr>
                        </m:ctrlPr>
                      </m:sSubPr>
                      <m:e>
                        <m:r>
                          <m:rPr>
                            <m:sty m:val="p"/>
                          </m:rPr>
                          <a:rPr lang="el-GR" sz="1100" i="0" spc="10" dirty="0">
                            <a:latin typeface="Cambria Math" panose="02040503050406030204" pitchFamily="18" charset="0"/>
                            <a:cs typeface="Tahoma"/>
                          </a:rPr>
                          <m:t>Π</m:t>
                        </m:r>
                      </m:e>
                      <m:sub>
                        <m:r>
                          <a:rPr lang="en-MY" sz="1100" b="0" i="1" spc="10" dirty="0" smtClean="0">
                            <a:latin typeface="Cambria Math" panose="02040503050406030204" pitchFamily="18" charset="0"/>
                            <a:cs typeface="Tahoma"/>
                          </a:rPr>
                          <m:t>𝑛</m:t>
                        </m:r>
                      </m:sub>
                    </m:sSub>
                    <m:r>
                      <a:rPr lang="en-MY"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m:t>
                    </m:r>
                    <m:r>
                      <m:rPr>
                        <m:sty m:val="p"/>
                      </m:rPr>
                      <a:rPr lang="el-GR" sz="1100" i="0" spc="10" dirty="0">
                        <a:latin typeface="Cambria Math" panose="02040503050406030204" pitchFamily="18" charset="0"/>
                        <a:cs typeface="Tahoma"/>
                      </a:rPr>
                      <m:t>Π</m:t>
                    </m:r>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 of a social welfare function: </a:t>
                </a:r>
                <a14:m>
                  <m:oMath xmlns:m="http://schemas.openxmlformats.org/officeDocument/2006/math">
                    <m:sSup>
                      <m:sSupPr>
                        <m:ctrlPr>
                          <a:rPr lang="en-MY" sz="1100" b="0" i="1" spc="10" smtClean="0">
                            <a:latin typeface="Cambria Math" panose="02040503050406030204" pitchFamily="18" charset="0"/>
                            <a:ea typeface="Cambria Math" panose="02040503050406030204" pitchFamily="18" charset="0"/>
                            <a:cs typeface="Tahoma"/>
                          </a:rPr>
                        </m:ctrlPr>
                      </m:sSupPr>
                      <m:e>
                        <m:r>
                          <a:rPr lang="en-MY" sz="1100" i="1" spc="10" smtClean="0">
                            <a:latin typeface="Cambria Math" panose="02040503050406030204" pitchFamily="18" charset="0"/>
                            <a:ea typeface="Cambria Math" panose="02040503050406030204" pitchFamily="18" charset="0"/>
                            <a:cs typeface="Tahoma"/>
                          </a:rPr>
                          <m:t>≻</m:t>
                        </m:r>
                      </m:e>
                      <m:sup>
                        <m:r>
                          <a:rPr lang="en-MY" sz="1100" b="0" i="1" spc="10" smtClean="0">
                            <a:latin typeface="Cambria Math" panose="02040503050406030204" pitchFamily="18" charset="0"/>
                            <a:ea typeface="Cambria Math" panose="02040503050406030204" pitchFamily="18" charset="0"/>
                            <a:cs typeface="Tahoma"/>
                          </a:rPr>
                          <m:t>∗</m:t>
                        </m:r>
                      </m:sup>
                    </m:sSup>
                  </m:oMath>
                </a14:m>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Social choice function: </a:t>
                </a:r>
                <a14:m>
                  <m:oMath xmlns:m="http://schemas.openxmlformats.org/officeDocument/2006/math">
                    <m:r>
                      <a:rPr lang="en-MY" sz="1100" i="1" spc="10" dirty="0" smtClean="0">
                        <a:latin typeface="Cambria Math" panose="02040503050406030204" pitchFamily="18" charset="0"/>
                        <a:cs typeface="Tahoma"/>
                      </a:rPr>
                      <m:t>𝑓</m:t>
                    </m:r>
                    <m:r>
                      <a:rPr lang="en-MY" sz="110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m:rPr>
                            <m:sty m:val="p"/>
                          </m:rPr>
                          <a:rPr lang="el-GR" sz="1100" i="0" spc="10" dirty="0">
                            <a:latin typeface="Cambria Math" panose="02040503050406030204" pitchFamily="18" charset="0"/>
                            <a:cs typeface="Tahoma"/>
                          </a:rPr>
                          <m:t>Π</m:t>
                        </m:r>
                      </m:e>
                      <m:sub>
                        <m:r>
                          <a:rPr lang="el-GR" sz="1100" i="1" spc="10" dirty="0">
                            <a:latin typeface="Cambria Math" panose="02040503050406030204" pitchFamily="18" charset="0"/>
                            <a:cs typeface="Tahoma"/>
                          </a:rPr>
                          <m:t>1</m:t>
                        </m:r>
                      </m:sub>
                    </m:sSub>
                    <m:r>
                      <a:rPr lang="el-GR"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 . . . ×</m:t>
                    </m:r>
                    <m:sSub>
                      <m:sSubPr>
                        <m:ctrlPr>
                          <a:rPr lang="en-MY" sz="1100" b="0" i="1" spc="10" dirty="0" smtClean="0">
                            <a:latin typeface="Cambria Math" panose="02040503050406030204" pitchFamily="18" charset="0"/>
                            <a:cs typeface="Tahoma"/>
                          </a:rPr>
                        </m:ctrlPr>
                      </m:sSubPr>
                      <m:e>
                        <m:r>
                          <m:rPr>
                            <m:sty m:val="p"/>
                          </m:rPr>
                          <a:rPr lang="el-GR" sz="1100" i="0" spc="10" dirty="0">
                            <a:latin typeface="Cambria Math" panose="02040503050406030204" pitchFamily="18" charset="0"/>
                            <a:cs typeface="Tahoma"/>
                          </a:rPr>
                          <m:t>Π</m:t>
                        </m:r>
                      </m:e>
                      <m:sub>
                        <m:r>
                          <a:rPr lang="en-MY" sz="1100" i="1" spc="10" dirty="0">
                            <a:latin typeface="Cambria Math" panose="02040503050406030204" pitchFamily="18" charset="0"/>
                            <a:cs typeface="Tahoma"/>
                          </a:rPr>
                          <m:t>𝑛</m:t>
                        </m:r>
                      </m:sub>
                    </m:sSub>
                    <m:r>
                      <a:rPr lang="en-MY" sz="1100" i="1" spc="10" dirty="0">
                        <a:latin typeface="Cambria Math" panose="02040503050406030204" pitchFamily="18" charset="0"/>
                        <a:cs typeface="Tahoma"/>
                      </a:rPr>
                      <m:t>(</m:t>
                    </m:r>
                    <m:r>
                      <a:rPr lang="el-GR" sz="1100" i="1" spc="10" dirty="0">
                        <a:latin typeface="Cambria Math" panose="02040503050406030204" pitchFamily="18" charset="0"/>
                        <a:cs typeface="Tahoma"/>
                      </a:rPr>
                      <m:t>Ω</m:t>
                    </m:r>
                    <m:r>
                      <a:rPr lang="el-GR" sz="1100" i="1" spc="10" dirty="0">
                        <a:latin typeface="Cambria Math" panose="02040503050406030204" pitchFamily="18" charset="0"/>
                        <a:cs typeface="Tahoma"/>
                      </a:rPr>
                      <m:t>) </m:t>
                    </m:r>
                    <m:r>
                      <a:rPr lang="el-GR" sz="1100" i="1" spc="10" dirty="0">
                        <a:latin typeface="Cambria Math" panose="02040503050406030204" pitchFamily="18" charset="0"/>
                        <a:cs typeface="Tahoma"/>
                      </a:rPr>
                      <m:t>Ω</m:t>
                    </m:r>
                  </m:oMath>
                </a14:m>
                <a:endParaRPr lang="el-GR"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Outcome of a social choice function: a winner </a:t>
                </a:r>
                <a14:m>
                  <m:oMath xmlns:m="http://schemas.openxmlformats.org/officeDocument/2006/math">
                    <m:r>
                      <a:rPr lang="el-GR" sz="1100" i="1" spc="10" dirty="0" smtClean="0">
                        <a:latin typeface="Cambria Math" panose="02040503050406030204" pitchFamily="18" charset="0"/>
                        <a:cs typeface="Tahoma"/>
                      </a:rPr>
                      <m:t>𝜔</m:t>
                    </m:r>
                    <m:r>
                      <a:rPr lang="el-GR" sz="1100" i="1" spc="10" dirty="0" smtClean="0">
                        <a:latin typeface="Cambria Math" panose="02040503050406030204" pitchFamily="18" charset="0"/>
                        <a:cs typeface="Tahoma"/>
                      </a:rPr>
                      <m:t> </m:t>
                    </m:r>
                    <m:r>
                      <a:rPr lang="el-GR" sz="1100" i="1" spc="10" dirty="0" smtClean="0">
                        <a:latin typeface="Cambria Math" panose="02040503050406030204" pitchFamily="18" charset="0"/>
                        <a:cs typeface="Tahoma"/>
                      </a:rPr>
                      <m:t>Ω</m:t>
                    </m:r>
                  </m:oMath>
                </a14:m>
                <a:endParaRPr lang="el-GR" sz="1100" spc="10" dirty="0">
                  <a:latin typeface="Tahoma"/>
                  <a:cs typeface="Tahoma"/>
                </a:endParaRPr>
              </a:p>
              <a:p>
                <a:pPr marL="284163" marR="5080" indent="-230188">
                  <a:lnSpc>
                    <a:spcPts val="1400"/>
                  </a:lnSpc>
                  <a:spcBef>
                    <a:spcPts val="330"/>
                  </a:spcBef>
                  <a:buClr>
                    <a:srgbClr val="0000FF"/>
                  </a:buClr>
                  <a:buFont typeface="Wingdings 3" panose="05040102010807070707" pitchFamily="18" charset="2"/>
                  <a:buChar char=""/>
                </a:pPr>
                <a:r>
                  <a:rPr lang="en-MY" sz="1100" spc="10" dirty="0">
                    <a:latin typeface="Tahoma"/>
                    <a:cs typeface="Tahoma"/>
                  </a:rPr>
                  <a:t>In Arrow’s theorem: Pareto efficiency (</a:t>
                </a:r>
                <a14:m>
                  <m:oMath xmlns:m="http://schemas.openxmlformats.org/officeDocument/2006/math">
                    <m:r>
                      <m:rPr>
                        <m:sty m:val="p"/>
                      </m:rPr>
                      <a:rPr lang="en-MY" sz="1100" i="0" spc="10" dirty="0" smtClean="0">
                        <a:latin typeface="Cambria Math" panose="02040503050406030204" pitchFamily="18" charset="0"/>
                        <a:cs typeface="Tahoma"/>
                      </a:rPr>
                      <m:t>PE</m:t>
                    </m:r>
                  </m:oMath>
                </a14:m>
                <a:r>
                  <a:rPr lang="en-MY" sz="1100" spc="10" dirty="0">
                    <a:latin typeface="Tahoma"/>
                    <a:cs typeface="Tahoma"/>
                  </a:rPr>
                  <a:t>), Dictatorship (</a:t>
                </a:r>
                <a14:m>
                  <m:oMath xmlns:m="http://schemas.openxmlformats.org/officeDocument/2006/math">
                    <m:r>
                      <m:rPr>
                        <m:sty m:val="p"/>
                      </m:rPr>
                      <a:rPr lang="en-MY" sz="1100" i="0" spc="10" dirty="0" smtClean="0">
                        <a:latin typeface="Cambria Math" panose="02040503050406030204" pitchFamily="18" charset="0"/>
                        <a:cs typeface="Tahoma"/>
                      </a:rPr>
                      <m:t>D</m:t>
                    </m:r>
                  </m:oMath>
                </a14:m>
                <a:r>
                  <a:rPr lang="en-MY" sz="1100" spc="10" dirty="0">
                    <a:latin typeface="Tahoma"/>
                    <a:cs typeface="Tahoma"/>
                  </a:rPr>
                  <a:t>), Independence of irrelevant alternatives (</a:t>
                </a:r>
                <a14:m>
                  <m:oMath xmlns:m="http://schemas.openxmlformats.org/officeDocument/2006/math">
                    <m:r>
                      <m:rPr>
                        <m:sty m:val="p"/>
                      </m:rPr>
                      <a:rPr lang="en-MY" sz="1100" i="0" spc="10" dirty="0" smtClean="0">
                        <a:latin typeface="Cambria Math" panose="02040503050406030204" pitchFamily="18" charset="0"/>
                        <a:cs typeface="Tahoma"/>
                      </a:rPr>
                      <m:t>IIA</m:t>
                    </m:r>
                  </m:oMath>
                </a14:m>
                <a:r>
                  <a:rPr lang="en-MY" sz="1100" spc="10" dirty="0">
                    <a:latin typeface="Tahoma"/>
                    <a:cs typeface="Tahoma"/>
                  </a:rPr>
                  <a:t>)</a:t>
                </a:r>
                <a:endParaRPr sz="1100" spc="1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47357" y="434975"/>
                <a:ext cx="3766820" cy="2702728"/>
              </a:xfrm>
              <a:prstGeom prst="rect">
                <a:avLst/>
              </a:prstGeom>
              <a:blipFill>
                <a:blip r:embed="rId3"/>
                <a:stretch>
                  <a:fillRect l="-647" t="-1802" r="-485" b="-2252"/>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4A1535DC-CD4F-4BBA-B2FF-8B5E733C640F}"/>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E42133B6-273D-4997-99A0-72D26D0203BA}"/>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37AC2F41-26E0-4D72-8E5D-4E33AA5E5AE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33</a:t>
            </a:fld>
            <a:r>
              <a:rPr kumimoji="0" lang="en-US" sz="800" b="0" i="0" u="none" strike="noStrike" kern="1200" cap="none" spc="0" normalizeH="0" baseline="0" noProof="0" dirty="0">
                <a:ln>
                  <a:noFill/>
                </a:ln>
                <a:solidFill>
                  <a:prstClr val="black"/>
                </a:solidFill>
                <a:effectLst/>
                <a:uLnTx/>
                <a:uFillTx/>
                <a:latin typeface="Calibri"/>
                <a:ea typeface="+mn-ea"/>
                <a:cs typeface="+mn-cs"/>
              </a:rPr>
              <a:t>/33</a:t>
            </a: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1692</TotalTime>
  <Words>9339</Words>
  <Application>Microsoft Office PowerPoint</Application>
  <PresentationFormat>Custom</PresentationFormat>
  <Paragraphs>825</Paragraphs>
  <Slides>33</Slides>
  <Notes>33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33</vt:i4>
      </vt:variant>
    </vt:vector>
  </HeadingPairs>
  <TitlesOfParts>
    <vt:vector size="47" baseType="lpstr">
      <vt:lpstr>Meiryo</vt:lpstr>
      <vt:lpstr>Arial</vt:lpstr>
      <vt:lpstr>Britannic Bold</vt:lpstr>
      <vt:lpstr>Calibri</vt:lpstr>
      <vt:lpstr>Cambria Math</vt:lpstr>
      <vt:lpstr>Gill Sans MT</vt:lpstr>
      <vt:lpstr>Lucida Sans Unicode</vt:lpstr>
      <vt:lpstr>Söhne</vt:lpstr>
      <vt:lpstr>Tahoma</vt:lpstr>
      <vt:lpstr>Times New Roman</vt:lpstr>
      <vt:lpstr>Trebuchet MS</vt:lpstr>
      <vt:lpstr>Verdana</vt:lpstr>
      <vt:lpstr>Wingdings 3</vt:lpstr>
      <vt:lpstr>Office Theme</vt:lpstr>
      <vt:lpstr>PowerPoint Presentation</vt:lpstr>
      <vt:lpstr>Motivation and acknowledgement1</vt:lpstr>
      <vt:lpstr>Social choice theory</vt:lpstr>
      <vt:lpstr>Social choice theory: A formal model</vt:lpstr>
      <vt:lpstr>Example: A preference ordering</vt:lpstr>
      <vt:lpstr>Aggregating preferences</vt:lpstr>
      <vt:lpstr>Social welfare functions</vt:lpstr>
      <vt:lpstr>Social choice functions</vt:lpstr>
      <vt:lpstr>Some ways/rules to choose a winner</vt:lpstr>
      <vt:lpstr>Plurality</vt:lpstr>
      <vt:lpstr>Example: Plurality</vt:lpstr>
      <vt:lpstr>Plurality with elimination</vt:lpstr>
      <vt:lpstr>Example: Plurality with elimination</vt:lpstr>
      <vt:lpstr>Approval voting</vt:lpstr>
      <vt:lpstr>Example: Approval voting</vt:lpstr>
      <vt:lpstr>Borda count</vt:lpstr>
      <vt:lpstr>Example: Borda count</vt:lpstr>
      <vt:lpstr>Condorcet rule</vt:lpstr>
      <vt:lpstr>Example: Condorcet rule</vt:lpstr>
      <vt:lpstr>Utilitarian rule</vt:lpstr>
      <vt:lpstr>Example: Utilitarian rule</vt:lpstr>
      <vt:lpstr>Egalitarian rule</vt:lpstr>
      <vt:lpstr>Example: Egalitarian rule</vt:lpstr>
      <vt:lpstr>Sequential majority</vt:lpstr>
      <vt:lpstr>Example: Sequential majority</vt:lpstr>
      <vt:lpstr>Paradoxes, desirable and undesirable properties</vt:lpstr>
      <vt:lpstr>Condorcet’s paradox</vt:lpstr>
      <vt:lpstr>Manipulation of the outcome: The agenda</vt:lpstr>
      <vt:lpstr>Sensitivity to a losing candidate</vt:lpstr>
      <vt:lpstr>Pareto efficiency &amp; independence of irrelevant alternatives</vt:lpstr>
      <vt:lpstr>Arrow’s theorem</vt:lpstr>
      <vt:lpstr>References</vt:lpstr>
      <vt:lpstr>Summary of notations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Choice and Group Decisions </dc:title>
  <dc:creator>Julian Gutierrez</dc:creator>
  <cp:lastModifiedBy>Fuad Noman</cp:lastModifiedBy>
  <cp:revision>89</cp:revision>
  <dcterms:created xsi:type="dcterms:W3CDTF">2023-10-10T19:09:53Z</dcterms:created>
  <dcterms:modified xsi:type="dcterms:W3CDTF">2024-10-09T07:09:25Z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2022-10-13T00:00:00Z</vt:filetime>
  </property>
  <property fmtid="{D5CDD505-2E9C-101B-9397-08002B2CF9AE}" pid="3" name="LastSaved">
    <vt:filetime>2023-10-10T00:00:00Z</vt:filetime>
  </property>
</Properties>
</file>
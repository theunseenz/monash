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 id="2147483673" r:id="rId3"/>
    <p:sldMasterId id="2147483679" r:id="rId4"/>
  </p:sldMasterIdLst>
  <p:notesMasterIdLst>
    <p:notesMasterId r:id="rId51"/>
  </p:notesMasterIdLst>
  <p:sldIdLst>
    <p:sldId id="343" r:id="rId5"/>
    <p:sldId id="344" r:id="rId6"/>
    <p:sldId id="259" r:id="rId7"/>
    <p:sldId id="260" r:id="rId8"/>
    <p:sldId id="261" r:id="rId9"/>
    <p:sldId id="263" r:id="rId10"/>
    <p:sldId id="353" r:id="rId11"/>
    <p:sldId id="264" r:id="rId12"/>
    <p:sldId id="265" r:id="rId13"/>
    <p:sldId id="266" r:id="rId14"/>
    <p:sldId id="345" r:id="rId15"/>
    <p:sldId id="346" r:id="rId16"/>
    <p:sldId id="347" r:id="rId17"/>
    <p:sldId id="354" r:id="rId18"/>
    <p:sldId id="365" r:id="rId19"/>
    <p:sldId id="270" r:id="rId20"/>
    <p:sldId id="271" r:id="rId21"/>
    <p:sldId id="272" r:id="rId22"/>
    <p:sldId id="366" r:id="rId23"/>
    <p:sldId id="274" r:id="rId24"/>
    <p:sldId id="275" r:id="rId25"/>
    <p:sldId id="273" r:id="rId26"/>
    <p:sldId id="277" r:id="rId27"/>
    <p:sldId id="278" r:id="rId28"/>
    <p:sldId id="279" r:id="rId29"/>
    <p:sldId id="280" r:id="rId30"/>
    <p:sldId id="281" r:id="rId31"/>
    <p:sldId id="282" r:id="rId32"/>
    <p:sldId id="283" r:id="rId33"/>
    <p:sldId id="284" r:id="rId34"/>
    <p:sldId id="348" r:id="rId35"/>
    <p:sldId id="349" r:id="rId36"/>
    <p:sldId id="350" r:id="rId37"/>
    <p:sldId id="288" r:id="rId38"/>
    <p:sldId id="289" r:id="rId39"/>
    <p:sldId id="290" r:id="rId40"/>
    <p:sldId id="291" r:id="rId41"/>
    <p:sldId id="351" r:id="rId42"/>
    <p:sldId id="352" r:id="rId43"/>
    <p:sldId id="294" r:id="rId44"/>
    <p:sldId id="295" r:id="rId45"/>
    <p:sldId id="296" r:id="rId46"/>
    <p:sldId id="297" r:id="rId47"/>
    <p:sldId id="298" r:id="rId48"/>
    <p:sldId id="299" r:id="rId49"/>
    <p:sldId id="305" r:id="rId5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742" autoAdjust="0"/>
  </p:normalViewPr>
  <p:slideViewPr>
    <p:cSldViewPr>
      <p:cViewPr varScale="1">
        <p:scale>
          <a:sx n="60" d="100"/>
          <a:sy n="60" d="100"/>
        </p:scale>
        <p:origin x="2026" y="34"/>
      </p:cViewPr>
      <p:guideLst>
        <p:guide orient="horz" pos="2880"/>
        <p:guide pos="2160"/>
      </p:guideLst>
    </p:cSldViewPr>
  </p:slideViewPr>
  <p:notesTextViewPr>
    <p:cViewPr>
      <p:scale>
        <a:sx n="66" d="100"/>
        <a:sy n="66" d="100"/>
      </p:scale>
      <p:origin x="0" y="-734"/>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2132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97013" y="1198563"/>
            <a:ext cx="4321175" cy="3241675"/>
          </a:xfrm>
          <a:prstGeom prst="rect">
            <a:avLst/>
          </a:prstGeom>
          <a:noFill/>
          <a:ln w="12700">
            <a:solidFill>
              <a:prstClr val="black"/>
            </a:solidFill>
          </a:ln>
        </p:spPr>
      </p:sp>
      <p:sp>
        <p:nvSpPr>
          <p:cNvPr id="3" name="Notes Placeholder 2"/>
          <p:cNvSpPr>
            <a:spLocks noGrp="1"/>
          </p:cNvSpPr>
          <p:nvPr>
            <p:ph type="body" idx="1"/>
          </p:nvPr>
        </p:nvSpPr>
        <p:spPr>
          <a:xfrm>
            <a:off x="731521" y="4620580"/>
            <a:ext cx="5852160" cy="3780472"/>
          </a:xfrm>
          <a:prstGeom prst="rect">
            <a:avLst/>
          </a:prstGeom>
        </p:spPr>
        <p:txBody>
          <a:bodyPr lIns="96661" tIns="48331" rIns="96661" bIns="48331"/>
          <a:lstStyle/>
          <a:p>
            <a:r>
              <a:rPr lang="en-US" dirty="0"/>
              <a:t>Classical </a:t>
            </a:r>
            <a:r>
              <a:rPr lang="en-US" b="1" dirty="0"/>
              <a:t>Game Theory</a:t>
            </a:r>
            <a:r>
              <a:rPr lang="en-US" dirty="0"/>
              <a:t> is the study of strategic decision-making, where multiple players make choices to maximize their outcomes. A </a:t>
            </a:r>
            <a:r>
              <a:rPr lang="en-US" b="1" dirty="0"/>
              <a:t>Nash Equilibrium</a:t>
            </a:r>
            <a:r>
              <a:rPr lang="en-US" dirty="0"/>
              <a:t> occurs when no player can improve their payoff by unilaterally changing their strategy, assuming all other players stick to their chosen strategies. In this equilibrium, every player’s strategy is optimal given the strategies of others. Developed by John Nash, this concept applies to a wide range of scenarios, including economics, politics, and biology, where participants' actions affect each other’s outcomes.</a:t>
            </a:r>
          </a:p>
        </p:txBody>
      </p:sp>
    </p:spTree>
    <p:extLst>
      <p:ext uri="{BB962C8B-B14F-4D97-AF65-F5344CB8AC3E}">
        <p14:creationId xmlns:p14="http://schemas.microsoft.com/office/powerpoint/2010/main" val="2253426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lgn="l"/>
            <a:r>
              <a:rPr lang="en-US" b="0" i="0" dirty="0">
                <a:solidFill>
                  <a:schemeClr val="tx1"/>
                </a:solidFill>
                <a:effectLst/>
                <a:latin typeface="Söhne"/>
              </a:rPr>
              <a:t>Lets consider a real-world example where an external observer values the interests of all parties equally and seeks fair outcomes: Labor Negotiations in a Company.</a:t>
            </a:r>
          </a:p>
          <a:p>
            <a:pPr algn="l"/>
            <a:r>
              <a:rPr lang="en-US" b="1" i="0" dirty="0">
                <a:solidFill>
                  <a:schemeClr val="tx1"/>
                </a:solidFill>
                <a:effectLst/>
                <a:latin typeface="Söhne"/>
              </a:rPr>
              <a:t>Scenario</a:t>
            </a:r>
            <a:r>
              <a:rPr lang="en-US" b="0" i="0" dirty="0">
                <a:solidFill>
                  <a:schemeClr val="tx1"/>
                </a:solidFill>
                <a:effectLst/>
                <a:latin typeface="Söhne"/>
              </a:rPr>
              <a:t>: A company is negotiating a new labor contract with its employees, represented by a labor union. The negotiations involve various issues, including wages, working conditions, and benefits.</a:t>
            </a:r>
          </a:p>
          <a:p>
            <a:pPr algn="l"/>
            <a:r>
              <a:rPr lang="en-US" b="1" i="0" dirty="0">
                <a:solidFill>
                  <a:schemeClr val="tx1"/>
                </a:solidFill>
                <a:effectLst/>
                <a:latin typeface="Söhne"/>
              </a:rPr>
              <a:t>External Observer Perspective</a:t>
            </a:r>
            <a:r>
              <a:rPr lang="en-US" b="0" i="0" dirty="0">
                <a:solidFill>
                  <a:schemeClr val="tx1"/>
                </a:solidFill>
                <a:effectLst/>
                <a:latin typeface="Söhne"/>
              </a:rPr>
              <a:t>: In this scenario, the external observer could be a mediator, government agency, or public opinion. They view the interests of both the company and the employees as equally important and aim to ensure fairness in the negotiation outcomes.</a:t>
            </a:r>
          </a:p>
          <a:p>
            <a:pPr algn="l"/>
            <a:r>
              <a:rPr lang="en-US" b="1" i="0" dirty="0">
                <a:solidFill>
                  <a:schemeClr val="tx1"/>
                </a:solidFill>
                <a:effectLst/>
                <a:latin typeface="Söhne"/>
              </a:rPr>
              <a:t>Example Outcomes</a:t>
            </a:r>
            <a:r>
              <a:rPr lang="en-US" b="0" i="0" dirty="0">
                <a:solidFill>
                  <a:schemeClr val="tx1"/>
                </a:solidFill>
                <a:effectLst/>
                <a:latin typeface="Söhne"/>
              </a:rPr>
              <a:t>:</a:t>
            </a:r>
          </a:p>
          <a:p>
            <a:pPr algn="l">
              <a:buFont typeface="+mj-lt"/>
              <a:buAutoNum type="arabicPeriod"/>
            </a:pPr>
            <a:r>
              <a:rPr lang="en-US" b="1" i="0" dirty="0">
                <a:solidFill>
                  <a:schemeClr val="tx1"/>
                </a:solidFill>
                <a:effectLst/>
                <a:latin typeface="Söhne"/>
              </a:rPr>
              <a:t>Scenario A - Wage Increase</a:t>
            </a:r>
            <a:r>
              <a:rPr lang="en-US" b="0" i="0" dirty="0">
                <a:solidFill>
                  <a:schemeClr val="tx1"/>
                </a:solidFill>
                <a:effectLst/>
                <a:latin typeface="Söhne"/>
              </a:rPr>
              <a:t>: The company agrees to a substantial wage increase for the employees, which is beyond what they initially proposed. The employees, in turn, accept some changes in working conditions that the company considered important.</a:t>
            </a:r>
          </a:p>
          <a:p>
            <a:pPr marL="785372" lvl="1" indent="-302066">
              <a:buFont typeface="+mj-lt"/>
              <a:buAutoNum type="arabicPeriod"/>
            </a:pPr>
            <a:r>
              <a:rPr lang="en-US" b="0" i="0" dirty="0">
                <a:solidFill>
                  <a:schemeClr val="tx1"/>
                </a:solidFill>
                <a:effectLst/>
                <a:latin typeface="Söhne"/>
              </a:rPr>
              <a:t>External Observer Assessment: From the external observer's perspective, this outcome may be viewed as fair because it addresses the financial needs of the employees while also recognizing the company's concerns about productivity and costs.</a:t>
            </a:r>
          </a:p>
          <a:p>
            <a:pPr algn="l">
              <a:buFont typeface="+mj-lt"/>
              <a:buAutoNum type="arabicPeriod"/>
            </a:pPr>
            <a:r>
              <a:rPr lang="en-US" b="1" i="0" dirty="0">
                <a:solidFill>
                  <a:schemeClr val="tx1"/>
                </a:solidFill>
                <a:effectLst/>
                <a:latin typeface="Söhne"/>
              </a:rPr>
              <a:t>Scenario B - Compromise on Benefits</a:t>
            </a:r>
            <a:r>
              <a:rPr lang="en-US" b="0" i="0" dirty="0">
                <a:solidFill>
                  <a:schemeClr val="tx1"/>
                </a:solidFill>
                <a:effectLst/>
                <a:latin typeface="Söhne"/>
              </a:rPr>
              <a:t>: The negotiation results in a compromise where both parties agree to maintain current wage levels but improve employee benefits such as healthcare and retirement plans.</a:t>
            </a:r>
          </a:p>
          <a:p>
            <a:pPr marL="785372" lvl="1" indent="-302066">
              <a:buFont typeface="+mj-lt"/>
              <a:buAutoNum type="arabicPeriod"/>
            </a:pPr>
            <a:r>
              <a:rPr lang="en-US" b="0" i="0" dirty="0">
                <a:solidFill>
                  <a:schemeClr val="tx1"/>
                </a:solidFill>
                <a:effectLst/>
                <a:latin typeface="Söhne"/>
              </a:rPr>
              <a:t>External Observer Assessment: This outcome may be seen as equitable since it provides tangible benefits to employees without significantly increasing labor costs for the company, maintaining a balanced approach.</a:t>
            </a:r>
          </a:p>
          <a:p>
            <a:pPr algn="l">
              <a:buFont typeface="+mj-lt"/>
              <a:buAutoNum type="arabicPeriod"/>
            </a:pPr>
            <a:r>
              <a:rPr lang="en-US" b="1" i="0" dirty="0">
                <a:solidFill>
                  <a:schemeClr val="tx1"/>
                </a:solidFill>
                <a:effectLst/>
                <a:latin typeface="Söhne"/>
              </a:rPr>
              <a:t>Scenario C - Deadlock</a:t>
            </a:r>
            <a:r>
              <a:rPr lang="en-US" b="0" i="0" dirty="0">
                <a:solidFill>
                  <a:schemeClr val="tx1"/>
                </a:solidFill>
                <a:effectLst/>
                <a:latin typeface="Söhne"/>
              </a:rPr>
              <a:t>: The negotiations reach a deadlock, and neither party reaches an agreement. As a result, the existing labor contract continues without any changes.</a:t>
            </a:r>
          </a:p>
          <a:p>
            <a:pPr marL="785372" lvl="1" indent="-302066">
              <a:buFont typeface="+mj-lt"/>
              <a:buAutoNum type="arabicPeriod"/>
            </a:pPr>
            <a:r>
              <a:rPr lang="en-US" b="0" i="0" dirty="0">
                <a:solidFill>
                  <a:schemeClr val="tx1"/>
                </a:solidFill>
                <a:effectLst/>
                <a:latin typeface="Söhne"/>
              </a:rPr>
              <a:t>External Observer Assessment: While this outcome may not provide any immediate benefits or changes, the external observer may view it as fair because it ensures that neither party gains an unfair advantage over the other.</a:t>
            </a:r>
          </a:p>
          <a:p>
            <a:pPr algn="l"/>
            <a:r>
              <a:rPr lang="en-US" b="0" i="0" dirty="0">
                <a:solidFill>
                  <a:schemeClr val="tx1"/>
                </a:solidFill>
                <a:effectLst/>
                <a:latin typeface="Söhne"/>
              </a:rPr>
              <a:t>In these scenarios, the external observer's role is to ensure that the interests of both the company and the employees are treated with equal importance. They aim to foster fairness, avoid exploitation, and maintain a balance of power during the negotiation process. The specific outcome that is considered fair may vary depending on the circumstances, but the observer's objective is to prevent one party from consistently benefiting at the expense of the other.</a:t>
            </a:r>
          </a:p>
          <a:p>
            <a:endParaRPr dirty="0">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lgn="l"/>
            <a:r>
              <a:rPr lang="en-US" b="1" i="0" dirty="0">
                <a:solidFill>
                  <a:schemeClr val="tx1"/>
                </a:solidFill>
                <a:effectLst/>
                <a:latin typeface="Söhne"/>
              </a:rPr>
              <a:t>Pareto Optimality</a:t>
            </a:r>
            <a:r>
              <a:rPr lang="en-US" b="0" i="0" dirty="0">
                <a:solidFill>
                  <a:schemeClr val="tx1"/>
                </a:solidFill>
                <a:effectLst/>
                <a:latin typeface="Söhne"/>
              </a:rPr>
              <a:t>:</a:t>
            </a:r>
          </a:p>
          <a:p>
            <a:pPr marL="181240" indent="-181240">
              <a:buFont typeface="Arial" panose="020B0604020202020204" pitchFamily="34" charset="0"/>
              <a:buChar char="•"/>
            </a:pPr>
            <a:r>
              <a:rPr lang="en-US" b="0" i="0" dirty="0">
                <a:solidFill>
                  <a:schemeClr val="tx1"/>
                </a:solidFill>
                <a:effectLst/>
                <a:latin typeface="Söhne"/>
              </a:rPr>
              <a:t>Pareto optimality, also known as Pareto efficiency or Pareto superiority, refers to a situation in which it is not possible to make any one individual better off without making at least one other individual worse off.</a:t>
            </a:r>
          </a:p>
          <a:p>
            <a:pPr marL="181240" indent="-181240">
              <a:buFont typeface="Arial" panose="020B0604020202020204" pitchFamily="34" charset="0"/>
              <a:buChar char="•"/>
            </a:pPr>
            <a:r>
              <a:rPr lang="en-US" b="0" i="0" dirty="0">
                <a:solidFill>
                  <a:schemeClr val="tx1"/>
                </a:solidFill>
                <a:effectLst/>
                <a:latin typeface="Söhne"/>
              </a:rPr>
              <a:t>In other words, a state or outcome is Pareto optimal when there is no way to improve the well-being or utility of one player without reducing the well-being or utility of another player.</a:t>
            </a:r>
          </a:p>
          <a:p>
            <a:pPr marL="181240" indent="-181240">
              <a:buFont typeface="Arial" panose="020B0604020202020204" pitchFamily="34" charset="0"/>
              <a:buChar char="•"/>
            </a:pPr>
            <a:r>
              <a:rPr lang="en-US" b="0" i="0" dirty="0">
                <a:solidFill>
                  <a:schemeClr val="tx1"/>
                </a:solidFill>
                <a:effectLst/>
                <a:latin typeface="Söhne"/>
              </a:rPr>
              <a:t>Pareto optimality is a desirable state because it represents a point where resources are allocated efficiently, and no further changes can be made to benefit one player without harming another.</a:t>
            </a:r>
          </a:p>
          <a:p>
            <a:pPr marL="181240" indent="-181240">
              <a:buFont typeface="Arial" panose="020B0604020202020204" pitchFamily="34" charset="0"/>
              <a:buChar char="•"/>
            </a:pPr>
            <a:endParaRPr lang="en-US" b="0" i="0" dirty="0">
              <a:solidFill>
                <a:schemeClr val="tx1"/>
              </a:solidFill>
              <a:effectLst/>
              <a:latin typeface="Söhne"/>
            </a:endParaRPr>
          </a:p>
          <a:p>
            <a:pPr algn="l"/>
            <a:r>
              <a:rPr lang="en-US" b="1" i="0" dirty="0">
                <a:solidFill>
                  <a:schemeClr val="tx1"/>
                </a:solidFill>
                <a:effectLst/>
                <a:latin typeface="Söhne"/>
              </a:rPr>
              <a:t>Pareto Domination</a:t>
            </a:r>
            <a:r>
              <a:rPr lang="en-US" b="0" i="0" dirty="0">
                <a:solidFill>
                  <a:schemeClr val="tx1"/>
                </a:solidFill>
                <a:effectLst/>
                <a:latin typeface="Söhne"/>
              </a:rPr>
              <a:t>:</a:t>
            </a:r>
          </a:p>
          <a:p>
            <a:pPr marL="181240" indent="-181240">
              <a:buFont typeface="Arial" panose="020B0604020202020204" pitchFamily="34" charset="0"/>
              <a:buChar char="•"/>
            </a:pPr>
            <a:r>
              <a:rPr lang="en-US" b="0" i="0" dirty="0">
                <a:solidFill>
                  <a:schemeClr val="tx1"/>
                </a:solidFill>
                <a:effectLst/>
                <a:latin typeface="Söhne"/>
              </a:rPr>
              <a:t>Pareto domination, on the other hand, is a comparison between two outcomes in a game.</a:t>
            </a:r>
          </a:p>
          <a:p>
            <a:pPr marL="181240" indent="-181240">
              <a:buFont typeface="Arial" panose="020B0604020202020204" pitchFamily="34" charset="0"/>
              <a:buChar char="•"/>
            </a:pPr>
            <a:r>
              <a:rPr lang="en-US" b="0" i="0" dirty="0">
                <a:solidFill>
                  <a:schemeClr val="tx1"/>
                </a:solidFill>
                <a:effectLst/>
                <a:latin typeface="Söhne"/>
              </a:rPr>
              <a:t>An outcome is said to Pareto dominate another outcome if it is at least as good for all players and strictly better for at least one player. In this case, one outcome is better in some way without making any player worse off.</a:t>
            </a:r>
          </a:p>
          <a:p>
            <a:pPr marL="181240" indent="-181240">
              <a:buFont typeface="Arial" panose="020B0604020202020204" pitchFamily="34" charset="0"/>
              <a:buChar char="•"/>
            </a:pPr>
            <a:r>
              <a:rPr lang="en-US" b="0" i="0" dirty="0">
                <a:solidFill>
                  <a:schemeClr val="tx1"/>
                </a:solidFill>
                <a:effectLst/>
                <a:latin typeface="Söhne"/>
              </a:rPr>
              <a:t>Pareto domination is a way to compare the desirability of different outcomes within a game.</a:t>
            </a:r>
          </a:p>
          <a:p>
            <a:endParaRPr lang="en-US" b="0" i="0" dirty="0">
              <a:solidFill>
                <a:schemeClr val="tx1"/>
              </a:solidFill>
              <a:effectLst/>
              <a:latin typeface="Söhne"/>
            </a:endParaRPr>
          </a:p>
          <a:p>
            <a:pPr marL="181240" indent="-181240">
              <a:buFont typeface="Arial" panose="020B0604020202020204" pitchFamily="34" charset="0"/>
              <a:buChar char="•"/>
            </a:pPr>
            <a:endParaRPr lang="en-US" b="0" i="0" dirty="0">
              <a:solidFill>
                <a:schemeClr val="tx1"/>
              </a:solidFill>
              <a:effectLst/>
              <a:latin typeface="Söhne"/>
            </a:endParaRPr>
          </a:p>
          <a:p>
            <a:r>
              <a:rPr lang="en-US" b="1" i="0" dirty="0">
                <a:solidFill>
                  <a:schemeClr val="tx1"/>
                </a:solidFill>
                <a:effectLst/>
                <a:latin typeface="Söhne"/>
              </a:rPr>
              <a:t>Conclusion: </a:t>
            </a:r>
          </a:p>
          <a:p>
            <a:pPr marL="302066" indent="-302066">
              <a:buFont typeface="Arial" panose="020B0604020202020204" pitchFamily="34" charset="0"/>
              <a:buChar char="•"/>
            </a:pPr>
            <a:r>
              <a:rPr lang="en-US" sz="1900" dirty="0">
                <a:latin typeface="Times New Roman" panose="02020603050405020304" pitchFamily="18" charset="0"/>
              </a:rPr>
              <a:t>First, every game must have at least one such optimum, and there must always exist at least one such optimum in which all players adopt pure strategies. </a:t>
            </a:r>
          </a:p>
          <a:p>
            <a:pPr marL="302066" indent="-302066">
              <a:buFont typeface="Arial" panose="020B0604020202020204" pitchFamily="34" charset="0"/>
              <a:buChar char="•"/>
            </a:pPr>
            <a:r>
              <a:rPr lang="en-US" sz="1900" dirty="0">
                <a:latin typeface="Times New Roman" panose="02020603050405020304" pitchFamily="18" charset="0"/>
              </a:rPr>
              <a:t>Second, some games will have multiple optima. For example, in zero-sum games, </a:t>
            </a:r>
            <a:r>
              <a:rPr lang="en-US" sz="1900" i="1" dirty="0">
                <a:latin typeface="Times New Roman" panose="02020603050405020304" pitchFamily="18" charset="0"/>
              </a:rPr>
              <a:t>all </a:t>
            </a:r>
            <a:r>
              <a:rPr lang="en-US" sz="1900" dirty="0">
                <a:latin typeface="Times New Roman" panose="02020603050405020304" pitchFamily="18" charset="0"/>
              </a:rPr>
              <a:t>strategy profiles are strictly Pareto efficient. </a:t>
            </a:r>
          </a:p>
          <a:p>
            <a:pPr marL="302066" indent="-302066">
              <a:buFont typeface="Arial" panose="020B0604020202020204" pitchFamily="34" charset="0"/>
              <a:buChar char="•"/>
            </a:pPr>
            <a:r>
              <a:rPr lang="en-US" sz="1900" dirty="0">
                <a:latin typeface="Times New Roman" panose="02020603050405020304" pitchFamily="18" charset="0"/>
              </a:rPr>
              <a:t>Finally, in common-payoff games, all Pareto optimal strategy profiles have the same payoffs.</a:t>
            </a:r>
            <a:endParaRPr lang="en-US" b="0" i="0" dirty="0">
              <a:solidFill>
                <a:schemeClr val="tx1"/>
              </a:solidFill>
              <a:effectLst/>
              <a:latin typeface="Söhne"/>
            </a:endParaRPr>
          </a:p>
          <a:p>
            <a:endParaRPr dirty="0">
              <a:solidFill>
                <a:schemeClr val="tx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lgn="l"/>
            <a:r>
              <a:rPr lang="en-US" sz="1900" dirty="0">
                <a:latin typeface="Times New Roman" panose="02020603050405020304" pitchFamily="18" charset="0"/>
              </a:rPr>
              <a:t>imagine two drivers driving towards each other in a country having no traffic rules, and who must independently decide whether to drive on the left or on the right. If the drivers choose the same side (left or right) they have some high utility, and otherwise they have a low utility</a:t>
            </a:r>
            <a:endParaRPr dirty="0">
              <a:solidFill>
                <a:schemeClr val="tx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lgn="l"/>
            <a:r>
              <a:rPr lang="en-US" sz="1900" i="1" dirty="0">
                <a:latin typeface="Times New Roman" panose="02020603050405020304" pitchFamily="18" charset="0"/>
              </a:rPr>
              <a:t>Battle of the Sexes</a:t>
            </a:r>
            <a:r>
              <a:rPr lang="en-US" sz="1900" dirty="0">
                <a:latin typeface="Times New Roman" panose="02020603050405020304" pitchFamily="18" charset="0"/>
              </a:rPr>
              <a:t>, a Sexes game husband and wife wish to do some sport exercise, and they can select among two options:</a:t>
            </a:r>
          </a:p>
          <a:p>
            <a:pPr algn="l"/>
            <a:r>
              <a:rPr lang="en-US" sz="1900" dirty="0">
                <a:latin typeface="Times New Roman" panose="02020603050405020304" pitchFamily="18" charset="0"/>
              </a:rPr>
              <a:t>“Bayley“ or “Football”. They much prefer to go together rather than to separate movies, but while the wife (player 1) prefers B, the</a:t>
            </a:r>
          </a:p>
          <a:p>
            <a:pPr algn="l"/>
            <a:r>
              <a:rPr lang="en-US" sz="1900" dirty="0">
                <a:latin typeface="Times New Roman" panose="02020603050405020304" pitchFamily="18" charset="0"/>
              </a:rPr>
              <a:t>husband (player 2) prefers F.</a:t>
            </a:r>
            <a:endParaRPr dirty="0">
              <a:solidFill>
                <a:schemeClr val="tx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lgn="l"/>
            <a:r>
              <a:rPr lang="en-US" sz="1900" dirty="0">
                <a:latin typeface="Söhne"/>
              </a:rPr>
              <a:t>The payoffs are assigned based on the following logic:</a:t>
            </a:r>
          </a:p>
          <a:p>
            <a:pPr marL="181240" indent="-181240">
              <a:buFont typeface="Arial" panose="020B0604020202020204" pitchFamily="34" charset="0"/>
              <a:buChar char="•"/>
            </a:pPr>
            <a:r>
              <a:rPr lang="en-US" sz="1900" dirty="0">
                <a:latin typeface="Söhne"/>
              </a:rPr>
              <a:t>If both players choose the same side (both heads or both tails), Player 1 wins, and Player 2 loses. The payoffs are (1, -1) for Player 1 and (-1, 1) for Player 2.</a:t>
            </a:r>
          </a:p>
          <a:p>
            <a:pPr marL="181240" indent="-181240">
              <a:buFont typeface="Arial" panose="020B0604020202020204" pitchFamily="34" charset="0"/>
              <a:buChar char="•"/>
            </a:pPr>
            <a:r>
              <a:rPr lang="en-US" sz="1900" dirty="0">
                <a:latin typeface="Söhne"/>
              </a:rPr>
              <a:t>If the players choose different sides, Player 2 wins, and Player 1 loses. The payoffs are (-1, 1) for Player 1 and (1, -1) for Player 2.</a:t>
            </a:r>
          </a:p>
          <a:p>
            <a:endParaRPr lang="en-US" sz="1900" dirty="0"/>
          </a:p>
          <a:p>
            <a:r>
              <a:rPr lang="en-US" sz="3000" dirty="0">
                <a:latin typeface="Söhne"/>
              </a:rPr>
              <a:t>None of the outcomes are Pareto optimal. Pareto optimality implies that there is no other outcome in the game that is at least as good for all players and strictly better for at least one player</a:t>
            </a:r>
            <a:endParaRPr lang="en-US" sz="1900" dirty="0"/>
          </a:p>
        </p:txBody>
      </p:sp>
    </p:spTree>
    <p:extLst>
      <p:ext uri="{BB962C8B-B14F-4D97-AF65-F5344CB8AC3E}">
        <p14:creationId xmlns:p14="http://schemas.microsoft.com/office/powerpoint/2010/main" val="1158254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marL="13425"/>
            <a:r>
              <a:rPr lang="en-US" sz="1300" dirty="0">
                <a:latin typeface="Times New Roman"/>
                <a:cs typeface="Times New Roman"/>
              </a:rPr>
              <a:t>Cons</a:t>
            </a:r>
            <a:r>
              <a:rPr lang="en-US" sz="1300" spc="-11" dirty="0">
                <a:latin typeface="Times New Roman"/>
                <a:cs typeface="Times New Roman"/>
              </a:rPr>
              <a:t>id</a:t>
            </a:r>
            <a:r>
              <a:rPr lang="en-US" sz="1300" spc="-16" dirty="0">
                <a:latin typeface="Times New Roman"/>
                <a:cs typeface="Times New Roman"/>
              </a:rPr>
              <a:t>e</a:t>
            </a:r>
            <a:r>
              <a:rPr lang="en-US" sz="1300" dirty="0">
                <a:latin typeface="Times New Roman"/>
                <a:cs typeface="Times New Roman"/>
              </a:rPr>
              <a:t>r </a:t>
            </a:r>
            <a:r>
              <a:rPr lang="en-US" sz="1300" spc="-11" dirty="0">
                <a:latin typeface="Times New Roman"/>
                <a:cs typeface="Times New Roman"/>
              </a:rPr>
              <a:t>thi</a:t>
            </a:r>
            <a:r>
              <a:rPr lang="en-US" sz="1300" dirty="0">
                <a:latin typeface="Times New Roman"/>
                <a:cs typeface="Times New Roman"/>
              </a:rPr>
              <a:t>s s</a:t>
            </a:r>
            <a:r>
              <a:rPr lang="en-US" sz="1300" spc="-11" dirty="0">
                <a:latin typeface="Times New Roman"/>
                <a:cs typeface="Times New Roman"/>
              </a:rPr>
              <a:t>itu</a:t>
            </a:r>
            <a:r>
              <a:rPr lang="en-US" sz="1300" spc="-16" dirty="0">
                <a:latin typeface="Times New Roman"/>
                <a:cs typeface="Times New Roman"/>
              </a:rPr>
              <a:t>a</a:t>
            </a:r>
            <a:r>
              <a:rPr lang="en-US" sz="1300" spc="-11" dirty="0">
                <a:latin typeface="Times New Roman"/>
                <a:cs typeface="Times New Roman"/>
              </a:rPr>
              <a:t>ti</a:t>
            </a:r>
            <a:r>
              <a:rPr lang="en-US" sz="1300" dirty="0">
                <a:latin typeface="Times New Roman"/>
                <a:cs typeface="Times New Roman"/>
              </a:rPr>
              <a:t>on </a:t>
            </a:r>
            <a:r>
              <a:rPr lang="en-US" sz="1300" spc="-16" dirty="0">
                <a:latin typeface="Times New Roman"/>
                <a:cs typeface="Times New Roman"/>
              </a:rPr>
              <a:t>a</a:t>
            </a:r>
            <a:r>
              <a:rPr lang="en-US" sz="1300" dirty="0">
                <a:latin typeface="Times New Roman"/>
                <a:cs typeface="Times New Roman"/>
              </a:rPr>
              <a:t>s </a:t>
            </a:r>
            <a:r>
              <a:rPr lang="en-US" sz="1300" spc="-11" dirty="0">
                <a:latin typeface="Times New Roman"/>
                <a:cs typeface="Times New Roman"/>
              </a:rPr>
              <a:t>a</a:t>
            </a:r>
            <a:r>
              <a:rPr lang="en-US" sz="1300" spc="-5" dirty="0">
                <a:latin typeface="Times New Roman"/>
                <a:cs typeface="Times New Roman"/>
              </a:rPr>
              <a:t> </a:t>
            </a:r>
            <a:r>
              <a:rPr lang="en-US" sz="1300" spc="-11" dirty="0">
                <a:latin typeface="Times New Roman"/>
                <a:cs typeface="Times New Roman"/>
              </a:rPr>
              <a:t>t</a:t>
            </a:r>
            <a:r>
              <a:rPr lang="en-US" sz="1300" dirty="0">
                <a:latin typeface="Times New Roman"/>
                <a:cs typeface="Times New Roman"/>
              </a:rPr>
              <a:t>w</a:t>
            </a:r>
            <a:r>
              <a:rPr lang="en-US" sz="1300" spc="-11" dirty="0">
                <a:latin typeface="Times New Roman"/>
                <a:cs typeface="Times New Roman"/>
              </a:rPr>
              <a:t>o-pl</a:t>
            </a:r>
            <a:r>
              <a:rPr lang="en-US" sz="1300" spc="-16" dirty="0">
                <a:latin typeface="Times New Roman"/>
                <a:cs typeface="Times New Roman"/>
              </a:rPr>
              <a:t>aye</a:t>
            </a:r>
            <a:r>
              <a:rPr lang="en-US" sz="1300" dirty="0">
                <a:latin typeface="Times New Roman"/>
                <a:cs typeface="Times New Roman"/>
              </a:rPr>
              <a:t>r </a:t>
            </a:r>
            <a:r>
              <a:rPr lang="en-US" sz="1300" spc="-16" dirty="0">
                <a:latin typeface="Times New Roman"/>
                <a:cs typeface="Times New Roman"/>
              </a:rPr>
              <a:t>ga</a:t>
            </a:r>
            <a:r>
              <a:rPr lang="en-US" sz="1300" spc="-21" dirty="0">
                <a:latin typeface="Times New Roman"/>
                <a:cs typeface="Times New Roman"/>
              </a:rPr>
              <a:t>m</a:t>
            </a:r>
            <a:r>
              <a:rPr lang="en-US" sz="1300" spc="-16" dirty="0">
                <a:latin typeface="Times New Roman"/>
                <a:cs typeface="Times New Roman"/>
              </a:rPr>
              <a:t>e</a:t>
            </a:r>
            <a:r>
              <a:rPr lang="en-US" sz="1300" spc="-11" dirty="0">
                <a:latin typeface="Times New Roman"/>
                <a:cs typeface="Times New Roman"/>
              </a:rPr>
              <a:t>:</a:t>
            </a:r>
            <a:endParaRPr lang="en-US" sz="1300" dirty="0">
              <a:latin typeface="Times New Roman"/>
              <a:cs typeface="Times New Roman"/>
            </a:endParaRPr>
          </a:p>
          <a:p>
            <a:pPr marL="255078" indent="-241653">
              <a:spcBef>
                <a:spcPts val="169"/>
              </a:spcBef>
              <a:buFont typeface="Times New Roman"/>
              <a:buChar char="•"/>
              <a:tabLst>
                <a:tab pos="255078" algn="l"/>
              </a:tabLst>
            </a:pPr>
            <a:r>
              <a:rPr lang="en-US" sz="1300" spc="-11" dirty="0">
                <a:latin typeface="Times New Roman"/>
                <a:cs typeface="Times New Roman"/>
              </a:rPr>
              <a:t>both use</a:t>
            </a:r>
            <a:r>
              <a:rPr lang="en-US" sz="1300" spc="-5" dirty="0">
                <a:latin typeface="Times New Roman"/>
                <a:cs typeface="Times New Roman"/>
              </a:rPr>
              <a:t> </a:t>
            </a:r>
            <a:r>
              <a:rPr lang="en-US" sz="1300" spc="-11" dirty="0">
                <a:latin typeface="Times New Roman"/>
                <a:cs typeface="Times New Roman"/>
              </a:rPr>
              <a:t>a</a:t>
            </a:r>
            <a:r>
              <a:rPr lang="en-US" sz="1300" spc="-5" dirty="0">
                <a:latin typeface="Times New Roman"/>
                <a:cs typeface="Times New Roman"/>
              </a:rPr>
              <a:t> </a:t>
            </a:r>
            <a:r>
              <a:rPr lang="en-US" sz="1300" spc="-16" dirty="0">
                <a:latin typeface="Times New Roman"/>
                <a:cs typeface="Times New Roman"/>
              </a:rPr>
              <a:t>c</a:t>
            </a:r>
            <a:r>
              <a:rPr lang="en-US" sz="1300" spc="-11" dirty="0">
                <a:latin typeface="Times New Roman"/>
                <a:cs typeface="Times New Roman"/>
              </a:rPr>
              <a:t>orr</a:t>
            </a:r>
            <a:r>
              <a:rPr lang="en-US" sz="1300" spc="-16" dirty="0">
                <a:latin typeface="Times New Roman"/>
                <a:cs typeface="Times New Roman"/>
              </a:rPr>
              <a:t>ec</a:t>
            </a:r>
            <a:r>
              <a:rPr lang="en-US" sz="1300" spc="-11" dirty="0">
                <a:latin typeface="Times New Roman"/>
                <a:cs typeface="Times New Roman"/>
              </a:rPr>
              <a:t>t</a:t>
            </a:r>
            <a:r>
              <a:rPr lang="en-US" sz="1300" dirty="0">
                <a:latin typeface="Times New Roman"/>
                <a:cs typeface="Times New Roman"/>
              </a:rPr>
              <a:t> </a:t>
            </a:r>
            <a:r>
              <a:rPr lang="en-US" sz="1300" spc="-11" dirty="0">
                <a:latin typeface="Times New Roman"/>
                <a:cs typeface="Times New Roman"/>
              </a:rPr>
              <a:t>impl</a:t>
            </a:r>
            <a:r>
              <a:rPr lang="en-US" sz="1300" spc="-16" dirty="0">
                <a:latin typeface="Times New Roman"/>
                <a:cs typeface="Times New Roman"/>
              </a:rPr>
              <a:t>e</a:t>
            </a:r>
            <a:r>
              <a:rPr lang="en-US" sz="1300" spc="-21" dirty="0">
                <a:latin typeface="Times New Roman"/>
                <a:cs typeface="Times New Roman"/>
              </a:rPr>
              <a:t>m</a:t>
            </a:r>
            <a:r>
              <a:rPr lang="en-US" sz="1300" spc="-16" dirty="0">
                <a:latin typeface="Times New Roman"/>
                <a:cs typeface="Times New Roman"/>
              </a:rPr>
              <a:t>e</a:t>
            </a:r>
            <a:r>
              <a:rPr lang="en-US" sz="1300" spc="-11" dirty="0">
                <a:latin typeface="Times New Roman"/>
                <a:cs typeface="Times New Roman"/>
              </a:rPr>
              <a:t>nt</a:t>
            </a:r>
            <a:r>
              <a:rPr lang="en-US" sz="1300" spc="-16" dirty="0">
                <a:latin typeface="Times New Roman"/>
                <a:cs typeface="Times New Roman"/>
              </a:rPr>
              <a:t>a</a:t>
            </a:r>
            <a:r>
              <a:rPr lang="en-US" sz="1300" spc="-11" dirty="0">
                <a:latin typeface="Times New Roman"/>
                <a:cs typeface="Times New Roman"/>
              </a:rPr>
              <a:t>tion:</a:t>
            </a:r>
            <a:r>
              <a:rPr lang="en-US" sz="1300" dirty="0">
                <a:latin typeface="Times New Roman"/>
                <a:cs typeface="Times New Roman"/>
              </a:rPr>
              <a:t> </a:t>
            </a:r>
            <a:r>
              <a:rPr lang="en-US" sz="1300" spc="-11" dirty="0">
                <a:latin typeface="Times New Roman"/>
                <a:cs typeface="Times New Roman"/>
              </a:rPr>
              <a:t>bot</a:t>
            </a:r>
            <a:r>
              <a:rPr lang="en-US" sz="1300" dirty="0">
                <a:latin typeface="Times New Roman"/>
                <a:cs typeface="Times New Roman"/>
              </a:rPr>
              <a:t>h </a:t>
            </a:r>
            <a:r>
              <a:rPr lang="en-US" sz="1300" spc="-16" dirty="0">
                <a:latin typeface="Times New Roman"/>
                <a:cs typeface="Times New Roman"/>
              </a:rPr>
              <a:t>ge</a:t>
            </a:r>
            <a:r>
              <a:rPr lang="en-US" sz="1300" spc="-11" dirty="0">
                <a:latin typeface="Times New Roman"/>
                <a:cs typeface="Times New Roman"/>
              </a:rPr>
              <a:t>t</a:t>
            </a:r>
            <a:r>
              <a:rPr lang="en-US" sz="1300" dirty="0">
                <a:latin typeface="Times New Roman"/>
                <a:cs typeface="Times New Roman"/>
              </a:rPr>
              <a:t> 1 </a:t>
            </a:r>
            <a:r>
              <a:rPr lang="en-US" sz="1300" spc="-21" dirty="0" err="1">
                <a:latin typeface="Times New Roman"/>
                <a:cs typeface="Times New Roman"/>
              </a:rPr>
              <a:t>m</a:t>
            </a:r>
            <a:r>
              <a:rPr lang="en-US" sz="1300" dirty="0" err="1">
                <a:latin typeface="Times New Roman"/>
                <a:cs typeface="Times New Roman"/>
              </a:rPr>
              <a:t>s</a:t>
            </a:r>
            <a:r>
              <a:rPr lang="en-US" sz="1300" dirty="0">
                <a:latin typeface="Times New Roman"/>
                <a:cs typeface="Times New Roman"/>
              </a:rPr>
              <a:t> </a:t>
            </a:r>
            <a:r>
              <a:rPr lang="en-US" sz="1300" spc="-16" dirty="0">
                <a:latin typeface="Times New Roman"/>
                <a:cs typeface="Times New Roman"/>
              </a:rPr>
              <a:t>de</a:t>
            </a:r>
            <a:r>
              <a:rPr lang="en-US" sz="1300" spc="-11" dirty="0">
                <a:latin typeface="Times New Roman"/>
                <a:cs typeface="Times New Roman"/>
              </a:rPr>
              <a:t>l</a:t>
            </a:r>
            <a:r>
              <a:rPr lang="en-US" sz="1300" spc="-16" dirty="0">
                <a:latin typeface="Times New Roman"/>
                <a:cs typeface="Times New Roman"/>
              </a:rPr>
              <a:t>a</a:t>
            </a:r>
            <a:r>
              <a:rPr lang="en-US" sz="1300" dirty="0">
                <a:latin typeface="Times New Roman"/>
                <a:cs typeface="Times New Roman"/>
              </a:rPr>
              <a:t>y</a:t>
            </a:r>
          </a:p>
          <a:p>
            <a:pPr marL="255078" indent="-241653">
              <a:spcBef>
                <a:spcPts val="169"/>
              </a:spcBef>
              <a:buFont typeface="Times New Roman"/>
              <a:buChar char="•"/>
              <a:tabLst>
                <a:tab pos="255078" algn="l"/>
              </a:tabLst>
            </a:pPr>
            <a:r>
              <a:rPr lang="en-US" sz="1300" spc="-16" dirty="0">
                <a:latin typeface="Times New Roman"/>
                <a:cs typeface="Times New Roman"/>
              </a:rPr>
              <a:t>one</a:t>
            </a:r>
            <a:r>
              <a:rPr lang="en-US" sz="1300" spc="-5" dirty="0">
                <a:latin typeface="Times New Roman"/>
                <a:cs typeface="Times New Roman"/>
              </a:rPr>
              <a:t> </a:t>
            </a:r>
            <a:r>
              <a:rPr lang="en-US" sz="1300" spc="-16" dirty="0">
                <a:latin typeface="Times New Roman"/>
                <a:cs typeface="Times New Roman"/>
              </a:rPr>
              <a:t>c</a:t>
            </a:r>
            <a:r>
              <a:rPr lang="en-US" sz="1300" spc="-11" dirty="0">
                <a:latin typeface="Times New Roman"/>
                <a:cs typeface="Times New Roman"/>
              </a:rPr>
              <a:t>orr</a:t>
            </a:r>
            <a:r>
              <a:rPr lang="en-US" sz="1300" spc="-16" dirty="0">
                <a:latin typeface="Times New Roman"/>
                <a:cs typeface="Times New Roman"/>
              </a:rPr>
              <a:t>ec</a:t>
            </a:r>
            <a:r>
              <a:rPr lang="en-US" sz="1300" spc="-11" dirty="0">
                <a:latin typeface="Times New Roman"/>
                <a:cs typeface="Times New Roman"/>
              </a:rPr>
              <a:t>t</a:t>
            </a:r>
            <a:r>
              <a:rPr lang="en-US" sz="1300" dirty="0">
                <a:latin typeface="Times New Roman"/>
                <a:cs typeface="Times New Roman"/>
              </a:rPr>
              <a:t>, </a:t>
            </a:r>
            <a:r>
              <a:rPr lang="en-US" sz="1300" spc="-16" dirty="0">
                <a:latin typeface="Times New Roman"/>
                <a:cs typeface="Times New Roman"/>
              </a:rPr>
              <a:t>one</a:t>
            </a:r>
            <a:r>
              <a:rPr lang="en-US" sz="1300" spc="-5" dirty="0">
                <a:latin typeface="Times New Roman"/>
                <a:cs typeface="Times New Roman"/>
              </a:rPr>
              <a:t> </a:t>
            </a:r>
            <a:r>
              <a:rPr lang="en-US" sz="1300" spc="-16" dirty="0">
                <a:latin typeface="Times New Roman"/>
                <a:cs typeface="Times New Roman"/>
              </a:rPr>
              <a:t>de</a:t>
            </a:r>
            <a:r>
              <a:rPr lang="en-US" sz="1300" spc="-11" dirty="0">
                <a:latin typeface="Times New Roman"/>
                <a:cs typeface="Times New Roman"/>
              </a:rPr>
              <a:t>f</a:t>
            </a:r>
            <a:r>
              <a:rPr lang="en-US" sz="1300" spc="-16" dirty="0">
                <a:latin typeface="Times New Roman"/>
                <a:cs typeface="Times New Roman"/>
              </a:rPr>
              <a:t>ec</a:t>
            </a:r>
            <a:r>
              <a:rPr lang="en-US" sz="1300" spc="-11" dirty="0">
                <a:latin typeface="Times New Roman"/>
                <a:cs typeface="Times New Roman"/>
              </a:rPr>
              <a:t>tiv</a:t>
            </a:r>
            <a:r>
              <a:rPr lang="en-US" sz="1300" spc="-16" dirty="0">
                <a:latin typeface="Times New Roman"/>
                <a:cs typeface="Times New Roman"/>
              </a:rPr>
              <a:t>e</a:t>
            </a:r>
            <a:r>
              <a:rPr lang="en-US" sz="1300" spc="-11" dirty="0">
                <a:latin typeface="Times New Roman"/>
                <a:cs typeface="Times New Roman"/>
              </a:rPr>
              <a:t>:</a:t>
            </a:r>
            <a:r>
              <a:rPr lang="en-US" sz="1300" dirty="0">
                <a:latin typeface="Times New Roman"/>
                <a:cs typeface="Times New Roman"/>
              </a:rPr>
              <a:t> 4 </a:t>
            </a:r>
            <a:r>
              <a:rPr lang="en-US" sz="1300" spc="-21" dirty="0" err="1">
                <a:latin typeface="Times New Roman"/>
                <a:cs typeface="Times New Roman"/>
              </a:rPr>
              <a:t>m</a:t>
            </a:r>
            <a:r>
              <a:rPr lang="en-US" sz="1300" dirty="0" err="1">
                <a:latin typeface="Times New Roman"/>
                <a:cs typeface="Times New Roman"/>
              </a:rPr>
              <a:t>s</a:t>
            </a:r>
            <a:r>
              <a:rPr lang="en-US" sz="1300" dirty="0">
                <a:latin typeface="Times New Roman"/>
                <a:cs typeface="Times New Roman"/>
              </a:rPr>
              <a:t> </a:t>
            </a:r>
            <a:r>
              <a:rPr lang="en-US" sz="1300" spc="-16" dirty="0">
                <a:latin typeface="Times New Roman"/>
                <a:cs typeface="Times New Roman"/>
              </a:rPr>
              <a:t>de</a:t>
            </a:r>
            <a:r>
              <a:rPr lang="en-US" sz="1300" spc="-11" dirty="0">
                <a:latin typeface="Times New Roman"/>
                <a:cs typeface="Times New Roman"/>
              </a:rPr>
              <a:t>l</a:t>
            </a:r>
            <a:r>
              <a:rPr lang="en-US" sz="1300" spc="-16" dirty="0">
                <a:latin typeface="Times New Roman"/>
                <a:cs typeface="Times New Roman"/>
              </a:rPr>
              <a:t>a</a:t>
            </a:r>
            <a:r>
              <a:rPr lang="en-US" sz="1300" dirty="0">
                <a:latin typeface="Times New Roman"/>
                <a:cs typeface="Times New Roman"/>
              </a:rPr>
              <a:t>y for </a:t>
            </a:r>
            <a:r>
              <a:rPr lang="en-US" sz="1300" spc="-16" dirty="0">
                <a:latin typeface="Times New Roman"/>
                <a:cs typeface="Times New Roman"/>
              </a:rPr>
              <a:t>c</a:t>
            </a:r>
            <a:r>
              <a:rPr lang="en-US" sz="1300" spc="-11" dirty="0">
                <a:latin typeface="Times New Roman"/>
                <a:cs typeface="Times New Roman"/>
              </a:rPr>
              <a:t>orr</a:t>
            </a:r>
            <a:r>
              <a:rPr lang="en-US" sz="1300" spc="-16" dirty="0">
                <a:latin typeface="Times New Roman"/>
                <a:cs typeface="Times New Roman"/>
              </a:rPr>
              <a:t>ec</a:t>
            </a:r>
            <a:r>
              <a:rPr lang="en-US" sz="1300" spc="-11" dirty="0">
                <a:latin typeface="Times New Roman"/>
                <a:cs typeface="Times New Roman"/>
              </a:rPr>
              <a:t>t</a:t>
            </a:r>
            <a:r>
              <a:rPr lang="en-US" sz="1300" dirty="0">
                <a:latin typeface="Times New Roman"/>
                <a:cs typeface="Times New Roman"/>
              </a:rPr>
              <a:t>, 0 </a:t>
            </a:r>
            <a:r>
              <a:rPr lang="en-US" sz="1300" spc="-21" dirty="0" err="1">
                <a:latin typeface="Times New Roman"/>
                <a:cs typeface="Times New Roman"/>
              </a:rPr>
              <a:t>m</a:t>
            </a:r>
            <a:r>
              <a:rPr lang="en-US" sz="1300" dirty="0" err="1">
                <a:latin typeface="Times New Roman"/>
                <a:cs typeface="Times New Roman"/>
              </a:rPr>
              <a:t>s</a:t>
            </a:r>
            <a:r>
              <a:rPr lang="en-US" sz="1300" dirty="0">
                <a:latin typeface="Times New Roman"/>
                <a:cs typeface="Times New Roman"/>
              </a:rPr>
              <a:t> for </a:t>
            </a:r>
            <a:r>
              <a:rPr lang="en-US" sz="1300" spc="-16" dirty="0">
                <a:latin typeface="Times New Roman"/>
                <a:cs typeface="Times New Roman"/>
              </a:rPr>
              <a:t>de</a:t>
            </a:r>
            <a:r>
              <a:rPr lang="en-US" sz="1300" spc="-11" dirty="0">
                <a:latin typeface="Times New Roman"/>
                <a:cs typeface="Times New Roman"/>
              </a:rPr>
              <a:t>f</a:t>
            </a:r>
            <a:r>
              <a:rPr lang="en-US" sz="1300" spc="-16" dirty="0">
                <a:latin typeface="Times New Roman"/>
                <a:cs typeface="Times New Roman"/>
              </a:rPr>
              <a:t>ec</a:t>
            </a:r>
            <a:r>
              <a:rPr lang="en-US" sz="1300" spc="-11" dirty="0">
                <a:latin typeface="Times New Roman"/>
                <a:cs typeface="Times New Roman"/>
              </a:rPr>
              <a:t>tive</a:t>
            </a:r>
            <a:endParaRPr lang="en-US" sz="1300" dirty="0">
              <a:latin typeface="Times New Roman"/>
              <a:cs typeface="Times New Roman"/>
            </a:endParaRPr>
          </a:p>
          <a:p>
            <a:pPr marL="255078" indent="-241653">
              <a:spcBef>
                <a:spcPts val="169"/>
              </a:spcBef>
              <a:buFont typeface="Times New Roman"/>
              <a:buChar char="•"/>
              <a:tabLst>
                <a:tab pos="255078" algn="l"/>
              </a:tabLst>
            </a:pPr>
            <a:r>
              <a:rPr lang="en-US" sz="1300" spc="-11" dirty="0">
                <a:latin typeface="Times New Roman"/>
                <a:cs typeface="Times New Roman"/>
              </a:rPr>
              <a:t>both </a:t>
            </a:r>
            <a:r>
              <a:rPr lang="en-US" sz="1300" spc="-16" dirty="0">
                <a:latin typeface="Times New Roman"/>
                <a:cs typeface="Times New Roman"/>
              </a:rPr>
              <a:t>de</a:t>
            </a:r>
            <a:r>
              <a:rPr lang="en-US" sz="1300" spc="-11" dirty="0">
                <a:latin typeface="Times New Roman"/>
                <a:cs typeface="Times New Roman"/>
              </a:rPr>
              <a:t>f</a:t>
            </a:r>
            <a:r>
              <a:rPr lang="en-US" sz="1300" spc="-16" dirty="0">
                <a:latin typeface="Times New Roman"/>
                <a:cs typeface="Times New Roman"/>
              </a:rPr>
              <a:t>ec</a:t>
            </a:r>
            <a:r>
              <a:rPr lang="en-US" sz="1300" spc="-11" dirty="0">
                <a:latin typeface="Times New Roman"/>
                <a:cs typeface="Times New Roman"/>
              </a:rPr>
              <a:t>tiv</a:t>
            </a:r>
            <a:r>
              <a:rPr lang="en-US" sz="1300" spc="-16" dirty="0">
                <a:latin typeface="Times New Roman"/>
                <a:cs typeface="Times New Roman"/>
              </a:rPr>
              <a:t>e</a:t>
            </a:r>
            <a:r>
              <a:rPr lang="en-US" sz="1300" spc="-11" dirty="0">
                <a:latin typeface="Times New Roman"/>
                <a:cs typeface="Times New Roman"/>
              </a:rPr>
              <a:t>:</a:t>
            </a:r>
            <a:r>
              <a:rPr lang="en-US" sz="1300" dirty="0">
                <a:latin typeface="Times New Roman"/>
                <a:cs typeface="Times New Roman"/>
              </a:rPr>
              <a:t> </a:t>
            </a:r>
            <a:r>
              <a:rPr lang="en-US" sz="1300" spc="-11" dirty="0">
                <a:latin typeface="Times New Roman"/>
                <a:cs typeface="Times New Roman"/>
              </a:rPr>
              <a:t>bot</a:t>
            </a:r>
            <a:r>
              <a:rPr lang="en-US" sz="1300" dirty="0">
                <a:latin typeface="Times New Roman"/>
                <a:cs typeface="Times New Roman"/>
              </a:rPr>
              <a:t>h </a:t>
            </a:r>
            <a:r>
              <a:rPr lang="en-US" sz="1300" spc="-16" dirty="0">
                <a:latin typeface="Times New Roman"/>
                <a:cs typeface="Times New Roman"/>
              </a:rPr>
              <a:t>ge</a:t>
            </a:r>
            <a:r>
              <a:rPr lang="en-US" sz="1300" spc="-11" dirty="0">
                <a:latin typeface="Times New Roman"/>
                <a:cs typeface="Times New Roman"/>
              </a:rPr>
              <a:t>t</a:t>
            </a:r>
            <a:r>
              <a:rPr lang="en-US" sz="1300" dirty="0">
                <a:latin typeface="Times New Roman"/>
                <a:cs typeface="Times New Roman"/>
              </a:rPr>
              <a:t> </a:t>
            </a:r>
            <a:r>
              <a:rPr lang="en-US" sz="1300" spc="-11" dirty="0">
                <a:latin typeface="Times New Roman"/>
                <a:cs typeface="Times New Roman"/>
              </a:rPr>
              <a:t>a</a:t>
            </a:r>
            <a:r>
              <a:rPr lang="en-US" sz="1300" spc="-5" dirty="0">
                <a:latin typeface="Times New Roman"/>
                <a:cs typeface="Times New Roman"/>
              </a:rPr>
              <a:t> </a:t>
            </a:r>
            <a:r>
              <a:rPr lang="en-US" sz="1300" dirty="0">
                <a:latin typeface="Times New Roman"/>
                <a:cs typeface="Times New Roman"/>
              </a:rPr>
              <a:t>3 </a:t>
            </a:r>
            <a:r>
              <a:rPr lang="en-US" sz="1300" spc="-21" dirty="0" err="1">
                <a:latin typeface="Times New Roman"/>
                <a:cs typeface="Times New Roman"/>
              </a:rPr>
              <a:t>m</a:t>
            </a:r>
            <a:r>
              <a:rPr lang="en-US" sz="1300" dirty="0" err="1">
                <a:latin typeface="Times New Roman"/>
                <a:cs typeface="Times New Roman"/>
              </a:rPr>
              <a:t>s</a:t>
            </a:r>
            <a:r>
              <a:rPr lang="en-US" sz="1300" dirty="0">
                <a:latin typeface="Times New Roman"/>
                <a:cs typeface="Times New Roman"/>
              </a:rPr>
              <a:t> </a:t>
            </a:r>
            <a:r>
              <a:rPr lang="en-US" sz="1300" spc="-16" dirty="0">
                <a:latin typeface="Times New Roman"/>
                <a:cs typeface="Times New Roman"/>
              </a:rPr>
              <a:t>de</a:t>
            </a:r>
            <a:r>
              <a:rPr lang="en-US" sz="1300" spc="-11" dirty="0">
                <a:latin typeface="Times New Roman"/>
                <a:cs typeface="Times New Roman"/>
              </a:rPr>
              <a:t>l</a:t>
            </a:r>
            <a:r>
              <a:rPr lang="en-US" sz="1300" spc="-16" dirty="0">
                <a:latin typeface="Times New Roman"/>
                <a:cs typeface="Times New Roman"/>
              </a:rPr>
              <a:t>a</a:t>
            </a:r>
            <a:r>
              <a:rPr lang="en-US" sz="1300" spc="-153" dirty="0">
                <a:latin typeface="Times New Roman"/>
                <a:cs typeface="Times New Roman"/>
              </a:rPr>
              <a:t>y</a:t>
            </a:r>
            <a:r>
              <a:rPr lang="en-US" sz="1300" dirty="0">
                <a:latin typeface="Times New Roman"/>
                <a:cs typeface="Times New Roman"/>
              </a:rPr>
              <a:t>.</a:t>
            </a:r>
          </a:p>
          <a:p>
            <a:endParaRPr lang="en-US" dirty="0">
              <a:solidFill>
                <a:schemeClr val="tx1"/>
              </a:solidFill>
            </a:endParaRPr>
          </a:p>
          <a:p>
            <a:r>
              <a:rPr lang="en-US" b="1" i="0" dirty="0">
                <a:solidFill>
                  <a:schemeClr val="tx1"/>
                </a:solidFill>
                <a:effectLst/>
                <a:latin typeface="Söhne"/>
              </a:rPr>
              <a:t>Pareto Dominance</a:t>
            </a:r>
            <a:r>
              <a:rPr lang="en-US" b="0" i="0" dirty="0">
                <a:solidFill>
                  <a:schemeClr val="tx1"/>
                </a:solidFill>
                <a:effectLst/>
                <a:latin typeface="Söhne"/>
              </a:rPr>
              <a:t>: In other words, an outcome (A, B) Pareto dominates another outcome (C, D) if it is at least as good as the other outcome for both players, and it is strictly better (greater) for at least one player. This ensures that no player is worse off, and at least one player is better off in the Pareto dominant outcome.</a:t>
            </a:r>
          </a:p>
          <a:p>
            <a:endParaRPr lang="en-US" b="0" i="0" dirty="0">
              <a:solidFill>
                <a:schemeClr val="tx1"/>
              </a:solidFill>
              <a:effectLst/>
              <a:latin typeface="Söhne"/>
            </a:endParaRPr>
          </a:p>
          <a:p>
            <a:pPr marL="241653" indent="-241653">
              <a:buFont typeface="+mj-lt"/>
              <a:buAutoNum type="arabicPeriod"/>
            </a:pPr>
            <a:r>
              <a:rPr lang="en-US" b="0" i="0" dirty="0">
                <a:solidFill>
                  <a:schemeClr val="tx1"/>
                </a:solidFill>
                <a:effectLst/>
                <a:latin typeface="Söhne"/>
              </a:rPr>
              <a:t>(-1, -1) is not Pareto dominated by any other outcomes.</a:t>
            </a:r>
          </a:p>
          <a:p>
            <a:pPr marL="241653" indent="-241653">
              <a:buFont typeface="+mj-lt"/>
              <a:buAutoNum type="arabicPeriod"/>
            </a:pPr>
            <a:r>
              <a:rPr lang="en-US" b="0" i="0" dirty="0">
                <a:solidFill>
                  <a:schemeClr val="tx1"/>
                </a:solidFill>
                <a:effectLst/>
                <a:latin typeface="Söhne"/>
              </a:rPr>
              <a:t>(-4, 0) is not Pareto dominated by any other outcomes.</a:t>
            </a:r>
          </a:p>
          <a:p>
            <a:pPr marL="241653" indent="-241653">
              <a:buFont typeface="+mj-lt"/>
              <a:buAutoNum type="arabicPeriod"/>
            </a:pPr>
            <a:r>
              <a:rPr lang="en-US" b="0" i="0" dirty="0">
                <a:solidFill>
                  <a:schemeClr val="tx1"/>
                </a:solidFill>
                <a:effectLst/>
                <a:latin typeface="Söhne"/>
              </a:rPr>
              <a:t>(0, -4) is not Pareto dominated by any other outcomes.</a:t>
            </a:r>
          </a:p>
          <a:p>
            <a:pPr marL="241653" indent="-241653">
              <a:buFont typeface="+mj-lt"/>
              <a:buAutoNum type="arabicPeriod"/>
            </a:pPr>
            <a:r>
              <a:rPr lang="en-US" b="0" i="0" dirty="0">
                <a:solidFill>
                  <a:schemeClr val="tx1"/>
                </a:solidFill>
                <a:effectLst/>
                <a:latin typeface="Söhne"/>
              </a:rPr>
              <a:t>(-3, -3) is Pareto dominated by (-1, -1) because (-1, -1) is strictly better for both players (they both receive a higher payoff in (-1, -1)).</a:t>
            </a:r>
          </a:p>
          <a:p>
            <a:endParaRPr dirty="0">
              <a:solidFill>
                <a:schemeClr val="tx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dirty="0"/>
              <a:t>No, every game has at least one </a:t>
            </a:r>
            <a:r>
              <a:rPr lang="en-US" b="1" dirty="0"/>
              <a:t>Pareto-optimal outcome</a:t>
            </a:r>
            <a:r>
              <a:rPr lang="en-US" dirty="0"/>
              <a:t>. A Pareto-optimal outcome is one in which no player can be made better off without making another player worse off. However, this does not imply that every game has an efficient or desirable outcome for all players. In some games, achieving a Pareto-optimal outcome may still result in significant inequalities or dissatisfaction for some participants. But there will always be some point in the game where no further improvements can be made for any player without harming others.</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dirty="0">
                <a:solidFill>
                  <a:schemeClr val="tx1"/>
                </a:solidFill>
              </a:rPr>
              <a:t>If row n dominates row m (excluded strategy/ row).</a:t>
            </a:r>
          </a:p>
          <a:p>
            <a:r>
              <a:rPr lang="en-US" dirty="0">
                <a:solidFill>
                  <a:schemeClr val="tx1"/>
                </a:solidFill>
              </a:rPr>
              <a:t>If any row/strategy is not dominated by any other row/strategy (better)</a:t>
            </a:r>
            <a:endParaRPr dirty="0">
              <a:solidFill>
                <a:schemeClr val="tx1"/>
              </a:solidFill>
            </a:endParaRPr>
          </a:p>
        </p:txBody>
      </p:sp>
    </p:spTree>
    <p:extLst>
      <p:ext uri="{BB962C8B-B14F-4D97-AF65-F5344CB8AC3E}">
        <p14:creationId xmlns:p14="http://schemas.microsoft.com/office/powerpoint/2010/main" val="3928307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dirty="0"/>
          </a:p>
        </p:txBody>
      </p:sp>
    </p:spTree>
    <p:extLst>
      <p:ext uri="{BB962C8B-B14F-4D97-AF65-F5344CB8AC3E}">
        <p14:creationId xmlns:p14="http://schemas.microsoft.com/office/powerpoint/2010/main" val="3056494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b="1" dirty="0">
                <a:solidFill>
                  <a:schemeClr val="tx1"/>
                </a:solidFill>
              </a:rPr>
              <a:t>What happens:</a:t>
            </a:r>
          </a:p>
          <a:p>
            <a:r>
              <a:rPr lang="en-US" dirty="0">
                <a:solidFill>
                  <a:schemeClr val="tx1"/>
                </a:solidFill>
              </a:rPr>
              <a:t>If player A (rows) plays S3, B plays t3 (0 at the cross of t3, S3:  lose 0 coins at the cell 3,3)</a:t>
            </a:r>
          </a:p>
          <a:p>
            <a:r>
              <a:rPr lang="en-US" dirty="0">
                <a:solidFill>
                  <a:schemeClr val="tx1"/>
                </a:solidFill>
              </a:rPr>
              <a:t>If player A plays S2, B plays t4 (-3 at the cross of t4, S2: make A lose 3 coins)</a:t>
            </a:r>
          </a:p>
          <a:p>
            <a:endParaRPr lang="en-US" dirty="0">
              <a:solidFill>
                <a:schemeClr val="tx1"/>
              </a:solidFill>
            </a:endParaRPr>
          </a:p>
          <a:p>
            <a:r>
              <a:rPr lang="en-US" dirty="0">
                <a:solidFill>
                  <a:schemeClr val="tx1"/>
                </a:solidFill>
              </a:rPr>
              <a:t>This is called the </a:t>
            </a:r>
            <a:r>
              <a:rPr lang="en-US" b="1" dirty="0">
                <a:solidFill>
                  <a:schemeClr val="tx1"/>
                </a:solidFill>
              </a:rPr>
              <a:t>Best Response</a:t>
            </a:r>
            <a:r>
              <a:rPr lang="en-US" b="0" dirty="0">
                <a:solidFill>
                  <a:schemeClr val="tx1"/>
                </a:solidFill>
              </a:rPr>
              <a:t> (if A knows what B playing, pick the best response)</a:t>
            </a:r>
            <a:endParaRPr b="0" dirty="0">
              <a:solidFill>
                <a:schemeClr val="tx1"/>
              </a:solidFill>
            </a:endParaRPr>
          </a:p>
        </p:txBody>
      </p:sp>
    </p:spTree>
    <p:extLst>
      <p:ext uri="{BB962C8B-B14F-4D97-AF65-F5344CB8AC3E}">
        <p14:creationId xmlns:p14="http://schemas.microsoft.com/office/powerpoint/2010/main" val="3259364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lgn="l"/>
            <a:r>
              <a:rPr lang="en-US" b="0" i="0" dirty="0">
                <a:solidFill>
                  <a:schemeClr val="tx1"/>
                </a:solidFill>
                <a:effectLst/>
                <a:latin typeface="Söhne"/>
              </a:rPr>
              <a:t>The key strategic element in this game is the decision to hide either one or two coins and the subsequent guess based on what the opponent might have done. Players need to consider their opponent's possible choices and use randomization to make their guesses less predictable.</a:t>
            </a:r>
          </a:p>
          <a:p>
            <a:pPr algn="l"/>
            <a:endParaRPr lang="en-US" b="0" i="0" dirty="0">
              <a:solidFill>
                <a:schemeClr val="tx1"/>
              </a:solidFill>
              <a:effectLst/>
              <a:latin typeface="Söhne"/>
            </a:endParaRPr>
          </a:p>
          <a:p>
            <a:pPr algn="l"/>
            <a:r>
              <a:rPr lang="en-US" b="0" i="0" dirty="0">
                <a:solidFill>
                  <a:schemeClr val="tx1"/>
                </a:solidFill>
                <a:effectLst/>
                <a:latin typeface="Söhne"/>
              </a:rPr>
              <a:t>For example, if a player always hid and guessed two coins, the opponent could exploit this by always hiding and guessing one coin. To counteract this, players might randomize their choices, such as hiding one coin half the time and two coins the other half, and making corresponding guesses.</a:t>
            </a:r>
          </a:p>
          <a:p>
            <a:pPr algn="l"/>
            <a:endParaRPr lang="en-US" b="0" i="0" dirty="0">
              <a:solidFill>
                <a:schemeClr val="tx1"/>
              </a:solidFill>
              <a:effectLst/>
              <a:latin typeface="Söhne"/>
            </a:endParaRPr>
          </a:p>
          <a:p>
            <a:pPr algn="l"/>
            <a:r>
              <a:rPr lang="en-US" b="0" i="0" dirty="0">
                <a:solidFill>
                  <a:schemeClr val="tx1"/>
                </a:solidFill>
                <a:effectLst/>
                <a:latin typeface="Söhne"/>
              </a:rPr>
              <a:t>The concept of </a:t>
            </a:r>
            <a:r>
              <a:rPr lang="en-US" b="1" i="0" dirty="0">
                <a:solidFill>
                  <a:schemeClr val="tx1"/>
                </a:solidFill>
                <a:effectLst/>
                <a:latin typeface="Söhne"/>
              </a:rPr>
              <a:t>mixed strategy Nash equilibrium </a:t>
            </a:r>
            <a:r>
              <a:rPr lang="en-US" b="0" i="0" dirty="0">
                <a:solidFill>
                  <a:schemeClr val="tx1"/>
                </a:solidFill>
                <a:effectLst/>
                <a:latin typeface="Söhne"/>
              </a:rPr>
              <a:t>comes into play when players choose to randomize their actions to make it difficult for the opponent to exploit a predictable pattern. In equilibrium, neither player has an incentive to unilaterally deviate from their strategy, given the strategy of the opponent.</a:t>
            </a:r>
          </a:p>
          <a:p>
            <a:pPr algn="l"/>
            <a:endParaRPr lang="en-US" b="0" i="0" dirty="0">
              <a:solidFill>
                <a:schemeClr val="tx1"/>
              </a:solidFill>
              <a:effectLst/>
              <a:latin typeface="Söhne"/>
            </a:endParaRPr>
          </a:p>
          <a:p>
            <a:pPr algn="l"/>
            <a:r>
              <a:rPr lang="en-US" b="0" i="0" dirty="0">
                <a:solidFill>
                  <a:schemeClr val="tx1"/>
                </a:solidFill>
                <a:effectLst/>
                <a:latin typeface="Söhne"/>
              </a:rPr>
              <a:t>This game highlights the strategic interplay between hiding, guessing, and randomizing choices. It's a simple yet illustrative example of the complexities that can arise in competitive decision-making when hidden information is involved.</a:t>
            </a:r>
          </a:p>
          <a:p>
            <a:endParaRPr lang="en-US" dirty="0">
              <a:solidFill>
                <a:schemeClr val="tx1"/>
              </a:solidFill>
            </a:endParaRPr>
          </a:p>
          <a:p>
            <a:endParaRPr dirty="0">
              <a:solidFill>
                <a:schemeClr val="tx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lgn="l"/>
            <a:r>
              <a:rPr lang="en-US" b="0" i="0" dirty="0">
                <a:solidFill>
                  <a:schemeClr val="tx1"/>
                </a:solidFill>
                <a:effectLst/>
                <a:latin typeface="Söhne"/>
              </a:rPr>
              <a:t>The key strategic element in this game is the decision to hide either one or two coins and the subsequent guess based on what the opponent might have done. Players need to consider their opponent's possible choices and use randomization to make their guesses less predictable.</a:t>
            </a:r>
          </a:p>
          <a:p>
            <a:pPr algn="l"/>
            <a:endParaRPr lang="en-US" b="0" i="0" dirty="0">
              <a:solidFill>
                <a:schemeClr val="tx1"/>
              </a:solidFill>
              <a:effectLst/>
              <a:latin typeface="Söhne"/>
            </a:endParaRPr>
          </a:p>
          <a:p>
            <a:pPr algn="l"/>
            <a:r>
              <a:rPr lang="en-US" b="0" i="0" dirty="0">
                <a:solidFill>
                  <a:schemeClr val="tx1"/>
                </a:solidFill>
                <a:effectLst/>
                <a:latin typeface="Söhne"/>
              </a:rPr>
              <a:t>For example, if a player always hid and guessed two coins, the opponent could exploit this by always hiding and guessing one coin. To counteract this, players might randomize their choices, such as hiding one coin half the time and two coins the other half, and making corresponding guesses.</a:t>
            </a:r>
          </a:p>
          <a:p>
            <a:pPr algn="l"/>
            <a:endParaRPr lang="en-US" b="0" i="0" dirty="0">
              <a:solidFill>
                <a:schemeClr val="tx1"/>
              </a:solidFill>
              <a:effectLst/>
              <a:latin typeface="Söhne"/>
            </a:endParaRPr>
          </a:p>
          <a:p>
            <a:pPr algn="l"/>
            <a:r>
              <a:rPr lang="en-US" b="0" i="0" dirty="0">
                <a:solidFill>
                  <a:schemeClr val="tx1"/>
                </a:solidFill>
                <a:effectLst/>
                <a:latin typeface="Söhne"/>
              </a:rPr>
              <a:t>The concept of </a:t>
            </a:r>
            <a:r>
              <a:rPr lang="en-US" b="1" i="0" dirty="0">
                <a:solidFill>
                  <a:schemeClr val="tx1"/>
                </a:solidFill>
                <a:effectLst/>
                <a:latin typeface="Söhne"/>
              </a:rPr>
              <a:t>mixed strategy Nash equilibrium </a:t>
            </a:r>
            <a:r>
              <a:rPr lang="en-US" b="0" i="0" dirty="0">
                <a:solidFill>
                  <a:schemeClr val="tx1"/>
                </a:solidFill>
                <a:effectLst/>
                <a:latin typeface="Söhne"/>
              </a:rPr>
              <a:t>comes into play when players choose to randomize their actions to make it difficult for the opponent to exploit a predictable pattern. In equilibrium, neither player has an incentive to unilaterally deviate from their strategy, given the strategy of the opponent.</a:t>
            </a:r>
          </a:p>
          <a:p>
            <a:pPr algn="l"/>
            <a:endParaRPr lang="en-US" b="0" i="0" dirty="0">
              <a:solidFill>
                <a:schemeClr val="tx1"/>
              </a:solidFill>
              <a:effectLst/>
              <a:latin typeface="Söhne"/>
            </a:endParaRPr>
          </a:p>
          <a:p>
            <a:pPr algn="l"/>
            <a:r>
              <a:rPr lang="en-US" b="0" i="0" dirty="0">
                <a:solidFill>
                  <a:schemeClr val="tx1"/>
                </a:solidFill>
                <a:effectLst/>
                <a:latin typeface="Söhne"/>
              </a:rPr>
              <a:t>This game highlights the strategic interplay between hiding, guessing, and randomizing choices. It's a simple yet illustrative example of the complexities that can arise in competitive decision-making when hidden information is involved.</a:t>
            </a:r>
            <a:br>
              <a:rPr lang="en-US" b="0" i="0" dirty="0">
                <a:solidFill>
                  <a:schemeClr val="tx1"/>
                </a:solidFill>
                <a:effectLst/>
                <a:latin typeface="Söhne"/>
              </a:rPr>
            </a:br>
            <a:br>
              <a:rPr lang="en-US" b="0" i="0" dirty="0">
                <a:solidFill>
                  <a:schemeClr val="tx1"/>
                </a:solidFill>
                <a:effectLst/>
                <a:latin typeface="Söhne"/>
              </a:rPr>
            </a:br>
            <a:r>
              <a:rPr lang="en-US" b="0" i="0" dirty="0">
                <a:solidFill>
                  <a:schemeClr val="tx1"/>
                </a:solidFill>
                <a:effectLst/>
                <a:latin typeface="Söhne"/>
              </a:rPr>
              <a:t>In this matrix:</a:t>
            </a:r>
          </a:p>
          <a:p>
            <a:pPr algn="l"/>
            <a:endParaRPr lang="en-US" b="0" i="0" dirty="0">
              <a:solidFill>
                <a:schemeClr val="tx1"/>
              </a:solidFill>
              <a:effectLst/>
              <a:latin typeface="Söhne"/>
            </a:endParaRPr>
          </a:p>
          <a:p>
            <a:pPr algn="l">
              <a:buFont typeface="Arial" panose="020B0604020202020204" pitchFamily="34" charset="0"/>
              <a:buChar char="•"/>
            </a:pPr>
            <a:r>
              <a:rPr lang="en-US" b="0" i="0" dirty="0">
                <a:solidFill>
                  <a:schemeClr val="tx1"/>
                </a:solidFill>
                <a:effectLst/>
                <a:latin typeface="Söhne"/>
              </a:rPr>
              <a:t>The rows represent the player's choices for hiding coins.</a:t>
            </a:r>
          </a:p>
          <a:p>
            <a:pPr algn="l">
              <a:buFont typeface="Arial" panose="020B0604020202020204" pitchFamily="34" charset="0"/>
              <a:buChar char="•"/>
            </a:pPr>
            <a:r>
              <a:rPr lang="en-US" b="0" i="0" dirty="0">
                <a:solidFill>
                  <a:schemeClr val="tx1"/>
                </a:solidFill>
                <a:effectLst/>
                <a:latin typeface="Söhne"/>
              </a:rPr>
              <a:t>The columns represent the player's choices for guessing the opponent's hidden coins.</a:t>
            </a:r>
          </a:p>
          <a:p>
            <a:pPr algn="l">
              <a:buFont typeface="Arial" panose="020B0604020202020204" pitchFamily="34" charset="0"/>
              <a:buChar char="•"/>
            </a:pPr>
            <a:r>
              <a:rPr lang="en-US" b="0" i="0" dirty="0">
                <a:solidFill>
                  <a:schemeClr val="tx1"/>
                </a:solidFill>
                <a:effectLst/>
                <a:latin typeface="Söhne"/>
              </a:rPr>
              <a:t>The values in the matrix represent the payoffs for the player who guesses.</a:t>
            </a:r>
          </a:p>
          <a:p>
            <a:pPr algn="l">
              <a:buFont typeface="Arial" panose="020B0604020202020204" pitchFamily="34" charset="0"/>
              <a:buChar char="•"/>
            </a:pPr>
            <a:endParaRPr lang="en-US" b="0" i="0" dirty="0">
              <a:solidFill>
                <a:schemeClr val="tx1"/>
              </a:solidFill>
              <a:effectLst/>
              <a:latin typeface="Söhne"/>
            </a:endParaRPr>
          </a:p>
          <a:p>
            <a:pPr algn="l"/>
            <a:r>
              <a:rPr lang="en-US" b="0" i="0" dirty="0">
                <a:solidFill>
                  <a:schemeClr val="tx1"/>
                </a:solidFill>
                <a:effectLst/>
                <a:latin typeface="Söhne"/>
              </a:rPr>
              <a:t>For example, if the player hides 1 coin and guesses that the opponent hides 2 coins, the payoff for the guessing player would be 3.</a:t>
            </a:r>
          </a:p>
          <a:p>
            <a:pPr algn="l"/>
            <a:endParaRPr lang="en-US" b="0" i="0" dirty="0">
              <a:solidFill>
                <a:schemeClr val="tx1"/>
              </a:solidFill>
              <a:effectLst/>
              <a:latin typeface="Söhne"/>
            </a:endParaRPr>
          </a:p>
          <a:p>
            <a:pPr algn="l"/>
            <a:r>
              <a:rPr lang="en-US" b="0" i="0" dirty="0">
                <a:solidFill>
                  <a:schemeClr val="tx1"/>
                </a:solidFill>
                <a:effectLst/>
                <a:latin typeface="Söhne"/>
              </a:rPr>
              <a:t>This matrix can be used to analyze the game using various game theory concepts, such as Nash equilibrium. Players will aim to choose strategies that maximize their expected payoffs while considering their opponent's possible actions. They might use mixed strategies (randomized choices) to create unpredictability and gain a strategic advantage.</a:t>
            </a:r>
          </a:p>
          <a:p>
            <a:pPr algn="l"/>
            <a:endParaRPr lang="en-US" b="0" i="0" dirty="0">
              <a:solidFill>
                <a:schemeClr val="tx1"/>
              </a:solidFill>
              <a:effectLst/>
              <a:latin typeface="Söhne"/>
            </a:endParaRPr>
          </a:p>
          <a:p>
            <a:pPr algn="l"/>
            <a:r>
              <a:rPr lang="en-US" b="0" i="0" dirty="0">
                <a:solidFill>
                  <a:schemeClr val="tx1"/>
                </a:solidFill>
                <a:effectLst/>
                <a:latin typeface="Söhne"/>
              </a:rPr>
              <a:t>In the provided matrix, the entry at the intersection of row (1/1) and column (1/1) indeed shows a payoff of 0. This indicates that when both players choose to hide 1 coin and both players guess that the opponent has hidden 1 coin, the game results in a tie, and neither player wins or loses any amount.</a:t>
            </a:r>
          </a:p>
          <a:p>
            <a:pPr algn="l"/>
            <a:endParaRPr lang="en-US" b="0" i="0" dirty="0">
              <a:solidFill>
                <a:schemeClr val="tx1"/>
              </a:solidFill>
              <a:effectLst/>
              <a:latin typeface="Söhne"/>
            </a:endParaRPr>
          </a:p>
          <a:p>
            <a:pPr algn="l"/>
            <a:r>
              <a:rPr lang="en-US" b="0" i="0" dirty="0">
                <a:solidFill>
                  <a:schemeClr val="tx1"/>
                </a:solidFill>
                <a:effectLst/>
                <a:latin typeface="Söhne"/>
              </a:rPr>
              <a:t>This makes sense in the context of the game. If both players have the same number of hidden coins and both players guess the same number of coins, then their guesses are correct, and there's no net payoff for either player. It's a situation where neither player gains an advantage over the other.</a:t>
            </a:r>
          </a:p>
          <a:p>
            <a:pPr algn="l"/>
            <a:endParaRPr lang="en-US" b="0" i="0" dirty="0">
              <a:solidFill>
                <a:schemeClr val="tx1"/>
              </a:solidFill>
              <a:effectLst/>
              <a:latin typeface="Söhne"/>
            </a:endParaRPr>
          </a:p>
          <a:p>
            <a:pPr algn="l"/>
            <a:r>
              <a:rPr lang="en-US" b="0" i="0" dirty="0">
                <a:solidFill>
                  <a:schemeClr val="tx1"/>
                </a:solidFill>
                <a:effectLst/>
                <a:latin typeface="Söhne"/>
              </a:rPr>
              <a:t>The 0 payoff in this case highlights the </a:t>
            </a:r>
            <a:r>
              <a:rPr lang="en-US" b="1" i="0" dirty="0">
                <a:solidFill>
                  <a:schemeClr val="tx1"/>
                </a:solidFill>
                <a:effectLst/>
                <a:latin typeface="Söhne"/>
              </a:rPr>
              <a:t>equilibrium</a:t>
            </a:r>
            <a:r>
              <a:rPr lang="en-US" b="0" i="0" dirty="0">
                <a:solidFill>
                  <a:schemeClr val="tx1"/>
                </a:solidFill>
                <a:effectLst/>
                <a:latin typeface="Söhne"/>
              </a:rPr>
              <a:t> between the choices made by both players. It's a reflection of the symmetric nature of the game, where both players have the same information and both have an equal chance of winning or losing based on their guesses.</a:t>
            </a:r>
          </a:p>
          <a:p>
            <a:pPr algn="l"/>
            <a:endParaRPr lang="en-US" b="0" i="0" dirty="0">
              <a:solidFill>
                <a:schemeClr val="tx1"/>
              </a:solidFill>
              <a:effectLst/>
              <a:latin typeface="Söhne"/>
            </a:endParaRPr>
          </a:p>
          <a:p>
            <a:pPr algn="l"/>
            <a:endParaRPr lang="en-US" b="0" i="0" dirty="0">
              <a:solidFill>
                <a:schemeClr val="tx1"/>
              </a:solidFill>
              <a:effectLst/>
              <a:latin typeface="Söhne"/>
            </a:endParaRPr>
          </a:p>
          <a:p>
            <a:endParaRPr lang="en-US" dirty="0">
              <a:solidFill>
                <a:schemeClr val="tx1"/>
              </a:solidFill>
            </a:endParaRPr>
          </a:p>
          <a:p>
            <a:endParaRPr dirty="0">
              <a:solidFill>
                <a:schemeClr val="tx1"/>
              </a:solidFill>
            </a:endParaRPr>
          </a:p>
        </p:txBody>
      </p:sp>
    </p:spTree>
    <p:extLst>
      <p:ext uri="{BB962C8B-B14F-4D97-AF65-F5344CB8AC3E}">
        <p14:creationId xmlns:p14="http://schemas.microsoft.com/office/powerpoint/2010/main" val="3885675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lIns="96661" tIns="48331" rIns="96661" bIns="48331">
                <a:normAutofit fontScale="25000" lnSpcReduction="20000"/>
              </a:bodyPr>
              <a:lstStyle/>
              <a:p>
                <a:pPr marL="181240" indent="-181240">
                  <a:buFont typeface="Arial" panose="020B0604020202020204" pitchFamily="34" charset="0"/>
                  <a:buChar char="•"/>
                </a:pPr>
                <a:r>
                  <a:rPr lang="en-US" sz="1300" b="1" i="1" spc="-169" dirty="0">
                    <a:latin typeface="Times New Roman"/>
                    <a:cs typeface="Times New Roman"/>
                  </a:rPr>
                  <a:t>a</a:t>
                </a:r>
                <a:r>
                  <a:rPr lang="en-US" sz="1300" b="1" i="1" spc="-571" baseline="-30864" dirty="0">
                    <a:latin typeface="Times New Roman"/>
                    <a:cs typeface="Times New Roman"/>
                  </a:rPr>
                  <a:t>i</a:t>
                </a:r>
                <a:r>
                  <a:rPr lang="en-US" sz="1300" b="1" spc="180" dirty="0">
                    <a:latin typeface="Garamond"/>
                    <a:cs typeface="Garamond"/>
                  </a:rPr>
                  <a:t>*</a:t>
                </a:r>
                <a:r>
                  <a:rPr lang="en-US" sz="1300" b="1" spc="69" dirty="0">
                    <a:latin typeface="Garamond"/>
                    <a:cs typeface="Garamond"/>
                  </a:rPr>
                  <a:t> </a:t>
                </a:r>
                <a:r>
                  <a:rPr lang="en-US" sz="1300" b="1" spc="148" dirty="0">
                    <a:latin typeface="Cambria"/>
                    <a:cs typeface="Cambria"/>
                  </a:rPr>
                  <a:t>∈</a:t>
                </a:r>
                <a:r>
                  <a:rPr lang="en-US" sz="1300" b="1" spc="153" dirty="0">
                    <a:latin typeface="Cambria"/>
                    <a:cs typeface="Cambria"/>
                  </a:rPr>
                  <a:t> </a:t>
                </a:r>
                <a:r>
                  <a:rPr lang="en-US" sz="1300" b="1" i="1" spc="-21" dirty="0">
                    <a:latin typeface="Times New Roman"/>
                    <a:cs typeface="Times New Roman"/>
                  </a:rPr>
                  <a:t>BR</a:t>
                </a:r>
                <a:r>
                  <a:rPr lang="en-US" sz="1300" b="1" spc="100" dirty="0">
                    <a:latin typeface="Garamond"/>
                    <a:cs typeface="Garamond"/>
                  </a:rPr>
                  <a:t>(</a:t>
                </a:r>
                <a:r>
                  <a:rPr lang="en-US" sz="1300" b="1" i="1" spc="-111" dirty="0">
                    <a:latin typeface="Times New Roman"/>
                    <a:cs typeface="Times New Roman"/>
                  </a:rPr>
                  <a:t>a</a:t>
                </a:r>
                <a:r>
                  <a:rPr lang="en-US" sz="1300" b="1" spc="372" baseline="-20061" dirty="0">
                    <a:latin typeface="Cambria"/>
                    <a:cs typeface="Cambria"/>
                  </a:rPr>
                  <a:t>−</a:t>
                </a:r>
                <a:r>
                  <a:rPr lang="en-US" sz="1300" b="1" i="1" baseline="-20061" dirty="0">
                    <a:latin typeface="Times New Roman"/>
                    <a:cs typeface="Times New Roman"/>
                  </a:rPr>
                  <a:t>i</a:t>
                </a:r>
                <a:r>
                  <a:rPr lang="en-US" sz="1300" b="1" spc="100" dirty="0">
                    <a:latin typeface="Garamond"/>
                    <a:cs typeface="Garamond"/>
                  </a:rPr>
                  <a:t>):</a:t>
                </a:r>
                <a:r>
                  <a:rPr lang="en-US" sz="1300" b="1" spc="216" dirty="0">
                    <a:latin typeface="Garamond"/>
                    <a:cs typeface="Garamond"/>
                  </a:rPr>
                  <a:t> </a:t>
                </a:r>
                <a:r>
                  <a:rPr lang="en-US" b="0" i="1" dirty="0">
                    <a:solidFill>
                      <a:schemeClr val="tx1"/>
                    </a:solidFill>
                    <a:effectLst/>
                    <a:latin typeface="Söhne"/>
                  </a:rPr>
                  <a:t>This part means that action </a:t>
                </a:r>
                <a14:m>
                  <m:oMath xmlns:m="http://schemas.openxmlformats.org/officeDocument/2006/math">
                    <m:sSub>
                      <m:sSubPr>
                        <m:ctrlPr>
                          <a:rPr lang="en-US" b="0" i="1" dirty="0" smtClean="0">
                            <a:solidFill>
                              <a:schemeClr val="tx1"/>
                            </a:solidFill>
                            <a:effectLst/>
                            <a:latin typeface="Cambria Math" panose="02040503050406030204" pitchFamily="18" charset="0"/>
                          </a:rPr>
                        </m:ctrlPr>
                      </m:sSubPr>
                      <m:e>
                        <m:r>
                          <a:rPr lang="en-US" b="0" i="1" dirty="0" smtClean="0">
                            <a:solidFill>
                              <a:schemeClr val="tx1"/>
                            </a:solidFill>
                            <a:effectLst/>
                            <a:latin typeface="Cambria Math" panose="02040503050406030204" pitchFamily="18" charset="0"/>
                          </a:rPr>
                          <m:t>𝑎</m:t>
                        </m:r>
                      </m:e>
                      <m:sub>
                        <m:r>
                          <a:rPr lang="en-US" b="0" i="1" dirty="0" smtClean="0">
                            <a:solidFill>
                              <a:schemeClr val="tx1"/>
                            </a:solidFill>
                            <a:effectLst/>
                            <a:latin typeface="Cambria Math" panose="02040503050406030204" pitchFamily="18" charset="0"/>
                          </a:rPr>
                          <m:t>𝑖</m:t>
                        </m:r>
                      </m:sub>
                    </m:sSub>
                    <m:r>
                      <a:rPr lang="en-US" b="0" i="1" dirty="0" smtClean="0">
                        <a:solidFill>
                          <a:schemeClr val="tx1"/>
                        </a:solidFill>
                        <a:effectLst/>
                        <a:latin typeface="Cambria Math" panose="02040503050406030204" pitchFamily="18" charset="0"/>
                      </a:rPr>
                      <m:t> </m:t>
                    </m:r>
                  </m:oMath>
                </a14:m>
                <a:r>
                  <a:rPr lang="en-US" b="0" i="0" dirty="0">
                    <a:solidFill>
                      <a:schemeClr val="tx1"/>
                    </a:solidFill>
                    <a:effectLst/>
                    <a:latin typeface="Söhne"/>
                  </a:rPr>
                  <a:t>belongs to the best response of player </a:t>
                </a:r>
                <a14:m>
                  <m:oMath xmlns:m="http://schemas.openxmlformats.org/officeDocument/2006/math">
                    <m:r>
                      <a:rPr lang="en-US" b="0" i="1" dirty="0" smtClean="0">
                        <a:solidFill>
                          <a:schemeClr val="tx1"/>
                        </a:solidFill>
                        <a:effectLst/>
                        <a:latin typeface="Cambria Math" panose="02040503050406030204" pitchFamily="18" charset="0"/>
                      </a:rPr>
                      <m:t>𝑖</m:t>
                    </m:r>
                  </m:oMath>
                </a14:m>
                <a:r>
                  <a:rPr lang="en-US" b="0" i="0" dirty="0">
                    <a:solidFill>
                      <a:schemeClr val="tx1"/>
                    </a:solidFill>
                    <a:effectLst/>
                    <a:latin typeface="Söhne"/>
                  </a:rPr>
                  <a:t> (BR) given the actions </a:t>
                </a:r>
                <a14:m>
                  <m:oMath xmlns:m="http://schemas.openxmlformats.org/officeDocument/2006/math">
                    <m:sSub>
                      <m:sSubPr>
                        <m:ctrlPr>
                          <a:rPr lang="en-US" b="0" i="1" dirty="0" smtClean="0">
                            <a:solidFill>
                              <a:schemeClr val="tx1"/>
                            </a:solidFill>
                            <a:effectLst/>
                            <a:latin typeface="Cambria Math" panose="02040503050406030204" pitchFamily="18" charset="0"/>
                          </a:rPr>
                        </m:ctrlPr>
                      </m:sSubPr>
                      <m:e>
                        <m:r>
                          <a:rPr lang="en-US" b="0" i="1" dirty="0" smtClean="0">
                            <a:solidFill>
                              <a:schemeClr val="tx1"/>
                            </a:solidFill>
                            <a:effectLst/>
                            <a:latin typeface="Cambria Math" panose="02040503050406030204" pitchFamily="18" charset="0"/>
                          </a:rPr>
                          <m:t>𝑎</m:t>
                        </m:r>
                      </m:e>
                      <m:sub>
                        <m:r>
                          <a:rPr lang="en-US" b="0" i="1" dirty="0" smtClean="0">
                            <a:solidFill>
                              <a:schemeClr val="tx1"/>
                            </a:solidFill>
                            <a:effectLst/>
                            <a:latin typeface="Cambria Math" panose="02040503050406030204" pitchFamily="18" charset="0"/>
                          </a:rPr>
                          <m:t>−</m:t>
                        </m:r>
                        <m:r>
                          <a:rPr lang="en-US" b="0" i="1" dirty="0" smtClean="0">
                            <a:solidFill>
                              <a:schemeClr val="tx1"/>
                            </a:solidFill>
                            <a:effectLst/>
                            <a:latin typeface="Cambria Math" panose="02040503050406030204" pitchFamily="18" charset="0"/>
                          </a:rPr>
                          <m:t>𝑖</m:t>
                        </m:r>
                      </m:sub>
                    </m:sSub>
                    <m:r>
                      <a:rPr lang="en-US" b="0" i="1" dirty="0" smtClean="0">
                        <a:solidFill>
                          <a:schemeClr val="tx1"/>
                        </a:solidFill>
                        <a:effectLst/>
                        <a:latin typeface="Cambria Math" panose="02040503050406030204" pitchFamily="18" charset="0"/>
                      </a:rPr>
                      <m:t> </m:t>
                    </m:r>
                  </m:oMath>
                </a14:m>
                <a:endParaRPr lang="en-US" b="1" i="0" dirty="0">
                  <a:solidFill>
                    <a:schemeClr val="tx1"/>
                  </a:solidFill>
                  <a:effectLst/>
                  <a:latin typeface="Söhne"/>
                </a:endParaRPr>
              </a:p>
              <a:p>
                <a:pPr marL="181240" indent="-181240">
                  <a:buFont typeface="Arial" panose="020B0604020202020204" pitchFamily="34" charset="0"/>
                  <a:buChar char="•"/>
                </a:pPr>
                <a:r>
                  <a:rPr lang="en-US" sz="1300" b="1" i="1" spc="-169" dirty="0">
                    <a:latin typeface="Times New Roman"/>
                    <a:cs typeface="Times New Roman"/>
                  </a:rPr>
                  <a:t>a</a:t>
                </a:r>
                <a:r>
                  <a:rPr lang="en-US" sz="1300" b="1" i="1" spc="-571" baseline="-30864" dirty="0">
                    <a:latin typeface="Times New Roman"/>
                    <a:cs typeface="Times New Roman"/>
                  </a:rPr>
                  <a:t>i</a:t>
                </a:r>
                <a:r>
                  <a:rPr lang="en-US" sz="1300" b="1" spc="180" dirty="0">
                    <a:latin typeface="Garamond"/>
                    <a:cs typeface="Garamond"/>
                  </a:rPr>
                  <a:t>*</a:t>
                </a:r>
                <a:r>
                  <a:rPr lang="en-US" sz="1300" spc="69" dirty="0">
                    <a:latin typeface="Garamond"/>
                    <a:cs typeface="Garamond"/>
                  </a:rPr>
                  <a:t>: </a:t>
                </a:r>
                <a:r>
                  <a:rPr lang="en-US" b="0" i="0" dirty="0">
                    <a:solidFill>
                      <a:schemeClr val="tx1"/>
                    </a:solidFill>
                    <a:effectLst/>
                    <a:latin typeface="Söhne"/>
                  </a:rPr>
                  <a:t>is the action that player </a:t>
                </a:r>
                <a14:m>
                  <m:oMath xmlns:m="http://schemas.openxmlformats.org/officeDocument/2006/math">
                    <m:r>
                      <a:rPr lang="en-US" b="0" i="1" dirty="0" smtClean="0">
                        <a:solidFill>
                          <a:schemeClr val="tx1"/>
                        </a:solidFill>
                        <a:effectLst/>
                        <a:latin typeface="Cambria Math" panose="02040503050406030204" pitchFamily="18" charset="0"/>
                      </a:rPr>
                      <m:t>𝑖</m:t>
                    </m:r>
                    <m:r>
                      <a:rPr lang="en-US" b="0" i="1" dirty="0" smtClean="0">
                        <a:solidFill>
                          <a:schemeClr val="tx1"/>
                        </a:solidFill>
                        <a:effectLst/>
                        <a:latin typeface="Cambria Math" panose="02040503050406030204" pitchFamily="18" charset="0"/>
                      </a:rPr>
                      <m:t> </m:t>
                    </m:r>
                  </m:oMath>
                </a14:m>
                <a:r>
                  <a:rPr lang="en-US" b="0" i="0" dirty="0">
                    <a:solidFill>
                      <a:schemeClr val="tx1"/>
                    </a:solidFill>
                    <a:effectLst/>
                    <a:latin typeface="Söhne"/>
                  </a:rPr>
                  <a:t>would choose as the best response to the actions of all other players.</a:t>
                </a:r>
              </a:p>
              <a:p>
                <a:pPr marL="181240" indent="-181240">
                  <a:buFont typeface="Arial" panose="020B0604020202020204" pitchFamily="34" charset="0"/>
                  <a:buChar char="•"/>
                </a:pPr>
                <a:r>
                  <a:rPr lang="en-US" sz="1300" b="1" spc="-58" dirty="0">
                    <a:latin typeface="Cambria"/>
                    <a:cs typeface="Cambria"/>
                  </a:rPr>
                  <a:t>∀</a:t>
                </a:r>
                <a:r>
                  <a:rPr lang="en-US" sz="1300" b="1" i="1" spc="-111" dirty="0">
                    <a:latin typeface="Times New Roman"/>
                    <a:cs typeface="Times New Roman"/>
                  </a:rPr>
                  <a:t>a</a:t>
                </a:r>
                <a:r>
                  <a:rPr lang="en-US" sz="1300" b="1" i="1" baseline="-20061" dirty="0">
                    <a:latin typeface="Times New Roman"/>
                    <a:cs typeface="Times New Roman"/>
                  </a:rPr>
                  <a:t>i </a:t>
                </a:r>
                <a:r>
                  <a:rPr lang="en-US" sz="1300" b="1" i="1" spc="-309" baseline="-20061" dirty="0">
                    <a:latin typeface="Times New Roman"/>
                    <a:cs typeface="Times New Roman"/>
                  </a:rPr>
                  <a:t> </a:t>
                </a:r>
                <a:r>
                  <a:rPr lang="en-US" sz="1300" b="1" spc="148" dirty="0">
                    <a:latin typeface="Cambria"/>
                    <a:cs typeface="Cambria"/>
                  </a:rPr>
                  <a:t>∈</a:t>
                </a:r>
                <a:r>
                  <a:rPr lang="en-US" sz="1300" b="1" spc="233" dirty="0">
                    <a:latin typeface="Cambria"/>
                    <a:cs typeface="Cambria"/>
                  </a:rPr>
                  <a:t> </a:t>
                </a:r>
                <a:r>
                  <a:rPr lang="en-US" sz="1300" b="1" i="1" spc="-116" dirty="0">
                    <a:latin typeface="Times New Roman"/>
                    <a:cs typeface="Times New Roman"/>
                  </a:rPr>
                  <a:t>A</a:t>
                </a:r>
                <a:r>
                  <a:rPr lang="en-US" sz="1300" b="1" i="1" baseline="-20061" dirty="0">
                    <a:latin typeface="Times New Roman"/>
                    <a:cs typeface="Times New Roman"/>
                  </a:rPr>
                  <a:t>i</a:t>
                </a:r>
                <a:r>
                  <a:rPr lang="en-US" b="0" i="0" dirty="0">
                    <a:solidFill>
                      <a:schemeClr val="tx1"/>
                    </a:solidFill>
                    <a:effectLst/>
                    <a:latin typeface="Söhne"/>
                  </a:rPr>
                  <a:t>: This part indicates that the statement applies for all possible actions </a:t>
                </a:r>
                <a14:m>
                  <m:oMath xmlns:m="http://schemas.openxmlformats.org/officeDocument/2006/math">
                    <m:sSub>
                      <m:sSubPr>
                        <m:ctrlPr>
                          <a:rPr lang="en-US" b="0" i="1" dirty="0" smtClean="0">
                            <a:solidFill>
                              <a:schemeClr val="tx1"/>
                            </a:solidFill>
                            <a:effectLst/>
                            <a:latin typeface="Cambria Math" panose="02040503050406030204" pitchFamily="18" charset="0"/>
                          </a:rPr>
                        </m:ctrlPr>
                      </m:sSubPr>
                      <m:e>
                        <m:r>
                          <a:rPr lang="en-US" b="0" i="1" dirty="0" smtClean="0">
                            <a:solidFill>
                              <a:schemeClr val="tx1"/>
                            </a:solidFill>
                            <a:effectLst/>
                            <a:latin typeface="Cambria Math" panose="02040503050406030204" pitchFamily="18" charset="0"/>
                          </a:rPr>
                          <m:t>𝑎</m:t>
                        </m:r>
                      </m:e>
                      <m:sub>
                        <m:r>
                          <a:rPr lang="en-US" b="0" i="1" dirty="0" smtClean="0">
                            <a:solidFill>
                              <a:schemeClr val="tx1"/>
                            </a:solidFill>
                            <a:effectLst/>
                            <a:latin typeface="Cambria Math" panose="02040503050406030204" pitchFamily="18" charset="0"/>
                          </a:rPr>
                          <m:t>𝑖</m:t>
                        </m:r>
                      </m:sub>
                    </m:sSub>
                  </m:oMath>
                </a14:m>
                <a:r>
                  <a:rPr lang="en-US" b="0" i="0" dirty="0">
                    <a:solidFill>
                      <a:schemeClr val="tx1"/>
                    </a:solidFill>
                    <a:effectLst/>
                    <a:latin typeface="Söhne"/>
                  </a:rPr>
                  <a:t> in the action set </a:t>
                </a:r>
                <a14:m>
                  <m:oMath xmlns:m="http://schemas.openxmlformats.org/officeDocument/2006/math">
                    <m:sSub>
                      <m:sSubPr>
                        <m:ctrlPr>
                          <a:rPr lang="en-US" b="0" i="1" dirty="0" smtClean="0">
                            <a:solidFill>
                              <a:schemeClr val="tx1"/>
                            </a:solidFill>
                            <a:effectLst/>
                            <a:latin typeface="Cambria Math" panose="02040503050406030204" pitchFamily="18" charset="0"/>
                          </a:rPr>
                        </m:ctrlPr>
                      </m:sSubPr>
                      <m:e>
                        <m:r>
                          <a:rPr lang="en-US" b="0" i="1" dirty="0" smtClean="0">
                            <a:solidFill>
                              <a:schemeClr val="tx1"/>
                            </a:solidFill>
                            <a:effectLst/>
                            <a:latin typeface="Cambria Math" panose="02040503050406030204" pitchFamily="18" charset="0"/>
                          </a:rPr>
                          <m:t>𝐴</m:t>
                        </m:r>
                      </m:e>
                      <m:sub>
                        <m:r>
                          <a:rPr lang="en-US" b="0" i="1" dirty="0" smtClean="0">
                            <a:solidFill>
                              <a:schemeClr val="tx1"/>
                            </a:solidFill>
                            <a:effectLst/>
                            <a:latin typeface="Cambria Math" panose="02040503050406030204" pitchFamily="18" charset="0"/>
                          </a:rPr>
                          <m:t>𝑖</m:t>
                        </m:r>
                      </m:sub>
                    </m:sSub>
                    <m:r>
                      <a:rPr lang="en-US" b="0" i="1" dirty="0" smtClean="0">
                        <a:solidFill>
                          <a:schemeClr val="tx1"/>
                        </a:solidFill>
                        <a:effectLst/>
                        <a:latin typeface="Cambria Math" panose="02040503050406030204" pitchFamily="18" charset="0"/>
                      </a:rPr>
                      <m:t> </m:t>
                    </m:r>
                  </m:oMath>
                </a14:m>
                <a:r>
                  <a:rPr lang="en-US" b="0" i="0" dirty="0">
                    <a:solidFill>
                      <a:schemeClr val="tx1"/>
                    </a:solidFill>
                    <a:effectLst/>
                    <a:latin typeface="Söhne"/>
                  </a:rPr>
                  <a:t>of player </a:t>
                </a:r>
                <a14:m>
                  <m:oMath xmlns:m="http://schemas.openxmlformats.org/officeDocument/2006/math">
                    <m:r>
                      <a:rPr lang="en-US" b="0" i="1" dirty="0" smtClean="0">
                        <a:solidFill>
                          <a:schemeClr val="tx1"/>
                        </a:solidFill>
                        <a:effectLst/>
                        <a:latin typeface="Cambria Math" panose="02040503050406030204" pitchFamily="18" charset="0"/>
                      </a:rPr>
                      <m:t>𝑖</m:t>
                    </m:r>
                  </m:oMath>
                </a14:m>
                <a:r>
                  <a:rPr lang="en-US" b="0" i="0" dirty="0">
                    <a:solidFill>
                      <a:schemeClr val="tx1"/>
                    </a:solidFill>
                    <a:effectLst/>
                    <a:latin typeface="Söhne"/>
                  </a:rPr>
                  <a:t>.</a:t>
                </a:r>
              </a:p>
              <a:p>
                <a:pPr marL="181240" indent="-181240">
                  <a:buFont typeface="Arial" panose="020B0604020202020204" pitchFamily="34" charset="0"/>
                  <a:buChar char="•"/>
                </a:pPr>
                <a:r>
                  <a:rPr lang="en-US" sz="1300" b="1" i="1" spc="-111" dirty="0" err="1">
                    <a:latin typeface="Times New Roman"/>
                    <a:cs typeface="Times New Roman"/>
                  </a:rPr>
                  <a:t>u</a:t>
                </a:r>
                <a:r>
                  <a:rPr lang="en-US" sz="1300" b="1" i="1" baseline="-20061" dirty="0" err="1">
                    <a:latin typeface="Times New Roman"/>
                    <a:cs typeface="Times New Roman"/>
                  </a:rPr>
                  <a:t>i</a:t>
                </a:r>
                <a:r>
                  <a:rPr lang="en-US" sz="1300" b="1" spc="100" dirty="0">
                    <a:latin typeface="Garamond"/>
                    <a:cs typeface="Garamond"/>
                  </a:rPr>
                  <a:t>(</a:t>
                </a:r>
                <a:r>
                  <a:rPr lang="en-US" sz="1300" b="1" i="1" spc="-169" dirty="0">
                    <a:latin typeface="Times New Roman"/>
                    <a:cs typeface="Times New Roman"/>
                  </a:rPr>
                  <a:t>a</a:t>
                </a:r>
                <a:r>
                  <a:rPr lang="en-US" sz="1300" b="1" i="1" spc="-571" baseline="-30864" dirty="0">
                    <a:latin typeface="Times New Roman"/>
                    <a:cs typeface="Times New Roman"/>
                  </a:rPr>
                  <a:t>i</a:t>
                </a:r>
                <a:r>
                  <a:rPr lang="en-US" sz="1300" b="1" spc="180" dirty="0">
                    <a:latin typeface="Garamond"/>
                    <a:cs typeface="Garamond"/>
                  </a:rPr>
                  <a:t>*</a:t>
                </a:r>
                <a:r>
                  <a:rPr lang="en-US" sz="1300" b="1" spc="74" dirty="0">
                    <a:latin typeface="Garamond"/>
                    <a:cs typeface="Garamond"/>
                  </a:rPr>
                  <a:t>,</a:t>
                </a:r>
                <a:r>
                  <a:rPr lang="en-US" sz="1300" b="1" spc="-227" dirty="0">
                    <a:latin typeface="Garamond"/>
                    <a:cs typeface="Garamond"/>
                  </a:rPr>
                  <a:t> </a:t>
                </a:r>
                <a:r>
                  <a:rPr lang="en-US" sz="1300" b="1" i="1" spc="-111" dirty="0">
                    <a:latin typeface="Times New Roman"/>
                    <a:cs typeface="Times New Roman"/>
                  </a:rPr>
                  <a:t>a</a:t>
                </a:r>
                <a:r>
                  <a:rPr lang="en-US" sz="1300" b="1" spc="372" baseline="-20061" dirty="0">
                    <a:latin typeface="Cambria"/>
                    <a:cs typeface="Cambria"/>
                  </a:rPr>
                  <a:t>−</a:t>
                </a:r>
                <a:r>
                  <a:rPr lang="en-US" sz="1300" b="1" i="1" baseline="-20061" dirty="0">
                    <a:latin typeface="Times New Roman"/>
                    <a:cs typeface="Times New Roman"/>
                  </a:rPr>
                  <a:t>i</a:t>
                </a:r>
                <a:r>
                  <a:rPr lang="en-US" sz="1300" b="1" spc="100" dirty="0">
                    <a:latin typeface="Garamond"/>
                    <a:cs typeface="Garamond"/>
                  </a:rPr>
                  <a:t>)</a:t>
                </a:r>
                <a:r>
                  <a:rPr lang="en-US" sz="1300" b="1" spc="69" dirty="0">
                    <a:latin typeface="Garamond"/>
                    <a:cs typeface="Garamond"/>
                  </a:rPr>
                  <a:t> </a:t>
                </a:r>
                <a:r>
                  <a:rPr lang="en-US" sz="1300" b="1" spc="344" dirty="0">
                    <a:latin typeface="Cambria"/>
                    <a:cs typeface="Cambria"/>
                  </a:rPr>
                  <a:t>≥</a:t>
                </a:r>
                <a:r>
                  <a:rPr lang="en-US" sz="1300" b="1" spc="153" dirty="0">
                    <a:latin typeface="Cambria"/>
                    <a:cs typeface="Cambria"/>
                  </a:rPr>
                  <a:t> </a:t>
                </a:r>
                <a:r>
                  <a:rPr lang="en-US" sz="1300" b="1" i="1" spc="-111" dirty="0" err="1">
                    <a:latin typeface="Times New Roman"/>
                    <a:cs typeface="Times New Roman"/>
                  </a:rPr>
                  <a:t>u</a:t>
                </a:r>
                <a:r>
                  <a:rPr lang="en-US" sz="1300" b="1" i="1" baseline="-20061" dirty="0" err="1">
                    <a:latin typeface="Times New Roman"/>
                    <a:cs typeface="Times New Roman"/>
                  </a:rPr>
                  <a:t>i</a:t>
                </a:r>
                <a:r>
                  <a:rPr lang="en-US" sz="1300" b="1" spc="100" dirty="0">
                    <a:latin typeface="Garamond"/>
                    <a:cs typeface="Garamond"/>
                  </a:rPr>
                  <a:t>(</a:t>
                </a:r>
                <a:r>
                  <a:rPr lang="en-US" sz="1300" b="1" i="1" spc="-111" dirty="0">
                    <a:latin typeface="Times New Roman"/>
                    <a:cs typeface="Times New Roman"/>
                  </a:rPr>
                  <a:t>a</a:t>
                </a:r>
                <a:r>
                  <a:rPr lang="en-US" sz="1300" b="1" i="1" baseline="-20061" dirty="0">
                    <a:latin typeface="Times New Roman"/>
                    <a:cs typeface="Times New Roman"/>
                  </a:rPr>
                  <a:t>i</a:t>
                </a:r>
                <a:r>
                  <a:rPr lang="en-US" sz="1300" b="1" spc="74" dirty="0">
                    <a:latin typeface="Garamond"/>
                    <a:cs typeface="Garamond"/>
                  </a:rPr>
                  <a:t>,</a:t>
                </a:r>
                <a:r>
                  <a:rPr lang="en-US" sz="1300" b="1" spc="-227" dirty="0">
                    <a:latin typeface="Garamond"/>
                    <a:cs typeface="Garamond"/>
                  </a:rPr>
                  <a:t> </a:t>
                </a:r>
                <a:r>
                  <a:rPr lang="en-US" sz="1300" b="1" i="1" spc="-111" dirty="0">
                    <a:latin typeface="Times New Roman"/>
                    <a:cs typeface="Times New Roman"/>
                  </a:rPr>
                  <a:t>a</a:t>
                </a:r>
                <a:r>
                  <a:rPr lang="en-US" sz="1300" b="1" spc="372" baseline="-20061" dirty="0">
                    <a:latin typeface="Cambria"/>
                    <a:cs typeface="Cambria"/>
                  </a:rPr>
                  <a:t>−</a:t>
                </a:r>
                <a:r>
                  <a:rPr lang="en-US" sz="1300" b="1" i="1" baseline="-20061" dirty="0">
                    <a:latin typeface="Times New Roman"/>
                    <a:cs typeface="Times New Roman"/>
                  </a:rPr>
                  <a:t>i</a:t>
                </a:r>
                <a:r>
                  <a:rPr lang="en-US" sz="1300" b="1" spc="100" dirty="0">
                    <a:latin typeface="Garamond"/>
                    <a:cs typeface="Garamond"/>
                  </a:rPr>
                  <a:t>): </a:t>
                </a:r>
                <a:r>
                  <a:rPr lang="en-US" b="0" i="1" dirty="0">
                    <a:solidFill>
                      <a:schemeClr val="tx1"/>
                    </a:solidFill>
                    <a:effectLst/>
                    <a:latin typeface="Söhne"/>
                  </a:rPr>
                  <a:t>This part is the condition for being a best response. It means that the utility (payoff) of player </a:t>
                </a:r>
                <a14:m>
                  <m:oMath xmlns:m="http://schemas.openxmlformats.org/officeDocument/2006/math">
                    <m:r>
                      <a:rPr lang="en-US" b="0" i="1" dirty="0" smtClean="0">
                        <a:solidFill>
                          <a:schemeClr val="tx1"/>
                        </a:solidFill>
                        <a:effectLst/>
                        <a:latin typeface="Cambria Math" panose="02040503050406030204" pitchFamily="18" charset="0"/>
                      </a:rPr>
                      <m:t>𝑖</m:t>
                    </m:r>
                    <m:r>
                      <a:rPr lang="en-US" b="0" i="1" dirty="0" smtClean="0">
                        <a:solidFill>
                          <a:schemeClr val="tx1"/>
                        </a:solidFill>
                        <a:effectLst/>
                        <a:latin typeface="Cambria Math" panose="02040503050406030204" pitchFamily="18" charset="0"/>
                      </a:rPr>
                      <m:t> </m:t>
                    </m:r>
                  </m:oMath>
                </a14:m>
                <a:r>
                  <a:rPr lang="en-US" b="0" i="1" dirty="0">
                    <a:solidFill>
                      <a:schemeClr val="tx1"/>
                    </a:solidFill>
                    <a:effectLst/>
                    <a:latin typeface="Söhne"/>
                  </a:rPr>
                  <a:t>receives from choosing action </a:t>
                </a:r>
                <a14:m>
                  <m:oMath xmlns:m="http://schemas.openxmlformats.org/officeDocument/2006/math">
                    <m:sSubSup>
                      <m:sSubSupPr>
                        <m:ctrlPr>
                          <a:rPr lang="en-US" b="0" i="1" dirty="0" smtClean="0">
                            <a:solidFill>
                              <a:schemeClr val="tx1"/>
                            </a:solidFill>
                            <a:effectLst/>
                            <a:latin typeface="Cambria Math" panose="02040503050406030204" pitchFamily="18" charset="0"/>
                          </a:rPr>
                        </m:ctrlPr>
                      </m:sSubSupPr>
                      <m:e>
                        <m:r>
                          <a:rPr lang="en-US" b="0" i="1" dirty="0" smtClean="0">
                            <a:solidFill>
                              <a:schemeClr val="tx1"/>
                            </a:solidFill>
                            <a:effectLst/>
                            <a:latin typeface="Cambria Math" panose="02040503050406030204" pitchFamily="18" charset="0"/>
                          </a:rPr>
                          <m:t>𝑎</m:t>
                        </m:r>
                      </m:e>
                      <m:sub>
                        <m:r>
                          <a:rPr lang="en-US" b="0" i="1" dirty="0" smtClean="0">
                            <a:solidFill>
                              <a:schemeClr val="tx1"/>
                            </a:solidFill>
                            <a:effectLst/>
                            <a:latin typeface="Cambria Math" panose="02040503050406030204" pitchFamily="18" charset="0"/>
                          </a:rPr>
                          <m:t>𝑖</m:t>
                        </m:r>
                      </m:sub>
                      <m:sup>
                        <m:r>
                          <a:rPr lang="en-US" b="0" i="1" dirty="0" smtClean="0">
                            <a:solidFill>
                              <a:schemeClr val="tx1"/>
                            </a:solidFill>
                            <a:effectLst/>
                            <a:latin typeface="Cambria Math" panose="02040503050406030204" pitchFamily="18" charset="0"/>
                          </a:rPr>
                          <m:t>∗</m:t>
                        </m:r>
                      </m:sup>
                    </m:sSubSup>
                    <m:r>
                      <a:rPr lang="en-US" b="0" i="1" dirty="0" smtClean="0">
                        <a:solidFill>
                          <a:schemeClr val="tx1"/>
                        </a:solidFill>
                        <a:effectLst/>
                        <a:latin typeface="Cambria Math" panose="02040503050406030204" pitchFamily="18" charset="0"/>
                      </a:rPr>
                      <m:t> </m:t>
                    </m:r>
                  </m:oMath>
                </a14:m>
                <a:r>
                  <a:rPr lang="en-US" b="0" i="0" dirty="0">
                    <a:solidFill>
                      <a:schemeClr val="tx1"/>
                    </a:solidFill>
                    <a:effectLst/>
                    <a:latin typeface="Söhne"/>
                  </a:rPr>
                  <a:t>when all other players play </a:t>
                </a:r>
                <a14:m>
                  <m:oMath xmlns:m="http://schemas.openxmlformats.org/officeDocument/2006/math">
                    <m:sSub>
                      <m:sSubPr>
                        <m:ctrlPr>
                          <a:rPr lang="en-US" b="0" i="1" dirty="0" smtClean="0">
                            <a:solidFill>
                              <a:schemeClr val="tx1"/>
                            </a:solidFill>
                            <a:effectLst/>
                            <a:latin typeface="Cambria Math" panose="02040503050406030204" pitchFamily="18" charset="0"/>
                          </a:rPr>
                        </m:ctrlPr>
                      </m:sSubPr>
                      <m:e>
                        <m:r>
                          <a:rPr lang="en-US" b="0" i="1" dirty="0" smtClean="0">
                            <a:solidFill>
                              <a:schemeClr val="tx1"/>
                            </a:solidFill>
                            <a:effectLst/>
                            <a:latin typeface="Cambria Math" panose="02040503050406030204" pitchFamily="18" charset="0"/>
                          </a:rPr>
                          <m:t>𝑎</m:t>
                        </m:r>
                      </m:e>
                      <m:sub>
                        <m:r>
                          <a:rPr lang="en-US" b="0" i="1" dirty="0" smtClean="0">
                            <a:solidFill>
                              <a:schemeClr val="tx1"/>
                            </a:solidFill>
                            <a:effectLst/>
                            <a:latin typeface="Cambria Math" panose="02040503050406030204" pitchFamily="18" charset="0"/>
                          </a:rPr>
                          <m:t>−</m:t>
                        </m:r>
                        <m:r>
                          <a:rPr lang="en-US" b="0" i="1" dirty="0" smtClean="0">
                            <a:solidFill>
                              <a:schemeClr val="tx1"/>
                            </a:solidFill>
                            <a:effectLst/>
                            <a:latin typeface="Cambria Math" panose="02040503050406030204" pitchFamily="18" charset="0"/>
                          </a:rPr>
                          <m:t>𝑖</m:t>
                        </m:r>
                      </m:sub>
                    </m:sSub>
                    <m:r>
                      <a:rPr lang="en-US" b="0" i="1" dirty="0" smtClean="0">
                        <a:solidFill>
                          <a:schemeClr val="tx1"/>
                        </a:solidFill>
                        <a:effectLst/>
                        <a:latin typeface="Cambria Math" panose="02040503050406030204" pitchFamily="18" charset="0"/>
                      </a:rPr>
                      <m:t> </m:t>
                    </m:r>
                  </m:oMath>
                </a14:m>
                <a:r>
                  <a:rPr lang="en-US" b="0" i="0" dirty="0">
                    <a:solidFill>
                      <a:schemeClr val="tx1"/>
                    </a:solidFill>
                    <a:effectLst/>
                    <a:latin typeface="Söhne"/>
                  </a:rPr>
                  <a:t>is greater than or equal to the utility player </a:t>
                </a:r>
                <a14:m>
                  <m:oMath xmlns:m="http://schemas.openxmlformats.org/officeDocument/2006/math">
                    <m:r>
                      <a:rPr lang="en-US" b="0" i="1" dirty="0" smtClean="0">
                        <a:solidFill>
                          <a:schemeClr val="tx1"/>
                        </a:solidFill>
                        <a:effectLst/>
                        <a:latin typeface="Cambria Math" panose="02040503050406030204" pitchFamily="18" charset="0"/>
                      </a:rPr>
                      <m:t>𝑖</m:t>
                    </m:r>
                  </m:oMath>
                </a14:m>
                <a:r>
                  <a:rPr lang="en-US" b="0" i="0" dirty="0">
                    <a:solidFill>
                      <a:schemeClr val="tx1"/>
                    </a:solidFill>
                    <a:effectLst/>
                    <a:latin typeface="Söhne"/>
                  </a:rPr>
                  <a:t> receives from choosing action ai when all other players play</a:t>
                </a:r>
                <a14:m>
                  <m:oMath xmlns:m="http://schemas.openxmlformats.org/officeDocument/2006/math">
                    <m:r>
                      <a:rPr lang="en-US" b="0" i="1" dirty="0" smtClean="0">
                        <a:solidFill>
                          <a:schemeClr val="tx1"/>
                        </a:solidFill>
                        <a:effectLst/>
                        <a:latin typeface="Cambria Math" panose="02040503050406030204" pitchFamily="18" charset="0"/>
                      </a:rPr>
                      <m:t> </m:t>
                    </m:r>
                    <m:sSub>
                      <m:sSubPr>
                        <m:ctrlPr>
                          <a:rPr lang="en-US" b="0" i="1" dirty="0" smtClean="0">
                            <a:solidFill>
                              <a:schemeClr val="tx1"/>
                            </a:solidFill>
                            <a:effectLst/>
                            <a:latin typeface="Cambria Math" panose="02040503050406030204" pitchFamily="18" charset="0"/>
                          </a:rPr>
                        </m:ctrlPr>
                      </m:sSubPr>
                      <m:e>
                        <m:r>
                          <a:rPr lang="en-US" b="0" i="1" dirty="0" smtClean="0">
                            <a:solidFill>
                              <a:schemeClr val="tx1"/>
                            </a:solidFill>
                            <a:effectLst/>
                            <a:latin typeface="Cambria Math" panose="02040503050406030204" pitchFamily="18" charset="0"/>
                          </a:rPr>
                          <m:t>𝑎</m:t>
                        </m:r>
                      </m:e>
                      <m:sub>
                        <m:r>
                          <a:rPr lang="en-US" b="0" i="1" dirty="0" smtClean="0">
                            <a:solidFill>
                              <a:schemeClr val="tx1"/>
                            </a:solidFill>
                            <a:effectLst/>
                            <a:latin typeface="Cambria Math" panose="02040503050406030204" pitchFamily="18" charset="0"/>
                          </a:rPr>
                          <m:t>−</m:t>
                        </m:r>
                        <m:r>
                          <a:rPr lang="en-US" b="0" i="1" dirty="0" smtClean="0">
                            <a:solidFill>
                              <a:schemeClr val="tx1"/>
                            </a:solidFill>
                            <a:effectLst/>
                            <a:latin typeface="Cambria Math" panose="02040503050406030204" pitchFamily="18" charset="0"/>
                          </a:rPr>
                          <m:t>𝑖</m:t>
                        </m:r>
                      </m:sub>
                    </m:sSub>
                  </m:oMath>
                </a14:m>
                <a:r>
                  <a:rPr lang="en-US" b="0" i="0" dirty="0">
                    <a:solidFill>
                      <a:schemeClr val="tx1"/>
                    </a:solidFill>
                    <a:effectLst/>
                    <a:latin typeface="Söhne"/>
                  </a:rPr>
                  <a:t>. In simpler terms, player </a:t>
                </a:r>
                <a14:m>
                  <m:oMath xmlns:m="http://schemas.openxmlformats.org/officeDocument/2006/math">
                    <m:r>
                      <a:rPr lang="en-US" b="0" i="1" dirty="0" smtClean="0">
                        <a:solidFill>
                          <a:schemeClr val="tx1"/>
                        </a:solidFill>
                        <a:effectLst/>
                        <a:latin typeface="Cambria Math" panose="02040503050406030204" pitchFamily="18" charset="0"/>
                      </a:rPr>
                      <m:t>𝑖</m:t>
                    </m:r>
                  </m:oMath>
                </a14:m>
                <a:r>
                  <a:rPr lang="en-US" b="0" i="0" dirty="0">
                    <a:solidFill>
                      <a:schemeClr val="tx1"/>
                    </a:solidFill>
                    <a:effectLst/>
                    <a:latin typeface="Söhne"/>
                  </a:rPr>
                  <a:t> will choose </a:t>
                </a:r>
                <a14:m>
                  <m:oMath xmlns:m="http://schemas.openxmlformats.org/officeDocument/2006/math">
                    <m:sSubSup>
                      <m:sSubSupPr>
                        <m:ctrlPr>
                          <a:rPr lang="en-US" b="0" i="1" dirty="0" smtClean="0">
                            <a:solidFill>
                              <a:schemeClr val="tx1"/>
                            </a:solidFill>
                            <a:effectLst/>
                            <a:latin typeface="Cambria Math" panose="02040503050406030204" pitchFamily="18" charset="0"/>
                          </a:rPr>
                        </m:ctrlPr>
                      </m:sSubSupPr>
                      <m:e>
                        <m:r>
                          <a:rPr lang="en-US" b="0" i="1" dirty="0" smtClean="0">
                            <a:solidFill>
                              <a:schemeClr val="tx1"/>
                            </a:solidFill>
                            <a:effectLst/>
                            <a:latin typeface="Cambria Math" panose="02040503050406030204" pitchFamily="18" charset="0"/>
                          </a:rPr>
                          <m:t>𝑎</m:t>
                        </m:r>
                      </m:e>
                      <m:sub>
                        <m:r>
                          <a:rPr lang="en-US" b="0" i="1" dirty="0" smtClean="0">
                            <a:solidFill>
                              <a:schemeClr val="tx1"/>
                            </a:solidFill>
                            <a:effectLst/>
                            <a:latin typeface="Cambria Math" panose="02040503050406030204" pitchFamily="18" charset="0"/>
                          </a:rPr>
                          <m:t>𝑖</m:t>
                        </m:r>
                      </m:sub>
                      <m:sup>
                        <m:r>
                          <a:rPr lang="en-US" b="0" i="1" dirty="0" smtClean="0">
                            <a:solidFill>
                              <a:schemeClr val="tx1"/>
                            </a:solidFill>
                            <a:effectLst/>
                            <a:latin typeface="Cambria Math" panose="02040503050406030204" pitchFamily="18" charset="0"/>
                          </a:rPr>
                          <m:t>∗</m:t>
                        </m:r>
                      </m:sup>
                    </m:sSubSup>
                    <m:r>
                      <a:rPr lang="en-US" b="0" i="1" dirty="0" smtClean="0">
                        <a:solidFill>
                          <a:schemeClr val="tx1"/>
                        </a:solidFill>
                        <a:effectLst/>
                        <a:latin typeface="Cambria Math" panose="02040503050406030204" pitchFamily="18" charset="0"/>
                      </a:rPr>
                      <m:t> </m:t>
                    </m:r>
                  </m:oMath>
                </a14:m>
                <a:r>
                  <a:rPr lang="en-US" b="0" i="0" dirty="0">
                    <a:solidFill>
                      <a:schemeClr val="tx1"/>
                    </a:solidFill>
                    <a:effectLst/>
                    <a:latin typeface="Söhne"/>
                  </a:rPr>
                  <a:t>if it leads to an outcome that is at least as good as (or better than) choosing </a:t>
                </a:r>
                <a14:m>
                  <m:oMath xmlns:m="http://schemas.openxmlformats.org/officeDocument/2006/math">
                    <m:sSub>
                      <m:sSubPr>
                        <m:ctrlPr>
                          <a:rPr lang="en-US" b="0" i="1" dirty="0" smtClean="0">
                            <a:solidFill>
                              <a:schemeClr val="tx1"/>
                            </a:solidFill>
                            <a:effectLst/>
                            <a:latin typeface="Cambria Math" panose="02040503050406030204" pitchFamily="18" charset="0"/>
                          </a:rPr>
                        </m:ctrlPr>
                      </m:sSubPr>
                      <m:e>
                        <m:r>
                          <a:rPr lang="en-US" b="0" i="1" dirty="0" smtClean="0">
                            <a:solidFill>
                              <a:schemeClr val="tx1"/>
                            </a:solidFill>
                            <a:effectLst/>
                            <a:latin typeface="Cambria Math" panose="02040503050406030204" pitchFamily="18" charset="0"/>
                          </a:rPr>
                          <m:t>𝑎</m:t>
                        </m:r>
                      </m:e>
                      <m:sub>
                        <m:r>
                          <a:rPr lang="en-US" b="0" i="1" dirty="0" smtClean="0">
                            <a:solidFill>
                              <a:schemeClr val="tx1"/>
                            </a:solidFill>
                            <a:effectLst/>
                            <a:latin typeface="Cambria Math" panose="02040503050406030204" pitchFamily="18" charset="0"/>
                          </a:rPr>
                          <m:t>𝑖</m:t>
                        </m:r>
                      </m:sub>
                    </m:sSub>
                  </m:oMath>
                </a14:m>
                <a:r>
                  <a:rPr lang="en-US" b="0" i="0" dirty="0">
                    <a:solidFill>
                      <a:schemeClr val="tx1"/>
                    </a:solidFill>
                    <a:effectLst/>
                    <a:latin typeface="Söhne"/>
                  </a:rPr>
                  <a:t>.</a:t>
                </a:r>
                <a:endParaRPr dirty="0">
                  <a:solidFill>
                    <a:schemeClr val="tx1"/>
                  </a:solidFill>
                </a:endParaRPr>
              </a:p>
            </p:txBody>
          </p:sp>
        </mc:Choice>
        <mc:Fallback xmlns="">
          <p:sp>
            <p:nvSpPr>
              <p:cNvPr id="2" name="Notes Placeholder"/>
              <p:cNvSpPr>
                <a:spLocks noGrp="1"/>
              </p:cNvSpPr>
              <p:nvPr>
                <p:ph type="body" idx="1"/>
              </p:nvPr>
            </p:nvSpPr>
            <p:spPr/>
            <p:txBody>
              <a:bodyPr lIns="96661" tIns="48331" rIns="96661" bIns="48331">
                <a:normAutofit fontScale="25000" lnSpcReduction="20000"/>
              </a:bodyPr>
              <a:lstStyle/>
              <a:p>
                <a:pPr marL="181240" indent="-181240">
                  <a:buFont typeface="Arial" panose="020B0604020202020204" pitchFamily="34" charset="0"/>
                  <a:buChar char="•"/>
                </a:pPr>
                <a:r>
                  <a:rPr lang="en-US" sz="1300" b="1" i="1" spc="-169" dirty="0">
                    <a:latin typeface="Times New Roman"/>
                    <a:cs typeface="Times New Roman"/>
                  </a:rPr>
                  <a:t>a</a:t>
                </a:r>
                <a:r>
                  <a:rPr lang="en-US" sz="1300" b="1" i="1" spc="-571" baseline="-30864" dirty="0">
                    <a:latin typeface="Times New Roman"/>
                    <a:cs typeface="Times New Roman"/>
                  </a:rPr>
                  <a:t>i</a:t>
                </a:r>
                <a:r>
                  <a:rPr lang="en-US" sz="1300" b="1" spc="180" dirty="0">
                    <a:latin typeface="Garamond"/>
                    <a:cs typeface="Garamond"/>
                  </a:rPr>
                  <a:t>*</a:t>
                </a:r>
                <a:r>
                  <a:rPr lang="en-US" sz="1300" b="1" spc="69" dirty="0">
                    <a:latin typeface="Garamond"/>
                    <a:cs typeface="Garamond"/>
                  </a:rPr>
                  <a:t> </a:t>
                </a:r>
                <a:r>
                  <a:rPr lang="en-US" sz="1300" b="1" spc="148" dirty="0">
                    <a:latin typeface="Cambria"/>
                    <a:cs typeface="Cambria"/>
                  </a:rPr>
                  <a:t>∈</a:t>
                </a:r>
                <a:r>
                  <a:rPr lang="en-US" sz="1300" b="1" spc="153" dirty="0">
                    <a:latin typeface="Cambria"/>
                    <a:cs typeface="Cambria"/>
                  </a:rPr>
                  <a:t> </a:t>
                </a:r>
                <a:r>
                  <a:rPr lang="en-US" sz="1300" b="1" i="1" spc="-21" dirty="0">
                    <a:latin typeface="Times New Roman"/>
                    <a:cs typeface="Times New Roman"/>
                  </a:rPr>
                  <a:t>BR</a:t>
                </a:r>
                <a:r>
                  <a:rPr lang="en-US" sz="1300" b="1" spc="100" dirty="0">
                    <a:latin typeface="Garamond"/>
                    <a:cs typeface="Garamond"/>
                  </a:rPr>
                  <a:t>(</a:t>
                </a:r>
                <a:r>
                  <a:rPr lang="en-US" sz="1300" b="1" i="1" spc="-111" dirty="0">
                    <a:latin typeface="Times New Roman"/>
                    <a:cs typeface="Times New Roman"/>
                  </a:rPr>
                  <a:t>a</a:t>
                </a:r>
                <a:r>
                  <a:rPr lang="en-US" sz="1300" b="1" spc="372" baseline="-20061" dirty="0">
                    <a:latin typeface="Cambria"/>
                    <a:cs typeface="Cambria"/>
                  </a:rPr>
                  <a:t>−</a:t>
                </a:r>
                <a:r>
                  <a:rPr lang="en-US" sz="1300" b="1" i="1" baseline="-20061" dirty="0">
                    <a:latin typeface="Times New Roman"/>
                    <a:cs typeface="Times New Roman"/>
                  </a:rPr>
                  <a:t>i</a:t>
                </a:r>
                <a:r>
                  <a:rPr lang="en-US" sz="1300" b="1" spc="100" dirty="0">
                    <a:latin typeface="Garamond"/>
                    <a:cs typeface="Garamond"/>
                  </a:rPr>
                  <a:t>):</a:t>
                </a:r>
                <a:r>
                  <a:rPr lang="en-US" sz="1300" b="1" spc="216" dirty="0">
                    <a:latin typeface="Garamond"/>
                    <a:cs typeface="Garamond"/>
                  </a:rPr>
                  <a:t> </a:t>
                </a:r>
                <a:r>
                  <a:rPr lang="en-US" b="0" i="1" dirty="0">
                    <a:solidFill>
                      <a:schemeClr val="tx1"/>
                    </a:solidFill>
                    <a:effectLst/>
                    <a:latin typeface="Söhne"/>
                  </a:rPr>
                  <a:t>This part means that action </a:t>
                </a:r>
                <a:r>
                  <a:rPr lang="en-US" b="0" i="0" dirty="0">
                    <a:solidFill>
                      <a:schemeClr val="tx1"/>
                    </a:solidFill>
                    <a:effectLst/>
                    <a:latin typeface="Cambria Math" panose="02040503050406030204" pitchFamily="18" charset="0"/>
                  </a:rPr>
                  <a:t>𝑎_𝑖  </a:t>
                </a:r>
                <a:r>
                  <a:rPr lang="en-US" b="0" i="0" dirty="0">
                    <a:solidFill>
                      <a:schemeClr val="tx1"/>
                    </a:solidFill>
                    <a:effectLst/>
                    <a:latin typeface="Söhne"/>
                  </a:rPr>
                  <a:t>belongs to the best response of player </a:t>
                </a:r>
                <a:r>
                  <a:rPr lang="en-US" b="0" i="0" dirty="0">
                    <a:solidFill>
                      <a:schemeClr val="tx1"/>
                    </a:solidFill>
                    <a:effectLst/>
                    <a:latin typeface="Cambria Math" panose="02040503050406030204" pitchFamily="18" charset="0"/>
                  </a:rPr>
                  <a:t>𝑖</a:t>
                </a:r>
                <a:r>
                  <a:rPr lang="en-US" b="0" i="0" dirty="0">
                    <a:solidFill>
                      <a:schemeClr val="tx1"/>
                    </a:solidFill>
                    <a:effectLst/>
                    <a:latin typeface="Söhne"/>
                  </a:rPr>
                  <a:t> (BR) given the actions </a:t>
                </a:r>
                <a:r>
                  <a:rPr lang="en-US" b="0" i="0" dirty="0">
                    <a:solidFill>
                      <a:schemeClr val="tx1"/>
                    </a:solidFill>
                    <a:effectLst/>
                    <a:latin typeface="Cambria Math" panose="02040503050406030204" pitchFamily="18" charset="0"/>
                  </a:rPr>
                  <a:t>𝑎_(−𝑖)  </a:t>
                </a:r>
                <a:endParaRPr lang="en-US" b="1" i="0" dirty="0">
                  <a:solidFill>
                    <a:schemeClr val="tx1"/>
                  </a:solidFill>
                  <a:effectLst/>
                  <a:latin typeface="Söhne"/>
                </a:endParaRPr>
              </a:p>
              <a:p>
                <a:pPr marL="181240" indent="-181240">
                  <a:buFont typeface="Arial" panose="020B0604020202020204" pitchFamily="34" charset="0"/>
                  <a:buChar char="•"/>
                </a:pPr>
                <a:r>
                  <a:rPr lang="en-US" sz="1300" b="1" i="1" spc="-169" dirty="0">
                    <a:latin typeface="Times New Roman"/>
                    <a:cs typeface="Times New Roman"/>
                  </a:rPr>
                  <a:t>a</a:t>
                </a:r>
                <a:r>
                  <a:rPr lang="en-US" sz="1300" b="1" i="1" spc="-571" baseline="-30864" dirty="0">
                    <a:latin typeface="Times New Roman"/>
                    <a:cs typeface="Times New Roman"/>
                  </a:rPr>
                  <a:t>i</a:t>
                </a:r>
                <a:r>
                  <a:rPr lang="en-US" sz="1300" b="1" spc="180" dirty="0">
                    <a:latin typeface="Garamond"/>
                    <a:cs typeface="Garamond"/>
                  </a:rPr>
                  <a:t>*</a:t>
                </a:r>
                <a:r>
                  <a:rPr lang="en-US" sz="1300" spc="69" dirty="0">
                    <a:latin typeface="Garamond"/>
                    <a:cs typeface="Garamond"/>
                  </a:rPr>
                  <a:t>: </a:t>
                </a:r>
                <a:r>
                  <a:rPr lang="en-US" b="0" i="0" dirty="0">
                    <a:solidFill>
                      <a:schemeClr val="tx1"/>
                    </a:solidFill>
                    <a:effectLst/>
                    <a:latin typeface="Söhne"/>
                  </a:rPr>
                  <a:t>is the action that player </a:t>
                </a:r>
                <a:r>
                  <a:rPr lang="en-US" b="0" i="0" dirty="0">
                    <a:solidFill>
                      <a:schemeClr val="tx1"/>
                    </a:solidFill>
                    <a:effectLst/>
                    <a:latin typeface="Cambria Math" panose="02040503050406030204" pitchFamily="18" charset="0"/>
                  </a:rPr>
                  <a:t>𝑖 </a:t>
                </a:r>
                <a:r>
                  <a:rPr lang="en-US" b="0" i="0" dirty="0">
                    <a:solidFill>
                      <a:schemeClr val="tx1"/>
                    </a:solidFill>
                    <a:effectLst/>
                    <a:latin typeface="Söhne"/>
                  </a:rPr>
                  <a:t>would choose as the best response to the actions of all other players.</a:t>
                </a:r>
              </a:p>
              <a:p>
                <a:pPr marL="181240" indent="-181240">
                  <a:buFont typeface="Arial" panose="020B0604020202020204" pitchFamily="34" charset="0"/>
                  <a:buChar char="•"/>
                </a:pPr>
                <a:r>
                  <a:rPr lang="en-US" sz="1300" b="1" spc="-58" dirty="0">
                    <a:latin typeface="Cambria"/>
                    <a:cs typeface="Cambria"/>
                  </a:rPr>
                  <a:t>∀</a:t>
                </a:r>
                <a:r>
                  <a:rPr lang="en-US" sz="1300" b="1" i="1" spc="-111" dirty="0">
                    <a:latin typeface="Times New Roman"/>
                    <a:cs typeface="Times New Roman"/>
                  </a:rPr>
                  <a:t>a</a:t>
                </a:r>
                <a:r>
                  <a:rPr lang="en-US" sz="1300" b="1" i="1" baseline="-20061" dirty="0">
                    <a:latin typeface="Times New Roman"/>
                    <a:cs typeface="Times New Roman"/>
                  </a:rPr>
                  <a:t>i </a:t>
                </a:r>
                <a:r>
                  <a:rPr lang="en-US" sz="1300" b="1" i="1" spc="-309" baseline="-20061" dirty="0">
                    <a:latin typeface="Times New Roman"/>
                    <a:cs typeface="Times New Roman"/>
                  </a:rPr>
                  <a:t> </a:t>
                </a:r>
                <a:r>
                  <a:rPr lang="en-US" sz="1300" b="1" spc="148" dirty="0">
                    <a:latin typeface="Cambria"/>
                    <a:cs typeface="Cambria"/>
                  </a:rPr>
                  <a:t>∈</a:t>
                </a:r>
                <a:r>
                  <a:rPr lang="en-US" sz="1300" b="1" spc="233" dirty="0">
                    <a:latin typeface="Cambria"/>
                    <a:cs typeface="Cambria"/>
                  </a:rPr>
                  <a:t> </a:t>
                </a:r>
                <a:r>
                  <a:rPr lang="en-US" sz="1300" b="1" i="1" spc="-116" dirty="0">
                    <a:latin typeface="Times New Roman"/>
                    <a:cs typeface="Times New Roman"/>
                  </a:rPr>
                  <a:t>A</a:t>
                </a:r>
                <a:r>
                  <a:rPr lang="en-US" sz="1300" b="1" i="1" baseline="-20061" dirty="0">
                    <a:latin typeface="Times New Roman"/>
                    <a:cs typeface="Times New Roman"/>
                  </a:rPr>
                  <a:t>i</a:t>
                </a:r>
                <a:r>
                  <a:rPr lang="en-US" b="0" i="0" dirty="0">
                    <a:solidFill>
                      <a:schemeClr val="tx1"/>
                    </a:solidFill>
                    <a:effectLst/>
                    <a:latin typeface="Söhne"/>
                  </a:rPr>
                  <a:t>: This part indicates that the statement applies for all possible actions </a:t>
                </a:r>
                <a:r>
                  <a:rPr lang="en-US" b="0" i="0" dirty="0">
                    <a:solidFill>
                      <a:schemeClr val="tx1"/>
                    </a:solidFill>
                    <a:effectLst/>
                    <a:latin typeface="Cambria Math" panose="02040503050406030204" pitchFamily="18" charset="0"/>
                  </a:rPr>
                  <a:t>𝑎_𝑖</a:t>
                </a:r>
                <a:r>
                  <a:rPr lang="en-US" b="0" i="0" dirty="0">
                    <a:solidFill>
                      <a:schemeClr val="tx1"/>
                    </a:solidFill>
                    <a:effectLst/>
                    <a:latin typeface="Söhne"/>
                  </a:rPr>
                  <a:t> in the action set </a:t>
                </a:r>
                <a:r>
                  <a:rPr lang="en-US" b="0" i="0" dirty="0">
                    <a:solidFill>
                      <a:schemeClr val="tx1"/>
                    </a:solidFill>
                    <a:effectLst/>
                    <a:latin typeface="Cambria Math" panose="02040503050406030204" pitchFamily="18" charset="0"/>
                  </a:rPr>
                  <a:t>𝐴_𝑖  </a:t>
                </a:r>
                <a:r>
                  <a:rPr lang="en-US" b="0" i="0" dirty="0">
                    <a:solidFill>
                      <a:schemeClr val="tx1"/>
                    </a:solidFill>
                    <a:effectLst/>
                    <a:latin typeface="Söhne"/>
                  </a:rPr>
                  <a:t>of player </a:t>
                </a:r>
                <a:r>
                  <a:rPr lang="en-US" b="0" i="0" dirty="0">
                    <a:solidFill>
                      <a:schemeClr val="tx1"/>
                    </a:solidFill>
                    <a:effectLst/>
                    <a:latin typeface="Cambria Math" panose="02040503050406030204" pitchFamily="18" charset="0"/>
                  </a:rPr>
                  <a:t>𝑖</a:t>
                </a:r>
                <a:r>
                  <a:rPr lang="en-US" b="0" i="0" dirty="0">
                    <a:solidFill>
                      <a:schemeClr val="tx1"/>
                    </a:solidFill>
                    <a:effectLst/>
                    <a:latin typeface="Söhne"/>
                  </a:rPr>
                  <a:t>.</a:t>
                </a:r>
              </a:p>
              <a:p>
                <a:pPr marL="181240" indent="-181240">
                  <a:buFont typeface="Arial" panose="020B0604020202020204" pitchFamily="34" charset="0"/>
                  <a:buChar char="•"/>
                </a:pPr>
                <a:r>
                  <a:rPr lang="en-US" sz="1300" b="1" i="1" spc="-111" dirty="0" err="1">
                    <a:latin typeface="Times New Roman"/>
                    <a:cs typeface="Times New Roman"/>
                  </a:rPr>
                  <a:t>u</a:t>
                </a:r>
                <a:r>
                  <a:rPr lang="en-US" sz="1300" b="1" i="1" baseline="-20061" dirty="0" err="1">
                    <a:latin typeface="Times New Roman"/>
                    <a:cs typeface="Times New Roman"/>
                  </a:rPr>
                  <a:t>i</a:t>
                </a:r>
                <a:r>
                  <a:rPr lang="en-US" sz="1300" b="1" spc="100" dirty="0">
                    <a:latin typeface="Garamond"/>
                    <a:cs typeface="Garamond"/>
                  </a:rPr>
                  <a:t>(</a:t>
                </a:r>
                <a:r>
                  <a:rPr lang="en-US" sz="1300" b="1" i="1" spc="-169" dirty="0">
                    <a:latin typeface="Times New Roman"/>
                    <a:cs typeface="Times New Roman"/>
                  </a:rPr>
                  <a:t>a</a:t>
                </a:r>
                <a:r>
                  <a:rPr lang="en-US" sz="1300" b="1" i="1" spc="-571" baseline="-30864" dirty="0">
                    <a:latin typeface="Times New Roman"/>
                    <a:cs typeface="Times New Roman"/>
                  </a:rPr>
                  <a:t>i</a:t>
                </a:r>
                <a:r>
                  <a:rPr lang="en-US" sz="1300" b="1" spc="180" dirty="0">
                    <a:latin typeface="Garamond"/>
                    <a:cs typeface="Garamond"/>
                  </a:rPr>
                  <a:t>*</a:t>
                </a:r>
                <a:r>
                  <a:rPr lang="en-US" sz="1300" b="1" spc="74" dirty="0">
                    <a:latin typeface="Garamond"/>
                    <a:cs typeface="Garamond"/>
                  </a:rPr>
                  <a:t>,</a:t>
                </a:r>
                <a:r>
                  <a:rPr lang="en-US" sz="1300" b="1" spc="-227" dirty="0">
                    <a:latin typeface="Garamond"/>
                    <a:cs typeface="Garamond"/>
                  </a:rPr>
                  <a:t> </a:t>
                </a:r>
                <a:r>
                  <a:rPr lang="en-US" sz="1300" b="1" i="1" spc="-111" dirty="0">
                    <a:latin typeface="Times New Roman"/>
                    <a:cs typeface="Times New Roman"/>
                  </a:rPr>
                  <a:t>a</a:t>
                </a:r>
                <a:r>
                  <a:rPr lang="en-US" sz="1300" b="1" spc="372" baseline="-20061" dirty="0">
                    <a:latin typeface="Cambria"/>
                    <a:cs typeface="Cambria"/>
                  </a:rPr>
                  <a:t>−</a:t>
                </a:r>
                <a:r>
                  <a:rPr lang="en-US" sz="1300" b="1" i="1" baseline="-20061" dirty="0">
                    <a:latin typeface="Times New Roman"/>
                    <a:cs typeface="Times New Roman"/>
                  </a:rPr>
                  <a:t>i</a:t>
                </a:r>
                <a:r>
                  <a:rPr lang="en-US" sz="1300" b="1" spc="100" dirty="0">
                    <a:latin typeface="Garamond"/>
                    <a:cs typeface="Garamond"/>
                  </a:rPr>
                  <a:t>)</a:t>
                </a:r>
                <a:r>
                  <a:rPr lang="en-US" sz="1300" b="1" spc="69" dirty="0">
                    <a:latin typeface="Garamond"/>
                    <a:cs typeface="Garamond"/>
                  </a:rPr>
                  <a:t> </a:t>
                </a:r>
                <a:r>
                  <a:rPr lang="en-US" sz="1300" b="1" spc="344" dirty="0">
                    <a:latin typeface="Cambria"/>
                    <a:cs typeface="Cambria"/>
                  </a:rPr>
                  <a:t>≥</a:t>
                </a:r>
                <a:r>
                  <a:rPr lang="en-US" sz="1300" b="1" spc="153" dirty="0">
                    <a:latin typeface="Cambria"/>
                    <a:cs typeface="Cambria"/>
                  </a:rPr>
                  <a:t> </a:t>
                </a:r>
                <a:r>
                  <a:rPr lang="en-US" sz="1300" b="1" i="1" spc="-111" dirty="0" err="1">
                    <a:latin typeface="Times New Roman"/>
                    <a:cs typeface="Times New Roman"/>
                  </a:rPr>
                  <a:t>u</a:t>
                </a:r>
                <a:r>
                  <a:rPr lang="en-US" sz="1300" b="1" i="1" baseline="-20061" dirty="0" err="1">
                    <a:latin typeface="Times New Roman"/>
                    <a:cs typeface="Times New Roman"/>
                  </a:rPr>
                  <a:t>i</a:t>
                </a:r>
                <a:r>
                  <a:rPr lang="en-US" sz="1300" b="1" spc="100" dirty="0">
                    <a:latin typeface="Garamond"/>
                    <a:cs typeface="Garamond"/>
                  </a:rPr>
                  <a:t>(</a:t>
                </a:r>
                <a:r>
                  <a:rPr lang="en-US" sz="1300" b="1" i="1" spc="-111" dirty="0">
                    <a:latin typeface="Times New Roman"/>
                    <a:cs typeface="Times New Roman"/>
                  </a:rPr>
                  <a:t>a</a:t>
                </a:r>
                <a:r>
                  <a:rPr lang="en-US" sz="1300" b="1" i="1" baseline="-20061" dirty="0">
                    <a:latin typeface="Times New Roman"/>
                    <a:cs typeface="Times New Roman"/>
                  </a:rPr>
                  <a:t>i</a:t>
                </a:r>
                <a:r>
                  <a:rPr lang="en-US" sz="1300" b="1" spc="74" dirty="0">
                    <a:latin typeface="Garamond"/>
                    <a:cs typeface="Garamond"/>
                  </a:rPr>
                  <a:t>,</a:t>
                </a:r>
                <a:r>
                  <a:rPr lang="en-US" sz="1300" b="1" spc="-227" dirty="0">
                    <a:latin typeface="Garamond"/>
                    <a:cs typeface="Garamond"/>
                  </a:rPr>
                  <a:t> </a:t>
                </a:r>
                <a:r>
                  <a:rPr lang="en-US" sz="1300" b="1" i="1" spc="-111" dirty="0">
                    <a:latin typeface="Times New Roman"/>
                    <a:cs typeface="Times New Roman"/>
                  </a:rPr>
                  <a:t>a</a:t>
                </a:r>
                <a:r>
                  <a:rPr lang="en-US" sz="1300" b="1" spc="372" baseline="-20061" dirty="0">
                    <a:latin typeface="Cambria"/>
                    <a:cs typeface="Cambria"/>
                  </a:rPr>
                  <a:t>−</a:t>
                </a:r>
                <a:r>
                  <a:rPr lang="en-US" sz="1300" b="1" i="1" baseline="-20061" dirty="0">
                    <a:latin typeface="Times New Roman"/>
                    <a:cs typeface="Times New Roman"/>
                  </a:rPr>
                  <a:t>i</a:t>
                </a:r>
                <a:r>
                  <a:rPr lang="en-US" sz="1300" b="1" spc="100" dirty="0">
                    <a:latin typeface="Garamond"/>
                    <a:cs typeface="Garamond"/>
                  </a:rPr>
                  <a:t>): </a:t>
                </a:r>
                <a:r>
                  <a:rPr lang="en-US" b="0" i="1" dirty="0">
                    <a:solidFill>
                      <a:schemeClr val="tx1"/>
                    </a:solidFill>
                    <a:effectLst/>
                    <a:latin typeface="Söhne"/>
                  </a:rPr>
                  <a:t>This part is the condition for being a best response. It means that the utility (payoff) of player </a:t>
                </a:r>
                <a:r>
                  <a:rPr lang="en-US" b="0" i="0" dirty="0">
                    <a:solidFill>
                      <a:schemeClr val="tx1"/>
                    </a:solidFill>
                    <a:effectLst/>
                    <a:latin typeface="Cambria Math" panose="02040503050406030204" pitchFamily="18" charset="0"/>
                  </a:rPr>
                  <a:t>𝑖 </a:t>
                </a:r>
                <a:r>
                  <a:rPr lang="en-US" b="0" i="1" dirty="0">
                    <a:solidFill>
                      <a:schemeClr val="tx1"/>
                    </a:solidFill>
                    <a:effectLst/>
                    <a:latin typeface="Söhne"/>
                  </a:rPr>
                  <a:t>receives from choosing action </a:t>
                </a:r>
                <a:r>
                  <a:rPr lang="en-US" b="0" i="0" dirty="0">
                    <a:solidFill>
                      <a:schemeClr val="tx1"/>
                    </a:solidFill>
                    <a:effectLst/>
                    <a:latin typeface="Cambria Math" panose="02040503050406030204" pitchFamily="18" charset="0"/>
                  </a:rPr>
                  <a:t>𝑎_𝑖^∗  </a:t>
                </a:r>
                <a:r>
                  <a:rPr lang="en-US" b="0" i="0" dirty="0">
                    <a:solidFill>
                      <a:schemeClr val="tx1"/>
                    </a:solidFill>
                    <a:effectLst/>
                    <a:latin typeface="Söhne"/>
                  </a:rPr>
                  <a:t>when all other players play </a:t>
                </a:r>
                <a:r>
                  <a:rPr lang="en-US" b="0" i="0" dirty="0">
                    <a:solidFill>
                      <a:schemeClr val="tx1"/>
                    </a:solidFill>
                    <a:effectLst/>
                    <a:latin typeface="Cambria Math" panose="02040503050406030204" pitchFamily="18" charset="0"/>
                  </a:rPr>
                  <a:t>𝑎_(−𝑖)  </a:t>
                </a:r>
                <a:r>
                  <a:rPr lang="en-US" b="0" i="0" dirty="0">
                    <a:solidFill>
                      <a:schemeClr val="tx1"/>
                    </a:solidFill>
                    <a:effectLst/>
                    <a:latin typeface="Söhne"/>
                  </a:rPr>
                  <a:t>is greater than or equal to the utility player </a:t>
                </a:r>
                <a:r>
                  <a:rPr lang="en-US" b="0" i="0" dirty="0">
                    <a:solidFill>
                      <a:schemeClr val="tx1"/>
                    </a:solidFill>
                    <a:effectLst/>
                    <a:latin typeface="Cambria Math" panose="02040503050406030204" pitchFamily="18" charset="0"/>
                  </a:rPr>
                  <a:t>𝑖</a:t>
                </a:r>
                <a:r>
                  <a:rPr lang="en-US" b="0" i="0" dirty="0">
                    <a:solidFill>
                      <a:schemeClr val="tx1"/>
                    </a:solidFill>
                    <a:effectLst/>
                    <a:latin typeface="Söhne"/>
                  </a:rPr>
                  <a:t> receives from choosing action ai when all other players play</a:t>
                </a:r>
                <a:r>
                  <a:rPr lang="en-US" b="0" i="0" dirty="0">
                    <a:solidFill>
                      <a:schemeClr val="tx1"/>
                    </a:solidFill>
                    <a:effectLst/>
                    <a:latin typeface="Cambria Math" panose="02040503050406030204" pitchFamily="18" charset="0"/>
                  </a:rPr>
                  <a:t> 𝑎_(−𝑖)</a:t>
                </a:r>
                <a:r>
                  <a:rPr lang="en-US" b="0" i="0" dirty="0">
                    <a:solidFill>
                      <a:schemeClr val="tx1"/>
                    </a:solidFill>
                    <a:effectLst/>
                    <a:latin typeface="Söhne"/>
                  </a:rPr>
                  <a:t>. In simpler terms, player </a:t>
                </a:r>
                <a:r>
                  <a:rPr lang="en-US" b="0" i="0" dirty="0">
                    <a:solidFill>
                      <a:schemeClr val="tx1"/>
                    </a:solidFill>
                    <a:effectLst/>
                    <a:latin typeface="Cambria Math" panose="02040503050406030204" pitchFamily="18" charset="0"/>
                  </a:rPr>
                  <a:t>𝑖</a:t>
                </a:r>
                <a:r>
                  <a:rPr lang="en-US" b="0" i="0" dirty="0">
                    <a:solidFill>
                      <a:schemeClr val="tx1"/>
                    </a:solidFill>
                    <a:effectLst/>
                    <a:latin typeface="Söhne"/>
                  </a:rPr>
                  <a:t> will choose </a:t>
                </a:r>
                <a:r>
                  <a:rPr lang="en-US" b="0" i="0" dirty="0">
                    <a:solidFill>
                      <a:schemeClr val="tx1"/>
                    </a:solidFill>
                    <a:effectLst/>
                    <a:latin typeface="Cambria Math" panose="02040503050406030204" pitchFamily="18" charset="0"/>
                  </a:rPr>
                  <a:t>𝑎_𝑖^∗  </a:t>
                </a:r>
                <a:r>
                  <a:rPr lang="en-US" b="0" i="0" dirty="0">
                    <a:solidFill>
                      <a:schemeClr val="tx1"/>
                    </a:solidFill>
                    <a:effectLst/>
                    <a:latin typeface="Söhne"/>
                  </a:rPr>
                  <a:t>if it leads to an outcome that is at least as good as (or better than) choosing </a:t>
                </a:r>
                <a:r>
                  <a:rPr lang="en-US" b="0" i="0" dirty="0">
                    <a:solidFill>
                      <a:schemeClr val="tx1"/>
                    </a:solidFill>
                    <a:effectLst/>
                    <a:latin typeface="Cambria Math" panose="02040503050406030204" pitchFamily="18" charset="0"/>
                  </a:rPr>
                  <a:t>𝑎_𝑖</a:t>
                </a:r>
                <a:r>
                  <a:rPr lang="en-US" b="0" i="0" dirty="0">
                    <a:solidFill>
                      <a:schemeClr val="tx1"/>
                    </a:solidFill>
                    <a:effectLst/>
                    <a:latin typeface="Söhne"/>
                  </a:rPr>
                  <a:t>.</a:t>
                </a:r>
                <a:endParaRPr dirty="0">
                  <a:solidFill>
                    <a:schemeClr val="tx1"/>
                  </a:solidFill>
                </a:endParaRPr>
              </a:p>
            </p:txBody>
          </p:sp>
        </mc:Fallback>
      </mc:AlternateContent>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dirty="0"/>
              <a:t>If no player in a game has a reason to change their strategy on their own (because doing so wouldn't give them a better result), then we say that the players are using strategies that are in balance or in harmony with each other. This is called an equilibrium. </a:t>
            </a:r>
            <a:br>
              <a:rPr lang="en-US" dirty="0"/>
            </a:br>
            <a:br>
              <a:rPr lang="en-US" dirty="0"/>
            </a:br>
            <a:r>
              <a:rPr lang="en-US" dirty="0"/>
              <a:t>In chess, if both players reach a point in the game where neither player can improve their position or gain an advantage by changing their strategy, then they are in equilibrium. For example, in some endgame positions, both players might recognize that any move they make will not change the outcome (like a draw), so they continue to play the same strategy, leading to a stalemate.</a:t>
            </a:r>
          </a:p>
          <a:p>
            <a:r>
              <a:rPr lang="en-US" dirty="0"/>
              <a:t>This situation in chess is similar to what is described as "strategies in equilibrium" in game theory. Neither player has a unilateral incentive to change their move because it wouldn’t improve their situation.</a:t>
            </a:r>
          </a:p>
          <a:p>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marL="181240" indent="-181240">
              <a:buFont typeface="Arial" panose="020B0604020202020204" pitchFamily="34" charset="0"/>
              <a:buChar char="•"/>
            </a:pPr>
            <a:r>
              <a:rPr lang="en-US" b="1" i="0" dirty="0">
                <a:solidFill>
                  <a:schemeClr val="tx1"/>
                </a:solidFill>
                <a:effectLst/>
                <a:latin typeface="Söhne"/>
              </a:rPr>
              <a:t>a = (a1, …, an)</a:t>
            </a:r>
            <a:r>
              <a:rPr lang="en-US" b="0" i="0" dirty="0">
                <a:solidFill>
                  <a:schemeClr val="tx1"/>
                </a:solidFill>
                <a:effectLst/>
                <a:latin typeface="Söhne"/>
              </a:rPr>
              <a:t>: This represents a profile of strategies for all players in the game. Each ai represents the action chosen by player i.</a:t>
            </a:r>
          </a:p>
          <a:p>
            <a:pPr marL="181240" indent="-181240">
              <a:buFont typeface="Arial" panose="020B0604020202020204" pitchFamily="34" charset="0"/>
              <a:buChar char="•"/>
            </a:pPr>
            <a:r>
              <a:rPr lang="en-US" b="1" i="0" dirty="0">
                <a:solidFill>
                  <a:schemeClr val="tx1"/>
                </a:solidFill>
                <a:effectLst/>
                <a:latin typeface="Söhne"/>
              </a:rPr>
              <a:t>a is a Nash Equilibrium</a:t>
            </a:r>
            <a:r>
              <a:rPr lang="en-US" b="0" i="0" dirty="0">
                <a:solidFill>
                  <a:schemeClr val="tx1"/>
                </a:solidFill>
                <a:effectLst/>
                <a:latin typeface="Söhne"/>
              </a:rPr>
              <a:t>: This part asserts that the action profile a is indeed a Nash Equilibrium.</a:t>
            </a:r>
          </a:p>
          <a:p>
            <a:pPr marL="181240" indent="-181240">
              <a:buFont typeface="Arial" panose="020B0604020202020204" pitchFamily="34" charset="0"/>
              <a:buChar char="•"/>
            </a:pPr>
            <a:r>
              <a:rPr lang="en-US" b="1" i="0" dirty="0">
                <a:solidFill>
                  <a:schemeClr val="tx1"/>
                </a:solidFill>
                <a:effectLst/>
                <a:latin typeface="Söhne"/>
              </a:rPr>
              <a:t>∀i, ai ∈ BR(a−i)</a:t>
            </a:r>
            <a:r>
              <a:rPr lang="en-US" b="0" i="0" dirty="0">
                <a:solidFill>
                  <a:schemeClr val="tx1"/>
                </a:solidFill>
                <a:effectLst/>
                <a:latin typeface="Söhne"/>
              </a:rPr>
              <a:t>: This is the core condition for Nash Equilibrium. It states that for every player i in the game, the action ai chosen by that player must belong to their best response set BR(a−i), which is the set of actions that player i considers as a best response to the actions of all other players (a−i).</a:t>
            </a:r>
          </a:p>
          <a:p>
            <a:endParaRPr lang="en-US" dirty="0">
              <a:solidFill>
                <a:schemeClr val="tx1"/>
              </a:solidFill>
            </a:endParaRPr>
          </a:p>
          <a:p>
            <a:r>
              <a:rPr lang="en-US" b="0" i="0" dirty="0">
                <a:solidFill>
                  <a:schemeClr val="tx1"/>
                </a:solidFill>
                <a:effectLst/>
                <a:latin typeface="Söhne"/>
              </a:rPr>
              <a:t>A </a:t>
            </a:r>
            <a:r>
              <a:rPr lang="en-US" b="1" i="0" dirty="0">
                <a:solidFill>
                  <a:schemeClr val="tx1"/>
                </a:solidFill>
                <a:effectLst/>
                <a:latin typeface="Söhne"/>
              </a:rPr>
              <a:t>pure strategy </a:t>
            </a:r>
            <a:r>
              <a:rPr lang="en-US" b="0" i="0" dirty="0">
                <a:solidFill>
                  <a:schemeClr val="tx1"/>
                </a:solidFill>
                <a:effectLst/>
                <a:latin typeface="Söhne"/>
              </a:rPr>
              <a:t>represents a deterministic plan of action, where a player selects a single, precise choice from their strategy set without any randomness or uncertainty.</a:t>
            </a:r>
            <a:endParaRPr dirty="0">
              <a:solidFill>
                <a:schemeClr val="tx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dirty="0">
                <a:solidFill>
                  <a:schemeClr val="tx1"/>
                </a:solidFill>
              </a:rPr>
              <a:t>Just look at the last two statements to define the saddle points.</a:t>
            </a:r>
            <a:endParaRPr dirty="0">
              <a:solidFill>
                <a:schemeClr val="tx1"/>
              </a:solidFill>
            </a:endParaRPr>
          </a:p>
        </p:txBody>
      </p:sp>
    </p:spTree>
    <p:extLst>
      <p:ext uri="{BB962C8B-B14F-4D97-AF65-F5344CB8AC3E}">
        <p14:creationId xmlns:p14="http://schemas.microsoft.com/office/powerpoint/2010/main" val="36201040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lang="en-US" dirty="0"/>
          </a:p>
          <a:p>
            <a:r>
              <a:rPr lang="en-US" dirty="0"/>
              <a:t>The </a:t>
            </a:r>
            <a:r>
              <a:rPr lang="en-US" b="1" dirty="0"/>
              <a:t>traffic game</a:t>
            </a:r>
            <a:r>
              <a:rPr lang="en-US" dirty="0"/>
              <a:t> described has two players choosing between </a:t>
            </a:r>
            <a:r>
              <a:rPr lang="en-US" b="1" dirty="0"/>
              <a:t>Left (L)</a:t>
            </a:r>
            <a:r>
              <a:rPr lang="en-US" dirty="0"/>
              <a:t> or </a:t>
            </a:r>
            <a:r>
              <a:rPr lang="en-US" b="1" dirty="0"/>
              <a:t>Right (R)</a:t>
            </a:r>
            <a:endParaRPr lang="en-US" dirty="0"/>
          </a:p>
          <a:p>
            <a:endParaRPr lang="en-US" dirty="0"/>
          </a:p>
          <a:p>
            <a:r>
              <a:rPr lang="en-US" dirty="0"/>
              <a:t>In this scenario:</a:t>
            </a:r>
          </a:p>
          <a:p>
            <a:pPr marL="628650" lvl="1" indent="-171450">
              <a:buFont typeface="Arial" panose="020B0604020202020204" pitchFamily="34" charset="0"/>
              <a:buChar char="•"/>
            </a:pPr>
            <a:r>
              <a:rPr lang="en-US" dirty="0"/>
              <a:t>There are </a:t>
            </a:r>
            <a:r>
              <a:rPr lang="en-US" b="1" dirty="0"/>
              <a:t>two pure Nash equilibria</a:t>
            </a:r>
            <a:r>
              <a:rPr lang="en-US" dirty="0"/>
              <a:t>: (L,L)(L, L)(L,L) and (R,R)(R, R)(R,R), where both players coordinate on either Left or Right, earning (1, 1).</a:t>
            </a:r>
          </a:p>
          <a:p>
            <a:pPr marL="628650" lvl="1" indent="-171450">
              <a:buFont typeface="Arial" panose="020B0604020202020204" pitchFamily="34" charset="0"/>
              <a:buChar char="•"/>
            </a:pPr>
            <a:r>
              <a:rPr lang="en-US" dirty="0"/>
              <a:t>No player has an incentive to deviate from these equilibria because doing so results in a payoff of 0 for both.</a:t>
            </a:r>
          </a:p>
          <a:p>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b="1" dirty="0"/>
              <a:t>Understanding Nash Equilibrium</a:t>
            </a:r>
          </a:p>
          <a:p>
            <a:r>
              <a:rPr lang="en-US" dirty="0"/>
              <a:t>A </a:t>
            </a:r>
            <a:r>
              <a:rPr lang="en-US" b="1" dirty="0"/>
              <a:t>Nash Equilibrium</a:t>
            </a:r>
            <a:r>
              <a:rPr lang="en-US" dirty="0"/>
              <a:t> occurs when neither player can improve their payoff by unilaterally changing their strategy, given the other player's strategy.</a:t>
            </a:r>
          </a:p>
          <a:p>
            <a:br>
              <a:rPr lang="en-US" b="1" dirty="0"/>
            </a:br>
            <a:r>
              <a:rPr lang="en-US" b="1" dirty="0"/>
              <a:t>Multiple Nash Equilibria in the Battle of the Sexes</a:t>
            </a:r>
          </a:p>
          <a:p>
            <a:r>
              <a:rPr lang="en-US" dirty="0"/>
              <a:t>This game has </a:t>
            </a:r>
            <a:r>
              <a:rPr lang="en-US" b="1" dirty="0"/>
              <a:t>two pure strategy Nash equilibria</a:t>
            </a:r>
            <a:r>
              <a:rPr lang="en-US" dirty="0"/>
              <a:t> and one </a:t>
            </a:r>
            <a:r>
              <a:rPr lang="en-US" b="1" dirty="0"/>
              <a:t>mixed strategy Nash equilibrium</a:t>
            </a:r>
            <a:r>
              <a:rPr lang="en-US" dirty="0"/>
              <a:t>:</a:t>
            </a:r>
          </a:p>
          <a:p>
            <a:br>
              <a:rPr lang="en-US" b="1" dirty="0"/>
            </a:br>
            <a:r>
              <a:rPr lang="en-US" b="1" dirty="0"/>
              <a:t>1. (B, B) - Pure Strategy Nash Equilibrium</a:t>
            </a:r>
          </a:p>
          <a:p>
            <a:pPr marL="171450" indent="-171450">
              <a:buFont typeface="Arial" panose="020B0604020202020204" pitchFamily="34" charset="0"/>
              <a:buChar char="•"/>
            </a:pPr>
            <a:r>
              <a:rPr lang="en-US" dirty="0"/>
              <a:t>If Player 1 chooses B and Player 2 also chooses B, then neither player has an incentive to change their strategy. Player 1 gets 2 (their highest possible payoff), and Player 2 gets 1.</a:t>
            </a:r>
          </a:p>
          <a:p>
            <a:pPr marL="171450" indent="-171450">
              <a:buFont typeface="Arial" panose="020B0604020202020204" pitchFamily="34" charset="0"/>
              <a:buChar char="•"/>
            </a:pPr>
            <a:r>
              <a:rPr lang="en-US" dirty="0"/>
              <a:t>If Player 2 switches to F, they would get 0 instead of 1, which is worse for them. Similarly, Player 1 wouldn't want to switch to F either because they would get 0 instead of 2.</a:t>
            </a:r>
          </a:p>
          <a:p>
            <a:br>
              <a:rPr lang="en-US" b="1" dirty="0"/>
            </a:br>
            <a:r>
              <a:rPr lang="en-US" b="1" dirty="0"/>
              <a:t>2. (F, F) - Pure Strategy Nash Equilibrium</a:t>
            </a:r>
          </a:p>
          <a:p>
            <a:pPr marL="171450" indent="-171450">
              <a:buFont typeface="Arial" panose="020B0604020202020204" pitchFamily="34" charset="0"/>
              <a:buChar char="•"/>
            </a:pPr>
            <a:r>
              <a:rPr lang="en-US" dirty="0"/>
              <a:t>If Player 1 chooses F and Player 2 also chooses F, again, neither player has an incentive to change their strategy. Player 1 gets 1, and Player 2 gets 2 (their highest possible payoff).</a:t>
            </a:r>
          </a:p>
          <a:p>
            <a:pPr marL="171450" indent="-171450">
              <a:buFont typeface="Arial" panose="020B0604020202020204" pitchFamily="34" charset="0"/>
              <a:buChar char="•"/>
            </a:pPr>
            <a:r>
              <a:rPr lang="en-US" dirty="0"/>
              <a:t>If Player 2 switches to B, they would get 0 instead of 2, which is worse for them. Similarly, Player 1 wouldn't want to switch to B because they would get 0 instead of 1.</a:t>
            </a:r>
          </a:p>
          <a:p>
            <a:br>
              <a:rPr lang="en-US" b="1" dirty="0"/>
            </a:br>
            <a:r>
              <a:rPr lang="en-US" b="1" dirty="0"/>
              <a:t>3. Mixed Strategy Nash Equilibrium</a:t>
            </a:r>
          </a:p>
          <a:p>
            <a:pPr marL="171450" indent="-171450">
              <a:buFont typeface="Arial" panose="020B0604020202020204" pitchFamily="34" charset="0"/>
              <a:buChar char="•"/>
            </a:pPr>
            <a:r>
              <a:rPr lang="en-US" dirty="0"/>
              <a:t>In the mixed strategy Nash equilibrium, each player randomizes between B and F with certain probabilities. The idea is that each player is indifferent to the strategy choices of the other player, and this indifference is maintained by randomizing their own choices.</a:t>
            </a:r>
          </a:p>
          <a:p>
            <a:pPr marL="171450" indent="-171450">
              <a:buFont typeface="Arial" panose="020B0604020202020204" pitchFamily="34" charset="0"/>
              <a:buChar char="•"/>
            </a:pPr>
            <a:r>
              <a:rPr lang="en-US" dirty="0"/>
              <a:t>To calculate the exact probabilities, you would set up equations that equalize the expected payoffs for each player, given the mixed strategies of the other player. However, the existence of a mixed strategy equilibrium demonstrates that there can be additional equilibria beyond the pure strategy ones.</a:t>
            </a:r>
          </a:p>
          <a:p>
            <a:br>
              <a:rPr lang="en-US" b="1" dirty="0"/>
            </a:br>
            <a:r>
              <a:rPr lang="en-US" b="1" dirty="0"/>
              <a:t>Why Multiple Equilibria?</a:t>
            </a:r>
          </a:p>
          <a:p>
            <a:pPr marL="171450" indent="-171450">
              <a:buFont typeface="Arial" panose="020B0604020202020204" pitchFamily="34" charset="0"/>
              <a:buChar char="•"/>
            </a:pPr>
            <a:r>
              <a:rPr lang="en-US" b="1" dirty="0"/>
              <a:t>Coordination Problem</a:t>
            </a:r>
            <a:r>
              <a:rPr lang="en-US" dirty="0"/>
              <a:t>: The game reflects a coordination problem where both players want to coordinate but have different preferences. The multiple equilibria represent the different ways coordination can happen (either both choose B or both choose F).</a:t>
            </a:r>
          </a:p>
          <a:p>
            <a:pPr marL="171450" indent="-171450">
              <a:buFont typeface="Arial" panose="020B0604020202020204" pitchFamily="34" charset="0"/>
              <a:buChar char="•"/>
            </a:pPr>
            <a:r>
              <a:rPr lang="en-US" b="1" dirty="0"/>
              <a:t>Different Preferences</a:t>
            </a:r>
            <a:r>
              <a:rPr lang="en-US" dirty="0"/>
              <a:t>: The multiple Nash equilibria show that depending on which equilibrium they coordinate on, one player may end up better off than the other.</a:t>
            </a:r>
            <a:br>
              <a:rPr lang="en-US" dirty="0"/>
            </a:br>
            <a:endParaRPr lang="en-US" dirty="0"/>
          </a:p>
          <a:p>
            <a:r>
              <a:rPr lang="en-US" dirty="0"/>
              <a:t>In summary, the Battle of the Sexes game has multiple Nash equilibria because there are different ways in which the players can coordinate their strategies to achieve mutual benefit, with each equilibrium reflecting a different outcome that aligns with one of the player's preferences.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dirty="0">
                <a:solidFill>
                  <a:schemeClr val="tx1"/>
                </a:solidFill>
              </a:rPr>
              <a:t>Player     |   </a:t>
            </a:r>
            <a:r>
              <a:rPr lang="en-US" dirty="0" err="1">
                <a:solidFill>
                  <a:schemeClr val="tx1"/>
                </a:solidFill>
              </a:rPr>
              <a:t>curr</a:t>
            </a:r>
            <a:r>
              <a:rPr lang="en-US" dirty="0">
                <a:solidFill>
                  <a:schemeClr val="tx1"/>
                </a:solidFill>
              </a:rPr>
              <a:t> strategy   |   next  strategy  |   reason</a:t>
            </a:r>
          </a:p>
          <a:p>
            <a:r>
              <a:rPr lang="en-US" dirty="0">
                <a:solidFill>
                  <a:schemeClr val="tx1"/>
                </a:solidFill>
              </a:rPr>
              <a:t>-----------------------------------------------------------</a:t>
            </a:r>
          </a:p>
          <a:p>
            <a:r>
              <a:rPr lang="en-US" dirty="0">
                <a:solidFill>
                  <a:schemeClr val="tx1"/>
                </a:solidFill>
              </a:rPr>
              <a:t>Row        |          CC           |          DC             |    0 &gt; -1</a:t>
            </a:r>
          </a:p>
          <a:p>
            <a:r>
              <a:rPr lang="en-US" dirty="0">
                <a:solidFill>
                  <a:schemeClr val="tx1"/>
                </a:solidFill>
              </a:rPr>
              <a:t>-----------------------------------------------------------</a:t>
            </a:r>
          </a:p>
          <a:p>
            <a:r>
              <a:rPr lang="en-US" dirty="0">
                <a:solidFill>
                  <a:schemeClr val="tx1"/>
                </a:solidFill>
              </a:rPr>
              <a:t>Row        |          DC           |          None        |    -1 &lt; 0</a:t>
            </a:r>
          </a:p>
          <a:p>
            <a:r>
              <a:rPr lang="en-US" dirty="0">
                <a:solidFill>
                  <a:schemeClr val="tx1"/>
                </a:solidFill>
              </a:rPr>
              <a:t>-----------------------------------------------------------</a:t>
            </a:r>
          </a:p>
          <a:p>
            <a:r>
              <a:rPr lang="en-US" dirty="0">
                <a:solidFill>
                  <a:schemeClr val="tx1"/>
                </a:solidFill>
              </a:rPr>
              <a:t>Row        |          CD           |          DD            |    -3 &gt; -4</a:t>
            </a:r>
          </a:p>
          <a:p>
            <a:r>
              <a:rPr lang="en-US" dirty="0">
                <a:solidFill>
                  <a:schemeClr val="tx1"/>
                </a:solidFill>
              </a:rPr>
              <a:t>-----------------------------------------------------------</a:t>
            </a:r>
          </a:p>
          <a:p>
            <a:r>
              <a:rPr lang="en-US" dirty="0">
                <a:solidFill>
                  <a:schemeClr val="tx1"/>
                </a:solidFill>
              </a:rPr>
              <a:t>Row        |          DD           |          None        |    -3 &lt; -4</a:t>
            </a:r>
          </a:p>
          <a:p>
            <a:r>
              <a:rPr lang="en-US" dirty="0">
                <a:solidFill>
                  <a:schemeClr val="tx1"/>
                </a:solidFill>
              </a:rPr>
              <a:t>-----------------------------------------------------------</a:t>
            </a:r>
          </a:p>
          <a:p>
            <a:r>
              <a:rPr lang="en-US" dirty="0">
                <a:solidFill>
                  <a:schemeClr val="tx1"/>
                </a:solidFill>
              </a:rPr>
              <a:t>Col          |          CC           |          CD            |    -1 &gt; 0</a:t>
            </a:r>
          </a:p>
          <a:p>
            <a:r>
              <a:rPr lang="en-US" dirty="0">
                <a:solidFill>
                  <a:schemeClr val="tx1"/>
                </a:solidFill>
              </a:rPr>
              <a:t>-----------------------------------------------------------</a:t>
            </a:r>
          </a:p>
          <a:p>
            <a:r>
              <a:rPr lang="en-US" dirty="0">
                <a:solidFill>
                  <a:schemeClr val="tx1"/>
                </a:solidFill>
              </a:rPr>
              <a:t>Col          |          CD           |          None        |    -1 &lt; 0</a:t>
            </a:r>
          </a:p>
          <a:p>
            <a:r>
              <a:rPr lang="en-US" dirty="0">
                <a:solidFill>
                  <a:schemeClr val="tx1"/>
                </a:solidFill>
              </a:rPr>
              <a:t>-----------------------------------------------------------</a:t>
            </a:r>
          </a:p>
          <a:p>
            <a:r>
              <a:rPr lang="en-US" dirty="0">
                <a:solidFill>
                  <a:schemeClr val="tx1"/>
                </a:solidFill>
              </a:rPr>
              <a:t>Col          |          CD           |          DD            |    -3 &gt; -4</a:t>
            </a:r>
          </a:p>
          <a:p>
            <a:r>
              <a:rPr lang="en-US" dirty="0">
                <a:solidFill>
                  <a:schemeClr val="tx1"/>
                </a:solidFill>
              </a:rPr>
              <a:t>-----------------------------------------------------------</a:t>
            </a:r>
          </a:p>
          <a:p>
            <a:r>
              <a:rPr lang="en-US" dirty="0">
                <a:solidFill>
                  <a:schemeClr val="tx1"/>
                </a:solidFill>
              </a:rPr>
              <a:t>Col          |          DD           |          None        |    -3 &lt; -4</a:t>
            </a:r>
          </a:p>
          <a:p>
            <a:r>
              <a:rPr lang="en-US" dirty="0">
                <a:solidFill>
                  <a:schemeClr val="tx1"/>
                </a:solidFill>
              </a:rPr>
              <a:t>-----------------------------------------------------------</a:t>
            </a:r>
            <a:endParaRPr dirty="0">
              <a:solidFill>
                <a:schemeClr val="tx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dirty="0"/>
              <a:t>The </a:t>
            </a:r>
            <a:r>
              <a:rPr lang="en-US" b="1" dirty="0"/>
              <a:t>Matching Pennies</a:t>
            </a:r>
            <a:r>
              <a:rPr lang="en-US" dirty="0"/>
              <a:t> game has two players who each choose heads (H) or tails (T).</a:t>
            </a:r>
            <a:br>
              <a:rPr lang="en-US" dirty="0"/>
            </a:br>
            <a:br>
              <a:rPr lang="en-US" dirty="0"/>
            </a:br>
            <a:r>
              <a:rPr lang="en-US" dirty="0"/>
              <a:t>This game has </a:t>
            </a:r>
            <a:r>
              <a:rPr lang="en-US" b="1" dirty="0"/>
              <a:t>no pure strategy Nash equilibrium</a:t>
            </a:r>
            <a:r>
              <a:rPr lang="en-US" dirty="0"/>
              <a:t> because both players have opposing interests—when one wins, the other loses. However, there is a </a:t>
            </a:r>
            <a:r>
              <a:rPr lang="en-US" b="1" dirty="0"/>
              <a:t>mixed strategy Nash equilibrium</a:t>
            </a:r>
            <a:r>
              <a:rPr lang="en-US" dirty="0"/>
              <a:t>, where both players randomize their choices. The equilibrium is when each player chooses heads or tails with a probability of 50%, ensuring no player can predict the other's move and gain an advantage.</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marL="171450" indent="-171450">
              <a:buFont typeface="Arial" panose="020B0604020202020204" pitchFamily="34" charset="0"/>
              <a:buChar char="•"/>
            </a:pPr>
            <a:r>
              <a:rPr lang="en-US" dirty="0"/>
              <a:t>In the </a:t>
            </a:r>
            <a:r>
              <a:rPr lang="en-US" b="1" dirty="0"/>
              <a:t>Matching Pennies</a:t>
            </a:r>
            <a:r>
              <a:rPr lang="en-US" dirty="0"/>
              <a:t> game, playing a deterministic strategy, such as always choosing heads (H), is not optimal. If one player always plays a fixed strategy (e.g., always heads), the other player can exploit this by always choosing tails (T) and win every round. This makes deterministic strategies vulnerable. The best approach for both players is to play a </a:t>
            </a:r>
            <a:r>
              <a:rPr lang="en-US" b="1" dirty="0"/>
              <a:t>mixed strategy</a:t>
            </a:r>
            <a:r>
              <a:rPr lang="en-US" dirty="0"/>
              <a:t>, where each chooses heads or tails randomly with a probability of 50%, making it impossible for the opponent to predict and exploit.</a:t>
            </a:r>
          </a:p>
          <a:p>
            <a:pPr marL="171450" indent="-171450">
              <a:buFont typeface="Arial" panose="020B0604020202020204" pitchFamily="34" charset="0"/>
              <a:buChar cha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Yes, you can leave your opponent in the dark by playing randomly in the </a:t>
            </a:r>
            <a:r>
              <a:rPr lang="en-US" b="1" dirty="0"/>
              <a:t>Matching Pennies</a:t>
            </a:r>
            <a:r>
              <a:rPr lang="en-US" dirty="0"/>
              <a:t> game. By using a </a:t>
            </a:r>
            <a:r>
              <a:rPr lang="en-US" b="1" dirty="0"/>
              <a:t>mixed strategy</a:t>
            </a:r>
            <a:r>
              <a:rPr lang="en-US" dirty="0"/>
              <a:t>, where you randomly choose heads or tails with a 50% probability, your opponent cannot predict your next move. This randomness eliminates any pattern that could be exploited. Since the game’s structure relies on opposing interests, playing randomly ensures that your opponent can't gain a consistent advantage and both players remain in an uncertain strategic situation.</a:t>
            </a:r>
          </a:p>
          <a:p>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b="1" i="0" dirty="0">
                <a:solidFill>
                  <a:schemeClr val="tx1"/>
                </a:solidFill>
                <a:effectLst/>
                <a:latin typeface="Söhne"/>
              </a:rPr>
              <a:t>Pure strategy</a:t>
            </a:r>
            <a:r>
              <a:rPr lang="en-US" b="0" i="0" dirty="0">
                <a:solidFill>
                  <a:schemeClr val="tx1"/>
                </a:solidFill>
                <a:effectLst/>
                <a:latin typeface="Söhne"/>
              </a:rPr>
              <a:t>: A pure strategy is a specific, deterministic plan of action in which a player selects a single, well-defined choice from their strategy set. It represents a single, definite decision without any randomness or uncertainty.</a:t>
            </a:r>
          </a:p>
          <a:p>
            <a:endParaRPr lang="en-US" b="0" i="0" dirty="0">
              <a:solidFill>
                <a:schemeClr val="tx1"/>
              </a:solidFill>
              <a:effectLst/>
              <a:latin typeface="Söhne"/>
            </a:endParaRPr>
          </a:p>
          <a:p>
            <a:r>
              <a:rPr lang="en-US" b="1" i="0" dirty="0">
                <a:solidFill>
                  <a:schemeClr val="tx1"/>
                </a:solidFill>
                <a:effectLst/>
                <a:latin typeface="Söhne"/>
              </a:rPr>
              <a:t>Mixed strategy</a:t>
            </a:r>
            <a:r>
              <a:rPr lang="en-US" b="0" i="0" dirty="0">
                <a:solidFill>
                  <a:schemeClr val="tx1"/>
                </a:solidFill>
                <a:effectLst/>
                <a:latin typeface="Söhne"/>
              </a:rPr>
              <a:t>: A mixed strategy is a probabilistic plan of action in which a player selects strategies from their strategy set with associated probabilities. It involves randomization and represents a distribution of choices over a range of strategies.</a:t>
            </a:r>
            <a:br>
              <a:rPr lang="en-US" b="0" i="0" dirty="0">
                <a:solidFill>
                  <a:schemeClr val="tx1"/>
                </a:solidFill>
                <a:effectLst/>
                <a:latin typeface="Söhne"/>
              </a:rPr>
            </a:br>
            <a:br>
              <a:rPr lang="en-US" b="0" i="0" dirty="0">
                <a:solidFill>
                  <a:schemeClr val="tx1"/>
                </a:solidFill>
                <a:effectLst/>
                <a:latin typeface="Söhne"/>
              </a:rPr>
            </a:br>
            <a:r>
              <a:rPr lang="en-MY" b="1" dirty="0"/>
              <a:t>Matching Pennies Example:</a:t>
            </a:r>
            <a:br>
              <a:rPr lang="en-US" b="0" i="0" dirty="0">
                <a:solidFill>
                  <a:schemeClr val="tx1"/>
                </a:solidFill>
                <a:effectLst/>
                <a:latin typeface="Söhne"/>
              </a:rPr>
            </a:br>
            <a:r>
              <a:rPr lang="en-US" b="0" i="0" dirty="0">
                <a:solidFill>
                  <a:schemeClr val="tx1"/>
                </a:solidFill>
                <a:effectLst/>
                <a:latin typeface="Söhne"/>
              </a:rPr>
              <a:t>1. </a:t>
            </a:r>
            <a:r>
              <a:rPr lang="en-US" b="1" dirty="0"/>
              <a:t>Pure Strategy</a:t>
            </a:r>
          </a:p>
          <a:p>
            <a:r>
              <a:rPr lang="en-US" dirty="0"/>
              <a:t>A pure strategy is where a player always chooses the same action. For instance:</a:t>
            </a:r>
          </a:p>
          <a:p>
            <a:pPr marL="628650" lvl="1" indent="-171450">
              <a:buFont typeface="Arial" panose="020B0604020202020204" pitchFamily="34" charset="0"/>
              <a:buChar char="•"/>
            </a:pPr>
            <a:r>
              <a:rPr lang="en-US" b="1" dirty="0"/>
              <a:t>Player A:</a:t>
            </a:r>
            <a:r>
              <a:rPr lang="en-US" dirty="0"/>
              <a:t> Always chooses Heads.</a:t>
            </a:r>
          </a:p>
          <a:p>
            <a:pPr marL="628650" lvl="1" indent="-171450">
              <a:buFont typeface="Arial" panose="020B0604020202020204" pitchFamily="34" charset="0"/>
              <a:buChar char="•"/>
            </a:pPr>
            <a:r>
              <a:rPr lang="en-US" b="1" dirty="0"/>
              <a:t>Player B:</a:t>
            </a:r>
            <a:r>
              <a:rPr lang="en-US" dirty="0"/>
              <a:t> Always chooses Tails.</a:t>
            </a:r>
          </a:p>
          <a:p>
            <a:r>
              <a:rPr lang="en-US" dirty="0"/>
              <a:t>In this case:</a:t>
            </a:r>
          </a:p>
          <a:p>
            <a:pPr marL="628650" lvl="1" indent="-171450">
              <a:buFont typeface="Arial" panose="020B0604020202020204" pitchFamily="34" charset="0"/>
              <a:buChar char="•"/>
            </a:pPr>
            <a:r>
              <a:rPr lang="en-US" dirty="0"/>
              <a:t>Player A's pure strategy is (H, 0), meaning they choose Heads with probability 1 and Tails with probability 0.</a:t>
            </a:r>
          </a:p>
          <a:p>
            <a:pPr marL="628650" lvl="1" indent="-171450">
              <a:buFont typeface="Arial" panose="020B0604020202020204" pitchFamily="34" charset="0"/>
              <a:buChar char="•"/>
            </a:pPr>
            <a:r>
              <a:rPr lang="en-US" dirty="0"/>
              <a:t>Player B's pure strategy is (0, T), meaning they choose Heads with probability 0 and Tails with probability 1.</a:t>
            </a:r>
          </a:p>
          <a:p>
            <a:r>
              <a:rPr lang="en-US" b="1" dirty="0"/>
              <a:t>2. Mixed Strategy</a:t>
            </a:r>
          </a:p>
          <a:p>
            <a:r>
              <a:rPr lang="en-US" dirty="0"/>
              <a:t>A mixed strategy is where a player assigns a probability to each action, playing each with a positive probability. For example:</a:t>
            </a:r>
          </a:p>
          <a:p>
            <a:pPr marL="628650" lvl="1" indent="-171450">
              <a:buFont typeface="Arial" panose="020B0604020202020204" pitchFamily="34" charset="0"/>
              <a:buChar char="•"/>
            </a:pPr>
            <a:r>
              <a:rPr lang="en-US" b="1" dirty="0"/>
              <a:t>Player A:</a:t>
            </a:r>
            <a:r>
              <a:rPr lang="en-US" dirty="0"/>
              <a:t> Chooses Heads with probability 0.5 and Tails with probability 0.5.</a:t>
            </a:r>
          </a:p>
          <a:p>
            <a:pPr marL="628650" lvl="1" indent="-171450">
              <a:buFont typeface="Arial" panose="020B0604020202020204" pitchFamily="34" charset="0"/>
              <a:buChar char="•"/>
            </a:pPr>
            <a:r>
              <a:rPr lang="en-US" b="1" dirty="0"/>
              <a:t>Player B:</a:t>
            </a:r>
            <a:r>
              <a:rPr lang="en-US" dirty="0"/>
              <a:t> Chooses Heads with probability 0.7 and Tails with probability 0.3.</a:t>
            </a:r>
          </a:p>
          <a:p>
            <a:r>
              <a:rPr lang="en-US" dirty="0"/>
              <a:t>In this case:</a:t>
            </a:r>
          </a:p>
          <a:p>
            <a:pPr marL="628650" lvl="1" indent="-171450">
              <a:buFont typeface="Arial" panose="020B0604020202020204" pitchFamily="34" charset="0"/>
              <a:buChar char="•"/>
            </a:pPr>
            <a:r>
              <a:rPr lang="en-US" dirty="0"/>
              <a:t>Player A's mixed strategy is (0.5, 0.5).</a:t>
            </a:r>
          </a:p>
          <a:p>
            <a:pPr marL="628650" lvl="1" indent="-171450">
              <a:buFont typeface="Arial" panose="020B0604020202020204" pitchFamily="34" charset="0"/>
              <a:buChar char="•"/>
            </a:pPr>
            <a:r>
              <a:rPr lang="en-US" dirty="0"/>
              <a:t>Player B's mixed strategy is (0.7, 0.3).</a:t>
            </a:r>
          </a:p>
          <a:p>
            <a:r>
              <a:rPr lang="en-US" b="1" dirty="0"/>
              <a:t>3. Support of a Mixed Strategy</a:t>
            </a:r>
          </a:p>
          <a:p>
            <a:r>
              <a:rPr lang="en-US" dirty="0"/>
              <a:t>The support of a mixed strategy consists of the actions that are played with positive probability.</a:t>
            </a:r>
          </a:p>
          <a:p>
            <a:pPr marL="628650" lvl="1" indent="-171450">
              <a:buFont typeface="Arial" panose="020B0604020202020204" pitchFamily="34" charset="0"/>
              <a:buChar char="•"/>
            </a:pPr>
            <a:r>
              <a:rPr lang="en-US" b="1" dirty="0"/>
              <a:t>For Player A:</a:t>
            </a:r>
            <a:r>
              <a:rPr lang="en-US" dirty="0"/>
              <a:t> The support of their mixed strategy is {H, T} because both actions are chosen with positive probability (0.5 each).</a:t>
            </a:r>
          </a:p>
          <a:p>
            <a:pPr marL="628650" lvl="1" indent="-171450">
              <a:buFont typeface="Arial" panose="020B0604020202020204" pitchFamily="34" charset="0"/>
              <a:buChar char="•"/>
            </a:pPr>
            <a:r>
              <a:rPr lang="en-US" b="1" dirty="0"/>
              <a:t>For Player B:</a:t>
            </a:r>
            <a:r>
              <a:rPr lang="en-US" dirty="0"/>
              <a:t> The support of their mixed strategy is also {H, T} since both actions are chosen with positive probabilities (0.7 and 0.3).</a:t>
            </a:r>
          </a:p>
          <a:p>
            <a:r>
              <a:rPr lang="en-US" b="1" dirty="0"/>
              <a:t>Summary</a:t>
            </a:r>
          </a:p>
          <a:p>
            <a:pPr marL="628650" lvl="1" indent="-171450">
              <a:buFont typeface="Arial" panose="020B0604020202020204" pitchFamily="34" charset="0"/>
              <a:buChar char="•"/>
            </a:pPr>
            <a:r>
              <a:rPr lang="en-US" b="1" dirty="0"/>
              <a:t>Pure Strategy:</a:t>
            </a:r>
            <a:r>
              <a:rPr lang="en-US" dirty="0"/>
              <a:t> The player consistently chooses one action (e.g., always Heads).</a:t>
            </a:r>
          </a:p>
          <a:p>
            <a:pPr marL="628650" lvl="1" indent="-171450">
              <a:buFont typeface="Arial" panose="020B0604020202020204" pitchFamily="34" charset="0"/>
              <a:buChar char="•"/>
            </a:pPr>
            <a:r>
              <a:rPr lang="en-US" b="1" dirty="0"/>
              <a:t>Mixed Strategy:</a:t>
            </a:r>
            <a:r>
              <a:rPr lang="en-US" dirty="0"/>
              <a:t> The player assigns probabilities to multiple actions (e.g., 0.5 Heads and 0.5 Tails).</a:t>
            </a:r>
          </a:p>
          <a:p>
            <a:pPr marL="628650" lvl="1" indent="-171450">
              <a:buFont typeface="Arial" panose="020B0604020202020204" pitchFamily="34" charset="0"/>
              <a:buChar char="•"/>
            </a:pPr>
            <a:r>
              <a:rPr lang="en-US" b="1" dirty="0"/>
              <a:t>Support:</a:t>
            </a:r>
            <a:r>
              <a:rPr lang="en-US" dirty="0"/>
              <a:t> The set of actions that have a positive probability in a mixed strategy (e.g., both Heads and Tails for Player A).</a:t>
            </a:r>
          </a:p>
          <a:p>
            <a:endParaRPr dirty="0">
              <a:solidFill>
                <a:schemeClr val="tx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dirty="0">
                <a:solidFill>
                  <a:schemeClr val="tx1"/>
                </a:solidFill>
              </a:rPr>
              <a:t>XAY in matrix form = (1 x n) (n x m) (m x 1) = (1 x 1)</a:t>
            </a:r>
            <a:endParaRPr dirty="0">
              <a:solidFill>
                <a:schemeClr val="tx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lIns="96661" tIns="48331" rIns="96661" bIns="48331">
                <a:normAutofit fontScale="25000" lnSpcReduction="20000"/>
              </a:bodyPr>
              <a:lstStyle/>
              <a:p>
                <a:r>
                  <a:rPr lang="en-US" dirty="0"/>
                  <a:t>The concept of </a:t>
                </a:r>
                <a:r>
                  <a:rPr lang="en-US" b="1" dirty="0"/>
                  <a:t>best response</a:t>
                </a:r>
                <a:r>
                  <a:rPr lang="en-US" dirty="0"/>
                  <a:t> and </a:t>
                </a:r>
                <a:r>
                  <a:rPr lang="en-US" b="1" dirty="0"/>
                  <a:t>Nash equilibrium</a:t>
                </a:r>
                <a:r>
                  <a:rPr lang="en-US" dirty="0"/>
                  <a:t> in mixed strategies generalizes from actions to strategies as follows:</a:t>
                </a:r>
              </a:p>
              <a:p>
                <a:pPr marL="628650" lvl="1" indent="-171450">
                  <a:buFont typeface="Arial" panose="020B0604020202020204" pitchFamily="34" charset="0"/>
                  <a:buChar char="•"/>
                </a:pPr>
                <a:r>
                  <a:rPr lang="en-US" b="1" dirty="0"/>
                  <a:t>Best response (BR)</a:t>
                </a:r>
                <a:r>
                  <a:rPr lang="en-US" dirty="0"/>
                  <a:t>: A strategy </a:t>
                </a:r>
                <a14:m>
                  <m:oMath xmlns:m="http://schemas.openxmlformats.org/officeDocument/2006/math">
                    <m:sSubSup>
                      <m:sSubSupPr>
                        <m:ctrlPr>
                          <a:rPr lang="en-US" i="1" dirty="0" smtClean="0">
                            <a:latin typeface="Cambria Math" panose="02040503050406030204" pitchFamily="18" charset="0"/>
                          </a:rPr>
                        </m:ctrlPr>
                      </m:sSubSupPr>
                      <m:e>
                        <m:r>
                          <a:rPr lang="en-US" i="1" dirty="0" smtClean="0">
                            <a:latin typeface="Cambria Math" panose="02040503050406030204" pitchFamily="18" charset="0"/>
                          </a:rPr>
                          <m:t>𝑠</m:t>
                        </m:r>
                      </m:e>
                      <m:sub>
                        <m:r>
                          <a:rPr lang="en-US" i="1" dirty="0" smtClean="0">
                            <a:latin typeface="Cambria Math" panose="02040503050406030204" pitchFamily="18" charset="0"/>
                          </a:rPr>
                          <m:t>𝑖</m:t>
                        </m:r>
                      </m:sub>
                      <m:sup>
                        <m:r>
                          <a:rPr lang="en-US" i="1" dirty="0" smtClean="0">
                            <a:latin typeface="Cambria Math" panose="02040503050406030204" pitchFamily="18" charset="0"/>
                          </a:rPr>
                          <m:t>∗</m:t>
                        </m:r>
                      </m:sup>
                    </m:sSubSup>
                  </m:oMath>
                </a14:m>
                <a:r>
                  <a:rPr lang="en-US" dirty="0"/>
                  <a:t> is a best response to the strategies of others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b="0" i="1" dirty="0" smtClean="0">
                            <a:latin typeface="Cambria Math" panose="02040503050406030204" pitchFamily="18" charset="0"/>
                          </a:rPr>
                          <m:t>−</m:t>
                        </m:r>
                        <m:r>
                          <a:rPr lang="en-US" i="1" dirty="0" err="1" smtClean="0">
                            <a:latin typeface="Cambria Math" panose="02040503050406030204" pitchFamily="18" charset="0"/>
                          </a:rPr>
                          <m:t>𝑖</m:t>
                        </m:r>
                      </m:sub>
                    </m:sSub>
                  </m:oMath>
                </a14:m>
                <a:r>
                  <a:rPr lang="en-US" dirty="0"/>
                  <a:t> if it gives the highest possible utility for player </a:t>
                </a:r>
                <a14:m>
                  <m:oMath xmlns:m="http://schemas.openxmlformats.org/officeDocument/2006/math">
                    <m:r>
                      <a:rPr lang="en-US" i="1" dirty="0" smtClean="0">
                        <a:latin typeface="Cambria Math" panose="02040503050406030204" pitchFamily="18" charset="0"/>
                      </a:rPr>
                      <m:t>𝑖</m:t>
                    </m:r>
                  </m:oMath>
                </a14:m>
                <a:r>
                  <a:rPr lang="en-US" dirty="0"/>
                  <a:t>, compared to any other strategy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𝑖</m:t>
                        </m:r>
                      </m:sub>
                    </m:sSub>
                  </m:oMath>
                </a14:m>
                <a:r>
                  <a:rPr lang="en-US" dirty="0"/>
                  <a:t>​.</a:t>
                </a:r>
              </a:p>
              <a:p>
                <a:pPr marL="628650" lvl="1" indent="-171450">
                  <a:buFont typeface="Arial" panose="020B0604020202020204" pitchFamily="34" charset="0"/>
                  <a:buChar char="•"/>
                </a:pPr>
                <a:r>
                  <a:rPr lang="en-US" b="1" dirty="0"/>
                  <a:t>Nash equilibrium</a:t>
                </a:r>
                <a:r>
                  <a:rPr lang="en-US" dirty="0"/>
                  <a:t>: A strategy profile </a:t>
                </a:r>
                <a14:m>
                  <m:oMath xmlns:m="http://schemas.openxmlformats.org/officeDocument/2006/math">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err="1" smtClean="0">
                            <a:latin typeface="Cambria Math" panose="02040503050406030204" pitchFamily="18" charset="0"/>
                          </a:rPr>
                          <m:t>𝑠</m:t>
                        </m:r>
                      </m:e>
                      <m:sub>
                        <m:r>
                          <a:rPr lang="en-US" i="1" dirty="0" err="1" smtClean="0">
                            <a:latin typeface="Cambria Math" panose="02040503050406030204" pitchFamily="18" charset="0"/>
                          </a:rPr>
                          <m:t>𝑛</m:t>
                        </m:r>
                      </m:sub>
                    </m:sSub>
                    <m:r>
                      <a:rPr lang="en-US" i="1" dirty="0" smtClean="0">
                        <a:latin typeface="Cambria Math" panose="02040503050406030204" pitchFamily="18" charset="0"/>
                      </a:rPr>
                      <m:t>⟩</m:t>
                    </m:r>
                  </m:oMath>
                </a14:m>
                <a:r>
                  <a:rPr lang="en-US" dirty="0"/>
                  <a:t>is a Nash equilibrium if, for every player iii, their strategy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𝑖</m:t>
                        </m:r>
                      </m:sub>
                    </m:sSub>
                  </m:oMath>
                </a14:m>
                <a:r>
                  <a:rPr lang="en-US" dirty="0"/>
                  <a:t>​ is a best response to the strategies of the other players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𝑠</m:t>
                        </m:r>
                      </m:e>
                      <m:sub>
                        <m:r>
                          <a:rPr lang="en-US" i="1" dirty="0" smtClean="0">
                            <a:latin typeface="Cambria Math" panose="02040503050406030204" pitchFamily="18" charset="0"/>
                          </a:rPr>
                          <m:t>−</m:t>
                        </m:r>
                        <m:r>
                          <a:rPr lang="en-US" i="1" dirty="0" err="1" smtClean="0">
                            <a:latin typeface="Cambria Math" panose="02040503050406030204" pitchFamily="18" charset="0"/>
                          </a:rPr>
                          <m:t>𝑖</m:t>
                        </m:r>
                        <m:r>
                          <a:rPr lang="en-US" i="1" dirty="0" smtClean="0">
                            <a:latin typeface="Cambria Math" panose="02040503050406030204" pitchFamily="18" charset="0"/>
                          </a:rPr>
                          <m:t>​</m:t>
                        </m:r>
                      </m:sub>
                    </m:sSub>
                  </m:oMath>
                </a14:m>
                <a:r>
                  <a:rPr lang="en-US" dirty="0"/>
                  <a:t>.</a:t>
                </a:r>
              </a:p>
              <a:p>
                <a:endParaRPr dirty="0"/>
              </a:p>
            </p:txBody>
          </p:sp>
        </mc:Choice>
        <mc:Fallback xmlns="">
          <p:sp>
            <p:nvSpPr>
              <p:cNvPr id="2" name="Notes Placeholder"/>
              <p:cNvSpPr>
                <a:spLocks noGrp="1"/>
              </p:cNvSpPr>
              <p:nvPr>
                <p:ph type="body" idx="1"/>
              </p:nvPr>
            </p:nvSpPr>
            <p:spPr/>
            <p:txBody>
              <a:bodyPr lIns="96661" tIns="48331" rIns="96661" bIns="48331">
                <a:normAutofit fontScale="25000" lnSpcReduction="20000"/>
              </a:bodyPr>
              <a:lstStyle/>
              <a:p>
                <a:r>
                  <a:rPr lang="en-US" dirty="0"/>
                  <a:t>The concept of </a:t>
                </a:r>
                <a:r>
                  <a:rPr lang="en-US" b="1" dirty="0"/>
                  <a:t>best response</a:t>
                </a:r>
                <a:r>
                  <a:rPr lang="en-US" dirty="0"/>
                  <a:t> and </a:t>
                </a:r>
                <a:r>
                  <a:rPr lang="en-US" b="1" dirty="0"/>
                  <a:t>Nash equilibrium</a:t>
                </a:r>
                <a:r>
                  <a:rPr lang="en-US" dirty="0"/>
                  <a:t> in mixed strategies generalizes from actions to strategies as follows:</a:t>
                </a:r>
              </a:p>
              <a:p>
                <a:pPr marL="628650" lvl="1" indent="-171450">
                  <a:buFont typeface="Arial" panose="020B0604020202020204" pitchFamily="34" charset="0"/>
                  <a:buChar char="•"/>
                </a:pPr>
                <a:r>
                  <a:rPr lang="en-US" b="1" dirty="0"/>
                  <a:t>Best response (BR)</a:t>
                </a:r>
                <a:r>
                  <a:rPr lang="en-US" dirty="0"/>
                  <a:t>: A strategy </a:t>
                </a:r>
                <a:r>
                  <a:rPr lang="en-US" i="0" dirty="0">
                    <a:latin typeface="Cambria Math" panose="02040503050406030204" pitchFamily="18" charset="0"/>
                  </a:rPr>
                  <a:t>𝑠_𝑖^∗</a:t>
                </a:r>
                <a:r>
                  <a:rPr lang="en-US" dirty="0"/>
                  <a:t> is a best response to the strategies of others </a:t>
                </a:r>
                <a:r>
                  <a:rPr lang="en-US" i="0" dirty="0">
                    <a:latin typeface="Cambria Math" panose="02040503050406030204" pitchFamily="18" charset="0"/>
                  </a:rPr>
                  <a:t>𝑠</a:t>
                </a:r>
                <a:r>
                  <a:rPr lang="en-US" b="0" i="0" dirty="0">
                    <a:latin typeface="Cambria Math" panose="02040503050406030204" pitchFamily="18" charset="0"/>
                  </a:rPr>
                  <a:t>_(−</a:t>
                </a:r>
                <a:r>
                  <a:rPr lang="en-US" i="0" dirty="0" err="1">
                    <a:latin typeface="Cambria Math" panose="02040503050406030204" pitchFamily="18" charset="0"/>
                  </a:rPr>
                  <a:t>𝑖</a:t>
                </a:r>
                <a:r>
                  <a:rPr lang="en-US" b="0" i="0" dirty="0">
                    <a:latin typeface="Cambria Math" panose="02040503050406030204" pitchFamily="18" charset="0"/>
                  </a:rPr>
                  <a:t>)</a:t>
                </a:r>
                <a:r>
                  <a:rPr lang="en-US" dirty="0"/>
                  <a:t> if it gives the highest possible utility for player </a:t>
                </a:r>
                <a:r>
                  <a:rPr lang="en-US" i="0" dirty="0">
                    <a:latin typeface="Cambria Math" panose="02040503050406030204" pitchFamily="18" charset="0"/>
                  </a:rPr>
                  <a:t>𝑖</a:t>
                </a:r>
                <a:r>
                  <a:rPr lang="en-US" dirty="0"/>
                  <a:t>, compared to any other strategy </a:t>
                </a:r>
                <a:r>
                  <a:rPr lang="en-US" i="0" dirty="0">
                    <a:latin typeface="Cambria Math" panose="02040503050406030204" pitchFamily="18" charset="0"/>
                  </a:rPr>
                  <a:t>𝑠_𝑖</a:t>
                </a:r>
                <a:r>
                  <a:rPr lang="en-US" dirty="0"/>
                  <a:t>​.</a:t>
                </a:r>
              </a:p>
              <a:p>
                <a:pPr marL="628650" lvl="1" indent="-171450">
                  <a:buFont typeface="Arial" panose="020B0604020202020204" pitchFamily="34" charset="0"/>
                  <a:buChar char="•"/>
                </a:pPr>
                <a:r>
                  <a:rPr lang="en-US" b="1" dirty="0"/>
                  <a:t>Nash equilibrium</a:t>
                </a:r>
                <a:r>
                  <a:rPr lang="en-US" dirty="0"/>
                  <a:t>: A strategy profile </a:t>
                </a:r>
                <a:r>
                  <a:rPr lang="en-US" i="0" dirty="0">
                    <a:latin typeface="Cambria Math" panose="02040503050406030204" pitchFamily="18" charset="0"/>
                  </a:rPr>
                  <a:t>⟨𝑠</a:t>
                </a:r>
                <a:r>
                  <a:rPr lang="en-US" b="0" i="0" dirty="0">
                    <a:latin typeface="Cambria Math" panose="02040503050406030204" pitchFamily="18" charset="0"/>
                  </a:rPr>
                  <a:t>_</a:t>
                </a:r>
                <a:r>
                  <a:rPr lang="en-US" i="0" dirty="0">
                    <a:latin typeface="Cambria Math" panose="02040503050406030204" pitchFamily="18" charset="0"/>
                  </a:rPr>
                  <a:t>1,…,</a:t>
                </a:r>
                <a:r>
                  <a:rPr lang="en-US" i="0" dirty="0" err="1">
                    <a:latin typeface="Cambria Math" panose="02040503050406030204" pitchFamily="18" charset="0"/>
                  </a:rPr>
                  <a:t>𝑠</a:t>
                </a:r>
                <a:r>
                  <a:rPr lang="en-US" b="0" i="0" dirty="0">
                    <a:latin typeface="Cambria Math" panose="02040503050406030204" pitchFamily="18" charset="0"/>
                  </a:rPr>
                  <a:t>_</a:t>
                </a:r>
                <a:r>
                  <a:rPr lang="en-US" i="0" dirty="0" err="1">
                    <a:latin typeface="Cambria Math" panose="02040503050406030204" pitchFamily="18" charset="0"/>
                  </a:rPr>
                  <a:t>𝑛</a:t>
                </a:r>
                <a:r>
                  <a:rPr lang="en-US" i="0" dirty="0">
                    <a:latin typeface="Cambria Math" panose="02040503050406030204" pitchFamily="18" charset="0"/>
                  </a:rPr>
                  <a:t>⟩</a:t>
                </a:r>
                <a:r>
                  <a:rPr lang="en-US" dirty="0"/>
                  <a:t>is a Nash equilibrium if, for every player iii, their strategy </a:t>
                </a:r>
                <a:r>
                  <a:rPr lang="en-US" i="0" dirty="0">
                    <a:latin typeface="Cambria Math" panose="02040503050406030204" pitchFamily="18" charset="0"/>
                  </a:rPr>
                  <a:t>𝑠_𝑖</a:t>
                </a:r>
                <a:r>
                  <a:rPr lang="en-US" dirty="0"/>
                  <a:t>​ is a best response to the strategies of the other players </a:t>
                </a:r>
                <a:r>
                  <a:rPr lang="en-US" i="0" dirty="0">
                    <a:latin typeface="Cambria Math" panose="02040503050406030204" pitchFamily="18" charset="0"/>
                  </a:rPr>
                  <a:t>𝑠_(−</a:t>
                </a:r>
                <a:r>
                  <a:rPr lang="en-US" i="0" dirty="0" err="1">
                    <a:latin typeface="Cambria Math" panose="02040503050406030204" pitchFamily="18" charset="0"/>
                  </a:rPr>
                  <a:t>𝑖</a:t>
                </a:r>
                <a:r>
                  <a:rPr lang="en-US" i="0" dirty="0">
                    <a:latin typeface="Cambria Math" panose="02040503050406030204" pitchFamily="18" charset="0"/>
                  </a:rPr>
                  <a:t>​)</a:t>
                </a:r>
                <a:r>
                  <a:rPr lang="en-US" dirty="0"/>
                  <a:t>.</a:t>
                </a:r>
              </a:p>
              <a:p>
                <a:endParaRPr dirty="0"/>
              </a:p>
            </p:txBody>
          </p:sp>
        </mc:Fallback>
      </mc:AlternateContent>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dirty="0"/>
              <a:t>According to </a:t>
            </a:r>
            <a:r>
              <a:rPr lang="en-US" b="1" dirty="0"/>
              <a:t>Nash's Theorem</a:t>
            </a:r>
            <a:r>
              <a:rPr lang="en-US" dirty="0"/>
              <a:t>, every game with a finite number of pure strategies has at least one </a:t>
            </a:r>
            <a:r>
              <a:rPr lang="en-US" b="1" dirty="0"/>
              <a:t>Nash equilibrium</a:t>
            </a:r>
            <a:r>
              <a:rPr lang="en-US" dirty="0"/>
              <a:t> in (possibly) mixed strategies. This means that even if there is no Nash equilibrium in pure strategies, there is always a Nash equilibrium in mixed strategies, where players randomize over their available actions. This guarantees that in finite games, there will be some equilibrium point where no player has an incentive to deviate from their chosen strategy.</a:t>
            </a: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dirty="0">
                <a:solidFill>
                  <a:schemeClr val="tx1"/>
                </a:solidFill>
              </a:rPr>
              <a:t>BoS: Battle of Sexes</a:t>
            </a:r>
          </a:p>
          <a:p>
            <a:endParaRPr lang="en-US" dirty="0">
              <a:solidFill>
                <a:schemeClr val="tx1"/>
              </a:solidFill>
            </a:endParaRPr>
          </a:p>
          <a:p>
            <a:r>
              <a:rPr lang="en-US" b="0" i="0" dirty="0">
                <a:solidFill>
                  <a:schemeClr val="tx1"/>
                </a:solidFill>
                <a:effectLst/>
                <a:latin typeface="Söhne"/>
              </a:rPr>
              <a:t>The "support" refers to the set of strategies within a player's mixed strategy that have non-zero probabilities of being chosen. It essentially represents the subset of a player's mixed strategy that is actively being used or "supported" in the game.</a:t>
            </a:r>
            <a:endParaRPr dirty="0">
              <a:solidFill>
                <a:schemeClr val="tx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defTabSz="966612"/>
            <a:r>
              <a:rPr lang="en-US" b="1" i="0" dirty="0">
                <a:solidFill>
                  <a:schemeClr val="tx1"/>
                </a:solidFill>
                <a:effectLst/>
                <a:latin typeface="Söhne"/>
              </a:rPr>
              <a:t>Indifferent</a:t>
            </a:r>
            <a:r>
              <a:rPr lang="en-US" b="0" i="0" dirty="0">
                <a:solidFill>
                  <a:schemeClr val="tx1"/>
                </a:solidFill>
                <a:effectLst/>
                <a:latin typeface="Söhne"/>
              </a:rPr>
              <a:t>: The players are making choices such that their opponents have no preference for one option over another</a:t>
            </a:r>
            <a:endParaRPr lang="en-US" dirty="0">
              <a:solidFill>
                <a:schemeClr val="tx1"/>
              </a:solidFill>
            </a:endParaRPr>
          </a:p>
          <a:p>
            <a:endParaRPr dirty="0">
              <a:solidFill>
                <a:schemeClr val="tx1"/>
              </a:solidFill>
            </a:endParaRPr>
          </a:p>
        </p:txBody>
      </p:sp>
    </p:spTree>
    <p:extLst>
      <p:ext uri="{BB962C8B-B14F-4D97-AF65-F5344CB8AC3E}">
        <p14:creationId xmlns:p14="http://schemas.microsoft.com/office/powerpoint/2010/main" val="12501621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defTabSz="966612"/>
            <a:r>
              <a:rPr lang="en-US" sz="1300" dirty="0">
                <a:latin typeface="Times New Roman" panose="02020603050405020304" pitchFamily="18" charset="0"/>
              </a:rPr>
              <a:t>By a similar calculation it can be shown that to make Player 2 indifferent, Player 1 must choose B with probability </a:t>
            </a:r>
            <a:r>
              <a:rPr lang="en-US" sz="1300" dirty="0">
                <a:latin typeface="CMR10"/>
              </a:rPr>
              <a:t>2</a:t>
            </a:r>
            <a:r>
              <a:rPr lang="en-US" sz="1300" dirty="0">
                <a:latin typeface="CMMI10"/>
              </a:rPr>
              <a:t>/</a:t>
            </a:r>
            <a:r>
              <a:rPr lang="en-US" sz="1300" dirty="0">
                <a:latin typeface="CMR10"/>
              </a:rPr>
              <a:t>3 </a:t>
            </a:r>
            <a:r>
              <a:rPr lang="en-US" sz="1300" dirty="0">
                <a:latin typeface="Times New Roman" panose="02020603050405020304" pitchFamily="18" charset="0"/>
              </a:rPr>
              <a:t>and F with probability </a:t>
            </a:r>
            <a:r>
              <a:rPr lang="en-US" sz="1300" dirty="0">
                <a:latin typeface="CMR10"/>
              </a:rPr>
              <a:t>1</a:t>
            </a:r>
            <a:r>
              <a:rPr lang="en-US" sz="1300" dirty="0">
                <a:latin typeface="CMMI10"/>
              </a:rPr>
              <a:t>/</a:t>
            </a:r>
            <a:r>
              <a:rPr lang="en-US" sz="1300" dirty="0">
                <a:latin typeface="CMR10"/>
              </a:rPr>
              <a:t>3</a:t>
            </a:r>
            <a:r>
              <a:rPr lang="en-US" sz="1300" dirty="0">
                <a:latin typeface="Times New Roman" panose="02020603050405020304" pitchFamily="18" charset="0"/>
              </a:rPr>
              <a:t>.</a:t>
            </a:r>
            <a:endParaRPr lang="en-US" dirty="0">
              <a:solidFill>
                <a:schemeClr val="tx1"/>
              </a:solidFill>
            </a:endParaRPr>
          </a:p>
          <a:p>
            <a:endParaRPr dirty="0">
              <a:solidFill>
                <a:schemeClr val="tx1"/>
              </a:solidFill>
            </a:endParaRPr>
          </a:p>
        </p:txBody>
      </p:sp>
    </p:spTree>
    <p:extLst>
      <p:ext uri="{BB962C8B-B14F-4D97-AF65-F5344CB8AC3E}">
        <p14:creationId xmlns:p14="http://schemas.microsoft.com/office/powerpoint/2010/main" val="13220920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lIns="96661" tIns="48331" rIns="96661" bIns="48331">
                <a:normAutofit fontScale="25000" lnSpcReduction="20000"/>
              </a:bodyPr>
              <a:lstStyle/>
              <a:p>
                <a:r>
                  <a:rPr lang="en-US" b="0" i="0" dirty="0">
                    <a:solidFill>
                      <a:schemeClr val="tx1"/>
                    </a:solidFill>
                    <a:effectLst/>
                    <a:latin typeface="Söhne"/>
                  </a:rPr>
                  <a:t>The computation of mixed Nash equilibria in extensive-form games is a computationally challenging problem, and it is considered NP-hard, which implies that it belongs to a class of problems that are at least as hard to solve as the hardest problems in NP (nondeterministic polynomial time)</a:t>
                </a:r>
                <a:br>
                  <a:rPr lang="en-US" b="0" i="0" dirty="0">
                    <a:solidFill>
                      <a:schemeClr val="tx1"/>
                    </a:solidFill>
                    <a:effectLst/>
                    <a:latin typeface="Söhne"/>
                  </a:rPr>
                </a:br>
                <a:br>
                  <a:rPr lang="en-US" b="0" i="0" dirty="0">
                    <a:solidFill>
                      <a:schemeClr val="tx1"/>
                    </a:solidFill>
                    <a:effectLst/>
                    <a:latin typeface="Söhne"/>
                  </a:rPr>
                </a:br>
                <a:r>
                  <a:rPr lang="en-MY" b="1" dirty="0"/>
                  <a:t>Expected Payoffs for Player 1 (Row):</a:t>
                </a:r>
              </a:p>
              <a:p>
                <a:r>
                  <a:rPr lang="en-MY" dirty="0"/>
                  <a:t>Player 1's mixed strategy: </a:t>
                </a:r>
                <a14:m>
                  <m:oMath xmlns:m="http://schemas.openxmlformats.org/officeDocument/2006/math">
                    <m:r>
                      <a:rPr lang="en-MY"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oMath>
                </a14:m>
                <a:r>
                  <a:rPr lang="en-MY" dirty="0"/>
                  <a:t> Player 2's mixed strategy: </a:t>
                </a:r>
                <a14:m>
                  <m:oMath xmlns:m="http://schemas.openxmlformats.org/officeDocument/2006/math">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oMath>
                </a14:m>
                <a:endParaRPr lang="en-MY" dirty="0"/>
              </a:p>
              <a:p>
                <a:pPr>
                  <a:buFont typeface="Arial" panose="020B0604020202020204" pitchFamily="34" charset="0"/>
                  <a:buChar char="•"/>
                </a:pPr>
                <a:r>
                  <a:rPr lang="en-MY" b="1" dirty="0"/>
                  <a:t>If Player 1 plays B (Ballet):</a:t>
                </a:r>
                <a:endParaRPr lang="en-MY" dirty="0"/>
              </a:p>
              <a:p>
                <a:pPr marL="742950" lvl="1" indent="-285750">
                  <a:buFont typeface="Arial" panose="020B0604020202020204" pitchFamily="34" charset="0"/>
                  <a:buChar char="•"/>
                </a:pPr>
                <a:r>
                  <a:rPr lang="en-MY" dirty="0"/>
                  <a:t>Expected payoff </a:t>
                </a:r>
                <a14:m>
                  <m:oMath xmlns:m="http://schemas.openxmlformats.org/officeDocument/2006/math">
                    <m:r>
                      <a:rPr lang="en-MY"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×2+</m:t>
                    </m:r>
                    <m:f>
                      <m:fPr>
                        <m:ctrlPr>
                          <a:rPr lang="en-US" b="0"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×0=</m:t>
                    </m:r>
                    <m:f>
                      <m:fPr>
                        <m:ctrlPr>
                          <a:rPr lang="en-US" b="0"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oMath>
                </a14:m>
                <a:endParaRPr lang="en-MY" dirty="0"/>
              </a:p>
              <a:p>
                <a:pPr>
                  <a:buFont typeface="Arial" panose="020B0604020202020204" pitchFamily="34" charset="0"/>
                  <a:buChar char="•"/>
                </a:pPr>
                <a:r>
                  <a:rPr lang="en-MY" b="1" dirty="0"/>
                  <a:t>If Player 1 plays F (Football):</a:t>
                </a:r>
                <a:endParaRPr lang="en-MY" dirty="0"/>
              </a:p>
              <a:p>
                <a:pPr marL="742950" lvl="1" indent="-285750">
                  <a:buFont typeface="Arial" panose="020B0604020202020204" pitchFamily="34" charset="0"/>
                  <a:buChar char="•"/>
                </a:pPr>
                <a:r>
                  <a:rPr lang="en-MY" dirty="0"/>
                  <a:t>Expected payoff</a:t>
                </a:r>
                <a14:m>
                  <m:oMath xmlns:m="http://schemas.openxmlformats.org/officeDocument/2006/math">
                    <m:r>
                      <a:rPr lang="en-MY" i="1" dirty="0" smtClean="0">
                        <a:latin typeface="Cambria Math" panose="02040503050406030204" pitchFamily="18" charset="0"/>
                      </a:rPr>
                      <m:t> =</m:t>
                    </m:r>
                    <m:f>
                      <m:fPr>
                        <m:ctrlPr>
                          <a:rPr lang="en-US" b="0"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×0+</m:t>
                    </m:r>
                    <m:f>
                      <m:fPr>
                        <m:ctrlPr>
                          <a:rPr lang="en-US" b="0"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×1=</m:t>
                    </m:r>
                    <m:f>
                      <m:fPr>
                        <m:ctrlPr>
                          <a:rPr lang="en-US" b="0"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oMath>
                </a14:m>
                <a:endParaRPr lang="en-MY" dirty="0"/>
              </a:p>
              <a:p>
                <a:r>
                  <a:rPr lang="en-MY" dirty="0"/>
                  <a:t>Since both actions give the same expected payoff, Player 1 is indifferent between choosing B or F, and thus </a:t>
                </a:r>
                <a14:m>
                  <m:oMath xmlns:m="http://schemas.openxmlformats.org/officeDocument/2006/math">
                    <m:r>
                      <a:rPr lang="en-MY"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oMath>
                </a14:m>
                <a:r>
                  <a:rPr lang="en-MY" dirty="0"/>
                  <a:t> is a best response given Player 2's strategy.</a:t>
                </a:r>
              </a:p>
              <a:p>
                <a:r>
                  <a:rPr lang="en-MY" b="1" dirty="0"/>
                  <a:t>Expected Payoffs for Player 2 (Column):</a:t>
                </a:r>
              </a:p>
              <a:p>
                <a:r>
                  <a:rPr lang="en-MY" dirty="0"/>
                  <a:t>Player 1's mixed strategy: </a:t>
                </a:r>
                <a14:m>
                  <m:oMath xmlns:m="http://schemas.openxmlformats.org/officeDocument/2006/math">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oMath>
                </a14:m>
                <a:r>
                  <a:rPr lang="en-MY" dirty="0"/>
                  <a:t> Player 2's mixed strategy: </a:t>
                </a:r>
                <a14:m>
                  <m:oMath xmlns:m="http://schemas.openxmlformats.org/officeDocument/2006/math">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oMath>
                </a14:m>
                <a:endParaRPr lang="en-MY" dirty="0"/>
              </a:p>
              <a:p>
                <a:pPr>
                  <a:buFont typeface="Arial" panose="020B0604020202020204" pitchFamily="34" charset="0"/>
                  <a:buChar char="•"/>
                </a:pPr>
                <a:r>
                  <a:rPr lang="en-MY" b="1" dirty="0"/>
                  <a:t>If Player 2 plays B (Ballet):</a:t>
                </a:r>
                <a:endParaRPr lang="en-MY" dirty="0"/>
              </a:p>
              <a:p>
                <a:pPr marL="742950" lvl="1" indent="-285750">
                  <a:buFont typeface="Arial" panose="020B0604020202020204" pitchFamily="34" charset="0"/>
                  <a:buChar char="•"/>
                </a:pPr>
                <a:r>
                  <a:rPr lang="en-MY" dirty="0"/>
                  <a:t>Expected payoff </a:t>
                </a:r>
                <a14:m>
                  <m:oMath xmlns:m="http://schemas.openxmlformats.org/officeDocument/2006/math">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×1+</m:t>
                    </m:r>
                    <m:f>
                      <m:fPr>
                        <m:ctrlPr>
                          <a:rPr lang="en-MY"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×0=</m:t>
                    </m:r>
                    <m:f>
                      <m:fPr>
                        <m:ctrlPr>
                          <a:rPr lang="en-MY"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oMath>
                </a14:m>
                <a:endParaRPr lang="en-MY" dirty="0"/>
              </a:p>
              <a:p>
                <a:pPr>
                  <a:buFont typeface="Arial" panose="020B0604020202020204" pitchFamily="34" charset="0"/>
                  <a:buChar char="•"/>
                </a:pPr>
                <a:r>
                  <a:rPr lang="en-MY" b="1" dirty="0"/>
                  <a:t>If Player 2 plays F (Football):</a:t>
                </a:r>
                <a:endParaRPr lang="en-MY" dirty="0"/>
              </a:p>
              <a:p>
                <a:pPr marL="742950" lvl="1" indent="-285750">
                  <a:buFont typeface="Arial" panose="020B0604020202020204" pitchFamily="34" charset="0"/>
                  <a:buChar char="•"/>
                </a:pPr>
                <a:r>
                  <a:rPr lang="en-MY" dirty="0"/>
                  <a:t>Expected payoff </a:t>
                </a:r>
                <a14:m>
                  <m:oMath xmlns:m="http://schemas.openxmlformats.org/officeDocument/2006/math">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×0+</m:t>
                    </m:r>
                    <m:f>
                      <m:fPr>
                        <m:ctrlPr>
                          <a:rPr lang="en-MY"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×1=</m:t>
                    </m:r>
                    <m:f>
                      <m:fPr>
                        <m:ctrlPr>
                          <a:rPr lang="en-MY"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oMath>
                </a14:m>
                <a:endParaRPr lang="en-MY" dirty="0"/>
              </a:p>
              <a:p>
                <a:r>
                  <a:rPr lang="en-MY" dirty="0"/>
                  <a:t>Given these expected payoffs, Player 2 prefers B over F but is willing to randomize according to </a:t>
                </a:r>
                <a14:m>
                  <m:oMath xmlns:m="http://schemas.openxmlformats.org/officeDocument/2006/math">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oMath>
                </a14:m>
                <a:r>
                  <a:rPr lang="en-MY" dirty="0"/>
                  <a:t> to make Player 1 indifferent.</a:t>
                </a:r>
              </a:p>
              <a:p>
                <a:r>
                  <a:rPr lang="en-MY" b="1" dirty="0"/>
                  <a:t>Conclusion:</a:t>
                </a:r>
              </a:p>
              <a:p>
                <a:r>
                  <a:rPr lang="en-MY" dirty="0"/>
                  <a:t>The given mixed strategy pair </a:t>
                </a:r>
                <a14:m>
                  <m:oMath xmlns:m="http://schemas.openxmlformats.org/officeDocument/2006/math">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oMath>
                </a14:m>
                <a:r>
                  <a:rPr lang="en-MY" dirty="0"/>
                  <a:t> for Player 1 and </a:t>
                </a:r>
                <a14:m>
                  <m:oMath xmlns:m="http://schemas.openxmlformats.org/officeDocument/2006/math">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1</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f>
                      <m:fPr>
                        <m:ctrlPr>
                          <a:rPr lang="en-MY" i="1" dirty="0" smtClean="0">
                            <a:latin typeface="Cambria Math" panose="02040503050406030204" pitchFamily="18" charset="0"/>
                          </a:rPr>
                        </m:ctrlPr>
                      </m:fPr>
                      <m:num>
                        <m:r>
                          <a:rPr lang="en-MY" i="1" dirty="0" smtClean="0">
                            <a:latin typeface="Cambria Math" panose="02040503050406030204" pitchFamily="18" charset="0"/>
                          </a:rPr>
                          <m:t>2</m:t>
                        </m:r>
                      </m:num>
                      <m:den>
                        <m:r>
                          <a:rPr lang="en-MY" i="1" dirty="0" smtClean="0">
                            <a:latin typeface="Cambria Math" panose="02040503050406030204" pitchFamily="18" charset="0"/>
                          </a:rPr>
                          <m:t>3</m:t>
                        </m:r>
                      </m:den>
                    </m:f>
                    <m:r>
                      <a:rPr lang="en-MY" i="1" dirty="0" smtClean="0">
                        <a:latin typeface="Cambria Math" panose="02040503050406030204" pitchFamily="18" charset="0"/>
                      </a:rPr>
                      <m:t>)</m:t>
                    </m:r>
                  </m:oMath>
                </a14:m>
                <a:r>
                  <a:rPr lang="en-MY" dirty="0"/>
                  <a:t> for Player 2 satisfies the Nash Equilibrium condition, as neither player can improve their expected payoff by unilaterally deviating from their strategy. Therefore, it is indeed a Nash Equilibrium in mixed strategies.</a:t>
                </a:r>
              </a:p>
              <a:p>
                <a:pPr algn="l"/>
                <a:endParaRPr dirty="0">
                  <a:solidFill>
                    <a:schemeClr val="tx1"/>
                  </a:solidFill>
                </a:endParaRPr>
              </a:p>
            </p:txBody>
          </p:sp>
        </mc:Choice>
        <mc:Fallback xmlns="">
          <p:sp>
            <p:nvSpPr>
              <p:cNvPr id="2" name="Notes Placeholder"/>
              <p:cNvSpPr>
                <a:spLocks noGrp="1"/>
              </p:cNvSpPr>
              <p:nvPr>
                <p:ph type="body" idx="1"/>
              </p:nvPr>
            </p:nvSpPr>
            <p:spPr/>
            <p:txBody>
              <a:bodyPr lIns="96661" tIns="48331" rIns="96661" bIns="48331">
                <a:normAutofit fontScale="25000" lnSpcReduction="20000"/>
              </a:bodyPr>
              <a:lstStyle/>
              <a:p>
                <a:r>
                  <a:rPr lang="en-US" b="0" i="0" dirty="0">
                    <a:solidFill>
                      <a:schemeClr val="tx1"/>
                    </a:solidFill>
                    <a:effectLst/>
                    <a:latin typeface="Söhne"/>
                  </a:rPr>
                  <a:t>The computation of mixed Nash equilibria in extensive-form games is a computationally challenging problem, and it is considered NP-hard, which implies that it belongs to a class of problems that are at least as hard to solve as the hardest problems in NP (nondeterministic polynomial time)</a:t>
                </a:r>
                <a:br>
                  <a:rPr lang="en-US" b="0" i="0" dirty="0">
                    <a:solidFill>
                      <a:schemeClr val="tx1"/>
                    </a:solidFill>
                    <a:effectLst/>
                    <a:latin typeface="Söhne"/>
                  </a:rPr>
                </a:br>
                <a:br>
                  <a:rPr lang="en-US" b="0" i="0" dirty="0">
                    <a:solidFill>
                      <a:schemeClr val="tx1"/>
                    </a:solidFill>
                    <a:effectLst/>
                    <a:latin typeface="Söhne"/>
                  </a:rPr>
                </a:br>
                <a:r>
                  <a:rPr lang="en-MY" b="1" dirty="0"/>
                  <a:t>Expected Payoffs for Player 1 (Row):</a:t>
                </a:r>
              </a:p>
              <a:p>
                <a:r>
                  <a:rPr lang="en-MY" dirty="0"/>
                  <a:t>Player 1's mixed strategy: </a:t>
                </a:r>
                <a:r>
                  <a:rPr lang="en-MY" i="0" dirty="0">
                    <a:latin typeface="Cambria Math" panose="02040503050406030204" pitchFamily="18" charset="0"/>
                  </a:rPr>
                  <a:t>(2</a:t>
                </a:r>
                <a:r>
                  <a:rPr lang="en-US" b="0" i="0" dirty="0">
                    <a:latin typeface="Cambria Math" panose="02040503050406030204" pitchFamily="18" charset="0"/>
                  </a:rPr>
                  <a:t>/</a:t>
                </a:r>
                <a:r>
                  <a:rPr lang="en-MY" i="0" dirty="0">
                    <a:latin typeface="Cambria Math" panose="02040503050406030204" pitchFamily="18" charset="0"/>
                  </a:rPr>
                  <a:t>3, 1</a:t>
                </a:r>
                <a:r>
                  <a:rPr lang="en-US" b="0" i="0" dirty="0">
                    <a:latin typeface="Cambria Math" panose="02040503050406030204" pitchFamily="18" charset="0"/>
                  </a:rPr>
                  <a:t>/</a:t>
                </a:r>
                <a:r>
                  <a:rPr lang="en-MY" i="0" dirty="0">
                    <a:latin typeface="Cambria Math" panose="02040503050406030204" pitchFamily="18" charset="0"/>
                  </a:rPr>
                  <a:t>3)</a:t>
                </a:r>
                <a:r>
                  <a:rPr lang="en-MY" dirty="0"/>
                  <a:t> Player 2's mixed strategy: </a:t>
                </a:r>
                <a:r>
                  <a:rPr lang="en-MY" i="0" dirty="0">
                    <a:latin typeface="Cambria Math" panose="02040503050406030204" pitchFamily="18" charset="0"/>
                  </a:rPr>
                  <a:t>(1/3, 2/3)</a:t>
                </a:r>
                <a:endParaRPr lang="en-MY" dirty="0"/>
              </a:p>
              <a:p>
                <a:pPr>
                  <a:buFont typeface="Arial" panose="020B0604020202020204" pitchFamily="34" charset="0"/>
                  <a:buChar char="•"/>
                </a:pPr>
                <a:r>
                  <a:rPr lang="en-MY" b="1" dirty="0"/>
                  <a:t>If Player 1 plays B (Ballet):</a:t>
                </a:r>
                <a:endParaRPr lang="en-MY" dirty="0"/>
              </a:p>
              <a:p>
                <a:pPr marL="742950" lvl="1" indent="-285750">
                  <a:buFont typeface="Arial" panose="020B0604020202020204" pitchFamily="34" charset="0"/>
                  <a:buChar char="•"/>
                </a:pPr>
                <a:r>
                  <a:rPr lang="en-MY" dirty="0"/>
                  <a:t>Expected payoff </a:t>
                </a:r>
                <a:r>
                  <a:rPr lang="en-MY" i="0" dirty="0">
                    <a:latin typeface="Cambria Math" panose="02040503050406030204" pitchFamily="18" charset="0"/>
                  </a:rPr>
                  <a:t>=1</a:t>
                </a:r>
                <a:r>
                  <a:rPr lang="en-US" b="0" i="0" dirty="0">
                    <a:latin typeface="Cambria Math" panose="02040503050406030204" pitchFamily="18" charset="0"/>
                  </a:rPr>
                  <a:t>/</a:t>
                </a:r>
                <a:r>
                  <a:rPr lang="en-MY" i="0" dirty="0">
                    <a:latin typeface="Cambria Math" panose="02040503050406030204" pitchFamily="18" charset="0"/>
                  </a:rPr>
                  <a:t>3×2+2</a:t>
                </a:r>
                <a:r>
                  <a:rPr lang="en-US" b="0" i="0" dirty="0">
                    <a:latin typeface="Cambria Math" panose="02040503050406030204" pitchFamily="18" charset="0"/>
                  </a:rPr>
                  <a:t>/</a:t>
                </a:r>
                <a:r>
                  <a:rPr lang="en-MY" i="0" dirty="0">
                    <a:latin typeface="Cambria Math" panose="02040503050406030204" pitchFamily="18" charset="0"/>
                  </a:rPr>
                  <a:t>3×0=2</a:t>
                </a:r>
                <a:r>
                  <a:rPr lang="en-US" b="0" i="0" dirty="0">
                    <a:latin typeface="Cambria Math" panose="02040503050406030204" pitchFamily="18" charset="0"/>
                  </a:rPr>
                  <a:t>/</a:t>
                </a:r>
                <a:r>
                  <a:rPr lang="en-MY" i="0" dirty="0">
                    <a:latin typeface="Cambria Math" panose="02040503050406030204" pitchFamily="18" charset="0"/>
                  </a:rPr>
                  <a:t>3</a:t>
                </a:r>
                <a:endParaRPr lang="en-MY" dirty="0"/>
              </a:p>
              <a:p>
                <a:pPr>
                  <a:buFont typeface="Arial" panose="020B0604020202020204" pitchFamily="34" charset="0"/>
                  <a:buChar char="•"/>
                </a:pPr>
                <a:r>
                  <a:rPr lang="en-MY" b="1" dirty="0"/>
                  <a:t>If Player 1 plays F (Football):</a:t>
                </a:r>
                <a:endParaRPr lang="en-MY" dirty="0"/>
              </a:p>
              <a:p>
                <a:pPr marL="742950" lvl="1" indent="-285750">
                  <a:buFont typeface="Arial" panose="020B0604020202020204" pitchFamily="34" charset="0"/>
                  <a:buChar char="•"/>
                </a:pPr>
                <a:r>
                  <a:rPr lang="en-MY" dirty="0"/>
                  <a:t>Expected payoff</a:t>
                </a:r>
                <a:r>
                  <a:rPr lang="en-MY" i="0" dirty="0">
                    <a:latin typeface="Cambria Math" panose="02040503050406030204" pitchFamily="18" charset="0"/>
                  </a:rPr>
                  <a:t> =1</a:t>
                </a:r>
                <a:r>
                  <a:rPr lang="en-US" b="0" i="0" dirty="0">
                    <a:latin typeface="Cambria Math" panose="02040503050406030204" pitchFamily="18" charset="0"/>
                  </a:rPr>
                  <a:t>/</a:t>
                </a:r>
                <a:r>
                  <a:rPr lang="en-MY" i="0" dirty="0">
                    <a:latin typeface="Cambria Math" panose="02040503050406030204" pitchFamily="18" charset="0"/>
                  </a:rPr>
                  <a:t>3×0+2</a:t>
                </a:r>
                <a:r>
                  <a:rPr lang="en-US" b="0" i="0" dirty="0">
                    <a:latin typeface="Cambria Math" panose="02040503050406030204" pitchFamily="18" charset="0"/>
                  </a:rPr>
                  <a:t>/</a:t>
                </a:r>
                <a:r>
                  <a:rPr lang="en-MY" i="0" dirty="0">
                    <a:latin typeface="Cambria Math" panose="02040503050406030204" pitchFamily="18" charset="0"/>
                  </a:rPr>
                  <a:t>3×1=2</a:t>
                </a:r>
                <a:r>
                  <a:rPr lang="en-US" b="0" i="0" dirty="0">
                    <a:latin typeface="Cambria Math" panose="02040503050406030204" pitchFamily="18" charset="0"/>
                  </a:rPr>
                  <a:t>/</a:t>
                </a:r>
                <a:r>
                  <a:rPr lang="en-MY" i="0" dirty="0">
                    <a:latin typeface="Cambria Math" panose="02040503050406030204" pitchFamily="18" charset="0"/>
                  </a:rPr>
                  <a:t>3</a:t>
                </a:r>
                <a:endParaRPr lang="en-MY" dirty="0"/>
              </a:p>
              <a:p>
                <a:r>
                  <a:rPr lang="en-MY" dirty="0"/>
                  <a:t>Since both actions give the same expected payoff, Player 1 is indifferent between choosing B or F, and thus </a:t>
                </a:r>
                <a:r>
                  <a:rPr lang="en-MY" i="0" dirty="0">
                    <a:latin typeface="Cambria Math" panose="02040503050406030204" pitchFamily="18" charset="0"/>
                  </a:rPr>
                  <a:t>(2</a:t>
                </a:r>
                <a:r>
                  <a:rPr lang="en-US" b="0" i="0" dirty="0">
                    <a:latin typeface="Cambria Math" panose="02040503050406030204" pitchFamily="18" charset="0"/>
                  </a:rPr>
                  <a:t>/</a:t>
                </a:r>
                <a:r>
                  <a:rPr lang="en-MY" i="0" dirty="0">
                    <a:latin typeface="Cambria Math" panose="02040503050406030204" pitchFamily="18" charset="0"/>
                  </a:rPr>
                  <a:t>3, 1</a:t>
                </a:r>
                <a:r>
                  <a:rPr lang="en-US" b="0" i="0" dirty="0">
                    <a:latin typeface="Cambria Math" panose="02040503050406030204" pitchFamily="18" charset="0"/>
                  </a:rPr>
                  <a:t>/</a:t>
                </a:r>
                <a:r>
                  <a:rPr lang="en-MY" i="0" dirty="0">
                    <a:latin typeface="Cambria Math" panose="02040503050406030204" pitchFamily="18" charset="0"/>
                  </a:rPr>
                  <a:t>3)</a:t>
                </a:r>
                <a:r>
                  <a:rPr lang="en-MY" dirty="0"/>
                  <a:t> is a best response given Player 2's strategy.</a:t>
                </a:r>
              </a:p>
              <a:p>
                <a:r>
                  <a:rPr lang="en-MY" b="1" dirty="0"/>
                  <a:t>Expected Payoffs for Player 2 (Column):</a:t>
                </a:r>
              </a:p>
              <a:p>
                <a:r>
                  <a:rPr lang="en-MY" dirty="0"/>
                  <a:t>Player 1's mixed strategy: </a:t>
                </a:r>
                <a:r>
                  <a:rPr lang="en-MY" i="0" dirty="0">
                    <a:latin typeface="Cambria Math" panose="02040503050406030204" pitchFamily="18" charset="0"/>
                  </a:rPr>
                  <a:t>(2/3, 1/3)</a:t>
                </a:r>
                <a:r>
                  <a:rPr lang="en-MY" dirty="0"/>
                  <a:t> Player 2's mixed strategy: </a:t>
                </a:r>
                <a:r>
                  <a:rPr lang="en-MY" i="0" dirty="0">
                    <a:latin typeface="Cambria Math" panose="02040503050406030204" pitchFamily="18" charset="0"/>
                  </a:rPr>
                  <a:t>(1/3, 2/3)</a:t>
                </a:r>
                <a:endParaRPr lang="en-MY" dirty="0"/>
              </a:p>
              <a:p>
                <a:pPr>
                  <a:buFont typeface="Arial" panose="020B0604020202020204" pitchFamily="34" charset="0"/>
                  <a:buChar char="•"/>
                </a:pPr>
                <a:r>
                  <a:rPr lang="en-MY" b="1" dirty="0"/>
                  <a:t>If Player 2 plays B (Ballet):</a:t>
                </a:r>
                <a:endParaRPr lang="en-MY" dirty="0"/>
              </a:p>
              <a:p>
                <a:pPr marL="742950" lvl="1" indent="-285750">
                  <a:buFont typeface="Arial" panose="020B0604020202020204" pitchFamily="34" charset="0"/>
                  <a:buChar char="•"/>
                </a:pPr>
                <a:r>
                  <a:rPr lang="en-MY" dirty="0"/>
                  <a:t>Expected payoff </a:t>
                </a:r>
                <a:r>
                  <a:rPr lang="en-MY" i="0" dirty="0">
                    <a:latin typeface="Cambria Math" panose="02040503050406030204" pitchFamily="18" charset="0"/>
                  </a:rPr>
                  <a:t>=2/3×1+1/3×0=2/3 ​</a:t>
                </a:r>
                <a:endParaRPr lang="en-MY" dirty="0"/>
              </a:p>
              <a:p>
                <a:pPr>
                  <a:buFont typeface="Arial" panose="020B0604020202020204" pitchFamily="34" charset="0"/>
                  <a:buChar char="•"/>
                </a:pPr>
                <a:r>
                  <a:rPr lang="en-MY" b="1" dirty="0"/>
                  <a:t>If Player 2 plays F (Football):</a:t>
                </a:r>
                <a:endParaRPr lang="en-MY" dirty="0"/>
              </a:p>
              <a:p>
                <a:pPr marL="742950" lvl="1" indent="-285750">
                  <a:buFont typeface="Arial" panose="020B0604020202020204" pitchFamily="34" charset="0"/>
                  <a:buChar char="•"/>
                </a:pPr>
                <a:r>
                  <a:rPr lang="en-MY" dirty="0"/>
                  <a:t>Expected payoff </a:t>
                </a:r>
                <a:r>
                  <a:rPr lang="en-MY" i="0" dirty="0">
                    <a:latin typeface="Cambria Math" panose="02040503050406030204" pitchFamily="18" charset="0"/>
                  </a:rPr>
                  <a:t>=2/3×0+1/3×1=1/3 ​</a:t>
                </a:r>
                <a:endParaRPr lang="en-MY" dirty="0"/>
              </a:p>
              <a:p>
                <a:r>
                  <a:rPr lang="en-MY" dirty="0"/>
                  <a:t>Given these expected payoffs, Player 2 prefers B over F but is willing to randomize according to </a:t>
                </a:r>
                <a:r>
                  <a:rPr lang="en-MY" i="0" dirty="0">
                    <a:latin typeface="Cambria Math" panose="02040503050406030204" pitchFamily="18" charset="0"/>
                  </a:rPr>
                  <a:t>(1/3, 2/3)</a:t>
                </a:r>
                <a:r>
                  <a:rPr lang="en-MY" dirty="0"/>
                  <a:t> to make Player 1 indifferent.</a:t>
                </a:r>
              </a:p>
              <a:p>
                <a:r>
                  <a:rPr lang="en-MY" b="1" dirty="0"/>
                  <a:t>Conclusion:</a:t>
                </a:r>
              </a:p>
              <a:p>
                <a:r>
                  <a:rPr lang="en-MY" dirty="0"/>
                  <a:t>The given mixed strategy pair </a:t>
                </a:r>
                <a:r>
                  <a:rPr lang="en-MY" i="0" dirty="0">
                    <a:latin typeface="Cambria Math" panose="02040503050406030204" pitchFamily="18" charset="0"/>
                  </a:rPr>
                  <a:t>(2/3, 1/3)</a:t>
                </a:r>
                <a:r>
                  <a:rPr lang="en-MY" dirty="0"/>
                  <a:t> for Player 1 and </a:t>
                </a:r>
                <a:r>
                  <a:rPr lang="en-MY" i="0" dirty="0">
                    <a:latin typeface="Cambria Math" panose="02040503050406030204" pitchFamily="18" charset="0"/>
                  </a:rPr>
                  <a:t>(1/3, 2/3)</a:t>
                </a:r>
                <a:r>
                  <a:rPr lang="en-MY" dirty="0"/>
                  <a:t> for Player 2 satisfies the Nash Equilibrium condition, as neither player can improve their expected payoff by unilaterally deviating from their strategy. Therefore, it is indeed a Nash Equilibrium in mixed strategies.</a:t>
                </a:r>
              </a:p>
              <a:p>
                <a:pPr algn="l"/>
                <a:endParaRPr dirty="0">
                  <a:solidFill>
                    <a:schemeClr val="tx1"/>
                  </a:solidFill>
                </a:endParaRPr>
              </a:p>
            </p:txBody>
          </p:sp>
        </mc:Fallback>
      </mc:AlternateContent>
    </p:spTree>
    <p:extLst>
      <p:ext uri="{BB962C8B-B14F-4D97-AF65-F5344CB8AC3E}">
        <p14:creationId xmlns:p14="http://schemas.microsoft.com/office/powerpoint/2010/main" val="34339214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buFont typeface="+mj-lt"/>
              <a:buAutoNum type="arabicPeriod"/>
            </a:pPr>
            <a:r>
              <a:rPr lang="en-US" dirty="0">
                <a:solidFill>
                  <a:schemeClr val="tx1"/>
                </a:solidFill>
              </a:rPr>
              <a:t>Nash Eq is computationally hard to find them. High time complexity.</a:t>
            </a:r>
            <a:br>
              <a:rPr lang="en-US" dirty="0">
                <a:solidFill>
                  <a:schemeClr val="tx1"/>
                </a:solidFill>
              </a:rPr>
            </a:br>
            <a:r>
              <a:rPr lang="en-US" b="1" dirty="0"/>
              <a:t>Support of Mixed Nash Equilibria:</a:t>
            </a:r>
            <a:endParaRPr lang="en-US" dirty="0"/>
          </a:p>
          <a:p>
            <a:pPr marL="742950" lvl="1" indent="-285750">
              <a:buFont typeface="+mj-lt"/>
              <a:buAutoNum type="arabicPeriod"/>
            </a:pPr>
            <a:r>
              <a:rPr lang="en-US" dirty="0"/>
              <a:t>The support of a mixed strategy refers to the set of actions that are played with positive probability.</a:t>
            </a:r>
          </a:p>
          <a:p>
            <a:pPr marL="742950" lvl="1" indent="-285750">
              <a:buFont typeface="+mj-lt"/>
              <a:buAutoNum type="arabicPeriod"/>
            </a:pPr>
            <a:r>
              <a:rPr lang="en-US" dirty="0"/>
              <a:t>If the support is known, the task of finding the MNE reduces to solving a system of linear equations because you only need to find the probabilities for the actions in the support.</a:t>
            </a:r>
          </a:p>
          <a:p>
            <a:pPr>
              <a:buFont typeface="+mj-lt"/>
              <a:buAutoNum type="arabicPeriod"/>
            </a:pPr>
            <a:r>
              <a:rPr lang="en-US" b="1" dirty="0"/>
              <a:t>Combinatorial Nature:</a:t>
            </a:r>
            <a:endParaRPr lang="en-US" dirty="0"/>
          </a:p>
          <a:p>
            <a:pPr marL="742950" lvl="1" indent="-285750">
              <a:buFont typeface="+mj-lt"/>
              <a:buAutoNum type="arabicPeriod"/>
            </a:pPr>
            <a:r>
              <a:rPr lang="en-US" dirty="0"/>
              <a:t>In a finite game with n actions, there are 2^n possible supports (since each action can either be in or out of the support).</a:t>
            </a:r>
          </a:p>
          <a:p>
            <a:pPr marL="742950" lvl="1" indent="-285750">
              <a:buFont typeface="+mj-lt"/>
              <a:buAutoNum type="arabicPeriod"/>
            </a:pPr>
            <a:r>
              <a:rPr lang="en-US" dirty="0"/>
              <a:t>Finding MNE is a combinatorial problem because you might need to explore many combinations of supports.</a:t>
            </a:r>
          </a:p>
          <a:p>
            <a:r>
              <a:rPr lang="en-US" b="1" dirty="0"/>
              <a:t>What If the Support is Unknown?</a:t>
            </a:r>
          </a:p>
          <a:p>
            <a:r>
              <a:rPr lang="en-US" dirty="0"/>
              <a:t>If the support is unknown, finding the MNE becomes much more complex because:</a:t>
            </a:r>
          </a:p>
          <a:p>
            <a:pPr marL="628650" lvl="1" indent="-171450">
              <a:buFont typeface="Arial" panose="020B0604020202020204" pitchFamily="34" charset="0"/>
              <a:buChar char="•"/>
            </a:pPr>
            <a:r>
              <a:rPr lang="en-US" dirty="0"/>
              <a:t>You have to explore all possible supports, which exponentially increases the problem's complexity.</a:t>
            </a:r>
          </a:p>
          <a:p>
            <a:pPr marL="628650" lvl="1" indent="-171450">
              <a:buFont typeface="Arial" panose="020B0604020202020204" pitchFamily="34" charset="0"/>
              <a:buChar char="•"/>
            </a:pPr>
            <a:r>
              <a:rPr lang="en-US" dirty="0"/>
              <a:t>For each possible support, you need to check if there exists a corresponding mixed strategy that satisfies the Nash Equilibrium conditions, which involves solving the linear equations for every potential support.</a:t>
            </a:r>
          </a:p>
          <a:p>
            <a:endParaRPr dirty="0">
              <a:solidFill>
                <a:schemeClr val="tx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Notes Placeholder"/>
              <p:cNvSpPr>
                <a:spLocks noGrp="1"/>
              </p:cNvSpPr>
              <p:nvPr>
                <p:ph type="body" idx="1"/>
              </p:nvPr>
            </p:nvSpPr>
            <p:spPr/>
            <p:txBody>
              <a:bodyPr lIns="96661" tIns="48331" rIns="96661" bIns="48331">
                <a:normAutofit fontScale="25000" lnSpcReduction="20000"/>
              </a:bodyPr>
              <a:lstStyle/>
              <a:p>
                <a:r>
                  <a:rPr lang="en-US" dirty="0">
                    <a:solidFill>
                      <a:schemeClr val="tx1"/>
                    </a:solidFill>
                  </a:rPr>
                  <a:t>The 2-player zero-sum games is a special case where we can find Nash eq. in straightforward manner.</a:t>
                </a:r>
              </a:p>
              <a:p>
                <a:endParaRPr lang="en-US" dirty="0">
                  <a:solidFill>
                    <a:schemeClr val="tx1"/>
                  </a:solidFill>
                </a:endParaRPr>
              </a:p>
              <a:p>
                <a:pPr defTabSz="966612">
                  <a:defRPr/>
                </a:pPr>
                <a:r>
                  <a:rPr lang="en-US" b="0" i="0" dirty="0">
                    <a:solidFill>
                      <a:schemeClr val="tx1"/>
                    </a:solidFill>
                    <a:effectLst/>
                    <a:latin typeface="Söhne"/>
                  </a:rPr>
                  <a:t>--------------------------------------------------------------</a:t>
                </a:r>
                <a:endParaRPr lang="en-US" dirty="0">
                  <a:solidFill>
                    <a:schemeClr val="tx1"/>
                  </a:solidFill>
                </a:endParaRPr>
              </a:p>
              <a:p>
                <a:pPr algn="l"/>
                <a:r>
                  <a:rPr lang="en-US" b="0" i="0" dirty="0">
                    <a:solidFill>
                      <a:schemeClr val="tx1"/>
                    </a:solidFill>
                    <a:effectLst/>
                    <a:latin typeface="Söhne"/>
                  </a:rPr>
                  <a:t>Solving a zero-sum game using linear programming, specifically in the context of finding the optimal mixed strategy for Player B (the column player) in a two-player zero-sum game. This linear programming formulation is used to calculate the Nash Equilibrium of such games.</a:t>
                </a:r>
              </a:p>
              <a:p>
                <a:pPr algn="l"/>
                <a:r>
                  <a:rPr lang="en-US" b="0" i="0" dirty="0">
                    <a:solidFill>
                      <a:schemeClr val="tx1"/>
                    </a:solidFill>
                    <a:effectLst/>
                    <a:latin typeface="Söhne"/>
                  </a:rPr>
                  <a:t>The linear programming problem can be broken into:</a:t>
                </a:r>
              </a:p>
              <a:p>
                <a:pPr algn="l">
                  <a:buFont typeface="+mj-lt"/>
                  <a:buAutoNum type="arabicPeriod"/>
                </a:pPr>
                <a:r>
                  <a:rPr lang="en-US" b="1" i="0" dirty="0">
                    <a:solidFill>
                      <a:schemeClr val="tx1"/>
                    </a:solidFill>
                    <a:effectLst/>
                    <a:latin typeface="Söhne"/>
                  </a:rPr>
                  <a:t>Objective Function</a:t>
                </a:r>
                <a:r>
                  <a:rPr lang="en-US" b="0" i="0" dirty="0">
                    <a:solidFill>
                      <a:schemeClr val="tx1"/>
                    </a:solidFill>
                    <a:effectLst/>
                    <a:latin typeface="Söhne"/>
                  </a:rPr>
                  <a:t>:</a:t>
                </a:r>
              </a:p>
              <a:p>
                <a:pPr marL="785372" lvl="1" indent="-302066">
                  <a:buFont typeface="+mj-lt"/>
                  <a:buAutoNum type="arabicPeriod"/>
                </a:pPr>
                <a:r>
                  <a:rPr lang="en-US" b="0" i="0" dirty="0">
                    <a:solidFill>
                      <a:schemeClr val="tx1"/>
                    </a:solidFill>
                    <a:effectLst/>
                    <a:latin typeface="Söhne"/>
                  </a:rPr>
                  <a:t>Objective: Player B (the column player) wants to minimize the maximum expected payoff that Player A (the row player) can achieve.</a:t>
                </a:r>
              </a:p>
              <a:p>
                <a:pPr marL="785372" lvl="1" indent="-302066">
                  <a:buFont typeface="+mj-lt"/>
                  <a:buAutoNum type="arabicPeriod"/>
                </a:pPr>
                <a:r>
                  <a:rPr lang="en-US" b="0" i="0" dirty="0">
                    <a:solidFill>
                      <a:schemeClr val="tx1"/>
                    </a:solidFill>
                    <a:effectLst/>
                    <a:latin typeface="Söhne"/>
                  </a:rPr>
                  <a:t>Objective Function: min </a:t>
                </a:r>
                <a14:m>
                  <m:oMath xmlns:m="http://schemas.openxmlformats.org/officeDocument/2006/math">
                    <m:func>
                      <m:funcPr>
                        <m:ctrlPr>
                          <a:rPr lang="ar-YE" i="1" smtClean="0">
                            <a:solidFill>
                              <a:schemeClr val="tx1"/>
                            </a:solidFill>
                            <a:latin typeface="Cambria Math" panose="02040503050406030204" pitchFamily="18" charset="0"/>
                          </a:rPr>
                        </m:ctrlPr>
                      </m:funcPr>
                      <m:fName>
                        <m:limLow>
                          <m:limLowPr>
                            <m:ctrlPr>
                              <a:rPr lang="ar-YE" i="1" smtClean="0">
                                <a:solidFill>
                                  <a:schemeClr val="tx1"/>
                                </a:solidFill>
                                <a:latin typeface="Cambria Math" panose="02040503050406030204" pitchFamily="18" charset="0"/>
                              </a:rPr>
                            </m:ctrlPr>
                          </m:limLowPr>
                          <m:e>
                            <m:r>
                              <m:rPr>
                                <m:sty m:val="p"/>
                              </m:rPr>
                              <a:rPr lang="en-US" i="0" smtClean="0">
                                <a:solidFill>
                                  <a:schemeClr val="tx1"/>
                                </a:solidFill>
                                <a:latin typeface="Cambria Math" panose="02040503050406030204" pitchFamily="18" charset="0"/>
                              </a:rPr>
                              <m:t>max</m:t>
                            </m:r>
                          </m:e>
                          <m:lim>
                            <m:r>
                              <a:rPr lang="ar-YE" b="0" i="1" smtClean="0">
                                <a:solidFill>
                                  <a:schemeClr val="tx1"/>
                                </a:solidFill>
                                <a:latin typeface="Cambria Math" panose="02040503050406030204" pitchFamily="18" charset="0"/>
                              </a:rPr>
                              <m:t>𝑖</m:t>
                            </m:r>
                          </m:lim>
                        </m:limLow>
                      </m:fName>
                      <m:e>
                        <m:nary>
                          <m:naryPr>
                            <m:chr m:val="∑"/>
                            <m:ctrlPr>
                              <a:rPr lang="ar-YE" i="1" smtClean="0">
                                <a:solidFill>
                                  <a:schemeClr val="tx1"/>
                                </a:solidFill>
                                <a:latin typeface="Cambria Math" panose="02040503050406030204" pitchFamily="18" charset="0"/>
                              </a:rPr>
                            </m:ctrlPr>
                          </m:naryPr>
                          <m:sub>
                            <m:r>
                              <m:rPr>
                                <m:brk m:alnAt="23"/>
                              </m:rPr>
                              <a:rPr lang="ar-YE" b="0" i="1" smtClean="0">
                                <a:solidFill>
                                  <a:schemeClr val="tx1"/>
                                </a:solidFill>
                                <a:latin typeface="Cambria Math" panose="02040503050406030204" pitchFamily="18" charset="0"/>
                              </a:rPr>
                              <m:t>𝑗</m:t>
                            </m:r>
                            <m:r>
                              <a:rPr lang="ar-YE" b="0" i="1" smtClean="0">
                                <a:solidFill>
                                  <a:schemeClr val="tx1"/>
                                </a:solidFill>
                                <a:latin typeface="Cambria Math" panose="02040503050406030204" pitchFamily="18" charset="0"/>
                              </a:rPr>
                              <m:t>=</m:t>
                            </m:r>
                            <m:r>
                              <a:rPr lang="ar-YE" b="0" i="1" smtClean="0">
                                <a:solidFill>
                                  <a:schemeClr val="tx1"/>
                                </a:solidFill>
                                <a:latin typeface="Cambria Math" panose="02040503050406030204" pitchFamily="18" charset="0"/>
                              </a:rPr>
                              <m:t>1</m:t>
                            </m:r>
                          </m:sub>
                          <m:sup>
                            <m:r>
                              <a:rPr lang="ar-YE" b="0" i="1" smtClean="0">
                                <a:solidFill>
                                  <a:schemeClr val="tx1"/>
                                </a:solidFill>
                                <a:latin typeface="Cambria Math" panose="02040503050406030204" pitchFamily="18" charset="0"/>
                              </a:rPr>
                              <m:t>𝑛</m:t>
                            </m:r>
                          </m:sup>
                          <m:e>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𝑎</m:t>
                                </m:r>
                              </m:e>
                              <m:sub>
                                <m:r>
                                  <a:rPr lang="ar-YE" b="0" i="1" smtClean="0">
                                    <a:solidFill>
                                      <a:schemeClr val="tx1"/>
                                    </a:solidFill>
                                    <a:latin typeface="Cambria Math" panose="02040503050406030204" pitchFamily="18" charset="0"/>
                                  </a:rPr>
                                  <m:t>𝑖</m:t>
                                </m:r>
                                <m:r>
                                  <a:rPr lang="ar-YE" b="0" i="1" smtClean="0">
                                    <a:solidFill>
                                      <a:schemeClr val="tx1"/>
                                    </a:solidFill>
                                    <a:latin typeface="Cambria Math" panose="02040503050406030204" pitchFamily="18" charset="0"/>
                                  </a:rPr>
                                  <m:t>,</m:t>
                                </m:r>
                                <m:r>
                                  <a:rPr lang="ar-YE" b="0" i="1" smtClean="0">
                                    <a:solidFill>
                                      <a:schemeClr val="tx1"/>
                                    </a:solidFill>
                                    <a:latin typeface="Cambria Math" panose="02040503050406030204" pitchFamily="18" charset="0"/>
                                  </a:rPr>
                                  <m:t>𝑗</m:t>
                                </m:r>
                              </m:sub>
                            </m:sSub>
                            <m:r>
                              <a:rPr lang="ar-YE" b="0" i="1" smtClean="0">
                                <a:solidFill>
                                  <a:schemeClr val="tx1"/>
                                </a:solidFill>
                                <a:latin typeface="Cambria Math" panose="02040503050406030204" pitchFamily="18" charset="0"/>
                              </a:rPr>
                              <m:t> . </m:t>
                            </m:r>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𝑗</m:t>
                                </m:r>
                              </m:sub>
                            </m:sSub>
                          </m:e>
                        </m:nary>
                      </m:e>
                    </m:func>
                  </m:oMath>
                </a14:m>
                <a:endParaRPr lang="ar-YE" b="0" i="0" dirty="0">
                  <a:solidFill>
                    <a:schemeClr val="tx1"/>
                  </a:solidFill>
                  <a:effectLst/>
                  <a:latin typeface="Söhne"/>
                </a:endParaRPr>
              </a:p>
              <a:p>
                <a:pPr marL="785372" lvl="1" indent="-302066">
                  <a:buFont typeface="+mj-lt"/>
                  <a:buAutoNum type="arabicPeriod"/>
                </a:pPr>
                <a:r>
                  <a:rPr lang="en-US" b="0" i="0" dirty="0">
                    <a:solidFill>
                      <a:schemeClr val="tx1"/>
                    </a:solidFill>
                    <a:effectLst/>
                    <a:latin typeface="Söhne"/>
                  </a:rPr>
                  <a:t>Here, </a:t>
                </a:r>
                <a14:m>
                  <m:oMath xmlns:m="http://schemas.openxmlformats.org/officeDocument/2006/math">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𝑗</m:t>
                        </m:r>
                      </m:sub>
                    </m:sSub>
                  </m:oMath>
                </a14:m>
                <a:r>
                  <a:rPr lang="ar-YE" b="0" i="0" dirty="0">
                    <a:solidFill>
                      <a:schemeClr val="tx1"/>
                    </a:solidFill>
                    <a:effectLst/>
                    <a:latin typeface="Söhne"/>
                  </a:rPr>
                  <a:t> </a:t>
                </a:r>
                <a:r>
                  <a:rPr lang="en-US" b="0" i="0" dirty="0">
                    <a:solidFill>
                      <a:schemeClr val="tx1"/>
                    </a:solidFill>
                    <a:effectLst/>
                    <a:latin typeface="Söhne"/>
                  </a:rPr>
                  <a:t>represents the probability that Player B assigns to each of their pure strategies.</a:t>
                </a:r>
              </a:p>
              <a:p>
                <a:pPr algn="l">
                  <a:buFont typeface="+mj-lt"/>
                  <a:buAutoNum type="arabicPeriod"/>
                </a:pPr>
                <a:r>
                  <a:rPr lang="en-US" b="1" i="0" dirty="0">
                    <a:solidFill>
                      <a:schemeClr val="tx1"/>
                    </a:solidFill>
                    <a:effectLst/>
                    <a:latin typeface="Söhne"/>
                  </a:rPr>
                  <a:t>Constraints</a:t>
                </a:r>
                <a:r>
                  <a:rPr lang="en-US" b="0" i="0" dirty="0">
                    <a:solidFill>
                      <a:schemeClr val="tx1"/>
                    </a:solidFill>
                    <a:effectLst/>
                    <a:latin typeface="Söhne"/>
                  </a:rPr>
                  <a:t>:</a:t>
                </a:r>
              </a:p>
              <a:p>
                <a:pPr marL="785372" lvl="1" indent="-302066">
                  <a:buFont typeface="+mj-lt"/>
                  <a:buAutoNum type="arabicPeriod"/>
                </a:pPr>
                <a:r>
                  <a:rPr lang="en-US" b="0" i="0" dirty="0">
                    <a:solidFill>
                      <a:schemeClr val="tx1"/>
                    </a:solidFill>
                    <a:effectLst/>
                    <a:latin typeface="Söhne"/>
                  </a:rPr>
                  <a:t>The constraints ensure that Player B's strategy is a valid probability distribution (i.e., probabilities sum to 1 and are non-negative):</a:t>
                </a:r>
              </a:p>
              <a:p>
                <a:pPr marL="1208265" lvl="2" indent="-241653">
                  <a:buFont typeface="+mj-lt"/>
                  <a:buAutoNum type="arabicPeriod"/>
                </a:pPr>
                <a14:m>
                  <m:oMath xmlns:m="http://schemas.openxmlformats.org/officeDocument/2006/math">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m:t>
                    </m:r>
                    <m:nary>
                      <m:naryPr>
                        <m:chr m:val="∑"/>
                        <m:ctrlPr>
                          <a:rPr lang="ar-YE" i="1" smtClean="0">
                            <a:solidFill>
                              <a:schemeClr val="tx1"/>
                            </a:solidFill>
                            <a:latin typeface="Cambria Math" panose="02040503050406030204" pitchFamily="18" charset="0"/>
                          </a:rPr>
                        </m:ctrlPr>
                      </m:naryPr>
                      <m:sub>
                        <m:r>
                          <m:rPr>
                            <m:brk m:alnAt="23"/>
                          </m:rPr>
                          <a:rPr lang="ar-YE" b="0" i="1" smtClean="0">
                            <a:solidFill>
                              <a:schemeClr val="tx1"/>
                            </a:solidFill>
                            <a:latin typeface="Cambria Math" panose="02040503050406030204" pitchFamily="18" charset="0"/>
                          </a:rPr>
                          <m:t>𝑗</m:t>
                        </m:r>
                        <m:r>
                          <a:rPr lang="ar-YE" b="0" i="1" smtClean="0">
                            <a:solidFill>
                              <a:schemeClr val="tx1"/>
                            </a:solidFill>
                            <a:latin typeface="Cambria Math" panose="02040503050406030204" pitchFamily="18" charset="0"/>
                          </a:rPr>
                          <m:t>=</m:t>
                        </m:r>
                        <m:r>
                          <a:rPr lang="ar-YE" b="0" i="1" smtClean="0">
                            <a:solidFill>
                              <a:schemeClr val="tx1"/>
                            </a:solidFill>
                            <a:latin typeface="Cambria Math" panose="02040503050406030204" pitchFamily="18" charset="0"/>
                          </a:rPr>
                          <m:t>1</m:t>
                        </m:r>
                      </m:sub>
                      <m:sup>
                        <m:r>
                          <a:rPr lang="ar-YE" b="0" i="1" smtClean="0">
                            <a:solidFill>
                              <a:schemeClr val="tx1"/>
                            </a:solidFill>
                            <a:latin typeface="Cambria Math" panose="02040503050406030204" pitchFamily="18" charset="0"/>
                          </a:rPr>
                          <m:t>𝑛</m:t>
                        </m:r>
                      </m:sup>
                      <m:e>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𝑗</m:t>
                            </m:r>
                          </m:sub>
                        </m:sSub>
                      </m:e>
                    </m:nary>
                  </m:oMath>
                </a14:m>
                <a:r>
                  <a:rPr lang="ar-YE" b="0" i="0" dirty="0">
                    <a:solidFill>
                      <a:schemeClr val="tx1"/>
                    </a:solidFill>
                    <a:effectLst/>
                    <a:latin typeface="Söhne"/>
                  </a:rPr>
                  <a:t>: </a:t>
                </a:r>
                <a:r>
                  <a:rPr lang="en-US" b="0" i="0" dirty="0">
                    <a:solidFill>
                      <a:schemeClr val="tx1"/>
                    </a:solidFill>
                    <a:effectLst/>
                    <a:latin typeface="Söhne"/>
                  </a:rPr>
                  <a:t>This constraint ensures that the probabilities assigned to all pure strategies sum to 1, meaning that Player B must choose a strategy with certainty.</a:t>
                </a:r>
              </a:p>
              <a:p>
                <a:pPr marL="1208265" lvl="2" indent="-241653">
                  <a:buFont typeface="+mj-lt"/>
                  <a:buAutoNum type="arabicPeriod"/>
                </a:pPr>
                <a14:m>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𝑗</m:t>
                    </m:r>
                    <m:r>
                      <a:rPr lang="en-U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0</m:t>
                    </m:r>
                    <m:r>
                      <a:rPr lang="en-US" b="0" i="1" smtClean="0">
                        <a:solidFill>
                          <a:schemeClr val="tx1"/>
                        </a:solidFill>
                        <a:latin typeface="Cambria Math" panose="02040503050406030204" pitchFamily="18" charset="0"/>
                        <a:ea typeface="Cambria Math" panose="02040503050406030204" pitchFamily="18" charset="0"/>
                      </a:rPr>
                      <m:t>≤</m:t>
                    </m:r>
                    <m:sSub>
                      <m:sSubPr>
                        <m:ctrlPr>
                          <a:rPr lang="ar-YE" b="0" i="1" smtClean="0">
                            <a:solidFill>
                              <a:schemeClr val="tx1"/>
                            </a:solidFill>
                            <a:latin typeface="Cambria Math" panose="02040503050406030204" pitchFamily="18" charset="0"/>
                            <a:ea typeface="Cambria Math" panose="02040503050406030204" pitchFamily="18" charset="0"/>
                          </a:rPr>
                        </m:ctrlPr>
                      </m:sSubPr>
                      <m:e>
                        <m:r>
                          <a:rPr lang="ar-YE" b="0" i="1" smtClean="0">
                            <a:solidFill>
                              <a:schemeClr val="tx1"/>
                            </a:solidFill>
                            <a:latin typeface="Cambria Math" panose="02040503050406030204" pitchFamily="18" charset="0"/>
                            <a:ea typeface="Cambria Math" panose="02040503050406030204" pitchFamily="18" charset="0"/>
                          </a:rPr>
                          <m:t>𝑦</m:t>
                        </m:r>
                      </m:e>
                      <m:sub>
                        <m:r>
                          <a:rPr lang="en-US" b="0" i="1" smtClean="0">
                            <a:solidFill>
                              <a:schemeClr val="tx1"/>
                            </a:solidFill>
                            <a:latin typeface="Cambria Math" panose="02040503050406030204" pitchFamily="18" charset="0"/>
                            <a:ea typeface="Cambria Math" panose="02040503050406030204" pitchFamily="18" charset="0"/>
                          </a:rPr>
                          <m:t>𝑗</m:t>
                        </m:r>
                      </m:sub>
                    </m:sSub>
                    <m:r>
                      <a:rPr lang="ar-YE" b="0" i="1" smtClean="0">
                        <a:solidFill>
                          <a:schemeClr val="tx1"/>
                        </a:solidFill>
                        <a:latin typeface="Cambria Math" panose="02040503050406030204" pitchFamily="18" charset="0"/>
                        <a:ea typeface="Cambria Math" panose="02040503050406030204" pitchFamily="18" charset="0"/>
                      </a:rPr>
                      <m:t>≤</m:t>
                    </m:r>
                    <m:r>
                      <a:rPr lang="ar-YE" b="0" i="1" smtClean="0">
                        <a:solidFill>
                          <a:schemeClr val="tx1"/>
                        </a:solidFill>
                        <a:latin typeface="Cambria Math" panose="02040503050406030204" pitchFamily="18" charset="0"/>
                        <a:ea typeface="Cambria Math" panose="02040503050406030204" pitchFamily="18" charset="0"/>
                      </a:rPr>
                      <m:t>1</m:t>
                    </m:r>
                  </m:oMath>
                </a14:m>
                <a:r>
                  <a:rPr lang="ar-YE" b="0" i="0" dirty="0">
                    <a:solidFill>
                      <a:schemeClr val="tx1"/>
                    </a:solidFill>
                    <a:effectLst/>
                    <a:latin typeface="Söhne"/>
                  </a:rPr>
                  <a:t>: </a:t>
                </a:r>
                <a:r>
                  <a:rPr lang="en-US" b="0" i="0" dirty="0">
                    <a:solidFill>
                      <a:schemeClr val="tx1"/>
                    </a:solidFill>
                    <a:effectLst/>
                    <a:latin typeface="Söhne"/>
                  </a:rPr>
                  <a:t>These constraints ensure that the probabilities </a:t>
                </a:r>
                <a14:m>
                  <m:oMath xmlns:m="http://schemas.openxmlformats.org/officeDocument/2006/math">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𝑦</m:t>
                        </m:r>
                      </m:e>
                      <m:sub>
                        <m:r>
                          <a:rPr lang="en-US" b="0" i="1" smtClean="0">
                            <a:solidFill>
                              <a:schemeClr val="tx1"/>
                            </a:solidFill>
                            <a:latin typeface="Cambria Math" panose="02040503050406030204" pitchFamily="18" charset="0"/>
                          </a:rPr>
                          <m:t>𝑗</m:t>
                        </m:r>
                      </m:sub>
                    </m:sSub>
                  </m:oMath>
                </a14:m>
                <a:r>
                  <a:rPr lang="ar-YE" b="0" i="0" dirty="0">
                    <a:solidFill>
                      <a:schemeClr val="tx1"/>
                    </a:solidFill>
                    <a:effectLst/>
                    <a:latin typeface="Söhne"/>
                  </a:rPr>
                  <a:t> </a:t>
                </a:r>
                <a:r>
                  <a:rPr lang="en-US" b="0" i="0" dirty="0">
                    <a:solidFill>
                      <a:schemeClr val="tx1"/>
                    </a:solidFill>
                    <a:effectLst/>
                    <a:latin typeface="Söhne"/>
                  </a:rPr>
                  <a:t>are non-negative and bounded between 0 and 1.</a:t>
                </a:r>
              </a:p>
              <a:p>
                <a:pPr algn="l"/>
                <a:r>
                  <a:rPr lang="en-US" b="0" i="0" dirty="0">
                    <a:solidFill>
                      <a:schemeClr val="tx1"/>
                    </a:solidFill>
                    <a:effectLst/>
                    <a:latin typeface="Söhne"/>
                  </a:rPr>
                  <a:t>The overall goal of Player B is to find the optimal set of probabilities </a:t>
                </a:r>
                <a14:m>
                  <m:oMath xmlns:m="http://schemas.openxmlformats.org/officeDocument/2006/math">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𝑦</m:t>
                        </m:r>
                      </m:e>
                      <m:sub>
                        <m:r>
                          <a:rPr lang="ar-YE" b="0" i="1" smtClean="0">
                            <a:solidFill>
                              <a:schemeClr val="tx1"/>
                            </a:solidFill>
                            <a:latin typeface="Cambria Math" panose="02040503050406030204" pitchFamily="18" charset="0"/>
                          </a:rPr>
                          <m:t>𝑖</m:t>
                        </m:r>
                      </m:sub>
                    </m:sSub>
                  </m:oMath>
                </a14:m>
                <a:r>
                  <a:rPr lang="ar-YE" b="0" i="0" dirty="0">
                    <a:solidFill>
                      <a:schemeClr val="tx1"/>
                    </a:solidFill>
                    <a:effectLst/>
                    <a:latin typeface="Söhne"/>
                  </a:rPr>
                  <a:t> </a:t>
                </a:r>
                <a:r>
                  <a:rPr lang="en-US" b="0" i="0" dirty="0">
                    <a:solidFill>
                      <a:schemeClr val="tx1"/>
                    </a:solidFill>
                    <a:effectLst/>
                    <a:latin typeface="Söhne"/>
                  </a:rPr>
                  <a:t>that minimize the maximum expected payoff for Player A across all of Player B's possible strategies. This corresponds to finding a Nash Equilibrium, where both players have no incentive to unilaterally change their strategies.</a:t>
                </a:r>
              </a:p>
              <a:p>
                <a:pPr algn="l"/>
                <a:r>
                  <a:rPr lang="en-US" b="0" i="0" dirty="0">
                    <a:solidFill>
                      <a:schemeClr val="tx1"/>
                    </a:solidFill>
                    <a:effectLst/>
                    <a:latin typeface="Söhne"/>
                  </a:rPr>
                  <a:t>This linear programming formulation provides a systematic way to calculate Player B's optimal mixed strategy, which, when combined with Player A's strategy, defines a Nash Equilibrium in the zero-sum game.</a:t>
                </a:r>
              </a:p>
              <a:p>
                <a:endParaRPr lang="en-US" b="0" i="0" dirty="0">
                  <a:solidFill>
                    <a:schemeClr val="tx1"/>
                  </a:solidFill>
                  <a:effectLst/>
                  <a:latin typeface="Söhne"/>
                </a:endParaRPr>
              </a:p>
              <a:p>
                <a:r>
                  <a:rPr lang="en-US" b="0" i="0" dirty="0">
                    <a:solidFill>
                      <a:schemeClr val="tx1"/>
                    </a:solidFill>
                    <a:effectLst/>
                    <a:latin typeface="Söhne"/>
                  </a:rPr>
                  <a:t>--------------------------------------------------------------</a:t>
                </a:r>
              </a:p>
              <a:p>
                <a:pPr algn="l"/>
                <a:r>
                  <a:rPr lang="en-US" b="0" i="0" dirty="0">
                    <a:solidFill>
                      <a:schemeClr val="tx1"/>
                    </a:solidFill>
                    <a:effectLst/>
                    <a:latin typeface="Söhne"/>
                  </a:rPr>
                  <a:t>Another way to express the linear programming (LP) problem used to find the optimal mixed strategy for Player B in a two-player zero-sum game. This formulation follows the same principles as the previous one, with slight differences in notation. Let's break down the components of this linear programming problem:</a:t>
                </a:r>
              </a:p>
              <a:p>
                <a:pPr algn="l"/>
                <a:r>
                  <a:rPr lang="en-US" b="1" i="0" dirty="0">
                    <a:solidFill>
                      <a:schemeClr val="tx1"/>
                    </a:solidFill>
                    <a:effectLst/>
                    <a:latin typeface="Söhne"/>
                  </a:rPr>
                  <a:t>Objective Function</a:t>
                </a:r>
                <a:r>
                  <a:rPr lang="en-US" b="0" i="0" dirty="0">
                    <a:solidFill>
                      <a:schemeClr val="tx1"/>
                    </a:solidFill>
                    <a:effectLst/>
                    <a:latin typeface="Söhne"/>
                  </a:rPr>
                  <a:t>:</a:t>
                </a:r>
              </a:p>
              <a:p>
                <a:pPr algn="l">
                  <a:buFont typeface="Arial" panose="020B0604020202020204" pitchFamily="34" charset="0"/>
                  <a:buChar char="•"/>
                </a:pPr>
                <a:r>
                  <a:rPr lang="en-US" b="0" i="0" dirty="0">
                    <a:solidFill>
                      <a:schemeClr val="tx1"/>
                    </a:solidFill>
                    <a:effectLst/>
                    <a:latin typeface="Söhne"/>
                  </a:rPr>
                  <a:t>Objective: Player B (the column player) wants to minimize a variable z'.</a:t>
                </a:r>
              </a:p>
              <a:p>
                <a:pPr algn="l">
                  <a:buFont typeface="Arial" panose="020B0604020202020204" pitchFamily="34" charset="0"/>
                  <a:buChar char="•"/>
                </a:pPr>
                <a:r>
                  <a:rPr lang="en-US" b="0" i="0" dirty="0">
                    <a:solidFill>
                      <a:schemeClr val="tx1"/>
                    </a:solidFill>
                    <a:effectLst/>
                    <a:latin typeface="Söhne"/>
                  </a:rPr>
                  <a:t>Objective Function: minimize z'</a:t>
                </a:r>
              </a:p>
              <a:p>
                <a:pPr algn="l"/>
                <a:r>
                  <a:rPr lang="en-US" b="1" i="0" dirty="0">
                    <a:solidFill>
                      <a:schemeClr val="tx1"/>
                    </a:solidFill>
                    <a:effectLst/>
                    <a:latin typeface="Söhne"/>
                  </a:rPr>
                  <a:t>Constraints</a:t>
                </a:r>
                <a:r>
                  <a:rPr lang="en-US" b="0" i="0" dirty="0">
                    <a:solidFill>
                      <a:schemeClr val="tx1"/>
                    </a:solidFill>
                    <a:effectLst/>
                    <a:latin typeface="Söhne"/>
                  </a:rPr>
                  <a:t>:</a:t>
                </a:r>
              </a:p>
              <a:p>
                <a:pPr algn="l">
                  <a:buFont typeface="Arial" panose="020B0604020202020204" pitchFamily="34" charset="0"/>
                  <a:buChar char="•"/>
                </a:pPr>
                <a:r>
                  <a:rPr lang="en-US" b="0" i="0" dirty="0">
                    <a:solidFill>
                      <a:schemeClr val="tx1"/>
                    </a:solidFill>
                    <a:effectLst/>
                    <a:latin typeface="Söhne"/>
                  </a:rPr>
                  <a:t>The constraints ensure that Player B's strategy is a valid probability distribution (i.e., probabilities sum to 1 and are non-negative) and that Player B's expected payoff is at least as good as the payoff Player A can achieve for each pure strategy:</a:t>
                </a:r>
              </a:p>
              <a:p>
                <a:pPr marL="785372" lvl="1" indent="-302066">
                  <a:buFont typeface="Arial" panose="020B0604020202020204" pitchFamily="34" charset="0"/>
                  <a:buChar char="•"/>
                </a:pPr>
                <a:r>
                  <a:rPr lang="en-US" b="0" i="0" dirty="0">
                    <a:solidFill>
                      <a:schemeClr val="tx1"/>
                    </a:solidFill>
                    <a:effectLst/>
                    <a:latin typeface="Söhne"/>
                  </a:rPr>
                  <a:t>For each pure strategy </a:t>
                </a:r>
                <a14:m>
                  <m:oMath xmlns:m="http://schemas.openxmlformats.org/officeDocument/2006/math">
                    <m:r>
                      <a:rPr lang="en-US" b="0" i="1" dirty="0" smtClean="0">
                        <a:solidFill>
                          <a:schemeClr val="tx1"/>
                        </a:solidFill>
                        <a:effectLst/>
                        <a:latin typeface="Cambria Math" panose="02040503050406030204" pitchFamily="18" charset="0"/>
                      </a:rPr>
                      <m:t>𝑖</m:t>
                    </m:r>
                  </m:oMath>
                </a14:m>
                <a:r>
                  <a:rPr lang="en-US" b="0" i="0" dirty="0">
                    <a:solidFill>
                      <a:schemeClr val="tx1"/>
                    </a:solidFill>
                    <a:effectLst/>
                    <a:latin typeface="Söhne"/>
                  </a:rPr>
                  <a:t> of Player B:</a:t>
                </a:r>
              </a:p>
              <a:p>
                <a:pPr marL="1208265" lvl="2" indent="-241653">
                  <a:buFont typeface="Arial" panose="020B0604020202020204" pitchFamily="34" charset="0"/>
                  <a:buChar char="•"/>
                </a:pPr>
                <a14:m>
                  <m:oMath xmlns:m="http://schemas.openxmlformats.org/officeDocument/2006/math">
                    <m:sSup>
                      <m:sSupPr>
                        <m:ctrlPr>
                          <a:rPr lang="ar-YE" b="0" i="1" smtClean="0">
                            <a:solidFill>
                              <a:schemeClr val="tx1"/>
                            </a:solidFill>
                            <a:latin typeface="Cambria Math" panose="02040503050406030204" pitchFamily="18" charset="0"/>
                          </a:rPr>
                        </m:ctrlPr>
                      </m:sSupPr>
                      <m:e>
                        <m:r>
                          <a:rPr lang="ar-YE" b="0" i="1" smtClean="0">
                            <a:solidFill>
                              <a:schemeClr val="tx1"/>
                            </a:solidFill>
                            <a:latin typeface="Cambria Math" panose="02040503050406030204" pitchFamily="18" charset="0"/>
                          </a:rPr>
                          <m:t>𝑧</m:t>
                        </m:r>
                      </m:e>
                      <m:sup>
                        <m:r>
                          <a:rPr lang="ar-YE" b="0" i="1" smtClean="0">
                            <a:solidFill>
                              <a:schemeClr val="tx1"/>
                            </a:solidFill>
                            <a:latin typeface="Cambria Math" panose="02040503050406030204" pitchFamily="18" charset="0"/>
                          </a:rPr>
                          <m:t>′</m:t>
                        </m:r>
                      </m:sup>
                    </m:sSup>
                    <m:r>
                      <a:rPr lang="ar-YE" b="0" i="1" smtClean="0">
                        <a:solidFill>
                          <a:schemeClr val="tx1"/>
                        </a:solidFill>
                        <a:latin typeface="Cambria Math" panose="02040503050406030204" pitchFamily="18" charset="0"/>
                      </a:rPr>
                      <m:t>−</m:t>
                    </m:r>
                    <m:nary>
                      <m:naryPr>
                        <m:chr m:val="∑"/>
                        <m:ctrlPr>
                          <a:rPr lang="ar-YE" b="0" i="1" smtClean="0">
                            <a:solidFill>
                              <a:schemeClr val="tx1"/>
                            </a:solidFill>
                            <a:latin typeface="Cambria Math" panose="02040503050406030204" pitchFamily="18" charset="0"/>
                          </a:rPr>
                        </m:ctrlPr>
                      </m:naryPr>
                      <m:sub>
                        <m:r>
                          <m:rPr>
                            <m:brk m:alnAt="23"/>
                          </m:rPr>
                          <a:rPr lang="ar-YE" b="0" i="1" smtClean="0">
                            <a:solidFill>
                              <a:schemeClr val="tx1"/>
                            </a:solidFill>
                            <a:latin typeface="Cambria Math" panose="02040503050406030204" pitchFamily="18" charset="0"/>
                          </a:rPr>
                          <m:t>𝑗</m:t>
                        </m:r>
                        <m:r>
                          <a:rPr lang="ar-YE" b="0" i="1" smtClean="0">
                            <a:solidFill>
                              <a:schemeClr val="tx1"/>
                            </a:solidFill>
                            <a:latin typeface="Cambria Math" panose="02040503050406030204" pitchFamily="18" charset="0"/>
                          </a:rPr>
                          <m:t>=</m:t>
                        </m:r>
                        <m:r>
                          <a:rPr lang="ar-YE" b="0" i="1" smtClean="0">
                            <a:solidFill>
                              <a:schemeClr val="tx1"/>
                            </a:solidFill>
                            <a:latin typeface="Cambria Math" panose="02040503050406030204" pitchFamily="18" charset="0"/>
                          </a:rPr>
                          <m:t>1</m:t>
                        </m:r>
                      </m:sub>
                      <m:sup>
                        <m:r>
                          <a:rPr lang="ar-YE" b="0" i="1" smtClean="0">
                            <a:solidFill>
                              <a:schemeClr val="tx1"/>
                            </a:solidFill>
                            <a:latin typeface="Cambria Math" panose="02040503050406030204" pitchFamily="18" charset="0"/>
                          </a:rPr>
                          <m:t>𝑛</m:t>
                        </m:r>
                      </m:sup>
                      <m:e>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𝑎</m:t>
                            </m:r>
                          </m:e>
                          <m:sub>
                            <m:r>
                              <a:rPr lang="ar-YE" b="0" i="1" smtClean="0">
                                <a:solidFill>
                                  <a:schemeClr val="tx1"/>
                                </a:solidFill>
                                <a:latin typeface="Cambria Math" panose="02040503050406030204" pitchFamily="18" charset="0"/>
                              </a:rPr>
                              <m:t>𝑖</m:t>
                            </m:r>
                            <m:r>
                              <a:rPr lang="ar-YE" b="0" i="1" smtClean="0">
                                <a:solidFill>
                                  <a:schemeClr val="tx1"/>
                                </a:solidFill>
                                <a:latin typeface="Cambria Math" panose="02040503050406030204" pitchFamily="18" charset="0"/>
                              </a:rPr>
                              <m:t>,</m:t>
                            </m:r>
                            <m:r>
                              <a:rPr lang="ar-YE" b="0" i="1" smtClean="0">
                                <a:solidFill>
                                  <a:schemeClr val="tx1"/>
                                </a:solidFill>
                                <a:latin typeface="Cambria Math" panose="02040503050406030204" pitchFamily="18" charset="0"/>
                              </a:rPr>
                              <m:t>𝑗</m:t>
                            </m:r>
                          </m:sub>
                        </m:sSub>
                        <m:r>
                          <a:rPr lang="ar-YE" b="0" i="1" smtClean="0">
                            <a:solidFill>
                              <a:schemeClr val="tx1"/>
                            </a:solidFill>
                            <a:latin typeface="Cambria Math" panose="02040503050406030204" pitchFamily="18" charset="0"/>
                          </a:rPr>
                          <m:t> . </m:t>
                        </m:r>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𝑦</m:t>
                            </m:r>
                          </m:e>
                          <m:sub>
                            <m:r>
                              <a:rPr lang="ar-YE" b="0" i="1" smtClean="0">
                                <a:solidFill>
                                  <a:schemeClr val="tx1"/>
                                </a:solidFill>
                                <a:latin typeface="Cambria Math" panose="02040503050406030204" pitchFamily="18" charset="0"/>
                              </a:rPr>
                              <m:t>𝑖</m:t>
                            </m:r>
                          </m:sub>
                        </m:sSub>
                      </m:e>
                    </m:nary>
                    <m:r>
                      <a:rPr lang="ar-YE" i="1" smtClean="0">
                        <a:solidFill>
                          <a:schemeClr val="tx1"/>
                        </a:solidFill>
                        <a:latin typeface="Cambria Math" panose="02040503050406030204" pitchFamily="18" charset="0"/>
                        <a:ea typeface="Cambria Math" panose="02040503050406030204" pitchFamily="18" charset="0"/>
                      </a:rPr>
                      <m:t>≥</m:t>
                    </m:r>
                    <m:r>
                      <a:rPr lang="ar-YE" b="0" i="1" smtClean="0">
                        <a:solidFill>
                          <a:schemeClr val="tx1"/>
                        </a:solidFill>
                        <a:latin typeface="Cambria Math" panose="02040503050406030204" pitchFamily="18" charset="0"/>
                        <a:ea typeface="Cambria Math" panose="02040503050406030204" pitchFamily="18" charset="0"/>
                      </a:rPr>
                      <m:t>0</m:t>
                    </m:r>
                    <m:r>
                      <a:rPr lang="ar-YE" b="0" i="1" smtClean="0">
                        <a:solidFill>
                          <a:schemeClr val="tx1"/>
                        </a:solidFill>
                        <a:latin typeface="Cambria Math" panose="02040503050406030204" pitchFamily="18" charset="0"/>
                        <a:ea typeface="Cambria Math" panose="02040503050406030204" pitchFamily="18" charset="0"/>
                      </a:rPr>
                      <m:t> </m:t>
                    </m:r>
                  </m:oMath>
                </a14:m>
                <a:r>
                  <a:rPr lang="ar-YE" b="0" i="0" dirty="0">
                    <a:solidFill>
                      <a:schemeClr val="tx1"/>
                    </a:solidFill>
                    <a:effectLst/>
                    <a:latin typeface="Söhne"/>
                  </a:rPr>
                  <a:t>: </a:t>
                </a:r>
                <a:r>
                  <a:rPr lang="en-US" b="0" i="0" dirty="0">
                    <a:solidFill>
                      <a:schemeClr val="tx1"/>
                    </a:solidFill>
                    <a:effectLst/>
                    <a:latin typeface="Söhne"/>
                  </a:rPr>
                  <a:t>This constraint ensures that Player B's expected payoff (expressed as </a:t>
                </a:r>
                <a14:m>
                  <m:oMath xmlns:m="http://schemas.openxmlformats.org/officeDocument/2006/math">
                    <m:nary>
                      <m:naryPr>
                        <m:chr m:val="∑"/>
                        <m:ctrlPr>
                          <a:rPr lang="ar-YE" b="0" i="1" smtClean="0">
                            <a:solidFill>
                              <a:schemeClr val="tx1"/>
                            </a:solidFill>
                            <a:latin typeface="Cambria Math" panose="02040503050406030204" pitchFamily="18" charset="0"/>
                          </a:rPr>
                        </m:ctrlPr>
                      </m:naryPr>
                      <m:sub>
                        <m:r>
                          <m:rPr>
                            <m:brk m:alnAt="23"/>
                          </m:rPr>
                          <a:rPr lang="ar-YE" b="0" i="1" smtClean="0">
                            <a:solidFill>
                              <a:schemeClr val="tx1"/>
                            </a:solidFill>
                            <a:latin typeface="Cambria Math" panose="02040503050406030204" pitchFamily="18" charset="0"/>
                          </a:rPr>
                          <m:t>𝑗</m:t>
                        </m:r>
                        <m:r>
                          <a:rPr lang="ar-YE" b="0" i="1" smtClean="0">
                            <a:solidFill>
                              <a:schemeClr val="tx1"/>
                            </a:solidFill>
                            <a:latin typeface="Cambria Math" panose="02040503050406030204" pitchFamily="18" charset="0"/>
                          </a:rPr>
                          <m:t>=</m:t>
                        </m:r>
                        <m:r>
                          <a:rPr lang="ar-YE" b="0" i="1" smtClean="0">
                            <a:solidFill>
                              <a:schemeClr val="tx1"/>
                            </a:solidFill>
                            <a:latin typeface="Cambria Math" panose="02040503050406030204" pitchFamily="18" charset="0"/>
                          </a:rPr>
                          <m:t>1</m:t>
                        </m:r>
                      </m:sub>
                      <m:sup>
                        <m:r>
                          <a:rPr lang="ar-YE" b="0" i="1" smtClean="0">
                            <a:solidFill>
                              <a:schemeClr val="tx1"/>
                            </a:solidFill>
                            <a:latin typeface="Cambria Math" panose="02040503050406030204" pitchFamily="18" charset="0"/>
                          </a:rPr>
                          <m:t>𝑛</m:t>
                        </m:r>
                      </m:sup>
                      <m:e>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𝑎</m:t>
                            </m:r>
                          </m:e>
                          <m:sub>
                            <m:r>
                              <a:rPr lang="ar-YE" b="0" i="1" smtClean="0">
                                <a:solidFill>
                                  <a:schemeClr val="tx1"/>
                                </a:solidFill>
                                <a:latin typeface="Cambria Math" panose="02040503050406030204" pitchFamily="18" charset="0"/>
                              </a:rPr>
                              <m:t>𝑖</m:t>
                            </m:r>
                            <m:r>
                              <a:rPr lang="ar-YE" b="0" i="1" smtClean="0">
                                <a:solidFill>
                                  <a:schemeClr val="tx1"/>
                                </a:solidFill>
                                <a:latin typeface="Cambria Math" panose="02040503050406030204" pitchFamily="18" charset="0"/>
                              </a:rPr>
                              <m:t>,</m:t>
                            </m:r>
                            <m:r>
                              <a:rPr lang="ar-YE" b="0" i="1" smtClean="0">
                                <a:solidFill>
                                  <a:schemeClr val="tx1"/>
                                </a:solidFill>
                                <a:latin typeface="Cambria Math" panose="02040503050406030204" pitchFamily="18" charset="0"/>
                              </a:rPr>
                              <m:t>𝑗</m:t>
                            </m:r>
                          </m:sub>
                        </m:sSub>
                        <m:r>
                          <a:rPr lang="ar-YE" b="0" i="1" smtClean="0">
                            <a:solidFill>
                              <a:schemeClr val="tx1"/>
                            </a:solidFill>
                            <a:latin typeface="Cambria Math" panose="02040503050406030204" pitchFamily="18" charset="0"/>
                          </a:rPr>
                          <m:t> . </m:t>
                        </m:r>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𝑦</m:t>
                            </m:r>
                          </m:e>
                          <m:sub>
                            <m:r>
                              <a:rPr lang="ar-YE" b="0" i="1" smtClean="0">
                                <a:solidFill>
                                  <a:schemeClr val="tx1"/>
                                </a:solidFill>
                                <a:latin typeface="Cambria Math" panose="02040503050406030204" pitchFamily="18" charset="0"/>
                              </a:rPr>
                              <m:t>𝑖</m:t>
                            </m:r>
                          </m:sub>
                        </m:sSub>
                      </m:e>
                    </m:nary>
                    <m:r>
                      <a:rPr lang="ar-YE" b="0" i="1" smtClean="0">
                        <a:solidFill>
                          <a:schemeClr val="tx1"/>
                        </a:solidFill>
                        <a:latin typeface="Cambria Math" panose="02040503050406030204" pitchFamily="18" charset="0"/>
                        <a:ea typeface="Cambria Math" panose="02040503050406030204" pitchFamily="18" charset="0"/>
                      </a:rPr>
                      <m:t> </m:t>
                    </m:r>
                  </m:oMath>
                </a14:m>
                <a:r>
                  <a:rPr lang="ar-YE" b="0" i="0" dirty="0">
                    <a:solidFill>
                      <a:schemeClr val="tx1"/>
                    </a:solidFill>
                    <a:effectLst/>
                    <a:latin typeface="Söhne"/>
                  </a:rPr>
                  <a:t>) </a:t>
                </a:r>
                <a:r>
                  <a:rPr lang="en-US" b="0" i="0" dirty="0">
                    <a:solidFill>
                      <a:schemeClr val="tx1"/>
                    </a:solidFill>
                    <a:effectLst/>
                    <a:latin typeface="Söhne"/>
                  </a:rPr>
                  <a:t>is at least as good as the payoff Player A can achieve when both players use their respective mixed strategies.</a:t>
                </a:r>
              </a:p>
              <a:p>
                <a:pPr marL="785372" lvl="1" indent="-302066">
                  <a:buFont typeface="Arial" panose="020B0604020202020204" pitchFamily="34" charset="0"/>
                  <a:buChar char="•"/>
                </a:pPr>
                <a14:m>
                  <m:oMath xmlns:m="http://schemas.openxmlformats.org/officeDocument/2006/math">
                    <m:nary>
                      <m:naryPr>
                        <m:chr m:val="∑"/>
                        <m:ctrlPr>
                          <a:rPr lang="ar-YE" i="1" smtClean="0">
                            <a:solidFill>
                              <a:schemeClr val="tx1"/>
                            </a:solidFill>
                            <a:latin typeface="Cambria Math" panose="02040503050406030204" pitchFamily="18" charset="0"/>
                          </a:rPr>
                        </m:ctrlPr>
                      </m:naryPr>
                      <m:sub>
                        <m:r>
                          <m:rPr>
                            <m:brk m:alnAt="23"/>
                          </m:rPr>
                          <a:rPr lang="ar-YE" b="0" i="1" smtClean="0">
                            <a:solidFill>
                              <a:schemeClr val="tx1"/>
                            </a:solidFill>
                            <a:latin typeface="Cambria Math" panose="02040503050406030204" pitchFamily="18" charset="0"/>
                          </a:rPr>
                          <m:t>𝑗</m:t>
                        </m:r>
                        <m:r>
                          <a:rPr lang="ar-YE" b="0" i="1" smtClean="0">
                            <a:solidFill>
                              <a:schemeClr val="tx1"/>
                            </a:solidFill>
                            <a:latin typeface="Cambria Math" panose="02040503050406030204" pitchFamily="18" charset="0"/>
                          </a:rPr>
                          <m:t>=</m:t>
                        </m:r>
                        <m:r>
                          <a:rPr lang="ar-YE" b="0" i="1" smtClean="0">
                            <a:solidFill>
                              <a:schemeClr val="tx1"/>
                            </a:solidFill>
                            <a:latin typeface="Cambria Math" panose="02040503050406030204" pitchFamily="18" charset="0"/>
                          </a:rPr>
                          <m:t>1</m:t>
                        </m:r>
                      </m:sub>
                      <m:sup>
                        <m:r>
                          <a:rPr lang="ar-YE" b="0" i="1" smtClean="0">
                            <a:solidFill>
                              <a:schemeClr val="tx1"/>
                            </a:solidFill>
                            <a:latin typeface="Cambria Math" panose="02040503050406030204" pitchFamily="18" charset="0"/>
                          </a:rPr>
                          <m:t>𝑛</m:t>
                        </m:r>
                      </m:sup>
                      <m:e>
                        <m:sSub>
                          <m:sSubPr>
                            <m:ctrlPr>
                              <a:rPr lang="ar-YE" b="0" i="1" smtClean="0">
                                <a:solidFill>
                                  <a:schemeClr val="tx1"/>
                                </a:solidFill>
                                <a:latin typeface="Cambria Math" panose="02040503050406030204" pitchFamily="18" charset="0"/>
                              </a:rPr>
                            </m:ctrlPr>
                          </m:sSubPr>
                          <m:e>
                            <m:r>
                              <a:rPr lang="ar-YE" b="0" i="1" smtClean="0">
                                <a:solidFill>
                                  <a:schemeClr val="tx1"/>
                                </a:solidFill>
                                <a:latin typeface="Cambria Math" panose="02040503050406030204" pitchFamily="18" charset="0"/>
                              </a:rPr>
                              <m:t>𝑦</m:t>
                            </m:r>
                          </m:e>
                          <m:sub>
                            <m:r>
                              <a:rPr lang="ar-YE" b="0" i="1" smtClean="0">
                                <a:solidFill>
                                  <a:schemeClr val="tx1"/>
                                </a:solidFill>
                                <a:latin typeface="Cambria Math" panose="02040503050406030204" pitchFamily="18" charset="0"/>
                              </a:rPr>
                              <m:t>𝑖</m:t>
                            </m:r>
                          </m:sub>
                        </m:sSub>
                      </m:e>
                    </m:nary>
                    <m:r>
                      <a:rPr lang="ar-YE" b="0" i="0" smtClean="0">
                        <a:solidFill>
                          <a:schemeClr val="tx1"/>
                        </a:solidFill>
                        <a:latin typeface="Cambria Math" panose="02040503050406030204" pitchFamily="18" charset="0"/>
                      </a:rPr>
                      <m:t>=</m:t>
                    </m:r>
                    <m:r>
                      <a:rPr lang="ar-YE" b="0" i="0" smtClean="0">
                        <a:solidFill>
                          <a:schemeClr val="tx1"/>
                        </a:solidFill>
                        <a:latin typeface="Cambria Math" panose="02040503050406030204" pitchFamily="18" charset="0"/>
                      </a:rPr>
                      <m:t>1</m:t>
                    </m:r>
                  </m:oMath>
                </a14:m>
                <a:r>
                  <a:rPr lang="ar-YE" b="0" i="0" dirty="0">
                    <a:solidFill>
                      <a:schemeClr val="tx1"/>
                    </a:solidFill>
                    <a:effectLst/>
                    <a:latin typeface="Söhne"/>
                  </a:rPr>
                  <a:t>: </a:t>
                </a:r>
                <a:r>
                  <a:rPr lang="en-US" b="0" i="0" dirty="0">
                    <a:solidFill>
                      <a:schemeClr val="tx1"/>
                    </a:solidFill>
                    <a:effectLst/>
                    <a:latin typeface="Söhne"/>
                  </a:rPr>
                  <a:t>This constraint ensures that the probabilities assigned to all pure strategies sum to 1, meaning that Player B must choose a strategy with certainty.</a:t>
                </a:r>
              </a:p>
              <a:p>
                <a:pPr marL="785372" lvl="1" indent="-302066">
                  <a:buFont typeface="Arial" panose="020B0604020202020204" pitchFamily="34" charset="0"/>
                  <a:buChar char="•"/>
                </a:pPr>
                <a14:m>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𝑗</m:t>
                    </m:r>
                    <m:r>
                      <a:rPr lang="en-US" b="0" i="1" smtClean="0">
                        <a:solidFill>
                          <a:schemeClr val="tx1"/>
                        </a:solidFill>
                        <a:latin typeface="Cambria Math" panose="02040503050406030204" pitchFamily="18" charset="0"/>
                        <a:ea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0</m:t>
                    </m:r>
                    <m:r>
                      <a:rPr lang="en-US" b="0" i="1" smtClean="0">
                        <a:solidFill>
                          <a:schemeClr val="tx1"/>
                        </a:solidFill>
                        <a:latin typeface="Cambria Math" panose="02040503050406030204" pitchFamily="18" charset="0"/>
                        <a:ea typeface="Cambria Math" panose="02040503050406030204" pitchFamily="18" charset="0"/>
                      </a:rPr>
                      <m:t>≤</m:t>
                    </m:r>
                    <m:sSub>
                      <m:sSubPr>
                        <m:ctrlPr>
                          <a:rPr lang="ar-YE" b="0" i="1" smtClean="0">
                            <a:solidFill>
                              <a:schemeClr val="tx1"/>
                            </a:solidFill>
                            <a:latin typeface="Cambria Math" panose="02040503050406030204" pitchFamily="18" charset="0"/>
                            <a:ea typeface="Cambria Math" panose="02040503050406030204" pitchFamily="18" charset="0"/>
                          </a:rPr>
                        </m:ctrlPr>
                      </m:sSubPr>
                      <m:e>
                        <m:r>
                          <a:rPr lang="ar-YE" b="0" i="1" smtClean="0">
                            <a:solidFill>
                              <a:schemeClr val="tx1"/>
                            </a:solidFill>
                            <a:latin typeface="Cambria Math" panose="02040503050406030204" pitchFamily="18" charset="0"/>
                            <a:ea typeface="Cambria Math" panose="02040503050406030204" pitchFamily="18" charset="0"/>
                          </a:rPr>
                          <m:t>𝑦</m:t>
                        </m:r>
                      </m:e>
                      <m:sub>
                        <m:r>
                          <a:rPr lang="ar-YE" b="0" i="1" smtClean="0">
                            <a:solidFill>
                              <a:schemeClr val="tx1"/>
                            </a:solidFill>
                            <a:latin typeface="Cambria Math" panose="02040503050406030204" pitchFamily="18" charset="0"/>
                            <a:ea typeface="Cambria Math" panose="02040503050406030204" pitchFamily="18" charset="0"/>
                          </a:rPr>
                          <m:t>𝑖</m:t>
                        </m:r>
                      </m:sub>
                    </m:sSub>
                    <m:r>
                      <a:rPr lang="ar-YE" b="0" i="1" smtClean="0">
                        <a:solidFill>
                          <a:schemeClr val="tx1"/>
                        </a:solidFill>
                        <a:latin typeface="Cambria Math" panose="02040503050406030204" pitchFamily="18" charset="0"/>
                        <a:ea typeface="Cambria Math" panose="02040503050406030204" pitchFamily="18" charset="0"/>
                      </a:rPr>
                      <m:t>≤</m:t>
                    </m:r>
                    <m:r>
                      <a:rPr lang="ar-YE" b="0" i="1" smtClean="0">
                        <a:solidFill>
                          <a:schemeClr val="tx1"/>
                        </a:solidFill>
                        <a:latin typeface="Cambria Math" panose="02040503050406030204" pitchFamily="18" charset="0"/>
                        <a:ea typeface="Cambria Math" panose="02040503050406030204" pitchFamily="18" charset="0"/>
                      </a:rPr>
                      <m:t>1</m:t>
                    </m:r>
                  </m:oMath>
                </a14:m>
                <a:r>
                  <a:rPr lang="ar-YE" b="0" i="0" dirty="0">
                    <a:solidFill>
                      <a:schemeClr val="tx1"/>
                    </a:solidFill>
                    <a:effectLst/>
                    <a:latin typeface="Söhne"/>
                  </a:rPr>
                  <a:t>: </a:t>
                </a:r>
                <a:r>
                  <a:rPr lang="en-US" b="0" i="0" dirty="0">
                    <a:solidFill>
                      <a:schemeClr val="tx1"/>
                    </a:solidFill>
                    <a:effectLst/>
                    <a:latin typeface="Söhne"/>
                  </a:rPr>
                  <a:t>These constraints ensure that the probabilities </a:t>
                </a:r>
                <a14:m>
                  <m:oMath xmlns:m="http://schemas.openxmlformats.org/officeDocument/2006/math">
                    <m:sSub>
                      <m:sSubPr>
                        <m:ctrlPr>
                          <a:rPr lang="ar-YE" b="0" i="1" dirty="0" smtClean="0">
                            <a:solidFill>
                              <a:schemeClr val="tx1"/>
                            </a:solidFill>
                            <a:effectLst/>
                            <a:latin typeface="Cambria Math" panose="02040503050406030204" pitchFamily="18" charset="0"/>
                          </a:rPr>
                        </m:ctrlPr>
                      </m:sSubPr>
                      <m:e>
                        <m:r>
                          <a:rPr lang="ar-YE" b="0" i="1" dirty="0" smtClean="0">
                            <a:solidFill>
                              <a:schemeClr val="tx1"/>
                            </a:solidFill>
                            <a:effectLst/>
                            <a:latin typeface="Cambria Math" panose="02040503050406030204" pitchFamily="18" charset="0"/>
                          </a:rPr>
                          <m:t>𝑦</m:t>
                        </m:r>
                      </m:e>
                      <m:sub>
                        <m:r>
                          <a:rPr lang="ar-YE" b="0" i="1" dirty="0" smtClean="0">
                            <a:solidFill>
                              <a:schemeClr val="tx1"/>
                            </a:solidFill>
                            <a:effectLst/>
                            <a:latin typeface="Cambria Math" panose="02040503050406030204" pitchFamily="18" charset="0"/>
                          </a:rPr>
                          <m:t>𝑖</m:t>
                        </m:r>
                      </m:sub>
                    </m:sSub>
                  </m:oMath>
                </a14:m>
                <a:r>
                  <a:rPr lang="ar-YE" b="0" i="0" dirty="0">
                    <a:solidFill>
                      <a:schemeClr val="tx1"/>
                    </a:solidFill>
                    <a:effectLst/>
                    <a:latin typeface="Söhne"/>
                  </a:rPr>
                  <a:t> </a:t>
                </a:r>
                <a:r>
                  <a:rPr lang="en-US" b="0" i="0" dirty="0">
                    <a:solidFill>
                      <a:schemeClr val="tx1"/>
                    </a:solidFill>
                    <a:effectLst/>
                    <a:latin typeface="Söhne"/>
                  </a:rPr>
                  <a:t>are non-negative and bounded between 0 and 1.</a:t>
                </a:r>
              </a:p>
              <a:p>
                <a:pPr algn="l"/>
                <a:r>
                  <a:rPr lang="en-US" b="0" i="0" dirty="0">
                    <a:solidFill>
                      <a:schemeClr val="tx1"/>
                    </a:solidFill>
                    <a:effectLst/>
                    <a:latin typeface="Söhne"/>
                  </a:rPr>
                  <a:t>The overall goal of Player B is to find the optimal value of z' that minimizes z' while satisfying the constraints. This formulation allows Player B to choose a mixed strategy that minimizes their maximum expected loss (i.e., maximizing the minimum payoff for Player A).</a:t>
                </a:r>
              </a:p>
              <a:p>
                <a:pPr algn="l"/>
                <a:r>
                  <a:rPr lang="en-US" b="0" i="0" dirty="0">
                    <a:solidFill>
                      <a:schemeClr val="tx1"/>
                    </a:solidFill>
                    <a:effectLst/>
                    <a:latin typeface="Söhne"/>
                  </a:rPr>
                  <a:t>Once again, this linear programming formulation provides a systematic way to calculate Player B's optimal mixed strategy, which, when combined with Player A's strategy, defines a Nash Equilibrium in the zero-sum game.</a:t>
                </a:r>
              </a:p>
              <a:p>
                <a:br>
                  <a:rPr lang="en-US" b="0" i="0" dirty="0">
                    <a:solidFill>
                      <a:schemeClr val="tx1"/>
                    </a:solidFill>
                    <a:effectLst/>
                    <a:latin typeface="Söhne"/>
                  </a:rPr>
                </a:br>
                <a:br>
                  <a:rPr lang="en-US" b="0" i="0" dirty="0">
                    <a:solidFill>
                      <a:schemeClr val="tx1"/>
                    </a:solidFill>
                    <a:effectLst/>
                    <a:latin typeface="Söhne"/>
                  </a:rPr>
                </a:br>
                <a:endParaRPr lang="en-US" dirty="0">
                  <a:solidFill>
                    <a:schemeClr val="tx1"/>
                  </a:solidFill>
                </a:endParaRPr>
              </a:p>
            </p:txBody>
          </p:sp>
        </mc:Choice>
        <mc:Fallback xmlns="">
          <p:sp>
            <p:nvSpPr>
              <p:cNvPr id="2" name="Notes Placeholder"/>
              <p:cNvSpPr>
                <a:spLocks noGrp="1"/>
              </p:cNvSpPr>
              <p:nvPr>
                <p:ph type="body" idx="1"/>
              </p:nvPr>
            </p:nvSpPr>
            <p:spPr/>
            <p:txBody>
              <a:bodyPr lIns="96661" tIns="48331" rIns="96661" bIns="48331">
                <a:normAutofit fontScale="25000" lnSpcReduction="20000"/>
              </a:bodyPr>
              <a:lstStyle/>
              <a:p>
                <a:r>
                  <a:rPr lang="en-US" dirty="0">
                    <a:solidFill>
                      <a:schemeClr val="tx1"/>
                    </a:solidFill>
                  </a:rPr>
                  <a:t>The 2-player zero-sum games is a special case where we can find Nash eq. in straightforward manner.</a:t>
                </a:r>
              </a:p>
              <a:p>
                <a:endParaRPr lang="en-US" dirty="0">
                  <a:solidFill>
                    <a:schemeClr val="tx1"/>
                  </a:solidFill>
                </a:endParaRPr>
              </a:p>
              <a:p>
                <a:pPr defTabSz="966612">
                  <a:defRPr/>
                </a:pPr>
                <a:r>
                  <a:rPr lang="en-US" b="0" i="0" dirty="0">
                    <a:solidFill>
                      <a:schemeClr val="tx1"/>
                    </a:solidFill>
                    <a:effectLst/>
                    <a:latin typeface="Söhne"/>
                  </a:rPr>
                  <a:t>--------------------------------------------------------------</a:t>
                </a:r>
                <a:endParaRPr lang="en-US" dirty="0">
                  <a:solidFill>
                    <a:schemeClr val="tx1"/>
                  </a:solidFill>
                </a:endParaRPr>
              </a:p>
              <a:p>
                <a:pPr algn="l"/>
                <a:r>
                  <a:rPr lang="en-US" b="0" i="0" dirty="0">
                    <a:solidFill>
                      <a:schemeClr val="tx1"/>
                    </a:solidFill>
                    <a:effectLst/>
                    <a:latin typeface="Söhne"/>
                  </a:rPr>
                  <a:t>Solving a zero-sum game using linear programming, specifically in the context of finding the optimal mixed strategy for Player B (the column player) in a two-player zero-sum game. This linear programming formulation is used to calculate the Nash Equilibrium of such games.</a:t>
                </a:r>
              </a:p>
              <a:p>
                <a:pPr algn="l"/>
                <a:r>
                  <a:rPr lang="en-US" b="0" i="0" dirty="0">
                    <a:solidFill>
                      <a:schemeClr val="tx1"/>
                    </a:solidFill>
                    <a:effectLst/>
                    <a:latin typeface="Söhne"/>
                  </a:rPr>
                  <a:t>Let's break down the components of this linear programming problem:</a:t>
                </a:r>
              </a:p>
              <a:p>
                <a:pPr algn="l">
                  <a:buFont typeface="+mj-lt"/>
                  <a:buAutoNum type="arabicPeriod"/>
                </a:pPr>
                <a:r>
                  <a:rPr lang="en-US" b="1" i="0" dirty="0">
                    <a:solidFill>
                      <a:schemeClr val="tx1"/>
                    </a:solidFill>
                    <a:effectLst/>
                    <a:latin typeface="Söhne"/>
                  </a:rPr>
                  <a:t>Objective Function</a:t>
                </a:r>
                <a:r>
                  <a:rPr lang="en-US" b="0" i="0" dirty="0">
                    <a:solidFill>
                      <a:schemeClr val="tx1"/>
                    </a:solidFill>
                    <a:effectLst/>
                    <a:latin typeface="Söhne"/>
                  </a:rPr>
                  <a:t>:</a:t>
                </a:r>
              </a:p>
              <a:p>
                <a:pPr marL="785372" lvl="1" indent="-302066">
                  <a:buFont typeface="+mj-lt"/>
                  <a:buAutoNum type="arabicPeriod"/>
                </a:pPr>
                <a:r>
                  <a:rPr lang="en-US" b="0" i="0" dirty="0">
                    <a:solidFill>
                      <a:schemeClr val="tx1"/>
                    </a:solidFill>
                    <a:effectLst/>
                    <a:latin typeface="Söhne"/>
                  </a:rPr>
                  <a:t>Objective: Player B (the column player) wants to minimize the maximum expected payoff that Player A (the row player) can achieve.</a:t>
                </a:r>
              </a:p>
              <a:p>
                <a:pPr marL="785372" lvl="1" indent="-302066">
                  <a:buFont typeface="+mj-lt"/>
                  <a:buAutoNum type="arabicPeriod"/>
                </a:pPr>
                <a:r>
                  <a:rPr lang="en-US" b="0" i="0" dirty="0">
                    <a:solidFill>
                      <a:schemeClr val="tx1"/>
                    </a:solidFill>
                    <a:effectLst/>
                    <a:latin typeface="Söhne"/>
                  </a:rPr>
                  <a:t>Objective Function: min </a:t>
                </a:r>
                <a:r>
                  <a:rPr lang="en-US" i="0">
                    <a:solidFill>
                      <a:schemeClr val="tx1"/>
                    </a:solidFill>
                    <a:latin typeface="Cambria Math" panose="02040503050406030204" pitchFamily="18" charset="0"/>
                  </a:rPr>
                  <a:t>max</a:t>
                </a:r>
                <a:r>
                  <a:rPr lang="ar-YE" i="0">
                    <a:solidFill>
                      <a:schemeClr val="tx1"/>
                    </a:solidFill>
                    <a:latin typeface="Cambria Math" panose="02040503050406030204" pitchFamily="18" charset="0"/>
                  </a:rPr>
                  <a:t>┬</a:t>
                </a:r>
                <a:r>
                  <a:rPr lang="ar-YE" b="0" i="0">
                    <a:solidFill>
                      <a:schemeClr val="tx1"/>
                    </a:solidFill>
                    <a:latin typeface="Cambria Math" panose="02040503050406030204" pitchFamily="18" charset="0"/>
                  </a:rPr>
                  <a:t>𝑖⁡∑_(𝑗=1)^𝑛▒〖𝑎_(𝑖,𝑗)  . 𝑦_𝑖 〗</a:t>
                </a:r>
                <a:endParaRPr lang="ar-YE" b="0" i="0" dirty="0">
                  <a:solidFill>
                    <a:schemeClr val="tx1"/>
                  </a:solidFill>
                  <a:effectLst/>
                  <a:latin typeface="Söhne"/>
                </a:endParaRPr>
              </a:p>
              <a:p>
                <a:pPr marL="785372" lvl="1" indent="-302066">
                  <a:buFont typeface="+mj-lt"/>
                  <a:buAutoNum type="arabicPeriod"/>
                </a:pPr>
                <a:r>
                  <a:rPr lang="en-US" b="0" i="0" dirty="0">
                    <a:solidFill>
                      <a:schemeClr val="tx1"/>
                    </a:solidFill>
                    <a:effectLst/>
                    <a:latin typeface="Söhne"/>
                  </a:rPr>
                  <a:t>Here, </a:t>
                </a:r>
                <a:r>
                  <a:rPr lang="ar-YE" b="0" i="0">
                    <a:solidFill>
                      <a:schemeClr val="tx1"/>
                    </a:solidFill>
                    <a:latin typeface="Cambria Math" panose="02040503050406030204" pitchFamily="18" charset="0"/>
                  </a:rPr>
                  <a:t>𝑦_𝑖</a:t>
                </a:r>
                <a:r>
                  <a:rPr lang="ar-YE" b="0" i="0" dirty="0">
                    <a:solidFill>
                      <a:schemeClr val="tx1"/>
                    </a:solidFill>
                    <a:effectLst/>
                    <a:latin typeface="Söhne"/>
                  </a:rPr>
                  <a:t> </a:t>
                </a:r>
                <a:r>
                  <a:rPr lang="en-US" b="0" i="0" dirty="0">
                    <a:solidFill>
                      <a:schemeClr val="tx1"/>
                    </a:solidFill>
                    <a:effectLst/>
                    <a:latin typeface="Söhne"/>
                  </a:rPr>
                  <a:t>represents the probability that Player B assigns to each of their pure strategies.</a:t>
                </a:r>
              </a:p>
              <a:p>
                <a:pPr algn="l">
                  <a:buFont typeface="+mj-lt"/>
                  <a:buAutoNum type="arabicPeriod"/>
                </a:pPr>
                <a:r>
                  <a:rPr lang="en-US" b="1" i="0" dirty="0">
                    <a:solidFill>
                      <a:schemeClr val="tx1"/>
                    </a:solidFill>
                    <a:effectLst/>
                    <a:latin typeface="Söhne"/>
                  </a:rPr>
                  <a:t>Constraints</a:t>
                </a:r>
                <a:r>
                  <a:rPr lang="en-US" b="0" i="0" dirty="0">
                    <a:solidFill>
                      <a:schemeClr val="tx1"/>
                    </a:solidFill>
                    <a:effectLst/>
                    <a:latin typeface="Söhne"/>
                  </a:rPr>
                  <a:t>:</a:t>
                </a:r>
              </a:p>
              <a:p>
                <a:pPr marL="785372" lvl="1" indent="-302066">
                  <a:buFont typeface="+mj-lt"/>
                  <a:buAutoNum type="arabicPeriod"/>
                </a:pPr>
                <a:r>
                  <a:rPr lang="en-US" b="0" i="0" dirty="0">
                    <a:solidFill>
                      <a:schemeClr val="tx1"/>
                    </a:solidFill>
                    <a:effectLst/>
                    <a:latin typeface="Söhne"/>
                  </a:rPr>
                  <a:t>The constraints ensure that Player B's strategy is a valid probability distribution (i.e., probabilities sum to 1 and are non-negative):</a:t>
                </a:r>
              </a:p>
              <a:p>
                <a:pPr marL="1208265" lvl="2" indent="-241653">
                  <a:buFont typeface="+mj-lt"/>
                  <a:buAutoNum type="arabicPeriod"/>
                </a:pPr>
                <a:r>
                  <a:rPr lang="en-US" b="0" i="0">
                    <a:solidFill>
                      <a:schemeClr val="tx1"/>
                    </a:solidFill>
                    <a:latin typeface="Cambria Math" panose="02040503050406030204" pitchFamily="18" charset="0"/>
                  </a:rPr>
                  <a:t>1=</a:t>
                </a:r>
                <a:r>
                  <a:rPr lang="ar-YE" i="0">
                    <a:solidFill>
                      <a:schemeClr val="tx1"/>
                    </a:solidFill>
                    <a:latin typeface="Cambria Math" panose="02040503050406030204" pitchFamily="18" charset="0"/>
                  </a:rPr>
                  <a:t>∑</a:t>
                </a:r>
                <a:r>
                  <a:rPr lang="ar-YE" b="0" i="0">
                    <a:solidFill>
                      <a:schemeClr val="tx1"/>
                    </a:solidFill>
                    <a:latin typeface="Cambria Math" panose="02040503050406030204" pitchFamily="18" charset="0"/>
                  </a:rPr>
                  <a:t>_(𝑗=1)^𝑛▒𝑦_𝑖 </a:t>
                </a:r>
                <a:r>
                  <a:rPr lang="ar-YE" b="0" i="0" dirty="0">
                    <a:solidFill>
                      <a:schemeClr val="tx1"/>
                    </a:solidFill>
                    <a:effectLst/>
                    <a:latin typeface="Söhne"/>
                  </a:rPr>
                  <a:t>: </a:t>
                </a:r>
                <a:r>
                  <a:rPr lang="en-US" b="0" i="0" dirty="0">
                    <a:solidFill>
                      <a:schemeClr val="tx1"/>
                    </a:solidFill>
                    <a:effectLst/>
                    <a:latin typeface="Söhne"/>
                  </a:rPr>
                  <a:t>This constraint ensures that the probabilities assigned to all pure strategies sum to 1, meaning that Player B must choose a strategy with certainty.</a:t>
                </a:r>
              </a:p>
              <a:p>
                <a:pPr marL="1208265" lvl="2" indent="-241653">
                  <a:buFont typeface="+mj-lt"/>
                  <a:buAutoNum type="arabicPeriod"/>
                </a:pPr>
                <a:r>
                  <a:rPr lang="en-US" b="0" i="0">
                    <a:solidFill>
                      <a:schemeClr val="tx1"/>
                    </a:solidFill>
                    <a:latin typeface="Cambria Math" panose="02040503050406030204" pitchFamily="18" charset="0"/>
                    <a:ea typeface="Cambria Math" panose="02040503050406030204" pitchFamily="18" charset="0"/>
                  </a:rPr>
                  <a:t>∀𝑗 :0≤</a:t>
                </a:r>
                <a:r>
                  <a:rPr lang="ar-YE" b="0" i="0">
                    <a:solidFill>
                      <a:schemeClr val="tx1"/>
                    </a:solidFill>
                    <a:latin typeface="Cambria Math" panose="02040503050406030204" pitchFamily="18" charset="0"/>
                    <a:ea typeface="Cambria Math" panose="02040503050406030204" pitchFamily="18" charset="0"/>
                  </a:rPr>
                  <a:t>𝑦_𝑖≤1</a:t>
                </a:r>
                <a:r>
                  <a:rPr lang="ar-YE" b="0" i="0" dirty="0">
                    <a:solidFill>
                      <a:schemeClr val="tx1"/>
                    </a:solidFill>
                    <a:effectLst/>
                    <a:latin typeface="Söhne"/>
                  </a:rPr>
                  <a:t>: </a:t>
                </a:r>
                <a:r>
                  <a:rPr lang="en-US" b="0" i="0" dirty="0">
                    <a:solidFill>
                      <a:schemeClr val="tx1"/>
                    </a:solidFill>
                    <a:effectLst/>
                    <a:latin typeface="Söhne"/>
                  </a:rPr>
                  <a:t>These constraints ensure that the probabilities </a:t>
                </a:r>
                <a:r>
                  <a:rPr lang="ar-YE" b="0" i="0">
                    <a:solidFill>
                      <a:schemeClr val="tx1"/>
                    </a:solidFill>
                    <a:latin typeface="Cambria Math" panose="02040503050406030204" pitchFamily="18" charset="0"/>
                  </a:rPr>
                  <a:t>𝑦_𝑖</a:t>
                </a:r>
                <a:r>
                  <a:rPr lang="ar-YE" b="0" i="0" dirty="0">
                    <a:solidFill>
                      <a:schemeClr val="tx1"/>
                    </a:solidFill>
                    <a:effectLst/>
                    <a:latin typeface="Söhne"/>
                  </a:rPr>
                  <a:t> </a:t>
                </a:r>
                <a:r>
                  <a:rPr lang="en-US" b="0" i="0" dirty="0">
                    <a:solidFill>
                      <a:schemeClr val="tx1"/>
                    </a:solidFill>
                    <a:effectLst/>
                    <a:latin typeface="Söhne"/>
                  </a:rPr>
                  <a:t>are non-negative and bounded between 0 and 1.</a:t>
                </a:r>
              </a:p>
              <a:p>
                <a:pPr algn="l"/>
                <a:r>
                  <a:rPr lang="en-US" b="0" i="0" dirty="0">
                    <a:solidFill>
                      <a:schemeClr val="tx1"/>
                    </a:solidFill>
                    <a:effectLst/>
                    <a:latin typeface="Söhne"/>
                  </a:rPr>
                  <a:t>The overall goal of Player B is to find the optimal set of probabilities </a:t>
                </a:r>
                <a:r>
                  <a:rPr lang="ar-YE" b="0" i="0">
                    <a:solidFill>
                      <a:schemeClr val="tx1"/>
                    </a:solidFill>
                    <a:latin typeface="Cambria Math" panose="02040503050406030204" pitchFamily="18" charset="0"/>
                  </a:rPr>
                  <a:t>𝑦_𝑖</a:t>
                </a:r>
                <a:r>
                  <a:rPr lang="ar-YE" b="0" i="0" dirty="0">
                    <a:solidFill>
                      <a:schemeClr val="tx1"/>
                    </a:solidFill>
                    <a:effectLst/>
                    <a:latin typeface="Söhne"/>
                  </a:rPr>
                  <a:t> </a:t>
                </a:r>
                <a:r>
                  <a:rPr lang="en-US" b="0" i="0" dirty="0">
                    <a:solidFill>
                      <a:schemeClr val="tx1"/>
                    </a:solidFill>
                    <a:effectLst/>
                    <a:latin typeface="Söhne"/>
                  </a:rPr>
                  <a:t>that minimize the maximum expected payoff for Player A across all of Player B's possible strategies. This corresponds to finding a Nash Equilibrium, where both players have no incentive to unilaterally change their strategies.</a:t>
                </a:r>
              </a:p>
              <a:p>
                <a:pPr algn="l"/>
                <a:r>
                  <a:rPr lang="en-US" b="0" i="0" dirty="0">
                    <a:solidFill>
                      <a:schemeClr val="tx1"/>
                    </a:solidFill>
                    <a:effectLst/>
                    <a:latin typeface="Söhne"/>
                  </a:rPr>
                  <a:t>This linear programming formulation provides a systematic way to calculate Player B's optimal mixed strategy, which, when combined with Player A's strategy, defines a Nash Equilibrium in the zero-sum game.</a:t>
                </a:r>
              </a:p>
              <a:p>
                <a:endParaRPr lang="en-US" b="0" i="0" dirty="0">
                  <a:solidFill>
                    <a:schemeClr val="tx1"/>
                  </a:solidFill>
                  <a:effectLst/>
                  <a:latin typeface="Söhne"/>
                </a:endParaRPr>
              </a:p>
              <a:p>
                <a:r>
                  <a:rPr lang="en-US" b="0" i="0" dirty="0">
                    <a:solidFill>
                      <a:schemeClr val="tx1"/>
                    </a:solidFill>
                    <a:effectLst/>
                    <a:latin typeface="Söhne"/>
                  </a:rPr>
                  <a:t>--------------------------------------------------------------</a:t>
                </a:r>
              </a:p>
              <a:p>
                <a:pPr algn="l"/>
                <a:r>
                  <a:rPr lang="en-US" b="0" i="0" dirty="0">
                    <a:solidFill>
                      <a:schemeClr val="tx1"/>
                    </a:solidFill>
                    <a:effectLst/>
                    <a:latin typeface="Söhne"/>
                  </a:rPr>
                  <a:t>Another way to express the linear programming (LP) problem used to find the optimal mixed strategy for Player B in a two-player zero-sum game. This formulation follows the same principles as the previous one, with slight differences in notation. Let's break down the components of this linear programming problem:</a:t>
                </a:r>
              </a:p>
              <a:p>
                <a:pPr algn="l"/>
                <a:r>
                  <a:rPr lang="en-US" b="1" i="0" dirty="0">
                    <a:solidFill>
                      <a:schemeClr val="tx1"/>
                    </a:solidFill>
                    <a:effectLst/>
                    <a:latin typeface="Söhne"/>
                  </a:rPr>
                  <a:t>Objective Function</a:t>
                </a:r>
                <a:r>
                  <a:rPr lang="en-US" b="0" i="0" dirty="0">
                    <a:solidFill>
                      <a:schemeClr val="tx1"/>
                    </a:solidFill>
                    <a:effectLst/>
                    <a:latin typeface="Söhne"/>
                  </a:rPr>
                  <a:t>:</a:t>
                </a:r>
              </a:p>
              <a:p>
                <a:pPr algn="l">
                  <a:buFont typeface="Arial" panose="020B0604020202020204" pitchFamily="34" charset="0"/>
                  <a:buChar char="•"/>
                </a:pPr>
                <a:r>
                  <a:rPr lang="en-US" b="0" i="0" dirty="0">
                    <a:solidFill>
                      <a:schemeClr val="tx1"/>
                    </a:solidFill>
                    <a:effectLst/>
                    <a:latin typeface="Söhne"/>
                  </a:rPr>
                  <a:t>Objective: Player B (the column player) wants to minimize a variable z'.</a:t>
                </a:r>
              </a:p>
              <a:p>
                <a:pPr algn="l">
                  <a:buFont typeface="Arial" panose="020B0604020202020204" pitchFamily="34" charset="0"/>
                  <a:buChar char="•"/>
                </a:pPr>
                <a:r>
                  <a:rPr lang="en-US" b="0" i="0" dirty="0">
                    <a:solidFill>
                      <a:schemeClr val="tx1"/>
                    </a:solidFill>
                    <a:effectLst/>
                    <a:latin typeface="Söhne"/>
                  </a:rPr>
                  <a:t>Objective Function: minimize z'</a:t>
                </a:r>
              </a:p>
              <a:p>
                <a:pPr algn="l"/>
                <a:r>
                  <a:rPr lang="en-US" b="1" i="0" dirty="0">
                    <a:solidFill>
                      <a:schemeClr val="tx1"/>
                    </a:solidFill>
                    <a:effectLst/>
                    <a:latin typeface="Söhne"/>
                  </a:rPr>
                  <a:t>Constraints</a:t>
                </a:r>
                <a:r>
                  <a:rPr lang="en-US" b="0" i="0" dirty="0">
                    <a:solidFill>
                      <a:schemeClr val="tx1"/>
                    </a:solidFill>
                    <a:effectLst/>
                    <a:latin typeface="Söhne"/>
                  </a:rPr>
                  <a:t>:</a:t>
                </a:r>
              </a:p>
              <a:p>
                <a:pPr algn="l">
                  <a:buFont typeface="Arial" panose="020B0604020202020204" pitchFamily="34" charset="0"/>
                  <a:buChar char="•"/>
                </a:pPr>
                <a:r>
                  <a:rPr lang="en-US" b="0" i="0" dirty="0">
                    <a:solidFill>
                      <a:schemeClr val="tx1"/>
                    </a:solidFill>
                    <a:effectLst/>
                    <a:latin typeface="Söhne"/>
                  </a:rPr>
                  <a:t>The constraints ensure that Player B's strategy is a valid probability distribution (i.e., probabilities sum to 1 and are non-negative) and that Player B's expected payoff is at least as good as the payoff Player A can achieve for each pure strategy:</a:t>
                </a:r>
              </a:p>
              <a:p>
                <a:pPr marL="785372" lvl="1" indent="-302066">
                  <a:buFont typeface="Arial" panose="020B0604020202020204" pitchFamily="34" charset="0"/>
                  <a:buChar char="•"/>
                </a:pPr>
                <a:r>
                  <a:rPr lang="en-US" b="0" i="0" dirty="0">
                    <a:solidFill>
                      <a:schemeClr val="tx1"/>
                    </a:solidFill>
                    <a:effectLst/>
                    <a:latin typeface="Söhne"/>
                  </a:rPr>
                  <a:t>For each pure strategy </a:t>
                </a:r>
                <a:r>
                  <a:rPr lang="en-US" b="0" i="0" dirty="0">
                    <a:solidFill>
                      <a:schemeClr val="tx1"/>
                    </a:solidFill>
                    <a:effectLst/>
                    <a:latin typeface="Cambria Math" panose="02040503050406030204" pitchFamily="18" charset="0"/>
                  </a:rPr>
                  <a:t>𝑖</a:t>
                </a:r>
                <a:r>
                  <a:rPr lang="en-US" b="0" i="0" dirty="0">
                    <a:solidFill>
                      <a:schemeClr val="tx1"/>
                    </a:solidFill>
                    <a:effectLst/>
                    <a:latin typeface="Söhne"/>
                  </a:rPr>
                  <a:t> of Player B:</a:t>
                </a:r>
              </a:p>
              <a:p>
                <a:pPr marL="1208265" lvl="2" indent="-241653">
                  <a:buFont typeface="Arial" panose="020B0604020202020204" pitchFamily="34" charset="0"/>
                  <a:buChar char="•"/>
                </a:pPr>
                <a:r>
                  <a:rPr lang="ar-YE" b="0" i="0">
                    <a:solidFill>
                      <a:schemeClr val="tx1"/>
                    </a:solidFill>
                    <a:latin typeface="Cambria Math" panose="02040503050406030204" pitchFamily="18" charset="0"/>
                  </a:rPr>
                  <a:t>𝑧^′−∑_(𝑗=1)^𝑛▒〖𝑎_(𝑖,𝑗)  . 𝑦_𝑖 〗</a:t>
                </a:r>
                <a:r>
                  <a:rPr lang="ar-YE" i="0">
                    <a:solidFill>
                      <a:schemeClr val="tx1"/>
                    </a:solidFill>
                    <a:latin typeface="Cambria Math" panose="02040503050406030204" pitchFamily="18" charset="0"/>
                    <a:ea typeface="Cambria Math" panose="02040503050406030204" pitchFamily="18" charset="0"/>
                  </a:rPr>
                  <a:t>≥</a:t>
                </a:r>
                <a:r>
                  <a:rPr lang="ar-YE" b="0" i="0">
                    <a:solidFill>
                      <a:schemeClr val="tx1"/>
                    </a:solidFill>
                    <a:latin typeface="Cambria Math" panose="02040503050406030204" pitchFamily="18" charset="0"/>
                    <a:ea typeface="Cambria Math" panose="02040503050406030204" pitchFamily="18" charset="0"/>
                  </a:rPr>
                  <a:t>0 </a:t>
                </a:r>
                <a:r>
                  <a:rPr lang="ar-YE" b="0" i="0" dirty="0">
                    <a:solidFill>
                      <a:schemeClr val="tx1"/>
                    </a:solidFill>
                    <a:effectLst/>
                    <a:latin typeface="Söhne"/>
                  </a:rPr>
                  <a:t>: </a:t>
                </a:r>
                <a:r>
                  <a:rPr lang="en-US" b="0" i="0" dirty="0">
                    <a:solidFill>
                      <a:schemeClr val="tx1"/>
                    </a:solidFill>
                    <a:effectLst/>
                    <a:latin typeface="Söhne"/>
                  </a:rPr>
                  <a:t>This constraint ensures that Player B's expected payoff (expressed as </a:t>
                </a:r>
                <a:r>
                  <a:rPr lang="ar-YE" b="0" i="0">
                    <a:solidFill>
                      <a:schemeClr val="tx1"/>
                    </a:solidFill>
                    <a:latin typeface="Cambria Math" panose="02040503050406030204" pitchFamily="18" charset="0"/>
                  </a:rPr>
                  <a:t>∑_(𝑗=1)^𝑛▒〖𝑎_(𝑖,𝑗)  . 𝑦_𝑖 〗</a:t>
                </a:r>
                <a:r>
                  <a:rPr lang="ar-YE" b="0" i="0">
                    <a:solidFill>
                      <a:schemeClr val="tx1"/>
                    </a:solidFill>
                    <a:latin typeface="Cambria Math" panose="02040503050406030204" pitchFamily="18" charset="0"/>
                    <a:ea typeface="Cambria Math" panose="02040503050406030204" pitchFamily="18" charset="0"/>
                  </a:rPr>
                  <a:t>  </a:t>
                </a:r>
                <a:r>
                  <a:rPr lang="ar-YE" b="0" i="0" dirty="0">
                    <a:solidFill>
                      <a:schemeClr val="tx1"/>
                    </a:solidFill>
                    <a:effectLst/>
                    <a:latin typeface="Söhne"/>
                  </a:rPr>
                  <a:t>) </a:t>
                </a:r>
                <a:r>
                  <a:rPr lang="en-US" b="0" i="0" dirty="0">
                    <a:solidFill>
                      <a:schemeClr val="tx1"/>
                    </a:solidFill>
                    <a:effectLst/>
                    <a:latin typeface="Söhne"/>
                  </a:rPr>
                  <a:t>is at least as good as the payoff Player A can achieve when both players use their respective mixed strategies.</a:t>
                </a:r>
              </a:p>
              <a:p>
                <a:pPr marL="785372" lvl="1" indent="-302066">
                  <a:buFont typeface="Arial" panose="020B0604020202020204" pitchFamily="34" charset="0"/>
                  <a:buChar char="•"/>
                </a:pPr>
                <a:r>
                  <a:rPr lang="ar-YE" i="0">
                    <a:solidFill>
                      <a:schemeClr val="tx1"/>
                    </a:solidFill>
                    <a:latin typeface="Cambria Math" panose="02040503050406030204" pitchFamily="18" charset="0"/>
                  </a:rPr>
                  <a:t>∑</a:t>
                </a:r>
                <a:r>
                  <a:rPr lang="ar-YE" b="0" i="0">
                    <a:solidFill>
                      <a:schemeClr val="tx1"/>
                    </a:solidFill>
                    <a:latin typeface="Cambria Math" panose="02040503050406030204" pitchFamily="18" charset="0"/>
                  </a:rPr>
                  <a:t>_(𝑗=1)^𝑛▒𝑦_𝑖 =1</a:t>
                </a:r>
                <a:r>
                  <a:rPr lang="ar-YE" b="0" i="0" dirty="0">
                    <a:solidFill>
                      <a:schemeClr val="tx1"/>
                    </a:solidFill>
                    <a:effectLst/>
                    <a:latin typeface="Söhne"/>
                  </a:rPr>
                  <a:t>: </a:t>
                </a:r>
                <a:r>
                  <a:rPr lang="en-US" b="0" i="0" dirty="0">
                    <a:solidFill>
                      <a:schemeClr val="tx1"/>
                    </a:solidFill>
                    <a:effectLst/>
                    <a:latin typeface="Söhne"/>
                  </a:rPr>
                  <a:t>This constraint ensures that the probabilities assigned to all pure strategies sum to 1, meaning that Player B must choose a strategy with certainty.</a:t>
                </a:r>
              </a:p>
              <a:p>
                <a:pPr marL="785372" lvl="1" indent="-302066">
                  <a:buFont typeface="Arial" panose="020B0604020202020204" pitchFamily="34" charset="0"/>
                  <a:buChar char="•"/>
                </a:pPr>
                <a:r>
                  <a:rPr lang="en-US" b="0" i="0">
                    <a:solidFill>
                      <a:schemeClr val="tx1"/>
                    </a:solidFill>
                    <a:latin typeface="Cambria Math" panose="02040503050406030204" pitchFamily="18" charset="0"/>
                    <a:ea typeface="Cambria Math" panose="02040503050406030204" pitchFamily="18" charset="0"/>
                  </a:rPr>
                  <a:t>∀𝑗 :0≤</a:t>
                </a:r>
                <a:r>
                  <a:rPr lang="ar-YE" b="0" i="0">
                    <a:solidFill>
                      <a:schemeClr val="tx1"/>
                    </a:solidFill>
                    <a:latin typeface="Cambria Math" panose="02040503050406030204" pitchFamily="18" charset="0"/>
                    <a:ea typeface="Cambria Math" panose="02040503050406030204" pitchFamily="18" charset="0"/>
                  </a:rPr>
                  <a:t>𝑦_𝑖≤1</a:t>
                </a:r>
                <a:r>
                  <a:rPr lang="ar-YE" b="0" i="0" dirty="0">
                    <a:solidFill>
                      <a:schemeClr val="tx1"/>
                    </a:solidFill>
                    <a:effectLst/>
                    <a:latin typeface="Söhne"/>
                  </a:rPr>
                  <a:t>: </a:t>
                </a:r>
                <a:r>
                  <a:rPr lang="en-US" b="0" i="0" dirty="0">
                    <a:solidFill>
                      <a:schemeClr val="tx1"/>
                    </a:solidFill>
                    <a:effectLst/>
                    <a:latin typeface="Söhne"/>
                  </a:rPr>
                  <a:t>These constraints ensure that the probabilities </a:t>
                </a:r>
                <a:r>
                  <a:rPr lang="ar-YE" b="0" i="0" dirty="0">
                    <a:solidFill>
                      <a:schemeClr val="tx1"/>
                    </a:solidFill>
                    <a:effectLst/>
                    <a:latin typeface="Cambria Math" panose="02040503050406030204" pitchFamily="18" charset="0"/>
                  </a:rPr>
                  <a:t>𝑦_𝑖</a:t>
                </a:r>
                <a:r>
                  <a:rPr lang="ar-YE" b="0" i="0" dirty="0">
                    <a:solidFill>
                      <a:schemeClr val="tx1"/>
                    </a:solidFill>
                    <a:effectLst/>
                    <a:latin typeface="Söhne"/>
                  </a:rPr>
                  <a:t> </a:t>
                </a:r>
                <a:r>
                  <a:rPr lang="en-US" b="0" i="0" dirty="0">
                    <a:solidFill>
                      <a:schemeClr val="tx1"/>
                    </a:solidFill>
                    <a:effectLst/>
                    <a:latin typeface="Söhne"/>
                  </a:rPr>
                  <a:t>are non-negative and bounded between 0 and 1.</a:t>
                </a:r>
              </a:p>
              <a:p>
                <a:pPr algn="l"/>
                <a:r>
                  <a:rPr lang="en-US" b="0" i="0" dirty="0">
                    <a:solidFill>
                      <a:schemeClr val="tx1"/>
                    </a:solidFill>
                    <a:effectLst/>
                    <a:latin typeface="Söhne"/>
                  </a:rPr>
                  <a:t>The overall goal of Player B is to find the optimal value of z' that minimizes z' while satisfying the constraints. This formulation allows Player B to choose a mixed strategy that minimizes their maximum expected loss (i.e., maximizing the minimum payoff for Player A).</a:t>
                </a:r>
              </a:p>
              <a:p>
                <a:pPr algn="l"/>
                <a:r>
                  <a:rPr lang="en-US" b="0" i="0" dirty="0">
                    <a:solidFill>
                      <a:schemeClr val="tx1"/>
                    </a:solidFill>
                    <a:effectLst/>
                    <a:latin typeface="Söhne"/>
                  </a:rPr>
                  <a:t>Once again, this linear programming formulation provides a systematic way to calculate Player B's optimal mixed strategy, which, when combined with Player A's strategy, defines a Nash Equilibrium in the zero-sum game.</a:t>
                </a:r>
              </a:p>
              <a:p>
                <a:br>
                  <a:rPr lang="en-US" b="0" i="0" dirty="0">
                    <a:solidFill>
                      <a:schemeClr val="tx1"/>
                    </a:solidFill>
                    <a:effectLst/>
                    <a:latin typeface="Söhne"/>
                  </a:rPr>
                </a:br>
                <a:br>
                  <a:rPr lang="en-US" b="0" i="0" dirty="0">
                    <a:solidFill>
                      <a:schemeClr val="tx1"/>
                    </a:solidFill>
                    <a:effectLst/>
                    <a:latin typeface="Söhne"/>
                  </a:rPr>
                </a:br>
                <a:endParaRPr lang="en-US" dirty="0">
                  <a:solidFill>
                    <a:schemeClr val="tx1"/>
                  </a:solidFill>
                </a:endParaRPr>
              </a:p>
            </p:txBody>
          </p:sp>
        </mc:Fallback>
      </mc:AlternateContent>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b="0" i="0" dirty="0">
                <a:solidFill>
                  <a:schemeClr val="tx1"/>
                </a:solidFill>
                <a:effectLst/>
                <a:latin typeface="Söhne"/>
              </a:rPr>
              <a:t>The minimax theorem is a fundamental concept in game theory, particularly in two-player, zero-sum games. It is a fundamental theorem that helps determine optimal strategies for players in such games..</a:t>
            </a:r>
          </a:p>
          <a:p>
            <a:endParaRPr lang="en-US" b="0" i="0" dirty="0">
              <a:solidFill>
                <a:schemeClr val="tx1"/>
              </a:solidFill>
              <a:effectLst/>
              <a:latin typeface="Söhne"/>
            </a:endParaRPr>
          </a:p>
          <a:p>
            <a:pPr algn="l">
              <a:buFont typeface="+mj-lt"/>
              <a:buAutoNum type="arabicPeriod"/>
            </a:pPr>
            <a:r>
              <a:rPr lang="en-US" b="1" i="0" dirty="0">
                <a:solidFill>
                  <a:schemeClr val="tx1"/>
                </a:solidFill>
                <a:effectLst/>
                <a:latin typeface="Söhne"/>
              </a:rPr>
              <a:t>Two-Player, Zero-Sum Games</a:t>
            </a:r>
            <a:r>
              <a:rPr lang="en-US" b="0" i="0" dirty="0">
                <a:solidFill>
                  <a:schemeClr val="tx1"/>
                </a:solidFill>
                <a:effectLst/>
                <a:latin typeface="Söhne"/>
              </a:rPr>
              <a:t>: The minimax theorem is primarily applicable to two-player games in which one player's gain is the other player's loss. These are called zero-sum games because the sum of their payoffs is always zero. In other words, what one player gains, the other player loses, and vice versa.</a:t>
            </a:r>
          </a:p>
          <a:p>
            <a:pPr algn="l">
              <a:buFont typeface="+mj-lt"/>
              <a:buAutoNum type="arabicPeriod"/>
            </a:pPr>
            <a:r>
              <a:rPr lang="en-US" b="1" i="0" dirty="0">
                <a:solidFill>
                  <a:schemeClr val="tx1"/>
                </a:solidFill>
                <a:effectLst/>
                <a:latin typeface="Söhne"/>
              </a:rPr>
              <a:t>Minimax Strategy</a:t>
            </a:r>
            <a:r>
              <a:rPr lang="en-US" b="0" i="0" dirty="0">
                <a:solidFill>
                  <a:schemeClr val="tx1"/>
                </a:solidFill>
                <a:effectLst/>
                <a:latin typeface="Söhne"/>
              </a:rPr>
              <a:t>: In a zero-sum game, the minimax strategy for a player is the strategy that minimizes the maximum possible loss. In other words, it's the strategy that ensures the player doesn't do worse than the worst-case scenario, assuming the opponent plays optimally to maximize their own gain.</a:t>
            </a:r>
          </a:p>
          <a:p>
            <a:pPr algn="l">
              <a:buFont typeface="+mj-lt"/>
              <a:buAutoNum type="arabicPeriod"/>
            </a:pPr>
            <a:r>
              <a:rPr lang="en-US" b="1" i="0" dirty="0">
                <a:solidFill>
                  <a:schemeClr val="tx1"/>
                </a:solidFill>
                <a:effectLst/>
                <a:latin typeface="Söhne"/>
              </a:rPr>
              <a:t>The Minimax Theorem</a:t>
            </a:r>
            <a:r>
              <a:rPr lang="en-US" b="0" i="0" dirty="0">
                <a:solidFill>
                  <a:schemeClr val="tx1"/>
                </a:solidFill>
                <a:effectLst/>
                <a:latin typeface="Söhne"/>
              </a:rPr>
              <a:t>: The minimax theorem states that for every finite, two-player, zero-sum game with a finite number of strategies, there exists at least one mixed strategy (a probability distribution over pure strategies) for each player such that, when both players adopt their respective minimax strategies, they achieve a value called the minimax value.</a:t>
            </a:r>
          </a:p>
          <a:p>
            <a:pPr algn="l">
              <a:buFont typeface="+mj-lt"/>
              <a:buAutoNum type="arabicPeriod"/>
            </a:pPr>
            <a:r>
              <a:rPr lang="en-US" b="1" i="0" dirty="0">
                <a:solidFill>
                  <a:schemeClr val="tx1"/>
                </a:solidFill>
                <a:effectLst/>
                <a:latin typeface="Söhne"/>
              </a:rPr>
              <a:t>Minimax Value</a:t>
            </a:r>
            <a:r>
              <a:rPr lang="en-US" b="0" i="0" dirty="0">
                <a:solidFill>
                  <a:schemeClr val="tx1"/>
                </a:solidFill>
                <a:effectLst/>
                <a:latin typeface="Söhne"/>
              </a:rPr>
              <a:t>: The minimax value represents the guaranteed minimum expected gain for one player and the maximum expected loss for the other player when both players follow their minimax strategies. It is a critical concept in zero-sum games as it defines the optimal outcome that both players can secure in a rational and risk-averse manner.</a:t>
            </a:r>
          </a:p>
          <a:p>
            <a:pPr algn="l">
              <a:buFont typeface="+mj-lt"/>
              <a:buAutoNum type="arabicPeriod"/>
            </a:pPr>
            <a:r>
              <a:rPr lang="en-US" b="1" i="0" dirty="0">
                <a:solidFill>
                  <a:schemeClr val="tx1"/>
                </a:solidFill>
                <a:effectLst/>
                <a:latin typeface="Söhne"/>
              </a:rPr>
              <a:t>Optimal Play</a:t>
            </a:r>
            <a:r>
              <a:rPr lang="en-US" b="0" i="0" dirty="0">
                <a:solidFill>
                  <a:schemeClr val="tx1"/>
                </a:solidFill>
                <a:effectLst/>
                <a:latin typeface="Söhne"/>
              </a:rPr>
              <a:t>: The minimax theorem helps identify optimal strategies for both players in zero-sum games. Each player calculates their minimax strategy by considering the worst-case scenario, which the opponent would choose to maximize their own gain. By following these strategies, both players can ensure that they are playing as well as possible given their opponent's actions.</a:t>
            </a:r>
          </a:p>
          <a:p>
            <a:pPr algn="l">
              <a:buFont typeface="+mj-lt"/>
              <a:buAutoNum type="arabicPeriod"/>
            </a:pPr>
            <a:r>
              <a:rPr lang="en-US" b="1" i="0" dirty="0">
                <a:solidFill>
                  <a:schemeClr val="tx1"/>
                </a:solidFill>
                <a:effectLst/>
                <a:latin typeface="Söhne"/>
              </a:rPr>
              <a:t>Solving Zero-Sum Games</a:t>
            </a:r>
            <a:r>
              <a:rPr lang="en-US" b="0" i="0" dirty="0">
                <a:solidFill>
                  <a:schemeClr val="tx1"/>
                </a:solidFill>
                <a:effectLst/>
                <a:latin typeface="Söhne"/>
              </a:rPr>
              <a:t>: To find the minimax value and strategies for a zero-sum game, one commonly used method is linear programming, specifically the simplex method. This approach allows for the computation of the minimax value and the corresponding strategies.</a:t>
            </a:r>
          </a:p>
          <a:p>
            <a:pPr algn="l"/>
            <a:r>
              <a:rPr lang="en-US" b="0" i="0" dirty="0">
                <a:solidFill>
                  <a:schemeClr val="tx1"/>
                </a:solidFill>
                <a:effectLst/>
                <a:latin typeface="Söhne"/>
              </a:rPr>
              <a:t>In summary, the minimax theorem is a central concept in game theory that provides a rational and risk-averse approach for players to determine their strategies in two-player, zero-sum games. It ensures that both players are making choices that minimize their maximum possible loss, leading to stable and well-defined outcomes.</a:t>
            </a:r>
          </a:p>
          <a:p>
            <a:br>
              <a:rPr lang="en-US" b="0" i="0" dirty="0">
                <a:solidFill>
                  <a:schemeClr val="tx1"/>
                </a:solidFill>
                <a:effectLst/>
                <a:latin typeface="Söhne"/>
              </a:rPr>
            </a:br>
            <a:endParaRPr dirty="0">
              <a:solidFill>
                <a:schemeClr val="tx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a:p>
        </p:txBody>
      </p:sp>
    </p:spTree>
    <p:extLst>
      <p:ext uri="{BB962C8B-B14F-4D97-AF65-F5344CB8AC3E}">
        <p14:creationId xmlns:p14="http://schemas.microsoft.com/office/powerpoint/2010/main" val="18458117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lgn="l">
              <a:buFont typeface="+mj-lt"/>
              <a:buAutoNum type="arabicPeriod"/>
            </a:pPr>
            <a:r>
              <a:rPr lang="en-US" b="1" i="0" dirty="0">
                <a:solidFill>
                  <a:schemeClr val="tx1"/>
                </a:solidFill>
                <a:effectLst/>
                <a:latin typeface="Söhne"/>
              </a:rPr>
              <a:t>At least two Nash Equilibria?</a:t>
            </a:r>
            <a:endParaRPr lang="en-US" b="0" i="0" dirty="0">
              <a:solidFill>
                <a:schemeClr val="tx1"/>
              </a:solidFill>
              <a:effectLst/>
              <a:latin typeface="Söhne"/>
            </a:endParaRPr>
          </a:p>
          <a:p>
            <a:pPr marL="785372" lvl="1" indent="-302066">
              <a:buFont typeface="+mj-lt"/>
              <a:buAutoNum type="arabicPeriod"/>
            </a:pPr>
            <a:r>
              <a:rPr lang="en-US" b="0" i="0" dirty="0">
                <a:solidFill>
                  <a:schemeClr val="tx1"/>
                </a:solidFill>
                <a:effectLst/>
                <a:latin typeface="Söhne"/>
              </a:rPr>
              <a:t>This problem is not known to be NP-complete. Determining if a bi-matrix game has at least two Nash equilibria can typically be done in polynomial time using algorithms such as Lemke-Howson or Lemke's algorithm. The complexity of finding multiple Nash equilibria is not well-understood, but it is not known to be NP-complete.</a:t>
            </a:r>
          </a:p>
          <a:p>
            <a:pPr algn="l">
              <a:buFont typeface="+mj-lt"/>
              <a:buAutoNum type="arabicPeriod"/>
            </a:pPr>
            <a:r>
              <a:rPr lang="en-US" b="1" i="0" dirty="0">
                <a:solidFill>
                  <a:schemeClr val="tx1"/>
                </a:solidFill>
                <a:effectLst/>
                <a:latin typeface="Söhne"/>
              </a:rPr>
              <a:t>A Nash Equilibrium in which player 1 has at least a given amount of payoff?</a:t>
            </a:r>
            <a:endParaRPr lang="en-US" b="0" i="0" dirty="0">
              <a:solidFill>
                <a:schemeClr val="tx1"/>
              </a:solidFill>
              <a:effectLst/>
              <a:latin typeface="Söhne"/>
            </a:endParaRPr>
          </a:p>
          <a:p>
            <a:pPr marL="785372" lvl="1" indent="-302066">
              <a:buFont typeface="+mj-lt"/>
              <a:buAutoNum type="arabicPeriod"/>
            </a:pPr>
            <a:r>
              <a:rPr lang="en-US" b="0" i="0" dirty="0">
                <a:solidFill>
                  <a:schemeClr val="tx1"/>
                </a:solidFill>
                <a:effectLst/>
                <a:latin typeface="Söhne"/>
              </a:rPr>
              <a:t>This problem is NP-complete. It is known as the "Nash Equilibrium with a Minimum Payoff" problem and is proven to be NP-complete because it is essentially a variation of the computational problem "PPAD-complete."</a:t>
            </a:r>
          </a:p>
          <a:p>
            <a:pPr algn="l">
              <a:buFont typeface="+mj-lt"/>
              <a:buAutoNum type="arabicPeriod"/>
            </a:pPr>
            <a:r>
              <a:rPr lang="en-US" b="1" i="0" dirty="0">
                <a:solidFill>
                  <a:schemeClr val="tx1"/>
                </a:solidFill>
                <a:effectLst/>
                <a:latin typeface="Söhne"/>
              </a:rPr>
              <a:t>A Nash Equilibrium with support size at least a given number?</a:t>
            </a:r>
            <a:endParaRPr lang="en-US" b="0" i="0" dirty="0">
              <a:solidFill>
                <a:schemeClr val="tx1"/>
              </a:solidFill>
              <a:effectLst/>
              <a:latin typeface="Söhne"/>
            </a:endParaRPr>
          </a:p>
          <a:p>
            <a:pPr marL="785372" lvl="1" indent="-302066">
              <a:buFont typeface="+mj-lt"/>
              <a:buAutoNum type="arabicPeriod"/>
            </a:pPr>
            <a:r>
              <a:rPr lang="en-US" b="0" i="0" dirty="0">
                <a:solidFill>
                  <a:schemeClr val="tx1"/>
                </a:solidFill>
                <a:effectLst/>
                <a:latin typeface="Söhne"/>
              </a:rPr>
              <a:t>This problem is not known to be NP-complete. Finding a Nash equilibrium with a specific support size can often be accomplished through polynomial-time algorithms that iteratively check different subsets of strategies, and it doesn't inherently exhibit NP-complete characteristics.</a:t>
            </a:r>
          </a:p>
          <a:p>
            <a:pPr algn="l">
              <a:buFont typeface="+mj-lt"/>
              <a:buAutoNum type="arabicPeriod"/>
            </a:pPr>
            <a:r>
              <a:rPr lang="en-US" b="1" i="0" dirty="0">
                <a:solidFill>
                  <a:schemeClr val="tx1"/>
                </a:solidFill>
                <a:effectLst/>
                <a:latin typeface="Söhne"/>
              </a:rPr>
              <a:t>A Nash Equilibrium whose support does not contain strategy s?</a:t>
            </a:r>
            <a:endParaRPr lang="en-US" b="0" i="0" dirty="0">
              <a:solidFill>
                <a:schemeClr val="tx1"/>
              </a:solidFill>
              <a:effectLst/>
              <a:latin typeface="Söhne"/>
            </a:endParaRPr>
          </a:p>
          <a:p>
            <a:pPr marL="785372" lvl="1" indent="-302066">
              <a:buFont typeface="+mj-lt"/>
              <a:buAutoNum type="arabicPeriod"/>
            </a:pPr>
            <a:r>
              <a:rPr lang="en-US" b="0" i="0" dirty="0">
                <a:solidFill>
                  <a:schemeClr val="tx1"/>
                </a:solidFill>
                <a:effectLst/>
                <a:latin typeface="Söhne"/>
              </a:rPr>
              <a:t>This problem is not known to be NP-complete. Checking whether a Nash equilibrium exists in which a particular strategy is not used in the support of either player can be done efficiently without known NP-completeness.</a:t>
            </a:r>
          </a:p>
        </p:txBody>
      </p:sp>
    </p:spTree>
    <p:extLst>
      <p:ext uri="{BB962C8B-B14F-4D97-AF65-F5344CB8AC3E}">
        <p14:creationId xmlns:p14="http://schemas.microsoft.com/office/powerpoint/2010/main" val="12756817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dirty="0"/>
              <a:t>The traditional definition of the Price of Anarchy (</a:t>
            </a:r>
            <a:r>
              <a:rPr lang="en-US" dirty="0" err="1"/>
              <a:t>PoA</a:t>
            </a:r>
            <a:r>
              <a:rPr lang="en-US" dirty="0"/>
              <a:t>) often looks at the worst-case scenario relative to the optimal coordinated outcome.</a:t>
            </a:r>
          </a:p>
          <a:p>
            <a:r>
              <a:rPr lang="en-US" dirty="0"/>
              <a:t>Here's how to align with the given definition of 2/6:</a:t>
            </a:r>
          </a:p>
          <a:p>
            <a:pPr>
              <a:buFont typeface="+mj-lt"/>
              <a:buAutoNum type="arabicPeriod"/>
            </a:pPr>
            <a:r>
              <a:rPr lang="en-US" b="1" dirty="0"/>
              <a:t>Identify Payoffs for Optimal Coordination and Nash Equilibrium</a:t>
            </a:r>
            <a:r>
              <a:rPr lang="en-US" dirty="0"/>
              <a:t>:</a:t>
            </a:r>
          </a:p>
          <a:p>
            <a:pPr marL="742950" lvl="1" indent="-285750">
              <a:buFont typeface="+mj-lt"/>
              <a:buAutoNum type="arabicPeriod"/>
            </a:pPr>
            <a:r>
              <a:rPr lang="en-US" b="1" dirty="0"/>
              <a:t>Optimal Coordinated Outcome</a:t>
            </a:r>
            <a:r>
              <a:rPr lang="en-US" dirty="0"/>
              <a:t>: Both players choose C, resulting in payoffs (-1, -1). The total payoff here is -2.</a:t>
            </a:r>
          </a:p>
          <a:p>
            <a:pPr marL="742950" lvl="1" indent="-285750">
              <a:buFont typeface="+mj-lt"/>
              <a:buAutoNum type="arabicPeriod"/>
            </a:pPr>
            <a:r>
              <a:rPr lang="en-US" b="1" dirty="0"/>
              <a:t>Nash Equilibrium</a:t>
            </a:r>
            <a:r>
              <a:rPr lang="en-US" dirty="0"/>
              <a:t>: Both players choose D, resulting in payoffs (-3, -3). The total payoff here is -6.</a:t>
            </a:r>
          </a:p>
          <a:p>
            <a:pPr>
              <a:buFont typeface="+mj-lt"/>
              <a:buAutoNum type="arabicPeriod"/>
            </a:pPr>
            <a:r>
              <a:rPr lang="en-US" b="1" dirty="0"/>
              <a:t>Compute the Quotient for </a:t>
            </a:r>
            <a:r>
              <a:rPr lang="en-US" b="1" dirty="0" err="1"/>
              <a:t>PoA</a:t>
            </a:r>
            <a:r>
              <a:rPr lang="en-US" dirty="0"/>
              <a:t>: In this definition, it seems that the </a:t>
            </a:r>
            <a:r>
              <a:rPr lang="en-US" dirty="0" err="1"/>
              <a:t>PoA</a:t>
            </a:r>
            <a:r>
              <a:rPr lang="en-US" dirty="0"/>
              <a:t> is expressed as the ratio of the total payoff at the optimal coordinated outcome to the total payoff at the Nash equilibrium. This would be:</a:t>
            </a:r>
          </a:p>
          <a:p>
            <a:pPr>
              <a:buFont typeface="+mj-lt"/>
              <a:buNone/>
            </a:pPr>
            <a:r>
              <a:rPr lang="en-US" dirty="0" err="1"/>
              <a:t>PoA</a:t>
            </a:r>
            <a:r>
              <a:rPr lang="en-US" dirty="0"/>
              <a:t>=Total Payoff at Optimal Coordinated Outcome / Total Payoff at Nash Equilibrium=−2/−6 = 2 / 6</a:t>
            </a:r>
          </a:p>
          <a:p>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r>
              <a:rPr lang="en-US" b="0" i="0" dirty="0">
                <a:solidFill>
                  <a:schemeClr val="tx1"/>
                </a:solidFill>
                <a:effectLst/>
                <a:latin typeface="Söhne"/>
              </a:rPr>
              <a:t>A correlated equilibrium is a concept in game theory that extends the traditional notion of Nash equilibrium. While Nash equilibrium focuses on players making independent choices without any external coordination or communication, correlated equilibrium allows for some degree of communication and coordination among players before they make their decisions.</a:t>
            </a:r>
          </a:p>
          <a:p>
            <a:endParaRPr lang="en-US" b="0" i="0" dirty="0">
              <a:solidFill>
                <a:schemeClr val="tx1"/>
              </a:solidFill>
              <a:effectLst/>
              <a:latin typeface="Söhne"/>
            </a:endParaRPr>
          </a:p>
          <a:p>
            <a:pPr algn="l"/>
            <a:r>
              <a:rPr lang="en-US" b="0" i="0" dirty="0">
                <a:solidFill>
                  <a:schemeClr val="tx1"/>
                </a:solidFill>
                <a:effectLst/>
                <a:latin typeface="Söhne"/>
              </a:rPr>
              <a:t>In other words, a correlated equilibrium provides a way for players to coordinate their actions based on external information or advice while still adhering to their self-interest. It represents a state in which no player has an incentive to unilaterally deviate from their recommended strategy, given the strategies suggested to others. In a sense, it's a way to achieve cooperation or coordination in a game without violating individual rationality.</a:t>
            </a:r>
          </a:p>
          <a:p>
            <a:pPr algn="l"/>
            <a:endParaRPr lang="en-US" b="0" i="0" dirty="0">
              <a:solidFill>
                <a:schemeClr val="tx1"/>
              </a:solidFill>
              <a:effectLst/>
              <a:latin typeface="Söhne"/>
            </a:endParaRPr>
          </a:p>
          <a:p>
            <a:pPr algn="l"/>
            <a:r>
              <a:rPr lang="en-US" b="0" i="0" dirty="0">
                <a:solidFill>
                  <a:schemeClr val="tx1"/>
                </a:solidFill>
                <a:effectLst/>
                <a:latin typeface="Söhne"/>
              </a:rPr>
              <a:t>Correlated equilibria are especially relevant in situations where communication or coordination among players is possible, or when there is a trusted mediator who can provide recommendations. They provide a broader framework for analyzing strategic interactions beyond traditional Nash equilibria, which assume no communication or pre-play coordination.</a:t>
            </a:r>
          </a:p>
          <a:p>
            <a:br>
              <a:rPr lang="en-US" dirty="0">
                <a:solidFill>
                  <a:schemeClr val="tx1"/>
                </a:solidFill>
              </a:rPr>
            </a:br>
            <a:endParaRPr dirty="0">
              <a:solidFill>
                <a:schemeClr val="tx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lgn="l"/>
            <a:r>
              <a:rPr lang="en-US" b="0" i="0" dirty="0">
                <a:solidFill>
                  <a:schemeClr val="tx1"/>
                </a:solidFill>
                <a:effectLst/>
                <a:latin typeface="Söhne"/>
              </a:rPr>
              <a:t>In the Battle of the Sexes game that you provided, let's consider the concept of correlated equilibrium. In this game, there are two players, Wife and Husband, and each has two strategies: B (Bayley) and F (Football). We'll explore a simple correlated equilibrium example.</a:t>
            </a:r>
          </a:p>
          <a:p>
            <a:pPr algn="l"/>
            <a:r>
              <a:rPr lang="en-US" b="0" i="0" dirty="0">
                <a:solidFill>
                  <a:schemeClr val="tx1"/>
                </a:solidFill>
                <a:effectLst/>
                <a:latin typeface="Söhne"/>
              </a:rPr>
              <a:t>Suppose there is a trusted mediator who can suggest a correlated strategy to both players. The correlated strategy suggests that both players should choose their preferred activities (B or F) with equal probability, meaning they both choose B with </a:t>
            </a:r>
            <a:r>
              <a:rPr lang="en-US" b="1" i="0" dirty="0">
                <a:solidFill>
                  <a:schemeClr val="tx1"/>
                </a:solidFill>
                <a:effectLst/>
                <a:latin typeface="Söhne"/>
              </a:rPr>
              <a:t>probability 0.5 </a:t>
            </a:r>
            <a:r>
              <a:rPr lang="en-US" b="0" i="0" dirty="0">
                <a:solidFill>
                  <a:schemeClr val="tx1"/>
                </a:solidFill>
                <a:effectLst/>
                <a:latin typeface="Söhne"/>
              </a:rPr>
              <a:t>and F with </a:t>
            </a:r>
            <a:r>
              <a:rPr lang="en-US" b="1" i="0" dirty="0">
                <a:solidFill>
                  <a:schemeClr val="tx1"/>
                </a:solidFill>
                <a:effectLst/>
                <a:latin typeface="Söhne"/>
              </a:rPr>
              <a:t>probability 0.5</a:t>
            </a:r>
            <a:r>
              <a:rPr lang="en-US" b="0" i="0" dirty="0">
                <a:solidFill>
                  <a:schemeClr val="tx1"/>
                </a:solidFill>
                <a:effectLst/>
                <a:latin typeface="Söhne"/>
              </a:rPr>
              <a:t>.</a:t>
            </a:r>
          </a:p>
          <a:p>
            <a:pPr algn="l"/>
            <a:endParaRPr lang="en-US" b="0" i="0" dirty="0">
              <a:solidFill>
                <a:schemeClr val="tx1"/>
              </a:solidFill>
              <a:effectLst/>
              <a:latin typeface="Söhne"/>
            </a:endParaRPr>
          </a:p>
          <a:p>
            <a:pPr algn="l"/>
            <a:r>
              <a:rPr lang="en-US" b="0" i="0" dirty="0">
                <a:solidFill>
                  <a:schemeClr val="tx1"/>
                </a:solidFill>
                <a:effectLst/>
                <a:latin typeface="Söhne"/>
              </a:rPr>
              <a:t>Here's how this correlated equilibrium works:</a:t>
            </a:r>
          </a:p>
          <a:p>
            <a:pPr marL="685800" lvl="1" indent="-228600">
              <a:buFont typeface="+mj-lt"/>
              <a:buAutoNum type="arabicPeriod"/>
            </a:pPr>
            <a:r>
              <a:rPr lang="en-US" b="0" i="0" dirty="0">
                <a:solidFill>
                  <a:schemeClr val="tx1"/>
                </a:solidFill>
                <a:effectLst/>
                <a:latin typeface="Söhne"/>
              </a:rPr>
              <a:t>The mediator suggests to both the Wife and the Husband to choose B with a probability of 0.5 and F with a probability of 0.5.</a:t>
            </a:r>
          </a:p>
          <a:p>
            <a:pPr marL="685800" lvl="1" indent="-228600">
              <a:buFont typeface="+mj-lt"/>
              <a:buAutoNum type="arabicPeriod"/>
            </a:pPr>
            <a:r>
              <a:rPr lang="en-US" b="0" i="0" dirty="0">
                <a:solidFill>
                  <a:schemeClr val="tx1"/>
                </a:solidFill>
                <a:effectLst/>
                <a:latin typeface="Söhne"/>
              </a:rPr>
              <a:t>The Wife and the Husband receive these recommendations independently.</a:t>
            </a:r>
          </a:p>
          <a:p>
            <a:pPr marL="685800" lvl="1" indent="-228600">
              <a:buFont typeface="+mj-lt"/>
              <a:buAutoNum type="arabicPeriod"/>
            </a:pPr>
            <a:r>
              <a:rPr lang="en-US" b="0" i="0" dirty="0">
                <a:solidFill>
                  <a:schemeClr val="tx1"/>
                </a:solidFill>
                <a:effectLst/>
                <a:latin typeface="Söhne"/>
              </a:rPr>
              <a:t>Each player follows the recommended strategy with the probabilities suggested by the mediator.</a:t>
            </a:r>
          </a:p>
          <a:p>
            <a:pPr algn="l"/>
            <a:endParaRPr lang="en-US" b="0" i="0" dirty="0">
              <a:solidFill>
                <a:schemeClr val="tx1"/>
              </a:solidFill>
              <a:effectLst/>
              <a:latin typeface="Söhne"/>
            </a:endParaRPr>
          </a:p>
          <a:p>
            <a:pPr algn="l"/>
            <a:r>
              <a:rPr lang="en-US" b="0" i="0" dirty="0">
                <a:solidFill>
                  <a:schemeClr val="tx1"/>
                </a:solidFill>
                <a:effectLst/>
                <a:latin typeface="Söhne"/>
              </a:rPr>
              <a:t>In this correlated equilibrium:</a:t>
            </a:r>
          </a:p>
          <a:p>
            <a:pPr marL="628650" lvl="1" indent="-171450">
              <a:buFont typeface="Arial" panose="020B0604020202020204" pitchFamily="34" charset="0"/>
              <a:buChar char="•"/>
            </a:pPr>
            <a:r>
              <a:rPr lang="en-US" b="0" i="0" dirty="0">
                <a:solidFill>
                  <a:schemeClr val="tx1"/>
                </a:solidFill>
                <a:effectLst/>
                <a:latin typeface="Söhne"/>
              </a:rPr>
              <a:t>The Wife has a 0.5 probability of getting a payoff of 2 (when both choose B) and a 0.5 probability of getting a payoff of 0 (when both choose F).</a:t>
            </a:r>
          </a:p>
          <a:p>
            <a:pPr marL="628650" lvl="1" indent="-171450">
              <a:buFont typeface="Arial" panose="020B0604020202020204" pitchFamily="34" charset="0"/>
              <a:buChar char="•"/>
            </a:pPr>
            <a:r>
              <a:rPr lang="en-US" b="0" i="0" dirty="0">
                <a:solidFill>
                  <a:schemeClr val="tx1"/>
                </a:solidFill>
                <a:effectLst/>
                <a:latin typeface="Söhne"/>
              </a:rPr>
              <a:t>The Husband also has a 0.5 probability of getting a payoff of 2 (when both choose F) and a 0.5 probability of getting a payoff of 0 (when both choose B).</a:t>
            </a:r>
          </a:p>
          <a:p>
            <a:pPr algn="l"/>
            <a:endParaRPr lang="en-US" b="0" i="0" dirty="0">
              <a:solidFill>
                <a:schemeClr val="tx1"/>
              </a:solidFill>
              <a:effectLst/>
              <a:latin typeface="Söhne"/>
            </a:endParaRPr>
          </a:p>
          <a:p>
            <a:pPr algn="l"/>
            <a:r>
              <a:rPr lang="en-US" b="0" i="0" dirty="0">
                <a:solidFill>
                  <a:schemeClr val="tx1"/>
                </a:solidFill>
                <a:effectLst/>
                <a:latin typeface="Söhne"/>
              </a:rPr>
              <a:t>No player has an incentive to deviate from this strategy because, given the correlated strategy, they are maximizing their expected payoff based on their preferences. In other words, both players are better off following the recommendations than unilaterally changing their strategy.</a:t>
            </a:r>
          </a:p>
          <a:p>
            <a:pPr algn="l"/>
            <a:r>
              <a:rPr lang="en-US" b="0" i="0" dirty="0">
                <a:solidFill>
                  <a:schemeClr val="tx1"/>
                </a:solidFill>
                <a:effectLst/>
                <a:latin typeface="Söhne"/>
              </a:rPr>
              <a:t>This example illustrates how a correlated equilibrium can be used to coordinate actions in a game where players have conflicting interests and no pure Nash equilibrium represents a satisfactory outcome for both players. The </a:t>
            </a:r>
            <a:r>
              <a:rPr lang="en-US" b="1" i="0" dirty="0">
                <a:solidFill>
                  <a:schemeClr val="tx1"/>
                </a:solidFill>
                <a:effectLst/>
                <a:latin typeface="Söhne"/>
              </a:rPr>
              <a:t>correlated equilibrium</a:t>
            </a:r>
            <a:r>
              <a:rPr lang="en-US" b="0" i="0" dirty="0">
                <a:solidFill>
                  <a:schemeClr val="tx1"/>
                </a:solidFill>
                <a:effectLst/>
                <a:latin typeface="Söhne"/>
              </a:rPr>
              <a:t>, in this case, ensures that both players have a chance to achieve their preferred outcomes with equal probabilities.</a:t>
            </a:r>
          </a:p>
          <a:p>
            <a:br>
              <a:rPr lang="en-US" b="0" i="0" dirty="0">
                <a:solidFill>
                  <a:schemeClr val="tx1"/>
                </a:solidFill>
                <a:effectLst/>
                <a:latin typeface="Söhne"/>
              </a:rPr>
            </a:br>
            <a:endParaRPr dirty="0">
              <a:solidFill>
                <a:schemeClr val="tx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pPr algn="l"/>
            <a:br>
              <a:rPr lang="en-US" b="0" i="0" dirty="0">
                <a:solidFill>
                  <a:schemeClr val="tx1"/>
                </a:solidFill>
                <a:effectLst/>
                <a:latin typeface="Söhne"/>
              </a:rPr>
            </a:br>
            <a:r>
              <a:rPr lang="en-US" b="0" i="0" dirty="0">
                <a:solidFill>
                  <a:schemeClr val="tx1"/>
                </a:solidFill>
                <a:effectLst/>
                <a:latin typeface="Söhne"/>
              </a:rPr>
              <a:t>The definition describes a correlated equilibrium in a general n-agent game. Let's break down the components of this definition:</a:t>
            </a:r>
          </a:p>
          <a:p>
            <a:pPr algn="l">
              <a:buFont typeface="+mj-lt"/>
              <a:buAutoNum type="arabicPeriod"/>
            </a:pPr>
            <a:r>
              <a:rPr lang="en-US" b="1" i="0" dirty="0">
                <a:solidFill>
                  <a:schemeClr val="tx1"/>
                </a:solidFill>
                <a:effectLst/>
                <a:latin typeface="Söhne"/>
              </a:rPr>
              <a:t>n-agent Game 𝐺=(𝑁, 𝐴, 𝑢)</a:t>
            </a:r>
            <a:r>
              <a:rPr lang="en-US" b="0" i="0" dirty="0">
                <a:solidFill>
                  <a:schemeClr val="tx1"/>
                </a:solidFill>
                <a:effectLst/>
                <a:latin typeface="Söhne"/>
              </a:rPr>
              <a:t>:</a:t>
            </a:r>
          </a:p>
          <a:p>
            <a:pPr marL="785372" lvl="1" indent="-302066">
              <a:buFont typeface="+mj-lt"/>
              <a:buAutoNum type="arabicPeriod"/>
            </a:pPr>
            <a:r>
              <a:rPr lang="en-US" b="0" i="0" dirty="0">
                <a:solidFill>
                  <a:schemeClr val="tx1"/>
                </a:solidFill>
                <a:effectLst/>
                <a:latin typeface="Söhne"/>
              </a:rPr>
              <a:t>𝑁: The set of agents (players) involved in the game.</a:t>
            </a:r>
          </a:p>
          <a:p>
            <a:pPr marL="785372" lvl="1" indent="-302066">
              <a:buFont typeface="+mj-lt"/>
              <a:buAutoNum type="arabicPeriod"/>
            </a:pPr>
            <a:r>
              <a:rPr lang="en-US" b="0" i="0" dirty="0">
                <a:solidFill>
                  <a:schemeClr val="tx1"/>
                </a:solidFill>
                <a:effectLst/>
                <a:latin typeface="Söhne"/>
              </a:rPr>
              <a:t>𝐴: The set of action profiles, where each agent can choose an action from their respective action set.</a:t>
            </a:r>
          </a:p>
          <a:p>
            <a:pPr marL="785372" lvl="1" indent="-302066">
              <a:buFont typeface="+mj-lt"/>
              <a:buAutoNum type="arabicPeriod"/>
            </a:pPr>
            <a:r>
              <a:rPr lang="en-US" b="0" i="0" dirty="0">
                <a:solidFill>
                  <a:schemeClr val="tx1"/>
                </a:solidFill>
                <a:effectLst/>
                <a:latin typeface="Söhne"/>
              </a:rPr>
              <a:t>𝑢: The utility function that maps action profiles to payoffs for each agent, indicating how each agent's payoff depends on the chosen actions of all agents.</a:t>
            </a:r>
          </a:p>
          <a:p>
            <a:pPr algn="l">
              <a:buFont typeface="+mj-lt"/>
              <a:buAutoNum type="arabicPeriod"/>
            </a:pPr>
            <a:r>
              <a:rPr lang="en-US" b="1" i="0" dirty="0">
                <a:solidFill>
                  <a:schemeClr val="tx1"/>
                </a:solidFill>
                <a:effectLst/>
                <a:latin typeface="Söhne"/>
              </a:rPr>
              <a:t>Correlated Equilibrium Tuple (𝑣, 𝜋, 𝜎)</a:t>
            </a:r>
            <a:r>
              <a:rPr lang="en-US" b="0" i="0" dirty="0">
                <a:solidFill>
                  <a:schemeClr val="tx1"/>
                </a:solidFill>
                <a:effectLst/>
                <a:latin typeface="Söhne"/>
              </a:rPr>
              <a:t>:</a:t>
            </a:r>
          </a:p>
          <a:p>
            <a:pPr marL="785372" lvl="1" indent="-302066">
              <a:buFont typeface="+mj-lt"/>
              <a:buAutoNum type="arabicPeriod"/>
            </a:pPr>
            <a:r>
              <a:rPr lang="en-US" b="0" i="0" dirty="0">
                <a:solidFill>
                  <a:schemeClr val="tx1"/>
                </a:solidFill>
                <a:effectLst/>
                <a:latin typeface="Söhne"/>
              </a:rPr>
              <a:t>𝑣: A tuple of random variables 𝑣=(𝑣1, ..., 𝑣𝑛), where each 𝑣𝑖 is associated with an agent i and has a domain 𝐷𝑖. These random variables represent uncertain or probabilistic outcomes or signals related to the agents' decisions.</a:t>
            </a:r>
          </a:p>
          <a:p>
            <a:pPr marL="785372" lvl="1" indent="-302066">
              <a:buFont typeface="+mj-lt"/>
              <a:buAutoNum type="arabicPeriod"/>
            </a:pPr>
            <a:r>
              <a:rPr lang="en-US" b="0" i="0" dirty="0">
                <a:solidFill>
                  <a:schemeClr val="tx1"/>
                </a:solidFill>
                <a:effectLst/>
                <a:latin typeface="Söhne"/>
              </a:rPr>
              <a:t>𝜋: A joint distribution over the random variables 𝑣. It specifies the probabilities associated with different combinations of outcomes for the agents.</a:t>
            </a:r>
          </a:p>
          <a:p>
            <a:pPr marL="785372" lvl="1" indent="-302066">
              <a:buFont typeface="+mj-lt"/>
              <a:buAutoNum type="arabicPeriod"/>
            </a:pPr>
            <a:r>
              <a:rPr lang="en-US" b="0" i="0" dirty="0">
                <a:solidFill>
                  <a:schemeClr val="tx1"/>
                </a:solidFill>
                <a:effectLst/>
                <a:latin typeface="Söhne"/>
              </a:rPr>
              <a:t>𝜎: A vector of mappings 𝜎=(𝜎1, ..., 𝜎𝑛), where each 𝜎𝑖 is a mapping from the domain 𝐷𝑖 of agent i's random variable 𝑣𝑖 to the action set Ai for that agent.</a:t>
            </a:r>
          </a:p>
          <a:p>
            <a:pPr algn="l">
              <a:buFont typeface="+mj-lt"/>
              <a:buAutoNum type="arabicPeriod"/>
            </a:pPr>
            <a:r>
              <a:rPr lang="en-US" b="1" i="0" dirty="0">
                <a:solidFill>
                  <a:schemeClr val="tx1"/>
                </a:solidFill>
                <a:effectLst/>
                <a:latin typeface="Söhne"/>
              </a:rPr>
              <a:t>𝜎𝑖 : Di ↦ Ai</a:t>
            </a:r>
            <a:r>
              <a:rPr lang="en-US" b="0" i="0" dirty="0">
                <a:solidFill>
                  <a:schemeClr val="tx1"/>
                </a:solidFill>
                <a:effectLst/>
                <a:latin typeface="Söhne"/>
              </a:rPr>
              <a:t>: Each mapping 𝜎𝑖 defines how agent i's chosen action (from set Ai) depends on the outcome of their random variable 𝑣𝑖, which takes values from domain Di. In other words, 𝜎𝑖 maps the possible outcomes of 𝑣𝑖 to the actions the agent can take.</a:t>
            </a:r>
          </a:p>
          <a:p>
            <a:pPr algn="l"/>
            <a:r>
              <a:rPr lang="en-US" b="0" i="0" dirty="0">
                <a:solidFill>
                  <a:schemeClr val="tx1"/>
                </a:solidFill>
                <a:effectLst/>
                <a:latin typeface="Söhne"/>
              </a:rPr>
              <a:t>The concept of a correlated equilibrium allows for a broader range of strategic interactions than traditional Nash equilibria. It permits agents to consider probabilistic or correlated strategies, where the actions they take depend on random variables or signals. The joint distribution 𝜋 specifies how these random variables interact to determine the agents' actions, and 𝜎 maps the outcomes of these variables to actual actions.</a:t>
            </a:r>
          </a:p>
          <a:p>
            <a:pPr algn="l"/>
            <a:r>
              <a:rPr lang="en-US" b="0" i="0" dirty="0">
                <a:solidFill>
                  <a:schemeClr val="tx1"/>
                </a:solidFill>
                <a:effectLst/>
                <a:latin typeface="Söhne"/>
              </a:rPr>
              <a:t>In a correlated equilibrium, no agent has an incentive to unilaterally deviate from their prescribed strategy given the outcome of their random variable and the correlated strategy specified by 𝜋. It represents a way to capture strategic coordination and correlated behavior among agents in a game.</a:t>
            </a:r>
          </a:p>
          <a:p>
            <a:endParaRPr dirty="0">
              <a:solidFill>
                <a:schemeClr val="tx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lIns="96661" tIns="48331" rIns="96661" bIns="48331">
            <a:normAutofit fontScale="25000" lnSpcReduction="20000"/>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836920"/>
          </a:xfrm>
          <a:custGeom>
            <a:avLst/>
            <a:gdLst/>
            <a:ahLst/>
            <a:cxnLst/>
            <a:rect l="l" t="t" r="r" b="b"/>
            <a:pathLst>
              <a:path w="9144000" h="5836920">
                <a:moveTo>
                  <a:pt x="0" y="5836819"/>
                </a:moveTo>
                <a:lnTo>
                  <a:pt x="9144000" y="5836819"/>
                </a:lnTo>
                <a:lnTo>
                  <a:pt x="9144000" y="0"/>
                </a:lnTo>
                <a:lnTo>
                  <a:pt x="0" y="0"/>
                </a:lnTo>
                <a:lnTo>
                  <a:pt x="0" y="5836819"/>
                </a:lnTo>
                <a:close/>
              </a:path>
            </a:pathLst>
          </a:custGeom>
          <a:solidFill>
            <a:srgbClr val="E7E7E7"/>
          </a:solidFill>
        </p:spPr>
        <p:txBody>
          <a:bodyPr wrap="square" lIns="0" tIns="0" rIns="0" bIns="0" rtlCol="0"/>
          <a:lstStyle/>
          <a:p>
            <a:endParaRPr/>
          </a:p>
        </p:txBody>
      </p:sp>
      <p:sp>
        <p:nvSpPr>
          <p:cNvPr id="17" name="bk object 17"/>
          <p:cNvSpPr/>
          <p:nvPr/>
        </p:nvSpPr>
        <p:spPr>
          <a:xfrm>
            <a:off x="3177162" y="4185993"/>
            <a:ext cx="5967095" cy="2672080"/>
          </a:xfrm>
          <a:custGeom>
            <a:avLst/>
            <a:gdLst/>
            <a:ahLst/>
            <a:cxnLst/>
            <a:rect l="l" t="t" r="r" b="b"/>
            <a:pathLst>
              <a:path w="5967095" h="2672079">
                <a:moveTo>
                  <a:pt x="5966837" y="0"/>
                </a:moveTo>
                <a:lnTo>
                  <a:pt x="447098" y="0"/>
                </a:lnTo>
                <a:lnTo>
                  <a:pt x="410429" y="1482"/>
                </a:lnTo>
                <a:lnTo>
                  <a:pt x="339655" y="12993"/>
                </a:lnTo>
                <a:lnTo>
                  <a:pt x="273067" y="35135"/>
                </a:lnTo>
                <a:lnTo>
                  <a:pt x="211586" y="66985"/>
                </a:lnTo>
                <a:lnTo>
                  <a:pt x="156131" y="107624"/>
                </a:lnTo>
                <a:lnTo>
                  <a:pt x="107624" y="156132"/>
                </a:lnTo>
                <a:lnTo>
                  <a:pt x="66985" y="211586"/>
                </a:lnTo>
                <a:lnTo>
                  <a:pt x="35135" y="273068"/>
                </a:lnTo>
                <a:lnTo>
                  <a:pt x="12993" y="339656"/>
                </a:lnTo>
                <a:lnTo>
                  <a:pt x="1482" y="410430"/>
                </a:lnTo>
                <a:lnTo>
                  <a:pt x="0" y="447099"/>
                </a:lnTo>
                <a:lnTo>
                  <a:pt x="0" y="2235493"/>
                </a:lnTo>
                <a:lnTo>
                  <a:pt x="5851" y="2308015"/>
                </a:lnTo>
                <a:lnTo>
                  <a:pt x="22793" y="2376811"/>
                </a:lnTo>
                <a:lnTo>
                  <a:pt x="49904" y="2440961"/>
                </a:lnTo>
                <a:lnTo>
                  <a:pt x="86264" y="2499544"/>
                </a:lnTo>
                <a:lnTo>
                  <a:pt x="130952" y="2551640"/>
                </a:lnTo>
                <a:lnTo>
                  <a:pt x="183048" y="2596328"/>
                </a:lnTo>
                <a:lnTo>
                  <a:pt x="241631" y="2632687"/>
                </a:lnTo>
                <a:lnTo>
                  <a:pt x="305781" y="2659798"/>
                </a:lnTo>
                <a:lnTo>
                  <a:pt x="351429" y="2672006"/>
                </a:lnTo>
                <a:lnTo>
                  <a:pt x="5966837" y="2672006"/>
                </a:lnTo>
                <a:lnTo>
                  <a:pt x="5966837" y="0"/>
                </a:lnTo>
                <a:close/>
              </a:path>
            </a:pathLst>
          </a:custGeom>
          <a:solidFill>
            <a:srgbClr val="E7E7E7"/>
          </a:solidFill>
        </p:spPr>
        <p:txBody>
          <a:bodyPr wrap="square" lIns="0" tIns="0" rIns="0" bIns="0" rtlCol="0"/>
          <a:lstStyle/>
          <a:p>
            <a:endParaRPr/>
          </a:p>
        </p:txBody>
      </p:sp>
      <p:sp>
        <p:nvSpPr>
          <p:cNvPr id="18" name="bk object 18"/>
          <p:cNvSpPr/>
          <p:nvPr/>
        </p:nvSpPr>
        <p:spPr>
          <a:xfrm>
            <a:off x="0" y="1503401"/>
            <a:ext cx="4307205" cy="5354955"/>
          </a:xfrm>
          <a:custGeom>
            <a:avLst/>
            <a:gdLst/>
            <a:ahLst/>
            <a:cxnLst/>
            <a:rect l="l" t="t" r="r" b="b"/>
            <a:pathLst>
              <a:path w="4307205" h="5354955">
                <a:moveTo>
                  <a:pt x="0" y="5354598"/>
                </a:moveTo>
                <a:lnTo>
                  <a:pt x="4306917" y="5354598"/>
                </a:lnTo>
                <a:lnTo>
                  <a:pt x="4306917" y="0"/>
                </a:lnTo>
                <a:lnTo>
                  <a:pt x="0" y="0"/>
                </a:lnTo>
                <a:lnTo>
                  <a:pt x="0" y="5354598"/>
                </a:lnTo>
              </a:path>
            </a:pathLst>
          </a:custGeom>
          <a:solidFill>
            <a:srgbClr val="E7E7E7"/>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mall footer">
    <p:spTree>
      <p:nvGrpSpPr>
        <p:cNvPr id="1" name=""/>
        <p:cNvGrpSpPr/>
        <p:nvPr/>
      </p:nvGrpSpPr>
      <p:grpSpPr>
        <a:xfrm>
          <a:off x="0" y="0"/>
          <a:ext cx="0" cy="0"/>
          <a:chOff x="0" y="0"/>
          <a:chExt cx="0" cy="0"/>
        </a:xfrm>
      </p:grpSpPr>
      <p:grpSp>
        <p:nvGrpSpPr>
          <p:cNvPr id="30" name="Group"/>
          <p:cNvGrpSpPr/>
          <p:nvPr/>
        </p:nvGrpSpPr>
        <p:grpSpPr>
          <a:xfrm>
            <a:off x="0" y="2636837"/>
            <a:ext cx="8515351" cy="3744914"/>
            <a:chOff x="0" y="0"/>
            <a:chExt cx="8515350" cy="3744912"/>
          </a:xfrm>
        </p:grpSpPr>
        <p:sp>
          <p:nvSpPr>
            <p:cNvPr id="27"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9"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31" name="www.monash.edu.au"/>
          <p:cNvSpPr txBox="1"/>
          <p:nvPr/>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32"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33"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37" name="Slide Numbe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2" name="Holder 5">
            <a:extLst>
              <a:ext uri="{FF2B5EF4-FFF2-40B4-BE49-F238E27FC236}">
                <a16:creationId xmlns:a16="http://schemas.microsoft.com/office/drawing/2014/main" id="{DB3F787B-2650-FFBD-FD7A-E2A4210FA0F7}"/>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4089248782"/>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89000" y="1155700"/>
            <a:ext cx="7353300" cy="2324100"/>
          </a:xfrm>
          <a:prstGeom prst="rect">
            <a:avLst/>
          </a:prstGeom>
        </p:spPr>
        <p:txBody>
          <a:bodyPr anchor="b"/>
          <a:lstStyle>
            <a:lvl1pPr marL="0" marR="0" indent="0" algn="ctr" defTabSz="406400">
              <a:defRPr sz="5800">
                <a:uFillTx/>
                <a:latin typeface="+mj-lt"/>
                <a:ea typeface="+mj-ea"/>
                <a:cs typeface="+mj-cs"/>
                <a:sym typeface="Gill Sans"/>
              </a:defRPr>
            </a:lvl1pPr>
          </a:lstStyle>
          <a:p>
            <a:r>
              <a:t>Title Text</a:t>
            </a:r>
          </a:p>
        </p:txBody>
      </p:sp>
      <p:sp>
        <p:nvSpPr>
          <p:cNvPr id="45" name="Body Level One…"/>
          <p:cNvSpPr txBox="1">
            <a:spLocks noGrp="1"/>
          </p:cNvSpPr>
          <p:nvPr>
            <p:ph type="body" sz="quarter" idx="1"/>
          </p:nvPr>
        </p:nvSpPr>
        <p:spPr>
          <a:xfrm>
            <a:off x="889000" y="3530600"/>
            <a:ext cx="7353300" cy="800100"/>
          </a:xfrm>
          <a:prstGeom prst="rect">
            <a:avLst/>
          </a:prstGeom>
        </p:spPr>
        <p:txBody>
          <a:bodyPr/>
          <a:lstStyle>
            <a:lvl1pPr marL="0" marR="0" indent="0" algn="ctr" defTabSz="406400">
              <a:spcBef>
                <a:spcPts val="0"/>
              </a:spcBef>
              <a:buSzTx/>
              <a:buNone/>
              <a:defRPr sz="2400" b="0">
                <a:solidFill>
                  <a:srgbClr val="000000"/>
                </a:solidFill>
                <a:uFillTx/>
                <a:latin typeface="+mj-lt"/>
                <a:ea typeface="+mj-ea"/>
                <a:cs typeface="+mj-cs"/>
                <a:sym typeface="Gill Sans"/>
              </a:defRPr>
            </a:lvl1pPr>
            <a:lvl2pPr marL="0" marR="0" indent="0" algn="ctr" defTabSz="406400">
              <a:spcBef>
                <a:spcPts val="0"/>
              </a:spcBef>
              <a:buSzTx/>
              <a:buNone/>
              <a:defRPr sz="2400">
                <a:uFillTx/>
                <a:latin typeface="+mj-lt"/>
                <a:ea typeface="+mj-ea"/>
                <a:cs typeface="+mj-cs"/>
                <a:sym typeface="Gill Sans"/>
              </a:defRPr>
            </a:lvl2pPr>
            <a:lvl3pPr marL="0" marR="0" indent="0" algn="ctr" defTabSz="406400">
              <a:spcBef>
                <a:spcPts val="0"/>
              </a:spcBef>
              <a:buClrTx/>
              <a:buSzTx/>
              <a:buFontTx/>
              <a:buNone/>
              <a:defRPr>
                <a:uFillTx/>
                <a:latin typeface="+mj-lt"/>
                <a:ea typeface="+mj-ea"/>
                <a:cs typeface="+mj-cs"/>
                <a:sym typeface="Gill Sans"/>
              </a:defRPr>
            </a:lvl3pPr>
            <a:lvl4pPr marL="0" marR="0" indent="0" algn="ctr" defTabSz="406400">
              <a:spcBef>
                <a:spcPts val="0"/>
              </a:spcBef>
              <a:buSzTx/>
              <a:buNone/>
              <a:defRPr sz="2400">
                <a:uFillTx/>
                <a:latin typeface="+mj-lt"/>
                <a:ea typeface="+mj-ea"/>
                <a:cs typeface="+mj-cs"/>
                <a:sym typeface="Gill Sans"/>
              </a:defRPr>
            </a:lvl4pPr>
            <a:lvl5pPr marL="0" marR="0" indent="0" algn="ctr" defTabSz="406400">
              <a:spcBef>
                <a:spcPts val="0"/>
              </a:spcBef>
              <a:buSzTx/>
              <a:buNone/>
              <a:defRPr sz="24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6594326C-47C8-765C-E1AB-3AD36B8A17A2}"/>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3" name="www.monash.edu.au">
            <a:extLst>
              <a:ext uri="{FF2B5EF4-FFF2-40B4-BE49-F238E27FC236}">
                <a16:creationId xmlns:a16="http://schemas.microsoft.com/office/drawing/2014/main" id="{FCE6EDA5-8335-59CD-BDAF-6052DC1B27AF}"/>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0FE018A2-E707-EA9F-7709-1749F33DF0D6}"/>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a:t>Week-5</a:t>
            </a:r>
            <a:endParaRPr lang="en-US" dirty="0"/>
          </a:p>
        </p:txBody>
      </p:sp>
    </p:spTree>
    <p:extLst>
      <p:ext uri="{BB962C8B-B14F-4D97-AF65-F5344CB8AC3E}">
        <p14:creationId xmlns:p14="http://schemas.microsoft.com/office/powerpoint/2010/main" val="276897981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normal - no footer">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488156" y="1844675"/>
            <a:ext cx="7607301" cy="5013325"/>
          </a:xfrm>
          <a:prstGeom prst="rect">
            <a:avLst/>
          </a:prstGeom>
        </p:spPr>
        <p:txBody>
          <a:bodyPr/>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455414" y="-1"/>
            <a:ext cx="8229601" cy="1535114"/>
          </a:xfrm>
          <a:prstGeom prst="rect">
            <a:avLst/>
          </a:prstGeom>
        </p:spPr>
        <p:txBody>
          <a:bodyPr/>
          <a:lstStyle>
            <a:lvl1pPr>
              <a:defRPr sz="3000"/>
            </a:lvl1pPr>
          </a:lstStyle>
          <a:p>
            <a:r>
              <a:t>Title Text</a:t>
            </a:r>
          </a:p>
        </p:txBody>
      </p:sp>
      <p:sp>
        <p:nvSpPr>
          <p:cNvPr id="55" name="Line"/>
          <p:cNvSpPr/>
          <p:nvPr/>
        </p:nvSpPr>
        <p:spPr>
          <a:xfrm>
            <a:off x="565397" y="1257795"/>
            <a:ext cx="8013205" cy="1"/>
          </a:xfrm>
          <a:prstGeom prst="line">
            <a:avLst/>
          </a:prstGeom>
          <a:ln w="3175">
            <a:solidFill>
              <a:srgbClr val="000000"/>
            </a:solidFill>
            <a:miter lim="400000"/>
          </a:ln>
        </p:spPr>
        <p:txBody>
          <a:bodyPr lIns="50800" tIns="50800" rIns="50800" bIns="508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2" name="Slide Number">
            <a:extLst>
              <a:ext uri="{FF2B5EF4-FFF2-40B4-BE49-F238E27FC236}">
                <a16:creationId xmlns:a16="http://schemas.microsoft.com/office/drawing/2014/main" id="{C8178CCA-E30A-0142-22B4-297E197AF055}"/>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3" name="www.monash.edu.au">
            <a:extLst>
              <a:ext uri="{FF2B5EF4-FFF2-40B4-BE49-F238E27FC236}">
                <a16:creationId xmlns:a16="http://schemas.microsoft.com/office/drawing/2014/main" id="{3B37A0AE-1541-0B10-723C-7A027AF1E9EA}"/>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0BF30A43-39AB-A9BC-E1CC-A2B13E699239}"/>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1845827612"/>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normal">
    <p:spTree>
      <p:nvGrpSpPr>
        <p:cNvPr id="1" name=""/>
        <p:cNvGrpSpPr/>
        <p:nvPr/>
      </p:nvGrpSpPr>
      <p:grpSpPr>
        <a:xfrm>
          <a:off x="0" y="0"/>
          <a:ext cx="0" cy="0"/>
          <a:chOff x="0" y="0"/>
          <a:chExt cx="0" cy="0"/>
        </a:xfrm>
      </p:grpSpPr>
      <p:grpSp>
        <p:nvGrpSpPr>
          <p:cNvPr id="66" name="Group"/>
          <p:cNvGrpSpPr/>
          <p:nvPr/>
        </p:nvGrpSpPr>
        <p:grpSpPr>
          <a:xfrm>
            <a:off x="0" y="1362075"/>
            <a:ext cx="8515351" cy="4659313"/>
            <a:chOff x="0" y="0"/>
            <a:chExt cx="8515350" cy="4659312"/>
          </a:xfrm>
        </p:grpSpPr>
        <p:sp>
          <p:nvSpPr>
            <p:cNvPr id="63"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4"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5"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8"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sp>
        <p:nvSpPr>
          <p:cNvPr id="70" name="Title Text"/>
          <p:cNvSpPr txBox="1">
            <a:spLocks noGrp="1"/>
          </p:cNvSpPr>
          <p:nvPr>
            <p:ph type="title"/>
          </p:nvPr>
        </p:nvSpPr>
        <p:spPr>
          <a:prstGeom prst="rect">
            <a:avLst/>
          </a:prstGeom>
        </p:spPr>
        <p:txBody>
          <a:bodyPr/>
          <a:lstStyle/>
          <a:p>
            <a:r>
              <a:t>Title Text</a:t>
            </a:r>
          </a:p>
        </p:txBody>
      </p:sp>
      <p:sp>
        <p:nvSpPr>
          <p:cNvPr id="7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3C45F9E4-5BEB-6948-F8CF-3C29115FC191}"/>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4" name="www.monash.edu.au">
            <a:extLst>
              <a:ext uri="{FF2B5EF4-FFF2-40B4-BE49-F238E27FC236}">
                <a16:creationId xmlns:a16="http://schemas.microsoft.com/office/drawing/2014/main" id="{B531494C-4EA5-CC74-0BC8-C86C213D04DD}"/>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5" name="Holder 5">
            <a:extLst>
              <a:ext uri="{FF2B5EF4-FFF2-40B4-BE49-F238E27FC236}">
                <a16:creationId xmlns:a16="http://schemas.microsoft.com/office/drawing/2014/main" id="{9F9C374D-EC99-6398-336B-7FAC80D65F18}"/>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372123195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79" name="Title Text"/>
          <p:cNvSpPr txBox="1">
            <a:spLocks noGrp="1"/>
          </p:cNvSpPr>
          <p:nvPr>
            <p:ph type="title"/>
          </p:nvPr>
        </p:nvSpPr>
        <p:spPr>
          <a:xfrm>
            <a:off x="1812726" y="2558355"/>
            <a:ext cx="5518548" cy="1741290"/>
          </a:xfrm>
          <a:prstGeom prst="rect">
            <a:avLst/>
          </a:prstGeom>
        </p:spPr>
        <p:txBody>
          <a:bodyPr lIns="26789" tIns="26789" rIns="26789" bIns="26789">
            <a:normAutofit/>
          </a:bodyPr>
          <a:lstStyle>
            <a:lvl1pPr marL="0" marR="0" indent="0" algn="ctr" defTabSz="410765">
              <a:defRPr sz="5600">
                <a:uFillTx/>
                <a:latin typeface="Helvetica Light"/>
                <a:ea typeface="Helvetica Light"/>
                <a:cs typeface="Helvetica Light"/>
                <a:sym typeface="Helvetica Light"/>
              </a:defRPr>
            </a:lvl1pPr>
          </a:lstStyle>
          <a:p>
            <a:r>
              <a:t>Title Text</a:t>
            </a:r>
          </a:p>
        </p:txBody>
      </p:sp>
      <p:sp>
        <p:nvSpPr>
          <p:cNvPr id="2" name="Slide Number">
            <a:extLst>
              <a:ext uri="{FF2B5EF4-FFF2-40B4-BE49-F238E27FC236}">
                <a16:creationId xmlns:a16="http://schemas.microsoft.com/office/drawing/2014/main" id="{ADDC5FF1-A624-1E24-9ED8-5D93F35E60E3}"/>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3" name="www.monash.edu.au">
            <a:extLst>
              <a:ext uri="{FF2B5EF4-FFF2-40B4-BE49-F238E27FC236}">
                <a16:creationId xmlns:a16="http://schemas.microsoft.com/office/drawing/2014/main" id="{11A7D92C-6F1D-9843-664F-0C120FB19EB2}"/>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F64EAD79-E313-A233-DB43-C97EEDEE63EF}"/>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3432530003"/>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87" name="Title Text"/>
          <p:cNvSpPr txBox="1">
            <a:spLocks noGrp="1"/>
          </p:cNvSpPr>
          <p:nvPr>
            <p:ph type="title"/>
          </p:nvPr>
        </p:nvSpPr>
        <p:spPr>
          <a:xfrm>
            <a:off x="669726" y="26789"/>
            <a:ext cx="7804548" cy="1134838"/>
          </a:xfrm>
          <a:prstGeom prst="rect">
            <a:avLst/>
          </a:prstGeom>
        </p:spPr>
        <p:txBody>
          <a:bodyPr lIns="35718" tIns="35718" rIns="35718" bIns="35718">
            <a:normAutofit/>
          </a:bodyPr>
          <a:lstStyle>
            <a:lvl1pPr marL="0" marR="0" indent="0" algn="ctr" defTabSz="410765">
              <a:defRPr sz="4400" b="1">
                <a:uFillTx/>
                <a:latin typeface="Helvetica"/>
                <a:ea typeface="Helvetica"/>
                <a:cs typeface="Helvetica"/>
                <a:sym typeface="Helvetica"/>
              </a:defRPr>
            </a:lvl1pPr>
          </a:lstStyle>
          <a:p>
            <a:r>
              <a:t>Title Text</a:t>
            </a:r>
          </a:p>
        </p:txBody>
      </p:sp>
      <p:sp>
        <p:nvSpPr>
          <p:cNvPr id="2" name="Slide Number">
            <a:extLst>
              <a:ext uri="{FF2B5EF4-FFF2-40B4-BE49-F238E27FC236}">
                <a16:creationId xmlns:a16="http://schemas.microsoft.com/office/drawing/2014/main" id="{8D240F42-515F-7243-BFFE-63148E30BE96}"/>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3" name="www.monash.edu.au">
            <a:extLst>
              <a:ext uri="{FF2B5EF4-FFF2-40B4-BE49-F238E27FC236}">
                <a16:creationId xmlns:a16="http://schemas.microsoft.com/office/drawing/2014/main" id="{3B7C9770-2A48-6B16-CC9D-53795C67336B}"/>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85B1ED07-1625-C101-2440-D9146E5DAD39}"/>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210577508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7" name="www.monash.edu.au">
            <a:extLst>
              <a:ext uri="{FF2B5EF4-FFF2-40B4-BE49-F238E27FC236}">
                <a16:creationId xmlns:a16="http://schemas.microsoft.com/office/drawing/2014/main" id="{AD16522A-2526-5D51-CD18-434515DB9D93}"/>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8" name="Slide Number">
            <a:extLst>
              <a:ext uri="{FF2B5EF4-FFF2-40B4-BE49-F238E27FC236}">
                <a16:creationId xmlns:a16="http://schemas.microsoft.com/office/drawing/2014/main" id="{37A2ECB7-F678-C6E2-82FD-9EEA16DA0337}"/>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9" name="Holder 5">
            <a:extLst>
              <a:ext uri="{FF2B5EF4-FFF2-40B4-BE49-F238E27FC236}">
                <a16:creationId xmlns:a16="http://schemas.microsoft.com/office/drawing/2014/main" id="{1B462EA2-D57E-3D55-040E-F9EB92A5CB42}"/>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507861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7" name="www.monash.edu.au">
            <a:extLst>
              <a:ext uri="{FF2B5EF4-FFF2-40B4-BE49-F238E27FC236}">
                <a16:creationId xmlns:a16="http://schemas.microsoft.com/office/drawing/2014/main" id="{59F35EE0-E500-8A33-5671-6ABD09898BC1}"/>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8" name="Slide Number">
            <a:extLst>
              <a:ext uri="{FF2B5EF4-FFF2-40B4-BE49-F238E27FC236}">
                <a16:creationId xmlns:a16="http://schemas.microsoft.com/office/drawing/2014/main" id="{C83E8368-E40D-A970-122A-7B1808D962C2}"/>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9" name="Holder 5">
            <a:extLst>
              <a:ext uri="{FF2B5EF4-FFF2-40B4-BE49-F238E27FC236}">
                <a16:creationId xmlns:a16="http://schemas.microsoft.com/office/drawing/2014/main" id="{FBA917BA-F53E-60AE-9DE7-F017B509DE86}"/>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a:t>Week-5</a:t>
            </a:r>
            <a:endParaRPr lang="en-US" dirty="0"/>
          </a:p>
        </p:txBody>
      </p:sp>
    </p:spTree>
    <p:extLst>
      <p:ext uri="{BB962C8B-B14F-4D97-AF65-F5344CB8AC3E}">
        <p14:creationId xmlns:p14="http://schemas.microsoft.com/office/powerpoint/2010/main" val="39625742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362075"/>
            <a:ext cx="8515350" cy="3984625"/>
          </a:xfrm>
          <a:custGeom>
            <a:avLst/>
            <a:gdLst/>
            <a:ahLst/>
            <a:cxnLst/>
            <a:rect l="l" t="t" r="r" b="b"/>
            <a:pathLst>
              <a:path w="8515350" h="3984625">
                <a:moveTo>
                  <a:pt x="0" y="3984049"/>
                </a:moveTo>
                <a:lnTo>
                  <a:pt x="8515350" y="3984049"/>
                </a:lnTo>
                <a:lnTo>
                  <a:pt x="8515350" y="0"/>
                </a:lnTo>
                <a:lnTo>
                  <a:pt x="0" y="0"/>
                </a:lnTo>
                <a:lnTo>
                  <a:pt x="0" y="3984049"/>
                </a:lnTo>
                <a:close/>
              </a:path>
            </a:pathLst>
          </a:custGeom>
          <a:solidFill>
            <a:srgbClr val="E7E7E7"/>
          </a:solidFill>
        </p:spPr>
        <p:txBody>
          <a:bodyPr wrap="square" lIns="0" tIns="0" rIns="0" bIns="0" rtlCol="0"/>
          <a:lstStyle/>
          <a:p>
            <a:endParaRPr/>
          </a:p>
        </p:txBody>
      </p:sp>
      <p:sp>
        <p:nvSpPr>
          <p:cNvPr id="17" name="bk object 17"/>
          <p:cNvSpPr/>
          <p:nvPr/>
        </p:nvSpPr>
        <p:spPr>
          <a:xfrm>
            <a:off x="3043836" y="4265705"/>
            <a:ext cx="5471795" cy="1755775"/>
          </a:xfrm>
          <a:custGeom>
            <a:avLst/>
            <a:gdLst/>
            <a:ahLst/>
            <a:cxnLst/>
            <a:rect l="l" t="t" r="r" b="b"/>
            <a:pathLst>
              <a:path w="5471795" h="1755775">
                <a:moveTo>
                  <a:pt x="5178899" y="0"/>
                </a:moveTo>
                <a:lnTo>
                  <a:pt x="292614" y="0"/>
                </a:lnTo>
                <a:lnTo>
                  <a:pt x="268615" y="970"/>
                </a:lnTo>
                <a:lnTo>
                  <a:pt x="222295" y="8504"/>
                </a:lnTo>
                <a:lnTo>
                  <a:pt x="178715" y="22994"/>
                </a:lnTo>
                <a:lnTo>
                  <a:pt x="138477" y="43840"/>
                </a:lnTo>
                <a:lnTo>
                  <a:pt x="102184" y="70437"/>
                </a:lnTo>
                <a:lnTo>
                  <a:pt x="70437" y="102183"/>
                </a:lnTo>
                <a:lnTo>
                  <a:pt x="43840" y="138476"/>
                </a:lnTo>
                <a:lnTo>
                  <a:pt x="22995" y="178714"/>
                </a:lnTo>
                <a:lnTo>
                  <a:pt x="8504" y="222294"/>
                </a:lnTo>
                <a:lnTo>
                  <a:pt x="970" y="268614"/>
                </a:lnTo>
                <a:lnTo>
                  <a:pt x="0" y="292613"/>
                </a:lnTo>
                <a:lnTo>
                  <a:pt x="0" y="1463068"/>
                </a:lnTo>
                <a:lnTo>
                  <a:pt x="3829" y="1510532"/>
                </a:lnTo>
                <a:lnTo>
                  <a:pt x="14917" y="1555557"/>
                </a:lnTo>
                <a:lnTo>
                  <a:pt x="32661" y="1597541"/>
                </a:lnTo>
                <a:lnTo>
                  <a:pt x="56457" y="1635882"/>
                </a:lnTo>
                <a:lnTo>
                  <a:pt x="85704" y="1669977"/>
                </a:lnTo>
                <a:lnTo>
                  <a:pt x="119800" y="1699225"/>
                </a:lnTo>
                <a:lnTo>
                  <a:pt x="158141" y="1723021"/>
                </a:lnTo>
                <a:lnTo>
                  <a:pt x="200125" y="1740764"/>
                </a:lnTo>
                <a:lnTo>
                  <a:pt x="245150" y="1751852"/>
                </a:lnTo>
                <a:lnTo>
                  <a:pt x="292614" y="1755682"/>
                </a:lnTo>
                <a:lnTo>
                  <a:pt x="5178899" y="1755682"/>
                </a:lnTo>
                <a:lnTo>
                  <a:pt x="5226363" y="1751852"/>
                </a:lnTo>
                <a:lnTo>
                  <a:pt x="5271388" y="1740764"/>
                </a:lnTo>
                <a:lnTo>
                  <a:pt x="5313372" y="1723021"/>
                </a:lnTo>
                <a:lnTo>
                  <a:pt x="5351713" y="1699225"/>
                </a:lnTo>
                <a:lnTo>
                  <a:pt x="5385808" y="1669977"/>
                </a:lnTo>
                <a:lnTo>
                  <a:pt x="5415055" y="1635882"/>
                </a:lnTo>
                <a:lnTo>
                  <a:pt x="5438852" y="1597541"/>
                </a:lnTo>
                <a:lnTo>
                  <a:pt x="5456595" y="1555557"/>
                </a:lnTo>
                <a:lnTo>
                  <a:pt x="5467683" y="1510532"/>
                </a:lnTo>
                <a:lnTo>
                  <a:pt x="5471513" y="1463068"/>
                </a:lnTo>
                <a:lnTo>
                  <a:pt x="5471513" y="292613"/>
                </a:lnTo>
                <a:lnTo>
                  <a:pt x="5467683" y="245149"/>
                </a:lnTo>
                <a:lnTo>
                  <a:pt x="5456595" y="200124"/>
                </a:lnTo>
                <a:lnTo>
                  <a:pt x="5438852" y="158140"/>
                </a:lnTo>
                <a:lnTo>
                  <a:pt x="5415055" y="119799"/>
                </a:lnTo>
                <a:lnTo>
                  <a:pt x="5385808" y="85704"/>
                </a:lnTo>
                <a:lnTo>
                  <a:pt x="5351713" y="56457"/>
                </a:lnTo>
                <a:lnTo>
                  <a:pt x="5313372" y="32660"/>
                </a:lnTo>
                <a:lnTo>
                  <a:pt x="5271388" y="14917"/>
                </a:lnTo>
                <a:lnTo>
                  <a:pt x="5226363" y="3829"/>
                </a:lnTo>
                <a:lnTo>
                  <a:pt x="5178899" y="0"/>
                </a:lnTo>
                <a:close/>
              </a:path>
            </a:pathLst>
          </a:custGeom>
          <a:solidFill>
            <a:srgbClr val="E7E7E7"/>
          </a:solidFill>
        </p:spPr>
        <p:txBody>
          <a:bodyPr wrap="square" lIns="0" tIns="0" rIns="0" bIns="0" rtlCol="0"/>
          <a:lstStyle/>
          <a:p>
            <a:endParaRPr/>
          </a:p>
        </p:txBody>
      </p:sp>
      <p:sp>
        <p:nvSpPr>
          <p:cNvPr id="18" name="bk object 18"/>
          <p:cNvSpPr/>
          <p:nvPr/>
        </p:nvSpPr>
        <p:spPr>
          <a:xfrm>
            <a:off x="0" y="2510021"/>
            <a:ext cx="3783329" cy="3511550"/>
          </a:xfrm>
          <a:custGeom>
            <a:avLst/>
            <a:gdLst/>
            <a:ahLst/>
            <a:cxnLst/>
            <a:rect l="l" t="t" r="r" b="b"/>
            <a:pathLst>
              <a:path w="3783329" h="3511550">
                <a:moveTo>
                  <a:pt x="0" y="3511365"/>
                </a:moveTo>
                <a:lnTo>
                  <a:pt x="3783230" y="3511365"/>
                </a:lnTo>
                <a:lnTo>
                  <a:pt x="3783230" y="0"/>
                </a:lnTo>
                <a:lnTo>
                  <a:pt x="0" y="0"/>
                </a:lnTo>
                <a:lnTo>
                  <a:pt x="0" y="3511365"/>
                </a:lnTo>
                <a:close/>
              </a:path>
            </a:pathLst>
          </a:custGeom>
          <a:solidFill>
            <a:srgbClr val="E7E7E7"/>
          </a:solidFill>
        </p:spPr>
        <p:txBody>
          <a:bodyPr wrap="square" lIns="0" tIns="0" rIns="0" bIns="0" rtlCol="0"/>
          <a:lstStyle/>
          <a:p>
            <a:endParaRPr/>
          </a:p>
        </p:txBody>
      </p:sp>
      <p:sp>
        <p:nvSpPr>
          <p:cNvPr id="19" name="bk object 19"/>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8" name="www.monash.edu.au">
            <a:extLst>
              <a:ext uri="{FF2B5EF4-FFF2-40B4-BE49-F238E27FC236}">
                <a16:creationId xmlns:a16="http://schemas.microsoft.com/office/drawing/2014/main" id="{A0082AB9-212E-FAF0-817F-06CA920BCDA5}"/>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9" name="Slide Number">
            <a:extLst>
              <a:ext uri="{FF2B5EF4-FFF2-40B4-BE49-F238E27FC236}">
                <a16:creationId xmlns:a16="http://schemas.microsoft.com/office/drawing/2014/main" id="{38F8C476-61DF-6B41-9027-9B6A19531CB8}"/>
              </a:ext>
            </a:extLst>
          </p:cNvPr>
          <p:cNvSpPr txBox="1">
            <a:spLocks noGrp="1"/>
          </p:cNvSpPr>
          <p:nvPr>
            <p:ph type="sldNum" sz="quarter" idx="10"/>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10" name="Holder 5">
            <a:extLst>
              <a:ext uri="{FF2B5EF4-FFF2-40B4-BE49-F238E27FC236}">
                <a16:creationId xmlns:a16="http://schemas.microsoft.com/office/drawing/2014/main" id="{CAD90297-F6F6-5BD4-660A-39FC54239504}"/>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a:t>Week-5</a:t>
            </a:r>
            <a:endParaRPr lang="en-US" dirty="0"/>
          </a:p>
        </p:txBody>
      </p:sp>
    </p:spTree>
    <p:extLst>
      <p:ext uri="{BB962C8B-B14F-4D97-AF65-F5344CB8AC3E}">
        <p14:creationId xmlns:p14="http://schemas.microsoft.com/office/powerpoint/2010/main" val="2895285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6858000"/>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Tree>
    <p:extLst>
      <p:ext uri="{BB962C8B-B14F-4D97-AF65-F5344CB8AC3E}">
        <p14:creationId xmlns:p14="http://schemas.microsoft.com/office/powerpoint/2010/main" val="2908895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5" name="www.monash.edu.au">
            <a:extLst>
              <a:ext uri="{FF2B5EF4-FFF2-40B4-BE49-F238E27FC236}">
                <a16:creationId xmlns:a16="http://schemas.microsoft.com/office/drawing/2014/main" id="{009856EF-78AA-DECA-5E17-E630FD468F0A}"/>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6" name="Slide Number">
            <a:extLst>
              <a:ext uri="{FF2B5EF4-FFF2-40B4-BE49-F238E27FC236}">
                <a16:creationId xmlns:a16="http://schemas.microsoft.com/office/drawing/2014/main" id="{EFC2CDB3-8F1D-4FE0-59EE-86A3635F60E0}"/>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7" name="Holder 5">
            <a:extLst>
              <a:ext uri="{FF2B5EF4-FFF2-40B4-BE49-F238E27FC236}">
                <a16:creationId xmlns:a16="http://schemas.microsoft.com/office/drawing/2014/main" id="{C69D92DD-A035-8F01-AEAE-595718D4B8E2}"/>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364785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7" name="Slide Number">
            <a:extLst>
              <a:ext uri="{FF2B5EF4-FFF2-40B4-BE49-F238E27FC236}">
                <a16:creationId xmlns:a16="http://schemas.microsoft.com/office/drawing/2014/main" id="{B81FB4D5-70D6-0BD5-4EF3-7A2FFA22BE4E}"/>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8" name="www.monash.edu.au">
            <a:extLst>
              <a:ext uri="{FF2B5EF4-FFF2-40B4-BE49-F238E27FC236}">
                <a16:creationId xmlns:a16="http://schemas.microsoft.com/office/drawing/2014/main" id="{C4F3C320-31E0-DC4D-0714-55A40EDAC951}"/>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9" name="Holder 5">
            <a:extLst>
              <a:ext uri="{FF2B5EF4-FFF2-40B4-BE49-F238E27FC236}">
                <a16:creationId xmlns:a16="http://schemas.microsoft.com/office/drawing/2014/main" id="{64C34F56-6337-432A-5BCC-D197997EEA01}"/>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17705616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7" name="Slide Number">
            <a:extLst>
              <a:ext uri="{FF2B5EF4-FFF2-40B4-BE49-F238E27FC236}">
                <a16:creationId xmlns:a16="http://schemas.microsoft.com/office/drawing/2014/main" id="{5A48DB36-D2BB-489F-D2BA-3F04A525228C}"/>
              </a:ext>
            </a:extLst>
          </p:cNvPr>
          <p:cNvSpPr txBox="1">
            <a:spLocks noGrp="1"/>
          </p:cNvSpPr>
          <p:nvPr>
            <p:ph type="sldNum" sz="quarter" idx="2"/>
          </p:nvPr>
        </p:nvSpPr>
        <p:spPr>
          <a:xfrm>
            <a:off x="8077585" y="6523831"/>
            <a:ext cx="1222551"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8" name="www.monash.edu.au">
            <a:extLst>
              <a:ext uri="{FF2B5EF4-FFF2-40B4-BE49-F238E27FC236}">
                <a16:creationId xmlns:a16="http://schemas.microsoft.com/office/drawing/2014/main" id="{CB84B521-D71F-F15B-C8DC-EB831B05AD79}"/>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9" name="Holder 5">
            <a:extLst>
              <a:ext uri="{FF2B5EF4-FFF2-40B4-BE49-F238E27FC236}">
                <a16:creationId xmlns:a16="http://schemas.microsoft.com/office/drawing/2014/main" id="{8E135182-D152-7F67-D843-958607400310}"/>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27309549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
        <p:nvSpPr>
          <p:cNvPr id="8" name="Slide Number">
            <a:extLst>
              <a:ext uri="{FF2B5EF4-FFF2-40B4-BE49-F238E27FC236}">
                <a16:creationId xmlns:a16="http://schemas.microsoft.com/office/drawing/2014/main" id="{DD3C566B-1BD9-2174-9566-6408923A939C}"/>
              </a:ext>
            </a:extLst>
          </p:cNvPr>
          <p:cNvSpPr txBox="1">
            <a:spLocks noGrp="1"/>
          </p:cNvSpPr>
          <p:nvPr>
            <p:ph type="sldNum" sz="quarter" idx="10"/>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9" name="www.monash.edu.au">
            <a:extLst>
              <a:ext uri="{FF2B5EF4-FFF2-40B4-BE49-F238E27FC236}">
                <a16:creationId xmlns:a16="http://schemas.microsoft.com/office/drawing/2014/main" id="{8096BE00-949D-D10B-A286-01E55E25E322}"/>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extLst>
      <p:ext uri="{BB962C8B-B14F-4D97-AF65-F5344CB8AC3E}">
        <p14:creationId xmlns:p14="http://schemas.microsoft.com/office/powerpoint/2010/main" val="28142083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6" name="Holder 5">
            <a:extLst>
              <a:ext uri="{FF2B5EF4-FFF2-40B4-BE49-F238E27FC236}">
                <a16:creationId xmlns:a16="http://schemas.microsoft.com/office/drawing/2014/main" id="{6FF727C3-0E60-FD1E-A0A1-69AD010947E1}"/>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
        <p:nvSpPr>
          <p:cNvPr id="7" name="Slide Number">
            <a:extLst>
              <a:ext uri="{FF2B5EF4-FFF2-40B4-BE49-F238E27FC236}">
                <a16:creationId xmlns:a16="http://schemas.microsoft.com/office/drawing/2014/main" id="{5B436E4F-12FC-D789-6EF3-5FA589EF8A04}"/>
              </a:ext>
            </a:extLst>
          </p:cNvPr>
          <p:cNvSpPr txBox="1">
            <a:spLocks noGrp="1"/>
          </p:cNvSpPr>
          <p:nvPr>
            <p:ph type="sldNum" sz="quarter" idx="10"/>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8" name="www.monash.edu.au">
            <a:extLst>
              <a:ext uri="{FF2B5EF4-FFF2-40B4-BE49-F238E27FC236}">
                <a16:creationId xmlns:a16="http://schemas.microsoft.com/office/drawing/2014/main" id="{D0CD25EB-37FF-8BE6-F8A8-F2E8AEF17E52}"/>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extLst>
      <p:ext uri="{BB962C8B-B14F-4D97-AF65-F5344CB8AC3E}">
        <p14:creationId xmlns:p14="http://schemas.microsoft.com/office/powerpoint/2010/main" val="3605300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837"/>
            <a:ext cx="8515350" cy="3202305"/>
          </a:xfrm>
          <a:custGeom>
            <a:avLst/>
            <a:gdLst/>
            <a:ahLst/>
            <a:cxnLst/>
            <a:rect l="l" t="t" r="r" b="b"/>
            <a:pathLst>
              <a:path w="8515350" h="3202304">
                <a:moveTo>
                  <a:pt x="0" y="3202171"/>
                </a:moveTo>
                <a:lnTo>
                  <a:pt x="8515350" y="3202171"/>
                </a:lnTo>
                <a:lnTo>
                  <a:pt x="8515350" y="0"/>
                </a:lnTo>
                <a:lnTo>
                  <a:pt x="0" y="0"/>
                </a:lnTo>
                <a:lnTo>
                  <a:pt x="0" y="3202171"/>
                </a:lnTo>
                <a:close/>
              </a:path>
            </a:pathLst>
          </a:custGeom>
          <a:solidFill>
            <a:srgbClr val="E7E7E7"/>
          </a:solidFill>
        </p:spPr>
        <p:txBody>
          <a:bodyPr wrap="square" lIns="0" tIns="0" rIns="0" bIns="0" rtlCol="0"/>
          <a:lstStyle/>
          <a:p>
            <a:endParaRPr/>
          </a:p>
        </p:txBody>
      </p:sp>
      <p:sp>
        <p:nvSpPr>
          <p:cNvPr id="17" name="bk object 17"/>
          <p:cNvSpPr/>
          <p:nvPr/>
        </p:nvSpPr>
        <p:spPr>
          <a:xfrm>
            <a:off x="3043836" y="4970623"/>
            <a:ext cx="5471795" cy="1411605"/>
          </a:xfrm>
          <a:custGeom>
            <a:avLst/>
            <a:gdLst/>
            <a:ahLst/>
            <a:cxnLst/>
            <a:rect l="l" t="t" r="r" b="b"/>
            <a:pathLst>
              <a:path w="5471795" h="1411604">
                <a:moveTo>
                  <a:pt x="5236325" y="0"/>
                </a:moveTo>
                <a:lnTo>
                  <a:pt x="235187" y="0"/>
                </a:lnTo>
                <a:lnTo>
                  <a:pt x="215898" y="779"/>
                </a:lnTo>
                <a:lnTo>
                  <a:pt x="160850" y="11990"/>
                </a:lnTo>
                <a:lnTo>
                  <a:pt x="111300" y="35236"/>
                </a:lnTo>
                <a:lnTo>
                  <a:pt x="68884" y="68884"/>
                </a:lnTo>
                <a:lnTo>
                  <a:pt x="35236" y="111300"/>
                </a:lnTo>
                <a:lnTo>
                  <a:pt x="11990" y="160850"/>
                </a:lnTo>
                <a:lnTo>
                  <a:pt x="779" y="215898"/>
                </a:lnTo>
                <a:lnTo>
                  <a:pt x="0" y="235187"/>
                </a:lnTo>
                <a:lnTo>
                  <a:pt x="0" y="1175938"/>
                </a:lnTo>
                <a:lnTo>
                  <a:pt x="3078" y="1214087"/>
                </a:lnTo>
                <a:lnTo>
                  <a:pt x="18482" y="1267484"/>
                </a:lnTo>
                <a:lnTo>
                  <a:pt x="45377" y="1314837"/>
                </a:lnTo>
                <a:lnTo>
                  <a:pt x="82129" y="1354512"/>
                </a:lnTo>
                <a:lnTo>
                  <a:pt x="127105" y="1384875"/>
                </a:lnTo>
                <a:lnTo>
                  <a:pt x="178669" y="1404291"/>
                </a:lnTo>
                <a:lnTo>
                  <a:pt x="235187" y="1411126"/>
                </a:lnTo>
                <a:lnTo>
                  <a:pt x="5236325" y="1411126"/>
                </a:lnTo>
                <a:lnTo>
                  <a:pt x="5274474" y="1408048"/>
                </a:lnTo>
                <a:lnTo>
                  <a:pt x="5327871" y="1392644"/>
                </a:lnTo>
                <a:lnTo>
                  <a:pt x="5375224" y="1365748"/>
                </a:lnTo>
                <a:lnTo>
                  <a:pt x="5414899" y="1328996"/>
                </a:lnTo>
                <a:lnTo>
                  <a:pt x="5445261" y="1284020"/>
                </a:lnTo>
                <a:lnTo>
                  <a:pt x="5464677" y="1232456"/>
                </a:lnTo>
                <a:lnTo>
                  <a:pt x="5471513" y="1175938"/>
                </a:lnTo>
                <a:lnTo>
                  <a:pt x="5471513" y="235187"/>
                </a:lnTo>
                <a:lnTo>
                  <a:pt x="5468434" y="197038"/>
                </a:lnTo>
                <a:lnTo>
                  <a:pt x="5453030" y="143641"/>
                </a:lnTo>
                <a:lnTo>
                  <a:pt x="5426135" y="96288"/>
                </a:lnTo>
                <a:lnTo>
                  <a:pt x="5389383" y="56613"/>
                </a:lnTo>
                <a:lnTo>
                  <a:pt x="5344407" y="26251"/>
                </a:lnTo>
                <a:lnTo>
                  <a:pt x="5292843" y="6835"/>
                </a:lnTo>
                <a:lnTo>
                  <a:pt x="5236325" y="0"/>
                </a:lnTo>
                <a:close/>
              </a:path>
            </a:pathLst>
          </a:custGeom>
          <a:solidFill>
            <a:srgbClr val="E7E7E7"/>
          </a:solidFill>
        </p:spPr>
        <p:txBody>
          <a:bodyPr wrap="square" lIns="0" tIns="0" rIns="0" bIns="0" rtlCol="0"/>
          <a:lstStyle/>
          <a:p>
            <a:endParaRPr/>
          </a:p>
        </p:txBody>
      </p:sp>
      <p:sp>
        <p:nvSpPr>
          <p:cNvPr id="18" name="bk object 18"/>
          <p:cNvSpPr/>
          <p:nvPr/>
        </p:nvSpPr>
        <p:spPr>
          <a:xfrm>
            <a:off x="0" y="3559497"/>
            <a:ext cx="3783329" cy="2822575"/>
          </a:xfrm>
          <a:custGeom>
            <a:avLst/>
            <a:gdLst/>
            <a:ahLst/>
            <a:cxnLst/>
            <a:rect l="l" t="t" r="r" b="b"/>
            <a:pathLst>
              <a:path w="3783329" h="2822575">
                <a:moveTo>
                  <a:pt x="0" y="2822252"/>
                </a:moveTo>
                <a:lnTo>
                  <a:pt x="3783230" y="2822252"/>
                </a:lnTo>
                <a:lnTo>
                  <a:pt x="3783230" y="0"/>
                </a:lnTo>
                <a:lnTo>
                  <a:pt x="0" y="0"/>
                </a:lnTo>
                <a:lnTo>
                  <a:pt x="0" y="2822252"/>
                </a:lnTo>
                <a:close/>
              </a:path>
            </a:pathLst>
          </a:custGeom>
          <a:solidFill>
            <a:srgbClr val="E7E7E7"/>
          </a:solidFill>
        </p:spPr>
        <p:txBody>
          <a:bodyPr wrap="square" lIns="0" tIns="0" rIns="0" bIns="0" rtlCol="0"/>
          <a:lstStyle/>
          <a:p>
            <a:endParaRPr/>
          </a:p>
        </p:txBody>
      </p:sp>
      <p:sp>
        <p:nvSpPr>
          <p:cNvPr id="5" name="Holder 5">
            <a:extLst>
              <a:ext uri="{FF2B5EF4-FFF2-40B4-BE49-F238E27FC236}">
                <a16:creationId xmlns:a16="http://schemas.microsoft.com/office/drawing/2014/main" id="{5E9AAD46-FAE4-CA0C-C8D6-F75B248C12B5}"/>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
        <p:nvSpPr>
          <p:cNvPr id="6" name="Slide Number">
            <a:extLst>
              <a:ext uri="{FF2B5EF4-FFF2-40B4-BE49-F238E27FC236}">
                <a16:creationId xmlns:a16="http://schemas.microsoft.com/office/drawing/2014/main" id="{1D6BE6B6-946D-20DB-9F20-2E1274F5EB76}"/>
              </a:ext>
            </a:extLst>
          </p:cNvPr>
          <p:cNvSpPr txBox="1">
            <a:spLocks noGrp="1"/>
          </p:cNvSpPr>
          <p:nvPr>
            <p:ph type="sldNum" sz="quarter" idx="10"/>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7" name="www.monash.edu.au">
            <a:extLst>
              <a:ext uri="{FF2B5EF4-FFF2-40B4-BE49-F238E27FC236}">
                <a16:creationId xmlns:a16="http://schemas.microsoft.com/office/drawing/2014/main" id="{B47F0D60-0347-EA89-71FF-D30E82D52B1C}"/>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extLst>
      <p:ext uri="{BB962C8B-B14F-4D97-AF65-F5344CB8AC3E}">
        <p14:creationId xmlns:p14="http://schemas.microsoft.com/office/powerpoint/2010/main" val="19901349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4.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362075"/>
            <a:ext cx="8515350" cy="3984625"/>
          </a:xfrm>
          <a:custGeom>
            <a:avLst/>
            <a:gdLst/>
            <a:ahLst/>
            <a:cxnLst/>
            <a:rect l="l" t="t" r="r" b="b"/>
            <a:pathLst>
              <a:path w="8515350" h="3984625">
                <a:moveTo>
                  <a:pt x="0" y="3984049"/>
                </a:moveTo>
                <a:lnTo>
                  <a:pt x="8515350" y="3984049"/>
                </a:lnTo>
                <a:lnTo>
                  <a:pt x="8515350" y="0"/>
                </a:lnTo>
                <a:lnTo>
                  <a:pt x="0" y="0"/>
                </a:lnTo>
                <a:lnTo>
                  <a:pt x="0" y="3984049"/>
                </a:lnTo>
                <a:close/>
              </a:path>
            </a:pathLst>
          </a:custGeom>
          <a:solidFill>
            <a:srgbClr val="E7E7E7"/>
          </a:solidFill>
        </p:spPr>
        <p:txBody>
          <a:bodyPr wrap="square" lIns="0" tIns="0" rIns="0" bIns="0" rtlCol="0"/>
          <a:lstStyle/>
          <a:p>
            <a:endParaRPr/>
          </a:p>
        </p:txBody>
      </p:sp>
      <p:sp>
        <p:nvSpPr>
          <p:cNvPr id="17" name="bk object 17"/>
          <p:cNvSpPr/>
          <p:nvPr/>
        </p:nvSpPr>
        <p:spPr>
          <a:xfrm>
            <a:off x="3043836" y="4265705"/>
            <a:ext cx="5471795" cy="1755775"/>
          </a:xfrm>
          <a:custGeom>
            <a:avLst/>
            <a:gdLst/>
            <a:ahLst/>
            <a:cxnLst/>
            <a:rect l="l" t="t" r="r" b="b"/>
            <a:pathLst>
              <a:path w="5471795" h="1755775">
                <a:moveTo>
                  <a:pt x="5178899" y="0"/>
                </a:moveTo>
                <a:lnTo>
                  <a:pt x="292614" y="0"/>
                </a:lnTo>
                <a:lnTo>
                  <a:pt x="268615" y="970"/>
                </a:lnTo>
                <a:lnTo>
                  <a:pt x="222295" y="8504"/>
                </a:lnTo>
                <a:lnTo>
                  <a:pt x="178715" y="22994"/>
                </a:lnTo>
                <a:lnTo>
                  <a:pt x="138477" y="43840"/>
                </a:lnTo>
                <a:lnTo>
                  <a:pt x="102184" y="70437"/>
                </a:lnTo>
                <a:lnTo>
                  <a:pt x="70437" y="102183"/>
                </a:lnTo>
                <a:lnTo>
                  <a:pt x="43840" y="138476"/>
                </a:lnTo>
                <a:lnTo>
                  <a:pt x="22995" y="178714"/>
                </a:lnTo>
                <a:lnTo>
                  <a:pt x="8504" y="222294"/>
                </a:lnTo>
                <a:lnTo>
                  <a:pt x="970" y="268614"/>
                </a:lnTo>
                <a:lnTo>
                  <a:pt x="0" y="292613"/>
                </a:lnTo>
                <a:lnTo>
                  <a:pt x="0" y="1463068"/>
                </a:lnTo>
                <a:lnTo>
                  <a:pt x="3829" y="1510532"/>
                </a:lnTo>
                <a:lnTo>
                  <a:pt x="14917" y="1555557"/>
                </a:lnTo>
                <a:lnTo>
                  <a:pt x="32661" y="1597541"/>
                </a:lnTo>
                <a:lnTo>
                  <a:pt x="56457" y="1635882"/>
                </a:lnTo>
                <a:lnTo>
                  <a:pt x="85704" y="1669977"/>
                </a:lnTo>
                <a:lnTo>
                  <a:pt x="119800" y="1699225"/>
                </a:lnTo>
                <a:lnTo>
                  <a:pt x="158141" y="1723021"/>
                </a:lnTo>
                <a:lnTo>
                  <a:pt x="200125" y="1740764"/>
                </a:lnTo>
                <a:lnTo>
                  <a:pt x="245150" y="1751852"/>
                </a:lnTo>
                <a:lnTo>
                  <a:pt x="292614" y="1755682"/>
                </a:lnTo>
                <a:lnTo>
                  <a:pt x="5178899" y="1755682"/>
                </a:lnTo>
                <a:lnTo>
                  <a:pt x="5226363" y="1751852"/>
                </a:lnTo>
                <a:lnTo>
                  <a:pt x="5271388" y="1740764"/>
                </a:lnTo>
                <a:lnTo>
                  <a:pt x="5313372" y="1723021"/>
                </a:lnTo>
                <a:lnTo>
                  <a:pt x="5351713" y="1699225"/>
                </a:lnTo>
                <a:lnTo>
                  <a:pt x="5385808" y="1669977"/>
                </a:lnTo>
                <a:lnTo>
                  <a:pt x="5415055" y="1635882"/>
                </a:lnTo>
                <a:lnTo>
                  <a:pt x="5438852" y="1597541"/>
                </a:lnTo>
                <a:lnTo>
                  <a:pt x="5456595" y="1555557"/>
                </a:lnTo>
                <a:lnTo>
                  <a:pt x="5467683" y="1510532"/>
                </a:lnTo>
                <a:lnTo>
                  <a:pt x="5471513" y="1463068"/>
                </a:lnTo>
                <a:lnTo>
                  <a:pt x="5471513" y="292613"/>
                </a:lnTo>
                <a:lnTo>
                  <a:pt x="5467683" y="245149"/>
                </a:lnTo>
                <a:lnTo>
                  <a:pt x="5456595" y="200124"/>
                </a:lnTo>
                <a:lnTo>
                  <a:pt x="5438852" y="158140"/>
                </a:lnTo>
                <a:lnTo>
                  <a:pt x="5415055" y="119799"/>
                </a:lnTo>
                <a:lnTo>
                  <a:pt x="5385808" y="85704"/>
                </a:lnTo>
                <a:lnTo>
                  <a:pt x="5351713" y="56457"/>
                </a:lnTo>
                <a:lnTo>
                  <a:pt x="5313372" y="32660"/>
                </a:lnTo>
                <a:lnTo>
                  <a:pt x="5271388" y="14917"/>
                </a:lnTo>
                <a:lnTo>
                  <a:pt x="5226363" y="3829"/>
                </a:lnTo>
                <a:lnTo>
                  <a:pt x="5178899" y="0"/>
                </a:lnTo>
                <a:close/>
              </a:path>
            </a:pathLst>
          </a:custGeom>
          <a:solidFill>
            <a:srgbClr val="E7E7E7"/>
          </a:solidFill>
        </p:spPr>
        <p:txBody>
          <a:bodyPr wrap="square" lIns="0" tIns="0" rIns="0" bIns="0" rtlCol="0"/>
          <a:lstStyle/>
          <a:p>
            <a:endParaRPr/>
          </a:p>
        </p:txBody>
      </p:sp>
      <p:sp>
        <p:nvSpPr>
          <p:cNvPr id="18" name="bk object 18"/>
          <p:cNvSpPr/>
          <p:nvPr/>
        </p:nvSpPr>
        <p:spPr>
          <a:xfrm>
            <a:off x="0" y="2510021"/>
            <a:ext cx="3783329" cy="3511550"/>
          </a:xfrm>
          <a:custGeom>
            <a:avLst/>
            <a:gdLst/>
            <a:ahLst/>
            <a:cxnLst/>
            <a:rect l="l" t="t" r="r" b="b"/>
            <a:pathLst>
              <a:path w="3783329" h="3511550">
                <a:moveTo>
                  <a:pt x="0" y="3511365"/>
                </a:moveTo>
                <a:lnTo>
                  <a:pt x="3783230" y="3511365"/>
                </a:lnTo>
                <a:lnTo>
                  <a:pt x="3783230" y="0"/>
                </a:lnTo>
                <a:lnTo>
                  <a:pt x="0" y="0"/>
                </a:lnTo>
                <a:lnTo>
                  <a:pt x="0" y="3511365"/>
                </a:lnTo>
                <a:close/>
              </a:path>
            </a:pathLst>
          </a:custGeom>
          <a:solidFill>
            <a:srgbClr val="E7E7E7"/>
          </a:solidFill>
        </p:spPr>
        <p:txBody>
          <a:bodyPr wrap="square" lIns="0" tIns="0" rIns="0" bIns="0" rtlCol="0"/>
          <a:lstStyle/>
          <a:p>
            <a:endParaRPr/>
          </a:p>
        </p:txBody>
      </p:sp>
      <p:sp>
        <p:nvSpPr>
          <p:cNvPr id="2" name="Holder 2"/>
          <p:cNvSpPr>
            <a:spLocks noGrp="1"/>
          </p:cNvSpPr>
          <p:nvPr>
            <p:ph type="title"/>
          </p:nvPr>
        </p:nvSpPr>
        <p:spPr>
          <a:xfrm>
            <a:off x="461327" y="574571"/>
            <a:ext cx="8221344" cy="43180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95488" y="1694453"/>
            <a:ext cx="8953023" cy="4526280"/>
          </a:xfrm>
          <a:prstGeom prst="rect">
            <a:avLst/>
          </a:prstGeom>
        </p:spPr>
        <p:txBody>
          <a:bodyPr wrap="square" lIns="0" tIns="0" rIns="0" bIns="0">
            <a:spAutoFit/>
          </a:bodyPr>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79"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p:cNvGrpSpPr/>
          <p:nvPr/>
        </p:nvGrpSpPr>
        <p:grpSpPr>
          <a:xfrm>
            <a:off x="0" y="1362075"/>
            <a:ext cx="8515351" cy="4659313"/>
            <a:chOff x="0" y="0"/>
            <a:chExt cx="8515350" cy="4659312"/>
          </a:xfrm>
        </p:grpSpPr>
        <p:sp>
          <p:nvSpPr>
            <p:cNvPr id="2" name="Rectangle"/>
            <p:cNvSpPr/>
            <p:nvPr/>
          </p:nvSpPr>
          <p:spPr>
            <a:xfrm>
              <a:off x="0" y="0"/>
              <a:ext cx="8515350" cy="3984050"/>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3"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4" name="Rectangle"/>
            <p:cNvSpPr/>
            <p:nvPr/>
          </p:nvSpPr>
          <p:spPr>
            <a:xfrm>
              <a:off x="0" y="1147946"/>
              <a:ext cx="3783231" cy="3511367"/>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7" name="Line"/>
          <p:cNvSpPr/>
          <p:nvPr/>
        </p:nvSpPr>
        <p:spPr>
          <a:xfrm>
            <a:off x="0" y="13239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9" name="Title Text"/>
          <p:cNvSpPr txBox="1">
            <a:spLocks noGrp="1"/>
          </p:cNvSpPr>
          <p:nvPr>
            <p:ph type="title"/>
          </p:nvPr>
        </p:nvSpPr>
        <p:spPr>
          <a:xfrm>
            <a:off x="382587" y="0"/>
            <a:ext cx="8229601" cy="15351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lstStyle/>
          <a:p>
            <a:r>
              <a:t>Title Text</a:t>
            </a:r>
          </a:p>
        </p:txBody>
      </p:sp>
      <p:sp>
        <p:nvSpPr>
          <p:cNvPr id="10" name="Body Level One…"/>
          <p:cNvSpPr txBox="1">
            <a:spLocks noGrp="1"/>
          </p:cNvSpPr>
          <p:nvPr>
            <p:ph type="body" idx="1"/>
          </p:nvPr>
        </p:nvSpPr>
        <p:spPr>
          <a:xfrm>
            <a:off x="381000" y="1844675"/>
            <a:ext cx="7607300" cy="50133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lstStyle>
            <a:lvl2pPr marL="947102" indent="-285749">
              <a:buChar char="–"/>
              <a:defRPr sz="2600" b="0">
                <a:solidFill>
                  <a:srgbClr val="000000"/>
                </a:solidFill>
                <a:uFill>
                  <a:solidFill>
                    <a:srgbClr val="000000"/>
                  </a:solidFill>
                </a:uFill>
              </a:defRPr>
            </a:lvl2pPr>
            <a:lvl3pPr marL="1355089" indent="-228600">
              <a:spcBef>
                <a:spcPts val="500"/>
              </a:spcBef>
              <a:buClr>
                <a:srgbClr val="000000"/>
              </a:buClr>
              <a:buFont typeface="Arial"/>
              <a:buChar char="&gt;"/>
              <a:defRPr sz="2400" b="0">
                <a:solidFill>
                  <a:srgbClr val="000000"/>
                </a:solidFill>
                <a:uFill>
                  <a:solidFill>
                    <a:srgbClr val="000000"/>
                  </a:solidFill>
                </a:uFill>
              </a:defRPr>
            </a:lvl3pPr>
            <a:lvl4pPr marL="1763077" indent="-228600">
              <a:spcBef>
                <a:spcPts val="400"/>
              </a:spcBef>
              <a:buChar char="–"/>
              <a:defRPr sz="2000" b="0">
                <a:solidFill>
                  <a:srgbClr val="000000"/>
                </a:solidFill>
                <a:uFill>
                  <a:solidFill>
                    <a:srgbClr val="000000"/>
                  </a:solidFill>
                </a:uFill>
              </a:defRPr>
            </a:lvl4pPr>
            <a:lvl5pPr marL="2171064" indent="-228600">
              <a:spcBef>
                <a:spcPts val="400"/>
              </a:spcBef>
              <a:buChar char="»"/>
              <a:defRPr sz="2000" b="0">
                <a:solidFill>
                  <a:srgbClr val="000000"/>
                </a:solidFill>
                <a:uFill>
                  <a:solidFill>
                    <a:srgbClr val="000000"/>
                  </a:solidFill>
                </a:uFill>
              </a:defRPr>
            </a:lvl5pPr>
          </a:lstStyle>
          <a:p>
            <a:r>
              <a:t>Body Level One</a:t>
            </a:r>
          </a:p>
          <a:p>
            <a:pPr lvl="1"/>
            <a:r>
              <a:t>Body Level Two</a:t>
            </a:r>
          </a:p>
          <a:p>
            <a:pPr lvl="2"/>
            <a:r>
              <a:t>Body Level Three</a:t>
            </a:r>
          </a:p>
          <a:p>
            <a:pPr lvl="3"/>
            <a:r>
              <a:t>Body Level Four</a:t>
            </a:r>
          </a:p>
          <a:p>
            <a:pPr lvl="4"/>
            <a:r>
              <a:t>Body Level Five</a:t>
            </a:r>
          </a:p>
        </p:txBody>
      </p:sp>
      <p:sp>
        <p:nvSpPr>
          <p:cNvPr id="12" name="www.monash.edu.au">
            <a:extLst>
              <a:ext uri="{FF2B5EF4-FFF2-40B4-BE49-F238E27FC236}">
                <a16:creationId xmlns:a16="http://schemas.microsoft.com/office/drawing/2014/main" id="{6C5A1932-339F-2B59-AA68-9DC6C40F9AA6}"/>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13" name="Slide Number">
            <a:extLst>
              <a:ext uri="{FF2B5EF4-FFF2-40B4-BE49-F238E27FC236}">
                <a16:creationId xmlns:a16="http://schemas.microsoft.com/office/drawing/2014/main" id="{670A58DF-E724-EC06-E22C-E44FE03E2DB5}"/>
              </a:ext>
            </a:extLst>
          </p:cNvPr>
          <p:cNvSpPr txBox="1">
            <a:spLocks noGrp="1"/>
          </p:cNvSpPr>
          <p:nvPr>
            <p:ph type="sldNum" sz="quarter" idx="4"/>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14" name="Holder 5">
            <a:extLst>
              <a:ext uri="{FF2B5EF4-FFF2-40B4-BE49-F238E27FC236}">
                <a16:creationId xmlns:a16="http://schemas.microsoft.com/office/drawing/2014/main" id="{5DE556A7-82F5-38D7-3AE7-A005596FBCDD}"/>
              </a:ext>
            </a:extLst>
          </p:cNvPr>
          <p:cNvSpPr>
            <a:spLocks noGrp="1"/>
          </p:cNvSpPr>
          <p:nvPr>
            <p:ph type="ftr" sz="quarter" idx="3"/>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152107621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ransition spd="med"/>
  <p:hf hdr="0" dt="0"/>
  <p:txStyles>
    <p:titleStyle>
      <a:lvl1pPr marL="121602" marR="40639" indent="-80962"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121602" marR="40639" indent="147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121602" marR="40639" indent="376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121602" marR="40639" indent="604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121602" marR="40639" indent="8334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121602" marR="40639" indent="10620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121602" marR="40639" indent="1290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121602" marR="40639" indent="1519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121602" marR="40639" indent="1747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1pPr>
      <a:lvl2pPr marL="0" marR="0" indent="228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2pPr>
      <a:lvl3pPr marL="0" marR="0" indent="457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3pPr>
      <a:lvl4pPr marL="0" marR="0" indent="685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4pPr>
      <a:lvl5pPr marL="0" marR="0" indent="9144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5pPr>
      <a:lvl6pPr marL="0" marR="0" indent="11430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6pPr>
      <a:lvl7pPr marL="0" marR="0" indent="1371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7pPr>
      <a:lvl8pPr marL="0" marR="0" indent="1600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8pPr>
      <a:lvl9pPr marL="0" marR="0" indent="1828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362075"/>
            <a:ext cx="8515350" cy="3984625"/>
          </a:xfrm>
          <a:custGeom>
            <a:avLst/>
            <a:gdLst/>
            <a:ahLst/>
            <a:cxnLst/>
            <a:rect l="l" t="t" r="r" b="b"/>
            <a:pathLst>
              <a:path w="8515350" h="3984625">
                <a:moveTo>
                  <a:pt x="0" y="3984049"/>
                </a:moveTo>
                <a:lnTo>
                  <a:pt x="8515350" y="3984049"/>
                </a:lnTo>
                <a:lnTo>
                  <a:pt x="8515350" y="0"/>
                </a:lnTo>
                <a:lnTo>
                  <a:pt x="0" y="0"/>
                </a:lnTo>
                <a:lnTo>
                  <a:pt x="0" y="3984049"/>
                </a:lnTo>
                <a:close/>
              </a:path>
            </a:pathLst>
          </a:custGeom>
          <a:solidFill>
            <a:srgbClr val="E7E7E7"/>
          </a:solidFill>
        </p:spPr>
        <p:txBody>
          <a:bodyPr wrap="square" lIns="0" tIns="0" rIns="0" bIns="0" rtlCol="0"/>
          <a:lstStyle/>
          <a:p>
            <a:endParaRPr/>
          </a:p>
        </p:txBody>
      </p:sp>
      <p:sp>
        <p:nvSpPr>
          <p:cNvPr id="17" name="bk object 17"/>
          <p:cNvSpPr/>
          <p:nvPr/>
        </p:nvSpPr>
        <p:spPr>
          <a:xfrm>
            <a:off x="3043836" y="4265705"/>
            <a:ext cx="5471795" cy="1755775"/>
          </a:xfrm>
          <a:custGeom>
            <a:avLst/>
            <a:gdLst/>
            <a:ahLst/>
            <a:cxnLst/>
            <a:rect l="l" t="t" r="r" b="b"/>
            <a:pathLst>
              <a:path w="5471795" h="1755775">
                <a:moveTo>
                  <a:pt x="5178899" y="0"/>
                </a:moveTo>
                <a:lnTo>
                  <a:pt x="292614" y="0"/>
                </a:lnTo>
                <a:lnTo>
                  <a:pt x="268615" y="970"/>
                </a:lnTo>
                <a:lnTo>
                  <a:pt x="222295" y="8504"/>
                </a:lnTo>
                <a:lnTo>
                  <a:pt x="178715" y="22994"/>
                </a:lnTo>
                <a:lnTo>
                  <a:pt x="138477" y="43840"/>
                </a:lnTo>
                <a:lnTo>
                  <a:pt x="102184" y="70437"/>
                </a:lnTo>
                <a:lnTo>
                  <a:pt x="70437" y="102183"/>
                </a:lnTo>
                <a:lnTo>
                  <a:pt x="43840" y="138476"/>
                </a:lnTo>
                <a:lnTo>
                  <a:pt x="22995" y="178714"/>
                </a:lnTo>
                <a:lnTo>
                  <a:pt x="8504" y="222294"/>
                </a:lnTo>
                <a:lnTo>
                  <a:pt x="970" y="268614"/>
                </a:lnTo>
                <a:lnTo>
                  <a:pt x="0" y="292613"/>
                </a:lnTo>
                <a:lnTo>
                  <a:pt x="0" y="1463068"/>
                </a:lnTo>
                <a:lnTo>
                  <a:pt x="3829" y="1510532"/>
                </a:lnTo>
                <a:lnTo>
                  <a:pt x="14917" y="1555557"/>
                </a:lnTo>
                <a:lnTo>
                  <a:pt x="32661" y="1597541"/>
                </a:lnTo>
                <a:lnTo>
                  <a:pt x="56457" y="1635882"/>
                </a:lnTo>
                <a:lnTo>
                  <a:pt x="85704" y="1669977"/>
                </a:lnTo>
                <a:lnTo>
                  <a:pt x="119800" y="1699225"/>
                </a:lnTo>
                <a:lnTo>
                  <a:pt x="158141" y="1723021"/>
                </a:lnTo>
                <a:lnTo>
                  <a:pt x="200125" y="1740764"/>
                </a:lnTo>
                <a:lnTo>
                  <a:pt x="245150" y="1751852"/>
                </a:lnTo>
                <a:lnTo>
                  <a:pt x="292614" y="1755682"/>
                </a:lnTo>
                <a:lnTo>
                  <a:pt x="5178899" y="1755682"/>
                </a:lnTo>
                <a:lnTo>
                  <a:pt x="5226363" y="1751852"/>
                </a:lnTo>
                <a:lnTo>
                  <a:pt x="5271388" y="1740764"/>
                </a:lnTo>
                <a:lnTo>
                  <a:pt x="5313372" y="1723021"/>
                </a:lnTo>
                <a:lnTo>
                  <a:pt x="5351713" y="1699225"/>
                </a:lnTo>
                <a:lnTo>
                  <a:pt x="5385808" y="1669977"/>
                </a:lnTo>
                <a:lnTo>
                  <a:pt x="5415055" y="1635882"/>
                </a:lnTo>
                <a:lnTo>
                  <a:pt x="5438852" y="1597541"/>
                </a:lnTo>
                <a:lnTo>
                  <a:pt x="5456595" y="1555557"/>
                </a:lnTo>
                <a:lnTo>
                  <a:pt x="5467683" y="1510532"/>
                </a:lnTo>
                <a:lnTo>
                  <a:pt x="5471513" y="1463068"/>
                </a:lnTo>
                <a:lnTo>
                  <a:pt x="5471513" y="292613"/>
                </a:lnTo>
                <a:lnTo>
                  <a:pt x="5467683" y="245149"/>
                </a:lnTo>
                <a:lnTo>
                  <a:pt x="5456595" y="200124"/>
                </a:lnTo>
                <a:lnTo>
                  <a:pt x="5438852" y="158140"/>
                </a:lnTo>
                <a:lnTo>
                  <a:pt x="5415055" y="119799"/>
                </a:lnTo>
                <a:lnTo>
                  <a:pt x="5385808" y="85704"/>
                </a:lnTo>
                <a:lnTo>
                  <a:pt x="5351713" y="56457"/>
                </a:lnTo>
                <a:lnTo>
                  <a:pt x="5313372" y="32660"/>
                </a:lnTo>
                <a:lnTo>
                  <a:pt x="5271388" y="14917"/>
                </a:lnTo>
                <a:lnTo>
                  <a:pt x="5226363" y="3829"/>
                </a:lnTo>
                <a:lnTo>
                  <a:pt x="5178899" y="0"/>
                </a:lnTo>
                <a:close/>
              </a:path>
            </a:pathLst>
          </a:custGeom>
          <a:solidFill>
            <a:srgbClr val="E7E7E7"/>
          </a:solidFill>
        </p:spPr>
        <p:txBody>
          <a:bodyPr wrap="square" lIns="0" tIns="0" rIns="0" bIns="0" rtlCol="0"/>
          <a:lstStyle/>
          <a:p>
            <a:endParaRPr/>
          </a:p>
        </p:txBody>
      </p:sp>
      <p:sp>
        <p:nvSpPr>
          <p:cNvPr id="18" name="bk object 18"/>
          <p:cNvSpPr/>
          <p:nvPr/>
        </p:nvSpPr>
        <p:spPr>
          <a:xfrm>
            <a:off x="0" y="2510021"/>
            <a:ext cx="3783329" cy="3511550"/>
          </a:xfrm>
          <a:custGeom>
            <a:avLst/>
            <a:gdLst/>
            <a:ahLst/>
            <a:cxnLst/>
            <a:rect l="l" t="t" r="r" b="b"/>
            <a:pathLst>
              <a:path w="3783329" h="3511550">
                <a:moveTo>
                  <a:pt x="0" y="3511365"/>
                </a:moveTo>
                <a:lnTo>
                  <a:pt x="3783230" y="3511365"/>
                </a:lnTo>
                <a:lnTo>
                  <a:pt x="3783230" y="0"/>
                </a:lnTo>
                <a:lnTo>
                  <a:pt x="0" y="0"/>
                </a:lnTo>
                <a:lnTo>
                  <a:pt x="0" y="3511365"/>
                </a:lnTo>
                <a:close/>
              </a:path>
            </a:pathLst>
          </a:custGeom>
          <a:solidFill>
            <a:srgbClr val="E7E7E7"/>
          </a:solidFill>
        </p:spPr>
        <p:txBody>
          <a:bodyPr wrap="square" lIns="0" tIns="0" rIns="0" bIns="0" rtlCol="0"/>
          <a:lstStyle/>
          <a:p>
            <a:endParaRPr/>
          </a:p>
        </p:txBody>
      </p:sp>
      <p:sp>
        <p:nvSpPr>
          <p:cNvPr id="2" name="Holder 2"/>
          <p:cNvSpPr>
            <a:spLocks noGrp="1"/>
          </p:cNvSpPr>
          <p:nvPr>
            <p:ph type="title"/>
          </p:nvPr>
        </p:nvSpPr>
        <p:spPr>
          <a:xfrm>
            <a:off x="461327" y="574571"/>
            <a:ext cx="8221344" cy="43180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380792" y="1913585"/>
            <a:ext cx="8382415" cy="3348354"/>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7" name="www.monash.edu.au">
            <a:extLst>
              <a:ext uri="{FF2B5EF4-FFF2-40B4-BE49-F238E27FC236}">
                <a16:creationId xmlns:a16="http://schemas.microsoft.com/office/drawing/2014/main" id="{53D50042-3E49-1DC5-6750-795D905ADDCE}"/>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8" name="Slide Number">
            <a:extLst>
              <a:ext uri="{FF2B5EF4-FFF2-40B4-BE49-F238E27FC236}">
                <a16:creationId xmlns:a16="http://schemas.microsoft.com/office/drawing/2014/main" id="{00FDC4CC-0E55-B75E-0FDC-9F2ED32660A8}"/>
              </a:ext>
            </a:extLst>
          </p:cNvPr>
          <p:cNvSpPr txBox="1">
            <a:spLocks noGrp="1"/>
          </p:cNvSpPr>
          <p:nvPr>
            <p:ph type="sldNum" sz="quarter" idx="4"/>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9" name="Holder 5">
            <a:extLst>
              <a:ext uri="{FF2B5EF4-FFF2-40B4-BE49-F238E27FC236}">
                <a16:creationId xmlns:a16="http://schemas.microsoft.com/office/drawing/2014/main" id="{34BDD84F-0BCD-E357-A74A-9696F6211C85}"/>
              </a:ext>
            </a:extLst>
          </p:cNvPr>
          <p:cNvSpPr>
            <a:spLocks noGrp="1"/>
          </p:cNvSpPr>
          <p:nvPr>
            <p:ph type="ftr" sz="quarter" idx="3"/>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405440762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31776"/>
            <a:ext cx="9144000" cy="5016500"/>
          </a:xfrm>
          <a:custGeom>
            <a:avLst/>
            <a:gdLst/>
            <a:ahLst/>
            <a:cxnLst/>
            <a:rect l="l" t="t" r="r" b="b"/>
            <a:pathLst>
              <a:path w="9144000" h="5016500">
                <a:moveTo>
                  <a:pt x="0" y="0"/>
                </a:moveTo>
                <a:lnTo>
                  <a:pt x="0" y="5015981"/>
                </a:lnTo>
                <a:lnTo>
                  <a:pt x="9144000" y="5015981"/>
                </a:lnTo>
                <a:lnTo>
                  <a:pt x="9144000" y="0"/>
                </a:lnTo>
                <a:lnTo>
                  <a:pt x="0" y="0"/>
                </a:lnTo>
              </a:path>
            </a:pathLst>
          </a:custGeom>
          <a:solidFill>
            <a:srgbClr val="E7E7E7"/>
          </a:solidFill>
        </p:spPr>
        <p:txBody>
          <a:bodyPr wrap="square" lIns="0" tIns="0" rIns="0" bIns="0" rtlCol="0"/>
          <a:lstStyle/>
          <a:p>
            <a:endParaRPr/>
          </a:p>
        </p:txBody>
      </p:sp>
      <p:sp>
        <p:nvSpPr>
          <p:cNvPr id="17" name="bk object 17"/>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1"/>
                </a:lnTo>
                <a:lnTo>
                  <a:pt x="107903" y="2102528"/>
                </a:lnTo>
                <a:lnTo>
                  <a:pt x="150829" y="2139351"/>
                </a:lnTo>
                <a:lnTo>
                  <a:pt x="199101" y="2169311"/>
                </a:lnTo>
                <a:lnTo>
                  <a:pt x="201645" y="2170506"/>
                </a:lnTo>
                <a:lnTo>
                  <a:pt x="6100240" y="2170506"/>
                </a:lnTo>
                <a:lnTo>
                  <a:pt x="6100240" y="0"/>
                </a:lnTo>
                <a:close/>
              </a:path>
            </a:pathLst>
          </a:custGeom>
          <a:solidFill>
            <a:srgbClr val="E7E7E7"/>
          </a:solidFill>
        </p:spPr>
        <p:txBody>
          <a:bodyPr wrap="square" lIns="0" tIns="0" rIns="0" bIns="0" rtlCol="0"/>
          <a:lstStyle/>
          <a:p>
            <a:endParaRPr/>
          </a:p>
        </p:txBody>
      </p:sp>
      <p:sp>
        <p:nvSpPr>
          <p:cNvPr id="18" name="bk object 18"/>
          <p:cNvSpPr/>
          <p:nvPr userDrawn="1"/>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close/>
              </a:path>
            </a:pathLst>
          </a:custGeom>
          <a:solidFill>
            <a:srgbClr val="E7E7E7"/>
          </a:solidFill>
        </p:spPr>
        <p:txBody>
          <a:bodyPr wrap="square" lIns="0" tIns="0" rIns="0" bIns="0" rtlCol="0"/>
          <a:lstStyle/>
          <a:p>
            <a:endParaRPr/>
          </a:p>
        </p:txBody>
      </p:sp>
      <p:sp>
        <p:nvSpPr>
          <p:cNvPr id="2" name="Holder 2"/>
          <p:cNvSpPr>
            <a:spLocks noGrp="1"/>
          </p:cNvSpPr>
          <p:nvPr>
            <p:ph type="title"/>
          </p:nvPr>
        </p:nvSpPr>
        <p:spPr>
          <a:xfrm>
            <a:off x="205422" y="321268"/>
            <a:ext cx="8733155" cy="41910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537527" y="2257080"/>
            <a:ext cx="8068944" cy="3146425"/>
          </a:xfrm>
          <a:prstGeom prst="rect">
            <a:avLst/>
          </a:prstGeom>
        </p:spPr>
        <p:txBody>
          <a:bodyPr wrap="square" lIns="0" tIns="0" rIns="0" bIns="0">
            <a:spAutoFit/>
          </a:bodyPr>
          <a:lstStyle>
            <a:lvl1pPr>
              <a:defRPr b="0" i="0">
                <a:solidFill>
                  <a:schemeClr val="tx1"/>
                </a:solidFill>
              </a:defRPr>
            </a:lvl1pPr>
          </a:lstStyle>
          <a:p>
            <a:endParaRPr/>
          </a:p>
        </p:txBody>
      </p:sp>
      <p:sp>
        <p:nvSpPr>
          <p:cNvPr id="7" name="Slide Number">
            <a:extLst>
              <a:ext uri="{FF2B5EF4-FFF2-40B4-BE49-F238E27FC236}">
                <a16:creationId xmlns:a16="http://schemas.microsoft.com/office/drawing/2014/main" id="{6AF57F92-91EC-1293-01D2-8A252937387E}"/>
              </a:ext>
            </a:extLst>
          </p:cNvPr>
          <p:cNvSpPr txBox="1">
            <a:spLocks noGrp="1"/>
          </p:cNvSpPr>
          <p:nvPr>
            <p:ph type="sldNum" sz="quarter" idx="4"/>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/46</a:t>
            </a:r>
          </a:p>
        </p:txBody>
      </p:sp>
      <p:sp>
        <p:nvSpPr>
          <p:cNvPr id="8" name="www.monash.edu.au">
            <a:extLst>
              <a:ext uri="{FF2B5EF4-FFF2-40B4-BE49-F238E27FC236}">
                <a16:creationId xmlns:a16="http://schemas.microsoft.com/office/drawing/2014/main" id="{19734120-63A6-2178-955A-F3D0EB3D81BD}"/>
              </a:ext>
            </a:extLst>
          </p:cNvPr>
          <p:cNvSpPr txBox="1"/>
          <p:nvPr userDrawn="1"/>
        </p:nvSpPr>
        <p:spPr>
          <a:xfrm>
            <a:off x="248562" y="6429772"/>
            <a:ext cx="185467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9" name="Holder 5">
            <a:extLst>
              <a:ext uri="{FF2B5EF4-FFF2-40B4-BE49-F238E27FC236}">
                <a16:creationId xmlns:a16="http://schemas.microsoft.com/office/drawing/2014/main" id="{0A4D69EA-9F05-3ABA-0960-31254A1E4640}"/>
              </a:ext>
            </a:extLst>
          </p:cNvPr>
          <p:cNvSpPr>
            <a:spLocks noGrp="1"/>
          </p:cNvSpPr>
          <p:nvPr>
            <p:ph type="ftr" sz="quarter" idx="3"/>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Week-5</a:t>
            </a:r>
          </a:p>
        </p:txBody>
      </p:sp>
    </p:spTree>
    <p:extLst>
      <p:ext uri="{BB962C8B-B14F-4D97-AF65-F5344CB8AC3E}">
        <p14:creationId xmlns:p14="http://schemas.microsoft.com/office/powerpoint/2010/main" val="3328321894"/>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saylordotorg.github.io/text_introduction-to-economic-analysis/s17-02-nash-equilibrium.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10.png"/><Relationship Id="rId7"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1.png"/><Relationship Id="rId4" Type="http://schemas.openxmlformats.org/officeDocument/2006/relationships/image" Target="../media/image170.png"/><Relationship Id="rId9" Type="http://schemas.openxmlformats.org/officeDocument/2006/relationships/image" Target="../media/image210.png"/></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190.png"/><Relationship Id="rId4" Type="http://schemas.openxmlformats.org/officeDocument/2006/relationships/image" Target="../media/image180.png"/></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roup"/>
          <p:cNvGrpSpPr/>
          <p:nvPr/>
        </p:nvGrpSpPr>
        <p:grpSpPr>
          <a:xfrm>
            <a:off x="0" y="2636837"/>
            <a:ext cx="8515351" cy="3744914"/>
            <a:chOff x="0" y="0"/>
            <a:chExt cx="8515350" cy="3744912"/>
          </a:xfrm>
        </p:grpSpPr>
        <p:sp>
          <p:nvSpPr>
            <p:cNvPr id="112"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3"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4"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116" name="www.monash.edu.au"/>
          <p:cNvSpPr txBox="1"/>
          <p:nvPr/>
        </p:nvSpPr>
        <p:spPr>
          <a:xfrm>
            <a:off x="248562" y="6473180"/>
            <a:ext cx="2041288" cy="3235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www.monash.edu.au</a:t>
            </a:r>
          </a:p>
        </p:txBody>
      </p:sp>
      <p:sp>
        <p:nvSpPr>
          <p:cNvPr id="117" name="Line"/>
          <p:cNvSpPr/>
          <p:nvPr/>
        </p:nvSpPr>
        <p:spPr>
          <a:xfrm>
            <a:off x="0" y="2454275"/>
            <a:ext cx="8515350" cy="1588"/>
          </a:xfrm>
          <a:prstGeom prst="line">
            <a:avLst/>
          </a:prstGeom>
          <a:ln w="101600">
            <a:solidFill>
              <a:srgbClr val="794A8C"/>
            </a:solidFill>
          </a:ln>
        </p:spPr>
        <p:txBody>
          <a:bodyPr lIns="50800" tIns="50800" rIns="50800" bIns="50800" anchor="ctr"/>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pic>
        <p:nvPicPr>
          <p:cNvPr id="118" name="A4 Mast_IT.jpg" descr="A4 Mast_IT.jpg"/>
          <p:cNvPicPr>
            <a:picLocks/>
          </p:cNvPicPr>
          <p:nvPr/>
        </p:nvPicPr>
        <p:blipFill>
          <a:blip r:embed="rId3"/>
          <a:stretch>
            <a:fillRect/>
          </a:stretch>
        </p:blipFill>
        <p:spPr>
          <a:xfrm>
            <a:off x="0" y="0"/>
            <a:ext cx="8847138" cy="1177925"/>
          </a:xfrm>
          <a:prstGeom prst="rect">
            <a:avLst/>
          </a:prstGeom>
          <a:ln w="12700">
            <a:miter lim="400000"/>
          </a:ln>
        </p:spPr>
      </p:pic>
      <p:sp>
        <p:nvSpPr>
          <p:cNvPr id="119" name="Bernd Meyer, June 2022"/>
          <p:cNvSpPr txBox="1"/>
          <p:nvPr/>
        </p:nvSpPr>
        <p:spPr>
          <a:xfrm>
            <a:off x="3783231" y="6463657"/>
            <a:ext cx="4862229" cy="348813"/>
          </a:xfrm>
          <a:prstGeom prst="rect">
            <a:avLst/>
          </a:prstGeom>
          <a:solidFill>
            <a:schemeClr val="bg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Prepared by: </a:t>
            </a: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Bernd Meyer</a:t>
            </a: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 Edited by: Fuad Noman</a:t>
            </a:r>
            <a:endPar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endParaRPr>
          </a:p>
        </p:txBody>
      </p:sp>
      <p:grpSp>
        <p:nvGrpSpPr>
          <p:cNvPr id="8" name="Group 7">
            <a:extLst>
              <a:ext uri="{FF2B5EF4-FFF2-40B4-BE49-F238E27FC236}">
                <a16:creationId xmlns:a16="http://schemas.microsoft.com/office/drawing/2014/main" id="{3114DA78-F2DD-197D-60CB-7AF8BBF1D105}"/>
              </a:ext>
            </a:extLst>
          </p:cNvPr>
          <p:cNvGrpSpPr/>
          <p:nvPr/>
        </p:nvGrpSpPr>
        <p:grpSpPr>
          <a:xfrm>
            <a:off x="-1" y="2928396"/>
            <a:ext cx="8515351" cy="3167599"/>
            <a:chOff x="-1" y="2861721"/>
            <a:chExt cx="8515351" cy="3167599"/>
          </a:xfrm>
        </p:grpSpPr>
        <p:sp>
          <p:nvSpPr>
            <p:cNvPr id="4" name="Rectangle: Rounded Corners 3">
              <a:extLst>
                <a:ext uri="{FF2B5EF4-FFF2-40B4-BE49-F238E27FC236}">
                  <a16:creationId xmlns:a16="http://schemas.microsoft.com/office/drawing/2014/main" id="{3FD06BE4-3AF8-8CE0-5F0D-A028470D6239}"/>
                </a:ext>
              </a:extLst>
            </p:cNvPr>
            <p:cNvSpPr/>
            <p:nvPr/>
          </p:nvSpPr>
          <p:spPr>
            <a:xfrm>
              <a:off x="0" y="3062000"/>
              <a:ext cx="8515350" cy="1746962"/>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669D"/>
                  </a:solidFill>
                  <a:effectLst/>
                  <a:uLnTx/>
                  <a:uFillTx/>
                  <a:latin typeface="Arial"/>
                  <a:cs typeface="Arial"/>
                  <a:sym typeface="Gill Sans"/>
                </a:rPr>
                <a:t>Multi-agent System &amp; Collective </a:t>
              </a:r>
              <a:r>
                <a:rPr kumimoji="0" lang="en-US" sz="3200" b="0" i="0" u="none" strike="noStrike" kern="0" cap="none" spc="0" normalizeH="0" baseline="0" noProof="0" dirty="0" err="1">
                  <a:ln>
                    <a:noFill/>
                  </a:ln>
                  <a:solidFill>
                    <a:srgbClr val="00669D"/>
                  </a:solidFill>
                  <a:effectLst/>
                  <a:uLnTx/>
                  <a:uFillTx/>
                  <a:latin typeface="Arial"/>
                  <a:cs typeface="Arial"/>
                  <a:sym typeface="Gill Sans"/>
                </a:rPr>
                <a:t>Behaviour</a:t>
              </a:r>
              <a:endParaRPr kumimoji="0" lang="en-US" sz="3200" b="0" i="0" u="none" strike="noStrike" kern="0" cap="none" spc="0" normalizeH="0" baseline="0" noProof="0" dirty="0">
                <a:ln>
                  <a:noFill/>
                </a:ln>
                <a:solidFill>
                  <a:srgbClr val="00669D"/>
                </a:solidFill>
                <a:effectLst/>
                <a:uLnTx/>
                <a:uFillTx/>
                <a:latin typeface="Arial"/>
                <a:cs typeface="Arial"/>
                <a:sym typeface="Gill Sans"/>
              </a:endParaRPr>
            </a:p>
          </p:txBody>
        </p:sp>
        <p:sp>
          <p:nvSpPr>
            <p:cNvPr id="3" name="Rectangle: Rounded Corners 2">
              <a:extLst>
                <a:ext uri="{FF2B5EF4-FFF2-40B4-BE49-F238E27FC236}">
                  <a16:creationId xmlns:a16="http://schemas.microsoft.com/office/drawing/2014/main" id="{D5823C1E-60EB-A6B3-082D-9D63C8A75E10}"/>
                </a:ext>
              </a:extLst>
            </p:cNvPr>
            <p:cNvSpPr/>
            <p:nvPr/>
          </p:nvSpPr>
          <p:spPr>
            <a:xfrm>
              <a:off x="0" y="2861721"/>
              <a:ext cx="8515350" cy="590233"/>
            </a:xfrm>
            <a:prstGeom prst="roundRect">
              <a:avLst/>
            </a:prstGeom>
            <a:ln/>
          </p:spPr>
          <p:style>
            <a:lnRef idx="1">
              <a:schemeClr val="accent6"/>
            </a:lnRef>
            <a:fillRef idx="3">
              <a:schemeClr val="accent6"/>
            </a:fillRef>
            <a:effectRef idx="2">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FIT5226</a:t>
              </a:r>
            </a:p>
          </p:txBody>
        </p:sp>
        <p:sp>
          <p:nvSpPr>
            <p:cNvPr id="5" name="Rectangle: Rounded Corners 4">
              <a:extLst>
                <a:ext uri="{FF2B5EF4-FFF2-40B4-BE49-F238E27FC236}">
                  <a16:creationId xmlns:a16="http://schemas.microsoft.com/office/drawing/2014/main" id="{27C0F9C7-1BB5-C621-DF3D-960E0D7F059D}"/>
                </a:ext>
              </a:extLst>
            </p:cNvPr>
            <p:cNvSpPr/>
            <p:nvPr/>
          </p:nvSpPr>
          <p:spPr>
            <a:xfrm>
              <a:off x="-1" y="4836122"/>
              <a:ext cx="8515350" cy="1193198"/>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0000"/>
                  </a:solidFill>
                  <a:effectLst/>
                  <a:uLnTx/>
                  <a:uFillTx/>
                  <a:latin typeface="Arial"/>
                  <a:cs typeface="Arial"/>
                  <a:sym typeface="Gill Sans"/>
                </a:rPr>
                <a:t>Week 6: </a:t>
              </a:r>
              <a:r>
                <a:rPr kumimoji="0" lang="en-US" sz="3200" b="0" i="0" u="none" strike="noStrike" kern="0" cap="none" spc="0" normalizeH="0" baseline="0" noProof="0" dirty="0">
                  <a:ln>
                    <a:noFill/>
                  </a:ln>
                  <a:solidFill>
                    <a:srgbClr val="00669D"/>
                  </a:solidFill>
                  <a:effectLst/>
                  <a:uLnTx/>
                  <a:uFillTx/>
                  <a:latin typeface="Arial"/>
                  <a:cs typeface="Arial"/>
                  <a:sym typeface="Gill Sans"/>
                </a:rPr>
                <a:t>Classical Game Theory (Nash)</a:t>
              </a:r>
            </a:p>
          </p:txBody>
        </p:sp>
      </p:grpSp>
      <p:grpSp>
        <p:nvGrpSpPr>
          <p:cNvPr id="9" name="Group 8">
            <a:extLst>
              <a:ext uri="{FF2B5EF4-FFF2-40B4-BE49-F238E27FC236}">
                <a16:creationId xmlns:a16="http://schemas.microsoft.com/office/drawing/2014/main" id="{817441CB-1318-4AD4-AF99-F71F761D0AD4}"/>
              </a:ext>
            </a:extLst>
          </p:cNvPr>
          <p:cNvGrpSpPr/>
          <p:nvPr/>
        </p:nvGrpSpPr>
        <p:grpSpPr>
          <a:xfrm>
            <a:off x="-1" y="0"/>
            <a:ext cx="9144001" cy="1665952"/>
            <a:chOff x="-1" y="0"/>
            <a:chExt cx="9144001" cy="1665952"/>
          </a:xfrm>
        </p:grpSpPr>
        <p:sp>
          <p:nvSpPr>
            <p:cNvPr id="10" name="Rectangle 9">
              <a:extLst>
                <a:ext uri="{FF2B5EF4-FFF2-40B4-BE49-F238E27FC236}">
                  <a16:creationId xmlns:a16="http://schemas.microsoft.com/office/drawing/2014/main" id="{DD00D1C8-0A57-BB66-C5A4-97CFDD6617C8}"/>
                </a:ext>
              </a:extLst>
            </p:cNvPr>
            <p:cNvSpPr/>
            <p:nvPr/>
          </p:nvSpPr>
          <p:spPr>
            <a:xfrm>
              <a:off x="-1" y="0"/>
              <a:ext cx="9144001" cy="1384025"/>
            </a:xfrm>
            <a:prstGeom prst="rect">
              <a:avLst/>
            </a:prstGeom>
            <a:solidFill>
              <a:schemeClr val="accent1">
                <a:lumMod val="40000"/>
                <a:lumOff val="60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mj-ea"/>
                <a:cs typeface="+mj-cs"/>
                <a:sym typeface="Gill Sans"/>
              </a:endParaRPr>
            </a:p>
          </p:txBody>
        </p:sp>
        <p:pic>
          <p:nvPicPr>
            <p:cNvPr id="11" name="Picture 10">
              <a:extLst>
                <a:ext uri="{FF2B5EF4-FFF2-40B4-BE49-F238E27FC236}">
                  <a16:creationId xmlns:a16="http://schemas.microsoft.com/office/drawing/2014/main" id="{9D564271-3153-39A5-52BF-51C810E855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83733"/>
              <a:ext cx="2819400" cy="1057275"/>
            </a:xfrm>
            <a:prstGeom prst="rect">
              <a:avLst/>
            </a:prstGeom>
          </p:spPr>
        </p:pic>
        <p:sp>
          <p:nvSpPr>
            <p:cNvPr id="12" name="Freeform: Shape 11">
              <a:extLst>
                <a:ext uri="{FF2B5EF4-FFF2-40B4-BE49-F238E27FC236}">
                  <a16:creationId xmlns:a16="http://schemas.microsoft.com/office/drawing/2014/main" id="{81A8EA92-9563-8281-5814-8C02F52AC127}"/>
                </a:ext>
              </a:extLst>
            </p:cNvPr>
            <p:cNvSpPr/>
            <p:nvPr/>
          </p:nvSpPr>
          <p:spPr>
            <a:xfrm>
              <a:off x="0" y="1378694"/>
              <a:ext cx="2612571" cy="287258"/>
            </a:xfrm>
            <a:custGeom>
              <a:avLst/>
              <a:gdLst>
                <a:gd name="connsiteX0" fmla="*/ 0 w 2612571"/>
                <a:gd name="connsiteY0" fmla="*/ 20096 h 271305"/>
                <a:gd name="connsiteX1" fmla="*/ 2612571 w 2612571"/>
                <a:gd name="connsiteY1" fmla="*/ 0 h 271305"/>
                <a:gd name="connsiteX2" fmla="*/ 2311121 w 2612571"/>
                <a:gd name="connsiteY2" fmla="*/ 271305 h 271305"/>
                <a:gd name="connsiteX3" fmla="*/ 0 w 2612571"/>
                <a:gd name="connsiteY3" fmla="*/ 271305 h 271305"/>
                <a:gd name="connsiteX4" fmla="*/ 0 w 2612571"/>
                <a:gd name="connsiteY4" fmla="*/ 20096 h 271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571" h="271305">
                  <a:moveTo>
                    <a:pt x="0" y="20096"/>
                  </a:moveTo>
                  <a:lnTo>
                    <a:pt x="2612571" y="0"/>
                  </a:lnTo>
                  <a:lnTo>
                    <a:pt x="2311121" y="271305"/>
                  </a:lnTo>
                  <a:lnTo>
                    <a:pt x="0" y="271305"/>
                  </a:lnTo>
                  <a:lnTo>
                    <a:pt x="0" y="20096"/>
                  </a:lnTo>
                  <a:close/>
                </a:path>
              </a:pathLst>
            </a:custGeom>
            <a:ln/>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sym typeface="Gill Sans"/>
                </a:rPr>
                <a:t>https://www.monash.edu.my/</a:t>
              </a:r>
            </a:p>
          </p:txBody>
        </p:sp>
        <p:sp>
          <p:nvSpPr>
            <p:cNvPr id="13" name="Freeform: Shape 12">
              <a:extLst>
                <a:ext uri="{FF2B5EF4-FFF2-40B4-BE49-F238E27FC236}">
                  <a16:creationId xmlns:a16="http://schemas.microsoft.com/office/drawing/2014/main" id="{66520DFF-4DC0-A65C-5567-CA95A784420F}"/>
                </a:ext>
              </a:extLst>
            </p:cNvPr>
            <p:cNvSpPr/>
            <p:nvPr/>
          </p:nvSpPr>
          <p:spPr>
            <a:xfrm>
              <a:off x="2602523" y="756083"/>
              <a:ext cx="6531429" cy="628131"/>
            </a:xfrm>
            <a:custGeom>
              <a:avLst/>
              <a:gdLst>
                <a:gd name="connsiteX0" fmla="*/ 0 w 6531429"/>
                <a:gd name="connsiteY0" fmla="*/ 683288 h 713433"/>
                <a:gd name="connsiteX1" fmla="*/ 703385 w 6531429"/>
                <a:gd name="connsiteY1" fmla="*/ 10049 h 713433"/>
                <a:gd name="connsiteX2" fmla="*/ 6531429 w 6531429"/>
                <a:gd name="connsiteY2" fmla="*/ 0 h 713433"/>
                <a:gd name="connsiteX3" fmla="*/ 6531429 w 6531429"/>
                <a:gd name="connsiteY3" fmla="*/ 713433 h 713433"/>
                <a:gd name="connsiteX4" fmla="*/ 0 w 6531429"/>
                <a:gd name="connsiteY4" fmla="*/ 683288 h 71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29" h="713433">
                  <a:moveTo>
                    <a:pt x="0" y="683288"/>
                  </a:moveTo>
                  <a:lnTo>
                    <a:pt x="703385" y="10049"/>
                  </a:lnTo>
                  <a:lnTo>
                    <a:pt x="6531429" y="0"/>
                  </a:lnTo>
                  <a:lnTo>
                    <a:pt x="6531429" y="713433"/>
                  </a:lnTo>
                  <a:lnTo>
                    <a:pt x="0" y="683288"/>
                  </a:lnTo>
                  <a:close/>
                </a:path>
              </a:pathLst>
            </a:custGeom>
            <a:blipFill rotWithShape="1">
              <a:blip r:embed="rId5"/>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School of Information Technology</a:t>
              </a:r>
            </a:p>
          </p:txBody>
        </p:sp>
      </p:grpSp>
      <p:sp>
        <p:nvSpPr>
          <p:cNvPr id="14" name="Rectangle 13">
            <a:extLst>
              <a:ext uri="{FF2B5EF4-FFF2-40B4-BE49-F238E27FC236}">
                <a16:creationId xmlns:a16="http://schemas.microsoft.com/office/drawing/2014/main" id="{913E9839-CF4D-9C28-2391-50B73ADF7221}"/>
              </a:ext>
            </a:extLst>
          </p:cNvPr>
          <p:cNvSpPr/>
          <p:nvPr/>
        </p:nvSpPr>
        <p:spPr>
          <a:xfrm>
            <a:off x="911" y="6454685"/>
            <a:ext cx="2408913" cy="37959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889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txBox="1"/>
          <p:nvPr/>
        </p:nvSpPr>
        <p:spPr>
          <a:xfrm>
            <a:off x="419099" y="2104276"/>
            <a:ext cx="7418705" cy="1077218"/>
          </a:xfrm>
          <a:prstGeom prst="rect">
            <a:avLst/>
          </a:prstGeom>
        </p:spPr>
        <p:txBody>
          <a:bodyPr vert="horz" wrap="square" lIns="0" tIns="0" rIns="0" bIns="0" rtlCol="0">
            <a:spAutoFit/>
          </a:bodyPr>
          <a:lstStyle/>
          <a:p>
            <a:pPr marL="12700" marR="5080" lvl="0" indent="0" algn="l" defTabSz="914400" rtl="0" eaLnBrk="1" fontAlgn="auto" latinLnBrk="0" hangingPunct="1">
              <a:lnSpc>
                <a:spcPts val="2100"/>
              </a:lnSpc>
              <a:spcBef>
                <a:spcPts val="0"/>
              </a:spcBef>
              <a:spcAft>
                <a:spcPts val="0"/>
              </a:spcAft>
              <a:buClrTx/>
              <a:buSzTx/>
              <a:buFontTx/>
              <a:buNone/>
              <a:tabLst/>
              <a:defRPr/>
            </a:pPr>
            <a:r>
              <a:rPr kumimoji="0" sz="1800" b="0" i="0" u="none" strike="noStrike" kern="1200" cap="none" spc="-10" normalizeH="0" baseline="0" noProof="0" dirty="0">
                <a:ln>
                  <a:noFill/>
                </a:ln>
                <a:solidFill>
                  <a:srgbClr val="5284B0"/>
                </a:solidFill>
                <a:effectLst/>
                <a:uLnTx/>
                <a:uFillTx/>
                <a:latin typeface="Arial"/>
                <a:ea typeface="+mn-ea"/>
                <a:cs typeface="Arial"/>
              </a:rPr>
              <a:t>This</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mater</a:t>
            </a:r>
            <a:r>
              <a:rPr kumimoji="0" sz="1800" b="0" i="0" u="none" strike="noStrike" kern="1200" cap="none" spc="-5" normalizeH="0" baseline="0" noProof="0" dirty="0">
                <a:ln>
                  <a:noFill/>
                </a:ln>
                <a:solidFill>
                  <a:srgbClr val="5284B0"/>
                </a:solidFill>
                <a:effectLst/>
                <a:uLnTx/>
                <a:uFillTx/>
                <a:latin typeface="Arial"/>
                <a:ea typeface="+mn-ea"/>
                <a:cs typeface="Arial"/>
              </a:rPr>
              <a:t>i</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5" normalizeH="0" baseline="0" noProof="0" dirty="0">
                <a:ln>
                  <a:noFill/>
                </a:ln>
                <a:solidFill>
                  <a:srgbClr val="5284B0"/>
                </a:solidFill>
                <a:effectLst/>
                <a:uLnTx/>
                <a:uFillTx/>
                <a:latin typeface="Arial"/>
                <a:ea typeface="+mn-ea"/>
                <a:cs typeface="Arial"/>
              </a:rPr>
              <a:t>l </a:t>
            </a:r>
            <a:r>
              <a:rPr kumimoji="0" sz="1800" b="0" i="0" u="none" strike="noStrike" kern="1200" cap="none" spc="-10" normalizeH="0" baseline="0" noProof="0" dirty="0">
                <a:ln>
                  <a:noFill/>
                </a:ln>
                <a:solidFill>
                  <a:srgbClr val="5284B0"/>
                </a:solidFill>
                <a:effectLst/>
                <a:uLnTx/>
                <a:uFillTx/>
                <a:latin typeface="Arial"/>
                <a:ea typeface="+mn-ea"/>
                <a:cs typeface="Arial"/>
              </a:rPr>
              <a:t>in</a:t>
            </a:r>
            <a:r>
              <a:rPr kumimoji="0" sz="1800" b="0" i="0" u="none" strike="noStrike" kern="1200" cap="none" spc="0" normalizeH="0" baseline="0" noProof="0" dirty="0">
                <a:ln>
                  <a:noFill/>
                </a:ln>
                <a:solidFill>
                  <a:srgbClr val="5284B0"/>
                </a:solidFill>
                <a:effectLst/>
                <a:uLnTx/>
                <a:uFillTx/>
                <a:latin typeface="Arial"/>
                <a:ea typeface="+mn-ea"/>
                <a:cs typeface="Arial"/>
              </a:rPr>
              <a:t>c</a:t>
            </a:r>
            <a:r>
              <a:rPr kumimoji="0" sz="1800" b="0" i="0" u="none" strike="noStrike" kern="1200" cap="none" spc="-10" normalizeH="0" baseline="0" noProof="0" dirty="0">
                <a:ln>
                  <a:noFill/>
                </a:ln>
                <a:solidFill>
                  <a:srgbClr val="5284B0"/>
                </a:solidFill>
                <a:effectLst/>
                <a:uLnTx/>
                <a:uFillTx/>
                <a:latin typeface="Arial"/>
                <a:ea typeface="+mn-ea"/>
                <a:cs typeface="Arial"/>
              </a:rPr>
              <a:t>lud</a:t>
            </a:r>
            <a:r>
              <a:rPr kumimoji="0" sz="1800" b="0" i="0" u="none" strike="noStrike" kern="1200" cap="none" spc="0" normalizeH="0" baseline="0" noProof="0" dirty="0">
                <a:ln>
                  <a:noFill/>
                </a:ln>
                <a:solidFill>
                  <a:srgbClr val="5284B0"/>
                </a:solidFill>
                <a:effectLst/>
                <a:uLnTx/>
                <a:uFillTx/>
                <a:latin typeface="Arial"/>
                <a:ea typeface="+mn-ea"/>
                <a:cs typeface="Arial"/>
              </a:rPr>
              <a:t>es</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c</a:t>
            </a:r>
            <a:r>
              <a:rPr kumimoji="0" sz="1800" b="0" i="0" u="none" strike="noStrike" kern="1200" cap="none" spc="-15" normalizeH="0" baseline="0" noProof="0" dirty="0">
                <a:ln>
                  <a:noFill/>
                </a:ln>
                <a:solidFill>
                  <a:srgbClr val="5284B0"/>
                </a:solidFill>
                <a:effectLst/>
                <a:uLnTx/>
                <a:uFillTx/>
                <a:latin typeface="Arial"/>
                <a:ea typeface="+mn-ea"/>
                <a:cs typeface="Arial"/>
              </a:rPr>
              <a:t>on</a:t>
            </a:r>
            <a:r>
              <a:rPr kumimoji="0" sz="1800" b="0" i="0" u="none" strike="noStrike" kern="1200" cap="none" spc="0" normalizeH="0" baseline="0" noProof="0" dirty="0">
                <a:ln>
                  <a:noFill/>
                </a:ln>
                <a:solidFill>
                  <a:srgbClr val="5284B0"/>
                </a:solidFill>
                <a:effectLst/>
                <a:uLnTx/>
                <a:uFillTx/>
                <a:latin typeface="Arial"/>
                <a:ea typeface="+mn-ea"/>
                <a:cs typeface="Arial"/>
              </a:rPr>
              <a:t>te</a:t>
            </a:r>
            <a:r>
              <a:rPr kumimoji="0" sz="1800" b="0" i="0" u="none" strike="noStrike" kern="1200" cap="none" spc="-15" normalizeH="0" baseline="0" noProof="0" dirty="0">
                <a:ln>
                  <a:noFill/>
                </a:ln>
                <a:solidFill>
                  <a:srgbClr val="5284B0"/>
                </a:solidFill>
                <a:effectLst/>
                <a:uLnTx/>
                <a:uFillTx/>
                <a:latin typeface="Arial"/>
                <a:ea typeface="+mn-ea"/>
                <a:cs typeface="Arial"/>
              </a:rPr>
              <a:t>n</a:t>
            </a:r>
            <a:r>
              <a:rPr kumimoji="0" sz="1800" b="0" i="0" u="none" strike="noStrike" kern="1200" cap="none" spc="0" normalizeH="0" baseline="0" noProof="0" dirty="0">
                <a:ln>
                  <a:noFill/>
                </a:ln>
                <a:solidFill>
                  <a:srgbClr val="5284B0"/>
                </a:solidFill>
                <a:effectLst/>
                <a:uLnTx/>
                <a:uFillTx/>
                <a:latin typeface="Arial"/>
                <a:ea typeface="+mn-ea"/>
                <a:cs typeface="Arial"/>
              </a:rPr>
              <a:t>t</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15" normalizeH="0" baseline="0" noProof="0" dirty="0">
                <a:ln>
                  <a:noFill/>
                </a:ln>
                <a:solidFill>
                  <a:srgbClr val="5284B0"/>
                </a:solidFill>
                <a:effectLst/>
                <a:uLnTx/>
                <a:uFillTx/>
                <a:latin typeface="Arial"/>
                <a:ea typeface="+mn-ea"/>
                <a:cs typeface="Arial"/>
              </a:rPr>
              <a:t>d</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15" normalizeH="0" baseline="0" noProof="0" dirty="0">
                <a:ln>
                  <a:noFill/>
                </a:ln>
                <a:solidFill>
                  <a:srgbClr val="5284B0"/>
                </a:solidFill>
                <a:effectLst/>
                <a:uLnTx/>
                <a:uFillTx/>
                <a:latin typeface="Arial"/>
                <a:ea typeface="+mn-ea"/>
                <a:cs typeface="Arial"/>
              </a:rPr>
              <a:t>p</a:t>
            </a:r>
            <a:r>
              <a:rPr kumimoji="0" sz="1800" b="0" i="0" u="none" strike="noStrike" kern="1200" cap="none" spc="0" normalizeH="0" baseline="0" noProof="0" dirty="0">
                <a:ln>
                  <a:noFill/>
                </a:ln>
                <a:solidFill>
                  <a:srgbClr val="5284B0"/>
                </a:solidFill>
                <a:effectLst/>
                <a:uLnTx/>
                <a:uFillTx/>
                <a:latin typeface="Arial"/>
                <a:ea typeface="+mn-ea"/>
                <a:cs typeface="Arial"/>
              </a:rPr>
              <a:t>te</a:t>
            </a:r>
            <a:r>
              <a:rPr kumimoji="0" sz="1800" b="0" i="0" u="none" strike="noStrike" kern="1200" cap="none" spc="-15" normalizeH="0" baseline="0" noProof="0" dirty="0">
                <a:ln>
                  <a:noFill/>
                </a:ln>
                <a:solidFill>
                  <a:srgbClr val="5284B0"/>
                </a:solidFill>
                <a:effectLst/>
                <a:uLnTx/>
                <a:uFillTx/>
                <a:latin typeface="Arial"/>
                <a:ea typeface="+mn-ea"/>
                <a:cs typeface="Arial"/>
              </a:rPr>
              <a:t>d</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fr</a:t>
            </a:r>
            <a:r>
              <a:rPr kumimoji="0" sz="1800" b="0" i="0" u="none" strike="noStrike" kern="1200" cap="none" spc="-15" normalizeH="0" baseline="0" noProof="0" dirty="0">
                <a:ln>
                  <a:noFill/>
                </a:ln>
                <a:solidFill>
                  <a:srgbClr val="5284B0"/>
                </a:solidFill>
                <a:effectLst/>
                <a:uLnTx/>
                <a:uFillTx/>
                <a:latin typeface="Arial"/>
                <a:ea typeface="+mn-ea"/>
                <a:cs typeface="Arial"/>
              </a:rPr>
              <a:t>o</a:t>
            </a:r>
            <a:r>
              <a:rPr kumimoji="0" sz="1800" b="0" i="0" u="none" strike="noStrike" kern="1200" cap="none" spc="0" normalizeH="0" baseline="0" noProof="0" dirty="0">
                <a:ln>
                  <a:noFill/>
                </a:ln>
                <a:solidFill>
                  <a:srgbClr val="5284B0"/>
                </a:solidFill>
                <a:effectLst/>
                <a:uLnTx/>
                <a:uFillTx/>
                <a:latin typeface="Arial"/>
                <a:ea typeface="+mn-ea"/>
                <a:cs typeface="Arial"/>
              </a:rPr>
              <a:t>m</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0" normalizeH="0" baseline="0" noProof="0" dirty="0">
                <a:ln>
                  <a:noFill/>
                </a:ln>
                <a:solidFill>
                  <a:srgbClr val="5284B0"/>
                </a:solidFill>
                <a:effectLst/>
                <a:uLnTx/>
                <a:uFillTx/>
                <a:latin typeface="Arial"/>
                <a:ea typeface="+mn-ea"/>
                <a:cs typeface="Arial"/>
              </a:rPr>
              <a:t>in</a:t>
            </a:r>
            <a:r>
              <a:rPr kumimoji="0" sz="1800" b="0" i="0" u="none" strike="noStrike" kern="1200" cap="none" spc="0" normalizeH="0" baseline="0" noProof="0" dirty="0">
                <a:ln>
                  <a:noFill/>
                </a:ln>
                <a:solidFill>
                  <a:srgbClr val="5284B0"/>
                </a:solidFill>
                <a:effectLst/>
                <a:uLnTx/>
                <a:uFillTx/>
                <a:latin typeface="Arial"/>
                <a:ea typeface="+mn-ea"/>
                <a:cs typeface="Arial"/>
              </a:rPr>
              <a:t>str</a:t>
            </a:r>
            <a:r>
              <a:rPr kumimoji="0" sz="1800" b="0" i="0" u="none" strike="noStrike" kern="1200" cap="none" spc="-15" normalizeH="0" baseline="0" noProof="0" dirty="0">
                <a:ln>
                  <a:noFill/>
                </a:ln>
                <a:solidFill>
                  <a:srgbClr val="5284B0"/>
                </a:solidFill>
                <a:effectLst/>
                <a:uLnTx/>
                <a:uFillTx/>
                <a:latin typeface="Arial"/>
                <a:ea typeface="+mn-ea"/>
                <a:cs typeface="Arial"/>
              </a:rPr>
              <a:t>u</a:t>
            </a:r>
            <a:r>
              <a:rPr kumimoji="0" sz="1800" b="0" i="0" u="none" strike="noStrike" kern="1200" cap="none" spc="0" normalizeH="0" baseline="0" noProof="0" dirty="0">
                <a:ln>
                  <a:noFill/>
                </a:ln>
                <a:solidFill>
                  <a:srgbClr val="5284B0"/>
                </a:solidFill>
                <a:effectLst/>
                <a:uLnTx/>
                <a:uFillTx/>
                <a:latin typeface="Arial"/>
                <a:ea typeface="+mn-ea"/>
                <a:cs typeface="Arial"/>
              </a:rPr>
              <a:t>c</a:t>
            </a:r>
            <a:r>
              <a:rPr kumimoji="0" sz="1800" b="0" i="0" u="none" strike="noStrike" kern="1200" cap="none" spc="-10" normalizeH="0" baseline="0" noProof="0" dirty="0">
                <a:ln>
                  <a:noFill/>
                </a:ln>
                <a:solidFill>
                  <a:srgbClr val="5284B0"/>
                </a:solidFill>
                <a:effectLst/>
                <a:uLnTx/>
                <a:uFillTx/>
                <a:latin typeface="Arial"/>
                <a:ea typeface="+mn-ea"/>
                <a:cs typeface="Arial"/>
              </a:rPr>
              <a:t>tion</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5" normalizeH="0" baseline="0" noProof="0" dirty="0">
                <a:ln>
                  <a:noFill/>
                </a:ln>
                <a:solidFill>
                  <a:srgbClr val="5284B0"/>
                </a:solidFill>
                <a:effectLst/>
                <a:uLnTx/>
                <a:uFillTx/>
                <a:latin typeface="Arial"/>
                <a:ea typeface="+mn-ea"/>
                <a:cs typeface="Arial"/>
              </a:rPr>
              <a:t>l </a:t>
            </a:r>
            <a:r>
              <a:rPr kumimoji="0" sz="1800" b="0" i="0" u="none" strike="noStrike" kern="1200" cap="none" spc="0" normalizeH="0" baseline="0" noProof="0" dirty="0">
                <a:ln>
                  <a:noFill/>
                </a:ln>
                <a:solidFill>
                  <a:srgbClr val="5284B0"/>
                </a:solidFill>
                <a:effectLst/>
                <a:uLnTx/>
                <a:uFillTx/>
                <a:latin typeface="Arial"/>
                <a:ea typeface="+mn-ea"/>
                <a:cs typeface="Arial"/>
              </a:rPr>
              <a:t>res</a:t>
            </a:r>
            <a:r>
              <a:rPr kumimoji="0" sz="1800" b="0" i="0" u="none" strike="noStrike" kern="1200" cap="none" spc="-15" normalizeH="0" baseline="0" noProof="0" dirty="0">
                <a:ln>
                  <a:noFill/>
                </a:ln>
                <a:solidFill>
                  <a:srgbClr val="5284B0"/>
                </a:solidFill>
                <a:effectLst/>
                <a:uLnTx/>
                <a:uFillTx/>
                <a:latin typeface="Arial"/>
                <a:ea typeface="+mn-ea"/>
                <a:cs typeface="Arial"/>
              </a:rPr>
              <a:t>ou</a:t>
            </a:r>
            <a:r>
              <a:rPr kumimoji="0" sz="1800" b="0" i="0" u="none" strike="noStrike" kern="1200" cap="none" spc="0" normalizeH="0" baseline="0" noProof="0" dirty="0">
                <a:ln>
                  <a:noFill/>
                </a:ln>
                <a:solidFill>
                  <a:srgbClr val="5284B0"/>
                </a:solidFill>
                <a:effectLst/>
                <a:uLnTx/>
                <a:uFillTx/>
                <a:latin typeface="Arial"/>
                <a:ea typeface="+mn-ea"/>
                <a:cs typeface="Arial"/>
              </a:rPr>
              <a:t>rces ma</a:t>
            </a:r>
            <a:r>
              <a:rPr kumimoji="0" sz="1800" b="0" i="0" u="none" strike="noStrike" kern="1200" cap="none" spc="-15" normalizeH="0" baseline="0" noProof="0" dirty="0">
                <a:ln>
                  <a:noFill/>
                </a:ln>
                <a:solidFill>
                  <a:srgbClr val="5284B0"/>
                </a:solidFill>
                <a:effectLst/>
                <a:uLnTx/>
                <a:uFillTx/>
                <a:latin typeface="Arial"/>
                <a:ea typeface="+mn-ea"/>
                <a:cs typeface="Arial"/>
              </a:rPr>
              <a:t>d</a:t>
            </a:r>
            <a:r>
              <a:rPr kumimoji="0" sz="1800" b="0" i="0" u="none" strike="noStrike" kern="1200" cap="none" spc="0" normalizeH="0" baseline="0" noProof="0" dirty="0">
                <a:ln>
                  <a:noFill/>
                </a:ln>
                <a:solidFill>
                  <a:srgbClr val="5284B0"/>
                </a:solidFill>
                <a:effectLst/>
                <a:uLnTx/>
                <a:uFillTx/>
                <a:latin typeface="Arial"/>
                <a:ea typeface="+mn-ea"/>
                <a:cs typeface="Arial"/>
              </a:rPr>
              <a:t>e</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ava</a:t>
            </a:r>
            <a:r>
              <a:rPr kumimoji="0" sz="1800" b="0" i="0" u="none" strike="noStrike" kern="1200" cap="none" spc="-5" normalizeH="0" baseline="0" noProof="0" dirty="0">
                <a:ln>
                  <a:noFill/>
                </a:ln>
                <a:solidFill>
                  <a:srgbClr val="5284B0"/>
                </a:solidFill>
                <a:effectLst/>
                <a:uLnTx/>
                <a:uFillTx/>
                <a:latin typeface="Arial"/>
                <a:ea typeface="+mn-ea"/>
                <a:cs typeface="Arial"/>
              </a:rPr>
              <a:t>il</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10" normalizeH="0" baseline="0" noProof="0" dirty="0">
                <a:ln>
                  <a:noFill/>
                </a:ln>
                <a:solidFill>
                  <a:srgbClr val="5284B0"/>
                </a:solidFill>
                <a:effectLst/>
                <a:uLnTx/>
                <a:uFillTx/>
                <a:latin typeface="Arial"/>
                <a:ea typeface="+mn-ea"/>
                <a:cs typeface="Arial"/>
              </a:rPr>
              <a:t>bl</a:t>
            </a:r>
            <a:r>
              <a:rPr kumimoji="0" sz="1800" b="0" i="0" u="none" strike="noStrike" kern="1200" cap="none" spc="0" normalizeH="0" baseline="0" noProof="0" dirty="0">
                <a:ln>
                  <a:noFill/>
                </a:ln>
                <a:solidFill>
                  <a:srgbClr val="5284B0"/>
                </a:solidFill>
                <a:effectLst/>
                <a:uLnTx/>
                <a:uFillTx/>
                <a:latin typeface="Arial"/>
                <a:ea typeface="+mn-ea"/>
                <a:cs typeface="Arial"/>
              </a:rPr>
              <a:t>e</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5" normalizeH="0" baseline="0" noProof="0" dirty="0">
                <a:ln>
                  <a:noFill/>
                </a:ln>
                <a:solidFill>
                  <a:srgbClr val="5284B0"/>
                </a:solidFill>
                <a:effectLst/>
                <a:uLnTx/>
                <a:uFillTx/>
                <a:latin typeface="Arial"/>
                <a:ea typeface="+mn-ea"/>
                <a:cs typeface="Arial"/>
              </a:rPr>
              <a:t>b</a:t>
            </a:r>
            <a:r>
              <a:rPr kumimoji="0" sz="1800" b="0" i="0" u="none" strike="noStrike" kern="1200" cap="none" spc="0" normalizeH="0" baseline="0" noProof="0" dirty="0">
                <a:ln>
                  <a:noFill/>
                </a:ln>
                <a:solidFill>
                  <a:srgbClr val="5284B0"/>
                </a:solidFill>
                <a:effectLst/>
                <a:uLnTx/>
                <a:uFillTx/>
                <a:latin typeface="Arial"/>
                <a:ea typeface="+mn-ea"/>
                <a:cs typeface="Arial"/>
              </a:rPr>
              <a:t>y</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0" normalizeH="0" baseline="0" noProof="0" dirty="0">
                <a:ln>
                  <a:noFill/>
                </a:ln>
                <a:solidFill>
                  <a:srgbClr val="5284B0"/>
                </a:solidFill>
                <a:effectLst/>
                <a:uLnTx/>
                <a:uFillTx/>
                <a:latin typeface="Arial"/>
                <a:ea typeface="+mn-ea"/>
                <a:cs typeface="Arial"/>
              </a:rPr>
              <a:t>th</a:t>
            </a:r>
            <a:r>
              <a:rPr kumimoji="0" sz="1800" b="0" i="0" u="none" strike="noStrike" kern="1200" cap="none" spc="0" normalizeH="0" baseline="0" noProof="0" dirty="0">
                <a:ln>
                  <a:noFill/>
                </a:ln>
                <a:solidFill>
                  <a:srgbClr val="5284B0"/>
                </a:solidFill>
                <a:effectLst/>
                <a:uLnTx/>
                <a:uFillTx/>
                <a:latin typeface="Arial"/>
                <a:ea typeface="+mn-ea"/>
                <a:cs typeface="Arial"/>
              </a:rPr>
              <a:t>e</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10" normalizeH="0" baseline="0" noProof="0" dirty="0">
                <a:ln>
                  <a:noFill/>
                </a:ln>
                <a:solidFill>
                  <a:srgbClr val="5284B0"/>
                </a:solidFill>
                <a:effectLst/>
                <a:uLnTx/>
                <a:uFillTx/>
                <a:latin typeface="Arial"/>
                <a:ea typeface="+mn-ea"/>
                <a:cs typeface="Arial"/>
              </a:rPr>
              <a:t>utho</a:t>
            </a:r>
            <a:r>
              <a:rPr kumimoji="0" sz="1800" b="0" i="0" u="none" strike="noStrike" kern="1200" cap="none" spc="0" normalizeH="0" baseline="0" noProof="0" dirty="0">
                <a:ln>
                  <a:noFill/>
                </a:ln>
                <a:solidFill>
                  <a:srgbClr val="5284B0"/>
                </a:solidFill>
                <a:effectLst/>
                <a:uLnTx/>
                <a:uFillTx/>
                <a:latin typeface="Arial"/>
                <a:ea typeface="+mn-ea"/>
                <a:cs typeface="Arial"/>
              </a:rPr>
              <a:t>rs</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5" normalizeH="0" baseline="0" noProof="0" dirty="0">
                <a:ln>
                  <a:noFill/>
                </a:ln>
                <a:solidFill>
                  <a:srgbClr val="5284B0"/>
                </a:solidFill>
                <a:effectLst/>
                <a:uLnTx/>
                <a:uFillTx/>
                <a:latin typeface="Arial"/>
                <a:ea typeface="+mn-ea"/>
                <a:cs typeface="Arial"/>
              </a:rPr>
              <a:t>o</a:t>
            </a:r>
            <a:r>
              <a:rPr kumimoji="0" sz="1800" b="0" i="0" u="none" strike="noStrike" kern="1200" cap="none" spc="0" normalizeH="0" baseline="0" noProof="0" dirty="0">
                <a:ln>
                  <a:noFill/>
                </a:ln>
                <a:solidFill>
                  <a:srgbClr val="5284B0"/>
                </a:solidFill>
                <a:effectLst/>
                <a:uLnTx/>
                <a:uFillTx/>
                <a:latin typeface="Arial"/>
                <a:ea typeface="+mn-ea"/>
                <a:cs typeface="Arial"/>
              </a:rPr>
              <a:t>f</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5" normalizeH="0" baseline="0" noProof="0" dirty="0">
                <a:ln>
                  <a:noFill/>
                </a:ln>
                <a:solidFill>
                  <a:srgbClr val="5284B0"/>
                </a:solidFill>
                <a:effectLst/>
                <a:uLnTx/>
                <a:uFillTx/>
                <a:latin typeface="Arial"/>
                <a:ea typeface="+mn-ea"/>
                <a:cs typeface="Arial"/>
              </a:rPr>
              <a:t>ou</a:t>
            </a:r>
            <a:r>
              <a:rPr kumimoji="0" sz="1800" b="0" i="0" u="none" strike="noStrike" kern="1200" cap="none" spc="0" normalizeH="0" baseline="0" noProof="0" dirty="0">
                <a:ln>
                  <a:noFill/>
                </a:ln>
                <a:solidFill>
                  <a:srgbClr val="5284B0"/>
                </a:solidFill>
                <a:effectLst/>
                <a:uLnTx/>
                <a:uFillTx/>
                <a:latin typeface="Arial"/>
                <a:ea typeface="+mn-ea"/>
                <a:cs typeface="Arial"/>
              </a:rPr>
              <a:t>r</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ma</a:t>
            </a:r>
            <a:r>
              <a:rPr kumimoji="0" sz="1800" b="0" i="0" u="none" strike="noStrike" kern="1200" cap="none" spc="-10" normalizeH="0" baseline="0" noProof="0" dirty="0">
                <a:ln>
                  <a:noFill/>
                </a:ln>
                <a:solidFill>
                  <a:srgbClr val="5284B0"/>
                </a:solidFill>
                <a:effectLst/>
                <a:uLnTx/>
                <a:uFillTx/>
                <a:latin typeface="Arial"/>
                <a:ea typeface="+mn-ea"/>
                <a:cs typeface="Arial"/>
              </a:rPr>
              <a:t>in</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tex</a:t>
            </a:r>
            <a:r>
              <a:rPr kumimoji="0" sz="1800" b="0" i="0" u="none" strike="noStrike" kern="1200" cap="none" spc="-10" normalizeH="0" baseline="0" noProof="0" dirty="0">
                <a:ln>
                  <a:noFill/>
                </a:ln>
                <a:solidFill>
                  <a:srgbClr val="5284B0"/>
                </a:solidFill>
                <a:effectLst/>
                <a:uLnTx/>
                <a:uFillTx/>
                <a:latin typeface="Arial"/>
                <a:ea typeface="+mn-ea"/>
                <a:cs typeface="Arial"/>
              </a:rPr>
              <a:t>tboo</a:t>
            </a:r>
            <a:r>
              <a:rPr kumimoji="0" sz="1800" b="0" i="0" u="none" strike="noStrike" kern="1200" cap="none" spc="0" normalizeH="0" baseline="0" noProof="0" dirty="0">
                <a:ln>
                  <a:noFill/>
                </a:ln>
                <a:solidFill>
                  <a:srgbClr val="5284B0"/>
                </a:solidFill>
                <a:effectLst/>
                <a:uLnTx/>
                <a:uFillTx/>
                <a:latin typeface="Arial"/>
                <a:ea typeface="+mn-ea"/>
                <a:cs typeface="Arial"/>
              </a:rPr>
              <a:t>k</a:t>
            </a:r>
            <a:r>
              <a:rPr kumimoji="0" lang="en-US" sz="1800" b="0" i="0" u="none" strike="noStrike" kern="1200" cap="none" spc="0" normalizeH="0" baseline="0" noProof="0" dirty="0">
                <a:ln>
                  <a:noFill/>
                </a:ln>
                <a:solidFill>
                  <a:srgbClr val="5284B0"/>
                </a:solidFill>
                <a:effectLst/>
                <a:uLnTx/>
                <a:uFillTx/>
                <a:latin typeface="Arial"/>
                <a:ea typeface="+mn-ea"/>
                <a:cs typeface="Arial"/>
              </a:rPr>
              <a:t>, </a:t>
            </a:r>
            <a:r>
              <a:rPr kumimoji="0" lang="en-US" sz="1800" b="1" i="0" u="none" strike="noStrike" kern="1200" cap="none" spc="0" normalizeH="0" baseline="0" noProof="0" dirty="0">
                <a:ln>
                  <a:noFill/>
                </a:ln>
                <a:solidFill>
                  <a:srgbClr val="5284B0"/>
                </a:solidFill>
                <a:effectLst/>
                <a:uLnTx/>
                <a:uFillTx/>
                <a:latin typeface="Arial"/>
                <a:ea typeface="+mn-ea"/>
                <a:cs typeface="Arial"/>
              </a:rPr>
              <a:t>Chapter 3</a:t>
            </a:r>
            <a:r>
              <a:rPr kumimoji="0" sz="1800" b="1"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0" normalizeH="0" baseline="0" noProof="0" dirty="0">
                <a:ln>
                  <a:noFill/>
                </a:ln>
                <a:solidFill>
                  <a:srgbClr val="5284B0"/>
                </a:solidFill>
                <a:effectLst/>
                <a:uLnTx/>
                <a:uFillTx/>
                <a:latin typeface="Arial"/>
                <a:ea typeface="+mn-ea"/>
                <a:cs typeface="Arial"/>
              </a:rPr>
              <a:t>“</a:t>
            </a:r>
            <a:r>
              <a:rPr kumimoji="0" sz="1800" b="1" i="0" u="none" strike="noStrike" kern="1200" cap="none" spc="-10" normalizeH="0" baseline="0" noProof="0" dirty="0">
                <a:ln>
                  <a:noFill/>
                </a:ln>
                <a:solidFill>
                  <a:srgbClr val="5284B0"/>
                </a:solidFill>
                <a:effectLst/>
                <a:uLnTx/>
                <a:uFillTx/>
                <a:latin typeface="Arial"/>
                <a:ea typeface="+mn-ea"/>
                <a:cs typeface="Arial"/>
              </a:rPr>
              <a:t>Multi</a:t>
            </a:r>
            <a:r>
              <a:rPr kumimoji="0" sz="1800" b="1" i="0" u="none" strike="noStrike" kern="1200" cap="none" spc="0" normalizeH="0" baseline="0" noProof="0" dirty="0">
                <a:ln>
                  <a:noFill/>
                </a:ln>
                <a:solidFill>
                  <a:srgbClr val="5284B0"/>
                </a:solidFill>
                <a:effectLst/>
                <a:uLnTx/>
                <a:uFillTx/>
                <a:latin typeface="Arial"/>
                <a:ea typeface="+mn-ea"/>
                <a:cs typeface="Arial"/>
              </a:rPr>
              <a:t>a</a:t>
            </a:r>
            <a:r>
              <a:rPr kumimoji="0" sz="1800" b="1" i="0" u="none" strike="noStrike" kern="1200" cap="none" spc="-15" normalizeH="0" baseline="0" noProof="0" dirty="0">
                <a:ln>
                  <a:noFill/>
                </a:ln>
                <a:solidFill>
                  <a:srgbClr val="5284B0"/>
                </a:solidFill>
                <a:effectLst/>
                <a:uLnTx/>
                <a:uFillTx/>
                <a:latin typeface="Arial"/>
                <a:ea typeface="+mn-ea"/>
                <a:cs typeface="Arial"/>
              </a:rPr>
              <a:t>g</a:t>
            </a:r>
            <a:r>
              <a:rPr kumimoji="0" sz="1800" b="1" i="0" u="none" strike="noStrike" kern="1200" cap="none" spc="0" normalizeH="0" baseline="0" noProof="0" dirty="0">
                <a:ln>
                  <a:noFill/>
                </a:ln>
                <a:solidFill>
                  <a:srgbClr val="5284B0"/>
                </a:solidFill>
                <a:effectLst/>
                <a:uLnTx/>
                <a:uFillTx/>
                <a:latin typeface="Arial"/>
                <a:ea typeface="+mn-ea"/>
                <a:cs typeface="Arial"/>
              </a:rPr>
              <a:t>e</a:t>
            </a:r>
            <a:r>
              <a:rPr kumimoji="0" sz="1800" b="1" i="0" u="none" strike="noStrike" kern="1200" cap="none" spc="-15" normalizeH="0" baseline="0" noProof="0" dirty="0">
                <a:ln>
                  <a:noFill/>
                </a:ln>
                <a:solidFill>
                  <a:srgbClr val="5284B0"/>
                </a:solidFill>
                <a:effectLst/>
                <a:uLnTx/>
                <a:uFillTx/>
                <a:latin typeface="Arial"/>
                <a:ea typeface="+mn-ea"/>
                <a:cs typeface="Arial"/>
              </a:rPr>
              <a:t>n</a:t>
            </a:r>
            <a:r>
              <a:rPr kumimoji="0" sz="1800" b="1" i="0" u="none" strike="noStrike" kern="1200" cap="none" spc="0" normalizeH="0" baseline="0" noProof="0" dirty="0">
                <a:ln>
                  <a:noFill/>
                </a:ln>
                <a:solidFill>
                  <a:srgbClr val="5284B0"/>
                </a:solidFill>
                <a:effectLst/>
                <a:uLnTx/>
                <a:uFillTx/>
                <a:latin typeface="Arial"/>
                <a:ea typeface="+mn-ea"/>
                <a:cs typeface="Arial"/>
              </a:rPr>
              <a:t>t Systems</a:t>
            </a:r>
            <a:r>
              <a:rPr kumimoji="0" sz="1800" b="0" i="0" u="none" strike="noStrike" kern="1200" cap="none" spc="-10" normalizeH="0" baseline="0" noProof="0" dirty="0">
                <a:ln>
                  <a:noFill/>
                </a:ln>
                <a:solidFill>
                  <a:srgbClr val="5284B0"/>
                </a:solidFill>
                <a:effectLst/>
                <a:uLnTx/>
                <a:uFillTx/>
                <a:latin typeface="Arial"/>
                <a:ea typeface="+mn-ea"/>
                <a:cs typeface="Arial"/>
              </a:rPr>
              <a:t>”,</a:t>
            </a:r>
            <a:r>
              <a:rPr kumimoji="0" sz="1800" b="0" i="0" u="none" strike="noStrike" kern="1200" cap="none" spc="-35" normalizeH="0" baseline="0" noProof="0" dirty="0">
                <a:ln>
                  <a:noFill/>
                </a:ln>
                <a:solidFill>
                  <a:srgbClr val="5284B0"/>
                </a:solidFill>
                <a:effectLst/>
                <a:uLnTx/>
                <a:uFillTx/>
                <a:latin typeface="Arial"/>
                <a:ea typeface="+mn-ea"/>
                <a:cs typeface="Arial"/>
              </a:rPr>
              <a:t> </a:t>
            </a:r>
            <a:r>
              <a:rPr kumimoji="0" sz="1800" b="0" i="0" u="none" strike="noStrike" kern="1200" cap="none" spc="-150" normalizeH="0" baseline="0" noProof="0" dirty="0">
                <a:ln>
                  <a:noFill/>
                </a:ln>
                <a:solidFill>
                  <a:srgbClr val="5284B0"/>
                </a:solidFill>
                <a:effectLst/>
                <a:uLnTx/>
                <a:uFillTx/>
                <a:latin typeface="Arial"/>
                <a:ea typeface="+mn-ea"/>
                <a:cs typeface="Arial"/>
              </a:rPr>
              <a:t>Y</a:t>
            </a:r>
            <a:r>
              <a:rPr kumimoji="0" sz="1800" b="0" i="0" u="none" strike="noStrike" kern="1200" cap="none" spc="-15" normalizeH="0" baseline="0" noProof="0" dirty="0">
                <a:ln>
                  <a:noFill/>
                </a:ln>
                <a:solidFill>
                  <a:srgbClr val="5284B0"/>
                </a:solidFill>
                <a:effectLst/>
                <a:uLnTx/>
                <a:uFillTx/>
                <a:latin typeface="Arial"/>
                <a:ea typeface="+mn-ea"/>
                <a:cs typeface="Arial"/>
              </a:rPr>
              <a:t>o</a:t>
            </a:r>
            <a:r>
              <a:rPr kumimoji="0" sz="1800" b="0" i="0" u="none" strike="noStrike" kern="1200" cap="none" spc="0" normalizeH="0" baseline="0" noProof="0" dirty="0">
                <a:ln>
                  <a:noFill/>
                </a:ln>
                <a:solidFill>
                  <a:srgbClr val="5284B0"/>
                </a:solidFill>
                <a:effectLst/>
                <a:uLnTx/>
                <a:uFillTx/>
                <a:latin typeface="Arial"/>
                <a:ea typeface="+mn-ea"/>
                <a:cs typeface="Arial"/>
              </a:rPr>
              <a:t>av</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5" normalizeH="0" baseline="0" noProof="0" dirty="0">
                <a:ln>
                  <a:noFill/>
                </a:ln>
                <a:solidFill>
                  <a:srgbClr val="5284B0"/>
                </a:solidFill>
                <a:effectLst/>
                <a:uLnTx/>
                <a:uFillTx/>
                <a:latin typeface="Arial"/>
                <a:ea typeface="+mn-ea"/>
                <a:cs typeface="Arial"/>
              </a:rPr>
              <a:t>Shoh</a:t>
            </a:r>
            <a:r>
              <a:rPr kumimoji="0" sz="1800" b="0" i="0" u="none" strike="noStrike" kern="1200" cap="none" spc="0" normalizeH="0" baseline="0" noProof="0" dirty="0">
                <a:ln>
                  <a:noFill/>
                </a:ln>
                <a:solidFill>
                  <a:srgbClr val="5284B0"/>
                </a:solidFill>
                <a:effectLst/>
                <a:uLnTx/>
                <a:uFillTx/>
                <a:latin typeface="Arial"/>
                <a:ea typeface="+mn-ea"/>
                <a:cs typeface="Arial"/>
              </a:rPr>
              <a:t>am</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a</a:t>
            </a:r>
            <a:r>
              <a:rPr kumimoji="0" sz="1800" b="0" i="0" u="none" strike="noStrike" kern="1200" cap="none" spc="-15" normalizeH="0" baseline="0" noProof="0" dirty="0">
                <a:ln>
                  <a:noFill/>
                </a:ln>
                <a:solidFill>
                  <a:srgbClr val="5284B0"/>
                </a:solidFill>
                <a:effectLst/>
                <a:uLnTx/>
                <a:uFillTx/>
                <a:latin typeface="Arial"/>
                <a:ea typeface="+mn-ea"/>
                <a:cs typeface="Arial"/>
              </a:rPr>
              <a:t>nd</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Kev</a:t>
            </a:r>
            <a:r>
              <a:rPr kumimoji="0" sz="1800" b="0" i="0" u="none" strike="noStrike" kern="1200" cap="none" spc="-10" normalizeH="0" baseline="0" noProof="0" dirty="0">
                <a:ln>
                  <a:noFill/>
                </a:ln>
                <a:solidFill>
                  <a:srgbClr val="5284B0"/>
                </a:solidFill>
                <a:effectLst/>
                <a:uLnTx/>
                <a:uFillTx/>
                <a:latin typeface="Arial"/>
                <a:ea typeface="+mn-ea"/>
                <a:cs typeface="Arial"/>
              </a:rPr>
              <a:t>in</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15" normalizeH="0" baseline="0" noProof="0" dirty="0">
                <a:ln>
                  <a:noFill/>
                </a:ln>
                <a:solidFill>
                  <a:srgbClr val="5284B0"/>
                </a:solidFill>
                <a:effectLst/>
                <a:uLnTx/>
                <a:uFillTx/>
                <a:latin typeface="Arial"/>
                <a:ea typeface="+mn-ea"/>
                <a:cs typeface="Arial"/>
              </a:rPr>
              <a:t>L</a:t>
            </a:r>
            <a:r>
              <a:rPr kumimoji="0" sz="1800" b="0" i="0" u="none" strike="noStrike" kern="1200" cap="none" spc="0" normalizeH="0" baseline="0" noProof="0" dirty="0">
                <a:ln>
                  <a:noFill/>
                </a:ln>
                <a:solidFill>
                  <a:srgbClr val="5284B0"/>
                </a:solidFill>
                <a:effectLst/>
                <a:uLnTx/>
                <a:uFillTx/>
                <a:latin typeface="Arial"/>
                <a:ea typeface="+mn-ea"/>
                <a:cs typeface="Arial"/>
              </a:rPr>
              <a:t>ey</a:t>
            </a:r>
            <a:r>
              <a:rPr kumimoji="0" sz="1800" b="0" i="0" u="none" strike="noStrike" kern="1200" cap="none" spc="-10" normalizeH="0" baseline="0" noProof="0" dirty="0">
                <a:ln>
                  <a:noFill/>
                </a:ln>
                <a:solidFill>
                  <a:srgbClr val="5284B0"/>
                </a:solidFill>
                <a:effectLst/>
                <a:uLnTx/>
                <a:uFillTx/>
                <a:latin typeface="Arial"/>
                <a:ea typeface="+mn-ea"/>
                <a:cs typeface="Arial"/>
              </a:rPr>
              <a:t>ton</a:t>
            </a:r>
            <a:r>
              <a:rPr kumimoji="0" sz="1800" b="0" i="0" u="none" strike="noStrike" kern="1200" cap="none" spc="0" normalizeH="0" baseline="0" noProof="0" dirty="0">
                <a:ln>
                  <a:noFill/>
                </a:ln>
                <a:solidFill>
                  <a:srgbClr val="5284B0"/>
                </a:solidFill>
                <a:effectLst/>
                <a:uLnTx/>
                <a:uFillTx/>
                <a:latin typeface="Arial"/>
                <a:ea typeface="+mn-ea"/>
                <a:cs typeface="Arial"/>
              </a:rPr>
              <a:t>-Br</a:t>
            </a:r>
            <a:r>
              <a:rPr kumimoji="0" sz="1800" b="0" i="0" u="none" strike="noStrike" kern="1200" cap="none" spc="-15" normalizeH="0" baseline="0" noProof="0" dirty="0">
                <a:ln>
                  <a:noFill/>
                </a:ln>
                <a:solidFill>
                  <a:srgbClr val="5284B0"/>
                </a:solidFill>
                <a:effectLst/>
                <a:uLnTx/>
                <a:uFillTx/>
                <a:latin typeface="Arial"/>
                <a:ea typeface="+mn-ea"/>
                <a:cs typeface="Arial"/>
              </a:rPr>
              <a:t>own,</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Cam</a:t>
            </a:r>
            <a:r>
              <a:rPr kumimoji="0" sz="1800" b="0" i="0" u="none" strike="noStrike" kern="1200" cap="none" spc="-15" normalizeH="0" baseline="0" noProof="0" dirty="0">
                <a:ln>
                  <a:noFill/>
                </a:ln>
                <a:solidFill>
                  <a:srgbClr val="5284B0"/>
                </a:solidFill>
                <a:effectLst/>
                <a:uLnTx/>
                <a:uFillTx/>
                <a:latin typeface="Arial"/>
                <a:ea typeface="+mn-ea"/>
                <a:cs typeface="Arial"/>
              </a:rPr>
              <a:t>b</a:t>
            </a:r>
            <a:r>
              <a:rPr kumimoji="0" sz="1800" b="0" i="0" u="none" strike="noStrike" kern="1200" cap="none" spc="0" normalizeH="0" baseline="0" noProof="0" dirty="0">
                <a:ln>
                  <a:noFill/>
                </a:ln>
                <a:solidFill>
                  <a:srgbClr val="5284B0"/>
                </a:solidFill>
                <a:effectLst/>
                <a:uLnTx/>
                <a:uFillTx/>
                <a:latin typeface="Arial"/>
                <a:ea typeface="+mn-ea"/>
                <a:cs typeface="Arial"/>
              </a:rPr>
              <a:t>r</a:t>
            </a:r>
            <a:r>
              <a:rPr kumimoji="0" sz="1800" b="0" i="0" u="none" strike="noStrike" kern="1200" cap="none" spc="-10" normalizeH="0" baseline="0" noProof="0" dirty="0">
                <a:ln>
                  <a:noFill/>
                </a:ln>
                <a:solidFill>
                  <a:srgbClr val="5284B0"/>
                </a:solidFill>
                <a:effectLst/>
                <a:uLnTx/>
                <a:uFillTx/>
                <a:latin typeface="Arial"/>
                <a:ea typeface="+mn-ea"/>
                <a:cs typeface="Arial"/>
              </a:rPr>
              <a:t>idg</a:t>
            </a:r>
            <a:r>
              <a:rPr kumimoji="0" sz="1800" b="0" i="0" u="none" strike="noStrike" kern="1200" cap="none" spc="0" normalizeH="0" baseline="0" noProof="0" dirty="0">
                <a:ln>
                  <a:noFill/>
                </a:ln>
                <a:solidFill>
                  <a:srgbClr val="5284B0"/>
                </a:solidFill>
                <a:effectLst/>
                <a:uLnTx/>
                <a:uFillTx/>
                <a:latin typeface="Arial"/>
                <a:ea typeface="+mn-ea"/>
                <a:cs typeface="Arial"/>
              </a:rPr>
              <a:t>e U</a:t>
            </a:r>
            <a:r>
              <a:rPr kumimoji="0" sz="1800" b="0" i="0" u="none" strike="noStrike" kern="1200" cap="none" spc="-10" normalizeH="0" baseline="0" noProof="0" dirty="0">
                <a:ln>
                  <a:noFill/>
                </a:ln>
                <a:solidFill>
                  <a:srgbClr val="5284B0"/>
                </a:solidFill>
                <a:effectLst/>
                <a:uLnTx/>
                <a:uFillTx/>
                <a:latin typeface="Arial"/>
                <a:ea typeface="+mn-ea"/>
                <a:cs typeface="Arial"/>
              </a:rPr>
              <a:t>ni</a:t>
            </a:r>
            <a:r>
              <a:rPr kumimoji="0" sz="1800" b="0" i="0" u="none" strike="noStrike" kern="1200" cap="none" spc="0" normalizeH="0" baseline="0" noProof="0" dirty="0">
                <a:ln>
                  <a:noFill/>
                </a:ln>
                <a:solidFill>
                  <a:srgbClr val="5284B0"/>
                </a:solidFill>
                <a:effectLst/>
                <a:uLnTx/>
                <a:uFillTx/>
                <a:latin typeface="Arial"/>
                <a:ea typeface="+mn-ea"/>
                <a:cs typeface="Arial"/>
              </a:rPr>
              <a:t>vers</a:t>
            </a:r>
            <a:r>
              <a:rPr kumimoji="0" sz="1800" b="0" i="0" u="none" strike="noStrike" kern="1200" cap="none" spc="-5" normalizeH="0" baseline="0" noProof="0" dirty="0">
                <a:ln>
                  <a:noFill/>
                </a:ln>
                <a:solidFill>
                  <a:srgbClr val="5284B0"/>
                </a:solidFill>
                <a:effectLst/>
                <a:uLnTx/>
                <a:uFillTx/>
                <a:latin typeface="Arial"/>
                <a:ea typeface="+mn-ea"/>
                <a:cs typeface="Arial"/>
              </a:rPr>
              <a:t>i</a:t>
            </a:r>
            <a:r>
              <a:rPr kumimoji="0" sz="1800" b="0" i="0" u="none" strike="noStrike" kern="1200" cap="none" spc="0" normalizeH="0" baseline="0" noProof="0" dirty="0">
                <a:ln>
                  <a:noFill/>
                </a:ln>
                <a:solidFill>
                  <a:srgbClr val="5284B0"/>
                </a:solidFill>
                <a:effectLst/>
                <a:uLnTx/>
                <a:uFillTx/>
                <a:latin typeface="Arial"/>
                <a:ea typeface="+mn-ea"/>
                <a:cs typeface="Arial"/>
              </a:rPr>
              <a:t>ty</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Press</a:t>
            </a:r>
            <a:r>
              <a:rPr kumimoji="0" sz="1800" b="0" i="0" u="none" strike="noStrike" kern="1200" cap="none" spc="-5" normalizeH="0" baseline="0" noProof="0" dirty="0">
                <a:ln>
                  <a:noFill/>
                </a:ln>
                <a:solidFill>
                  <a:srgbClr val="5284B0"/>
                </a:solidFill>
                <a:effectLst/>
                <a:uLnTx/>
                <a:uFillTx/>
                <a:latin typeface="Arial"/>
                <a:ea typeface="+mn-ea"/>
                <a:cs typeface="Arial"/>
              </a:rPr>
              <a:t>, </a:t>
            </a:r>
            <a:r>
              <a:rPr kumimoji="0" sz="1800" b="0" i="0" u="none" strike="noStrike" kern="1200" cap="none" spc="0" normalizeH="0" baseline="0" noProof="0" dirty="0">
                <a:ln>
                  <a:noFill/>
                </a:ln>
                <a:solidFill>
                  <a:srgbClr val="5284B0"/>
                </a:solidFill>
                <a:effectLst/>
                <a:uLnTx/>
                <a:uFillTx/>
                <a:latin typeface="Arial"/>
                <a:ea typeface="+mn-ea"/>
                <a:cs typeface="Arial"/>
              </a:rPr>
              <a:t>2009</a:t>
            </a:r>
            <a:r>
              <a:rPr kumimoji="0" sz="1800" b="0" i="0" u="none" strike="noStrike" kern="1200" cap="none" spc="-5" normalizeH="0" baseline="0" noProof="0" dirty="0">
                <a:ln>
                  <a:noFill/>
                </a:ln>
                <a:solidFill>
                  <a:srgbClr val="5284B0"/>
                </a:solidFill>
                <a:effectLst/>
                <a:uLnTx/>
                <a:uFillTx/>
                <a:latin typeface="Arial"/>
                <a:ea typeface="+mn-ea"/>
                <a:cs typeface="Arial"/>
              </a:rPr>
              <a:t>.</a:t>
            </a:r>
            <a:endParaRPr kumimoji="0"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5" name="object 5"/>
          <p:cNvSpPr txBox="1"/>
          <p:nvPr/>
        </p:nvSpPr>
        <p:spPr>
          <a:xfrm>
            <a:off x="535940" y="725383"/>
            <a:ext cx="3549650" cy="431800"/>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3200" b="0" i="0" u="none" strike="noStrike" kern="1200" cap="none" spc="0" normalizeH="0" baseline="0" noProof="0" dirty="0">
                <a:ln>
                  <a:noFill/>
                </a:ln>
                <a:solidFill>
                  <a:prstClr val="black"/>
                </a:solidFill>
                <a:effectLst/>
                <a:uLnTx/>
                <a:uFillTx/>
                <a:latin typeface="Arial"/>
                <a:ea typeface="+mn-ea"/>
                <a:cs typeface="Arial"/>
              </a:rPr>
              <a:t>Acknowledgemen</a:t>
            </a:r>
            <a:r>
              <a:rPr kumimoji="0" sz="3200" b="0" i="0" u="none" strike="noStrike" kern="1200" cap="none" spc="-15" normalizeH="0" baseline="0" noProof="0" dirty="0">
                <a:ln>
                  <a:noFill/>
                </a:ln>
                <a:solidFill>
                  <a:prstClr val="black"/>
                </a:solidFill>
                <a:effectLst/>
                <a:uLnTx/>
                <a:uFillTx/>
                <a:latin typeface="Arial"/>
                <a:ea typeface="+mn-ea"/>
                <a:cs typeface="Arial"/>
              </a:rPr>
              <a:t>t</a:t>
            </a:r>
            <a:r>
              <a:rPr kumimoji="0" sz="3200" b="0" i="0" u="none" strike="noStrike" kern="1200" cap="none" spc="0" normalizeH="0" baseline="0" noProof="0" dirty="0">
                <a:ln>
                  <a:noFill/>
                </a:ln>
                <a:solidFill>
                  <a:prstClr val="black"/>
                </a:solidFill>
                <a:effectLst/>
                <a:uLnTx/>
                <a:uFillTx/>
                <a:latin typeface="Arial"/>
                <a:ea typeface="+mn-ea"/>
                <a:cs typeface="Arial"/>
              </a:rPr>
              <a:t>s</a:t>
            </a:r>
            <a:endParaRPr kumimoji="0" sz="3200" b="0" i="0" u="none" strike="noStrike" kern="1200" cap="none" spc="0" normalizeH="0" baseline="0" noProof="0">
              <a:ln>
                <a:noFill/>
              </a:ln>
              <a:solidFill>
                <a:prstClr val="black"/>
              </a:solidFill>
              <a:effectLst/>
              <a:uLnTx/>
              <a:uFillTx/>
              <a:latin typeface="Arial"/>
              <a:ea typeface="+mn-ea"/>
              <a:cs typeface="Arial"/>
            </a:endParaRPr>
          </a:p>
        </p:txBody>
      </p:sp>
      <p:sp>
        <p:nvSpPr>
          <p:cNvPr id="9" name="Slide Number Placeholder 8">
            <a:extLst>
              <a:ext uri="{FF2B5EF4-FFF2-40B4-BE49-F238E27FC236}">
                <a16:creationId xmlns:a16="http://schemas.microsoft.com/office/drawing/2014/main" id="{13617EE7-C6BC-3C8B-35E3-145B65A9492A}"/>
              </a:ext>
            </a:extLst>
          </p:cNvPr>
          <p:cNvSpPr>
            <a:spLocks noGrp="1"/>
          </p:cNvSpPr>
          <p:nvPr>
            <p:ph type="sldNum" sz="quarter" idx="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2000" b="0" i="0" u="none" strike="noStrike" kern="1200" cap="none" spc="0" normalizeH="0" baseline="0" noProof="0" smtClean="0">
                <a:ln>
                  <a:noFill/>
                </a:ln>
                <a:solidFill>
                  <a:prstClr val="black"/>
                </a:solidFill>
                <a:effectLst/>
                <a:uLnTx/>
                <a:uFillTx/>
                <a:latin typeface="Comic Sans MS"/>
                <a:sym typeface="Comic Sans MS"/>
              </a:rPr>
              <a:pPr marL="0" marR="0" lvl="0" indent="0" algn="l" defTabSz="914400" rtl="0" eaLnBrk="1" fontAlgn="auto" latinLnBrk="0" hangingPunct="1">
                <a:lnSpc>
                  <a:spcPct val="100000"/>
                </a:lnSpc>
                <a:spcBef>
                  <a:spcPts val="0"/>
                </a:spcBef>
                <a:spcAft>
                  <a:spcPts val="0"/>
                </a:spcAft>
                <a:buClrTx/>
                <a:buSzTx/>
                <a:buFontTx/>
                <a:buNone/>
                <a:tabLst/>
                <a:defRPr/>
              </a:pPr>
              <a:t>2</a:t>
            </a:fld>
            <a:r>
              <a:rPr kumimoji="0" lang="en-US" sz="2000" b="0" i="0" u="none" strike="noStrike" kern="1200" cap="none" spc="0" normalizeH="0" baseline="0" noProof="0" dirty="0">
                <a:ln>
                  <a:noFill/>
                </a:ln>
                <a:solidFill>
                  <a:prstClr val="black"/>
                </a:solidFill>
                <a:effectLst/>
                <a:uLnTx/>
                <a:uFillTx/>
                <a:latin typeface="Comic Sans MS"/>
                <a:sym typeface="Comic Sans MS"/>
              </a:rPr>
              <a:t>/46</a:t>
            </a:r>
          </a:p>
        </p:txBody>
      </p:sp>
      <p:sp>
        <p:nvSpPr>
          <p:cNvPr id="10" name="Footer Placeholder 9">
            <a:extLst>
              <a:ext uri="{FF2B5EF4-FFF2-40B4-BE49-F238E27FC236}">
                <a16:creationId xmlns:a16="http://schemas.microsoft.com/office/drawing/2014/main" id="{7D9F23A6-C995-02F4-A1A6-BFF65C2810B6}"/>
              </a:ext>
            </a:extLst>
          </p:cNvPr>
          <p:cNvSpPr>
            <a:spLocks noGrp="1"/>
          </p:cNvSpPr>
          <p:nvPr>
            <p:ph type="ftr" sz="quarter" idx="5"/>
          </p:nvPr>
        </p:nvSpPr>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A33BF24D-1BE7-FE65-5184-22448087A85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1A7ED37A-BF91-3AD3-1550-10F15F1A77FC}"/>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7CC43A6D-4276-8CFA-C140-36108F4BE9A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5" dirty="0"/>
              <a:t>I</a:t>
            </a:r>
            <a:r>
              <a:rPr dirty="0"/>
              <a:t>ndividual</a:t>
            </a:r>
            <a:r>
              <a:rPr spc="-5" dirty="0"/>
              <a:t> </a:t>
            </a:r>
            <a:r>
              <a:rPr dirty="0"/>
              <a:t>vs</a:t>
            </a:r>
            <a:r>
              <a:rPr spc="-5" dirty="0"/>
              <a:t> </a:t>
            </a:r>
            <a:r>
              <a:rPr dirty="0"/>
              <a:t>Colle</a:t>
            </a:r>
            <a:r>
              <a:rPr spc="-20" dirty="0"/>
              <a:t>c</a:t>
            </a:r>
            <a:r>
              <a:rPr spc="-15" dirty="0"/>
              <a:t>t</a:t>
            </a:r>
            <a:r>
              <a:rPr dirty="0"/>
              <a:t>ive</a:t>
            </a:r>
            <a:r>
              <a:rPr spc="-5" dirty="0"/>
              <a:t> </a:t>
            </a:r>
            <a:r>
              <a:rPr dirty="0"/>
              <a:t>Perspe</a:t>
            </a:r>
            <a:r>
              <a:rPr spc="-20" dirty="0"/>
              <a:t>c</a:t>
            </a:r>
            <a:r>
              <a:rPr spc="-15" dirty="0"/>
              <a:t>t</a:t>
            </a:r>
            <a:r>
              <a:rPr dirty="0"/>
              <a:t>ive</a:t>
            </a:r>
          </a:p>
        </p:txBody>
      </p:sp>
      <p:sp>
        <p:nvSpPr>
          <p:cNvPr id="6" name="object 6"/>
          <p:cNvSpPr txBox="1"/>
          <p:nvPr/>
        </p:nvSpPr>
        <p:spPr>
          <a:xfrm>
            <a:off x="520149" y="2049209"/>
            <a:ext cx="7262495" cy="1492716"/>
          </a:xfrm>
          <a:prstGeom prst="rect">
            <a:avLst/>
          </a:prstGeom>
        </p:spPr>
        <p:txBody>
          <a:bodyPr vert="horz" wrap="square" lIns="0" tIns="0" rIns="0" bIns="0" rtlCol="0">
            <a:spAutoFit/>
          </a:bodyPr>
          <a:lstStyle/>
          <a:p>
            <a:pPr marL="12700">
              <a:lnSpc>
                <a:spcPct val="100000"/>
              </a:lnSpc>
            </a:pPr>
            <a:r>
              <a:rPr sz="2400" dirty="0">
                <a:latin typeface="Times New Roman"/>
                <a:cs typeface="Times New Roman"/>
              </a:rPr>
              <a:t>F</a:t>
            </a:r>
            <a:r>
              <a:rPr sz="2400" spc="-15" dirty="0">
                <a:latin typeface="Times New Roman"/>
                <a:cs typeface="Times New Roman"/>
              </a:rPr>
              <a:t>rom </a:t>
            </a:r>
            <a:r>
              <a:rPr sz="2400" spc="-10" dirty="0">
                <a:latin typeface="Times New Roman"/>
                <a:cs typeface="Times New Roman"/>
              </a:rPr>
              <a:t>the</a:t>
            </a:r>
            <a:r>
              <a:rPr sz="2400" spc="-5" dirty="0">
                <a:latin typeface="Times New Roman"/>
                <a:cs typeface="Times New Roman"/>
              </a:rPr>
              <a:t> </a:t>
            </a:r>
            <a:r>
              <a:rPr sz="2400" spc="-15" dirty="0">
                <a:latin typeface="Times New Roman"/>
                <a:cs typeface="Times New Roman"/>
              </a:rPr>
              <a:t>out</a:t>
            </a:r>
            <a:r>
              <a:rPr sz="2400" dirty="0">
                <a:latin typeface="Times New Roman"/>
                <a:cs typeface="Times New Roman"/>
              </a:rPr>
              <a:t>s</a:t>
            </a:r>
            <a:r>
              <a:rPr sz="2400" spc="-10" dirty="0">
                <a:latin typeface="Times New Roman"/>
                <a:cs typeface="Times New Roman"/>
              </a:rPr>
              <a:t>ide</a:t>
            </a:r>
            <a:r>
              <a:rPr sz="2400" spc="-5" dirty="0">
                <a:latin typeface="Times New Roman"/>
                <a:cs typeface="Times New Roman"/>
              </a:rPr>
              <a:t> </a:t>
            </a:r>
            <a:r>
              <a:rPr sz="2400" spc="-20" dirty="0">
                <a:latin typeface="Times New Roman"/>
                <a:cs typeface="Times New Roman"/>
              </a:rPr>
              <a:t>a</a:t>
            </a:r>
            <a:r>
              <a:rPr sz="2400" spc="-10" dirty="0">
                <a:latin typeface="Times New Roman"/>
                <a:cs typeface="Times New Roman"/>
              </a:rPr>
              <a:t>ll</a:t>
            </a:r>
            <a:r>
              <a:rPr sz="2400" dirty="0">
                <a:latin typeface="Times New Roman"/>
                <a:cs typeface="Times New Roman"/>
              </a:rPr>
              <a:t> </a:t>
            </a:r>
            <a:r>
              <a:rPr sz="2400" spc="-20" dirty="0">
                <a:latin typeface="Times New Roman"/>
                <a:cs typeface="Times New Roman"/>
              </a:rPr>
              <a:t>a</a:t>
            </a:r>
            <a:r>
              <a:rPr sz="2400" spc="-15" dirty="0">
                <a:latin typeface="Times New Roman"/>
                <a:cs typeface="Times New Roman"/>
              </a:rPr>
              <a:t>g</a:t>
            </a:r>
            <a:r>
              <a:rPr sz="2400" spc="-20" dirty="0">
                <a:latin typeface="Times New Roman"/>
                <a:cs typeface="Times New Roman"/>
              </a:rPr>
              <a:t>e</a:t>
            </a:r>
            <a:r>
              <a:rPr sz="2400" spc="-10" dirty="0">
                <a:latin typeface="Times New Roman"/>
                <a:cs typeface="Times New Roman"/>
              </a:rPr>
              <a:t>nt</a:t>
            </a:r>
            <a:r>
              <a:rPr sz="2400" spc="-135" dirty="0">
                <a:latin typeface="Times New Roman"/>
                <a:cs typeface="Times New Roman"/>
              </a:rPr>
              <a:t>’</a:t>
            </a:r>
            <a:r>
              <a:rPr sz="2400" dirty="0">
                <a:latin typeface="Times New Roman"/>
                <a:cs typeface="Times New Roman"/>
              </a:rPr>
              <a:t>s </a:t>
            </a:r>
            <a:r>
              <a:rPr sz="2400" spc="-10" dirty="0">
                <a:latin typeface="Times New Roman"/>
                <a:cs typeface="Times New Roman"/>
              </a:rPr>
              <a:t>int</a:t>
            </a:r>
            <a:r>
              <a:rPr sz="2400" spc="-20" dirty="0">
                <a:latin typeface="Times New Roman"/>
                <a:cs typeface="Times New Roman"/>
              </a:rPr>
              <a:t>e</a:t>
            </a:r>
            <a:r>
              <a:rPr sz="2400" spc="-10" dirty="0">
                <a:latin typeface="Times New Roman"/>
                <a:cs typeface="Times New Roman"/>
              </a:rPr>
              <a:t>r</a:t>
            </a:r>
            <a:r>
              <a:rPr sz="2400" spc="-20" dirty="0">
                <a:latin typeface="Times New Roman"/>
                <a:cs typeface="Times New Roman"/>
              </a:rPr>
              <a:t>e</a:t>
            </a:r>
            <a:r>
              <a:rPr sz="2400" dirty="0">
                <a:latin typeface="Times New Roman"/>
                <a:cs typeface="Times New Roman"/>
              </a:rPr>
              <a:t>s</a:t>
            </a:r>
            <a:r>
              <a:rPr sz="2400" spc="-10" dirty="0">
                <a:latin typeface="Times New Roman"/>
                <a:cs typeface="Times New Roman"/>
              </a:rPr>
              <a:t>t</a:t>
            </a:r>
            <a:r>
              <a:rPr sz="2400" dirty="0">
                <a:latin typeface="Times New Roman"/>
                <a:cs typeface="Times New Roman"/>
              </a:rPr>
              <a:t>s </a:t>
            </a:r>
            <a:r>
              <a:rPr sz="2400" spc="-20" dirty="0">
                <a:latin typeface="Times New Roman"/>
                <a:cs typeface="Times New Roman"/>
              </a:rPr>
              <a:t>a</a:t>
            </a:r>
            <a:r>
              <a:rPr sz="2400" spc="-10" dirty="0">
                <a:latin typeface="Times New Roman"/>
                <a:cs typeface="Times New Roman"/>
              </a:rPr>
              <a:t>re</a:t>
            </a:r>
            <a:r>
              <a:rPr sz="2400" spc="-5" dirty="0">
                <a:latin typeface="Times New Roman"/>
                <a:cs typeface="Times New Roman"/>
              </a:rPr>
              <a:t> </a:t>
            </a:r>
            <a:r>
              <a:rPr sz="2400" spc="-20" dirty="0">
                <a:latin typeface="Times New Roman"/>
                <a:cs typeface="Times New Roman"/>
              </a:rPr>
              <a:t>e</a:t>
            </a:r>
            <a:r>
              <a:rPr sz="2400" spc="-15" dirty="0">
                <a:latin typeface="Times New Roman"/>
                <a:cs typeface="Times New Roman"/>
              </a:rPr>
              <a:t>qu</a:t>
            </a:r>
            <a:r>
              <a:rPr sz="2400" spc="-20" dirty="0">
                <a:latin typeface="Times New Roman"/>
                <a:cs typeface="Times New Roman"/>
              </a:rPr>
              <a:t>a</a:t>
            </a:r>
            <a:r>
              <a:rPr sz="2400" spc="-10" dirty="0">
                <a:latin typeface="Times New Roman"/>
                <a:cs typeface="Times New Roman"/>
              </a:rPr>
              <a:t>ll</a:t>
            </a:r>
            <a:r>
              <a:rPr sz="2400" dirty="0">
                <a:latin typeface="Times New Roman"/>
                <a:cs typeface="Times New Roman"/>
              </a:rPr>
              <a:t>y </a:t>
            </a:r>
            <a:r>
              <a:rPr sz="2400" spc="-15" dirty="0">
                <a:latin typeface="Times New Roman"/>
                <a:cs typeface="Times New Roman"/>
              </a:rPr>
              <a:t>import</a:t>
            </a:r>
            <a:r>
              <a:rPr sz="2400" spc="-20" dirty="0">
                <a:latin typeface="Times New Roman"/>
                <a:cs typeface="Times New Roman"/>
              </a:rPr>
              <a:t>a</a:t>
            </a:r>
            <a:r>
              <a:rPr sz="2400" spc="-10" dirty="0">
                <a:latin typeface="Times New Roman"/>
                <a:cs typeface="Times New Roman"/>
              </a:rPr>
              <a:t>nt</a:t>
            </a:r>
            <a:r>
              <a:rPr sz="2400" dirty="0">
                <a:latin typeface="Times New Roman"/>
                <a:cs typeface="Times New Roman"/>
              </a:rPr>
              <a:t>.</a:t>
            </a:r>
          </a:p>
          <a:p>
            <a:pPr>
              <a:lnSpc>
                <a:spcPct val="100000"/>
              </a:lnSpc>
              <a:spcBef>
                <a:spcPts val="45"/>
              </a:spcBef>
            </a:pPr>
            <a:endParaRPr sz="2500" dirty="0">
              <a:latin typeface="Times New Roman"/>
              <a:cs typeface="Times New Roman"/>
            </a:endParaRPr>
          </a:p>
          <a:p>
            <a:pPr marL="12700">
              <a:lnSpc>
                <a:spcPct val="100000"/>
              </a:lnSpc>
            </a:pPr>
            <a:r>
              <a:rPr sz="2400" spc="-30" dirty="0">
                <a:latin typeface="Times New Roman"/>
                <a:cs typeface="Times New Roman"/>
              </a:rPr>
              <a:t>W</a:t>
            </a:r>
            <a:r>
              <a:rPr sz="2400" spc="-15" dirty="0">
                <a:latin typeface="Times New Roman"/>
                <a:cs typeface="Times New Roman"/>
              </a:rPr>
              <a:t>h</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5" dirty="0">
                <a:latin typeface="Times New Roman"/>
                <a:cs typeface="Times New Roman"/>
              </a:rPr>
              <a:t>do</a:t>
            </a:r>
            <a:r>
              <a:rPr sz="2400" spc="-20" dirty="0">
                <a:latin typeface="Times New Roman"/>
                <a:cs typeface="Times New Roman"/>
              </a:rPr>
              <a:t>e</a:t>
            </a:r>
            <a:r>
              <a:rPr sz="2400" dirty="0">
                <a:latin typeface="Times New Roman"/>
                <a:cs typeface="Times New Roman"/>
              </a:rPr>
              <a:t>s </a:t>
            </a:r>
            <a:r>
              <a:rPr sz="2400" spc="-10" dirty="0">
                <a:latin typeface="Times New Roman"/>
                <a:cs typeface="Times New Roman"/>
              </a:rPr>
              <a:t>thi</a:t>
            </a:r>
            <a:r>
              <a:rPr sz="2400" dirty="0">
                <a:latin typeface="Times New Roman"/>
                <a:cs typeface="Times New Roman"/>
              </a:rPr>
              <a:t>s </a:t>
            </a:r>
            <a:r>
              <a:rPr sz="2400" spc="-20" dirty="0">
                <a:latin typeface="Times New Roman"/>
                <a:cs typeface="Times New Roman"/>
              </a:rPr>
              <a:t>mea</a:t>
            </a:r>
            <a:r>
              <a:rPr sz="2400" dirty="0">
                <a:latin typeface="Times New Roman"/>
                <a:cs typeface="Times New Roman"/>
              </a:rPr>
              <a:t>n for </a:t>
            </a:r>
            <a:r>
              <a:rPr sz="2400" b="1" spc="-15" dirty="0">
                <a:latin typeface="Times New Roman"/>
                <a:cs typeface="Times New Roman"/>
              </a:rPr>
              <a:t>out</a:t>
            </a:r>
            <a:r>
              <a:rPr sz="2400" b="1" spc="-20" dirty="0">
                <a:latin typeface="Times New Roman"/>
                <a:cs typeface="Times New Roman"/>
              </a:rPr>
              <a:t>come</a:t>
            </a:r>
            <a:r>
              <a:rPr sz="2400" b="1" dirty="0">
                <a:latin typeface="Times New Roman"/>
                <a:cs typeface="Times New Roman"/>
              </a:rPr>
              <a:t>s</a:t>
            </a:r>
            <a:r>
              <a:rPr lang="en-US" sz="2400" b="1" baseline="30000" dirty="0">
                <a:latin typeface="Times New Roman"/>
                <a:cs typeface="Times New Roman"/>
              </a:rPr>
              <a:t>*</a:t>
            </a:r>
            <a:endParaRPr sz="2400" b="1" dirty="0">
              <a:latin typeface="Times New Roman"/>
              <a:cs typeface="Times New Roman"/>
            </a:endParaRPr>
          </a:p>
          <a:p>
            <a:pPr marL="12700">
              <a:lnSpc>
                <a:spcPct val="100000"/>
              </a:lnSpc>
              <a:spcBef>
                <a:spcPts val="20"/>
              </a:spcBef>
            </a:pPr>
            <a:r>
              <a:rPr sz="2400" spc="-10" dirty="0">
                <a:latin typeface="Times New Roman"/>
                <a:cs typeface="Times New Roman"/>
              </a:rPr>
              <a:t>th</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di</a:t>
            </a:r>
            <a:r>
              <a:rPr sz="2400" spc="-45" dirty="0">
                <a:latin typeface="Times New Roman"/>
                <a:cs typeface="Times New Roman"/>
              </a:rPr>
              <a:t>f</a:t>
            </a:r>
            <a:r>
              <a:rPr sz="2400" spc="-10" dirty="0">
                <a:latin typeface="Times New Roman"/>
                <a:cs typeface="Times New Roman"/>
              </a:rPr>
              <a:t>f</a:t>
            </a:r>
            <a:r>
              <a:rPr sz="2400" spc="-20" dirty="0">
                <a:latin typeface="Times New Roman"/>
                <a:cs typeface="Times New Roman"/>
              </a:rPr>
              <a:t>e</a:t>
            </a:r>
            <a:r>
              <a:rPr sz="2400" dirty="0">
                <a:latin typeface="Times New Roman"/>
                <a:cs typeface="Times New Roman"/>
              </a:rPr>
              <a:t>r </a:t>
            </a:r>
            <a:r>
              <a:rPr sz="2400" spc="-15" dirty="0">
                <a:latin typeface="Times New Roman"/>
                <a:cs typeface="Times New Roman"/>
              </a:rPr>
              <a:t>onl</a:t>
            </a:r>
            <a:r>
              <a:rPr sz="2400" dirty="0">
                <a:latin typeface="Times New Roman"/>
                <a:cs typeface="Times New Roman"/>
              </a:rPr>
              <a:t>y on </a:t>
            </a:r>
            <a:r>
              <a:rPr sz="2400" spc="-10" dirty="0">
                <a:latin typeface="Times New Roman"/>
                <a:cs typeface="Times New Roman"/>
              </a:rPr>
              <a:t>the</a:t>
            </a:r>
            <a:r>
              <a:rPr sz="2400" dirty="0">
                <a:latin typeface="Times New Roman"/>
                <a:cs typeface="Times New Roman"/>
              </a:rPr>
              <a:t> </a:t>
            </a:r>
            <a:r>
              <a:rPr sz="2400" i="1" spc="-10" dirty="0">
                <a:latin typeface="Times New Roman"/>
                <a:cs typeface="Times New Roman"/>
              </a:rPr>
              <a:t>indi</a:t>
            </a:r>
            <a:r>
              <a:rPr sz="2400" i="1" spc="-20" dirty="0">
                <a:latin typeface="Times New Roman"/>
                <a:cs typeface="Times New Roman"/>
              </a:rPr>
              <a:t>v</a:t>
            </a:r>
            <a:r>
              <a:rPr sz="2400" i="1" spc="-10" dirty="0">
                <a:latin typeface="Times New Roman"/>
                <a:cs typeface="Times New Roman"/>
              </a:rPr>
              <a:t>idual</a:t>
            </a:r>
            <a:r>
              <a:rPr sz="2400" i="1" dirty="0">
                <a:latin typeface="Times New Roman"/>
                <a:cs typeface="Times New Roman"/>
              </a:rPr>
              <a:t> </a:t>
            </a:r>
            <a:r>
              <a:rPr sz="2400" spc="-10" dirty="0">
                <a:latin typeface="Times New Roman"/>
                <a:cs typeface="Times New Roman"/>
              </a:rPr>
              <a:t>l</a:t>
            </a:r>
            <a:r>
              <a:rPr sz="2400" spc="-20" dirty="0">
                <a:latin typeface="Times New Roman"/>
                <a:cs typeface="Times New Roman"/>
              </a:rPr>
              <a:t>e</a:t>
            </a:r>
            <a:r>
              <a:rPr sz="2400" spc="-15" dirty="0">
                <a:latin typeface="Times New Roman"/>
                <a:cs typeface="Times New Roman"/>
              </a:rPr>
              <a:t>v</a:t>
            </a:r>
            <a:r>
              <a:rPr sz="2400" spc="-20" dirty="0">
                <a:latin typeface="Times New Roman"/>
                <a:cs typeface="Times New Roman"/>
              </a:rPr>
              <a:t>e</a:t>
            </a:r>
            <a:r>
              <a:rPr sz="2400" spc="-10" dirty="0">
                <a:latin typeface="Times New Roman"/>
                <a:cs typeface="Times New Roman"/>
              </a:rPr>
              <a:t>l</a:t>
            </a:r>
            <a:r>
              <a:rPr sz="2400" dirty="0">
                <a:latin typeface="Times New Roman"/>
                <a:cs typeface="Times New Roman"/>
              </a:rPr>
              <a:t> </a:t>
            </a:r>
            <a:r>
              <a:rPr sz="2400" spc="-15" dirty="0">
                <a:latin typeface="Times New Roman"/>
                <a:cs typeface="Times New Roman"/>
              </a:rPr>
              <a:t>?</a:t>
            </a:r>
            <a:endParaRPr sz="2400" dirty="0">
              <a:latin typeface="Times New Roman"/>
              <a:cs typeface="Times New Roman"/>
            </a:endParaRPr>
          </a:p>
        </p:txBody>
      </p:sp>
      <p:sp>
        <p:nvSpPr>
          <p:cNvPr id="12" name="Slide Number Placeholder 8">
            <a:extLst>
              <a:ext uri="{FF2B5EF4-FFF2-40B4-BE49-F238E27FC236}">
                <a16:creationId xmlns:a16="http://schemas.microsoft.com/office/drawing/2014/main" id="{8D4924D2-5060-4DFB-3015-CF07DCEDBE39}"/>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a:t>
            </a:fld>
            <a:r>
              <a:rPr lang="en-US" sz="2000" dirty="0">
                <a:solidFill>
                  <a:prstClr val="black"/>
                </a:solidFill>
                <a:latin typeface="Comic Sans MS"/>
                <a:sym typeface="Comic Sans MS"/>
              </a:rPr>
              <a:t>/46</a:t>
            </a:r>
          </a:p>
        </p:txBody>
      </p:sp>
      <p:sp>
        <p:nvSpPr>
          <p:cNvPr id="13" name="Footer Placeholder 9">
            <a:extLst>
              <a:ext uri="{FF2B5EF4-FFF2-40B4-BE49-F238E27FC236}">
                <a16:creationId xmlns:a16="http://schemas.microsoft.com/office/drawing/2014/main" id="{3AA8F088-E186-4EDC-0D47-830EF64C5E33}"/>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4" name="Rectangle 13">
            <a:extLst>
              <a:ext uri="{FF2B5EF4-FFF2-40B4-BE49-F238E27FC236}">
                <a16:creationId xmlns:a16="http://schemas.microsoft.com/office/drawing/2014/main" id="{9D34D99B-EFED-F6BB-4C25-C12914DD177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5" name="Rectangle 14">
            <a:extLst>
              <a:ext uri="{FF2B5EF4-FFF2-40B4-BE49-F238E27FC236}">
                <a16:creationId xmlns:a16="http://schemas.microsoft.com/office/drawing/2014/main" id="{E6401996-5C40-3293-61CC-8AAC9DBB51B0}"/>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CC217A70-0B39-6654-BC45-80506E4CFE59}"/>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D191D5D-9D61-DE07-A754-D64CF5928F94}"/>
              </a:ext>
            </a:extLst>
          </p:cNvPr>
          <p:cNvSpPr txBox="1"/>
          <p:nvPr/>
        </p:nvSpPr>
        <p:spPr>
          <a:xfrm>
            <a:off x="491807" y="4114800"/>
            <a:ext cx="7630554" cy="369332"/>
          </a:xfrm>
          <a:prstGeom prst="rect">
            <a:avLst/>
          </a:prstGeom>
          <a:solidFill>
            <a:schemeClr val="bg2">
              <a:lumMod val="90000"/>
            </a:schemeClr>
          </a:solidFill>
        </p:spPr>
        <p:txBody>
          <a:bodyPr wrap="square">
            <a:spAutoFit/>
          </a:bodyPr>
          <a:lstStyle/>
          <a:p>
            <a:pPr algn="l"/>
            <a:r>
              <a:rPr lang="en-US" sz="1800" b="0" i="0" u="none" strike="noStrike" baseline="0" dirty="0">
                <a:latin typeface="Times New Roman" panose="02020603050405020304" pitchFamily="18" charset="0"/>
              </a:rPr>
              <a:t>The problem is to find a way of saying that some outcomes are better than others</a:t>
            </a:r>
            <a:endParaRPr lang="en-US" dirty="0"/>
          </a:p>
        </p:txBody>
      </p:sp>
      <p:sp>
        <p:nvSpPr>
          <p:cNvPr id="8" name="TextBox 7">
            <a:extLst>
              <a:ext uri="{FF2B5EF4-FFF2-40B4-BE49-F238E27FC236}">
                <a16:creationId xmlns:a16="http://schemas.microsoft.com/office/drawing/2014/main" id="{A81E0D7E-32F0-B83A-0B8B-CD436105A030}"/>
              </a:ext>
            </a:extLst>
          </p:cNvPr>
          <p:cNvSpPr txBox="1"/>
          <p:nvPr/>
        </p:nvSpPr>
        <p:spPr>
          <a:xfrm>
            <a:off x="491807" y="5054264"/>
            <a:ext cx="7756150" cy="923330"/>
          </a:xfrm>
          <a:prstGeom prst="rect">
            <a:avLst/>
          </a:prstGeom>
          <a:noFill/>
        </p:spPr>
        <p:txBody>
          <a:bodyPr wrap="square">
            <a:spAutoFit/>
          </a:bodyPr>
          <a:lstStyle/>
          <a:p>
            <a:r>
              <a:rPr lang="en-US" b="0" i="1" baseline="30000" dirty="0">
                <a:effectLst/>
                <a:latin typeface="Söhne"/>
              </a:rPr>
              <a:t>*</a:t>
            </a:r>
            <a:r>
              <a:rPr lang="en-US" b="0" i="1" dirty="0">
                <a:effectLst/>
                <a:latin typeface="Söhne"/>
              </a:rPr>
              <a:t>The outcome of a game represents the specific combination of strategies chosen by all players, which in turn leads to a set of payoffs for each player based on the rules of the game and the interactions between the players.</a:t>
            </a:r>
            <a:endParaRPr lang="en-US"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574571"/>
            <a:ext cx="8221344" cy="492443"/>
          </a:xfrm>
          <a:prstGeom prst="rect">
            <a:avLst/>
          </a:prstGeom>
        </p:spPr>
        <p:txBody>
          <a:bodyPr vert="horz" wrap="square" lIns="0" tIns="0" rIns="0" bIns="0" rtlCol="0">
            <a:spAutoFit/>
          </a:bodyPr>
          <a:lstStyle/>
          <a:p>
            <a:pPr marL="12700">
              <a:lnSpc>
                <a:spcPct val="100000"/>
              </a:lnSpc>
            </a:pPr>
            <a:r>
              <a:rPr lang="en-US" dirty="0"/>
              <a:t>Collective Perspective: </a:t>
            </a:r>
            <a:r>
              <a:rPr dirty="0"/>
              <a:t>Pare</a:t>
            </a:r>
            <a:r>
              <a:rPr spc="-15" dirty="0"/>
              <a:t>t</a:t>
            </a:r>
            <a:r>
              <a:rPr dirty="0"/>
              <a:t>o</a:t>
            </a:r>
            <a:r>
              <a:rPr spc="-5" dirty="0"/>
              <a:t> </a:t>
            </a:r>
            <a:r>
              <a:rPr spc="-30" dirty="0"/>
              <a:t>O</a:t>
            </a:r>
            <a:r>
              <a:rPr dirty="0"/>
              <a:t>p</a:t>
            </a:r>
            <a:r>
              <a:rPr spc="-15" dirty="0"/>
              <a:t>t</a:t>
            </a:r>
            <a:r>
              <a:rPr dirty="0"/>
              <a:t>imali</a:t>
            </a:r>
            <a:r>
              <a:rPr spc="-15" dirty="0"/>
              <a:t>t</a:t>
            </a:r>
            <a:r>
              <a:rPr dirty="0"/>
              <a:t>y</a:t>
            </a:r>
          </a:p>
        </p:txBody>
      </p:sp>
      <p:sp>
        <p:nvSpPr>
          <p:cNvPr id="6" name="object 6"/>
          <p:cNvSpPr txBox="1"/>
          <p:nvPr/>
        </p:nvSpPr>
        <p:spPr>
          <a:xfrm>
            <a:off x="412998" y="1752600"/>
            <a:ext cx="7676515" cy="3888244"/>
          </a:xfrm>
          <a:prstGeom prst="rect">
            <a:avLst/>
          </a:prstGeom>
        </p:spPr>
        <p:txBody>
          <a:bodyPr vert="horz" wrap="square" lIns="0" tIns="0" rIns="0" bIns="0" rtlCol="0">
            <a:spAutoFit/>
          </a:bodyPr>
          <a:lstStyle/>
          <a:p>
            <a:pPr marL="12700">
              <a:lnSpc>
                <a:spcPct val="100000"/>
              </a:lnSpc>
            </a:pPr>
            <a:r>
              <a:rPr sz="2400" dirty="0">
                <a:latin typeface="Times New Roman"/>
                <a:cs typeface="Times New Roman"/>
              </a:rPr>
              <a:t>If </a:t>
            </a:r>
            <a:r>
              <a:rPr sz="2400" spc="-20" dirty="0">
                <a:latin typeface="Times New Roman"/>
                <a:cs typeface="Times New Roman"/>
              </a:rPr>
              <a:t>a</a:t>
            </a:r>
            <a:r>
              <a:rPr sz="2400" dirty="0">
                <a:latin typeface="Times New Roman"/>
                <a:cs typeface="Times New Roman"/>
              </a:rPr>
              <a:t>n </a:t>
            </a:r>
            <a:r>
              <a:rPr sz="2400" spc="-15" dirty="0">
                <a:latin typeface="Times New Roman"/>
                <a:cs typeface="Times New Roman"/>
              </a:rPr>
              <a:t>out</a:t>
            </a:r>
            <a:r>
              <a:rPr sz="2400" spc="-20" dirty="0">
                <a:latin typeface="Times New Roman"/>
                <a:cs typeface="Times New Roman"/>
              </a:rPr>
              <a:t>c</a:t>
            </a:r>
            <a:r>
              <a:rPr sz="2400" spc="-15" dirty="0">
                <a:latin typeface="Times New Roman"/>
                <a:cs typeface="Times New Roman"/>
              </a:rPr>
              <a:t>ome</a:t>
            </a:r>
            <a:r>
              <a:rPr sz="2400" dirty="0">
                <a:latin typeface="Times New Roman"/>
                <a:cs typeface="Times New Roman"/>
              </a:rPr>
              <a:t> </a:t>
            </a:r>
            <a:r>
              <a:rPr sz="2400" i="1" dirty="0">
                <a:latin typeface="Times New Roman"/>
                <a:cs typeface="Times New Roman"/>
              </a:rPr>
              <a:t>o</a:t>
            </a:r>
            <a:r>
              <a:rPr lang="en-US" sz="2400" i="1" baseline="30000" dirty="0">
                <a:latin typeface="Times New Roman"/>
                <a:cs typeface="Times New Roman"/>
                <a:sym typeface="Symbol" panose="05050102010706020507" pitchFamily="18" charset="2"/>
              </a:rPr>
              <a:t></a:t>
            </a:r>
            <a:r>
              <a:rPr lang="en-US" sz="2400" baseline="30000" dirty="0">
                <a:latin typeface="Times New Roman"/>
                <a:cs typeface="Times New Roman"/>
              </a:rPr>
              <a:t>  </a:t>
            </a:r>
            <a:r>
              <a:rPr sz="2400" spc="-10" dirty="0">
                <a:latin typeface="Times New Roman"/>
                <a:cs typeface="Times New Roman"/>
              </a:rPr>
              <a:t>i</a:t>
            </a:r>
            <a:r>
              <a:rPr sz="2400" dirty="0">
                <a:latin typeface="Times New Roman"/>
                <a:cs typeface="Times New Roman"/>
              </a:rPr>
              <a:t>s </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l</a:t>
            </a:r>
            <a:r>
              <a:rPr sz="2400" spc="-20" dirty="0">
                <a:latin typeface="Times New Roman"/>
                <a:cs typeface="Times New Roman"/>
              </a:rPr>
              <a:t>ea</a:t>
            </a:r>
            <a:r>
              <a:rPr sz="2400" dirty="0">
                <a:latin typeface="Times New Roman"/>
                <a:cs typeface="Times New Roman"/>
              </a:rPr>
              <a:t>s</a:t>
            </a:r>
            <a:r>
              <a:rPr sz="2400" spc="-10" dirty="0">
                <a:latin typeface="Times New Roman"/>
                <a:cs typeface="Times New Roman"/>
              </a:rPr>
              <a:t>t</a:t>
            </a:r>
            <a:r>
              <a:rPr sz="2400" dirty="0">
                <a:latin typeface="Times New Roman"/>
                <a:cs typeface="Times New Roman"/>
              </a:rPr>
              <a:t> </a:t>
            </a:r>
            <a:r>
              <a:rPr sz="2400" spc="-20" dirty="0">
                <a:latin typeface="Times New Roman"/>
                <a:cs typeface="Times New Roman"/>
              </a:rPr>
              <a:t>a</a:t>
            </a:r>
            <a:r>
              <a:rPr sz="2400" dirty="0">
                <a:latin typeface="Times New Roman"/>
                <a:cs typeface="Times New Roman"/>
              </a:rPr>
              <a:t>s good </a:t>
            </a:r>
            <a:r>
              <a:rPr sz="2400" spc="-20" dirty="0">
                <a:latin typeface="Times New Roman"/>
                <a:cs typeface="Times New Roman"/>
              </a:rPr>
              <a:t>a</a:t>
            </a:r>
            <a:r>
              <a:rPr sz="2400" dirty="0">
                <a:latin typeface="Times New Roman"/>
                <a:cs typeface="Times New Roman"/>
              </a:rPr>
              <a:t>s </a:t>
            </a:r>
            <a:r>
              <a:rPr sz="2400" spc="-20" dirty="0">
                <a:latin typeface="Times New Roman"/>
                <a:cs typeface="Times New Roman"/>
              </a:rPr>
              <a:t>a</a:t>
            </a:r>
            <a:r>
              <a:rPr sz="2400" spc="-15" dirty="0">
                <a:latin typeface="Times New Roman"/>
                <a:cs typeface="Times New Roman"/>
              </a:rPr>
              <a:t>noth</a:t>
            </a:r>
            <a:r>
              <a:rPr sz="2400" spc="-20" dirty="0">
                <a:latin typeface="Times New Roman"/>
                <a:cs typeface="Times New Roman"/>
              </a:rPr>
              <a:t>e</a:t>
            </a:r>
            <a:r>
              <a:rPr sz="2400" dirty="0">
                <a:latin typeface="Times New Roman"/>
                <a:cs typeface="Times New Roman"/>
              </a:rPr>
              <a:t>r </a:t>
            </a:r>
            <a:r>
              <a:rPr sz="2400" spc="-15" dirty="0">
                <a:latin typeface="Times New Roman"/>
                <a:cs typeface="Times New Roman"/>
              </a:rPr>
              <a:t>out</a:t>
            </a:r>
            <a:r>
              <a:rPr sz="2400" spc="-20" dirty="0">
                <a:latin typeface="Times New Roman"/>
                <a:cs typeface="Times New Roman"/>
              </a:rPr>
              <a:t>c</a:t>
            </a:r>
            <a:r>
              <a:rPr sz="2400" spc="-15" dirty="0">
                <a:latin typeface="Times New Roman"/>
                <a:cs typeface="Times New Roman"/>
              </a:rPr>
              <a:t>ome</a:t>
            </a:r>
            <a:r>
              <a:rPr sz="2400" dirty="0">
                <a:latin typeface="Times New Roman"/>
                <a:cs typeface="Times New Roman"/>
              </a:rPr>
              <a:t> </a:t>
            </a:r>
            <a:r>
              <a:rPr sz="2400" i="1" dirty="0">
                <a:latin typeface="Times New Roman"/>
                <a:cs typeface="Times New Roman"/>
              </a:rPr>
              <a:t>o</a:t>
            </a:r>
            <a:endParaRPr sz="2400" dirty="0">
              <a:latin typeface="Times New Roman"/>
              <a:cs typeface="Times New Roman"/>
            </a:endParaRPr>
          </a:p>
          <a:p>
            <a:pPr marL="12700">
              <a:lnSpc>
                <a:spcPct val="100000"/>
              </a:lnSpc>
              <a:spcBef>
                <a:spcPts val="135"/>
              </a:spcBef>
            </a:pPr>
            <a:r>
              <a:rPr sz="2400" dirty="0">
                <a:latin typeface="Times New Roman"/>
                <a:cs typeface="Times New Roman"/>
              </a:rPr>
              <a:t>for </a:t>
            </a:r>
            <a:r>
              <a:rPr sz="2400" spc="-20" dirty="0">
                <a:latin typeface="Times New Roman"/>
                <a:cs typeface="Times New Roman"/>
              </a:rPr>
              <a:t>a</a:t>
            </a:r>
            <a:r>
              <a:rPr sz="2400" spc="-10" dirty="0">
                <a:latin typeface="Times New Roman"/>
                <a:cs typeface="Times New Roman"/>
              </a:rPr>
              <a:t>ll</a:t>
            </a:r>
            <a:r>
              <a:rPr sz="2400" dirty="0">
                <a:latin typeface="Times New Roman"/>
                <a:cs typeface="Times New Roman"/>
              </a:rPr>
              <a:t> </a:t>
            </a:r>
            <a:r>
              <a:rPr sz="2400" spc="-20" dirty="0">
                <a:latin typeface="Times New Roman"/>
                <a:cs typeface="Times New Roman"/>
              </a:rPr>
              <a:t>a</a:t>
            </a:r>
            <a:r>
              <a:rPr sz="2400" spc="-15" dirty="0">
                <a:latin typeface="Times New Roman"/>
                <a:cs typeface="Times New Roman"/>
              </a:rPr>
              <a:t>g</a:t>
            </a:r>
            <a:r>
              <a:rPr sz="2400" spc="-20" dirty="0">
                <a:latin typeface="Times New Roman"/>
                <a:cs typeface="Times New Roman"/>
              </a:rPr>
              <a:t>e</a:t>
            </a:r>
            <a:r>
              <a:rPr sz="2400" spc="-10" dirty="0">
                <a:latin typeface="Times New Roman"/>
                <a:cs typeface="Times New Roman"/>
              </a:rPr>
              <a:t>nt</a:t>
            </a:r>
            <a:r>
              <a:rPr sz="2400" dirty="0">
                <a:latin typeface="Times New Roman"/>
                <a:cs typeface="Times New Roman"/>
              </a:rPr>
              <a:t>s </a:t>
            </a:r>
            <a:r>
              <a:rPr sz="2400" spc="-15" dirty="0">
                <a:latin typeface="Times New Roman"/>
                <a:cs typeface="Times New Roman"/>
              </a:rPr>
              <a:t>but</a:t>
            </a:r>
            <a:r>
              <a:rPr sz="2400" dirty="0">
                <a:latin typeface="Times New Roman"/>
                <a:cs typeface="Times New Roman"/>
              </a:rPr>
              <a:t> </a:t>
            </a:r>
            <a:r>
              <a:rPr sz="2400" spc="-10" dirty="0">
                <a:latin typeface="Times New Roman"/>
                <a:cs typeface="Times New Roman"/>
              </a:rPr>
              <a:t>th</a:t>
            </a:r>
            <a:r>
              <a:rPr sz="2400" spc="-20" dirty="0">
                <a:latin typeface="Times New Roman"/>
                <a:cs typeface="Times New Roman"/>
              </a:rPr>
              <a:t>e</a:t>
            </a:r>
            <a:r>
              <a:rPr sz="2400" spc="-10" dirty="0">
                <a:latin typeface="Times New Roman"/>
                <a:cs typeface="Times New Roman"/>
              </a:rPr>
              <a:t>re</a:t>
            </a:r>
            <a:r>
              <a:rPr sz="2400" spc="-5" dirty="0">
                <a:latin typeface="Times New Roman"/>
                <a:cs typeface="Times New Roman"/>
              </a:rPr>
              <a:t> </a:t>
            </a:r>
            <a:r>
              <a:rPr sz="2400" spc="-10" dirty="0">
                <a:latin typeface="Times New Roman"/>
                <a:cs typeface="Times New Roman"/>
              </a:rPr>
              <a:t>i</a:t>
            </a:r>
            <a:r>
              <a:rPr sz="2400" dirty="0">
                <a:latin typeface="Times New Roman"/>
                <a:cs typeface="Times New Roman"/>
              </a:rPr>
              <a:t>s </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l</a:t>
            </a:r>
            <a:r>
              <a:rPr sz="2400" spc="-20" dirty="0">
                <a:latin typeface="Times New Roman"/>
                <a:cs typeface="Times New Roman"/>
              </a:rPr>
              <a:t>ea</a:t>
            </a:r>
            <a:r>
              <a:rPr sz="2400" dirty="0">
                <a:latin typeface="Times New Roman"/>
                <a:cs typeface="Times New Roman"/>
              </a:rPr>
              <a:t>s</a:t>
            </a:r>
            <a:r>
              <a:rPr sz="2400" spc="-10" dirty="0">
                <a:latin typeface="Times New Roman"/>
                <a:cs typeface="Times New Roman"/>
              </a:rPr>
              <a:t>t</a:t>
            </a:r>
            <a:r>
              <a:rPr sz="2400" dirty="0">
                <a:latin typeface="Times New Roman"/>
                <a:cs typeface="Times New Roman"/>
              </a:rPr>
              <a:t> </a:t>
            </a:r>
            <a:r>
              <a:rPr sz="2400" spc="-15" dirty="0">
                <a:latin typeface="Times New Roman"/>
                <a:cs typeface="Times New Roman"/>
              </a:rPr>
              <a:t>one</a:t>
            </a:r>
            <a:r>
              <a:rPr sz="2400" spc="-5" dirty="0">
                <a:latin typeface="Times New Roman"/>
                <a:cs typeface="Times New Roman"/>
              </a:rPr>
              <a:t> </a:t>
            </a:r>
            <a:r>
              <a:rPr sz="2400" spc="-20" dirty="0">
                <a:latin typeface="Times New Roman"/>
                <a:cs typeface="Times New Roman"/>
              </a:rPr>
              <a:t>a</a:t>
            </a:r>
            <a:r>
              <a:rPr sz="2400" spc="-15" dirty="0">
                <a:latin typeface="Times New Roman"/>
                <a:cs typeface="Times New Roman"/>
              </a:rPr>
              <a:t>g</a:t>
            </a:r>
            <a:r>
              <a:rPr sz="2400" spc="-20" dirty="0">
                <a:latin typeface="Times New Roman"/>
                <a:cs typeface="Times New Roman"/>
              </a:rPr>
              <a:t>e</a:t>
            </a:r>
            <a:r>
              <a:rPr sz="2400" spc="-10" dirty="0">
                <a:latin typeface="Times New Roman"/>
                <a:cs typeface="Times New Roman"/>
              </a:rPr>
              <a:t>nt</a:t>
            </a:r>
            <a:r>
              <a:rPr sz="2400" dirty="0">
                <a:latin typeface="Times New Roman"/>
                <a:cs typeface="Times New Roman"/>
              </a:rPr>
              <a:t> who s</a:t>
            </a:r>
            <a:r>
              <a:rPr sz="2400" spc="-10" dirty="0">
                <a:latin typeface="Times New Roman"/>
                <a:cs typeface="Times New Roman"/>
              </a:rPr>
              <a:t>tri</a:t>
            </a:r>
            <a:r>
              <a:rPr sz="2400" spc="-20" dirty="0">
                <a:latin typeface="Times New Roman"/>
                <a:cs typeface="Times New Roman"/>
              </a:rPr>
              <a:t>c</a:t>
            </a:r>
            <a:r>
              <a:rPr sz="2400" spc="-10" dirty="0">
                <a:latin typeface="Times New Roman"/>
                <a:cs typeface="Times New Roman"/>
              </a:rPr>
              <a:t>tl</a:t>
            </a:r>
            <a:r>
              <a:rPr sz="2400" dirty="0">
                <a:latin typeface="Times New Roman"/>
                <a:cs typeface="Times New Roman"/>
              </a:rPr>
              <a:t>y </a:t>
            </a:r>
            <a:r>
              <a:rPr sz="2400" spc="-10" dirty="0">
                <a:latin typeface="Times New Roman"/>
                <a:cs typeface="Times New Roman"/>
              </a:rPr>
              <a:t>pr</a:t>
            </a:r>
            <a:r>
              <a:rPr sz="2400" spc="-20" dirty="0">
                <a:latin typeface="Times New Roman"/>
                <a:cs typeface="Times New Roman"/>
              </a:rPr>
              <a:t>e</a:t>
            </a:r>
            <a:r>
              <a:rPr sz="2400" spc="-10" dirty="0">
                <a:latin typeface="Times New Roman"/>
                <a:cs typeface="Times New Roman"/>
              </a:rPr>
              <a:t>f</a:t>
            </a:r>
            <a:r>
              <a:rPr sz="2400" spc="-20" dirty="0">
                <a:latin typeface="Times New Roman"/>
                <a:cs typeface="Times New Roman"/>
              </a:rPr>
              <a:t>e</a:t>
            </a:r>
            <a:r>
              <a:rPr sz="2400" dirty="0">
                <a:latin typeface="Times New Roman"/>
                <a:cs typeface="Times New Roman"/>
              </a:rPr>
              <a:t>rs</a:t>
            </a:r>
          </a:p>
          <a:p>
            <a:pPr marL="12700">
              <a:lnSpc>
                <a:spcPct val="100000"/>
              </a:lnSpc>
              <a:spcBef>
                <a:spcPts val="20"/>
              </a:spcBef>
            </a:pPr>
            <a:r>
              <a:rPr lang="en-US" sz="2400" i="1" dirty="0">
                <a:latin typeface="Times New Roman"/>
                <a:cs typeface="Times New Roman"/>
              </a:rPr>
              <a:t>o</a:t>
            </a:r>
            <a:r>
              <a:rPr lang="en-US" sz="2400" i="1" baseline="30000" dirty="0">
                <a:latin typeface="Times New Roman"/>
                <a:cs typeface="Times New Roman"/>
                <a:sym typeface="Symbol" panose="05050102010706020507" pitchFamily="18" charset="2"/>
              </a:rPr>
              <a:t></a:t>
            </a:r>
            <a:r>
              <a:rPr lang="en-US" sz="2400" baseline="30000" dirty="0">
                <a:latin typeface="Times New Roman"/>
                <a:cs typeface="Times New Roman"/>
              </a:rPr>
              <a:t>  </a:t>
            </a:r>
            <a:r>
              <a:rPr sz="2400" spc="-10" dirty="0">
                <a:latin typeface="Times New Roman"/>
                <a:cs typeface="Times New Roman"/>
              </a:rPr>
              <a:t>to </a:t>
            </a:r>
            <a:r>
              <a:rPr sz="2400" i="1" spc="-10" dirty="0">
                <a:latin typeface="Times New Roman"/>
                <a:cs typeface="Times New Roman"/>
              </a:rPr>
              <a:t>o</a:t>
            </a:r>
            <a:r>
              <a:rPr sz="2400" spc="-10" dirty="0">
                <a:latin typeface="Times New Roman"/>
                <a:cs typeface="Times New Roman"/>
              </a:rPr>
              <a:t>, w</a:t>
            </a:r>
            <a:r>
              <a:rPr sz="2400" spc="-15" dirty="0">
                <a:latin typeface="Times New Roman"/>
                <a:cs typeface="Times New Roman"/>
              </a:rPr>
              <a:t>e</a:t>
            </a:r>
            <a:r>
              <a:rPr sz="2400" spc="-5" dirty="0">
                <a:latin typeface="Times New Roman"/>
                <a:cs typeface="Times New Roman"/>
              </a:rPr>
              <a:t> </a:t>
            </a:r>
            <a:r>
              <a:rPr sz="2400" dirty="0">
                <a:latin typeface="Times New Roman"/>
                <a:cs typeface="Times New Roman"/>
              </a:rPr>
              <a:t>s</a:t>
            </a:r>
            <a:r>
              <a:rPr sz="2400" spc="-20" dirty="0">
                <a:latin typeface="Times New Roman"/>
                <a:cs typeface="Times New Roman"/>
              </a:rPr>
              <a:t>a</a:t>
            </a:r>
            <a:r>
              <a:rPr sz="2400" dirty="0">
                <a:latin typeface="Times New Roman"/>
                <a:cs typeface="Times New Roman"/>
              </a:rPr>
              <a:t>y </a:t>
            </a:r>
            <a:r>
              <a:rPr sz="2400" spc="-10" dirty="0">
                <a:latin typeface="Times New Roman"/>
                <a:cs typeface="Times New Roman"/>
              </a:rPr>
              <a:t>th</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lang="en-US" sz="2400" i="1" dirty="0">
                <a:latin typeface="Times New Roman"/>
                <a:cs typeface="Times New Roman"/>
              </a:rPr>
              <a:t>o</a:t>
            </a:r>
            <a:r>
              <a:rPr lang="en-US" sz="2400" i="1" baseline="30000" dirty="0">
                <a:latin typeface="Times New Roman"/>
                <a:cs typeface="Times New Roman"/>
                <a:sym typeface="Symbol" panose="05050102010706020507" pitchFamily="18" charset="2"/>
              </a:rPr>
              <a:t></a:t>
            </a:r>
            <a:r>
              <a:rPr lang="en-US" sz="2400" baseline="30000" dirty="0">
                <a:latin typeface="Times New Roman"/>
                <a:cs typeface="Times New Roman"/>
              </a:rPr>
              <a:t>  </a:t>
            </a:r>
            <a:r>
              <a:rPr sz="2400" spc="-15" dirty="0">
                <a:solidFill>
                  <a:srgbClr val="FF2600"/>
                </a:solidFill>
                <a:latin typeface="Times New Roman"/>
                <a:cs typeface="Times New Roman"/>
              </a:rPr>
              <a:t>p</a:t>
            </a:r>
            <a:r>
              <a:rPr sz="2400" spc="-20" dirty="0">
                <a:solidFill>
                  <a:srgbClr val="FF2600"/>
                </a:solidFill>
                <a:latin typeface="Times New Roman"/>
                <a:cs typeface="Times New Roman"/>
              </a:rPr>
              <a:t>a</a:t>
            </a:r>
            <a:r>
              <a:rPr sz="2400" spc="-10" dirty="0">
                <a:solidFill>
                  <a:srgbClr val="FF2600"/>
                </a:solidFill>
                <a:latin typeface="Times New Roman"/>
                <a:cs typeface="Times New Roman"/>
              </a:rPr>
              <a:t>r</a:t>
            </a:r>
            <a:r>
              <a:rPr sz="2400" spc="-20" dirty="0">
                <a:solidFill>
                  <a:srgbClr val="FF2600"/>
                </a:solidFill>
                <a:latin typeface="Times New Roman"/>
                <a:cs typeface="Times New Roman"/>
              </a:rPr>
              <a:t>e</a:t>
            </a:r>
            <a:r>
              <a:rPr sz="2400" spc="-10" dirty="0">
                <a:solidFill>
                  <a:srgbClr val="FF2600"/>
                </a:solidFill>
                <a:latin typeface="Times New Roman"/>
                <a:cs typeface="Times New Roman"/>
              </a:rPr>
              <a:t>t</a:t>
            </a:r>
            <a:r>
              <a:rPr sz="2400" dirty="0">
                <a:solidFill>
                  <a:srgbClr val="FF2600"/>
                </a:solidFill>
                <a:latin typeface="Times New Roman"/>
                <a:cs typeface="Times New Roman"/>
              </a:rPr>
              <a:t>o </a:t>
            </a:r>
            <a:r>
              <a:rPr sz="2400" spc="-15" dirty="0">
                <a:solidFill>
                  <a:srgbClr val="FF2600"/>
                </a:solidFill>
                <a:latin typeface="Times New Roman"/>
                <a:cs typeface="Times New Roman"/>
              </a:rPr>
              <a:t>domin</a:t>
            </a:r>
            <a:r>
              <a:rPr sz="2400" spc="-20" dirty="0">
                <a:solidFill>
                  <a:srgbClr val="FF2600"/>
                </a:solidFill>
                <a:latin typeface="Times New Roman"/>
                <a:cs typeface="Times New Roman"/>
              </a:rPr>
              <a:t>a</a:t>
            </a:r>
            <a:r>
              <a:rPr sz="2400" spc="-10" dirty="0">
                <a:solidFill>
                  <a:srgbClr val="FF2600"/>
                </a:solidFill>
                <a:latin typeface="Times New Roman"/>
                <a:cs typeface="Times New Roman"/>
              </a:rPr>
              <a:t>t</a:t>
            </a:r>
            <a:r>
              <a:rPr sz="2400" spc="-20" dirty="0">
                <a:solidFill>
                  <a:srgbClr val="FF2600"/>
                </a:solidFill>
                <a:latin typeface="Times New Roman"/>
                <a:cs typeface="Times New Roman"/>
              </a:rPr>
              <a:t>e</a:t>
            </a:r>
            <a:r>
              <a:rPr sz="2400" dirty="0">
                <a:solidFill>
                  <a:srgbClr val="FF2600"/>
                </a:solidFill>
                <a:latin typeface="Times New Roman"/>
                <a:cs typeface="Times New Roman"/>
              </a:rPr>
              <a:t>s </a:t>
            </a:r>
            <a:r>
              <a:rPr sz="2400" i="1" dirty="0">
                <a:solidFill>
                  <a:srgbClr val="665082"/>
                </a:solidFill>
                <a:latin typeface="Times New Roman"/>
                <a:cs typeface="Times New Roman"/>
              </a:rPr>
              <a:t>o</a:t>
            </a:r>
            <a:r>
              <a:rPr sz="2400" i="1" dirty="0">
                <a:latin typeface="Times New Roman"/>
                <a:cs typeface="Times New Roman"/>
              </a:rPr>
              <a:t>.</a:t>
            </a:r>
            <a:endParaRPr sz="2400" dirty="0">
              <a:latin typeface="Times New Roman"/>
              <a:cs typeface="Times New Roman"/>
            </a:endParaRPr>
          </a:p>
          <a:p>
            <a:pPr>
              <a:lnSpc>
                <a:spcPct val="100000"/>
              </a:lnSpc>
            </a:pPr>
            <a:endParaRPr sz="2500" dirty="0">
              <a:latin typeface="Times New Roman"/>
              <a:cs typeface="Times New Roman"/>
            </a:endParaRPr>
          </a:p>
          <a:p>
            <a:pPr>
              <a:lnSpc>
                <a:spcPct val="100000"/>
              </a:lnSpc>
              <a:spcBef>
                <a:spcPts val="52"/>
              </a:spcBef>
            </a:pPr>
            <a:endParaRPr sz="2250" dirty="0">
              <a:latin typeface="Times New Roman"/>
              <a:cs typeface="Times New Roman"/>
            </a:endParaRPr>
          </a:p>
          <a:p>
            <a:pPr marL="12700">
              <a:lnSpc>
                <a:spcPct val="100000"/>
              </a:lnSpc>
            </a:pPr>
            <a:r>
              <a:rPr sz="2400" dirty="0">
                <a:latin typeface="Times New Roman"/>
                <a:cs typeface="Times New Roman"/>
              </a:rPr>
              <a:t>An </a:t>
            </a:r>
            <a:r>
              <a:rPr sz="2400" spc="-15" dirty="0">
                <a:latin typeface="Times New Roman"/>
                <a:cs typeface="Times New Roman"/>
              </a:rPr>
              <a:t>out</a:t>
            </a:r>
            <a:r>
              <a:rPr sz="2400" spc="-20" dirty="0">
                <a:latin typeface="Times New Roman"/>
                <a:cs typeface="Times New Roman"/>
              </a:rPr>
              <a:t>c</a:t>
            </a:r>
            <a:r>
              <a:rPr sz="2400" spc="-15" dirty="0">
                <a:latin typeface="Times New Roman"/>
                <a:cs typeface="Times New Roman"/>
              </a:rPr>
              <a:t>ome</a:t>
            </a:r>
            <a:r>
              <a:rPr sz="2400" dirty="0">
                <a:latin typeface="Times New Roman"/>
                <a:cs typeface="Times New Roman"/>
              </a:rPr>
              <a:t> </a:t>
            </a:r>
            <a:r>
              <a:rPr sz="2400" i="1" dirty="0">
                <a:latin typeface="Times New Roman"/>
                <a:cs typeface="Times New Roman"/>
              </a:rPr>
              <a:t>o* </a:t>
            </a:r>
            <a:r>
              <a:rPr sz="2400" spc="-10" dirty="0">
                <a:latin typeface="Times New Roman"/>
                <a:cs typeface="Times New Roman"/>
              </a:rPr>
              <a:t>i</a:t>
            </a:r>
            <a:r>
              <a:rPr sz="2400" dirty="0">
                <a:latin typeface="Times New Roman"/>
                <a:cs typeface="Times New Roman"/>
              </a:rPr>
              <a:t>s </a:t>
            </a:r>
            <a:r>
              <a:rPr sz="2400" spc="-15" dirty="0">
                <a:solidFill>
                  <a:srgbClr val="FF2600"/>
                </a:solidFill>
                <a:latin typeface="Times New Roman"/>
                <a:cs typeface="Times New Roman"/>
              </a:rPr>
              <a:t>p</a:t>
            </a:r>
            <a:r>
              <a:rPr sz="2400" spc="-20" dirty="0">
                <a:solidFill>
                  <a:srgbClr val="FF2600"/>
                </a:solidFill>
                <a:latin typeface="Times New Roman"/>
                <a:cs typeface="Times New Roman"/>
              </a:rPr>
              <a:t>a</a:t>
            </a:r>
            <a:r>
              <a:rPr sz="2400" spc="-10" dirty="0">
                <a:solidFill>
                  <a:srgbClr val="FF2600"/>
                </a:solidFill>
                <a:latin typeface="Times New Roman"/>
                <a:cs typeface="Times New Roman"/>
              </a:rPr>
              <a:t>r</a:t>
            </a:r>
            <a:r>
              <a:rPr sz="2400" spc="-20" dirty="0">
                <a:solidFill>
                  <a:srgbClr val="FF2600"/>
                </a:solidFill>
                <a:latin typeface="Times New Roman"/>
                <a:cs typeface="Times New Roman"/>
              </a:rPr>
              <a:t>e</a:t>
            </a:r>
            <a:r>
              <a:rPr sz="2400" spc="-10" dirty="0">
                <a:solidFill>
                  <a:srgbClr val="FF2600"/>
                </a:solidFill>
                <a:latin typeface="Times New Roman"/>
                <a:cs typeface="Times New Roman"/>
              </a:rPr>
              <a:t>t</a:t>
            </a:r>
            <a:r>
              <a:rPr sz="2400" dirty="0">
                <a:solidFill>
                  <a:srgbClr val="FF2600"/>
                </a:solidFill>
                <a:latin typeface="Times New Roman"/>
                <a:cs typeface="Times New Roman"/>
              </a:rPr>
              <a:t>o </a:t>
            </a:r>
            <a:r>
              <a:rPr sz="2400" spc="-15" dirty="0">
                <a:solidFill>
                  <a:srgbClr val="FF2600"/>
                </a:solidFill>
                <a:latin typeface="Times New Roman"/>
                <a:cs typeface="Times New Roman"/>
              </a:rPr>
              <a:t>optim</a:t>
            </a:r>
            <a:r>
              <a:rPr sz="2400" spc="-20" dirty="0">
                <a:solidFill>
                  <a:srgbClr val="FF2600"/>
                </a:solidFill>
                <a:latin typeface="Times New Roman"/>
                <a:cs typeface="Times New Roman"/>
              </a:rPr>
              <a:t>a</a:t>
            </a:r>
            <a:r>
              <a:rPr sz="2400" spc="-10" dirty="0">
                <a:solidFill>
                  <a:srgbClr val="FF2600"/>
                </a:solidFill>
                <a:latin typeface="Times New Roman"/>
                <a:cs typeface="Times New Roman"/>
              </a:rPr>
              <a:t>l</a:t>
            </a:r>
            <a:r>
              <a:rPr sz="2400" dirty="0">
                <a:solidFill>
                  <a:srgbClr val="FF2600"/>
                </a:solidFill>
                <a:latin typeface="Times New Roman"/>
                <a:cs typeface="Times New Roman"/>
              </a:rPr>
              <a:t> </a:t>
            </a:r>
            <a:r>
              <a:rPr sz="2400" spc="-10" dirty="0">
                <a:latin typeface="Times New Roman"/>
                <a:cs typeface="Times New Roman"/>
              </a:rPr>
              <a:t>i</a:t>
            </a:r>
            <a:r>
              <a:rPr sz="2400" dirty="0">
                <a:latin typeface="Times New Roman"/>
                <a:cs typeface="Times New Roman"/>
              </a:rPr>
              <a:t>f no </a:t>
            </a:r>
            <a:r>
              <a:rPr sz="2400" spc="-15" dirty="0">
                <a:latin typeface="Times New Roman"/>
                <a:cs typeface="Times New Roman"/>
              </a:rPr>
              <a:t>oth</a:t>
            </a:r>
            <a:r>
              <a:rPr sz="2400" spc="-20" dirty="0">
                <a:latin typeface="Times New Roman"/>
                <a:cs typeface="Times New Roman"/>
              </a:rPr>
              <a:t>e</a:t>
            </a:r>
            <a:r>
              <a:rPr sz="2400" dirty="0">
                <a:latin typeface="Times New Roman"/>
                <a:cs typeface="Times New Roman"/>
              </a:rPr>
              <a:t>r </a:t>
            </a:r>
            <a:r>
              <a:rPr sz="2400" spc="-15" dirty="0">
                <a:latin typeface="Times New Roman"/>
                <a:cs typeface="Times New Roman"/>
              </a:rPr>
              <a:t>out</a:t>
            </a:r>
            <a:r>
              <a:rPr sz="2400" spc="-20" dirty="0">
                <a:latin typeface="Times New Roman"/>
                <a:cs typeface="Times New Roman"/>
              </a:rPr>
              <a:t>c</a:t>
            </a:r>
            <a:r>
              <a:rPr sz="2400" spc="-15" dirty="0">
                <a:latin typeface="Times New Roman"/>
                <a:cs typeface="Times New Roman"/>
              </a:rPr>
              <a:t>ome</a:t>
            </a:r>
            <a:r>
              <a:rPr sz="2400" dirty="0">
                <a:latin typeface="Times New Roman"/>
                <a:cs typeface="Times New Roman"/>
              </a:rPr>
              <a:t> </a:t>
            </a:r>
            <a:r>
              <a:rPr sz="2400" i="1" dirty="0">
                <a:latin typeface="Times New Roman"/>
                <a:cs typeface="Times New Roman"/>
              </a:rPr>
              <a:t>o</a:t>
            </a:r>
            <a:endParaRPr sz="2400" dirty="0">
              <a:latin typeface="Times New Roman"/>
              <a:cs typeface="Times New Roman"/>
            </a:endParaRPr>
          </a:p>
          <a:p>
            <a:pPr marL="12700">
              <a:lnSpc>
                <a:spcPct val="100000"/>
              </a:lnSpc>
              <a:spcBef>
                <a:spcPts val="20"/>
              </a:spcBef>
            </a:pPr>
            <a:r>
              <a:rPr sz="2400" spc="-15" dirty="0">
                <a:latin typeface="Times New Roman"/>
                <a:cs typeface="Times New Roman"/>
              </a:rPr>
              <a:t>p</a:t>
            </a:r>
            <a:r>
              <a:rPr sz="2400" spc="-20" dirty="0">
                <a:latin typeface="Times New Roman"/>
                <a:cs typeface="Times New Roman"/>
              </a:rPr>
              <a:t>a</a:t>
            </a:r>
            <a:r>
              <a:rPr sz="2400" spc="-10" dirty="0">
                <a:latin typeface="Times New Roman"/>
                <a:cs typeface="Times New Roman"/>
              </a:rPr>
              <a:t>r</a:t>
            </a:r>
            <a:r>
              <a:rPr sz="2400" spc="-20" dirty="0">
                <a:latin typeface="Times New Roman"/>
                <a:cs typeface="Times New Roman"/>
              </a:rPr>
              <a:t>e</a:t>
            </a:r>
            <a:r>
              <a:rPr sz="2400" spc="-10" dirty="0">
                <a:latin typeface="Times New Roman"/>
                <a:cs typeface="Times New Roman"/>
              </a:rPr>
              <a:t>t</a:t>
            </a:r>
            <a:r>
              <a:rPr sz="2400" dirty="0">
                <a:latin typeface="Times New Roman"/>
                <a:cs typeface="Times New Roman"/>
              </a:rPr>
              <a:t>o </a:t>
            </a:r>
            <a:r>
              <a:rPr sz="2400" spc="-15" dirty="0">
                <a:latin typeface="Times New Roman"/>
                <a:cs typeface="Times New Roman"/>
              </a:rPr>
              <a:t>domin</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e</a:t>
            </a:r>
            <a:r>
              <a:rPr sz="2400" dirty="0">
                <a:latin typeface="Times New Roman"/>
                <a:cs typeface="Times New Roman"/>
              </a:rPr>
              <a:t>s </a:t>
            </a:r>
            <a:r>
              <a:rPr sz="2400" spc="-10" dirty="0">
                <a:latin typeface="Times New Roman"/>
                <a:cs typeface="Times New Roman"/>
              </a:rPr>
              <a:t>it</a:t>
            </a:r>
            <a:r>
              <a:rPr sz="2400" i="1" dirty="0">
                <a:latin typeface="Times New Roman"/>
                <a:cs typeface="Times New Roman"/>
              </a:rPr>
              <a:t>.</a:t>
            </a:r>
            <a:endParaRPr sz="2400" dirty="0">
              <a:latin typeface="Times New Roman"/>
              <a:cs typeface="Times New Roman"/>
            </a:endParaRPr>
          </a:p>
          <a:p>
            <a:pPr>
              <a:lnSpc>
                <a:spcPct val="100000"/>
              </a:lnSpc>
              <a:spcBef>
                <a:spcPts val="49"/>
              </a:spcBef>
            </a:pPr>
            <a:endParaRPr sz="3550" dirty="0">
              <a:latin typeface="Times New Roman"/>
              <a:cs typeface="Times New Roman"/>
            </a:endParaRPr>
          </a:p>
          <a:p>
            <a:pPr marL="241300" indent="-228600">
              <a:lnSpc>
                <a:spcPct val="100000"/>
              </a:lnSpc>
              <a:buFont typeface="Times New Roman"/>
              <a:buChar char="•"/>
              <a:tabLst>
                <a:tab pos="241300" algn="l"/>
              </a:tabLst>
            </a:pPr>
            <a:r>
              <a:rPr lang="en-US" sz="2400" dirty="0">
                <a:latin typeface="Times New Roman"/>
                <a:cs typeface="Times New Roman"/>
              </a:rPr>
              <a:t>D</a:t>
            </a:r>
            <a:r>
              <a:rPr lang="en-US" sz="2400" spc="-15" dirty="0">
                <a:latin typeface="Times New Roman"/>
                <a:cs typeface="Times New Roman"/>
              </a:rPr>
              <a:t>o</a:t>
            </a:r>
            <a:r>
              <a:rPr lang="en-US" sz="2400" spc="-20" dirty="0">
                <a:latin typeface="Times New Roman"/>
                <a:cs typeface="Times New Roman"/>
              </a:rPr>
              <a:t>e</a:t>
            </a:r>
            <a:r>
              <a:rPr lang="en-US" sz="2400" dirty="0">
                <a:latin typeface="Times New Roman"/>
                <a:cs typeface="Times New Roman"/>
              </a:rPr>
              <a:t>s </a:t>
            </a:r>
            <a:r>
              <a:rPr lang="en-US" sz="2400" spc="-20" dirty="0">
                <a:latin typeface="Times New Roman"/>
                <a:cs typeface="Times New Roman"/>
              </a:rPr>
              <a:t>e</a:t>
            </a:r>
            <a:r>
              <a:rPr lang="en-US" sz="2400" spc="-15" dirty="0">
                <a:latin typeface="Times New Roman"/>
                <a:cs typeface="Times New Roman"/>
              </a:rPr>
              <a:t>v</a:t>
            </a:r>
            <a:r>
              <a:rPr lang="en-US" sz="2400" spc="-20" dirty="0">
                <a:latin typeface="Times New Roman"/>
                <a:cs typeface="Times New Roman"/>
              </a:rPr>
              <a:t>e</a:t>
            </a:r>
            <a:r>
              <a:rPr lang="en-US" sz="2400" dirty="0">
                <a:latin typeface="Times New Roman"/>
                <a:cs typeface="Times New Roman"/>
              </a:rPr>
              <a:t>ry </a:t>
            </a:r>
            <a:r>
              <a:rPr lang="en-US" sz="2400" spc="-15" dirty="0">
                <a:latin typeface="Times New Roman"/>
                <a:cs typeface="Times New Roman"/>
              </a:rPr>
              <a:t>g</a:t>
            </a:r>
            <a:r>
              <a:rPr lang="en-US" sz="2400" spc="-20" dirty="0">
                <a:latin typeface="Times New Roman"/>
                <a:cs typeface="Times New Roman"/>
              </a:rPr>
              <a:t>a</a:t>
            </a:r>
            <a:r>
              <a:rPr lang="en-US" sz="2400" spc="-15" dirty="0">
                <a:latin typeface="Times New Roman"/>
                <a:cs typeface="Times New Roman"/>
              </a:rPr>
              <a:t>me</a:t>
            </a:r>
            <a:r>
              <a:rPr lang="en-US" sz="2400" spc="-5" dirty="0">
                <a:latin typeface="Times New Roman"/>
                <a:cs typeface="Times New Roman"/>
              </a:rPr>
              <a:t> </a:t>
            </a:r>
            <a:r>
              <a:rPr lang="en-US" sz="2400" spc="-15" dirty="0">
                <a:latin typeface="Times New Roman"/>
                <a:cs typeface="Times New Roman"/>
              </a:rPr>
              <a:t>h</a:t>
            </a:r>
            <a:r>
              <a:rPr lang="en-US" sz="2400" spc="-20" dirty="0">
                <a:latin typeface="Times New Roman"/>
                <a:cs typeface="Times New Roman"/>
              </a:rPr>
              <a:t>a</a:t>
            </a:r>
            <a:r>
              <a:rPr lang="en-US" sz="2400" spc="-15" dirty="0">
                <a:latin typeface="Times New Roman"/>
                <a:cs typeface="Times New Roman"/>
              </a:rPr>
              <a:t>ve</a:t>
            </a:r>
            <a:r>
              <a:rPr lang="en-US" sz="2400" spc="-5" dirty="0">
                <a:latin typeface="Times New Roman"/>
                <a:cs typeface="Times New Roman"/>
              </a:rPr>
              <a:t> </a:t>
            </a:r>
            <a:r>
              <a:rPr lang="en-US" sz="2400" spc="-15" dirty="0">
                <a:latin typeface="Times New Roman"/>
                <a:cs typeface="Times New Roman"/>
              </a:rPr>
              <a:t>a</a:t>
            </a:r>
            <a:r>
              <a:rPr lang="en-US" sz="2400" spc="-5" dirty="0">
                <a:latin typeface="Times New Roman"/>
                <a:cs typeface="Times New Roman"/>
              </a:rPr>
              <a:t> </a:t>
            </a:r>
            <a:r>
              <a:rPr lang="en-US" sz="2400" spc="-15" dirty="0">
                <a:latin typeface="Times New Roman"/>
                <a:cs typeface="Times New Roman"/>
              </a:rPr>
              <a:t>p</a:t>
            </a:r>
            <a:r>
              <a:rPr lang="en-US" sz="2400" spc="-20" dirty="0">
                <a:latin typeface="Times New Roman"/>
                <a:cs typeface="Times New Roman"/>
              </a:rPr>
              <a:t>a</a:t>
            </a:r>
            <a:r>
              <a:rPr lang="en-US" sz="2400" spc="-10" dirty="0">
                <a:latin typeface="Times New Roman"/>
                <a:cs typeface="Times New Roman"/>
              </a:rPr>
              <a:t>r</a:t>
            </a:r>
            <a:r>
              <a:rPr lang="en-US" sz="2400" spc="-20" dirty="0">
                <a:latin typeface="Times New Roman"/>
                <a:cs typeface="Times New Roman"/>
              </a:rPr>
              <a:t>e</a:t>
            </a:r>
            <a:r>
              <a:rPr lang="en-US" sz="2400" spc="-10" dirty="0">
                <a:latin typeface="Times New Roman"/>
                <a:cs typeface="Times New Roman"/>
              </a:rPr>
              <a:t>t</a:t>
            </a:r>
            <a:r>
              <a:rPr lang="en-US" sz="2400" dirty="0">
                <a:latin typeface="Times New Roman"/>
                <a:cs typeface="Times New Roman"/>
              </a:rPr>
              <a:t>o </a:t>
            </a:r>
            <a:r>
              <a:rPr lang="en-US" sz="2400" spc="-15" dirty="0">
                <a:latin typeface="Times New Roman"/>
                <a:cs typeface="Times New Roman"/>
              </a:rPr>
              <a:t>optim</a:t>
            </a:r>
            <a:r>
              <a:rPr lang="en-US" sz="2400" spc="-20" dirty="0">
                <a:latin typeface="Times New Roman"/>
                <a:cs typeface="Times New Roman"/>
              </a:rPr>
              <a:t>a</a:t>
            </a:r>
            <a:r>
              <a:rPr lang="en-US" sz="2400" spc="-10" dirty="0">
                <a:latin typeface="Times New Roman"/>
                <a:cs typeface="Times New Roman"/>
              </a:rPr>
              <a:t>l</a:t>
            </a:r>
            <a:r>
              <a:rPr lang="en-US" sz="2400" dirty="0">
                <a:latin typeface="Times New Roman"/>
                <a:cs typeface="Times New Roman"/>
              </a:rPr>
              <a:t> </a:t>
            </a:r>
            <a:r>
              <a:rPr lang="en-US" sz="2400" spc="-15" dirty="0">
                <a:latin typeface="Times New Roman"/>
                <a:cs typeface="Times New Roman"/>
              </a:rPr>
              <a:t>out</a:t>
            </a:r>
            <a:r>
              <a:rPr lang="en-US" sz="2400" spc="-20" dirty="0">
                <a:latin typeface="Times New Roman"/>
                <a:cs typeface="Times New Roman"/>
              </a:rPr>
              <a:t>come</a:t>
            </a:r>
            <a:r>
              <a:rPr lang="en-US" sz="2400" spc="-15" dirty="0">
                <a:latin typeface="Times New Roman"/>
                <a:cs typeface="Times New Roman"/>
              </a:rPr>
              <a:t>?</a:t>
            </a:r>
            <a:endParaRPr lang="en-US" sz="2400" dirty="0">
              <a:latin typeface="Times New Roman"/>
              <a:cs typeface="Times New Roman"/>
            </a:endParaRPr>
          </a:p>
          <a:p>
            <a:pPr marL="241300" indent="-228600">
              <a:lnSpc>
                <a:spcPct val="100000"/>
              </a:lnSpc>
              <a:spcBef>
                <a:spcPts val="20"/>
              </a:spcBef>
              <a:buFont typeface="Times New Roman"/>
              <a:buChar char="•"/>
              <a:tabLst>
                <a:tab pos="241300" algn="l"/>
              </a:tabLst>
            </a:pPr>
            <a:r>
              <a:rPr lang="en-US" sz="2400" spc="-20" dirty="0">
                <a:latin typeface="Times New Roman"/>
                <a:cs typeface="Times New Roman"/>
              </a:rPr>
              <a:t>Ca</a:t>
            </a:r>
            <a:r>
              <a:rPr lang="en-US" sz="2400" dirty="0">
                <a:latin typeface="Times New Roman"/>
                <a:cs typeface="Times New Roman"/>
              </a:rPr>
              <a:t>n </a:t>
            </a:r>
            <a:r>
              <a:rPr lang="en-US" sz="2400" spc="-10" dirty="0">
                <a:latin typeface="Times New Roman"/>
                <a:cs typeface="Times New Roman"/>
              </a:rPr>
              <a:t>th</a:t>
            </a:r>
            <a:r>
              <a:rPr lang="en-US" sz="2400" spc="-20" dirty="0">
                <a:latin typeface="Times New Roman"/>
                <a:cs typeface="Times New Roman"/>
              </a:rPr>
              <a:t>e</a:t>
            </a:r>
            <a:r>
              <a:rPr lang="en-US" sz="2400" spc="-10" dirty="0">
                <a:latin typeface="Times New Roman"/>
                <a:cs typeface="Times New Roman"/>
              </a:rPr>
              <a:t>re</a:t>
            </a:r>
            <a:r>
              <a:rPr lang="en-US" sz="2400" spc="-5" dirty="0">
                <a:latin typeface="Times New Roman"/>
                <a:cs typeface="Times New Roman"/>
              </a:rPr>
              <a:t> </a:t>
            </a:r>
            <a:r>
              <a:rPr lang="en-US" sz="2400" spc="-15" dirty="0">
                <a:latin typeface="Times New Roman"/>
                <a:cs typeface="Times New Roman"/>
              </a:rPr>
              <a:t>be</a:t>
            </a:r>
            <a:r>
              <a:rPr lang="en-US" sz="2400" spc="-5" dirty="0">
                <a:latin typeface="Times New Roman"/>
                <a:cs typeface="Times New Roman"/>
              </a:rPr>
              <a:t> </a:t>
            </a:r>
            <a:r>
              <a:rPr lang="en-US" sz="2400" spc="-10" dirty="0">
                <a:latin typeface="Times New Roman"/>
                <a:cs typeface="Times New Roman"/>
              </a:rPr>
              <a:t>multiple</a:t>
            </a:r>
            <a:r>
              <a:rPr lang="en-US" sz="2400" spc="-5" dirty="0">
                <a:latin typeface="Times New Roman"/>
                <a:cs typeface="Times New Roman"/>
              </a:rPr>
              <a:t> </a:t>
            </a:r>
            <a:r>
              <a:rPr lang="en-US" sz="2400" spc="-15" dirty="0">
                <a:latin typeface="Times New Roman"/>
                <a:cs typeface="Times New Roman"/>
              </a:rPr>
              <a:t>p</a:t>
            </a:r>
            <a:r>
              <a:rPr lang="en-US" sz="2400" spc="-20" dirty="0">
                <a:latin typeface="Times New Roman"/>
                <a:cs typeface="Times New Roman"/>
              </a:rPr>
              <a:t>a</a:t>
            </a:r>
            <a:r>
              <a:rPr lang="en-US" sz="2400" spc="-10" dirty="0">
                <a:latin typeface="Times New Roman"/>
                <a:cs typeface="Times New Roman"/>
              </a:rPr>
              <a:t>r</a:t>
            </a:r>
            <a:r>
              <a:rPr lang="en-US" sz="2400" spc="-20" dirty="0">
                <a:latin typeface="Times New Roman"/>
                <a:cs typeface="Times New Roman"/>
              </a:rPr>
              <a:t>e</a:t>
            </a:r>
            <a:r>
              <a:rPr lang="en-US" sz="2400" spc="-10" dirty="0">
                <a:latin typeface="Times New Roman"/>
                <a:cs typeface="Times New Roman"/>
              </a:rPr>
              <a:t>t</a:t>
            </a:r>
            <a:r>
              <a:rPr lang="en-US" sz="2400" dirty="0">
                <a:latin typeface="Times New Roman"/>
                <a:cs typeface="Times New Roman"/>
              </a:rPr>
              <a:t>o </a:t>
            </a:r>
            <a:r>
              <a:rPr lang="en-US" sz="2400" spc="-15" dirty="0">
                <a:latin typeface="Times New Roman"/>
                <a:cs typeface="Times New Roman"/>
              </a:rPr>
              <a:t>optim</a:t>
            </a:r>
            <a:r>
              <a:rPr lang="en-US" sz="2400" spc="-20" dirty="0">
                <a:latin typeface="Times New Roman"/>
                <a:cs typeface="Times New Roman"/>
              </a:rPr>
              <a:t>a</a:t>
            </a:r>
            <a:r>
              <a:rPr lang="en-US" sz="2400" spc="-10" dirty="0">
                <a:latin typeface="Times New Roman"/>
                <a:cs typeface="Times New Roman"/>
              </a:rPr>
              <a:t>l</a:t>
            </a:r>
            <a:r>
              <a:rPr lang="en-US" sz="2400" dirty="0">
                <a:latin typeface="Times New Roman"/>
                <a:cs typeface="Times New Roman"/>
              </a:rPr>
              <a:t> </a:t>
            </a:r>
            <a:r>
              <a:rPr lang="en-US" sz="2400" spc="-15" dirty="0">
                <a:latin typeface="Times New Roman"/>
                <a:cs typeface="Times New Roman"/>
              </a:rPr>
              <a:t>out</a:t>
            </a:r>
            <a:r>
              <a:rPr lang="en-US" sz="2400" spc="-20" dirty="0">
                <a:latin typeface="Times New Roman"/>
                <a:cs typeface="Times New Roman"/>
              </a:rPr>
              <a:t>come</a:t>
            </a:r>
            <a:r>
              <a:rPr lang="en-US" sz="2400" dirty="0">
                <a:latin typeface="Times New Roman"/>
                <a:cs typeface="Times New Roman"/>
              </a:rPr>
              <a:t>s</a:t>
            </a:r>
            <a:r>
              <a:rPr lang="en-US" sz="2400" spc="-15" dirty="0">
                <a:latin typeface="Times New Roman"/>
                <a:cs typeface="Times New Roman"/>
              </a:rPr>
              <a:t>?</a:t>
            </a:r>
            <a:endParaRPr lang="en-US" sz="2400" dirty="0">
              <a:latin typeface="Times New Roman"/>
              <a:cs typeface="Times New Roman"/>
            </a:endParaRPr>
          </a:p>
        </p:txBody>
      </p:sp>
      <p:sp>
        <p:nvSpPr>
          <p:cNvPr id="7" name="Slide Number Placeholder 8">
            <a:extLst>
              <a:ext uri="{FF2B5EF4-FFF2-40B4-BE49-F238E27FC236}">
                <a16:creationId xmlns:a16="http://schemas.microsoft.com/office/drawing/2014/main" id="{B5CB91A8-FFED-C099-E82F-09550315D523}"/>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a:t>
            </a:fld>
            <a:r>
              <a:rPr lang="en-US" sz="2000" dirty="0">
                <a:solidFill>
                  <a:prstClr val="black"/>
                </a:solidFill>
                <a:latin typeface="Comic Sans MS"/>
                <a:sym typeface="Comic Sans MS"/>
              </a:rPr>
              <a:t>/46</a:t>
            </a:r>
          </a:p>
        </p:txBody>
      </p:sp>
      <p:sp>
        <p:nvSpPr>
          <p:cNvPr id="8" name="Footer Placeholder 9">
            <a:extLst>
              <a:ext uri="{FF2B5EF4-FFF2-40B4-BE49-F238E27FC236}">
                <a16:creationId xmlns:a16="http://schemas.microsoft.com/office/drawing/2014/main" id="{CF775BE3-6E08-74DB-5C11-4C3004597FC5}"/>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CC136E8D-D6AE-EA93-DE27-BFB7E44B4279}"/>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0" name="Rectangle 9">
            <a:extLst>
              <a:ext uri="{FF2B5EF4-FFF2-40B4-BE49-F238E27FC236}">
                <a16:creationId xmlns:a16="http://schemas.microsoft.com/office/drawing/2014/main" id="{ECFD2EFD-CC0E-411F-BE5D-760B808B66D5}"/>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32D8C31E-5C61-0F7B-FC87-50C35FA42CD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Pare</a:t>
            </a:r>
            <a:r>
              <a:rPr spc="-15" dirty="0"/>
              <a:t>t</a:t>
            </a:r>
            <a:r>
              <a:rPr dirty="0"/>
              <a:t>o</a:t>
            </a:r>
            <a:r>
              <a:rPr spc="-5" dirty="0"/>
              <a:t> </a:t>
            </a:r>
            <a:r>
              <a:rPr spc="-30" dirty="0"/>
              <a:t>O</a:t>
            </a:r>
            <a:r>
              <a:rPr dirty="0"/>
              <a:t>p</a:t>
            </a:r>
            <a:r>
              <a:rPr spc="-15" dirty="0"/>
              <a:t>t</a:t>
            </a:r>
            <a:r>
              <a:rPr dirty="0"/>
              <a:t>imali</a:t>
            </a:r>
            <a:r>
              <a:rPr spc="-15" dirty="0"/>
              <a:t>t</a:t>
            </a:r>
            <a:r>
              <a:rPr dirty="0"/>
              <a:t>y</a:t>
            </a:r>
            <a:r>
              <a:rPr spc="-5" dirty="0"/>
              <a:t> </a:t>
            </a:r>
            <a:r>
              <a:rPr dirty="0"/>
              <a:t>Example</a:t>
            </a:r>
          </a:p>
        </p:txBody>
      </p:sp>
      <p:sp>
        <p:nvSpPr>
          <p:cNvPr id="6" name="object 6"/>
          <p:cNvSpPr txBox="1"/>
          <p:nvPr/>
        </p:nvSpPr>
        <p:spPr>
          <a:xfrm>
            <a:off x="400107" y="5000659"/>
            <a:ext cx="1888489" cy="330200"/>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sz="2400" spc="-100" dirty="0">
                <a:latin typeface="Times New Roman"/>
                <a:cs typeface="Times New Roman"/>
              </a:rPr>
              <a:t>T</a:t>
            </a:r>
            <a:r>
              <a:rPr sz="2400" spc="-10" dirty="0">
                <a:latin typeface="Times New Roman"/>
                <a:cs typeface="Times New Roman"/>
              </a:rPr>
              <a:t>r</a:t>
            </a:r>
            <a:r>
              <a:rPr sz="2400" spc="-20" dirty="0">
                <a:latin typeface="Times New Roman"/>
                <a:cs typeface="Times New Roman"/>
              </a:rPr>
              <a:t>a</a:t>
            </a:r>
            <a:r>
              <a:rPr sz="2400" spc="-45" dirty="0">
                <a:latin typeface="Times New Roman"/>
                <a:cs typeface="Times New Roman"/>
              </a:rPr>
              <a:t>f</a:t>
            </a:r>
            <a:r>
              <a:rPr sz="2400" spc="-10" dirty="0">
                <a:latin typeface="Times New Roman"/>
                <a:cs typeface="Times New Roman"/>
              </a:rPr>
              <a:t>fic</a:t>
            </a:r>
            <a:r>
              <a:rPr sz="2400" spc="-5" dirty="0">
                <a:latin typeface="Times New Roman"/>
                <a:cs typeface="Times New Roman"/>
              </a:rPr>
              <a:t> </a:t>
            </a:r>
            <a:r>
              <a:rPr sz="2400" dirty="0">
                <a:latin typeface="Times New Roman"/>
                <a:cs typeface="Times New Roman"/>
              </a:rPr>
              <a:t>G</a:t>
            </a:r>
            <a:r>
              <a:rPr sz="2400" spc="-20" dirty="0">
                <a:latin typeface="Times New Roman"/>
                <a:cs typeface="Times New Roman"/>
              </a:rPr>
              <a:t>a</a:t>
            </a:r>
            <a:r>
              <a:rPr sz="2400" spc="-15" dirty="0">
                <a:latin typeface="Times New Roman"/>
                <a:cs typeface="Times New Roman"/>
              </a:rPr>
              <a:t>me</a:t>
            </a:r>
            <a:endParaRPr sz="2400">
              <a:latin typeface="Times New Roman"/>
              <a:cs typeface="Times New Roman"/>
            </a:endParaRPr>
          </a:p>
        </p:txBody>
      </p:sp>
      <p:sp>
        <p:nvSpPr>
          <p:cNvPr id="8" name="object 8"/>
          <p:cNvSpPr txBox="1"/>
          <p:nvPr/>
        </p:nvSpPr>
        <p:spPr>
          <a:xfrm>
            <a:off x="1197120" y="2093583"/>
            <a:ext cx="207010" cy="457200"/>
          </a:xfrm>
          <a:prstGeom prst="rect">
            <a:avLst/>
          </a:prstGeom>
        </p:spPr>
        <p:txBody>
          <a:bodyPr vert="horz" wrap="square" lIns="0" tIns="0" rIns="0" bIns="0" rtlCol="0">
            <a:spAutoFit/>
          </a:bodyPr>
          <a:lstStyle/>
          <a:p>
            <a:pPr marL="12700">
              <a:lnSpc>
                <a:spcPct val="100000"/>
              </a:lnSpc>
            </a:pPr>
            <a:r>
              <a:rPr sz="3400" dirty="0">
                <a:latin typeface="Calibri"/>
                <a:cs typeface="Calibri"/>
              </a:rPr>
              <a:t>L</a:t>
            </a:r>
            <a:endParaRPr sz="3400">
              <a:latin typeface="Calibri"/>
              <a:cs typeface="Calibri"/>
            </a:endParaRPr>
          </a:p>
        </p:txBody>
      </p:sp>
      <p:sp>
        <p:nvSpPr>
          <p:cNvPr id="9" name="object 9"/>
          <p:cNvSpPr txBox="1"/>
          <p:nvPr/>
        </p:nvSpPr>
        <p:spPr>
          <a:xfrm>
            <a:off x="2284665" y="2093583"/>
            <a:ext cx="260350" cy="457200"/>
          </a:xfrm>
          <a:prstGeom prst="rect">
            <a:avLst/>
          </a:prstGeom>
        </p:spPr>
        <p:txBody>
          <a:bodyPr vert="horz" wrap="square" lIns="0" tIns="0" rIns="0" bIns="0" rtlCol="0">
            <a:spAutoFit/>
          </a:bodyPr>
          <a:lstStyle/>
          <a:p>
            <a:pPr marL="12700">
              <a:lnSpc>
                <a:spcPct val="100000"/>
              </a:lnSpc>
            </a:pPr>
            <a:r>
              <a:rPr sz="3400" spc="-20" dirty="0">
                <a:latin typeface="Calibri"/>
                <a:cs typeface="Calibri"/>
              </a:rPr>
              <a:t>R</a:t>
            </a:r>
            <a:endParaRPr sz="3400">
              <a:latin typeface="Calibri"/>
              <a:cs typeface="Calibri"/>
            </a:endParaRPr>
          </a:p>
        </p:txBody>
      </p:sp>
      <p:sp>
        <p:nvSpPr>
          <p:cNvPr id="10" name="object 10"/>
          <p:cNvSpPr txBox="1"/>
          <p:nvPr/>
        </p:nvSpPr>
        <p:spPr>
          <a:xfrm>
            <a:off x="333146" y="2438400"/>
            <a:ext cx="260350" cy="1206500"/>
          </a:xfrm>
          <a:prstGeom prst="rect">
            <a:avLst/>
          </a:prstGeom>
        </p:spPr>
        <p:txBody>
          <a:bodyPr vert="horz" wrap="square" lIns="0" tIns="0" rIns="0" bIns="0" rtlCol="0">
            <a:spAutoFit/>
          </a:bodyPr>
          <a:lstStyle/>
          <a:p>
            <a:pPr marL="12700" marR="5080" indent="26034">
              <a:lnSpc>
                <a:spcPct val="144500"/>
              </a:lnSpc>
            </a:pPr>
            <a:r>
              <a:rPr sz="3400" dirty="0">
                <a:latin typeface="Calibri"/>
                <a:cs typeface="Calibri"/>
              </a:rPr>
              <a:t>L </a:t>
            </a:r>
            <a:r>
              <a:rPr sz="3400" spc="-20" dirty="0">
                <a:latin typeface="Calibri"/>
                <a:cs typeface="Calibri"/>
              </a:rPr>
              <a:t>R</a:t>
            </a:r>
            <a:endParaRPr sz="3400" dirty="0">
              <a:latin typeface="Calibri"/>
              <a:cs typeface="Calibri"/>
            </a:endParaRPr>
          </a:p>
        </p:txBody>
      </p:sp>
      <p:graphicFrame>
        <p:nvGraphicFramePr>
          <p:cNvPr id="11" name="object 11"/>
          <p:cNvGraphicFramePr>
            <a:graphicFrameLocks noGrp="1"/>
          </p:cNvGraphicFramePr>
          <p:nvPr>
            <p:extLst>
              <p:ext uri="{D42A27DB-BD31-4B8C-83A1-F6EECF244321}">
                <p14:modId xmlns:p14="http://schemas.microsoft.com/office/powerpoint/2010/main" val="3658087937"/>
              </p:ext>
            </p:extLst>
          </p:nvPr>
        </p:nvGraphicFramePr>
        <p:xfrm>
          <a:off x="741997" y="2563812"/>
          <a:ext cx="2228009" cy="149749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8748">
                <a:tc>
                  <a:txBody>
                    <a:bodyPr/>
                    <a:lstStyle/>
                    <a:p>
                      <a:pPr marL="352425">
                        <a:lnSpc>
                          <a:spcPct val="100000"/>
                        </a:lnSpc>
                      </a:pPr>
                      <a:r>
                        <a:rPr sz="1800" i="1" spc="-20" dirty="0">
                          <a:latin typeface="Meiryo"/>
                          <a:cs typeface="Meiryo"/>
                        </a:rPr>
                        <a:t>1,1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lnSpc>
                          <a:spcPct val="100000"/>
                        </a:lnSpc>
                      </a:pPr>
                      <a:r>
                        <a:rPr sz="1800" i="1" spc="-20" dirty="0">
                          <a:latin typeface="Meiryo"/>
                          <a:cs typeface="Meiryo"/>
                        </a:rPr>
                        <a:t>0,0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0000"/>
                  </a:ext>
                </a:extLst>
              </a:tr>
              <a:tr h="748748">
                <a:tc>
                  <a:txBody>
                    <a:bodyPr/>
                    <a:lstStyle/>
                    <a:p>
                      <a:pPr algn="ctr">
                        <a:lnSpc>
                          <a:spcPct val="100000"/>
                        </a:lnSpc>
                      </a:pPr>
                      <a:r>
                        <a:rPr sz="1800" i="1" spc="-20" dirty="0">
                          <a:latin typeface="Meiryo"/>
                          <a:cs typeface="Meiryo"/>
                        </a:rPr>
                        <a:t>0,0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a:lnSpc>
                          <a:spcPct val="100000"/>
                        </a:lnSpc>
                      </a:pPr>
                      <a:r>
                        <a:rPr sz="1800" i="1" spc="-20" dirty="0">
                          <a:latin typeface="Meiryo"/>
                          <a:cs typeface="Meiryo"/>
                        </a:rPr>
                        <a:t>1,1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0001"/>
                  </a:ext>
                </a:extLst>
              </a:tr>
            </a:tbl>
          </a:graphicData>
        </a:graphic>
      </p:graphicFrame>
      <p:sp>
        <p:nvSpPr>
          <p:cNvPr id="14" name="object 24">
            <a:extLst>
              <a:ext uri="{FF2B5EF4-FFF2-40B4-BE49-F238E27FC236}">
                <a16:creationId xmlns:a16="http://schemas.microsoft.com/office/drawing/2014/main" id="{8DF462FB-11FF-6436-5F80-8F12C1D8EF54}"/>
              </a:ext>
            </a:extLst>
          </p:cNvPr>
          <p:cNvSpPr/>
          <p:nvPr/>
        </p:nvSpPr>
        <p:spPr>
          <a:xfrm>
            <a:off x="2051130" y="3352800"/>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5" name="object 24">
            <a:extLst>
              <a:ext uri="{FF2B5EF4-FFF2-40B4-BE49-F238E27FC236}">
                <a16:creationId xmlns:a16="http://schemas.microsoft.com/office/drawing/2014/main" id="{D65D0C31-7EA9-7F75-9C42-8FD812414FA6}"/>
              </a:ext>
            </a:extLst>
          </p:cNvPr>
          <p:cNvSpPr/>
          <p:nvPr/>
        </p:nvSpPr>
        <p:spPr>
          <a:xfrm>
            <a:off x="949960" y="2604457"/>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6" name="Slide Number Placeholder 8">
            <a:extLst>
              <a:ext uri="{FF2B5EF4-FFF2-40B4-BE49-F238E27FC236}">
                <a16:creationId xmlns:a16="http://schemas.microsoft.com/office/drawing/2014/main" id="{2E393B75-4276-02A0-63E3-A7741A03FC99}"/>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5</a:t>
            </a:fld>
            <a:r>
              <a:rPr lang="en-US" sz="2000" dirty="0">
                <a:solidFill>
                  <a:prstClr val="black"/>
                </a:solidFill>
                <a:latin typeface="Comic Sans MS"/>
                <a:sym typeface="Comic Sans MS"/>
              </a:rPr>
              <a:t>/46</a:t>
            </a:r>
          </a:p>
        </p:txBody>
      </p:sp>
      <p:sp>
        <p:nvSpPr>
          <p:cNvPr id="17" name="Footer Placeholder 9">
            <a:extLst>
              <a:ext uri="{FF2B5EF4-FFF2-40B4-BE49-F238E27FC236}">
                <a16:creationId xmlns:a16="http://schemas.microsoft.com/office/drawing/2014/main" id="{AA249302-FBCC-2519-A545-22920FE5C23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8" name="Rectangle 17">
            <a:extLst>
              <a:ext uri="{FF2B5EF4-FFF2-40B4-BE49-F238E27FC236}">
                <a16:creationId xmlns:a16="http://schemas.microsoft.com/office/drawing/2014/main" id="{F902A28E-4900-1B5A-3142-5A42EDFA6AFC}"/>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9" name="Rectangle 18">
            <a:extLst>
              <a:ext uri="{FF2B5EF4-FFF2-40B4-BE49-F238E27FC236}">
                <a16:creationId xmlns:a16="http://schemas.microsoft.com/office/drawing/2014/main" id="{587763C1-DA96-063B-8310-B7629F80BB0B}"/>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2CA535CA-CE28-0ACF-6184-F3C0FAD699E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0811C642-8BA2-3B71-57DB-22C6582C8B02}"/>
              </a:ext>
            </a:extLst>
          </p:cNvPr>
          <p:cNvSpPr txBox="1"/>
          <p:nvPr/>
        </p:nvSpPr>
        <p:spPr>
          <a:xfrm>
            <a:off x="4181704" y="3189264"/>
            <a:ext cx="3438296" cy="369332"/>
          </a:xfrm>
          <a:prstGeom prst="rect">
            <a:avLst/>
          </a:prstGeom>
          <a:solidFill>
            <a:schemeClr val="bg2">
              <a:lumMod val="90000"/>
            </a:schemeClr>
          </a:solidFill>
        </p:spPr>
        <p:txBody>
          <a:bodyPr wrap="square">
            <a:spAutoFit/>
          </a:bodyPr>
          <a:lstStyle>
            <a:defPPr>
              <a:defRPr lang="en-US"/>
            </a:defPPr>
            <a:lvl1pPr>
              <a:defRPr b="0" i="0" u="none" strike="noStrike" baseline="0">
                <a:latin typeface="Times New Roman" panose="02020603050405020304" pitchFamily="18" charset="0"/>
              </a:defRPr>
            </a:lvl1pPr>
          </a:lstStyle>
          <a:p>
            <a:r>
              <a:rPr lang="en-US" dirty="0"/>
              <a:t>multiple Pareto optimal outcomes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Pare</a:t>
            </a:r>
            <a:r>
              <a:rPr spc="-15" dirty="0"/>
              <a:t>t</a:t>
            </a:r>
            <a:r>
              <a:rPr dirty="0"/>
              <a:t>o</a:t>
            </a:r>
            <a:r>
              <a:rPr spc="-5" dirty="0"/>
              <a:t> </a:t>
            </a:r>
            <a:r>
              <a:rPr spc="-30" dirty="0"/>
              <a:t>O</a:t>
            </a:r>
            <a:r>
              <a:rPr dirty="0"/>
              <a:t>p</a:t>
            </a:r>
            <a:r>
              <a:rPr spc="-15" dirty="0"/>
              <a:t>t</a:t>
            </a:r>
            <a:r>
              <a:rPr dirty="0"/>
              <a:t>imali</a:t>
            </a:r>
            <a:r>
              <a:rPr spc="-15" dirty="0"/>
              <a:t>t</a:t>
            </a:r>
            <a:r>
              <a:rPr dirty="0"/>
              <a:t>y</a:t>
            </a:r>
            <a:r>
              <a:rPr spc="-5" dirty="0"/>
              <a:t> </a:t>
            </a:r>
            <a:r>
              <a:rPr dirty="0"/>
              <a:t>Example</a:t>
            </a:r>
          </a:p>
        </p:txBody>
      </p:sp>
      <p:sp>
        <p:nvSpPr>
          <p:cNvPr id="6" name="object 6"/>
          <p:cNvSpPr txBox="1"/>
          <p:nvPr/>
        </p:nvSpPr>
        <p:spPr>
          <a:xfrm>
            <a:off x="400107" y="5000659"/>
            <a:ext cx="2548255" cy="330200"/>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sz="2400" spc="-20" dirty="0">
                <a:latin typeface="Times New Roman"/>
                <a:cs typeface="Times New Roman"/>
              </a:rPr>
              <a:t>Ba</a:t>
            </a:r>
            <a:r>
              <a:rPr sz="2400" spc="-10" dirty="0">
                <a:latin typeface="Times New Roman"/>
                <a:cs typeface="Times New Roman"/>
              </a:rPr>
              <a:t>ttle</a:t>
            </a:r>
            <a:r>
              <a:rPr sz="2400" spc="-5" dirty="0">
                <a:latin typeface="Times New Roman"/>
                <a:cs typeface="Times New Roman"/>
              </a:rPr>
              <a:t> </a:t>
            </a:r>
            <a:r>
              <a:rPr sz="2400" dirty="0">
                <a:latin typeface="Times New Roman"/>
                <a:cs typeface="Times New Roman"/>
              </a:rPr>
              <a:t>of </a:t>
            </a:r>
            <a:r>
              <a:rPr sz="2400" spc="-10" dirty="0">
                <a:latin typeface="Times New Roman"/>
                <a:cs typeface="Times New Roman"/>
              </a:rPr>
              <a:t>the</a:t>
            </a:r>
            <a:r>
              <a:rPr sz="2400" spc="-5" dirty="0">
                <a:latin typeface="Times New Roman"/>
                <a:cs typeface="Times New Roman"/>
              </a:rPr>
              <a:t> </a:t>
            </a:r>
            <a:r>
              <a:rPr sz="2400" dirty="0">
                <a:latin typeface="Times New Roman"/>
                <a:cs typeface="Times New Roman"/>
              </a:rPr>
              <a:t>S</a:t>
            </a:r>
            <a:r>
              <a:rPr sz="2400" spc="-20" dirty="0">
                <a:latin typeface="Times New Roman"/>
                <a:cs typeface="Times New Roman"/>
              </a:rPr>
              <a:t>e</a:t>
            </a:r>
            <a:r>
              <a:rPr sz="2400" spc="-15" dirty="0">
                <a:latin typeface="Times New Roman"/>
                <a:cs typeface="Times New Roman"/>
              </a:rPr>
              <a:t>x</a:t>
            </a:r>
            <a:r>
              <a:rPr sz="2400" spc="-20" dirty="0">
                <a:latin typeface="Times New Roman"/>
                <a:cs typeface="Times New Roman"/>
              </a:rPr>
              <a:t>e</a:t>
            </a:r>
            <a:r>
              <a:rPr sz="2400" dirty="0">
                <a:latin typeface="Times New Roman"/>
                <a:cs typeface="Times New Roman"/>
              </a:rPr>
              <a:t>s</a:t>
            </a:r>
          </a:p>
        </p:txBody>
      </p:sp>
      <p:sp>
        <p:nvSpPr>
          <p:cNvPr id="8" name="object 8"/>
          <p:cNvSpPr txBox="1"/>
          <p:nvPr/>
        </p:nvSpPr>
        <p:spPr>
          <a:xfrm>
            <a:off x="1157749" y="1750683"/>
            <a:ext cx="260350" cy="457200"/>
          </a:xfrm>
          <a:prstGeom prst="rect">
            <a:avLst/>
          </a:prstGeom>
        </p:spPr>
        <p:txBody>
          <a:bodyPr vert="horz" wrap="square" lIns="0" tIns="0" rIns="0" bIns="0" rtlCol="0">
            <a:spAutoFit/>
          </a:bodyPr>
          <a:lstStyle/>
          <a:p>
            <a:pPr marL="12700">
              <a:lnSpc>
                <a:spcPct val="100000"/>
              </a:lnSpc>
            </a:pPr>
            <a:r>
              <a:rPr sz="3400" spc="-20" dirty="0">
                <a:latin typeface="Calibri"/>
                <a:cs typeface="Calibri"/>
              </a:rPr>
              <a:t>B</a:t>
            </a:r>
            <a:endParaRPr sz="3400" dirty="0">
              <a:latin typeface="Calibri"/>
              <a:cs typeface="Calibri"/>
            </a:endParaRPr>
          </a:p>
        </p:txBody>
      </p:sp>
      <p:sp>
        <p:nvSpPr>
          <p:cNvPr id="9" name="object 9"/>
          <p:cNvSpPr txBox="1"/>
          <p:nvPr/>
        </p:nvSpPr>
        <p:spPr>
          <a:xfrm>
            <a:off x="2289992" y="1750683"/>
            <a:ext cx="224154" cy="457200"/>
          </a:xfrm>
          <a:prstGeom prst="rect">
            <a:avLst/>
          </a:prstGeom>
        </p:spPr>
        <p:txBody>
          <a:bodyPr vert="horz" wrap="square" lIns="0" tIns="0" rIns="0" bIns="0" rtlCol="0">
            <a:spAutoFit/>
          </a:bodyPr>
          <a:lstStyle/>
          <a:p>
            <a:pPr marL="12700">
              <a:lnSpc>
                <a:spcPct val="100000"/>
              </a:lnSpc>
            </a:pPr>
            <a:r>
              <a:rPr sz="3400" dirty="0">
                <a:latin typeface="Calibri"/>
                <a:cs typeface="Calibri"/>
              </a:rPr>
              <a:t>F</a:t>
            </a:r>
            <a:endParaRPr sz="3400">
              <a:latin typeface="Calibri"/>
              <a:cs typeface="Calibri"/>
            </a:endParaRPr>
          </a:p>
        </p:txBody>
      </p:sp>
      <p:sp>
        <p:nvSpPr>
          <p:cNvPr id="10" name="object 10"/>
          <p:cNvSpPr txBox="1"/>
          <p:nvPr/>
        </p:nvSpPr>
        <p:spPr>
          <a:xfrm>
            <a:off x="349250" y="2151888"/>
            <a:ext cx="260350" cy="1442767"/>
          </a:xfrm>
          <a:prstGeom prst="rect">
            <a:avLst/>
          </a:prstGeom>
        </p:spPr>
        <p:txBody>
          <a:bodyPr vert="horz" wrap="square" lIns="0" tIns="0" rIns="0" bIns="0" rtlCol="0">
            <a:spAutoFit/>
          </a:bodyPr>
          <a:lstStyle/>
          <a:p>
            <a:pPr marL="30480" marR="5080" indent="-18415">
              <a:lnSpc>
                <a:spcPct val="144500"/>
              </a:lnSpc>
            </a:pPr>
            <a:r>
              <a:rPr sz="3400" spc="-15" dirty="0">
                <a:latin typeface="Calibri"/>
                <a:cs typeface="Calibri"/>
              </a:rPr>
              <a:t>B</a:t>
            </a:r>
            <a:r>
              <a:rPr lang="en-US" sz="3400" spc="-15" dirty="0">
                <a:latin typeface="Calibri"/>
                <a:cs typeface="Calibri"/>
              </a:rPr>
              <a:t>F</a:t>
            </a:r>
            <a:endParaRPr sz="3400" dirty="0">
              <a:latin typeface="Calibri"/>
              <a:cs typeface="Calibri"/>
            </a:endParaRPr>
          </a:p>
        </p:txBody>
      </p:sp>
      <p:graphicFrame>
        <p:nvGraphicFramePr>
          <p:cNvPr id="11" name="object 11"/>
          <p:cNvGraphicFramePr>
            <a:graphicFrameLocks noGrp="1"/>
          </p:cNvGraphicFramePr>
          <p:nvPr>
            <p:extLst>
              <p:ext uri="{D42A27DB-BD31-4B8C-83A1-F6EECF244321}">
                <p14:modId xmlns:p14="http://schemas.microsoft.com/office/powerpoint/2010/main" val="1272071969"/>
              </p:ext>
            </p:extLst>
          </p:nvPr>
        </p:nvGraphicFramePr>
        <p:xfrm>
          <a:off x="729297" y="2220912"/>
          <a:ext cx="2228009" cy="149749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8748">
                <a:tc>
                  <a:txBody>
                    <a:bodyPr/>
                    <a:lstStyle/>
                    <a:p>
                      <a:pPr marL="314960">
                        <a:lnSpc>
                          <a:spcPct val="100000"/>
                        </a:lnSpc>
                      </a:pPr>
                      <a:r>
                        <a:rPr sz="1800" i="1" spc="-20" dirty="0">
                          <a:latin typeface="Meiryo"/>
                          <a:cs typeface="Meiryo"/>
                        </a:rPr>
                        <a:t>2</a:t>
                      </a:r>
                      <a:r>
                        <a:rPr sz="1800" i="1" dirty="0">
                          <a:latin typeface="Meiryo"/>
                          <a:cs typeface="Meiryo"/>
                        </a:rPr>
                        <a:t>,</a:t>
                      </a:r>
                      <a:r>
                        <a:rPr sz="1800" i="1" spc="-40" dirty="0">
                          <a:latin typeface="Meiryo"/>
                          <a:cs typeface="Meiryo"/>
                        </a:rPr>
                        <a:t> </a:t>
                      </a:r>
                      <a:r>
                        <a:rPr sz="1800" i="1" dirty="0">
                          <a:latin typeface="Meiryo"/>
                          <a:cs typeface="Meiryo"/>
                        </a:rPr>
                        <a:t>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14960">
                        <a:lnSpc>
                          <a:spcPct val="100000"/>
                        </a:lnSpc>
                      </a:pPr>
                      <a:r>
                        <a:rPr sz="1800" i="1" spc="-20" dirty="0">
                          <a:latin typeface="Meiryo"/>
                          <a:cs typeface="Meiryo"/>
                        </a:rPr>
                        <a:t>1</a:t>
                      </a:r>
                      <a:r>
                        <a:rPr sz="1800" i="1" dirty="0">
                          <a:latin typeface="Meiryo"/>
                          <a:cs typeface="Meiryo"/>
                        </a:rPr>
                        <a:t>,</a:t>
                      </a:r>
                      <a:r>
                        <a:rPr sz="1800" i="1" spc="-40" dirty="0">
                          <a:latin typeface="Meiryo"/>
                          <a:cs typeface="Meiryo"/>
                        </a:rPr>
                        <a:t> </a:t>
                      </a:r>
                      <a:r>
                        <a:rPr sz="1800" i="1" dirty="0">
                          <a:latin typeface="Meiryo"/>
                          <a:cs typeface="Meiryo"/>
                        </a:rPr>
                        <a:t>2</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4" name="object 24">
            <a:extLst>
              <a:ext uri="{FF2B5EF4-FFF2-40B4-BE49-F238E27FC236}">
                <a16:creationId xmlns:a16="http://schemas.microsoft.com/office/drawing/2014/main" id="{3AC4F2E4-272E-340C-5E1D-E4E07D978889}"/>
              </a:ext>
            </a:extLst>
          </p:cNvPr>
          <p:cNvSpPr/>
          <p:nvPr/>
        </p:nvSpPr>
        <p:spPr>
          <a:xfrm>
            <a:off x="2010938" y="3034343"/>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5" name="object 24">
            <a:extLst>
              <a:ext uri="{FF2B5EF4-FFF2-40B4-BE49-F238E27FC236}">
                <a16:creationId xmlns:a16="http://schemas.microsoft.com/office/drawing/2014/main" id="{9AD76026-FAA3-4D32-0522-6FE58439EE52}"/>
              </a:ext>
            </a:extLst>
          </p:cNvPr>
          <p:cNvSpPr/>
          <p:nvPr/>
        </p:nvSpPr>
        <p:spPr>
          <a:xfrm>
            <a:off x="950408" y="2286000"/>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6" name="Slide Number Placeholder 8">
            <a:extLst>
              <a:ext uri="{FF2B5EF4-FFF2-40B4-BE49-F238E27FC236}">
                <a16:creationId xmlns:a16="http://schemas.microsoft.com/office/drawing/2014/main" id="{6893E240-B1FA-C42D-2B99-52517B024DF5}"/>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6</a:t>
            </a:fld>
            <a:r>
              <a:rPr lang="en-US" sz="2000" dirty="0">
                <a:solidFill>
                  <a:prstClr val="black"/>
                </a:solidFill>
                <a:latin typeface="Comic Sans MS"/>
                <a:sym typeface="Comic Sans MS"/>
              </a:rPr>
              <a:t>/46</a:t>
            </a:r>
          </a:p>
        </p:txBody>
      </p:sp>
      <p:sp>
        <p:nvSpPr>
          <p:cNvPr id="17" name="Footer Placeholder 9">
            <a:extLst>
              <a:ext uri="{FF2B5EF4-FFF2-40B4-BE49-F238E27FC236}">
                <a16:creationId xmlns:a16="http://schemas.microsoft.com/office/drawing/2014/main" id="{74B3F299-4E51-0B1D-1A42-61FA123EB16D}"/>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8" name="Rectangle 17">
            <a:extLst>
              <a:ext uri="{FF2B5EF4-FFF2-40B4-BE49-F238E27FC236}">
                <a16:creationId xmlns:a16="http://schemas.microsoft.com/office/drawing/2014/main" id="{AD36C006-D890-8E1C-D351-9053F4D2CC1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9" name="Rectangle 18">
            <a:extLst>
              <a:ext uri="{FF2B5EF4-FFF2-40B4-BE49-F238E27FC236}">
                <a16:creationId xmlns:a16="http://schemas.microsoft.com/office/drawing/2014/main" id="{87735C83-FC7B-5E1D-2A09-3BE32DBC9EBB}"/>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793B875E-B027-0DD5-2B39-47A6C4BB70E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341B479D-33AD-8008-892F-D7EE2D8EBD66}"/>
              </a:ext>
            </a:extLst>
          </p:cNvPr>
          <p:cNvSpPr txBox="1"/>
          <p:nvPr/>
        </p:nvSpPr>
        <p:spPr>
          <a:xfrm>
            <a:off x="3979890" y="2200592"/>
            <a:ext cx="4627880" cy="2031325"/>
          </a:xfrm>
          <a:prstGeom prst="rect">
            <a:avLst/>
          </a:prstGeom>
          <a:noFill/>
        </p:spPr>
        <p:txBody>
          <a:bodyPr wrap="square">
            <a:spAutoFit/>
          </a:bodyPr>
          <a:lstStyle/>
          <a:p>
            <a:r>
              <a:rPr lang="en-US" b="0" i="0" dirty="0">
                <a:effectLst/>
                <a:latin typeface="Söhne"/>
              </a:rPr>
              <a:t>The highlighted outcomes are Pareto optimal because there is no way to make one player better off without making the other worse off. </a:t>
            </a:r>
          </a:p>
          <a:p>
            <a:endParaRPr lang="en-US" dirty="0">
              <a:latin typeface="Söhne"/>
            </a:endParaRPr>
          </a:p>
          <a:p>
            <a:r>
              <a:rPr lang="en-US" b="0" i="0" dirty="0">
                <a:effectLst/>
                <a:latin typeface="Söhne"/>
              </a:rPr>
              <a:t>In both cases, both players are as well off as they can be given their preferences and the available options.</a:t>
            </a:r>
            <a:endParaRPr lang="en-US" dirty="0"/>
          </a:p>
        </p:txBody>
      </p:sp>
      <p:sp>
        <p:nvSpPr>
          <p:cNvPr id="12" name="TextBox 11">
            <a:extLst>
              <a:ext uri="{FF2B5EF4-FFF2-40B4-BE49-F238E27FC236}">
                <a16:creationId xmlns:a16="http://schemas.microsoft.com/office/drawing/2014/main" id="{AC9C1C9E-21D3-C0E9-1FC5-D0B22C77F818}"/>
              </a:ext>
            </a:extLst>
          </p:cNvPr>
          <p:cNvSpPr txBox="1"/>
          <p:nvPr/>
        </p:nvSpPr>
        <p:spPr>
          <a:xfrm>
            <a:off x="4038600" y="1621192"/>
            <a:ext cx="3438296" cy="369332"/>
          </a:xfrm>
          <a:prstGeom prst="rect">
            <a:avLst/>
          </a:prstGeom>
          <a:solidFill>
            <a:schemeClr val="bg2">
              <a:lumMod val="90000"/>
            </a:schemeClr>
          </a:solidFill>
        </p:spPr>
        <p:txBody>
          <a:bodyPr wrap="square">
            <a:spAutoFit/>
          </a:bodyPr>
          <a:lstStyle>
            <a:defPPr>
              <a:defRPr lang="en-US"/>
            </a:defPPr>
            <a:lvl1pPr>
              <a:defRPr b="0" i="0" u="none" strike="noStrike" baseline="0">
                <a:latin typeface="Times New Roman" panose="02020603050405020304" pitchFamily="18" charset="0"/>
              </a:defRPr>
            </a:lvl1pPr>
          </a:lstStyle>
          <a:p>
            <a:r>
              <a:rPr lang="en-US" dirty="0"/>
              <a:t>multiple Pareto optimal outcomes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Pare</a:t>
            </a:r>
            <a:r>
              <a:rPr spc="-15" dirty="0"/>
              <a:t>t</a:t>
            </a:r>
            <a:r>
              <a:rPr dirty="0"/>
              <a:t>o</a:t>
            </a:r>
            <a:r>
              <a:rPr spc="-5" dirty="0"/>
              <a:t> </a:t>
            </a:r>
            <a:r>
              <a:rPr spc="-30" dirty="0"/>
              <a:t>O</a:t>
            </a:r>
            <a:r>
              <a:rPr dirty="0"/>
              <a:t>p</a:t>
            </a:r>
            <a:r>
              <a:rPr spc="-15" dirty="0"/>
              <a:t>t</a:t>
            </a:r>
            <a:r>
              <a:rPr dirty="0"/>
              <a:t>imali</a:t>
            </a:r>
            <a:r>
              <a:rPr spc="-15" dirty="0"/>
              <a:t>t</a:t>
            </a:r>
            <a:r>
              <a:rPr dirty="0"/>
              <a:t>y</a:t>
            </a:r>
            <a:r>
              <a:rPr spc="-5" dirty="0"/>
              <a:t> </a:t>
            </a:r>
            <a:r>
              <a:rPr dirty="0"/>
              <a:t>Example</a:t>
            </a:r>
          </a:p>
        </p:txBody>
      </p:sp>
      <p:sp>
        <p:nvSpPr>
          <p:cNvPr id="6" name="object 6"/>
          <p:cNvSpPr txBox="1"/>
          <p:nvPr/>
        </p:nvSpPr>
        <p:spPr>
          <a:xfrm>
            <a:off x="400107" y="5000659"/>
            <a:ext cx="2548255" cy="369332"/>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lang="en-US" sz="2400" spc="-20" dirty="0">
                <a:latin typeface="Times New Roman"/>
                <a:cs typeface="Times New Roman"/>
              </a:rPr>
              <a:t>Matching Pennies</a:t>
            </a:r>
            <a:endParaRPr sz="2400" dirty="0">
              <a:latin typeface="Times New Roman"/>
              <a:cs typeface="Times New Roman"/>
            </a:endParaRPr>
          </a:p>
        </p:txBody>
      </p:sp>
      <p:sp>
        <p:nvSpPr>
          <p:cNvPr id="8" name="object 8"/>
          <p:cNvSpPr txBox="1"/>
          <p:nvPr/>
        </p:nvSpPr>
        <p:spPr>
          <a:xfrm>
            <a:off x="1157749" y="1750683"/>
            <a:ext cx="260350" cy="523220"/>
          </a:xfrm>
          <a:prstGeom prst="rect">
            <a:avLst/>
          </a:prstGeom>
        </p:spPr>
        <p:txBody>
          <a:bodyPr vert="horz" wrap="square" lIns="0" tIns="0" rIns="0" bIns="0" rtlCol="0">
            <a:spAutoFit/>
          </a:bodyPr>
          <a:lstStyle/>
          <a:p>
            <a:pPr marL="12700">
              <a:lnSpc>
                <a:spcPct val="100000"/>
              </a:lnSpc>
            </a:pPr>
            <a:r>
              <a:rPr lang="en-US" sz="3400" spc="-20" dirty="0">
                <a:latin typeface="Calibri"/>
                <a:cs typeface="Calibri"/>
              </a:rPr>
              <a:t>H</a:t>
            </a:r>
            <a:endParaRPr sz="3400" dirty="0">
              <a:latin typeface="Calibri"/>
              <a:cs typeface="Calibri"/>
            </a:endParaRPr>
          </a:p>
        </p:txBody>
      </p:sp>
      <p:sp>
        <p:nvSpPr>
          <p:cNvPr id="9" name="object 9"/>
          <p:cNvSpPr txBox="1"/>
          <p:nvPr/>
        </p:nvSpPr>
        <p:spPr>
          <a:xfrm>
            <a:off x="2289992" y="1750683"/>
            <a:ext cx="224154" cy="523220"/>
          </a:xfrm>
          <a:prstGeom prst="rect">
            <a:avLst/>
          </a:prstGeom>
        </p:spPr>
        <p:txBody>
          <a:bodyPr vert="horz" wrap="square" lIns="0" tIns="0" rIns="0" bIns="0" rtlCol="0">
            <a:spAutoFit/>
          </a:bodyPr>
          <a:lstStyle/>
          <a:p>
            <a:pPr marL="12700">
              <a:lnSpc>
                <a:spcPct val="100000"/>
              </a:lnSpc>
            </a:pPr>
            <a:r>
              <a:rPr lang="en-US" sz="3400" dirty="0">
                <a:latin typeface="Calibri"/>
                <a:cs typeface="Calibri"/>
              </a:rPr>
              <a:t>T</a:t>
            </a:r>
            <a:endParaRPr sz="3400" dirty="0">
              <a:latin typeface="Calibri"/>
              <a:cs typeface="Calibri"/>
            </a:endParaRPr>
          </a:p>
        </p:txBody>
      </p:sp>
      <p:sp>
        <p:nvSpPr>
          <p:cNvPr id="10" name="object 10"/>
          <p:cNvSpPr txBox="1"/>
          <p:nvPr/>
        </p:nvSpPr>
        <p:spPr>
          <a:xfrm>
            <a:off x="349250" y="2151888"/>
            <a:ext cx="260350" cy="1442767"/>
          </a:xfrm>
          <a:prstGeom prst="rect">
            <a:avLst/>
          </a:prstGeom>
        </p:spPr>
        <p:txBody>
          <a:bodyPr vert="horz" wrap="square" lIns="0" tIns="0" rIns="0" bIns="0" rtlCol="0">
            <a:spAutoFit/>
          </a:bodyPr>
          <a:lstStyle/>
          <a:p>
            <a:pPr marL="30480" marR="5080" indent="-18415">
              <a:lnSpc>
                <a:spcPct val="144500"/>
              </a:lnSpc>
            </a:pPr>
            <a:r>
              <a:rPr lang="en-US" sz="3400" spc="-15" dirty="0">
                <a:latin typeface="Calibri"/>
                <a:cs typeface="Calibri"/>
              </a:rPr>
              <a:t>HT</a:t>
            </a:r>
            <a:endParaRPr sz="3400" dirty="0">
              <a:latin typeface="Calibri"/>
              <a:cs typeface="Calibri"/>
            </a:endParaRPr>
          </a:p>
        </p:txBody>
      </p:sp>
      <p:graphicFrame>
        <p:nvGraphicFramePr>
          <p:cNvPr id="11" name="object 11"/>
          <p:cNvGraphicFramePr>
            <a:graphicFrameLocks noGrp="1"/>
          </p:cNvGraphicFramePr>
          <p:nvPr>
            <p:extLst>
              <p:ext uri="{D42A27DB-BD31-4B8C-83A1-F6EECF244321}">
                <p14:modId xmlns:p14="http://schemas.microsoft.com/office/powerpoint/2010/main" val="386068780"/>
              </p:ext>
            </p:extLst>
          </p:nvPr>
        </p:nvGraphicFramePr>
        <p:xfrm>
          <a:off x="729297" y="2220912"/>
          <a:ext cx="2228009" cy="149749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8748">
                <a:tc>
                  <a:txBody>
                    <a:bodyPr/>
                    <a:lstStyle/>
                    <a:p>
                      <a:pPr marL="314960">
                        <a:lnSpc>
                          <a:spcPct val="100000"/>
                        </a:lnSpc>
                      </a:pPr>
                      <a:r>
                        <a:rPr lang="en-US" sz="1800" i="1" spc="-20" dirty="0">
                          <a:latin typeface="Meiryo"/>
                          <a:cs typeface="Meiryo"/>
                        </a:rPr>
                        <a:t>1</a:t>
                      </a:r>
                      <a:r>
                        <a:rPr sz="1800" i="1" dirty="0">
                          <a:latin typeface="Meiryo"/>
                          <a:cs typeface="Meiryo"/>
                        </a:rPr>
                        <a:t>,</a:t>
                      </a:r>
                      <a:r>
                        <a:rPr sz="1800" i="1" spc="-40" dirty="0">
                          <a:latin typeface="Meiryo"/>
                          <a:cs typeface="Meiryo"/>
                        </a:rPr>
                        <a:t> </a:t>
                      </a:r>
                      <a:r>
                        <a:rPr lang="en-US" sz="1800" i="1" spc="-40" dirty="0">
                          <a:latin typeface="Meiryo"/>
                          <a:cs typeface="Meiryo"/>
                        </a:rPr>
                        <a:t>-</a:t>
                      </a:r>
                      <a:r>
                        <a:rPr sz="1800" i="1"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39090">
                        <a:lnSpc>
                          <a:spcPct val="100000"/>
                        </a:lnSpc>
                      </a:pPr>
                      <a:r>
                        <a:rPr lang="en-US" sz="1800" i="1" spc="-20" dirty="0">
                          <a:latin typeface="Meiryo"/>
                          <a:cs typeface="Meiryo"/>
                        </a:rPr>
                        <a:t>-1</a:t>
                      </a:r>
                      <a:r>
                        <a:rPr sz="1800" i="1" dirty="0">
                          <a:latin typeface="Meiryo"/>
                          <a:cs typeface="Meiryo"/>
                        </a:rPr>
                        <a:t>,</a:t>
                      </a:r>
                      <a:r>
                        <a:rPr sz="1800" i="1" spc="-40" dirty="0">
                          <a:latin typeface="Meiryo"/>
                          <a:cs typeface="Meiryo"/>
                        </a:rPr>
                        <a:t> </a:t>
                      </a:r>
                      <a:r>
                        <a:rPr lang="en-US" sz="1800" i="1" spc="-40"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39090">
                        <a:lnSpc>
                          <a:spcPct val="100000"/>
                        </a:lnSpc>
                      </a:pPr>
                      <a:r>
                        <a:rPr lang="en-US" sz="1800" i="1" spc="-20" dirty="0">
                          <a:latin typeface="Meiryo"/>
                          <a:cs typeface="Meiryo"/>
                        </a:rPr>
                        <a:t>-1</a:t>
                      </a:r>
                      <a:r>
                        <a:rPr sz="1800" i="1" dirty="0">
                          <a:latin typeface="Meiryo"/>
                          <a:cs typeface="Meiryo"/>
                        </a:rPr>
                        <a:t>,</a:t>
                      </a:r>
                      <a:r>
                        <a:rPr sz="1800" i="1" spc="-40" dirty="0">
                          <a:latin typeface="Meiryo"/>
                          <a:cs typeface="Meiryo"/>
                        </a:rPr>
                        <a:t> </a:t>
                      </a:r>
                      <a:r>
                        <a:rPr lang="en-US" sz="1800" i="1" spc="-40"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14960">
                        <a:lnSpc>
                          <a:spcPct val="100000"/>
                        </a:lnSpc>
                      </a:pPr>
                      <a:r>
                        <a:rPr sz="1800" i="1" spc="-20" dirty="0">
                          <a:latin typeface="Meiryo"/>
                          <a:cs typeface="Meiryo"/>
                        </a:rPr>
                        <a:t>1</a:t>
                      </a:r>
                      <a:r>
                        <a:rPr sz="1800" i="1" dirty="0">
                          <a:latin typeface="Meiryo"/>
                          <a:cs typeface="Meiryo"/>
                        </a:rPr>
                        <a:t>,</a:t>
                      </a:r>
                      <a:r>
                        <a:rPr sz="1800" i="1" spc="-40" dirty="0">
                          <a:latin typeface="Meiryo"/>
                          <a:cs typeface="Meiryo"/>
                        </a:rPr>
                        <a:t> </a:t>
                      </a:r>
                      <a:r>
                        <a:rPr lang="en-US" sz="1800" i="1" spc="-40"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4" name="object 24">
            <a:extLst>
              <a:ext uri="{FF2B5EF4-FFF2-40B4-BE49-F238E27FC236}">
                <a16:creationId xmlns:a16="http://schemas.microsoft.com/office/drawing/2014/main" id="{3AC4F2E4-272E-340C-5E1D-E4E07D978889}"/>
              </a:ext>
            </a:extLst>
          </p:cNvPr>
          <p:cNvSpPr/>
          <p:nvPr/>
        </p:nvSpPr>
        <p:spPr>
          <a:xfrm>
            <a:off x="2104135" y="3007605"/>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5" name="object 24">
            <a:extLst>
              <a:ext uri="{FF2B5EF4-FFF2-40B4-BE49-F238E27FC236}">
                <a16:creationId xmlns:a16="http://schemas.microsoft.com/office/drawing/2014/main" id="{9AD76026-FAA3-4D32-0522-6FE58439EE52}"/>
              </a:ext>
            </a:extLst>
          </p:cNvPr>
          <p:cNvSpPr/>
          <p:nvPr/>
        </p:nvSpPr>
        <p:spPr>
          <a:xfrm>
            <a:off x="950408" y="2286000"/>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6" name="Slide Number Placeholder 8">
            <a:extLst>
              <a:ext uri="{FF2B5EF4-FFF2-40B4-BE49-F238E27FC236}">
                <a16:creationId xmlns:a16="http://schemas.microsoft.com/office/drawing/2014/main" id="{6893E240-B1FA-C42D-2B99-52517B024DF5}"/>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7</a:t>
            </a:fld>
            <a:r>
              <a:rPr lang="en-US" sz="2000" dirty="0">
                <a:solidFill>
                  <a:prstClr val="black"/>
                </a:solidFill>
                <a:latin typeface="Comic Sans MS"/>
                <a:sym typeface="Comic Sans MS"/>
              </a:rPr>
              <a:t>/46</a:t>
            </a:r>
          </a:p>
        </p:txBody>
      </p:sp>
      <p:sp>
        <p:nvSpPr>
          <p:cNvPr id="17" name="Footer Placeholder 9">
            <a:extLst>
              <a:ext uri="{FF2B5EF4-FFF2-40B4-BE49-F238E27FC236}">
                <a16:creationId xmlns:a16="http://schemas.microsoft.com/office/drawing/2014/main" id="{74B3F299-4E51-0B1D-1A42-61FA123EB16D}"/>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8" name="Rectangle 17">
            <a:extLst>
              <a:ext uri="{FF2B5EF4-FFF2-40B4-BE49-F238E27FC236}">
                <a16:creationId xmlns:a16="http://schemas.microsoft.com/office/drawing/2014/main" id="{AD36C006-D890-8E1C-D351-9053F4D2CC1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9" name="Rectangle 18">
            <a:extLst>
              <a:ext uri="{FF2B5EF4-FFF2-40B4-BE49-F238E27FC236}">
                <a16:creationId xmlns:a16="http://schemas.microsoft.com/office/drawing/2014/main" id="{87735C83-FC7B-5E1D-2A09-3BE32DBC9EBB}"/>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793B875E-B027-0DD5-2B39-47A6C4BB70E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2450A92F-1566-1947-540A-81C5D558C067}"/>
              </a:ext>
            </a:extLst>
          </p:cNvPr>
          <p:cNvSpPr txBox="1"/>
          <p:nvPr/>
        </p:nvSpPr>
        <p:spPr>
          <a:xfrm>
            <a:off x="4257675" y="2793937"/>
            <a:ext cx="3590925" cy="646331"/>
          </a:xfrm>
          <a:prstGeom prst="rect">
            <a:avLst/>
          </a:prstGeom>
          <a:solidFill>
            <a:schemeClr val="bg2">
              <a:lumMod val="90000"/>
            </a:schemeClr>
          </a:solidFill>
        </p:spPr>
        <p:txBody>
          <a:bodyPr wrap="square">
            <a:spAutoFit/>
          </a:bodyPr>
          <a:lstStyle>
            <a:defPPr>
              <a:defRPr lang="en-US"/>
            </a:defPPr>
            <a:lvl1pPr>
              <a:defRPr b="0" i="0" u="none" strike="noStrike" baseline="0">
                <a:latin typeface="Times New Roman" panose="02020603050405020304" pitchFamily="18" charset="0"/>
              </a:defRPr>
            </a:lvl1pPr>
          </a:lstStyle>
          <a:p>
            <a:r>
              <a:rPr lang="en-US" dirty="0"/>
              <a:t>Non of the outcomes are dominated.</a:t>
            </a:r>
          </a:p>
          <a:p>
            <a:r>
              <a:rPr lang="en-US" dirty="0"/>
              <a:t>The whole is called Pareto optimal</a:t>
            </a:r>
          </a:p>
        </p:txBody>
      </p:sp>
      <p:sp>
        <p:nvSpPr>
          <p:cNvPr id="12" name="object 24">
            <a:extLst>
              <a:ext uri="{FF2B5EF4-FFF2-40B4-BE49-F238E27FC236}">
                <a16:creationId xmlns:a16="http://schemas.microsoft.com/office/drawing/2014/main" id="{1DF89461-8ED1-5B50-16FC-E3B9BB5E40B8}"/>
              </a:ext>
            </a:extLst>
          </p:cNvPr>
          <p:cNvSpPr/>
          <p:nvPr/>
        </p:nvSpPr>
        <p:spPr>
          <a:xfrm>
            <a:off x="2104135" y="2273903"/>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3" name="object 24">
            <a:extLst>
              <a:ext uri="{FF2B5EF4-FFF2-40B4-BE49-F238E27FC236}">
                <a16:creationId xmlns:a16="http://schemas.microsoft.com/office/drawing/2014/main" id="{4096DEB4-C8E9-84BE-6AE9-3E806412C550}"/>
              </a:ext>
            </a:extLst>
          </p:cNvPr>
          <p:cNvSpPr/>
          <p:nvPr/>
        </p:nvSpPr>
        <p:spPr>
          <a:xfrm>
            <a:off x="950408" y="2985055"/>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22" name="TextBox 21">
            <a:extLst>
              <a:ext uri="{FF2B5EF4-FFF2-40B4-BE49-F238E27FC236}">
                <a16:creationId xmlns:a16="http://schemas.microsoft.com/office/drawing/2014/main" id="{BD8A4872-EC7C-5B8E-D609-96F1AEF5BDF7}"/>
              </a:ext>
            </a:extLst>
          </p:cNvPr>
          <p:cNvSpPr txBox="1"/>
          <p:nvPr/>
        </p:nvSpPr>
        <p:spPr>
          <a:xfrm>
            <a:off x="4257675" y="3652765"/>
            <a:ext cx="3590925" cy="1477328"/>
          </a:xfrm>
          <a:prstGeom prst="rect">
            <a:avLst/>
          </a:prstGeom>
          <a:noFill/>
        </p:spPr>
        <p:txBody>
          <a:bodyPr wrap="square">
            <a:spAutoFit/>
          </a:bodyPr>
          <a:lstStyle/>
          <a:p>
            <a:r>
              <a:rPr lang="en-US" b="0" i="0" dirty="0">
                <a:effectLst/>
                <a:latin typeface="Söhne"/>
              </a:rPr>
              <a:t>In the context of Pareto optimality, if an outcome is dominated by another outcome, it is typically excluded from being considered Pareto optimal. </a:t>
            </a:r>
            <a:endParaRPr lang="en-US" dirty="0"/>
          </a:p>
        </p:txBody>
      </p:sp>
    </p:spTree>
    <p:extLst>
      <p:ext uri="{BB962C8B-B14F-4D97-AF65-F5344CB8AC3E}">
        <p14:creationId xmlns:p14="http://schemas.microsoft.com/office/powerpoint/2010/main" val="415412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19200"/>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Pare</a:t>
            </a:r>
            <a:r>
              <a:rPr spc="-15" dirty="0"/>
              <a:t>t</a:t>
            </a:r>
            <a:r>
              <a:rPr dirty="0"/>
              <a:t>o</a:t>
            </a:r>
            <a:r>
              <a:rPr spc="-5" dirty="0"/>
              <a:t> </a:t>
            </a:r>
            <a:r>
              <a:rPr spc="-30" dirty="0"/>
              <a:t>O</a:t>
            </a:r>
            <a:r>
              <a:rPr dirty="0"/>
              <a:t>p</a:t>
            </a:r>
            <a:r>
              <a:rPr spc="-15" dirty="0"/>
              <a:t>t</a:t>
            </a:r>
            <a:r>
              <a:rPr dirty="0"/>
              <a:t>imali</a:t>
            </a:r>
            <a:r>
              <a:rPr spc="-15" dirty="0"/>
              <a:t>t</a:t>
            </a:r>
            <a:r>
              <a:rPr dirty="0"/>
              <a:t>y</a:t>
            </a:r>
            <a:r>
              <a:rPr spc="-5" dirty="0"/>
              <a:t> </a:t>
            </a:r>
            <a:r>
              <a:rPr dirty="0"/>
              <a:t>Example</a:t>
            </a:r>
          </a:p>
        </p:txBody>
      </p:sp>
      <p:sp>
        <p:nvSpPr>
          <p:cNvPr id="7" name="object 7"/>
          <p:cNvSpPr txBox="1"/>
          <p:nvPr/>
        </p:nvSpPr>
        <p:spPr>
          <a:xfrm>
            <a:off x="1160068" y="1750683"/>
            <a:ext cx="255904" cy="457200"/>
          </a:xfrm>
          <a:prstGeom prst="rect">
            <a:avLst/>
          </a:prstGeom>
        </p:spPr>
        <p:txBody>
          <a:bodyPr vert="horz" wrap="square" lIns="0" tIns="0" rIns="0" bIns="0" rtlCol="0">
            <a:spAutoFit/>
          </a:bodyPr>
          <a:lstStyle/>
          <a:p>
            <a:pPr marL="12700">
              <a:lnSpc>
                <a:spcPct val="100000"/>
              </a:lnSpc>
            </a:pPr>
            <a:r>
              <a:rPr sz="3400" dirty="0">
                <a:latin typeface="Calibri"/>
                <a:cs typeface="Calibri"/>
              </a:rPr>
              <a:t>C</a:t>
            </a:r>
            <a:endParaRPr sz="3400">
              <a:latin typeface="Calibri"/>
              <a:cs typeface="Calibri"/>
            </a:endParaRPr>
          </a:p>
        </p:txBody>
      </p:sp>
      <p:sp>
        <p:nvSpPr>
          <p:cNvPr id="8" name="object 8"/>
          <p:cNvSpPr txBox="1"/>
          <p:nvPr/>
        </p:nvSpPr>
        <p:spPr>
          <a:xfrm>
            <a:off x="2256363" y="1750683"/>
            <a:ext cx="291465" cy="457200"/>
          </a:xfrm>
          <a:prstGeom prst="rect">
            <a:avLst/>
          </a:prstGeom>
        </p:spPr>
        <p:txBody>
          <a:bodyPr vert="horz" wrap="square" lIns="0" tIns="0" rIns="0" bIns="0" rtlCol="0">
            <a:spAutoFit/>
          </a:bodyPr>
          <a:lstStyle/>
          <a:p>
            <a:pPr marL="12700">
              <a:lnSpc>
                <a:spcPct val="100000"/>
              </a:lnSpc>
            </a:pPr>
            <a:r>
              <a:rPr sz="3400" dirty="0">
                <a:latin typeface="Calibri"/>
                <a:cs typeface="Calibri"/>
              </a:rPr>
              <a:t>D</a:t>
            </a:r>
            <a:endParaRPr sz="3400">
              <a:latin typeface="Calibri"/>
              <a:cs typeface="Calibri"/>
            </a:endParaRPr>
          </a:p>
        </p:txBody>
      </p:sp>
      <p:sp>
        <p:nvSpPr>
          <p:cNvPr id="9" name="object 9"/>
          <p:cNvSpPr txBox="1"/>
          <p:nvPr/>
        </p:nvSpPr>
        <p:spPr>
          <a:xfrm>
            <a:off x="304844" y="2286000"/>
            <a:ext cx="291465" cy="1206500"/>
          </a:xfrm>
          <a:prstGeom prst="rect">
            <a:avLst/>
          </a:prstGeom>
        </p:spPr>
        <p:txBody>
          <a:bodyPr vert="horz" wrap="square" lIns="0" tIns="0" rIns="0" bIns="0" rtlCol="0">
            <a:spAutoFit/>
          </a:bodyPr>
          <a:lstStyle/>
          <a:p>
            <a:pPr marL="12700" marR="5080" indent="17145">
              <a:lnSpc>
                <a:spcPct val="144500"/>
              </a:lnSpc>
            </a:pPr>
            <a:r>
              <a:rPr sz="3400" dirty="0">
                <a:latin typeface="Calibri"/>
                <a:cs typeface="Calibri"/>
              </a:rPr>
              <a:t>C D</a:t>
            </a:r>
          </a:p>
        </p:txBody>
      </p:sp>
      <p:sp>
        <p:nvSpPr>
          <p:cNvPr id="20" name="object 20"/>
          <p:cNvSpPr txBox="1"/>
          <p:nvPr/>
        </p:nvSpPr>
        <p:spPr>
          <a:xfrm>
            <a:off x="271197" y="4820147"/>
            <a:ext cx="4681803" cy="369332"/>
          </a:xfrm>
          <a:prstGeom prst="rect">
            <a:avLst/>
          </a:prstGeom>
        </p:spPr>
        <p:txBody>
          <a:bodyPr vert="horz" wrap="square" lIns="0" tIns="0" rIns="0" bIns="0" rtlCol="0">
            <a:spAutoFit/>
          </a:bodyPr>
          <a:lstStyle/>
          <a:p>
            <a:pPr marL="12700">
              <a:lnSpc>
                <a:spcPct val="100000"/>
              </a:lnSpc>
            </a:pPr>
            <a:r>
              <a:rPr sz="2400" dirty="0">
                <a:latin typeface="Times New Roman"/>
                <a:cs typeface="Times New Roman"/>
              </a:rPr>
              <a:t>P</a:t>
            </a:r>
            <a:r>
              <a:rPr sz="2400" spc="-10" dirty="0">
                <a:latin typeface="Times New Roman"/>
                <a:cs typeface="Times New Roman"/>
              </a:rPr>
              <a:t>ris</a:t>
            </a:r>
            <a:r>
              <a:rPr sz="2400" spc="-15" dirty="0">
                <a:latin typeface="Times New Roman"/>
                <a:cs typeface="Times New Roman"/>
              </a:rPr>
              <a:t>on</a:t>
            </a:r>
            <a:r>
              <a:rPr sz="2400" spc="-20" dirty="0">
                <a:latin typeface="Times New Roman"/>
                <a:cs typeface="Times New Roman"/>
              </a:rPr>
              <a:t>e</a:t>
            </a:r>
            <a:r>
              <a:rPr sz="2400" dirty="0">
                <a:latin typeface="Times New Roman"/>
                <a:cs typeface="Times New Roman"/>
              </a:rPr>
              <a:t>rs’</a:t>
            </a:r>
            <a:r>
              <a:rPr sz="2400" spc="-180" dirty="0">
                <a:latin typeface="Times New Roman"/>
                <a:cs typeface="Times New Roman"/>
              </a:rPr>
              <a:t> </a:t>
            </a:r>
            <a:r>
              <a:rPr sz="2400" spc="-10" dirty="0">
                <a:latin typeface="Times New Roman"/>
                <a:cs typeface="Times New Roman"/>
              </a:rPr>
              <a:t>dil</a:t>
            </a:r>
            <a:r>
              <a:rPr sz="2400" spc="-20" dirty="0">
                <a:latin typeface="Times New Roman"/>
                <a:cs typeface="Times New Roman"/>
              </a:rPr>
              <a:t>emma</a:t>
            </a:r>
            <a:r>
              <a:rPr lang="en-US" sz="2400" spc="-20" dirty="0">
                <a:latin typeface="Times New Roman"/>
                <a:cs typeface="Times New Roman"/>
              </a:rPr>
              <a:t>: </a:t>
            </a:r>
            <a:r>
              <a:rPr lang="en-US" dirty="0">
                <a:latin typeface="Times New Roman" panose="02020603050405020304" pitchFamily="18" charset="0"/>
              </a:rPr>
              <a:t>TCP Backoff Games</a:t>
            </a:r>
            <a:endParaRPr dirty="0">
              <a:latin typeface="Times New Roman" panose="02020603050405020304" pitchFamily="18" charset="0"/>
            </a:endParaRPr>
          </a:p>
        </p:txBody>
      </p:sp>
      <p:sp>
        <p:nvSpPr>
          <p:cNvPr id="24" name="object 24"/>
          <p:cNvSpPr txBox="1"/>
          <p:nvPr/>
        </p:nvSpPr>
        <p:spPr>
          <a:xfrm>
            <a:off x="235457" y="5664200"/>
            <a:ext cx="7263765" cy="203200"/>
          </a:xfrm>
          <a:prstGeom prst="rect">
            <a:avLst/>
          </a:prstGeom>
        </p:spPr>
        <p:txBody>
          <a:bodyPr vert="horz" wrap="square" lIns="0" tIns="0" rIns="0" bIns="0" rtlCol="0">
            <a:spAutoFit/>
          </a:bodyPr>
          <a:lstStyle/>
          <a:p>
            <a:pPr marL="12700">
              <a:lnSpc>
                <a:spcPct val="100000"/>
              </a:lnSpc>
            </a:pPr>
            <a:r>
              <a:rPr sz="1400" spc="-10" dirty="0">
                <a:latin typeface="Times New Roman"/>
                <a:cs typeface="Times New Roman"/>
              </a:rPr>
              <a:t>recall that “X </a:t>
            </a:r>
            <a:r>
              <a:rPr sz="1400" spc="-5" dirty="0">
                <a:latin typeface="Times New Roman"/>
                <a:cs typeface="Times New Roman"/>
              </a:rPr>
              <a:t>is </a:t>
            </a:r>
            <a:r>
              <a:rPr sz="1400" spc="-10" dirty="0">
                <a:latin typeface="Times New Roman"/>
                <a:cs typeface="Times New Roman"/>
              </a:rPr>
              <a:t>pareto optimal” does </a:t>
            </a:r>
            <a:r>
              <a:rPr sz="1400" i="1" spc="-10" dirty="0">
                <a:latin typeface="Times New Roman"/>
                <a:cs typeface="Times New Roman"/>
              </a:rPr>
              <a:t>not </a:t>
            </a:r>
            <a:r>
              <a:rPr sz="1400" spc="-10" dirty="0">
                <a:latin typeface="Times New Roman"/>
                <a:cs typeface="Times New Roman"/>
              </a:rPr>
              <a:t>mean </a:t>
            </a:r>
            <a:r>
              <a:rPr sz="1400" spc="-5" dirty="0">
                <a:latin typeface="Times New Roman"/>
                <a:cs typeface="Times New Roman"/>
              </a:rPr>
              <a:t>its </a:t>
            </a:r>
            <a:r>
              <a:rPr sz="1400" spc="-10" dirty="0">
                <a:latin typeface="Times New Roman"/>
                <a:cs typeface="Times New Roman"/>
              </a:rPr>
              <a:t>pareto-dominant but that </a:t>
            </a:r>
            <a:r>
              <a:rPr sz="1400" spc="-5" dirty="0">
                <a:latin typeface="Times New Roman"/>
                <a:cs typeface="Times New Roman"/>
              </a:rPr>
              <a:t>it is </a:t>
            </a:r>
            <a:r>
              <a:rPr sz="1400" spc="-10" dirty="0">
                <a:latin typeface="Times New Roman"/>
                <a:cs typeface="Times New Roman"/>
              </a:rPr>
              <a:t>not pareto-dominated</a:t>
            </a:r>
            <a:endParaRPr sz="1400">
              <a:latin typeface="Times New Roman"/>
              <a:cs typeface="Times New Roman"/>
            </a:endParaRPr>
          </a:p>
        </p:txBody>
      </p:sp>
      <p:graphicFrame>
        <p:nvGraphicFramePr>
          <p:cNvPr id="25" name="object 11">
            <a:extLst>
              <a:ext uri="{FF2B5EF4-FFF2-40B4-BE49-F238E27FC236}">
                <a16:creationId xmlns:a16="http://schemas.microsoft.com/office/drawing/2014/main" id="{92FD0C73-D544-B558-C58F-E1E23E3BB4A6}"/>
              </a:ext>
            </a:extLst>
          </p:cNvPr>
          <p:cNvGraphicFramePr>
            <a:graphicFrameLocks noGrp="1"/>
          </p:cNvGraphicFramePr>
          <p:nvPr>
            <p:extLst>
              <p:ext uri="{D42A27DB-BD31-4B8C-83A1-F6EECF244321}">
                <p14:modId xmlns:p14="http://schemas.microsoft.com/office/powerpoint/2010/main" val="1401074120"/>
              </p:ext>
            </p:extLst>
          </p:nvPr>
        </p:nvGraphicFramePr>
        <p:xfrm>
          <a:off x="762000" y="2298956"/>
          <a:ext cx="2228009" cy="149749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8748">
                <a:tc>
                  <a:txBody>
                    <a:bodyPr/>
                    <a:lstStyle/>
                    <a:p>
                      <a:pPr marL="233363" indent="0">
                        <a:lnSpc>
                          <a:spcPct val="100000"/>
                        </a:lnSpc>
                      </a:pPr>
                      <a:r>
                        <a:rPr lang="en-US" sz="1800" i="1" spc="-20" dirty="0">
                          <a:latin typeface="Meiryo"/>
                          <a:cs typeface="Meiryo"/>
                        </a:rPr>
                        <a:t>-1</a:t>
                      </a:r>
                      <a:r>
                        <a:rPr sz="1800" i="1" dirty="0">
                          <a:latin typeface="Meiryo"/>
                          <a:cs typeface="Meiryo"/>
                        </a:rPr>
                        <a:t>,</a:t>
                      </a:r>
                      <a:r>
                        <a:rPr sz="1800" i="1" spc="-40" dirty="0">
                          <a:latin typeface="Meiryo"/>
                          <a:cs typeface="Meiryo"/>
                        </a:rPr>
                        <a:t> </a:t>
                      </a:r>
                      <a:r>
                        <a:rPr lang="en-US" sz="1800" i="1" spc="-40" dirty="0">
                          <a:latin typeface="Meiryo"/>
                          <a:cs typeface="Meiryo"/>
                        </a:rPr>
                        <a:t>-</a:t>
                      </a:r>
                      <a:r>
                        <a:rPr sz="1800" i="1"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233363" indent="0">
                        <a:lnSpc>
                          <a:spcPct val="100000"/>
                        </a:lnSpc>
                      </a:pPr>
                      <a:r>
                        <a:rPr lang="en-US" sz="1800" i="1" spc="-20" dirty="0">
                          <a:latin typeface="Meiryo"/>
                          <a:cs typeface="Meiryo"/>
                        </a:rPr>
                        <a:t>-4</a:t>
                      </a:r>
                      <a:r>
                        <a:rPr sz="1800" i="1" dirty="0">
                          <a:latin typeface="Meiryo"/>
                          <a:cs typeface="Meiryo"/>
                        </a:rPr>
                        <a:t>,</a:t>
                      </a:r>
                      <a:r>
                        <a:rPr sz="1800" i="1" spc="-40" dirty="0">
                          <a:latin typeface="Meiryo"/>
                          <a:cs typeface="Meiryo"/>
                        </a:rPr>
                        <a:t> </a:t>
                      </a:r>
                      <a:r>
                        <a:rPr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lang="en-US" sz="1800" i="1" spc="-40" dirty="0">
                          <a:latin typeface="Meiryo"/>
                          <a:cs typeface="Meiryo"/>
                        </a:rPr>
                        <a:t>-</a:t>
                      </a:r>
                      <a:r>
                        <a:rPr lang="en-US" sz="1800" i="1" dirty="0">
                          <a:latin typeface="Meiryo"/>
                          <a:cs typeface="Meiryo"/>
                        </a:rPr>
                        <a:t>4</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233363" indent="0">
                        <a:lnSpc>
                          <a:spcPct val="100000"/>
                        </a:lnSpc>
                        <a:tabLst>
                          <a:tab pos="111125" algn="l"/>
                        </a:tabLst>
                      </a:pPr>
                      <a:r>
                        <a:rPr lang="en-US" sz="1800" i="1" spc="-20" dirty="0">
                          <a:latin typeface="Meiryo"/>
                          <a:cs typeface="Meiryo"/>
                        </a:rPr>
                        <a:t>-3</a:t>
                      </a:r>
                      <a:r>
                        <a:rPr sz="1800" i="1" dirty="0">
                          <a:latin typeface="Meiryo"/>
                          <a:cs typeface="Meiryo"/>
                        </a:rPr>
                        <a:t>,</a:t>
                      </a:r>
                      <a:r>
                        <a:rPr sz="1800" i="1" spc="-40" dirty="0">
                          <a:latin typeface="Meiryo"/>
                          <a:cs typeface="Meiryo"/>
                        </a:rPr>
                        <a:t> </a:t>
                      </a:r>
                      <a:r>
                        <a:rPr lang="en-US" sz="1800" i="1" spc="-40" dirty="0">
                          <a:latin typeface="Meiryo"/>
                          <a:cs typeface="Meiryo"/>
                        </a:rPr>
                        <a:t>-</a:t>
                      </a:r>
                      <a:r>
                        <a:rPr lang="en-US" sz="1800" i="1" dirty="0">
                          <a:latin typeface="Meiryo"/>
                          <a:cs typeface="Meiryo"/>
                        </a:rPr>
                        <a:t>3</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26" name="object 24">
            <a:extLst>
              <a:ext uri="{FF2B5EF4-FFF2-40B4-BE49-F238E27FC236}">
                <a16:creationId xmlns:a16="http://schemas.microsoft.com/office/drawing/2014/main" id="{66C8D036-DE22-16AE-8F91-92DC17F85AFF}"/>
              </a:ext>
            </a:extLst>
          </p:cNvPr>
          <p:cNvSpPr/>
          <p:nvPr/>
        </p:nvSpPr>
        <p:spPr>
          <a:xfrm>
            <a:off x="2058439" y="2298951"/>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27" name="object 24">
            <a:extLst>
              <a:ext uri="{FF2B5EF4-FFF2-40B4-BE49-F238E27FC236}">
                <a16:creationId xmlns:a16="http://schemas.microsoft.com/office/drawing/2014/main" id="{E450B3BF-1A91-1AA7-2A56-6386C9259033}"/>
              </a:ext>
            </a:extLst>
          </p:cNvPr>
          <p:cNvSpPr/>
          <p:nvPr/>
        </p:nvSpPr>
        <p:spPr>
          <a:xfrm>
            <a:off x="955040" y="2316480"/>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28" name="Slide Number Placeholder 8">
            <a:extLst>
              <a:ext uri="{FF2B5EF4-FFF2-40B4-BE49-F238E27FC236}">
                <a16:creationId xmlns:a16="http://schemas.microsoft.com/office/drawing/2014/main" id="{32C11B7C-020E-CACE-1507-1056918FD2B3}"/>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8</a:t>
            </a:fld>
            <a:r>
              <a:rPr lang="en-US" sz="2000" dirty="0">
                <a:solidFill>
                  <a:prstClr val="black"/>
                </a:solidFill>
                <a:latin typeface="Comic Sans MS"/>
                <a:sym typeface="Comic Sans MS"/>
              </a:rPr>
              <a:t>/46</a:t>
            </a:r>
          </a:p>
        </p:txBody>
      </p:sp>
      <p:sp>
        <p:nvSpPr>
          <p:cNvPr id="29" name="Footer Placeholder 9">
            <a:extLst>
              <a:ext uri="{FF2B5EF4-FFF2-40B4-BE49-F238E27FC236}">
                <a16:creationId xmlns:a16="http://schemas.microsoft.com/office/drawing/2014/main" id="{844D151A-8D9C-94D5-7A46-3761259CF0E9}"/>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30" name="Rectangle 29">
            <a:extLst>
              <a:ext uri="{FF2B5EF4-FFF2-40B4-BE49-F238E27FC236}">
                <a16:creationId xmlns:a16="http://schemas.microsoft.com/office/drawing/2014/main" id="{7B3608EE-D909-5566-BD68-02742F4425FA}"/>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31" name="Rectangle 30">
            <a:extLst>
              <a:ext uri="{FF2B5EF4-FFF2-40B4-BE49-F238E27FC236}">
                <a16:creationId xmlns:a16="http://schemas.microsoft.com/office/drawing/2014/main" id="{6F7D044D-31B8-1ECB-4B1E-525EA814A94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2" name="Rectangle 31">
            <a:extLst>
              <a:ext uri="{FF2B5EF4-FFF2-40B4-BE49-F238E27FC236}">
                <a16:creationId xmlns:a16="http://schemas.microsoft.com/office/drawing/2014/main" id="{4E483595-A3F4-A78B-E0F6-D19E65EC8B8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34F4CF-E751-BBB3-EDCE-0978B28AC943}"/>
                  </a:ext>
                </a:extLst>
              </p:cNvPr>
              <p:cNvSpPr txBox="1"/>
              <p:nvPr/>
            </p:nvSpPr>
            <p:spPr>
              <a:xfrm>
                <a:off x="3443713" y="1600200"/>
                <a:ext cx="5071637" cy="2031325"/>
              </a:xfrm>
              <a:prstGeom prst="rect">
                <a:avLst/>
              </a:prstGeom>
              <a:noFill/>
            </p:spPr>
            <p:txBody>
              <a:bodyPr wrap="square">
                <a:spAutoFit/>
              </a:bodyPr>
              <a:lstStyle/>
              <a:p>
                <a:pPr algn="l"/>
                <a:r>
                  <a:rPr lang="en-US" b="1" i="0" dirty="0">
                    <a:effectLst/>
                    <a:latin typeface="Söhne"/>
                  </a:rPr>
                  <a:t>Pareto Dominance</a:t>
                </a:r>
                <a:r>
                  <a:rPr lang="en-US" b="0" i="0" dirty="0">
                    <a:effectLst/>
                    <a:latin typeface="Söhne"/>
                  </a:rPr>
                  <a:t>: An outcome (</a:t>
                </a:r>
                <a:r>
                  <a:rPr lang="en-US" b="1" i="0" dirty="0">
                    <a:solidFill>
                      <a:srgbClr val="0000FF"/>
                    </a:solidFill>
                    <a:effectLst/>
                    <a:latin typeface="Söhne"/>
                  </a:rPr>
                  <a:t>A</a:t>
                </a:r>
                <a:r>
                  <a:rPr lang="en-US" b="0" i="0" dirty="0">
                    <a:effectLst/>
                    <a:latin typeface="Söhne"/>
                  </a:rPr>
                  <a:t>, </a:t>
                </a:r>
                <a:r>
                  <a:rPr lang="en-US" b="1" i="0" dirty="0">
                    <a:solidFill>
                      <a:srgbClr val="FF0000"/>
                    </a:solidFill>
                    <a:effectLst/>
                    <a:latin typeface="Söhne"/>
                  </a:rPr>
                  <a:t>B</a:t>
                </a:r>
                <a:r>
                  <a:rPr lang="en-US" b="0" i="0" dirty="0">
                    <a:effectLst/>
                    <a:latin typeface="Söhne"/>
                  </a:rPr>
                  <a:t>) Pareto dominates another outcome (</a:t>
                </a:r>
                <a:r>
                  <a:rPr lang="en-US" b="1" i="0" dirty="0">
                    <a:solidFill>
                      <a:srgbClr val="00B050"/>
                    </a:solidFill>
                    <a:effectLst/>
                    <a:latin typeface="Söhne"/>
                  </a:rPr>
                  <a:t>C</a:t>
                </a:r>
                <a:r>
                  <a:rPr lang="en-US" b="0" i="0" dirty="0">
                    <a:effectLst/>
                    <a:latin typeface="Söhne"/>
                  </a:rPr>
                  <a:t>, </a:t>
                </a:r>
                <a:r>
                  <a:rPr lang="en-US" b="1" i="0" dirty="0">
                    <a:solidFill>
                      <a:srgbClr val="7030A0"/>
                    </a:solidFill>
                    <a:effectLst/>
                    <a:latin typeface="Söhne"/>
                  </a:rPr>
                  <a:t>D</a:t>
                </a:r>
                <a:r>
                  <a:rPr lang="en-US" b="0" i="0" dirty="0">
                    <a:effectLst/>
                    <a:latin typeface="Söhne"/>
                  </a:rPr>
                  <a:t>) if and only if both of the following conditions are met:</a:t>
                </a:r>
              </a:p>
              <a:p>
                <a:pPr marL="342900" indent="-342900" algn="l">
                  <a:buClr>
                    <a:schemeClr val="tx1"/>
                  </a:buClr>
                  <a:buFont typeface="+mj-lt"/>
                  <a:buAutoNum type="arabicPeriod"/>
                </a:pPr>
                <a:r>
                  <a:rPr lang="en-US" b="1" dirty="0">
                    <a:solidFill>
                      <a:srgbClr val="0000FF"/>
                    </a:solidFill>
                    <a:latin typeface="Söhne"/>
                  </a:rPr>
                  <a:t>A</a:t>
                </a:r>
                <a:r>
                  <a:rPr lang="en-US" b="0" i="0" dirty="0">
                    <a:effectLst/>
                    <a:latin typeface="Söhne"/>
                  </a:rPr>
                  <a:t> is weakly better </a:t>
                </a:r>
                <a14:m>
                  <m:oMath xmlns:m="http://schemas.openxmlformats.org/officeDocument/2006/math">
                    <m:r>
                      <a:rPr lang="en-US" b="0" i="0" smtClean="0">
                        <a:effectLst/>
                        <a:latin typeface="Cambria Math" panose="02040503050406030204" pitchFamily="18" charset="0"/>
                        <a:ea typeface="Cambria Math" panose="02040503050406030204" pitchFamily="18" charset="0"/>
                      </a:rPr>
                      <m:t>(</m:t>
                    </m:r>
                    <m:r>
                      <a:rPr lang="en-US" b="0" i="1" smtClean="0">
                        <a:effectLst/>
                        <a:latin typeface="Cambria Math" panose="02040503050406030204" pitchFamily="18" charset="0"/>
                        <a:ea typeface="Cambria Math" panose="02040503050406030204" pitchFamily="18" charset="0"/>
                      </a:rPr>
                      <m:t>≥)</m:t>
                    </m:r>
                  </m:oMath>
                </a14:m>
                <a:r>
                  <a:rPr lang="en-US" b="0" i="0" dirty="0">
                    <a:effectLst/>
                    <a:latin typeface="Söhne"/>
                  </a:rPr>
                  <a:t> </a:t>
                </a:r>
                <a:r>
                  <a:rPr lang="en-US" b="1" dirty="0">
                    <a:solidFill>
                      <a:srgbClr val="00B050"/>
                    </a:solidFill>
                    <a:latin typeface="Söhne"/>
                  </a:rPr>
                  <a:t>C</a:t>
                </a:r>
                <a:r>
                  <a:rPr lang="en-US" b="0" i="0" dirty="0">
                    <a:effectLst/>
                    <a:latin typeface="Söhne"/>
                  </a:rPr>
                  <a:t> for both players &amp; </a:t>
                </a:r>
                <a:r>
                  <a:rPr lang="en-US" b="1" dirty="0">
                    <a:solidFill>
                      <a:srgbClr val="FF0000"/>
                    </a:solidFill>
                    <a:latin typeface="Söhne"/>
                  </a:rPr>
                  <a:t>B</a:t>
                </a:r>
                <a:r>
                  <a:rPr lang="en-US" dirty="0">
                    <a:latin typeface="Söhne"/>
                  </a:rPr>
                  <a:t> is strictly better </a:t>
                </a:r>
                <a14:m>
                  <m:oMath xmlns:m="http://schemas.openxmlformats.org/officeDocument/2006/math">
                    <m:r>
                      <a:rPr lang="en-US" b="0" i="0"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&gt;</m:t>
                    </m:r>
                    <m:r>
                      <a:rPr lang="en-US" b="0" i="1" smtClean="0">
                        <a:latin typeface="Cambria Math" panose="02040503050406030204" pitchFamily="18" charset="0"/>
                        <a:ea typeface="Cambria Math" panose="02040503050406030204" pitchFamily="18" charset="0"/>
                      </a:rPr>
                      <m:t>)</m:t>
                    </m:r>
                  </m:oMath>
                </a14:m>
                <a:r>
                  <a:rPr lang="en-US" dirty="0">
                    <a:latin typeface="Söhne"/>
                  </a:rPr>
                  <a:t> </a:t>
                </a:r>
                <a:r>
                  <a:rPr lang="en-US" b="1" dirty="0">
                    <a:solidFill>
                      <a:srgbClr val="7030A0"/>
                    </a:solidFill>
                    <a:latin typeface="Söhne"/>
                  </a:rPr>
                  <a:t>D</a:t>
                </a:r>
                <a:r>
                  <a:rPr lang="en-US" dirty="0">
                    <a:latin typeface="Söhne"/>
                  </a:rPr>
                  <a:t> for both players.</a:t>
                </a:r>
              </a:p>
              <a:p>
                <a:pPr marL="342900" indent="-342900">
                  <a:buClr>
                    <a:schemeClr val="tx1"/>
                  </a:buClr>
                  <a:buFont typeface="+mj-lt"/>
                  <a:buAutoNum type="arabicPeriod"/>
                </a:pPr>
                <a:r>
                  <a:rPr lang="en-US" b="1" dirty="0">
                    <a:solidFill>
                      <a:srgbClr val="FF0000"/>
                    </a:solidFill>
                    <a:latin typeface="Söhne"/>
                  </a:rPr>
                  <a:t>B</a:t>
                </a:r>
                <a:r>
                  <a:rPr lang="en-US" b="0" i="0" dirty="0">
                    <a:effectLst/>
                    <a:latin typeface="Söhne"/>
                  </a:rPr>
                  <a:t> is weakly better </a:t>
                </a:r>
                <a14:m>
                  <m:oMath xmlns:m="http://schemas.openxmlformats.org/officeDocument/2006/math">
                    <m:r>
                      <a:rPr lang="en-US" b="0" i="0" smtClean="0">
                        <a:effectLst/>
                        <a:latin typeface="Cambria Math" panose="02040503050406030204" pitchFamily="18" charset="0"/>
                        <a:ea typeface="Cambria Math" panose="02040503050406030204" pitchFamily="18" charset="0"/>
                      </a:rPr>
                      <m:t>(</m:t>
                    </m:r>
                    <m:r>
                      <a:rPr lang="en-US" b="0" i="1" smtClean="0">
                        <a:effectLst/>
                        <a:latin typeface="Cambria Math" panose="02040503050406030204" pitchFamily="18" charset="0"/>
                        <a:ea typeface="Cambria Math" panose="02040503050406030204" pitchFamily="18" charset="0"/>
                      </a:rPr>
                      <m:t>≥)</m:t>
                    </m:r>
                  </m:oMath>
                </a14:m>
                <a:r>
                  <a:rPr lang="en-US" b="0" i="0" dirty="0">
                    <a:effectLst/>
                    <a:latin typeface="Söhne"/>
                  </a:rPr>
                  <a:t> </a:t>
                </a:r>
                <a:r>
                  <a:rPr lang="en-US" b="1" dirty="0">
                    <a:solidFill>
                      <a:srgbClr val="7030A0"/>
                    </a:solidFill>
                    <a:latin typeface="Söhne"/>
                  </a:rPr>
                  <a:t>D</a:t>
                </a:r>
                <a:r>
                  <a:rPr lang="en-US" b="0" i="0" dirty="0">
                    <a:effectLst/>
                    <a:latin typeface="Söhne"/>
                  </a:rPr>
                  <a:t> for both players &amp; </a:t>
                </a:r>
                <a:r>
                  <a:rPr lang="en-US" b="1" dirty="0">
                    <a:solidFill>
                      <a:srgbClr val="0000FF"/>
                    </a:solidFill>
                    <a:latin typeface="Söhne"/>
                  </a:rPr>
                  <a:t>A</a:t>
                </a:r>
                <a:r>
                  <a:rPr lang="en-US" dirty="0">
                    <a:latin typeface="Söhne"/>
                  </a:rPr>
                  <a:t> is strictly better </a:t>
                </a:r>
                <a14:m>
                  <m:oMath xmlns:m="http://schemas.openxmlformats.org/officeDocument/2006/math">
                    <m:r>
                      <a:rPr lang="en-US" b="0" i="0"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&gt;</m:t>
                    </m:r>
                    <m:r>
                      <a:rPr lang="en-US" b="0" i="1" smtClean="0">
                        <a:latin typeface="Cambria Math" panose="02040503050406030204" pitchFamily="18" charset="0"/>
                        <a:ea typeface="Cambria Math" panose="02040503050406030204" pitchFamily="18" charset="0"/>
                      </a:rPr>
                      <m:t>)</m:t>
                    </m:r>
                  </m:oMath>
                </a14:m>
                <a:r>
                  <a:rPr lang="en-US" dirty="0">
                    <a:latin typeface="Söhne"/>
                  </a:rPr>
                  <a:t> </a:t>
                </a:r>
                <a:r>
                  <a:rPr lang="en-US" b="1" dirty="0">
                    <a:solidFill>
                      <a:srgbClr val="00B050"/>
                    </a:solidFill>
                    <a:latin typeface="Söhne"/>
                  </a:rPr>
                  <a:t>C</a:t>
                </a:r>
                <a:r>
                  <a:rPr lang="en-US" dirty="0">
                    <a:latin typeface="Söhne"/>
                  </a:rPr>
                  <a:t> for both players.</a:t>
                </a:r>
              </a:p>
            </p:txBody>
          </p:sp>
        </mc:Choice>
        <mc:Fallback xmlns="">
          <p:sp>
            <p:nvSpPr>
              <p:cNvPr id="3" name="TextBox 2">
                <a:extLst>
                  <a:ext uri="{FF2B5EF4-FFF2-40B4-BE49-F238E27FC236}">
                    <a16:creationId xmlns:a16="http://schemas.microsoft.com/office/drawing/2014/main" id="{6D34F4CF-E751-BBB3-EDCE-0978B28AC943}"/>
                  </a:ext>
                </a:extLst>
              </p:cNvPr>
              <p:cNvSpPr txBox="1">
                <a:spLocks noRot="1" noChangeAspect="1" noMove="1" noResize="1" noEditPoints="1" noAdjustHandles="1" noChangeArrowheads="1" noChangeShapeType="1" noTextEdit="1"/>
              </p:cNvSpPr>
              <p:nvPr/>
            </p:nvSpPr>
            <p:spPr>
              <a:xfrm>
                <a:off x="3443713" y="1600200"/>
                <a:ext cx="5071637" cy="2031325"/>
              </a:xfrm>
              <a:prstGeom prst="rect">
                <a:avLst/>
              </a:prstGeom>
              <a:blipFill>
                <a:blip r:embed="rId3"/>
                <a:stretch>
                  <a:fillRect l="-1082" t="-1802" b="-3604"/>
                </a:stretch>
              </a:blipFill>
            </p:spPr>
            <p:txBody>
              <a:bodyPr/>
              <a:lstStyle/>
              <a:p>
                <a:r>
                  <a:rPr lang="en-US">
                    <a:noFill/>
                  </a:rPr>
                  <a:t> </a:t>
                </a:r>
              </a:p>
            </p:txBody>
          </p:sp>
        </mc:Fallback>
      </mc:AlternateContent>
      <p:sp>
        <p:nvSpPr>
          <p:cNvPr id="4" name="object 24">
            <a:extLst>
              <a:ext uri="{FF2B5EF4-FFF2-40B4-BE49-F238E27FC236}">
                <a16:creationId xmlns:a16="http://schemas.microsoft.com/office/drawing/2014/main" id="{178C82BC-6448-4CE2-C738-F8DABB00F475}"/>
              </a:ext>
            </a:extLst>
          </p:cNvPr>
          <p:cNvSpPr/>
          <p:nvPr/>
        </p:nvSpPr>
        <p:spPr>
          <a:xfrm>
            <a:off x="991578" y="3096630"/>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0" name="TextBox 9">
            <a:extLst>
              <a:ext uri="{FF2B5EF4-FFF2-40B4-BE49-F238E27FC236}">
                <a16:creationId xmlns:a16="http://schemas.microsoft.com/office/drawing/2014/main" id="{64B60990-CA87-7D62-DFE0-C54F90FBBD57}"/>
              </a:ext>
            </a:extLst>
          </p:cNvPr>
          <p:cNvSpPr txBox="1"/>
          <p:nvPr/>
        </p:nvSpPr>
        <p:spPr>
          <a:xfrm>
            <a:off x="3582537" y="3817856"/>
            <a:ext cx="4485529" cy="646331"/>
          </a:xfrm>
          <a:prstGeom prst="rect">
            <a:avLst/>
          </a:prstGeom>
          <a:solidFill>
            <a:schemeClr val="bg2">
              <a:lumMod val="90000"/>
            </a:schemeClr>
          </a:solidFill>
        </p:spPr>
        <p:txBody>
          <a:bodyPr wrap="square">
            <a:spAutoFit/>
          </a:bodyPr>
          <a:lstStyle>
            <a:defPPr>
              <a:defRPr lang="en-US"/>
            </a:defPPr>
            <a:lvl1pPr>
              <a:defRPr b="0" i="0" u="none" strike="noStrike" baseline="0">
                <a:latin typeface="Times New Roman" panose="02020603050405020304" pitchFamily="18" charset="0"/>
              </a:defRPr>
            </a:lvl1pPr>
          </a:lstStyle>
          <a:p>
            <a:r>
              <a:rPr lang="en-US" dirty="0"/>
              <a:t>(D, D) is the only Pareto-dominated outcome, hence the only non-Pareto-optimal outcome.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p:nvPr/>
        </p:nvSpPr>
        <p:spPr>
          <a:xfrm>
            <a:off x="0" y="1323965"/>
            <a:ext cx="8515350" cy="1924"/>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572412"/>
            <a:ext cx="8221344" cy="436118"/>
          </a:xfrm>
          <a:prstGeom prst="rect">
            <a:avLst/>
          </a:prstGeom>
        </p:spPr>
        <p:txBody>
          <a:bodyPr vert="horz" wrap="square" lIns="0" tIns="0" rIns="0" bIns="0" rtlCol="0">
            <a:spAutoFit/>
          </a:bodyPr>
          <a:lstStyle/>
          <a:p>
            <a:pPr marL="12700">
              <a:lnSpc>
                <a:spcPct val="100000"/>
              </a:lnSpc>
            </a:pPr>
            <a:r>
              <a:rPr dirty="0"/>
              <a:t>Pare</a:t>
            </a:r>
            <a:r>
              <a:rPr spc="-15" dirty="0"/>
              <a:t>t</a:t>
            </a:r>
            <a:r>
              <a:rPr dirty="0"/>
              <a:t>o</a:t>
            </a:r>
            <a:r>
              <a:rPr spc="-5" dirty="0"/>
              <a:t> </a:t>
            </a:r>
            <a:r>
              <a:rPr spc="-30" dirty="0"/>
              <a:t>O</a:t>
            </a:r>
            <a:r>
              <a:rPr dirty="0"/>
              <a:t>p</a:t>
            </a:r>
            <a:r>
              <a:rPr spc="-15" dirty="0"/>
              <a:t>t</a:t>
            </a:r>
            <a:r>
              <a:rPr dirty="0"/>
              <a:t>imali</a:t>
            </a:r>
            <a:r>
              <a:rPr spc="-15" dirty="0"/>
              <a:t>t</a:t>
            </a:r>
            <a:r>
              <a:rPr dirty="0"/>
              <a:t>y</a:t>
            </a:r>
          </a:p>
        </p:txBody>
      </p:sp>
      <p:sp>
        <p:nvSpPr>
          <p:cNvPr id="6" name="object 6"/>
          <p:cNvSpPr txBox="1"/>
          <p:nvPr/>
        </p:nvSpPr>
        <p:spPr>
          <a:xfrm>
            <a:off x="434130" y="5017776"/>
            <a:ext cx="6804559" cy="369332"/>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sz="2400" spc="-20" dirty="0">
                <a:latin typeface="Times New Roman"/>
                <a:cs typeface="Times New Roman"/>
              </a:rPr>
              <a:t>Ca</a:t>
            </a:r>
            <a:r>
              <a:rPr sz="2400" dirty="0">
                <a:latin typeface="Times New Roman"/>
                <a:cs typeface="Times New Roman"/>
              </a:rPr>
              <a:t>n </a:t>
            </a:r>
            <a:r>
              <a:rPr sz="2400" spc="-10" dirty="0">
                <a:latin typeface="Times New Roman"/>
                <a:cs typeface="Times New Roman"/>
              </a:rPr>
              <a:t>th</a:t>
            </a:r>
            <a:r>
              <a:rPr sz="2400" spc="-20" dirty="0">
                <a:latin typeface="Times New Roman"/>
                <a:cs typeface="Times New Roman"/>
              </a:rPr>
              <a:t>e</a:t>
            </a:r>
            <a:r>
              <a:rPr sz="2400" spc="-10" dirty="0">
                <a:latin typeface="Times New Roman"/>
                <a:cs typeface="Times New Roman"/>
              </a:rPr>
              <a:t>re</a:t>
            </a:r>
            <a:r>
              <a:rPr sz="2400" spc="-5" dirty="0">
                <a:latin typeface="Times New Roman"/>
                <a:cs typeface="Times New Roman"/>
              </a:rPr>
              <a:t> </a:t>
            </a:r>
            <a:r>
              <a:rPr sz="2400" spc="-15" dirty="0">
                <a:latin typeface="Times New Roman"/>
                <a:cs typeface="Times New Roman"/>
              </a:rPr>
              <a:t>be</a:t>
            </a:r>
            <a:r>
              <a:rPr sz="2400" spc="-5" dirty="0">
                <a:latin typeface="Times New Roman"/>
                <a:cs typeface="Times New Roman"/>
              </a:rPr>
              <a:t> </a:t>
            </a:r>
            <a:r>
              <a:rPr sz="2400" spc="-15" dirty="0">
                <a:latin typeface="Times New Roman"/>
                <a:cs typeface="Times New Roman"/>
              </a:rPr>
              <a:t>a</a:t>
            </a:r>
            <a:r>
              <a:rPr sz="2400" spc="-5" dirty="0">
                <a:latin typeface="Times New Roman"/>
                <a:cs typeface="Times New Roman"/>
              </a:rPr>
              <a:t> </a:t>
            </a:r>
            <a:r>
              <a:rPr sz="2400" spc="-15" dirty="0">
                <a:latin typeface="Times New Roman"/>
                <a:cs typeface="Times New Roman"/>
              </a:rPr>
              <a:t>g</a:t>
            </a:r>
            <a:r>
              <a:rPr sz="2400" spc="-20" dirty="0">
                <a:latin typeface="Times New Roman"/>
                <a:cs typeface="Times New Roman"/>
              </a:rPr>
              <a:t>a</a:t>
            </a:r>
            <a:r>
              <a:rPr sz="2400" spc="-15" dirty="0">
                <a:latin typeface="Times New Roman"/>
                <a:cs typeface="Times New Roman"/>
              </a:rPr>
              <a:t>me</a:t>
            </a:r>
            <a:r>
              <a:rPr sz="2400" spc="-5" dirty="0">
                <a:latin typeface="Times New Roman"/>
                <a:cs typeface="Times New Roman"/>
              </a:rPr>
              <a:t> </a:t>
            </a:r>
            <a:r>
              <a:rPr sz="2400" dirty="0">
                <a:latin typeface="Times New Roman"/>
                <a:cs typeface="Times New Roman"/>
              </a:rPr>
              <a:t>w</a:t>
            </a:r>
            <a:r>
              <a:rPr sz="2400" spc="-10" dirty="0">
                <a:latin typeface="Times New Roman"/>
                <a:cs typeface="Times New Roman"/>
              </a:rPr>
              <a:t>it</a:t>
            </a:r>
            <a:r>
              <a:rPr sz="2400" dirty="0">
                <a:latin typeface="Times New Roman"/>
                <a:cs typeface="Times New Roman"/>
              </a:rPr>
              <a:t>h no </a:t>
            </a:r>
            <a:r>
              <a:rPr lang="en-US" sz="2400" spc="-15" dirty="0">
                <a:latin typeface="Times New Roman"/>
                <a:cs typeface="Times New Roman"/>
              </a:rPr>
              <a:t>Pareto-optimal</a:t>
            </a:r>
            <a:r>
              <a:rPr sz="2400" dirty="0">
                <a:latin typeface="Times New Roman"/>
                <a:cs typeface="Times New Roman"/>
              </a:rPr>
              <a:t> </a:t>
            </a:r>
            <a:r>
              <a:rPr sz="2400" spc="-15" dirty="0">
                <a:latin typeface="Times New Roman"/>
                <a:cs typeface="Times New Roman"/>
              </a:rPr>
              <a:t>out</a:t>
            </a:r>
            <a:r>
              <a:rPr sz="2400" spc="-20" dirty="0">
                <a:latin typeface="Times New Roman"/>
                <a:cs typeface="Times New Roman"/>
              </a:rPr>
              <a:t>come</a:t>
            </a:r>
            <a:r>
              <a:rPr sz="2400" spc="-15" dirty="0">
                <a:latin typeface="Times New Roman"/>
                <a:cs typeface="Times New Roman"/>
              </a:rPr>
              <a:t>?</a:t>
            </a:r>
            <a:endParaRPr sz="2400" dirty="0">
              <a:latin typeface="Times New Roman"/>
              <a:cs typeface="Times New Roman"/>
            </a:endParaRPr>
          </a:p>
        </p:txBody>
      </p:sp>
      <p:sp>
        <p:nvSpPr>
          <p:cNvPr id="7" name="Slide Number Placeholder 8">
            <a:extLst>
              <a:ext uri="{FF2B5EF4-FFF2-40B4-BE49-F238E27FC236}">
                <a16:creationId xmlns:a16="http://schemas.microsoft.com/office/drawing/2014/main" id="{483C1902-4381-E331-2309-B222786EC357}"/>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9</a:t>
            </a:fld>
            <a:r>
              <a:rPr lang="en-US" sz="2000" dirty="0">
                <a:solidFill>
                  <a:prstClr val="black"/>
                </a:solidFill>
                <a:latin typeface="Comic Sans MS"/>
                <a:sym typeface="Comic Sans MS"/>
              </a:rPr>
              <a:t>/46</a:t>
            </a:r>
          </a:p>
        </p:txBody>
      </p:sp>
      <p:sp>
        <p:nvSpPr>
          <p:cNvPr id="8" name="Footer Placeholder 9">
            <a:extLst>
              <a:ext uri="{FF2B5EF4-FFF2-40B4-BE49-F238E27FC236}">
                <a16:creationId xmlns:a16="http://schemas.microsoft.com/office/drawing/2014/main" id="{759D7DC1-B1D2-DE01-37E3-FED1740EA6E7}"/>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06CFEF30-F070-1E19-C1B4-FE041B5E5D9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0" name="Rectangle 9">
            <a:extLst>
              <a:ext uri="{FF2B5EF4-FFF2-40B4-BE49-F238E27FC236}">
                <a16:creationId xmlns:a16="http://schemas.microsoft.com/office/drawing/2014/main" id="{A205DEC7-6384-C570-2CB5-C7BE0EB2C87E}"/>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6F856837-5D4A-01E9-0766-1C5D3B6D010C}"/>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1B0FBC59-4DED-4D05-1BD2-E5297F4C3880}"/>
              </a:ext>
            </a:extLst>
          </p:cNvPr>
          <p:cNvSpPr txBox="1"/>
          <p:nvPr/>
        </p:nvSpPr>
        <p:spPr>
          <a:xfrm>
            <a:off x="1295400" y="5537885"/>
            <a:ext cx="5316220" cy="369332"/>
          </a:xfrm>
          <a:prstGeom prst="rect">
            <a:avLst/>
          </a:prstGeom>
          <a:noFill/>
        </p:spPr>
        <p:txBody>
          <a:bodyPr wrap="square">
            <a:spAutoFit/>
          </a:bodyPr>
          <a:lstStyle/>
          <a:p>
            <a:r>
              <a:rPr lang="en-US" b="0" i="0" dirty="0">
                <a:effectLst/>
                <a:latin typeface="Söhne"/>
              </a:rPr>
              <a:t>The outcome that is not dominated, is Pareto optimal</a:t>
            </a:r>
            <a:endParaRPr lang="en-US" dirty="0"/>
          </a:p>
        </p:txBody>
      </p:sp>
      <p:sp>
        <p:nvSpPr>
          <p:cNvPr id="12" name="Oval 11">
            <a:extLst>
              <a:ext uri="{FF2B5EF4-FFF2-40B4-BE49-F238E27FC236}">
                <a16:creationId xmlns:a16="http://schemas.microsoft.com/office/drawing/2014/main" id="{A7502D66-3EB9-9FBB-3008-F07FBD8A120F}"/>
              </a:ext>
            </a:extLst>
          </p:cNvPr>
          <p:cNvSpPr/>
          <p:nvPr/>
        </p:nvSpPr>
        <p:spPr>
          <a:xfrm>
            <a:off x="520179" y="2108868"/>
            <a:ext cx="500498" cy="500923"/>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1" dirty="0"/>
              <a:t>A</a:t>
            </a:r>
          </a:p>
        </p:txBody>
      </p:sp>
      <p:sp>
        <p:nvSpPr>
          <p:cNvPr id="13" name="Oval 12">
            <a:extLst>
              <a:ext uri="{FF2B5EF4-FFF2-40B4-BE49-F238E27FC236}">
                <a16:creationId xmlns:a16="http://schemas.microsoft.com/office/drawing/2014/main" id="{2FDF94B5-62DB-0B6E-1070-B6311CEB97E0}"/>
              </a:ext>
            </a:extLst>
          </p:cNvPr>
          <p:cNvSpPr/>
          <p:nvPr/>
        </p:nvSpPr>
        <p:spPr>
          <a:xfrm>
            <a:off x="1739379" y="2108868"/>
            <a:ext cx="500498" cy="500923"/>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B</a:t>
            </a:r>
          </a:p>
        </p:txBody>
      </p:sp>
      <p:sp>
        <p:nvSpPr>
          <p:cNvPr id="14" name="Oval 13">
            <a:extLst>
              <a:ext uri="{FF2B5EF4-FFF2-40B4-BE49-F238E27FC236}">
                <a16:creationId xmlns:a16="http://schemas.microsoft.com/office/drawing/2014/main" id="{F6955F64-8B80-8DA9-A8AD-6A1AFA0E895F}"/>
              </a:ext>
            </a:extLst>
          </p:cNvPr>
          <p:cNvSpPr/>
          <p:nvPr/>
        </p:nvSpPr>
        <p:spPr>
          <a:xfrm>
            <a:off x="2958579" y="2125759"/>
            <a:ext cx="500498" cy="500923"/>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000" dirty="0"/>
              <a:t>C</a:t>
            </a:r>
          </a:p>
        </p:txBody>
      </p:sp>
      <p:sp>
        <p:nvSpPr>
          <p:cNvPr id="15" name="Oval 14">
            <a:extLst>
              <a:ext uri="{FF2B5EF4-FFF2-40B4-BE49-F238E27FC236}">
                <a16:creationId xmlns:a16="http://schemas.microsoft.com/office/drawing/2014/main" id="{0E6EA615-C1DB-FC92-1993-31288C1879BB}"/>
              </a:ext>
            </a:extLst>
          </p:cNvPr>
          <p:cNvSpPr/>
          <p:nvPr/>
        </p:nvSpPr>
        <p:spPr>
          <a:xfrm>
            <a:off x="4177779" y="2108868"/>
            <a:ext cx="500498" cy="500923"/>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dirty="0"/>
              <a:t>D</a:t>
            </a:r>
          </a:p>
        </p:txBody>
      </p:sp>
      <p:cxnSp>
        <p:nvCxnSpPr>
          <p:cNvPr id="18" name="Connector: Curved 17">
            <a:extLst>
              <a:ext uri="{FF2B5EF4-FFF2-40B4-BE49-F238E27FC236}">
                <a16:creationId xmlns:a16="http://schemas.microsoft.com/office/drawing/2014/main" id="{0B6FE6A6-16AC-7251-23B4-71D4A4407281}"/>
              </a:ext>
            </a:extLst>
          </p:cNvPr>
          <p:cNvCxnSpPr>
            <a:stCxn id="14" idx="4"/>
            <a:endCxn id="12" idx="4"/>
          </p:cNvCxnSpPr>
          <p:nvPr/>
        </p:nvCxnSpPr>
        <p:spPr>
          <a:xfrm rot="5400000" flipH="1">
            <a:off x="1981182" y="1399037"/>
            <a:ext cx="16891" cy="2438400"/>
          </a:xfrm>
          <a:prstGeom prst="curvedConnector3">
            <a:avLst>
              <a:gd name="adj1" fmla="val -1353383"/>
            </a:avLst>
          </a:prstGeom>
          <a:ln w="1905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F113F87-5BE7-CFFE-C500-0D1F140355FB}"/>
              </a:ext>
            </a:extLst>
          </p:cNvPr>
          <p:cNvCxnSpPr>
            <a:stCxn id="12" idx="7"/>
            <a:endCxn id="12" idx="3"/>
          </p:cNvCxnSpPr>
          <p:nvPr/>
        </p:nvCxnSpPr>
        <p:spPr>
          <a:xfrm flipH="1">
            <a:off x="593475" y="2182226"/>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312F360-9202-C8D9-433B-DA61C3018403}"/>
              </a:ext>
            </a:extLst>
          </p:cNvPr>
          <p:cNvCxnSpPr>
            <a:stCxn id="12" idx="1"/>
            <a:endCxn id="12" idx="5"/>
          </p:cNvCxnSpPr>
          <p:nvPr/>
        </p:nvCxnSpPr>
        <p:spPr>
          <a:xfrm>
            <a:off x="593475" y="2182226"/>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45EF99B6-4027-556A-F369-E891A5E64BD2}"/>
              </a:ext>
            </a:extLst>
          </p:cNvPr>
          <p:cNvSpPr/>
          <p:nvPr/>
        </p:nvSpPr>
        <p:spPr>
          <a:xfrm>
            <a:off x="520179" y="1445294"/>
            <a:ext cx="500498" cy="500923"/>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1" dirty="0"/>
              <a:t>A</a:t>
            </a:r>
          </a:p>
        </p:txBody>
      </p:sp>
      <p:sp>
        <p:nvSpPr>
          <p:cNvPr id="26" name="Oval 25">
            <a:extLst>
              <a:ext uri="{FF2B5EF4-FFF2-40B4-BE49-F238E27FC236}">
                <a16:creationId xmlns:a16="http://schemas.microsoft.com/office/drawing/2014/main" id="{4D8892B2-7725-F867-E601-3B405E16F6D1}"/>
              </a:ext>
            </a:extLst>
          </p:cNvPr>
          <p:cNvSpPr/>
          <p:nvPr/>
        </p:nvSpPr>
        <p:spPr>
          <a:xfrm>
            <a:off x="1739379" y="1445294"/>
            <a:ext cx="500498" cy="500923"/>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B</a:t>
            </a:r>
          </a:p>
        </p:txBody>
      </p:sp>
      <p:sp>
        <p:nvSpPr>
          <p:cNvPr id="27" name="Oval 26">
            <a:extLst>
              <a:ext uri="{FF2B5EF4-FFF2-40B4-BE49-F238E27FC236}">
                <a16:creationId xmlns:a16="http://schemas.microsoft.com/office/drawing/2014/main" id="{7E966FFA-3E7A-46F5-9605-A6FEAE2B46FD}"/>
              </a:ext>
            </a:extLst>
          </p:cNvPr>
          <p:cNvSpPr/>
          <p:nvPr/>
        </p:nvSpPr>
        <p:spPr>
          <a:xfrm>
            <a:off x="2958579" y="1462185"/>
            <a:ext cx="500498" cy="500923"/>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000" dirty="0"/>
              <a:t>C</a:t>
            </a:r>
          </a:p>
        </p:txBody>
      </p:sp>
      <p:sp>
        <p:nvSpPr>
          <p:cNvPr id="28" name="Oval 27">
            <a:extLst>
              <a:ext uri="{FF2B5EF4-FFF2-40B4-BE49-F238E27FC236}">
                <a16:creationId xmlns:a16="http://schemas.microsoft.com/office/drawing/2014/main" id="{44D327F9-F56C-94BD-ECC9-5FDE0957EB79}"/>
              </a:ext>
            </a:extLst>
          </p:cNvPr>
          <p:cNvSpPr/>
          <p:nvPr/>
        </p:nvSpPr>
        <p:spPr>
          <a:xfrm>
            <a:off x="4177779" y="1445294"/>
            <a:ext cx="500498" cy="500923"/>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dirty="0"/>
              <a:t>D</a:t>
            </a:r>
          </a:p>
        </p:txBody>
      </p:sp>
      <p:sp>
        <p:nvSpPr>
          <p:cNvPr id="32" name="Oval 31">
            <a:extLst>
              <a:ext uri="{FF2B5EF4-FFF2-40B4-BE49-F238E27FC236}">
                <a16:creationId xmlns:a16="http://schemas.microsoft.com/office/drawing/2014/main" id="{1E84FD5C-60AE-0AB6-8703-458E100820CA}"/>
              </a:ext>
            </a:extLst>
          </p:cNvPr>
          <p:cNvSpPr/>
          <p:nvPr/>
        </p:nvSpPr>
        <p:spPr>
          <a:xfrm>
            <a:off x="520179" y="3016928"/>
            <a:ext cx="500498" cy="500923"/>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1" dirty="0"/>
              <a:t>A</a:t>
            </a:r>
          </a:p>
        </p:txBody>
      </p:sp>
      <p:sp>
        <p:nvSpPr>
          <p:cNvPr id="33" name="Oval 32">
            <a:extLst>
              <a:ext uri="{FF2B5EF4-FFF2-40B4-BE49-F238E27FC236}">
                <a16:creationId xmlns:a16="http://schemas.microsoft.com/office/drawing/2014/main" id="{B19EAD4E-1661-6842-CC0C-9FB5EEECC67C}"/>
              </a:ext>
            </a:extLst>
          </p:cNvPr>
          <p:cNvSpPr/>
          <p:nvPr/>
        </p:nvSpPr>
        <p:spPr>
          <a:xfrm>
            <a:off x="1739379" y="3016928"/>
            <a:ext cx="500498" cy="500923"/>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B</a:t>
            </a:r>
          </a:p>
        </p:txBody>
      </p:sp>
      <p:sp>
        <p:nvSpPr>
          <p:cNvPr id="34" name="Oval 33">
            <a:extLst>
              <a:ext uri="{FF2B5EF4-FFF2-40B4-BE49-F238E27FC236}">
                <a16:creationId xmlns:a16="http://schemas.microsoft.com/office/drawing/2014/main" id="{BBED7CBC-ECA9-5BEC-611C-85C665B225F5}"/>
              </a:ext>
            </a:extLst>
          </p:cNvPr>
          <p:cNvSpPr/>
          <p:nvPr/>
        </p:nvSpPr>
        <p:spPr>
          <a:xfrm>
            <a:off x="2958579" y="3033819"/>
            <a:ext cx="500498" cy="500923"/>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000" dirty="0"/>
              <a:t>C</a:t>
            </a:r>
          </a:p>
        </p:txBody>
      </p:sp>
      <p:sp>
        <p:nvSpPr>
          <p:cNvPr id="35" name="Oval 34">
            <a:extLst>
              <a:ext uri="{FF2B5EF4-FFF2-40B4-BE49-F238E27FC236}">
                <a16:creationId xmlns:a16="http://schemas.microsoft.com/office/drawing/2014/main" id="{15387DCC-AE1F-218B-F47D-05B1971E5398}"/>
              </a:ext>
            </a:extLst>
          </p:cNvPr>
          <p:cNvSpPr/>
          <p:nvPr/>
        </p:nvSpPr>
        <p:spPr>
          <a:xfrm>
            <a:off x="4177779" y="3016928"/>
            <a:ext cx="500498" cy="500923"/>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dirty="0"/>
              <a:t>D</a:t>
            </a:r>
          </a:p>
        </p:txBody>
      </p:sp>
      <p:cxnSp>
        <p:nvCxnSpPr>
          <p:cNvPr id="36" name="Connector: Curved 35">
            <a:extLst>
              <a:ext uri="{FF2B5EF4-FFF2-40B4-BE49-F238E27FC236}">
                <a16:creationId xmlns:a16="http://schemas.microsoft.com/office/drawing/2014/main" id="{736AEA91-D216-89FF-85E4-93D85B309F84}"/>
              </a:ext>
            </a:extLst>
          </p:cNvPr>
          <p:cNvCxnSpPr>
            <a:stCxn id="34" idx="4"/>
            <a:endCxn id="32" idx="4"/>
          </p:cNvCxnSpPr>
          <p:nvPr/>
        </p:nvCxnSpPr>
        <p:spPr>
          <a:xfrm rot="5400000" flipH="1">
            <a:off x="1981182" y="2307097"/>
            <a:ext cx="16891" cy="2438400"/>
          </a:xfrm>
          <a:prstGeom prst="curvedConnector3">
            <a:avLst>
              <a:gd name="adj1" fmla="val -1353383"/>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A5CCCC3-BF35-E9EA-588D-F8FEC24B74A8}"/>
              </a:ext>
            </a:extLst>
          </p:cNvPr>
          <p:cNvCxnSpPr>
            <a:stCxn id="32" idx="7"/>
            <a:endCxn id="32" idx="3"/>
          </p:cNvCxnSpPr>
          <p:nvPr/>
        </p:nvCxnSpPr>
        <p:spPr>
          <a:xfrm flipH="1">
            <a:off x="593475" y="3090286"/>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350BD0D-4F4E-609B-091F-391658A189E9}"/>
              </a:ext>
            </a:extLst>
          </p:cNvPr>
          <p:cNvCxnSpPr>
            <a:stCxn id="32" idx="1"/>
            <a:endCxn id="32" idx="5"/>
          </p:cNvCxnSpPr>
          <p:nvPr/>
        </p:nvCxnSpPr>
        <p:spPr>
          <a:xfrm>
            <a:off x="593475" y="3090286"/>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Connector: Curved 38">
            <a:extLst>
              <a:ext uri="{FF2B5EF4-FFF2-40B4-BE49-F238E27FC236}">
                <a16:creationId xmlns:a16="http://schemas.microsoft.com/office/drawing/2014/main" id="{98629031-476A-DFDB-1364-E58CACE5DE56}"/>
              </a:ext>
            </a:extLst>
          </p:cNvPr>
          <p:cNvCxnSpPr>
            <a:cxnSpLocks/>
            <a:stCxn id="35" idx="4"/>
            <a:endCxn id="33" idx="4"/>
          </p:cNvCxnSpPr>
          <p:nvPr/>
        </p:nvCxnSpPr>
        <p:spPr>
          <a:xfrm rot="5400000">
            <a:off x="3208828" y="2298651"/>
            <a:ext cx="12700" cy="2438400"/>
          </a:xfrm>
          <a:prstGeom prst="curvedConnector3">
            <a:avLst>
              <a:gd name="adj1" fmla="val 1800000"/>
            </a:avLst>
          </a:prstGeom>
          <a:ln w="1905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4256270-252A-3E6E-B09A-B181E203EFE5}"/>
              </a:ext>
            </a:extLst>
          </p:cNvPr>
          <p:cNvCxnSpPr>
            <a:cxnSpLocks/>
            <a:stCxn id="33" idx="7"/>
            <a:endCxn id="33" idx="3"/>
          </p:cNvCxnSpPr>
          <p:nvPr/>
        </p:nvCxnSpPr>
        <p:spPr>
          <a:xfrm flipH="1">
            <a:off x="1812675" y="3090286"/>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FD24E85-8DD5-998F-4C85-495D7442B14F}"/>
              </a:ext>
            </a:extLst>
          </p:cNvPr>
          <p:cNvCxnSpPr>
            <a:cxnSpLocks/>
            <a:stCxn id="33" idx="1"/>
            <a:endCxn id="33" idx="5"/>
          </p:cNvCxnSpPr>
          <p:nvPr/>
        </p:nvCxnSpPr>
        <p:spPr>
          <a:xfrm>
            <a:off x="1812675" y="3090286"/>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A16C8643-0F4A-C642-E338-0A506FB69A8F}"/>
              </a:ext>
            </a:extLst>
          </p:cNvPr>
          <p:cNvSpPr/>
          <p:nvPr/>
        </p:nvSpPr>
        <p:spPr>
          <a:xfrm>
            <a:off x="520179" y="3921938"/>
            <a:ext cx="500498" cy="500923"/>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b="1" dirty="0"/>
              <a:t>A</a:t>
            </a:r>
          </a:p>
        </p:txBody>
      </p:sp>
      <p:sp>
        <p:nvSpPr>
          <p:cNvPr id="49" name="Oval 48">
            <a:extLst>
              <a:ext uri="{FF2B5EF4-FFF2-40B4-BE49-F238E27FC236}">
                <a16:creationId xmlns:a16="http://schemas.microsoft.com/office/drawing/2014/main" id="{77E931BE-A92B-865B-7E48-84DA1F27C456}"/>
              </a:ext>
            </a:extLst>
          </p:cNvPr>
          <p:cNvSpPr/>
          <p:nvPr/>
        </p:nvSpPr>
        <p:spPr>
          <a:xfrm>
            <a:off x="1739379" y="3921938"/>
            <a:ext cx="500498" cy="500923"/>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B</a:t>
            </a:r>
          </a:p>
        </p:txBody>
      </p:sp>
      <p:sp>
        <p:nvSpPr>
          <p:cNvPr id="50" name="Oval 49">
            <a:extLst>
              <a:ext uri="{FF2B5EF4-FFF2-40B4-BE49-F238E27FC236}">
                <a16:creationId xmlns:a16="http://schemas.microsoft.com/office/drawing/2014/main" id="{902B7DE4-AF5A-116E-2285-2DB739545B6D}"/>
              </a:ext>
            </a:extLst>
          </p:cNvPr>
          <p:cNvSpPr/>
          <p:nvPr/>
        </p:nvSpPr>
        <p:spPr>
          <a:xfrm>
            <a:off x="2958579" y="3938829"/>
            <a:ext cx="500498" cy="500923"/>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000" dirty="0"/>
              <a:t>C</a:t>
            </a:r>
          </a:p>
        </p:txBody>
      </p:sp>
      <p:sp>
        <p:nvSpPr>
          <p:cNvPr id="51" name="Oval 50">
            <a:extLst>
              <a:ext uri="{FF2B5EF4-FFF2-40B4-BE49-F238E27FC236}">
                <a16:creationId xmlns:a16="http://schemas.microsoft.com/office/drawing/2014/main" id="{2DFDFBF2-D25D-C339-5BE8-793D13D94CFC}"/>
              </a:ext>
            </a:extLst>
          </p:cNvPr>
          <p:cNvSpPr/>
          <p:nvPr/>
        </p:nvSpPr>
        <p:spPr>
          <a:xfrm>
            <a:off x="4177779" y="3921938"/>
            <a:ext cx="500498" cy="500923"/>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dirty="0"/>
              <a:t>D</a:t>
            </a:r>
          </a:p>
        </p:txBody>
      </p:sp>
      <p:cxnSp>
        <p:nvCxnSpPr>
          <p:cNvPr id="52" name="Connector: Curved 51">
            <a:extLst>
              <a:ext uri="{FF2B5EF4-FFF2-40B4-BE49-F238E27FC236}">
                <a16:creationId xmlns:a16="http://schemas.microsoft.com/office/drawing/2014/main" id="{56ACD20B-461D-7FA2-E7F3-DAB7616972E4}"/>
              </a:ext>
            </a:extLst>
          </p:cNvPr>
          <p:cNvCxnSpPr>
            <a:stCxn id="50" idx="4"/>
            <a:endCxn id="48" idx="4"/>
          </p:cNvCxnSpPr>
          <p:nvPr/>
        </p:nvCxnSpPr>
        <p:spPr>
          <a:xfrm rot="5400000" flipH="1">
            <a:off x="1981182" y="3212107"/>
            <a:ext cx="16891" cy="2438400"/>
          </a:xfrm>
          <a:prstGeom prst="curvedConnector3">
            <a:avLst>
              <a:gd name="adj1" fmla="val -1353383"/>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4B095E2-7AFE-5320-BE05-3EDB8ADD70EA}"/>
              </a:ext>
            </a:extLst>
          </p:cNvPr>
          <p:cNvCxnSpPr>
            <a:stCxn id="48" idx="7"/>
            <a:endCxn id="48" idx="3"/>
          </p:cNvCxnSpPr>
          <p:nvPr/>
        </p:nvCxnSpPr>
        <p:spPr>
          <a:xfrm flipH="1">
            <a:off x="593475" y="3995296"/>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00255C3-C510-3361-6579-FE0DFB2C9964}"/>
              </a:ext>
            </a:extLst>
          </p:cNvPr>
          <p:cNvCxnSpPr>
            <a:stCxn id="48" idx="1"/>
            <a:endCxn id="48" idx="5"/>
          </p:cNvCxnSpPr>
          <p:nvPr/>
        </p:nvCxnSpPr>
        <p:spPr>
          <a:xfrm>
            <a:off x="593475" y="3995296"/>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Connector: Curved 54">
            <a:extLst>
              <a:ext uri="{FF2B5EF4-FFF2-40B4-BE49-F238E27FC236}">
                <a16:creationId xmlns:a16="http://schemas.microsoft.com/office/drawing/2014/main" id="{10B2EDE3-4F1B-8A90-3DAC-BC0C49CB4C23}"/>
              </a:ext>
            </a:extLst>
          </p:cNvPr>
          <p:cNvCxnSpPr>
            <a:cxnSpLocks/>
            <a:stCxn id="51" idx="4"/>
            <a:endCxn id="49" idx="4"/>
          </p:cNvCxnSpPr>
          <p:nvPr/>
        </p:nvCxnSpPr>
        <p:spPr>
          <a:xfrm rot="5400000">
            <a:off x="3208828" y="3203661"/>
            <a:ext cx="12700" cy="2438400"/>
          </a:xfrm>
          <a:prstGeom prst="curvedConnector3">
            <a:avLst>
              <a:gd name="adj1" fmla="val 1800000"/>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B7BCEC4-B8FC-5B30-68C9-AF58AE21F055}"/>
              </a:ext>
            </a:extLst>
          </p:cNvPr>
          <p:cNvCxnSpPr>
            <a:cxnSpLocks/>
            <a:stCxn id="49" idx="7"/>
            <a:endCxn id="49" idx="3"/>
          </p:cNvCxnSpPr>
          <p:nvPr/>
        </p:nvCxnSpPr>
        <p:spPr>
          <a:xfrm flipH="1">
            <a:off x="1812675" y="3995296"/>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1EA81DE-F744-1A6D-8CF3-614E8837F2CA}"/>
              </a:ext>
            </a:extLst>
          </p:cNvPr>
          <p:cNvCxnSpPr>
            <a:cxnSpLocks/>
            <a:stCxn id="49" idx="1"/>
            <a:endCxn id="49" idx="5"/>
          </p:cNvCxnSpPr>
          <p:nvPr/>
        </p:nvCxnSpPr>
        <p:spPr>
          <a:xfrm>
            <a:off x="1812675" y="3995296"/>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Connector: Curved 57">
            <a:extLst>
              <a:ext uri="{FF2B5EF4-FFF2-40B4-BE49-F238E27FC236}">
                <a16:creationId xmlns:a16="http://schemas.microsoft.com/office/drawing/2014/main" id="{9B0C67F6-C782-DA89-75BE-9B8DAC75C345}"/>
              </a:ext>
            </a:extLst>
          </p:cNvPr>
          <p:cNvCxnSpPr>
            <a:cxnSpLocks/>
            <a:stCxn id="49" idx="4"/>
            <a:endCxn id="50" idx="4"/>
          </p:cNvCxnSpPr>
          <p:nvPr/>
        </p:nvCxnSpPr>
        <p:spPr>
          <a:xfrm rot="16200000" flipH="1">
            <a:off x="2590783" y="3821706"/>
            <a:ext cx="16891" cy="1219200"/>
          </a:xfrm>
          <a:prstGeom prst="curvedConnector3">
            <a:avLst>
              <a:gd name="adj1" fmla="val 1453383"/>
            </a:avLst>
          </a:prstGeom>
          <a:ln w="19050">
            <a:solidFill>
              <a:srgbClr val="FF000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0361392-67D9-3A86-D9F8-061EFA7B4D21}"/>
              </a:ext>
            </a:extLst>
          </p:cNvPr>
          <p:cNvCxnSpPr>
            <a:cxnSpLocks/>
            <a:stCxn id="50" idx="3"/>
            <a:endCxn id="50" idx="7"/>
          </p:cNvCxnSpPr>
          <p:nvPr/>
        </p:nvCxnSpPr>
        <p:spPr>
          <a:xfrm flipV="1">
            <a:off x="3031875" y="4012187"/>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86AF767-EE31-56FB-EB74-22A913226411}"/>
              </a:ext>
            </a:extLst>
          </p:cNvPr>
          <p:cNvCxnSpPr>
            <a:cxnSpLocks/>
            <a:stCxn id="50" idx="1"/>
            <a:endCxn id="50" idx="5"/>
          </p:cNvCxnSpPr>
          <p:nvPr/>
        </p:nvCxnSpPr>
        <p:spPr>
          <a:xfrm>
            <a:off x="3031875" y="4012187"/>
            <a:ext cx="353906" cy="35420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4A60659F-34A9-7715-B761-FD58B212D393}"/>
              </a:ext>
            </a:extLst>
          </p:cNvPr>
          <p:cNvSpPr/>
          <p:nvPr/>
        </p:nvSpPr>
        <p:spPr>
          <a:xfrm>
            <a:off x="461327" y="1412616"/>
            <a:ext cx="4491673" cy="589332"/>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FE25EE5B-BB5E-C5C7-722C-709194CD2D33}"/>
              </a:ext>
            </a:extLst>
          </p:cNvPr>
          <p:cNvSpPr/>
          <p:nvPr/>
        </p:nvSpPr>
        <p:spPr>
          <a:xfrm>
            <a:off x="461327" y="2064662"/>
            <a:ext cx="4491673" cy="838995"/>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94CD3A1-D2C5-51DF-9073-E72853D26FED}"/>
              </a:ext>
            </a:extLst>
          </p:cNvPr>
          <p:cNvSpPr/>
          <p:nvPr/>
        </p:nvSpPr>
        <p:spPr>
          <a:xfrm>
            <a:off x="461327" y="2947863"/>
            <a:ext cx="4491673" cy="838995"/>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5188075B-235D-49EC-F41F-C3701B726CEA}"/>
              </a:ext>
            </a:extLst>
          </p:cNvPr>
          <p:cNvSpPr/>
          <p:nvPr/>
        </p:nvSpPr>
        <p:spPr>
          <a:xfrm>
            <a:off x="461327" y="3851613"/>
            <a:ext cx="4491673" cy="838995"/>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C37784DD-5C7B-EEAA-9D26-DD6973385346}"/>
              </a:ext>
            </a:extLst>
          </p:cNvPr>
          <p:cNvSpPr txBox="1"/>
          <p:nvPr/>
        </p:nvSpPr>
        <p:spPr>
          <a:xfrm>
            <a:off x="5257800" y="2359329"/>
            <a:ext cx="3136180" cy="369332"/>
          </a:xfrm>
          <a:prstGeom prst="rect">
            <a:avLst/>
          </a:prstGeom>
          <a:noFill/>
        </p:spPr>
        <p:txBody>
          <a:bodyPr wrap="none" rtlCol="0">
            <a:spAutoFit/>
          </a:bodyPr>
          <a:lstStyle/>
          <a:p>
            <a:r>
              <a:rPr lang="en-US" dirty="0"/>
              <a:t>C dominates A (A is dominated)</a:t>
            </a:r>
          </a:p>
        </p:txBody>
      </p:sp>
      <p:sp>
        <p:nvSpPr>
          <p:cNvPr id="72" name="TextBox 71">
            <a:extLst>
              <a:ext uri="{FF2B5EF4-FFF2-40B4-BE49-F238E27FC236}">
                <a16:creationId xmlns:a16="http://schemas.microsoft.com/office/drawing/2014/main" id="{850AEFD3-6706-261B-FE60-E467C6DC23FC}"/>
              </a:ext>
            </a:extLst>
          </p:cNvPr>
          <p:cNvSpPr txBox="1"/>
          <p:nvPr/>
        </p:nvSpPr>
        <p:spPr>
          <a:xfrm>
            <a:off x="5254048" y="3190343"/>
            <a:ext cx="3155416" cy="369332"/>
          </a:xfrm>
          <a:prstGeom prst="rect">
            <a:avLst/>
          </a:prstGeom>
          <a:noFill/>
        </p:spPr>
        <p:txBody>
          <a:bodyPr wrap="none" rtlCol="0">
            <a:spAutoFit/>
          </a:bodyPr>
          <a:lstStyle/>
          <a:p>
            <a:r>
              <a:rPr lang="en-US" dirty="0"/>
              <a:t>D dominates B (B is dominated)</a:t>
            </a:r>
          </a:p>
        </p:txBody>
      </p:sp>
      <p:sp>
        <p:nvSpPr>
          <p:cNvPr id="73" name="TextBox 72">
            <a:extLst>
              <a:ext uri="{FF2B5EF4-FFF2-40B4-BE49-F238E27FC236}">
                <a16:creationId xmlns:a16="http://schemas.microsoft.com/office/drawing/2014/main" id="{E20AA450-B1FB-09D9-C282-1549B0591F6B}"/>
              </a:ext>
            </a:extLst>
          </p:cNvPr>
          <p:cNvSpPr txBox="1"/>
          <p:nvPr/>
        </p:nvSpPr>
        <p:spPr>
          <a:xfrm>
            <a:off x="5254048" y="4021357"/>
            <a:ext cx="3136180" cy="369332"/>
          </a:xfrm>
          <a:prstGeom prst="rect">
            <a:avLst/>
          </a:prstGeom>
          <a:noFill/>
        </p:spPr>
        <p:txBody>
          <a:bodyPr wrap="none" rtlCol="0">
            <a:spAutoFit/>
          </a:bodyPr>
          <a:lstStyle/>
          <a:p>
            <a:r>
              <a:rPr lang="en-US" dirty="0"/>
              <a:t>B dominates C (C is dominated)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0" dirty="0"/>
              <a:t>O</a:t>
            </a:r>
            <a:r>
              <a:rPr dirty="0"/>
              <a:t>u</a:t>
            </a:r>
            <a:r>
              <a:rPr spc="-15" dirty="0"/>
              <a:t>t</a:t>
            </a:r>
            <a:r>
              <a:rPr dirty="0"/>
              <a:t>comes</a:t>
            </a:r>
            <a:r>
              <a:rPr spc="-5" dirty="0"/>
              <a:t> </a:t>
            </a:r>
            <a:r>
              <a:rPr spc="-15" dirty="0"/>
              <a:t>f</a:t>
            </a:r>
            <a:r>
              <a:rPr dirty="0"/>
              <a:t>rom</a:t>
            </a:r>
            <a:r>
              <a:rPr spc="-5" dirty="0"/>
              <a:t> </a:t>
            </a:r>
            <a:r>
              <a:rPr spc="-15" dirty="0"/>
              <a:t>t</a:t>
            </a:r>
            <a:r>
              <a:rPr dirty="0"/>
              <a:t>he</a:t>
            </a:r>
            <a:r>
              <a:rPr spc="-5" dirty="0"/>
              <a:t> </a:t>
            </a:r>
            <a:r>
              <a:rPr dirty="0"/>
              <a:t>individual</a:t>
            </a:r>
            <a:r>
              <a:rPr spc="-5" dirty="0"/>
              <a:t> </a:t>
            </a:r>
            <a:r>
              <a:rPr dirty="0"/>
              <a:t>Perspe</a:t>
            </a:r>
            <a:r>
              <a:rPr spc="-20" dirty="0"/>
              <a:t>c</a:t>
            </a:r>
            <a:r>
              <a:rPr spc="-15" dirty="0"/>
              <a:t>t</a:t>
            </a:r>
            <a:r>
              <a:rPr dirty="0"/>
              <a:t>ive</a:t>
            </a:r>
          </a:p>
        </p:txBody>
      </p:sp>
      <p:sp>
        <p:nvSpPr>
          <p:cNvPr id="6" name="object 6"/>
          <p:cNvSpPr txBox="1"/>
          <p:nvPr/>
        </p:nvSpPr>
        <p:spPr>
          <a:xfrm>
            <a:off x="533040" y="2122571"/>
            <a:ext cx="6983730" cy="330200"/>
          </a:xfrm>
          <a:prstGeom prst="rect">
            <a:avLst/>
          </a:prstGeom>
        </p:spPr>
        <p:txBody>
          <a:bodyPr vert="horz" wrap="square" lIns="0" tIns="0" rIns="0" bIns="0" rtlCol="0">
            <a:spAutoFit/>
          </a:bodyPr>
          <a:lstStyle/>
          <a:p>
            <a:pPr marL="12700">
              <a:lnSpc>
                <a:spcPct val="100000"/>
              </a:lnSpc>
            </a:pPr>
            <a:r>
              <a:rPr sz="2400" dirty="0">
                <a:latin typeface="Times New Roman"/>
                <a:cs typeface="Times New Roman"/>
              </a:rPr>
              <a:t>Now </a:t>
            </a:r>
            <a:r>
              <a:rPr sz="2400" spc="-10" dirty="0">
                <a:latin typeface="Times New Roman"/>
                <a:cs typeface="Times New Roman"/>
              </a:rPr>
              <a:t>l</a:t>
            </a:r>
            <a:r>
              <a:rPr sz="2400" spc="-20" dirty="0">
                <a:latin typeface="Times New Roman"/>
                <a:cs typeface="Times New Roman"/>
              </a:rPr>
              <a:t>e</a:t>
            </a:r>
            <a:r>
              <a:rPr sz="2400" spc="-10" dirty="0">
                <a:latin typeface="Times New Roman"/>
                <a:cs typeface="Times New Roman"/>
              </a:rPr>
              <a:t>t</a:t>
            </a:r>
            <a:r>
              <a:rPr sz="2400" spc="-135" dirty="0">
                <a:latin typeface="Times New Roman"/>
                <a:cs typeface="Times New Roman"/>
              </a:rPr>
              <a:t>’</a:t>
            </a:r>
            <a:r>
              <a:rPr sz="2400" dirty="0">
                <a:latin typeface="Times New Roman"/>
                <a:cs typeface="Times New Roman"/>
              </a:rPr>
              <a:t>s </a:t>
            </a:r>
            <a:r>
              <a:rPr sz="2400" spc="-20" dirty="0">
                <a:latin typeface="Times New Roman"/>
                <a:cs typeface="Times New Roman"/>
              </a:rPr>
              <a:t>c</a:t>
            </a:r>
            <a:r>
              <a:rPr sz="2400" dirty="0">
                <a:latin typeface="Times New Roman"/>
                <a:cs typeface="Times New Roman"/>
              </a:rPr>
              <a:t>ons</a:t>
            </a:r>
            <a:r>
              <a:rPr sz="2400" spc="-10" dirty="0">
                <a:latin typeface="Times New Roman"/>
                <a:cs typeface="Times New Roman"/>
              </a:rPr>
              <a:t>id</a:t>
            </a:r>
            <a:r>
              <a:rPr sz="2400" spc="-20" dirty="0">
                <a:latin typeface="Times New Roman"/>
                <a:cs typeface="Times New Roman"/>
              </a:rPr>
              <a:t>e</a:t>
            </a:r>
            <a:r>
              <a:rPr sz="2400" dirty="0">
                <a:latin typeface="Times New Roman"/>
                <a:cs typeface="Times New Roman"/>
              </a:rPr>
              <a:t>r w</a:t>
            </a:r>
            <a:r>
              <a:rPr sz="2400" spc="-15" dirty="0">
                <a:latin typeface="Times New Roman"/>
                <a:cs typeface="Times New Roman"/>
              </a:rPr>
              <a:t>h</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i</a:t>
            </a:r>
            <a:r>
              <a:rPr sz="2400" dirty="0">
                <a:latin typeface="Times New Roman"/>
                <a:cs typeface="Times New Roman"/>
              </a:rPr>
              <a:t>s </a:t>
            </a:r>
            <a:r>
              <a:rPr sz="2400" spc="-15" dirty="0">
                <a:latin typeface="Times New Roman"/>
                <a:cs typeface="Times New Roman"/>
              </a:rPr>
              <a:t>b</a:t>
            </a:r>
            <a:r>
              <a:rPr sz="2400" spc="-20" dirty="0">
                <a:latin typeface="Times New Roman"/>
                <a:cs typeface="Times New Roman"/>
              </a:rPr>
              <a:t>e</a:t>
            </a:r>
            <a:r>
              <a:rPr sz="2400" dirty="0">
                <a:latin typeface="Times New Roman"/>
                <a:cs typeface="Times New Roman"/>
              </a:rPr>
              <a:t>s</a:t>
            </a:r>
            <a:r>
              <a:rPr sz="2400" spc="-10" dirty="0">
                <a:latin typeface="Times New Roman"/>
                <a:cs typeface="Times New Roman"/>
              </a:rPr>
              <a:t>t</a:t>
            </a:r>
            <a:r>
              <a:rPr sz="2400" dirty="0">
                <a:latin typeface="Times New Roman"/>
                <a:cs typeface="Times New Roman"/>
              </a:rPr>
              <a:t> for </a:t>
            </a:r>
            <a:r>
              <a:rPr sz="2400" spc="-15" dirty="0">
                <a:latin typeface="Times New Roman"/>
                <a:cs typeface="Times New Roman"/>
              </a:rPr>
              <a:t>one</a:t>
            </a:r>
            <a:r>
              <a:rPr sz="2400" spc="-5" dirty="0">
                <a:latin typeface="Times New Roman"/>
                <a:cs typeface="Times New Roman"/>
              </a:rPr>
              <a:t> </a:t>
            </a:r>
            <a:r>
              <a:rPr sz="2400" spc="-10" dirty="0">
                <a:latin typeface="Times New Roman"/>
                <a:cs typeface="Times New Roman"/>
              </a:rPr>
              <a:t>individu</a:t>
            </a:r>
            <a:r>
              <a:rPr sz="2400" spc="-20" dirty="0">
                <a:latin typeface="Times New Roman"/>
                <a:cs typeface="Times New Roman"/>
              </a:rPr>
              <a:t>a</a:t>
            </a:r>
            <a:r>
              <a:rPr sz="2400" spc="-10" dirty="0">
                <a:latin typeface="Times New Roman"/>
                <a:cs typeface="Times New Roman"/>
              </a:rPr>
              <a:t>l</a:t>
            </a:r>
            <a:r>
              <a:rPr sz="2400" dirty="0">
                <a:latin typeface="Times New Roman"/>
                <a:cs typeface="Times New Roman"/>
              </a:rPr>
              <a:t> </a:t>
            </a: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spc="-135" dirty="0">
                <a:latin typeface="Times New Roman"/>
                <a:cs typeface="Times New Roman"/>
              </a:rPr>
              <a:t>r</a:t>
            </a:r>
            <a:r>
              <a:rPr sz="2400" dirty="0">
                <a:latin typeface="Times New Roman"/>
                <a:cs typeface="Times New Roman"/>
              </a:rPr>
              <a:t>.</a:t>
            </a:r>
          </a:p>
        </p:txBody>
      </p:sp>
      <p:sp>
        <p:nvSpPr>
          <p:cNvPr id="7" name="Slide Number Placeholder 8">
            <a:extLst>
              <a:ext uri="{FF2B5EF4-FFF2-40B4-BE49-F238E27FC236}">
                <a16:creationId xmlns:a16="http://schemas.microsoft.com/office/drawing/2014/main" id="{F385B40A-62FE-B4E1-3A7A-0EAD85300078}"/>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10</a:t>
            </a:fld>
            <a:r>
              <a:rPr lang="en-US" sz="2000" dirty="0">
                <a:solidFill>
                  <a:prstClr val="black"/>
                </a:solidFill>
                <a:latin typeface="Comic Sans MS"/>
                <a:sym typeface="Comic Sans MS"/>
              </a:rPr>
              <a:t>/46</a:t>
            </a:r>
          </a:p>
        </p:txBody>
      </p:sp>
      <p:sp>
        <p:nvSpPr>
          <p:cNvPr id="8" name="Footer Placeholder 9">
            <a:extLst>
              <a:ext uri="{FF2B5EF4-FFF2-40B4-BE49-F238E27FC236}">
                <a16:creationId xmlns:a16="http://schemas.microsoft.com/office/drawing/2014/main" id="{CCF2B756-7018-A0C6-9C48-E694B91C6398}"/>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2F9E8382-C5C1-0E29-45E0-8B7BA5BF4D3A}"/>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0" name="Rectangle 9">
            <a:extLst>
              <a:ext uri="{FF2B5EF4-FFF2-40B4-BE49-F238E27FC236}">
                <a16:creationId xmlns:a16="http://schemas.microsoft.com/office/drawing/2014/main" id="{583C2070-A5EA-AC3B-BDBC-AC9FF5AD0A6C}"/>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C40A9A15-3F85-9C4F-3EE8-A5CAFCCADF9C}"/>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574571"/>
            <a:ext cx="8221344" cy="492443"/>
          </a:xfrm>
          <a:prstGeom prst="rect">
            <a:avLst/>
          </a:prstGeom>
        </p:spPr>
        <p:txBody>
          <a:bodyPr vert="horz" wrap="square" lIns="0" tIns="0" rIns="0" bIns="0" rtlCol="0">
            <a:spAutoFit/>
          </a:bodyPr>
          <a:lstStyle/>
          <a:p>
            <a:pPr marL="12700">
              <a:lnSpc>
                <a:spcPct val="100000"/>
              </a:lnSpc>
            </a:pPr>
            <a:endParaRPr dirty="0"/>
          </a:p>
        </p:txBody>
      </p:sp>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41DE2BC2-E485-3742-3526-BC01B1976B8E}"/>
                  </a:ext>
                </a:extLst>
              </p:cNvPr>
              <p:cNvSpPr txBox="1"/>
              <p:nvPr/>
            </p:nvSpPr>
            <p:spPr>
              <a:xfrm>
                <a:off x="451485" y="1570672"/>
                <a:ext cx="7016115" cy="1477328"/>
              </a:xfrm>
              <a:prstGeom prst="rect">
                <a:avLst/>
              </a:prstGeom>
            </p:spPr>
            <p:txBody>
              <a:bodyPr vert="horz" wrap="square" lIns="0" tIns="0" rIns="0" bIns="0" rtlCol="0">
                <a:spAutoFit/>
              </a:bodyPr>
              <a:lstStyle/>
              <a:p>
                <a:pPr marL="12700"/>
                <a:r>
                  <a:rPr sz="2400" dirty="0">
                    <a:latin typeface="Times New Roman"/>
                    <a:cs typeface="Times New Roman"/>
                  </a:rPr>
                  <a:t>A strategy </a:t>
                </a:r>
                <a14:m>
                  <m:oMath xmlns:m="http://schemas.openxmlformats.org/officeDocument/2006/math">
                    <m:r>
                      <m:rPr>
                        <m:sty m:val="p"/>
                      </m:rPr>
                      <a:rPr lang="en-MY" sz="2400" i="0" dirty="0" smtClean="0">
                        <a:latin typeface="Cambria Math" panose="02040503050406030204" pitchFamily="18" charset="0"/>
                        <a:cs typeface="Times New Roman"/>
                      </a:rPr>
                      <m:t>s</m:t>
                    </m:r>
                  </m:oMath>
                </a14:m>
                <a:r>
                  <a:rPr sz="2400" dirty="0">
                    <a:latin typeface="Times New Roman"/>
                    <a:cs typeface="Times New Roman"/>
                  </a:rPr>
                  <a:t> for player </a:t>
                </a:r>
                <a14:m>
                  <m:oMath xmlns:m="http://schemas.openxmlformats.org/officeDocument/2006/math">
                    <m:r>
                      <m:rPr>
                        <m:sty m:val="p"/>
                      </m:rPr>
                      <a:rPr lang="en-MY" sz="2400" i="0" dirty="0" smtClean="0">
                        <a:latin typeface="Cambria Math" panose="02040503050406030204" pitchFamily="18" charset="0"/>
                        <a:cs typeface="Times New Roman"/>
                      </a:rPr>
                      <m:t>x</m:t>
                    </m:r>
                  </m:oMath>
                </a14:m>
                <a:r>
                  <a:rPr sz="2400" dirty="0">
                    <a:latin typeface="Times New Roman"/>
                    <a:cs typeface="Times New Roman"/>
                  </a:rPr>
                  <a:t> dominates another strategy </a:t>
                </a:r>
                <a:r>
                  <a:rPr sz="2400" i="1" dirty="0">
                    <a:latin typeface="Times New Roman"/>
                    <a:cs typeface="Times New Roman"/>
                  </a:rPr>
                  <a:t>s</a:t>
                </a:r>
                <a:r>
                  <a:rPr lang="en-US" sz="2400" i="1" dirty="0">
                    <a:latin typeface="Times New Roman"/>
                    <a:cs typeface="Times New Roman"/>
                  </a:rPr>
                  <a:t>'</a:t>
                </a:r>
                <a:r>
                  <a:rPr sz="2400" dirty="0">
                    <a:latin typeface="Times New Roman"/>
                    <a:cs typeface="Times New Roman"/>
                  </a:rPr>
                  <a:t> if</a:t>
                </a:r>
              </a:p>
              <a:p>
                <a:pPr marL="579438" marR="144145" indent="-342900">
                  <a:buFont typeface="Arial" panose="020B0604020202020204" pitchFamily="34" charset="0"/>
                  <a:buChar char="•"/>
                </a:pPr>
                <a:r>
                  <a:rPr sz="2400" dirty="0">
                    <a:latin typeface="Times New Roman"/>
                    <a:cs typeface="Times New Roman"/>
                  </a:rPr>
                  <a:t>for all possible choices of a strategy </a:t>
                </a:r>
                <a:r>
                  <a:rPr sz="2400" i="1" dirty="0">
                    <a:latin typeface="Times New Roman"/>
                    <a:cs typeface="Times New Roman"/>
                  </a:rPr>
                  <a:t>t</a:t>
                </a:r>
                <a:r>
                  <a:rPr sz="2400" dirty="0">
                    <a:latin typeface="Times New Roman"/>
                    <a:cs typeface="Times New Roman"/>
                  </a:rPr>
                  <a:t> for player </a:t>
                </a:r>
                <a:r>
                  <a:rPr sz="2400" i="1" dirty="0">
                    <a:latin typeface="Times New Roman"/>
                    <a:cs typeface="Times New Roman"/>
                  </a:rPr>
                  <a:t>y</a:t>
                </a:r>
                <a:r>
                  <a:rPr sz="2400" dirty="0">
                    <a:latin typeface="Times New Roman"/>
                    <a:cs typeface="Times New Roman"/>
                  </a:rPr>
                  <a:t>, the outcome of </a:t>
                </a:r>
                <a:r>
                  <a:rPr sz="2400" i="1" dirty="0">
                    <a:latin typeface="Times New Roman"/>
                    <a:cs typeface="Times New Roman"/>
                  </a:rPr>
                  <a:t>s</a:t>
                </a:r>
                <a:r>
                  <a:rPr sz="2400" dirty="0">
                    <a:latin typeface="Times New Roman"/>
                    <a:cs typeface="Times New Roman"/>
                  </a:rPr>
                  <a:t> is at least as good as that of </a:t>
                </a:r>
                <a:r>
                  <a:rPr lang="en-US" sz="2400" i="1" dirty="0">
                    <a:latin typeface="Times New Roman"/>
                    <a:cs typeface="Times New Roman"/>
                  </a:rPr>
                  <a:t>s’.</a:t>
                </a:r>
                <a:r>
                  <a:rPr lang="en-US" sz="2400" dirty="0">
                    <a:latin typeface="Times New Roman"/>
                    <a:cs typeface="Times New Roman"/>
                  </a:rPr>
                  <a:t> </a:t>
                </a:r>
                <a:r>
                  <a:rPr sz="2400" i="1" dirty="0">
                    <a:latin typeface="Times New Roman"/>
                    <a:cs typeface="Times New Roman"/>
                  </a:rPr>
                  <a:t>s</a:t>
                </a:r>
                <a:r>
                  <a:rPr sz="2400" dirty="0">
                    <a:latin typeface="Times New Roman"/>
                    <a:cs typeface="Times New Roman"/>
                  </a:rPr>
                  <a:t> is better than</a:t>
                </a:r>
                <a:r>
                  <a:rPr lang="en-US" sz="2400" dirty="0">
                    <a:latin typeface="Times New Roman"/>
                    <a:cs typeface="Times New Roman"/>
                  </a:rPr>
                  <a:t> </a:t>
                </a:r>
                <a:r>
                  <a:rPr lang="en-US" sz="2400" i="1" dirty="0">
                    <a:latin typeface="Times New Roman"/>
                    <a:cs typeface="Times New Roman"/>
                  </a:rPr>
                  <a:t>s'</a:t>
                </a:r>
                <a:r>
                  <a:rPr sz="2400" dirty="0">
                    <a:latin typeface="Times New Roman"/>
                    <a:cs typeface="Times New Roman"/>
                  </a:rPr>
                  <a:t> for at least one choice of </a:t>
                </a:r>
                <a:r>
                  <a:rPr sz="2400" i="1" dirty="0">
                    <a:latin typeface="Times New Roman"/>
                    <a:cs typeface="Times New Roman"/>
                  </a:rPr>
                  <a:t>t</a:t>
                </a:r>
                <a:r>
                  <a:rPr lang="en-US" sz="2400" i="1" dirty="0">
                    <a:latin typeface="Times New Roman"/>
                    <a:cs typeface="Times New Roman"/>
                  </a:rPr>
                  <a:t>.</a:t>
                </a:r>
                <a:endParaRPr sz="2400" i="1" dirty="0">
                  <a:latin typeface="Times New Roman"/>
                  <a:cs typeface="Times New Roman"/>
                </a:endParaRPr>
              </a:p>
            </p:txBody>
          </p:sp>
        </mc:Choice>
        <mc:Fallback xmlns="">
          <p:sp>
            <p:nvSpPr>
              <p:cNvPr id="3" name="object 5">
                <a:extLst>
                  <a:ext uri="{FF2B5EF4-FFF2-40B4-BE49-F238E27FC236}">
                    <a16:creationId xmlns:a16="http://schemas.microsoft.com/office/drawing/2014/main" id="{41DE2BC2-E485-3742-3526-BC01B1976B8E}"/>
                  </a:ext>
                </a:extLst>
              </p:cNvPr>
              <p:cNvSpPr txBox="1">
                <a:spLocks noRot="1" noChangeAspect="1" noMove="1" noResize="1" noEditPoints="1" noAdjustHandles="1" noChangeArrowheads="1" noChangeShapeType="1" noTextEdit="1"/>
              </p:cNvSpPr>
              <p:nvPr/>
            </p:nvSpPr>
            <p:spPr>
              <a:xfrm>
                <a:off x="451485" y="1570672"/>
                <a:ext cx="7016115" cy="1477328"/>
              </a:xfrm>
              <a:prstGeom prst="rect">
                <a:avLst/>
              </a:prstGeom>
              <a:blipFill>
                <a:blip r:embed="rId3"/>
                <a:stretch>
                  <a:fillRect l="-2433" t="-6612" r="-1564" b="-11570"/>
                </a:stretch>
              </a:blipFill>
            </p:spPr>
            <p:txBody>
              <a:bodyPr/>
              <a:lstStyle/>
              <a:p>
                <a:r>
                  <a:rPr lang="en-MY">
                    <a:noFill/>
                  </a:rPr>
                  <a:t> </a:t>
                </a:r>
              </a:p>
            </p:txBody>
          </p:sp>
        </mc:Fallback>
      </mc:AlternateContent>
      <p:sp>
        <p:nvSpPr>
          <p:cNvPr id="4" name="object 6">
            <a:extLst>
              <a:ext uri="{FF2B5EF4-FFF2-40B4-BE49-F238E27FC236}">
                <a16:creationId xmlns:a16="http://schemas.microsoft.com/office/drawing/2014/main" id="{7666397D-1B4F-8643-CF96-A8D85A0D9F35}"/>
              </a:ext>
            </a:extLst>
          </p:cNvPr>
          <p:cNvSpPr txBox="1"/>
          <p:nvPr/>
        </p:nvSpPr>
        <p:spPr>
          <a:xfrm>
            <a:off x="451485" y="3516868"/>
            <a:ext cx="4653915" cy="369332"/>
          </a:xfrm>
          <a:prstGeom prst="rect">
            <a:avLst/>
          </a:prstGeom>
        </p:spPr>
        <p:txBody>
          <a:bodyPr vert="horz" wrap="square" lIns="0" tIns="0" rIns="0" bIns="0" rtlCol="0">
            <a:spAutoFit/>
          </a:bodyPr>
          <a:lstStyle/>
          <a:p>
            <a:pPr marL="12700"/>
            <a:r>
              <a:rPr sz="2400" dirty="0">
                <a:latin typeface="Times New Roman"/>
                <a:cs typeface="Times New Roman"/>
              </a:rPr>
              <a:t>Assume the following pay-0ff matrix:</a:t>
            </a:r>
          </a:p>
        </p:txBody>
      </p:sp>
      <p:graphicFrame>
        <p:nvGraphicFramePr>
          <p:cNvPr id="9" name="Table 9">
            <a:extLst>
              <a:ext uri="{FF2B5EF4-FFF2-40B4-BE49-F238E27FC236}">
                <a16:creationId xmlns:a16="http://schemas.microsoft.com/office/drawing/2014/main" id="{48D753CD-DDCE-8E83-BE78-20E134B42F05}"/>
              </a:ext>
            </a:extLst>
          </p:cNvPr>
          <p:cNvGraphicFramePr>
            <a:graphicFrameLocks noGrp="1"/>
          </p:cNvGraphicFramePr>
          <p:nvPr>
            <p:extLst>
              <p:ext uri="{D42A27DB-BD31-4B8C-83A1-F6EECF244321}">
                <p14:modId xmlns:p14="http://schemas.microsoft.com/office/powerpoint/2010/main" val="3048669974"/>
              </p:ext>
            </p:extLst>
          </p:nvPr>
        </p:nvGraphicFramePr>
        <p:xfrm>
          <a:off x="457200" y="4038600"/>
          <a:ext cx="3429000" cy="198120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817312379"/>
                    </a:ext>
                  </a:extLst>
                </a:gridCol>
                <a:gridCol w="685800">
                  <a:extLst>
                    <a:ext uri="{9D8B030D-6E8A-4147-A177-3AD203B41FA5}">
                      <a16:colId xmlns:a16="http://schemas.microsoft.com/office/drawing/2014/main" val="2725113786"/>
                    </a:ext>
                  </a:extLst>
                </a:gridCol>
                <a:gridCol w="685800">
                  <a:extLst>
                    <a:ext uri="{9D8B030D-6E8A-4147-A177-3AD203B41FA5}">
                      <a16:colId xmlns:a16="http://schemas.microsoft.com/office/drawing/2014/main" val="762545278"/>
                    </a:ext>
                  </a:extLst>
                </a:gridCol>
                <a:gridCol w="685800">
                  <a:extLst>
                    <a:ext uri="{9D8B030D-6E8A-4147-A177-3AD203B41FA5}">
                      <a16:colId xmlns:a16="http://schemas.microsoft.com/office/drawing/2014/main" val="8029837"/>
                    </a:ext>
                  </a:extLst>
                </a:gridCol>
                <a:gridCol w="685800">
                  <a:extLst>
                    <a:ext uri="{9D8B030D-6E8A-4147-A177-3AD203B41FA5}">
                      <a16:colId xmlns:a16="http://schemas.microsoft.com/office/drawing/2014/main" val="1658348143"/>
                    </a:ext>
                  </a:extLst>
                </a:gridCol>
              </a:tblGrid>
              <a:tr h="370840">
                <a:tc>
                  <a:txBody>
                    <a:bodyPr/>
                    <a:lstStyle/>
                    <a:p>
                      <a:pPr algn="ctr"/>
                      <a:endParaRPr 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i="1" dirty="0"/>
                        <a:t>t</a:t>
                      </a:r>
                      <a:r>
                        <a:rPr lang="en-US" sz="2000" i="1" baseline="-25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r>
                        <a:rPr lang="en-US" sz="2000" i="1" dirty="0">
                          <a:solidFill>
                            <a:schemeClr val="tx1"/>
                          </a:solidFill>
                          <a:latin typeface="+mn-lt"/>
                          <a:ea typeface="+mn-ea"/>
                          <a:cs typeface="+mn-cs"/>
                        </a:rPr>
                        <a:t>t</a:t>
                      </a:r>
                      <a:r>
                        <a:rPr lang="en-US" sz="2000" i="1" baseline="-25000" dirty="0">
                          <a:solidFill>
                            <a:schemeClr val="tx1"/>
                          </a:solidFill>
                          <a:latin typeface="+mn-lt"/>
                          <a:ea typeface="+mn-ea"/>
                          <a:cs typeface="+mn-cs"/>
                        </a:rPr>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i="1" dirty="0"/>
                        <a:t>t</a:t>
                      </a:r>
                      <a:r>
                        <a:rPr lang="en-US" sz="2000" i="1" baseline="-250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i="1" dirty="0"/>
                        <a:t>t</a:t>
                      </a:r>
                      <a:r>
                        <a:rPr lang="en-US" sz="2000" i="1" baseline="-250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7379048"/>
                  </a:ext>
                </a:extLst>
              </a:tr>
              <a:tr h="370840">
                <a:tc>
                  <a:txBody>
                    <a:bodyPr/>
                    <a:lstStyle/>
                    <a:p>
                      <a:pPr algn="ctr"/>
                      <a:r>
                        <a:rPr lang="en-US" sz="2000" i="1" dirty="0"/>
                        <a:t>s</a:t>
                      </a:r>
                      <a:r>
                        <a:rPr lang="en-US" sz="2000" i="1" baseline="-25000" dirty="0"/>
                        <a:t>1</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-2</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2</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-1</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1</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3738698697"/>
                  </a:ext>
                </a:extLst>
              </a:tr>
              <a:tr h="370840">
                <a:tc>
                  <a:txBody>
                    <a:bodyPr/>
                    <a:lstStyle/>
                    <a:p>
                      <a:pPr algn="ctr" rtl="0"/>
                      <a:r>
                        <a:rPr lang="en-US" sz="2000" i="1" dirty="0"/>
                        <a:t>s</a:t>
                      </a:r>
                      <a:r>
                        <a:rPr lang="en-US" sz="2000" i="1" baseline="-250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2678394"/>
                  </a:ext>
                </a:extLst>
              </a:tr>
              <a:tr h="370840">
                <a:tc>
                  <a:txBody>
                    <a:bodyPr/>
                    <a:lstStyle/>
                    <a:p>
                      <a:pPr algn="ctr"/>
                      <a:r>
                        <a:rPr lang="en-US" sz="2000" i="1" dirty="0"/>
                        <a:t>s</a:t>
                      </a:r>
                      <a:r>
                        <a:rPr lang="en-US" sz="2000" i="1" baseline="-250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0</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347852965"/>
                  </a:ext>
                </a:extLst>
              </a:tr>
              <a:tr h="370840">
                <a:tc>
                  <a:txBody>
                    <a:bodyPr/>
                    <a:lstStyle/>
                    <a:p>
                      <a:pPr algn="ctr"/>
                      <a:r>
                        <a:rPr lang="en-US" sz="2000" i="1" dirty="0"/>
                        <a:t>s</a:t>
                      </a:r>
                      <a:r>
                        <a:rPr lang="en-US" sz="2000" i="1" baseline="-250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0264348"/>
                  </a:ext>
                </a:extLst>
              </a:tr>
            </a:tbl>
          </a:graphicData>
        </a:graphic>
      </p:graphicFrame>
      <p:sp>
        <p:nvSpPr>
          <p:cNvPr id="10" name="object 11">
            <a:extLst>
              <a:ext uri="{FF2B5EF4-FFF2-40B4-BE49-F238E27FC236}">
                <a16:creationId xmlns:a16="http://schemas.microsoft.com/office/drawing/2014/main" id="{1E0F5C12-80DA-E7A3-D647-A7CBF1B9C16D}"/>
              </a:ext>
            </a:extLst>
          </p:cNvPr>
          <p:cNvSpPr txBox="1"/>
          <p:nvPr/>
        </p:nvSpPr>
        <p:spPr>
          <a:xfrm>
            <a:off x="4571999" y="4877896"/>
            <a:ext cx="3617595" cy="553998"/>
          </a:xfrm>
          <a:prstGeom prst="rect">
            <a:avLst/>
          </a:prstGeom>
          <a:solidFill>
            <a:srgbClr val="FF6600"/>
          </a:solidFill>
          <a:ln w="19050">
            <a:solidFill>
              <a:srgbClr val="000000"/>
            </a:solidFill>
          </a:ln>
        </p:spPr>
        <p:txBody>
          <a:bodyPr vert="horz" wrap="square" lIns="0" tIns="0" rIns="0" bIns="0" rtlCol="0">
            <a:spAutoFit/>
          </a:bodyPr>
          <a:lstStyle/>
          <a:p>
            <a:pPr marL="45720">
              <a:lnSpc>
                <a:spcPct val="100000"/>
              </a:lnSpc>
            </a:pPr>
            <a:r>
              <a:rPr sz="1800" spc="225" dirty="0">
                <a:latin typeface="Tahoma"/>
                <a:cs typeface="Tahoma"/>
              </a:rPr>
              <a:t>A</a:t>
            </a:r>
            <a:r>
              <a:rPr sz="1800" spc="35" dirty="0">
                <a:latin typeface="Tahoma"/>
                <a:cs typeface="Tahoma"/>
              </a:rPr>
              <a:t> </a:t>
            </a:r>
            <a:r>
              <a:rPr sz="1800" spc="45" dirty="0">
                <a:latin typeface="Tahoma"/>
                <a:cs typeface="Tahoma"/>
              </a:rPr>
              <a:t>ra</a:t>
            </a:r>
            <a:r>
              <a:rPr sz="1800" spc="190" dirty="0">
                <a:latin typeface="Tahoma"/>
                <a:cs typeface="Tahoma"/>
              </a:rPr>
              <a:t>t</a:t>
            </a:r>
            <a:r>
              <a:rPr sz="1800" spc="5" dirty="0">
                <a:latin typeface="Tahoma"/>
                <a:cs typeface="Tahoma"/>
              </a:rPr>
              <a:t>i</a:t>
            </a:r>
            <a:r>
              <a:rPr sz="1800" spc="75" dirty="0">
                <a:latin typeface="Tahoma"/>
                <a:cs typeface="Tahoma"/>
              </a:rPr>
              <a:t>on</a:t>
            </a:r>
            <a:r>
              <a:rPr sz="1800" spc="45" dirty="0">
                <a:latin typeface="Tahoma"/>
                <a:cs typeface="Tahoma"/>
              </a:rPr>
              <a:t>a</a:t>
            </a:r>
            <a:r>
              <a:rPr sz="1800" spc="5" dirty="0">
                <a:latin typeface="Tahoma"/>
                <a:cs typeface="Tahoma"/>
              </a:rPr>
              <a:t>l</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65" dirty="0">
                <a:latin typeface="Tahoma"/>
                <a:cs typeface="Tahoma"/>
              </a:rPr>
              <a:t>w</a:t>
            </a:r>
            <a:r>
              <a:rPr sz="1800" spc="5" dirty="0">
                <a:latin typeface="Tahoma"/>
                <a:cs typeface="Tahoma"/>
              </a:rPr>
              <a:t>ill</a:t>
            </a:r>
            <a:r>
              <a:rPr sz="1800" spc="35" dirty="0">
                <a:latin typeface="Tahoma"/>
                <a:cs typeface="Tahoma"/>
              </a:rPr>
              <a:t> </a:t>
            </a:r>
            <a:r>
              <a:rPr sz="1800" spc="40" dirty="0">
                <a:latin typeface="Tahoma"/>
                <a:cs typeface="Tahoma"/>
              </a:rPr>
              <a:t>n</a:t>
            </a:r>
            <a:r>
              <a:rPr sz="1800" spc="85" dirty="0">
                <a:latin typeface="Tahoma"/>
                <a:cs typeface="Tahoma"/>
              </a:rPr>
              <a:t>e</a:t>
            </a:r>
            <a:r>
              <a:rPr sz="1800" spc="114" dirty="0">
                <a:latin typeface="Tahoma"/>
                <a:cs typeface="Tahoma"/>
              </a:rPr>
              <a:t>v</a:t>
            </a:r>
            <a:r>
              <a:rPr sz="1800" spc="85" dirty="0">
                <a:latin typeface="Tahoma"/>
                <a:cs typeface="Tahoma"/>
              </a:rPr>
              <a:t>e</a:t>
            </a:r>
            <a:r>
              <a:rPr sz="1800" spc="45" dirty="0">
                <a:latin typeface="Tahoma"/>
                <a:cs typeface="Tahoma"/>
              </a:rPr>
              <a:t>r</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35" dirty="0">
                <a:latin typeface="Tahoma"/>
                <a:cs typeface="Tahoma"/>
              </a:rPr>
              <a:t> </a:t>
            </a:r>
            <a:r>
              <a:rPr sz="1800" spc="45" dirty="0">
                <a:latin typeface="Tahoma"/>
                <a:cs typeface="Tahoma"/>
              </a:rPr>
              <a:t>a</a:t>
            </a:r>
            <a:r>
              <a:rPr sz="1800" spc="35" dirty="0">
                <a:latin typeface="Tahoma"/>
                <a:cs typeface="Tahoma"/>
              </a:rPr>
              <a:t> </a:t>
            </a:r>
            <a:r>
              <a:rPr sz="1800" spc="75" dirty="0">
                <a:latin typeface="Tahoma"/>
                <a:cs typeface="Tahoma"/>
              </a:rPr>
              <a:t>d</a:t>
            </a:r>
            <a:r>
              <a:rPr sz="1800" spc="65" dirty="0">
                <a:latin typeface="Tahoma"/>
                <a:cs typeface="Tahoma"/>
              </a:rPr>
              <a:t>omi</a:t>
            </a:r>
            <a:r>
              <a:rPr sz="1800" spc="40" dirty="0">
                <a:latin typeface="Tahoma"/>
                <a:cs typeface="Tahoma"/>
              </a:rPr>
              <a:t>n</a:t>
            </a:r>
            <a:r>
              <a:rPr sz="1800" spc="45" dirty="0">
                <a:latin typeface="Tahoma"/>
                <a:cs typeface="Tahoma"/>
              </a:rPr>
              <a:t>a</a:t>
            </a:r>
            <a:r>
              <a:rPr sz="1800" spc="190" dirty="0">
                <a:latin typeface="Tahoma"/>
                <a:cs typeface="Tahoma"/>
              </a:rPr>
              <a:t>t</a:t>
            </a:r>
            <a:r>
              <a:rPr sz="1800" spc="85" dirty="0">
                <a:latin typeface="Tahoma"/>
                <a:cs typeface="Tahoma"/>
              </a:rPr>
              <a:t>e</a:t>
            </a:r>
            <a:r>
              <a:rPr sz="1800" spc="75" dirty="0">
                <a:latin typeface="Tahoma"/>
                <a:cs typeface="Tahoma"/>
              </a:rPr>
              <a:t>d</a:t>
            </a:r>
            <a:r>
              <a:rPr sz="1800" spc="35" dirty="0">
                <a:latin typeface="Tahoma"/>
                <a:cs typeface="Tahoma"/>
              </a:rPr>
              <a:t> </a:t>
            </a:r>
            <a:r>
              <a:rPr sz="1800" spc="110" dirty="0">
                <a:latin typeface="Tahoma"/>
                <a:cs typeface="Tahoma"/>
              </a:rPr>
              <a:t>s</a:t>
            </a:r>
            <a:r>
              <a:rPr sz="1800" spc="190" dirty="0">
                <a:latin typeface="Tahoma"/>
                <a:cs typeface="Tahoma"/>
              </a:rPr>
              <a:t>t</a:t>
            </a:r>
            <a:r>
              <a:rPr sz="1800" spc="45" dirty="0">
                <a:latin typeface="Tahoma"/>
                <a:cs typeface="Tahoma"/>
              </a:rPr>
              <a:t>ra</a:t>
            </a:r>
            <a:r>
              <a:rPr sz="1800" spc="190" dirty="0">
                <a:latin typeface="Tahoma"/>
                <a:cs typeface="Tahoma"/>
              </a:rPr>
              <a:t>t</a:t>
            </a:r>
            <a:r>
              <a:rPr sz="1800" spc="85" dirty="0">
                <a:latin typeface="Tahoma"/>
                <a:cs typeface="Tahoma"/>
              </a:rPr>
              <a:t>e</a:t>
            </a:r>
            <a:r>
              <a:rPr sz="1800" spc="95" dirty="0">
                <a:latin typeface="Tahoma"/>
                <a:cs typeface="Tahoma"/>
              </a:rPr>
              <a:t>g</a:t>
            </a:r>
            <a:r>
              <a:rPr sz="1800" spc="125" dirty="0">
                <a:latin typeface="Tahoma"/>
                <a:cs typeface="Tahoma"/>
              </a:rPr>
              <a:t>y</a:t>
            </a:r>
            <a:endParaRPr sz="1800" dirty="0">
              <a:latin typeface="Tahoma"/>
              <a:cs typeface="Tahoma"/>
            </a:endParaRPr>
          </a:p>
        </p:txBody>
      </p:sp>
      <p:sp>
        <p:nvSpPr>
          <p:cNvPr id="11" name="Slide Number Placeholder 8">
            <a:extLst>
              <a:ext uri="{FF2B5EF4-FFF2-40B4-BE49-F238E27FC236}">
                <a16:creationId xmlns:a16="http://schemas.microsoft.com/office/drawing/2014/main" id="{3EF62C89-FAC0-8478-5D97-E43D9F6D6CDC}"/>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11</a:t>
            </a:fld>
            <a:r>
              <a:rPr lang="en-US" sz="2000" dirty="0">
                <a:solidFill>
                  <a:prstClr val="black"/>
                </a:solidFill>
                <a:latin typeface="Comic Sans MS"/>
                <a:sym typeface="Comic Sans MS"/>
              </a:rPr>
              <a:t>/46</a:t>
            </a:r>
          </a:p>
        </p:txBody>
      </p:sp>
      <p:sp>
        <p:nvSpPr>
          <p:cNvPr id="12" name="Footer Placeholder 9">
            <a:extLst>
              <a:ext uri="{FF2B5EF4-FFF2-40B4-BE49-F238E27FC236}">
                <a16:creationId xmlns:a16="http://schemas.microsoft.com/office/drawing/2014/main" id="{B16F7FCC-6CA3-D35B-CDF3-2A947ABFBE25}"/>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3" name="Rectangle 12">
            <a:extLst>
              <a:ext uri="{FF2B5EF4-FFF2-40B4-BE49-F238E27FC236}">
                <a16:creationId xmlns:a16="http://schemas.microsoft.com/office/drawing/2014/main" id="{5102D6E7-09C0-836C-03FF-E96BE51DB85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4" name="Rectangle 13">
            <a:extLst>
              <a:ext uri="{FF2B5EF4-FFF2-40B4-BE49-F238E27FC236}">
                <a16:creationId xmlns:a16="http://schemas.microsoft.com/office/drawing/2014/main" id="{A431D2C6-4859-F590-D618-B31EA522A690}"/>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043337A5-6A49-BFB4-A24B-79DB5AEF84A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219713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574571"/>
            <a:ext cx="8221344" cy="492443"/>
          </a:xfrm>
          <a:prstGeom prst="rect">
            <a:avLst/>
          </a:prstGeom>
        </p:spPr>
        <p:txBody>
          <a:bodyPr vert="horz" wrap="square" lIns="0" tIns="0" rIns="0" bIns="0" rtlCol="0">
            <a:spAutoFit/>
          </a:bodyPr>
          <a:lstStyle/>
          <a:p>
            <a:pPr marL="12700">
              <a:lnSpc>
                <a:spcPct val="100000"/>
              </a:lnSpc>
            </a:pPr>
            <a:endParaRPr dirty="0"/>
          </a:p>
        </p:txBody>
      </p:sp>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41DE2BC2-E485-3742-3526-BC01B1976B8E}"/>
                  </a:ext>
                </a:extLst>
              </p:cNvPr>
              <p:cNvSpPr txBox="1"/>
              <p:nvPr/>
            </p:nvSpPr>
            <p:spPr>
              <a:xfrm>
                <a:off x="451485" y="1570672"/>
                <a:ext cx="4349115" cy="738664"/>
              </a:xfrm>
              <a:prstGeom prst="rect">
                <a:avLst/>
              </a:prstGeom>
            </p:spPr>
            <p:txBody>
              <a:bodyPr vert="horz" wrap="square" lIns="0" tIns="0" rIns="0" bIns="0" rtlCol="0">
                <a:spAutoFit/>
              </a:bodyPr>
              <a:lstStyle/>
              <a:p>
                <a:pPr marL="12700"/>
                <a:r>
                  <a:rPr lang="en-US" sz="2400" dirty="0">
                    <a:latin typeface="Times New Roman"/>
                    <a:cs typeface="Times New Roman"/>
                  </a:rPr>
                  <a:t>The row player </a:t>
                </a:r>
                <a14:m>
                  <m:oMath xmlns:m="http://schemas.openxmlformats.org/officeDocument/2006/math">
                    <m:r>
                      <a:rPr lang="en-US" sz="2400" i="1" dirty="0" smtClean="0">
                        <a:latin typeface="Cambria Math" panose="02040503050406030204" pitchFamily="18" charset="0"/>
                        <a:cs typeface="Times New Roman"/>
                      </a:rPr>
                      <m:t>𝐴</m:t>
                    </m:r>
                  </m:oMath>
                </a14:m>
                <a:r>
                  <a:rPr lang="en-US" sz="2400" dirty="0">
                    <a:latin typeface="Times New Roman"/>
                    <a:cs typeface="Times New Roman"/>
                  </a:rPr>
                  <a:t> tries to maximize and therefore </a:t>
                </a:r>
                <a:r>
                  <a:rPr lang="en-US" sz="2400" i="1" dirty="0">
                    <a:latin typeface="Times New Roman"/>
                    <a:cs typeface="Times New Roman"/>
                  </a:rPr>
                  <a:t>s</a:t>
                </a:r>
                <a:r>
                  <a:rPr lang="en-US" sz="2400" i="1" baseline="-25000" dirty="0">
                    <a:latin typeface="Times New Roman"/>
                    <a:cs typeface="Times New Roman"/>
                  </a:rPr>
                  <a:t>1</a:t>
                </a:r>
                <a:r>
                  <a:rPr lang="en-US" sz="2400" dirty="0">
                    <a:latin typeface="Times New Roman"/>
                    <a:cs typeface="Times New Roman"/>
                  </a:rPr>
                  <a:t> is dominated by </a:t>
                </a:r>
                <a:r>
                  <a:rPr lang="en-US" sz="2400" i="1" dirty="0">
                    <a:latin typeface="Times New Roman"/>
                    <a:cs typeface="Times New Roman"/>
                  </a:rPr>
                  <a:t>s</a:t>
                </a:r>
                <a:r>
                  <a:rPr lang="en-US" sz="2400" i="1" baseline="-25000" dirty="0">
                    <a:latin typeface="Times New Roman"/>
                    <a:cs typeface="Times New Roman"/>
                  </a:rPr>
                  <a:t>3</a:t>
                </a:r>
                <a:r>
                  <a:rPr lang="en-US" sz="2400" dirty="0">
                    <a:latin typeface="Times New Roman"/>
                    <a:cs typeface="Times New Roman"/>
                  </a:rPr>
                  <a:t>.</a:t>
                </a:r>
              </a:p>
            </p:txBody>
          </p:sp>
        </mc:Choice>
        <mc:Fallback xmlns="">
          <p:sp>
            <p:nvSpPr>
              <p:cNvPr id="3" name="object 5">
                <a:extLst>
                  <a:ext uri="{FF2B5EF4-FFF2-40B4-BE49-F238E27FC236}">
                    <a16:creationId xmlns:a16="http://schemas.microsoft.com/office/drawing/2014/main" id="{41DE2BC2-E485-3742-3526-BC01B1976B8E}"/>
                  </a:ext>
                </a:extLst>
              </p:cNvPr>
              <p:cNvSpPr txBox="1">
                <a:spLocks noRot="1" noChangeAspect="1" noMove="1" noResize="1" noEditPoints="1" noAdjustHandles="1" noChangeArrowheads="1" noChangeShapeType="1" noTextEdit="1"/>
              </p:cNvSpPr>
              <p:nvPr/>
            </p:nvSpPr>
            <p:spPr>
              <a:xfrm>
                <a:off x="451485" y="1570672"/>
                <a:ext cx="4349115" cy="738664"/>
              </a:xfrm>
              <a:prstGeom prst="rect">
                <a:avLst/>
              </a:prstGeom>
              <a:blipFill>
                <a:blip r:embed="rId3"/>
                <a:stretch>
                  <a:fillRect l="-3922" t="-13223" r="-5602" b="-239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6">
                <a:extLst>
                  <a:ext uri="{FF2B5EF4-FFF2-40B4-BE49-F238E27FC236}">
                    <a16:creationId xmlns:a16="http://schemas.microsoft.com/office/drawing/2014/main" id="{7666397D-1B4F-8643-CF96-A8D85A0D9F35}"/>
                  </a:ext>
                </a:extLst>
              </p:cNvPr>
              <p:cNvSpPr txBox="1"/>
              <p:nvPr/>
            </p:nvSpPr>
            <p:spPr>
              <a:xfrm>
                <a:off x="451485" y="2870478"/>
                <a:ext cx="4653915" cy="369332"/>
              </a:xfrm>
              <a:prstGeom prst="rect">
                <a:avLst/>
              </a:prstGeom>
            </p:spPr>
            <p:txBody>
              <a:bodyPr vert="horz" wrap="square" lIns="0" tIns="0" rIns="0" bIns="0" rtlCol="0">
                <a:spAutoFit/>
              </a:bodyPr>
              <a:lstStyle/>
              <a:p>
                <a:pPr marL="12700"/>
                <a14:m>
                  <m:oMath xmlns:m="http://schemas.openxmlformats.org/officeDocument/2006/math">
                    <m:r>
                      <a:rPr lang="en-US" sz="2400" i="1" dirty="0" smtClean="0">
                        <a:latin typeface="Cambria Math" panose="02040503050406030204" pitchFamily="18" charset="0"/>
                        <a:cs typeface="Times New Roman"/>
                      </a:rPr>
                      <m:t>𝐴</m:t>
                    </m:r>
                  </m:oMath>
                </a14:m>
                <a:r>
                  <a:rPr lang="en-US" sz="2400" dirty="0">
                    <a:latin typeface="Times New Roman"/>
                    <a:cs typeface="Times New Roman"/>
                  </a:rPr>
                  <a:t> will never play </a:t>
                </a:r>
                <a:r>
                  <a:rPr lang="en-US" sz="2400" i="1" dirty="0">
                    <a:latin typeface="Times New Roman"/>
                    <a:cs typeface="Times New Roman"/>
                  </a:rPr>
                  <a:t>s</a:t>
                </a:r>
                <a:r>
                  <a:rPr lang="en-US" sz="2400" i="1" baseline="-25000" dirty="0">
                    <a:latin typeface="Times New Roman"/>
                    <a:cs typeface="Times New Roman"/>
                  </a:rPr>
                  <a:t>1</a:t>
                </a:r>
                <a:r>
                  <a:rPr lang="en-US" sz="2400" dirty="0">
                    <a:latin typeface="Times New Roman"/>
                    <a:cs typeface="Times New Roman"/>
                  </a:rPr>
                  <a:t>.</a:t>
                </a:r>
              </a:p>
            </p:txBody>
          </p:sp>
        </mc:Choice>
        <mc:Fallback xmlns="">
          <p:sp>
            <p:nvSpPr>
              <p:cNvPr id="4" name="object 6">
                <a:extLst>
                  <a:ext uri="{FF2B5EF4-FFF2-40B4-BE49-F238E27FC236}">
                    <a16:creationId xmlns:a16="http://schemas.microsoft.com/office/drawing/2014/main" id="{7666397D-1B4F-8643-CF96-A8D85A0D9F35}"/>
                  </a:ext>
                </a:extLst>
              </p:cNvPr>
              <p:cNvSpPr txBox="1">
                <a:spLocks noRot="1" noChangeAspect="1" noMove="1" noResize="1" noEditPoints="1" noAdjustHandles="1" noChangeArrowheads="1" noChangeShapeType="1" noTextEdit="1"/>
              </p:cNvSpPr>
              <p:nvPr/>
            </p:nvSpPr>
            <p:spPr>
              <a:xfrm>
                <a:off x="451485" y="2870478"/>
                <a:ext cx="4653915" cy="369332"/>
              </a:xfrm>
              <a:prstGeom prst="rect">
                <a:avLst/>
              </a:prstGeom>
              <a:blipFill>
                <a:blip r:embed="rId4"/>
                <a:stretch>
                  <a:fillRect l="-1963" t="-26667" b="-50000"/>
                </a:stretch>
              </a:blipFill>
            </p:spPr>
            <p:txBody>
              <a:bodyPr/>
              <a:lstStyle/>
              <a:p>
                <a:r>
                  <a:rPr lang="en-US">
                    <a:noFill/>
                  </a:rPr>
                  <a:t> </a:t>
                </a:r>
              </a:p>
            </p:txBody>
          </p:sp>
        </mc:Fallback>
      </mc:AlternateContent>
      <p:graphicFrame>
        <p:nvGraphicFramePr>
          <p:cNvPr id="9" name="Table 9">
            <a:extLst>
              <a:ext uri="{FF2B5EF4-FFF2-40B4-BE49-F238E27FC236}">
                <a16:creationId xmlns:a16="http://schemas.microsoft.com/office/drawing/2014/main" id="{48D753CD-DDCE-8E83-BE78-20E134B42F05}"/>
              </a:ext>
            </a:extLst>
          </p:cNvPr>
          <p:cNvGraphicFramePr>
            <a:graphicFrameLocks noGrp="1"/>
          </p:cNvGraphicFramePr>
          <p:nvPr>
            <p:extLst>
              <p:ext uri="{D42A27DB-BD31-4B8C-83A1-F6EECF244321}">
                <p14:modId xmlns:p14="http://schemas.microsoft.com/office/powerpoint/2010/main" val="3621791491"/>
              </p:ext>
            </p:extLst>
          </p:nvPr>
        </p:nvGraphicFramePr>
        <p:xfrm>
          <a:off x="487344" y="3469392"/>
          <a:ext cx="3429000" cy="198120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817312379"/>
                    </a:ext>
                  </a:extLst>
                </a:gridCol>
                <a:gridCol w="685800">
                  <a:extLst>
                    <a:ext uri="{9D8B030D-6E8A-4147-A177-3AD203B41FA5}">
                      <a16:colId xmlns:a16="http://schemas.microsoft.com/office/drawing/2014/main" val="2725113786"/>
                    </a:ext>
                  </a:extLst>
                </a:gridCol>
                <a:gridCol w="685800">
                  <a:extLst>
                    <a:ext uri="{9D8B030D-6E8A-4147-A177-3AD203B41FA5}">
                      <a16:colId xmlns:a16="http://schemas.microsoft.com/office/drawing/2014/main" val="762545278"/>
                    </a:ext>
                  </a:extLst>
                </a:gridCol>
                <a:gridCol w="685800">
                  <a:extLst>
                    <a:ext uri="{9D8B030D-6E8A-4147-A177-3AD203B41FA5}">
                      <a16:colId xmlns:a16="http://schemas.microsoft.com/office/drawing/2014/main" val="8029837"/>
                    </a:ext>
                  </a:extLst>
                </a:gridCol>
                <a:gridCol w="685800">
                  <a:extLst>
                    <a:ext uri="{9D8B030D-6E8A-4147-A177-3AD203B41FA5}">
                      <a16:colId xmlns:a16="http://schemas.microsoft.com/office/drawing/2014/main" val="1658348143"/>
                    </a:ext>
                  </a:extLst>
                </a:gridCol>
              </a:tblGrid>
              <a:tr h="370840">
                <a:tc>
                  <a:txBody>
                    <a:bodyPr/>
                    <a:lstStyle/>
                    <a:p>
                      <a:pPr algn="ctr"/>
                      <a:endParaRPr 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i="1" dirty="0"/>
                        <a:t>t</a:t>
                      </a:r>
                      <a:r>
                        <a:rPr lang="en-US" sz="2000" i="1" baseline="-25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r>
                        <a:rPr lang="en-US" sz="2000" i="1" dirty="0">
                          <a:solidFill>
                            <a:schemeClr val="tx1"/>
                          </a:solidFill>
                          <a:latin typeface="+mn-lt"/>
                          <a:ea typeface="+mn-ea"/>
                          <a:cs typeface="+mn-cs"/>
                        </a:rPr>
                        <a:t>t</a:t>
                      </a:r>
                      <a:r>
                        <a:rPr lang="en-US" sz="2000" i="1" baseline="-25000" dirty="0">
                          <a:solidFill>
                            <a:schemeClr val="tx1"/>
                          </a:solidFill>
                          <a:latin typeface="+mn-lt"/>
                          <a:ea typeface="+mn-ea"/>
                          <a:cs typeface="+mn-cs"/>
                        </a:rPr>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i="1" dirty="0"/>
                        <a:t>t</a:t>
                      </a:r>
                      <a:r>
                        <a:rPr lang="en-US" sz="2000" i="1" baseline="-250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i="1" dirty="0"/>
                        <a:t>t</a:t>
                      </a:r>
                      <a:r>
                        <a:rPr lang="en-US" sz="2000" i="1" baseline="-250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7379048"/>
                  </a:ext>
                </a:extLst>
              </a:tr>
              <a:tr h="370840">
                <a:tc>
                  <a:txBody>
                    <a:bodyPr/>
                    <a:lstStyle/>
                    <a:p>
                      <a:pPr algn="ctr"/>
                      <a:r>
                        <a:rPr lang="en-US" sz="2000" i="1" dirty="0"/>
                        <a:t>s</a:t>
                      </a:r>
                      <a:r>
                        <a:rPr lang="en-US" sz="2000" i="1" baseline="-25000" dirty="0"/>
                        <a:t>1</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-2</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2</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-1</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1</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3738698697"/>
                  </a:ext>
                </a:extLst>
              </a:tr>
              <a:tr h="370840">
                <a:tc>
                  <a:txBody>
                    <a:bodyPr/>
                    <a:lstStyle/>
                    <a:p>
                      <a:pPr algn="ctr" rtl="0"/>
                      <a:r>
                        <a:rPr lang="en-US" sz="2000" i="1" dirty="0"/>
                        <a:t>s</a:t>
                      </a:r>
                      <a:r>
                        <a:rPr lang="en-US" sz="2000" i="1" baseline="-250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2678394"/>
                  </a:ext>
                </a:extLst>
              </a:tr>
              <a:tr h="370840">
                <a:tc>
                  <a:txBody>
                    <a:bodyPr/>
                    <a:lstStyle/>
                    <a:p>
                      <a:pPr algn="ctr"/>
                      <a:r>
                        <a:rPr lang="en-US" sz="2000" i="1" dirty="0"/>
                        <a:t>s</a:t>
                      </a:r>
                      <a:r>
                        <a:rPr lang="en-US" sz="2000" i="1" baseline="-250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0</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7852965"/>
                  </a:ext>
                </a:extLst>
              </a:tr>
              <a:tr h="370840">
                <a:tc>
                  <a:txBody>
                    <a:bodyPr/>
                    <a:lstStyle/>
                    <a:p>
                      <a:pPr algn="ctr"/>
                      <a:r>
                        <a:rPr lang="en-US" sz="2000" i="1" dirty="0"/>
                        <a:t>s</a:t>
                      </a:r>
                      <a:r>
                        <a:rPr lang="en-US" sz="2000" i="1" baseline="-250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0264348"/>
                  </a:ext>
                </a:extLst>
              </a:tr>
            </a:tbl>
          </a:graphicData>
        </a:graphic>
      </p:graphicFrame>
      <p:sp>
        <p:nvSpPr>
          <p:cNvPr id="6" name="Slide Number Placeholder 8">
            <a:extLst>
              <a:ext uri="{FF2B5EF4-FFF2-40B4-BE49-F238E27FC236}">
                <a16:creationId xmlns:a16="http://schemas.microsoft.com/office/drawing/2014/main" id="{F16A0C03-0BE3-9BE0-05DC-A67CAEE748AB}"/>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12</a:t>
            </a:fld>
            <a:r>
              <a:rPr lang="en-US" sz="2000" dirty="0">
                <a:solidFill>
                  <a:prstClr val="black"/>
                </a:solidFill>
                <a:latin typeface="Comic Sans MS"/>
                <a:sym typeface="Comic Sans MS"/>
              </a:rPr>
              <a:t>/46</a:t>
            </a:r>
          </a:p>
        </p:txBody>
      </p:sp>
      <p:sp>
        <p:nvSpPr>
          <p:cNvPr id="7" name="Footer Placeholder 9">
            <a:extLst>
              <a:ext uri="{FF2B5EF4-FFF2-40B4-BE49-F238E27FC236}">
                <a16:creationId xmlns:a16="http://schemas.microsoft.com/office/drawing/2014/main" id="{A56018C4-A85F-E03C-98A3-A5C56DF52938}"/>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8" name="Rectangle 7">
            <a:extLst>
              <a:ext uri="{FF2B5EF4-FFF2-40B4-BE49-F238E27FC236}">
                <a16:creationId xmlns:a16="http://schemas.microsoft.com/office/drawing/2014/main" id="{2823509D-CE2C-0858-D57E-66AC3859D31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1" name="Rectangle 10">
            <a:extLst>
              <a:ext uri="{FF2B5EF4-FFF2-40B4-BE49-F238E27FC236}">
                <a16:creationId xmlns:a16="http://schemas.microsoft.com/office/drawing/2014/main" id="{58189AD0-987F-19FF-14AB-B40B022AD032}"/>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01F32673-A452-B482-481F-254F0D1C4A5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BF4895B-CC78-4559-42EF-3CA9D16BCDDD}"/>
                  </a:ext>
                </a:extLst>
              </p:cNvPr>
              <p:cNvSpPr txBox="1"/>
              <p:nvPr/>
            </p:nvSpPr>
            <p:spPr>
              <a:xfrm>
                <a:off x="5722956" y="3148264"/>
                <a:ext cx="1129553" cy="369332"/>
              </a:xfrm>
              <a:prstGeom prst="rect">
                <a:avLst/>
              </a:prstGeom>
              <a:noFill/>
            </p:spPr>
            <p:txBody>
              <a:bodyPr wrap="square">
                <a:spAutoFit/>
              </a:bodyPr>
              <a:lstStyle/>
              <a:p>
                <a:r>
                  <a:rPr lang="en-US" sz="1800" dirty="0">
                    <a:latin typeface="Times New Roman"/>
                    <a:cs typeface="Times New Roman"/>
                  </a:rPr>
                  <a:t>player </a:t>
                </a:r>
                <a14:m>
                  <m:oMath xmlns:m="http://schemas.openxmlformats.org/officeDocument/2006/math">
                    <m:r>
                      <a:rPr lang="en-US" sz="1800" b="0" i="1" dirty="0" smtClean="0">
                        <a:latin typeface="Cambria Math" panose="02040503050406030204" pitchFamily="18" charset="0"/>
                        <a:cs typeface="Times New Roman"/>
                      </a:rPr>
                      <m:t>𝐵</m:t>
                    </m:r>
                    <m:r>
                      <a:rPr lang="en-US" sz="1800" b="0" i="1" dirty="0" smtClean="0">
                        <a:latin typeface="Cambria Math" panose="02040503050406030204" pitchFamily="18" charset="0"/>
                        <a:cs typeface="Times New Roman"/>
                      </a:rPr>
                      <m:t>?</m:t>
                    </m:r>
                  </m:oMath>
                </a14:m>
                <a:r>
                  <a:rPr lang="en-US" sz="1800" dirty="0">
                    <a:latin typeface="Times New Roman"/>
                    <a:cs typeface="Times New Roman"/>
                  </a:rPr>
                  <a:t> </a:t>
                </a:r>
                <a:endParaRPr lang="en-US" dirty="0"/>
              </a:p>
            </p:txBody>
          </p:sp>
        </mc:Choice>
        <mc:Fallback xmlns="">
          <p:sp>
            <p:nvSpPr>
              <p:cNvPr id="14" name="TextBox 13">
                <a:extLst>
                  <a:ext uri="{FF2B5EF4-FFF2-40B4-BE49-F238E27FC236}">
                    <a16:creationId xmlns:a16="http://schemas.microsoft.com/office/drawing/2014/main" id="{4BF4895B-CC78-4559-42EF-3CA9D16BCDDD}"/>
                  </a:ext>
                </a:extLst>
              </p:cNvPr>
              <p:cNvSpPr txBox="1">
                <a:spLocks noRot="1" noChangeAspect="1" noMove="1" noResize="1" noEditPoints="1" noAdjustHandles="1" noChangeArrowheads="1" noChangeShapeType="1" noTextEdit="1"/>
              </p:cNvSpPr>
              <p:nvPr/>
            </p:nvSpPr>
            <p:spPr>
              <a:xfrm>
                <a:off x="5722956" y="3148264"/>
                <a:ext cx="1129553" cy="369332"/>
              </a:xfrm>
              <a:prstGeom prst="rect">
                <a:avLst/>
              </a:prstGeom>
              <a:blipFill>
                <a:blip r:embed="rId5"/>
                <a:stretch>
                  <a:fillRect l="-4865" t="-9836" b="-22951"/>
                </a:stretch>
              </a:blipFill>
            </p:spPr>
            <p:txBody>
              <a:bodyPr/>
              <a:lstStyle/>
              <a:p>
                <a:r>
                  <a:rPr lang="en-US">
                    <a:noFill/>
                  </a:rPr>
                  <a:t> </a:t>
                </a:r>
              </a:p>
            </p:txBody>
          </p:sp>
        </mc:Fallback>
      </mc:AlternateContent>
      <p:graphicFrame>
        <p:nvGraphicFramePr>
          <p:cNvPr id="15" name="Table 9">
            <a:extLst>
              <a:ext uri="{FF2B5EF4-FFF2-40B4-BE49-F238E27FC236}">
                <a16:creationId xmlns:a16="http://schemas.microsoft.com/office/drawing/2014/main" id="{7CCEA755-B251-F3B2-12A9-4002F3F975CA}"/>
              </a:ext>
            </a:extLst>
          </p:cNvPr>
          <p:cNvGraphicFramePr>
            <a:graphicFrameLocks noGrp="1"/>
          </p:cNvGraphicFramePr>
          <p:nvPr>
            <p:extLst>
              <p:ext uri="{D42A27DB-BD31-4B8C-83A1-F6EECF244321}">
                <p14:modId xmlns:p14="http://schemas.microsoft.com/office/powerpoint/2010/main" val="306836204"/>
              </p:ext>
            </p:extLst>
          </p:nvPr>
        </p:nvGraphicFramePr>
        <p:xfrm>
          <a:off x="4464423" y="3470773"/>
          <a:ext cx="3429000" cy="198120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817312379"/>
                    </a:ext>
                  </a:extLst>
                </a:gridCol>
                <a:gridCol w="685800">
                  <a:extLst>
                    <a:ext uri="{9D8B030D-6E8A-4147-A177-3AD203B41FA5}">
                      <a16:colId xmlns:a16="http://schemas.microsoft.com/office/drawing/2014/main" val="2725113786"/>
                    </a:ext>
                  </a:extLst>
                </a:gridCol>
                <a:gridCol w="685800">
                  <a:extLst>
                    <a:ext uri="{9D8B030D-6E8A-4147-A177-3AD203B41FA5}">
                      <a16:colId xmlns:a16="http://schemas.microsoft.com/office/drawing/2014/main" val="762545278"/>
                    </a:ext>
                  </a:extLst>
                </a:gridCol>
                <a:gridCol w="685800">
                  <a:extLst>
                    <a:ext uri="{9D8B030D-6E8A-4147-A177-3AD203B41FA5}">
                      <a16:colId xmlns:a16="http://schemas.microsoft.com/office/drawing/2014/main" val="8029837"/>
                    </a:ext>
                  </a:extLst>
                </a:gridCol>
                <a:gridCol w="685800">
                  <a:extLst>
                    <a:ext uri="{9D8B030D-6E8A-4147-A177-3AD203B41FA5}">
                      <a16:colId xmlns:a16="http://schemas.microsoft.com/office/drawing/2014/main" val="1658348143"/>
                    </a:ext>
                  </a:extLst>
                </a:gridCol>
              </a:tblGrid>
              <a:tr h="370840">
                <a:tc>
                  <a:txBody>
                    <a:bodyPr/>
                    <a:lstStyle/>
                    <a:p>
                      <a:pPr algn="ctr"/>
                      <a:endParaRPr 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i="1" dirty="0"/>
                        <a:t>t</a:t>
                      </a:r>
                      <a:r>
                        <a:rPr lang="en-US" sz="2000" i="1" baseline="-25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marL="0" algn="ctr"/>
                      <a:r>
                        <a:rPr lang="en-US" sz="2000" i="1" dirty="0">
                          <a:solidFill>
                            <a:schemeClr val="tx1"/>
                          </a:solidFill>
                          <a:latin typeface="+mn-lt"/>
                          <a:ea typeface="+mn-ea"/>
                          <a:cs typeface="+mn-cs"/>
                        </a:rPr>
                        <a:t>t</a:t>
                      </a:r>
                      <a:r>
                        <a:rPr lang="en-US" sz="2000" i="1" baseline="-25000" dirty="0">
                          <a:solidFill>
                            <a:schemeClr val="tx1"/>
                          </a:solidFill>
                          <a:latin typeface="+mn-lt"/>
                          <a:ea typeface="+mn-ea"/>
                          <a:cs typeface="+mn-cs"/>
                        </a:rPr>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i="1" dirty="0"/>
                        <a:t>t</a:t>
                      </a:r>
                      <a:r>
                        <a:rPr lang="en-US" sz="2000" i="1" baseline="-250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2000" i="1" dirty="0"/>
                        <a:t>t</a:t>
                      </a:r>
                      <a:r>
                        <a:rPr lang="en-US" sz="2000" i="1" baseline="-250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7379048"/>
                  </a:ext>
                </a:extLst>
              </a:tr>
              <a:tr h="370840">
                <a:tc>
                  <a:txBody>
                    <a:bodyPr/>
                    <a:lstStyle/>
                    <a:p>
                      <a:pPr algn="ctr"/>
                      <a:r>
                        <a:rPr lang="en-US" sz="2000" i="1" dirty="0"/>
                        <a:t>s</a:t>
                      </a:r>
                      <a:r>
                        <a:rPr lang="en-US" sz="2000" i="1" baseline="-25000" dirty="0"/>
                        <a:t>1</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-2</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2</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-1</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1</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3738698697"/>
                  </a:ext>
                </a:extLst>
              </a:tr>
              <a:tr h="370840">
                <a:tc>
                  <a:txBody>
                    <a:bodyPr/>
                    <a:lstStyle/>
                    <a:p>
                      <a:pPr algn="ctr" rtl="0"/>
                      <a:r>
                        <a:rPr lang="en-US" sz="2000" i="1" dirty="0"/>
                        <a:t>s</a:t>
                      </a:r>
                      <a:r>
                        <a:rPr lang="en-US" sz="2000" i="1" baseline="-250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solidFill>
                            <a:srgbClr val="FF0000"/>
                          </a:solidFill>
                        </a:rPr>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solidFill>
                            <a:srgbClr val="FF0000"/>
                          </a:solidFill>
                        </a:rPr>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42678394"/>
                  </a:ext>
                </a:extLst>
              </a:tr>
              <a:tr h="370840">
                <a:tc>
                  <a:txBody>
                    <a:bodyPr/>
                    <a:lstStyle/>
                    <a:p>
                      <a:pPr algn="ctr"/>
                      <a:r>
                        <a:rPr lang="en-US" sz="2000" i="1" dirty="0"/>
                        <a:t>s</a:t>
                      </a:r>
                      <a:r>
                        <a:rPr lang="en-US" sz="2000" i="1" baseline="-250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solidFill>
                            <a:srgbClr val="FF0000"/>
                          </a:solidFill>
                        </a:rPr>
                        <a:t>0</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solidFill>
                            <a:srgbClr val="FF0000"/>
                          </a:solidFill>
                        </a:rPr>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7852965"/>
                  </a:ext>
                </a:extLst>
              </a:tr>
              <a:tr h="370840">
                <a:tc>
                  <a:txBody>
                    <a:bodyPr/>
                    <a:lstStyle/>
                    <a:p>
                      <a:pPr algn="ctr"/>
                      <a:r>
                        <a:rPr lang="en-US" sz="2000" i="1" dirty="0"/>
                        <a:t>s</a:t>
                      </a:r>
                      <a:r>
                        <a:rPr lang="en-US" sz="2000" i="1" baseline="-250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solidFill>
                            <a:srgbClr val="FF0000"/>
                          </a:solidFill>
                        </a:rPr>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solidFill>
                            <a:srgbClr val="FF0000"/>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90000"/>
                      </a:schemeClr>
                    </a:solidFill>
                  </a:tcPr>
                </a:tc>
                <a:tc>
                  <a:txBody>
                    <a:bodyPr/>
                    <a:lstStyle/>
                    <a:p>
                      <a:pPr algn="ctr"/>
                      <a:r>
                        <a:rPr lang="en-US" sz="2000" dirty="0"/>
                        <a:t>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0264348"/>
                  </a:ext>
                </a:extLst>
              </a:tr>
            </a:tbl>
          </a:graphicData>
        </a:graphic>
      </p:graphicFrame>
    </p:spTree>
    <p:extLst>
      <p:ext uri="{BB962C8B-B14F-4D97-AF65-F5344CB8AC3E}">
        <p14:creationId xmlns:p14="http://schemas.microsoft.com/office/powerpoint/2010/main" val="2271194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574571"/>
            <a:ext cx="8221344" cy="492443"/>
          </a:xfrm>
          <a:prstGeom prst="rect">
            <a:avLst/>
          </a:prstGeom>
        </p:spPr>
        <p:txBody>
          <a:bodyPr vert="horz" wrap="square" lIns="0" tIns="0" rIns="0" bIns="0" rtlCol="0">
            <a:spAutoFit/>
          </a:bodyPr>
          <a:lstStyle/>
          <a:p>
            <a:pPr marL="12700">
              <a:lnSpc>
                <a:spcPct val="100000"/>
              </a:lnSpc>
            </a:pPr>
            <a:endParaRPr dirty="0"/>
          </a:p>
        </p:txBody>
      </p:sp>
      <mc:AlternateContent xmlns:mc="http://schemas.openxmlformats.org/markup-compatibility/2006" xmlns:a14="http://schemas.microsoft.com/office/drawing/2010/main">
        <mc:Choice Requires="a14">
          <p:sp>
            <p:nvSpPr>
              <p:cNvPr id="3" name="object 5">
                <a:extLst>
                  <a:ext uri="{FF2B5EF4-FFF2-40B4-BE49-F238E27FC236}">
                    <a16:creationId xmlns:a16="http://schemas.microsoft.com/office/drawing/2014/main" id="{41DE2BC2-E485-3742-3526-BC01B1976B8E}"/>
                  </a:ext>
                </a:extLst>
              </p:cNvPr>
              <p:cNvSpPr txBox="1"/>
              <p:nvPr/>
            </p:nvSpPr>
            <p:spPr>
              <a:xfrm>
                <a:off x="451485" y="1570672"/>
                <a:ext cx="7016115" cy="1846659"/>
              </a:xfrm>
              <a:prstGeom prst="rect">
                <a:avLst/>
              </a:prstGeom>
            </p:spPr>
            <p:txBody>
              <a:bodyPr vert="horz" wrap="square" lIns="0" tIns="0" rIns="0" bIns="0" rtlCol="0">
                <a:spAutoFit/>
              </a:bodyPr>
              <a:lstStyle/>
              <a:p>
                <a:pPr marL="12700"/>
                <a:r>
                  <a:rPr lang="en-US" sz="2400" dirty="0">
                    <a:latin typeface="Times New Roman"/>
                    <a:cs typeface="Times New Roman"/>
                  </a:rPr>
                  <a:t>The column player </a:t>
                </a:r>
                <a14:m>
                  <m:oMath xmlns:m="http://schemas.openxmlformats.org/officeDocument/2006/math">
                    <m:r>
                      <a:rPr lang="en-US" sz="2400" i="1" dirty="0" smtClean="0">
                        <a:latin typeface="Cambria Math" panose="02040503050406030204" pitchFamily="18" charset="0"/>
                        <a:cs typeface="Times New Roman"/>
                      </a:rPr>
                      <m:t>𝐵</m:t>
                    </m:r>
                  </m:oMath>
                </a14:m>
                <a:r>
                  <a:rPr lang="en-US" sz="2400" dirty="0">
                    <a:latin typeface="Times New Roman"/>
                    <a:cs typeface="Times New Roman"/>
                  </a:rPr>
                  <a:t> knows that </a:t>
                </a:r>
                <a14:m>
                  <m:oMath xmlns:m="http://schemas.openxmlformats.org/officeDocument/2006/math">
                    <m:r>
                      <a:rPr lang="en-US" sz="2400" i="1" dirty="0" smtClean="0">
                        <a:latin typeface="Cambria Math" panose="02040503050406030204" pitchFamily="18" charset="0"/>
                        <a:cs typeface="Times New Roman"/>
                      </a:rPr>
                      <m:t>𝐴</m:t>
                    </m:r>
                  </m:oMath>
                </a14:m>
                <a:r>
                  <a:rPr lang="en-US" sz="2400" dirty="0">
                    <a:latin typeface="Times New Roman"/>
                    <a:cs typeface="Times New Roman"/>
                  </a:rPr>
                  <a:t> will never play </a:t>
                </a:r>
                <a:r>
                  <a:rPr lang="en-US" sz="2400" i="1" dirty="0">
                    <a:latin typeface="Times New Roman"/>
                    <a:cs typeface="Times New Roman"/>
                  </a:rPr>
                  <a:t>s</a:t>
                </a:r>
                <a:r>
                  <a:rPr lang="en-US" sz="2400" i="1" baseline="-25000" dirty="0">
                    <a:latin typeface="Times New Roman"/>
                    <a:cs typeface="Times New Roman"/>
                  </a:rPr>
                  <a:t>1</a:t>
                </a:r>
                <a:r>
                  <a:rPr lang="en-US" sz="2400" dirty="0">
                    <a:latin typeface="Times New Roman"/>
                    <a:cs typeface="Times New Roman"/>
                  </a:rPr>
                  <a:t>.</a:t>
                </a:r>
              </a:p>
              <a:p>
                <a:pPr marL="12700"/>
                <a:endParaRPr lang="en-US" sz="2400" dirty="0">
                  <a:latin typeface="Times New Roman"/>
                  <a:cs typeface="Times New Roman"/>
                </a:endParaRPr>
              </a:p>
              <a:p>
                <a:pPr marL="12700"/>
                <a14:m>
                  <m:oMath xmlns:m="http://schemas.openxmlformats.org/officeDocument/2006/math">
                    <m:r>
                      <a:rPr lang="en-US" sz="2400" i="1" dirty="0" smtClean="0">
                        <a:latin typeface="Cambria Math" panose="02040503050406030204" pitchFamily="18" charset="0"/>
                        <a:cs typeface="Times New Roman"/>
                      </a:rPr>
                      <m:t>𝐵</m:t>
                    </m:r>
                  </m:oMath>
                </a14:m>
                <a:r>
                  <a:rPr lang="en-US" sz="2400" dirty="0">
                    <a:latin typeface="Times New Roman"/>
                    <a:cs typeface="Times New Roman"/>
                  </a:rPr>
                  <a:t> tries to minimize and therefore </a:t>
                </a:r>
                <a:r>
                  <a:rPr lang="en-US" sz="2400" i="1" dirty="0">
                    <a:latin typeface="Times New Roman"/>
                    <a:cs typeface="Times New Roman"/>
                  </a:rPr>
                  <a:t>t</a:t>
                </a:r>
                <a:r>
                  <a:rPr lang="en-US" sz="2400" i="1" baseline="-25000" dirty="0">
                    <a:latin typeface="Times New Roman"/>
                    <a:cs typeface="Times New Roman"/>
                  </a:rPr>
                  <a:t>1</a:t>
                </a:r>
                <a:r>
                  <a:rPr lang="en-US" sz="2400" dirty="0">
                    <a:latin typeface="Times New Roman"/>
                    <a:cs typeface="Times New Roman"/>
                  </a:rPr>
                  <a:t> is dominated by </a:t>
                </a:r>
                <a:r>
                  <a:rPr lang="en-US" sz="2400" i="1" dirty="0">
                    <a:latin typeface="Times New Roman"/>
                    <a:cs typeface="Times New Roman"/>
                  </a:rPr>
                  <a:t>t</a:t>
                </a:r>
                <a:r>
                  <a:rPr lang="en-US" sz="2400" i="1" baseline="-25000" dirty="0">
                    <a:latin typeface="Times New Roman"/>
                    <a:cs typeface="Times New Roman"/>
                  </a:rPr>
                  <a:t>3</a:t>
                </a:r>
                <a:r>
                  <a:rPr lang="en-US" sz="2400" dirty="0">
                    <a:latin typeface="Times New Roman"/>
                    <a:cs typeface="Times New Roman"/>
                  </a:rPr>
                  <a:t>.</a:t>
                </a:r>
              </a:p>
              <a:p>
                <a:pPr marL="12700"/>
                <a:endParaRPr lang="en-US" sz="2400" dirty="0">
                  <a:latin typeface="Times New Roman"/>
                  <a:cs typeface="Times New Roman"/>
                </a:endParaRPr>
              </a:p>
              <a:p>
                <a:pPr marL="12700"/>
                <a14:m>
                  <m:oMath xmlns:m="http://schemas.openxmlformats.org/officeDocument/2006/math">
                    <m:r>
                      <a:rPr lang="en-US" sz="2400" i="1" dirty="0" smtClean="0">
                        <a:latin typeface="Cambria Math" panose="02040503050406030204" pitchFamily="18" charset="0"/>
                        <a:cs typeface="Times New Roman"/>
                      </a:rPr>
                      <m:t>𝐵</m:t>
                    </m:r>
                  </m:oMath>
                </a14:m>
                <a:r>
                  <a:rPr lang="en-US" sz="2400" dirty="0">
                    <a:latin typeface="Times New Roman"/>
                    <a:cs typeface="Times New Roman"/>
                  </a:rPr>
                  <a:t> will never play </a:t>
                </a:r>
                <a:r>
                  <a:rPr lang="en-US" sz="2400" i="1" dirty="0">
                    <a:latin typeface="Times New Roman"/>
                    <a:cs typeface="Times New Roman"/>
                  </a:rPr>
                  <a:t>t</a:t>
                </a:r>
                <a:r>
                  <a:rPr lang="en-US" sz="2400" i="1" baseline="-25000" dirty="0">
                    <a:latin typeface="Times New Roman"/>
                    <a:cs typeface="Times New Roman"/>
                  </a:rPr>
                  <a:t>1</a:t>
                </a:r>
                <a:r>
                  <a:rPr lang="en-US" sz="2400" dirty="0">
                    <a:latin typeface="Times New Roman"/>
                    <a:cs typeface="Times New Roman"/>
                  </a:rPr>
                  <a:t>.</a:t>
                </a:r>
              </a:p>
            </p:txBody>
          </p:sp>
        </mc:Choice>
        <mc:Fallback xmlns="">
          <p:sp>
            <p:nvSpPr>
              <p:cNvPr id="3" name="object 5">
                <a:extLst>
                  <a:ext uri="{FF2B5EF4-FFF2-40B4-BE49-F238E27FC236}">
                    <a16:creationId xmlns:a16="http://schemas.microsoft.com/office/drawing/2014/main" id="{41DE2BC2-E485-3742-3526-BC01B1976B8E}"/>
                  </a:ext>
                </a:extLst>
              </p:cNvPr>
              <p:cNvSpPr txBox="1">
                <a:spLocks noRot="1" noChangeAspect="1" noMove="1" noResize="1" noEditPoints="1" noAdjustHandles="1" noChangeArrowheads="1" noChangeShapeType="1" noTextEdit="1"/>
              </p:cNvSpPr>
              <p:nvPr/>
            </p:nvSpPr>
            <p:spPr>
              <a:xfrm>
                <a:off x="451485" y="1570672"/>
                <a:ext cx="7016115" cy="1846659"/>
              </a:xfrm>
              <a:prstGeom prst="rect">
                <a:avLst/>
              </a:prstGeom>
              <a:blipFill>
                <a:blip r:embed="rId3"/>
                <a:stretch>
                  <a:fillRect l="-2433" t="-5281" b="-8911"/>
                </a:stretch>
              </a:blipFill>
            </p:spPr>
            <p:txBody>
              <a:bodyPr/>
              <a:lstStyle/>
              <a:p>
                <a:r>
                  <a:rPr lang="en-US">
                    <a:noFill/>
                  </a:rPr>
                  <a:t> </a:t>
                </a:r>
              </a:p>
            </p:txBody>
          </p:sp>
        </mc:Fallback>
      </mc:AlternateContent>
      <p:graphicFrame>
        <p:nvGraphicFramePr>
          <p:cNvPr id="9" name="Table 9">
            <a:extLst>
              <a:ext uri="{FF2B5EF4-FFF2-40B4-BE49-F238E27FC236}">
                <a16:creationId xmlns:a16="http://schemas.microsoft.com/office/drawing/2014/main" id="{48D753CD-DDCE-8E83-BE78-20E134B42F05}"/>
              </a:ext>
            </a:extLst>
          </p:cNvPr>
          <p:cNvGraphicFramePr>
            <a:graphicFrameLocks noGrp="1"/>
          </p:cNvGraphicFramePr>
          <p:nvPr>
            <p:extLst>
              <p:ext uri="{D42A27DB-BD31-4B8C-83A1-F6EECF244321}">
                <p14:modId xmlns:p14="http://schemas.microsoft.com/office/powerpoint/2010/main" val="3792285843"/>
              </p:ext>
            </p:extLst>
          </p:nvPr>
        </p:nvGraphicFramePr>
        <p:xfrm>
          <a:off x="2133600" y="3669268"/>
          <a:ext cx="3429000" cy="198120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817312379"/>
                    </a:ext>
                  </a:extLst>
                </a:gridCol>
                <a:gridCol w="685800">
                  <a:extLst>
                    <a:ext uri="{9D8B030D-6E8A-4147-A177-3AD203B41FA5}">
                      <a16:colId xmlns:a16="http://schemas.microsoft.com/office/drawing/2014/main" val="2725113786"/>
                    </a:ext>
                  </a:extLst>
                </a:gridCol>
                <a:gridCol w="685800">
                  <a:extLst>
                    <a:ext uri="{9D8B030D-6E8A-4147-A177-3AD203B41FA5}">
                      <a16:colId xmlns:a16="http://schemas.microsoft.com/office/drawing/2014/main" val="762545278"/>
                    </a:ext>
                  </a:extLst>
                </a:gridCol>
                <a:gridCol w="685800">
                  <a:extLst>
                    <a:ext uri="{9D8B030D-6E8A-4147-A177-3AD203B41FA5}">
                      <a16:colId xmlns:a16="http://schemas.microsoft.com/office/drawing/2014/main" val="8029837"/>
                    </a:ext>
                  </a:extLst>
                </a:gridCol>
                <a:gridCol w="685800">
                  <a:extLst>
                    <a:ext uri="{9D8B030D-6E8A-4147-A177-3AD203B41FA5}">
                      <a16:colId xmlns:a16="http://schemas.microsoft.com/office/drawing/2014/main" val="1658348143"/>
                    </a:ext>
                  </a:extLst>
                </a:gridCol>
              </a:tblGrid>
              <a:tr h="370840">
                <a:tc>
                  <a:txBody>
                    <a:bodyPr/>
                    <a:lstStyle/>
                    <a:p>
                      <a:pPr algn="ctr"/>
                      <a:endParaRPr lang="en-US" sz="20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i="1" dirty="0"/>
                        <a:t>t</a:t>
                      </a:r>
                      <a:r>
                        <a:rPr lang="en-US" sz="2000" i="1" baseline="-25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0" algn="ctr"/>
                      <a:r>
                        <a:rPr lang="en-US" sz="2000" i="1" dirty="0">
                          <a:solidFill>
                            <a:schemeClr val="tx1"/>
                          </a:solidFill>
                          <a:latin typeface="+mn-lt"/>
                          <a:ea typeface="+mn-ea"/>
                          <a:cs typeface="+mn-cs"/>
                        </a:rPr>
                        <a:t>t</a:t>
                      </a:r>
                      <a:r>
                        <a:rPr lang="en-US" sz="2000" i="1" baseline="-25000" dirty="0">
                          <a:solidFill>
                            <a:schemeClr val="tx1"/>
                          </a:solidFill>
                          <a:latin typeface="+mn-lt"/>
                          <a:ea typeface="+mn-ea"/>
                          <a:cs typeface="+mn-cs"/>
                        </a:rPr>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i="1" dirty="0"/>
                        <a:t>t</a:t>
                      </a:r>
                      <a:r>
                        <a:rPr lang="en-US" sz="2000" i="1" baseline="-250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i="1" dirty="0"/>
                        <a:t>t</a:t>
                      </a:r>
                      <a:r>
                        <a:rPr lang="en-US" sz="2000" i="1" baseline="-250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7379048"/>
                  </a:ext>
                </a:extLst>
              </a:tr>
              <a:tr h="370840">
                <a:tc>
                  <a:txBody>
                    <a:bodyPr/>
                    <a:lstStyle/>
                    <a:p>
                      <a:pPr algn="ctr"/>
                      <a:r>
                        <a:rPr lang="en-US" sz="2000" i="1" dirty="0"/>
                        <a:t>s</a:t>
                      </a:r>
                      <a:r>
                        <a:rPr lang="en-US" sz="2000" i="1" baseline="-25000" dirty="0"/>
                        <a:t>1</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-2</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2</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-1</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1</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3738698697"/>
                  </a:ext>
                </a:extLst>
              </a:tr>
              <a:tr h="370840">
                <a:tc>
                  <a:txBody>
                    <a:bodyPr/>
                    <a:lstStyle/>
                    <a:p>
                      <a:pPr algn="ctr" rtl="0"/>
                      <a:r>
                        <a:rPr lang="en-US" sz="2000" i="1" dirty="0"/>
                        <a:t>s</a:t>
                      </a:r>
                      <a:r>
                        <a:rPr lang="en-US" sz="2000" i="1" baseline="-250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000" dirty="0"/>
                        <a:t>-3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42678394"/>
                  </a:ext>
                </a:extLst>
              </a:tr>
              <a:tr h="370840">
                <a:tc>
                  <a:txBody>
                    <a:bodyPr/>
                    <a:lstStyle/>
                    <a:p>
                      <a:pPr algn="ctr"/>
                      <a:r>
                        <a:rPr lang="en-US" sz="2000" i="1" dirty="0"/>
                        <a:t>s</a:t>
                      </a:r>
                      <a:r>
                        <a:rPr lang="en-US" sz="2000" i="1" baseline="-250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0</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000" dirty="0"/>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000" dirty="0"/>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7852965"/>
                  </a:ext>
                </a:extLst>
              </a:tr>
              <a:tr h="370840">
                <a:tc>
                  <a:txBody>
                    <a:bodyPr/>
                    <a:lstStyle/>
                    <a:p>
                      <a:pPr algn="ctr"/>
                      <a:r>
                        <a:rPr lang="en-US" sz="2000" i="1" dirty="0"/>
                        <a:t>s</a:t>
                      </a:r>
                      <a:r>
                        <a:rPr lang="en-US" sz="2000" i="1" baseline="-250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20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000" dirty="0"/>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2000" dirty="0"/>
                        <a:t>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20264348"/>
                  </a:ext>
                </a:extLst>
              </a:tr>
            </a:tbl>
          </a:graphicData>
        </a:graphic>
      </p:graphicFrame>
      <p:sp>
        <p:nvSpPr>
          <p:cNvPr id="6" name="Slide Number Placeholder 8">
            <a:extLst>
              <a:ext uri="{FF2B5EF4-FFF2-40B4-BE49-F238E27FC236}">
                <a16:creationId xmlns:a16="http://schemas.microsoft.com/office/drawing/2014/main" id="{138647C9-13A0-3E28-AA8C-57F6AFBA16C2}"/>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13</a:t>
            </a:fld>
            <a:r>
              <a:rPr lang="en-US" sz="2000" dirty="0">
                <a:solidFill>
                  <a:prstClr val="black"/>
                </a:solidFill>
                <a:latin typeface="Comic Sans MS"/>
                <a:sym typeface="Comic Sans MS"/>
              </a:rPr>
              <a:t>/46</a:t>
            </a:r>
          </a:p>
        </p:txBody>
      </p:sp>
      <p:sp>
        <p:nvSpPr>
          <p:cNvPr id="7" name="Footer Placeholder 9">
            <a:extLst>
              <a:ext uri="{FF2B5EF4-FFF2-40B4-BE49-F238E27FC236}">
                <a16:creationId xmlns:a16="http://schemas.microsoft.com/office/drawing/2014/main" id="{44875BB6-51F7-5074-3714-5E4F9DFB801C}"/>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8" name="Rectangle 7">
            <a:extLst>
              <a:ext uri="{FF2B5EF4-FFF2-40B4-BE49-F238E27FC236}">
                <a16:creationId xmlns:a16="http://schemas.microsoft.com/office/drawing/2014/main" id="{D390E3D5-7948-4D69-8925-61F19BD00F6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0" name="Rectangle 9">
            <a:extLst>
              <a:ext uri="{FF2B5EF4-FFF2-40B4-BE49-F238E27FC236}">
                <a16:creationId xmlns:a16="http://schemas.microsoft.com/office/drawing/2014/main" id="{8EEF4366-02D1-175E-C4D0-C868B86D2189}"/>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E6A6D277-BBA5-D706-38E3-0BCDF631A7B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BF8651A1-A9FF-3280-03BA-FEA1E122C13A}"/>
              </a:ext>
            </a:extLst>
          </p:cNvPr>
          <p:cNvSpPr txBox="1"/>
          <p:nvPr/>
        </p:nvSpPr>
        <p:spPr>
          <a:xfrm>
            <a:off x="5867400" y="4038599"/>
            <a:ext cx="2647951" cy="1477328"/>
          </a:xfrm>
          <a:prstGeom prst="rect">
            <a:avLst/>
          </a:prstGeom>
          <a:noFill/>
        </p:spPr>
        <p:txBody>
          <a:bodyPr wrap="square" rtlCol="0">
            <a:spAutoFit/>
          </a:bodyPr>
          <a:lstStyle/>
          <a:p>
            <a:r>
              <a:rPr lang="en-US" dirty="0"/>
              <a:t>Remember, the values in the table is the payoff of player A. </a:t>
            </a:r>
          </a:p>
          <a:p>
            <a:r>
              <a:rPr lang="en-US" dirty="0"/>
              <a:t>So, for player B, more negative is better.</a:t>
            </a:r>
          </a:p>
        </p:txBody>
      </p:sp>
      <p:sp>
        <p:nvSpPr>
          <p:cNvPr id="13" name="TextBox 12">
            <a:extLst>
              <a:ext uri="{FF2B5EF4-FFF2-40B4-BE49-F238E27FC236}">
                <a16:creationId xmlns:a16="http://schemas.microsoft.com/office/drawing/2014/main" id="{13C6D74D-102B-8C07-6257-16F869314B7B}"/>
              </a:ext>
            </a:extLst>
          </p:cNvPr>
          <p:cNvSpPr txBox="1"/>
          <p:nvPr/>
        </p:nvSpPr>
        <p:spPr>
          <a:xfrm>
            <a:off x="314324" y="6036616"/>
            <a:ext cx="8515349" cy="369332"/>
          </a:xfrm>
          <a:prstGeom prst="rect">
            <a:avLst/>
          </a:prstGeom>
          <a:noFill/>
        </p:spPr>
        <p:txBody>
          <a:bodyPr wrap="square">
            <a:spAutoFit/>
          </a:bodyPr>
          <a:lstStyle/>
          <a:p>
            <a:r>
              <a:rPr lang="en-US" dirty="0"/>
              <a:t>This is called the </a:t>
            </a:r>
            <a:r>
              <a:rPr lang="en-US" b="1" dirty="0"/>
              <a:t>Best Response</a:t>
            </a:r>
            <a:r>
              <a:rPr lang="en-US" b="0" dirty="0"/>
              <a:t> (if A knows what B playing, pick the </a:t>
            </a:r>
            <a:r>
              <a:rPr lang="en-US" b="1" dirty="0"/>
              <a:t>best response</a:t>
            </a:r>
            <a:r>
              <a:rPr lang="en-US" b="0" dirty="0"/>
              <a:t>)</a:t>
            </a:r>
          </a:p>
        </p:txBody>
      </p:sp>
    </p:spTree>
    <p:extLst>
      <p:ext uri="{BB962C8B-B14F-4D97-AF65-F5344CB8AC3E}">
        <p14:creationId xmlns:p14="http://schemas.microsoft.com/office/powerpoint/2010/main" val="4154890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5836920"/>
          </a:xfrm>
          <a:custGeom>
            <a:avLst/>
            <a:gdLst/>
            <a:ahLst/>
            <a:cxnLst/>
            <a:rect l="l" t="t" r="r" b="b"/>
            <a:pathLst>
              <a:path w="9144000" h="5836920">
                <a:moveTo>
                  <a:pt x="0" y="5836819"/>
                </a:moveTo>
                <a:lnTo>
                  <a:pt x="9144000" y="5836819"/>
                </a:lnTo>
                <a:lnTo>
                  <a:pt x="9144000" y="0"/>
                </a:lnTo>
                <a:lnTo>
                  <a:pt x="0" y="0"/>
                </a:lnTo>
                <a:lnTo>
                  <a:pt x="0" y="5836819"/>
                </a:lnTo>
                <a:close/>
              </a:path>
            </a:pathLst>
          </a:custGeom>
          <a:solidFill>
            <a:srgbClr val="E7E7E7"/>
          </a:solidFill>
        </p:spPr>
        <p:txBody>
          <a:bodyPr wrap="square" lIns="0" tIns="0" rIns="0" bIns="0" rtlCol="0"/>
          <a:lstStyle/>
          <a:p>
            <a:endParaRPr/>
          </a:p>
        </p:txBody>
      </p:sp>
      <p:sp>
        <p:nvSpPr>
          <p:cNvPr id="3" name="object 3"/>
          <p:cNvSpPr/>
          <p:nvPr/>
        </p:nvSpPr>
        <p:spPr>
          <a:xfrm>
            <a:off x="3177162" y="4185993"/>
            <a:ext cx="5967095" cy="2672080"/>
          </a:xfrm>
          <a:custGeom>
            <a:avLst/>
            <a:gdLst/>
            <a:ahLst/>
            <a:cxnLst/>
            <a:rect l="l" t="t" r="r" b="b"/>
            <a:pathLst>
              <a:path w="5967095" h="2672079">
                <a:moveTo>
                  <a:pt x="5966837" y="0"/>
                </a:moveTo>
                <a:lnTo>
                  <a:pt x="447098" y="0"/>
                </a:lnTo>
                <a:lnTo>
                  <a:pt x="410429" y="1482"/>
                </a:lnTo>
                <a:lnTo>
                  <a:pt x="339655" y="12993"/>
                </a:lnTo>
                <a:lnTo>
                  <a:pt x="273067" y="35135"/>
                </a:lnTo>
                <a:lnTo>
                  <a:pt x="211586" y="66985"/>
                </a:lnTo>
                <a:lnTo>
                  <a:pt x="156131" y="107624"/>
                </a:lnTo>
                <a:lnTo>
                  <a:pt x="107624" y="156132"/>
                </a:lnTo>
                <a:lnTo>
                  <a:pt x="66985" y="211586"/>
                </a:lnTo>
                <a:lnTo>
                  <a:pt x="35135" y="273068"/>
                </a:lnTo>
                <a:lnTo>
                  <a:pt x="12993" y="339656"/>
                </a:lnTo>
                <a:lnTo>
                  <a:pt x="1482" y="410430"/>
                </a:lnTo>
                <a:lnTo>
                  <a:pt x="0" y="447099"/>
                </a:lnTo>
                <a:lnTo>
                  <a:pt x="0" y="2235493"/>
                </a:lnTo>
                <a:lnTo>
                  <a:pt x="5851" y="2308015"/>
                </a:lnTo>
                <a:lnTo>
                  <a:pt x="22793" y="2376811"/>
                </a:lnTo>
                <a:lnTo>
                  <a:pt x="49904" y="2440961"/>
                </a:lnTo>
                <a:lnTo>
                  <a:pt x="86264" y="2499544"/>
                </a:lnTo>
                <a:lnTo>
                  <a:pt x="130952" y="2551640"/>
                </a:lnTo>
                <a:lnTo>
                  <a:pt x="183048" y="2596328"/>
                </a:lnTo>
                <a:lnTo>
                  <a:pt x="241631" y="2632687"/>
                </a:lnTo>
                <a:lnTo>
                  <a:pt x="305781" y="2659798"/>
                </a:lnTo>
                <a:lnTo>
                  <a:pt x="351429" y="2672006"/>
                </a:lnTo>
                <a:lnTo>
                  <a:pt x="5966837" y="2672006"/>
                </a:lnTo>
                <a:lnTo>
                  <a:pt x="5966837" y="0"/>
                </a:lnTo>
                <a:close/>
              </a:path>
            </a:pathLst>
          </a:custGeom>
          <a:solidFill>
            <a:srgbClr val="E7E7E7"/>
          </a:solidFill>
        </p:spPr>
        <p:txBody>
          <a:bodyPr wrap="square" lIns="0" tIns="0" rIns="0" bIns="0" rtlCol="0"/>
          <a:lstStyle/>
          <a:p>
            <a:endParaRPr dirty="0"/>
          </a:p>
        </p:txBody>
      </p:sp>
      <p:sp>
        <p:nvSpPr>
          <p:cNvPr id="4" name="object 4"/>
          <p:cNvSpPr/>
          <p:nvPr/>
        </p:nvSpPr>
        <p:spPr>
          <a:xfrm>
            <a:off x="0" y="1432315"/>
            <a:ext cx="4307205" cy="5354955"/>
          </a:xfrm>
          <a:custGeom>
            <a:avLst/>
            <a:gdLst/>
            <a:ahLst/>
            <a:cxnLst/>
            <a:rect l="l" t="t" r="r" b="b"/>
            <a:pathLst>
              <a:path w="4307205" h="5354955">
                <a:moveTo>
                  <a:pt x="0" y="5354598"/>
                </a:moveTo>
                <a:lnTo>
                  <a:pt x="4306917" y="5354598"/>
                </a:lnTo>
                <a:lnTo>
                  <a:pt x="4306917" y="0"/>
                </a:lnTo>
                <a:lnTo>
                  <a:pt x="0" y="0"/>
                </a:lnTo>
                <a:lnTo>
                  <a:pt x="0" y="5354598"/>
                </a:lnTo>
              </a:path>
            </a:pathLst>
          </a:custGeom>
          <a:solidFill>
            <a:srgbClr val="E7E7E7"/>
          </a:solidFill>
        </p:spPr>
        <p:txBody>
          <a:bodyPr wrap="square" lIns="0" tIns="0" rIns="0" bIns="0" rtlCol="0"/>
          <a:lstStyle/>
          <a:p>
            <a:endParaRPr/>
          </a:p>
        </p:txBody>
      </p:sp>
      <p:sp>
        <p:nvSpPr>
          <p:cNvPr id="5" name="object 5"/>
          <p:cNvSpPr txBox="1"/>
          <p:nvPr/>
        </p:nvSpPr>
        <p:spPr>
          <a:xfrm>
            <a:off x="152399" y="4417132"/>
            <a:ext cx="8686801" cy="1841500"/>
          </a:xfrm>
          <a:prstGeom prst="rect">
            <a:avLst/>
          </a:prstGeom>
        </p:spPr>
        <p:txBody>
          <a:bodyPr vert="horz" wrap="square" lIns="0" tIns="0" rIns="0" bIns="0" rtlCol="0">
            <a:spAutoFit/>
          </a:bodyPr>
          <a:lstStyle/>
          <a:p>
            <a:pPr marL="12700">
              <a:lnSpc>
                <a:spcPct val="100000"/>
              </a:lnSpc>
            </a:pPr>
            <a:r>
              <a:rPr sz="1800" spc="20" dirty="0">
                <a:latin typeface="Tahoma"/>
                <a:cs typeface="Tahoma"/>
              </a:rPr>
              <a:t>E</a:t>
            </a:r>
            <a:r>
              <a:rPr sz="1800" spc="45" dirty="0">
                <a:latin typeface="Tahoma"/>
                <a:cs typeface="Tahoma"/>
              </a:rPr>
              <a:t>a</a:t>
            </a:r>
            <a:r>
              <a:rPr sz="1800" spc="145" dirty="0">
                <a:latin typeface="Tahoma"/>
                <a:cs typeface="Tahoma"/>
              </a:rPr>
              <a:t>c</a:t>
            </a:r>
            <a:r>
              <a:rPr sz="1800" spc="40" dirty="0">
                <a:latin typeface="Tahoma"/>
                <a:cs typeface="Tahoma"/>
              </a:rPr>
              <a:t>h</a:t>
            </a:r>
            <a:r>
              <a:rPr sz="1800" spc="35" dirty="0">
                <a:latin typeface="Tahoma"/>
                <a:cs typeface="Tahoma"/>
              </a:rPr>
              <a:t> </a:t>
            </a:r>
            <a:r>
              <a:rPr sz="1800" spc="4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40" dirty="0">
                <a:latin typeface="Tahoma"/>
                <a:cs typeface="Tahoma"/>
              </a:rPr>
              <a:t>h</a:t>
            </a:r>
            <a:r>
              <a:rPr sz="1800" spc="5" dirty="0">
                <a:latin typeface="Tahoma"/>
                <a:cs typeface="Tahoma"/>
              </a:rPr>
              <a:t>i</a:t>
            </a:r>
            <a:r>
              <a:rPr sz="1800" spc="75" dirty="0">
                <a:latin typeface="Tahoma"/>
                <a:cs typeface="Tahoma"/>
              </a:rPr>
              <a:t>d</a:t>
            </a:r>
            <a:r>
              <a:rPr sz="1800" spc="85" dirty="0">
                <a:latin typeface="Tahoma"/>
                <a:cs typeface="Tahoma"/>
              </a:rPr>
              <a:t>e</a:t>
            </a:r>
            <a:r>
              <a:rPr sz="1800" spc="110" dirty="0">
                <a:latin typeface="Tahoma"/>
                <a:cs typeface="Tahoma"/>
              </a:rPr>
              <a:t>s</a:t>
            </a:r>
            <a:r>
              <a:rPr sz="1800" spc="35" dirty="0">
                <a:latin typeface="Tahoma"/>
                <a:cs typeface="Tahoma"/>
              </a:rPr>
              <a:t> </a:t>
            </a:r>
            <a:r>
              <a:rPr sz="1800" spc="75" dirty="0">
                <a:latin typeface="Tahoma"/>
                <a:cs typeface="Tahoma"/>
              </a:rPr>
              <a:t>on</a:t>
            </a:r>
            <a:r>
              <a:rPr sz="1800" spc="85" dirty="0">
                <a:latin typeface="Tahoma"/>
                <a:cs typeface="Tahoma"/>
              </a:rPr>
              <a:t>e</a:t>
            </a:r>
            <a:r>
              <a:rPr sz="1800" spc="35" dirty="0">
                <a:latin typeface="Tahoma"/>
                <a:cs typeface="Tahoma"/>
              </a:rPr>
              <a:t> </a:t>
            </a:r>
            <a:r>
              <a:rPr sz="1800" spc="70" dirty="0">
                <a:latin typeface="Tahoma"/>
                <a:cs typeface="Tahoma"/>
              </a:rPr>
              <a:t>or</a:t>
            </a:r>
            <a:r>
              <a:rPr sz="1800" spc="35" dirty="0">
                <a:latin typeface="Tahoma"/>
                <a:cs typeface="Tahoma"/>
              </a:rPr>
              <a:t> </a:t>
            </a:r>
            <a:r>
              <a:rPr sz="1800" spc="190" dirty="0">
                <a:latin typeface="Tahoma"/>
                <a:cs typeface="Tahoma"/>
              </a:rPr>
              <a:t>t</a:t>
            </a:r>
            <a:r>
              <a:rPr sz="1800" spc="65" dirty="0">
                <a:latin typeface="Tahoma"/>
                <a:cs typeface="Tahoma"/>
              </a:rPr>
              <a:t>w</a:t>
            </a:r>
            <a:r>
              <a:rPr sz="1800" spc="105" dirty="0">
                <a:latin typeface="Tahoma"/>
                <a:cs typeface="Tahoma"/>
              </a:rPr>
              <a:t>o</a:t>
            </a:r>
            <a:r>
              <a:rPr sz="1800" spc="35" dirty="0">
                <a:latin typeface="Tahoma"/>
                <a:cs typeface="Tahoma"/>
              </a:rPr>
              <a:t> </a:t>
            </a:r>
            <a:r>
              <a:rPr sz="1800" spc="145" dirty="0">
                <a:latin typeface="Tahoma"/>
                <a:cs typeface="Tahoma"/>
              </a:rPr>
              <a:t>c</a:t>
            </a:r>
            <a:r>
              <a:rPr sz="1800" spc="55" dirty="0">
                <a:latin typeface="Tahoma"/>
                <a:cs typeface="Tahoma"/>
              </a:rPr>
              <a:t>oi</a:t>
            </a:r>
            <a:r>
              <a:rPr sz="1800" spc="40" dirty="0">
                <a:latin typeface="Tahoma"/>
                <a:cs typeface="Tahoma"/>
              </a:rPr>
              <a:t>n</a:t>
            </a:r>
            <a:r>
              <a:rPr sz="1800" spc="110" dirty="0">
                <a:latin typeface="Tahoma"/>
                <a:cs typeface="Tahoma"/>
              </a:rPr>
              <a:t>s</a:t>
            </a:r>
            <a:r>
              <a:rPr sz="1800" dirty="0">
                <a:latin typeface="Tahoma"/>
                <a:cs typeface="Tahoma"/>
              </a:rPr>
              <a:t>.</a:t>
            </a:r>
          </a:p>
          <a:p>
            <a:pPr marL="749300" indent="-228600">
              <a:lnSpc>
                <a:spcPct val="100000"/>
              </a:lnSpc>
              <a:spcBef>
                <a:spcPts val="340"/>
              </a:spcBef>
              <a:buFont typeface="Tahoma"/>
              <a:buChar char="•"/>
              <a:tabLst>
                <a:tab pos="749300" algn="l"/>
              </a:tabLst>
            </a:pPr>
            <a:r>
              <a:rPr lang="en-US" sz="1800" spc="85" dirty="0">
                <a:latin typeface="Tahoma"/>
                <a:cs typeface="Tahoma"/>
              </a:rPr>
              <a:t>Each</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95" dirty="0">
                <a:latin typeface="Tahoma"/>
                <a:cs typeface="Tahoma"/>
              </a:rPr>
              <a:t>g</a:t>
            </a:r>
            <a:r>
              <a:rPr sz="1800" spc="40" dirty="0">
                <a:latin typeface="Tahoma"/>
                <a:cs typeface="Tahoma"/>
              </a:rPr>
              <a:t>u</a:t>
            </a:r>
            <a:r>
              <a:rPr sz="1800" spc="85" dirty="0">
                <a:latin typeface="Tahoma"/>
                <a:cs typeface="Tahoma"/>
              </a:rPr>
              <a:t>e</a:t>
            </a:r>
            <a:r>
              <a:rPr sz="1800" spc="110" dirty="0">
                <a:latin typeface="Tahoma"/>
                <a:cs typeface="Tahoma"/>
              </a:rPr>
              <a:t>ss</a:t>
            </a:r>
            <a:r>
              <a:rPr sz="1800" spc="85" dirty="0">
                <a:latin typeface="Tahoma"/>
                <a:cs typeface="Tahoma"/>
              </a:rPr>
              <a:t>e</a:t>
            </a:r>
            <a:r>
              <a:rPr sz="1800" spc="110" dirty="0">
                <a:latin typeface="Tahoma"/>
                <a:cs typeface="Tahoma"/>
              </a:rPr>
              <a:t>s</a:t>
            </a:r>
            <a:r>
              <a:rPr sz="1800" spc="35" dirty="0">
                <a:latin typeface="Tahoma"/>
                <a:cs typeface="Tahoma"/>
              </a:rPr>
              <a:t> </a:t>
            </a:r>
            <a:r>
              <a:rPr sz="1800" spc="40" dirty="0">
                <a:latin typeface="Tahoma"/>
                <a:cs typeface="Tahoma"/>
              </a:rPr>
              <a:t>h</a:t>
            </a:r>
            <a:r>
              <a:rPr sz="1800" spc="80" dirty="0">
                <a:latin typeface="Tahoma"/>
                <a:cs typeface="Tahoma"/>
              </a:rPr>
              <a:t>ow</a:t>
            </a:r>
            <a:r>
              <a:rPr sz="1800" spc="35" dirty="0">
                <a:latin typeface="Tahoma"/>
                <a:cs typeface="Tahoma"/>
              </a:rPr>
              <a:t> </a:t>
            </a:r>
            <a:r>
              <a:rPr sz="1800" spc="70" dirty="0">
                <a:latin typeface="Tahoma"/>
                <a:cs typeface="Tahoma"/>
              </a:rPr>
              <a:t>ma</a:t>
            </a:r>
            <a:r>
              <a:rPr sz="1800" spc="40" dirty="0">
                <a:latin typeface="Tahoma"/>
                <a:cs typeface="Tahoma"/>
              </a:rPr>
              <a:t>n</a:t>
            </a:r>
            <a:r>
              <a:rPr sz="1800" spc="125" dirty="0">
                <a:latin typeface="Tahoma"/>
                <a:cs typeface="Tahoma"/>
              </a:rPr>
              <a:t>y</a:t>
            </a:r>
            <a:r>
              <a:rPr sz="1800" spc="35" dirty="0">
                <a:latin typeface="Tahoma"/>
                <a:cs typeface="Tahoma"/>
              </a:rPr>
              <a:t> </a:t>
            </a:r>
            <a:r>
              <a:rPr sz="1800" spc="145" dirty="0">
                <a:latin typeface="Tahoma"/>
                <a:cs typeface="Tahoma"/>
              </a:rPr>
              <a:t>c</a:t>
            </a:r>
            <a:r>
              <a:rPr sz="1800" spc="55" dirty="0">
                <a:latin typeface="Tahoma"/>
                <a:cs typeface="Tahoma"/>
              </a:rPr>
              <a:t>oi</a:t>
            </a:r>
            <a:r>
              <a:rPr sz="1800" spc="40" dirty="0">
                <a:latin typeface="Tahoma"/>
                <a:cs typeface="Tahoma"/>
              </a:rPr>
              <a:t>n</a:t>
            </a:r>
            <a:r>
              <a:rPr sz="1800" spc="110" dirty="0">
                <a:latin typeface="Tahoma"/>
                <a:cs typeface="Tahoma"/>
              </a:rPr>
              <a:t>s</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95" dirty="0">
                <a:latin typeface="Tahoma"/>
                <a:cs typeface="Tahoma"/>
              </a:rPr>
              <a:t>op</a:t>
            </a:r>
            <a:r>
              <a:rPr sz="1800" spc="75" dirty="0">
                <a:latin typeface="Tahoma"/>
                <a:cs typeface="Tahoma"/>
              </a:rPr>
              <a:t>pon</a:t>
            </a:r>
            <a:r>
              <a:rPr sz="1800" spc="85" dirty="0">
                <a:latin typeface="Tahoma"/>
                <a:cs typeface="Tahoma"/>
              </a:rPr>
              <a:t>e</a:t>
            </a:r>
            <a:r>
              <a:rPr sz="1800" spc="40" dirty="0">
                <a:latin typeface="Tahoma"/>
                <a:cs typeface="Tahoma"/>
              </a:rPr>
              <a:t>n</a:t>
            </a:r>
            <a:r>
              <a:rPr sz="1800" spc="190" dirty="0">
                <a:latin typeface="Tahoma"/>
                <a:cs typeface="Tahoma"/>
              </a:rPr>
              <a:t>t</a:t>
            </a:r>
            <a:r>
              <a:rPr sz="1800" spc="35" dirty="0">
                <a:latin typeface="Tahoma"/>
                <a:cs typeface="Tahoma"/>
              </a:rPr>
              <a:t> </a:t>
            </a:r>
            <a:r>
              <a:rPr sz="1800" spc="40" dirty="0">
                <a:latin typeface="Tahoma"/>
                <a:cs typeface="Tahoma"/>
              </a:rPr>
              <a:t>h</a:t>
            </a:r>
            <a:r>
              <a:rPr sz="1800" spc="45" dirty="0">
                <a:latin typeface="Tahoma"/>
                <a:cs typeface="Tahoma"/>
              </a:rPr>
              <a:t>a</a:t>
            </a:r>
            <a:r>
              <a:rPr sz="1800" spc="110" dirty="0">
                <a:latin typeface="Tahoma"/>
                <a:cs typeface="Tahoma"/>
              </a:rPr>
              <a:t>s</a:t>
            </a:r>
            <a:r>
              <a:rPr sz="1800" spc="35" dirty="0">
                <a:latin typeface="Tahoma"/>
                <a:cs typeface="Tahoma"/>
              </a:rPr>
              <a:t> </a:t>
            </a:r>
            <a:r>
              <a:rPr sz="1800" spc="40" dirty="0">
                <a:latin typeface="Tahoma"/>
                <a:cs typeface="Tahoma"/>
              </a:rPr>
              <a:t>h</a:t>
            </a:r>
            <a:r>
              <a:rPr sz="1800" spc="5" dirty="0">
                <a:latin typeface="Tahoma"/>
                <a:cs typeface="Tahoma"/>
              </a:rPr>
              <a:t>i</a:t>
            </a:r>
            <a:r>
              <a:rPr sz="1800" spc="75" dirty="0">
                <a:latin typeface="Tahoma"/>
                <a:cs typeface="Tahoma"/>
              </a:rPr>
              <a:t>dd</a:t>
            </a:r>
            <a:r>
              <a:rPr sz="1800" spc="85" dirty="0">
                <a:latin typeface="Tahoma"/>
                <a:cs typeface="Tahoma"/>
              </a:rPr>
              <a:t>e</a:t>
            </a:r>
            <a:r>
              <a:rPr sz="1800" spc="40" dirty="0">
                <a:latin typeface="Tahoma"/>
                <a:cs typeface="Tahoma"/>
              </a:rPr>
              <a:t>n</a:t>
            </a:r>
            <a:r>
              <a:rPr sz="1800" dirty="0">
                <a:latin typeface="Tahoma"/>
                <a:cs typeface="Tahoma"/>
              </a:rPr>
              <a:t>.</a:t>
            </a:r>
          </a:p>
          <a:p>
            <a:pPr marL="749300" marR="684530" indent="-228600">
              <a:lnSpc>
                <a:spcPct val="115700"/>
              </a:lnSpc>
              <a:buFont typeface="Tahoma"/>
              <a:buChar char="•"/>
              <a:tabLst>
                <a:tab pos="749300" algn="l"/>
              </a:tabLst>
            </a:pPr>
            <a:r>
              <a:rPr sz="1800" spc="90" dirty="0">
                <a:latin typeface="Tahoma"/>
                <a:cs typeface="Tahoma"/>
              </a:rPr>
              <a:t>T</a:t>
            </a:r>
            <a:r>
              <a:rPr sz="1800" spc="40" dirty="0">
                <a:latin typeface="Tahoma"/>
                <a:cs typeface="Tahoma"/>
              </a:rPr>
              <a:t>h</a:t>
            </a:r>
            <a:r>
              <a:rPr sz="1800" spc="85" dirty="0">
                <a:latin typeface="Tahoma"/>
                <a:cs typeface="Tahoma"/>
              </a:rPr>
              <a:t>e</a:t>
            </a:r>
            <a:r>
              <a:rPr sz="1800" spc="45" dirty="0">
                <a:latin typeface="Tahoma"/>
                <a:cs typeface="Tahoma"/>
              </a:rPr>
              <a:t>r</a:t>
            </a:r>
            <a:r>
              <a:rPr sz="1800" spc="85" dirty="0">
                <a:latin typeface="Tahoma"/>
                <a:cs typeface="Tahoma"/>
              </a:rPr>
              <a:t>e</a:t>
            </a:r>
            <a:r>
              <a:rPr sz="1800" spc="35" dirty="0">
                <a:latin typeface="Tahoma"/>
                <a:cs typeface="Tahoma"/>
              </a:rPr>
              <a:t> </a:t>
            </a:r>
            <a:r>
              <a:rPr sz="1800" spc="5" dirty="0">
                <a:latin typeface="Tahoma"/>
                <a:cs typeface="Tahoma"/>
              </a:rPr>
              <a:t>i</a:t>
            </a:r>
            <a:r>
              <a:rPr sz="1800" spc="110" dirty="0">
                <a:latin typeface="Tahoma"/>
                <a:cs typeface="Tahoma"/>
              </a:rPr>
              <a:t>s</a:t>
            </a:r>
            <a:r>
              <a:rPr sz="1800" spc="35" dirty="0">
                <a:latin typeface="Tahoma"/>
                <a:cs typeface="Tahoma"/>
              </a:rPr>
              <a:t> </a:t>
            </a:r>
            <a:r>
              <a:rPr sz="1800" spc="45" dirty="0">
                <a:latin typeface="Tahoma"/>
                <a:cs typeface="Tahoma"/>
              </a:rPr>
              <a:t>a</a:t>
            </a:r>
            <a:r>
              <a:rPr sz="1800" spc="35" dirty="0">
                <a:latin typeface="Tahoma"/>
                <a:cs typeface="Tahoma"/>
              </a:rPr>
              <a:t> </a:t>
            </a:r>
            <a:r>
              <a:rPr sz="1800" spc="65" dirty="0">
                <a:latin typeface="Tahoma"/>
                <a:cs typeface="Tahoma"/>
              </a:rPr>
              <a:t>w</a:t>
            </a:r>
            <a:r>
              <a:rPr sz="1800" spc="5" dirty="0">
                <a:latin typeface="Tahoma"/>
                <a:cs typeface="Tahoma"/>
              </a:rPr>
              <a:t>i</a:t>
            </a:r>
            <a:r>
              <a:rPr sz="1800" spc="40" dirty="0">
                <a:latin typeface="Tahoma"/>
                <a:cs typeface="Tahoma"/>
              </a:rPr>
              <a:t>n</a:t>
            </a:r>
            <a:r>
              <a:rPr sz="1800" spc="35" dirty="0">
                <a:latin typeface="Tahoma"/>
                <a:cs typeface="Tahoma"/>
              </a:rPr>
              <a:t> </a:t>
            </a:r>
            <a:r>
              <a:rPr sz="1800" spc="5" dirty="0">
                <a:latin typeface="Tahoma"/>
                <a:cs typeface="Tahoma"/>
              </a:rPr>
              <a:t>i</a:t>
            </a:r>
            <a:r>
              <a:rPr sz="1800" spc="125" dirty="0">
                <a:latin typeface="Tahoma"/>
                <a:cs typeface="Tahoma"/>
              </a:rPr>
              <a:t>f</a:t>
            </a:r>
            <a:r>
              <a:rPr sz="1800" spc="35" dirty="0">
                <a:latin typeface="Tahoma"/>
                <a:cs typeface="Tahoma"/>
              </a:rPr>
              <a:t> </a:t>
            </a:r>
            <a:r>
              <a:rPr sz="1800" spc="45" dirty="0">
                <a:latin typeface="Tahoma"/>
                <a:cs typeface="Tahoma"/>
              </a:rPr>
              <a:t>a</a:t>
            </a:r>
            <a:r>
              <a:rPr sz="1800" spc="40" dirty="0">
                <a:latin typeface="Tahoma"/>
                <a:cs typeface="Tahoma"/>
              </a:rPr>
              <a:t>n</a:t>
            </a:r>
            <a:r>
              <a:rPr sz="1800" spc="75" dirty="0">
                <a:latin typeface="Tahoma"/>
                <a:cs typeface="Tahoma"/>
              </a:rPr>
              <a:t>d</a:t>
            </a:r>
            <a:r>
              <a:rPr sz="1800" spc="35" dirty="0">
                <a:latin typeface="Tahoma"/>
                <a:cs typeface="Tahoma"/>
              </a:rPr>
              <a:t> </a:t>
            </a:r>
            <a:r>
              <a:rPr sz="1800" spc="75" dirty="0">
                <a:latin typeface="Tahoma"/>
                <a:cs typeface="Tahoma"/>
              </a:rPr>
              <a:t>on</a:t>
            </a:r>
            <a:r>
              <a:rPr sz="1800" spc="5" dirty="0">
                <a:latin typeface="Tahoma"/>
                <a:cs typeface="Tahoma"/>
              </a:rPr>
              <a:t>l</a:t>
            </a:r>
            <a:r>
              <a:rPr sz="1800" spc="125" dirty="0">
                <a:latin typeface="Tahoma"/>
                <a:cs typeface="Tahoma"/>
              </a:rPr>
              <a:t>y</a:t>
            </a:r>
            <a:r>
              <a:rPr sz="1800" spc="35" dirty="0">
                <a:latin typeface="Tahoma"/>
                <a:cs typeface="Tahoma"/>
              </a:rPr>
              <a:t> </a:t>
            </a:r>
            <a:r>
              <a:rPr sz="1800" spc="5" dirty="0">
                <a:latin typeface="Tahoma"/>
                <a:cs typeface="Tahoma"/>
              </a:rPr>
              <a:t>i</a:t>
            </a:r>
            <a:r>
              <a:rPr sz="1800" spc="125" dirty="0">
                <a:latin typeface="Tahoma"/>
                <a:cs typeface="Tahoma"/>
              </a:rPr>
              <a:t>f</a:t>
            </a:r>
            <a:r>
              <a:rPr sz="1800" spc="35" dirty="0">
                <a:latin typeface="Tahoma"/>
                <a:cs typeface="Tahoma"/>
              </a:rPr>
              <a:t> </a:t>
            </a:r>
            <a:r>
              <a:rPr sz="1800" spc="75" dirty="0">
                <a:latin typeface="Tahoma"/>
                <a:cs typeface="Tahoma"/>
              </a:rPr>
              <a:t>on</a:t>
            </a:r>
            <a:r>
              <a:rPr sz="1800" spc="85" dirty="0">
                <a:latin typeface="Tahoma"/>
                <a:cs typeface="Tahoma"/>
              </a:rPr>
              <a:t>e</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95" dirty="0">
                <a:latin typeface="Tahoma"/>
                <a:cs typeface="Tahoma"/>
              </a:rPr>
              <a:t>g</a:t>
            </a:r>
            <a:r>
              <a:rPr sz="1800" spc="40" dirty="0">
                <a:latin typeface="Tahoma"/>
                <a:cs typeface="Tahoma"/>
              </a:rPr>
              <a:t>u</a:t>
            </a:r>
            <a:r>
              <a:rPr sz="1800" spc="85" dirty="0">
                <a:latin typeface="Tahoma"/>
                <a:cs typeface="Tahoma"/>
              </a:rPr>
              <a:t>e</a:t>
            </a:r>
            <a:r>
              <a:rPr sz="1800" spc="110" dirty="0">
                <a:latin typeface="Tahoma"/>
                <a:cs typeface="Tahoma"/>
              </a:rPr>
              <a:t>ss</a:t>
            </a:r>
            <a:r>
              <a:rPr sz="1800" spc="85" dirty="0">
                <a:latin typeface="Tahoma"/>
                <a:cs typeface="Tahoma"/>
              </a:rPr>
              <a:t>e</a:t>
            </a:r>
            <a:r>
              <a:rPr sz="1800" spc="110" dirty="0">
                <a:latin typeface="Tahoma"/>
                <a:cs typeface="Tahoma"/>
              </a:rPr>
              <a:t>s</a:t>
            </a:r>
            <a:r>
              <a:rPr sz="1800" spc="35" dirty="0">
                <a:latin typeface="Tahoma"/>
                <a:cs typeface="Tahoma"/>
              </a:rPr>
              <a:t> </a:t>
            </a:r>
            <a:r>
              <a:rPr sz="1800" spc="145" dirty="0">
                <a:latin typeface="Tahoma"/>
                <a:cs typeface="Tahoma"/>
              </a:rPr>
              <a:t>c</a:t>
            </a:r>
            <a:r>
              <a:rPr sz="1800" spc="70" dirty="0">
                <a:latin typeface="Tahoma"/>
                <a:cs typeface="Tahoma"/>
              </a:rPr>
              <a:t>or</a:t>
            </a:r>
            <a:r>
              <a:rPr sz="1800" spc="45" dirty="0">
                <a:latin typeface="Tahoma"/>
                <a:cs typeface="Tahoma"/>
              </a:rPr>
              <a:t>r</a:t>
            </a:r>
            <a:r>
              <a:rPr sz="1800" spc="85" dirty="0">
                <a:latin typeface="Tahoma"/>
                <a:cs typeface="Tahoma"/>
              </a:rPr>
              <a:t>e</a:t>
            </a:r>
            <a:r>
              <a:rPr sz="1800" spc="145" dirty="0">
                <a:latin typeface="Tahoma"/>
                <a:cs typeface="Tahoma"/>
              </a:rPr>
              <a:t>c</a:t>
            </a:r>
            <a:r>
              <a:rPr sz="1800" spc="190" dirty="0">
                <a:latin typeface="Tahoma"/>
                <a:cs typeface="Tahoma"/>
              </a:rPr>
              <a:t>t</a:t>
            </a:r>
            <a:r>
              <a:rPr sz="1800" spc="5" dirty="0">
                <a:latin typeface="Tahoma"/>
                <a:cs typeface="Tahoma"/>
              </a:rPr>
              <a:t>l</a:t>
            </a:r>
            <a:r>
              <a:rPr sz="1800" spc="125" dirty="0">
                <a:latin typeface="Tahoma"/>
                <a:cs typeface="Tahoma"/>
              </a:rPr>
              <a:t>y</a:t>
            </a:r>
            <a:r>
              <a:rPr lang="en-US" sz="1800" spc="125" dirty="0">
                <a:latin typeface="Tahoma"/>
                <a:cs typeface="Tahoma"/>
              </a:rPr>
              <a:t>,</a:t>
            </a:r>
            <a:r>
              <a:rPr sz="1800"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50" dirty="0">
                <a:latin typeface="Tahoma"/>
                <a:cs typeface="Tahoma"/>
              </a:rPr>
              <a:t>ot</a:t>
            </a:r>
            <a:r>
              <a:rPr sz="1800" spc="40" dirty="0">
                <a:latin typeface="Tahoma"/>
                <a:cs typeface="Tahoma"/>
              </a:rPr>
              <a:t>h</a:t>
            </a:r>
            <a:r>
              <a:rPr sz="1800" spc="85" dirty="0">
                <a:latin typeface="Tahoma"/>
                <a:cs typeface="Tahoma"/>
              </a:rPr>
              <a:t>e</a:t>
            </a:r>
            <a:r>
              <a:rPr sz="1800" spc="45" dirty="0">
                <a:latin typeface="Tahoma"/>
                <a:cs typeface="Tahoma"/>
              </a:rPr>
              <a:t>r</a:t>
            </a:r>
            <a:r>
              <a:rPr sz="1800" spc="35" dirty="0">
                <a:latin typeface="Tahoma"/>
                <a:cs typeface="Tahoma"/>
              </a:rPr>
              <a:t> </a:t>
            </a:r>
            <a:r>
              <a:rPr sz="1800" spc="75" dirty="0">
                <a:latin typeface="Tahoma"/>
                <a:cs typeface="Tahoma"/>
              </a:rPr>
              <a:t>on</a:t>
            </a:r>
            <a:r>
              <a:rPr sz="1800" spc="85" dirty="0">
                <a:latin typeface="Tahoma"/>
                <a:cs typeface="Tahoma"/>
              </a:rPr>
              <a:t>e</a:t>
            </a:r>
            <a:r>
              <a:rPr sz="1800" spc="35" dirty="0">
                <a:latin typeface="Tahoma"/>
                <a:cs typeface="Tahoma"/>
              </a:rPr>
              <a:t> </a:t>
            </a:r>
            <a:r>
              <a:rPr sz="1800" spc="5" dirty="0">
                <a:latin typeface="Tahoma"/>
                <a:cs typeface="Tahoma"/>
              </a:rPr>
              <a:t>i</a:t>
            </a:r>
            <a:r>
              <a:rPr sz="1800" spc="40" dirty="0">
                <a:latin typeface="Tahoma"/>
                <a:cs typeface="Tahoma"/>
              </a:rPr>
              <a:t>n</a:t>
            </a:r>
            <a:r>
              <a:rPr sz="1800" spc="145" dirty="0">
                <a:latin typeface="Tahoma"/>
                <a:cs typeface="Tahoma"/>
              </a:rPr>
              <a:t>c</a:t>
            </a:r>
            <a:r>
              <a:rPr sz="1800" spc="70" dirty="0">
                <a:latin typeface="Tahoma"/>
                <a:cs typeface="Tahoma"/>
              </a:rPr>
              <a:t>or</a:t>
            </a:r>
            <a:r>
              <a:rPr sz="1800" spc="45" dirty="0">
                <a:latin typeface="Tahoma"/>
                <a:cs typeface="Tahoma"/>
              </a:rPr>
              <a:t>r</a:t>
            </a:r>
            <a:r>
              <a:rPr sz="1800" spc="85" dirty="0">
                <a:latin typeface="Tahoma"/>
                <a:cs typeface="Tahoma"/>
              </a:rPr>
              <a:t>e</a:t>
            </a:r>
            <a:r>
              <a:rPr sz="1800" spc="145" dirty="0">
                <a:latin typeface="Tahoma"/>
                <a:cs typeface="Tahoma"/>
              </a:rPr>
              <a:t>c</a:t>
            </a:r>
            <a:r>
              <a:rPr sz="1800" spc="190" dirty="0">
                <a:latin typeface="Tahoma"/>
                <a:cs typeface="Tahoma"/>
              </a:rPr>
              <a:t>t</a:t>
            </a:r>
            <a:r>
              <a:rPr sz="1800" spc="5" dirty="0">
                <a:latin typeface="Tahoma"/>
                <a:cs typeface="Tahoma"/>
              </a:rPr>
              <a:t>l</a:t>
            </a:r>
            <a:r>
              <a:rPr sz="1800" spc="125" dirty="0">
                <a:latin typeface="Tahoma"/>
                <a:cs typeface="Tahoma"/>
              </a:rPr>
              <a:t>y</a:t>
            </a:r>
            <a:r>
              <a:rPr sz="1800" dirty="0">
                <a:latin typeface="Tahoma"/>
                <a:cs typeface="Tahoma"/>
              </a:rPr>
              <a:t>.</a:t>
            </a:r>
          </a:p>
          <a:p>
            <a:pPr marL="749300" marR="775970" indent="-228600">
              <a:lnSpc>
                <a:spcPct val="115700"/>
              </a:lnSpc>
              <a:buFont typeface="Tahoma"/>
              <a:buChar char="•"/>
              <a:tabLst>
                <a:tab pos="749300" algn="l"/>
              </a:tabLst>
            </a:pPr>
            <a:r>
              <a:rPr lang="en-US" sz="1800" spc="35" dirty="0">
                <a:latin typeface="Tahoma"/>
                <a:cs typeface="Tahoma"/>
              </a:rPr>
              <a:t>In </a:t>
            </a:r>
            <a:r>
              <a:rPr sz="1800" spc="145" dirty="0">
                <a:latin typeface="Tahoma"/>
                <a:cs typeface="Tahoma"/>
              </a:rPr>
              <a:t>c</a:t>
            </a:r>
            <a:r>
              <a:rPr sz="1800" spc="45" dirty="0">
                <a:latin typeface="Tahoma"/>
                <a:cs typeface="Tahoma"/>
              </a:rPr>
              <a:t>a</a:t>
            </a:r>
            <a:r>
              <a:rPr sz="1800" spc="110" dirty="0">
                <a:latin typeface="Tahoma"/>
                <a:cs typeface="Tahoma"/>
              </a:rPr>
              <a:t>s</a:t>
            </a:r>
            <a:r>
              <a:rPr sz="1800" spc="85" dirty="0">
                <a:latin typeface="Tahoma"/>
                <a:cs typeface="Tahoma"/>
              </a:rPr>
              <a:t>e</a:t>
            </a:r>
            <a:r>
              <a:rPr sz="1800" spc="35" dirty="0">
                <a:latin typeface="Tahoma"/>
                <a:cs typeface="Tahoma"/>
              </a:rPr>
              <a:t> </a:t>
            </a:r>
            <a:r>
              <a:rPr sz="1800" spc="114" dirty="0">
                <a:latin typeface="Tahoma"/>
                <a:cs typeface="Tahoma"/>
              </a:rPr>
              <a:t>of</a:t>
            </a:r>
            <a:r>
              <a:rPr sz="1800" spc="35" dirty="0">
                <a:latin typeface="Tahoma"/>
                <a:cs typeface="Tahoma"/>
              </a:rPr>
              <a:t> </a:t>
            </a:r>
            <a:r>
              <a:rPr sz="1800" spc="45" dirty="0">
                <a:latin typeface="Tahoma"/>
                <a:cs typeface="Tahoma"/>
              </a:rPr>
              <a:t>a</a:t>
            </a:r>
            <a:r>
              <a:rPr sz="1800" spc="35" dirty="0">
                <a:latin typeface="Tahoma"/>
                <a:cs typeface="Tahoma"/>
              </a:rPr>
              <a:t> </a:t>
            </a:r>
            <a:r>
              <a:rPr sz="1800" spc="65" dirty="0">
                <a:latin typeface="Tahoma"/>
                <a:cs typeface="Tahoma"/>
              </a:rPr>
              <a:t>w</a:t>
            </a:r>
            <a:r>
              <a:rPr sz="1800" spc="5" dirty="0">
                <a:latin typeface="Tahoma"/>
                <a:cs typeface="Tahoma"/>
              </a:rPr>
              <a:t>i</a:t>
            </a:r>
            <a:r>
              <a:rPr sz="1800" spc="40" dirty="0">
                <a:latin typeface="Tahoma"/>
                <a:cs typeface="Tahoma"/>
              </a:rPr>
              <a:t>n</a:t>
            </a:r>
            <a:r>
              <a:rPr lang="en-US" sz="1800" spc="40" dirty="0">
                <a:latin typeface="Tahoma"/>
                <a:cs typeface="Tahoma"/>
              </a:rPr>
              <a:t>,</a:t>
            </a:r>
            <a:r>
              <a:rPr sz="1800" spc="35" dirty="0">
                <a:latin typeface="Tahoma"/>
                <a:cs typeface="Tahoma"/>
              </a:rPr>
              <a:t> </a:t>
            </a:r>
            <a:r>
              <a:rPr sz="1800" spc="45" dirty="0">
                <a:latin typeface="Tahoma"/>
                <a:cs typeface="Tahoma"/>
              </a:rPr>
              <a:t>a</a:t>
            </a:r>
            <a:r>
              <a:rPr sz="1800" spc="40" dirty="0">
                <a:latin typeface="Tahoma"/>
                <a:cs typeface="Tahoma"/>
              </a:rPr>
              <a:t>n</a:t>
            </a:r>
            <a:r>
              <a:rPr sz="1800" spc="35" dirty="0">
                <a:latin typeface="Tahoma"/>
                <a:cs typeface="Tahoma"/>
              </a:rPr>
              <a:t> </a:t>
            </a:r>
            <a:r>
              <a:rPr sz="1800" spc="45" dirty="0">
                <a:latin typeface="Tahoma"/>
                <a:cs typeface="Tahoma"/>
              </a:rPr>
              <a:t>a</a:t>
            </a:r>
            <a:r>
              <a:rPr sz="1800" spc="80" dirty="0">
                <a:latin typeface="Tahoma"/>
                <a:cs typeface="Tahoma"/>
              </a:rPr>
              <a:t>mou</a:t>
            </a:r>
            <a:r>
              <a:rPr sz="1800" spc="40" dirty="0">
                <a:latin typeface="Tahoma"/>
                <a:cs typeface="Tahoma"/>
              </a:rPr>
              <a:t>n</a:t>
            </a:r>
            <a:r>
              <a:rPr sz="1800" spc="190" dirty="0">
                <a:latin typeface="Tahoma"/>
                <a:cs typeface="Tahoma"/>
              </a:rPr>
              <a:t>t</a:t>
            </a:r>
            <a:r>
              <a:rPr sz="1800" spc="35" dirty="0">
                <a:latin typeface="Tahoma"/>
                <a:cs typeface="Tahoma"/>
              </a:rPr>
              <a:t> </a:t>
            </a:r>
            <a:r>
              <a:rPr sz="1800" spc="85" dirty="0">
                <a:latin typeface="Tahoma"/>
                <a:cs typeface="Tahoma"/>
              </a:rPr>
              <a:t>e</a:t>
            </a:r>
            <a:r>
              <a:rPr sz="1800" spc="75" dirty="0">
                <a:latin typeface="Tahoma"/>
                <a:cs typeface="Tahoma"/>
              </a:rPr>
              <a:t>q</a:t>
            </a:r>
            <a:r>
              <a:rPr sz="1800" spc="40" dirty="0">
                <a:latin typeface="Tahoma"/>
                <a:cs typeface="Tahoma"/>
              </a:rPr>
              <a:t>u</a:t>
            </a:r>
            <a:r>
              <a:rPr sz="1800" spc="45" dirty="0">
                <a:latin typeface="Tahoma"/>
                <a:cs typeface="Tahoma"/>
              </a:rPr>
              <a:t>a</a:t>
            </a:r>
            <a:r>
              <a:rPr sz="1800" spc="5" dirty="0">
                <a:latin typeface="Tahoma"/>
                <a:cs typeface="Tahoma"/>
              </a:rPr>
              <a:t>l</a:t>
            </a:r>
            <a:r>
              <a:rPr sz="1800" spc="35" dirty="0">
                <a:latin typeface="Tahoma"/>
                <a:cs typeface="Tahoma"/>
              </a:rPr>
              <a:t> </a:t>
            </a:r>
            <a:r>
              <a:rPr sz="1800" spc="190" dirty="0">
                <a:latin typeface="Tahoma"/>
                <a:cs typeface="Tahoma"/>
              </a:rPr>
              <a:t>t</a:t>
            </a:r>
            <a:r>
              <a:rPr sz="1800" spc="105" dirty="0">
                <a:latin typeface="Tahoma"/>
                <a:cs typeface="Tahoma"/>
              </a:rPr>
              <a:t>o</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90" dirty="0">
                <a:latin typeface="Tahoma"/>
                <a:cs typeface="Tahoma"/>
              </a:rPr>
              <a:t>t</a:t>
            </a:r>
            <a:r>
              <a:rPr sz="1800" spc="150" dirty="0">
                <a:latin typeface="Tahoma"/>
                <a:cs typeface="Tahoma"/>
              </a:rPr>
              <a:t>ot</a:t>
            </a:r>
            <a:r>
              <a:rPr sz="1800" spc="45" dirty="0">
                <a:latin typeface="Tahoma"/>
                <a:cs typeface="Tahoma"/>
              </a:rPr>
              <a:t>a</a:t>
            </a:r>
            <a:r>
              <a:rPr sz="1800" spc="5" dirty="0">
                <a:latin typeface="Tahoma"/>
                <a:cs typeface="Tahoma"/>
              </a:rPr>
              <a:t>l</a:t>
            </a:r>
            <a:r>
              <a:rPr sz="1800" spc="35" dirty="0">
                <a:latin typeface="Tahoma"/>
                <a:cs typeface="Tahoma"/>
              </a:rPr>
              <a:t> </a:t>
            </a:r>
            <a:r>
              <a:rPr sz="1800" spc="40" dirty="0">
                <a:latin typeface="Tahoma"/>
                <a:cs typeface="Tahoma"/>
              </a:rPr>
              <a:t>nu</a:t>
            </a:r>
            <a:r>
              <a:rPr sz="1800" spc="85" dirty="0">
                <a:latin typeface="Tahoma"/>
                <a:cs typeface="Tahoma"/>
              </a:rPr>
              <a:t>mbe</a:t>
            </a:r>
            <a:r>
              <a:rPr sz="1800" spc="45" dirty="0">
                <a:latin typeface="Tahoma"/>
                <a:cs typeface="Tahoma"/>
              </a:rPr>
              <a:t>r</a:t>
            </a:r>
            <a:r>
              <a:rPr sz="1800" spc="35" dirty="0">
                <a:latin typeface="Tahoma"/>
                <a:cs typeface="Tahoma"/>
              </a:rPr>
              <a:t> </a:t>
            </a:r>
            <a:r>
              <a:rPr sz="1800" spc="114" dirty="0">
                <a:latin typeface="Tahoma"/>
                <a:cs typeface="Tahoma"/>
              </a:rPr>
              <a:t>of</a:t>
            </a:r>
            <a:r>
              <a:rPr lang="en-US" sz="1800" spc="114" dirty="0">
                <a:latin typeface="Tahoma"/>
                <a:cs typeface="Tahoma"/>
              </a:rPr>
              <a:t> </a:t>
            </a:r>
            <a:r>
              <a:rPr sz="1800" spc="40" dirty="0">
                <a:latin typeface="Tahoma"/>
                <a:cs typeface="Tahoma"/>
              </a:rPr>
              <a:t>h</a:t>
            </a:r>
            <a:r>
              <a:rPr sz="1800" spc="5" dirty="0">
                <a:latin typeface="Tahoma"/>
                <a:cs typeface="Tahoma"/>
              </a:rPr>
              <a:t>i</a:t>
            </a:r>
            <a:r>
              <a:rPr sz="1800" spc="75" dirty="0">
                <a:latin typeface="Tahoma"/>
                <a:cs typeface="Tahoma"/>
              </a:rPr>
              <a:t>dd</a:t>
            </a:r>
            <a:r>
              <a:rPr sz="1800" spc="85" dirty="0">
                <a:latin typeface="Tahoma"/>
                <a:cs typeface="Tahoma"/>
              </a:rPr>
              <a:t>e</a:t>
            </a:r>
            <a:r>
              <a:rPr sz="1800" spc="40" dirty="0">
                <a:latin typeface="Tahoma"/>
                <a:cs typeface="Tahoma"/>
              </a:rPr>
              <a:t>n</a:t>
            </a:r>
            <a:r>
              <a:rPr sz="1800" spc="35" dirty="0">
                <a:latin typeface="Tahoma"/>
                <a:cs typeface="Tahoma"/>
              </a:rPr>
              <a:t> </a:t>
            </a:r>
            <a:r>
              <a:rPr sz="1800" spc="145" dirty="0">
                <a:latin typeface="Tahoma"/>
                <a:cs typeface="Tahoma"/>
              </a:rPr>
              <a:t>c</a:t>
            </a:r>
            <a:r>
              <a:rPr sz="1800" spc="55" dirty="0">
                <a:latin typeface="Tahoma"/>
                <a:cs typeface="Tahoma"/>
              </a:rPr>
              <a:t>oi</a:t>
            </a:r>
            <a:r>
              <a:rPr sz="1800" spc="40" dirty="0">
                <a:latin typeface="Tahoma"/>
                <a:cs typeface="Tahoma"/>
              </a:rPr>
              <a:t>n</a:t>
            </a:r>
            <a:r>
              <a:rPr sz="1800" spc="110" dirty="0">
                <a:latin typeface="Tahoma"/>
                <a:cs typeface="Tahoma"/>
              </a:rPr>
              <a:t>s</a:t>
            </a:r>
            <a:r>
              <a:rPr sz="1800" spc="35" dirty="0">
                <a:latin typeface="Tahoma"/>
                <a:cs typeface="Tahoma"/>
              </a:rPr>
              <a:t> </a:t>
            </a:r>
            <a:r>
              <a:rPr lang="en-US" sz="1800" spc="45" dirty="0">
                <a:latin typeface="Tahoma"/>
                <a:cs typeface="Tahoma"/>
              </a:rPr>
              <a:t>is</a:t>
            </a:r>
            <a:r>
              <a:rPr sz="1800" spc="35" dirty="0">
                <a:latin typeface="Tahoma"/>
                <a:cs typeface="Tahoma"/>
              </a:rPr>
              <a:t> </a:t>
            </a:r>
            <a:r>
              <a:rPr sz="1800" spc="75" dirty="0">
                <a:latin typeface="Tahoma"/>
                <a:cs typeface="Tahoma"/>
              </a:rPr>
              <a:t>p</a:t>
            </a:r>
            <a:r>
              <a:rPr sz="1800" spc="45" dirty="0">
                <a:latin typeface="Tahoma"/>
                <a:cs typeface="Tahoma"/>
              </a:rPr>
              <a:t>a</a:t>
            </a:r>
            <a:r>
              <a:rPr sz="1800" spc="5" dirty="0">
                <a:latin typeface="Tahoma"/>
                <a:cs typeface="Tahoma"/>
              </a:rPr>
              <a:t>i</a:t>
            </a:r>
            <a:r>
              <a:rPr sz="1800" spc="75" dirty="0">
                <a:latin typeface="Tahoma"/>
                <a:cs typeface="Tahoma"/>
              </a:rPr>
              <a:t>d</a:t>
            </a:r>
            <a:r>
              <a:rPr sz="1800" spc="35" dirty="0">
                <a:latin typeface="Tahoma"/>
                <a:cs typeface="Tahoma"/>
              </a:rPr>
              <a:t> </a:t>
            </a:r>
            <a:r>
              <a:rPr sz="1800" spc="190" dirty="0">
                <a:latin typeface="Tahoma"/>
                <a:cs typeface="Tahoma"/>
              </a:rPr>
              <a:t>t</a:t>
            </a:r>
            <a:r>
              <a:rPr sz="1800" spc="105" dirty="0">
                <a:latin typeface="Tahoma"/>
                <a:cs typeface="Tahoma"/>
              </a:rPr>
              <a:t>o</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65" dirty="0">
                <a:latin typeface="Tahoma"/>
                <a:cs typeface="Tahoma"/>
              </a:rPr>
              <a:t>w</a:t>
            </a:r>
            <a:r>
              <a:rPr sz="1800" spc="5" dirty="0">
                <a:latin typeface="Tahoma"/>
                <a:cs typeface="Tahoma"/>
              </a:rPr>
              <a:t>i</a:t>
            </a:r>
            <a:r>
              <a:rPr sz="1800" spc="40" dirty="0">
                <a:latin typeface="Tahoma"/>
                <a:cs typeface="Tahoma"/>
              </a:rPr>
              <a:t>nn</a:t>
            </a:r>
            <a:r>
              <a:rPr sz="1800" spc="85" dirty="0">
                <a:latin typeface="Tahoma"/>
                <a:cs typeface="Tahoma"/>
              </a:rPr>
              <a:t>e</a:t>
            </a:r>
            <a:r>
              <a:rPr sz="1800" spc="45" dirty="0">
                <a:latin typeface="Tahoma"/>
                <a:cs typeface="Tahoma"/>
              </a:rPr>
              <a:t>r</a:t>
            </a:r>
            <a:r>
              <a:rPr sz="1800" dirty="0">
                <a:latin typeface="Tahoma"/>
                <a:cs typeface="Tahoma"/>
              </a:rPr>
              <a:t>.</a:t>
            </a:r>
          </a:p>
        </p:txBody>
      </p:sp>
      <p:sp>
        <p:nvSpPr>
          <p:cNvPr id="6" name="object 6"/>
          <p:cNvSpPr/>
          <p:nvPr/>
        </p:nvSpPr>
        <p:spPr>
          <a:xfrm>
            <a:off x="2128729" y="0"/>
            <a:ext cx="7015270" cy="4109793"/>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438399" y="1"/>
            <a:ext cx="6705599" cy="4267200"/>
          </a:xfrm>
          <a:prstGeom prst="rect">
            <a:avLst/>
          </a:prstGeom>
          <a:blipFill>
            <a:blip r:embed="rId4" cstate="print"/>
            <a:stretch>
              <a:fillRect/>
            </a:stretch>
          </a:blipFill>
        </p:spPr>
        <p:txBody>
          <a:bodyPr wrap="square" lIns="0" tIns="0" rIns="0" bIns="0" rtlCol="0"/>
          <a:lstStyle/>
          <a:p>
            <a:endParaRPr/>
          </a:p>
        </p:txBody>
      </p:sp>
      <p:sp>
        <p:nvSpPr>
          <p:cNvPr id="8" name="object 8"/>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Morra</a:t>
            </a:r>
          </a:p>
        </p:txBody>
      </p:sp>
      <p:sp>
        <p:nvSpPr>
          <p:cNvPr id="11" name="Slide Number Placeholder 10">
            <a:extLst>
              <a:ext uri="{FF2B5EF4-FFF2-40B4-BE49-F238E27FC236}">
                <a16:creationId xmlns:a16="http://schemas.microsoft.com/office/drawing/2014/main" id="{F2DD98DD-F451-936B-980A-2B7C46F83809}"/>
              </a:ext>
            </a:extLst>
          </p:cNvPr>
          <p:cNvSpPr>
            <a:spLocks noGrp="1"/>
          </p:cNvSpPr>
          <p:nvPr>
            <p:ph type="sldNum" sz="quarter" idx="2"/>
          </p:nvPr>
        </p:nvSpPr>
        <p:spPr>
          <a:xfrm>
            <a:off x="8133155" y="6523831"/>
            <a:ext cx="1111410" cy="410369"/>
          </a:xfrm>
          <a:prstGeom prst="rect">
            <a:avLst/>
          </a:prstGeom>
        </p:spPr>
        <p:txBody>
          <a:bodyPr/>
          <a:lstStyle>
            <a:defPPr>
              <a:defRPr lang="en-US"/>
            </a:defPPr>
            <a:lvl1pPr marL="0" algn="l" defTabSz="914400" rtl="0" eaLnBrk="1" latinLnBrk="0" hangingPunct="1">
              <a:defRPr sz="2000" kern="1200">
                <a:solidFill>
                  <a:schemeClr val="tx1"/>
                </a:solidFill>
                <a:latin typeface="Comic Sans MS"/>
                <a:ea typeface="Comic Sans MS"/>
                <a:cs typeface="Comic Sans MS"/>
                <a:sym typeface="Comic Sans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mtClean="0"/>
              <a:pPr/>
              <a:t>14</a:t>
            </a:fld>
            <a:r>
              <a:rPr lang="en-US" dirty="0"/>
              <a:t>/46</a:t>
            </a:r>
          </a:p>
        </p:txBody>
      </p:sp>
      <p:sp>
        <p:nvSpPr>
          <p:cNvPr id="13" name="Rectangle 12">
            <a:extLst>
              <a:ext uri="{FF2B5EF4-FFF2-40B4-BE49-F238E27FC236}">
                <a16:creationId xmlns:a16="http://schemas.microsoft.com/office/drawing/2014/main" id="{E1A6789B-2473-95B2-CB90-B635C3064A3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   FIT5226-S2-2024</a:t>
            </a:r>
            <a:endParaRPr lang="en-US" b="1" dirty="0">
              <a:solidFill>
                <a:schemeClr val="tx1"/>
              </a:solidFill>
            </a:endParaRPr>
          </a:p>
        </p:txBody>
      </p:sp>
      <p:sp>
        <p:nvSpPr>
          <p:cNvPr id="15" name="Rectangle 14">
            <a:extLst>
              <a:ext uri="{FF2B5EF4-FFF2-40B4-BE49-F238E27FC236}">
                <a16:creationId xmlns:a16="http://schemas.microsoft.com/office/drawing/2014/main" id="{F30FFDE9-0F4F-DD0F-E6FE-90236355E58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EE728E3-1C09-4001-AA84-C8BA240EEE5A}"/>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Calibri"/>
                <a:ea typeface="+mn-ea"/>
                <a:cs typeface="+mn-cs"/>
              </a:rPr>
              <a:t>Week-7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5">
            <a:extLst>
              <a:ext uri="{FF2B5EF4-FFF2-40B4-BE49-F238E27FC236}">
                <a16:creationId xmlns:a16="http://schemas.microsoft.com/office/drawing/2014/main" id="{475FE197-2362-0A22-A07F-6F148545145D}"/>
              </a:ext>
            </a:extLst>
          </p:cNvPr>
          <p:cNvSpPr txBox="1"/>
          <p:nvPr/>
        </p:nvSpPr>
        <p:spPr>
          <a:xfrm>
            <a:off x="277910" y="222465"/>
            <a:ext cx="3493135" cy="424180"/>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3100" b="0" i="0" u="none" strike="noStrike" kern="1200" cap="none" spc="15" normalizeH="0" baseline="0" noProof="0" dirty="0">
                <a:ln>
                  <a:noFill/>
                </a:ln>
                <a:solidFill>
                  <a:prstClr val="black"/>
                </a:solidFill>
                <a:effectLst/>
                <a:uLnTx/>
                <a:uFillTx/>
                <a:latin typeface="Arial"/>
                <a:ea typeface="+mn-ea"/>
                <a:cs typeface="Arial"/>
              </a:rPr>
              <a:t>Morra</a:t>
            </a:r>
            <a:r>
              <a:rPr kumimoji="0" sz="3100" b="0" i="0" u="none" strike="noStrike" kern="1200" cap="none" spc="5" normalizeH="0" baseline="0" noProof="0" dirty="0">
                <a:ln>
                  <a:noFill/>
                </a:ln>
                <a:solidFill>
                  <a:prstClr val="black"/>
                </a:solidFill>
                <a:effectLst/>
                <a:uLnTx/>
                <a:uFillTx/>
                <a:latin typeface="Arial"/>
                <a:ea typeface="+mn-ea"/>
                <a:cs typeface="Arial"/>
              </a:rPr>
              <a:t> </a:t>
            </a:r>
            <a:r>
              <a:rPr kumimoji="0" sz="3100" b="0" i="0" u="none" strike="noStrike" kern="1200" cap="none" spc="15" normalizeH="0" baseline="0" noProof="0" dirty="0">
                <a:ln>
                  <a:noFill/>
                </a:ln>
                <a:solidFill>
                  <a:prstClr val="black"/>
                </a:solidFill>
                <a:effectLst/>
                <a:uLnTx/>
                <a:uFillTx/>
                <a:latin typeface="Arial"/>
                <a:ea typeface="+mn-ea"/>
                <a:cs typeface="Arial"/>
              </a:rPr>
              <a:t>Payo</a:t>
            </a:r>
            <a:r>
              <a:rPr kumimoji="0" sz="3100" b="0" i="0" u="none" strike="noStrike" kern="1200" cap="none" spc="-55" normalizeH="0" baseline="0" noProof="0" dirty="0">
                <a:ln>
                  <a:noFill/>
                </a:ln>
                <a:solidFill>
                  <a:prstClr val="black"/>
                </a:solidFill>
                <a:effectLst/>
                <a:uLnTx/>
                <a:uFillTx/>
                <a:latin typeface="Arial"/>
                <a:ea typeface="+mn-ea"/>
                <a:cs typeface="Arial"/>
              </a:rPr>
              <a:t>f</a:t>
            </a:r>
            <a:r>
              <a:rPr kumimoji="0" sz="3100" b="0" i="0" u="none" strike="noStrike" kern="1200" cap="none" spc="5" normalizeH="0" baseline="0" noProof="0" dirty="0">
                <a:ln>
                  <a:noFill/>
                </a:ln>
                <a:solidFill>
                  <a:prstClr val="black"/>
                </a:solidFill>
                <a:effectLst/>
                <a:uLnTx/>
                <a:uFillTx/>
                <a:latin typeface="Arial"/>
                <a:ea typeface="+mn-ea"/>
                <a:cs typeface="Arial"/>
              </a:rPr>
              <a:t>f </a:t>
            </a:r>
            <a:r>
              <a:rPr kumimoji="0" sz="3100" b="0" i="0" u="none" strike="noStrike" kern="1200" cap="none" spc="20" normalizeH="0" baseline="0" noProof="0" dirty="0">
                <a:ln>
                  <a:noFill/>
                </a:ln>
                <a:solidFill>
                  <a:prstClr val="black"/>
                </a:solidFill>
                <a:effectLst/>
                <a:uLnTx/>
                <a:uFillTx/>
                <a:latin typeface="Arial"/>
                <a:ea typeface="+mn-ea"/>
                <a:cs typeface="Arial"/>
              </a:rPr>
              <a:t>Ma</a:t>
            </a:r>
            <a:r>
              <a:rPr kumimoji="0" sz="3100" b="0" i="0" u="none" strike="noStrike" kern="1200" cap="none" spc="0" normalizeH="0" baseline="0" noProof="0" dirty="0">
                <a:ln>
                  <a:noFill/>
                </a:ln>
                <a:solidFill>
                  <a:prstClr val="black"/>
                </a:solidFill>
                <a:effectLst/>
                <a:uLnTx/>
                <a:uFillTx/>
                <a:latin typeface="Arial"/>
                <a:ea typeface="+mn-ea"/>
                <a:cs typeface="Arial"/>
              </a:rPr>
              <a:t>t</a:t>
            </a:r>
            <a:r>
              <a:rPr kumimoji="0" sz="3100" b="0" i="0" u="none" strike="noStrike" kern="1200" cap="none" spc="10" normalizeH="0" baseline="0" noProof="0" dirty="0">
                <a:ln>
                  <a:noFill/>
                </a:ln>
                <a:solidFill>
                  <a:prstClr val="black"/>
                </a:solidFill>
                <a:effectLst/>
                <a:uLnTx/>
                <a:uFillTx/>
                <a:latin typeface="Arial"/>
                <a:ea typeface="+mn-ea"/>
                <a:cs typeface="Arial"/>
              </a:rPr>
              <a:t>rix</a:t>
            </a:r>
            <a:endParaRPr kumimoji="0" sz="3100" b="0" i="0" u="none" strike="noStrike" kern="1200" cap="none" spc="0" normalizeH="0" baseline="0" noProof="0" dirty="0">
              <a:ln>
                <a:noFill/>
              </a:ln>
              <a:solidFill>
                <a:prstClr val="black"/>
              </a:solidFill>
              <a:effectLst/>
              <a:uLnTx/>
              <a:uFillTx/>
              <a:latin typeface="Arial"/>
              <a:ea typeface="+mn-ea"/>
              <a:cs typeface="Arial"/>
            </a:endParaRPr>
          </a:p>
        </p:txBody>
      </p:sp>
      <p:sp>
        <p:nvSpPr>
          <p:cNvPr id="4" name="object 6">
            <a:extLst>
              <a:ext uri="{FF2B5EF4-FFF2-40B4-BE49-F238E27FC236}">
                <a16:creationId xmlns:a16="http://schemas.microsoft.com/office/drawing/2014/main" id="{7801B8CA-DE8C-CD48-5492-C1E0733E15DC}"/>
              </a:ext>
            </a:extLst>
          </p:cNvPr>
          <p:cNvSpPr txBox="1"/>
          <p:nvPr/>
        </p:nvSpPr>
        <p:spPr>
          <a:xfrm>
            <a:off x="269467" y="3886200"/>
            <a:ext cx="7792720" cy="2496966"/>
          </a:xfrm>
          <a:prstGeom prst="rect">
            <a:avLst/>
          </a:prstGeom>
        </p:spPr>
        <p:txBody>
          <a:bodyPr vert="horz" wrap="square" lIns="0" tIns="0" rIns="0" bIns="0" rtlCol="0">
            <a:spAutoFit/>
          </a:bodyPr>
          <a:lstStyle/>
          <a:p>
            <a:pPr marL="12700" marR="5080" lvl="0" indent="0" algn="l" defTabSz="914400" rtl="0" eaLnBrk="1" fontAlgn="auto" latinLnBrk="0" hangingPunct="1">
              <a:lnSpc>
                <a:spcPct val="115700"/>
              </a:lnSpc>
              <a:spcBef>
                <a:spcPts val="0"/>
              </a:spcBef>
              <a:spcAft>
                <a:spcPts val="0"/>
              </a:spcAft>
              <a:buClrTx/>
              <a:buSzTx/>
              <a:buFontTx/>
              <a:buNone/>
              <a:tabLst/>
              <a:defRPr/>
            </a:pPr>
            <a:r>
              <a:rPr kumimoji="0" sz="1800" b="0" i="0" u="none" strike="noStrike" kern="1200" cap="none" spc="225" normalizeH="0" baseline="0" noProof="0" dirty="0">
                <a:ln>
                  <a:noFill/>
                </a:ln>
                <a:solidFill>
                  <a:prstClr val="black"/>
                </a:solidFill>
                <a:effectLst/>
                <a:uLnTx/>
                <a:uFillTx/>
                <a:latin typeface="Tahoma"/>
                <a:ea typeface="+mn-ea"/>
                <a:cs typeface="Tahoma"/>
              </a:rPr>
              <a:t>A</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z</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65" normalizeH="0" baseline="0" noProof="0" dirty="0">
                <a:ln>
                  <a:noFill/>
                </a:ln>
                <a:solidFill>
                  <a:prstClr val="black"/>
                </a:solidFill>
                <a:effectLst/>
                <a:uLnTx/>
                <a:uFillTx/>
                <a:latin typeface="Tahoma"/>
                <a:ea typeface="+mn-ea"/>
                <a:cs typeface="Tahoma"/>
              </a:rPr>
              <a:t>o-</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40" normalizeH="0" baseline="0" noProof="0" dirty="0">
                <a:ln>
                  <a:noFill/>
                </a:ln>
                <a:solidFill>
                  <a:prstClr val="black"/>
                </a:solidFill>
                <a:effectLst/>
                <a:uLnTx/>
                <a:uFillTx/>
                <a:latin typeface="Tahoma"/>
                <a:ea typeface="+mn-ea"/>
                <a:cs typeface="Tahoma"/>
              </a:rPr>
              <a:t>um,</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40" normalizeH="0" baseline="0" noProof="0" dirty="0">
                <a:ln>
                  <a:noFill/>
                </a:ln>
                <a:solidFill>
                  <a:prstClr val="black"/>
                </a:solidFill>
                <a:effectLst/>
                <a:uLnTx/>
                <a:uFillTx/>
                <a:latin typeface="Tahoma"/>
                <a:ea typeface="+mn-ea"/>
                <a:cs typeface="Tahoma"/>
              </a:rPr>
              <a:t>n</a:t>
            </a:r>
            <a:r>
              <a:rPr kumimoji="0" sz="1800" b="0" i="0" u="none" strike="noStrike" kern="1200" cap="none" spc="95" normalizeH="0" baseline="0" noProof="0" dirty="0">
                <a:ln>
                  <a:noFill/>
                </a:ln>
                <a:solidFill>
                  <a:prstClr val="black"/>
                </a:solidFill>
                <a:effectLst/>
                <a:uLnTx/>
                <a:uFillTx/>
                <a:latin typeface="Tahoma"/>
                <a:ea typeface="+mn-ea"/>
                <a:cs typeface="Tahoma"/>
              </a:rPr>
              <a:t>g</a:t>
            </a:r>
            <a:r>
              <a:rPr kumimoji="0" sz="1800" b="0" i="0" u="none" strike="noStrike" kern="1200" cap="none" spc="5" normalizeH="0" baseline="0" noProof="0" dirty="0">
                <a:ln>
                  <a:noFill/>
                </a:ln>
                <a:solidFill>
                  <a:prstClr val="black"/>
                </a:solidFill>
                <a:effectLst/>
                <a:uLnTx/>
                <a:uFillTx/>
                <a:latin typeface="Tahoma"/>
                <a:ea typeface="+mn-ea"/>
                <a:cs typeface="Tahoma"/>
              </a:rPr>
              <a:t>l</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0" normalizeH="0" baseline="0" noProof="0" dirty="0">
                <a:ln>
                  <a:noFill/>
                </a:ln>
                <a:solidFill>
                  <a:prstClr val="black"/>
                </a:solidFill>
                <a:effectLst/>
                <a:uLnTx/>
                <a:uFillTx/>
                <a:latin typeface="Tahoma"/>
                <a:ea typeface="+mn-ea"/>
                <a:cs typeface="Tahoma"/>
              </a:rPr>
              <a:t>ma</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60" normalizeH="0" baseline="0" noProof="0" dirty="0">
                <a:ln>
                  <a:noFill/>
                </a:ln>
                <a:solidFill>
                  <a:prstClr val="black"/>
                </a:solidFill>
                <a:effectLst/>
                <a:uLnTx/>
                <a:uFillTx/>
                <a:latin typeface="Tahoma"/>
                <a:ea typeface="+mn-ea"/>
                <a:cs typeface="Tahoma"/>
              </a:rPr>
              <a:t>x</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0" normalizeH="0" baseline="0" noProof="0" dirty="0">
                <a:ln>
                  <a:noFill/>
                </a:ln>
                <a:solidFill>
                  <a:prstClr val="black"/>
                </a:solidFill>
                <a:effectLst/>
                <a:uLnTx/>
                <a:uFillTx/>
                <a:latin typeface="Tahoma"/>
                <a:ea typeface="+mn-ea"/>
                <a:cs typeface="Tahoma"/>
              </a:rPr>
              <a:t>n</a:t>
            </a:r>
            <a:r>
              <a:rPr kumimoji="0" sz="1800" b="0" i="0" u="none" strike="noStrike" kern="1200" cap="none" spc="75" normalizeH="0" baseline="0" noProof="0" dirty="0">
                <a:ln>
                  <a:noFill/>
                </a:ln>
                <a:solidFill>
                  <a:prstClr val="black"/>
                </a:solidFill>
                <a:effectLst/>
                <a:uLnTx/>
                <a:uFillTx/>
                <a:latin typeface="Tahoma"/>
                <a:ea typeface="+mn-ea"/>
                <a:cs typeface="Tahoma"/>
              </a:rPr>
              <a:t>ou</a:t>
            </a:r>
            <a:r>
              <a:rPr kumimoji="0" sz="1800" b="0" i="0" u="none" strike="noStrike" kern="1200" cap="none" spc="95" normalizeH="0" baseline="0" noProof="0" dirty="0">
                <a:ln>
                  <a:noFill/>
                </a:ln>
                <a:solidFill>
                  <a:prstClr val="black"/>
                </a:solidFill>
                <a:effectLst/>
                <a:uLnTx/>
                <a:uFillTx/>
                <a:latin typeface="Tahoma"/>
                <a:ea typeface="+mn-ea"/>
                <a:cs typeface="Tahoma"/>
              </a:rPr>
              <a:t>g</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105" normalizeH="0" baseline="0" noProof="0" dirty="0">
                <a:ln>
                  <a:noFill/>
                </a:ln>
                <a:solidFill>
                  <a:prstClr val="black"/>
                </a:solidFill>
                <a:effectLst/>
                <a:uLnTx/>
                <a:uFillTx/>
                <a:latin typeface="Tahoma"/>
                <a:ea typeface="+mn-ea"/>
                <a:cs typeface="Tahoma"/>
              </a:rPr>
              <a:t>o</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d</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0" normalizeH="0" baseline="0" noProof="0" dirty="0">
                <a:ln>
                  <a:noFill/>
                </a:ln>
                <a:solidFill>
                  <a:prstClr val="black"/>
                </a:solidFill>
                <a:effectLst/>
                <a:uLnTx/>
                <a:uFillTx/>
                <a:latin typeface="Tahoma"/>
                <a:ea typeface="+mn-ea"/>
                <a:cs typeface="Tahoma"/>
              </a:rPr>
              <a:t>n</a:t>
            </a:r>
            <a:r>
              <a:rPr kumimoji="0" sz="1800" b="0" i="0" u="none" strike="noStrike" kern="1200" cap="none" spc="150" normalizeH="0" baseline="0" noProof="0" dirty="0">
                <a:ln>
                  <a:noFill/>
                </a:ln>
                <a:solidFill>
                  <a:prstClr val="black"/>
                </a:solidFill>
                <a:effectLst/>
                <a:uLnTx/>
                <a:uFillTx/>
                <a:latin typeface="Tahoma"/>
                <a:ea typeface="+mn-ea"/>
                <a:cs typeface="Tahoma"/>
              </a:rPr>
              <a:t>ot</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ou</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145" normalizeH="0" baseline="0" noProof="0" dirty="0">
                <a:ln>
                  <a:noFill/>
                </a:ln>
                <a:solidFill>
                  <a:prstClr val="black"/>
                </a:solidFill>
                <a:effectLst/>
                <a:uLnTx/>
                <a:uFillTx/>
                <a:latin typeface="Tahoma"/>
                <a:ea typeface="+mn-ea"/>
                <a:cs typeface="Tahoma"/>
              </a:rPr>
              <a:t>c</a:t>
            </a:r>
            <a:r>
              <a:rPr kumimoji="0" sz="1800" b="0" i="0" u="none" strike="noStrike" kern="1200" cap="none" spc="95" normalizeH="0" baseline="0" noProof="0" dirty="0">
                <a:ln>
                  <a:noFill/>
                </a:ln>
                <a:solidFill>
                  <a:prstClr val="black"/>
                </a:solidFill>
                <a:effectLst/>
                <a:uLnTx/>
                <a:uFillTx/>
                <a:latin typeface="Tahoma"/>
                <a:ea typeface="+mn-ea"/>
                <a:cs typeface="Tahoma"/>
              </a:rPr>
              <a:t>om</a:t>
            </a:r>
            <a:r>
              <a:rPr kumimoji="0" sz="1800" b="0" i="0" u="none" strike="noStrike" kern="1200" cap="none" spc="70" normalizeH="0" baseline="0" noProof="0" dirty="0">
                <a:ln>
                  <a:noFill/>
                </a:ln>
                <a:solidFill>
                  <a:prstClr val="black"/>
                </a:solidFill>
                <a:effectLst/>
                <a:uLnTx/>
                <a:uFillTx/>
                <a:latin typeface="Tahoma"/>
                <a:ea typeface="+mn-ea"/>
                <a:cs typeface="Tahoma"/>
              </a:rPr>
              <a:t>e</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75" normalizeH="0" baseline="0" noProof="0" dirty="0">
                <a:ln>
                  <a:noFill/>
                </a:ln>
                <a:solidFill>
                  <a:prstClr val="black"/>
                </a:solidFill>
                <a:effectLst/>
                <a:uLnTx/>
                <a:uFillTx/>
                <a:latin typeface="Tahoma"/>
                <a:ea typeface="+mn-ea"/>
                <a:cs typeface="Tahoma"/>
              </a:rPr>
              <a:t> </a:t>
            </a:r>
            <a:r>
              <a:rPr kumimoji="0" sz="1800" b="0" i="0" u="none" strike="noStrike" kern="1200" cap="none" spc="110" normalizeH="0" baseline="0" noProof="0" dirty="0">
                <a:ln>
                  <a:noFill/>
                </a:ln>
                <a:solidFill>
                  <a:prstClr val="black"/>
                </a:solidFill>
                <a:effectLst/>
                <a:uLnTx/>
                <a:uFillTx/>
                <a:latin typeface="Tahoma"/>
                <a:ea typeface="+mn-ea"/>
                <a:cs typeface="Tahoma"/>
              </a:rPr>
              <a:t>(</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40" normalizeH="0" baseline="0" noProof="0" dirty="0">
                <a:ln>
                  <a:noFill/>
                </a:ln>
                <a:solidFill>
                  <a:prstClr val="black"/>
                </a:solidFill>
                <a:effectLst/>
                <a:uLnTx/>
                <a:uFillTx/>
                <a:latin typeface="Tahoma"/>
                <a:ea typeface="+mn-ea"/>
                <a:cs typeface="Tahoma"/>
              </a:rPr>
              <a:t>n</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75" normalizeH="0" baseline="0" noProof="0" dirty="0">
                <a:ln>
                  <a:noFill/>
                </a:ln>
                <a:solidFill>
                  <a:prstClr val="black"/>
                </a:solidFill>
                <a:effectLst/>
                <a:uLnTx/>
                <a:uFillTx/>
                <a:latin typeface="Tahoma"/>
                <a:ea typeface="+mn-ea"/>
                <a:cs typeface="Tahoma"/>
              </a:rPr>
              <a:t>d</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14" normalizeH="0" baseline="0" noProof="0" dirty="0">
                <a:ln>
                  <a:noFill/>
                </a:ln>
                <a:solidFill>
                  <a:prstClr val="black"/>
                </a:solidFill>
                <a:effectLst/>
                <a:uLnTx/>
                <a:uFillTx/>
                <a:latin typeface="Tahoma"/>
                <a:ea typeface="+mn-ea"/>
                <a:cs typeface="Tahoma"/>
              </a:rPr>
              <a:t>of</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95" normalizeH="0" baseline="0" noProof="0" dirty="0">
                <a:ln>
                  <a:noFill/>
                </a:ln>
                <a:solidFill>
                  <a:prstClr val="black"/>
                </a:solidFill>
                <a:effectLst/>
                <a:uLnTx/>
                <a:uFillTx/>
                <a:latin typeface="Tahoma"/>
                <a:ea typeface="+mn-ea"/>
                <a:cs typeface="Tahoma"/>
              </a:rPr>
              <a:t>b</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25" normalizeH="0" baseline="0" noProof="0" dirty="0">
                <a:ln>
                  <a:noFill/>
                </a:ln>
                <a:solidFill>
                  <a:prstClr val="black"/>
                </a:solidFill>
                <a:effectLst/>
                <a:uLnTx/>
                <a:uFillTx/>
                <a:latin typeface="Tahoma"/>
                <a:ea typeface="+mn-ea"/>
                <a:cs typeface="Tahoma"/>
              </a:rPr>
              <a:t>-</a:t>
            </a:r>
            <a:r>
              <a:rPr kumimoji="0" sz="1800" b="0" i="0" u="none" strike="noStrike" kern="1200" cap="none" spc="70" normalizeH="0" baseline="0" noProof="0" dirty="0">
                <a:ln>
                  <a:noFill/>
                </a:ln>
                <a:solidFill>
                  <a:prstClr val="black"/>
                </a:solidFill>
                <a:effectLst/>
                <a:uLnTx/>
                <a:uFillTx/>
                <a:latin typeface="Tahoma"/>
                <a:ea typeface="+mn-ea"/>
                <a:cs typeface="Tahoma"/>
              </a:rPr>
              <a:t>ma</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60" normalizeH="0" baseline="0" noProof="0" dirty="0">
                <a:ln>
                  <a:noFill/>
                </a:ln>
                <a:solidFill>
                  <a:prstClr val="black"/>
                </a:solidFill>
                <a:effectLst/>
                <a:uLnTx/>
                <a:uFillTx/>
                <a:latin typeface="Tahoma"/>
                <a:ea typeface="+mn-ea"/>
                <a:cs typeface="Tahoma"/>
              </a:rPr>
              <a:t>x</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40" normalizeH="0" baseline="0" noProof="0" dirty="0">
                <a:ln>
                  <a:noFill/>
                </a:ln>
                <a:solidFill>
                  <a:prstClr val="black"/>
                </a:solidFill>
                <a:effectLst/>
                <a:uLnTx/>
                <a:uFillTx/>
                <a:latin typeface="Tahoma"/>
                <a:ea typeface="+mn-ea"/>
                <a:cs typeface="Tahoma"/>
              </a:rPr>
              <a:t>n</a:t>
            </a:r>
            <a:r>
              <a:rPr kumimoji="0" sz="1800" b="0" i="0" u="none" strike="noStrike" kern="1200" cap="none" spc="150" normalizeH="0" baseline="0" noProof="0" dirty="0">
                <a:ln>
                  <a:noFill/>
                </a:ln>
                <a:solidFill>
                  <a:prstClr val="black"/>
                </a:solidFill>
                <a:effectLst/>
                <a:uLnTx/>
                <a:uFillTx/>
                <a:latin typeface="Tahoma"/>
                <a:ea typeface="+mn-ea"/>
                <a:cs typeface="Tahoma"/>
              </a:rPr>
              <a:t>ot</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75" normalizeH="0" baseline="0" noProof="0" dirty="0">
                <a:ln>
                  <a:noFill/>
                </a:ln>
                <a:solidFill>
                  <a:prstClr val="black"/>
                </a:solidFill>
                <a:effectLst/>
                <a:uLnTx/>
                <a:uFillTx/>
                <a:latin typeface="Tahoma"/>
                <a:ea typeface="+mn-ea"/>
                <a:cs typeface="Tahoma"/>
              </a:rPr>
              <a:t>on</a:t>
            </a:r>
            <a:r>
              <a:rPr kumimoji="0" lang="en-US" sz="1800" b="0" i="0" u="none" strike="noStrike" kern="1200" cap="none" spc="75" normalizeH="0" baseline="0" noProof="0" dirty="0">
                <a:ln>
                  <a:noFill/>
                </a:ln>
                <a:solidFill>
                  <a:prstClr val="black"/>
                </a:solidFill>
                <a:effectLst/>
                <a:uLnTx/>
                <a:uFillTx/>
                <a:latin typeface="Tahoma"/>
                <a:ea typeface="+mn-ea"/>
                <a:cs typeface="Tahoma"/>
              </a:rPr>
              <a:t>, i.e. (m, n)</a:t>
            </a:r>
            <a:r>
              <a:rPr kumimoji="0" sz="1800" b="0" i="0" u="none" strike="noStrike" kern="1200" cap="none" spc="110" normalizeH="0" baseline="0" noProof="0" dirty="0">
                <a:ln>
                  <a:noFill/>
                </a:ln>
                <a:solidFill>
                  <a:prstClr val="black"/>
                </a:solidFill>
                <a:effectLst/>
                <a:uLnTx/>
                <a:uFillTx/>
                <a:latin typeface="Tahoma"/>
                <a:ea typeface="+mn-ea"/>
                <a:cs typeface="Tahoma"/>
              </a:rPr>
              <a:t>)</a:t>
            </a:r>
            <a:endParaRPr kumimoji="0" sz="1800" b="0" i="0" u="none" strike="noStrike" kern="1200" cap="none" spc="0" normalizeH="0" baseline="0" noProof="0" dirty="0">
              <a:ln>
                <a:noFill/>
              </a:ln>
              <a:solidFill>
                <a:prstClr val="black"/>
              </a:solidFill>
              <a:effectLst/>
              <a:uLnTx/>
              <a:uFillTx/>
              <a:latin typeface="Tahoma"/>
              <a:ea typeface="+mn-ea"/>
              <a:cs typeface="Tahom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9"/>
              </a:spcBef>
              <a:spcAft>
                <a:spcPts val="0"/>
              </a:spcAft>
              <a:buClrTx/>
              <a:buSzTx/>
              <a:buFontTx/>
              <a:buNone/>
              <a:tabLst/>
              <a:defRPr/>
            </a:pPr>
            <a:endParaRPr kumimoji="0" sz="2300" b="0" i="0" u="none" strike="noStrike" kern="1200" cap="none" spc="0" normalizeH="0" baseline="0" noProof="0" dirty="0">
              <a:ln>
                <a:noFill/>
              </a:ln>
              <a:solidFill>
                <a:prstClr val="black"/>
              </a:solidFill>
              <a:effectLst/>
              <a:uLnTx/>
              <a:uFillTx/>
              <a:latin typeface="Times New Roman"/>
              <a:ea typeface="+mn-ea"/>
              <a:cs typeface="Times New Roman"/>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65" normalizeH="0" baseline="0" noProof="0" dirty="0">
                <a:ln>
                  <a:noFill/>
                </a:ln>
                <a:solidFill>
                  <a:prstClr val="black"/>
                </a:solidFill>
                <a:effectLst/>
                <a:uLnTx/>
                <a:uFillTx/>
                <a:latin typeface="Tahoma"/>
                <a:ea typeface="+mn-ea"/>
                <a:cs typeface="Tahoma"/>
              </a:rPr>
              <a:t>W</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75" normalizeH="0" baseline="0" noProof="0" dirty="0">
                <a:ln>
                  <a:noFill/>
                </a:ln>
                <a:solidFill>
                  <a:prstClr val="black"/>
                </a:solidFill>
                <a:effectLst/>
                <a:uLnTx/>
                <a:uFillTx/>
                <a:latin typeface="Tahoma"/>
                <a:ea typeface="+mn-ea"/>
                <a:cs typeface="Tahoma"/>
              </a:rPr>
              <a:t>p</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70" normalizeH="0" baseline="0" noProof="0" dirty="0">
                <a:ln>
                  <a:noFill/>
                </a:ln>
                <a:solidFill>
                  <a:prstClr val="black"/>
                </a:solidFill>
                <a:effectLst/>
                <a:uLnTx/>
                <a:uFillTx/>
                <a:latin typeface="Tahoma"/>
                <a:ea typeface="+mn-ea"/>
                <a:cs typeface="Tahoma"/>
              </a:rPr>
              <a:t>k</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14" normalizeH="0" baseline="0" noProof="0" dirty="0">
                <a:ln>
                  <a:noFill/>
                </a:ln>
                <a:solidFill>
                  <a:prstClr val="black"/>
                </a:solidFill>
                <a:effectLst/>
                <a:uLnTx/>
                <a:uFillTx/>
                <a:latin typeface="Tahoma"/>
                <a:ea typeface="+mn-ea"/>
                <a:cs typeface="Tahoma"/>
              </a:rPr>
              <a:t>of</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55" normalizeH="0" baseline="0" noProof="0" dirty="0">
                <a:ln>
                  <a:noFill/>
                </a:ln>
                <a:solidFill>
                  <a:prstClr val="black"/>
                </a:solidFill>
                <a:effectLst/>
                <a:uLnTx/>
                <a:uFillTx/>
                <a:latin typeface="Tahoma"/>
                <a:ea typeface="+mn-ea"/>
                <a:cs typeface="Tahoma"/>
              </a:rPr>
              <a:t>“</a:t>
            </a:r>
            <a:r>
              <a:rPr kumimoji="0" sz="1800" b="0" i="0" u="none" strike="noStrike" kern="1200" cap="none" spc="145" normalizeH="0" baseline="0" noProof="0" dirty="0">
                <a:ln>
                  <a:noFill/>
                </a:ln>
                <a:solidFill>
                  <a:prstClr val="black"/>
                </a:solidFill>
                <a:effectLst/>
                <a:uLnTx/>
                <a:uFillTx/>
                <a:latin typeface="Tahoma"/>
                <a:ea typeface="+mn-ea"/>
                <a:cs typeface="Tahoma"/>
              </a:rPr>
              <a:t>c</a:t>
            </a:r>
            <a:r>
              <a:rPr kumimoji="0" sz="1800" b="0" i="0" u="none" strike="noStrike" kern="1200" cap="none" spc="55" normalizeH="0" baseline="0" noProof="0" dirty="0">
                <a:ln>
                  <a:noFill/>
                </a:ln>
                <a:solidFill>
                  <a:prstClr val="black"/>
                </a:solidFill>
                <a:effectLst/>
                <a:uLnTx/>
                <a:uFillTx/>
                <a:latin typeface="Tahoma"/>
                <a:ea typeface="+mn-ea"/>
                <a:cs typeface="Tahoma"/>
              </a:rPr>
              <a:t>ol</a:t>
            </a:r>
            <a:r>
              <a:rPr kumimoji="0" sz="1800" b="0" i="0" u="none" strike="noStrike" kern="1200" cap="none" spc="40" normalizeH="0" baseline="0" noProof="0" dirty="0">
                <a:ln>
                  <a:noFill/>
                </a:ln>
                <a:solidFill>
                  <a:prstClr val="black"/>
                </a:solidFill>
                <a:effectLst/>
                <a:uLnTx/>
                <a:uFillTx/>
                <a:latin typeface="Tahoma"/>
                <a:ea typeface="+mn-ea"/>
                <a:cs typeface="Tahoma"/>
              </a:rPr>
              <a:t>u</a:t>
            </a:r>
            <a:r>
              <a:rPr kumimoji="0" sz="1800" b="0" i="0" u="none" strike="noStrike" kern="1200" cap="none" spc="60" normalizeH="0" baseline="0" noProof="0" dirty="0">
                <a:ln>
                  <a:noFill/>
                </a:ln>
                <a:solidFill>
                  <a:prstClr val="black"/>
                </a:solidFill>
                <a:effectLst/>
                <a:uLnTx/>
                <a:uFillTx/>
                <a:latin typeface="Tahoma"/>
                <a:ea typeface="+mn-ea"/>
                <a:cs typeface="Tahoma"/>
              </a:rPr>
              <a:t>mn</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p</a:t>
            </a:r>
            <a:r>
              <a:rPr kumimoji="0" sz="1800" b="0" i="0" u="none" strike="noStrike" kern="1200" cap="none" spc="5" normalizeH="0" baseline="0" noProof="0" dirty="0">
                <a:ln>
                  <a:noFill/>
                </a:ln>
                <a:solidFill>
                  <a:prstClr val="black"/>
                </a:solidFill>
                <a:effectLst/>
                <a:uLnTx/>
                <a:uFillTx/>
                <a:latin typeface="Tahoma"/>
                <a:ea typeface="+mn-ea"/>
                <a:cs typeface="Tahoma"/>
              </a:rPr>
              <a:t>l</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125" normalizeH="0" baseline="0" noProof="0" dirty="0">
                <a:ln>
                  <a:noFill/>
                </a:ln>
                <a:solidFill>
                  <a:prstClr val="black"/>
                </a:solidFill>
                <a:effectLst/>
                <a:uLnTx/>
                <a:uFillTx/>
                <a:latin typeface="Tahoma"/>
                <a:ea typeface="+mn-ea"/>
                <a:cs typeface="Tahoma"/>
              </a:rPr>
              <a:t>y</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155" normalizeH="0" baseline="0" noProof="0" dirty="0">
                <a:ln>
                  <a:noFill/>
                </a:ln>
                <a:solidFill>
                  <a:prstClr val="black"/>
                </a:solidFill>
                <a:effectLst/>
                <a:uLnTx/>
                <a:uFillTx/>
                <a:latin typeface="Tahoma"/>
                <a:ea typeface="+mn-ea"/>
                <a:cs typeface="Tahoma"/>
              </a:rPr>
              <a:t>”</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40" normalizeH="0" baseline="0" noProof="0" dirty="0">
                <a:ln>
                  <a:noFill/>
                </a:ln>
                <a:solidFill>
                  <a:prstClr val="black"/>
                </a:solidFill>
                <a:effectLst/>
                <a:uLnTx/>
                <a:uFillTx/>
                <a:latin typeface="Tahoma"/>
                <a:ea typeface="+mn-ea"/>
                <a:cs typeface="Tahoma"/>
              </a:rPr>
              <a:t>n</a:t>
            </a:r>
            <a:r>
              <a:rPr kumimoji="0" sz="1800" b="0" i="0" u="none" strike="noStrike" kern="1200" cap="none" spc="75" normalizeH="0" baseline="0" noProof="0" dirty="0">
                <a:ln>
                  <a:noFill/>
                </a:ln>
                <a:solidFill>
                  <a:prstClr val="black"/>
                </a:solidFill>
                <a:effectLst/>
                <a:uLnTx/>
                <a:uFillTx/>
                <a:latin typeface="Tahoma"/>
                <a:ea typeface="+mn-ea"/>
                <a:cs typeface="Tahoma"/>
              </a:rPr>
              <a:t>d</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55" normalizeH="0" baseline="0" noProof="0" dirty="0">
                <a:ln>
                  <a:noFill/>
                </a:ln>
                <a:solidFill>
                  <a:prstClr val="black"/>
                </a:solidFill>
                <a:effectLst/>
                <a:uLnTx/>
                <a:uFillTx/>
                <a:latin typeface="Tahoma"/>
                <a:ea typeface="+mn-ea"/>
                <a:cs typeface="Tahoma"/>
              </a:rPr>
              <a:t>“</a:t>
            </a:r>
            <a:r>
              <a:rPr kumimoji="0" sz="1800" b="0" i="0" u="none" strike="noStrike" kern="1200" cap="none" spc="65" normalizeH="0" baseline="0" noProof="0" dirty="0">
                <a:ln>
                  <a:noFill/>
                </a:ln>
                <a:solidFill>
                  <a:prstClr val="black"/>
                </a:solidFill>
                <a:effectLst/>
                <a:uLnTx/>
                <a:uFillTx/>
                <a:latin typeface="Tahoma"/>
                <a:ea typeface="+mn-ea"/>
                <a:cs typeface="Tahoma"/>
              </a:rPr>
              <a:t>row</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p</a:t>
            </a:r>
            <a:r>
              <a:rPr kumimoji="0" sz="1800" b="0" i="0" u="none" strike="noStrike" kern="1200" cap="none" spc="5" normalizeH="0" baseline="0" noProof="0" dirty="0">
                <a:ln>
                  <a:noFill/>
                </a:ln>
                <a:solidFill>
                  <a:prstClr val="black"/>
                </a:solidFill>
                <a:effectLst/>
                <a:uLnTx/>
                <a:uFillTx/>
                <a:latin typeface="Tahoma"/>
                <a:ea typeface="+mn-ea"/>
                <a:cs typeface="Tahoma"/>
              </a:rPr>
              <a:t>l</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125" normalizeH="0" baseline="0" noProof="0" dirty="0">
                <a:ln>
                  <a:noFill/>
                </a:ln>
                <a:solidFill>
                  <a:prstClr val="black"/>
                </a:solidFill>
                <a:effectLst/>
                <a:uLnTx/>
                <a:uFillTx/>
                <a:latin typeface="Tahoma"/>
                <a:ea typeface="+mn-ea"/>
                <a:cs typeface="Tahoma"/>
              </a:rPr>
              <a:t>y</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155" normalizeH="0" baseline="0" noProof="0" dirty="0">
                <a:ln>
                  <a:noFill/>
                </a:ln>
                <a:solidFill>
                  <a:prstClr val="black"/>
                </a:solidFill>
                <a:effectLst/>
                <a:uLnTx/>
                <a:uFillTx/>
                <a:latin typeface="Tahoma"/>
                <a:ea typeface="+mn-ea"/>
                <a:cs typeface="Tahoma"/>
              </a:rPr>
              <a:t>”</a:t>
            </a:r>
            <a:r>
              <a:rPr kumimoji="0" sz="1800" b="0" i="0" u="none" strike="noStrike" kern="1200" cap="none" spc="0" normalizeH="0" baseline="0" noProof="0" dirty="0">
                <a:ln>
                  <a:noFill/>
                </a:ln>
                <a:solidFill>
                  <a:prstClr val="black"/>
                </a:solidFill>
                <a:effectLst/>
                <a:uLnTx/>
                <a:uFillTx/>
                <a:latin typeface="Tahoma"/>
                <a:ea typeface="+mn-ea"/>
                <a:cs typeface="Tahoma"/>
              </a:rPr>
              <a:t>.</a:t>
            </a:r>
          </a:p>
          <a:p>
            <a:pPr marL="698500" marR="0" lvl="0" indent="-228600" algn="l" defTabSz="914400" rtl="0" eaLnBrk="1" fontAlgn="auto" latinLnBrk="0" hangingPunct="1">
              <a:lnSpc>
                <a:spcPct val="100000"/>
              </a:lnSpc>
              <a:spcBef>
                <a:spcPts val="340"/>
              </a:spcBef>
              <a:spcAft>
                <a:spcPts val="0"/>
              </a:spcAft>
              <a:buClrTx/>
              <a:buSzTx/>
              <a:buFont typeface="Tahoma"/>
              <a:buChar char="•"/>
              <a:tabLst>
                <a:tab pos="698500" algn="l"/>
              </a:tabLst>
              <a:defRPr/>
            </a:pP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p</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125" normalizeH="0" baseline="0" noProof="0" dirty="0">
                <a:ln>
                  <a:noFill/>
                </a:ln>
                <a:solidFill>
                  <a:prstClr val="black"/>
                </a:solidFill>
                <a:effectLst/>
                <a:uLnTx/>
                <a:uFillTx/>
                <a:latin typeface="Tahoma"/>
                <a:ea typeface="+mn-ea"/>
                <a:cs typeface="Tahoma"/>
              </a:rPr>
              <a:t>y</a:t>
            </a:r>
            <a:r>
              <a:rPr kumimoji="0" sz="1800" b="0" i="0" u="none" strike="noStrike" kern="1200" cap="none" spc="25" normalizeH="0" baseline="0" noProof="0" dirty="0">
                <a:ln>
                  <a:noFill/>
                </a:ln>
                <a:solidFill>
                  <a:prstClr val="black"/>
                </a:solidFill>
                <a:effectLst/>
                <a:uLnTx/>
                <a:uFillTx/>
                <a:latin typeface="Tahoma"/>
                <a:ea typeface="+mn-ea"/>
                <a:cs typeface="Tahoma"/>
              </a:rPr>
              <a:t>-</a:t>
            </a:r>
            <a:r>
              <a:rPr kumimoji="0" sz="1800" b="0" i="0" u="none" strike="noStrike" kern="1200" cap="none" spc="114" normalizeH="0" baseline="0" noProof="0" dirty="0">
                <a:ln>
                  <a:noFill/>
                </a:ln>
                <a:solidFill>
                  <a:prstClr val="black"/>
                </a:solidFill>
                <a:effectLst/>
                <a:uLnTx/>
                <a:uFillTx/>
                <a:latin typeface="Tahoma"/>
                <a:ea typeface="+mn-ea"/>
                <a:cs typeface="Tahoma"/>
              </a:rPr>
              <a:t>of</a:t>
            </a:r>
            <a:r>
              <a:rPr kumimoji="0" sz="1800" b="0" i="0" u="none" strike="noStrike" kern="1200" cap="none" spc="125" normalizeH="0" baseline="0" noProof="0" dirty="0">
                <a:ln>
                  <a:noFill/>
                </a:ln>
                <a:solidFill>
                  <a:prstClr val="black"/>
                </a:solidFill>
                <a:effectLst/>
                <a:uLnTx/>
                <a:uFillTx/>
                <a:latin typeface="Tahoma"/>
                <a:ea typeface="+mn-ea"/>
                <a:cs typeface="Tahoma"/>
              </a:rPr>
              <a:t>f</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95" normalizeH="0" baseline="0" noProof="0" dirty="0">
                <a:ln>
                  <a:noFill/>
                </a:ln>
                <a:solidFill>
                  <a:prstClr val="black"/>
                </a:solidFill>
                <a:effectLst/>
                <a:uLnTx/>
                <a:uFillTx/>
                <a:latin typeface="Tahoma"/>
                <a:ea typeface="+mn-ea"/>
                <a:cs typeface="Tahoma"/>
              </a:rPr>
              <a:t>g</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114" normalizeH="0" baseline="0" noProof="0" dirty="0">
                <a:ln>
                  <a:noFill/>
                </a:ln>
                <a:solidFill>
                  <a:prstClr val="black"/>
                </a:solidFill>
                <a:effectLst/>
                <a:uLnTx/>
                <a:uFillTx/>
                <a:latin typeface="Tahoma"/>
                <a:ea typeface="+mn-ea"/>
                <a:cs typeface="Tahoma"/>
              </a:rPr>
              <a:t>v</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0" normalizeH="0" baseline="0" noProof="0" dirty="0">
                <a:ln>
                  <a:noFill/>
                </a:ln>
                <a:solidFill>
                  <a:prstClr val="black"/>
                </a:solidFill>
                <a:effectLst/>
                <a:uLnTx/>
                <a:uFillTx/>
                <a:latin typeface="Tahoma"/>
                <a:ea typeface="+mn-ea"/>
                <a:cs typeface="Tahoma"/>
              </a:rPr>
              <a:t>n</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25" normalizeH="0" baseline="0" noProof="0" dirty="0">
                <a:ln>
                  <a:noFill/>
                </a:ln>
                <a:solidFill>
                  <a:prstClr val="black"/>
                </a:solidFill>
                <a:effectLst/>
                <a:uLnTx/>
                <a:uFillTx/>
                <a:latin typeface="Tahoma"/>
                <a:ea typeface="+mn-ea"/>
                <a:cs typeface="Tahoma"/>
              </a:rPr>
              <a:t>f</a:t>
            </a:r>
            <a:r>
              <a:rPr kumimoji="0" sz="1800" b="0" i="0" u="none" strike="noStrike" kern="1200" cap="none" spc="70" normalizeH="0" baseline="0" noProof="0" dirty="0">
                <a:ln>
                  <a:noFill/>
                </a:ln>
                <a:solidFill>
                  <a:prstClr val="black"/>
                </a:solidFill>
                <a:effectLst/>
                <a:uLnTx/>
                <a:uFillTx/>
                <a:latin typeface="Tahoma"/>
                <a:ea typeface="+mn-ea"/>
                <a:cs typeface="Tahoma"/>
              </a:rPr>
              <a:t>or</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65" normalizeH="0" baseline="0" noProof="0" dirty="0">
                <a:ln>
                  <a:noFill/>
                </a:ln>
                <a:solidFill>
                  <a:prstClr val="black"/>
                </a:solidFill>
                <a:effectLst/>
                <a:uLnTx/>
                <a:uFillTx/>
                <a:latin typeface="Tahoma"/>
                <a:ea typeface="+mn-ea"/>
                <a:cs typeface="Tahoma"/>
              </a:rPr>
              <a:t>row</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p</a:t>
            </a:r>
            <a:r>
              <a:rPr kumimoji="0" sz="1800" b="0" i="0" u="none" strike="noStrike" kern="1200" cap="none" spc="5" normalizeH="0" baseline="0" noProof="0" dirty="0">
                <a:ln>
                  <a:noFill/>
                </a:ln>
                <a:solidFill>
                  <a:prstClr val="black"/>
                </a:solidFill>
                <a:effectLst/>
                <a:uLnTx/>
                <a:uFillTx/>
                <a:latin typeface="Tahoma"/>
                <a:ea typeface="+mn-ea"/>
                <a:cs typeface="Tahoma"/>
              </a:rPr>
              <a:t>l</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125" normalizeH="0" baseline="0" noProof="0" dirty="0">
                <a:ln>
                  <a:noFill/>
                </a:ln>
                <a:solidFill>
                  <a:prstClr val="black"/>
                </a:solidFill>
                <a:effectLst/>
                <a:uLnTx/>
                <a:uFillTx/>
                <a:latin typeface="Tahoma"/>
                <a:ea typeface="+mn-ea"/>
                <a:cs typeface="Tahoma"/>
              </a:rPr>
              <a:t>y</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10" normalizeH="0" baseline="0" noProof="0" dirty="0">
                <a:ln>
                  <a:noFill/>
                </a:ln>
                <a:solidFill>
                  <a:prstClr val="black"/>
                </a:solidFill>
                <a:effectLst/>
                <a:uLnTx/>
                <a:uFillTx/>
                <a:latin typeface="Tahoma"/>
                <a:ea typeface="+mn-ea"/>
                <a:cs typeface="Tahoma"/>
              </a:rPr>
              <a:t>(</a:t>
            </a:r>
            <a:r>
              <a:rPr kumimoji="0" sz="1800" b="0" i="0" u="none" strike="noStrike" kern="1200" cap="none" spc="95" normalizeH="0" baseline="0" noProof="0" dirty="0">
                <a:ln>
                  <a:noFill/>
                </a:ln>
                <a:solidFill>
                  <a:prstClr val="black"/>
                </a:solidFill>
                <a:effectLst/>
                <a:uLnTx/>
                <a:uFillTx/>
                <a:latin typeface="Tahoma"/>
                <a:ea typeface="+mn-ea"/>
                <a:cs typeface="Tahoma"/>
              </a:rPr>
              <a:t>b</a:t>
            </a:r>
            <a:r>
              <a:rPr kumimoji="0" sz="1800" b="0" i="0" u="none" strike="noStrike" kern="1200" cap="none" spc="125" normalizeH="0" baseline="0" noProof="0" dirty="0">
                <a:ln>
                  <a:noFill/>
                </a:ln>
                <a:solidFill>
                  <a:prstClr val="black"/>
                </a:solidFill>
                <a:effectLst/>
                <a:uLnTx/>
                <a:uFillTx/>
                <a:latin typeface="Tahoma"/>
                <a:ea typeface="+mn-ea"/>
                <a:cs typeface="Tahoma"/>
              </a:rPr>
              <a:t>y</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45" normalizeH="0" baseline="0" noProof="0" dirty="0">
                <a:ln>
                  <a:noFill/>
                </a:ln>
                <a:solidFill>
                  <a:prstClr val="black"/>
                </a:solidFill>
                <a:effectLst/>
                <a:uLnTx/>
                <a:uFillTx/>
                <a:latin typeface="Tahoma"/>
                <a:ea typeface="+mn-ea"/>
                <a:cs typeface="Tahoma"/>
              </a:rPr>
              <a:t>c</a:t>
            </a:r>
            <a:r>
              <a:rPr kumimoji="0" sz="1800" b="0" i="0" u="none" strike="noStrike" kern="1200" cap="none" spc="75" normalizeH="0" baseline="0" noProof="0" dirty="0">
                <a:ln>
                  <a:noFill/>
                </a:ln>
                <a:solidFill>
                  <a:prstClr val="black"/>
                </a:solidFill>
                <a:effectLst/>
                <a:uLnTx/>
                <a:uFillTx/>
                <a:latin typeface="Tahoma"/>
                <a:ea typeface="+mn-ea"/>
                <a:cs typeface="Tahoma"/>
              </a:rPr>
              <a:t>on</a:t>
            </a:r>
            <a:r>
              <a:rPr kumimoji="0" sz="1800" b="0" i="0" u="none" strike="noStrike" kern="1200" cap="none" spc="114" normalizeH="0" baseline="0" noProof="0" dirty="0">
                <a:ln>
                  <a:noFill/>
                </a:ln>
                <a:solidFill>
                  <a:prstClr val="black"/>
                </a:solidFill>
                <a:effectLst/>
                <a:uLnTx/>
                <a:uFillTx/>
                <a:latin typeface="Tahoma"/>
                <a:ea typeface="+mn-ea"/>
                <a:cs typeface="Tahoma"/>
              </a:rPr>
              <a:t>v</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0" normalizeH="0" baseline="0" noProof="0" dirty="0">
                <a:ln>
                  <a:noFill/>
                </a:ln>
                <a:solidFill>
                  <a:prstClr val="black"/>
                </a:solidFill>
                <a:effectLst/>
                <a:uLnTx/>
                <a:uFillTx/>
                <a:latin typeface="Tahoma"/>
                <a:ea typeface="+mn-ea"/>
                <a:cs typeface="Tahoma"/>
              </a:rPr>
              <a:t>n</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75" normalizeH="0" baseline="0" noProof="0" dirty="0">
                <a:ln>
                  <a:noFill/>
                </a:ln>
                <a:solidFill>
                  <a:prstClr val="black"/>
                </a:solidFill>
                <a:effectLst/>
                <a:uLnTx/>
                <a:uFillTx/>
                <a:latin typeface="Tahoma"/>
                <a:ea typeface="+mn-ea"/>
                <a:cs typeface="Tahoma"/>
              </a:rPr>
              <a:t>on</a:t>
            </a:r>
            <a:r>
              <a:rPr kumimoji="0" sz="1800" b="0" i="0" u="none" strike="noStrike" kern="1200" cap="none" spc="110" normalizeH="0" baseline="0" noProof="0" dirty="0">
                <a:ln>
                  <a:noFill/>
                </a:ln>
                <a:solidFill>
                  <a:prstClr val="black"/>
                </a:solidFill>
                <a:effectLst/>
                <a:uLnTx/>
                <a:uFillTx/>
                <a:latin typeface="Tahoma"/>
                <a:ea typeface="+mn-ea"/>
                <a:cs typeface="Tahoma"/>
              </a:rPr>
              <a:t>)</a:t>
            </a:r>
            <a:endParaRPr kumimoji="0" sz="1800" b="0" i="0" u="none" strike="noStrike" kern="1200" cap="none" spc="0" normalizeH="0" baseline="0" noProof="0" dirty="0">
              <a:ln>
                <a:noFill/>
              </a:ln>
              <a:solidFill>
                <a:prstClr val="black"/>
              </a:solidFill>
              <a:effectLst/>
              <a:uLnTx/>
              <a:uFillTx/>
              <a:latin typeface="Tahoma"/>
              <a:ea typeface="+mn-ea"/>
              <a:cs typeface="Tahoma"/>
            </a:endParaRPr>
          </a:p>
          <a:p>
            <a:pPr marL="698500" marR="0" lvl="0" indent="-228600" algn="l" defTabSz="914400" rtl="0" eaLnBrk="1" fontAlgn="auto" latinLnBrk="0" hangingPunct="1">
              <a:lnSpc>
                <a:spcPct val="100000"/>
              </a:lnSpc>
              <a:spcBef>
                <a:spcPts val="340"/>
              </a:spcBef>
              <a:spcAft>
                <a:spcPts val="0"/>
              </a:spcAft>
              <a:buClrTx/>
              <a:buSzTx/>
              <a:buFont typeface="Tahoma"/>
              <a:buChar char="•"/>
              <a:tabLst>
                <a:tab pos="698500" algn="l"/>
              </a:tabLst>
              <a:defRPr/>
            </a:pP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65" normalizeH="0" baseline="0" noProof="0" dirty="0">
                <a:ln>
                  <a:noFill/>
                </a:ln>
                <a:solidFill>
                  <a:prstClr val="black"/>
                </a:solidFill>
                <a:effectLst/>
                <a:uLnTx/>
                <a:uFillTx/>
                <a:latin typeface="Tahoma"/>
                <a:ea typeface="+mn-ea"/>
                <a:cs typeface="Tahoma"/>
              </a:rPr>
              <a:t>row</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p</a:t>
            </a:r>
            <a:r>
              <a:rPr kumimoji="0" sz="1800" b="0" i="0" u="none" strike="noStrike" kern="1200" cap="none" spc="5" normalizeH="0" baseline="0" noProof="0" dirty="0">
                <a:ln>
                  <a:noFill/>
                </a:ln>
                <a:solidFill>
                  <a:prstClr val="black"/>
                </a:solidFill>
                <a:effectLst/>
                <a:uLnTx/>
                <a:uFillTx/>
                <a:latin typeface="Tahoma"/>
                <a:ea typeface="+mn-ea"/>
                <a:cs typeface="Tahoma"/>
              </a:rPr>
              <a:t>l</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125" normalizeH="0" baseline="0" noProof="0" dirty="0">
                <a:ln>
                  <a:noFill/>
                </a:ln>
                <a:solidFill>
                  <a:prstClr val="black"/>
                </a:solidFill>
                <a:effectLst/>
                <a:uLnTx/>
                <a:uFillTx/>
                <a:latin typeface="Tahoma"/>
                <a:ea typeface="+mn-ea"/>
                <a:cs typeface="Tahoma"/>
              </a:rPr>
              <a:t>y</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105" normalizeH="0" baseline="0" noProof="0" dirty="0">
                <a:ln>
                  <a:noFill/>
                </a:ln>
                <a:solidFill>
                  <a:prstClr val="black"/>
                </a:solidFill>
                <a:effectLst/>
                <a:uLnTx/>
                <a:uFillTx/>
                <a:latin typeface="Tahoma"/>
                <a:ea typeface="+mn-ea"/>
                <a:cs typeface="Tahoma"/>
              </a:rPr>
              <a:t>o</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0" normalizeH="0" baseline="0" noProof="0" dirty="0">
                <a:ln>
                  <a:noFill/>
                </a:ln>
                <a:solidFill>
                  <a:prstClr val="black"/>
                </a:solidFill>
                <a:effectLst/>
                <a:uLnTx/>
                <a:uFillTx/>
                <a:latin typeface="Tahoma"/>
                <a:ea typeface="+mn-ea"/>
                <a:cs typeface="Tahoma"/>
              </a:rPr>
              <a:t>ma</a:t>
            </a:r>
            <a:r>
              <a:rPr kumimoji="0" sz="1800" b="0" i="0" u="none" strike="noStrike" kern="1200" cap="none" spc="60" normalizeH="0" baseline="0" noProof="0" dirty="0">
                <a:ln>
                  <a:noFill/>
                </a:ln>
                <a:solidFill>
                  <a:prstClr val="black"/>
                </a:solidFill>
                <a:effectLst/>
                <a:uLnTx/>
                <a:uFillTx/>
                <a:latin typeface="Tahoma"/>
                <a:ea typeface="+mn-ea"/>
                <a:cs typeface="Tahoma"/>
              </a:rPr>
              <a:t>x</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45" normalizeH="0" baseline="0" noProof="0" dirty="0">
                <a:ln>
                  <a:noFill/>
                </a:ln>
                <a:solidFill>
                  <a:prstClr val="black"/>
                </a:solidFill>
                <a:effectLst/>
                <a:uLnTx/>
                <a:uFillTx/>
                <a:latin typeface="Tahoma"/>
                <a:ea typeface="+mn-ea"/>
                <a:cs typeface="Tahoma"/>
              </a:rPr>
              <a:t>mi</a:t>
            </a:r>
            <a:r>
              <a:rPr kumimoji="0" sz="1800" b="0" i="0" u="none" strike="noStrike" kern="1200" cap="none" spc="190" normalizeH="0" baseline="0" noProof="0" dirty="0">
                <a:ln>
                  <a:noFill/>
                </a:ln>
                <a:solidFill>
                  <a:prstClr val="black"/>
                </a:solidFill>
                <a:effectLst/>
                <a:uLnTx/>
                <a:uFillTx/>
                <a:latin typeface="Tahoma"/>
                <a:ea typeface="+mn-ea"/>
                <a:cs typeface="Tahoma"/>
              </a:rPr>
              <a:t>z</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ou</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145" normalizeH="0" baseline="0" noProof="0" dirty="0">
                <a:ln>
                  <a:noFill/>
                </a:ln>
                <a:solidFill>
                  <a:prstClr val="black"/>
                </a:solidFill>
                <a:effectLst/>
                <a:uLnTx/>
                <a:uFillTx/>
                <a:latin typeface="Tahoma"/>
                <a:ea typeface="+mn-ea"/>
                <a:cs typeface="Tahoma"/>
              </a:rPr>
              <a:t>c</a:t>
            </a:r>
            <a:r>
              <a:rPr kumimoji="0" sz="1800" b="0" i="0" u="none" strike="noStrike" kern="1200" cap="none" spc="90" normalizeH="0" baseline="0" noProof="0" dirty="0">
                <a:ln>
                  <a:noFill/>
                </a:ln>
                <a:solidFill>
                  <a:prstClr val="black"/>
                </a:solidFill>
                <a:effectLst/>
                <a:uLnTx/>
                <a:uFillTx/>
                <a:latin typeface="Tahoma"/>
                <a:ea typeface="+mn-ea"/>
                <a:cs typeface="Tahoma"/>
              </a:rPr>
              <a:t>ome</a:t>
            </a:r>
            <a:endParaRPr kumimoji="0" sz="1800" b="0" i="0" u="none" strike="noStrike" kern="1200" cap="none" spc="0" normalizeH="0" baseline="0" noProof="0" dirty="0">
              <a:ln>
                <a:noFill/>
              </a:ln>
              <a:solidFill>
                <a:prstClr val="black"/>
              </a:solidFill>
              <a:effectLst/>
              <a:uLnTx/>
              <a:uFillTx/>
              <a:latin typeface="Tahoma"/>
              <a:ea typeface="+mn-ea"/>
              <a:cs typeface="Tahoma"/>
            </a:endParaRPr>
          </a:p>
          <a:p>
            <a:pPr marL="698500" marR="0" lvl="0" indent="-228600" algn="l" defTabSz="914400" rtl="0" eaLnBrk="1" fontAlgn="auto" latinLnBrk="0" hangingPunct="1">
              <a:lnSpc>
                <a:spcPct val="100000"/>
              </a:lnSpc>
              <a:spcBef>
                <a:spcPts val="340"/>
              </a:spcBef>
              <a:spcAft>
                <a:spcPts val="0"/>
              </a:spcAft>
              <a:buClrTx/>
              <a:buSzTx/>
              <a:buFont typeface="Tahoma"/>
              <a:buChar char="•"/>
              <a:tabLst>
                <a:tab pos="698500" algn="l"/>
              </a:tabLst>
              <a:defRPr/>
            </a:pPr>
            <a:r>
              <a:rPr kumimoji="0" sz="1800" b="0" i="0" u="none" strike="noStrike" kern="1200" cap="none" spc="145" normalizeH="0" baseline="0" noProof="0" dirty="0">
                <a:ln>
                  <a:noFill/>
                </a:ln>
                <a:solidFill>
                  <a:prstClr val="black"/>
                </a:solidFill>
                <a:effectLst/>
                <a:uLnTx/>
                <a:uFillTx/>
                <a:latin typeface="Tahoma"/>
                <a:ea typeface="+mn-ea"/>
                <a:cs typeface="Tahoma"/>
              </a:rPr>
              <a:t>c</a:t>
            </a:r>
            <a:r>
              <a:rPr kumimoji="0" sz="1800" b="0" i="0" u="none" strike="noStrike" kern="1200" cap="none" spc="55" normalizeH="0" baseline="0" noProof="0" dirty="0">
                <a:ln>
                  <a:noFill/>
                </a:ln>
                <a:solidFill>
                  <a:prstClr val="black"/>
                </a:solidFill>
                <a:effectLst/>
                <a:uLnTx/>
                <a:uFillTx/>
                <a:latin typeface="Tahoma"/>
                <a:ea typeface="+mn-ea"/>
                <a:cs typeface="Tahoma"/>
              </a:rPr>
              <a:t>ol</a:t>
            </a:r>
            <a:r>
              <a:rPr kumimoji="0" sz="1800" b="0" i="0" u="none" strike="noStrike" kern="1200" cap="none" spc="40" normalizeH="0" baseline="0" noProof="0" dirty="0">
                <a:ln>
                  <a:noFill/>
                </a:ln>
                <a:solidFill>
                  <a:prstClr val="black"/>
                </a:solidFill>
                <a:effectLst/>
                <a:uLnTx/>
                <a:uFillTx/>
                <a:latin typeface="Tahoma"/>
                <a:ea typeface="+mn-ea"/>
                <a:cs typeface="Tahoma"/>
              </a:rPr>
              <a:t>u</a:t>
            </a:r>
            <a:r>
              <a:rPr kumimoji="0" sz="1800" b="0" i="0" u="none" strike="noStrike" kern="1200" cap="none" spc="60" normalizeH="0" baseline="0" noProof="0" dirty="0">
                <a:ln>
                  <a:noFill/>
                </a:ln>
                <a:solidFill>
                  <a:prstClr val="black"/>
                </a:solidFill>
                <a:effectLst/>
                <a:uLnTx/>
                <a:uFillTx/>
                <a:latin typeface="Tahoma"/>
                <a:ea typeface="+mn-ea"/>
                <a:cs typeface="Tahoma"/>
              </a:rPr>
              <a:t>mn</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p</a:t>
            </a:r>
            <a:r>
              <a:rPr kumimoji="0" sz="1800" b="0" i="0" u="none" strike="noStrike" kern="1200" cap="none" spc="5" normalizeH="0" baseline="0" noProof="0" dirty="0">
                <a:ln>
                  <a:noFill/>
                </a:ln>
                <a:solidFill>
                  <a:prstClr val="black"/>
                </a:solidFill>
                <a:effectLst/>
                <a:uLnTx/>
                <a:uFillTx/>
                <a:latin typeface="Tahoma"/>
                <a:ea typeface="+mn-ea"/>
                <a:cs typeface="Tahoma"/>
              </a:rPr>
              <a:t>l</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125" normalizeH="0" baseline="0" noProof="0" dirty="0">
                <a:ln>
                  <a:noFill/>
                </a:ln>
                <a:solidFill>
                  <a:prstClr val="black"/>
                </a:solidFill>
                <a:effectLst/>
                <a:uLnTx/>
                <a:uFillTx/>
                <a:latin typeface="Tahoma"/>
                <a:ea typeface="+mn-ea"/>
                <a:cs typeface="Tahoma"/>
              </a:rPr>
              <a:t>y</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105" normalizeH="0" baseline="0" noProof="0" dirty="0">
                <a:ln>
                  <a:noFill/>
                </a:ln>
                <a:solidFill>
                  <a:prstClr val="black"/>
                </a:solidFill>
                <a:effectLst/>
                <a:uLnTx/>
                <a:uFillTx/>
                <a:latin typeface="Tahoma"/>
                <a:ea typeface="+mn-ea"/>
                <a:cs typeface="Tahoma"/>
              </a:rPr>
              <a:t>o</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45" normalizeH="0" baseline="0" noProof="0" dirty="0">
                <a:ln>
                  <a:noFill/>
                </a:ln>
                <a:solidFill>
                  <a:prstClr val="black"/>
                </a:solidFill>
                <a:effectLst/>
                <a:uLnTx/>
                <a:uFillTx/>
                <a:latin typeface="Tahoma"/>
                <a:ea typeface="+mn-ea"/>
                <a:cs typeface="Tahoma"/>
              </a:rPr>
              <a:t>mi</a:t>
            </a:r>
            <a:r>
              <a:rPr kumimoji="0" sz="1800" b="0" i="0" u="none" strike="noStrike" kern="1200" cap="none" spc="40" normalizeH="0" baseline="0" noProof="0" dirty="0">
                <a:ln>
                  <a:noFill/>
                </a:ln>
                <a:solidFill>
                  <a:prstClr val="black"/>
                </a:solidFill>
                <a:effectLst/>
                <a:uLnTx/>
                <a:uFillTx/>
                <a:latin typeface="Tahoma"/>
                <a:ea typeface="+mn-ea"/>
                <a:cs typeface="Tahoma"/>
              </a:rPr>
              <a:t>n</a:t>
            </a:r>
            <a:r>
              <a:rPr kumimoji="0" sz="1800" b="0" i="0" u="none" strike="noStrike" kern="1200" cap="none" spc="5" normalizeH="0" baseline="0" noProof="0" dirty="0">
                <a:ln>
                  <a:noFill/>
                </a:ln>
                <a:solidFill>
                  <a:prstClr val="black"/>
                </a:solidFill>
                <a:effectLst/>
                <a:uLnTx/>
                <a:uFillTx/>
                <a:latin typeface="Tahoma"/>
                <a:ea typeface="+mn-ea"/>
                <a:cs typeface="Tahoma"/>
              </a:rPr>
              <a:t>i</a:t>
            </a:r>
            <a:r>
              <a:rPr kumimoji="0" sz="1800" b="0" i="0" u="none" strike="noStrike" kern="1200" cap="none" spc="45" normalizeH="0" baseline="0" noProof="0" dirty="0">
                <a:ln>
                  <a:noFill/>
                </a:ln>
                <a:solidFill>
                  <a:prstClr val="black"/>
                </a:solidFill>
                <a:effectLst/>
                <a:uLnTx/>
                <a:uFillTx/>
                <a:latin typeface="Tahoma"/>
                <a:ea typeface="+mn-ea"/>
                <a:cs typeface="Tahoma"/>
              </a:rPr>
              <a:t>mi</a:t>
            </a:r>
            <a:r>
              <a:rPr kumimoji="0" sz="1800" b="0" i="0" u="none" strike="noStrike" kern="1200" cap="none" spc="190" normalizeH="0" baseline="0" noProof="0" dirty="0">
                <a:ln>
                  <a:noFill/>
                </a:ln>
                <a:solidFill>
                  <a:prstClr val="black"/>
                </a:solidFill>
                <a:effectLst/>
                <a:uLnTx/>
                <a:uFillTx/>
                <a:latin typeface="Tahoma"/>
                <a:ea typeface="+mn-ea"/>
                <a:cs typeface="Tahoma"/>
              </a:rPr>
              <a:t>z</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ou</a:t>
            </a:r>
            <a:r>
              <a:rPr kumimoji="0" sz="1800" b="0" i="0" u="none" strike="noStrike" kern="1200" cap="none" spc="190" normalizeH="0" baseline="0" noProof="0" dirty="0">
                <a:ln>
                  <a:noFill/>
                </a:ln>
                <a:solidFill>
                  <a:prstClr val="black"/>
                </a:solidFill>
                <a:effectLst/>
                <a:uLnTx/>
                <a:uFillTx/>
                <a:latin typeface="Tahoma"/>
                <a:ea typeface="+mn-ea"/>
                <a:cs typeface="Tahoma"/>
              </a:rPr>
              <a:t>t</a:t>
            </a:r>
            <a:r>
              <a:rPr kumimoji="0" sz="1800" b="0" i="0" u="none" strike="noStrike" kern="1200" cap="none" spc="145" normalizeH="0" baseline="0" noProof="0" dirty="0">
                <a:ln>
                  <a:noFill/>
                </a:ln>
                <a:solidFill>
                  <a:prstClr val="black"/>
                </a:solidFill>
                <a:effectLst/>
                <a:uLnTx/>
                <a:uFillTx/>
                <a:latin typeface="Tahoma"/>
                <a:ea typeface="+mn-ea"/>
                <a:cs typeface="Tahoma"/>
              </a:rPr>
              <a:t>c</a:t>
            </a:r>
            <a:r>
              <a:rPr kumimoji="0" sz="1800" b="0" i="0" u="none" strike="noStrike" kern="1200" cap="none" spc="90" normalizeH="0" baseline="0" noProof="0" dirty="0">
                <a:ln>
                  <a:noFill/>
                </a:ln>
                <a:solidFill>
                  <a:prstClr val="black"/>
                </a:solidFill>
                <a:effectLst/>
                <a:uLnTx/>
                <a:uFillTx/>
                <a:latin typeface="Tahoma"/>
                <a:ea typeface="+mn-ea"/>
                <a:cs typeface="Tahoma"/>
              </a:rPr>
              <a:t>ome</a:t>
            </a:r>
            <a:endParaRPr kumimoji="0" sz="1800" b="0" i="0" u="none" strike="noStrike" kern="1200" cap="none" spc="0" normalizeH="0" baseline="0" noProof="0" dirty="0">
              <a:ln>
                <a:noFill/>
              </a:ln>
              <a:solidFill>
                <a:prstClr val="black"/>
              </a:solidFill>
              <a:effectLst/>
              <a:uLnTx/>
              <a:uFillTx/>
              <a:latin typeface="Tahoma"/>
              <a:ea typeface="+mn-ea"/>
              <a:cs typeface="Tahoma"/>
            </a:endParaRPr>
          </a:p>
        </p:txBody>
      </p:sp>
      <p:sp>
        <p:nvSpPr>
          <p:cNvPr id="5" name="object 8">
            <a:extLst>
              <a:ext uri="{FF2B5EF4-FFF2-40B4-BE49-F238E27FC236}">
                <a16:creationId xmlns:a16="http://schemas.microsoft.com/office/drawing/2014/main" id="{CD112351-EF5E-0684-5F80-2634D337D772}"/>
              </a:ext>
            </a:extLst>
          </p:cNvPr>
          <p:cNvSpPr txBox="1"/>
          <p:nvPr/>
        </p:nvSpPr>
        <p:spPr>
          <a:xfrm>
            <a:off x="241833" y="1397320"/>
            <a:ext cx="3065780" cy="254000"/>
          </a:xfrm>
          <a:prstGeom prst="rect">
            <a:avLst/>
          </a:prstGeom>
        </p:spPr>
        <p:txBody>
          <a:bodyPr vert="horz" wrap="square" lIns="0" tIns="0" rIns="0" bIns="0" rtlCol="0">
            <a:spAutoFit/>
          </a:bodyPr>
          <a:lstStyle/>
          <a:p>
            <a:pPr marL="12700" marR="0" lvl="0" indent="0" algn="l" defTabSz="914400" rtl="0" eaLnBrk="1" fontAlgn="auto" latinLnBrk="0" hangingPunct="1">
              <a:lnSpc>
                <a:spcPct val="100000"/>
              </a:lnSpc>
              <a:spcBef>
                <a:spcPts val="0"/>
              </a:spcBef>
              <a:spcAft>
                <a:spcPts val="0"/>
              </a:spcAft>
              <a:buClrTx/>
              <a:buSzTx/>
              <a:buFontTx/>
              <a:buNone/>
              <a:tabLst/>
              <a:defRPr/>
            </a:pPr>
            <a:r>
              <a:rPr kumimoji="0" sz="1800" b="0" i="0" u="heavy" strike="noStrike" kern="1200" cap="none" spc="135" normalizeH="0" baseline="0" noProof="0" dirty="0">
                <a:ln>
                  <a:noFill/>
                </a:ln>
                <a:solidFill>
                  <a:prstClr val="black"/>
                </a:solidFill>
                <a:effectLst/>
                <a:uLnTx/>
                <a:uFillTx/>
                <a:latin typeface="Tahoma"/>
                <a:ea typeface="+mn-ea"/>
                <a:cs typeface="Tahoma"/>
              </a:rPr>
              <a:t>St</a:t>
            </a:r>
            <a:r>
              <a:rPr kumimoji="0" sz="1800" b="0" i="0" u="heavy" strike="noStrike" kern="1200" cap="none" spc="45" normalizeH="0" baseline="0" noProof="0" dirty="0">
                <a:ln>
                  <a:noFill/>
                </a:ln>
                <a:solidFill>
                  <a:prstClr val="black"/>
                </a:solidFill>
                <a:effectLst/>
                <a:uLnTx/>
                <a:uFillTx/>
                <a:latin typeface="Tahoma"/>
                <a:ea typeface="+mn-ea"/>
                <a:cs typeface="Tahoma"/>
              </a:rPr>
              <a:t>ra</a:t>
            </a:r>
            <a:r>
              <a:rPr kumimoji="0" sz="1800" b="0" i="0" u="heavy" strike="noStrike" kern="1200" cap="none" spc="190" normalizeH="0" baseline="0" noProof="0" dirty="0">
                <a:ln>
                  <a:noFill/>
                </a:ln>
                <a:solidFill>
                  <a:prstClr val="black"/>
                </a:solidFill>
                <a:effectLst/>
                <a:uLnTx/>
                <a:uFillTx/>
                <a:latin typeface="Tahoma"/>
                <a:ea typeface="+mn-ea"/>
                <a:cs typeface="Tahoma"/>
              </a:rPr>
              <a:t>t</a:t>
            </a:r>
            <a:r>
              <a:rPr kumimoji="0" sz="1800" b="0" i="0" u="heavy" strike="noStrike" kern="1200" cap="none" spc="85" normalizeH="0" baseline="0" noProof="0" dirty="0">
                <a:ln>
                  <a:noFill/>
                </a:ln>
                <a:solidFill>
                  <a:prstClr val="black"/>
                </a:solidFill>
                <a:effectLst/>
                <a:uLnTx/>
                <a:uFillTx/>
                <a:latin typeface="Tahoma"/>
                <a:ea typeface="+mn-ea"/>
                <a:cs typeface="Tahoma"/>
              </a:rPr>
              <a:t>e</a:t>
            </a:r>
            <a:r>
              <a:rPr kumimoji="0" sz="1800" b="0" i="0" u="heavy" strike="noStrike" kern="1200" cap="none" spc="95" normalizeH="0" baseline="0" noProof="0" dirty="0">
                <a:ln>
                  <a:noFill/>
                </a:ln>
                <a:solidFill>
                  <a:prstClr val="black"/>
                </a:solidFill>
                <a:effectLst/>
                <a:uLnTx/>
                <a:uFillTx/>
                <a:latin typeface="Tahoma"/>
                <a:ea typeface="+mn-ea"/>
                <a:cs typeface="Tahoma"/>
              </a:rPr>
              <a:t>g</a:t>
            </a:r>
            <a:r>
              <a:rPr kumimoji="0" sz="1800" b="0" i="0" u="heavy" strike="noStrike" kern="1200" cap="none" spc="5" normalizeH="0" baseline="0" noProof="0" dirty="0">
                <a:ln>
                  <a:noFill/>
                </a:ln>
                <a:solidFill>
                  <a:prstClr val="black"/>
                </a:solidFill>
                <a:effectLst/>
                <a:uLnTx/>
                <a:uFillTx/>
                <a:latin typeface="Tahoma"/>
                <a:ea typeface="+mn-ea"/>
                <a:cs typeface="Tahoma"/>
              </a:rPr>
              <a:t>i</a:t>
            </a:r>
            <a:r>
              <a:rPr kumimoji="0" sz="1800" b="0" i="0" u="heavy" strike="noStrike" kern="1200" cap="none" spc="85" normalizeH="0" baseline="0" noProof="0" dirty="0">
                <a:ln>
                  <a:noFill/>
                </a:ln>
                <a:solidFill>
                  <a:prstClr val="black"/>
                </a:solidFill>
                <a:effectLst/>
                <a:uLnTx/>
                <a:uFillTx/>
                <a:latin typeface="Tahoma"/>
                <a:ea typeface="+mn-ea"/>
                <a:cs typeface="Tahoma"/>
              </a:rPr>
              <a:t>e</a:t>
            </a:r>
            <a:r>
              <a:rPr kumimoji="0" sz="1800" b="0" i="0" u="heavy"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125" normalizeH="0" baseline="0" noProof="0" dirty="0">
                <a:ln>
                  <a:noFill/>
                </a:ln>
                <a:solidFill>
                  <a:prstClr val="black"/>
                </a:solidFill>
                <a:effectLst/>
                <a:uLnTx/>
                <a:uFillTx/>
                <a:latin typeface="Tahoma"/>
                <a:ea typeface="+mn-ea"/>
                <a:cs typeface="Tahoma"/>
              </a:rPr>
              <a:t>f</a:t>
            </a:r>
            <a:r>
              <a:rPr kumimoji="0" sz="1800" b="0" i="0" u="none" strike="noStrike" kern="1200" cap="none" spc="70" normalizeH="0" baseline="0" noProof="0" dirty="0">
                <a:ln>
                  <a:noFill/>
                </a:ln>
                <a:solidFill>
                  <a:prstClr val="black"/>
                </a:solidFill>
                <a:effectLst/>
                <a:uLnTx/>
                <a:uFillTx/>
                <a:latin typeface="Tahoma"/>
                <a:ea typeface="+mn-ea"/>
                <a:cs typeface="Tahoma"/>
              </a:rPr>
              <a:t>or</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95" normalizeH="0" baseline="0" noProof="0" dirty="0">
                <a:ln>
                  <a:noFill/>
                </a:ln>
                <a:solidFill>
                  <a:prstClr val="black"/>
                </a:solidFill>
                <a:effectLst/>
                <a:uLnTx/>
                <a:uFillTx/>
                <a:latin typeface="Tahoma"/>
                <a:ea typeface="+mn-ea"/>
                <a:cs typeface="Tahoma"/>
              </a:rPr>
              <a:t>b</a:t>
            </a:r>
            <a:r>
              <a:rPr kumimoji="0" sz="1800" b="0" i="0" u="none" strike="noStrike" kern="1200" cap="none" spc="150" normalizeH="0" baseline="0" noProof="0" dirty="0">
                <a:ln>
                  <a:noFill/>
                </a:ln>
                <a:solidFill>
                  <a:prstClr val="black"/>
                </a:solidFill>
                <a:effectLst/>
                <a:uLnTx/>
                <a:uFillTx/>
                <a:latin typeface="Tahoma"/>
                <a:ea typeface="+mn-ea"/>
                <a:cs typeface="Tahoma"/>
              </a:rPr>
              <a:t>ot</a:t>
            </a:r>
            <a:r>
              <a:rPr kumimoji="0" sz="1800" b="0" i="0" u="none" strike="noStrike" kern="1200" cap="none" spc="40" normalizeH="0" baseline="0" noProof="0" dirty="0">
                <a:ln>
                  <a:noFill/>
                </a:ln>
                <a:solidFill>
                  <a:prstClr val="black"/>
                </a:solidFill>
                <a:effectLst/>
                <a:uLnTx/>
                <a:uFillTx/>
                <a:latin typeface="Tahoma"/>
                <a:ea typeface="+mn-ea"/>
                <a:cs typeface="Tahoma"/>
              </a:rPr>
              <a:t>h</a:t>
            </a:r>
            <a:r>
              <a:rPr kumimoji="0" sz="1800" b="0" i="0" u="none" strike="noStrike" kern="1200" cap="none" spc="35" normalizeH="0" baseline="0" noProof="0" dirty="0">
                <a:ln>
                  <a:noFill/>
                </a:ln>
                <a:solidFill>
                  <a:prstClr val="black"/>
                </a:solidFill>
                <a:effectLst/>
                <a:uLnTx/>
                <a:uFillTx/>
                <a:latin typeface="Tahoma"/>
                <a:ea typeface="+mn-ea"/>
                <a:cs typeface="Tahoma"/>
              </a:rPr>
              <a:t> </a:t>
            </a:r>
            <a:r>
              <a:rPr kumimoji="0" sz="1800" b="0" i="0" u="none" strike="noStrike" kern="1200" cap="none" spc="75" normalizeH="0" baseline="0" noProof="0" dirty="0">
                <a:ln>
                  <a:noFill/>
                </a:ln>
                <a:solidFill>
                  <a:prstClr val="black"/>
                </a:solidFill>
                <a:effectLst/>
                <a:uLnTx/>
                <a:uFillTx/>
                <a:latin typeface="Tahoma"/>
                <a:ea typeface="+mn-ea"/>
                <a:cs typeface="Tahoma"/>
              </a:rPr>
              <a:t>p</a:t>
            </a:r>
            <a:r>
              <a:rPr kumimoji="0" sz="1800" b="0" i="0" u="none" strike="noStrike" kern="1200" cap="none" spc="5" normalizeH="0" baseline="0" noProof="0" dirty="0">
                <a:ln>
                  <a:noFill/>
                </a:ln>
                <a:solidFill>
                  <a:prstClr val="black"/>
                </a:solidFill>
                <a:effectLst/>
                <a:uLnTx/>
                <a:uFillTx/>
                <a:latin typeface="Tahoma"/>
                <a:ea typeface="+mn-ea"/>
                <a:cs typeface="Tahoma"/>
              </a:rPr>
              <a:t>l</a:t>
            </a:r>
            <a:r>
              <a:rPr kumimoji="0" sz="1800" b="0" i="0" u="none" strike="noStrike" kern="1200" cap="none" spc="45" normalizeH="0" baseline="0" noProof="0" dirty="0">
                <a:ln>
                  <a:noFill/>
                </a:ln>
                <a:solidFill>
                  <a:prstClr val="black"/>
                </a:solidFill>
                <a:effectLst/>
                <a:uLnTx/>
                <a:uFillTx/>
                <a:latin typeface="Tahoma"/>
                <a:ea typeface="+mn-ea"/>
                <a:cs typeface="Tahoma"/>
              </a:rPr>
              <a:t>a</a:t>
            </a:r>
            <a:r>
              <a:rPr kumimoji="0" sz="1800" b="0" i="0" u="none" strike="noStrike" kern="1200" cap="none" spc="125" normalizeH="0" baseline="0" noProof="0" dirty="0">
                <a:ln>
                  <a:noFill/>
                </a:ln>
                <a:solidFill>
                  <a:prstClr val="black"/>
                </a:solidFill>
                <a:effectLst/>
                <a:uLnTx/>
                <a:uFillTx/>
                <a:latin typeface="Tahoma"/>
                <a:ea typeface="+mn-ea"/>
                <a:cs typeface="Tahoma"/>
              </a:rPr>
              <a:t>y</a:t>
            </a:r>
            <a:r>
              <a:rPr kumimoji="0" sz="1800" b="0" i="0" u="none" strike="noStrike" kern="1200" cap="none" spc="85" normalizeH="0" baseline="0" noProof="0" dirty="0">
                <a:ln>
                  <a:noFill/>
                </a:ln>
                <a:solidFill>
                  <a:prstClr val="black"/>
                </a:solidFill>
                <a:effectLst/>
                <a:uLnTx/>
                <a:uFillTx/>
                <a:latin typeface="Tahoma"/>
                <a:ea typeface="+mn-ea"/>
                <a:cs typeface="Tahoma"/>
              </a:rPr>
              <a:t>e</a:t>
            </a:r>
            <a:r>
              <a:rPr kumimoji="0" sz="1800" b="0" i="0" u="none" strike="noStrike" kern="1200" cap="none" spc="45" normalizeH="0" baseline="0" noProof="0" dirty="0">
                <a:ln>
                  <a:noFill/>
                </a:ln>
                <a:solidFill>
                  <a:prstClr val="black"/>
                </a:solidFill>
                <a:effectLst/>
                <a:uLnTx/>
                <a:uFillTx/>
                <a:latin typeface="Tahoma"/>
                <a:ea typeface="+mn-ea"/>
                <a:cs typeface="Tahoma"/>
              </a:rPr>
              <a:t>r</a:t>
            </a:r>
            <a:r>
              <a:rPr kumimoji="0" sz="1800" b="0" i="0" u="none" strike="noStrike" kern="1200" cap="none" spc="110" normalizeH="0" baseline="0" noProof="0" dirty="0">
                <a:ln>
                  <a:noFill/>
                </a:ln>
                <a:solidFill>
                  <a:prstClr val="black"/>
                </a:solidFill>
                <a:effectLst/>
                <a:uLnTx/>
                <a:uFillTx/>
                <a:latin typeface="Tahoma"/>
                <a:ea typeface="+mn-ea"/>
                <a:cs typeface="Tahoma"/>
              </a:rPr>
              <a:t>s</a:t>
            </a:r>
            <a:r>
              <a:rPr kumimoji="0" sz="1800" b="0" i="0" u="none" strike="noStrike" kern="1200" cap="none" spc="-100" normalizeH="0" baseline="0" noProof="0" dirty="0">
                <a:ln>
                  <a:noFill/>
                </a:ln>
                <a:solidFill>
                  <a:prstClr val="black"/>
                </a:solidFill>
                <a:effectLst/>
                <a:uLnTx/>
                <a:uFillTx/>
                <a:latin typeface="Tahoma"/>
                <a:ea typeface="+mn-ea"/>
                <a:cs typeface="Tahoma"/>
              </a:rPr>
              <a:t>:</a:t>
            </a:r>
            <a:endParaRPr kumimoji="0" sz="1800" b="0" i="0" u="none" strike="noStrike" kern="1200" cap="none" spc="0" normalizeH="0" baseline="0" noProof="0" dirty="0">
              <a:ln>
                <a:noFill/>
              </a:ln>
              <a:solidFill>
                <a:prstClr val="black"/>
              </a:solidFill>
              <a:effectLst/>
              <a:uLnTx/>
              <a:uFillTx/>
              <a:latin typeface="Tahoma"/>
              <a:ea typeface="+mn-ea"/>
              <a:cs typeface="Tahoma"/>
            </a:endParaRPr>
          </a:p>
        </p:txBody>
      </p:sp>
      <p:graphicFrame>
        <p:nvGraphicFramePr>
          <p:cNvPr id="6" name="object 7">
            <a:extLst>
              <a:ext uri="{FF2B5EF4-FFF2-40B4-BE49-F238E27FC236}">
                <a16:creationId xmlns:a16="http://schemas.microsoft.com/office/drawing/2014/main" id="{2F8C35AA-2922-C20C-30D1-D86A473C0174}"/>
              </a:ext>
            </a:extLst>
          </p:cNvPr>
          <p:cNvGraphicFramePr>
            <a:graphicFrameLocks noGrp="1"/>
          </p:cNvGraphicFramePr>
          <p:nvPr/>
        </p:nvGraphicFramePr>
        <p:xfrm>
          <a:off x="219608" y="1664020"/>
          <a:ext cx="8548582" cy="1626647"/>
        </p:xfrm>
        <a:graphic>
          <a:graphicData uri="http://schemas.openxmlformats.org/drawingml/2006/table">
            <a:tbl>
              <a:tblPr firstRow="1" bandRow="1">
                <a:tableStyleId>{2D5ABB26-0587-4C30-8999-92F81FD0307C}</a:tableStyleId>
              </a:tblPr>
              <a:tblGrid>
                <a:gridCol w="808139">
                  <a:extLst>
                    <a:ext uri="{9D8B030D-6E8A-4147-A177-3AD203B41FA5}">
                      <a16:colId xmlns:a16="http://schemas.microsoft.com/office/drawing/2014/main" val="20000"/>
                    </a:ext>
                  </a:extLst>
                </a:gridCol>
                <a:gridCol w="4574791">
                  <a:extLst>
                    <a:ext uri="{9D8B030D-6E8A-4147-A177-3AD203B41FA5}">
                      <a16:colId xmlns:a16="http://schemas.microsoft.com/office/drawing/2014/main" val="20001"/>
                    </a:ext>
                  </a:extLst>
                </a:gridCol>
                <a:gridCol w="616620">
                  <a:extLst>
                    <a:ext uri="{9D8B030D-6E8A-4147-A177-3AD203B41FA5}">
                      <a16:colId xmlns:a16="http://schemas.microsoft.com/office/drawing/2014/main" val="20002"/>
                    </a:ext>
                  </a:extLst>
                </a:gridCol>
                <a:gridCol w="615072">
                  <a:extLst>
                    <a:ext uri="{9D8B030D-6E8A-4147-A177-3AD203B41FA5}">
                      <a16:colId xmlns:a16="http://schemas.microsoft.com/office/drawing/2014/main" val="20003"/>
                    </a:ext>
                  </a:extLst>
                </a:gridCol>
                <a:gridCol w="656911">
                  <a:extLst>
                    <a:ext uri="{9D8B030D-6E8A-4147-A177-3AD203B41FA5}">
                      <a16:colId xmlns:a16="http://schemas.microsoft.com/office/drawing/2014/main" val="20004"/>
                    </a:ext>
                  </a:extLst>
                </a:gridCol>
                <a:gridCol w="650939">
                  <a:extLst>
                    <a:ext uri="{9D8B030D-6E8A-4147-A177-3AD203B41FA5}">
                      <a16:colId xmlns:a16="http://schemas.microsoft.com/office/drawing/2014/main" val="20005"/>
                    </a:ext>
                  </a:extLst>
                </a:gridCol>
                <a:gridCol w="626110">
                  <a:extLst>
                    <a:ext uri="{9D8B030D-6E8A-4147-A177-3AD203B41FA5}">
                      <a16:colId xmlns:a16="http://schemas.microsoft.com/office/drawing/2014/main" val="20006"/>
                    </a:ext>
                  </a:extLst>
                </a:gridCol>
              </a:tblGrid>
              <a:tr h="339064">
                <a:tc gridSpan="3">
                  <a:txBody>
                    <a:bodyPr/>
                    <a:lstStyle/>
                    <a:p>
                      <a:endParaRPr sz="1800" dirty="0">
                        <a:latin typeface="Tahoma"/>
                        <a:cs typeface="Tahoma"/>
                      </a:endParaRPr>
                    </a:p>
                  </a:txBody>
                  <a:tcPr marL="0" marR="0" marT="0" marB="0">
                    <a:lnR w="11943">
                      <a:solidFill>
                        <a:srgbClr val="000000"/>
                      </a:solidFill>
                      <a:prstDash val="solid"/>
                    </a:lnR>
                    <a:solidFill>
                      <a:srgbClr val="E7E7E7"/>
                    </a:solidFill>
                  </a:tcPr>
                </a:tc>
                <a:tc hMerge="1">
                  <a:txBody>
                    <a:bodyPr/>
                    <a:lstStyle/>
                    <a:p>
                      <a:endParaRPr/>
                    </a:p>
                  </a:txBody>
                  <a:tcPr marL="0" marR="0" marT="0" marB="0"/>
                </a:tc>
                <a:tc hMerge="1">
                  <a:txBody>
                    <a:bodyPr/>
                    <a:lstStyle/>
                    <a:p>
                      <a:endParaRPr/>
                    </a:p>
                  </a:txBody>
                  <a:tcPr marL="0" marR="0" marT="0" marB="0"/>
                </a:tc>
                <a:tc>
                  <a:txBody>
                    <a:bodyPr/>
                    <a:lstStyle/>
                    <a:p>
                      <a:pPr marL="83185">
                        <a:lnSpc>
                          <a:spcPct val="100000"/>
                        </a:lnSpc>
                      </a:pPr>
                      <a:r>
                        <a:rPr sz="1700" spc="-95" dirty="0">
                          <a:latin typeface="Times New Roman"/>
                          <a:cs typeface="Times New Roman"/>
                        </a:rPr>
                        <a:t>(</a:t>
                      </a:r>
                      <a:r>
                        <a:rPr sz="1700" spc="90" dirty="0">
                          <a:latin typeface="Times New Roman"/>
                          <a:cs typeface="Times New Roman"/>
                        </a:rPr>
                        <a:t>1</a:t>
                      </a:r>
                      <a:r>
                        <a:rPr sz="1700" dirty="0">
                          <a:latin typeface="Times New Roman"/>
                          <a:cs typeface="Times New Roman"/>
                        </a:rPr>
                        <a:t>/</a:t>
                      </a:r>
                      <a:r>
                        <a:rPr sz="1700" spc="-240" dirty="0">
                          <a:latin typeface="Times New Roman"/>
                          <a:cs typeface="Times New Roman"/>
                        </a:rPr>
                        <a:t> </a:t>
                      </a:r>
                      <a:r>
                        <a:rPr sz="1700" spc="-95" dirty="0">
                          <a:latin typeface="Times New Roman"/>
                          <a:cs typeface="Times New Roman"/>
                        </a:rPr>
                        <a:t>1</a:t>
                      </a:r>
                      <a:r>
                        <a:rPr sz="1700" dirty="0">
                          <a:latin typeface="Times New Roman"/>
                          <a:cs typeface="Times New Roman"/>
                        </a:rPr>
                        <a:t>)</a:t>
                      </a:r>
                      <a:endParaRPr sz="1700">
                        <a:latin typeface="Times New Roman"/>
                        <a:cs typeface="Times New Roman"/>
                      </a:endParaRPr>
                    </a:p>
                  </a:txBody>
                  <a:tcPr marL="0" marR="0" marT="0" marB="0">
                    <a:lnL w="11943">
                      <a:solidFill>
                        <a:srgbClr val="000000"/>
                      </a:solidFill>
                      <a:prstDash val="solid"/>
                    </a:lnL>
                    <a:lnB w="11942">
                      <a:solidFill>
                        <a:srgbClr val="000000"/>
                      </a:solidFill>
                      <a:prstDash val="solid"/>
                    </a:lnB>
                    <a:solidFill>
                      <a:srgbClr val="E7E7E7"/>
                    </a:solidFill>
                  </a:tcPr>
                </a:tc>
                <a:tc>
                  <a:txBody>
                    <a:bodyPr/>
                    <a:lstStyle/>
                    <a:p>
                      <a:pPr marL="95250">
                        <a:lnSpc>
                          <a:spcPct val="100000"/>
                        </a:lnSpc>
                      </a:pPr>
                      <a:r>
                        <a:rPr sz="1700" spc="-95" dirty="0">
                          <a:latin typeface="Times New Roman"/>
                          <a:cs typeface="Times New Roman"/>
                        </a:rPr>
                        <a:t>(</a:t>
                      </a:r>
                      <a:r>
                        <a:rPr sz="1700" spc="90" dirty="0">
                          <a:latin typeface="Times New Roman"/>
                          <a:cs typeface="Times New Roman"/>
                        </a:rPr>
                        <a:t>1</a:t>
                      </a:r>
                      <a:r>
                        <a:rPr sz="1700" dirty="0">
                          <a:latin typeface="Times New Roman"/>
                          <a:cs typeface="Times New Roman"/>
                        </a:rPr>
                        <a:t>/</a:t>
                      </a:r>
                      <a:r>
                        <a:rPr sz="1700" spc="-145" dirty="0">
                          <a:latin typeface="Times New Roman"/>
                          <a:cs typeface="Times New Roman"/>
                        </a:rPr>
                        <a:t> </a:t>
                      </a:r>
                      <a:r>
                        <a:rPr sz="1700" spc="90" dirty="0">
                          <a:latin typeface="Times New Roman"/>
                          <a:cs typeface="Times New Roman"/>
                        </a:rPr>
                        <a:t>2</a:t>
                      </a:r>
                      <a:r>
                        <a:rPr sz="1700" dirty="0">
                          <a:latin typeface="Times New Roman"/>
                          <a:cs typeface="Times New Roman"/>
                        </a:rPr>
                        <a:t>)</a:t>
                      </a:r>
                      <a:endParaRPr sz="1700">
                        <a:latin typeface="Times New Roman"/>
                        <a:cs typeface="Times New Roman"/>
                      </a:endParaRPr>
                    </a:p>
                  </a:txBody>
                  <a:tcPr marL="0" marR="0" marT="0" marB="0">
                    <a:lnB w="11942">
                      <a:solidFill>
                        <a:srgbClr val="000000"/>
                      </a:solidFill>
                      <a:prstDash val="solid"/>
                    </a:lnB>
                    <a:solidFill>
                      <a:srgbClr val="E7E7E7"/>
                    </a:solidFill>
                  </a:tcPr>
                </a:tc>
                <a:tc>
                  <a:txBody>
                    <a:bodyPr/>
                    <a:lstStyle/>
                    <a:p>
                      <a:pPr marL="95250">
                        <a:lnSpc>
                          <a:spcPct val="100000"/>
                        </a:lnSpc>
                      </a:pPr>
                      <a:r>
                        <a:rPr sz="1700" dirty="0">
                          <a:latin typeface="Times New Roman"/>
                          <a:cs typeface="Times New Roman"/>
                        </a:rPr>
                        <a:t>(2</a:t>
                      </a:r>
                      <a:r>
                        <a:rPr sz="1700" spc="-145" dirty="0">
                          <a:latin typeface="Times New Roman"/>
                          <a:cs typeface="Times New Roman"/>
                        </a:rPr>
                        <a:t> </a:t>
                      </a:r>
                      <a:r>
                        <a:rPr sz="1700" spc="90" dirty="0">
                          <a:latin typeface="Times New Roman"/>
                          <a:cs typeface="Times New Roman"/>
                        </a:rPr>
                        <a:t>/</a:t>
                      </a:r>
                      <a:r>
                        <a:rPr sz="1700" spc="-95" dirty="0">
                          <a:latin typeface="Times New Roman"/>
                          <a:cs typeface="Times New Roman"/>
                        </a:rPr>
                        <a:t>1</a:t>
                      </a:r>
                      <a:r>
                        <a:rPr sz="1700" dirty="0">
                          <a:latin typeface="Times New Roman"/>
                          <a:cs typeface="Times New Roman"/>
                        </a:rPr>
                        <a:t>)</a:t>
                      </a:r>
                      <a:endParaRPr sz="1700">
                        <a:latin typeface="Times New Roman"/>
                        <a:cs typeface="Times New Roman"/>
                      </a:endParaRPr>
                    </a:p>
                  </a:txBody>
                  <a:tcPr marL="0" marR="0" marT="0" marB="0">
                    <a:lnB w="11942">
                      <a:solidFill>
                        <a:srgbClr val="000000"/>
                      </a:solidFill>
                      <a:prstDash val="solid"/>
                    </a:lnB>
                    <a:solidFill>
                      <a:srgbClr val="E7E7E7"/>
                    </a:solidFill>
                  </a:tcPr>
                </a:tc>
                <a:tc>
                  <a:txBody>
                    <a:bodyPr/>
                    <a:lstStyle/>
                    <a:p>
                      <a:pPr marL="100965">
                        <a:lnSpc>
                          <a:spcPct val="100000"/>
                        </a:lnSpc>
                      </a:pPr>
                      <a:r>
                        <a:rPr sz="1700" dirty="0">
                          <a:latin typeface="Times New Roman"/>
                          <a:cs typeface="Times New Roman"/>
                        </a:rPr>
                        <a:t>(2</a:t>
                      </a:r>
                      <a:r>
                        <a:rPr sz="1700" spc="-145" dirty="0">
                          <a:latin typeface="Times New Roman"/>
                          <a:cs typeface="Times New Roman"/>
                        </a:rPr>
                        <a:t> </a:t>
                      </a:r>
                      <a:r>
                        <a:rPr sz="1700" dirty="0">
                          <a:latin typeface="Times New Roman"/>
                          <a:cs typeface="Times New Roman"/>
                        </a:rPr>
                        <a:t>/</a:t>
                      </a:r>
                      <a:r>
                        <a:rPr sz="1700" spc="-145" dirty="0">
                          <a:latin typeface="Times New Roman"/>
                          <a:cs typeface="Times New Roman"/>
                        </a:rPr>
                        <a:t> </a:t>
                      </a:r>
                      <a:r>
                        <a:rPr sz="1700" dirty="0">
                          <a:latin typeface="Times New Roman"/>
                          <a:cs typeface="Times New Roman"/>
                        </a:rPr>
                        <a:t>2)</a:t>
                      </a:r>
                      <a:endParaRPr sz="1700">
                        <a:latin typeface="Times New Roman"/>
                        <a:cs typeface="Times New Roman"/>
                      </a:endParaRPr>
                    </a:p>
                  </a:txBody>
                  <a:tcPr marL="0" marR="0" marT="0" marB="0">
                    <a:lnB w="11942">
                      <a:solidFill>
                        <a:srgbClr val="000000"/>
                      </a:solidFill>
                      <a:prstDash val="solid"/>
                    </a:lnB>
                    <a:solidFill>
                      <a:srgbClr val="E7E7E7"/>
                    </a:solidFill>
                  </a:tcPr>
                </a:tc>
                <a:extLst>
                  <a:ext uri="{0D108BD9-81ED-4DB2-BD59-A6C34878D82A}">
                    <a16:rowId xmlns:a16="http://schemas.microsoft.com/office/drawing/2014/main" val="10000"/>
                  </a:ext>
                </a:extLst>
              </a:tr>
              <a:tr h="314688">
                <a:tc>
                  <a:txBody>
                    <a:bodyPr/>
                    <a:lstStyle/>
                    <a:p>
                      <a:pPr marL="34925">
                        <a:lnSpc>
                          <a:spcPct val="100000"/>
                        </a:lnSpc>
                      </a:pPr>
                      <a:r>
                        <a:rPr sz="1800" dirty="0">
                          <a:latin typeface="Tahoma"/>
                          <a:cs typeface="Tahoma"/>
                        </a:rPr>
                        <a:t>(1/1)</a:t>
                      </a:r>
                      <a:endParaRPr sz="1800">
                        <a:latin typeface="Tahoma"/>
                        <a:cs typeface="Tahoma"/>
                      </a:endParaRPr>
                    </a:p>
                  </a:txBody>
                  <a:tcPr marL="0" marR="0" marT="0" marB="0">
                    <a:solidFill>
                      <a:srgbClr val="E7E7E7"/>
                    </a:solidFill>
                  </a:tcPr>
                </a:tc>
                <a:tc>
                  <a:txBody>
                    <a:bodyPr/>
                    <a:lstStyle/>
                    <a:p>
                      <a:pPr marL="140970">
                        <a:lnSpc>
                          <a:spcPct val="100000"/>
                        </a:lnSpc>
                      </a:pPr>
                      <a:r>
                        <a:rPr sz="1800" dirty="0">
                          <a:latin typeface="Tahoma"/>
                          <a:cs typeface="Tahoma"/>
                        </a:rPr>
                        <a:t>Hide</a:t>
                      </a:r>
                      <a:r>
                        <a:rPr sz="1800" spc="35" dirty="0">
                          <a:latin typeface="Tahoma"/>
                          <a:cs typeface="Tahoma"/>
                        </a:rPr>
                        <a:t> </a:t>
                      </a:r>
                      <a:r>
                        <a:rPr sz="1800" dirty="0">
                          <a:latin typeface="Tahoma"/>
                          <a:cs typeface="Tahoma"/>
                        </a:rPr>
                        <a:t>one</a:t>
                      </a:r>
                      <a:r>
                        <a:rPr sz="1800" spc="35" dirty="0">
                          <a:latin typeface="Tahoma"/>
                          <a:cs typeface="Tahoma"/>
                        </a:rPr>
                        <a:t> </a:t>
                      </a:r>
                      <a:r>
                        <a:rPr sz="1800" dirty="0">
                          <a:latin typeface="Tahoma"/>
                          <a:cs typeface="Tahoma"/>
                        </a:rPr>
                        <a:t>coin,</a:t>
                      </a:r>
                      <a:r>
                        <a:rPr sz="1800" spc="35" dirty="0">
                          <a:latin typeface="Tahoma"/>
                          <a:cs typeface="Tahoma"/>
                        </a:rPr>
                        <a:t> </a:t>
                      </a:r>
                      <a:r>
                        <a:rPr sz="1800" dirty="0">
                          <a:latin typeface="Tahoma"/>
                          <a:cs typeface="Tahoma"/>
                        </a:rPr>
                        <a:t>guess</a:t>
                      </a:r>
                      <a:r>
                        <a:rPr sz="1800" spc="35" dirty="0">
                          <a:latin typeface="Tahoma"/>
                          <a:cs typeface="Tahoma"/>
                        </a:rPr>
                        <a:t> </a:t>
                      </a:r>
                      <a:r>
                        <a:rPr sz="1800" dirty="0">
                          <a:latin typeface="Tahoma"/>
                          <a:cs typeface="Tahoma"/>
                        </a:rPr>
                        <a:t>“one</a:t>
                      </a:r>
                      <a:r>
                        <a:rPr sz="1800" spc="35" dirty="0">
                          <a:latin typeface="Tahoma"/>
                          <a:cs typeface="Tahoma"/>
                        </a:rPr>
                        <a:t> </a:t>
                      </a:r>
                      <a:r>
                        <a:rPr sz="1800" dirty="0">
                          <a:latin typeface="Tahoma"/>
                          <a:cs typeface="Tahoma"/>
                        </a:rPr>
                        <a:t>coin”</a:t>
                      </a:r>
                      <a:endParaRPr sz="1800">
                        <a:latin typeface="Tahoma"/>
                        <a:cs typeface="Tahoma"/>
                      </a:endParaRPr>
                    </a:p>
                  </a:txBody>
                  <a:tcPr marL="0" marR="0" marT="0" marB="0">
                    <a:solidFill>
                      <a:srgbClr val="E7E7E7"/>
                    </a:solidFill>
                  </a:tcPr>
                </a:tc>
                <a:tc>
                  <a:txBody>
                    <a:bodyPr/>
                    <a:lstStyle/>
                    <a:p>
                      <a:pPr marL="60960">
                        <a:lnSpc>
                          <a:spcPct val="100000"/>
                        </a:lnSpc>
                      </a:pPr>
                      <a:r>
                        <a:rPr sz="1700" spc="-190" dirty="0">
                          <a:latin typeface="Times New Roman"/>
                          <a:cs typeface="Times New Roman"/>
                        </a:rPr>
                        <a:t>(</a:t>
                      </a:r>
                      <a:r>
                        <a:rPr sz="1700" dirty="0">
                          <a:latin typeface="Times New Roman"/>
                          <a:cs typeface="Times New Roman"/>
                        </a:rPr>
                        <a:t>1</a:t>
                      </a:r>
                      <a:r>
                        <a:rPr sz="1700" spc="-240" dirty="0">
                          <a:latin typeface="Times New Roman"/>
                          <a:cs typeface="Times New Roman"/>
                        </a:rPr>
                        <a:t> </a:t>
                      </a:r>
                      <a:r>
                        <a:rPr sz="1700" spc="90" dirty="0">
                          <a:latin typeface="Times New Roman"/>
                          <a:cs typeface="Times New Roman"/>
                        </a:rPr>
                        <a:t>/</a:t>
                      </a:r>
                      <a:r>
                        <a:rPr sz="1700" spc="-95" dirty="0">
                          <a:latin typeface="Times New Roman"/>
                          <a:cs typeface="Times New Roman"/>
                        </a:rPr>
                        <a:t>1</a:t>
                      </a:r>
                      <a:r>
                        <a:rPr sz="1700" dirty="0">
                          <a:latin typeface="Times New Roman"/>
                          <a:cs typeface="Times New Roman"/>
                        </a:rPr>
                        <a:t>)</a:t>
                      </a:r>
                    </a:p>
                  </a:txBody>
                  <a:tcPr marL="0" marR="0" marT="0" marB="0">
                    <a:lnR w="11943">
                      <a:solidFill>
                        <a:srgbClr val="000000"/>
                      </a:solidFill>
                      <a:prstDash val="solid"/>
                    </a:lnR>
                    <a:lnT w="11942">
                      <a:solidFill>
                        <a:srgbClr val="000000"/>
                      </a:solidFill>
                      <a:prstDash val="solid"/>
                    </a:lnT>
                    <a:solidFill>
                      <a:srgbClr val="E7E7E7"/>
                    </a:solidFill>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11943">
                      <a:solidFill>
                        <a:srgbClr val="000000"/>
                      </a:solidFill>
                      <a:prstDash val="solid"/>
                    </a:lnL>
                    <a:lnT w="11942">
                      <a:solidFill>
                        <a:srgbClr val="000000"/>
                      </a:solidFill>
                      <a:prstDash val="solid"/>
                    </a:lnT>
                    <a:solidFill>
                      <a:srgbClr val="E7E7E7"/>
                    </a:solidFill>
                  </a:tcPr>
                </a:tc>
                <a:tc>
                  <a:txBody>
                    <a:bodyPr/>
                    <a:lstStyle/>
                    <a:p>
                      <a:pPr algn="ctr">
                        <a:lnSpc>
                          <a:spcPct val="100000"/>
                        </a:lnSpc>
                      </a:pPr>
                      <a:r>
                        <a:rPr sz="1700" dirty="0">
                          <a:latin typeface="Times New Roman"/>
                          <a:cs typeface="Times New Roman"/>
                        </a:rPr>
                        <a:t>2</a:t>
                      </a:r>
                      <a:endParaRPr sz="1700">
                        <a:latin typeface="Times New Roman"/>
                        <a:cs typeface="Times New Roman"/>
                      </a:endParaRPr>
                    </a:p>
                  </a:txBody>
                  <a:tcPr marL="0" marR="0" marT="0" marB="0">
                    <a:lnT w="11942">
                      <a:solidFill>
                        <a:srgbClr val="000000"/>
                      </a:solidFill>
                      <a:prstDash val="solid"/>
                    </a:lnT>
                    <a:solidFill>
                      <a:srgbClr val="E7E7E7"/>
                    </a:solidFill>
                  </a:tcPr>
                </a:tc>
                <a:tc>
                  <a:txBody>
                    <a:bodyPr/>
                    <a:lstStyle/>
                    <a:p>
                      <a:pPr marL="214629">
                        <a:lnSpc>
                          <a:spcPct val="100000"/>
                        </a:lnSpc>
                      </a:pPr>
                      <a:r>
                        <a:rPr sz="1700" spc="5" dirty="0">
                          <a:latin typeface="Symbol"/>
                          <a:cs typeface="Symbol"/>
                        </a:rPr>
                        <a:t></a:t>
                      </a:r>
                      <a:r>
                        <a:rPr sz="1700" dirty="0">
                          <a:latin typeface="Times New Roman"/>
                          <a:cs typeface="Times New Roman"/>
                        </a:rPr>
                        <a:t>3</a:t>
                      </a:r>
                      <a:endParaRPr sz="1700">
                        <a:latin typeface="Times New Roman"/>
                        <a:cs typeface="Times New Roman"/>
                      </a:endParaRPr>
                    </a:p>
                  </a:txBody>
                  <a:tcPr marL="0" marR="0" marT="0" marB="0">
                    <a:lnT w="11942">
                      <a:solidFill>
                        <a:srgbClr val="000000"/>
                      </a:solidFill>
                      <a:prstDash val="solid"/>
                    </a:lnT>
                    <a:solidFill>
                      <a:srgbClr val="E7E7E7"/>
                    </a:solidFill>
                  </a:tcPr>
                </a:tc>
                <a:tc>
                  <a:txBody>
                    <a:bodyPr/>
                    <a:lstStyle/>
                    <a:p>
                      <a:pPr marL="66675" algn="ctr">
                        <a:lnSpc>
                          <a:spcPct val="100000"/>
                        </a:lnSpc>
                      </a:pPr>
                      <a:r>
                        <a:rPr sz="1700" dirty="0">
                          <a:latin typeface="Times New Roman"/>
                          <a:cs typeface="Times New Roman"/>
                        </a:rPr>
                        <a:t>0</a:t>
                      </a:r>
                      <a:endParaRPr sz="1700">
                        <a:latin typeface="Times New Roman"/>
                        <a:cs typeface="Times New Roman"/>
                      </a:endParaRPr>
                    </a:p>
                  </a:txBody>
                  <a:tcPr marL="0" marR="0" marT="0" marB="0">
                    <a:lnT w="11942">
                      <a:solidFill>
                        <a:srgbClr val="000000"/>
                      </a:solidFill>
                      <a:prstDash val="solid"/>
                    </a:lnT>
                    <a:solidFill>
                      <a:srgbClr val="E7E7E7"/>
                    </a:solidFill>
                  </a:tcPr>
                </a:tc>
                <a:extLst>
                  <a:ext uri="{0D108BD9-81ED-4DB2-BD59-A6C34878D82A}">
                    <a16:rowId xmlns:a16="http://schemas.microsoft.com/office/drawing/2014/main" val="10001"/>
                  </a:ext>
                </a:extLst>
              </a:tr>
              <a:tr h="317797">
                <a:tc>
                  <a:txBody>
                    <a:bodyPr/>
                    <a:lstStyle/>
                    <a:p>
                      <a:pPr marL="34925">
                        <a:lnSpc>
                          <a:spcPct val="100000"/>
                        </a:lnSpc>
                      </a:pPr>
                      <a:r>
                        <a:rPr sz="1800" dirty="0">
                          <a:latin typeface="Tahoma"/>
                          <a:cs typeface="Tahoma"/>
                        </a:rPr>
                        <a:t>(1/2)</a:t>
                      </a:r>
                      <a:endParaRPr sz="1800">
                        <a:latin typeface="Tahoma"/>
                        <a:cs typeface="Tahoma"/>
                      </a:endParaRPr>
                    </a:p>
                  </a:txBody>
                  <a:tcPr marL="0" marR="0" marT="0" marB="0">
                    <a:solidFill>
                      <a:srgbClr val="E7E7E7"/>
                    </a:solidFill>
                  </a:tcPr>
                </a:tc>
                <a:tc>
                  <a:txBody>
                    <a:bodyPr/>
                    <a:lstStyle/>
                    <a:p>
                      <a:pPr marL="140970">
                        <a:lnSpc>
                          <a:spcPct val="100000"/>
                        </a:lnSpc>
                      </a:pPr>
                      <a:r>
                        <a:rPr sz="1800" dirty="0">
                          <a:latin typeface="Tahoma"/>
                          <a:cs typeface="Tahoma"/>
                        </a:rPr>
                        <a:t>Hide</a:t>
                      </a:r>
                      <a:r>
                        <a:rPr sz="1800" spc="35" dirty="0">
                          <a:latin typeface="Tahoma"/>
                          <a:cs typeface="Tahoma"/>
                        </a:rPr>
                        <a:t> </a:t>
                      </a:r>
                      <a:r>
                        <a:rPr sz="1800" dirty="0">
                          <a:latin typeface="Tahoma"/>
                          <a:cs typeface="Tahoma"/>
                        </a:rPr>
                        <a:t>one</a:t>
                      </a:r>
                      <a:r>
                        <a:rPr sz="1800" spc="35" dirty="0">
                          <a:latin typeface="Tahoma"/>
                          <a:cs typeface="Tahoma"/>
                        </a:rPr>
                        <a:t> </a:t>
                      </a:r>
                      <a:r>
                        <a:rPr sz="1800" dirty="0">
                          <a:latin typeface="Tahoma"/>
                          <a:cs typeface="Tahoma"/>
                        </a:rPr>
                        <a:t>coin,</a:t>
                      </a:r>
                      <a:r>
                        <a:rPr sz="1800" spc="35" dirty="0">
                          <a:latin typeface="Tahoma"/>
                          <a:cs typeface="Tahoma"/>
                        </a:rPr>
                        <a:t> </a:t>
                      </a:r>
                      <a:r>
                        <a:rPr sz="1800" dirty="0">
                          <a:latin typeface="Tahoma"/>
                          <a:cs typeface="Tahoma"/>
                        </a:rPr>
                        <a:t>guess</a:t>
                      </a:r>
                      <a:r>
                        <a:rPr sz="1800" spc="35" dirty="0">
                          <a:latin typeface="Tahoma"/>
                          <a:cs typeface="Tahoma"/>
                        </a:rPr>
                        <a:t> </a:t>
                      </a:r>
                      <a:r>
                        <a:rPr sz="1800" dirty="0">
                          <a:latin typeface="Tahoma"/>
                          <a:cs typeface="Tahoma"/>
                        </a:rPr>
                        <a:t>“two</a:t>
                      </a:r>
                      <a:r>
                        <a:rPr sz="1800" spc="35" dirty="0">
                          <a:latin typeface="Tahoma"/>
                          <a:cs typeface="Tahoma"/>
                        </a:rPr>
                        <a:t> </a:t>
                      </a:r>
                      <a:r>
                        <a:rPr sz="1800" dirty="0">
                          <a:latin typeface="Tahoma"/>
                          <a:cs typeface="Tahoma"/>
                        </a:rPr>
                        <a:t>coins”</a:t>
                      </a:r>
                      <a:endParaRPr sz="1800">
                        <a:latin typeface="Tahoma"/>
                        <a:cs typeface="Tahoma"/>
                      </a:endParaRPr>
                    </a:p>
                  </a:txBody>
                  <a:tcPr marL="0" marR="0" marT="0" marB="0">
                    <a:solidFill>
                      <a:srgbClr val="E7E7E7"/>
                    </a:solidFill>
                  </a:tcPr>
                </a:tc>
                <a:tc>
                  <a:txBody>
                    <a:bodyPr/>
                    <a:lstStyle/>
                    <a:p>
                      <a:pPr marL="36830">
                        <a:lnSpc>
                          <a:spcPct val="100000"/>
                        </a:lnSpc>
                      </a:pPr>
                      <a:r>
                        <a:rPr sz="1700" spc="-95" dirty="0">
                          <a:latin typeface="Times New Roman"/>
                          <a:cs typeface="Times New Roman"/>
                        </a:rPr>
                        <a:t>(</a:t>
                      </a:r>
                      <a:r>
                        <a:rPr sz="1700" spc="90" dirty="0">
                          <a:latin typeface="Times New Roman"/>
                          <a:cs typeface="Times New Roman"/>
                        </a:rPr>
                        <a:t>1</a:t>
                      </a:r>
                      <a:r>
                        <a:rPr sz="1700" dirty="0">
                          <a:latin typeface="Times New Roman"/>
                          <a:cs typeface="Times New Roman"/>
                        </a:rPr>
                        <a:t>/</a:t>
                      </a:r>
                      <a:r>
                        <a:rPr sz="1700" spc="-145" dirty="0">
                          <a:latin typeface="Times New Roman"/>
                          <a:cs typeface="Times New Roman"/>
                        </a:rPr>
                        <a:t> </a:t>
                      </a:r>
                      <a:r>
                        <a:rPr sz="1700" spc="90" dirty="0">
                          <a:latin typeface="Times New Roman"/>
                          <a:cs typeface="Times New Roman"/>
                        </a:rPr>
                        <a:t>2</a:t>
                      </a:r>
                      <a:r>
                        <a:rPr sz="1700" dirty="0">
                          <a:latin typeface="Times New Roman"/>
                          <a:cs typeface="Times New Roman"/>
                        </a:rPr>
                        <a:t>)</a:t>
                      </a:r>
                      <a:endParaRPr sz="1700">
                        <a:latin typeface="Times New Roman"/>
                        <a:cs typeface="Times New Roman"/>
                      </a:endParaRPr>
                    </a:p>
                  </a:txBody>
                  <a:tcPr marL="0" marR="0" marT="0" marB="0">
                    <a:lnR w="11943">
                      <a:solidFill>
                        <a:srgbClr val="000000"/>
                      </a:solidFill>
                      <a:prstDash val="solid"/>
                    </a:lnR>
                    <a:solidFill>
                      <a:srgbClr val="E7E7E7"/>
                    </a:solidFill>
                  </a:tcPr>
                </a:tc>
                <a:tc>
                  <a:txBody>
                    <a:bodyPr/>
                    <a:lstStyle/>
                    <a:p>
                      <a:pPr marL="190500">
                        <a:lnSpc>
                          <a:spcPct val="100000"/>
                        </a:lnSpc>
                      </a:pPr>
                      <a:r>
                        <a:rPr sz="1700" spc="5" dirty="0">
                          <a:latin typeface="Symbol"/>
                          <a:cs typeface="Symbol"/>
                        </a:rPr>
                        <a:t></a:t>
                      </a:r>
                      <a:r>
                        <a:rPr sz="1700" dirty="0">
                          <a:latin typeface="Times New Roman"/>
                          <a:cs typeface="Times New Roman"/>
                        </a:rPr>
                        <a:t>2</a:t>
                      </a:r>
                      <a:endParaRPr sz="1700">
                        <a:latin typeface="Times New Roman"/>
                        <a:cs typeface="Times New Roman"/>
                      </a:endParaRPr>
                    </a:p>
                  </a:txBody>
                  <a:tcPr marL="0" marR="0" marT="0" marB="0">
                    <a:lnL w="11943">
                      <a:solidFill>
                        <a:srgbClr val="000000"/>
                      </a:solidFill>
                      <a:prstDash val="solid"/>
                    </a:lnL>
                    <a:solidFill>
                      <a:srgbClr val="E7E7E7"/>
                    </a:solidFill>
                  </a:tcPr>
                </a:tc>
                <a:tc>
                  <a:txBody>
                    <a:bodyPr/>
                    <a:lstStyle/>
                    <a:p>
                      <a:pPr algn="ctr">
                        <a:lnSpc>
                          <a:spcPct val="100000"/>
                        </a:lnSpc>
                      </a:pPr>
                      <a:r>
                        <a:rPr sz="1700" dirty="0">
                          <a:latin typeface="Times New Roman"/>
                          <a:cs typeface="Times New Roman"/>
                        </a:rPr>
                        <a:t>0</a:t>
                      </a:r>
                    </a:p>
                  </a:txBody>
                  <a:tcPr marL="0" marR="0" marT="0" marB="0">
                    <a:solidFill>
                      <a:srgbClr val="E7E7E7"/>
                    </a:solidFill>
                  </a:tcPr>
                </a:tc>
                <a:tc>
                  <a:txBody>
                    <a:bodyPr/>
                    <a:lstStyle/>
                    <a:p>
                      <a:pPr marL="5715" algn="ctr">
                        <a:lnSpc>
                          <a:spcPct val="100000"/>
                        </a:lnSpc>
                      </a:pPr>
                      <a:r>
                        <a:rPr sz="1700" dirty="0">
                          <a:latin typeface="Times New Roman"/>
                          <a:cs typeface="Times New Roman"/>
                        </a:rPr>
                        <a:t>0</a:t>
                      </a:r>
                    </a:p>
                  </a:txBody>
                  <a:tcPr marL="0" marR="0" marT="0" marB="0">
                    <a:solidFill>
                      <a:srgbClr val="E7E7E7"/>
                    </a:solidFill>
                  </a:tcPr>
                </a:tc>
                <a:tc>
                  <a:txBody>
                    <a:bodyPr/>
                    <a:lstStyle/>
                    <a:p>
                      <a:pPr marL="66675" algn="ctr">
                        <a:lnSpc>
                          <a:spcPct val="100000"/>
                        </a:lnSpc>
                      </a:pPr>
                      <a:r>
                        <a:rPr sz="1700" dirty="0">
                          <a:latin typeface="Times New Roman"/>
                          <a:cs typeface="Times New Roman"/>
                        </a:rPr>
                        <a:t>3</a:t>
                      </a:r>
                      <a:endParaRPr sz="1700">
                        <a:latin typeface="Times New Roman"/>
                        <a:cs typeface="Times New Roman"/>
                      </a:endParaRPr>
                    </a:p>
                  </a:txBody>
                  <a:tcPr marL="0" marR="0" marT="0" marB="0">
                    <a:solidFill>
                      <a:srgbClr val="E7E7E7"/>
                    </a:solidFill>
                  </a:tcPr>
                </a:tc>
                <a:extLst>
                  <a:ext uri="{0D108BD9-81ED-4DB2-BD59-A6C34878D82A}">
                    <a16:rowId xmlns:a16="http://schemas.microsoft.com/office/drawing/2014/main" val="10002"/>
                  </a:ext>
                </a:extLst>
              </a:tr>
              <a:tr h="317500">
                <a:tc>
                  <a:txBody>
                    <a:bodyPr/>
                    <a:lstStyle/>
                    <a:p>
                      <a:pPr marL="34925">
                        <a:lnSpc>
                          <a:spcPct val="100000"/>
                        </a:lnSpc>
                      </a:pPr>
                      <a:r>
                        <a:rPr sz="1800" dirty="0">
                          <a:latin typeface="Tahoma"/>
                          <a:cs typeface="Tahoma"/>
                        </a:rPr>
                        <a:t>(2/1)</a:t>
                      </a:r>
                      <a:endParaRPr sz="1800">
                        <a:latin typeface="Tahoma"/>
                        <a:cs typeface="Tahoma"/>
                      </a:endParaRPr>
                    </a:p>
                  </a:txBody>
                  <a:tcPr marL="0" marR="0" marT="0" marB="0">
                    <a:solidFill>
                      <a:srgbClr val="E7E7E7"/>
                    </a:solidFill>
                  </a:tcPr>
                </a:tc>
                <a:tc>
                  <a:txBody>
                    <a:bodyPr/>
                    <a:lstStyle/>
                    <a:p>
                      <a:pPr marL="140970">
                        <a:lnSpc>
                          <a:spcPct val="100000"/>
                        </a:lnSpc>
                      </a:pPr>
                      <a:r>
                        <a:rPr sz="1800" dirty="0">
                          <a:latin typeface="Tahoma"/>
                          <a:cs typeface="Tahoma"/>
                        </a:rPr>
                        <a:t>Hide</a:t>
                      </a:r>
                      <a:r>
                        <a:rPr sz="1800" spc="35" dirty="0">
                          <a:latin typeface="Tahoma"/>
                          <a:cs typeface="Tahoma"/>
                        </a:rPr>
                        <a:t> </a:t>
                      </a:r>
                      <a:r>
                        <a:rPr sz="1800" dirty="0">
                          <a:latin typeface="Tahoma"/>
                          <a:cs typeface="Tahoma"/>
                        </a:rPr>
                        <a:t>two</a:t>
                      </a:r>
                      <a:r>
                        <a:rPr sz="1800" spc="35" dirty="0">
                          <a:latin typeface="Tahoma"/>
                          <a:cs typeface="Tahoma"/>
                        </a:rPr>
                        <a:t> </a:t>
                      </a:r>
                      <a:r>
                        <a:rPr sz="1800" dirty="0">
                          <a:latin typeface="Tahoma"/>
                          <a:cs typeface="Tahoma"/>
                        </a:rPr>
                        <a:t>coins,</a:t>
                      </a:r>
                      <a:r>
                        <a:rPr sz="1800" spc="35" dirty="0">
                          <a:latin typeface="Tahoma"/>
                          <a:cs typeface="Tahoma"/>
                        </a:rPr>
                        <a:t> </a:t>
                      </a:r>
                      <a:r>
                        <a:rPr sz="1800" dirty="0">
                          <a:latin typeface="Tahoma"/>
                          <a:cs typeface="Tahoma"/>
                        </a:rPr>
                        <a:t>guess</a:t>
                      </a:r>
                      <a:r>
                        <a:rPr sz="1800" spc="35" dirty="0">
                          <a:latin typeface="Tahoma"/>
                          <a:cs typeface="Tahoma"/>
                        </a:rPr>
                        <a:t> </a:t>
                      </a:r>
                      <a:r>
                        <a:rPr sz="1800" dirty="0">
                          <a:latin typeface="Tahoma"/>
                          <a:cs typeface="Tahoma"/>
                        </a:rPr>
                        <a:t>“one</a:t>
                      </a:r>
                      <a:r>
                        <a:rPr sz="1800" spc="35" dirty="0">
                          <a:latin typeface="Tahoma"/>
                          <a:cs typeface="Tahoma"/>
                        </a:rPr>
                        <a:t> </a:t>
                      </a:r>
                      <a:r>
                        <a:rPr sz="1800" dirty="0">
                          <a:latin typeface="Tahoma"/>
                          <a:cs typeface="Tahoma"/>
                        </a:rPr>
                        <a:t>coin”</a:t>
                      </a:r>
                      <a:endParaRPr sz="1800">
                        <a:latin typeface="Tahoma"/>
                        <a:cs typeface="Tahoma"/>
                      </a:endParaRPr>
                    </a:p>
                  </a:txBody>
                  <a:tcPr marL="0" marR="0" marT="0" marB="0">
                    <a:solidFill>
                      <a:srgbClr val="E7E7E7"/>
                    </a:solidFill>
                  </a:tcPr>
                </a:tc>
                <a:tc>
                  <a:txBody>
                    <a:bodyPr/>
                    <a:lstStyle/>
                    <a:p>
                      <a:pPr marL="36830">
                        <a:lnSpc>
                          <a:spcPct val="100000"/>
                        </a:lnSpc>
                      </a:pPr>
                      <a:r>
                        <a:rPr sz="1700" dirty="0">
                          <a:latin typeface="Times New Roman"/>
                          <a:cs typeface="Times New Roman"/>
                        </a:rPr>
                        <a:t>(2</a:t>
                      </a:r>
                      <a:r>
                        <a:rPr sz="1700" spc="-145" dirty="0">
                          <a:latin typeface="Times New Roman"/>
                          <a:cs typeface="Times New Roman"/>
                        </a:rPr>
                        <a:t> </a:t>
                      </a:r>
                      <a:r>
                        <a:rPr sz="1700" dirty="0">
                          <a:latin typeface="Times New Roman"/>
                          <a:cs typeface="Times New Roman"/>
                        </a:rPr>
                        <a:t>/</a:t>
                      </a:r>
                      <a:r>
                        <a:rPr sz="1700" spc="-240" dirty="0">
                          <a:latin typeface="Times New Roman"/>
                          <a:cs typeface="Times New Roman"/>
                        </a:rPr>
                        <a:t> </a:t>
                      </a:r>
                      <a:r>
                        <a:rPr sz="1700" spc="-95" dirty="0">
                          <a:latin typeface="Times New Roman"/>
                          <a:cs typeface="Times New Roman"/>
                        </a:rPr>
                        <a:t>1</a:t>
                      </a:r>
                      <a:r>
                        <a:rPr sz="1700" dirty="0">
                          <a:latin typeface="Times New Roman"/>
                          <a:cs typeface="Times New Roman"/>
                        </a:rPr>
                        <a:t>)</a:t>
                      </a:r>
                      <a:endParaRPr sz="1700">
                        <a:latin typeface="Times New Roman"/>
                        <a:cs typeface="Times New Roman"/>
                      </a:endParaRPr>
                    </a:p>
                  </a:txBody>
                  <a:tcPr marL="0" marR="0" marT="0" marB="0">
                    <a:lnR w="11943">
                      <a:solidFill>
                        <a:srgbClr val="000000"/>
                      </a:solidFill>
                      <a:prstDash val="solid"/>
                    </a:lnR>
                    <a:solidFill>
                      <a:srgbClr val="E7E7E7"/>
                    </a:solidFill>
                  </a:tcPr>
                </a:tc>
                <a:tc>
                  <a:txBody>
                    <a:bodyPr/>
                    <a:lstStyle/>
                    <a:p>
                      <a:pPr algn="ctr">
                        <a:lnSpc>
                          <a:spcPct val="100000"/>
                        </a:lnSpc>
                      </a:pPr>
                      <a:r>
                        <a:rPr sz="1700" dirty="0">
                          <a:latin typeface="Times New Roman"/>
                          <a:cs typeface="Times New Roman"/>
                        </a:rPr>
                        <a:t>3</a:t>
                      </a:r>
                      <a:endParaRPr sz="1700">
                        <a:latin typeface="Times New Roman"/>
                        <a:cs typeface="Times New Roman"/>
                      </a:endParaRPr>
                    </a:p>
                  </a:txBody>
                  <a:tcPr marL="0" marR="0" marT="0" marB="0">
                    <a:lnL w="11943">
                      <a:solidFill>
                        <a:srgbClr val="000000"/>
                      </a:solidFill>
                      <a:prstDash val="solid"/>
                    </a:lnL>
                    <a:solidFill>
                      <a:srgbClr val="E7E7E7"/>
                    </a:solidFill>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solidFill>
                      <a:srgbClr val="E7E7E7"/>
                    </a:solidFill>
                  </a:tcPr>
                </a:tc>
                <a:tc>
                  <a:txBody>
                    <a:bodyPr/>
                    <a:lstStyle/>
                    <a:p>
                      <a:pPr marL="5715" algn="ctr">
                        <a:lnSpc>
                          <a:spcPct val="100000"/>
                        </a:lnSpc>
                      </a:pPr>
                      <a:r>
                        <a:rPr sz="1700" dirty="0">
                          <a:latin typeface="Times New Roman"/>
                          <a:cs typeface="Times New Roman"/>
                        </a:rPr>
                        <a:t>0</a:t>
                      </a:r>
                    </a:p>
                  </a:txBody>
                  <a:tcPr marL="0" marR="0" marT="0" marB="0">
                    <a:solidFill>
                      <a:srgbClr val="E7E7E7"/>
                    </a:solidFill>
                  </a:tcPr>
                </a:tc>
                <a:tc>
                  <a:txBody>
                    <a:bodyPr/>
                    <a:lstStyle/>
                    <a:p>
                      <a:pPr marL="232410">
                        <a:lnSpc>
                          <a:spcPct val="100000"/>
                        </a:lnSpc>
                      </a:pPr>
                      <a:r>
                        <a:rPr sz="1700" spc="5" dirty="0">
                          <a:latin typeface="Symbol"/>
                          <a:cs typeface="Symbol"/>
                        </a:rPr>
                        <a:t></a:t>
                      </a:r>
                      <a:r>
                        <a:rPr sz="1700" dirty="0">
                          <a:latin typeface="Times New Roman"/>
                          <a:cs typeface="Times New Roman"/>
                        </a:rPr>
                        <a:t>4</a:t>
                      </a:r>
                    </a:p>
                  </a:txBody>
                  <a:tcPr marL="0" marR="0" marT="0" marB="0">
                    <a:solidFill>
                      <a:srgbClr val="E7E7E7"/>
                    </a:solidFill>
                  </a:tcPr>
                </a:tc>
                <a:extLst>
                  <a:ext uri="{0D108BD9-81ED-4DB2-BD59-A6C34878D82A}">
                    <a16:rowId xmlns:a16="http://schemas.microsoft.com/office/drawing/2014/main" val="10003"/>
                  </a:ext>
                </a:extLst>
              </a:tr>
              <a:tr h="337598">
                <a:tc>
                  <a:txBody>
                    <a:bodyPr/>
                    <a:lstStyle/>
                    <a:p>
                      <a:pPr marL="34925">
                        <a:lnSpc>
                          <a:spcPct val="100000"/>
                        </a:lnSpc>
                      </a:pPr>
                      <a:r>
                        <a:rPr sz="1800" dirty="0">
                          <a:latin typeface="Tahoma"/>
                          <a:cs typeface="Tahoma"/>
                        </a:rPr>
                        <a:t>(2/2)</a:t>
                      </a:r>
                      <a:endParaRPr sz="1800">
                        <a:latin typeface="Tahoma"/>
                        <a:cs typeface="Tahoma"/>
                      </a:endParaRPr>
                    </a:p>
                  </a:txBody>
                  <a:tcPr marL="0" marR="0" marT="0" marB="0">
                    <a:solidFill>
                      <a:srgbClr val="E7E7E7"/>
                    </a:solidFill>
                  </a:tcPr>
                </a:tc>
                <a:tc>
                  <a:txBody>
                    <a:bodyPr/>
                    <a:lstStyle/>
                    <a:p>
                      <a:pPr marL="140970">
                        <a:lnSpc>
                          <a:spcPct val="100000"/>
                        </a:lnSpc>
                      </a:pPr>
                      <a:r>
                        <a:rPr sz="1800" dirty="0">
                          <a:latin typeface="Tahoma"/>
                          <a:cs typeface="Tahoma"/>
                        </a:rPr>
                        <a:t>Hide</a:t>
                      </a:r>
                      <a:r>
                        <a:rPr sz="1800" spc="35" dirty="0">
                          <a:latin typeface="Tahoma"/>
                          <a:cs typeface="Tahoma"/>
                        </a:rPr>
                        <a:t> </a:t>
                      </a:r>
                      <a:r>
                        <a:rPr sz="1800" dirty="0">
                          <a:latin typeface="Tahoma"/>
                          <a:cs typeface="Tahoma"/>
                        </a:rPr>
                        <a:t>two</a:t>
                      </a:r>
                      <a:r>
                        <a:rPr sz="1800" spc="35" dirty="0">
                          <a:latin typeface="Tahoma"/>
                          <a:cs typeface="Tahoma"/>
                        </a:rPr>
                        <a:t> </a:t>
                      </a:r>
                      <a:r>
                        <a:rPr sz="1800" dirty="0">
                          <a:latin typeface="Tahoma"/>
                          <a:cs typeface="Tahoma"/>
                        </a:rPr>
                        <a:t>coins,</a:t>
                      </a:r>
                      <a:r>
                        <a:rPr sz="1800" spc="35" dirty="0">
                          <a:latin typeface="Tahoma"/>
                          <a:cs typeface="Tahoma"/>
                        </a:rPr>
                        <a:t> </a:t>
                      </a:r>
                      <a:r>
                        <a:rPr sz="1800" dirty="0">
                          <a:latin typeface="Tahoma"/>
                          <a:cs typeface="Tahoma"/>
                        </a:rPr>
                        <a:t>guess</a:t>
                      </a:r>
                      <a:r>
                        <a:rPr sz="1800" spc="35" dirty="0">
                          <a:latin typeface="Tahoma"/>
                          <a:cs typeface="Tahoma"/>
                        </a:rPr>
                        <a:t> </a:t>
                      </a:r>
                      <a:r>
                        <a:rPr sz="1800" dirty="0">
                          <a:latin typeface="Tahoma"/>
                          <a:cs typeface="Tahoma"/>
                        </a:rPr>
                        <a:t>“two</a:t>
                      </a:r>
                      <a:r>
                        <a:rPr sz="1800" spc="35" dirty="0">
                          <a:latin typeface="Tahoma"/>
                          <a:cs typeface="Tahoma"/>
                        </a:rPr>
                        <a:t> </a:t>
                      </a:r>
                      <a:r>
                        <a:rPr sz="1800" dirty="0">
                          <a:latin typeface="Tahoma"/>
                          <a:cs typeface="Tahoma"/>
                        </a:rPr>
                        <a:t>coins”</a:t>
                      </a:r>
                    </a:p>
                  </a:txBody>
                  <a:tcPr marL="0" marR="0" marT="0" marB="0">
                    <a:solidFill>
                      <a:srgbClr val="E7E7E7"/>
                    </a:solidFill>
                  </a:tcPr>
                </a:tc>
                <a:tc>
                  <a:txBody>
                    <a:bodyPr/>
                    <a:lstStyle/>
                    <a:p>
                      <a:pPr marL="25400">
                        <a:lnSpc>
                          <a:spcPct val="100000"/>
                        </a:lnSpc>
                      </a:pPr>
                      <a:r>
                        <a:rPr sz="1700" dirty="0">
                          <a:latin typeface="Times New Roman"/>
                          <a:cs typeface="Times New Roman"/>
                        </a:rPr>
                        <a:t>(2</a:t>
                      </a:r>
                      <a:r>
                        <a:rPr sz="1700" spc="-145" dirty="0">
                          <a:latin typeface="Times New Roman"/>
                          <a:cs typeface="Times New Roman"/>
                        </a:rPr>
                        <a:t> </a:t>
                      </a:r>
                      <a:r>
                        <a:rPr sz="1700" dirty="0">
                          <a:latin typeface="Times New Roman"/>
                          <a:cs typeface="Times New Roman"/>
                        </a:rPr>
                        <a:t>/</a:t>
                      </a:r>
                      <a:r>
                        <a:rPr sz="1700" spc="-145" dirty="0">
                          <a:latin typeface="Times New Roman"/>
                          <a:cs typeface="Times New Roman"/>
                        </a:rPr>
                        <a:t> </a:t>
                      </a:r>
                      <a:r>
                        <a:rPr sz="1700" dirty="0">
                          <a:latin typeface="Times New Roman"/>
                          <a:cs typeface="Times New Roman"/>
                        </a:rPr>
                        <a:t>2)</a:t>
                      </a:r>
                      <a:endParaRPr sz="1700">
                        <a:latin typeface="Times New Roman"/>
                        <a:cs typeface="Times New Roman"/>
                      </a:endParaRPr>
                    </a:p>
                  </a:txBody>
                  <a:tcPr marL="0" marR="0" marT="0" marB="0">
                    <a:lnR w="11943">
                      <a:solidFill>
                        <a:srgbClr val="000000"/>
                      </a:solidFill>
                      <a:prstDash val="solid"/>
                    </a:lnR>
                    <a:solidFill>
                      <a:srgbClr val="E7E7E7"/>
                    </a:solidFill>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11943">
                      <a:solidFill>
                        <a:srgbClr val="000000"/>
                      </a:solidFill>
                      <a:prstDash val="solid"/>
                    </a:lnL>
                    <a:solidFill>
                      <a:srgbClr val="E7E7E7"/>
                    </a:solidFill>
                  </a:tcPr>
                </a:tc>
                <a:tc>
                  <a:txBody>
                    <a:bodyPr/>
                    <a:lstStyle/>
                    <a:p>
                      <a:pPr marL="214629">
                        <a:lnSpc>
                          <a:spcPct val="100000"/>
                        </a:lnSpc>
                      </a:pPr>
                      <a:r>
                        <a:rPr sz="1700" spc="5" dirty="0">
                          <a:latin typeface="Symbol"/>
                          <a:cs typeface="Symbol"/>
                        </a:rPr>
                        <a:t></a:t>
                      </a:r>
                      <a:r>
                        <a:rPr sz="1700" dirty="0">
                          <a:latin typeface="Times New Roman"/>
                          <a:cs typeface="Times New Roman"/>
                        </a:rPr>
                        <a:t>3</a:t>
                      </a:r>
                      <a:endParaRPr sz="1700">
                        <a:latin typeface="Times New Roman"/>
                        <a:cs typeface="Times New Roman"/>
                      </a:endParaRPr>
                    </a:p>
                  </a:txBody>
                  <a:tcPr marL="0" marR="0" marT="0" marB="0">
                    <a:solidFill>
                      <a:srgbClr val="E7E7E7"/>
                    </a:solidFill>
                  </a:tcPr>
                </a:tc>
                <a:tc>
                  <a:txBody>
                    <a:bodyPr/>
                    <a:lstStyle/>
                    <a:p>
                      <a:pPr marL="5715" algn="ctr">
                        <a:lnSpc>
                          <a:spcPct val="100000"/>
                        </a:lnSpc>
                      </a:pPr>
                      <a:r>
                        <a:rPr sz="1700" dirty="0">
                          <a:latin typeface="Times New Roman"/>
                          <a:cs typeface="Times New Roman"/>
                        </a:rPr>
                        <a:t>4</a:t>
                      </a:r>
                      <a:endParaRPr sz="1700">
                        <a:latin typeface="Times New Roman"/>
                        <a:cs typeface="Times New Roman"/>
                      </a:endParaRPr>
                    </a:p>
                  </a:txBody>
                  <a:tcPr marL="0" marR="0" marT="0" marB="0">
                    <a:solidFill>
                      <a:srgbClr val="E7E7E7"/>
                    </a:solidFill>
                  </a:tcPr>
                </a:tc>
                <a:tc>
                  <a:txBody>
                    <a:bodyPr/>
                    <a:lstStyle/>
                    <a:p>
                      <a:pPr marL="66675" algn="ctr">
                        <a:lnSpc>
                          <a:spcPct val="100000"/>
                        </a:lnSpc>
                      </a:pPr>
                      <a:r>
                        <a:rPr sz="1700" dirty="0">
                          <a:latin typeface="Times New Roman"/>
                          <a:cs typeface="Times New Roman"/>
                        </a:rPr>
                        <a:t>0</a:t>
                      </a:r>
                    </a:p>
                  </a:txBody>
                  <a:tcPr marL="0" marR="0" marT="0" marB="0">
                    <a:solidFill>
                      <a:srgbClr val="E7E7E7"/>
                    </a:solidFill>
                  </a:tcPr>
                </a:tc>
                <a:extLst>
                  <a:ext uri="{0D108BD9-81ED-4DB2-BD59-A6C34878D82A}">
                    <a16:rowId xmlns:a16="http://schemas.microsoft.com/office/drawing/2014/main" val="10004"/>
                  </a:ext>
                </a:extLst>
              </a:tr>
            </a:tbl>
          </a:graphicData>
        </a:graphic>
      </p:graphicFrame>
      <p:sp>
        <p:nvSpPr>
          <p:cNvPr id="9" name="Slide Number Placeholder 8">
            <a:extLst>
              <a:ext uri="{FF2B5EF4-FFF2-40B4-BE49-F238E27FC236}">
                <a16:creationId xmlns:a16="http://schemas.microsoft.com/office/drawing/2014/main" id="{3202B413-430F-4C90-7838-B3E62AF6B588}"/>
              </a:ext>
            </a:extLst>
          </p:cNvPr>
          <p:cNvSpPr>
            <a:spLocks noGrp="1"/>
          </p:cNvSpPr>
          <p:nvPr>
            <p:ph type="sldNum" sz="quarter" idx="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2000" b="0" i="0" u="none" strike="noStrike" kern="1200" cap="none" spc="0" normalizeH="0" baseline="0" noProof="0" smtClean="0">
                <a:ln>
                  <a:noFill/>
                </a:ln>
                <a:solidFill>
                  <a:prstClr val="black"/>
                </a:solidFill>
                <a:effectLst/>
                <a:uLnTx/>
                <a:uFillTx/>
                <a:latin typeface="Comic Sans MS"/>
                <a:sym typeface="Comic Sans MS"/>
              </a:rPr>
              <a:pPr marL="0" marR="0" lvl="0" indent="0" algn="l" defTabSz="914400" rtl="0" eaLnBrk="1" fontAlgn="auto" latinLnBrk="0" hangingPunct="1">
                <a:lnSpc>
                  <a:spcPct val="100000"/>
                </a:lnSpc>
                <a:spcBef>
                  <a:spcPts val="0"/>
                </a:spcBef>
                <a:spcAft>
                  <a:spcPts val="0"/>
                </a:spcAft>
                <a:buClrTx/>
                <a:buSzTx/>
                <a:buFontTx/>
                <a:buNone/>
                <a:tabLst/>
                <a:defRPr/>
              </a:pPr>
              <a:t>15</a:t>
            </a:fld>
            <a:r>
              <a:rPr kumimoji="0" lang="en-US" sz="2000" b="0" i="0" u="none" strike="noStrike" kern="1200" cap="none" spc="0" normalizeH="0" baseline="0" noProof="0" dirty="0">
                <a:ln>
                  <a:noFill/>
                </a:ln>
                <a:solidFill>
                  <a:prstClr val="black"/>
                </a:solidFill>
                <a:effectLst/>
                <a:uLnTx/>
                <a:uFillTx/>
                <a:latin typeface="Comic Sans MS"/>
                <a:sym typeface="Comic Sans MS"/>
              </a:rPr>
              <a:t>/46</a:t>
            </a:r>
          </a:p>
        </p:txBody>
      </p:sp>
      <p:sp>
        <p:nvSpPr>
          <p:cNvPr id="10" name="Footer Placeholder 9">
            <a:extLst>
              <a:ext uri="{FF2B5EF4-FFF2-40B4-BE49-F238E27FC236}">
                <a16:creationId xmlns:a16="http://schemas.microsoft.com/office/drawing/2014/main" id="{B20C3CCB-0EF4-059D-3D80-96C1C05E35F7}"/>
              </a:ext>
            </a:extLst>
          </p:cNvPr>
          <p:cNvSpPr>
            <a:spLocks noGrp="1"/>
          </p:cNvSpPr>
          <p:nvPr>
            <p:ph type="ftr" sz="quarter" idx="5"/>
          </p:nvPr>
        </p:nvSpPr>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0ADAA467-0BBE-731E-2D64-CC9FFE6BB5D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FC7D74E5-048A-3599-606C-EC3E6C567BE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631DB9A0-E14C-09EF-DBEC-A180A56E0B2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528943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362075"/>
            <a:ext cx="9144000" cy="5057140"/>
          </a:xfrm>
          <a:custGeom>
            <a:avLst/>
            <a:gdLst/>
            <a:ahLst/>
            <a:cxnLst/>
            <a:rect l="l" t="t" r="r" b="b"/>
            <a:pathLst>
              <a:path w="9144000" h="5057140">
                <a:moveTo>
                  <a:pt x="0" y="0"/>
                </a:moveTo>
                <a:lnTo>
                  <a:pt x="0" y="5056963"/>
                </a:lnTo>
                <a:lnTo>
                  <a:pt x="9144000" y="5056963"/>
                </a:lnTo>
                <a:lnTo>
                  <a:pt x="9144000" y="0"/>
                </a:lnTo>
                <a:lnTo>
                  <a:pt x="0" y="0"/>
                </a:lnTo>
                <a:close/>
              </a:path>
            </a:pathLst>
          </a:custGeom>
          <a:solidFill>
            <a:srgbClr val="E7E7E7"/>
          </a:solidFill>
        </p:spPr>
        <p:txBody>
          <a:bodyPr wrap="square" lIns="0" tIns="0" rIns="0" bIns="0" rtlCol="0"/>
          <a:lstStyle/>
          <a:p>
            <a:endParaRPr/>
          </a:p>
        </p:txBody>
      </p:sp>
      <p:sp>
        <p:nvSpPr>
          <p:cNvPr id="3" name="object 3"/>
          <p:cNvSpPr/>
          <p:nvPr/>
        </p:nvSpPr>
        <p:spPr>
          <a:xfrm>
            <a:off x="2716947" y="5047659"/>
            <a:ext cx="6427470" cy="1810385"/>
          </a:xfrm>
          <a:custGeom>
            <a:avLst/>
            <a:gdLst/>
            <a:ahLst/>
            <a:cxnLst/>
            <a:rect l="l" t="t" r="r" b="b"/>
            <a:pathLst>
              <a:path w="6427470" h="1810384">
                <a:moveTo>
                  <a:pt x="6427052" y="0"/>
                </a:moveTo>
                <a:lnTo>
                  <a:pt x="371415" y="0"/>
                </a:lnTo>
                <a:lnTo>
                  <a:pt x="340953" y="1231"/>
                </a:lnTo>
                <a:lnTo>
                  <a:pt x="282160" y="10794"/>
                </a:lnTo>
                <a:lnTo>
                  <a:pt x="226843" y="29187"/>
                </a:lnTo>
                <a:lnTo>
                  <a:pt x="175769" y="55646"/>
                </a:lnTo>
                <a:lnTo>
                  <a:pt x="129702" y="89406"/>
                </a:lnTo>
                <a:lnTo>
                  <a:pt x="89406" y="129701"/>
                </a:lnTo>
                <a:lnTo>
                  <a:pt x="55646" y="175769"/>
                </a:lnTo>
                <a:lnTo>
                  <a:pt x="29187" y="226843"/>
                </a:lnTo>
                <a:lnTo>
                  <a:pt x="10794" y="282159"/>
                </a:lnTo>
                <a:lnTo>
                  <a:pt x="1231" y="340953"/>
                </a:lnTo>
                <a:lnTo>
                  <a:pt x="0" y="371415"/>
                </a:lnTo>
                <a:lnTo>
                  <a:pt x="0" y="1810340"/>
                </a:lnTo>
                <a:lnTo>
                  <a:pt x="6427052" y="1810340"/>
                </a:lnTo>
                <a:lnTo>
                  <a:pt x="6427052" y="0"/>
                </a:lnTo>
                <a:close/>
              </a:path>
            </a:pathLst>
          </a:custGeom>
          <a:solidFill>
            <a:srgbClr val="E7E7E7"/>
          </a:solidFill>
        </p:spPr>
        <p:txBody>
          <a:bodyPr wrap="square" lIns="0" tIns="0" rIns="0" bIns="0" rtlCol="0"/>
          <a:lstStyle/>
          <a:p>
            <a:endParaRPr/>
          </a:p>
        </p:txBody>
      </p:sp>
      <p:sp>
        <p:nvSpPr>
          <p:cNvPr id="4" name="object 4"/>
          <p:cNvSpPr/>
          <p:nvPr/>
        </p:nvSpPr>
        <p:spPr>
          <a:xfrm>
            <a:off x="0" y="2819166"/>
            <a:ext cx="3655695" cy="4039235"/>
          </a:xfrm>
          <a:custGeom>
            <a:avLst/>
            <a:gdLst/>
            <a:ahLst/>
            <a:cxnLst/>
            <a:rect l="l" t="t" r="r" b="b"/>
            <a:pathLst>
              <a:path w="3655695" h="4039234">
                <a:moveTo>
                  <a:pt x="0" y="4038833"/>
                </a:moveTo>
                <a:lnTo>
                  <a:pt x="3655462" y="4038833"/>
                </a:lnTo>
                <a:lnTo>
                  <a:pt x="3655462" y="0"/>
                </a:lnTo>
                <a:lnTo>
                  <a:pt x="0" y="0"/>
                </a:lnTo>
                <a:lnTo>
                  <a:pt x="0" y="4038833"/>
                </a:lnTo>
                <a:close/>
              </a:path>
            </a:pathLst>
          </a:custGeom>
          <a:solidFill>
            <a:srgbClr val="E7E7E7"/>
          </a:solidFill>
        </p:spPr>
        <p:txBody>
          <a:bodyPr wrap="square" lIns="0" tIns="0" rIns="0" bIns="0" rtlCol="0"/>
          <a:lstStyle/>
          <a:p>
            <a:endParaRPr/>
          </a:p>
        </p:txBody>
      </p:sp>
      <p:sp>
        <p:nvSpPr>
          <p:cNvPr id="5" name="object 5"/>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6" name="object 6"/>
          <p:cNvSpPr txBox="1">
            <a:spLocks noGrp="1"/>
          </p:cNvSpPr>
          <p:nvPr>
            <p:ph type="title"/>
          </p:nvPr>
        </p:nvSpPr>
        <p:spPr>
          <a:xfrm>
            <a:off x="461327" y="574571"/>
            <a:ext cx="8221344" cy="492443"/>
          </a:xfrm>
          <a:prstGeom prst="rect">
            <a:avLst/>
          </a:prstGeom>
        </p:spPr>
        <p:txBody>
          <a:bodyPr vert="horz" wrap="square" lIns="0" tIns="0" rIns="0" bIns="0" rtlCol="0">
            <a:spAutoFit/>
          </a:bodyPr>
          <a:lstStyle/>
          <a:p>
            <a:pPr marL="12700">
              <a:lnSpc>
                <a:spcPct val="100000"/>
              </a:lnSpc>
            </a:pPr>
            <a:r>
              <a:rPr dirty="0"/>
              <a:t>Be</a:t>
            </a:r>
            <a:r>
              <a:rPr spc="-15" dirty="0"/>
              <a:t>st</a:t>
            </a:r>
            <a:r>
              <a:rPr spc="-5" dirty="0"/>
              <a:t> </a:t>
            </a:r>
            <a:r>
              <a:rPr dirty="0"/>
              <a:t>Response</a:t>
            </a:r>
            <a:r>
              <a:rPr lang="en-US" dirty="0"/>
              <a:t> (BR)</a:t>
            </a:r>
            <a:endParaRPr dirty="0"/>
          </a:p>
        </p:txBody>
      </p:sp>
      <mc:AlternateContent xmlns:mc="http://schemas.openxmlformats.org/markup-compatibility/2006" xmlns:a14="http://schemas.microsoft.com/office/drawing/2010/main">
        <mc:Choice Requires="a14">
          <p:sp>
            <p:nvSpPr>
              <p:cNvPr id="7" name="object 7"/>
              <p:cNvSpPr txBox="1"/>
              <p:nvPr/>
            </p:nvSpPr>
            <p:spPr>
              <a:xfrm>
                <a:off x="468585" y="1632714"/>
                <a:ext cx="8043665" cy="4788234"/>
              </a:xfrm>
              <a:prstGeom prst="rect">
                <a:avLst/>
              </a:prstGeom>
            </p:spPr>
            <p:txBody>
              <a:bodyPr vert="horz" wrap="square" lIns="0" tIns="0" rIns="0" bIns="0" rtlCol="0">
                <a:spAutoFit/>
              </a:bodyPr>
              <a:lstStyle/>
              <a:p>
                <a:pPr marL="12700" marR="1534160">
                  <a:lnSpc>
                    <a:spcPct val="100699"/>
                  </a:lnSpc>
                </a:pPr>
                <a:r>
                  <a:rPr lang="en-US" sz="2400" spc="-10" dirty="0">
                    <a:latin typeface="Times New Roman"/>
                    <a:cs typeface="Times New Roman"/>
                  </a:rPr>
                  <a:t>It w</a:t>
                </a:r>
                <a:r>
                  <a:rPr lang="en-US" sz="2400" spc="-15" dirty="0">
                    <a:latin typeface="Times New Roman"/>
                    <a:cs typeface="Times New Roman"/>
                  </a:rPr>
                  <a:t>ould be</a:t>
                </a:r>
                <a:r>
                  <a:rPr lang="en-US" sz="2400" spc="-5" dirty="0">
                    <a:latin typeface="Times New Roman"/>
                    <a:cs typeface="Times New Roman"/>
                  </a:rPr>
                  <a:t> </a:t>
                </a:r>
                <a:r>
                  <a:rPr lang="en-US" sz="2400" dirty="0">
                    <a:latin typeface="Times New Roman"/>
                    <a:cs typeface="Times New Roman"/>
                  </a:rPr>
                  <a:t>s</a:t>
                </a:r>
                <a:r>
                  <a:rPr lang="en-US" sz="2400" spc="-10" dirty="0">
                    <a:latin typeface="Times New Roman"/>
                    <a:cs typeface="Times New Roman"/>
                  </a:rPr>
                  <a:t>tr</a:t>
                </a:r>
                <a:r>
                  <a:rPr lang="en-US" sz="2400" spc="-20" dirty="0">
                    <a:latin typeface="Times New Roman"/>
                    <a:cs typeface="Times New Roman"/>
                  </a:rPr>
                  <a:t>a</a:t>
                </a:r>
                <a:r>
                  <a:rPr lang="en-US" sz="2400" spc="-10" dirty="0">
                    <a:latin typeface="Times New Roman"/>
                    <a:cs typeface="Times New Roman"/>
                  </a:rPr>
                  <a:t>ight</a:t>
                </a:r>
                <a:r>
                  <a:rPr lang="en-US" sz="2400" dirty="0">
                    <a:latin typeface="Times New Roman"/>
                    <a:cs typeface="Times New Roman"/>
                  </a:rPr>
                  <a:t> forw</a:t>
                </a:r>
                <a:r>
                  <a:rPr lang="en-US" sz="2400" spc="-20" dirty="0">
                    <a:latin typeface="Times New Roman"/>
                    <a:cs typeface="Times New Roman"/>
                  </a:rPr>
                  <a:t>a</a:t>
                </a:r>
                <a:r>
                  <a:rPr lang="en-US" sz="2400" dirty="0">
                    <a:latin typeface="Times New Roman"/>
                    <a:cs typeface="Times New Roman"/>
                  </a:rPr>
                  <a:t>rd </a:t>
                </a:r>
                <a:r>
                  <a:rPr lang="en-US" sz="2400" spc="-10" dirty="0">
                    <a:latin typeface="Times New Roman"/>
                    <a:cs typeface="Times New Roman"/>
                  </a:rPr>
                  <a:t>t</a:t>
                </a:r>
                <a:r>
                  <a:rPr lang="en-US" sz="2400" dirty="0">
                    <a:latin typeface="Times New Roman"/>
                    <a:cs typeface="Times New Roman"/>
                  </a:rPr>
                  <a:t>o </a:t>
                </a:r>
                <a:r>
                  <a:rPr lang="en-US" sz="2400" spc="-15" dirty="0">
                    <a:latin typeface="Times New Roman"/>
                    <a:cs typeface="Times New Roman"/>
                  </a:rPr>
                  <a:t>d</a:t>
                </a:r>
                <a:r>
                  <a:rPr lang="en-US" sz="2400" spc="-20" dirty="0">
                    <a:latin typeface="Times New Roman"/>
                    <a:cs typeface="Times New Roman"/>
                  </a:rPr>
                  <a:t>ec</a:t>
                </a:r>
                <a:r>
                  <a:rPr lang="en-US" sz="2400" spc="-10" dirty="0">
                    <a:latin typeface="Times New Roman"/>
                    <a:cs typeface="Times New Roman"/>
                  </a:rPr>
                  <a:t>ide</a:t>
                </a:r>
                <a:r>
                  <a:rPr lang="en-US" sz="2400" spc="-5" dirty="0">
                    <a:latin typeface="Times New Roman"/>
                    <a:cs typeface="Times New Roman"/>
                  </a:rPr>
                  <a:t> </a:t>
                </a:r>
                <a:r>
                  <a:rPr lang="en-US" sz="2400" dirty="0">
                    <a:latin typeface="Times New Roman"/>
                    <a:cs typeface="Times New Roman"/>
                  </a:rPr>
                  <a:t>w</a:t>
                </a:r>
                <a:r>
                  <a:rPr lang="en-US" sz="2400" spc="-15" dirty="0">
                    <a:latin typeface="Times New Roman"/>
                    <a:cs typeface="Times New Roman"/>
                  </a:rPr>
                  <a:t>h</a:t>
                </a:r>
                <a:r>
                  <a:rPr lang="en-US" sz="2400" spc="-20" dirty="0">
                    <a:latin typeface="Times New Roman"/>
                    <a:cs typeface="Times New Roman"/>
                  </a:rPr>
                  <a:t>a</a:t>
                </a:r>
                <a:r>
                  <a:rPr lang="en-US" sz="2400" spc="-10" dirty="0">
                    <a:latin typeface="Times New Roman"/>
                    <a:cs typeface="Times New Roman"/>
                  </a:rPr>
                  <a:t>t</a:t>
                </a:r>
                <a:r>
                  <a:rPr lang="en-US" sz="2400" dirty="0">
                    <a:latin typeface="Times New Roman"/>
                    <a:cs typeface="Times New Roman"/>
                  </a:rPr>
                  <a:t> </a:t>
                </a:r>
                <a:r>
                  <a:rPr lang="en-US" sz="2400" spc="-10" dirty="0">
                    <a:latin typeface="Times New Roman"/>
                    <a:cs typeface="Times New Roman"/>
                  </a:rPr>
                  <a:t>t</a:t>
                </a:r>
                <a:r>
                  <a:rPr lang="en-US" sz="2400" dirty="0">
                    <a:latin typeface="Times New Roman"/>
                    <a:cs typeface="Times New Roman"/>
                  </a:rPr>
                  <a:t>o do </a:t>
                </a:r>
                <a:r>
                  <a:rPr lang="en-US" sz="2400" spc="-10" dirty="0">
                    <a:latin typeface="Times New Roman"/>
                    <a:cs typeface="Times New Roman"/>
                  </a:rPr>
                  <a:t>i</a:t>
                </a:r>
                <a:r>
                  <a:rPr lang="en-US" sz="2400" dirty="0">
                    <a:latin typeface="Times New Roman"/>
                    <a:cs typeface="Times New Roman"/>
                  </a:rPr>
                  <a:t>f w</a:t>
                </a:r>
                <a:r>
                  <a:rPr lang="en-US" sz="2400" spc="-15" dirty="0">
                    <a:latin typeface="Times New Roman"/>
                    <a:cs typeface="Times New Roman"/>
                  </a:rPr>
                  <a:t>e</a:t>
                </a:r>
                <a:r>
                  <a:rPr lang="en-US" sz="2400" spc="-5" dirty="0">
                    <a:latin typeface="Times New Roman"/>
                    <a:cs typeface="Times New Roman"/>
                  </a:rPr>
                  <a:t> </a:t>
                </a:r>
                <a:r>
                  <a:rPr lang="en-US" sz="2400" spc="-15" dirty="0">
                    <a:latin typeface="Times New Roman"/>
                    <a:cs typeface="Times New Roman"/>
                  </a:rPr>
                  <a:t>kn</a:t>
                </a:r>
                <a:r>
                  <a:rPr lang="en-US" sz="2400" spc="-20" dirty="0">
                    <a:latin typeface="Times New Roman"/>
                    <a:cs typeface="Times New Roman"/>
                  </a:rPr>
                  <a:t>e</a:t>
                </a:r>
                <a:r>
                  <a:rPr lang="en-US" sz="2400" dirty="0">
                    <a:latin typeface="Times New Roman"/>
                    <a:cs typeface="Times New Roman"/>
                  </a:rPr>
                  <a:t>w </a:t>
                </a:r>
                <a:r>
                  <a:rPr lang="en-US" sz="2400" spc="-10" dirty="0">
                    <a:latin typeface="Times New Roman"/>
                    <a:cs typeface="Times New Roman"/>
                  </a:rPr>
                  <a:t>the</a:t>
                </a:r>
                <a:r>
                  <a:rPr lang="en-US" sz="2400" spc="-5" dirty="0">
                    <a:latin typeface="Times New Roman"/>
                    <a:cs typeface="Times New Roman"/>
                  </a:rPr>
                  <a:t> </a:t>
                </a:r>
                <a:r>
                  <a:rPr lang="en-US" sz="2400" spc="-20" dirty="0">
                    <a:latin typeface="Times New Roman"/>
                    <a:cs typeface="Times New Roman"/>
                  </a:rPr>
                  <a:t>ac</a:t>
                </a:r>
                <a:r>
                  <a:rPr lang="en-US" sz="2400" spc="-10" dirty="0">
                    <a:latin typeface="Times New Roman"/>
                    <a:cs typeface="Times New Roman"/>
                  </a:rPr>
                  <a:t>ti</a:t>
                </a:r>
                <a:r>
                  <a:rPr lang="en-US" sz="2400" dirty="0">
                    <a:latin typeface="Times New Roman"/>
                    <a:cs typeface="Times New Roman"/>
                  </a:rPr>
                  <a:t>ons of </a:t>
                </a:r>
                <a:r>
                  <a:rPr lang="en-US" sz="2400" spc="-20" dirty="0">
                    <a:latin typeface="Times New Roman"/>
                    <a:cs typeface="Times New Roman"/>
                  </a:rPr>
                  <a:t>a</a:t>
                </a:r>
                <a:r>
                  <a:rPr lang="en-US" sz="2400" spc="-10" dirty="0">
                    <a:latin typeface="Times New Roman"/>
                    <a:cs typeface="Times New Roman"/>
                  </a:rPr>
                  <a:t>ll</a:t>
                </a:r>
                <a:r>
                  <a:rPr lang="en-US" sz="2400" dirty="0">
                    <a:latin typeface="Times New Roman"/>
                    <a:cs typeface="Times New Roman"/>
                  </a:rPr>
                  <a:t> </a:t>
                </a:r>
                <a:r>
                  <a:rPr lang="en-US" sz="2400" spc="-15" dirty="0">
                    <a:latin typeface="Times New Roman"/>
                    <a:cs typeface="Times New Roman"/>
                  </a:rPr>
                  <a:t>oth</a:t>
                </a:r>
                <a:r>
                  <a:rPr lang="en-US" sz="2400" spc="-20" dirty="0">
                    <a:latin typeface="Times New Roman"/>
                    <a:cs typeface="Times New Roman"/>
                  </a:rPr>
                  <a:t>e</a:t>
                </a:r>
                <a:r>
                  <a:rPr lang="en-US" sz="2400" dirty="0">
                    <a:latin typeface="Times New Roman"/>
                    <a:cs typeface="Times New Roman"/>
                  </a:rPr>
                  <a:t>rs.</a:t>
                </a:r>
              </a:p>
              <a:p>
                <a:pPr marL="12700" marR="5080">
                  <a:lnSpc>
                    <a:spcPts val="5910"/>
                  </a:lnSpc>
                  <a:spcBef>
                    <a:spcPts val="590"/>
                  </a:spcBef>
                </a:pPr>
                <a:r>
                  <a:rPr lang="en-US" sz="2400" spc="-15" dirty="0">
                    <a:latin typeface="Times New Roman"/>
                    <a:cs typeface="Times New Roman"/>
                  </a:rPr>
                  <a:t>Let</a:t>
                </a:r>
                <a:r>
                  <a:rPr lang="en-US" sz="2400" spc="-5" dirty="0">
                    <a:latin typeface="Times New Roman"/>
                    <a:cs typeface="Times New Roman"/>
                  </a:rPr>
                  <a:t> </a:t>
                </a:r>
                <a:r>
                  <a:rPr lang="en-US" sz="2550" i="1" spc="-15" dirty="0">
                    <a:latin typeface="Times New Roman"/>
                    <a:cs typeface="Times New Roman"/>
                  </a:rPr>
                  <a:t>a</a:t>
                </a:r>
                <a:r>
                  <a:rPr lang="en-US" sz="2550" i="1" spc="80" dirty="0">
                    <a:latin typeface="Times New Roman"/>
                    <a:cs typeface="Times New Roman"/>
                  </a:rPr>
                  <a:t> </a:t>
                </a:r>
                <a:r>
                  <a:rPr lang="en-US" sz="2550" spc="30" dirty="0">
                    <a:latin typeface="Garamond"/>
                    <a:cs typeface="Garamond"/>
                  </a:rPr>
                  <a:t>=</a:t>
                </a:r>
                <a:r>
                  <a:rPr lang="en-US" sz="2550" spc="65" dirty="0">
                    <a:latin typeface="Garamond"/>
                    <a:cs typeface="Garamond"/>
                  </a:rPr>
                  <a:t> </a:t>
                </a:r>
                <a:r>
                  <a:rPr lang="en-US" sz="2550" spc="100" dirty="0">
                    <a:latin typeface="Cambria"/>
                    <a:cs typeface="Cambria"/>
                  </a:rPr>
                  <a:t>⟨</a:t>
                </a:r>
                <a:r>
                  <a:rPr lang="en-US" sz="2550" i="1" spc="-105" dirty="0">
                    <a:latin typeface="Times New Roman"/>
                    <a:cs typeface="Times New Roman"/>
                  </a:rPr>
                  <a:t>a</a:t>
                </a:r>
                <a:r>
                  <a:rPr lang="en-US" sz="2700" spc="75" baseline="-20061" dirty="0">
                    <a:latin typeface="Garamond"/>
                    <a:cs typeface="Garamond"/>
                  </a:rPr>
                  <a:t>1</a:t>
                </a:r>
                <a:r>
                  <a:rPr lang="en-US" sz="2550" spc="70" dirty="0">
                    <a:latin typeface="Garamond"/>
                    <a:cs typeface="Garamond"/>
                  </a:rPr>
                  <a:t>,</a:t>
                </a:r>
                <a:r>
                  <a:rPr lang="en-US" sz="2550" spc="-215" dirty="0">
                    <a:latin typeface="Garamond"/>
                    <a:cs typeface="Garamond"/>
                  </a:rPr>
                  <a:t> </a:t>
                </a:r>
                <a:r>
                  <a:rPr lang="en-US" sz="2550" spc="-30" dirty="0">
                    <a:latin typeface="Garamond"/>
                    <a:cs typeface="Garamond"/>
                  </a:rPr>
                  <a:t>…</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a</a:t>
                </a:r>
                <a:r>
                  <a:rPr lang="en-US" sz="2700" i="1" baseline="-20061" dirty="0">
                    <a:latin typeface="Times New Roman"/>
                    <a:cs typeface="Times New Roman"/>
                  </a:rPr>
                  <a:t>i</a:t>
                </a:r>
                <a:r>
                  <a:rPr lang="en-US" sz="2700" spc="352" baseline="-20061" dirty="0">
                    <a:latin typeface="Cambria"/>
                    <a:cs typeface="Cambria"/>
                  </a:rPr>
                  <a:t>−</a:t>
                </a:r>
                <a:r>
                  <a:rPr lang="en-US" sz="2700" spc="75" baseline="-20061" dirty="0">
                    <a:latin typeface="Garamond"/>
                    <a:cs typeface="Garamond"/>
                  </a:rPr>
                  <a:t>1</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a</a:t>
                </a:r>
                <a:r>
                  <a:rPr lang="en-US" sz="2700" i="1" baseline="-20061" dirty="0">
                    <a:latin typeface="Times New Roman"/>
                    <a:cs typeface="Times New Roman"/>
                  </a:rPr>
                  <a:t>i</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a</a:t>
                </a:r>
                <a:r>
                  <a:rPr lang="en-US" sz="2700" i="1" baseline="-20061" dirty="0">
                    <a:latin typeface="Times New Roman"/>
                    <a:cs typeface="Times New Roman"/>
                  </a:rPr>
                  <a:t>i</a:t>
                </a:r>
                <a:r>
                  <a:rPr lang="en-US" sz="2700" spc="52" baseline="-20061" dirty="0">
                    <a:latin typeface="Garamond"/>
                    <a:cs typeface="Garamond"/>
                  </a:rPr>
                  <a:t>+</a:t>
                </a:r>
                <a:r>
                  <a:rPr lang="en-US" sz="2700" spc="75" baseline="-20061" dirty="0">
                    <a:latin typeface="Garamond"/>
                    <a:cs typeface="Garamond"/>
                  </a:rPr>
                  <a:t>1</a:t>
                </a:r>
                <a:r>
                  <a:rPr lang="en-US" sz="2550" spc="70" dirty="0">
                    <a:latin typeface="Garamond"/>
                    <a:cs typeface="Garamond"/>
                  </a:rPr>
                  <a:t>,</a:t>
                </a:r>
                <a:r>
                  <a:rPr lang="en-US" sz="2550" spc="-215" dirty="0">
                    <a:latin typeface="Garamond"/>
                    <a:cs typeface="Garamond"/>
                  </a:rPr>
                  <a:t> </a:t>
                </a:r>
                <a:r>
                  <a:rPr lang="en-US" sz="2550" spc="-30" dirty="0">
                    <a:latin typeface="Garamond"/>
                    <a:cs typeface="Garamond"/>
                  </a:rPr>
                  <a:t>…</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a</a:t>
                </a:r>
                <a:r>
                  <a:rPr lang="en-US" sz="2700" i="1" baseline="-20061" dirty="0">
                    <a:latin typeface="Times New Roman"/>
                    <a:cs typeface="Times New Roman"/>
                  </a:rPr>
                  <a:t>n</a:t>
                </a:r>
                <a:r>
                  <a:rPr lang="en-US" sz="2550" spc="100" dirty="0">
                    <a:latin typeface="Cambria"/>
                    <a:cs typeface="Cambria"/>
                  </a:rPr>
                  <a:t>⟩</a:t>
                </a:r>
                <a:r>
                  <a:rPr lang="en-US" sz="2550" spc="35" dirty="0">
                    <a:latin typeface="Cambria"/>
                    <a:cs typeface="Cambria"/>
                  </a:rPr>
                  <a:t> </a:t>
                </a:r>
                <a:r>
                  <a:rPr lang="en-US" sz="2400" spc="-15" dirty="0">
                    <a:latin typeface="Times New Roman"/>
                    <a:cs typeface="Times New Roman"/>
                  </a:rPr>
                  <a:t>be</a:t>
                </a:r>
                <a:r>
                  <a:rPr lang="en-US" sz="2400" spc="-5" dirty="0">
                    <a:latin typeface="Times New Roman"/>
                    <a:cs typeface="Times New Roman"/>
                  </a:rPr>
                  <a:t> </a:t>
                </a:r>
                <a:r>
                  <a:rPr lang="en-US" sz="2400" spc="-10" dirty="0">
                    <a:latin typeface="Times New Roman"/>
                    <a:cs typeface="Times New Roman"/>
                  </a:rPr>
                  <a:t>the</a:t>
                </a:r>
                <a:r>
                  <a:rPr lang="en-US" sz="2400" spc="-5" dirty="0">
                    <a:latin typeface="Times New Roman"/>
                    <a:cs typeface="Times New Roman"/>
                  </a:rPr>
                  <a:t> </a:t>
                </a:r>
                <a:r>
                  <a:rPr lang="en-US" sz="2400" spc="-10" dirty="0">
                    <a:latin typeface="Times New Roman"/>
                    <a:cs typeface="Times New Roman"/>
                  </a:rPr>
                  <a:t>full</a:t>
                </a:r>
                <a:r>
                  <a:rPr lang="en-US" sz="2400" dirty="0">
                    <a:latin typeface="Times New Roman"/>
                    <a:cs typeface="Times New Roman"/>
                  </a:rPr>
                  <a:t> </a:t>
                </a:r>
                <a:r>
                  <a:rPr lang="en-US" sz="2400" spc="-20" dirty="0">
                    <a:latin typeface="Times New Roman"/>
                    <a:cs typeface="Times New Roman"/>
                  </a:rPr>
                  <a:t>ac</a:t>
                </a:r>
                <a:r>
                  <a:rPr lang="en-US" sz="2400" spc="-10" dirty="0">
                    <a:latin typeface="Times New Roman"/>
                    <a:cs typeface="Times New Roman"/>
                  </a:rPr>
                  <a:t>ti</a:t>
                </a:r>
                <a:r>
                  <a:rPr lang="en-US" sz="2400" dirty="0">
                    <a:latin typeface="Times New Roman"/>
                    <a:cs typeface="Times New Roman"/>
                  </a:rPr>
                  <a:t>on </a:t>
                </a:r>
                <a:r>
                  <a:rPr lang="en-US" sz="2400" spc="-10" dirty="0">
                    <a:latin typeface="Times New Roman"/>
                    <a:cs typeface="Times New Roman"/>
                  </a:rPr>
                  <a:t>prof</a:t>
                </a:r>
                <a:r>
                  <a:rPr lang="en-US" sz="2400" spc="-15" dirty="0">
                    <a:latin typeface="Times New Roman"/>
                    <a:cs typeface="Times New Roman"/>
                  </a:rPr>
                  <a:t>i</a:t>
                </a:r>
                <a:r>
                  <a:rPr lang="en-US" sz="2400" spc="-10" dirty="0">
                    <a:latin typeface="Times New Roman"/>
                    <a:cs typeface="Times New Roman"/>
                  </a:rPr>
                  <a:t>le </a:t>
                </a:r>
              </a:p>
              <a:p>
                <a:pPr marL="12700" marR="5080">
                  <a:lnSpc>
                    <a:spcPts val="5910"/>
                  </a:lnSpc>
                  <a:spcBef>
                    <a:spcPts val="590"/>
                  </a:spcBef>
                </a:pPr>
                <a:r>
                  <a:rPr lang="en-US" sz="2400" spc="-10" dirty="0">
                    <a:latin typeface="Times New Roman"/>
                    <a:cs typeface="Times New Roman"/>
                  </a:rPr>
                  <a:t>Let</a:t>
                </a:r>
                <a:r>
                  <a:rPr lang="en-US" sz="2400" spc="-5" dirty="0">
                    <a:latin typeface="Times New Roman"/>
                    <a:cs typeface="Times New Roman"/>
                  </a:rPr>
                  <a:t> </a:t>
                </a:r>
                <a:r>
                  <a:rPr lang="en-US" sz="2550" i="1" spc="-105" dirty="0">
                    <a:latin typeface="Times New Roman"/>
                    <a:cs typeface="Times New Roman"/>
                  </a:rPr>
                  <a:t>a</a:t>
                </a:r>
                <a:r>
                  <a:rPr lang="en-US" sz="2700" spc="352" baseline="-20061" dirty="0">
                    <a:latin typeface="Cambria"/>
                    <a:cs typeface="Cambria"/>
                  </a:rPr>
                  <a:t>−</a:t>
                </a:r>
                <a:r>
                  <a:rPr lang="en-US" sz="2700" i="1" baseline="-20061" dirty="0">
                    <a:latin typeface="Times New Roman"/>
                    <a:cs typeface="Times New Roman"/>
                  </a:rPr>
                  <a:t>i </a:t>
                </a:r>
                <a:r>
                  <a:rPr lang="en-US" sz="2700" i="1" spc="-292" baseline="-20061" dirty="0">
                    <a:latin typeface="Times New Roman"/>
                    <a:cs typeface="Times New Roman"/>
                  </a:rPr>
                  <a:t> </a:t>
                </a:r>
                <a:r>
                  <a:rPr lang="en-US" sz="2550" spc="30" dirty="0">
                    <a:latin typeface="Garamond"/>
                    <a:cs typeface="Garamond"/>
                  </a:rPr>
                  <a:t>=</a:t>
                </a:r>
                <a:r>
                  <a:rPr lang="en-US" sz="2550" spc="65" dirty="0">
                    <a:latin typeface="Garamond"/>
                    <a:cs typeface="Garamond"/>
                  </a:rPr>
                  <a:t> </a:t>
                </a:r>
                <a:r>
                  <a:rPr lang="en-US" sz="2550" spc="100" dirty="0">
                    <a:latin typeface="Cambria"/>
                    <a:cs typeface="Cambria"/>
                  </a:rPr>
                  <a:t>⟨</a:t>
                </a:r>
                <a:r>
                  <a:rPr lang="en-US" sz="2550" i="1" spc="-105" dirty="0">
                    <a:latin typeface="Times New Roman"/>
                    <a:cs typeface="Times New Roman"/>
                  </a:rPr>
                  <a:t>a</a:t>
                </a:r>
                <a:r>
                  <a:rPr lang="en-US" sz="2700" spc="75" baseline="-20061" dirty="0">
                    <a:latin typeface="Garamond"/>
                    <a:cs typeface="Garamond"/>
                  </a:rPr>
                  <a:t>1</a:t>
                </a:r>
                <a:r>
                  <a:rPr lang="en-US" sz="2550" spc="70" dirty="0">
                    <a:latin typeface="Garamond"/>
                    <a:cs typeface="Garamond"/>
                  </a:rPr>
                  <a:t>,</a:t>
                </a:r>
                <a:r>
                  <a:rPr lang="en-US" sz="2550" spc="-215" dirty="0">
                    <a:latin typeface="Garamond"/>
                    <a:cs typeface="Garamond"/>
                  </a:rPr>
                  <a:t> </a:t>
                </a:r>
                <a:r>
                  <a:rPr lang="en-US" sz="2550" spc="-30" dirty="0">
                    <a:latin typeface="Garamond"/>
                    <a:cs typeface="Garamond"/>
                  </a:rPr>
                  <a:t>…</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a</a:t>
                </a:r>
                <a:r>
                  <a:rPr lang="en-US" sz="2700" i="1" baseline="-20061" dirty="0">
                    <a:latin typeface="Times New Roman"/>
                    <a:cs typeface="Times New Roman"/>
                  </a:rPr>
                  <a:t>i</a:t>
                </a:r>
                <a:r>
                  <a:rPr lang="en-US" sz="2700" spc="352" baseline="-20061" dirty="0">
                    <a:latin typeface="Cambria"/>
                    <a:cs typeface="Cambria"/>
                  </a:rPr>
                  <a:t>−</a:t>
                </a:r>
                <a:r>
                  <a:rPr lang="en-US" sz="2700" spc="75" baseline="-20061" dirty="0">
                    <a:latin typeface="Garamond"/>
                    <a:cs typeface="Garamond"/>
                  </a:rPr>
                  <a:t>1</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a</a:t>
                </a:r>
                <a:r>
                  <a:rPr lang="en-US" sz="2700" i="1" baseline="-20061" dirty="0">
                    <a:latin typeface="Times New Roman"/>
                    <a:cs typeface="Times New Roman"/>
                  </a:rPr>
                  <a:t>i</a:t>
                </a:r>
                <a:r>
                  <a:rPr lang="en-US" sz="2700" spc="52" baseline="-20061" dirty="0">
                    <a:latin typeface="Garamond"/>
                    <a:cs typeface="Garamond"/>
                  </a:rPr>
                  <a:t>+</a:t>
                </a:r>
                <a:r>
                  <a:rPr lang="en-US" sz="2700" spc="75" baseline="-20061" dirty="0">
                    <a:latin typeface="Garamond"/>
                    <a:cs typeface="Garamond"/>
                  </a:rPr>
                  <a:t>1</a:t>
                </a:r>
                <a:r>
                  <a:rPr lang="en-US" sz="2550" spc="70" dirty="0">
                    <a:latin typeface="Garamond"/>
                    <a:cs typeface="Garamond"/>
                  </a:rPr>
                  <a:t>,</a:t>
                </a:r>
                <a:r>
                  <a:rPr lang="en-US" sz="2550" spc="-215" dirty="0">
                    <a:latin typeface="Garamond"/>
                    <a:cs typeface="Garamond"/>
                  </a:rPr>
                  <a:t> </a:t>
                </a:r>
                <a:r>
                  <a:rPr lang="en-US" sz="2550" spc="-30" dirty="0">
                    <a:latin typeface="Garamond"/>
                    <a:cs typeface="Garamond"/>
                  </a:rPr>
                  <a:t>…</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a</a:t>
                </a:r>
                <a:r>
                  <a:rPr lang="en-US" sz="2700" i="1" baseline="-20061" dirty="0">
                    <a:latin typeface="Times New Roman"/>
                    <a:cs typeface="Times New Roman"/>
                  </a:rPr>
                  <a:t>n</a:t>
                </a:r>
                <a:r>
                  <a:rPr lang="en-US" sz="2550" spc="100" dirty="0">
                    <a:latin typeface="Cambria"/>
                    <a:cs typeface="Cambria"/>
                  </a:rPr>
                  <a:t>⟩</a:t>
                </a:r>
                <a:r>
                  <a:rPr lang="en-US" sz="1200" spc="100" dirty="0">
                    <a:latin typeface="Cambria"/>
                    <a:cs typeface="Cambria"/>
                  </a:rPr>
                  <a:t> </a:t>
                </a:r>
                <a:r>
                  <a:rPr lang="en-US" sz="1200" spc="100" dirty="0">
                    <a:solidFill>
                      <a:srgbClr val="FF0000"/>
                    </a:solidFill>
                    <a:latin typeface="Cambria"/>
                    <a:cs typeface="Cambria"/>
                  </a:rPr>
                  <a:t>actions of all other players except player </a:t>
                </a:r>
                <a14:m>
                  <m:oMath xmlns:m="http://schemas.openxmlformats.org/officeDocument/2006/math">
                    <m:r>
                      <a:rPr lang="en-US" sz="1200" b="0" i="1" spc="100" smtClean="0">
                        <a:solidFill>
                          <a:srgbClr val="FF0000"/>
                        </a:solidFill>
                        <a:latin typeface="Cambria Math" panose="02040503050406030204" pitchFamily="18" charset="0"/>
                        <a:cs typeface="Cambria"/>
                      </a:rPr>
                      <m:t>𝑖</m:t>
                    </m:r>
                  </m:oMath>
                </a14:m>
                <a:endParaRPr lang="en-US" sz="1200" dirty="0">
                  <a:solidFill>
                    <a:srgbClr val="FF0000"/>
                  </a:solidFill>
                  <a:latin typeface="Cambria"/>
                  <a:cs typeface="Cambria"/>
                </a:endParaRPr>
              </a:p>
              <a:p>
                <a:pPr marL="12700">
                  <a:lnSpc>
                    <a:spcPct val="100000"/>
                  </a:lnSpc>
                  <a:spcBef>
                    <a:spcPts val="2175"/>
                  </a:spcBef>
                </a:pPr>
                <a:r>
                  <a:rPr lang="en-US" sz="2400" spc="-15" dirty="0">
                    <a:latin typeface="Times New Roman"/>
                    <a:cs typeface="Times New Roman"/>
                  </a:rPr>
                  <a:t>The</a:t>
                </a:r>
                <a:r>
                  <a:rPr lang="en-US" sz="2400" spc="-5" dirty="0">
                    <a:latin typeface="Times New Roman"/>
                    <a:cs typeface="Times New Roman"/>
                  </a:rPr>
                  <a:t> </a:t>
                </a:r>
                <a:r>
                  <a:rPr lang="en-US" sz="2400" spc="-10" dirty="0">
                    <a:latin typeface="Times New Roman"/>
                    <a:cs typeface="Times New Roman"/>
                  </a:rPr>
                  <a:t>full</a:t>
                </a:r>
                <a:r>
                  <a:rPr lang="en-US" sz="2400" dirty="0">
                    <a:latin typeface="Times New Roman"/>
                    <a:cs typeface="Times New Roman"/>
                  </a:rPr>
                  <a:t> </a:t>
                </a:r>
                <a:r>
                  <a:rPr lang="en-US" sz="2400" spc="-20" dirty="0">
                    <a:latin typeface="Times New Roman"/>
                    <a:cs typeface="Times New Roman"/>
                  </a:rPr>
                  <a:t>ac</a:t>
                </a:r>
                <a:r>
                  <a:rPr lang="en-US" sz="2400" spc="-10" dirty="0">
                    <a:latin typeface="Times New Roman"/>
                    <a:cs typeface="Times New Roman"/>
                  </a:rPr>
                  <a:t>ti</a:t>
                </a:r>
                <a:r>
                  <a:rPr lang="en-US" sz="2400" dirty="0">
                    <a:latin typeface="Times New Roman"/>
                    <a:cs typeface="Times New Roman"/>
                  </a:rPr>
                  <a:t>on </a:t>
                </a:r>
                <a:r>
                  <a:rPr lang="en-US" sz="2400" spc="-10" dirty="0">
                    <a:latin typeface="Times New Roman"/>
                    <a:cs typeface="Times New Roman"/>
                  </a:rPr>
                  <a:t>prof</a:t>
                </a:r>
                <a:r>
                  <a:rPr lang="en-US" sz="2400" spc="-15" dirty="0">
                    <a:latin typeface="Times New Roman"/>
                    <a:cs typeface="Times New Roman"/>
                  </a:rPr>
                  <a:t>i</a:t>
                </a:r>
                <a:r>
                  <a:rPr lang="en-US" sz="2400" spc="-10" dirty="0">
                    <a:latin typeface="Times New Roman"/>
                    <a:cs typeface="Times New Roman"/>
                  </a:rPr>
                  <a:t>le</a:t>
                </a:r>
                <a:r>
                  <a:rPr lang="en-US" sz="2400" spc="-5" dirty="0">
                    <a:latin typeface="Times New Roman"/>
                    <a:cs typeface="Times New Roman"/>
                  </a:rPr>
                  <a:t> </a:t>
                </a:r>
                <a:r>
                  <a:rPr lang="en-US" sz="2400" spc="-10" dirty="0">
                    <a:latin typeface="Times New Roman"/>
                    <a:cs typeface="Times New Roman"/>
                  </a:rPr>
                  <a:t>i</a:t>
                </a:r>
                <a:r>
                  <a:rPr lang="en-US" sz="2400" dirty="0">
                    <a:latin typeface="Times New Roman"/>
                    <a:cs typeface="Times New Roman"/>
                  </a:rPr>
                  <a:t>s</a:t>
                </a:r>
                <a:r>
                  <a:rPr lang="en-US" sz="2400" spc="-10" dirty="0">
                    <a:latin typeface="Times New Roman"/>
                    <a:cs typeface="Times New Roman"/>
                  </a:rPr>
                  <a:t>:</a:t>
                </a:r>
                <a:r>
                  <a:rPr lang="en-US" sz="2400" dirty="0">
                    <a:latin typeface="Times New Roman"/>
                    <a:cs typeface="Times New Roman"/>
                  </a:rPr>
                  <a:t> </a:t>
                </a:r>
                <a:r>
                  <a:rPr lang="en-US" sz="2550" i="1" spc="-15" dirty="0">
                    <a:latin typeface="Times New Roman"/>
                    <a:cs typeface="Times New Roman"/>
                  </a:rPr>
                  <a:t>a</a:t>
                </a:r>
                <a:r>
                  <a:rPr lang="en-US" sz="2550" i="1" spc="80" dirty="0">
                    <a:latin typeface="Times New Roman"/>
                    <a:cs typeface="Times New Roman"/>
                  </a:rPr>
                  <a:t> </a:t>
                </a:r>
                <a:r>
                  <a:rPr lang="en-US" sz="2550" spc="30" dirty="0">
                    <a:latin typeface="Garamond"/>
                    <a:cs typeface="Garamond"/>
                  </a:rPr>
                  <a:t>=</a:t>
                </a:r>
                <a:r>
                  <a:rPr lang="en-US" sz="2550" spc="65" dirty="0">
                    <a:latin typeface="Garamond"/>
                    <a:cs typeface="Garamond"/>
                  </a:rPr>
                  <a:t> </a:t>
                </a:r>
                <a:r>
                  <a:rPr lang="en-US" sz="2550" spc="95" dirty="0">
                    <a:latin typeface="Garamond"/>
                    <a:cs typeface="Garamond"/>
                  </a:rPr>
                  <a:t>(</a:t>
                </a:r>
                <a:r>
                  <a:rPr lang="en-US" sz="2550" i="1" spc="-105" dirty="0">
                    <a:latin typeface="Times New Roman"/>
                    <a:cs typeface="Times New Roman"/>
                  </a:rPr>
                  <a:t>a</a:t>
                </a:r>
                <a:r>
                  <a:rPr lang="en-US" sz="2700" spc="352" baseline="-20061" dirty="0">
                    <a:latin typeface="Cambria"/>
                    <a:cs typeface="Cambria"/>
                  </a:rPr>
                  <a:t>−</a:t>
                </a:r>
                <a:r>
                  <a:rPr lang="en-US" sz="2700" i="1" baseline="-20061" dirty="0">
                    <a:latin typeface="Times New Roman"/>
                    <a:cs typeface="Times New Roman"/>
                  </a:rPr>
                  <a:t>i</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a</a:t>
                </a:r>
                <a:r>
                  <a:rPr lang="en-US" sz="2700" i="1" baseline="-20061" dirty="0">
                    <a:latin typeface="Times New Roman"/>
                    <a:cs typeface="Times New Roman"/>
                  </a:rPr>
                  <a:t>i</a:t>
                </a:r>
                <a:r>
                  <a:rPr lang="en-US" sz="2550" spc="95" dirty="0">
                    <a:latin typeface="Garamond"/>
                    <a:cs typeface="Garamond"/>
                  </a:rPr>
                  <a:t>)</a:t>
                </a:r>
                <a:endParaRPr lang="en-US" sz="2550" dirty="0">
                  <a:latin typeface="Garamond"/>
                  <a:cs typeface="Garamond"/>
                </a:endParaRPr>
              </a:p>
              <a:p>
                <a:pPr>
                  <a:lnSpc>
                    <a:spcPct val="100000"/>
                  </a:lnSpc>
                </a:pPr>
                <a:endParaRPr lang="en-US" dirty="0">
                  <a:latin typeface="Times New Roman"/>
                  <a:cs typeface="Times New Roman"/>
                </a:endParaRPr>
              </a:p>
              <a:p>
                <a:pPr marL="12700">
                  <a:lnSpc>
                    <a:spcPct val="100000"/>
                  </a:lnSpc>
                  <a:spcBef>
                    <a:spcPts val="2130"/>
                  </a:spcBef>
                </a:pPr>
                <a:r>
                  <a:rPr lang="en-US" sz="2400" spc="-15" dirty="0">
                    <a:latin typeface="Times New Roman"/>
                    <a:cs typeface="Times New Roman"/>
                  </a:rPr>
                  <a:t>The</a:t>
                </a:r>
                <a:r>
                  <a:rPr lang="en-US" sz="2400" spc="-5" dirty="0">
                    <a:latin typeface="Times New Roman"/>
                    <a:cs typeface="Times New Roman"/>
                  </a:rPr>
                  <a:t> </a:t>
                </a:r>
                <a:r>
                  <a:rPr lang="en-US" sz="2400" spc="-15" dirty="0">
                    <a:latin typeface="Times New Roman"/>
                    <a:cs typeface="Times New Roman"/>
                  </a:rPr>
                  <a:t>b</a:t>
                </a:r>
                <a:r>
                  <a:rPr lang="en-US" sz="2400" spc="-20" dirty="0">
                    <a:latin typeface="Times New Roman"/>
                    <a:cs typeface="Times New Roman"/>
                  </a:rPr>
                  <a:t>e</a:t>
                </a:r>
                <a:r>
                  <a:rPr lang="en-US" sz="2400" dirty="0">
                    <a:latin typeface="Times New Roman"/>
                    <a:cs typeface="Times New Roman"/>
                  </a:rPr>
                  <a:t>s</a:t>
                </a:r>
                <a:r>
                  <a:rPr lang="en-US" sz="2400" spc="-10" dirty="0">
                    <a:latin typeface="Times New Roman"/>
                    <a:cs typeface="Times New Roman"/>
                  </a:rPr>
                  <a:t>t</a:t>
                </a:r>
                <a:r>
                  <a:rPr lang="en-US" sz="2400" dirty="0">
                    <a:latin typeface="Times New Roman"/>
                    <a:cs typeface="Times New Roman"/>
                  </a:rPr>
                  <a:t> </a:t>
                </a:r>
                <a:r>
                  <a:rPr lang="en-US" sz="2400" spc="-10" dirty="0">
                    <a:latin typeface="Times New Roman"/>
                    <a:cs typeface="Times New Roman"/>
                  </a:rPr>
                  <a:t>r</a:t>
                </a:r>
                <a:r>
                  <a:rPr lang="en-US" sz="2400" spc="-20" dirty="0">
                    <a:latin typeface="Times New Roman"/>
                    <a:cs typeface="Times New Roman"/>
                  </a:rPr>
                  <a:t>e</a:t>
                </a:r>
                <a:r>
                  <a:rPr lang="en-US" sz="2400" dirty="0">
                    <a:latin typeface="Times New Roman"/>
                    <a:cs typeface="Times New Roman"/>
                  </a:rPr>
                  <a:t>spons</a:t>
                </a:r>
                <a:r>
                  <a:rPr lang="en-US" sz="2400" spc="-15" dirty="0">
                    <a:latin typeface="Times New Roman"/>
                    <a:cs typeface="Times New Roman"/>
                  </a:rPr>
                  <a:t>e</a:t>
                </a:r>
                <a:r>
                  <a:rPr lang="en-US" sz="2400" spc="-5" dirty="0">
                    <a:latin typeface="Times New Roman"/>
                    <a:cs typeface="Times New Roman"/>
                  </a:rPr>
                  <a:t> </a:t>
                </a:r>
                <a:r>
                  <a:rPr lang="en-US" sz="2400" spc="-10" dirty="0">
                    <a:latin typeface="Times New Roman"/>
                    <a:cs typeface="Times New Roman"/>
                  </a:rPr>
                  <a:t>t</a:t>
                </a:r>
                <a:r>
                  <a:rPr lang="en-US" sz="2400" dirty="0">
                    <a:latin typeface="Times New Roman"/>
                    <a:cs typeface="Times New Roman"/>
                  </a:rPr>
                  <a:t>o </a:t>
                </a:r>
                <a:r>
                  <a:rPr lang="en-US" sz="2550" i="1" spc="-105" dirty="0">
                    <a:latin typeface="Times New Roman"/>
                    <a:cs typeface="Times New Roman"/>
                  </a:rPr>
                  <a:t>a</a:t>
                </a:r>
                <a:r>
                  <a:rPr lang="en-US" sz="2700" spc="352" baseline="-20061" dirty="0">
                    <a:latin typeface="Cambria"/>
                    <a:cs typeface="Cambria"/>
                  </a:rPr>
                  <a:t>−</a:t>
                </a:r>
                <a:r>
                  <a:rPr lang="en-US" sz="2700" i="1" baseline="-20061" dirty="0">
                    <a:latin typeface="Times New Roman"/>
                    <a:cs typeface="Times New Roman"/>
                  </a:rPr>
                  <a:t>i</a:t>
                </a:r>
                <a:r>
                  <a:rPr lang="en-US" sz="2700" i="1" spc="225" baseline="-20061" dirty="0">
                    <a:latin typeface="Times New Roman"/>
                    <a:cs typeface="Times New Roman"/>
                  </a:rPr>
                  <a:t> </a:t>
                </a:r>
                <a:r>
                  <a:rPr lang="en-US" sz="2400" spc="-10" dirty="0">
                    <a:latin typeface="Times New Roman"/>
                    <a:cs typeface="Times New Roman"/>
                  </a:rPr>
                  <a:t>i</a:t>
                </a:r>
                <a:r>
                  <a:rPr lang="en-US" sz="2400" dirty="0">
                    <a:latin typeface="Times New Roman"/>
                    <a:cs typeface="Times New Roman"/>
                  </a:rPr>
                  <a:t>s:</a:t>
                </a:r>
              </a:p>
              <a:p>
                <a:pPr>
                  <a:lnSpc>
                    <a:spcPct val="100000"/>
                  </a:lnSpc>
                  <a:spcBef>
                    <a:spcPts val="36"/>
                  </a:spcBef>
                </a:pPr>
                <a:endParaRPr lang="en-US" sz="2400" dirty="0">
                  <a:latin typeface="Times New Roman"/>
                  <a:cs typeface="Times New Roman"/>
                </a:endParaRPr>
              </a:p>
              <a:p>
                <a:pPr marL="12700">
                  <a:lnSpc>
                    <a:spcPct val="100000"/>
                  </a:lnSpc>
                  <a:tabLst>
                    <a:tab pos="2245995" algn="l"/>
                  </a:tabLst>
                </a:pPr>
                <a:r>
                  <a:rPr lang="en-US" sz="2550" i="1" spc="-160" dirty="0">
                    <a:latin typeface="Times New Roman"/>
                    <a:cs typeface="Times New Roman"/>
                  </a:rPr>
                  <a:t>a</a:t>
                </a:r>
                <a:r>
                  <a:rPr lang="en-US" sz="2700" i="1" spc="-540" baseline="-30864" dirty="0">
                    <a:latin typeface="Times New Roman"/>
                    <a:cs typeface="Times New Roman"/>
                  </a:rPr>
                  <a:t>i</a:t>
                </a:r>
                <a:r>
                  <a:rPr lang="en-US" sz="2550" spc="170" dirty="0">
                    <a:latin typeface="Garamond"/>
                    <a:cs typeface="Garamond"/>
                  </a:rPr>
                  <a:t>*</a:t>
                </a:r>
                <a:r>
                  <a:rPr lang="en-US" sz="2550" spc="65" dirty="0">
                    <a:latin typeface="Garamond"/>
                    <a:cs typeface="Garamond"/>
                  </a:rPr>
                  <a:t> </a:t>
                </a:r>
                <a:r>
                  <a:rPr lang="en-US" sz="2550" spc="140" dirty="0">
                    <a:latin typeface="Cambria"/>
                    <a:cs typeface="Cambria"/>
                  </a:rPr>
                  <a:t>∈</a:t>
                </a:r>
                <a:r>
                  <a:rPr lang="en-US" sz="2550" spc="145" dirty="0">
                    <a:latin typeface="Cambria"/>
                    <a:cs typeface="Cambria"/>
                  </a:rPr>
                  <a:t> </a:t>
                </a:r>
                <a:r>
                  <a:rPr lang="en-US" sz="2550" i="1" spc="-20" dirty="0">
                    <a:latin typeface="Times New Roman"/>
                    <a:cs typeface="Times New Roman"/>
                  </a:rPr>
                  <a:t>BR</a:t>
                </a:r>
                <a:r>
                  <a:rPr lang="en-US" sz="2550" spc="95" dirty="0">
                    <a:latin typeface="Garamond"/>
                    <a:cs typeface="Garamond"/>
                  </a:rPr>
                  <a:t>(</a:t>
                </a:r>
                <a:r>
                  <a:rPr lang="en-US" sz="2550" i="1" spc="-105" dirty="0">
                    <a:latin typeface="Times New Roman"/>
                    <a:cs typeface="Times New Roman"/>
                  </a:rPr>
                  <a:t>a</a:t>
                </a:r>
                <a:r>
                  <a:rPr lang="en-US" sz="2700" spc="352" baseline="-20061" dirty="0">
                    <a:latin typeface="Cambria"/>
                    <a:cs typeface="Cambria"/>
                  </a:rPr>
                  <a:t>−</a:t>
                </a:r>
                <a:r>
                  <a:rPr lang="en-US" sz="2700" i="1" baseline="-20061" dirty="0">
                    <a:latin typeface="Times New Roman"/>
                    <a:cs typeface="Times New Roman"/>
                  </a:rPr>
                  <a:t>i</a:t>
                </a:r>
                <a:r>
                  <a:rPr lang="en-US" sz="2550" spc="95" dirty="0">
                    <a:latin typeface="Garamond"/>
                    <a:cs typeface="Garamond"/>
                  </a:rPr>
                  <a:t>)</a:t>
                </a:r>
                <a:r>
                  <a:rPr lang="en-US" sz="2550" spc="204" dirty="0">
                    <a:latin typeface="Garamond"/>
                    <a:cs typeface="Garamond"/>
                  </a:rPr>
                  <a:t> </a:t>
                </a:r>
                <a:r>
                  <a:rPr lang="en-US" sz="2550" spc="120" dirty="0">
                    <a:latin typeface="Garamond"/>
                    <a:cs typeface="Garamond"/>
                  </a:rPr>
                  <a:t>i</a:t>
                </a:r>
                <a:r>
                  <a:rPr lang="en-US" sz="2550" spc="-20" dirty="0">
                    <a:latin typeface="Cambria"/>
                    <a:cs typeface="Cambria"/>
                  </a:rPr>
                  <a:t>ﬀ</a:t>
                </a:r>
                <a:r>
                  <a:rPr lang="en-US" sz="2550" dirty="0">
                    <a:latin typeface="Cambria"/>
                    <a:cs typeface="Cambria"/>
                  </a:rPr>
                  <a:t>	</a:t>
                </a:r>
                <a:r>
                  <a:rPr lang="en-US" sz="2550" spc="-55" dirty="0">
                    <a:latin typeface="Cambria"/>
                    <a:cs typeface="Cambria"/>
                  </a:rPr>
                  <a:t>∀</a:t>
                </a:r>
                <a:r>
                  <a:rPr lang="en-US" sz="2550" i="1" spc="-105" dirty="0">
                    <a:latin typeface="Times New Roman"/>
                    <a:cs typeface="Times New Roman"/>
                  </a:rPr>
                  <a:t>a</a:t>
                </a:r>
                <a:r>
                  <a:rPr lang="en-US" sz="2700" i="1" baseline="-20061" dirty="0">
                    <a:latin typeface="Times New Roman"/>
                    <a:cs typeface="Times New Roman"/>
                  </a:rPr>
                  <a:t>i </a:t>
                </a:r>
                <a:r>
                  <a:rPr lang="en-US" sz="2700" i="1" spc="-292" baseline="-20061" dirty="0">
                    <a:latin typeface="Times New Roman"/>
                    <a:cs typeface="Times New Roman"/>
                  </a:rPr>
                  <a:t> </a:t>
                </a:r>
                <a:r>
                  <a:rPr lang="en-US" sz="2550" spc="140" dirty="0">
                    <a:latin typeface="Cambria"/>
                    <a:cs typeface="Cambria"/>
                  </a:rPr>
                  <a:t>∈</a:t>
                </a:r>
                <a:r>
                  <a:rPr lang="en-US" sz="2550" spc="220" dirty="0">
                    <a:latin typeface="Cambria"/>
                    <a:cs typeface="Cambria"/>
                  </a:rPr>
                  <a:t> </a:t>
                </a:r>
                <a:r>
                  <a:rPr lang="en-US" sz="2550" i="1" spc="-110" dirty="0">
                    <a:latin typeface="Times New Roman"/>
                    <a:cs typeface="Times New Roman"/>
                  </a:rPr>
                  <a:t>A</a:t>
                </a:r>
                <a:r>
                  <a:rPr lang="en-US" sz="2700" i="1" baseline="-20061" dirty="0">
                    <a:latin typeface="Times New Roman"/>
                    <a:cs typeface="Times New Roman"/>
                  </a:rPr>
                  <a:t>i</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u</a:t>
                </a:r>
                <a:r>
                  <a:rPr lang="en-US" sz="2700" i="1" baseline="-20061" dirty="0">
                    <a:latin typeface="Times New Roman"/>
                    <a:cs typeface="Times New Roman"/>
                  </a:rPr>
                  <a:t>i</a:t>
                </a:r>
                <a:r>
                  <a:rPr lang="en-US" sz="2550" spc="95" dirty="0">
                    <a:latin typeface="Garamond"/>
                    <a:cs typeface="Garamond"/>
                  </a:rPr>
                  <a:t>(</a:t>
                </a:r>
                <a:r>
                  <a:rPr lang="en-US" sz="2550" i="1" spc="-160" dirty="0">
                    <a:latin typeface="Times New Roman"/>
                    <a:cs typeface="Times New Roman"/>
                  </a:rPr>
                  <a:t>a</a:t>
                </a:r>
                <a:r>
                  <a:rPr lang="en-US" sz="2700" i="1" spc="-540" baseline="-30864" dirty="0">
                    <a:latin typeface="Times New Roman"/>
                    <a:cs typeface="Times New Roman"/>
                  </a:rPr>
                  <a:t>i</a:t>
                </a:r>
                <a:r>
                  <a:rPr lang="en-US" sz="2550" spc="170" dirty="0">
                    <a:latin typeface="Garamond"/>
                    <a:cs typeface="Garamond"/>
                  </a:rPr>
                  <a:t>*</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a</a:t>
                </a:r>
                <a:r>
                  <a:rPr lang="en-US" sz="2700" spc="352" baseline="-20061" dirty="0">
                    <a:latin typeface="Cambria"/>
                    <a:cs typeface="Cambria"/>
                  </a:rPr>
                  <a:t>−</a:t>
                </a:r>
                <a:r>
                  <a:rPr lang="en-US" sz="2700" i="1" baseline="-20061" dirty="0">
                    <a:latin typeface="Times New Roman"/>
                    <a:cs typeface="Times New Roman"/>
                  </a:rPr>
                  <a:t>i</a:t>
                </a:r>
                <a:r>
                  <a:rPr lang="en-US" sz="2550" spc="95" dirty="0">
                    <a:latin typeface="Garamond"/>
                    <a:cs typeface="Garamond"/>
                  </a:rPr>
                  <a:t>)</a:t>
                </a:r>
                <a:r>
                  <a:rPr lang="en-US" sz="2550" spc="65" dirty="0">
                    <a:latin typeface="Garamond"/>
                    <a:cs typeface="Garamond"/>
                  </a:rPr>
                  <a:t> </a:t>
                </a:r>
                <a:r>
                  <a:rPr lang="en-US" sz="2550" spc="325" dirty="0">
                    <a:latin typeface="Cambria"/>
                    <a:cs typeface="Cambria"/>
                  </a:rPr>
                  <a:t>≥</a:t>
                </a:r>
                <a:r>
                  <a:rPr lang="en-US" sz="2550" spc="145" dirty="0">
                    <a:latin typeface="Cambria"/>
                    <a:cs typeface="Cambria"/>
                  </a:rPr>
                  <a:t> </a:t>
                </a:r>
                <a:r>
                  <a:rPr lang="en-US" sz="2550" i="1" spc="-105" dirty="0">
                    <a:latin typeface="Times New Roman"/>
                    <a:cs typeface="Times New Roman"/>
                  </a:rPr>
                  <a:t>u</a:t>
                </a:r>
                <a:r>
                  <a:rPr lang="en-US" sz="2700" i="1" baseline="-20061" dirty="0">
                    <a:latin typeface="Times New Roman"/>
                    <a:cs typeface="Times New Roman"/>
                  </a:rPr>
                  <a:t>i</a:t>
                </a:r>
                <a:r>
                  <a:rPr lang="en-US" sz="2550" spc="95" dirty="0">
                    <a:latin typeface="Garamond"/>
                    <a:cs typeface="Garamond"/>
                  </a:rPr>
                  <a:t>(</a:t>
                </a:r>
                <a:r>
                  <a:rPr lang="en-US" sz="2550" i="1" spc="-105" dirty="0">
                    <a:latin typeface="Times New Roman"/>
                    <a:cs typeface="Times New Roman"/>
                  </a:rPr>
                  <a:t>a</a:t>
                </a:r>
                <a:r>
                  <a:rPr lang="en-US" sz="2700" i="1" baseline="-20061" dirty="0">
                    <a:latin typeface="Times New Roman"/>
                    <a:cs typeface="Times New Roman"/>
                  </a:rPr>
                  <a:t>i</a:t>
                </a:r>
                <a:r>
                  <a:rPr lang="en-US" sz="2550" spc="70" dirty="0">
                    <a:latin typeface="Garamond"/>
                    <a:cs typeface="Garamond"/>
                  </a:rPr>
                  <a:t>,</a:t>
                </a:r>
                <a:r>
                  <a:rPr lang="en-US" sz="2550" spc="-215" dirty="0">
                    <a:latin typeface="Garamond"/>
                    <a:cs typeface="Garamond"/>
                  </a:rPr>
                  <a:t> </a:t>
                </a:r>
                <a:r>
                  <a:rPr lang="en-US" sz="2550" i="1" spc="-105" dirty="0">
                    <a:latin typeface="Times New Roman"/>
                    <a:cs typeface="Times New Roman"/>
                  </a:rPr>
                  <a:t>a</a:t>
                </a:r>
                <a:r>
                  <a:rPr lang="en-US" sz="2700" spc="352" baseline="-20061" dirty="0">
                    <a:latin typeface="Cambria"/>
                    <a:cs typeface="Cambria"/>
                  </a:rPr>
                  <a:t>−</a:t>
                </a:r>
                <a:r>
                  <a:rPr lang="en-US" sz="2700" i="1" baseline="-20061" dirty="0">
                    <a:latin typeface="Times New Roman"/>
                    <a:cs typeface="Times New Roman"/>
                  </a:rPr>
                  <a:t>i</a:t>
                </a:r>
                <a:r>
                  <a:rPr lang="en-US" sz="2550" spc="95" dirty="0">
                    <a:latin typeface="Garamond"/>
                    <a:cs typeface="Garamond"/>
                  </a:rPr>
                  <a:t>)</a:t>
                </a:r>
                <a:endParaRPr sz="2550" dirty="0">
                  <a:latin typeface="Garamond"/>
                  <a:cs typeface="Garamond"/>
                </a:endParaRPr>
              </a:p>
            </p:txBody>
          </p:sp>
        </mc:Choice>
        <mc:Fallback xmlns="">
          <p:sp>
            <p:nvSpPr>
              <p:cNvPr id="7" name="object 7"/>
              <p:cNvSpPr txBox="1">
                <a:spLocks noRot="1" noChangeAspect="1" noMove="1" noResize="1" noEditPoints="1" noAdjustHandles="1" noChangeArrowheads="1" noChangeShapeType="1" noTextEdit="1"/>
              </p:cNvSpPr>
              <p:nvPr/>
            </p:nvSpPr>
            <p:spPr>
              <a:xfrm>
                <a:off x="468585" y="1632714"/>
                <a:ext cx="8043665" cy="4788234"/>
              </a:xfrm>
              <a:prstGeom prst="rect">
                <a:avLst/>
              </a:prstGeom>
              <a:blipFill>
                <a:blip r:embed="rId3"/>
                <a:stretch>
                  <a:fillRect l="-2350" t="-2420" b="-3439"/>
                </a:stretch>
              </a:blipFill>
            </p:spPr>
            <p:txBody>
              <a:bodyPr/>
              <a:lstStyle/>
              <a:p>
                <a:r>
                  <a:rPr lang="en-MY">
                    <a:noFill/>
                  </a:rPr>
                  <a:t> </a:t>
                </a:r>
              </a:p>
            </p:txBody>
          </p:sp>
        </mc:Fallback>
      </mc:AlternateContent>
      <p:sp>
        <p:nvSpPr>
          <p:cNvPr id="8" name="Slide Number Placeholder 8">
            <a:extLst>
              <a:ext uri="{FF2B5EF4-FFF2-40B4-BE49-F238E27FC236}">
                <a16:creationId xmlns:a16="http://schemas.microsoft.com/office/drawing/2014/main" id="{8FBA3211-6739-3059-DB4B-6E259B80BBC9}"/>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16</a:t>
            </a:fld>
            <a:r>
              <a:rPr lang="en-US" sz="2000" dirty="0">
                <a:solidFill>
                  <a:prstClr val="black"/>
                </a:solidFill>
                <a:latin typeface="Comic Sans MS"/>
                <a:sym typeface="Comic Sans MS"/>
              </a:rPr>
              <a:t>/46</a:t>
            </a:r>
          </a:p>
        </p:txBody>
      </p:sp>
      <p:sp>
        <p:nvSpPr>
          <p:cNvPr id="9" name="Footer Placeholder 9">
            <a:extLst>
              <a:ext uri="{FF2B5EF4-FFF2-40B4-BE49-F238E27FC236}">
                <a16:creationId xmlns:a16="http://schemas.microsoft.com/office/drawing/2014/main" id="{F4A13BF7-05B6-19B2-0530-5238A8BF5112}"/>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 name="Rectangle 9">
            <a:extLst>
              <a:ext uri="{FF2B5EF4-FFF2-40B4-BE49-F238E27FC236}">
                <a16:creationId xmlns:a16="http://schemas.microsoft.com/office/drawing/2014/main" id="{6DDFC9EE-A1BC-2984-B8EC-5B5701849C81}"/>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1" name="Rectangle 10">
            <a:extLst>
              <a:ext uri="{FF2B5EF4-FFF2-40B4-BE49-F238E27FC236}">
                <a16:creationId xmlns:a16="http://schemas.microsoft.com/office/drawing/2014/main" id="{117E1CB3-D7EF-F542-937E-9C71EBD1C11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8703B6B3-1A78-ADFA-2050-89F69627BC4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Players</a:t>
            </a:r>
            <a:r>
              <a:rPr spc="-5" dirty="0"/>
              <a:t> </a:t>
            </a:r>
            <a:r>
              <a:rPr dirty="0"/>
              <a:t>in</a:t>
            </a:r>
            <a:r>
              <a:rPr spc="-5" dirty="0"/>
              <a:t> </a:t>
            </a:r>
            <a:r>
              <a:rPr dirty="0"/>
              <a:t>equilibrium</a:t>
            </a:r>
          </a:p>
        </p:txBody>
      </p:sp>
      <p:sp>
        <p:nvSpPr>
          <p:cNvPr id="6" name="object 6"/>
          <p:cNvSpPr txBox="1"/>
          <p:nvPr/>
        </p:nvSpPr>
        <p:spPr>
          <a:xfrm>
            <a:off x="472849" y="2412023"/>
            <a:ext cx="8042501" cy="738664"/>
          </a:xfrm>
          <a:prstGeom prst="rect">
            <a:avLst/>
          </a:prstGeom>
        </p:spPr>
        <p:txBody>
          <a:bodyPr vert="horz" wrap="square" lIns="0" tIns="0" rIns="0" bIns="0" rtlCol="0">
            <a:spAutoFit/>
          </a:bodyPr>
          <a:lstStyle/>
          <a:p>
            <a:pPr marL="12700">
              <a:lnSpc>
                <a:spcPct val="100000"/>
              </a:lnSpc>
            </a:pPr>
            <a:r>
              <a:rPr lang="en-US" sz="2400" spc="-10" dirty="0">
                <a:latin typeface="Times New Roman"/>
                <a:cs typeface="Times New Roman"/>
              </a:rPr>
              <a:t>I</a:t>
            </a:r>
            <a:r>
              <a:rPr sz="2400" spc="-10" dirty="0">
                <a:latin typeface="Times New Roman"/>
                <a:cs typeface="Times New Roman"/>
              </a:rPr>
              <a:t>f </a:t>
            </a:r>
            <a:r>
              <a:rPr sz="2400" b="1" spc="-10" dirty="0">
                <a:latin typeface="Times New Roman"/>
                <a:cs typeface="Times New Roman"/>
              </a:rPr>
              <a:t>no pl</a:t>
            </a:r>
            <a:r>
              <a:rPr sz="2400" b="1" spc="-20" dirty="0">
                <a:latin typeface="Times New Roman"/>
                <a:cs typeface="Times New Roman"/>
              </a:rPr>
              <a:t>a</a:t>
            </a:r>
            <a:r>
              <a:rPr sz="2400" b="1" spc="-15" dirty="0">
                <a:latin typeface="Times New Roman"/>
                <a:cs typeface="Times New Roman"/>
              </a:rPr>
              <a:t>y</a:t>
            </a:r>
            <a:r>
              <a:rPr sz="2400" b="1" spc="-20" dirty="0">
                <a:latin typeface="Times New Roman"/>
                <a:cs typeface="Times New Roman"/>
              </a:rPr>
              <a:t>e</a:t>
            </a:r>
            <a:r>
              <a:rPr sz="2400" b="1" dirty="0">
                <a:latin typeface="Times New Roman"/>
                <a:cs typeface="Times New Roman"/>
              </a:rPr>
              <a:t>r </a:t>
            </a:r>
            <a:r>
              <a:rPr sz="2400" b="1" spc="-15" dirty="0">
                <a:latin typeface="Times New Roman"/>
                <a:cs typeface="Times New Roman"/>
              </a:rPr>
              <a:t>h</a:t>
            </a:r>
            <a:r>
              <a:rPr sz="2400" b="1" spc="-20" dirty="0">
                <a:latin typeface="Times New Roman"/>
                <a:cs typeface="Times New Roman"/>
              </a:rPr>
              <a:t>a</a:t>
            </a:r>
            <a:r>
              <a:rPr sz="2400" b="1" dirty="0">
                <a:latin typeface="Times New Roman"/>
                <a:cs typeface="Times New Roman"/>
              </a:rPr>
              <a:t>s </a:t>
            </a:r>
            <a:r>
              <a:rPr sz="2400" b="1" spc="-15" dirty="0">
                <a:latin typeface="Times New Roman"/>
                <a:cs typeface="Times New Roman"/>
              </a:rPr>
              <a:t>a</a:t>
            </a:r>
            <a:r>
              <a:rPr sz="2400" b="1" spc="-5" dirty="0">
                <a:latin typeface="Times New Roman"/>
                <a:cs typeface="Times New Roman"/>
              </a:rPr>
              <a:t> </a:t>
            </a:r>
            <a:r>
              <a:rPr sz="2400" b="1" spc="-10" dirty="0">
                <a:latin typeface="Times New Roman"/>
                <a:cs typeface="Times New Roman"/>
              </a:rPr>
              <a:t>unil</a:t>
            </a:r>
            <a:r>
              <a:rPr sz="2400" b="1" spc="-20" dirty="0">
                <a:latin typeface="Times New Roman"/>
                <a:cs typeface="Times New Roman"/>
              </a:rPr>
              <a:t>a</a:t>
            </a:r>
            <a:r>
              <a:rPr sz="2400" b="1" spc="-10" dirty="0">
                <a:latin typeface="Times New Roman"/>
                <a:cs typeface="Times New Roman"/>
              </a:rPr>
              <a:t>t</a:t>
            </a:r>
            <a:r>
              <a:rPr sz="2400" b="1" spc="-20" dirty="0">
                <a:latin typeface="Times New Roman"/>
                <a:cs typeface="Times New Roman"/>
              </a:rPr>
              <a:t>e</a:t>
            </a:r>
            <a:r>
              <a:rPr sz="2400" b="1" spc="-10" dirty="0">
                <a:latin typeface="Times New Roman"/>
                <a:cs typeface="Times New Roman"/>
              </a:rPr>
              <a:t>r</a:t>
            </a:r>
            <a:r>
              <a:rPr sz="2400" b="1" spc="-20" dirty="0">
                <a:latin typeface="Times New Roman"/>
                <a:cs typeface="Times New Roman"/>
              </a:rPr>
              <a:t>a</a:t>
            </a:r>
            <a:r>
              <a:rPr sz="2400" b="1" spc="-10" dirty="0">
                <a:latin typeface="Times New Roman"/>
                <a:cs typeface="Times New Roman"/>
              </a:rPr>
              <a:t>l</a:t>
            </a:r>
            <a:r>
              <a:rPr sz="2400" b="1" dirty="0">
                <a:latin typeface="Times New Roman"/>
                <a:cs typeface="Times New Roman"/>
              </a:rPr>
              <a:t> </a:t>
            </a:r>
            <a:r>
              <a:rPr sz="2400" b="1" spc="-10" dirty="0">
                <a:latin typeface="Times New Roman"/>
                <a:cs typeface="Times New Roman"/>
              </a:rPr>
              <a:t>in</a:t>
            </a:r>
            <a:r>
              <a:rPr sz="2400" b="1" spc="-20" dirty="0">
                <a:latin typeface="Times New Roman"/>
                <a:cs typeface="Times New Roman"/>
              </a:rPr>
              <a:t>ce</a:t>
            </a:r>
            <a:r>
              <a:rPr sz="2400" b="1" spc="-10" dirty="0">
                <a:latin typeface="Times New Roman"/>
                <a:cs typeface="Times New Roman"/>
              </a:rPr>
              <a:t>ntive</a:t>
            </a:r>
            <a:r>
              <a:rPr sz="2400" b="1" spc="-5" dirty="0">
                <a:latin typeface="Times New Roman"/>
                <a:cs typeface="Times New Roman"/>
              </a:rPr>
              <a:t> </a:t>
            </a:r>
            <a:r>
              <a:rPr sz="2400" b="1" spc="-10" dirty="0">
                <a:latin typeface="Times New Roman"/>
                <a:cs typeface="Times New Roman"/>
              </a:rPr>
              <a:t>t</a:t>
            </a:r>
            <a:r>
              <a:rPr sz="2400" b="1" dirty="0">
                <a:latin typeface="Times New Roman"/>
                <a:cs typeface="Times New Roman"/>
              </a:rPr>
              <a:t>o </a:t>
            </a:r>
            <a:r>
              <a:rPr sz="2400" b="1" spc="-20" dirty="0">
                <a:latin typeface="Times New Roman"/>
                <a:cs typeface="Times New Roman"/>
              </a:rPr>
              <a:t>c</a:t>
            </a:r>
            <a:r>
              <a:rPr sz="2400" b="1" spc="-15" dirty="0">
                <a:latin typeface="Times New Roman"/>
                <a:cs typeface="Times New Roman"/>
              </a:rPr>
              <a:t>h</a:t>
            </a:r>
            <a:r>
              <a:rPr sz="2400" b="1" spc="-20" dirty="0">
                <a:latin typeface="Times New Roman"/>
                <a:cs typeface="Times New Roman"/>
              </a:rPr>
              <a:t>a</a:t>
            </a:r>
            <a:r>
              <a:rPr sz="2400" b="1" spc="-15" dirty="0">
                <a:latin typeface="Times New Roman"/>
                <a:cs typeface="Times New Roman"/>
              </a:rPr>
              <a:t>nge</a:t>
            </a:r>
            <a:r>
              <a:rPr sz="2400" b="1" spc="-5" dirty="0">
                <a:latin typeface="Times New Roman"/>
                <a:cs typeface="Times New Roman"/>
              </a:rPr>
              <a:t> </a:t>
            </a:r>
            <a:r>
              <a:rPr sz="2400" b="1" spc="-10" dirty="0">
                <a:latin typeface="Times New Roman"/>
                <a:cs typeface="Times New Roman"/>
              </a:rPr>
              <a:t>th</a:t>
            </a:r>
            <a:r>
              <a:rPr sz="2400" b="1" spc="-20" dirty="0">
                <a:latin typeface="Times New Roman"/>
                <a:cs typeface="Times New Roman"/>
              </a:rPr>
              <a:t>e</a:t>
            </a:r>
            <a:r>
              <a:rPr sz="2400" b="1" spc="-10" dirty="0">
                <a:latin typeface="Times New Roman"/>
                <a:cs typeface="Times New Roman"/>
              </a:rPr>
              <a:t>i</a:t>
            </a:r>
            <a:r>
              <a:rPr sz="2400" b="1" dirty="0">
                <a:latin typeface="Times New Roman"/>
                <a:cs typeface="Times New Roman"/>
              </a:rPr>
              <a:t>r s</a:t>
            </a:r>
            <a:r>
              <a:rPr sz="2400" b="1" spc="-10" dirty="0">
                <a:latin typeface="Times New Roman"/>
                <a:cs typeface="Times New Roman"/>
              </a:rPr>
              <a:t>tr</a:t>
            </a:r>
            <a:r>
              <a:rPr sz="2400" b="1" spc="-20" dirty="0">
                <a:latin typeface="Times New Roman"/>
                <a:cs typeface="Times New Roman"/>
              </a:rPr>
              <a:t>a</a:t>
            </a:r>
            <a:r>
              <a:rPr sz="2400" b="1" spc="-10" dirty="0">
                <a:latin typeface="Times New Roman"/>
                <a:cs typeface="Times New Roman"/>
              </a:rPr>
              <a:t>t</a:t>
            </a:r>
            <a:r>
              <a:rPr sz="2400" b="1" spc="-20" dirty="0">
                <a:latin typeface="Times New Roman"/>
                <a:cs typeface="Times New Roman"/>
              </a:rPr>
              <a:t>e</a:t>
            </a:r>
            <a:r>
              <a:rPr sz="2400" b="1" dirty="0">
                <a:latin typeface="Times New Roman"/>
                <a:cs typeface="Times New Roman"/>
              </a:rPr>
              <a:t>gy</a:t>
            </a:r>
            <a:r>
              <a:rPr lang="en-US" sz="2400" dirty="0">
                <a:latin typeface="Times New Roman"/>
                <a:cs typeface="Times New Roman"/>
              </a:rPr>
              <a:t>,</a:t>
            </a:r>
            <a:endParaRPr sz="2500" dirty="0">
              <a:latin typeface="Times New Roman"/>
              <a:cs typeface="Times New Roman"/>
            </a:endParaRPr>
          </a:p>
          <a:p>
            <a:pPr marL="12700">
              <a:lnSpc>
                <a:spcPct val="100000"/>
              </a:lnSpc>
            </a:pPr>
            <a:r>
              <a:rPr sz="2400" dirty="0">
                <a:latin typeface="Times New Roman"/>
                <a:cs typeface="Times New Roman"/>
              </a:rPr>
              <a:t>w</a:t>
            </a:r>
            <a:r>
              <a:rPr sz="2400" spc="-15" dirty="0">
                <a:latin typeface="Times New Roman"/>
                <a:cs typeface="Times New Roman"/>
              </a:rPr>
              <a:t>e</a:t>
            </a:r>
            <a:r>
              <a:rPr sz="2400" spc="-5" dirty="0">
                <a:latin typeface="Times New Roman"/>
                <a:cs typeface="Times New Roman"/>
              </a:rPr>
              <a:t> </a:t>
            </a:r>
            <a:r>
              <a:rPr sz="2400" dirty="0">
                <a:latin typeface="Times New Roman"/>
                <a:cs typeface="Times New Roman"/>
              </a:rPr>
              <a:t>s</a:t>
            </a:r>
            <a:r>
              <a:rPr sz="2400" spc="-20" dirty="0">
                <a:latin typeface="Times New Roman"/>
                <a:cs typeface="Times New Roman"/>
              </a:rPr>
              <a:t>a</a:t>
            </a:r>
            <a:r>
              <a:rPr sz="2400" dirty="0">
                <a:latin typeface="Times New Roman"/>
                <a:cs typeface="Times New Roman"/>
              </a:rPr>
              <a:t>y </a:t>
            </a:r>
            <a:r>
              <a:rPr sz="2400" spc="-10" dirty="0">
                <a:latin typeface="Times New Roman"/>
                <a:cs typeface="Times New Roman"/>
              </a:rPr>
              <a:t>th</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rs us</a:t>
            </a:r>
            <a:r>
              <a:rPr sz="2400" spc="-15" dirty="0">
                <a:latin typeface="Times New Roman"/>
                <a:cs typeface="Times New Roman"/>
              </a:rPr>
              <a:t>e</a:t>
            </a:r>
            <a:r>
              <a:rPr sz="2400" spc="-5" dirty="0">
                <a:latin typeface="Times New Roman"/>
                <a:cs typeface="Times New Roman"/>
              </a:rPr>
              <a:t> </a:t>
            </a:r>
            <a:r>
              <a:rPr sz="2400" dirty="0">
                <a:latin typeface="Times New Roman"/>
                <a:cs typeface="Times New Roman"/>
              </a:rPr>
              <a:t>s</a:t>
            </a:r>
            <a:r>
              <a:rPr sz="2400" spc="-10" dirty="0">
                <a:latin typeface="Times New Roman"/>
                <a:cs typeface="Times New Roman"/>
              </a:rPr>
              <a:t>tr</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e</a:t>
            </a:r>
            <a:r>
              <a:rPr sz="2400" spc="-10" dirty="0">
                <a:latin typeface="Times New Roman"/>
                <a:cs typeface="Times New Roman"/>
              </a:rPr>
              <a:t>gi</a:t>
            </a:r>
            <a:r>
              <a:rPr sz="2400" spc="-20" dirty="0">
                <a:latin typeface="Times New Roman"/>
                <a:cs typeface="Times New Roman"/>
              </a:rPr>
              <a:t>e</a:t>
            </a:r>
            <a:r>
              <a:rPr sz="2400" dirty="0">
                <a:latin typeface="Times New Roman"/>
                <a:cs typeface="Times New Roman"/>
              </a:rPr>
              <a:t>s </a:t>
            </a:r>
            <a:r>
              <a:rPr sz="2400" spc="-10" dirty="0">
                <a:latin typeface="Times New Roman"/>
                <a:cs typeface="Times New Roman"/>
              </a:rPr>
              <a:t>i</a:t>
            </a:r>
            <a:r>
              <a:rPr sz="2400" dirty="0">
                <a:latin typeface="Times New Roman"/>
                <a:cs typeface="Times New Roman"/>
              </a:rPr>
              <a:t>n </a:t>
            </a:r>
            <a:r>
              <a:rPr sz="2400" spc="-20" dirty="0">
                <a:latin typeface="Times New Roman"/>
                <a:cs typeface="Times New Roman"/>
              </a:rPr>
              <a:t>e</a:t>
            </a:r>
            <a:r>
              <a:rPr sz="2400" spc="-15" dirty="0">
                <a:latin typeface="Times New Roman"/>
                <a:cs typeface="Times New Roman"/>
              </a:rPr>
              <a:t>quilibrium</a:t>
            </a:r>
            <a:endParaRPr sz="2400" dirty="0">
              <a:latin typeface="Times New Roman"/>
              <a:cs typeface="Times New Roman"/>
            </a:endParaRPr>
          </a:p>
        </p:txBody>
      </p:sp>
      <p:sp>
        <p:nvSpPr>
          <p:cNvPr id="7" name="Slide Number Placeholder 8">
            <a:extLst>
              <a:ext uri="{FF2B5EF4-FFF2-40B4-BE49-F238E27FC236}">
                <a16:creationId xmlns:a16="http://schemas.microsoft.com/office/drawing/2014/main" id="{E78C65BC-A8C6-765A-3640-0CB15F150FF8}"/>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17</a:t>
            </a:fld>
            <a:r>
              <a:rPr lang="en-US" sz="2000" dirty="0">
                <a:solidFill>
                  <a:prstClr val="black"/>
                </a:solidFill>
                <a:latin typeface="Comic Sans MS"/>
                <a:sym typeface="Comic Sans MS"/>
              </a:rPr>
              <a:t>/46</a:t>
            </a:r>
          </a:p>
        </p:txBody>
      </p:sp>
      <p:sp>
        <p:nvSpPr>
          <p:cNvPr id="8" name="Footer Placeholder 9">
            <a:extLst>
              <a:ext uri="{FF2B5EF4-FFF2-40B4-BE49-F238E27FC236}">
                <a16:creationId xmlns:a16="http://schemas.microsoft.com/office/drawing/2014/main" id="{72C7DE9C-68E8-2C6A-1EE7-EE9D21871AFC}"/>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FC457460-CA9F-DDFC-F545-ABA5713027D3}"/>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0" name="Rectangle 9">
            <a:extLst>
              <a:ext uri="{FF2B5EF4-FFF2-40B4-BE49-F238E27FC236}">
                <a16:creationId xmlns:a16="http://schemas.microsoft.com/office/drawing/2014/main" id="{BA3F693D-E81B-B5BA-3B88-24ECBA76BE26}"/>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8EC3E4AE-9274-B85C-EA8C-2307D801661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9D8D6D6F-22E6-1820-02F7-44413F59BE1D}"/>
              </a:ext>
            </a:extLst>
          </p:cNvPr>
          <p:cNvSpPr txBox="1"/>
          <p:nvPr/>
        </p:nvSpPr>
        <p:spPr>
          <a:xfrm>
            <a:off x="1097393" y="4055176"/>
            <a:ext cx="6320564" cy="1200329"/>
          </a:xfrm>
          <a:prstGeom prst="rect">
            <a:avLst/>
          </a:prstGeom>
          <a:noFill/>
        </p:spPr>
        <p:txBody>
          <a:bodyPr wrap="square">
            <a:spAutoFit/>
          </a:bodyPr>
          <a:lstStyle/>
          <a:p>
            <a:r>
              <a:rPr lang="en-US" b="0" i="0" dirty="0">
                <a:effectLst/>
                <a:latin typeface="Söhne"/>
              </a:rPr>
              <a:t>Formally, in a game with multiple players, a </a:t>
            </a:r>
            <a:r>
              <a:rPr lang="en-US" b="1" i="0" dirty="0">
                <a:effectLst/>
                <a:latin typeface="Söhne"/>
              </a:rPr>
              <a:t>Nash Equilibrium </a:t>
            </a:r>
            <a:r>
              <a:rPr lang="en-US" b="0" i="0" dirty="0">
                <a:effectLst/>
                <a:latin typeface="Söhne"/>
              </a:rPr>
              <a:t>is a set of strategies (one for each player) where no player can improve their own payoff by unilaterally changing their strategy while keeping the strategies of all other players fixed.</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362075"/>
            <a:ext cx="9144000" cy="5057140"/>
          </a:xfrm>
          <a:custGeom>
            <a:avLst/>
            <a:gdLst/>
            <a:ahLst/>
            <a:cxnLst/>
            <a:rect l="l" t="t" r="r" b="b"/>
            <a:pathLst>
              <a:path w="9144000" h="5057140">
                <a:moveTo>
                  <a:pt x="0" y="0"/>
                </a:moveTo>
                <a:lnTo>
                  <a:pt x="0" y="5056963"/>
                </a:lnTo>
                <a:lnTo>
                  <a:pt x="9144000" y="5056963"/>
                </a:lnTo>
                <a:lnTo>
                  <a:pt x="9144000" y="0"/>
                </a:lnTo>
                <a:lnTo>
                  <a:pt x="0" y="0"/>
                </a:lnTo>
                <a:close/>
              </a:path>
            </a:pathLst>
          </a:custGeom>
          <a:solidFill>
            <a:srgbClr val="E7E7E7"/>
          </a:solidFill>
        </p:spPr>
        <p:txBody>
          <a:bodyPr wrap="square" lIns="0" tIns="0" rIns="0" bIns="0" rtlCol="0"/>
          <a:lstStyle/>
          <a:p>
            <a:endParaRPr/>
          </a:p>
        </p:txBody>
      </p:sp>
      <p:sp>
        <p:nvSpPr>
          <p:cNvPr id="3" name="object 3"/>
          <p:cNvSpPr/>
          <p:nvPr/>
        </p:nvSpPr>
        <p:spPr>
          <a:xfrm>
            <a:off x="2716947" y="5047659"/>
            <a:ext cx="6427470" cy="1810385"/>
          </a:xfrm>
          <a:custGeom>
            <a:avLst/>
            <a:gdLst/>
            <a:ahLst/>
            <a:cxnLst/>
            <a:rect l="l" t="t" r="r" b="b"/>
            <a:pathLst>
              <a:path w="6427470" h="1810384">
                <a:moveTo>
                  <a:pt x="6427052" y="0"/>
                </a:moveTo>
                <a:lnTo>
                  <a:pt x="371415" y="0"/>
                </a:lnTo>
                <a:lnTo>
                  <a:pt x="340953" y="1231"/>
                </a:lnTo>
                <a:lnTo>
                  <a:pt x="282160" y="10794"/>
                </a:lnTo>
                <a:lnTo>
                  <a:pt x="226843" y="29187"/>
                </a:lnTo>
                <a:lnTo>
                  <a:pt x="175769" y="55646"/>
                </a:lnTo>
                <a:lnTo>
                  <a:pt x="129702" y="89406"/>
                </a:lnTo>
                <a:lnTo>
                  <a:pt x="89406" y="129701"/>
                </a:lnTo>
                <a:lnTo>
                  <a:pt x="55646" y="175769"/>
                </a:lnTo>
                <a:lnTo>
                  <a:pt x="29187" y="226843"/>
                </a:lnTo>
                <a:lnTo>
                  <a:pt x="10794" y="282159"/>
                </a:lnTo>
                <a:lnTo>
                  <a:pt x="1231" y="340953"/>
                </a:lnTo>
                <a:lnTo>
                  <a:pt x="0" y="371415"/>
                </a:lnTo>
                <a:lnTo>
                  <a:pt x="0" y="1810340"/>
                </a:lnTo>
                <a:lnTo>
                  <a:pt x="6427052" y="1810340"/>
                </a:lnTo>
                <a:lnTo>
                  <a:pt x="6427052" y="0"/>
                </a:lnTo>
                <a:close/>
              </a:path>
            </a:pathLst>
          </a:custGeom>
          <a:solidFill>
            <a:srgbClr val="E7E7E7"/>
          </a:solidFill>
        </p:spPr>
        <p:txBody>
          <a:bodyPr wrap="square" lIns="0" tIns="0" rIns="0" bIns="0" rtlCol="0"/>
          <a:lstStyle/>
          <a:p>
            <a:endParaRPr/>
          </a:p>
        </p:txBody>
      </p:sp>
      <p:sp>
        <p:nvSpPr>
          <p:cNvPr id="4" name="object 4"/>
          <p:cNvSpPr/>
          <p:nvPr/>
        </p:nvSpPr>
        <p:spPr>
          <a:xfrm>
            <a:off x="0" y="2819166"/>
            <a:ext cx="3655695" cy="4039235"/>
          </a:xfrm>
          <a:custGeom>
            <a:avLst/>
            <a:gdLst/>
            <a:ahLst/>
            <a:cxnLst/>
            <a:rect l="l" t="t" r="r" b="b"/>
            <a:pathLst>
              <a:path w="3655695" h="4039234">
                <a:moveTo>
                  <a:pt x="0" y="4038833"/>
                </a:moveTo>
                <a:lnTo>
                  <a:pt x="3655462" y="4038833"/>
                </a:lnTo>
                <a:lnTo>
                  <a:pt x="3655462" y="0"/>
                </a:lnTo>
                <a:lnTo>
                  <a:pt x="0" y="0"/>
                </a:lnTo>
                <a:lnTo>
                  <a:pt x="0" y="4038833"/>
                </a:lnTo>
                <a:close/>
              </a:path>
            </a:pathLst>
          </a:custGeom>
          <a:solidFill>
            <a:srgbClr val="E7E7E7"/>
          </a:solidFill>
        </p:spPr>
        <p:txBody>
          <a:bodyPr wrap="square" lIns="0" tIns="0" rIns="0" bIns="0" rtlCol="0"/>
          <a:lstStyle/>
          <a:p>
            <a:endParaRPr/>
          </a:p>
        </p:txBody>
      </p:sp>
      <p:sp>
        <p:nvSpPr>
          <p:cNvPr id="5" name="object 5"/>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6" name="object 6"/>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Nash</a:t>
            </a:r>
            <a:r>
              <a:rPr spc="-5" dirty="0"/>
              <a:t> </a:t>
            </a:r>
            <a:r>
              <a:rPr dirty="0"/>
              <a:t>Equilibrium</a:t>
            </a:r>
          </a:p>
        </p:txBody>
      </p:sp>
      <p:sp>
        <p:nvSpPr>
          <p:cNvPr id="7" name="object 7"/>
          <p:cNvSpPr txBox="1"/>
          <p:nvPr/>
        </p:nvSpPr>
        <p:spPr>
          <a:xfrm>
            <a:off x="468585" y="1632714"/>
            <a:ext cx="7762875" cy="4639219"/>
          </a:xfrm>
          <a:prstGeom prst="rect">
            <a:avLst/>
          </a:prstGeom>
        </p:spPr>
        <p:txBody>
          <a:bodyPr vert="horz" wrap="square" lIns="0" tIns="0" rIns="0" bIns="0" rtlCol="0">
            <a:spAutoFit/>
          </a:bodyPr>
          <a:lstStyle/>
          <a:p>
            <a:pPr marL="12700" marR="94615">
              <a:lnSpc>
                <a:spcPct val="100699"/>
              </a:lnSpc>
            </a:pPr>
            <a:r>
              <a:rPr sz="2400" spc="-15" dirty="0">
                <a:latin typeface="Times New Roman"/>
                <a:cs typeface="Times New Roman"/>
              </a:rPr>
              <a:t>But we</a:t>
            </a:r>
            <a:r>
              <a:rPr sz="2400" spc="-5" dirty="0">
                <a:latin typeface="Times New Roman"/>
                <a:cs typeface="Times New Roman"/>
              </a:rPr>
              <a:t> </a:t>
            </a:r>
            <a:r>
              <a:rPr sz="2400" dirty="0">
                <a:latin typeface="Times New Roman"/>
                <a:cs typeface="Times New Roman"/>
              </a:rPr>
              <a:t>don</a:t>
            </a:r>
            <a:r>
              <a:rPr sz="2400" spc="-45" dirty="0">
                <a:latin typeface="Times New Roman"/>
                <a:cs typeface="Times New Roman"/>
              </a:rPr>
              <a:t>’</a:t>
            </a:r>
            <a:r>
              <a:rPr sz="2400" spc="-10" dirty="0">
                <a:latin typeface="Times New Roman"/>
                <a:cs typeface="Times New Roman"/>
              </a:rPr>
              <a:t>t</a:t>
            </a:r>
            <a:r>
              <a:rPr sz="2400" dirty="0">
                <a:latin typeface="Times New Roman"/>
                <a:cs typeface="Times New Roman"/>
              </a:rPr>
              <a:t> know w</a:t>
            </a:r>
            <a:r>
              <a:rPr sz="2400" spc="-15" dirty="0">
                <a:latin typeface="Times New Roman"/>
                <a:cs typeface="Times New Roman"/>
              </a:rPr>
              <a:t>h</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the</a:t>
            </a:r>
            <a:r>
              <a:rPr sz="2400" spc="-5" dirty="0">
                <a:latin typeface="Times New Roman"/>
                <a:cs typeface="Times New Roman"/>
              </a:rPr>
              <a:t> </a:t>
            </a:r>
            <a:r>
              <a:rPr sz="2400" spc="-15" dirty="0">
                <a:latin typeface="Times New Roman"/>
                <a:cs typeface="Times New Roman"/>
              </a:rPr>
              <a:t>oth</a:t>
            </a:r>
            <a:r>
              <a:rPr sz="2400" spc="-20" dirty="0">
                <a:latin typeface="Times New Roman"/>
                <a:cs typeface="Times New Roman"/>
              </a:rPr>
              <a:t>e</a:t>
            </a:r>
            <a:r>
              <a:rPr sz="2400" dirty="0">
                <a:latin typeface="Times New Roman"/>
                <a:cs typeface="Times New Roman"/>
              </a:rPr>
              <a:t>rs w</a:t>
            </a:r>
            <a:r>
              <a:rPr sz="2400" spc="-10" dirty="0">
                <a:latin typeface="Times New Roman"/>
                <a:cs typeface="Times New Roman"/>
              </a:rPr>
              <a:t>ill</a:t>
            </a:r>
            <a:r>
              <a:rPr sz="2400" dirty="0">
                <a:latin typeface="Times New Roman"/>
                <a:cs typeface="Times New Roman"/>
              </a:rPr>
              <a:t> do, </a:t>
            </a:r>
            <a:r>
              <a:rPr sz="2400" spc="-20" dirty="0">
                <a:latin typeface="Times New Roman"/>
                <a:cs typeface="Times New Roman"/>
              </a:rPr>
              <a:t>a</a:t>
            </a:r>
            <a:r>
              <a:rPr sz="2400" dirty="0">
                <a:latin typeface="Times New Roman"/>
                <a:cs typeface="Times New Roman"/>
              </a:rPr>
              <a:t>nd </a:t>
            </a:r>
            <a:r>
              <a:rPr sz="2400" spc="-10" dirty="0">
                <a:latin typeface="Times New Roman"/>
                <a:cs typeface="Times New Roman"/>
              </a:rPr>
              <a:t>th</a:t>
            </a:r>
            <a:r>
              <a:rPr sz="2400" spc="-20" dirty="0">
                <a:latin typeface="Times New Roman"/>
                <a:cs typeface="Times New Roman"/>
              </a:rPr>
              <a:t>e</a:t>
            </a:r>
            <a:r>
              <a:rPr sz="2400" spc="-10" dirty="0">
                <a:latin typeface="Times New Roman"/>
                <a:cs typeface="Times New Roman"/>
              </a:rPr>
              <a:t>i</a:t>
            </a:r>
            <a:r>
              <a:rPr sz="2400" dirty="0">
                <a:latin typeface="Times New Roman"/>
                <a:cs typeface="Times New Roman"/>
              </a:rPr>
              <a:t>r </a:t>
            </a:r>
            <a:r>
              <a:rPr sz="2400" spc="-15" dirty="0">
                <a:latin typeface="Times New Roman"/>
                <a:cs typeface="Times New Roman"/>
              </a:rPr>
              <a:t>d</a:t>
            </a:r>
            <a:r>
              <a:rPr sz="2400" spc="-20" dirty="0">
                <a:latin typeface="Times New Roman"/>
                <a:cs typeface="Times New Roman"/>
              </a:rPr>
              <a:t>ec</a:t>
            </a:r>
            <a:r>
              <a:rPr sz="2400" spc="-10" dirty="0">
                <a:latin typeface="Times New Roman"/>
                <a:cs typeface="Times New Roman"/>
              </a:rPr>
              <a:t>i</a:t>
            </a:r>
            <a:r>
              <a:rPr sz="2400" dirty="0">
                <a:latin typeface="Times New Roman"/>
                <a:cs typeface="Times New Roman"/>
              </a:rPr>
              <a:t>s</a:t>
            </a:r>
            <a:r>
              <a:rPr sz="2400" spc="-10" dirty="0">
                <a:latin typeface="Times New Roman"/>
                <a:cs typeface="Times New Roman"/>
              </a:rPr>
              <a:t>i</a:t>
            </a:r>
            <a:r>
              <a:rPr sz="2400" dirty="0">
                <a:latin typeface="Times New Roman"/>
                <a:cs typeface="Times New Roman"/>
              </a:rPr>
              <a:t>ons </a:t>
            </a:r>
            <a:r>
              <a:rPr sz="2400" spc="-15" dirty="0">
                <a:latin typeface="Times New Roman"/>
                <a:cs typeface="Times New Roman"/>
              </a:rPr>
              <a:t>d</a:t>
            </a:r>
            <a:r>
              <a:rPr sz="2400" spc="-20" dirty="0">
                <a:latin typeface="Times New Roman"/>
                <a:cs typeface="Times New Roman"/>
              </a:rPr>
              <a:t>e</a:t>
            </a:r>
            <a:r>
              <a:rPr sz="2400" spc="-15" dirty="0">
                <a:latin typeface="Times New Roman"/>
                <a:cs typeface="Times New Roman"/>
              </a:rPr>
              <a:t>p</a:t>
            </a:r>
            <a:r>
              <a:rPr sz="2400" spc="-20" dirty="0">
                <a:latin typeface="Times New Roman"/>
                <a:cs typeface="Times New Roman"/>
              </a:rPr>
              <a:t>e</a:t>
            </a:r>
            <a:r>
              <a:rPr sz="2400" dirty="0">
                <a:latin typeface="Times New Roman"/>
                <a:cs typeface="Times New Roman"/>
              </a:rPr>
              <a:t>nd on </a:t>
            </a:r>
            <a:r>
              <a:rPr sz="2400" spc="-15" dirty="0">
                <a:latin typeface="Times New Roman"/>
                <a:cs typeface="Times New Roman"/>
              </a:rPr>
              <a:t>min</a:t>
            </a:r>
            <a:r>
              <a:rPr sz="2400" spc="-20" dirty="0">
                <a:latin typeface="Times New Roman"/>
                <a:cs typeface="Times New Roman"/>
              </a:rPr>
              <a:t>e</a:t>
            </a:r>
            <a:r>
              <a:rPr sz="2400" dirty="0">
                <a:latin typeface="Times New Roman"/>
                <a:cs typeface="Times New Roman"/>
              </a:rPr>
              <a:t>!</a:t>
            </a:r>
          </a:p>
          <a:p>
            <a:pPr>
              <a:lnSpc>
                <a:spcPct val="100000"/>
              </a:lnSpc>
            </a:pPr>
            <a:endParaRPr sz="2400" dirty="0">
              <a:latin typeface="Times New Roman"/>
              <a:cs typeface="Times New Roman"/>
            </a:endParaRPr>
          </a:p>
          <a:p>
            <a:pPr>
              <a:lnSpc>
                <a:spcPct val="100000"/>
              </a:lnSpc>
              <a:spcBef>
                <a:spcPts val="50"/>
              </a:spcBef>
            </a:pPr>
            <a:endParaRPr sz="1000" dirty="0">
              <a:latin typeface="Times New Roman"/>
              <a:cs typeface="Times New Roman"/>
            </a:endParaRPr>
          </a:p>
          <a:p>
            <a:pPr marL="12700" marR="364490">
              <a:lnSpc>
                <a:spcPct val="100699"/>
              </a:lnSpc>
            </a:pPr>
            <a:r>
              <a:rPr sz="2400" dirty="0">
                <a:latin typeface="Times New Roman"/>
                <a:cs typeface="Times New Roman"/>
              </a:rPr>
              <a:t>How</a:t>
            </a:r>
            <a:r>
              <a:rPr sz="2400" spc="-20" dirty="0">
                <a:latin typeface="Times New Roman"/>
                <a:cs typeface="Times New Roman"/>
              </a:rPr>
              <a:t>e</a:t>
            </a:r>
            <a:r>
              <a:rPr sz="2400" spc="-15" dirty="0">
                <a:latin typeface="Times New Roman"/>
                <a:cs typeface="Times New Roman"/>
              </a:rPr>
              <a:t>v</a:t>
            </a:r>
            <a:r>
              <a:rPr sz="2400" spc="-20" dirty="0">
                <a:latin typeface="Times New Roman"/>
                <a:cs typeface="Times New Roman"/>
              </a:rPr>
              <a:t>e</a:t>
            </a:r>
            <a:r>
              <a:rPr sz="2400" spc="-95" dirty="0">
                <a:latin typeface="Times New Roman"/>
                <a:cs typeface="Times New Roman"/>
              </a:rPr>
              <a:t>r</a:t>
            </a:r>
            <a:r>
              <a:rPr sz="2400" dirty="0">
                <a:latin typeface="Times New Roman"/>
                <a:cs typeface="Times New Roman"/>
              </a:rPr>
              <a:t>, </a:t>
            </a:r>
            <a:r>
              <a:rPr sz="2400" spc="-15" dirty="0">
                <a:latin typeface="Times New Roman"/>
                <a:cs typeface="Times New Roman"/>
              </a:rPr>
              <a:t>a</a:t>
            </a:r>
            <a:r>
              <a:rPr sz="2400" spc="-5" dirty="0">
                <a:latin typeface="Times New Roman"/>
                <a:cs typeface="Times New Roman"/>
              </a:rPr>
              <a:t> </a:t>
            </a:r>
            <a:r>
              <a:rPr sz="2400" dirty="0">
                <a:latin typeface="Times New Roman"/>
                <a:cs typeface="Times New Roman"/>
              </a:rPr>
              <a:t>s</a:t>
            </a:r>
            <a:r>
              <a:rPr sz="2400" spc="-10" dirty="0">
                <a:latin typeface="Times New Roman"/>
                <a:cs typeface="Times New Roman"/>
              </a:rPr>
              <a:t>itu</a:t>
            </a:r>
            <a:r>
              <a:rPr sz="2400" spc="-20" dirty="0">
                <a:latin typeface="Times New Roman"/>
                <a:cs typeface="Times New Roman"/>
              </a:rPr>
              <a:t>a</a:t>
            </a:r>
            <a:r>
              <a:rPr sz="2400" spc="-10" dirty="0">
                <a:latin typeface="Times New Roman"/>
                <a:cs typeface="Times New Roman"/>
              </a:rPr>
              <a:t>ti</a:t>
            </a:r>
            <a:r>
              <a:rPr sz="2400" dirty="0">
                <a:latin typeface="Times New Roman"/>
                <a:cs typeface="Times New Roman"/>
              </a:rPr>
              <a:t>on </a:t>
            </a:r>
            <a:r>
              <a:rPr sz="2400" spc="-10" dirty="0">
                <a:latin typeface="Times New Roman"/>
                <a:cs typeface="Times New Roman"/>
              </a:rPr>
              <a:t>i</a:t>
            </a:r>
            <a:r>
              <a:rPr sz="2400" dirty="0">
                <a:latin typeface="Times New Roman"/>
                <a:cs typeface="Times New Roman"/>
              </a:rPr>
              <a:t>s s</a:t>
            </a:r>
            <a:r>
              <a:rPr sz="2400" spc="-10" dirty="0">
                <a:latin typeface="Times New Roman"/>
                <a:cs typeface="Times New Roman"/>
              </a:rPr>
              <a:t>t</a:t>
            </a:r>
            <a:r>
              <a:rPr sz="2400" spc="-20" dirty="0">
                <a:latin typeface="Times New Roman"/>
                <a:cs typeface="Times New Roman"/>
              </a:rPr>
              <a:t>a</a:t>
            </a:r>
            <a:r>
              <a:rPr sz="2400" spc="-10" dirty="0">
                <a:latin typeface="Times New Roman"/>
                <a:cs typeface="Times New Roman"/>
              </a:rPr>
              <a:t>ble</a:t>
            </a:r>
            <a:r>
              <a:rPr sz="2400" spc="-5" dirty="0">
                <a:latin typeface="Times New Roman"/>
                <a:cs typeface="Times New Roman"/>
              </a:rPr>
              <a:t> </a:t>
            </a:r>
            <a:r>
              <a:rPr sz="2400" spc="-10" dirty="0">
                <a:latin typeface="Times New Roman"/>
                <a:cs typeface="Times New Roman"/>
              </a:rPr>
              <a:t>i</a:t>
            </a:r>
            <a:r>
              <a:rPr sz="2400" dirty="0">
                <a:latin typeface="Times New Roman"/>
                <a:cs typeface="Times New Roman"/>
              </a:rPr>
              <a:t>f </a:t>
            </a:r>
            <a:r>
              <a:rPr sz="2400" b="1" spc="-20" dirty="0">
                <a:latin typeface="Times New Roman"/>
                <a:cs typeface="Times New Roman"/>
              </a:rPr>
              <a:t>e</a:t>
            </a:r>
            <a:r>
              <a:rPr sz="2400" b="1" spc="-15" dirty="0">
                <a:latin typeface="Times New Roman"/>
                <a:cs typeface="Times New Roman"/>
              </a:rPr>
              <a:t>v</a:t>
            </a:r>
            <a:r>
              <a:rPr sz="2400" b="1" spc="-20" dirty="0">
                <a:latin typeface="Times New Roman"/>
                <a:cs typeface="Times New Roman"/>
              </a:rPr>
              <a:t>er</a:t>
            </a:r>
            <a:r>
              <a:rPr sz="2400" b="1" dirty="0">
                <a:latin typeface="Times New Roman"/>
                <a:cs typeface="Times New Roman"/>
              </a:rPr>
              <a:t>y </a:t>
            </a: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r </a:t>
            </a:r>
            <a:r>
              <a:rPr sz="2400" spc="-10" dirty="0">
                <a:latin typeface="Times New Roman"/>
                <a:cs typeface="Times New Roman"/>
              </a:rPr>
              <a:t>i</a:t>
            </a:r>
            <a:r>
              <a:rPr sz="2400" dirty="0">
                <a:latin typeface="Times New Roman"/>
                <a:cs typeface="Times New Roman"/>
              </a:rPr>
              <a:t>s </a:t>
            </a:r>
            <a:r>
              <a:rPr sz="2400" spc="-10" dirty="0">
                <a:latin typeface="Times New Roman"/>
                <a:cs typeface="Times New Roman"/>
              </a:rPr>
              <a:t>pl</a:t>
            </a:r>
            <a:r>
              <a:rPr sz="2400" spc="-20" dirty="0">
                <a:latin typeface="Times New Roman"/>
                <a:cs typeface="Times New Roman"/>
              </a:rPr>
              <a:t>a</a:t>
            </a:r>
            <a:r>
              <a:rPr sz="2400" spc="-10" dirty="0">
                <a:latin typeface="Times New Roman"/>
                <a:cs typeface="Times New Roman"/>
              </a:rPr>
              <a:t>yi</a:t>
            </a:r>
            <a:r>
              <a:rPr sz="2400" dirty="0">
                <a:latin typeface="Times New Roman"/>
                <a:cs typeface="Times New Roman"/>
              </a:rPr>
              <a:t>ng </a:t>
            </a:r>
            <a:r>
              <a:rPr sz="2400" spc="-10" dirty="0">
                <a:latin typeface="Times New Roman"/>
                <a:cs typeface="Times New Roman"/>
              </a:rPr>
              <a:t>th</a:t>
            </a:r>
            <a:r>
              <a:rPr sz="2400" spc="-20" dirty="0">
                <a:latin typeface="Times New Roman"/>
                <a:cs typeface="Times New Roman"/>
              </a:rPr>
              <a:t>e</a:t>
            </a:r>
            <a:r>
              <a:rPr sz="2400" spc="-10" dirty="0">
                <a:latin typeface="Times New Roman"/>
                <a:cs typeface="Times New Roman"/>
              </a:rPr>
              <a:t>i</a:t>
            </a:r>
            <a:r>
              <a:rPr sz="2400" dirty="0">
                <a:latin typeface="Times New Roman"/>
                <a:cs typeface="Times New Roman"/>
              </a:rPr>
              <a:t>r </a:t>
            </a:r>
            <a:r>
              <a:rPr sz="2400" spc="-15" dirty="0">
                <a:latin typeface="Times New Roman"/>
                <a:cs typeface="Times New Roman"/>
              </a:rPr>
              <a:t>b</a:t>
            </a:r>
            <a:r>
              <a:rPr sz="2400" spc="-20" dirty="0">
                <a:latin typeface="Times New Roman"/>
                <a:cs typeface="Times New Roman"/>
              </a:rPr>
              <a:t>e</a:t>
            </a:r>
            <a:r>
              <a:rPr sz="2400" dirty="0">
                <a:latin typeface="Times New Roman"/>
                <a:cs typeface="Times New Roman"/>
              </a:rPr>
              <a:t>s</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r</a:t>
            </a:r>
            <a:r>
              <a:rPr sz="2400" spc="-20" dirty="0">
                <a:latin typeface="Times New Roman"/>
                <a:cs typeface="Times New Roman"/>
              </a:rPr>
              <a:t>e</a:t>
            </a:r>
            <a:r>
              <a:rPr sz="2400" dirty="0">
                <a:latin typeface="Times New Roman"/>
                <a:cs typeface="Times New Roman"/>
              </a:rPr>
              <a:t>spons</a:t>
            </a:r>
            <a:r>
              <a:rPr sz="2400" spc="-15" dirty="0">
                <a:latin typeface="Times New Roman"/>
                <a:cs typeface="Times New Roman"/>
              </a:rPr>
              <a:t>e</a:t>
            </a:r>
            <a:r>
              <a:rPr sz="2400" spc="-5" dirty="0">
                <a:latin typeface="Times New Roman"/>
                <a:cs typeface="Times New Roman"/>
              </a:rPr>
              <a:t> </a:t>
            </a:r>
            <a:r>
              <a:rPr sz="2400" spc="-10" dirty="0">
                <a:latin typeface="Times New Roman"/>
                <a:cs typeface="Times New Roman"/>
              </a:rPr>
              <a:t>t</a:t>
            </a:r>
            <a:r>
              <a:rPr sz="2400" dirty="0">
                <a:latin typeface="Times New Roman"/>
                <a:cs typeface="Times New Roman"/>
              </a:rPr>
              <a:t>o </a:t>
            </a:r>
            <a:r>
              <a:rPr sz="2400" spc="-20" dirty="0">
                <a:latin typeface="Times New Roman"/>
                <a:cs typeface="Times New Roman"/>
              </a:rPr>
              <a:t>a</a:t>
            </a:r>
            <a:r>
              <a:rPr sz="2400" spc="-10" dirty="0">
                <a:latin typeface="Times New Roman"/>
                <a:cs typeface="Times New Roman"/>
              </a:rPr>
              <a:t>ll</a:t>
            </a:r>
            <a:r>
              <a:rPr sz="2400" dirty="0">
                <a:latin typeface="Times New Roman"/>
                <a:cs typeface="Times New Roman"/>
              </a:rPr>
              <a:t> </a:t>
            </a:r>
            <a:r>
              <a:rPr sz="2400" spc="-15" dirty="0">
                <a:latin typeface="Times New Roman"/>
                <a:cs typeface="Times New Roman"/>
              </a:rPr>
              <a:t>oth</a:t>
            </a:r>
            <a:r>
              <a:rPr sz="2400" spc="-20" dirty="0">
                <a:latin typeface="Times New Roman"/>
                <a:cs typeface="Times New Roman"/>
              </a:rPr>
              <a:t>e</a:t>
            </a:r>
            <a:r>
              <a:rPr sz="2400" dirty="0">
                <a:latin typeface="Times New Roman"/>
                <a:cs typeface="Times New Roman"/>
              </a:rPr>
              <a:t>r </a:t>
            </a: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rs.</a:t>
            </a:r>
          </a:p>
          <a:p>
            <a:pPr>
              <a:lnSpc>
                <a:spcPct val="100000"/>
              </a:lnSpc>
              <a:spcBef>
                <a:spcPts val="10"/>
              </a:spcBef>
            </a:pPr>
            <a:endParaRPr sz="2400" dirty="0">
              <a:latin typeface="Times New Roman"/>
              <a:cs typeface="Times New Roman"/>
            </a:endParaRPr>
          </a:p>
          <a:p>
            <a:pPr marL="12700">
              <a:lnSpc>
                <a:spcPct val="150000"/>
              </a:lnSpc>
              <a:tabLst>
                <a:tab pos="1191895" algn="l"/>
              </a:tabLst>
            </a:pPr>
            <a:r>
              <a:rPr sz="2550" i="1" spc="-15" dirty="0">
                <a:latin typeface="Times New Roman"/>
                <a:cs typeface="Times New Roman"/>
              </a:rPr>
              <a:t>a</a:t>
            </a:r>
            <a:r>
              <a:rPr sz="2550" i="1" spc="80" dirty="0">
                <a:latin typeface="Times New Roman"/>
                <a:cs typeface="Times New Roman"/>
              </a:rPr>
              <a:t> </a:t>
            </a:r>
            <a:r>
              <a:rPr sz="2550" spc="30" dirty="0">
                <a:latin typeface="Garamond"/>
                <a:cs typeface="Garamond"/>
              </a:rPr>
              <a:t>=</a:t>
            </a:r>
            <a:r>
              <a:rPr sz="2550" spc="65" dirty="0">
                <a:latin typeface="Garamond"/>
                <a:cs typeface="Garamond"/>
              </a:rPr>
              <a:t> </a:t>
            </a:r>
            <a:r>
              <a:rPr sz="2550" spc="95" dirty="0">
                <a:latin typeface="Garamond"/>
                <a:cs typeface="Garamond"/>
              </a:rPr>
              <a:t>(</a:t>
            </a:r>
            <a:r>
              <a:rPr sz="2550" i="1" spc="-105" dirty="0">
                <a:latin typeface="Times New Roman"/>
                <a:cs typeface="Times New Roman"/>
              </a:rPr>
              <a:t>a</a:t>
            </a:r>
            <a:r>
              <a:rPr sz="2700" spc="75" baseline="-20061" dirty="0">
                <a:latin typeface="Garamond"/>
                <a:cs typeface="Garamond"/>
              </a:rPr>
              <a:t>1</a:t>
            </a:r>
            <a:r>
              <a:rPr sz="2550" spc="70" dirty="0">
                <a:latin typeface="Garamond"/>
                <a:cs typeface="Garamond"/>
              </a:rPr>
              <a:t>,</a:t>
            </a:r>
            <a:r>
              <a:rPr sz="2550" dirty="0">
                <a:latin typeface="Garamond"/>
                <a:cs typeface="Garamond"/>
              </a:rPr>
              <a:t>	</a:t>
            </a:r>
            <a:r>
              <a:rPr sz="2550" spc="-30" dirty="0">
                <a:latin typeface="Garamond"/>
                <a:cs typeface="Garamond"/>
              </a:rPr>
              <a:t>…</a:t>
            </a:r>
            <a:r>
              <a:rPr sz="2550" spc="70" dirty="0">
                <a:latin typeface="Garamond"/>
                <a:cs typeface="Garamond"/>
              </a:rPr>
              <a:t>,</a:t>
            </a:r>
            <a:r>
              <a:rPr sz="2550" spc="204" dirty="0">
                <a:latin typeface="Garamond"/>
                <a:cs typeface="Garamond"/>
              </a:rPr>
              <a:t> </a:t>
            </a:r>
            <a:r>
              <a:rPr sz="2550" i="1" spc="-105" dirty="0">
                <a:latin typeface="Times New Roman"/>
                <a:cs typeface="Times New Roman"/>
              </a:rPr>
              <a:t>a</a:t>
            </a:r>
            <a:r>
              <a:rPr sz="2700" i="1" baseline="-20061" dirty="0">
                <a:latin typeface="Times New Roman"/>
                <a:cs typeface="Times New Roman"/>
              </a:rPr>
              <a:t>n</a:t>
            </a:r>
            <a:r>
              <a:rPr sz="2550" spc="95" dirty="0">
                <a:latin typeface="Garamond"/>
                <a:cs typeface="Garamond"/>
              </a:rPr>
              <a:t>)</a:t>
            </a:r>
            <a:r>
              <a:rPr sz="2550" spc="-40" dirty="0">
                <a:latin typeface="Garamond"/>
                <a:cs typeface="Garamond"/>
              </a:rPr>
              <a:t> </a:t>
            </a:r>
            <a:r>
              <a:rPr sz="2400" spc="-10" dirty="0">
                <a:latin typeface="Times New Roman"/>
                <a:cs typeface="Times New Roman"/>
              </a:rPr>
              <a:t>i</a:t>
            </a:r>
            <a:r>
              <a:rPr sz="2400" dirty="0">
                <a:latin typeface="Times New Roman"/>
                <a:cs typeface="Times New Roman"/>
              </a:rPr>
              <a:t>s </a:t>
            </a:r>
            <a:r>
              <a:rPr sz="2400" spc="-15" dirty="0">
                <a:latin typeface="Times New Roman"/>
                <a:cs typeface="Times New Roman"/>
              </a:rPr>
              <a:t>a</a:t>
            </a:r>
            <a:r>
              <a:rPr sz="2400" dirty="0">
                <a:latin typeface="Times New Roman"/>
                <a:cs typeface="Times New Roman"/>
              </a:rPr>
              <a:t> </a:t>
            </a:r>
            <a:r>
              <a:rPr sz="2400" b="1" dirty="0">
                <a:latin typeface="Times New Roman"/>
                <a:cs typeface="Times New Roman"/>
              </a:rPr>
              <a:t>Nash Equ</a:t>
            </a:r>
            <a:r>
              <a:rPr sz="2400" b="1" spc="-10" dirty="0">
                <a:latin typeface="Times New Roman"/>
                <a:cs typeface="Times New Roman"/>
              </a:rPr>
              <a:t>ili</a:t>
            </a:r>
            <a:r>
              <a:rPr sz="2400" b="1" dirty="0">
                <a:latin typeface="Times New Roman"/>
                <a:cs typeface="Times New Roman"/>
              </a:rPr>
              <a:t>b</a:t>
            </a:r>
            <a:r>
              <a:rPr sz="2400" b="1" spc="-20" dirty="0">
                <a:latin typeface="Times New Roman"/>
                <a:cs typeface="Times New Roman"/>
              </a:rPr>
              <a:t>r</a:t>
            </a:r>
            <a:r>
              <a:rPr sz="2400" b="1" spc="-10" dirty="0">
                <a:latin typeface="Times New Roman"/>
                <a:cs typeface="Times New Roman"/>
              </a:rPr>
              <a:t>i</a:t>
            </a:r>
            <a:r>
              <a:rPr sz="2400" b="1" dirty="0">
                <a:latin typeface="Times New Roman"/>
                <a:cs typeface="Times New Roman"/>
              </a:rPr>
              <a:t>um</a:t>
            </a:r>
            <a:r>
              <a:rPr sz="2400" b="1" spc="-5" dirty="0">
                <a:latin typeface="Times New Roman"/>
                <a:cs typeface="Times New Roman"/>
              </a:rPr>
              <a:t> </a:t>
            </a:r>
            <a:r>
              <a:rPr sz="2400" dirty="0">
                <a:latin typeface="Times New Roman"/>
                <a:cs typeface="Times New Roman"/>
              </a:rPr>
              <a:t>(</a:t>
            </a:r>
            <a:r>
              <a:rPr sz="2400" i="1" spc="-10" dirty="0">
                <a:latin typeface="Times New Roman"/>
                <a:cs typeface="Times New Roman"/>
              </a:rPr>
              <a:t>i</a:t>
            </a:r>
            <a:r>
              <a:rPr sz="2400" i="1" dirty="0">
                <a:latin typeface="Times New Roman"/>
                <a:cs typeface="Times New Roman"/>
              </a:rPr>
              <a:t>n pu</a:t>
            </a:r>
            <a:r>
              <a:rPr sz="2400" i="1" spc="-90" dirty="0">
                <a:latin typeface="Times New Roman"/>
                <a:cs typeface="Times New Roman"/>
              </a:rPr>
              <a:t>r</a:t>
            </a:r>
            <a:r>
              <a:rPr sz="2400" i="1" spc="-15" dirty="0">
                <a:latin typeface="Times New Roman"/>
                <a:cs typeface="Times New Roman"/>
              </a:rPr>
              <a:t>e</a:t>
            </a:r>
            <a:r>
              <a:rPr sz="2400" i="1" spc="-5" dirty="0">
                <a:latin typeface="Times New Roman"/>
                <a:cs typeface="Times New Roman"/>
              </a:rPr>
              <a:t> </a:t>
            </a:r>
            <a:r>
              <a:rPr sz="2400" i="1" dirty="0">
                <a:latin typeface="Times New Roman"/>
                <a:cs typeface="Times New Roman"/>
              </a:rPr>
              <a:t>s</a:t>
            </a:r>
            <a:r>
              <a:rPr sz="2400" i="1" spc="-10" dirty="0">
                <a:latin typeface="Times New Roman"/>
                <a:cs typeface="Times New Roman"/>
              </a:rPr>
              <a:t>t</a:t>
            </a:r>
            <a:r>
              <a:rPr sz="2400" i="1" dirty="0">
                <a:latin typeface="Times New Roman"/>
                <a:cs typeface="Times New Roman"/>
              </a:rPr>
              <a:t>r</a:t>
            </a:r>
            <a:r>
              <a:rPr sz="2400" i="1" spc="-10" dirty="0">
                <a:latin typeface="Times New Roman"/>
                <a:cs typeface="Times New Roman"/>
              </a:rPr>
              <a:t>at</a:t>
            </a:r>
            <a:r>
              <a:rPr sz="2400" i="1" spc="-20" dirty="0">
                <a:latin typeface="Times New Roman"/>
                <a:cs typeface="Times New Roman"/>
              </a:rPr>
              <a:t>e</a:t>
            </a:r>
            <a:r>
              <a:rPr sz="2400" i="1" spc="-10" dirty="0">
                <a:latin typeface="Times New Roman"/>
                <a:cs typeface="Times New Roman"/>
              </a:rPr>
              <a:t>gi</a:t>
            </a:r>
            <a:r>
              <a:rPr sz="2400" i="1" spc="-20" dirty="0">
                <a:latin typeface="Times New Roman"/>
                <a:cs typeface="Times New Roman"/>
              </a:rPr>
              <a:t>e</a:t>
            </a:r>
            <a:r>
              <a:rPr sz="2400" i="1" dirty="0">
                <a:latin typeface="Times New Roman"/>
                <a:cs typeface="Times New Roman"/>
              </a:rPr>
              <a:t>s</a:t>
            </a:r>
            <a:r>
              <a:rPr sz="2400" dirty="0">
                <a:latin typeface="Times New Roman"/>
                <a:cs typeface="Times New Roman"/>
              </a:rPr>
              <a:t>) </a:t>
            </a:r>
            <a:r>
              <a:rPr sz="2400" spc="-10" dirty="0">
                <a:latin typeface="Times New Roman"/>
                <a:cs typeface="Times New Roman"/>
              </a:rPr>
              <a:t>i</a:t>
            </a:r>
            <a:r>
              <a:rPr sz="2400" spc="-45" dirty="0">
                <a:latin typeface="Times New Roman"/>
                <a:cs typeface="Times New Roman"/>
              </a:rPr>
              <a:t>f</a:t>
            </a:r>
            <a:r>
              <a:rPr sz="2400" dirty="0">
                <a:latin typeface="Times New Roman"/>
                <a:cs typeface="Times New Roman"/>
              </a:rPr>
              <a:t>f</a:t>
            </a:r>
          </a:p>
          <a:p>
            <a:pPr marL="48260">
              <a:lnSpc>
                <a:spcPct val="150000"/>
              </a:lnSpc>
            </a:pPr>
            <a:r>
              <a:rPr sz="2550" spc="-55" dirty="0">
                <a:latin typeface="Cambria"/>
                <a:cs typeface="Cambria"/>
              </a:rPr>
              <a:t>∀</a:t>
            </a:r>
            <a:r>
              <a:rPr sz="2550" i="1" spc="-10" dirty="0">
                <a:latin typeface="Times New Roman"/>
                <a:cs typeface="Times New Roman"/>
              </a:rPr>
              <a:t>i</a:t>
            </a:r>
            <a:r>
              <a:rPr sz="2550" spc="70" dirty="0">
                <a:latin typeface="Garamond"/>
                <a:cs typeface="Garamond"/>
              </a:rPr>
              <a:t>,</a:t>
            </a:r>
            <a:r>
              <a:rPr sz="2550" spc="-215" dirty="0">
                <a:latin typeface="Garamond"/>
                <a:cs typeface="Garamond"/>
              </a:rPr>
              <a:t> </a:t>
            </a:r>
            <a:r>
              <a:rPr sz="2550" i="1" spc="-105" dirty="0">
                <a:latin typeface="Times New Roman"/>
                <a:cs typeface="Times New Roman"/>
              </a:rPr>
              <a:t>a</a:t>
            </a:r>
            <a:r>
              <a:rPr sz="2700" i="1" baseline="-20061" dirty="0">
                <a:latin typeface="Times New Roman"/>
                <a:cs typeface="Times New Roman"/>
              </a:rPr>
              <a:t>i </a:t>
            </a:r>
            <a:r>
              <a:rPr sz="2700" i="1" spc="-292" baseline="-20061" dirty="0">
                <a:latin typeface="Times New Roman"/>
                <a:cs typeface="Times New Roman"/>
              </a:rPr>
              <a:t> </a:t>
            </a:r>
            <a:r>
              <a:rPr sz="2550" spc="140" dirty="0">
                <a:latin typeface="Cambria"/>
                <a:cs typeface="Cambria"/>
              </a:rPr>
              <a:t>∈</a:t>
            </a:r>
            <a:r>
              <a:rPr sz="2550" spc="145" dirty="0">
                <a:latin typeface="Cambria"/>
                <a:cs typeface="Cambria"/>
              </a:rPr>
              <a:t> </a:t>
            </a:r>
            <a:r>
              <a:rPr sz="2550" i="1" spc="-20" dirty="0">
                <a:latin typeface="Times New Roman"/>
                <a:cs typeface="Times New Roman"/>
              </a:rPr>
              <a:t>BR</a:t>
            </a:r>
            <a:r>
              <a:rPr sz="2550" spc="95" dirty="0">
                <a:latin typeface="Garamond"/>
                <a:cs typeface="Garamond"/>
              </a:rPr>
              <a:t>(</a:t>
            </a:r>
            <a:r>
              <a:rPr sz="2550" i="1" spc="-105" dirty="0">
                <a:latin typeface="Times New Roman"/>
                <a:cs typeface="Times New Roman"/>
              </a:rPr>
              <a:t>a</a:t>
            </a:r>
            <a:r>
              <a:rPr sz="2700" spc="352" baseline="-20061" dirty="0">
                <a:latin typeface="Cambria"/>
                <a:cs typeface="Cambria"/>
              </a:rPr>
              <a:t>−</a:t>
            </a:r>
            <a:r>
              <a:rPr sz="2700" i="1" baseline="-20061" dirty="0">
                <a:latin typeface="Times New Roman"/>
                <a:cs typeface="Times New Roman"/>
              </a:rPr>
              <a:t>i</a:t>
            </a:r>
            <a:r>
              <a:rPr sz="2550" spc="95" dirty="0">
                <a:latin typeface="Garamond"/>
                <a:cs typeface="Garamond"/>
              </a:rPr>
              <a:t>)</a:t>
            </a:r>
            <a:endParaRPr sz="2550" dirty="0">
              <a:latin typeface="Garamond"/>
              <a:cs typeface="Garamond"/>
            </a:endParaRPr>
          </a:p>
          <a:p>
            <a:pPr>
              <a:lnSpc>
                <a:spcPct val="100000"/>
              </a:lnSpc>
            </a:pPr>
            <a:endParaRPr sz="3100" dirty="0">
              <a:latin typeface="Times New Roman"/>
              <a:cs typeface="Times New Roman"/>
            </a:endParaRPr>
          </a:p>
          <a:p>
            <a:pPr marL="12700">
              <a:lnSpc>
                <a:spcPct val="100000"/>
              </a:lnSpc>
              <a:spcBef>
                <a:spcPts val="2305"/>
              </a:spcBef>
            </a:pPr>
            <a:r>
              <a:rPr sz="1900" dirty="0">
                <a:latin typeface="Times New Roman"/>
                <a:cs typeface="Times New Roman"/>
              </a:rPr>
              <a:t>N</a:t>
            </a:r>
            <a:r>
              <a:rPr sz="1900" spc="-10" dirty="0">
                <a:latin typeface="Times New Roman"/>
                <a:cs typeface="Times New Roman"/>
              </a:rPr>
              <a:t>ote: at this point, we only care </a:t>
            </a:r>
            <a:r>
              <a:rPr lang="en-US" sz="1900" spc="-10" dirty="0">
                <a:latin typeface="Times New Roman"/>
                <a:cs typeface="Times New Roman"/>
              </a:rPr>
              <a:t>a</a:t>
            </a:r>
            <a:r>
              <a:rPr sz="1900" spc="-10" dirty="0">
                <a:latin typeface="Times New Roman"/>
                <a:cs typeface="Times New Roman"/>
              </a:rPr>
              <a:t>bout </a:t>
            </a:r>
            <a:r>
              <a:rPr sz="1900" i="1" spc="-10" dirty="0">
                <a:latin typeface="Times New Roman"/>
                <a:cs typeface="Times New Roman"/>
              </a:rPr>
              <a:t>pu</a:t>
            </a:r>
            <a:r>
              <a:rPr sz="1900" i="1" spc="-70" dirty="0">
                <a:latin typeface="Times New Roman"/>
                <a:cs typeface="Times New Roman"/>
              </a:rPr>
              <a:t>r</a:t>
            </a:r>
            <a:r>
              <a:rPr sz="1900" i="1" spc="-10" dirty="0">
                <a:latin typeface="Times New Roman"/>
                <a:cs typeface="Times New Roman"/>
              </a:rPr>
              <a:t>e</a:t>
            </a:r>
            <a:r>
              <a:rPr sz="1900" i="1" dirty="0">
                <a:latin typeface="Times New Roman"/>
                <a:cs typeface="Times New Roman"/>
              </a:rPr>
              <a:t> </a:t>
            </a:r>
            <a:r>
              <a:rPr sz="1900" dirty="0">
                <a:latin typeface="Times New Roman"/>
                <a:cs typeface="Times New Roman"/>
              </a:rPr>
              <a:t>s</a:t>
            </a:r>
            <a:r>
              <a:rPr sz="1900" spc="-10" dirty="0">
                <a:latin typeface="Times New Roman"/>
                <a:cs typeface="Times New Roman"/>
              </a:rPr>
              <a:t>trategie</a:t>
            </a:r>
            <a:r>
              <a:rPr sz="1900" dirty="0">
                <a:latin typeface="Times New Roman"/>
                <a:cs typeface="Times New Roman"/>
              </a:rPr>
              <a:t>s.</a:t>
            </a:r>
          </a:p>
        </p:txBody>
      </p:sp>
      <p:sp>
        <p:nvSpPr>
          <p:cNvPr id="8" name="Slide Number Placeholder 8">
            <a:extLst>
              <a:ext uri="{FF2B5EF4-FFF2-40B4-BE49-F238E27FC236}">
                <a16:creationId xmlns:a16="http://schemas.microsoft.com/office/drawing/2014/main" id="{CE56C01F-F37E-2375-407A-698F8E4DC0BE}"/>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18</a:t>
            </a:fld>
            <a:r>
              <a:rPr lang="en-US" sz="2000" dirty="0">
                <a:solidFill>
                  <a:prstClr val="black"/>
                </a:solidFill>
                <a:latin typeface="Comic Sans MS"/>
                <a:sym typeface="Comic Sans MS"/>
              </a:rPr>
              <a:t>/46</a:t>
            </a:r>
          </a:p>
        </p:txBody>
      </p:sp>
      <p:sp>
        <p:nvSpPr>
          <p:cNvPr id="9" name="Footer Placeholder 9">
            <a:extLst>
              <a:ext uri="{FF2B5EF4-FFF2-40B4-BE49-F238E27FC236}">
                <a16:creationId xmlns:a16="http://schemas.microsoft.com/office/drawing/2014/main" id="{2EC03149-6539-F38F-24DC-A984AB2C832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 name="Rectangle 9">
            <a:extLst>
              <a:ext uri="{FF2B5EF4-FFF2-40B4-BE49-F238E27FC236}">
                <a16:creationId xmlns:a16="http://schemas.microsoft.com/office/drawing/2014/main" id="{66820D08-89FE-8B59-0EBE-839204C58DF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1" name="Rectangle 10">
            <a:extLst>
              <a:ext uri="{FF2B5EF4-FFF2-40B4-BE49-F238E27FC236}">
                <a16:creationId xmlns:a16="http://schemas.microsoft.com/office/drawing/2014/main" id="{B1334B4A-FE81-104C-FEEF-1433E449D8A0}"/>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8F14802E-C907-2A1E-72B8-F4B1199A84F9}"/>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TextBox 13">
            <a:extLst>
              <a:ext uri="{FF2B5EF4-FFF2-40B4-BE49-F238E27FC236}">
                <a16:creationId xmlns:a16="http://schemas.microsoft.com/office/drawing/2014/main" id="{50214996-FD4F-62E3-E00E-7188FF4DCA3E}"/>
              </a:ext>
            </a:extLst>
          </p:cNvPr>
          <p:cNvSpPr txBox="1"/>
          <p:nvPr/>
        </p:nvSpPr>
        <p:spPr>
          <a:xfrm>
            <a:off x="3722001" y="598355"/>
            <a:ext cx="4626076" cy="369332"/>
          </a:xfrm>
          <a:prstGeom prst="rect">
            <a:avLst/>
          </a:prstGeom>
          <a:noFill/>
        </p:spPr>
        <p:txBody>
          <a:bodyPr wrap="square">
            <a:spAutoFit/>
          </a:bodyPr>
          <a:lstStyle/>
          <a:p>
            <a:r>
              <a:rPr lang="en-MY" dirty="0">
                <a:hlinkClick r:id="rId3"/>
              </a:rPr>
              <a:t>Nash Equilibrium (saylordotorg.github.io)</a:t>
            </a:r>
            <a:endParaRPr lang="en-MY"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746579"/>
            <a:ext cx="9144000" cy="5672636"/>
          </a:xfrm>
          <a:custGeom>
            <a:avLst/>
            <a:gdLst/>
            <a:ahLst/>
            <a:cxnLst/>
            <a:rect l="l" t="t" r="r" b="b"/>
            <a:pathLst>
              <a:path w="9144000" h="5057140">
                <a:moveTo>
                  <a:pt x="0" y="0"/>
                </a:moveTo>
                <a:lnTo>
                  <a:pt x="0" y="5056963"/>
                </a:lnTo>
                <a:lnTo>
                  <a:pt x="9144000" y="5056963"/>
                </a:lnTo>
                <a:lnTo>
                  <a:pt x="9144000" y="0"/>
                </a:lnTo>
                <a:lnTo>
                  <a:pt x="0" y="0"/>
                </a:lnTo>
                <a:close/>
              </a:path>
            </a:pathLst>
          </a:custGeom>
          <a:solidFill>
            <a:srgbClr val="E7E7E7"/>
          </a:solidFill>
        </p:spPr>
        <p:txBody>
          <a:bodyPr wrap="square" lIns="0" tIns="0" rIns="0" bIns="0" rtlCol="0"/>
          <a:lstStyle/>
          <a:p>
            <a:endParaRPr/>
          </a:p>
        </p:txBody>
      </p:sp>
      <p:sp>
        <p:nvSpPr>
          <p:cNvPr id="3" name="object 3"/>
          <p:cNvSpPr/>
          <p:nvPr/>
        </p:nvSpPr>
        <p:spPr>
          <a:xfrm>
            <a:off x="2716947" y="5047659"/>
            <a:ext cx="6427470" cy="1810385"/>
          </a:xfrm>
          <a:custGeom>
            <a:avLst/>
            <a:gdLst/>
            <a:ahLst/>
            <a:cxnLst/>
            <a:rect l="l" t="t" r="r" b="b"/>
            <a:pathLst>
              <a:path w="6427470" h="1810384">
                <a:moveTo>
                  <a:pt x="6427052" y="0"/>
                </a:moveTo>
                <a:lnTo>
                  <a:pt x="371415" y="0"/>
                </a:lnTo>
                <a:lnTo>
                  <a:pt x="340953" y="1231"/>
                </a:lnTo>
                <a:lnTo>
                  <a:pt x="282160" y="10794"/>
                </a:lnTo>
                <a:lnTo>
                  <a:pt x="226843" y="29187"/>
                </a:lnTo>
                <a:lnTo>
                  <a:pt x="175769" y="55646"/>
                </a:lnTo>
                <a:lnTo>
                  <a:pt x="129702" y="89406"/>
                </a:lnTo>
                <a:lnTo>
                  <a:pt x="89406" y="129701"/>
                </a:lnTo>
                <a:lnTo>
                  <a:pt x="55646" y="175769"/>
                </a:lnTo>
                <a:lnTo>
                  <a:pt x="29187" y="226843"/>
                </a:lnTo>
                <a:lnTo>
                  <a:pt x="10794" y="282159"/>
                </a:lnTo>
                <a:lnTo>
                  <a:pt x="1231" y="340953"/>
                </a:lnTo>
                <a:lnTo>
                  <a:pt x="0" y="371415"/>
                </a:lnTo>
                <a:lnTo>
                  <a:pt x="0" y="1810340"/>
                </a:lnTo>
                <a:lnTo>
                  <a:pt x="6427052" y="1810340"/>
                </a:lnTo>
                <a:lnTo>
                  <a:pt x="6427052" y="0"/>
                </a:lnTo>
                <a:close/>
              </a:path>
            </a:pathLst>
          </a:custGeom>
          <a:solidFill>
            <a:srgbClr val="E7E7E7"/>
          </a:solidFill>
        </p:spPr>
        <p:txBody>
          <a:bodyPr wrap="square" lIns="0" tIns="0" rIns="0" bIns="0" rtlCol="0"/>
          <a:lstStyle/>
          <a:p>
            <a:endParaRPr/>
          </a:p>
        </p:txBody>
      </p:sp>
      <p:sp>
        <p:nvSpPr>
          <p:cNvPr id="4" name="object 4"/>
          <p:cNvSpPr/>
          <p:nvPr/>
        </p:nvSpPr>
        <p:spPr>
          <a:xfrm>
            <a:off x="0" y="2819166"/>
            <a:ext cx="3655695" cy="4039235"/>
          </a:xfrm>
          <a:custGeom>
            <a:avLst/>
            <a:gdLst/>
            <a:ahLst/>
            <a:cxnLst/>
            <a:rect l="l" t="t" r="r" b="b"/>
            <a:pathLst>
              <a:path w="3655695" h="4039234">
                <a:moveTo>
                  <a:pt x="0" y="4038833"/>
                </a:moveTo>
                <a:lnTo>
                  <a:pt x="3655462" y="4038833"/>
                </a:lnTo>
                <a:lnTo>
                  <a:pt x="3655462" y="0"/>
                </a:lnTo>
                <a:lnTo>
                  <a:pt x="0" y="0"/>
                </a:lnTo>
                <a:lnTo>
                  <a:pt x="0" y="4038833"/>
                </a:lnTo>
                <a:close/>
              </a:path>
            </a:pathLst>
          </a:custGeom>
          <a:solidFill>
            <a:srgbClr val="E7E7E7"/>
          </a:solidFill>
        </p:spPr>
        <p:txBody>
          <a:bodyPr wrap="square" lIns="0" tIns="0" rIns="0" bIns="0" rtlCol="0"/>
          <a:lstStyle/>
          <a:p>
            <a:endParaRPr/>
          </a:p>
        </p:txBody>
      </p:sp>
      <p:sp>
        <p:nvSpPr>
          <p:cNvPr id="5" name="object 5"/>
          <p:cNvSpPr/>
          <p:nvPr/>
        </p:nvSpPr>
        <p:spPr>
          <a:xfrm>
            <a:off x="0" y="703786"/>
            <a:ext cx="9144000" cy="45719"/>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6" name="object 6"/>
          <p:cNvSpPr txBox="1">
            <a:spLocks noGrp="1"/>
          </p:cNvSpPr>
          <p:nvPr>
            <p:ph type="title"/>
          </p:nvPr>
        </p:nvSpPr>
        <p:spPr>
          <a:xfrm>
            <a:off x="423228" y="143735"/>
            <a:ext cx="8221344" cy="492443"/>
          </a:xfrm>
          <a:prstGeom prst="rect">
            <a:avLst/>
          </a:prstGeom>
        </p:spPr>
        <p:txBody>
          <a:bodyPr vert="horz" wrap="square" lIns="0" tIns="0" rIns="0" bIns="0" rtlCol="0">
            <a:spAutoFit/>
          </a:bodyPr>
          <a:lstStyle/>
          <a:p>
            <a:pPr marL="12700">
              <a:lnSpc>
                <a:spcPct val="100000"/>
              </a:lnSpc>
            </a:pPr>
            <a:r>
              <a:rPr lang="en-US" dirty="0"/>
              <a:t>Saddle Points</a:t>
            </a:r>
            <a:endParaRPr dirty="0"/>
          </a:p>
        </p:txBody>
      </p:sp>
      <p:sp>
        <p:nvSpPr>
          <p:cNvPr id="8" name="Slide Number Placeholder 8">
            <a:extLst>
              <a:ext uri="{FF2B5EF4-FFF2-40B4-BE49-F238E27FC236}">
                <a16:creationId xmlns:a16="http://schemas.microsoft.com/office/drawing/2014/main" id="{CE56C01F-F37E-2375-407A-698F8E4DC0BE}"/>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19</a:t>
            </a:fld>
            <a:r>
              <a:rPr lang="en-US" sz="2000" dirty="0">
                <a:solidFill>
                  <a:prstClr val="black"/>
                </a:solidFill>
                <a:latin typeface="Comic Sans MS"/>
                <a:sym typeface="Comic Sans MS"/>
              </a:rPr>
              <a:t>/46</a:t>
            </a:r>
          </a:p>
        </p:txBody>
      </p:sp>
      <p:sp>
        <p:nvSpPr>
          <p:cNvPr id="9" name="Footer Placeholder 9">
            <a:extLst>
              <a:ext uri="{FF2B5EF4-FFF2-40B4-BE49-F238E27FC236}">
                <a16:creationId xmlns:a16="http://schemas.microsoft.com/office/drawing/2014/main" id="{2EC03149-6539-F38F-24DC-A984AB2C832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 name="Rectangle 9">
            <a:extLst>
              <a:ext uri="{FF2B5EF4-FFF2-40B4-BE49-F238E27FC236}">
                <a16:creationId xmlns:a16="http://schemas.microsoft.com/office/drawing/2014/main" id="{66820D08-89FE-8B59-0EBE-839204C58DF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1" name="Rectangle 10">
            <a:extLst>
              <a:ext uri="{FF2B5EF4-FFF2-40B4-BE49-F238E27FC236}">
                <a16:creationId xmlns:a16="http://schemas.microsoft.com/office/drawing/2014/main" id="{B1334B4A-FE81-104C-FEEF-1433E449D8A0}"/>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8F14802E-C907-2A1E-72B8-F4B1199A84F9}"/>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13" name="object 12">
                <a:extLst>
                  <a:ext uri="{FF2B5EF4-FFF2-40B4-BE49-F238E27FC236}">
                    <a16:creationId xmlns:a16="http://schemas.microsoft.com/office/drawing/2014/main" id="{D5C347C3-78B3-0148-6E8C-20E2E5B2246B}"/>
                  </a:ext>
                </a:extLst>
              </p:cNvPr>
              <p:cNvSpPr txBox="1"/>
              <p:nvPr/>
            </p:nvSpPr>
            <p:spPr>
              <a:xfrm>
                <a:off x="185420" y="791437"/>
                <a:ext cx="8696960" cy="5718810"/>
              </a:xfrm>
              <a:prstGeom prst="rect">
                <a:avLst/>
              </a:prstGeom>
            </p:spPr>
            <p:txBody>
              <a:bodyPr vert="horz" wrap="square" lIns="0" tIns="0" rIns="0" bIns="0" rtlCol="0">
                <a:spAutoFit/>
              </a:bodyPr>
              <a:lstStyle/>
              <a:p>
                <a:pPr marL="12700" marR="2172335">
                  <a:lnSpc>
                    <a:spcPct val="109400"/>
                  </a:lnSpc>
                </a:pPr>
                <a:r>
                  <a:rPr lang="en-US" sz="1600" spc="20" dirty="0">
                    <a:latin typeface="Tahoma" panose="020B0604030504040204" pitchFamily="34" charset="0"/>
                    <a:ea typeface="Tahoma" panose="020B0604030504040204" pitchFamily="34" charset="0"/>
                    <a:cs typeface="Tahoma" panose="020B0604030504040204" pitchFamily="34" charset="0"/>
                  </a:rPr>
                  <a:t>H</a:t>
                </a:r>
                <a:r>
                  <a:rPr lang="en-US" sz="1600" spc="70" dirty="0">
                    <a:latin typeface="Tahoma" panose="020B0604030504040204" pitchFamily="34" charset="0"/>
                    <a:ea typeface="Tahoma" panose="020B0604030504040204" pitchFamily="34" charset="0"/>
                    <a:cs typeface="Tahoma" panose="020B0604030504040204" pitchFamily="34" charset="0"/>
                  </a:rPr>
                  <a:t>ow</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95" dirty="0">
                    <a:latin typeface="Tahoma" panose="020B0604030504040204" pitchFamily="34" charset="0"/>
                    <a:ea typeface="Tahoma" panose="020B0604030504040204" pitchFamily="34" charset="0"/>
                    <a:cs typeface="Tahoma" panose="020B0604030504040204" pitchFamily="34" charset="0"/>
                  </a:rPr>
                  <a:t>o</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95" dirty="0">
                    <a:latin typeface="Tahoma" panose="020B0604030504040204" pitchFamily="34" charset="0"/>
                    <a:ea typeface="Tahoma" panose="020B0604030504040204" pitchFamily="34" charset="0"/>
                    <a:cs typeface="Tahoma" panose="020B0604030504040204" pitchFamily="34" charset="0"/>
                  </a:rPr>
                  <a:t>oos</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40" dirty="0">
                    <a:latin typeface="Tahoma" panose="020B0604030504040204" pitchFamily="34" charset="0"/>
                    <a:ea typeface="Tahoma" panose="020B0604030504040204" pitchFamily="34" charset="0"/>
                    <a:cs typeface="Tahoma" panose="020B0604030504040204" pitchFamily="34" charset="0"/>
                  </a:rPr>
                  <a:t>ra</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85" dirty="0">
                    <a:latin typeface="Tahoma" panose="020B0604030504040204" pitchFamily="34" charset="0"/>
                    <a:ea typeface="Tahoma" panose="020B0604030504040204" pitchFamily="34" charset="0"/>
                    <a:cs typeface="Tahoma" panose="020B0604030504040204" pitchFamily="34" charset="0"/>
                  </a:rPr>
                  <a:t>g</a:t>
                </a:r>
                <a:r>
                  <a:rPr lang="en-US" sz="1600" spc="110" dirty="0">
                    <a:latin typeface="Tahoma" panose="020B0604030504040204" pitchFamily="34" charset="0"/>
                    <a:ea typeface="Tahoma" panose="020B0604030504040204" pitchFamily="34" charset="0"/>
                    <a:cs typeface="Tahoma" panose="020B0604030504040204" pitchFamily="34" charset="0"/>
                  </a:rPr>
                  <a:t>y</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95" dirty="0">
                    <a:latin typeface="Tahoma" panose="020B0604030504040204" pitchFamily="34" charset="0"/>
                    <a:ea typeface="Tahoma" panose="020B0604030504040204" pitchFamily="34" charset="0"/>
                    <a:cs typeface="Tahoma" panose="020B0604030504040204" pitchFamily="34" charset="0"/>
                  </a:rPr>
                  <a:t>(</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10" dirty="0">
                    <a:latin typeface="Tahoma" panose="020B0604030504040204" pitchFamily="34" charset="0"/>
                    <a:ea typeface="Tahoma" panose="020B0604030504040204" pitchFamily="34" charset="0"/>
                    <a:cs typeface="Tahoma" panose="020B0604030504040204" pitchFamily="34" charset="0"/>
                  </a:rPr>
                  <a:t>f</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40" dirty="0">
                    <a:latin typeface="Tahoma" panose="020B0604030504040204" pitchFamily="34" charset="0"/>
                    <a:ea typeface="Tahoma" panose="020B0604030504040204" pitchFamily="34" charset="0"/>
                    <a:cs typeface="Tahoma" panose="020B0604030504040204" pitchFamily="34" charset="0"/>
                  </a:rPr>
                  <a:t>r</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r</a:t>
                </a:r>
                <a:r>
                  <a:rPr lang="en-US" sz="1600" spc="85" dirty="0">
                    <a:latin typeface="Tahoma" panose="020B0604030504040204" pitchFamily="34" charset="0"/>
                    <a:ea typeface="Tahoma" panose="020B0604030504040204" pitchFamily="34" charset="0"/>
                    <a:cs typeface="Tahoma" panose="020B0604030504040204" pitchFamily="34" charset="0"/>
                  </a:rPr>
                  <a:t>emov</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85" dirty="0">
                    <a:latin typeface="Tahoma" panose="020B0604030504040204" pitchFamily="34" charset="0"/>
                    <a:ea typeface="Tahoma" panose="020B0604030504040204" pitchFamily="34" charset="0"/>
                    <a:cs typeface="Tahoma" panose="020B0604030504040204" pitchFamily="34" charset="0"/>
                  </a:rPr>
                  <a:t>g</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60" dirty="0">
                    <a:latin typeface="Tahoma" panose="020B0604030504040204" pitchFamily="34" charset="0"/>
                    <a:ea typeface="Tahoma" panose="020B0604030504040204" pitchFamily="34" charset="0"/>
                    <a:cs typeface="Tahoma" panose="020B0604030504040204" pitchFamily="34" charset="0"/>
                  </a:rPr>
                  <a:t>omi</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on</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95" dirty="0">
                    <a:latin typeface="Tahoma" panose="020B0604030504040204" pitchFamily="34" charset="0"/>
                    <a:ea typeface="Tahoma" panose="020B0604030504040204" pitchFamily="34" charset="0"/>
                    <a:cs typeface="Tahoma" panose="020B0604030504040204" pitchFamily="34" charset="0"/>
                  </a:rPr>
                  <a:t>)</a:t>
                </a:r>
                <a:r>
                  <a:rPr lang="en-US" sz="1600" spc="140" dirty="0">
                    <a:latin typeface="Tahoma" panose="020B0604030504040204" pitchFamily="34" charset="0"/>
                    <a:ea typeface="Tahoma" panose="020B0604030504040204" pitchFamily="34" charset="0"/>
                    <a:cs typeface="Tahoma" panose="020B0604030504040204" pitchFamily="34" charset="0"/>
                  </a:rPr>
                  <a:t>??</a:t>
                </a:r>
                <a:r>
                  <a:rPr lang="en-US" sz="1600" spc="95" dirty="0">
                    <a:latin typeface="Tahoma" panose="020B0604030504040204" pitchFamily="34" charset="0"/>
                    <a:ea typeface="Tahoma" panose="020B0604030504040204" pitchFamily="34" charset="0"/>
                    <a:cs typeface="Tahoma" panose="020B0604030504040204" pitchFamily="34" charset="0"/>
                  </a:rPr>
                  <a:t> </a:t>
                </a:r>
                <a:r>
                  <a:rPr lang="en-US" sz="1600" spc="20" dirty="0">
                    <a:latin typeface="Tahoma" panose="020B0604030504040204" pitchFamily="34" charset="0"/>
                    <a:ea typeface="Tahoma" panose="020B0604030504040204" pitchFamily="34" charset="0"/>
                    <a:cs typeface="Tahoma" panose="020B0604030504040204" pitchFamily="34" charset="0"/>
                  </a:rPr>
                  <a:t>M</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55" dirty="0">
                    <a:latin typeface="Tahoma" panose="020B0604030504040204" pitchFamily="34" charset="0"/>
                    <a:ea typeface="Tahoma" panose="020B0604030504040204" pitchFamily="34" charset="0"/>
                    <a:cs typeface="Tahoma" panose="020B0604030504040204" pitchFamily="34" charset="0"/>
                  </a:rPr>
                  <a:t>x</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40" dirty="0">
                    <a:latin typeface="Tahoma" panose="020B0604030504040204" pitchFamily="34" charset="0"/>
                    <a:ea typeface="Tahoma" panose="020B0604030504040204" pitchFamily="34" charset="0"/>
                    <a:cs typeface="Tahoma" panose="020B0604030504040204" pitchFamily="34" charset="0"/>
                  </a:rPr>
                  <a:t>mi</a:t>
                </a:r>
                <a:r>
                  <a:rPr lang="en-US" sz="1600" spc="170" dirty="0">
                    <a:latin typeface="Tahoma" panose="020B0604030504040204" pitchFamily="34" charset="0"/>
                    <a:ea typeface="Tahoma" panose="020B0604030504040204" pitchFamily="34" charset="0"/>
                    <a:cs typeface="Tahoma" panose="020B0604030504040204" pitchFamily="34" charset="0"/>
                  </a:rPr>
                  <a:t>z</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5" dirty="0">
                    <a:latin typeface="Tahoma" panose="020B0604030504040204" pitchFamily="34" charset="0"/>
                    <a:ea typeface="Tahoma" panose="020B0604030504040204" pitchFamily="34" charset="0"/>
                    <a:cs typeface="Tahoma" panose="020B0604030504040204" pitchFamily="34" charset="0"/>
                  </a:rPr>
                  <a:t>w</a:t>
                </a:r>
                <a:r>
                  <a:rPr lang="en-US" sz="1600" spc="65" dirty="0">
                    <a:latin typeface="Tahoma" panose="020B0604030504040204" pitchFamily="34" charset="0"/>
                    <a:ea typeface="Tahoma" panose="020B0604030504040204" pitchFamily="34" charset="0"/>
                    <a:cs typeface="Tahoma" panose="020B0604030504040204" pitchFamily="34" charset="0"/>
                  </a:rPr>
                  <a:t>or</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50" dirty="0">
                    <a:latin typeface="Tahoma" panose="020B0604030504040204" pitchFamily="34" charset="0"/>
                    <a:ea typeface="Tahoma" panose="020B0604030504040204" pitchFamily="34" charset="0"/>
                    <a:cs typeface="Tahoma" panose="020B0604030504040204" pitchFamily="34" charset="0"/>
                  </a:rPr>
                  <a:t>!</a:t>
                </a:r>
                <a:endParaRPr lang="en-US" sz="1600" dirty="0">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29"/>
                  </a:spcBef>
                </a:pPr>
                <a:endParaRPr lang="en-US" sz="1800" dirty="0">
                  <a:latin typeface="Times New Roman"/>
                  <a:cs typeface="Times New Roman"/>
                </a:endParaRPr>
              </a:p>
              <a:p>
                <a:pPr marL="12700" marR="5080" algn="just">
                  <a:lnSpc>
                    <a:spcPct val="109400"/>
                  </a:lnSpc>
                </a:pPr>
                <a:r>
                  <a:rPr lang="en-US" sz="1600" spc="200" dirty="0">
                    <a:latin typeface="Tahoma" panose="020B0604030504040204" pitchFamily="34" charset="0"/>
                    <a:ea typeface="Tahoma" panose="020B0604030504040204" pitchFamily="34" charset="0"/>
                    <a:cs typeface="Tahoma" panose="020B0604030504040204" pitchFamily="34" charset="0"/>
                  </a:rPr>
                  <a:t>A</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r</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70" dirty="0">
                    <a:latin typeface="Tahoma" panose="020B0604030504040204" pitchFamily="34" charset="0"/>
                    <a:ea typeface="Tahoma" panose="020B0604030504040204" pitchFamily="34" charset="0"/>
                    <a:cs typeface="Tahoma" panose="020B0604030504040204" pitchFamily="34" charset="0"/>
                  </a:rPr>
                  <a:t>on</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85" dirty="0">
                    <a:latin typeface="Tahoma" panose="020B0604030504040204" pitchFamily="34" charset="0"/>
                    <a:ea typeface="Tahoma" panose="020B0604030504040204" pitchFamily="34" charset="0"/>
                    <a:cs typeface="Tahoma" panose="020B0604030504040204" pitchFamily="34" charset="0"/>
                  </a:rPr>
                  <a:t>b</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0" dirty="0">
                    <a:latin typeface="Tahoma" panose="020B0604030504040204" pitchFamily="34" charset="0"/>
                    <a:ea typeface="Tahoma" panose="020B0604030504040204" pitchFamily="34" charset="0"/>
                    <a:cs typeface="Tahoma" panose="020B0604030504040204" pitchFamily="34" charset="0"/>
                  </a:rPr>
                  <a:t>wa</a:t>
                </a:r>
                <a:r>
                  <a:rPr lang="en-US" sz="1600" spc="110" dirty="0">
                    <a:latin typeface="Tahoma" panose="020B0604030504040204" pitchFamily="34" charset="0"/>
                    <a:ea typeface="Tahoma" panose="020B0604030504040204" pitchFamily="34" charset="0"/>
                    <a:cs typeface="Tahoma" panose="020B0604030504040204" pitchFamily="34" charset="0"/>
                  </a:rPr>
                  <a:t>y</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95" dirty="0">
                    <a:latin typeface="Tahoma" panose="020B0604030504040204" pitchFamily="34" charset="0"/>
                    <a:ea typeface="Tahoma" panose="020B0604030504040204" pitchFamily="34" charset="0"/>
                    <a:cs typeface="Tahoma" panose="020B0604030504040204" pitchFamily="34" charset="0"/>
                  </a:rPr>
                  <a:t>o</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95" dirty="0">
                    <a:latin typeface="Tahoma" panose="020B0604030504040204" pitchFamily="34" charset="0"/>
                    <a:ea typeface="Tahoma" panose="020B0604030504040204" pitchFamily="34" charset="0"/>
                    <a:cs typeface="Tahoma" panose="020B0604030504040204" pitchFamily="34" charset="0"/>
                  </a:rPr>
                  <a:t>o</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10" dirty="0">
                    <a:latin typeface="Tahoma" panose="020B0604030504040204" pitchFamily="34" charset="0"/>
                    <a:ea typeface="Tahoma" panose="020B0604030504040204" pitchFamily="34" charset="0"/>
                    <a:cs typeface="Tahoma" panose="020B0604030504040204" pitchFamily="34" charset="0"/>
                  </a:rPr>
                  <a:t>f</a:t>
                </a:r>
                <a:r>
                  <a:rPr lang="en-US" sz="1600" spc="65" dirty="0">
                    <a:latin typeface="Tahoma" panose="020B0604030504040204" pitchFamily="34" charset="0"/>
                    <a:ea typeface="Tahoma" panose="020B0604030504040204" pitchFamily="34" charset="0"/>
                    <a:cs typeface="Tahoma" panose="020B0604030504040204" pitchFamily="34" charset="0"/>
                  </a:rPr>
                  <a:t>or</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p</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10" dirty="0">
                    <a:latin typeface="Tahoma" panose="020B0604030504040204" pitchFamily="34" charset="0"/>
                    <a:ea typeface="Tahoma" panose="020B0604030504040204" pitchFamily="34" charset="0"/>
                    <a:cs typeface="Tahoma" panose="020B0604030504040204" pitchFamily="34" charset="0"/>
                  </a:rPr>
                  <a:t>y</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40" dirty="0">
                    <a:latin typeface="Tahoma" panose="020B0604030504040204" pitchFamily="34" charset="0"/>
                    <a:ea typeface="Tahoma" panose="020B0604030504040204" pitchFamily="34" charset="0"/>
                    <a:cs typeface="Tahoma" panose="020B0604030504040204" pitchFamily="34" charset="0"/>
                  </a:rPr>
                  <a:t>r</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60" dirty="0">
                    <a:latin typeface="Tahoma" panose="020B0604030504040204" pitchFamily="34" charset="0"/>
                    <a:ea typeface="Tahoma" panose="020B0604030504040204" pitchFamily="34" charset="0"/>
                    <a:cs typeface="Tahoma" panose="020B0604030504040204" pitchFamily="34" charset="0"/>
                  </a:rPr>
                  <a:t>row</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p</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10" dirty="0">
                    <a:latin typeface="Tahoma" panose="020B0604030504040204" pitchFamily="34" charset="0"/>
                    <a:ea typeface="Tahoma" panose="020B0604030504040204" pitchFamily="34" charset="0"/>
                    <a:cs typeface="Tahoma" panose="020B0604030504040204" pitchFamily="34" charset="0"/>
                  </a:rPr>
                  <a:t>y</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40" dirty="0">
                    <a:latin typeface="Tahoma" panose="020B0604030504040204" pitchFamily="34" charset="0"/>
                    <a:ea typeface="Tahoma" panose="020B0604030504040204" pitchFamily="34" charset="0"/>
                    <a:cs typeface="Tahoma" panose="020B0604030504040204" pitchFamily="34" charset="0"/>
                  </a:rPr>
                  <a:t>r</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200" dirty="0">
                    <a:latin typeface="Tahoma" panose="020B0604030504040204" pitchFamily="34" charset="0"/>
                    <a:ea typeface="Tahoma" panose="020B0604030504040204" pitchFamily="34" charset="0"/>
                    <a:cs typeface="Tahoma" panose="020B0604030504040204" pitchFamily="34" charset="0"/>
                  </a:rPr>
                  <a:t>A</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95" dirty="0">
                    <a:latin typeface="Tahoma" panose="020B0604030504040204" pitchFamily="34" charset="0"/>
                    <a:ea typeface="Tahoma" panose="020B0604030504040204" pitchFamily="34" charset="0"/>
                    <a:cs typeface="Tahoma" panose="020B0604030504040204" pitchFamily="34" charset="0"/>
                  </a:rPr>
                  <a:t>o</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35" dirty="0">
                    <a:latin typeface="Tahoma" panose="020B0604030504040204" pitchFamily="34" charset="0"/>
                    <a:ea typeface="Tahoma" panose="020B0604030504040204" pitchFamily="34" charset="0"/>
                    <a:cs typeface="Tahoma" panose="020B0604030504040204" pitchFamily="34" charset="0"/>
                  </a:rPr>
                  <a:t>u</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mi</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55" dirty="0">
                    <a:latin typeface="Tahoma" panose="020B0604030504040204" pitchFamily="34" charset="0"/>
                    <a:ea typeface="Tahoma" panose="020B0604030504040204" pitchFamily="34" charset="0"/>
                    <a:cs typeface="Tahoma" panose="020B0604030504040204" pitchFamily="34" charset="0"/>
                  </a:rPr>
                  <a:t>mu</a:t>
                </a:r>
                <a:r>
                  <a:rPr lang="en-US" sz="1600" spc="80" dirty="0">
                    <a:latin typeface="Tahoma" panose="020B0604030504040204" pitchFamily="34" charset="0"/>
                    <a:ea typeface="Tahoma" panose="020B0604030504040204" pitchFamily="34" charset="0"/>
                    <a:cs typeface="Tahoma" panose="020B0604030504040204" pitchFamily="34" charset="0"/>
                  </a:rPr>
                  <a:t>m</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p</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10" dirty="0">
                    <a:latin typeface="Tahoma" panose="020B0604030504040204" pitchFamily="34" charset="0"/>
                    <a:ea typeface="Tahoma" panose="020B0604030504040204" pitchFamily="34" charset="0"/>
                    <a:cs typeface="Tahoma" panose="020B0604030504040204" pitchFamily="34" charset="0"/>
                  </a:rPr>
                  <a:t>y</a:t>
                </a:r>
                <a:r>
                  <a:rPr lang="en-US" sz="1600" spc="20" dirty="0">
                    <a:latin typeface="Tahoma" panose="020B0604030504040204" pitchFamily="34" charset="0"/>
                    <a:ea typeface="Tahoma" panose="020B0604030504040204" pitchFamily="34" charset="0"/>
                    <a:cs typeface="Tahoma" panose="020B0604030504040204" pitchFamily="34" charset="0"/>
                  </a:rPr>
                  <a:t>-</a:t>
                </a:r>
                <a:r>
                  <a:rPr lang="en-US" sz="1600" spc="100" dirty="0">
                    <a:latin typeface="Tahoma" panose="020B0604030504040204" pitchFamily="34" charset="0"/>
                    <a:ea typeface="Tahoma" panose="020B0604030504040204" pitchFamily="34" charset="0"/>
                    <a:cs typeface="Tahoma" panose="020B0604030504040204" pitchFamily="34" charset="0"/>
                  </a:rPr>
                  <a:t>of</a:t>
                </a:r>
                <a:r>
                  <a:rPr lang="en-US" sz="1600" spc="110" dirty="0">
                    <a:latin typeface="Tahoma" panose="020B0604030504040204" pitchFamily="34" charset="0"/>
                    <a:ea typeface="Tahoma" panose="020B0604030504040204" pitchFamily="34" charset="0"/>
                    <a:cs typeface="Tahoma" panose="020B0604030504040204" pitchFamily="34" charset="0"/>
                  </a:rPr>
                  <a:t>f f</a:t>
                </a:r>
                <a:r>
                  <a:rPr lang="en-US" sz="1600" spc="65" dirty="0">
                    <a:latin typeface="Tahoma" panose="020B0604030504040204" pitchFamily="34" charset="0"/>
                    <a:ea typeface="Tahoma" panose="020B0604030504040204" pitchFamily="34" charset="0"/>
                    <a:cs typeface="Tahoma" panose="020B0604030504040204" pitchFamily="34" charset="0"/>
                  </a:rPr>
                  <a:t>or</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p</a:t>
                </a:r>
                <a:r>
                  <a:rPr lang="en-US" sz="1600" spc="95" dirty="0">
                    <a:latin typeface="Tahoma" panose="020B0604030504040204" pitchFamily="34" charset="0"/>
                    <a:ea typeface="Tahoma" panose="020B0604030504040204" pitchFamily="34" charset="0"/>
                    <a:cs typeface="Tahoma" panose="020B0604030504040204" pitchFamily="34" charset="0"/>
                  </a:rPr>
                  <a:t>os</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85" dirty="0">
                    <a:latin typeface="Tahoma" panose="020B0604030504040204" pitchFamily="34" charset="0"/>
                    <a:ea typeface="Tahoma" panose="020B0604030504040204" pitchFamily="34" charset="0"/>
                    <a:cs typeface="Tahoma" panose="020B0604030504040204" pitchFamily="34" charset="0"/>
                  </a:rPr>
                  <a:t>b</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40" dirty="0">
                    <a:latin typeface="Tahoma" panose="020B0604030504040204" pitchFamily="34" charset="0"/>
                    <a:ea typeface="Tahoma" panose="020B0604030504040204" pitchFamily="34" charset="0"/>
                    <a:cs typeface="Tahoma" panose="020B0604030504040204" pitchFamily="34" charset="0"/>
                  </a:rPr>
                  <a:t>ra</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85" dirty="0">
                    <a:latin typeface="Tahoma" panose="020B0604030504040204" pitchFamily="34" charset="0"/>
                    <a:ea typeface="Tahoma" panose="020B0604030504040204" pitchFamily="34" charset="0"/>
                    <a:cs typeface="Tahoma" panose="020B0604030504040204" pitchFamily="34" charset="0"/>
                  </a:rPr>
                  <a:t>g</a:t>
                </a:r>
                <a:r>
                  <a:rPr lang="en-US" sz="1600" spc="110" dirty="0">
                    <a:latin typeface="Tahoma" panose="020B0604030504040204" pitchFamily="34" charset="0"/>
                    <a:ea typeface="Tahoma" panose="020B0604030504040204" pitchFamily="34" charset="0"/>
                    <a:cs typeface="Tahoma" panose="020B0604030504040204" pitchFamily="34" charset="0"/>
                  </a:rPr>
                  <a:t>y</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45" dirty="0">
                    <a:latin typeface="Tahoma" panose="020B0604030504040204" pitchFamily="34" charset="0"/>
                    <a:ea typeface="Tahoma" panose="020B0604030504040204" pitchFamily="34" charset="0"/>
                    <a:cs typeface="Tahoma" panose="020B0604030504040204" pitchFamily="34" charset="0"/>
                  </a:rPr>
                  <a:t>oi</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1600" b="0" i="1" spc="100"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i="1" spc="100" dirty="0" smtClean="0">
                            <a:latin typeface="Cambria Math" panose="02040503050406030204" pitchFamily="18" charset="0"/>
                            <a:ea typeface="Tahoma" panose="020B0604030504040204" pitchFamily="34" charset="0"/>
                            <a:cs typeface="Tahoma" panose="020B0604030504040204" pitchFamily="34" charset="0"/>
                          </a:rPr>
                          <m:t>𝑠</m:t>
                        </m:r>
                      </m:e>
                      <m:sub>
                        <m:r>
                          <a:rPr lang="en-US" sz="1600" i="1" spc="5" dirty="0">
                            <a:latin typeface="Cambria Math" panose="02040503050406030204" pitchFamily="18" charset="0"/>
                            <a:ea typeface="Tahoma" panose="020B0604030504040204" pitchFamily="34" charset="0"/>
                            <a:cs typeface="Tahoma" panose="020B0604030504040204" pitchFamily="34" charset="0"/>
                          </a:rPr>
                          <m:t>𝑖</m:t>
                        </m:r>
                      </m:sub>
                    </m:sSub>
                  </m:oMath>
                </a14:m>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95" dirty="0">
                    <a:latin typeface="Tahoma" panose="020B0604030504040204" pitchFamily="34" charset="0"/>
                    <a:ea typeface="Tahoma" panose="020B0604030504040204" pitchFamily="34" charset="0"/>
                    <a:cs typeface="Tahoma" panose="020B0604030504040204" pitchFamily="34" charset="0"/>
                  </a:rPr>
                  <a:t>(</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00" dirty="0">
                    <a:latin typeface="Tahoma" panose="020B0604030504040204" pitchFamily="34" charset="0"/>
                    <a:ea typeface="Tahoma" panose="020B0604030504040204" pitchFamily="34" charset="0"/>
                    <a:cs typeface="Tahoma" panose="020B0604030504040204" pitchFamily="34" charset="0"/>
                  </a:rPr>
                  <a:t>ss</a:t>
                </a:r>
                <a:r>
                  <a:rPr lang="en-US" sz="1600" spc="35" dirty="0">
                    <a:latin typeface="Tahoma" panose="020B0604030504040204" pitchFamily="34" charset="0"/>
                    <a:ea typeface="Tahoma" panose="020B0604030504040204" pitchFamily="34" charset="0"/>
                    <a:cs typeface="Tahoma" panose="020B0604030504040204" pitchFamily="34" charset="0"/>
                  </a:rPr>
                  <a:t>u</a:t>
                </a:r>
                <a:r>
                  <a:rPr lang="en-US" sz="1600" spc="40" dirty="0">
                    <a:latin typeface="Tahoma" panose="020B0604030504040204" pitchFamily="34" charset="0"/>
                    <a:ea typeface="Tahoma" panose="020B0604030504040204" pitchFamily="34" charset="0"/>
                    <a:cs typeface="Tahoma" panose="020B0604030504040204" pitchFamily="34" charset="0"/>
                  </a:rPr>
                  <a:t>mi</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85" dirty="0">
                    <a:latin typeface="Tahoma" panose="020B0604030504040204" pitchFamily="34" charset="0"/>
                    <a:ea typeface="Tahoma" panose="020B0604030504040204" pitchFamily="34" charset="0"/>
                    <a:cs typeface="Tahoma" panose="020B0604030504040204" pitchFamily="34" charset="0"/>
                  </a:rPr>
                  <a:t>g</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5" dirty="0">
                    <a:latin typeface="Tahoma" panose="020B0604030504040204" pitchFamily="34" charset="0"/>
                    <a:ea typeface="Tahoma" panose="020B0604030504040204" pitchFamily="34" charset="0"/>
                    <a:cs typeface="Tahoma" panose="020B0604030504040204" pitchFamily="34" charset="0"/>
                  </a:rPr>
                  <a:t>B</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5" dirty="0">
                    <a:latin typeface="Tahoma" panose="020B0604030504040204" pitchFamily="34" charset="0"/>
                    <a:ea typeface="Tahoma" panose="020B0604030504040204" pitchFamily="34" charset="0"/>
                    <a:cs typeface="Tahoma" panose="020B0604030504040204" pitchFamily="34" charset="0"/>
                  </a:rPr>
                  <a:t>w</a:t>
                </a:r>
                <a:r>
                  <a:rPr lang="en-US" sz="1600" spc="70" dirty="0">
                    <a:latin typeface="Tahoma" panose="020B0604030504040204" pitchFamily="34" charset="0"/>
                    <a:ea typeface="Tahoma" panose="020B0604030504040204" pitchFamily="34" charset="0"/>
                    <a:cs typeface="Tahoma" panose="020B0604030504040204" pitchFamily="34" charset="0"/>
                  </a:rPr>
                  <a:t>ou</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r</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5" dirty="0">
                    <a:latin typeface="Tahoma" panose="020B0604030504040204" pitchFamily="34" charset="0"/>
                    <a:ea typeface="Tahoma" panose="020B0604030504040204" pitchFamily="34" charset="0"/>
                    <a:cs typeface="Tahoma" panose="020B0604030504040204" pitchFamily="34" charset="0"/>
                  </a:rPr>
                  <a:t>w</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45" dirty="0">
                    <a:latin typeface="Tahoma" panose="020B0604030504040204" pitchFamily="34" charset="0"/>
                    <a:ea typeface="Tahoma" panose="020B0604030504040204" pitchFamily="34" charset="0"/>
                    <a:cs typeface="Tahoma" panose="020B0604030504040204" pitchFamily="34" charset="0"/>
                  </a:rPr>
                  <a:t>oi</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45" dirty="0">
                    <a:latin typeface="Tahoma" panose="020B0604030504040204" pitchFamily="34" charset="0"/>
                    <a:ea typeface="Tahoma" panose="020B0604030504040204" pitchFamily="34" charset="0"/>
                    <a:cs typeface="Tahoma" panose="020B0604030504040204" pitchFamily="34" charset="0"/>
                  </a:rPr>
                  <a:t> </a:t>
                </a:r>
                <a:r>
                  <a:rPr lang="en-US" sz="1600" spc="55" dirty="0">
                    <a:latin typeface="Tahoma" panose="020B0604030504040204" pitchFamily="34" charset="0"/>
                    <a:ea typeface="Tahoma" panose="020B0604030504040204" pitchFamily="34" charset="0"/>
                    <a:cs typeface="Tahoma" panose="020B0604030504040204" pitchFamily="34" charset="0"/>
                  </a:rPr>
                  <a:t>w</a:t>
                </a:r>
                <a:r>
                  <a:rPr lang="en-US" sz="1600" spc="65" dirty="0">
                    <a:latin typeface="Tahoma" panose="020B0604030504040204" pitchFamily="34" charset="0"/>
                    <a:ea typeface="Tahoma" panose="020B0604030504040204" pitchFamily="34" charset="0"/>
                    <a:cs typeface="Tahoma" panose="020B0604030504040204" pitchFamily="34" charset="0"/>
                  </a:rPr>
                  <a:t>or</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95" dirty="0">
                    <a:latin typeface="Tahoma" panose="020B0604030504040204" pitchFamily="34" charset="0"/>
                    <a:ea typeface="Tahoma" panose="020B0604030504040204" pitchFamily="34" charset="0"/>
                    <a:cs typeface="Tahoma" panose="020B0604030504040204" pitchFamily="34" charset="0"/>
                  </a:rPr>
                  <a:t>)</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95" dirty="0">
                    <a:latin typeface="Tahoma" panose="020B0604030504040204" pitchFamily="34" charset="0"/>
                    <a:ea typeface="Tahoma" panose="020B0604030504040204" pitchFamily="34" charset="0"/>
                    <a:cs typeface="Tahoma" panose="020B0604030504040204" pitchFamily="34" charset="0"/>
                  </a:rPr>
                  <a:t>o</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95" dirty="0">
                    <a:latin typeface="Tahoma" panose="020B0604030504040204" pitchFamily="34" charset="0"/>
                    <a:ea typeface="Tahoma" panose="020B0604030504040204" pitchFamily="34" charset="0"/>
                    <a:cs typeface="Tahoma" panose="020B0604030504040204" pitchFamily="34" charset="0"/>
                  </a:rPr>
                  <a:t>oos</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1600" b="0" i="1" spc="100"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i="1" spc="100" dirty="0" smtClean="0">
                            <a:latin typeface="Cambria Math" panose="02040503050406030204" pitchFamily="18" charset="0"/>
                            <a:ea typeface="Tahoma" panose="020B0604030504040204" pitchFamily="34" charset="0"/>
                            <a:cs typeface="Tahoma" panose="020B0604030504040204" pitchFamily="34" charset="0"/>
                          </a:rPr>
                          <m:t>𝑠</m:t>
                        </m:r>
                      </m:e>
                      <m:sub>
                        <m:r>
                          <a:rPr lang="en-US" sz="1600" i="1" spc="5" dirty="0">
                            <a:latin typeface="Cambria Math" panose="02040503050406030204" pitchFamily="18" charset="0"/>
                            <a:ea typeface="Tahoma" panose="020B0604030504040204" pitchFamily="34" charset="0"/>
                            <a:cs typeface="Tahoma" panose="020B0604030504040204" pitchFamily="34" charset="0"/>
                          </a:rPr>
                          <m:t>𝑖</m:t>
                        </m:r>
                      </m:sub>
                    </m:sSub>
                  </m:oMath>
                </a14:m>
                <a:r>
                  <a:rPr lang="en-US" sz="1600" spc="65"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65" dirty="0">
                    <a:latin typeface="Tahoma" panose="020B0604030504040204" pitchFamily="34" charset="0"/>
                    <a:ea typeface="Tahoma" panose="020B0604030504040204" pitchFamily="34" charset="0"/>
                    <a:cs typeface="Tahoma" panose="020B0604030504040204" pitchFamily="34" charset="0"/>
                  </a:rPr>
                  <a:t>ma</a:t>
                </a:r>
                <a:r>
                  <a:rPr lang="en-US" sz="1600" spc="55" dirty="0">
                    <a:latin typeface="Tahoma" panose="020B0604030504040204" pitchFamily="34" charset="0"/>
                    <a:ea typeface="Tahoma" panose="020B0604030504040204" pitchFamily="34" charset="0"/>
                    <a:cs typeface="Tahoma" panose="020B0604030504040204" pitchFamily="34" charset="0"/>
                  </a:rPr>
                  <a:t>x</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40" dirty="0">
                    <a:latin typeface="Tahoma" panose="020B0604030504040204" pitchFamily="34" charset="0"/>
                    <a:ea typeface="Tahoma" panose="020B0604030504040204" pitchFamily="34" charset="0"/>
                    <a:cs typeface="Tahoma" panose="020B0604030504040204" pitchFamily="34" charset="0"/>
                  </a:rPr>
                  <a:t>mi</a:t>
                </a:r>
                <a:r>
                  <a:rPr lang="en-US" sz="1600" spc="170" dirty="0">
                    <a:latin typeface="Tahoma" panose="020B0604030504040204" pitchFamily="34" charset="0"/>
                    <a:ea typeface="Tahoma" panose="020B0604030504040204" pitchFamily="34" charset="0"/>
                    <a:cs typeface="Tahoma" panose="020B0604030504040204" pitchFamily="34" charset="0"/>
                  </a:rPr>
                  <a:t>z</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mi</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55" dirty="0">
                    <a:latin typeface="Tahoma" panose="020B0604030504040204" pitchFamily="34" charset="0"/>
                    <a:ea typeface="Tahoma" panose="020B0604030504040204" pitchFamily="34" charset="0"/>
                    <a:cs typeface="Tahoma" panose="020B0604030504040204" pitchFamily="34" charset="0"/>
                  </a:rPr>
                  <a:t>mu</a:t>
                </a:r>
                <a:r>
                  <a:rPr lang="en-US" sz="1600" spc="80" dirty="0">
                    <a:latin typeface="Tahoma" panose="020B0604030504040204" pitchFamily="34" charset="0"/>
                    <a:ea typeface="Tahoma" panose="020B0604030504040204" pitchFamily="34" charset="0"/>
                    <a:cs typeface="Tahoma" panose="020B0604030504040204" pitchFamily="34" charset="0"/>
                  </a:rPr>
                  <a:t>m</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55" dirty="0">
                    <a:latin typeface="Tahoma" panose="020B0604030504040204" pitchFamily="34" charset="0"/>
                    <a:ea typeface="Tahoma" panose="020B0604030504040204" pitchFamily="34" charset="0"/>
                    <a:cs typeface="Tahoma" panose="020B0604030504040204" pitchFamily="34" charset="0"/>
                  </a:rPr>
                  <a:t>x</a:t>
                </a:r>
                <a:r>
                  <a:rPr lang="en-US" sz="1600" spc="70" dirty="0">
                    <a:latin typeface="Tahoma" panose="020B0604030504040204" pitchFamily="34" charset="0"/>
                    <a:ea typeface="Tahoma" panose="020B0604030504040204" pitchFamily="34" charset="0"/>
                    <a:cs typeface="Tahoma" panose="020B0604030504040204" pitchFamily="34" charset="0"/>
                  </a:rPr>
                  <a:t>p</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p</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10" dirty="0">
                    <a:latin typeface="Tahoma" panose="020B0604030504040204" pitchFamily="34" charset="0"/>
                    <a:ea typeface="Tahoma" panose="020B0604030504040204" pitchFamily="34" charset="0"/>
                    <a:cs typeface="Tahoma" panose="020B0604030504040204" pitchFamily="34" charset="0"/>
                  </a:rPr>
                  <a:t>y</a:t>
                </a:r>
                <a:r>
                  <a:rPr lang="en-US" sz="1600" spc="20" dirty="0">
                    <a:latin typeface="Tahoma" panose="020B0604030504040204" pitchFamily="34" charset="0"/>
                    <a:ea typeface="Tahoma" panose="020B0604030504040204" pitchFamily="34" charset="0"/>
                    <a:cs typeface="Tahoma" panose="020B0604030504040204" pitchFamily="34" charset="0"/>
                  </a:rPr>
                  <a:t>-</a:t>
                </a:r>
                <a:r>
                  <a:rPr lang="en-US" sz="1600" spc="100" dirty="0">
                    <a:latin typeface="Tahoma" panose="020B0604030504040204" pitchFamily="34" charset="0"/>
                    <a:ea typeface="Tahoma" panose="020B0604030504040204" pitchFamily="34" charset="0"/>
                    <a:cs typeface="Tahoma" panose="020B0604030504040204" pitchFamily="34" charset="0"/>
                  </a:rPr>
                  <a:t>of</a:t>
                </a:r>
                <a:r>
                  <a:rPr lang="en-US" sz="1600" spc="110" dirty="0">
                    <a:latin typeface="Tahoma" panose="020B0604030504040204" pitchFamily="34" charset="0"/>
                    <a:ea typeface="Tahoma" panose="020B0604030504040204" pitchFamily="34" charset="0"/>
                    <a:cs typeface="Tahoma" panose="020B0604030504040204" pitchFamily="34" charset="0"/>
                  </a:rPr>
                  <a:t>f</a:t>
                </a:r>
                <a:r>
                  <a:rPr lang="en-US" sz="1600" dirty="0">
                    <a:latin typeface="Tahoma" panose="020B0604030504040204" pitchFamily="34" charset="0"/>
                    <a:ea typeface="Tahoma" panose="020B0604030504040204" pitchFamily="34" charset="0"/>
                    <a:cs typeface="Tahoma" panose="020B0604030504040204" pitchFamily="34" charset="0"/>
                  </a:rPr>
                  <a:t>.</a:t>
                </a:r>
              </a:p>
              <a:p>
                <a:pPr>
                  <a:lnSpc>
                    <a:spcPct val="100000"/>
                  </a:lnSpc>
                  <a:spcBef>
                    <a:spcPts val="37"/>
                  </a:spcBef>
                </a:pPr>
                <a:endParaRPr lang="en-US" sz="1950" dirty="0">
                  <a:latin typeface="Times New Roman"/>
                  <a:cs typeface="Times New Roman"/>
                </a:endParaRPr>
              </a:p>
              <a:p>
                <a:pPr marL="12700" algn="just">
                  <a:lnSpc>
                    <a:spcPct val="100000"/>
                  </a:lnSpc>
                </a:pPr>
                <a:r>
                  <a:rPr lang="en-US" sz="1600" spc="75" dirty="0">
                    <a:latin typeface="Tahoma" panose="020B0604030504040204" pitchFamily="34" charset="0"/>
                    <a:ea typeface="Tahoma" panose="020B0604030504040204" pitchFamily="34" charset="0"/>
                    <a:cs typeface="Tahoma" panose="020B0604030504040204" pitchFamily="34" charset="0"/>
                  </a:rPr>
                  <a:t>B</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5" dirty="0">
                    <a:latin typeface="Tahoma" panose="020B0604030504040204" pitchFamily="34" charset="0"/>
                    <a:ea typeface="Tahoma" panose="020B0604030504040204" pitchFamily="34" charset="0"/>
                    <a:cs typeface="Tahoma" panose="020B0604030504040204" pitchFamily="34" charset="0"/>
                  </a:rPr>
                  <a:t>w</a:t>
                </a:r>
                <a:r>
                  <a:rPr lang="en-US" sz="1600" spc="70" dirty="0">
                    <a:latin typeface="Tahoma" panose="020B0604030504040204" pitchFamily="34" charset="0"/>
                    <a:ea typeface="Tahoma" panose="020B0604030504040204" pitchFamily="34" charset="0"/>
                    <a:cs typeface="Tahoma" panose="020B0604030504040204" pitchFamily="34" charset="0"/>
                  </a:rPr>
                  <a:t>ou</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95" dirty="0">
                    <a:latin typeface="Tahoma" panose="020B0604030504040204" pitchFamily="34" charset="0"/>
                    <a:ea typeface="Tahoma" panose="020B0604030504040204" pitchFamily="34" charset="0"/>
                    <a:cs typeface="Tahoma" panose="020B0604030504040204" pitchFamily="34" charset="0"/>
                  </a:rPr>
                  <a:t>o</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75" dirty="0">
                    <a:latin typeface="Tahoma" panose="020B0604030504040204" pitchFamily="34" charset="0"/>
                    <a:ea typeface="Tahoma" panose="020B0604030504040204" pitchFamily="34" charset="0"/>
                    <a:cs typeface="Tahoma" panose="020B0604030504040204" pitchFamily="34" charset="0"/>
                  </a:rPr>
                  <a:t>me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50" dirty="0">
                    <a:latin typeface="Tahoma" panose="020B0604030504040204" pitchFamily="34" charset="0"/>
                    <a:ea typeface="Tahoma" panose="020B0604030504040204" pitchFamily="34" charset="0"/>
                    <a:cs typeface="Tahoma" panose="020B0604030504040204" pitchFamily="34" charset="0"/>
                  </a:rPr>
                  <a:t>wa</a:t>
                </a:r>
                <a:r>
                  <a:rPr lang="en-US" sz="1600" spc="70" dirty="0">
                    <a:latin typeface="Tahoma" panose="020B0604030504040204" pitchFamily="34" charset="0"/>
                    <a:ea typeface="Tahoma" panose="020B0604030504040204" pitchFamily="34" charset="0"/>
                    <a:cs typeface="Tahoma" panose="020B0604030504040204" pitchFamily="34" charset="0"/>
                  </a:rPr>
                  <a:t>pp</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85" dirty="0">
                    <a:latin typeface="Tahoma" panose="020B0604030504040204" pitchFamily="34" charset="0"/>
                    <a:ea typeface="Tahoma" panose="020B0604030504040204" pitchFamily="34" charset="0"/>
                    <a:cs typeface="Tahoma" panose="020B0604030504040204" pitchFamily="34" charset="0"/>
                  </a:rPr>
                  <a:t>g</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mi</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40" dirty="0">
                    <a:latin typeface="Tahoma" panose="020B0604030504040204" pitchFamily="34" charset="0"/>
                    <a:ea typeface="Tahoma" panose="020B0604030504040204" pitchFamily="34" charset="0"/>
                    <a:cs typeface="Tahoma" panose="020B0604030504040204" pitchFamily="34" charset="0"/>
                  </a:rPr>
                  <a:t>mi</a:t>
                </a:r>
                <a:r>
                  <a:rPr lang="en-US" sz="1600" spc="170" dirty="0">
                    <a:latin typeface="Tahoma" panose="020B0604030504040204" pitchFamily="34" charset="0"/>
                    <a:ea typeface="Tahoma" panose="020B0604030504040204" pitchFamily="34" charset="0"/>
                    <a:cs typeface="Tahoma" panose="020B0604030504040204" pitchFamily="34" charset="0"/>
                  </a:rPr>
                  <a:t>z</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70" dirty="0">
                    <a:latin typeface="Tahoma" panose="020B0604030504040204" pitchFamily="34" charset="0"/>
                    <a:ea typeface="Tahoma" panose="020B0604030504040204" pitchFamily="34" charset="0"/>
                    <a:cs typeface="Tahoma" panose="020B0604030504040204" pitchFamily="34" charset="0"/>
                  </a:rPr>
                  <a:t>on</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65" dirty="0">
                    <a:latin typeface="Tahoma" panose="020B0604030504040204" pitchFamily="34" charset="0"/>
                    <a:ea typeface="Tahoma" panose="020B0604030504040204" pitchFamily="34" charset="0"/>
                    <a:cs typeface="Tahoma" panose="020B0604030504040204" pitchFamily="34" charset="0"/>
                  </a:rPr>
                  <a:t>ma</a:t>
                </a:r>
                <a:r>
                  <a:rPr lang="en-US" sz="1600" spc="55" dirty="0">
                    <a:latin typeface="Tahoma" panose="020B0604030504040204" pitchFamily="34" charset="0"/>
                    <a:ea typeface="Tahoma" panose="020B0604030504040204" pitchFamily="34" charset="0"/>
                    <a:cs typeface="Tahoma" panose="020B0604030504040204" pitchFamily="34" charset="0"/>
                  </a:rPr>
                  <a:t>x</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40" dirty="0">
                    <a:latin typeface="Tahoma" panose="020B0604030504040204" pitchFamily="34" charset="0"/>
                    <a:ea typeface="Tahoma" panose="020B0604030504040204" pitchFamily="34" charset="0"/>
                    <a:cs typeface="Tahoma" panose="020B0604030504040204" pitchFamily="34" charset="0"/>
                  </a:rPr>
                  <a:t>mi</a:t>
                </a:r>
                <a:r>
                  <a:rPr lang="en-US" sz="1600" spc="170" dirty="0">
                    <a:latin typeface="Tahoma" panose="020B0604030504040204" pitchFamily="34" charset="0"/>
                    <a:ea typeface="Tahoma" panose="020B0604030504040204" pitchFamily="34" charset="0"/>
                    <a:cs typeface="Tahoma" panose="020B0604030504040204" pitchFamily="34" charset="0"/>
                  </a:rPr>
                  <a:t>z</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70" dirty="0">
                    <a:latin typeface="Tahoma" panose="020B0604030504040204" pitchFamily="34" charset="0"/>
                    <a:ea typeface="Tahoma" panose="020B0604030504040204" pitchFamily="34" charset="0"/>
                    <a:cs typeface="Tahoma" panose="020B0604030504040204" pitchFamily="34" charset="0"/>
                  </a:rPr>
                  <a:t>on</a:t>
                </a:r>
                <a:r>
                  <a:rPr lang="en-US" sz="1600" dirty="0">
                    <a:latin typeface="Tahoma" panose="020B0604030504040204" pitchFamily="34" charset="0"/>
                    <a:ea typeface="Tahoma" panose="020B0604030504040204" pitchFamily="34" charset="0"/>
                    <a:cs typeface="Tahoma" panose="020B0604030504040204" pitchFamily="34" charset="0"/>
                  </a:rPr>
                  <a:t>.</a:t>
                </a:r>
              </a:p>
              <a:p>
                <a:pPr marL="40640" marR="309245">
                  <a:lnSpc>
                    <a:spcPct val="109400"/>
                  </a:lnSpc>
                  <a:spcBef>
                    <a:spcPts val="1765"/>
                  </a:spcBef>
                </a:pPr>
                <a:endParaRPr lang="en-US" sz="1600" spc="-215" dirty="0">
                  <a:latin typeface="Tahoma"/>
                  <a:cs typeface="Tahoma"/>
                </a:endParaRPr>
              </a:p>
              <a:p>
                <a:pPr marL="40640" marR="309245">
                  <a:lnSpc>
                    <a:spcPct val="109400"/>
                  </a:lnSpc>
                  <a:spcBef>
                    <a:spcPts val="1765"/>
                  </a:spcBef>
                </a:pPr>
                <a:endParaRPr lang="en-US" sz="1600" spc="-215" dirty="0">
                  <a:latin typeface="Tahoma"/>
                  <a:cs typeface="Tahoma"/>
                </a:endParaRPr>
              </a:p>
              <a:p>
                <a:pPr marL="40640" marR="309245">
                  <a:lnSpc>
                    <a:spcPct val="109400"/>
                  </a:lnSpc>
                  <a:spcBef>
                    <a:spcPts val="1765"/>
                  </a:spcBef>
                </a:pPr>
                <a:endParaRPr lang="en-US" sz="1600" spc="-215" dirty="0">
                  <a:latin typeface="Tahoma"/>
                  <a:cs typeface="Tahoma"/>
                </a:endParaRPr>
              </a:p>
              <a:p>
                <a:pPr marL="40640" marR="309245">
                  <a:lnSpc>
                    <a:spcPct val="109400"/>
                  </a:lnSpc>
                  <a:spcBef>
                    <a:spcPts val="1765"/>
                  </a:spcBef>
                </a:pPr>
                <a:endParaRPr lang="en-US" sz="1600" spc="-215" dirty="0">
                  <a:latin typeface="Tahoma"/>
                  <a:cs typeface="Tahoma"/>
                </a:endParaRPr>
              </a:p>
              <a:p>
                <a:pPr marL="40640" marR="309245">
                  <a:lnSpc>
                    <a:spcPct val="109400"/>
                  </a:lnSpc>
                  <a:spcBef>
                    <a:spcPts val="1765"/>
                  </a:spcBef>
                </a:pPr>
                <a:r>
                  <a:rPr lang="en-US" sz="1600" spc="30" dirty="0">
                    <a:latin typeface="Tahoma" panose="020B0604030504040204" pitchFamily="34" charset="0"/>
                    <a:ea typeface="Tahoma" panose="020B0604030504040204" pitchFamily="34" charset="0"/>
                    <a:cs typeface="Tahoma" panose="020B0604030504040204" pitchFamily="34" charset="0"/>
                  </a:rPr>
                  <a:t>If </a:t>
                </a:r>
                <a:r>
                  <a:rPr lang="en-US" sz="1600" spc="200" dirty="0">
                    <a:latin typeface="Tahoma" panose="020B0604030504040204" pitchFamily="34" charset="0"/>
                    <a:ea typeface="Tahoma" panose="020B0604030504040204" pitchFamily="34" charset="0"/>
                    <a:cs typeface="Tahoma" panose="020B0604030504040204" pitchFamily="34" charset="0"/>
                  </a:rPr>
                  <a:t>A</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40" dirty="0">
                    <a:latin typeface="Tahoma" panose="020B0604030504040204" pitchFamily="34" charset="0"/>
                    <a:ea typeface="Tahoma" panose="020B0604030504040204" pitchFamily="34" charset="0"/>
                    <a:cs typeface="Tahoma" panose="020B0604030504040204" pitchFamily="34" charset="0"/>
                  </a:rPr>
                  <a:t>ar</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95" dirty="0">
                    <a:latin typeface="Tahoma" panose="020B0604030504040204" pitchFamily="34" charset="0"/>
                    <a:ea typeface="Tahoma" panose="020B0604030504040204" pitchFamily="34" charset="0"/>
                    <a:cs typeface="Tahoma" panose="020B0604030504040204" pitchFamily="34" charset="0"/>
                  </a:rPr>
                  <a:t>o</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p</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10" dirty="0">
                    <a:latin typeface="Tahoma" panose="020B0604030504040204" pitchFamily="34" charset="0"/>
                    <a:ea typeface="Tahoma" panose="020B0604030504040204" pitchFamily="34" charset="0"/>
                    <a:cs typeface="Tahoma" panose="020B0604030504040204" pitchFamily="34" charset="0"/>
                  </a:rPr>
                  <a:t>y</a:t>
                </a:r>
                <a:r>
                  <a:rPr lang="en-US" sz="1600" spc="3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1600" b="0" i="1" spc="100"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i="1" spc="100" dirty="0" smtClean="0">
                            <a:latin typeface="Cambria Math" panose="02040503050406030204" pitchFamily="18" charset="0"/>
                            <a:ea typeface="Tahoma" panose="020B0604030504040204" pitchFamily="34" charset="0"/>
                            <a:cs typeface="Tahoma" panose="020B0604030504040204" pitchFamily="34" charset="0"/>
                          </a:rPr>
                          <m:t>𝑠</m:t>
                        </m:r>
                      </m:e>
                      <m:sub>
                        <m:r>
                          <a:rPr lang="en-US" sz="1600" i="1" spc="190" dirty="0">
                            <a:latin typeface="Cambria Math" panose="02040503050406030204" pitchFamily="18" charset="0"/>
                            <a:ea typeface="Tahoma" panose="020B0604030504040204" pitchFamily="34" charset="0"/>
                            <a:cs typeface="Tahoma" panose="020B0604030504040204" pitchFamily="34" charset="0"/>
                          </a:rPr>
                          <m:t>3</m:t>
                        </m:r>
                      </m:sub>
                    </m:sSub>
                  </m:oMath>
                </a14:m>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95" dirty="0">
                    <a:latin typeface="Tahoma" panose="020B0604030504040204" pitchFamily="34" charset="0"/>
                    <a:ea typeface="Tahoma" panose="020B0604030504040204" pitchFamily="34" charset="0"/>
                    <a:cs typeface="Tahoma" panose="020B0604030504040204" pitchFamily="34" charset="0"/>
                  </a:rPr>
                  <a:t>(</a:t>
                </a:r>
                <a:r>
                  <a:rPr lang="en-US" sz="1600" spc="65" dirty="0">
                    <a:latin typeface="Tahoma" panose="020B0604030504040204" pitchFamily="34" charset="0"/>
                    <a:ea typeface="Tahoma" panose="020B0604030504040204" pitchFamily="34" charset="0"/>
                    <a:cs typeface="Tahoma" panose="020B0604030504040204" pitchFamily="34" charset="0"/>
                  </a:rPr>
                  <a:t>or</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5" dirty="0">
                    <a:latin typeface="Tahoma" panose="020B0604030504040204" pitchFamily="34" charset="0"/>
                    <a:ea typeface="Tahoma" panose="020B0604030504040204" pitchFamily="34" charset="0"/>
                    <a:cs typeface="Tahoma" panose="020B0604030504040204" pitchFamily="34" charset="0"/>
                  </a:rPr>
                  <a:t>B</a:t>
                </a:r>
                <a:r>
                  <a:rPr lang="en-US" sz="1600" spc="3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1600" b="0" i="1" spc="170"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i="1" spc="170" dirty="0" smtClean="0">
                            <a:latin typeface="Cambria Math" panose="02040503050406030204" pitchFamily="18" charset="0"/>
                            <a:ea typeface="Tahoma" panose="020B0604030504040204" pitchFamily="34" charset="0"/>
                            <a:cs typeface="Tahoma" panose="020B0604030504040204" pitchFamily="34" charset="0"/>
                          </a:rPr>
                          <m:t>𝑡</m:t>
                        </m:r>
                      </m:e>
                      <m:sub>
                        <m:r>
                          <a:rPr lang="en-US" sz="1600" i="1" spc="190" dirty="0">
                            <a:latin typeface="Cambria Math" panose="02040503050406030204" pitchFamily="18" charset="0"/>
                            <a:ea typeface="Tahoma" panose="020B0604030504040204" pitchFamily="34" charset="0"/>
                            <a:cs typeface="Tahoma" panose="020B0604030504040204" pitchFamily="34" charset="0"/>
                          </a:rPr>
                          <m:t>3</m:t>
                        </m:r>
                      </m:sub>
                    </m:sSub>
                  </m:oMath>
                </a14:m>
                <a:r>
                  <a:rPr lang="en-US" sz="1600" spc="95" dirty="0">
                    <a:latin typeface="Tahoma" panose="020B0604030504040204" pitchFamily="34" charset="0"/>
                    <a:ea typeface="Tahoma" panose="020B0604030504040204" pitchFamily="34" charset="0"/>
                    <a:cs typeface="Tahoma" panose="020B0604030504040204" pitchFamily="34" charset="0"/>
                  </a:rPr>
                  <a:t>)</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ot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40" dirty="0">
                    <a:latin typeface="Tahoma" panose="020B0604030504040204" pitchFamily="34" charset="0"/>
                    <a:ea typeface="Tahoma" panose="020B0604030504040204" pitchFamily="34" charset="0"/>
                    <a:cs typeface="Tahoma" panose="020B0604030504040204" pitchFamily="34" charset="0"/>
                  </a:rPr>
                  <a:t>r</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p</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10" dirty="0">
                    <a:latin typeface="Tahoma" panose="020B0604030504040204" pitchFamily="34" charset="0"/>
                    <a:ea typeface="Tahoma" panose="020B0604030504040204" pitchFamily="34" charset="0"/>
                    <a:cs typeface="Tahoma" panose="020B0604030504040204" pitchFamily="34" charset="0"/>
                  </a:rPr>
                  <a:t>y</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40" dirty="0">
                    <a:latin typeface="Tahoma" panose="020B0604030504040204" pitchFamily="34" charset="0"/>
                    <a:ea typeface="Tahoma" panose="020B0604030504040204" pitchFamily="34" charset="0"/>
                    <a:cs typeface="Tahoma" panose="020B0604030504040204" pitchFamily="34" charset="0"/>
                  </a:rPr>
                  <a:t>r</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10" dirty="0">
                    <a:latin typeface="Tahoma" panose="020B0604030504040204" pitchFamily="34" charset="0"/>
                    <a:ea typeface="Tahoma" panose="020B0604030504040204" pitchFamily="34" charset="0"/>
                    <a:cs typeface="Tahoma" panose="020B0604030504040204" pitchFamily="34" charset="0"/>
                  </a:rPr>
                  <a:t>f</a:t>
                </a:r>
                <a:r>
                  <a:rPr lang="en-US" sz="1600" spc="65" dirty="0">
                    <a:latin typeface="Tahoma" panose="020B0604030504040204" pitchFamily="34" charset="0"/>
                    <a:ea typeface="Tahoma" panose="020B0604030504040204" pitchFamily="34" charset="0"/>
                    <a:cs typeface="Tahoma" panose="020B0604030504040204" pitchFamily="34" charset="0"/>
                  </a:rPr>
                  <a:t>or</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95" dirty="0">
                    <a:latin typeface="Tahoma" panose="020B0604030504040204" pitchFamily="34" charset="0"/>
                    <a:ea typeface="Tahoma" panose="020B0604030504040204" pitchFamily="34" charset="0"/>
                    <a:cs typeface="Tahoma" panose="020B0604030504040204" pitchFamily="34" charset="0"/>
                  </a:rPr>
                  <a:t>o</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95" dirty="0">
                    <a:latin typeface="Tahoma" panose="020B0604030504040204" pitchFamily="34" charset="0"/>
                    <a:ea typeface="Tahoma" panose="020B0604030504040204" pitchFamily="34" charset="0"/>
                    <a:cs typeface="Tahoma" panose="020B0604030504040204" pitchFamily="34" charset="0"/>
                  </a:rPr>
                  <a:t>oos</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1600" b="0" i="1" spc="170"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i="1" spc="170" dirty="0" smtClean="0">
                            <a:latin typeface="Cambria Math" panose="02040503050406030204" pitchFamily="18" charset="0"/>
                            <a:ea typeface="Tahoma" panose="020B0604030504040204" pitchFamily="34" charset="0"/>
                            <a:cs typeface="Tahoma" panose="020B0604030504040204" pitchFamily="34" charset="0"/>
                          </a:rPr>
                          <m:t>𝑡</m:t>
                        </m:r>
                      </m:e>
                      <m:sub>
                        <m:r>
                          <a:rPr lang="en-US" sz="1600" i="1" spc="190" dirty="0">
                            <a:latin typeface="Cambria Math" panose="02040503050406030204" pitchFamily="18" charset="0"/>
                            <a:ea typeface="Tahoma" panose="020B0604030504040204" pitchFamily="34" charset="0"/>
                            <a:cs typeface="Tahoma" panose="020B0604030504040204" pitchFamily="34" charset="0"/>
                          </a:rPr>
                          <m:t>3</m:t>
                        </m:r>
                      </m:sub>
                    </m:sSub>
                  </m:oMath>
                </a14:m>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95"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sSub>
                      <m:sSubPr>
                        <m:ctrlPr>
                          <a:rPr lang="en-US" sz="1600" b="0" i="1" spc="100"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i="1" spc="100" dirty="0" smtClean="0">
                            <a:latin typeface="Cambria Math" panose="02040503050406030204" pitchFamily="18" charset="0"/>
                            <a:ea typeface="Tahoma" panose="020B0604030504040204" pitchFamily="34" charset="0"/>
                            <a:cs typeface="Tahoma" panose="020B0604030504040204" pitchFamily="34" charset="0"/>
                          </a:rPr>
                          <m:t>𝑠</m:t>
                        </m:r>
                      </m:e>
                      <m:sub>
                        <m:r>
                          <a:rPr lang="en-US" sz="1600" i="1" spc="190" dirty="0">
                            <a:latin typeface="Cambria Math" panose="02040503050406030204" pitchFamily="18" charset="0"/>
                            <a:ea typeface="Tahoma" panose="020B0604030504040204" pitchFamily="34" charset="0"/>
                            <a:cs typeface="Tahoma" panose="020B0604030504040204" pitchFamily="34" charset="0"/>
                          </a:rPr>
                          <m:t>3</m:t>
                        </m:r>
                      </m:sub>
                    </m:sSub>
                  </m:oMath>
                </a14:m>
                <a:r>
                  <a:rPr lang="en-US" sz="1600" spc="95" dirty="0">
                    <a:latin typeface="Tahoma" panose="020B0604030504040204" pitchFamily="34" charset="0"/>
                    <a:ea typeface="Tahoma" panose="020B0604030504040204" pitchFamily="34" charset="0"/>
                    <a:cs typeface="Tahoma" panose="020B0604030504040204" pitchFamily="34" charset="0"/>
                  </a:rPr>
                  <a:t>)</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60" dirty="0">
                    <a:latin typeface="Tahoma" panose="020B0604030504040204" pitchFamily="34" charset="0"/>
                    <a:ea typeface="Tahoma" panose="020B0604030504040204" pitchFamily="34" charset="0"/>
                    <a:cs typeface="Tahoma" panose="020B0604030504040204" pitchFamily="34" charset="0"/>
                  </a:rPr>
                  <a:t> e</a:t>
                </a:r>
                <a:r>
                  <a:rPr lang="en-US" sz="1600" spc="55" dirty="0">
                    <a:latin typeface="Tahoma" panose="020B0604030504040204" pitchFamily="34" charset="0"/>
                    <a:ea typeface="Tahoma" panose="020B0604030504040204" pitchFamily="34" charset="0"/>
                    <a:cs typeface="Tahoma" panose="020B0604030504040204" pitchFamily="34" charset="0"/>
                  </a:rPr>
                  <a:t>x</a:t>
                </a:r>
                <a:r>
                  <a:rPr lang="en-US" sz="1600" spc="70" dirty="0">
                    <a:latin typeface="Tahoma" panose="020B0604030504040204" pitchFamily="34" charset="0"/>
                    <a:ea typeface="Tahoma" panose="020B0604030504040204" pitchFamily="34" charset="0"/>
                    <a:cs typeface="Tahoma" panose="020B0604030504040204" pitchFamily="34" charset="0"/>
                  </a:rPr>
                  <a:t>p</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70" dirty="0">
                    <a:latin typeface="Tahoma" panose="020B0604030504040204" pitchFamily="34" charset="0"/>
                    <a:ea typeface="Tahoma" panose="020B0604030504040204" pitchFamily="34" charset="0"/>
                    <a:cs typeface="Tahoma" panose="020B0604030504040204" pitchFamily="34" charset="0"/>
                  </a:rPr>
                  <a:t>p</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110" dirty="0">
                    <a:latin typeface="Tahoma" panose="020B0604030504040204" pitchFamily="34" charset="0"/>
                    <a:ea typeface="Tahoma" panose="020B0604030504040204" pitchFamily="34" charset="0"/>
                    <a:cs typeface="Tahoma" panose="020B0604030504040204" pitchFamily="34" charset="0"/>
                  </a:rPr>
                  <a:t>y</a:t>
                </a:r>
                <a:r>
                  <a:rPr lang="en-US" sz="1600" spc="20" dirty="0">
                    <a:latin typeface="Tahoma" panose="020B0604030504040204" pitchFamily="34" charset="0"/>
                    <a:ea typeface="Tahoma" panose="020B0604030504040204" pitchFamily="34" charset="0"/>
                    <a:cs typeface="Tahoma" panose="020B0604030504040204" pitchFamily="34" charset="0"/>
                  </a:rPr>
                  <a:t>-</a:t>
                </a:r>
                <a:r>
                  <a:rPr lang="en-US" sz="1600" spc="100" dirty="0">
                    <a:latin typeface="Tahoma" panose="020B0604030504040204" pitchFamily="34" charset="0"/>
                    <a:ea typeface="Tahoma" panose="020B0604030504040204" pitchFamily="34" charset="0"/>
                    <a:cs typeface="Tahoma" panose="020B0604030504040204" pitchFamily="34" charset="0"/>
                  </a:rPr>
                  <a:t>of</a:t>
                </a:r>
                <a:r>
                  <a:rPr lang="en-US" sz="1600" spc="110" dirty="0">
                    <a:latin typeface="Tahoma" panose="020B0604030504040204" pitchFamily="34" charset="0"/>
                    <a:ea typeface="Tahoma" panose="020B0604030504040204" pitchFamily="34" charset="0"/>
                    <a:cs typeface="Tahoma" panose="020B0604030504040204" pitchFamily="34" charset="0"/>
                  </a:rPr>
                  <a:t>f</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5" dirty="0">
                    <a:latin typeface="Tahoma" panose="020B0604030504040204" pitchFamily="34" charset="0"/>
                    <a:ea typeface="Tahoma" panose="020B0604030504040204" pitchFamily="34" charset="0"/>
                    <a:cs typeface="Tahoma" panose="020B0604030504040204" pitchFamily="34" charset="0"/>
                  </a:rPr>
                  <a:t>w</a:t>
                </a:r>
                <a:r>
                  <a:rPr lang="en-US" sz="1600" spc="65" dirty="0">
                    <a:latin typeface="Tahoma" panose="020B0604030504040204" pitchFamily="34" charset="0"/>
                    <a:ea typeface="Tahoma" panose="020B0604030504040204" pitchFamily="34" charset="0"/>
                    <a:cs typeface="Tahoma" panose="020B0604030504040204" pitchFamily="34" charset="0"/>
                  </a:rPr>
                  <a:t>or</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ot</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40" dirty="0">
                    <a:latin typeface="Tahoma" panose="020B0604030504040204" pitchFamily="34" charset="0"/>
                    <a:ea typeface="Tahoma" panose="020B0604030504040204" pitchFamily="34" charset="0"/>
                    <a:cs typeface="Tahoma" panose="020B0604030504040204" pitchFamily="34" charset="0"/>
                  </a:rPr>
                  <a:t>r</a:t>
                </a:r>
                <a:r>
                  <a:rPr lang="en-US" sz="1600" spc="55" dirty="0">
                    <a:latin typeface="Tahoma" panose="020B0604030504040204" pitchFamily="34" charset="0"/>
                    <a:ea typeface="Tahoma" panose="020B0604030504040204" pitchFamily="34" charset="0"/>
                    <a:cs typeface="Tahoma" panose="020B0604030504040204" pitchFamily="34" charset="0"/>
                  </a:rPr>
                  <a:t>w</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dirty="0">
                    <a:latin typeface="Tahoma" panose="020B0604030504040204" pitchFamily="34" charset="0"/>
                    <a:ea typeface="Tahoma" panose="020B0604030504040204" pitchFamily="34" charset="0"/>
                    <a:cs typeface="Tahoma" panose="020B0604030504040204" pitchFamily="34" charset="0"/>
                  </a:rPr>
                  <a:t>.</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0" dirty="0">
                    <a:latin typeface="Tahoma" panose="020B0604030504040204" pitchFamily="34" charset="0"/>
                    <a:ea typeface="Tahoma" panose="020B0604030504040204" pitchFamily="34" charset="0"/>
                    <a:cs typeface="Tahoma" panose="020B0604030504040204" pitchFamily="34" charset="0"/>
                  </a:rPr>
                  <a:t>Su</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35" dirty="0">
                    <a:latin typeface="Tahoma" panose="020B0604030504040204" pitchFamily="34" charset="0"/>
                    <a:ea typeface="Tahoma" panose="020B0604030504040204" pitchFamily="34" charset="0"/>
                    <a:cs typeface="Tahoma" panose="020B0604030504040204" pitchFamily="34" charset="0"/>
                  </a:rPr>
                  <a:t>h</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85" dirty="0">
                    <a:latin typeface="Tahoma" panose="020B0604030504040204" pitchFamily="34" charset="0"/>
                    <a:ea typeface="Tahoma" panose="020B0604030504040204" pitchFamily="34" charset="0"/>
                    <a:cs typeface="Tahoma" panose="020B0604030504040204" pitchFamily="34" charset="0"/>
                  </a:rPr>
                  <a:t>b</a:t>
                </a:r>
                <a:r>
                  <a:rPr lang="en-US" sz="1600" spc="5" dirty="0">
                    <a:latin typeface="Tahoma" panose="020B0604030504040204" pitchFamily="34" charset="0"/>
                    <a:ea typeface="Tahoma" panose="020B0604030504040204" pitchFamily="34" charset="0"/>
                    <a:cs typeface="Tahoma" panose="020B0604030504040204" pitchFamily="34" charset="0"/>
                  </a:rPr>
                  <a:t>l</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5" dirty="0">
                    <a:latin typeface="Tahoma" panose="020B0604030504040204" pitchFamily="34" charset="0"/>
                    <a:ea typeface="Tahoma" panose="020B0604030504040204" pitchFamily="34" charset="0"/>
                    <a:cs typeface="Tahoma" panose="020B0604030504040204" pitchFamily="34" charset="0"/>
                  </a:rPr>
                  <a:t>poi</a:t>
                </a:r>
                <a:r>
                  <a:rPr lang="en-US" sz="1600" spc="35" dirty="0">
                    <a:latin typeface="Tahoma" panose="020B0604030504040204" pitchFamily="34" charset="0"/>
                    <a:ea typeface="Tahoma" panose="020B0604030504040204" pitchFamily="34" charset="0"/>
                    <a:cs typeface="Tahoma" panose="020B0604030504040204" pitchFamily="34" charset="0"/>
                  </a:rPr>
                  <a:t>n</a:t>
                </a:r>
                <a:r>
                  <a:rPr lang="en-US" sz="1600" spc="170" dirty="0">
                    <a:latin typeface="Tahoma" panose="020B0604030504040204" pitchFamily="34" charset="0"/>
                    <a:ea typeface="Tahoma" panose="020B0604030504040204" pitchFamily="34" charset="0"/>
                    <a:cs typeface="Tahoma" panose="020B0604030504040204" pitchFamily="34" charset="0"/>
                  </a:rPr>
                  <a:t>t</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5" dirty="0">
                    <a:latin typeface="Tahoma" panose="020B0604030504040204" pitchFamily="34" charset="0"/>
                    <a:ea typeface="Tahoma" panose="020B0604030504040204" pitchFamily="34" charset="0"/>
                    <a:cs typeface="Tahoma" panose="020B0604030504040204" pitchFamily="34" charset="0"/>
                  </a:rPr>
                  <a:t>i</a:t>
                </a:r>
                <a:r>
                  <a:rPr lang="en-US" sz="1600" spc="100" dirty="0">
                    <a:latin typeface="Tahoma" panose="020B0604030504040204" pitchFamily="34" charset="0"/>
                    <a:ea typeface="Tahoma" panose="020B0604030504040204" pitchFamily="34" charset="0"/>
                    <a:cs typeface="Tahoma" panose="020B0604030504040204" pitchFamily="34" charset="0"/>
                  </a:rPr>
                  <a:t>s</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130" dirty="0">
                    <a:latin typeface="Tahoma" panose="020B0604030504040204" pitchFamily="34" charset="0"/>
                    <a:ea typeface="Tahoma" panose="020B0604030504040204" pitchFamily="34" charset="0"/>
                    <a:cs typeface="Tahoma" panose="020B0604030504040204" pitchFamily="34" charset="0"/>
                  </a:rPr>
                  <a:t>c</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5" dirty="0">
                    <a:latin typeface="Tahoma" panose="020B0604030504040204" pitchFamily="34" charset="0"/>
                    <a:ea typeface="Tahoma" panose="020B0604030504040204" pitchFamily="34" charset="0"/>
                    <a:cs typeface="Tahoma" panose="020B0604030504040204" pitchFamily="34" charset="0"/>
                  </a:rPr>
                  <a:t>ll</a:t>
                </a:r>
                <a:r>
                  <a:rPr lang="en-US" sz="1600" spc="75" dirty="0">
                    <a:latin typeface="Tahoma" panose="020B0604030504040204" pitchFamily="34" charset="0"/>
                    <a:ea typeface="Tahoma" panose="020B0604030504040204" pitchFamily="34" charset="0"/>
                    <a:cs typeface="Tahoma" panose="020B0604030504040204" pitchFamily="34" charset="0"/>
                  </a:rPr>
                  <a:t>e</a:t>
                </a:r>
                <a:r>
                  <a:rPr lang="en-US" sz="1600" spc="70" dirty="0">
                    <a:latin typeface="Tahoma" panose="020B0604030504040204" pitchFamily="34" charset="0"/>
                    <a:ea typeface="Tahoma" panose="020B0604030504040204" pitchFamily="34" charset="0"/>
                    <a:cs typeface="Tahoma" panose="020B0604030504040204" pitchFamily="34" charset="0"/>
                  </a:rPr>
                  <a:t>d</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spc="40" dirty="0">
                    <a:latin typeface="Tahoma" panose="020B0604030504040204" pitchFamily="34" charset="0"/>
                    <a:ea typeface="Tahoma" panose="020B0604030504040204" pitchFamily="34" charset="0"/>
                    <a:cs typeface="Tahoma" panose="020B0604030504040204" pitchFamily="34" charset="0"/>
                  </a:rPr>
                  <a:t>a</a:t>
                </a:r>
                <a:r>
                  <a:rPr lang="en-US" sz="1600" spc="30" dirty="0">
                    <a:latin typeface="Tahoma" panose="020B0604030504040204" pitchFamily="34" charset="0"/>
                    <a:ea typeface="Tahoma" panose="020B0604030504040204" pitchFamily="34" charset="0"/>
                    <a:cs typeface="Tahoma" panose="020B0604030504040204" pitchFamily="34" charset="0"/>
                  </a:rPr>
                  <a:t> </a:t>
                </a:r>
                <a:r>
                  <a:rPr lang="en-US" sz="1600" u="heavy" spc="100" dirty="0">
                    <a:latin typeface="Tahoma" panose="020B0604030504040204" pitchFamily="34" charset="0"/>
                    <a:ea typeface="Tahoma" panose="020B0604030504040204" pitchFamily="34" charset="0"/>
                    <a:cs typeface="Tahoma" panose="020B0604030504040204" pitchFamily="34" charset="0"/>
                  </a:rPr>
                  <a:t>s</a:t>
                </a:r>
                <a:r>
                  <a:rPr lang="en-US" sz="1600" u="heavy" spc="40" dirty="0">
                    <a:latin typeface="Tahoma" panose="020B0604030504040204" pitchFamily="34" charset="0"/>
                    <a:ea typeface="Tahoma" panose="020B0604030504040204" pitchFamily="34" charset="0"/>
                    <a:cs typeface="Tahoma" panose="020B0604030504040204" pitchFamily="34" charset="0"/>
                  </a:rPr>
                  <a:t>a</a:t>
                </a:r>
                <a:r>
                  <a:rPr lang="en-US" sz="1600" u="heavy" spc="70" dirty="0">
                    <a:latin typeface="Tahoma" panose="020B0604030504040204" pitchFamily="34" charset="0"/>
                    <a:ea typeface="Tahoma" panose="020B0604030504040204" pitchFamily="34" charset="0"/>
                    <a:cs typeface="Tahoma" panose="020B0604030504040204" pitchFamily="34" charset="0"/>
                  </a:rPr>
                  <a:t>dd</a:t>
                </a:r>
                <a:r>
                  <a:rPr lang="en-US" sz="1600" u="heavy" spc="5" dirty="0">
                    <a:latin typeface="Tahoma" panose="020B0604030504040204" pitchFamily="34" charset="0"/>
                    <a:ea typeface="Tahoma" panose="020B0604030504040204" pitchFamily="34" charset="0"/>
                    <a:cs typeface="Tahoma" panose="020B0604030504040204" pitchFamily="34" charset="0"/>
                  </a:rPr>
                  <a:t>l</a:t>
                </a:r>
                <a:r>
                  <a:rPr lang="en-US" sz="1600" u="heavy" spc="75" dirty="0">
                    <a:latin typeface="Tahoma" panose="020B0604030504040204" pitchFamily="34" charset="0"/>
                    <a:ea typeface="Tahoma" panose="020B0604030504040204" pitchFamily="34" charset="0"/>
                    <a:cs typeface="Tahoma" panose="020B0604030504040204" pitchFamily="34" charset="0"/>
                  </a:rPr>
                  <a:t>e</a:t>
                </a:r>
                <a:r>
                  <a:rPr lang="en-US" sz="1600" u="heavy" spc="30" dirty="0">
                    <a:latin typeface="Tahoma" panose="020B0604030504040204" pitchFamily="34" charset="0"/>
                    <a:ea typeface="Tahoma" panose="020B0604030504040204" pitchFamily="34" charset="0"/>
                    <a:cs typeface="Tahoma" panose="020B0604030504040204" pitchFamily="34" charset="0"/>
                  </a:rPr>
                  <a:t> </a:t>
                </a:r>
                <a:r>
                  <a:rPr lang="en-US" sz="1600" u="heavy" spc="55" dirty="0">
                    <a:latin typeface="Tahoma" panose="020B0604030504040204" pitchFamily="34" charset="0"/>
                    <a:ea typeface="Tahoma" panose="020B0604030504040204" pitchFamily="34" charset="0"/>
                    <a:cs typeface="Tahoma" panose="020B0604030504040204" pitchFamily="34" charset="0"/>
                  </a:rPr>
                  <a:t>poi</a:t>
                </a:r>
                <a:r>
                  <a:rPr lang="en-US" sz="1600" u="heavy" spc="35" dirty="0">
                    <a:latin typeface="Tahoma" panose="020B0604030504040204" pitchFamily="34" charset="0"/>
                    <a:ea typeface="Tahoma" panose="020B0604030504040204" pitchFamily="34" charset="0"/>
                    <a:cs typeface="Tahoma" panose="020B0604030504040204" pitchFamily="34" charset="0"/>
                  </a:rPr>
                  <a:t>n</a:t>
                </a:r>
                <a:r>
                  <a:rPr lang="en-US" sz="1600" u="heavy" spc="165" dirty="0">
                    <a:latin typeface="Tahoma" panose="020B0604030504040204" pitchFamily="34" charset="0"/>
                    <a:ea typeface="Tahoma" panose="020B0604030504040204" pitchFamily="34" charset="0"/>
                    <a:cs typeface="Tahoma" panose="020B0604030504040204" pitchFamily="34" charset="0"/>
                  </a:rPr>
                  <a:t>t</a:t>
                </a:r>
                <a:r>
                  <a:rPr lang="en-US" sz="1600" dirty="0">
                    <a:latin typeface="Tahoma" panose="020B0604030504040204" pitchFamily="34" charset="0"/>
                    <a:ea typeface="Tahoma" panose="020B0604030504040204" pitchFamily="34" charset="0"/>
                    <a:cs typeface="Tahoma" panose="020B0604030504040204" pitchFamily="34" charset="0"/>
                  </a:rPr>
                  <a:t>.</a:t>
                </a:r>
              </a:p>
              <a:p>
                <a:pPr>
                  <a:lnSpc>
                    <a:spcPct val="100000"/>
                  </a:lnSpc>
                  <a:spcBef>
                    <a:spcPts val="29"/>
                  </a:spcBef>
                </a:pPr>
                <a:endParaRPr lang="en-US" sz="1800" dirty="0">
                  <a:latin typeface="Times New Roman"/>
                  <a:cs typeface="Times New Roman"/>
                </a:endParaRPr>
              </a:p>
              <a:p>
                <a:pPr marL="40640" marR="125730">
                  <a:lnSpc>
                    <a:spcPct val="109400"/>
                  </a:lnSpc>
                </a:pPr>
                <a:r>
                  <a:rPr lang="en-US" sz="1600" spc="200" dirty="0">
                    <a:latin typeface="Tahoma"/>
                    <a:cs typeface="Tahoma"/>
                  </a:rPr>
                  <a:t>A</a:t>
                </a:r>
                <a:r>
                  <a:rPr lang="en-US" sz="1600" spc="30" dirty="0">
                    <a:latin typeface="Tahoma"/>
                    <a:cs typeface="Tahoma"/>
                  </a:rPr>
                  <a:t> </a:t>
                </a:r>
                <a:r>
                  <a:rPr lang="en-US" sz="1600" spc="100" dirty="0">
                    <a:latin typeface="Tahoma"/>
                    <a:cs typeface="Tahoma"/>
                  </a:rPr>
                  <a:t>s</a:t>
                </a:r>
                <a:r>
                  <a:rPr lang="en-US" sz="1600" spc="40" dirty="0">
                    <a:latin typeface="Tahoma"/>
                    <a:cs typeface="Tahoma"/>
                  </a:rPr>
                  <a:t>a</a:t>
                </a:r>
                <a:r>
                  <a:rPr lang="en-US" sz="1600" spc="70" dirty="0">
                    <a:latin typeface="Tahoma"/>
                    <a:cs typeface="Tahoma"/>
                  </a:rPr>
                  <a:t>dd</a:t>
                </a:r>
                <a:r>
                  <a:rPr lang="en-US" sz="1600" spc="5" dirty="0">
                    <a:latin typeface="Tahoma"/>
                    <a:cs typeface="Tahoma"/>
                  </a:rPr>
                  <a:t>l</a:t>
                </a:r>
                <a:r>
                  <a:rPr lang="en-US" sz="1600" spc="75" dirty="0">
                    <a:latin typeface="Tahoma"/>
                    <a:cs typeface="Tahoma"/>
                  </a:rPr>
                  <a:t>e</a:t>
                </a:r>
                <a:r>
                  <a:rPr lang="en-US" sz="1600" spc="30" dirty="0">
                    <a:latin typeface="Tahoma"/>
                    <a:cs typeface="Tahoma"/>
                  </a:rPr>
                  <a:t> </a:t>
                </a:r>
                <a:r>
                  <a:rPr lang="en-US" sz="1600" spc="55" dirty="0">
                    <a:latin typeface="Tahoma"/>
                    <a:cs typeface="Tahoma"/>
                  </a:rPr>
                  <a:t>poi</a:t>
                </a:r>
                <a:r>
                  <a:rPr lang="en-US" sz="1600" spc="35" dirty="0">
                    <a:latin typeface="Tahoma"/>
                    <a:cs typeface="Tahoma"/>
                  </a:rPr>
                  <a:t>n</a:t>
                </a:r>
                <a:r>
                  <a:rPr lang="en-US" sz="1600" spc="170" dirty="0">
                    <a:latin typeface="Tahoma"/>
                    <a:cs typeface="Tahoma"/>
                  </a:rPr>
                  <a:t>t</a:t>
                </a:r>
                <a:r>
                  <a:rPr lang="en-US" sz="1600" spc="30" dirty="0">
                    <a:latin typeface="Tahoma"/>
                    <a:cs typeface="Tahoma"/>
                  </a:rPr>
                  <a:t> </a:t>
                </a:r>
                <a:r>
                  <a:rPr lang="en-US" sz="1600" spc="5" dirty="0">
                    <a:latin typeface="Tahoma"/>
                    <a:cs typeface="Tahoma"/>
                  </a:rPr>
                  <a:t>i</a:t>
                </a:r>
                <a:r>
                  <a:rPr lang="en-US" sz="1600" spc="100" dirty="0">
                    <a:latin typeface="Tahoma"/>
                    <a:cs typeface="Tahoma"/>
                  </a:rPr>
                  <a:t>s</a:t>
                </a:r>
                <a:r>
                  <a:rPr lang="en-US" sz="1600" spc="30" dirty="0">
                    <a:latin typeface="Tahoma"/>
                    <a:cs typeface="Tahoma"/>
                  </a:rPr>
                  <a:t> </a:t>
                </a:r>
                <a:r>
                  <a:rPr lang="en-US" sz="1600" spc="40" dirty="0">
                    <a:latin typeface="Tahoma"/>
                    <a:cs typeface="Tahoma"/>
                  </a:rPr>
                  <a:t>a</a:t>
                </a:r>
                <a:r>
                  <a:rPr lang="en-US" sz="1600" spc="30" dirty="0">
                    <a:latin typeface="Tahoma"/>
                    <a:cs typeface="Tahoma"/>
                  </a:rPr>
                  <a:t> </a:t>
                </a:r>
                <a:r>
                  <a:rPr lang="en-US" sz="1600" spc="70" dirty="0">
                    <a:latin typeface="Tahoma"/>
                    <a:cs typeface="Tahoma"/>
                  </a:rPr>
                  <a:t>p</a:t>
                </a:r>
                <a:r>
                  <a:rPr lang="en-US" sz="1600" spc="40" dirty="0">
                    <a:latin typeface="Tahoma"/>
                    <a:cs typeface="Tahoma"/>
                  </a:rPr>
                  <a:t>a</a:t>
                </a:r>
                <a:r>
                  <a:rPr lang="en-US" sz="1600" spc="5" dirty="0">
                    <a:latin typeface="Tahoma"/>
                    <a:cs typeface="Tahoma"/>
                  </a:rPr>
                  <a:t>i</a:t>
                </a:r>
                <a:r>
                  <a:rPr lang="en-US" sz="1600" spc="40" dirty="0">
                    <a:latin typeface="Tahoma"/>
                    <a:cs typeface="Tahoma"/>
                  </a:rPr>
                  <a:t>r</a:t>
                </a:r>
                <a:r>
                  <a:rPr lang="en-US" sz="1600" spc="30" dirty="0">
                    <a:latin typeface="Tahoma"/>
                    <a:cs typeface="Tahoma"/>
                  </a:rPr>
                  <a:t> </a:t>
                </a:r>
                <a:r>
                  <a:rPr lang="en-US" sz="1600" spc="100" dirty="0">
                    <a:latin typeface="Tahoma"/>
                    <a:cs typeface="Tahoma"/>
                  </a:rPr>
                  <a:t>of</a:t>
                </a:r>
                <a:r>
                  <a:rPr lang="en-US" sz="1600" spc="30" dirty="0">
                    <a:latin typeface="Tahoma"/>
                    <a:cs typeface="Tahoma"/>
                  </a:rPr>
                  <a:t> </a:t>
                </a:r>
                <a:r>
                  <a:rPr lang="en-US" sz="1600" spc="100" dirty="0">
                    <a:latin typeface="Tahoma"/>
                    <a:cs typeface="Tahoma"/>
                  </a:rPr>
                  <a:t>s</a:t>
                </a:r>
                <a:r>
                  <a:rPr lang="en-US" sz="1600" spc="170" dirty="0">
                    <a:latin typeface="Tahoma"/>
                    <a:cs typeface="Tahoma"/>
                  </a:rPr>
                  <a:t>t</a:t>
                </a:r>
                <a:r>
                  <a:rPr lang="en-US" sz="1600" spc="40" dirty="0">
                    <a:latin typeface="Tahoma"/>
                    <a:cs typeface="Tahoma"/>
                  </a:rPr>
                  <a:t>ra</a:t>
                </a:r>
                <a:r>
                  <a:rPr lang="en-US" sz="1600" spc="170" dirty="0">
                    <a:latin typeface="Tahoma"/>
                    <a:cs typeface="Tahoma"/>
                  </a:rPr>
                  <a:t>t</a:t>
                </a:r>
                <a:r>
                  <a:rPr lang="en-US" sz="1600" spc="75" dirty="0">
                    <a:latin typeface="Tahoma"/>
                    <a:cs typeface="Tahoma"/>
                  </a:rPr>
                  <a:t>e</a:t>
                </a:r>
                <a:r>
                  <a:rPr lang="en-US" sz="1600" spc="85" dirty="0">
                    <a:latin typeface="Tahoma"/>
                    <a:cs typeface="Tahoma"/>
                  </a:rPr>
                  <a:t>g</a:t>
                </a:r>
                <a:r>
                  <a:rPr lang="en-US" sz="1600" spc="5" dirty="0">
                    <a:latin typeface="Tahoma"/>
                    <a:cs typeface="Tahoma"/>
                  </a:rPr>
                  <a:t>i</a:t>
                </a:r>
                <a:r>
                  <a:rPr lang="en-US" sz="1600" spc="75" dirty="0">
                    <a:latin typeface="Tahoma"/>
                    <a:cs typeface="Tahoma"/>
                  </a:rPr>
                  <a:t>e</a:t>
                </a:r>
                <a:r>
                  <a:rPr lang="en-US" sz="1600" spc="100" dirty="0">
                    <a:latin typeface="Tahoma"/>
                    <a:cs typeface="Tahoma"/>
                  </a:rPr>
                  <a:t>s</a:t>
                </a:r>
                <a:r>
                  <a:rPr lang="en-US" sz="1600" spc="30" dirty="0">
                    <a:latin typeface="Tahoma"/>
                    <a:cs typeface="Tahoma"/>
                  </a:rPr>
                  <a:t> </a:t>
                </a:r>
                <a:r>
                  <a:rPr lang="en-US" sz="1600" spc="100" dirty="0">
                    <a:latin typeface="Tahoma"/>
                    <a:cs typeface="Tahoma"/>
                  </a:rPr>
                  <a:t>s</a:t>
                </a:r>
                <a:r>
                  <a:rPr lang="en-US" sz="1600" spc="35" dirty="0">
                    <a:latin typeface="Tahoma"/>
                    <a:cs typeface="Tahoma"/>
                  </a:rPr>
                  <a:t>u</a:t>
                </a:r>
                <a:r>
                  <a:rPr lang="en-US" sz="1600" spc="130" dirty="0">
                    <a:latin typeface="Tahoma"/>
                    <a:cs typeface="Tahoma"/>
                  </a:rPr>
                  <a:t>c</a:t>
                </a:r>
                <a:r>
                  <a:rPr lang="en-US" sz="1600" spc="35" dirty="0">
                    <a:latin typeface="Tahoma"/>
                    <a:cs typeface="Tahoma"/>
                  </a:rPr>
                  <a:t>h</a:t>
                </a:r>
                <a:r>
                  <a:rPr lang="en-US" sz="1600" spc="30" dirty="0">
                    <a:latin typeface="Tahoma"/>
                    <a:cs typeface="Tahoma"/>
                  </a:rPr>
                  <a:t> </a:t>
                </a:r>
                <a:r>
                  <a:rPr lang="en-US" sz="1600" spc="170" dirty="0">
                    <a:latin typeface="Tahoma"/>
                    <a:cs typeface="Tahoma"/>
                  </a:rPr>
                  <a:t>t</a:t>
                </a:r>
                <a:r>
                  <a:rPr lang="en-US" sz="1600" spc="35" dirty="0">
                    <a:latin typeface="Tahoma"/>
                    <a:cs typeface="Tahoma"/>
                  </a:rPr>
                  <a:t>h</a:t>
                </a:r>
                <a:r>
                  <a:rPr lang="en-US" sz="1600" spc="40" dirty="0">
                    <a:latin typeface="Tahoma"/>
                    <a:cs typeface="Tahoma"/>
                  </a:rPr>
                  <a:t>a</a:t>
                </a:r>
                <a:r>
                  <a:rPr lang="en-US" sz="1600" spc="170" dirty="0">
                    <a:latin typeface="Tahoma"/>
                    <a:cs typeface="Tahoma"/>
                  </a:rPr>
                  <a:t>t</a:t>
                </a:r>
                <a:r>
                  <a:rPr lang="en-US" sz="1600" spc="30" dirty="0">
                    <a:latin typeface="Tahoma"/>
                    <a:cs typeface="Tahoma"/>
                  </a:rPr>
                  <a:t> </a:t>
                </a:r>
                <a:r>
                  <a:rPr lang="en-US" sz="1600" spc="170" dirty="0">
                    <a:latin typeface="Tahoma"/>
                    <a:cs typeface="Tahoma"/>
                  </a:rPr>
                  <a:t>t</a:t>
                </a:r>
                <a:r>
                  <a:rPr lang="en-US" sz="1600" spc="35" dirty="0">
                    <a:latin typeface="Tahoma"/>
                    <a:cs typeface="Tahoma"/>
                  </a:rPr>
                  <a:t>h</a:t>
                </a:r>
                <a:r>
                  <a:rPr lang="en-US" sz="1600" spc="75" dirty="0">
                    <a:latin typeface="Tahoma"/>
                    <a:cs typeface="Tahoma"/>
                  </a:rPr>
                  <a:t>e</a:t>
                </a:r>
                <a:r>
                  <a:rPr lang="en-US" sz="1600" spc="40" dirty="0">
                    <a:latin typeface="Tahoma"/>
                    <a:cs typeface="Tahoma"/>
                  </a:rPr>
                  <a:t>r</a:t>
                </a:r>
                <a:r>
                  <a:rPr lang="en-US" sz="1600" spc="75" dirty="0">
                    <a:latin typeface="Tahoma"/>
                    <a:cs typeface="Tahoma"/>
                  </a:rPr>
                  <a:t>e</a:t>
                </a:r>
                <a:r>
                  <a:rPr lang="en-US" sz="1600" spc="30" dirty="0">
                    <a:latin typeface="Tahoma"/>
                    <a:cs typeface="Tahoma"/>
                  </a:rPr>
                  <a:t> </a:t>
                </a:r>
                <a:r>
                  <a:rPr lang="en-US" sz="1600" spc="5" dirty="0">
                    <a:latin typeface="Tahoma"/>
                    <a:cs typeface="Tahoma"/>
                  </a:rPr>
                  <a:t>i</a:t>
                </a:r>
                <a:r>
                  <a:rPr lang="en-US" sz="1600" spc="100" dirty="0">
                    <a:latin typeface="Tahoma"/>
                    <a:cs typeface="Tahoma"/>
                  </a:rPr>
                  <a:t>s</a:t>
                </a:r>
                <a:r>
                  <a:rPr lang="en-US" sz="1600" spc="30" dirty="0">
                    <a:latin typeface="Tahoma"/>
                    <a:cs typeface="Tahoma"/>
                  </a:rPr>
                  <a:t> </a:t>
                </a:r>
                <a:r>
                  <a:rPr lang="en-US" sz="1600" spc="35" dirty="0">
                    <a:latin typeface="Tahoma"/>
                    <a:cs typeface="Tahoma"/>
                  </a:rPr>
                  <a:t>n</a:t>
                </a:r>
                <a:r>
                  <a:rPr lang="en-US" sz="1600" spc="95" dirty="0">
                    <a:latin typeface="Tahoma"/>
                    <a:cs typeface="Tahoma"/>
                  </a:rPr>
                  <a:t>o</a:t>
                </a:r>
                <a:r>
                  <a:rPr lang="en-US" sz="1600" spc="30" dirty="0">
                    <a:latin typeface="Tahoma"/>
                    <a:cs typeface="Tahoma"/>
                  </a:rPr>
                  <a:t> </a:t>
                </a:r>
                <a:r>
                  <a:rPr lang="en-US" sz="1600" spc="5" dirty="0">
                    <a:latin typeface="Tahoma"/>
                    <a:cs typeface="Tahoma"/>
                  </a:rPr>
                  <a:t>l</a:t>
                </a:r>
                <a:r>
                  <a:rPr lang="en-US" sz="1600" spc="70" dirty="0">
                    <a:latin typeface="Tahoma"/>
                    <a:cs typeface="Tahoma"/>
                  </a:rPr>
                  <a:t>ow</a:t>
                </a:r>
                <a:r>
                  <a:rPr lang="en-US" sz="1600" spc="75" dirty="0">
                    <a:latin typeface="Tahoma"/>
                    <a:cs typeface="Tahoma"/>
                  </a:rPr>
                  <a:t>e</a:t>
                </a:r>
                <a:r>
                  <a:rPr lang="en-US" sz="1600" spc="40" dirty="0">
                    <a:latin typeface="Tahoma"/>
                    <a:cs typeface="Tahoma"/>
                  </a:rPr>
                  <a:t>r</a:t>
                </a:r>
                <a:r>
                  <a:rPr lang="en-US" sz="1600" spc="30" dirty="0">
                    <a:latin typeface="Tahoma"/>
                    <a:cs typeface="Tahoma"/>
                  </a:rPr>
                  <a:t> </a:t>
                </a:r>
                <a:r>
                  <a:rPr lang="en-US" sz="1600" spc="70" dirty="0">
                    <a:latin typeface="Tahoma"/>
                    <a:cs typeface="Tahoma"/>
                  </a:rPr>
                  <a:t>p</a:t>
                </a:r>
                <a:r>
                  <a:rPr lang="en-US" sz="1600" spc="40" dirty="0">
                    <a:latin typeface="Tahoma"/>
                    <a:cs typeface="Tahoma"/>
                  </a:rPr>
                  <a:t>a</a:t>
                </a:r>
                <a:r>
                  <a:rPr lang="en-US" sz="1600" spc="110" dirty="0">
                    <a:latin typeface="Tahoma"/>
                    <a:cs typeface="Tahoma"/>
                  </a:rPr>
                  <a:t>y</a:t>
                </a:r>
                <a:r>
                  <a:rPr lang="en-US" sz="1600" spc="20" dirty="0">
                    <a:latin typeface="Tahoma"/>
                    <a:cs typeface="Tahoma"/>
                  </a:rPr>
                  <a:t>-</a:t>
                </a:r>
                <a:r>
                  <a:rPr lang="en-US" sz="1600" spc="100" dirty="0">
                    <a:latin typeface="Tahoma"/>
                    <a:cs typeface="Tahoma"/>
                  </a:rPr>
                  <a:t>of</a:t>
                </a:r>
                <a:r>
                  <a:rPr lang="en-US" sz="1600" spc="110" dirty="0">
                    <a:latin typeface="Tahoma"/>
                    <a:cs typeface="Tahoma"/>
                  </a:rPr>
                  <a:t>f</a:t>
                </a:r>
                <a:r>
                  <a:rPr lang="en-US" sz="1600" spc="30" dirty="0">
                    <a:latin typeface="Tahoma"/>
                    <a:cs typeface="Tahoma"/>
                  </a:rPr>
                  <a:t> </a:t>
                </a:r>
                <a:r>
                  <a:rPr lang="en-US" sz="1600" spc="5" dirty="0">
                    <a:latin typeface="Tahoma"/>
                    <a:cs typeface="Tahoma"/>
                  </a:rPr>
                  <a:t>i</a:t>
                </a:r>
                <a:r>
                  <a:rPr lang="en-US" sz="1600" spc="35" dirty="0">
                    <a:latin typeface="Tahoma"/>
                    <a:cs typeface="Tahoma"/>
                  </a:rPr>
                  <a:t>n</a:t>
                </a:r>
                <a:r>
                  <a:rPr lang="en-US" sz="1600" spc="30" dirty="0">
                    <a:latin typeface="Tahoma"/>
                    <a:cs typeface="Tahoma"/>
                  </a:rPr>
                  <a:t> </a:t>
                </a:r>
                <a:r>
                  <a:rPr lang="en-US" sz="1600" spc="170" dirty="0">
                    <a:latin typeface="Tahoma"/>
                    <a:cs typeface="Tahoma"/>
                  </a:rPr>
                  <a:t>t</a:t>
                </a:r>
                <a:r>
                  <a:rPr lang="en-US" sz="1600" spc="35" dirty="0">
                    <a:latin typeface="Tahoma"/>
                    <a:cs typeface="Tahoma"/>
                  </a:rPr>
                  <a:t>h</a:t>
                </a:r>
                <a:r>
                  <a:rPr lang="en-US" sz="1600" spc="75" dirty="0">
                    <a:latin typeface="Tahoma"/>
                    <a:cs typeface="Tahoma"/>
                  </a:rPr>
                  <a:t>e</a:t>
                </a:r>
                <a:r>
                  <a:rPr lang="en-US" sz="1600" spc="30" dirty="0">
                    <a:latin typeface="Tahoma"/>
                    <a:cs typeface="Tahoma"/>
                  </a:rPr>
                  <a:t> </a:t>
                </a:r>
                <a:r>
                  <a:rPr lang="en-US" sz="1600" spc="60" dirty="0">
                    <a:latin typeface="Tahoma"/>
                    <a:cs typeface="Tahoma"/>
                  </a:rPr>
                  <a:t>row</a:t>
                </a:r>
                <a:r>
                  <a:rPr lang="en-US" sz="1600" spc="30" dirty="0">
                    <a:latin typeface="Tahoma"/>
                    <a:cs typeface="Tahoma"/>
                  </a:rPr>
                  <a:t> </a:t>
                </a:r>
                <a:r>
                  <a:rPr lang="en-US" sz="1600" spc="40" dirty="0">
                    <a:latin typeface="Tahoma"/>
                    <a:cs typeface="Tahoma"/>
                  </a:rPr>
                  <a:t>a</a:t>
                </a:r>
                <a:r>
                  <a:rPr lang="en-US" sz="1600" spc="35" dirty="0">
                    <a:latin typeface="Tahoma"/>
                    <a:cs typeface="Tahoma"/>
                  </a:rPr>
                  <a:t>n</a:t>
                </a:r>
                <a:r>
                  <a:rPr lang="en-US" sz="1600" spc="70" dirty="0">
                    <a:latin typeface="Tahoma"/>
                    <a:cs typeface="Tahoma"/>
                  </a:rPr>
                  <a:t>d</a:t>
                </a:r>
                <a:r>
                  <a:rPr lang="en-US" sz="1600" spc="40" dirty="0">
                    <a:latin typeface="Tahoma"/>
                    <a:cs typeface="Tahoma"/>
                  </a:rPr>
                  <a:t> </a:t>
                </a:r>
                <a:r>
                  <a:rPr lang="en-US" sz="1600" spc="35" dirty="0">
                    <a:latin typeface="Tahoma"/>
                    <a:cs typeface="Tahoma"/>
                  </a:rPr>
                  <a:t>n</a:t>
                </a:r>
                <a:r>
                  <a:rPr lang="en-US" sz="1600" spc="95" dirty="0">
                    <a:latin typeface="Tahoma"/>
                    <a:cs typeface="Tahoma"/>
                  </a:rPr>
                  <a:t>o</a:t>
                </a:r>
                <a:r>
                  <a:rPr lang="en-US" sz="1600" spc="30" dirty="0">
                    <a:latin typeface="Tahoma"/>
                    <a:cs typeface="Tahoma"/>
                  </a:rPr>
                  <a:t> </a:t>
                </a:r>
                <a:r>
                  <a:rPr lang="en-US" sz="1600" spc="35" dirty="0">
                    <a:latin typeface="Tahoma"/>
                    <a:cs typeface="Tahoma"/>
                  </a:rPr>
                  <a:t>h</a:t>
                </a:r>
                <a:r>
                  <a:rPr lang="en-US" sz="1600" spc="5" dirty="0">
                    <a:latin typeface="Tahoma"/>
                    <a:cs typeface="Tahoma"/>
                  </a:rPr>
                  <a:t>i</a:t>
                </a:r>
                <a:r>
                  <a:rPr lang="en-US" sz="1600" spc="85" dirty="0">
                    <a:latin typeface="Tahoma"/>
                    <a:cs typeface="Tahoma"/>
                  </a:rPr>
                  <a:t>g</a:t>
                </a:r>
                <a:r>
                  <a:rPr lang="en-US" sz="1600" spc="35" dirty="0">
                    <a:latin typeface="Tahoma"/>
                    <a:cs typeface="Tahoma"/>
                  </a:rPr>
                  <a:t>h</a:t>
                </a:r>
                <a:r>
                  <a:rPr lang="en-US" sz="1600" spc="75" dirty="0">
                    <a:latin typeface="Tahoma"/>
                    <a:cs typeface="Tahoma"/>
                  </a:rPr>
                  <a:t>e</a:t>
                </a:r>
                <a:r>
                  <a:rPr lang="en-US" sz="1600" spc="40" dirty="0">
                    <a:latin typeface="Tahoma"/>
                    <a:cs typeface="Tahoma"/>
                  </a:rPr>
                  <a:t>r</a:t>
                </a:r>
                <a:r>
                  <a:rPr lang="en-US" sz="1600" spc="30" dirty="0">
                    <a:latin typeface="Tahoma"/>
                    <a:cs typeface="Tahoma"/>
                  </a:rPr>
                  <a:t> </a:t>
                </a:r>
                <a:r>
                  <a:rPr lang="en-US" sz="1600" spc="70" dirty="0">
                    <a:latin typeface="Tahoma"/>
                    <a:cs typeface="Tahoma"/>
                  </a:rPr>
                  <a:t>p</a:t>
                </a:r>
                <a:r>
                  <a:rPr lang="en-US" sz="1600" spc="40" dirty="0">
                    <a:latin typeface="Tahoma"/>
                    <a:cs typeface="Tahoma"/>
                  </a:rPr>
                  <a:t>a</a:t>
                </a:r>
                <a:r>
                  <a:rPr lang="en-US" sz="1600" spc="110" dirty="0">
                    <a:latin typeface="Tahoma"/>
                    <a:cs typeface="Tahoma"/>
                  </a:rPr>
                  <a:t>y</a:t>
                </a:r>
                <a:r>
                  <a:rPr lang="en-US" sz="1600" spc="20" dirty="0">
                    <a:latin typeface="Tahoma"/>
                    <a:cs typeface="Tahoma"/>
                  </a:rPr>
                  <a:t>-</a:t>
                </a:r>
                <a:r>
                  <a:rPr lang="en-US" sz="1600" spc="100" dirty="0">
                    <a:latin typeface="Tahoma"/>
                    <a:cs typeface="Tahoma"/>
                  </a:rPr>
                  <a:t>of</a:t>
                </a:r>
                <a:r>
                  <a:rPr lang="en-US" sz="1600" spc="110" dirty="0">
                    <a:latin typeface="Tahoma"/>
                    <a:cs typeface="Tahoma"/>
                  </a:rPr>
                  <a:t>f</a:t>
                </a:r>
                <a:r>
                  <a:rPr lang="en-US" sz="1600" spc="30" dirty="0">
                    <a:latin typeface="Tahoma"/>
                    <a:cs typeface="Tahoma"/>
                  </a:rPr>
                  <a:t> </a:t>
                </a:r>
                <a:r>
                  <a:rPr lang="en-US" sz="1600" spc="5" dirty="0">
                    <a:latin typeface="Tahoma"/>
                    <a:cs typeface="Tahoma"/>
                  </a:rPr>
                  <a:t>i</a:t>
                </a:r>
                <a:r>
                  <a:rPr lang="en-US" sz="1600" spc="35" dirty="0">
                    <a:latin typeface="Tahoma"/>
                    <a:cs typeface="Tahoma"/>
                  </a:rPr>
                  <a:t>n</a:t>
                </a:r>
                <a:r>
                  <a:rPr lang="en-US" sz="1600" spc="30" dirty="0">
                    <a:latin typeface="Tahoma"/>
                    <a:cs typeface="Tahoma"/>
                  </a:rPr>
                  <a:t> </a:t>
                </a:r>
                <a:r>
                  <a:rPr lang="en-US" sz="1600" spc="170" dirty="0">
                    <a:latin typeface="Tahoma"/>
                    <a:cs typeface="Tahoma"/>
                  </a:rPr>
                  <a:t>t</a:t>
                </a:r>
                <a:r>
                  <a:rPr lang="en-US" sz="1600" spc="35" dirty="0">
                    <a:latin typeface="Tahoma"/>
                    <a:cs typeface="Tahoma"/>
                  </a:rPr>
                  <a:t>h</a:t>
                </a:r>
                <a:r>
                  <a:rPr lang="en-US" sz="1600" spc="75" dirty="0">
                    <a:latin typeface="Tahoma"/>
                    <a:cs typeface="Tahoma"/>
                  </a:rPr>
                  <a:t>e</a:t>
                </a:r>
                <a:r>
                  <a:rPr lang="en-US" sz="1600" spc="30" dirty="0">
                    <a:latin typeface="Tahoma"/>
                    <a:cs typeface="Tahoma"/>
                  </a:rPr>
                  <a:t> </a:t>
                </a:r>
                <a:r>
                  <a:rPr lang="en-US" sz="1600" spc="130" dirty="0">
                    <a:latin typeface="Tahoma"/>
                    <a:cs typeface="Tahoma"/>
                  </a:rPr>
                  <a:t>c</a:t>
                </a:r>
                <a:r>
                  <a:rPr lang="en-US" sz="1600" spc="45" dirty="0">
                    <a:latin typeface="Tahoma"/>
                    <a:cs typeface="Tahoma"/>
                  </a:rPr>
                  <a:t>ol</a:t>
                </a:r>
                <a:r>
                  <a:rPr lang="en-US" sz="1600" spc="35" dirty="0">
                    <a:latin typeface="Tahoma"/>
                    <a:cs typeface="Tahoma"/>
                  </a:rPr>
                  <a:t>u</a:t>
                </a:r>
                <a:r>
                  <a:rPr lang="en-US" sz="1600" spc="55" dirty="0">
                    <a:latin typeface="Tahoma"/>
                    <a:cs typeface="Tahoma"/>
                  </a:rPr>
                  <a:t>mn</a:t>
                </a:r>
                <a:r>
                  <a:rPr lang="en-US" sz="1600" dirty="0">
                    <a:latin typeface="Tahoma"/>
                    <a:cs typeface="Tahoma"/>
                  </a:rPr>
                  <a:t>.</a:t>
                </a:r>
                <a:endParaRPr sz="1600" dirty="0">
                  <a:latin typeface="Tahoma"/>
                  <a:cs typeface="Tahoma"/>
                </a:endParaRPr>
              </a:p>
            </p:txBody>
          </p:sp>
        </mc:Choice>
        <mc:Fallback xmlns="">
          <p:sp>
            <p:nvSpPr>
              <p:cNvPr id="13" name="object 12">
                <a:extLst>
                  <a:ext uri="{FF2B5EF4-FFF2-40B4-BE49-F238E27FC236}">
                    <a16:creationId xmlns:a16="http://schemas.microsoft.com/office/drawing/2014/main" id="{D5C347C3-78B3-0148-6E8C-20E2E5B2246B}"/>
                  </a:ext>
                </a:extLst>
              </p:cNvPr>
              <p:cNvSpPr txBox="1">
                <a:spLocks noRot="1" noChangeAspect="1" noMove="1" noResize="1" noEditPoints="1" noAdjustHandles="1" noChangeArrowheads="1" noChangeShapeType="1" noTextEdit="1"/>
              </p:cNvSpPr>
              <p:nvPr/>
            </p:nvSpPr>
            <p:spPr>
              <a:xfrm>
                <a:off x="185420" y="791437"/>
                <a:ext cx="8696960" cy="5718810"/>
              </a:xfrm>
              <a:prstGeom prst="rect">
                <a:avLst/>
              </a:prstGeom>
              <a:blipFill>
                <a:blip r:embed="rId3"/>
                <a:stretch>
                  <a:fillRect l="-1261" t="-1173" r="-1402" b="-1173"/>
                </a:stretch>
              </a:blipFill>
            </p:spPr>
            <p:txBody>
              <a:bodyPr/>
              <a:lstStyle/>
              <a:p>
                <a:r>
                  <a:rPr lang="en-US">
                    <a:noFill/>
                  </a:rPr>
                  <a:t> </a:t>
                </a:r>
              </a:p>
            </p:txBody>
          </p:sp>
        </mc:Fallback>
      </mc:AlternateContent>
      <p:graphicFrame>
        <p:nvGraphicFramePr>
          <p:cNvPr id="14" name="Table 9">
            <a:extLst>
              <a:ext uri="{FF2B5EF4-FFF2-40B4-BE49-F238E27FC236}">
                <a16:creationId xmlns:a16="http://schemas.microsoft.com/office/drawing/2014/main" id="{AA4E27EB-E810-D8A5-CEDA-3122A17B37CD}"/>
              </a:ext>
            </a:extLst>
          </p:cNvPr>
          <p:cNvGraphicFramePr>
            <a:graphicFrameLocks noGrp="1"/>
          </p:cNvGraphicFramePr>
          <p:nvPr>
            <p:extLst>
              <p:ext uri="{D42A27DB-BD31-4B8C-83A1-F6EECF244321}">
                <p14:modId xmlns:p14="http://schemas.microsoft.com/office/powerpoint/2010/main" val="2269403494"/>
              </p:ext>
            </p:extLst>
          </p:nvPr>
        </p:nvGraphicFramePr>
        <p:xfrm>
          <a:off x="2286000" y="3098800"/>
          <a:ext cx="3429000" cy="185420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817312379"/>
                    </a:ext>
                  </a:extLst>
                </a:gridCol>
                <a:gridCol w="685800">
                  <a:extLst>
                    <a:ext uri="{9D8B030D-6E8A-4147-A177-3AD203B41FA5}">
                      <a16:colId xmlns:a16="http://schemas.microsoft.com/office/drawing/2014/main" val="2725113786"/>
                    </a:ext>
                  </a:extLst>
                </a:gridCol>
                <a:gridCol w="685800">
                  <a:extLst>
                    <a:ext uri="{9D8B030D-6E8A-4147-A177-3AD203B41FA5}">
                      <a16:colId xmlns:a16="http://schemas.microsoft.com/office/drawing/2014/main" val="762545278"/>
                    </a:ext>
                  </a:extLst>
                </a:gridCol>
                <a:gridCol w="685800">
                  <a:extLst>
                    <a:ext uri="{9D8B030D-6E8A-4147-A177-3AD203B41FA5}">
                      <a16:colId xmlns:a16="http://schemas.microsoft.com/office/drawing/2014/main" val="8029837"/>
                    </a:ext>
                  </a:extLst>
                </a:gridCol>
                <a:gridCol w="685800">
                  <a:extLst>
                    <a:ext uri="{9D8B030D-6E8A-4147-A177-3AD203B41FA5}">
                      <a16:colId xmlns:a16="http://schemas.microsoft.com/office/drawing/2014/main" val="1658348143"/>
                    </a:ext>
                  </a:extLst>
                </a:gridCol>
              </a:tblGrid>
              <a:tr h="370840">
                <a:tc>
                  <a:txBody>
                    <a:bodyPr/>
                    <a:lstStyle/>
                    <a:p>
                      <a:pPr algn="ctr"/>
                      <a:endParaRPr lang="en-US" sz="1600" dirty="0"/>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i="1" dirty="0"/>
                        <a:t>t</a:t>
                      </a:r>
                      <a:r>
                        <a:rPr lang="en-US" sz="1600" i="1" baseline="-250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0" algn="ctr"/>
                      <a:r>
                        <a:rPr lang="en-US" sz="1600" i="1" dirty="0">
                          <a:solidFill>
                            <a:schemeClr val="tx1"/>
                          </a:solidFill>
                          <a:latin typeface="+mn-lt"/>
                          <a:ea typeface="+mn-ea"/>
                          <a:cs typeface="+mn-cs"/>
                        </a:rPr>
                        <a:t>t</a:t>
                      </a:r>
                      <a:r>
                        <a:rPr lang="en-US" sz="1600" i="1" baseline="-25000" dirty="0">
                          <a:solidFill>
                            <a:schemeClr val="tx1"/>
                          </a:solidFill>
                          <a:latin typeface="+mn-lt"/>
                          <a:ea typeface="+mn-ea"/>
                          <a:cs typeface="+mn-cs"/>
                        </a:rPr>
                        <a:t>2</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i="1" dirty="0"/>
                        <a:t>t</a:t>
                      </a:r>
                      <a:r>
                        <a:rPr lang="en-US" sz="1600" i="1" baseline="-25000" dirty="0"/>
                        <a:t>3</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i="1" dirty="0"/>
                        <a:t>t</a:t>
                      </a:r>
                      <a:r>
                        <a:rPr lang="en-US" sz="1600" i="1" baseline="-25000" dirty="0"/>
                        <a:t>4</a:t>
                      </a:r>
                    </a:p>
                  </a:txBody>
                  <a:tcPr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7379048"/>
                  </a:ext>
                </a:extLst>
              </a:tr>
              <a:tr h="370840">
                <a:tc>
                  <a:txBody>
                    <a:bodyPr/>
                    <a:lstStyle/>
                    <a:p>
                      <a:pPr algn="ctr"/>
                      <a:r>
                        <a:rPr lang="en-US" sz="1600" i="1" dirty="0"/>
                        <a:t>s</a:t>
                      </a:r>
                      <a:r>
                        <a:rPr lang="en-US" sz="1600" i="1" baseline="-25000" dirty="0"/>
                        <a:t>1</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1600" dirty="0"/>
                        <a:t>-2</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1600" dirty="0"/>
                        <a:t>2</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1600" dirty="0"/>
                        <a:t>-1</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1600" dirty="0"/>
                        <a:t>1</a:t>
                      </a: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3738698697"/>
                  </a:ext>
                </a:extLst>
              </a:tr>
              <a:tr h="370840">
                <a:tc>
                  <a:txBody>
                    <a:bodyPr/>
                    <a:lstStyle/>
                    <a:p>
                      <a:pPr algn="ctr" rtl="0"/>
                      <a:r>
                        <a:rPr lang="en-US" sz="1600" i="1" dirty="0"/>
                        <a:t>s</a:t>
                      </a:r>
                      <a:r>
                        <a:rPr lang="en-US" sz="1600" i="1" baseline="-25000" dirty="0"/>
                        <a:t>2</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1600" dirty="0"/>
                        <a:t>4</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t>-3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42678394"/>
                  </a:ext>
                </a:extLst>
              </a:tr>
              <a:tr h="370840">
                <a:tc>
                  <a:txBody>
                    <a:bodyPr/>
                    <a:lstStyle/>
                    <a:p>
                      <a:pPr algn="ctr"/>
                      <a:r>
                        <a:rPr lang="en-US" sz="1600" i="1" dirty="0"/>
                        <a:t>s</a:t>
                      </a:r>
                      <a:r>
                        <a:rPr lang="en-US" sz="1600" i="1" baseline="-25000" dirty="0"/>
                        <a:t>3</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0</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16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7852965"/>
                  </a:ext>
                </a:extLst>
              </a:tr>
              <a:tr h="370840">
                <a:tc>
                  <a:txBody>
                    <a:bodyPr/>
                    <a:lstStyle/>
                    <a:p>
                      <a:pPr algn="ctr"/>
                      <a:r>
                        <a:rPr lang="en-US" sz="1600" i="1" dirty="0"/>
                        <a:t>s</a:t>
                      </a:r>
                      <a:r>
                        <a:rPr lang="en-US" sz="1600" i="1" baseline="-25000" dirty="0"/>
                        <a:t>4</a:t>
                      </a: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-1</a:t>
                      </a: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1600" dirty="0"/>
                        <a:t>-2</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600" dirty="0"/>
                        <a:t>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20264348"/>
                  </a:ext>
                </a:extLst>
              </a:tr>
            </a:tbl>
          </a:graphicData>
        </a:graphic>
      </p:graphicFrame>
      <p:sp>
        <p:nvSpPr>
          <p:cNvPr id="15" name="Oval 14">
            <a:extLst>
              <a:ext uri="{FF2B5EF4-FFF2-40B4-BE49-F238E27FC236}">
                <a16:creationId xmlns:a16="http://schemas.microsoft.com/office/drawing/2014/main" id="{83B7FE55-CA17-3329-43BC-1DD628D9DD52}"/>
              </a:ext>
            </a:extLst>
          </p:cNvPr>
          <p:cNvSpPr/>
          <p:nvPr/>
        </p:nvSpPr>
        <p:spPr>
          <a:xfrm>
            <a:off x="4511625" y="3130720"/>
            <a:ext cx="342600" cy="33975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414BAA2-2E11-5723-822E-D2AA3CAC7ACD}"/>
              </a:ext>
            </a:extLst>
          </p:cNvPr>
          <p:cNvSpPr/>
          <p:nvPr/>
        </p:nvSpPr>
        <p:spPr>
          <a:xfrm>
            <a:off x="2468300" y="4250570"/>
            <a:ext cx="342600" cy="33975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387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p:nvPr/>
        </p:nvSpPr>
        <p:spPr>
          <a:xfrm>
            <a:off x="400107" y="5000659"/>
            <a:ext cx="1888489" cy="330200"/>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sz="2400" spc="-100" dirty="0">
                <a:latin typeface="Times New Roman"/>
                <a:cs typeface="Times New Roman"/>
              </a:rPr>
              <a:t>T</a:t>
            </a:r>
            <a:r>
              <a:rPr sz="2400" spc="-10" dirty="0">
                <a:latin typeface="Times New Roman"/>
                <a:cs typeface="Times New Roman"/>
              </a:rPr>
              <a:t>r</a:t>
            </a:r>
            <a:r>
              <a:rPr sz="2400" spc="-20" dirty="0">
                <a:latin typeface="Times New Roman"/>
                <a:cs typeface="Times New Roman"/>
              </a:rPr>
              <a:t>a</a:t>
            </a:r>
            <a:r>
              <a:rPr sz="2400" spc="-45" dirty="0">
                <a:latin typeface="Times New Roman"/>
                <a:cs typeface="Times New Roman"/>
              </a:rPr>
              <a:t>f</a:t>
            </a:r>
            <a:r>
              <a:rPr sz="2400" spc="-10" dirty="0">
                <a:latin typeface="Times New Roman"/>
                <a:cs typeface="Times New Roman"/>
              </a:rPr>
              <a:t>fic</a:t>
            </a:r>
            <a:r>
              <a:rPr sz="2400" spc="-5" dirty="0">
                <a:latin typeface="Times New Roman"/>
                <a:cs typeface="Times New Roman"/>
              </a:rPr>
              <a:t> </a:t>
            </a:r>
            <a:r>
              <a:rPr sz="2400" dirty="0">
                <a:latin typeface="Times New Roman"/>
                <a:cs typeface="Times New Roman"/>
              </a:rPr>
              <a:t>G</a:t>
            </a:r>
            <a:r>
              <a:rPr sz="2400" spc="-20" dirty="0">
                <a:latin typeface="Times New Roman"/>
                <a:cs typeface="Times New Roman"/>
              </a:rPr>
              <a:t>a</a:t>
            </a:r>
            <a:r>
              <a:rPr sz="2400" spc="-15" dirty="0">
                <a:latin typeface="Times New Roman"/>
                <a:cs typeface="Times New Roman"/>
              </a:rPr>
              <a:t>me</a:t>
            </a:r>
            <a:endParaRPr sz="2400">
              <a:latin typeface="Times New Roman"/>
              <a:cs typeface="Times New Roman"/>
            </a:endParaRPr>
          </a:p>
        </p:txBody>
      </p:sp>
      <p:sp>
        <p:nvSpPr>
          <p:cNvPr id="7" name="object 7"/>
          <p:cNvSpPr txBox="1"/>
          <p:nvPr/>
        </p:nvSpPr>
        <p:spPr>
          <a:xfrm>
            <a:off x="1197120" y="2093583"/>
            <a:ext cx="207010" cy="457200"/>
          </a:xfrm>
          <a:prstGeom prst="rect">
            <a:avLst/>
          </a:prstGeom>
        </p:spPr>
        <p:txBody>
          <a:bodyPr vert="horz" wrap="square" lIns="0" tIns="0" rIns="0" bIns="0" rtlCol="0">
            <a:spAutoFit/>
          </a:bodyPr>
          <a:lstStyle/>
          <a:p>
            <a:pPr marL="12700">
              <a:lnSpc>
                <a:spcPct val="100000"/>
              </a:lnSpc>
            </a:pPr>
            <a:r>
              <a:rPr sz="3400" dirty="0">
                <a:latin typeface="Calibri"/>
                <a:cs typeface="Calibri"/>
              </a:rPr>
              <a:t>L</a:t>
            </a:r>
            <a:endParaRPr sz="3400">
              <a:latin typeface="Calibri"/>
              <a:cs typeface="Calibri"/>
            </a:endParaRPr>
          </a:p>
        </p:txBody>
      </p:sp>
      <p:sp>
        <p:nvSpPr>
          <p:cNvPr id="8" name="object 8"/>
          <p:cNvSpPr txBox="1"/>
          <p:nvPr/>
        </p:nvSpPr>
        <p:spPr>
          <a:xfrm>
            <a:off x="2284665" y="2093583"/>
            <a:ext cx="260350" cy="457200"/>
          </a:xfrm>
          <a:prstGeom prst="rect">
            <a:avLst/>
          </a:prstGeom>
        </p:spPr>
        <p:txBody>
          <a:bodyPr vert="horz" wrap="square" lIns="0" tIns="0" rIns="0" bIns="0" rtlCol="0">
            <a:spAutoFit/>
          </a:bodyPr>
          <a:lstStyle/>
          <a:p>
            <a:pPr marL="12700">
              <a:lnSpc>
                <a:spcPct val="100000"/>
              </a:lnSpc>
            </a:pPr>
            <a:r>
              <a:rPr sz="3400" spc="-20" dirty="0">
                <a:latin typeface="Calibri"/>
                <a:cs typeface="Calibri"/>
              </a:rPr>
              <a:t>R</a:t>
            </a:r>
            <a:endParaRPr sz="3400">
              <a:latin typeface="Calibri"/>
              <a:cs typeface="Calibri"/>
            </a:endParaRPr>
          </a:p>
        </p:txBody>
      </p:sp>
      <p:sp>
        <p:nvSpPr>
          <p:cNvPr id="9" name="object 9"/>
          <p:cNvSpPr txBox="1"/>
          <p:nvPr/>
        </p:nvSpPr>
        <p:spPr>
          <a:xfrm>
            <a:off x="333146" y="2514600"/>
            <a:ext cx="260350" cy="1206500"/>
          </a:xfrm>
          <a:prstGeom prst="rect">
            <a:avLst/>
          </a:prstGeom>
        </p:spPr>
        <p:txBody>
          <a:bodyPr vert="horz" wrap="square" lIns="0" tIns="0" rIns="0" bIns="0" rtlCol="0">
            <a:spAutoFit/>
          </a:bodyPr>
          <a:lstStyle/>
          <a:p>
            <a:pPr marL="12700" marR="5080" indent="26034">
              <a:lnSpc>
                <a:spcPct val="144500"/>
              </a:lnSpc>
            </a:pPr>
            <a:r>
              <a:rPr sz="3400" dirty="0">
                <a:latin typeface="Calibri"/>
                <a:cs typeface="Calibri"/>
              </a:rPr>
              <a:t>L </a:t>
            </a:r>
            <a:r>
              <a:rPr sz="3400" spc="-20" dirty="0">
                <a:latin typeface="Calibri"/>
                <a:cs typeface="Calibri"/>
              </a:rPr>
              <a:t>R</a:t>
            </a:r>
            <a:endParaRPr sz="3400" dirty="0">
              <a:latin typeface="Calibri"/>
              <a:cs typeface="Calibri"/>
            </a:endParaRPr>
          </a:p>
        </p:txBody>
      </p:sp>
      <p:sp>
        <p:nvSpPr>
          <p:cNvPr id="11" name="object 11"/>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Nash</a:t>
            </a:r>
            <a:r>
              <a:rPr spc="-5" dirty="0"/>
              <a:t> </a:t>
            </a:r>
            <a:r>
              <a:rPr dirty="0"/>
              <a:t>Equilibrium</a:t>
            </a:r>
            <a:r>
              <a:rPr spc="-5" dirty="0"/>
              <a:t> </a:t>
            </a:r>
            <a:r>
              <a:rPr dirty="0"/>
              <a:t>Example</a:t>
            </a:r>
          </a:p>
        </p:txBody>
      </p:sp>
      <p:graphicFrame>
        <p:nvGraphicFramePr>
          <p:cNvPr id="10" name="object 10"/>
          <p:cNvGraphicFramePr>
            <a:graphicFrameLocks noGrp="1"/>
          </p:cNvGraphicFramePr>
          <p:nvPr>
            <p:extLst>
              <p:ext uri="{D42A27DB-BD31-4B8C-83A1-F6EECF244321}">
                <p14:modId xmlns:p14="http://schemas.microsoft.com/office/powerpoint/2010/main" val="1798520957"/>
              </p:ext>
            </p:extLst>
          </p:nvPr>
        </p:nvGraphicFramePr>
        <p:xfrm>
          <a:off x="741997" y="2563812"/>
          <a:ext cx="2228009" cy="149749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8748">
                <a:tc>
                  <a:txBody>
                    <a:bodyPr/>
                    <a:lstStyle/>
                    <a:p>
                      <a:pPr marL="352425">
                        <a:lnSpc>
                          <a:spcPct val="100000"/>
                        </a:lnSpc>
                      </a:pPr>
                      <a:r>
                        <a:rPr sz="1800" i="1" spc="-20" dirty="0">
                          <a:latin typeface="Meiryo"/>
                          <a:cs typeface="Meiryo"/>
                        </a:rPr>
                        <a:t>1,1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algn="ctr">
                        <a:lnSpc>
                          <a:spcPct val="100000"/>
                        </a:lnSpc>
                      </a:pPr>
                      <a:r>
                        <a:rPr sz="1800" i="1" spc="-20" dirty="0">
                          <a:latin typeface="Meiryo"/>
                          <a:cs typeface="Meiryo"/>
                        </a:rPr>
                        <a:t>0,0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algn="ctr">
                        <a:lnSpc>
                          <a:spcPct val="100000"/>
                        </a:lnSpc>
                      </a:pPr>
                      <a:r>
                        <a:rPr sz="1800" i="1" spc="-20" dirty="0">
                          <a:latin typeface="Meiryo"/>
                          <a:cs typeface="Meiryo"/>
                        </a:rPr>
                        <a:t>0,0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algn="ctr">
                        <a:lnSpc>
                          <a:spcPct val="100000"/>
                        </a:lnSpc>
                      </a:pPr>
                      <a:r>
                        <a:rPr sz="1800" i="1" spc="-20" dirty="0">
                          <a:latin typeface="Meiryo"/>
                          <a:cs typeface="Meiryo"/>
                        </a:rPr>
                        <a:t>1,1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4" name="object 24">
            <a:extLst>
              <a:ext uri="{FF2B5EF4-FFF2-40B4-BE49-F238E27FC236}">
                <a16:creationId xmlns:a16="http://schemas.microsoft.com/office/drawing/2014/main" id="{834BFA1E-A464-8CAE-D76D-E95E1992363C}"/>
              </a:ext>
            </a:extLst>
          </p:cNvPr>
          <p:cNvSpPr/>
          <p:nvPr/>
        </p:nvSpPr>
        <p:spPr>
          <a:xfrm>
            <a:off x="2075962" y="3352800"/>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5" name="object 24">
            <a:extLst>
              <a:ext uri="{FF2B5EF4-FFF2-40B4-BE49-F238E27FC236}">
                <a16:creationId xmlns:a16="http://schemas.microsoft.com/office/drawing/2014/main" id="{E18030F7-4756-FD39-8F73-E4BA099D6CD0}"/>
              </a:ext>
            </a:extLst>
          </p:cNvPr>
          <p:cNvSpPr/>
          <p:nvPr/>
        </p:nvSpPr>
        <p:spPr>
          <a:xfrm>
            <a:off x="934152" y="2604457"/>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6" name="Slide Number Placeholder 8">
            <a:extLst>
              <a:ext uri="{FF2B5EF4-FFF2-40B4-BE49-F238E27FC236}">
                <a16:creationId xmlns:a16="http://schemas.microsoft.com/office/drawing/2014/main" id="{5782A3A3-AF82-8951-79FB-AB5E2A29C7A8}"/>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20</a:t>
            </a:fld>
            <a:r>
              <a:rPr lang="en-US" sz="2000" dirty="0">
                <a:solidFill>
                  <a:prstClr val="black"/>
                </a:solidFill>
                <a:latin typeface="Comic Sans MS"/>
                <a:sym typeface="Comic Sans MS"/>
              </a:rPr>
              <a:t>/46</a:t>
            </a:r>
          </a:p>
        </p:txBody>
      </p:sp>
      <p:sp>
        <p:nvSpPr>
          <p:cNvPr id="17" name="Footer Placeholder 9">
            <a:extLst>
              <a:ext uri="{FF2B5EF4-FFF2-40B4-BE49-F238E27FC236}">
                <a16:creationId xmlns:a16="http://schemas.microsoft.com/office/drawing/2014/main" id="{623FD7C4-41E9-F6DD-8C18-1E3D3E647F2A}"/>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8" name="Rectangle 17">
            <a:extLst>
              <a:ext uri="{FF2B5EF4-FFF2-40B4-BE49-F238E27FC236}">
                <a16:creationId xmlns:a16="http://schemas.microsoft.com/office/drawing/2014/main" id="{FE17B064-23AC-4500-F63E-E7F3DFBC7A50}"/>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9" name="Rectangle 18">
            <a:extLst>
              <a:ext uri="{FF2B5EF4-FFF2-40B4-BE49-F238E27FC236}">
                <a16:creationId xmlns:a16="http://schemas.microsoft.com/office/drawing/2014/main" id="{E0AAC1FF-D10A-EC1C-CE53-4FA9C28E2168}"/>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AF7CF67D-05B8-029D-9D0B-5E61AE97DC8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418C1642-0155-72E2-E606-06B0E746D144}"/>
              </a:ext>
            </a:extLst>
          </p:cNvPr>
          <p:cNvSpPr txBox="1"/>
          <p:nvPr/>
        </p:nvSpPr>
        <p:spPr>
          <a:xfrm>
            <a:off x="4759036" y="3059668"/>
            <a:ext cx="2430281" cy="369332"/>
          </a:xfrm>
          <a:prstGeom prst="rect">
            <a:avLst/>
          </a:prstGeom>
          <a:solidFill>
            <a:schemeClr val="bg2">
              <a:lumMod val="90000"/>
            </a:schemeClr>
          </a:solidFill>
        </p:spPr>
        <p:txBody>
          <a:bodyPr wrap="none" rtlCol="0">
            <a:spAutoFit/>
          </a:bodyPr>
          <a:lstStyle/>
          <a:p>
            <a:r>
              <a:rPr lang="en-US" dirty="0"/>
              <a:t>Multiple Nash Equilibria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p:nvPr/>
        </p:nvSpPr>
        <p:spPr>
          <a:xfrm>
            <a:off x="400107" y="5000659"/>
            <a:ext cx="2548255" cy="330200"/>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sz="2400" spc="-20" dirty="0">
                <a:latin typeface="Times New Roman"/>
                <a:cs typeface="Times New Roman"/>
              </a:rPr>
              <a:t>Ba</a:t>
            </a:r>
            <a:r>
              <a:rPr sz="2400" spc="-10" dirty="0">
                <a:latin typeface="Times New Roman"/>
                <a:cs typeface="Times New Roman"/>
              </a:rPr>
              <a:t>ttle</a:t>
            </a:r>
            <a:r>
              <a:rPr sz="2400" spc="-5" dirty="0">
                <a:latin typeface="Times New Roman"/>
                <a:cs typeface="Times New Roman"/>
              </a:rPr>
              <a:t> </a:t>
            </a:r>
            <a:r>
              <a:rPr sz="2400" dirty="0">
                <a:latin typeface="Times New Roman"/>
                <a:cs typeface="Times New Roman"/>
              </a:rPr>
              <a:t>of </a:t>
            </a:r>
            <a:r>
              <a:rPr sz="2400" spc="-10" dirty="0">
                <a:latin typeface="Times New Roman"/>
                <a:cs typeface="Times New Roman"/>
              </a:rPr>
              <a:t>the</a:t>
            </a:r>
            <a:r>
              <a:rPr sz="2400" spc="-5" dirty="0">
                <a:latin typeface="Times New Roman"/>
                <a:cs typeface="Times New Roman"/>
              </a:rPr>
              <a:t> </a:t>
            </a:r>
            <a:r>
              <a:rPr sz="2400" dirty="0">
                <a:latin typeface="Times New Roman"/>
                <a:cs typeface="Times New Roman"/>
              </a:rPr>
              <a:t>S</a:t>
            </a:r>
            <a:r>
              <a:rPr sz="2400" spc="-20" dirty="0">
                <a:latin typeface="Times New Roman"/>
                <a:cs typeface="Times New Roman"/>
              </a:rPr>
              <a:t>e</a:t>
            </a:r>
            <a:r>
              <a:rPr sz="2400" spc="-15" dirty="0">
                <a:latin typeface="Times New Roman"/>
                <a:cs typeface="Times New Roman"/>
              </a:rPr>
              <a:t>x</a:t>
            </a:r>
            <a:r>
              <a:rPr sz="2400" spc="-20" dirty="0">
                <a:latin typeface="Times New Roman"/>
                <a:cs typeface="Times New Roman"/>
              </a:rPr>
              <a:t>e</a:t>
            </a:r>
            <a:r>
              <a:rPr sz="2400" dirty="0">
                <a:latin typeface="Times New Roman"/>
                <a:cs typeface="Times New Roman"/>
              </a:rPr>
              <a:t>s</a:t>
            </a:r>
          </a:p>
        </p:txBody>
      </p:sp>
      <p:sp>
        <p:nvSpPr>
          <p:cNvPr id="7" name="object 7"/>
          <p:cNvSpPr txBox="1"/>
          <p:nvPr/>
        </p:nvSpPr>
        <p:spPr>
          <a:xfrm>
            <a:off x="1157749" y="1750683"/>
            <a:ext cx="260350" cy="457200"/>
          </a:xfrm>
          <a:prstGeom prst="rect">
            <a:avLst/>
          </a:prstGeom>
        </p:spPr>
        <p:txBody>
          <a:bodyPr vert="horz" wrap="square" lIns="0" tIns="0" rIns="0" bIns="0" rtlCol="0">
            <a:spAutoFit/>
          </a:bodyPr>
          <a:lstStyle/>
          <a:p>
            <a:pPr marL="12700">
              <a:lnSpc>
                <a:spcPct val="100000"/>
              </a:lnSpc>
            </a:pPr>
            <a:r>
              <a:rPr sz="3400" spc="-20" dirty="0">
                <a:latin typeface="Calibri"/>
                <a:cs typeface="Calibri"/>
              </a:rPr>
              <a:t>B</a:t>
            </a:r>
            <a:endParaRPr sz="3400">
              <a:latin typeface="Calibri"/>
              <a:cs typeface="Calibri"/>
            </a:endParaRPr>
          </a:p>
        </p:txBody>
      </p:sp>
      <p:sp>
        <p:nvSpPr>
          <p:cNvPr id="8" name="object 8"/>
          <p:cNvSpPr txBox="1"/>
          <p:nvPr/>
        </p:nvSpPr>
        <p:spPr>
          <a:xfrm>
            <a:off x="2289992" y="1750683"/>
            <a:ext cx="224154" cy="457200"/>
          </a:xfrm>
          <a:prstGeom prst="rect">
            <a:avLst/>
          </a:prstGeom>
        </p:spPr>
        <p:txBody>
          <a:bodyPr vert="horz" wrap="square" lIns="0" tIns="0" rIns="0" bIns="0" rtlCol="0">
            <a:spAutoFit/>
          </a:bodyPr>
          <a:lstStyle/>
          <a:p>
            <a:pPr marL="12700">
              <a:lnSpc>
                <a:spcPct val="100000"/>
              </a:lnSpc>
            </a:pPr>
            <a:r>
              <a:rPr sz="3400" dirty="0">
                <a:latin typeface="Calibri"/>
                <a:cs typeface="Calibri"/>
              </a:rPr>
              <a:t>F</a:t>
            </a:r>
            <a:endParaRPr sz="3400">
              <a:latin typeface="Calibri"/>
              <a:cs typeface="Calibri"/>
            </a:endParaRPr>
          </a:p>
        </p:txBody>
      </p:sp>
      <p:sp>
        <p:nvSpPr>
          <p:cNvPr id="9" name="object 9"/>
          <p:cNvSpPr txBox="1"/>
          <p:nvPr/>
        </p:nvSpPr>
        <p:spPr>
          <a:xfrm>
            <a:off x="320235" y="2133600"/>
            <a:ext cx="260350" cy="1206500"/>
          </a:xfrm>
          <a:prstGeom prst="rect">
            <a:avLst/>
          </a:prstGeom>
        </p:spPr>
        <p:txBody>
          <a:bodyPr vert="horz" wrap="square" lIns="0" tIns="0" rIns="0" bIns="0" rtlCol="0">
            <a:spAutoFit/>
          </a:bodyPr>
          <a:lstStyle/>
          <a:p>
            <a:pPr marL="30480" marR="5080" indent="-18415">
              <a:lnSpc>
                <a:spcPct val="144500"/>
              </a:lnSpc>
            </a:pPr>
            <a:r>
              <a:rPr sz="3400" spc="-15" dirty="0">
                <a:latin typeface="Calibri"/>
                <a:cs typeface="Calibri"/>
              </a:rPr>
              <a:t>B F</a:t>
            </a:r>
            <a:endParaRPr sz="3400" dirty="0">
              <a:latin typeface="Calibri"/>
              <a:cs typeface="Calibri"/>
            </a:endParaRPr>
          </a:p>
        </p:txBody>
      </p:sp>
      <p:sp>
        <p:nvSpPr>
          <p:cNvPr id="11" name="object 11"/>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Nash</a:t>
            </a:r>
            <a:r>
              <a:rPr spc="-5" dirty="0"/>
              <a:t> </a:t>
            </a:r>
            <a:r>
              <a:rPr dirty="0"/>
              <a:t>Equilibrium</a:t>
            </a:r>
            <a:r>
              <a:rPr spc="-5" dirty="0"/>
              <a:t> </a:t>
            </a:r>
            <a:r>
              <a:rPr dirty="0"/>
              <a:t>Example</a:t>
            </a:r>
          </a:p>
        </p:txBody>
      </p:sp>
      <p:graphicFrame>
        <p:nvGraphicFramePr>
          <p:cNvPr id="10" name="object 10"/>
          <p:cNvGraphicFramePr>
            <a:graphicFrameLocks noGrp="1"/>
          </p:cNvGraphicFramePr>
          <p:nvPr>
            <p:extLst>
              <p:ext uri="{D42A27DB-BD31-4B8C-83A1-F6EECF244321}">
                <p14:modId xmlns:p14="http://schemas.microsoft.com/office/powerpoint/2010/main" val="272183319"/>
              </p:ext>
            </p:extLst>
          </p:nvPr>
        </p:nvGraphicFramePr>
        <p:xfrm>
          <a:off x="729297" y="2220912"/>
          <a:ext cx="2228009" cy="149749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8748">
                <a:tc>
                  <a:txBody>
                    <a:bodyPr/>
                    <a:lstStyle/>
                    <a:p>
                      <a:pPr marL="314960">
                        <a:lnSpc>
                          <a:spcPct val="100000"/>
                        </a:lnSpc>
                      </a:pPr>
                      <a:r>
                        <a:rPr sz="1800" i="1" spc="-20" dirty="0">
                          <a:latin typeface="Meiryo"/>
                          <a:cs typeface="Meiryo"/>
                        </a:rPr>
                        <a:t>2</a:t>
                      </a:r>
                      <a:r>
                        <a:rPr sz="1800" i="1" dirty="0">
                          <a:latin typeface="Meiryo"/>
                          <a:cs typeface="Meiryo"/>
                        </a:rPr>
                        <a:t>,</a:t>
                      </a:r>
                      <a:r>
                        <a:rPr sz="1800" i="1" spc="-40" dirty="0">
                          <a:latin typeface="Meiryo"/>
                          <a:cs typeface="Meiryo"/>
                        </a:rPr>
                        <a:t> </a:t>
                      </a:r>
                      <a:r>
                        <a:rPr sz="1800" i="1" dirty="0">
                          <a:latin typeface="Meiryo"/>
                          <a:cs typeface="Meiryo"/>
                        </a:rPr>
                        <a:t>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14960">
                        <a:lnSpc>
                          <a:spcPct val="100000"/>
                        </a:lnSpc>
                      </a:pPr>
                      <a:r>
                        <a:rPr sz="1800" i="1" spc="-20" dirty="0">
                          <a:latin typeface="Meiryo"/>
                          <a:cs typeface="Meiryo"/>
                        </a:rPr>
                        <a:t>1</a:t>
                      </a:r>
                      <a:r>
                        <a:rPr sz="1800" i="1" dirty="0">
                          <a:latin typeface="Meiryo"/>
                          <a:cs typeface="Meiryo"/>
                        </a:rPr>
                        <a:t>,</a:t>
                      </a:r>
                      <a:r>
                        <a:rPr sz="1800" i="1" spc="-40" dirty="0">
                          <a:latin typeface="Meiryo"/>
                          <a:cs typeface="Meiryo"/>
                        </a:rPr>
                        <a:t> </a:t>
                      </a:r>
                      <a:r>
                        <a:rPr sz="1800" i="1" dirty="0">
                          <a:latin typeface="Meiryo"/>
                          <a:cs typeface="Meiryo"/>
                        </a:rPr>
                        <a:t>2</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4" name="object 24">
            <a:extLst>
              <a:ext uri="{FF2B5EF4-FFF2-40B4-BE49-F238E27FC236}">
                <a16:creationId xmlns:a16="http://schemas.microsoft.com/office/drawing/2014/main" id="{AA4171A3-13F8-831B-0DEB-700BD779FC7B}"/>
              </a:ext>
            </a:extLst>
          </p:cNvPr>
          <p:cNvSpPr/>
          <p:nvPr/>
        </p:nvSpPr>
        <p:spPr>
          <a:xfrm>
            <a:off x="2065802" y="3003863"/>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5" name="object 24">
            <a:extLst>
              <a:ext uri="{FF2B5EF4-FFF2-40B4-BE49-F238E27FC236}">
                <a16:creationId xmlns:a16="http://schemas.microsoft.com/office/drawing/2014/main" id="{DC09A283-2503-36C5-80F4-C1DE61D751BC}"/>
              </a:ext>
            </a:extLst>
          </p:cNvPr>
          <p:cNvSpPr/>
          <p:nvPr/>
        </p:nvSpPr>
        <p:spPr>
          <a:xfrm>
            <a:off x="923992" y="2255520"/>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16" name="Slide Number Placeholder 8">
            <a:extLst>
              <a:ext uri="{FF2B5EF4-FFF2-40B4-BE49-F238E27FC236}">
                <a16:creationId xmlns:a16="http://schemas.microsoft.com/office/drawing/2014/main" id="{B8E6CFF5-4F89-F9C6-4FAD-35A14500BE58}"/>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21</a:t>
            </a:fld>
            <a:r>
              <a:rPr lang="en-US" sz="2000" dirty="0">
                <a:solidFill>
                  <a:prstClr val="black"/>
                </a:solidFill>
                <a:latin typeface="Comic Sans MS"/>
                <a:sym typeface="Comic Sans MS"/>
              </a:rPr>
              <a:t>/46</a:t>
            </a:r>
          </a:p>
        </p:txBody>
      </p:sp>
      <p:sp>
        <p:nvSpPr>
          <p:cNvPr id="17" name="Footer Placeholder 9">
            <a:extLst>
              <a:ext uri="{FF2B5EF4-FFF2-40B4-BE49-F238E27FC236}">
                <a16:creationId xmlns:a16="http://schemas.microsoft.com/office/drawing/2014/main" id="{D80420D4-4C73-E75D-876E-9807BF1639FE}"/>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8" name="Rectangle 17">
            <a:extLst>
              <a:ext uri="{FF2B5EF4-FFF2-40B4-BE49-F238E27FC236}">
                <a16:creationId xmlns:a16="http://schemas.microsoft.com/office/drawing/2014/main" id="{AE39409E-4BC7-5F1E-5F73-7EF7FC566E5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9" name="Rectangle 18">
            <a:extLst>
              <a:ext uri="{FF2B5EF4-FFF2-40B4-BE49-F238E27FC236}">
                <a16:creationId xmlns:a16="http://schemas.microsoft.com/office/drawing/2014/main" id="{B0C09516-2D04-661F-0B40-A337C74010BA}"/>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3FC906CC-FA57-941B-0631-631A4560795B}"/>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C3FE1682-3389-B37B-E208-92210DA12934}"/>
              </a:ext>
            </a:extLst>
          </p:cNvPr>
          <p:cNvSpPr txBox="1"/>
          <p:nvPr/>
        </p:nvSpPr>
        <p:spPr>
          <a:xfrm>
            <a:off x="4819898" y="2659094"/>
            <a:ext cx="2430281" cy="369332"/>
          </a:xfrm>
          <a:prstGeom prst="rect">
            <a:avLst/>
          </a:prstGeom>
          <a:solidFill>
            <a:schemeClr val="bg2">
              <a:lumMod val="90000"/>
            </a:schemeClr>
          </a:solidFill>
        </p:spPr>
        <p:txBody>
          <a:bodyPr wrap="none" rtlCol="0">
            <a:spAutoFit/>
          </a:bodyPr>
          <a:lstStyle/>
          <a:p>
            <a:r>
              <a:rPr lang="en-US" dirty="0"/>
              <a:t>Multiple Nash Equilibria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Nash</a:t>
            </a:r>
            <a:r>
              <a:rPr spc="-5" dirty="0"/>
              <a:t> </a:t>
            </a:r>
            <a:r>
              <a:rPr dirty="0"/>
              <a:t>Equilibrium</a:t>
            </a:r>
            <a:r>
              <a:rPr spc="-5" dirty="0"/>
              <a:t> </a:t>
            </a:r>
            <a:r>
              <a:rPr dirty="0"/>
              <a:t>Example</a:t>
            </a:r>
          </a:p>
        </p:txBody>
      </p:sp>
      <p:sp>
        <p:nvSpPr>
          <p:cNvPr id="7" name="object 7"/>
          <p:cNvSpPr txBox="1"/>
          <p:nvPr/>
        </p:nvSpPr>
        <p:spPr>
          <a:xfrm>
            <a:off x="271197" y="1740029"/>
            <a:ext cx="8244153" cy="4137030"/>
          </a:xfrm>
          <a:prstGeom prst="rect">
            <a:avLst/>
          </a:prstGeom>
        </p:spPr>
        <p:txBody>
          <a:bodyPr vert="horz" wrap="square" lIns="0" tIns="0" rIns="0" bIns="0" rtlCol="0">
            <a:spAutoFit/>
          </a:bodyPr>
          <a:lstStyle/>
          <a:p>
            <a:pPr marL="465455">
              <a:lnSpc>
                <a:spcPct val="100000"/>
              </a:lnSpc>
              <a:tabLst>
                <a:tab pos="901065" algn="l"/>
                <a:tab pos="1997710" algn="l"/>
                <a:tab pos="2693670" algn="l"/>
              </a:tabLst>
            </a:pPr>
            <a:r>
              <a:rPr sz="3400" dirty="0">
                <a:latin typeface="Times New Roman"/>
                <a:cs typeface="Times New Roman"/>
              </a:rPr>
              <a:t> 	</a:t>
            </a:r>
            <a:r>
              <a:rPr sz="3400" dirty="0">
                <a:latin typeface="Calibri"/>
                <a:cs typeface="Calibri"/>
              </a:rPr>
              <a:t>C</a:t>
            </a:r>
            <a:r>
              <a:rPr sz="3400" dirty="0">
                <a:latin typeface="Times New Roman"/>
                <a:cs typeface="Times New Roman"/>
              </a:rPr>
              <a:t> 	</a:t>
            </a:r>
            <a:r>
              <a:rPr sz="3400" dirty="0">
                <a:latin typeface="Calibri"/>
                <a:cs typeface="Calibri"/>
              </a:rPr>
              <a:t>D</a:t>
            </a:r>
            <a:r>
              <a:rPr sz="3400" dirty="0">
                <a:latin typeface="Times New Roman"/>
                <a:cs typeface="Times New Roman"/>
              </a:rPr>
              <a:t> 	</a:t>
            </a:r>
          </a:p>
          <a:p>
            <a:pPr marL="45720" indent="17145">
              <a:lnSpc>
                <a:spcPct val="100000"/>
              </a:lnSpc>
              <a:spcBef>
                <a:spcPts val="920"/>
              </a:spcBef>
            </a:pPr>
            <a:r>
              <a:rPr sz="3400" dirty="0">
                <a:latin typeface="Calibri"/>
                <a:cs typeface="Calibri"/>
              </a:rPr>
              <a:t>C</a:t>
            </a:r>
          </a:p>
          <a:p>
            <a:pPr marL="45720">
              <a:lnSpc>
                <a:spcPct val="100000"/>
              </a:lnSpc>
              <a:spcBef>
                <a:spcPts val="1814"/>
              </a:spcBef>
            </a:pPr>
            <a:r>
              <a:rPr sz="3400" dirty="0">
                <a:latin typeface="Calibri"/>
                <a:cs typeface="Calibri"/>
              </a:rPr>
              <a:t>D</a:t>
            </a:r>
          </a:p>
          <a:p>
            <a:pPr>
              <a:lnSpc>
                <a:spcPct val="100000"/>
              </a:lnSpc>
            </a:pPr>
            <a:endParaRPr sz="3400" dirty="0">
              <a:latin typeface="Times New Roman"/>
              <a:cs typeface="Times New Roman"/>
            </a:endParaRPr>
          </a:p>
          <a:p>
            <a:pPr marL="12700">
              <a:lnSpc>
                <a:spcPct val="100000"/>
              </a:lnSpc>
              <a:spcBef>
                <a:spcPts val="2255"/>
              </a:spcBef>
            </a:pPr>
            <a:r>
              <a:rPr sz="2400" dirty="0">
                <a:latin typeface="Times New Roman"/>
                <a:cs typeface="Times New Roman"/>
              </a:rPr>
              <a:t>P</a:t>
            </a:r>
            <a:r>
              <a:rPr sz="2400" spc="-10" dirty="0">
                <a:latin typeface="Times New Roman"/>
                <a:cs typeface="Times New Roman"/>
              </a:rPr>
              <a:t>ris</a:t>
            </a:r>
            <a:r>
              <a:rPr sz="2400" spc="-15" dirty="0">
                <a:latin typeface="Times New Roman"/>
                <a:cs typeface="Times New Roman"/>
              </a:rPr>
              <a:t>on</a:t>
            </a:r>
            <a:r>
              <a:rPr sz="2400" spc="-20" dirty="0">
                <a:latin typeface="Times New Roman"/>
                <a:cs typeface="Times New Roman"/>
              </a:rPr>
              <a:t>e</a:t>
            </a:r>
            <a:r>
              <a:rPr sz="2400" dirty="0">
                <a:latin typeface="Times New Roman"/>
                <a:cs typeface="Times New Roman"/>
              </a:rPr>
              <a:t>rs’</a:t>
            </a:r>
            <a:r>
              <a:rPr sz="2400" spc="-180" dirty="0">
                <a:latin typeface="Times New Roman"/>
                <a:cs typeface="Times New Roman"/>
              </a:rPr>
              <a:t> </a:t>
            </a:r>
            <a:r>
              <a:rPr sz="2400" spc="-10" dirty="0">
                <a:latin typeface="Times New Roman"/>
                <a:cs typeface="Times New Roman"/>
              </a:rPr>
              <a:t>dil</a:t>
            </a:r>
            <a:r>
              <a:rPr sz="2400" spc="-20" dirty="0">
                <a:latin typeface="Times New Roman"/>
                <a:cs typeface="Times New Roman"/>
              </a:rPr>
              <a:t>emma</a:t>
            </a:r>
            <a:endParaRPr lang="en-US" sz="2400" spc="-20" dirty="0">
              <a:latin typeface="Times New Roman"/>
              <a:cs typeface="Times New Roman"/>
            </a:endParaRPr>
          </a:p>
          <a:p>
            <a:pPr marL="12700">
              <a:spcBef>
                <a:spcPts val="2255"/>
              </a:spcBef>
            </a:pPr>
            <a:r>
              <a:rPr lang="en-US" sz="2400" spc="-15" dirty="0">
                <a:latin typeface="Times New Roman"/>
                <a:cs typeface="Times New Roman"/>
              </a:rPr>
              <a:t>The</a:t>
            </a:r>
            <a:r>
              <a:rPr lang="en-US" sz="2400" spc="-5" dirty="0">
                <a:latin typeface="Times New Roman"/>
                <a:cs typeface="Times New Roman"/>
              </a:rPr>
              <a:t> </a:t>
            </a:r>
            <a:r>
              <a:rPr lang="en-US" sz="2400" spc="-15" dirty="0">
                <a:latin typeface="Times New Roman"/>
                <a:cs typeface="Times New Roman"/>
              </a:rPr>
              <a:t>p</a:t>
            </a:r>
            <a:r>
              <a:rPr lang="en-US" sz="2400" spc="-20" dirty="0">
                <a:latin typeface="Times New Roman"/>
                <a:cs typeface="Times New Roman"/>
              </a:rPr>
              <a:t>a</a:t>
            </a:r>
            <a:r>
              <a:rPr lang="en-US" sz="2400" spc="-10" dirty="0">
                <a:latin typeface="Times New Roman"/>
                <a:cs typeface="Times New Roman"/>
              </a:rPr>
              <a:t>r</a:t>
            </a:r>
            <a:r>
              <a:rPr lang="en-US" sz="2400" spc="-20" dirty="0">
                <a:latin typeface="Times New Roman"/>
                <a:cs typeface="Times New Roman"/>
              </a:rPr>
              <a:t>a</a:t>
            </a:r>
            <a:r>
              <a:rPr lang="en-US" sz="2400" dirty="0">
                <a:latin typeface="Times New Roman"/>
                <a:cs typeface="Times New Roman"/>
              </a:rPr>
              <a:t>dox of P</a:t>
            </a:r>
            <a:r>
              <a:rPr lang="en-US" sz="2400" spc="-10" dirty="0">
                <a:latin typeface="Times New Roman"/>
                <a:cs typeface="Times New Roman"/>
              </a:rPr>
              <a:t>ri</a:t>
            </a:r>
            <a:r>
              <a:rPr lang="en-US" sz="2400" dirty="0">
                <a:latin typeface="Times New Roman"/>
                <a:cs typeface="Times New Roman"/>
              </a:rPr>
              <a:t>s</a:t>
            </a:r>
            <a:r>
              <a:rPr lang="en-US" sz="2400" spc="-15" dirty="0">
                <a:latin typeface="Times New Roman"/>
                <a:cs typeface="Times New Roman"/>
              </a:rPr>
              <a:t>on</a:t>
            </a:r>
            <a:r>
              <a:rPr lang="en-US" sz="2400" spc="-20" dirty="0">
                <a:latin typeface="Times New Roman"/>
                <a:cs typeface="Times New Roman"/>
              </a:rPr>
              <a:t>e</a:t>
            </a:r>
            <a:r>
              <a:rPr lang="en-US" sz="2400" spc="85" dirty="0">
                <a:latin typeface="Times New Roman"/>
                <a:cs typeface="Times New Roman"/>
              </a:rPr>
              <a:t>r</a:t>
            </a:r>
            <a:r>
              <a:rPr lang="en-US" sz="2400" spc="-135" dirty="0">
                <a:latin typeface="Times New Roman"/>
                <a:cs typeface="Times New Roman"/>
              </a:rPr>
              <a:t>’</a:t>
            </a:r>
            <a:r>
              <a:rPr lang="en-US" sz="2400" dirty="0">
                <a:latin typeface="Times New Roman"/>
                <a:cs typeface="Times New Roman"/>
              </a:rPr>
              <a:t>s </a:t>
            </a:r>
            <a:r>
              <a:rPr lang="en-US" sz="2400" spc="-10" dirty="0">
                <a:latin typeface="Times New Roman"/>
                <a:cs typeface="Times New Roman"/>
              </a:rPr>
              <a:t>dil</a:t>
            </a:r>
            <a:r>
              <a:rPr lang="en-US" sz="2400" spc="-20" dirty="0">
                <a:latin typeface="Times New Roman"/>
                <a:cs typeface="Times New Roman"/>
              </a:rPr>
              <a:t>emma</a:t>
            </a:r>
            <a:r>
              <a:rPr lang="en-US" sz="2400" spc="-10" dirty="0">
                <a:latin typeface="Times New Roman"/>
                <a:cs typeface="Times New Roman"/>
              </a:rPr>
              <a:t>:</a:t>
            </a:r>
            <a:r>
              <a:rPr lang="en-US" sz="2400" dirty="0">
                <a:latin typeface="Times New Roman"/>
                <a:cs typeface="Times New Roman"/>
              </a:rPr>
              <a:t> </a:t>
            </a:r>
            <a:r>
              <a:rPr lang="en-US" sz="2400" spc="-10" dirty="0">
                <a:latin typeface="Times New Roman"/>
                <a:cs typeface="Times New Roman"/>
              </a:rPr>
              <a:t>the</a:t>
            </a:r>
            <a:r>
              <a:rPr lang="en-US" sz="2400" spc="-5" dirty="0">
                <a:latin typeface="Times New Roman"/>
                <a:cs typeface="Times New Roman"/>
              </a:rPr>
              <a:t> </a:t>
            </a:r>
            <a:r>
              <a:rPr lang="en-US" sz="2400" dirty="0">
                <a:latin typeface="Times New Roman"/>
                <a:cs typeface="Times New Roman"/>
              </a:rPr>
              <a:t>N</a:t>
            </a:r>
            <a:r>
              <a:rPr lang="en-US" sz="2400" spc="-20" dirty="0">
                <a:latin typeface="Times New Roman"/>
                <a:cs typeface="Times New Roman"/>
              </a:rPr>
              <a:t>a</a:t>
            </a:r>
            <a:r>
              <a:rPr lang="en-US" sz="2400" dirty="0">
                <a:latin typeface="Times New Roman"/>
                <a:cs typeface="Times New Roman"/>
              </a:rPr>
              <a:t>sh </a:t>
            </a:r>
            <a:r>
              <a:rPr lang="en-US" sz="2400" spc="-20" dirty="0">
                <a:latin typeface="Times New Roman"/>
                <a:cs typeface="Times New Roman"/>
              </a:rPr>
              <a:t>e</a:t>
            </a:r>
            <a:r>
              <a:rPr lang="en-US" sz="2400" spc="-15" dirty="0">
                <a:latin typeface="Times New Roman"/>
                <a:cs typeface="Times New Roman"/>
              </a:rPr>
              <a:t>quilibrium</a:t>
            </a:r>
            <a:r>
              <a:rPr lang="en-US" sz="2400" spc="-10" dirty="0">
                <a:latin typeface="Times New Roman"/>
                <a:cs typeface="Times New Roman"/>
              </a:rPr>
              <a:t> i</a:t>
            </a:r>
            <a:r>
              <a:rPr lang="en-US" sz="2400" dirty="0">
                <a:latin typeface="Times New Roman"/>
                <a:cs typeface="Times New Roman"/>
              </a:rPr>
              <a:t>s </a:t>
            </a:r>
            <a:r>
              <a:rPr lang="en-US" sz="2400" spc="-10" dirty="0">
                <a:latin typeface="Times New Roman"/>
                <a:cs typeface="Times New Roman"/>
              </a:rPr>
              <a:t>the</a:t>
            </a:r>
            <a:r>
              <a:rPr lang="en-US" sz="2400" spc="-5" dirty="0">
                <a:latin typeface="Times New Roman"/>
                <a:cs typeface="Times New Roman"/>
              </a:rPr>
              <a:t> </a:t>
            </a:r>
            <a:r>
              <a:rPr lang="en-US" sz="2400" spc="-15" dirty="0">
                <a:latin typeface="Times New Roman"/>
                <a:cs typeface="Times New Roman"/>
              </a:rPr>
              <a:t>onl</a:t>
            </a:r>
            <a:r>
              <a:rPr lang="en-US" sz="2400" dirty="0">
                <a:latin typeface="Times New Roman"/>
                <a:cs typeface="Times New Roman"/>
              </a:rPr>
              <a:t>y non-P</a:t>
            </a:r>
            <a:r>
              <a:rPr lang="en-US" sz="2400" spc="-20" dirty="0">
                <a:latin typeface="Times New Roman"/>
                <a:cs typeface="Times New Roman"/>
              </a:rPr>
              <a:t>a</a:t>
            </a:r>
            <a:r>
              <a:rPr lang="en-US" sz="2400" spc="-10" dirty="0">
                <a:latin typeface="Times New Roman"/>
                <a:cs typeface="Times New Roman"/>
              </a:rPr>
              <a:t>r</a:t>
            </a:r>
            <a:r>
              <a:rPr lang="en-US" sz="2400" spc="-20" dirty="0">
                <a:latin typeface="Times New Roman"/>
                <a:cs typeface="Times New Roman"/>
              </a:rPr>
              <a:t>e</a:t>
            </a:r>
            <a:r>
              <a:rPr lang="en-US" sz="2400" spc="-15" dirty="0">
                <a:latin typeface="Times New Roman"/>
                <a:cs typeface="Times New Roman"/>
              </a:rPr>
              <a:t>to-optim</a:t>
            </a:r>
            <a:r>
              <a:rPr lang="en-US" sz="2400" spc="-20" dirty="0">
                <a:latin typeface="Times New Roman"/>
                <a:cs typeface="Times New Roman"/>
              </a:rPr>
              <a:t>a</a:t>
            </a:r>
            <a:r>
              <a:rPr lang="en-US" sz="2400" spc="-10" dirty="0">
                <a:latin typeface="Times New Roman"/>
                <a:cs typeface="Times New Roman"/>
              </a:rPr>
              <a:t>l</a:t>
            </a:r>
            <a:r>
              <a:rPr lang="en-US" sz="2400" dirty="0">
                <a:latin typeface="Times New Roman"/>
                <a:cs typeface="Times New Roman"/>
              </a:rPr>
              <a:t> </a:t>
            </a:r>
            <a:r>
              <a:rPr lang="en-US" sz="2400" spc="-15" dirty="0">
                <a:latin typeface="Times New Roman"/>
                <a:cs typeface="Times New Roman"/>
              </a:rPr>
              <a:t>out</a:t>
            </a:r>
            <a:r>
              <a:rPr lang="en-US" sz="2400" spc="-20" dirty="0">
                <a:latin typeface="Times New Roman"/>
                <a:cs typeface="Times New Roman"/>
              </a:rPr>
              <a:t>come</a:t>
            </a:r>
            <a:r>
              <a:rPr lang="en-US" sz="2400" dirty="0">
                <a:latin typeface="Times New Roman"/>
                <a:cs typeface="Times New Roman"/>
              </a:rPr>
              <a:t>!</a:t>
            </a:r>
            <a:endParaRPr sz="2400" dirty="0">
              <a:latin typeface="Times New Roman"/>
              <a:cs typeface="Times New Roman"/>
            </a:endParaRPr>
          </a:p>
        </p:txBody>
      </p:sp>
      <p:graphicFrame>
        <p:nvGraphicFramePr>
          <p:cNvPr id="8" name="object 8"/>
          <p:cNvGraphicFramePr>
            <a:graphicFrameLocks noGrp="1"/>
          </p:cNvGraphicFramePr>
          <p:nvPr>
            <p:extLst>
              <p:ext uri="{D42A27DB-BD31-4B8C-83A1-F6EECF244321}">
                <p14:modId xmlns:p14="http://schemas.microsoft.com/office/powerpoint/2010/main" val="4181859276"/>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284163" indent="0">
                        <a:lnSpc>
                          <a:spcPct val="100000"/>
                        </a:lnSpc>
                      </a:pPr>
                      <a:r>
                        <a:rPr sz="1800" i="1" spc="-20" dirty="0">
                          <a:latin typeface="Meiryo"/>
                          <a:cs typeface="Meiryo"/>
                        </a:rPr>
                        <a:t>­</a:t>
                      </a:r>
                      <a:r>
                        <a:rPr lang="en-US" sz="1800" i="1" spc="-20" dirty="0">
                          <a:latin typeface="Meiryo"/>
                          <a:cs typeface="Meiryo"/>
                        </a:rPr>
                        <a:t>-</a:t>
                      </a:r>
                      <a:r>
                        <a:rPr sz="1800" spc="-20" dirty="0">
                          <a:latin typeface="Times New Roman"/>
                          <a:cs typeface="Times New Roman"/>
                        </a:rPr>
                        <a:t>1</a:t>
                      </a:r>
                      <a:r>
                        <a:rPr sz="1800" i="1" dirty="0">
                          <a:latin typeface="Times New Roman"/>
                          <a:cs typeface="Times New Roman"/>
                        </a:rPr>
                        <a:t>,</a:t>
                      </a:r>
                      <a:r>
                        <a:rPr sz="1800" i="1" spc="-175" dirty="0">
                          <a:latin typeface="Times New Roman"/>
                          <a:cs typeface="Times New Roman"/>
                        </a:rPr>
                        <a:t> </a:t>
                      </a:r>
                      <a:r>
                        <a:rPr sz="1800" i="1" spc="-45" dirty="0">
                          <a:latin typeface="Meiryo"/>
                          <a:cs typeface="Meiryo"/>
                        </a:rPr>
                        <a:t>­</a:t>
                      </a:r>
                      <a:r>
                        <a:rPr lang="en-US" sz="1800" i="1" spc="-45" dirty="0">
                          <a:latin typeface="Meiryo"/>
                          <a:cs typeface="Meiryo"/>
                        </a:rPr>
                        <a:t>-</a:t>
                      </a:r>
                      <a:r>
                        <a:rPr sz="18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284163" indent="0">
                        <a:lnSpc>
                          <a:spcPct val="100000"/>
                        </a:lnSpc>
                      </a:pPr>
                      <a:r>
                        <a:rPr lang="en-US" sz="1800" i="1" spc="-20" dirty="0">
                          <a:latin typeface="Meiryo"/>
                          <a:cs typeface="Meiryo"/>
                        </a:rPr>
                        <a:t>-</a:t>
                      </a:r>
                      <a:r>
                        <a:rPr sz="1800" i="1" spc="-20" dirty="0">
                          <a:latin typeface="Meiryo"/>
                          <a:cs typeface="Meiryo"/>
                        </a:rPr>
                        <a:t>­</a:t>
                      </a:r>
                      <a:r>
                        <a:rPr sz="1800" spc="-20" dirty="0">
                          <a:latin typeface="Times New Roman"/>
                          <a:cs typeface="Times New Roman"/>
                        </a:rPr>
                        <a:t>4</a:t>
                      </a:r>
                      <a:r>
                        <a:rPr sz="1800" i="1" dirty="0">
                          <a:latin typeface="Times New Roman"/>
                          <a:cs typeface="Times New Roman"/>
                        </a:rPr>
                        <a:t>,</a:t>
                      </a:r>
                      <a:r>
                        <a:rPr sz="1800" i="1" spc="-175" dirty="0">
                          <a:latin typeface="Times New Roman"/>
                          <a:cs typeface="Times New Roman"/>
                        </a:rPr>
                        <a:t> </a:t>
                      </a:r>
                      <a:r>
                        <a:rPr sz="1800" dirty="0">
                          <a:latin typeface="Times New Roman"/>
                          <a:cs typeface="Times New Roman"/>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96875" indent="0">
                        <a:lnSpc>
                          <a:spcPct val="100000"/>
                        </a:lnSpc>
                      </a:pPr>
                      <a:r>
                        <a:rPr sz="1800" dirty="0">
                          <a:latin typeface="Times New Roman"/>
                          <a:cs typeface="Times New Roman"/>
                        </a:rPr>
                        <a:t>0</a:t>
                      </a:r>
                      <a:r>
                        <a:rPr sz="1800" i="1" dirty="0">
                          <a:latin typeface="Times New Roman"/>
                          <a:cs typeface="Times New Roman"/>
                        </a:rPr>
                        <a:t>,</a:t>
                      </a:r>
                      <a:r>
                        <a:rPr sz="1800" i="1" spc="-135" dirty="0">
                          <a:latin typeface="Times New Roman"/>
                          <a:cs typeface="Times New Roman"/>
                        </a:rPr>
                        <a:t> </a:t>
                      </a:r>
                      <a:r>
                        <a:rPr sz="1800" i="1" spc="-45" dirty="0">
                          <a:latin typeface="Meiryo"/>
                          <a:cs typeface="Meiryo"/>
                        </a:rPr>
                        <a:t>­</a:t>
                      </a:r>
                      <a:r>
                        <a:rPr lang="en-US" sz="1800" i="1" spc="-45" dirty="0">
                          <a:latin typeface="Meiryo"/>
                          <a:cs typeface="Meiryo"/>
                        </a:rPr>
                        <a:t>-</a:t>
                      </a:r>
                      <a:r>
                        <a:rPr sz="1800" dirty="0">
                          <a:latin typeface="Times New Roman"/>
                          <a:cs typeface="Times New Roman"/>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284163" indent="0">
                        <a:lnSpc>
                          <a:spcPct val="100000"/>
                        </a:lnSpc>
                      </a:pPr>
                      <a:r>
                        <a:rPr lang="en-US" sz="1800" i="1" spc="-20" dirty="0">
                          <a:latin typeface="Meiryo"/>
                          <a:cs typeface="Meiryo"/>
                        </a:rPr>
                        <a:t>-</a:t>
                      </a:r>
                      <a:r>
                        <a:rPr sz="1800" i="1" spc="-20" dirty="0">
                          <a:latin typeface="Meiryo"/>
                          <a:cs typeface="Meiryo"/>
                        </a:rPr>
                        <a:t>­</a:t>
                      </a:r>
                      <a:r>
                        <a:rPr sz="1800" spc="-20" dirty="0">
                          <a:latin typeface="Times New Roman"/>
                          <a:cs typeface="Times New Roman"/>
                        </a:rPr>
                        <a:t>3</a:t>
                      </a:r>
                      <a:r>
                        <a:rPr sz="1800" i="1" dirty="0">
                          <a:latin typeface="Times New Roman"/>
                          <a:cs typeface="Times New Roman"/>
                        </a:rPr>
                        <a:t>,</a:t>
                      </a:r>
                      <a:r>
                        <a:rPr lang="en-US" sz="1800" i="1" dirty="0">
                          <a:latin typeface="Times New Roman"/>
                          <a:cs typeface="Times New Roman"/>
                        </a:rPr>
                        <a:t>-</a:t>
                      </a:r>
                      <a:r>
                        <a:rPr sz="1800" i="1" spc="-175" dirty="0">
                          <a:latin typeface="Times New Roman"/>
                          <a:cs typeface="Times New Roman"/>
                        </a:rPr>
                        <a:t> </a:t>
                      </a:r>
                      <a:r>
                        <a:rPr sz="1800" i="1" spc="-45" dirty="0">
                          <a:latin typeface="Meiryo"/>
                          <a:cs typeface="Meiryo"/>
                        </a:rPr>
                        <a:t>­</a:t>
                      </a:r>
                      <a:r>
                        <a:rPr sz="1800" dirty="0">
                          <a:latin typeface="Times New Roman"/>
                          <a:cs typeface="Times New Roman"/>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9" name="Slide Number Placeholder 8">
            <a:extLst>
              <a:ext uri="{FF2B5EF4-FFF2-40B4-BE49-F238E27FC236}">
                <a16:creationId xmlns:a16="http://schemas.microsoft.com/office/drawing/2014/main" id="{ACEA68E9-5EF0-F94A-1068-6960B214E82B}"/>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22</a:t>
            </a:fld>
            <a:r>
              <a:rPr lang="en-US" sz="2000" dirty="0">
                <a:solidFill>
                  <a:prstClr val="black"/>
                </a:solidFill>
                <a:latin typeface="Comic Sans MS"/>
                <a:sym typeface="Comic Sans MS"/>
              </a:rPr>
              <a:t>/46</a:t>
            </a:r>
          </a:p>
        </p:txBody>
      </p:sp>
      <p:sp>
        <p:nvSpPr>
          <p:cNvPr id="10" name="Footer Placeholder 9">
            <a:extLst>
              <a:ext uri="{FF2B5EF4-FFF2-40B4-BE49-F238E27FC236}">
                <a16:creationId xmlns:a16="http://schemas.microsoft.com/office/drawing/2014/main" id="{01F43847-DD87-C7E9-53C3-6FC6511E4D8A}"/>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C01A4472-D7A3-D1A2-9B93-9BCEA8BE40D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2" name="Rectangle 11">
            <a:extLst>
              <a:ext uri="{FF2B5EF4-FFF2-40B4-BE49-F238E27FC236}">
                <a16:creationId xmlns:a16="http://schemas.microsoft.com/office/drawing/2014/main" id="{69C23C61-6F85-12E0-7DE1-CE9118FDB4CC}"/>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232C4EB3-1969-B6D3-6455-320BBA14DE5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object 24">
            <a:extLst>
              <a:ext uri="{FF2B5EF4-FFF2-40B4-BE49-F238E27FC236}">
                <a16:creationId xmlns:a16="http://schemas.microsoft.com/office/drawing/2014/main" id="{A6DA791E-E6B0-65ED-CEE2-C61FE2E117B4}"/>
              </a:ext>
            </a:extLst>
          </p:cNvPr>
          <p:cNvSpPr/>
          <p:nvPr/>
        </p:nvSpPr>
        <p:spPr>
          <a:xfrm>
            <a:off x="1990341" y="3011442"/>
            <a:ext cx="687311" cy="609600"/>
          </a:xfrm>
          <a:custGeom>
            <a:avLst/>
            <a:gdLst/>
            <a:ahLst/>
            <a:cxnLst/>
            <a:rect l="l" t="t" r="r" b="b"/>
            <a:pathLst>
              <a:path w="986789" h="986789">
                <a:moveTo>
                  <a:pt x="144475" y="144475"/>
                </a:moveTo>
                <a:lnTo>
                  <a:pt x="174237" y="117024"/>
                </a:lnTo>
                <a:lnTo>
                  <a:pt x="205616" y="92464"/>
                </a:lnTo>
                <a:lnTo>
                  <a:pt x="238431" y="70792"/>
                </a:lnTo>
                <a:lnTo>
                  <a:pt x="272502" y="52011"/>
                </a:lnTo>
                <a:lnTo>
                  <a:pt x="307651" y="36118"/>
                </a:lnTo>
                <a:lnTo>
                  <a:pt x="343697" y="23116"/>
                </a:lnTo>
                <a:lnTo>
                  <a:pt x="380461" y="13002"/>
                </a:lnTo>
                <a:lnTo>
                  <a:pt x="455426" y="1444"/>
                </a:lnTo>
                <a:lnTo>
                  <a:pt x="493268" y="0"/>
                </a:lnTo>
                <a:lnTo>
                  <a:pt x="531110" y="1444"/>
                </a:lnTo>
                <a:lnTo>
                  <a:pt x="606075" y="13002"/>
                </a:lnTo>
                <a:lnTo>
                  <a:pt x="642839" y="23116"/>
                </a:lnTo>
                <a:lnTo>
                  <a:pt x="678885" y="36118"/>
                </a:lnTo>
                <a:lnTo>
                  <a:pt x="714034" y="52011"/>
                </a:lnTo>
                <a:lnTo>
                  <a:pt x="748106" y="70792"/>
                </a:lnTo>
                <a:lnTo>
                  <a:pt x="780920" y="92464"/>
                </a:lnTo>
                <a:lnTo>
                  <a:pt x="812299" y="117024"/>
                </a:lnTo>
                <a:lnTo>
                  <a:pt x="842062" y="144475"/>
                </a:lnTo>
                <a:lnTo>
                  <a:pt x="869512" y="174237"/>
                </a:lnTo>
                <a:lnTo>
                  <a:pt x="894073" y="205616"/>
                </a:lnTo>
                <a:lnTo>
                  <a:pt x="915744" y="238430"/>
                </a:lnTo>
                <a:lnTo>
                  <a:pt x="934526" y="272502"/>
                </a:lnTo>
                <a:lnTo>
                  <a:pt x="950418" y="307651"/>
                </a:lnTo>
                <a:lnTo>
                  <a:pt x="963421" y="343697"/>
                </a:lnTo>
                <a:lnTo>
                  <a:pt x="973534" y="380461"/>
                </a:lnTo>
                <a:lnTo>
                  <a:pt x="985092" y="455426"/>
                </a:lnTo>
                <a:lnTo>
                  <a:pt x="986537" y="493268"/>
                </a:lnTo>
                <a:lnTo>
                  <a:pt x="985092" y="531110"/>
                </a:lnTo>
                <a:lnTo>
                  <a:pt x="973534" y="606075"/>
                </a:lnTo>
                <a:lnTo>
                  <a:pt x="963421" y="642839"/>
                </a:lnTo>
                <a:lnTo>
                  <a:pt x="950418" y="678885"/>
                </a:lnTo>
                <a:lnTo>
                  <a:pt x="934526" y="714034"/>
                </a:lnTo>
                <a:lnTo>
                  <a:pt x="915744" y="748106"/>
                </a:lnTo>
                <a:lnTo>
                  <a:pt x="894073" y="780920"/>
                </a:lnTo>
                <a:lnTo>
                  <a:pt x="869512" y="812299"/>
                </a:lnTo>
                <a:lnTo>
                  <a:pt x="842062" y="842062"/>
                </a:lnTo>
                <a:lnTo>
                  <a:pt x="812299" y="869512"/>
                </a:lnTo>
                <a:lnTo>
                  <a:pt x="780920" y="894073"/>
                </a:lnTo>
                <a:lnTo>
                  <a:pt x="748106" y="915744"/>
                </a:lnTo>
                <a:lnTo>
                  <a:pt x="714034" y="934526"/>
                </a:lnTo>
                <a:lnTo>
                  <a:pt x="678885" y="950418"/>
                </a:lnTo>
                <a:lnTo>
                  <a:pt x="642839" y="963421"/>
                </a:lnTo>
                <a:lnTo>
                  <a:pt x="606075" y="973534"/>
                </a:lnTo>
                <a:lnTo>
                  <a:pt x="531110" y="985092"/>
                </a:lnTo>
                <a:lnTo>
                  <a:pt x="493268" y="986537"/>
                </a:lnTo>
                <a:lnTo>
                  <a:pt x="455426" y="985092"/>
                </a:lnTo>
                <a:lnTo>
                  <a:pt x="380461" y="973534"/>
                </a:lnTo>
                <a:lnTo>
                  <a:pt x="343697" y="963421"/>
                </a:lnTo>
                <a:lnTo>
                  <a:pt x="307651" y="950418"/>
                </a:lnTo>
                <a:lnTo>
                  <a:pt x="272502" y="934526"/>
                </a:lnTo>
                <a:lnTo>
                  <a:pt x="238431" y="915744"/>
                </a:lnTo>
                <a:lnTo>
                  <a:pt x="205616" y="894073"/>
                </a:lnTo>
                <a:lnTo>
                  <a:pt x="174237" y="869512"/>
                </a:lnTo>
                <a:lnTo>
                  <a:pt x="144475" y="842062"/>
                </a:lnTo>
                <a:lnTo>
                  <a:pt x="117024" y="812299"/>
                </a:lnTo>
                <a:lnTo>
                  <a:pt x="92464" y="780920"/>
                </a:lnTo>
                <a:lnTo>
                  <a:pt x="70792" y="748106"/>
                </a:lnTo>
                <a:lnTo>
                  <a:pt x="52011" y="714034"/>
                </a:lnTo>
                <a:lnTo>
                  <a:pt x="36118" y="678885"/>
                </a:lnTo>
                <a:lnTo>
                  <a:pt x="23116" y="642839"/>
                </a:lnTo>
                <a:lnTo>
                  <a:pt x="13002" y="606075"/>
                </a:lnTo>
                <a:lnTo>
                  <a:pt x="1444" y="531110"/>
                </a:lnTo>
                <a:lnTo>
                  <a:pt x="0" y="493268"/>
                </a:lnTo>
                <a:lnTo>
                  <a:pt x="1444" y="455426"/>
                </a:lnTo>
                <a:lnTo>
                  <a:pt x="13002" y="380461"/>
                </a:lnTo>
                <a:lnTo>
                  <a:pt x="23116" y="343697"/>
                </a:lnTo>
                <a:lnTo>
                  <a:pt x="36118" y="307651"/>
                </a:lnTo>
                <a:lnTo>
                  <a:pt x="52011" y="272502"/>
                </a:lnTo>
                <a:lnTo>
                  <a:pt x="70792" y="238430"/>
                </a:lnTo>
                <a:lnTo>
                  <a:pt x="92464" y="205616"/>
                </a:lnTo>
                <a:lnTo>
                  <a:pt x="117024" y="174237"/>
                </a:lnTo>
                <a:lnTo>
                  <a:pt x="144475" y="144475"/>
                </a:lnTo>
                <a:close/>
              </a:path>
            </a:pathLst>
          </a:custGeom>
          <a:ln w="25400">
            <a:solidFill>
              <a:srgbClr val="FF2600"/>
            </a:solidFill>
          </a:ln>
        </p:spPr>
        <p:txBody>
          <a:bodyPr wrap="square" lIns="0" tIns="0" rIns="0" bIns="0" rtlCol="0"/>
          <a:lstStyle/>
          <a:p>
            <a:endParaRPr/>
          </a:p>
        </p:txBody>
      </p:sp>
      <p:sp>
        <p:nvSpPr>
          <p:cNvPr id="4" name="TextBox 3">
            <a:extLst>
              <a:ext uri="{FF2B5EF4-FFF2-40B4-BE49-F238E27FC236}">
                <a16:creationId xmlns:a16="http://schemas.microsoft.com/office/drawing/2014/main" id="{64A3E278-B1B7-624B-2B6F-48CAAB0E2794}"/>
              </a:ext>
            </a:extLst>
          </p:cNvPr>
          <p:cNvSpPr txBox="1"/>
          <p:nvPr/>
        </p:nvSpPr>
        <p:spPr>
          <a:xfrm>
            <a:off x="3647626" y="1871263"/>
            <a:ext cx="4485529" cy="646331"/>
          </a:xfrm>
          <a:prstGeom prst="rect">
            <a:avLst/>
          </a:prstGeom>
          <a:solidFill>
            <a:schemeClr val="bg2">
              <a:lumMod val="90000"/>
            </a:schemeClr>
          </a:solidFill>
        </p:spPr>
        <p:txBody>
          <a:bodyPr wrap="square">
            <a:spAutoFit/>
          </a:bodyPr>
          <a:lstStyle>
            <a:defPPr>
              <a:defRPr lang="en-US"/>
            </a:defPPr>
            <a:lvl1pPr>
              <a:defRPr b="0" i="0" u="none" strike="noStrike" baseline="0">
                <a:latin typeface="Times New Roman" panose="02020603050405020304" pitchFamily="18" charset="0"/>
              </a:defRPr>
            </a:lvl1pPr>
          </a:lstStyle>
          <a:p>
            <a:r>
              <a:rPr lang="en-US" dirty="0"/>
              <a:t>(D, D) is the only </a:t>
            </a:r>
            <a:r>
              <a:rPr lang="en-US" dirty="0">
                <a:solidFill>
                  <a:srgbClr val="FF0000"/>
                </a:solidFill>
              </a:rPr>
              <a:t>Pareto-dominated </a:t>
            </a:r>
            <a:r>
              <a:rPr lang="en-US" dirty="0"/>
              <a:t>outcome, hence the only </a:t>
            </a:r>
            <a:r>
              <a:rPr lang="en-US" dirty="0">
                <a:solidFill>
                  <a:srgbClr val="FF0000"/>
                </a:solidFill>
              </a:rPr>
              <a:t>non-Pareto-optimal</a:t>
            </a:r>
            <a:r>
              <a:rPr lang="en-US" dirty="0"/>
              <a:t> outcome.</a:t>
            </a:r>
          </a:p>
        </p:txBody>
      </p:sp>
      <p:sp>
        <p:nvSpPr>
          <p:cNvPr id="14" name="TextBox 13">
            <a:extLst>
              <a:ext uri="{FF2B5EF4-FFF2-40B4-BE49-F238E27FC236}">
                <a16:creationId xmlns:a16="http://schemas.microsoft.com/office/drawing/2014/main" id="{30000470-13AC-9A85-2055-4DAFC9EDB8B2}"/>
              </a:ext>
            </a:extLst>
          </p:cNvPr>
          <p:cNvSpPr txBox="1"/>
          <p:nvPr/>
        </p:nvSpPr>
        <p:spPr>
          <a:xfrm>
            <a:off x="3647626" y="2561272"/>
            <a:ext cx="4618652" cy="1477328"/>
          </a:xfrm>
          <a:prstGeom prst="rect">
            <a:avLst/>
          </a:prstGeom>
          <a:noFill/>
        </p:spPr>
        <p:txBody>
          <a:bodyPr wrap="square">
            <a:spAutoFit/>
          </a:bodyPr>
          <a:lstStyle/>
          <a:p>
            <a:r>
              <a:rPr lang="en-US" b="0" i="0" dirty="0">
                <a:effectLst/>
                <a:latin typeface="Söhne"/>
              </a:rPr>
              <a:t>Nash Equilibrium is a concept in game theory that describes a </a:t>
            </a:r>
            <a:r>
              <a:rPr lang="en-US" b="1" i="0" dirty="0">
                <a:effectLst/>
                <a:latin typeface="Söhne"/>
              </a:rPr>
              <a:t>stable state </a:t>
            </a:r>
            <a:r>
              <a:rPr lang="en-US" b="0" i="0" dirty="0">
                <a:effectLst/>
                <a:latin typeface="Söhne"/>
              </a:rPr>
              <a:t>in which no player has an incentive to </a:t>
            </a:r>
            <a:r>
              <a:rPr lang="en-US" b="1" i="0" dirty="0">
                <a:effectLst/>
                <a:latin typeface="Söhne"/>
              </a:rPr>
              <a:t>unilaterally change </a:t>
            </a:r>
            <a:r>
              <a:rPr lang="en-US" b="0" i="0" dirty="0">
                <a:effectLst/>
                <a:latin typeface="Söhne"/>
              </a:rPr>
              <a:t>their strategy, given the strategies chosen by the other players.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p:nvPr/>
        </p:nvSpPr>
        <p:spPr>
          <a:xfrm>
            <a:off x="400107" y="5000659"/>
            <a:ext cx="2446655" cy="330200"/>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sz="2400" dirty="0">
                <a:latin typeface="Times New Roman"/>
                <a:cs typeface="Times New Roman"/>
              </a:rPr>
              <a:t>M</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c</a:t>
            </a:r>
            <a:r>
              <a:rPr sz="2400" spc="-10" dirty="0">
                <a:latin typeface="Times New Roman"/>
                <a:cs typeface="Times New Roman"/>
              </a:rPr>
              <a:t>hi</a:t>
            </a:r>
            <a:r>
              <a:rPr sz="2400" dirty="0">
                <a:latin typeface="Times New Roman"/>
                <a:cs typeface="Times New Roman"/>
              </a:rPr>
              <a:t>ng P</a:t>
            </a:r>
            <a:r>
              <a:rPr sz="2400" spc="-20" dirty="0">
                <a:latin typeface="Times New Roman"/>
                <a:cs typeface="Times New Roman"/>
              </a:rPr>
              <a:t>e</a:t>
            </a:r>
            <a:r>
              <a:rPr sz="2400" spc="-15" dirty="0">
                <a:latin typeface="Times New Roman"/>
                <a:cs typeface="Times New Roman"/>
              </a:rPr>
              <a:t>nni</a:t>
            </a:r>
            <a:r>
              <a:rPr sz="2400" spc="-20" dirty="0">
                <a:latin typeface="Times New Roman"/>
                <a:cs typeface="Times New Roman"/>
              </a:rPr>
              <a:t>e</a:t>
            </a:r>
            <a:r>
              <a:rPr sz="2400" dirty="0">
                <a:latin typeface="Times New Roman"/>
                <a:cs typeface="Times New Roman"/>
              </a:rPr>
              <a:t>s</a:t>
            </a:r>
          </a:p>
        </p:txBody>
      </p:sp>
      <p:sp>
        <p:nvSpPr>
          <p:cNvPr id="7" name="object 7"/>
          <p:cNvSpPr txBox="1"/>
          <p:nvPr/>
        </p:nvSpPr>
        <p:spPr>
          <a:xfrm>
            <a:off x="303157" y="1740029"/>
            <a:ext cx="2675255" cy="1915909"/>
          </a:xfrm>
          <a:prstGeom prst="rect">
            <a:avLst/>
          </a:prstGeom>
        </p:spPr>
        <p:txBody>
          <a:bodyPr vert="horz" wrap="square" lIns="0" tIns="0" rIns="0" bIns="0" rtlCol="0">
            <a:spAutoFit/>
          </a:bodyPr>
          <a:lstStyle/>
          <a:p>
            <a:pPr marL="433705">
              <a:lnSpc>
                <a:spcPct val="100000"/>
              </a:lnSpc>
              <a:tabLst>
                <a:tab pos="849630" algn="l"/>
                <a:tab pos="1993264" algn="l"/>
                <a:tab pos="2661920" algn="l"/>
              </a:tabLst>
            </a:pPr>
            <a:r>
              <a:rPr sz="3400" dirty="0">
                <a:latin typeface="Times New Roman"/>
                <a:cs typeface="Times New Roman"/>
              </a:rPr>
              <a:t> 	</a:t>
            </a:r>
            <a:r>
              <a:rPr sz="3400" dirty="0">
                <a:latin typeface="Calibri"/>
                <a:cs typeface="Calibri"/>
              </a:rPr>
              <a:t>H</a:t>
            </a:r>
            <a:r>
              <a:rPr sz="3400" dirty="0">
                <a:latin typeface="Times New Roman"/>
                <a:cs typeface="Times New Roman"/>
              </a:rPr>
              <a:t> 	</a:t>
            </a:r>
            <a:r>
              <a:rPr sz="3400" dirty="0">
                <a:latin typeface="Calibri"/>
                <a:cs typeface="Calibri"/>
              </a:rPr>
              <a:t>T</a:t>
            </a:r>
            <a:r>
              <a:rPr sz="3400" dirty="0">
                <a:latin typeface="Times New Roman"/>
                <a:cs typeface="Times New Roman"/>
              </a:rPr>
              <a:t> 	</a:t>
            </a:r>
          </a:p>
          <a:p>
            <a:pPr marL="41910" indent="-29845">
              <a:lnSpc>
                <a:spcPct val="100000"/>
              </a:lnSpc>
              <a:spcBef>
                <a:spcPts val="920"/>
              </a:spcBef>
            </a:pPr>
            <a:r>
              <a:rPr sz="3400" dirty="0">
                <a:latin typeface="Calibri"/>
                <a:cs typeface="Calibri"/>
              </a:rPr>
              <a:t>H</a:t>
            </a:r>
          </a:p>
          <a:p>
            <a:pPr marL="41910">
              <a:lnSpc>
                <a:spcPct val="100000"/>
              </a:lnSpc>
              <a:spcBef>
                <a:spcPts val="1814"/>
              </a:spcBef>
            </a:pPr>
            <a:r>
              <a:rPr sz="3400" dirty="0">
                <a:latin typeface="Calibri"/>
                <a:cs typeface="Calibri"/>
              </a:rPr>
              <a:t>T</a:t>
            </a:r>
          </a:p>
        </p:txBody>
      </p:sp>
      <p:sp>
        <p:nvSpPr>
          <p:cNvPr id="9" name="object 9"/>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Nash</a:t>
            </a:r>
            <a:r>
              <a:rPr spc="-5" dirty="0"/>
              <a:t> </a:t>
            </a:r>
            <a:r>
              <a:rPr dirty="0"/>
              <a:t>Equilibrium</a:t>
            </a:r>
            <a:r>
              <a:rPr spc="-5" dirty="0"/>
              <a:t> </a:t>
            </a:r>
            <a:r>
              <a:rPr dirty="0"/>
              <a:t>Example</a:t>
            </a:r>
          </a:p>
        </p:txBody>
      </p:sp>
      <p:graphicFrame>
        <p:nvGraphicFramePr>
          <p:cNvPr id="8" name="object 8"/>
          <p:cNvGraphicFramePr>
            <a:graphicFrameLocks noGrp="1"/>
          </p:cNvGraphicFramePr>
          <p:nvPr>
            <p:extLst>
              <p:ext uri="{D42A27DB-BD31-4B8C-83A1-F6EECF244321}">
                <p14:modId xmlns:p14="http://schemas.microsoft.com/office/powerpoint/2010/main" val="3693229012"/>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303530">
                        <a:lnSpc>
                          <a:spcPct val="100000"/>
                        </a:lnSpc>
                      </a:pPr>
                      <a:r>
                        <a:rPr sz="1800" i="1" spc="-20" dirty="0">
                          <a:latin typeface="Meiryo"/>
                          <a:cs typeface="Meiryo"/>
                        </a:rPr>
                        <a:t>1,-1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27660">
                        <a:lnSpc>
                          <a:spcPct val="100000"/>
                        </a:lnSpc>
                      </a:pPr>
                      <a:r>
                        <a:rPr sz="1800" i="1" spc="-20" dirty="0">
                          <a:latin typeface="Meiryo"/>
                          <a:cs typeface="Meiryo"/>
                        </a:rPr>
                        <a:t>-1,1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27660">
                        <a:lnSpc>
                          <a:spcPct val="100000"/>
                        </a:lnSpc>
                      </a:pPr>
                      <a:r>
                        <a:rPr sz="1800" i="1" spc="-20" dirty="0">
                          <a:latin typeface="Meiryo"/>
                          <a:cs typeface="Meiryo"/>
                        </a:rPr>
                        <a:t>-1,1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03530">
                        <a:lnSpc>
                          <a:spcPct val="100000"/>
                        </a:lnSpc>
                      </a:pPr>
                      <a:r>
                        <a:rPr sz="1800" i="1" spc="-20" dirty="0">
                          <a:latin typeface="Meiryo"/>
                          <a:cs typeface="Meiryo"/>
                        </a:rPr>
                        <a:t>1,-1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0" name="Slide Number Placeholder 8">
            <a:extLst>
              <a:ext uri="{FF2B5EF4-FFF2-40B4-BE49-F238E27FC236}">
                <a16:creationId xmlns:a16="http://schemas.microsoft.com/office/drawing/2014/main" id="{86834BAC-D355-9A0B-CBD9-902C67985AE1}"/>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23</a:t>
            </a:fld>
            <a:r>
              <a:rPr lang="en-US" sz="2000" dirty="0">
                <a:solidFill>
                  <a:prstClr val="black"/>
                </a:solidFill>
                <a:latin typeface="Comic Sans MS"/>
                <a:sym typeface="Comic Sans MS"/>
              </a:rPr>
              <a:t>/46</a:t>
            </a:r>
          </a:p>
        </p:txBody>
      </p:sp>
      <p:sp>
        <p:nvSpPr>
          <p:cNvPr id="11" name="Footer Placeholder 9">
            <a:extLst>
              <a:ext uri="{FF2B5EF4-FFF2-40B4-BE49-F238E27FC236}">
                <a16:creationId xmlns:a16="http://schemas.microsoft.com/office/drawing/2014/main" id="{866073D9-0CA2-C641-E45F-521D6B28D06D}"/>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2" name="Rectangle 11">
            <a:extLst>
              <a:ext uri="{FF2B5EF4-FFF2-40B4-BE49-F238E27FC236}">
                <a16:creationId xmlns:a16="http://schemas.microsoft.com/office/drawing/2014/main" id="{5EBE295D-DB07-E439-DFAD-F9E9523C7E8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3" name="Rectangle 12">
            <a:extLst>
              <a:ext uri="{FF2B5EF4-FFF2-40B4-BE49-F238E27FC236}">
                <a16:creationId xmlns:a16="http://schemas.microsoft.com/office/drawing/2014/main" id="{ACB48021-D959-A2B1-214D-815712ECE4B0}"/>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A2B70AE1-18AB-2646-40A5-15218E2E712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p:nvPr/>
        </p:nvSpPr>
        <p:spPr>
          <a:xfrm>
            <a:off x="303156" y="1740029"/>
            <a:ext cx="7164443" cy="4221412"/>
          </a:xfrm>
          <a:prstGeom prst="rect">
            <a:avLst/>
          </a:prstGeom>
        </p:spPr>
        <p:txBody>
          <a:bodyPr vert="horz" wrap="square" lIns="0" tIns="0" rIns="0" bIns="0" rtlCol="0">
            <a:spAutoFit/>
          </a:bodyPr>
          <a:lstStyle/>
          <a:p>
            <a:pPr marL="433705">
              <a:lnSpc>
                <a:spcPct val="100000"/>
              </a:lnSpc>
              <a:tabLst>
                <a:tab pos="849630" algn="l"/>
                <a:tab pos="1993264" algn="l"/>
                <a:tab pos="2661920" algn="l"/>
              </a:tabLst>
            </a:pPr>
            <a:r>
              <a:rPr sz="3400" dirty="0">
                <a:latin typeface="Times New Roman"/>
                <a:cs typeface="Times New Roman"/>
              </a:rPr>
              <a:t> 	</a:t>
            </a:r>
            <a:r>
              <a:rPr sz="3400" dirty="0">
                <a:latin typeface="Calibri"/>
                <a:cs typeface="Calibri"/>
              </a:rPr>
              <a:t>H</a:t>
            </a:r>
            <a:r>
              <a:rPr sz="3400" dirty="0">
                <a:latin typeface="Times New Roman"/>
                <a:cs typeface="Times New Roman"/>
              </a:rPr>
              <a:t> 	</a:t>
            </a:r>
            <a:r>
              <a:rPr sz="3400" dirty="0">
                <a:latin typeface="Calibri"/>
                <a:cs typeface="Calibri"/>
              </a:rPr>
              <a:t>T</a:t>
            </a:r>
            <a:r>
              <a:rPr sz="3400" dirty="0">
                <a:latin typeface="Times New Roman"/>
                <a:cs typeface="Times New Roman"/>
              </a:rPr>
              <a:t> 	</a:t>
            </a:r>
          </a:p>
          <a:p>
            <a:pPr marL="41910" indent="-29845">
              <a:lnSpc>
                <a:spcPct val="100000"/>
              </a:lnSpc>
              <a:spcBef>
                <a:spcPts val="920"/>
              </a:spcBef>
            </a:pPr>
            <a:r>
              <a:rPr sz="3400" dirty="0">
                <a:latin typeface="Calibri"/>
                <a:cs typeface="Calibri"/>
              </a:rPr>
              <a:t>H</a:t>
            </a:r>
          </a:p>
          <a:p>
            <a:pPr marL="41910">
              <a:lnSpc>
                <a:spcPct val="100000"/>
              </a:lnSpc>
              <a:spcBef>
                <a:spcPts val="1814"/>
              </a:spcBef>
            </a:pPr>
            <a:r>
              <a:rPr sz="3400" dirty="0">
                <a:latin typeface="Calibri"/>
                <a:cs typeface="Calibri"/>
              </a:rPr>
              <a:t>T</a:t>
            </a:r>
          </a:p>
          <a:p>
            <a:pPr>
              <a:lnSpc>
                <a:spcPct val="100000"/>
              </a:lnSpc>
            </a:pPr>
            <a:endParaRPr sz="3400" dirty="0">
              <a:latin typeface="Times New Roman"/>
              <a:cs typeface="Times New Roman"/>
            </a:endParaRPr>
          </a:p>
          <a:p>
            <a:pPr marL="267335" marR="343535" indent="-228600">
              <a:lnSpc>
                <a:spcPct val="100699"/>
              </a:lnSpc>
              <a:spcBef>
                <a:spcPts val="2160"/>
              </a:spcBef>
              <a:buFont typeface="Times New Roman"/>
              <a:buChar char="•"/>
              <a:tabLst>
                <a:tab pos="267970" algn="l"/>
              </a:tabLst>
            </a:pPr>
            <a:r>
              <a:rPr sz="2400" spc="-20" dirty="0">
                <a:latin typeface="Times New Roman"/>
                <a:cs typeface="Times New Roman"/>
              </a:rPr>
              <a:t>Ca</a:t>
            </a:r>
            <a:r>
              <a:rPr sz="2400" dirty="0">
                <a:latin typeface="Times New Roman"/>
                <a:cs typeface="Times New Roman"/>
              </a:rPr>
              <a:t>n you </a:t>
            </a:r>
            <a:r>
              <a:rPr sz="2400" spc="-10" dirty="0">
                <a:latin typeface="Times New Roman"/>
                <a:cs typeface="Times New Roman"/>
              </a:rPr>
              <a:t>pl</a:t>
            </a:r>
            <a:r>
              <a:rPr sz="2400" spc="-20" dirty="0">
                <a:latin typeface="Times New Roman"/>
                <a:cs typeface="Times New Roman"/>
              </a:rPr>
              <a:t>a</a:t>
            </a:r>
            <a:r>
              <a:rPr sz="2400" dirty="0">
                <a:latin typeface="Times New Roman"/>
                <a:cs typeface="Times New Roman"/>
              </a:rPr>
              <a:t>y </a:t>
            </a:r>
            <a:r>
              <a:rPr sz="2400" spc="-15" dirty="0">
                <a:latin typeface="Times New Roman"/>
                <a:cs typeface="Times New Roman"/>
              </a:rPr>
              <a:t>a</a:t>
            </a:r>
            <a:r>
              <a:rPr sz="2400" spc="-5" dirty="0">
                <a:latin typeface="Times New Roman"/>
                <a:cs typeface="Times New Roman"/>
              </a:rPr>
              <a:t> </a:t>
            </a:r>
            <a:r>
              <a:rPr sz="2400" spc="-15" dirty="0">
                <a:latin typeface="Times New Roman"/>
                <a:cs typeface="Times New Roman"/>
              </a:rPr>
              <a:t>d</a:t>
            </a:r>
            <a:r>
              <a:rPr sz="2400" spc="-20" dirty="0">
                <a:latin typeface="Times New Roman"/>
                <a:cs typeface="Times New Roman"/>
              </a:rPr>
              <a:t>e</a:t>
            </a:r>
            <a:r>
              <a:rPr sz="2400" spc="-10" dirty="0">
                <a:latin typeface="Times New Roman"/>
                <a:cs typeface="Times New Roman"/>
              </a:rPr>
              <a:t>t</a:t>
            </a:r>
            <a:r>
              <a:rPr sz="2400" spc="-20" dirty="0">
                <a:latin typeface="Times New Roman"/>
                <a:cs typeface="Times New Roman"/>
              </a:rPr>
              <a:t>e</a:t>
            </a:r>
            <a:r>
              <a:rPr sz="2400" spc="-15" dirty="0">
                <a:latin typeface="Times New Roman"/>
                <a:cs typeface="Times New Roman"/>
              </a:rPr>
              <a:t>rmini</a:t>
            </a:r>
            <a:r>
              <a:rPr sz="2400" dirty="0">
                <a:latin typeface="Times New Roman"/>
                <a:cs typeface="Times New Roman"/>
              </a:rPr>
              <a:t>s</a:t>
            </a:r>
            <a:r>
              <a:rPr sz="2400" spc="-10" dirty="0">
                <a:latin typeface="Times New Roman"/>
                <a:cs typeface="Times New Roman"/>
              </a:rPr>
              <a:t>tic</a:t>
            </a:r>
            <a:r>
              <a:rPr sz="2400" spc="-5" dirty="0">
                <a:latin typeface="Times New Roman"/>
                <a:cs typeface="Times New Roman"/>
              </a:rPr>
              <a:t> </a:t>
            </a:r>
            <a:r>
              <a:rPr sz="2400" dirty="0">
                <a:latin typeface="Times New Roman"/>
                <a:cs typeface="Times New Roman"/>
              </a:rPr>
              <a:t>s</a:t>
            </a:r>
            <a:r>
              <a:rPr sz="2400" spc="-10" dirty="0">
                <a:latin typeface="Times New Roman"/>
                <a:cs typeface="Times New Roman"/>
              </a:rPr>
              <a:t>tr</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e</a:t>
            </a:r>
            <a:r>
              <a:rPr sz="2400" dirty="0">
                <a:latin typeface="Times New Roman"/>
                <a:cs typeface="Times New Roman"/>
              </a:rPr>
              <a:t>gy </a:t>
            </a:r>
            <a:r>
              <a:rPr sz="2400" spc="-10" dirty="0">
                <a:latin typeface="Times New Roman"/>
                <a:cs typeface="Times New Roman"/>
              </a:rPr>
              <a:t>i</a:t>
            </a:r>
            <a:r>
              <a:rPr sz="2400" dirty="0">
                <a:latin typeface="Times New Roman"/>
                <a:cs typeface="Times New Roman"/>
              </a:rPr>
              <a:t>n </a:t>
            </a:r>
            <a:r>
              <a:rPr sz="2400" spc="-10" dirty="0">
                <a:latin typeface="Times New Roman"/>
                <a:cs typeface="Times New Roman"/>
              </a:rPr>
              <a:t>thi</a:t>
            </a:r>
            <a:r>
              <a:rPr sz="2400" dirty="0">
                <a:latin typeface="Times New Roman"/>
                <a:cs typeface="Times New Roman"/>
              </a:rPr>
              <a:t>s </a:t>
            </a:r>
            <a:r>
              <a:rPr sz="2400" spc="-15" dirty="0">
                <a:latin typeface="Times New Roman"/>
                <a:cs typeface="Times New Roman"/>
              </a:rPr>
              <a:t>g</a:t>
            </a:r>
            <a:r>
              <a:rPr sz="2400" spc="-20" dirty="0">
                <a:latin typeface="Times New Roman"/>
                <a:cs typeface="Times New Roman"/>
              </a:rPr>
              <a:t>ame</a:t>
            </a:r>
            <a:r>
              <a:rPr sz="2400" spc="-15" dirty="0">
                <a:latin typeface="Times New Roman"/>
                <a:cs typeface="Times New Roman"/>
              </a:rPr>
              <a:t>?</a:t>
            </a:r>
            <a:r>
              <a:rPr sz="2400" spc="-10" dirty="0">
                <a:latin typeface="Times New Roman"/>
                <a:cs typeface="Times New Roman"/>
              </a:rPr>
              <a:t> (</a:t>
            </a:r>
            <a:r>
              <a:rPr sz="2400" spc="-20" dirty="0">
                <a:latin typeface="Times New Roman"/>
                <a:cs typeface="Times New Roman"/>
              </a:rPr>
              <a:t>e</a:t>
            </a:r>
            <a:r>
              <a:rPr sz="2400" dirty="0">
                <a:latin typeface="Times New Roman"/>
                <a:cs typeface="Times New Roman"/>
              </a:rPr>
              <a:t>g </a:t>
            </a:r>
            <a:r>
              <a:rPr sz="2400" spc="-20" dirty="0">
                <a:latin typeface="Times New Roman"/>
                <a:cs typeface="Times New Roman"/>
              </a:rPr>
              <a:t>“a</a:t>
            </a:r>
            <a:r>
              <a:rPr sz="2400" spc="-10" dirty="0">
                <a:latin typeface="Times New Roman"/>
                <a:cs typeface="Times New Roman"/>
              </a:rPr>
              <a:t>l</a:t>
            </a:r>
            <a:r>
              <a:rPr sz="2400" dirty="0">
                <a:latin typeface="Times New Roman"/>
                <a:cs typeface="Times New Roman"/>
              </a:rPr>
              <a:t>w</a:t>
            </a:r>
            <a:r>
              <a:rPr sz="2400" spc="-20" dirty="0">
                <a:latin typeface="Times New Roman"/>
                <a:cs typeface="Times New Roman"/>
              </a:rPr>
              <a:t>a</a:t>
            </a:r>
            <a:r>
              <a:rPr sz="2400" dirty="0">
                <a:latin typeface="Times New Roman"/>
                <a:cs typeface="Times New Roman"/>
              </a:rPr>
              <a:t>ys </a:t>
            </a:r>
            <a:r>
              <a:rPr sz="2400" spc="-15" dirty="0">
                <a:latin typeface="Times New Roman"/>
                <a:cs typeface="Times New Roman"/>
              </a:rPr>
              <a:t>h</a:t>
            </a:r>
            <a:r>
              <a:rPr sz="2400" spc="-20" dirty="0">
                <a:latin typeface="Times New Roman"/>
                <a:cs typeface="Times New Roman"/>
              </a:rPr>
              <a:t>ea</a:t>
            </a:r>
            <a:r>
              <a:rPr sz="2400" dirty="0">
                <a:latin typeface="Times New Roman"/>
                <a:cs typeface="Times New Roman"/>
              </a:rPr>
              <a:t>ds</a:t>
            </a:r>
            <a:r>
              <a:rPr sz="2400" spc="-20" dirty="0">
                <a:latin typeface="Times New Roman"/>
                <a:cs typeface="Times New Roman"/>
              </a:rPr>
              <a:t>”</a:t>
            </a:r>
            <a:r>
              <a:rPr sz="2400" dirty="0">
                <a:latin typeface="Times New Roman"/>
                <a:cs typeface="Times New Roman"/>
              </a:rPr>
              <a:t>)</a:t>
            </a:r>
          </a:p>
          <a:p>
            <a:pPr>
              <a:lnSpc>
                <a:spcPct val="100000"/>
              </a:lnSpc>
              <a:spcBef>
                <a:spcPts val="45"/>
              </a:spcBef>
              <a:buFont typeface="Times New Roman"/>
              <a:buChar char="•"/>
            </a:pPr>
            <a:endParaRPr sz="2500" dirty="0">
              <a:latin typeface="Times New Roman"/>
              <a:cs typeface="Times New Roman"/>
            </a:endParaRPr>
          </a:p>
          <a:p>
            <a:pPr marL="267335" indent="-228600">
              <a:lnSpc>
                <a:spcPct val="100000"/>
              </a:lnSpc>
              <a:buFont typeface="Times New Roman"/>
              <a:buChar char="•"/>
              <a:tabLst>
                <a:tab pos="267970" algn="l"/>
              </a:tabLst>
            </a:pPr>
            <a:r>
              <a:rPr sz="2400" spc="-15" dirty="0">
                <a:latin typeface="Times New Roman"/>
                <a:cs typeface="Times New Roman"/>
              </a:rPr>
              <a:t>L</a:t>
            </a:r>
            <a:r>
              <a:rPr sz="2400" spc="-20" dirty="0">
                <a:latin typeface="Times New Roman"/>
                <a:cs typeface="Times New Roman"/>
              </a:rPr>
              <a:t>ea</a:t>
            </a:r>
            <a:r>
              <a:rPr sz="2400" spc="-15" dirty="0">
                <a:latin typeface="Times New Roman"/>
                <a:cs typeface="Times New Roman"/>
              </a:rPr>
              <a:t>ve</a:t>
            </a:r>
            <a:r>
              <a:rPr sz="2400" spc="-5" dirty="0">
                <a:latin typeface="Times New Roman"/>
                <a:cs typeface="Times New Roman"/>
              </a:rPr>
              <a:t> </a:t>
            </a:r>
            <a:r>
              <a:rPr lang="en-US" sz="2400" dirty="0">
                <a:latin typeface="Times New Roman"/>
                <a:cs typeface="Times New Roman"/>
              </a:rPr>
              <a:t>your</a:t>
            </a:r>
            <a:r>
              <a:rPr sz="2400" dirty="0">
                <a:latin typeface="Times New Roman"/>
                <a:cs typeface="Times New Roman"/>
              </a:rPr>
              <a:t> </a:t>
            </a:r>
            <a:r>
              <a:rPr sz="2400" spc="-15" dirty="0">
                <a:latin typeface="Times New Roman"/>
                <a:cs typeface="Times New Roman"/>
              </a:rPr>
              <a:t>oppon</a:t>
            </a:r>
            <a:r>
              <a:rPr sz="2400" spc="-20" dirty="0">
                <a:latin typeface="Times New Roman"/>
                <a:cs typeface="Times New Roman"/>
              </a:rPr>
              <a:t>e</a:t>
            </a:r>
            <a:r>
              <a:rPr sz="2400" spc="-10" dirty="0">
                <a:latin typeface="Times New Roman"/>
                <a:cs typeface="Times New Roman"/>
              </a:rPr>
              <a:t>nt</a:t>
            </a:r>
            <a:r>
              <a:rPr sz="2400" dirty="0">
                <a:latin typeface="Times New Roman"/>
                <a:cs typeface="Times New Roman"/>
              </a:rPr>
              <a:t> </a:t>
            </a:r>
            <a:r>
              <a:rPr sz="2400" spc="-10" dirty="0">
                <a:latin typeface="Times New Roman"/>
                <a:cs typeface="Times New Roman"/>
              </a:rPr>
              <a:t>i</a:t>
            </a:r>
            <a:r>
              <a:rPr sz="2400" dirty="0">
                <a:latin typeface="Times New Roman"/>
                <a:cs typeface="Times New Roman"/>
              </a:rPr>
              <a:t>n </a:t>
            </a:r>
            <a:r>
              <a:rPr sz="2400" spc="-10" dirty="0">
                <a:latin typeface="Times New Roman"/>
                <a:cs typeface="Times New Roman"/>
              </a:rPr>
              <a:t>the</a:t>
            </a:r>
            <a:r>
              <a:rPr sz="2400" spc="-5" dirty="0">
                <a:latin typeface="Times New Roman"/>
                <a:cs typeface="Times New Roman"/>
              </a:rPr>
              <a:t> </a:t>
            </a:r>
            <a:r>
              <a:rPr sz="2400" spc="-15" dirty="0">
                <a:latin typeface="Times New Roman"/>
                <a:cs typeface="Times New Roman"/>
              </a:rPr>
              <a:t>d</a:t>
            </a:r>
            <a:r>
              <a:rPr sz="2400" spc="-20" dirty="0">
                <a:latin typeface="Times New Roman"/>
                <a:cs typeface="Times New Roman"/>
              </a:rPr>
              <a:t>a</a:t>
            </a:r>
            <a:r>
              <a:rPr sz="2400" dirty="0">
                <a:latin typeface="Times New Roman"/>
                <a:cs typeface="Times New Roman"/>
              </a:rPr>
              <a:t>rk by </a:t>
            </a:r>
            <a:r>
              <a:rPr sz="2400" spc="-10" dirty="0">
                <a:latin typeface="Times New Roman"/>
                <a:cs typeface="Times New Roman"/>
              </a:rPr>
              <a:t>pl</a:t>
            </a:r>
            <a:r>
              <a:rPr sz="2400" spc="-20" dirty="0">
                <a:latin typeface="Times New Roman"/>
                <a:cs typeface="Times New Roman"/>
              </a:rPr>
              <a:t>a</a:t>
            </a:r>
            <a:r>
              <a:rPr sz="2400" spc="-10" dirty="0">
                <a:latin typeface="Times New Roman"/>
                <a:cs typeface="Times New Roman"/>
              </a:rPr>
              <a:t>yi</a:t>
            </a:r>
            <a:r>
              <a:rPr sz="2400" dirty="0">
                <a:latin typeface="Times New Roman"/>
                <a:cs typeface="Times New Roman"/>
              </a:rPr>
              <a:t>ng </a:t>
            </a:r>
            <a:r>
              <a:rPr sz="2400" spc="-10" dirty="0">
                <a:solidFill>
                  <a:srgbClr val="FF0000"/>
                </a:solidFill>
                <a:latin typeface="Times New Roman"/>
                <a:cs typeface="Times New Roman"/>
              </a:rPr>
              <a:t>r</a:t>
            </a:r>
            <a:r>
              <a:rPr sz="2400" spc="-20" dirty="0">
                <a:solidFill>
                  <a:srgbClr val="FF0000"/>
                </a:solidFill>
                <a:latin typeface="Times New Roman"/>
                <a:cs typeface="Times New Roman"/>
              </a:rPr>
              <a:t>a</a:t>
            </a:r>
            <a:r>
              <a:rPr sz="2400" spc="-15" dirty="0">
                <a:solidFill>
                  <a:srgbClr val="FF0000"/>
                </a:solidFill>
                <a:latin typeface="Times New Roman"/>
                <a:cs typeface="Times New Roman"/>
              </a:rPr>
              <a:t>ndoml</a:t>
            </a:r>
            <a:r>
              <a:rPr sz="2400" dirty="0">
                <a:solidFill>
                  <a:srgbClr val="FF0000"/>
                </a:solidFill>
                <a:latin typeface="Times New Roman"/>
                <a:cs typeface="Times New Roman"/>
              </a:rPr>
              <a:t>y</a:t>
            </a:r>
            <a:r>
              <a:rPr sz="2400" dirty="0">
                <a:latin typeface="Times New Roman"/>
                <a:cs typeface="Times New Roman"/>
              </a:rPr>
              <a:t>!</a:t>
            </a:r>
          </a:p>
        </p:txBody>
      </p:sp>
      <p:sp>
        <p:nvSpPr>
          <p:cNvPr id="6" name="object 6"/>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Nash</a:t>
            </a:r>
            <a:r>
              <a:rPr spc="-5" dirty="0"/>
              <a:t> </a:t>
            </a:r>
            <a:r>
              <a:rPr dirty="0"/>
              <a:t>Equilibrium</a:t>
            </a:r>
            <a:r>
              <a:rPr spc="-5" dirty="0"/>
              <a:t> </a:t>
            </a:r>
            <a:r>
              <a:rPr dirty="0"/>
              <a:t>Example</a:t>
            </a:r>
          </a:p>
        </p:txBody>
      </p:sp>
      <p:graphicFrame>
        <p:nvGraphicFramePr>
          <p:cNvPr id="8" name="object 8"/>
          <p:cNvGraphicFramePr>
            <a:graphicFrameLocks noGrp="1"/>
          </p:cNvGraphicFramePr>
          <p:nvPr>
            <p:extLst>
              <p:ext uri="{D42A27DB-BD31-4B8C-83A1-F6EECF244321}">
                <p14:modId xmlns:p14="http://schemas.microsoft.com/office/powerpoint/2010/main" val="2515417574"/>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303530">
                        <a:lnSpc>
                          <a:spcPct val="100000"/>
                        </a:lnSpc>
                      </a:pPr>
                      <a:r>
                        <a:rPr sz="1800" i="1" spc="-20" dirty="0">
                          <a:latin typeface="Meiryo"/>
                          <a:cs typeface="Meiryo"/>
                        </a:rPr>
                        <a:t>1,-1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27660">
                        <a:lnSpc>
                          <a:spcPct val="100000"/>
                        </a:lnSpc>
                      </a:pPr>
                      <a:r>
                        <a:rPr sz="1800" i="1" spc="-20" dirty="0">
                          <a:latin typeface="Meiryo"/>
                          <a:cs typeface="Meiryo"/>
                        </a:rPr>
                        <a:t>-1,1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27660">
                        <a:lnSpc>
                          <a:spcPct val="100000"/>
                        </a:lnSpc>
                      </a:pPr>
                      <a:r>
                        <a:rPr sz="1800" i="1" spc="-20" dirty="0">
                          <a:latin typeface="Meiryo"/>
                          <a:cs typeface="Meiryo"/>
                        </a:rPr>
                        <a:t>-1,1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03530">
                        <a:lnSpc>
                          <a:spcPct val="100000"/>
                        </a:lnSpc>
                      </a:pPr>
                      <a:r>
                        <a:rPr sz="1800" i="1" spc="-20" dirty="0">
                          <a:latin typeface="Meiryo"/>
                          <a:cs typeface="Meiryo"/>
                        </a:rPr>
                        <a:t>1,-1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9" name="Slide Number Placeholder 8">
            <a:extLst>
              <a:ext uri="{FF2B5EF4-FFF2-40B4-BE49-F238E27FC236}">
                <a16:creationId xmlns:a16="http://schemas.microsoft.com/office/drawing/2014/main" id="{5094DA06-23A0-3815-50BB-EFAAF910188B}"/>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24</a:t>
            </a:fld>
            <a:r>
              <a:rPr lang="en-US" sz="2000" dirty="0">
                <a:solidFill>
                  <a:prstClr val="black"/>
                </a:solidFill>
                <a:latin typeface="Comic Sans MS"/>
                <a:sym typeface="Comic Sans MS"/>
              </a:rPr>
              <a:t>/46</a:t>
            </a:r>
          </a:p>
        </p:txBody>
      </p:sp>
      <p:sp>
        <p:nvSpPr>
          <p:cNvPr id="10" name="Footer Placeholder 9">
            <a:extLst>
              <a:ext uri="{FF2B5EF4-FFF2-40B4-BE49-F238E27FC236}">
                <a16:creationId xmlns:a16="http://schemas.microsoft.com/office/drawing/2014/main" id="{485F3519-6F28-0B3F-C9BA-D2C1CA613667}"/>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D23F08A0-0456-1A9C-9888-CE9418F8F57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2" name="Rectangle 11">
            <a:extLst>
              <a:ext uri="{FF2B5EF4-FFF2-40B4-BE49-F238E27FC236}">
                <a16:creationId xmlns:a16="http://schemas.microsoft.com/office/drawing/2014/main" id="{306F8BE3-A570-8F2E-05DF-F3F87E9745D1}"/>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79E1F34A-FA22-83CD-4843-62B514562627}"/>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AC318EC9-21A1-F0B1-0984-7C09611DE4F2}"/>
              </a:ext>
            </a:extLst>
          </p:cNvPr>
          <p:cNvSpPr txBox="1"/>
          <p:nvPr/>
        </p:nvSpPr>
        <p:spPr>
          <a:xfrm>
            <a:off x="4819898" y="2659094"/>
            <a:ext cx="1909305" cy="369332"/>
          </a:xfrm>
          <a:prstGeom prst="rect">
            <a:avLst/>
          </a:prstGeom>
          <a:solidFill>
            <a:schemeClr val="bg2">
              <a:lumMod val="90000"/>
            </a:schemeClr>
          </a:solidFill>
        </p:spPr>
        <p:txBody>
          <a:bodyPr wrap="none" rtlCol="0">
            <a:spAutoFit/>
          </a:bodyPr>
          <a:lstStyle/>
          <a:p>
            <a:r>
              <a:rPr lang="en-US" dirty="0"/>
              <a:t>No Nash Equilibria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S</a:t>
            </a:r>
            <a:r>
              <a:rPr spc="-15" dirty="0"/>
              <a:t>t</a:t>
            </a:r>
            <a:r>
              <a:rPr dirty="0"/>
              <a:t>ra</a:t>
            </a:r>
            <a:r>
              <a:rPr spc="-15" dirty="0"/>
              <a:t>t</a:t>
            </a:r>
            <a:r>
              <a:rPr dirty="0"/>
              <a:t>egy</a:t>
            </a:r>
            <a:r>
              <a:rPr spc="-5" dirty="0"/>
              <a:t> </a:t>
            </a:r>
            <a:r>
              <a:rPr dirty="0"/>
              <a:t>Pro</a:t>
            </a:r>
            <a:r>
              <a:rPr spc="-15" dirty="0"/>
              <a:t>f</a:t>
            </a:r>
            <a:r>
              <a:rPr dirty="0"/>
              <a:t>iles</a:t>
            </a:r>
          </a:p>
        </p:txBody>
      </p:sp>
      <p:sp>
        <p:nvSpPr>
          <p:cNvPr id="6" name="object 6"/>
          <p:cNvSpPr txBox="1"/>
          <p:nvPr/>
        </p:nvSpPr>
        <p:spPr>
          <a:xfrm>
            <a:off x="443960" y="1498546"/>
            <a:ext cx="7912734" cy="4411144"/>
          </a:xfrm>
          <a:prstGeom prst="rect">
            <a:avLst/>
          </a:prstGeom>
        </p:spPr>
        <p:txBody>
          <a:bodyPr vert="horz" wrap="square" lIns="0" tIns="0" rIns="0" bIns="0" rtlCol="0">
            <a:spAutoFit/>
          </a:bodyPr>
          <a:lstStyle/>
          <a:p>
            <a:pPr marL="12700" marR="485140">
              <a:lnSpc>
                <a:spcPts val="2960"/>
              </a:lnSpc>
            </a:pPr>
            <a:r>
              <a:rPr sz="2400" dirty="0">
                <a:latin typeface="Times New Roman"/>
                <a:cs typeface="Times New Roman"/>
              </a:rPr>
              <a:t>D</a:t>
            </a:r>
            <a:r>
              <a:rPr sz="2400" spc="-20" dirty="0">
                <a:latin typeface="Times New Roman"/>
                <a:cs typeface="Times New Roman"/>
              </a:rPr>
              <a:t>e</a:t>
            </a:r>
            <a:r>
              <a:rPr sz="2400" spc="-10" dirty="0">
                <a:latin typeface="Times New Roman"/>
                <a:cs typeface="Times New Roman"/>
              </a:rPr>
              <a:t>fine</a:t>
            </a:r>
            <a:r>
              <a:rPr sz="2400" spc="-5" dirty="0">
                <a:latin typeface="Times New Roman"/>
                <a:cs typeface="Times New Roman"/>
              </a:rPr>
              <a:t> </a:t>
            </a:r>
            <a:r>
              <a:rPr sz="2400" spc="-15" dirty="0">
                <a:latin typeface="Times New Roman"/>
                <a:cs typeface="Times New Roman"/>
              </a:rPr>
              <a:t>a</a:t>
            </a:r>
            <a:r>
              <a:rPr sz="2400" spc="-5" dirty="0">
                <a:latin typeface="Times New Roman"/>
                <a:cs typeface="Times New Roman"/>
              </a:rPr>
              <a:t> </a:t>
            </a:r>
            <a:r>
              <a:rPr sz="2400" dirty="0">
                <a:latin typeface="Times New Roman"/>
                <a:cs typeface="Times New Roman"/>
              </a:rPr>
              <a:t>s</a:t>
            </a:r>
            <a:r>
              <a:rPr sz="2400" spc="-10" dirty="0">
                <a:latin typeface="Times New Roman"/>
                <a:cs typeface="Times New Roman"/>
              </a:rPr>
              <a:t>tr</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e</a:t>
            </a:r>
            <a:r>
              <a:rPr sz="2400" dirty="0">
                <a:latin typeface="Times New Roman"/>
                <a:cs typeface="Times New Roman"/>
              </a:rPr>
              <a:t>gy </a:t>
            </a:r>
            <a:r>
              <a:rPr sz="2550" i="1" spc="-100" dirty="0">
                <a:latin typeface="Times New Roman"/>
                <a:cs typeface="Times New Roman"/>
              </a:rPr>
              <a:t>s</a:t>
            </a:r>
            <a:r>
              <a:rPr sz="2700" i="1" baseline="-20061" dirty="0">
                <a:latin typeface="Times New Roman"/>
                <a:cs typeface="Times New Roman"/>
              </a:rPr>
              <a:t>i</a:t>
            </a:r>
            <a:r>
              <a:rPr sz="2700" i="1" spc="225" baseline="-20061" dirty="0">
                <a:latin typeface="Times New Roman"/>
                <a:cs typeface="Times New Roman"/>
              </a:rPr>
              <a:t> </a:t>
            </a:r>
            <a:r>
              <a:rPr sz="2400" dirty="0">
                <a:latin typeface="Times New Roman"/>
                <a:cs typeface="Times New Roman"/>
              </a:rPr>
              <a:t>for </a:t>
            </a:r>
            <a:r>
              <a:rPr sz="2400" spc="-20" dirty="0">
                <a:latin typeface="Times New Roman"/>
                <a:cs typeface="Times New Roman"/>
              </a:rPr>
              <a:t>a</a:t>
            </a:r>
            <a:r>
              <a:rPr sz="2400" spc="-15" dirty="0">
                <a:latin typeface="Times New Roman"/>
                <a:cs typeface="Times New Roman"/>
              </a:rPr>
              <a:t>g</a:t>
            </a:r>
            <a:r>
              <a:rPr sz="2400" spc="-20" dirty="0">
                <a:latin typeface="Times New Roman"/>
                <a:cs typeface="Times New Roman"/>
              </a:rPr>
              <a:t>e</a:t>
            </a:r>
            <a:r>
              <a:rPr sz="2400" spc="-10" dirty="0">
                <a:latin typeface="Times New Roman"/>
                <a:cs typeface="Times New Roman"/>
              </a:rPr>
              <a:t>nt</a:t>
            </a:r>
            <a:r>
              <a:rPr sz="2400" dirty="0">
                <a:latin typeface="Times New Roman"/>
                <a:cs typeface="Times New Roman"/>
              </a:rPr>
              <a:t> </a:t>
            </a:r>
            <a:r>
              <a:rPr sz="2400" i="1" spc="-10" dirty="0">
                <a:latin typeface="Times New Roman"/>
                <a:cs typeface="Times New Roman"/>
              </a:rPr>
              <a:t>i</a:t>
            </a:r>
            <a:r>
              <a:rPr sz="2400" i="1" dirty="0">
                <a:latin typeface="Times New Roman"/>
                <a:cs typeface="Times New Roman"/>
              </a:rPr>
              <a:t> </a:t>
            </a:r>
            <a:r>
              <a:rPr sz="2400" spc="-20" dirty="0">
                <a:latin typeface="Times New Roman"/>
                <a:cs typeface="Times New Roman"/>
              </a:rPr>
              <a:t>a</a:t>
            </a:r>
            <a:r>
              <a:rPr sz="2400" dirty="0">
                <a:latin typeface="Times New Roman"/>
                <a:cs typeface="Times New Roman"/>
              </a:rPr>
              <a:t>s </a:t>
            </a:r>
            <a:r>
              <a:rPr sz="2400" spc="-20" dirty="0">
                <a:latin typeface="Times New Roman"/>
                <a:cs typeface="Times New Roman"/>
              </a:rPr>
              <a:t>a</a:t>
            </a:r>
            <a:r>
              <a:rPr sz="2400" dirty="0">
                <a:latin typeface="Times New Roman"/>
                <a:cs typeface="Times New Roman"/>
              </a:rPr>
              <a:t>ny </a:t>
            </a:r>
            <a:r>
              <a:rPr sz="2400" spc="-15" dirty="0">
                <a:solidFill>
                  <a:srgbClr val="FF0000"/>
                </a:solidFill>
                <a:latin typeface="Times New Roman"/>
                <a:cs typeface="Times New Roman"/>
              </a:rPr>
              <a:t>prob</a:t>
            </a:r>
            <a:r>
              <a:rPr sz="2400" spc="-20" dirty="0">
                <a:solidFill>
                  <a:srgbClr val="FF0000"/>
                </a:solidFill>
                <a:latin typeface="Times New Roman"/>
                <a:cs typeface="Times New Roman"/>
              </a:rPr>
              <a:t>a</a:t>
            </a:r>
            <a:r>
              <a:rPr sz="2400" spc="-10" dirty="0">
                <a:solidFill>
                  <a:srgbClr val="FF0000"/>
                </a:solidFill>
                <a:latin typeface="Times New Roman"/>
                <a:cs typeface="Times New Roman"/>
              </a:rPr>
              <a:t>bilit</a:t>
            </a:r>
            <a:r>
              <a:rPr sz="2400" dirty="0">
                <a:solidFill>
                  <a:srgbClr val="FF0000"/>
                </a:solidFill>
                <a:latin typeface="Times New Roman"/>
                <a:cs typeface="Times New Roman"/>
              </a:rPr>
              <a:t>y</a:t>
            </a:r>
            <a:r>
              <a:rPr sz="2400" dirty="0">
                <a:latin typeface="Times New Roman"/>
                <a:cs typeface="Times New Roman"/>
              </a:rPr>
              <a:t> </a:t>
            </a:r>
            <a:r>
              <a:rPr sz="2400" spc="-10" dirty="0">
                <a:latin typeface="Times New Roman"/>
                <a:cs typeface="Times New Roman"/>
              </a:rPr>
              <a:t>di</a:t>
            </a:r>
            <a:r>
              <a:rPr sz="2400" dirty="0">
                <a:latin typeface="Times New Roman"/>
                <a:cs typeface="Times New Roman"/>
              </a:rPr>
              <a:t>s</a:t>
            </a:r>
            <a:r>
              <a:rPr sz="2400" spc="-10" dirty="0">
                <a:latin typeface="Times New Roman"/>
                <a:cs typeface="Times New Roman"/>
              </a:rPr>
              <a:t>tributi</a:t>
            </a:r>
            <a:r>
              <a:rPr sz="2400" dirty="0">
                <a:latin typeface="Times New Roman"/>
                <a:cs typeface="Times New Roman"/>
              </a:rPr>
              <a:t>on </a:t>
            </a:r>
            <a:r>
              <a:rPr sz="2400" spc="-15" dirty="0">
                <a:latin typeface="Times New Roman"/>
                <a:cs typeface="Times New Roman"/>
              </a:rPr>
              <a:t>ov</a:t>
            </a:r>
            <a:r>
              <a:rPr sz="2400" spc="-20" dirty="0">
                <a:latin typeface="Times New Roman"/>
                <a:cs typeface="Times New Roman"/>
              </a:rPr>
              <a:t>e</a:t>
            </a:r>
            <a:r>
              <a:rPr sz="2400" dirty="0">
                <a:latin typeface="Times New Roman"/>
                <a:cs typeface="Times New Roman"/>
              </a:rPr>
              <a:t>r </a:t>
            </a:r>
            <a:r>
              <a:rPr sz="2400" spc="-10" dirty="0">
                <a:latin typeface="Times New Roman"/>
                <a:cs typeface="Times New Roman"/>
              </a:rPr>
              <a:t>the</a:t>
            </a:r>
            <a:r>
              <a:rPr sz="2400" spc="-5" dirty="0">
                <a:latin typeface="Times New Roman"/>
                <a:cs typeface="Times New Roman"/>
              </a:rPr>
              <a:t> </a:t>
            </a:r>
            <a:r>
              <a:rPr sz="2400" spc="-20" dirty="0">
                <a:latin typeface="Times New Roman"/>
                <a:cs typeface="Times New Roman"/>
              </a:rPr>
              <a:t>ac</a:t>
            </a:r>
            <a:r>
              <a:rPr sz="2400" spc="-10" dirty="0">
                <a:latin typeface="Times New Roman"/>
                <a:cs typeface="Times New Roman"/>
              </a:rPr>
              <a:t>ti</a:t>
            </a:r>
            <a:r>
              <a:rPr sz="2400" dirty="0">
                <a:latin typeface="Times New Roman"/>
                <a:cs typeface="Times New Roman"/>
              </a:rPr>
              <a:t>ons </a:t>
            </a:r>
            <a:r>
              <a:rPr sz="2550" i="1" spc="-110" dirty="0">
                <a:latin typeface="Times New Roman"/>
                <a:cs typeface="Times New Roman"/>
              </a:rPr>
              <a:t>A</a:t>
            </a:r>
            <a:r>
              <a:rPr sz="2700" i="1" baseline="-20061" dirty="0">
                <a:latin typeface="Times New Roman"/>
                <a:cs typeface="Times New Roman"/>
              </a:rPr>
              <a:t>i</a:t>
            </a:r>
            <a:endParaRPr sz="2700" baseline="-20061" dirty="0">
              <a:latin typeface="Times New Roman"/>
              <a:cs typeface="Times New Roman"/>
            </a:endParaRPr>
          </a:p>
          <a:p>
            <a:pPr>
              <a:lnSpc>
                <a:spcPct val="100000"/>
              </a:lnSpc>
              <a:spcBef>
                <a:spcPts val="46"/>
              </a:spcBef>
            </a:pPr>
            <a:endParaRPr sz="2000" dirty="0">
              <a:latin typeface="Times New Roman"/>
              <a:cs typeface="Times New Roman"/>
            </a:endParaRPr>
          </a:p>
          <a:p>
            <a:pPr marL="12700">
              <a:lnSpc>
                <a:spcPct val="100000"/>
              </a:lnSpc>
            </a:pPr>
            <a:r>
              <a:rPr sz="2400" i="1" dirty="0">
                <a:solidFill>
                  <a:srgbClr val="0000FF"/>
                </a:solidFill>
                <a:latin typeface="Times New Roman"/>
                <a:cs typeface="Times New Roman"/>
              </a:rPr>
              <a:t>pu</a:t>
            </a:r>
            <a:r>
              <a:rPr sz="2400" i="1" spc="-90" dirty="0">
                <a:solidFill>
                  <a:srgbClr val="0000FF"/>
                </a:solidFill>
                <a:latin typeface="Times New Roman"/>
                <a:cs typeface="Times New Roman"/>
              </a:rPr>
              <a:t>r</a:t>
            </a:r>
            <a:r>
              <a:rPr sz="2400" i="1" spc="-15" dirty="0">
                <a:solidFill>
                  <a:srgbClr val="0000FF"/>
                </a:solidFill>
                <a:latin typeface="Times New Roman"/>
                <a:cs typeface="Times New Roman"/>
              </a:rPr>
              <a:t>e</a:t>
            </a:r>
            <a:r>
              <a:rPr sz="2400" i="1" dirty="0">
                <a:solidFill>
                  <a:srgbClr val="0000FF"/>
                </a:solidFill>
                <a:latin typeface="Times New Roman"/>
                <a:cs typeface="Times New Roman"/>
              </a:rPr>
              <a:t> s</a:t>
            </a:r>
            <a:r>
              <a:rPr sz="2400" i="1" spc="-10" dirty="0">
                <a:solidFill>
                  <a:srgbClr val="0000FF"/>
                </a:solidFill>
                <a:latin typeface="Times New Roman"/>
                <a:cs typeface="Times New Roman"/>
              </a:rPr>
              <a:t>t</a:t>
            </a:r>
            <a:r>
              <a:rPr sz="2400" i="1" dirty="0">
                <a:solidFill>
                  <a:srgbClr val="0000FF"/>
                </a:solidFill>
                <a:latin typeface="Times New Roman"/>
                <a:cs typeface="Times New Roman"/>
              </a:rPr>
              <a:t>r</a:t>
            </a:r>
            <a:r>
              <a:rPr sz="2400" i="1" spc="-10" dirty="0">
                <a:solidFill>
                  <a:srgbClr val="0000FF"/>
                </a:solidFill>
                <a:latin typeface="Times New Roman"/>
                <a:cs typeface="Times New Roman"/>
              </a:rPr>
              <a:t>at</a:t>
            </a:r>
            <a:r>
              <a:rPr sz="2400" i="1" spc="-20" dirty="0">
                <a:solidFill>
                  <a:srgbClr val="0000FF"/>
                </a:solidFill>
                <a:latin typeface="Times New Roman"/>
                <a:cs typeface="Times New Roman"/>
              </a:rPr>
              <a:t>e</a:t>
            </a:r>
            <a:r>
              <a:rPr sz="2400" i="1" spc="-15" dirty="0">
                <a:solidFill>
                  <a:srgbClr val="0000FF"/>
                </a:solidFill>
                <a:latin typeface="Times New Roman"/>
                <a:cs typeface="Times New Roman"/>
              </a:rPr>
              <a:t>gy</a:t>
            </a:r>
            <a:r>
              <a:rPr sz="2400" spc="-10" dirty="0">
                <a:latin typeface="Times New Roman"/>
                <a:cs typeface="Times New Roman"/>
              </a:rPr>
              <a:t>:</a:t>
            </a:r>
            <a:r>
              <a:rPr sz="2400" dirty="0">
                <a:latin typeface="Times New Roman"/>
                <a:cs typeface="Times New Roman"/>
              </a:rPr>
              <a:t> </a:t>
            </a:r>
            <a:r>
              <a:rPr lang="en-US" sz="2400" spc="-15" dirty="0">
                <a:latin typeface="Times New Roman"/>
                <a:cs typeface="Times New Roman"/>
              </a:rPr>
              <a:t>onl</a:t>
            </a:r>
            <a:r>
              <a:rPr lang="en-US" sz="2400" dirty="0">
                <a:latin typeface="Times New Roman"/>
                <a:cs typeface="Times New Roman"/>
              </a:rPr>
              <a:t>y</a:t>
            </a:r>
            <a:r>
              <a:rPr sz="2400" dirty="0">
                <a:latin typeface="Times New Roman"/>
                <a:cs typeface="Times New Roman"/>
              </a:rPr>
              <a:t> </a:t>
            </a:r>
            <a:r>
              <a:rPr sz="2400" spc="-15" dirty="0">
                <a:latin typeface="Times New Roman"/>
                <a:cs typeface="Times New Roman"/>
              </a:rPr>
              <a:t>one</a:t>
            </a:r>
            <a:r>
              <a:rPr sz="2400" spc="-5" dirty="0">
                <a:latin typeface="Times New Roman"/>
                <a:cs typeface="Times New Roman"/>
              </a:rPr>
              <a:t> </a:t>
            </a:r>
            <a:r>
              <a:rPr sz="2400" spc="-20" dirty="0">
                <a:latin typeface="Times New Roman"/>
                <a:cs typeface="Times New Roman"/>
              </a:rPr>
              <a:t>ac</a:t>
            </a:r>
            <a:r>
              <a:rPr sz="2400" spc="-10" dirty="0">
                <a:latin typeface="Times New Roman"/>
                <a:cs typeface="Times New Roman"/>
              </a:rPr>
              <a:t>ti</a:t>
            </a:r>
            <a:r>
              <a:rPr sz="2400" dirty="0">
                <a:latin typeface="Times New Roman"/>
                <a:cs typeface="Times New Roman"/>
              </a:rPr>
              <a:t>on </a:t>
            </a:r>
            <a:r>
              <a:rPr sz="2400" spc="-10" dirty="0">
                <a:latin typeface="Times New Roman"/>
                <a:cs typeface="Times New Roman"/>
              </a:rPr>
              <a:t>i</a:t>
            </a:r>
            <a:r>
              <a:rPr sz="2400" dirty="0">
                <a:latin typeface="Times New Roman"/>
                <a:cs typeface="Times New Roman"/>
              </a:rPr>
              <a:t>s </a:t>
            </a: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d w</a:t>
            </a:r>
            <a:r>
              <a:rPr sz="2400" spc="-10" dirty="0">
                <a:latin typeface="Times New Roman"/>
                <a:cs typeface="Times New Roman"/>
              </a:rPr>
              <a:t>it</a:t>
            </a:r>
            <a:r>
              <a:rPr sz="2400" dirty="0">
                <a:latin typeface="Times New Roman"/>
                <a:cs typeface="Times New Roman"/>
              </a:rPr>
              <a:t>h pos</a:t>
            </a:r>
            <a:r>
              <a:rPr sz="2400" spc="-10" dirty="0">
                <a:latin typeface="Times New Roman"/>
                <a:cs typeface="Times New Roman"/>
              </a:rPr>
              <a:t>itive</a:t>
            </a:r>
            <a:r>
              <a:rPr sz="2400" spc="-5" dirty="0">
                <a:latin typeface="Times New Roman"/>
                <a:cs typeface="Times New Roman"/>
              </a:rPr>
              <a:t> </a:t>
            </a:r>
            <a:r>
              <a:rPr sz="2400" spc="-15" dirty="0">
                <a:latin typeface="Times New Roman"/>
                <a:cs typeface="Times New Roman"/>
              </a:rPr>
              <a:t>prob</a:t>
            </a:r>
            <a:r>
              <a:rPr sz="2400" spc="-20" dirty="0">
                <a:latin typeface="Times New Roman"/>
                <a:cs typeface="Times New Roman"/>
              </a:rPr>
              <a:t>a</a:t>
            </a:r>
            <a:r>
              <a:rPr sz="2400" spc="-10" dirty="0">
                <a:latin typeface="Times New Roman"/>
                <a:cs typeface="Times New Roman"/>
              </a:rPr>
              <a:t>bilit</a:t>
            </a:r>
            <a:r>
              <a:rPr sz="2400" dirty="0">
                <a:latin typeface="Times New Roman"/>
                <a:cs typeface="Times New Roman"/>
              </a:rPr>
              <a:t>y</a:t>
            </a:r>
          </a:p>
          <a:p>
            <a:pPr>
              <a:spcBef>
                <a:spcPts val="25"/>
              </a:spcBef>
            </a:pPr>
            <a:endParaRPr lang="en-US" sz="2000" i="1" dirty="0">
              <a:latin typeface="Times New Roman"/>
              <a:cs typeface="Times New Roman"/>
            </a:endParaRPr>
          </a:p>
          <a:p>
            <a:pPr>
              <a:spcBef>
                <a:spcPts val="25"/>
              </a:spcBef>
            </a:pPr>
            <a:r>
              <a:rPr lang="en-US" sz="2400" i="1" dirty="0">
                <a:solidFill>
                  <a:srgbClr val="0000FF"/>
                </a:solidFill>
                <a:latin typeface="Times New Roman"/>
                <a:cs typeface="Times New Roman"/>
              </a:rPr>
              <a:t>mixed strategy</a:t>
            </a:r>
            <a:r>
              <a:rPr lang="en-US" sz="2400" i="1" dirty="0">
                <a:latin typeface="Times New Roman"/>
                <a:cs typeface="Times New Roman"/>
              </a:rPr>
              <a:t>: </a:t>
            </a:r>
            <a:r>
              <a:rPr lang="en-US" sz="2400" spc="-10" dirty="0">
                <a:latin typeface="Times New Roman"/>
                <a:cs typeface="Times New Roman"/>
              </a:rPr>
              <a:t>more than one action is played with positive probability</a:t>
            </a:r>
          </a:p>
          <a:p>
            <a:pPr>
              <a:spcBef>
                <a:spcPts val="25"/>
              </a:spcBef>
            </a:pPr>
            <a:endParaRPr lang="en-US" sz="2000" spc="-10" dirty="0">
              <a:latin typeface="Times New Roman"/>
              <a:cs typeface="Times New Roman"/>
            </a:endParaRPr>
          </a:p>
          <a:p>
            <a:pPr>
              <a:spcBef>
                <a:spcPts val="25"/>
              </a:spcBef>
            </a:pPr>
            <a:r>
              <a:rPr lang="en-US" sz="2400" spc="-10" dirty="0">
                <a:latin typeface="Times New Roman"/>
                <a:cs typeface="Times New Roman"/>
              </a:rPr>
              <a:t>These</a:t>
            </a:r>
            <a:r>
              <a:rPr lang="en-US" sz="2400" spc="-5" dirty="0">
                <a:latin typeface="Times New Roman"/>
                <a:cs typeface="Times New Roman"/>
              </a:rPr>
              <a:t> </a:t>
            </a:r>
            <a:r>
              <a:rPr lang="en-US" sz="2400" spc="-20" dirty="0">
                <a:latin typeface="Times New Roman"/>
                <a:cs typeface="Times New Roman"/>
              </a:rPr>
              <a:t>ac</a:t>
            </a:r>
            <a:r>
              <a:rPr lang="en-US" sz="2400" spc="-10" dirty="0">
                <a:latin typeface="Times New Roman"/>
                <a:cs typeface="Times New Roman"/>
              </a:rPr>
              <a:t>ti</a:t>
            </a:r>
            <a:r>
              <a:rPr lang="en-US" sz="2400" dirty="0">
                <a:latin typeface="Times New Roman"/>
                <a:cs typeface="Times New Roman"/>
              </a:rPr>
              <a:t>ons </a:t>
            </a:r>
            <a:r>
              <a:rPr lang="en-US" sz="2400" spc="-20" dirty="0">
                <a:latin typeface="Times New Roman"/>
                <a:cs typeface="Times New Roman"/>
              </a:rPr>
              <a:t>a</a:t>
            </a:r>
            <a:r>
              <a:rPr lang="en-US" sz="2400" spc="-10" dirty="0">
                <a:latin typeface="Times New Roman"/>
                <a:cs typeface="Times New Roman"/>
              </a:rPr>
              <a:t>re</a:t>
            </a:r>
            <a:r>
              <a:rPr lang="en-US" sz="2400" spc="-5" dirty="0">
                <a:latin typeface="Times New Roman"/>
                <a:cs typeface="Times New Roman"/>
              </a:rPr>
              <a:t> </a:t>
            </a:r>
            <a:r>
              <a:rPr lang="en-US" sz="2400" spc="-20" dirty="0">
                <a:latin typeface="Times New Roman"/>
                <a:cs typeface="Times New Roman"/>
              </a:rPr>
              <a:t>ca</a:t>
            </a:r>
            <a:r>
              <a:rPr lang="en-US" sz="2400" spc="-10" dirty="0">
                <a:latin typeface="Times New Roman"/>
                <a:cs typeface="Times New Roman"/>
              </a:rPr>
              <a:t>ll</a:t>
            </a:r>
            <a:r>
              <a:rPr lang="en-US" sz="2400" spc="-20" dirty="0">
                <a:latin typeface="Times New Roman"/>
                <a:cs typeface="Times New Roman"/>
              </a:rPr>
              <a:t>e</a:t>
            </a:r>
            <a:r>
              <a:rPr lang="en-US" sz="2400" dirty="0">
                <a:latin typeface="Times New Roman"/>
                <a:cs typeface="Times New Roman"/>
              </a:rPr>
              <a:t>d </a:t>
            </a:r>
            <a:r>
              <a:rPr lang="en-US" sz="2400" spc="-10" dirty="0">
                <a:latin typeface="Times New Roman"/>
                <a:cs typeface="Times New Roman"/>
              </a:rPr>
              <a:t>the</a:t>
            </a:r>
            <a:r>
              <a:rPr lang="en-US" sz="2400" dirty="0">
                <a:latin typeface="Times New Roman"/>
                <a:cs typeface="Times New Roman"/>
              </a:rPr>
              <a:t> </a:t>
            </a:r>
            <a:r>
              <a:rPr lang="en-US" sz="2400" u="heavy" dirty="0">
                <a:solidFill>
                  <a:srgbClr val="FF0000"/>
                </a:solidFill>
                <a:latin typeface="Times New Roman"/>
                <a:cs typeface="Times New Roman"/>
              </a:rPr>
              <a:t>s</a:t>
            </a:r>
            <a:r>
              <a:rPr lang="en-US" sz="2400" u="heavy" spc="-15" dirty="0">
                <a:solidFill>
                  <a:srgbClr val="FF0000"/>
                </a:solidFill>
                <a:latin typeface="Times New Roman"/>
                <a:cs typeface="Times New Roman"/>
              </a:rPr>
              <a:t>upport</a:t>
            </a:r>
            <a:r>
              <a:rPr lang="en-US" sz="2400" dirty="0">
                <a:latin typeface="Times New Roman"/>
                <a:cs typeface="Times New Roman"/>
              </a:rPr>
              <a:t> of </a:t>
            </a:r>
            <a:r>
              <a:rPr lang="en-US" sz="2400" spc="-10" dirty="0">
                <a:latin typeface="Times New Roman"/>
                <a:cs typeface="Times New Roman"/>
              </a:rPr>
              <a:t>the</a:t>
            </a:r>
            <a:r>
              <a:rPr lang="en-US" sz="2400" spc="-5" dirty="0">
                <a:latin typeface="Times New Roman"/>
                <a:cs typeface="Times New Roman"/>
              </a:rPr>
              <a:t> </a:t>
            </a:r>
            <a:r>
              <a:rPr lang="en-US" sz="2400" spc="-15" dirty="0">
                <a:latin typeface="Times New Roman"/>
                <a:cs typeface="Times New Roman"/>
              </a:rPr>
              <a:t>mix</a:t>
            </a:r>
            <a:r>
              <a:rPr lang="en-US" sz="2400" spc="-20" dirty="0">
                <a:latin typeface="Times New Roman"/>
                <a:cs typeface="Times New Roman"/>
              </a:rPr>
              <a:t>e</a:t>
            </a:r>
            <a:r>
              <a:rPr lang="en-US" sz="2400" dirty="0">
                <a:latin typeface="Times New Roman"/>
                <a:cs typeface="Times New Roman"/>
              </a:rPr>
              <a:t>d strategy</a:t>
            </a:r>
            <a:endParaRPr lang="en-US" sz="2400" spc="-10" dirty="0">
              <a:latin typeface="Times New Roman"/>
              <a:cs typeface="Times New Roman"/>
            </a:endParaRPr>
          </a:p>
          <a:p>
            <a:pPr marL="12700" marR="976630">
              <a:lnSpc>
                <a:spcPct val="196200"/>
              </a:lnSpc>
              <a:spcBef>
                <a:spcPts val="150"/>
              </a:spcBef>
            </a:pPr>
            <a:r>
              <a:rPr lang="en-US" sz="2400" spc="-15" dirty="0">
                <a:latin typeface="Times New Roman"/>
                <a:cs typeface="Times New Roman"/>
              </a:rPr>
              <a:t>L</a:t>
            </a:r>
            <a:r>
              <a:rPr lang="en-US" sz="2400" spc="-20" dirty="0">
                <a:latin typeface="Times New Roman"/>
                <a:cs typeface="Times New Roman"/>
              </a:rPr>
              <a:t>e</a:t>
            </a:r>
            <a:r>
              <a:rPr lang="en-US" sz="2400" spc="-10" dirty="0">
                <a:latin typeface="Times New Roman"/>
                <a:cs typeface="Times New Roman"/>
              </a:rPr>
              <a:t>t</a:t>
            </a:r>
            <a:r>
              <a:rPr lang="en-US" sz="2400" dirty="0">
                <a:latin typeface="Times New Roman"/>
                <a:cs typeface="Times New Roman"/>
              </a:rPr>
              <a:t> </a:t>
            </a:r>
            <a:r>
              <a:rPr lang="en-US" sz="2400" spc="-10" dirty="0">
                <a:latin typeface="Times New Roman"/>
                <a:cs typeface="Times New Roman"/>
              </a:rPr>
              <a:t>the</a:t>
            </a:r>
            <a:r>
              <a:rPr lang="en-US" sz="2400" spc="-5" dirty="0">
                <a:latin typeface="Times New Roman"/>
                <a:cs typeface="Times New Roman"/>
              </a:rPr>
              <a:t> </a:t>
            </a:r>
            <a:r>
              <a:rPr lang="en-US" sz="2400" dirty="0">
                <a:latin typeface="Times New Roman"/>
                <a:cs typeface="Times New Roman"/>
              </a:rPr>
              <a:t>s</a:t>
            </a:r>
            <a:r>
              <a:rPr lang="en-US" sz="2400" spc="-20" dirty="0">
                <a:latin typeface="Times New Roman"/>
                <a:cs typeface="Times New Roman"/>
              </a:rPr>
              <a:t>e</a:t>
            </a:r>
            <a:r>
              <a:rPr lang="en-US" sz="2400" spc="-10" dirty="0">
                <a:latin typeface="Times New Roman"/>
                <a:cs typeface="Times New Roman"/>
              </a:rPr>
              <a:t>t</a:t>
            </a:r>
            <a:r>
              <a:rPr lang="en-US" sz="2400" dirty="0">
                <a:latin typeface="Times New Roman"/>
                <a:cs typeface="Times New Roman"/>
              </a:rPr>
              <a:t> of </a:t>
            </a:r>
            <a:r>
              <a:rPr lang="en-US" sz="2400" spc="-20" dirty="0">
                <a:latin typeface="Times New Roman"/>
                <a:cs typeface="Times New Roman"/>
              </a:rPr>
              <a:t>a</a:t>
            </a:r>
            <a:r>
              <a:rPr lang="en-US" sz="2400" spc="-10" dirty="0">
                <a:latin typeface="Times New Roman"/>
                <a:cs typeface="Times New Roman"/>
              </a:rPr>
              <a:t>ll</a:t>
            </a:r>
            <a:r>
              <a:rPr lang="en-US" sz="2400" dirty="0">
                <a:latin typeface="Times New Roman"/>
                <a:cs typeface="Times New Roman"/>
              </a:rPr>
              <a:t> s</a:t>
            </a:r>
            <a:r>
              <a:rPr lang="en-US" sz="2400" spc="-10" dirty="0">
                <a:latin typeface="Times New Roman"/>
                <a:cs typeface="Times New Roman"/>
              </a:rPr>
              <a:t>tr</a:t>
            </a:r>
            <a:r>
              <a:rPr lang="en-US" sz="2400" spc="-20" dirty="0">
                <a:latin typeface="Times New Roman"/>
                <a:cs typeface="Times New Roman"/>
              </a:rPr>
              <a:t>a</a:t>
            </a:r>
            <a:r>
              <a:rPr lang="en-US" sz="2400" spc="-10" dirty="0">
                <a:latin typeface="Times New Roman"/>
                <a:cs typeface="Times New Roman"/>
              </a:rPr>
              <a:t>t</a:t>
            </a:r>
            <a:r>
              <a:rPr lang="en-US" sz="2400" spc="-20" dirty="0">
                <a:latin typeface="Times New Roman"/>
                <a:cs typeface="Times New Roman"/>
              </a:rPr>
              <a:t>e</a:t>
            </a:r>
            <a:r>
              <a:rPr lang="en-US" sz="2400" spc="-10" dirty="0">
                <a:latin typeface="Times New Roman"/>
                <a:cs typeface="Times New Roman"/>
              </a:rPr>
              <a:t>gi</a:t>
            </a:r>
            <a:r>
              <a:rPr lang="en-US" sz="2400" spc="-20" dirty="0">
                <a:latin typeface="Times New Roman"/>
                <a:cs typeface="Times New Roman"/>
              </a:rPr>
              <a:t>e</a:t>
            </a:r>
            <a:r>
              <a:rPr lang="en-US" sz="2400" dirty="0">
                <a:latin typeface="Times New Roman"/>
                <a:cs typeface="Times New Roman"/>
              </a:rPr>
              <a:t>s for </a:t>
            </a:r>
            <a:r>
              <a:rPr lang="en-US" sz="2400" i="1" spc="-10" dirty="0">
                <a:latin typeface="Times New Roman"/>
                <a:cs typeface="Times New Roman"/>
              </a:rPr>
              <a:t>i</a:t>
            </a:r>
            <a:r>
              <a:rPr lang="en-US" sz="2400" i="1" dirty="0">
                <a:latin typeface="Times New Roman"/>
                <a:cs typeface="Times New Roman"/>
              </a:rPr>
              <a:t> </a:t>
            </a:r>
            <a:r>
              <a:rPr lang="en-US" sz="2400" spc="-15" dirty="0">
                <a:latin typeface="Times New Roman"/>
                <a:cs typeface="Times New Roman"/>
              </a:rPr>
              <a:t>be</a:t>
            </a:r>
            <a:r>
              <a:rPr lang="en-US" sz="2400" dirty="0">
                <a:latin typeface="Times New Roman"/>
                <a:cs typeface="Times New Roman"/>
              </a:rPr>
              <a:t> </a:t>
            </a:r>
            <a:r>
              <a:rPr lang="en-US" sz="2550" i="1" spc="-105" dirty="0">
                <a:latin typeface="Times New Roman"/>
                <a:cs typeface="Times New Roman"/>
              </a:rPr>
              <a:t>S</a:t>
            </a:r>
            <a:r>
              <a:rPr lang="en-US" sz="2700" i="1" baseline="-20061" dirty="0">
                <a:latin typeface="Times New Roman"/>
                <a:cs typeface="Times New Roman"/>
              </a:rPr>
              <a:t>i</a:t>
            </a:r>
            <a:endParaRPr lang="en-US" sz="2700" baseline="-20061" dirty="0">
              <a:latin typeface="Times New Roman"/>
              <a:cs typeface="Times New Roman"/>
            </a:endParaRPr>
          </a:p>
          <a:p>
            <a:pPr marL="12700">
              <a:lnSpc>
                <a:spcPts val="2955"/>
              </a:lnSpc>
            </a:pPr>
            <a:r>
              <a:rPr sz="2400" spc="-15" dirty="0">
                <a:latin typeface="Times New Roman"/>
                <a:cs typeface="Times New Roman"/>
              </a:rPr>
              <a:t>L</a:t>
            </a:r>
            <a:r>
              <a:rPr sz="2400" spc="-20" dirty="0">
                <a:latin typeface="Times New Roman"/>
                <a:cs typeface="Times New Roman"/>
              </a:rPr>
              <a:t>e</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the</a:t>
            </a:r>
            <a:r>
              <a:rPr sz="2400" spc="-5" dirty="0">
                <a:latin typeface="Times New Roman"/>
                <a:cs typeface="Times New Roman"/>
              </a:rPr>
              <a:t> </a:t>
            </a:r>
            <a:r>
              <a:rPr sz="2400" dirty="0">
                <a:latin typeface="Times New Roman"/>
                <a:cs typeface="Times New Roman"/>
              </a:rPr>
              <a:t>s</a:t>
            </a:r>
            <a:r>
              <a:rPr sz="2400" spc="-20" dirty="0">
                <a:latin typeface="Times New Roman"/>
                <a:cs typeface="Times New Roman"/>
              </a:rPr>
              <a:t>e</a:t>
            </a:r>
            <a:r>
              <a:rPr sz="2400" spc="-10" dirty="0">
                <a:latin typeface="Times New Roman"/>
                <a:cs typeface="Times New Roman"/>
              </a:rPr>
              <a:t>t</a:t>
            </a:r>
            <a:r>
              <a:rPr sz="2400" dirty="0">
                <a:latin typeface="Times New Roman"/>
                <a:cs typeface="Times New Roman"/>
              </a:rPr>
              <a:t> of </a:t>
            </a:r>
            <a:r>
              <a:rPr sz="2400" spc="-20" dirty="0">
                <a:latin typeface="Times New Roman"/>
                <a:cs typeface="Times New Roman"/>
              </a:rPr>
              <a:t>a</a:t>
            </a:r>
            <a:r>
              <a:rPr sz="2400" spc="-10" dirty="0">
                <a:latin typeface="Times New Roman"/>
                <a:cs typeface="Times New Roman"/>
              </a:rPr>
              <a:t>ll</a:t>
            </a:r>
            <a:r>
              <a:rPr sz="2400" dirty="0">
                <a:latin typeface="Times New Roman"/>
                <a:cs typeface="Times New Roman"/>
              </a:rPr>
              <a:t> s</a:t>
            </a:r>
            <a:r>
              <a:rPr sz="2400" spc="-10" dirty="0">
                <a:latin typeface="Times New Roman"/>
                <a:cs typeface="Times New Roman"/>
              </a:rPr>
              <a:t>tr</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e</a:t>
            </a:r>
            <a:r>
              <a:rPr sz="2400" dirty="0">
                <a:latin typeface="Times New Roman"/>
                <a:cs typeface="Times New Roman"/>
              </a:rPr>
              <a:t>gy </a:t>
            </a:r>
            <a:r>
              <a:rPr sz="2400" spc="-10" dirty="0">
                <a:latin typeface="Times New Roman"/>
                <a:cs typeface="Times New Roman"/>
              </a:rPr>
              <a:t>prof</a:t>
            </a:r>
            <a:r>
              <a:rPr sz="2400" spc="-15" dirty="0">
                <a:latin typeface="Times New Roman"/>
                <a:cs typeface="Times New Roman"/>
              </a:rPr>
              <a:t>i</a:t>
            </a:r>
            <a:r>
              <a:rPr sz="2400" spc="-10" dirty="0">
                <a:latin typeface="Times New Roman"/>
                <a:cs typeface="Times New Roman"/>
              </a:rPr>
              <a:t>l</a:t>
            </a:r>
            <a:r>
              <a:rPr sz="2400" spc="-20" dirty="0">
                <a:latin typeface="Times New Roman"/>
                <a:cs typeface="Times New Roman"/>
              </a:rPr>
              <a:t>e</a:t>
            </a:r>
            <a:r>
              <a:rPr sz="2400" dirty="0">
                <a:latin typeface="Times New Roman"/>
                <a:cs typeface="Times New Roman"/>
              </a:rPr>
              <a:t>s </a:t>
            </a:r>
            <a:r>
              <a:rPr sz="2400" spc="-15" dirty="0">
                <a:latin typeface="Times New Roman"/>
                <a:cs typeface="Times New Roman"/>
              </a:rPr>
              <a:t>be</a:t>
            </a:r>
            <a:r>
              <a:rPr sz="2400" dirty="0">
                <a:latin typeface="Times New Roman"/>
                <a:cs typeface="Times New Roman"/>
              </a:rPr>
              <a:t> </a:t>
            </a:r>
            <a:r>
              <a:rPr sz="2550" i="1" spc="-15" dirty="0">
                <a:latin typeface="Times New Roman"/>
                <a:cs typeface="Times New Roman"/>
              </a:rPr>
              <a:t>S</a:t>
            </a:r>
            <a:r>
              <a:rPr sz="2550" i="1" spc="65" dirty="0">
                <a:latin typeface="Times New Roman"/>
                <a:cs typeface="Times New Roman"/>
              </a:rPr>
              <a:t> </a:t>
            </a:r>
            <a:r>
              <a:rPr sz="2550" spc="30" dirty="0">
                <a:latin typeface="Garamond"/>
                <a:cs typeface="Garamond"/>
              </a:rPr>
              <a:t>=</a:t>
            </a:r>
            <a:r>
              <a:rPr sz="2550" spc="65" dirty="0">
                <a:latin typeface="Garamond"/>
                <a:cs typeface="Garamond"/>
              </a:rPr>
              <a:t> </a:t>
            </a:r>
            <a:r>
              <a:rPr sz="2550" i="1" spc="-105" dirty="0">
                <a:latin typeface="Times New Roman"/>
                <a:cs typeface="Times New Roman"/>
              </a:rPr>
              <a:t>S</a:t>
            </a:r>
            <a:r>
              <a:rPr sz="2700" spc="75" baseline="-20061" dirty="0">
                <a:latin typeface="Garamond"/>
                <a:cs typeface="Garamond"/>
              </a:rPr>
              <a:t>1</a:t>
            </a:r>
            <a:r>
              <a:rPr sz="2700" spc="172" baseline="-20061" dirty="0">
                <a:latin typeface="Garamond"/>
                <a:cs typeface="Garamond"/>
              </a:rPr>
              <a:t> </a:t>
            </a:r>
            <a:r>
              <a:rPr sz="2550" spc="210" dirty="0">
                <a:latin typeface="Cambria"/>
                <a:cs typeface="Cambria"/>
              </a:rPr>
              <a:t>×</a:t>
            </a:r>
            <a:r>
              <a:rPr sz="2550" dirty="0">
                <a:latin typeface="Cambria"/>
                <a:cs typeface="Cambria"/>
              </a:rPr>
              <a:t> </a:t>
            </a:r>
            <a:r>
              <a:rPr sz="2550" spc="-30" dirty="0">
                <a:latin typeface="Garamond"/>
                <a:cs typeface="Garamond"/>
              </a:rPr>
              <a:t>…</a:t>
            </a:r>
            <a:r>
              <a:rPr sz="2550" spc="-75" dirty="0">
                <a:latin typeface="Garamond"/>
                <a:cs typeface="Garamond"/>
              </a:rPr>
              <a:t> </a:t>
            </a:r>
            <a:r>
              <a:rPr sz="2550" spc="210" dirty="0">
                <a:latin typeface="Cambria"/>
                <a:cs typeface="Cambria"/>
              </a:rPr>
              <a:t>×</a:t>
            </a:r>
            <a:r>
              <a:rPr sz="2550" dirty="0">
                <a:latin typeface="Cambria"/>
                <a:cs typeface="Cambria"/>
              </a:rPr>
              <a:t> </a:t>
            </a:r>
            <a:r>
              <a:rPr sz="2550" i="1" spc="-105" dirty="0">
                <a:latin typeface="Times New Roman"/>
                <a:cs typeface="Times New Roman"/>
              </a:rPr>
              <a:t>S</a:t>
            </a:r>
            <a:r>
              <a:rPr sz="2700" i="1" baseline="-20061" dirty="0">
                <a:latin typeface="Times New Roman"/>
                <a:cs typeface="Times New Roman"/>
              </a:rPr>
              <a:t>n</a:t>
            </a:r>
            <a:endParaRPr sz="2700" baseline="-20061" dirty="0">
              <a:latin typeface="Times New Roman"/>
              <a:cs typeface="Times New Roman"/>
            </a:endParaRPr>
          </a:p>
        </p:txBody>
      </p:sp>
      <p:sp>
        <p:nvSpPr>
          <p:cNvPr id="7" name="Slide Number Placeholder 8">
            <a:extLst>
              <a:ext uri="{FF2B5EF4-FFF2-40B4-BE49-F238E27FC236}">
                <a16:creationId xmlns:a16="http://schemas.microsoft.com/office/drawing/2014/main" id="{427EDD1F-46F6-84C5-F992-C2D55C2CA435}"/>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25</a:t>
            </a:fld>
            <a:r>
              <a:rPr lang="en-US" sz="2000" dirty="0">
                <a:solidFill>
                  <a:prstClr val="black"/>
                </a:solidFill>
                <a:latin typeface="Comic Sans MS"/>
                <a:sym typeface="Comic Sans MS"/>
              </a:rPr>
              <a:t>/46</a:t>
            </a:r>
          </a:p>
        </p:txBody>
      </p:sp>
      <p:sp>
        <p:nvSpPr>
          <p:cNvPr id="8" name="Footer Placeholder 9">
            <a:extLst>
              <a:ext uri="{FF2B5EF4-FFF2-40B4-BE49-F238E27FC236}">
                <a16:creationId xmlns:a16="http://schemas.microsoft.com/office/drawing/2014/main" id="{CA862C20-5EA1-83F9-9B4C-91C0391B3F3C}"/>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457FE0F7-4377-672C-7B46-D345B32F778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0" name="Rectangle 9">
            <a:extLst>
              <a:ext uri="{FF2B5EF4-FFF2-40B4-BE49-F238E27FC236}">
                <a16:creationId xmlns:a16="http://schemas.microsoft.com/office/drawing/2014/main" id="{AF94AEA7-951D-7E7D-AD27-04F5BC3E1486}"/>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785D0095-A263-D908-494F-26AF52245BA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3177162" y="4185993"/>
            <a:ext cx="5967095" cy="2672080"/>
          </a:xfrm>
          <a:custGeom>
            <a:avLst/>
            <a:gdLst/>
            <a:ahLst/>
            <a:cxnLst/>
            <a:rect l="l" t="t" r="r" b="b"/>
            <a:pathLst>
              <a:path w="5967095" h="2672079">
                <a:moveTo>
                  <a:pt x="5966837" y="0"/>
                </a:moveTo>
                <a:lnTo>
                  <a:pt x="447098" y="0"/>
                </a:lnTo>
                <a:lnTo>
                  <a:pt x="410429" y="1482"/>
                </a:lnTo>
                <a:lnTo>
                  <a:pt x="339655" y="12993"/>
                </a:lnTo>
                <a:lnTo>
                  <a:pt x="273067" y="35135"/>
                </a:lnTo>
                <a:lnTo>
                  <a:pt x="211586" y="66985"/>
                </a:lnTo>
                <a:lnTo>
                  <a:pt x="156131" y="107624"/>
                </a:lnTo>
                <a:lnTo>
                  <a:pt x="107624" y="156132"/>
                </a:lnTo>
                <a:lnTo>
                  <a:pt x="66985" y="211586"/>
                </a:lnTo>
                <a:lnTo>
                  <a:pt x="35135" y="273068"/>
                </a:lnTo>
                <a:lnTo>
                  <a:pt x="12993" y="339656"/>
                </a:lnTo>
                <a:lnTo>
                  <a:pt x="1482" y="410430"/>
                </a:lnTo>
                <a:lnTo>
                  <a:pt x="0" y="447099"/>
                </a:lnTo>
                <a:lnTo>
                  <a:pt x="0" y="2235493"/>
                </a:lnTo>
                <a:lnTo>
                  <a:pt x="5851" y="2308015"/>
                </a:lnTo>
                <a:lnTo>
                  <a:pt x="22793" y="2376811"/>
                </a:lnTo>
                <a:lnTo>
                  <a:pt x="49904" y="2440961"/>
                </a:lnTo>
                <a:lnTo>
                  <a:pt x="86264" y="2499544"/>
                </a:lnTo>
                <a:lnTo>
                  <a:pt x="130952" y="2551640"/>
                </a:lnTo>
                <a:lnTo>
                  <a:pt x="183048" y="2596328"/>
                </a:lnTo>
                <a:lnTo>
                  <a:pt x="241631" y="2632687"/>
                </a:lnTo>
                <a:lnTo>
                  <a:pt x="305781" y="2659798"/>
                </a:lnTo>
                <a:lnTo>
                  <a:pt x="351429" y="2672006"/>
                </a:lnTo>
                <a:lnTo>
                  <a:pt x="5966837" y="2672006"/>
                </a:lnTo>
                <a:lnTo>
                  <a:pt x="5966837" y="0"/>
                </a:lnTo>
                <a:close/>
              </a:path>
            </a:pathLst>
          </a:custGeom>
          <a:solidFill>
            <a:srgbClr val="E7E7E7"/>
          </a:solidFill>
        </p:spPr>
        <p:txBody>
          <a:bodyPr wrap="square" lIns="0" tIns="0" rIns="0" bIns="0" rtlCol="0"/>
          <a:lstStyle/>
          <a:p>
            <a:endParaRPr/>
          </a:p>
        </p:txBody>
      </p:sp>
      <p:sp>
        <p:nvSpPr>
          <p:cNvPr id="4" name="object 4"/>
          <p:cNvSpPr/>
          <p:nvPr/>
        </p:nvSpPr>
        <p:spPr>
          <a:xfrm>
            <a:off x="0" y="1503401"/>
            <a:ext cx="4307205" cy="5354955"/>
          </a:xfrm>
          <a:custGeom>
            <a:avLst/>
            <a:gdLst/>
            <a:ahLst/>
            <a:cxnLst/>
            <a:rect l="l" t="t" r="r" b="b"/>
            <a:pathLst>
              <a:path w="4307205" h="5354955">
                <a:moveTo>
                  <a:pt x="0" y="5354598"/>
                </a:moveTo>
                <a:lnTo>
                  <a:pt x="4306917" y="5354598"/>
                </a:lnTo>
                <a:lnTo>
                  <a:pt x="4306917" y="0"/>
                </a:lnTo>
                <a:lnTo>
                  <a:pt x="0" y="0"/>
                </a:lnTo>
                <a:lnTo>
                  <a:pt x="0" y="5354598"/>
                </a:lnTo>
              </a:path>
            </a:pathLst>
          </a:custGeom>
          <a:solidFill>
            <a:srgbClr val="E7E7E7"/>
          </a:solidFill>
        </p:spPr>
        <p:txBody>
          <a:bodyPr wrap="square" lIns="0" tIns="0" rIns="0" bIns="0" rtlCol="0"/>
          <a:lstStyle/>
          <a:p>
            <a:endParaRPr dirty="0"/>
          </a:p>
        </p:txBody>
      </p:sp>
      <p:sp>
        <p:nvSpPr>
          <p:cNvPr id="2" name="object 2"/>
          <p:cNvSpPr/>
          <p:nvPr/>
        </p:nvSpPr>
        <p:spPr>
          <a:xfrm>
            <a:off x="0" y="0"/>
            <a:ext cx="9144000" cy="5836920"/>
          </a:xfrm>
          <a:custGeom>
            <a:avLst/>
            <a:gdLst/>
            <a:ahLst/>
            <a:cxnLst/>
            <a:rect l="l" t="t" r="r" b="b"/>
            <a:pathLst>
              <a:path w="9144000" h="5836920">
                <a:moveTo>
                  <a:pt x="0" y="5836819"/>
                </a:moveTo>
                <a:lnTo>
                  <a:pt x="9144000" y="5836819"/>
                </a:lnTo>
                <a:lnTo>
                  <a:pt x="9144000" y="0"/>
                </a:lnTo>
                <a:lnTo>
                  <a:pt x="0" y="0"/>
                </a:lnTo>
                <a:lnTo>
                  <a:pt x="0" y="5836819"/>
                </a:lnTo>
                <a:close/>
              </a:path>
            </a:pathLst>
          </a:custGeom>
          <a:solidFill>
            <a:srgbClr val="E7E7E7"/>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5" name="object 5"/>
              <p:cNvSpPr txBox="1"/>
              <p:nvPr/>
            </p:nvSpPr>
            <p:spPr>
              <a:xfrm>
                <a:off x="533400" y="4572000"/>
                <a:ext cx="8530590" cy="1513171"/>
              </a:xfrm>
              <a:prstGeom prst="rect">
                <a:avLst/>
              </a:prstGeom>
            </p:spPr>
            <p:txBody>
              <a:bodyPr vert="horz" wrap="square" lIns="0" tIns="0" rIns="0" bIns="0" rtlCol="0">
                <a:spAutoFit/>
              </a:bodyPr>
              <a:lstStyle/>
              <a:p>
                <a:pPr marL="12700" marR="485140">
                  <a:lnSpc>
                    <a:spcPts val="2960"/>
                  </a:lnSpc>
                </a:pPr>
                <a:r>
                  <a:rPr lang="en-US" dirty="0">
                    <a:latin typeface="Times New Roman"/>
                    <a:cs typeface="Times New Roman"/>
                  </a:rPr>
                  <a:t>The expected average pay-off (per round) in an iterated game for payoff matrix </a:t>
                </a:r>
                <a14:m>
                  <m:oMath xmlns:m="http://schemas.openxmlformats.org/officeDocument/2006/math">
                    <m:r>
                      <a:rPr lang="en-US" i="1" dirty="0" smtClean="0">
                        <a:latin typeface="Cambria Math" panose="02040503050406030204" pitchFamily="18" charset="0"/>
                        <a:cs typeface="Times New Roman"/>
                      </a:rPr>
                      <m:t>𝐴</m:t>
                    </m:r>
                    <m:r>
                      <a:rPr lang="en-US" i="1" dirty="0" smtClean="0">
                        <a:latin typeface="Cambria Math" panose="02040503050406030204" pitchFamily="18" charset="0"/>
                        <a:cs typeface="Times New Roman"/>
                      </a:rPr>
                      <m:t> = [</m:t>
                    </m:r>
                    <m:sSub>
                      <m:sSubPr>
                        <m:ctrlPr>
                          <a:rPr lang="en-US" b="0" i="1" dirty="0" smtClean="0">
                            <a:latin typeface="Cambria Math" panose="02040503050406030204" pitchFamily="18" charset="0"/>
                            <a:cs typeface="Times New Roman"/>
                          </a:rPr>
                        </m:ctrlPr>
                      </m:sSubPr>
                      <m:e>
                        <m:r>
                          <a:rPr lang="en-US" i="1" dirty="0" smtClean="0">
                            <a:latin typeface="Cambria Math" panose="02040503050406030204" pitchFamily="18" charset="0"/>
                            <a:cs typeface="Times New Roman"/>
                          </a:rPr>
                          <m:t>𝑎</m:t>
                        </m:r>
                      </m:e>
                      <m:sub>
                        <m:r>
                          <a:rPr lang="en-US" i="1" dirty="0" smtClean="0">
                            <a:latin typeface="Cambria Math" panose="02040503050406030204" pitchFamily="18" charset="0"/>
                            <a:cs typeface="Times New Roman"/>
                          </a:rPr>
                          <m:t>𝑖𝑗</m:t>
                        </m:r>
                      </m:sub>
                    </m:sSub>
                    <m:r>
                      <a:rPr lang="en-US" i="1" dirty="0" smtClean="0">
                        <a:latin typeface="Cambria Math" panose="02040503050406030204" pitchFamily="18" charset="0"/>
                        <a:cs typeface="Times New Roman"/>
                      </a:rPr>
                      <m:t>] </m:t>
                    </m:r>
                  </m:oMath>
                </a14:m>
                <a:r>
                  <a:rPr lang="en-US" dirty="0">
                    <a:latin typeface="Times New Roman"/>
                    <a:cs typeface="Times New Roman"/>
                  </a:rPr>
                  <a:t>is</a:t>
                </a:r>
              </a:p>
              <a:p>
                <a:pPr>
                  <a:lnSpc>
                    <a:spcPct val="100000"/>
                  </a:lnSpc>
                  <a:spcBef>
                    <a:spcPts val="43"/>
                  </a:spcBef>
                </a:pPr>
                <a14:m>
                  <m:oMathPara xmlns:m="http://schemas.openxmlformats.org/officeDocument/2006/math">
                    <m:oMathParaPr>
                      <m:jc m:val="centerGroup"/>
                    </m:oMathParaPr>
                    <m:oMath xmlns:m="http://schemas.openxmlformats.org/officeDocument/2006/math">
                      <m:nary>
                        <m:naryPr>
                          <m:chr m:val="∑"/>
                          <m:ctrlPr>
                            <a:rPr lang="en-US" sz="1700" i="1" smtClean="0">
                              <a:latin typeface="Cambria Math" panose="02040503050406030204" pitchFamily="18" charset="0"/>
                              <a:cs typeface="Times New Roman"/>
                            </a:rPr>
                          </m:ctrlPr>
                        </m:naryPr>
                        <m:sub>
                          <m:r>
                            <m:rPr>
                              <m:brk m:alnAt="23"/>
                            </m:rPr>
                            <a:rPr lang="en-US" sz="1700" b="0" i="1" smtClean="0">
                              <a:latin typeface="Cambria Math" panose="02040503050406030204" pitchFamily="18" charset="0"/>
                              <a:cs typeface="Times New Roman"/>
                            </a:rPr>
                            <m:t>𝑖</m:t>
                          </m:r>
                          <m:r>
                            <a:rPr lang="en-US" sz="1700" b="0" i="1" smtClean="0">
                              <a:latin typeface="Cambria Math" panose="02040503050406030204" pitchFamily="18" charset="0"/>
                              <a:cs typeface="Times New Roman"/>
                            </a:rPr>
                            <m:t>=1</m:t>
                          </m:r>
                        </m:sub>
                        <m:sup>
                          <m:r>
                            <a:rPr lang="en-US" sz="1700" b="0" i="1" smtClean="0">
                              <a:latin typeface="Cambria Math" panose="02040503050406030204" pitchFamily="18" charset="0"/>
                              <a:cs typeface="Times New Roman"/>
                            </a:rPr>
                            <m:t>𝑛</m:t>
                          </m:r>
                        </m:sup>
                        <m:e>
                          <m:nary>
                            <m:naryPr>
                              <m:chr m:val="∑"/>
                              <m:ctrlPr>
                                <a:rPr lang="en-US" sz="1700" i="1" smtClean="0">
                                  <a:latin typeface="Cambria Math" panose="02040503050406030204" pitchFamily="18" charset="0"/>
                                  <a:cs typeface="Times New Roman"/>
                                </a:rPr>
                              </m:ctrlPr>
                            </m:naryPr>
                            <m:sub>
                              <m:r>
                                <m:rPr>
                                  <m:brk m:alnAt="23"/>
                                </m:rPr>
                                <a:rPr lang="en-US" sz="1700" b="0" i="1" smtClean="0">
                                  <a:latin typeface="Cambria Math" panose="02040503050406030204" pitchFamily="18" charset="0"/>
                                  <a:cs typeface="Times New Roman"/>
                                </a:rPr>
                                <m:t>𝑗</m:t>
                              </m:r>
                              <m:r>
                                <a:rPr lang="en-US" sz="1700" b="0" i="1" smtClean="0">
                                  <a:latin typeface="Cambria Math" panose="02040503050406030204" pitchFamily="18" charset="0"/>
                                  <a:cs typeface="Times New Roman"/>
                                </a:rPr>
                                <m:t>=1</m:t>
                              </m:r>
                            </m:sub>
                            <m:sup>
                              <m:r>
                                <a:rPr lang="en-US" sz="1700" b="0" i="1" smtClean="0">
                                  <a:latin typeface="Cambria Math" panose="02040503050406030204" pitchFamily="18" charset="0"/>
                                  <a:cs typeface="Times New Roman"/>
                                </a:rPr>
                                <m:t>𝑚</m:t>
                              </m:r>
                            </m:sup>
                            <m:e>
                              <m:sSub>
                                <m:sSubPr>
                                  <m:ctrlPr>
                                    <a:rPr lang="en-US" sz="1700" b="0" i="1" smtClean="0">
                                      <a:latin typeface="Cambria Math" panose="02040503050406030204" pitchFamily="18" charset="0"/>
                                      <a:cs typeface="Times New Roman"/>
                                    </a:rPr>
                                  </m:ctrlPr>
                                </m:sSubPr>
                                <m:e>
                                  <m:r>
                                    <a:rPr lang="en-US" sz="1700" b="0" i="1" smtClean="0">
                                      <a:latin typeface="Cambria Math" panose="02040503050406030204" pitchFamily="18" charset="0"/>
                                      <a:cs typeface="Times New Roman"/>
                                    </a:rPr>
                                    <m:t>𝑎</m:t>
                                  </m:r>
                                </m:e>
                                <m:sub>
                                  <m:r>
                                    <a:rPr lang="en-US" sz="1700" b="0" i="1" smtClean="0">
                                      <a:latin typeface="Cambria Math" panose="02040503050406030204" pitchFamily="18" charset="0"/>
                                      <a:cs typeface="Times New Roman"/>
                                    </a:rPr>
                                    <m:t>𝑖</m:t>
                                  </m:r>
                                  <m:r>
                                    <a:rPr lang="en-US" sz="1700" b="0" i="1" smtClean="0">
                                      <a:latin typeface="Cambria Math" panose="02040503050406030204" pitchFamily="18" charset="0"/>
                                      <a:cs typeface="Times New Roman"/>
                                    </a:rPr>
                                    <m:t>,</m:t>
                                  </m:r>
                                  <m:r>
                                    <a:rPr lang="en-US" sz="1700" b="0" i="1" smtClean="0">
                                      <a:latin typeface="Cambria Math" panose="02040503050406030204" pitchFamily="18" charset="0"/>
                                      <a:cs typeface="Times New Roman"/>
                                    </a:rPr>
                                    <m:t>𝑗</m:t>
                                  </m:r>
                                </m:sub>
                              </m:sSub>
                              <m:r>
                                <a:rPr lang="en-US" sz="1700" b="0" i="1" smtClean="0">
                                  <a:latin typeface="Cambria Math" panose="02040503050406030204" pitchFamily="18" charset="0"/>
                                  <a:cs typeface="Times New Roman"/>
                                </a:rPr>
                                <m:t> . </m:t>
                              </m:r>
                              <m:sSub>
                                <m:sSubPr>
                                  <m:ctrlPr>
                                    <a:rPr lang="en-US" sz="1700" b="0" i="1" smtClean="0">
                                      <a:latin typeface="Cambria Math" panose="02040503050406030204" pitchFamily="18" charset="0"/>
                                      <a:cs typeface="Times New Roman"/>
                                    </a:rPr>
                                  </m:ctrlPr>
                                </m:sSubPr>
                                <m:e>
                                  <m:r>
                                    <a:rPr lang="en-US" sz="1700" b="0" i="1" smtClean="0">
                                      <a:latin typeface="Cambria Math" panose="02040503050406030204" pitchFamily="18" charset="0"/>
                                      <a:cs typeface="Times New Roman"/>
                                    </a:rPr>
                                    <m:t>𝑥</m:t>
                                  </m:r>
                                </m:e>
                                <m:sub>
                                  <m:r>
                                    <a:rPr lang="en-US" sz="1700" b="0" i="1" smtClean="0">
                                      <a:latin typeface="Cambria Math" panose="02040503050406030204" pitchFamily="18" charset="0"/>
                                      <a:cs typeface="Times New Roman"/>
                                    </a:rPr>
                                    <m:t>𝑖</m:t>
                                  </m:r>
                                </m:sub>
                              </m:sSub>
                              <m:r>
                                <a:rPr lang="en-US" sz="1700" b="0" i="1" smtClean="0">
                                  <a:latin typeface="Cambria Math" panose="02040503050406030204" pitchFamily="18" charset="0"/>
                                  <a:cs typeface="Times New Roman"/>
                                </a:rPr>
                                <m:t> . </m:t>
                              </m:r>
                              <m:sSub>
                                <m:sSubPr>
                                  <m:ctrlPr>
                                    <a:rPr lang="en-US" sz="1700" b="0" i="1" smtClean="0">
                                      <a:latin typeface="Cambria Math" panose="02040503050406030204" pitchFamily="18" charset="0"/>
                                      <a:cs typeface="Times New Roman"/>
                                    </a:rPr>
                                  </m:ctrlPr>
                                </m:sSubPr>
                                <m:e>
                                  <m:r>
                                    <a:rPr lang="en-US" sz="1700" b="0" i="1" smtClean="0">
                                      <a:latin typeface="Cambria Math" panose="02040503050406030204" pitchFamily="18" charset="0"/>
                                      <a:cs typeface="Times New Roman"/>
                                    </a:rPr>
                                    <m:t>𝑦</m:t>
                                  </m:r>
                                </m:e>
                                <m:sub>
                                  <m:r>
                                    <a:rPr lang="en-US" sz="1700" b="0" i="1" smtClean="0">
                                      <a:latin typeface="Cambria Math" panose="02040503050406030204" pitchFamily="18" charset="0"/>
                                      <a:cs typeface="Times New Roman"/>
                                    </a:rPr>
                                    <m:t>𝑗</m:t>
                                  </m:r>
                                </m:sub>
                              </m:sSub>
                              <m:r>
                                <a:rPr lang="en-US" sz="1700" b="0" i="1" smtClean="0">
                                  <a:latin typeface="Cambria Math" panose="02040503050406030204" pitchFamily="18" charset="0"/>
                                  <a:cs typeface="Times New Roman"/>
                                </a:rPr>
                                <m:t>=</m:t>
                              </m:r>
                              <m:r>
                                <a:rPr lang="en-US" sz="1700" b="0" i="1" smtClean="0">
                                  <a:latin typeface="Cambria Math" panose="02040503050406030204" pitchFamily="18" charset="0"/>
                                  <a:cs typeface="Times New Roman"/>
                                </a:rPr>
                                <m:t>𝑋𝐴𝑌</m:t>
                              </m:r>
                            </m:e>
                          </m:nary>
                        </m:e>
                      </m:nary>
                    </m:oMath>
                  </m:oMathPara>
                </a14:m>
                <a:endParaRPr sz="1700" dirty="0">
                  <a:latin typeface="Times New Roman"/>
                  <a:cs typeface="Times New Roman"/>
                </a:endParaRPr>
              </a:p>
            </p:txBody>
          </p:sp>
        </mc:Choice>
        <mc:Fallback xmlns="">
          <p:sp>
            <p:nvSpPr>
              <p:cNvPr id="5" name="object 5"/>
              <p:cNvSpPr txBox="1">
                <a:spLocks noRot="1" noChangeAspect="1" noMove="1" noResize="1" noEditPoints="1" noAdjustHandles="1" noChangeArrowheads="1" noChangeShapeType="1" noTextEdit="1"/>
              </p:cNvSpPr>
              <p:nvPr/>
            </p:nvSpPr>
            <p:spPr>
              <a:xfrm>
                <a:off x="533400" y="4572000"/>
                <a:ext cx="8530590" cy="1513171"/>
              </a:xfrm>
              <a:prstGeom prst="rect">
                <a:avLst/>
              </a:prstGeom>
              <a:blipFill>
                <a:blip r:embed="rId3"/>
                <a:stretch>
                  <a:fillRect l="-1573" t="-806"/>
                </a:stretch>
              </a:blipFill>
            </p:spPr>
            <p:txBody>
              <a:bodyPr/>
              <a:lstStyle/>
              <a:p>
                <a:r>
                  <a:rPr lang="en-US">
                    <a:noFill/>
                  </a:rPr>
                  <a:t> </a:t>
                </a:r>
              </a:p>
            </p:txBody>
          </p:sp>
        </mc:Fallback>
      </mc:AlternateContent>
      <p:sp>
        <p:nvSpPr>
          <p:cNvPr id="6" name="object 6"/>
          <p:cNvSpPr txBox="1"/>
          <p:nvPr/>
        </p:nvSpPr>
        <p:spPr>
          <a:xfrm>
            <a:off x="533400" y="1275894"/>
            <a:ext cx="8153400" cy="1118063"/>
          </a:xfrm>
          <a:prstGeom prst="rect">
            <a:avLst/>
          </a:prstGeom>
        </p:spPr>
        <p:txBody>
          <a:bodyPr vert="horz" wrap="square" lIns="0" tIns="0" rIns="0" bIns="0" rtlCol="0">
            <a:spAutoFit/>
          </a:bodyPr>
          <a:lstStyle/>
          <a:p>
            <a:pPr marL="12700" marR="485140">
              <a:lnSpc>
                <a:spcPts val="2960"/>
              </a:lnSpc>
            </a:pPr>
            <a:r>
              <a:rPr dirty="0">
                <a:latin typeface="Times New Roman"/>
                <a:cs typeface="Times New Roman"/>
              </a:rPr>
              <a:t>If we adopt a </a:t>
            </a:r>
            <a:r>
              <a:rPr u="sng" dirty="0">
                <a:latin typeface="Times New Roman"/>
                <a:cs typeface="Times New Roman"/>
              </a:rPr>
              <a:t>mixed strategy </a:t>
            </a:r>
            <a:r>
              <a:rPr dirty="0">
                <a:latin typeface="Times New Roman"/>
                <a:cs typeface="Times New Roman"/>
              </a:rPr>
              <a:t>(a set of strategy for alternating use) instead of a pure strategy (a single strategy), each individual game must </a:t>
            </a:r>
            <a:r>
              <a:rPr lang="en-US" dirty="0">
                <a:latin typeface="Times New Roman"/>
                <a:cs typeface="Times New Roman"/>
              </a:rPr>
              <a:t>choose</a:t>
            </a:r>
            <a:r>
              <a:rPr dirty="0">
                <a:latin typeface="Times New Roman"/>
                <a:cs typeface="Times New Roman"/>
              </a:rPr>
              <a:t> their actions randomly (according to the distribution) in order to be unpredictable.</a:t>
            </a:r>
          </a:p>
        </p:txBody>
      </p:sp>
      <mc:AlternateContent xmlns:mc="http://schemas.openxmlformats.org/markup-compatibility/2006" xmlns:a14="http://schemas.microsoft.com/office/drawing/2010/main">
        <mc:Choice Requires="a14">
          <p:sp>
            <p:nvSpPr>
              <p:cNvPr id="7" name="object 7"/>
              <p:cNvSpPr txBox="1"/>
              <p:nvPr/>
            </p:nvSpPr>
            <p:spPr>
              <a:xfrm>
                <a:off x="533400" y="2710994"/>
                <a:ext cx="8424545" cy="1538883"/>
              </a:xfrm>
              <a:prstGeom prst="rect">
                <a:avLst/>
              </a:prstGeom>
            </p:spPr>
            <p:txBody>
              <a:bodyPr vert="horz" wrap="square" lIns="0" tIns="0" rIns="0" bIns="0" rtlCol="0">
                <a:spAutoFit/>
              </a:bodyPr>
              <a:lstStyle/>
              <a:p>
                <a:pPr marL="12700" marR="485140">
                  <a:lnSpc>
                    <a:spcPts val="2960"/>
                  </a:lnSpc>
                </a:pPr>
                <a:r>
                  <a:rPr lang="en-US" dirty="0">
                    <a:latin typeface="Times New Roman"/>
                    <a:cs typeface="Times New Roman"/>
                  </a:rPr>
                  <a:t>Let the stochastic row vector </a:t>
                </a:r>
                <a14:m>
                  <m:oMath xmlns:m="http://schemas.openxmlformats.org/officeDocument/2006/math">
                    <m:r>
                      <a:rPr lang="en-US" i="1" dirty="0" smtClean="0">
                        <a:latin typeface="Cambria Math" panose="02040503050406030204" pitchFamily="18" charset="0"/>
                        <a:cs typeface="Times New Roman"/>
                      </a:rPr>
                      <m:t>𝑋</m:t>
                    </m:r>
                  </m:oMath>
                </a14:m>
                <a:r>
                  <a:rPr lang="en-US" dirty="0">
                    <a:latin typeface="Times New Roman"/>
                    <a:cs typeface="Times New Roman"/>
                  </a:rPr>
                  <a:t> describe the strategy for the row player (probabilities of action choices), the stochastic column vector </a:t>
                </a:r>
                <a14:m>
                  <m:oMath xmlns:m="http://schemas.openxmlformats.org/officeDocument/2006/math">
                    <m:r>
                      <a:rPr lang="en-US" i="1" dirty="0" smtClean="0">
                        <a:latin typeface="Cambria Math" panose="02040503050406030204" pitchFamily="18" charset="0"/>
                        <a:cs typeface="Times New Roman"/>
                      </a:rPr>
                      <m:t>𝑌</m:t>
                    </m:r>
                  </m:oMath>
                </a14:m>
                <a:r>
                  <a:rPr lang="en-US" dirty="0">
                    <a:latin typeface="Times New Roman"/>
                    <a:cs typeface="Times New Roman"/>
                  </a:rPr>
                  <a:t> the strategy for the column player.</a:t>
                </a:r>
              </a:p>
              <a:p>
                <a:pPr marL="12700" marR="485140">
                  <a:lnSpc>
                    <a:spcPts val="2960"/>
                  </a:lnSpc>
                </a:pPr>
                <a:endParaRPr lang="en-US" dirty="0">
                  <a:latin typeface="Times New Roman"/>
                  <a:cs typeface="Times New Roman"/>
                </a:endParaRPr>
              </a:p>
              <a:p>
                <a:pPr marL="12700" marR="485140">
                  <a:lnSpc>
                    <a:spcPts val="296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Times New Roman"/>
                        </a:rPr>
                        <m:t>1= </m:t>
                      </m:r>
                      <m:nary>
                        <m:naryPr>
                          <m:chr m:val="∑"/>
                          <m:supHide m:val="on"/>
                          <m:ctrlPr>
                            <a:rPr lang="en-US" b="0" i="1" smtClean="0">
                              <a:latin typeface="Cambria Math" panose="02040503050406030204" pitchFamily="18" charset="0"/>
                              <a:cs typeface="Times New Roman"/>
                            </a:rPr>
                          </m:ctrlPr>
                        </m:naryPr>
                        <m:sub>
                          <m:r>
                            <m:rPr>
                              <m:brk m:alnAt="7"/>
                            </m:rPr>
                            <a:rPr lang="en-US" b="0" i="1" smtClean="0">
                              <a:latin typeface="Cambria Math" panose="02040503050406030204" pitchFamily="18" charset="0"/>
                              <a:cs typeface="Times New Roman"/>
                            </a:rPr>
                            <m:t>𝑖</m:t>
                          </m:r>
                        </m:sub>
                        <m:sup/>
                        <m:e>
                          <m:sSub>
                            <m:sSubPr>
                              <m:ctrlPr>
                                <a:rPr lang="en-US" b="0" i="1" smtClean="0">
                                  <a:latin typeface="Cambria Math" panose="02040503050406030204" pitchFamily="18" charset="0"/>
                                  <a:cs typeface="Times New Roman"/>
                                </a:rPr>
                              </m:ctrlPr>
                            </m:sSubPr>
                            <m:e>
                              <m:r>
                                <a:rPr lang="en-US" b="0" i="1" smtClean="0">
                                  <a:latin typeface="Cambria Math" panose="02040503050406030204" pitchFamily="18" charset="0"/>
                                  <a:cs typeface="Times New Roman"/>
                                </a:rPr>
                                <m:t>𝑥</m:t>
                              </m:r>
                            </m:e>
                            <m:sub>
                              <m:r>
                                <a:rPr lang="en-US" b="0" i="1" smtClean="0">
                                  <a:latin typeface="Cambria Math" panose="02040503050406030204" pitchFamily="18" charset="0"/>
                                  <a:cs typeface="Times New Roman"/>
                                </a:rPr>
                                <m:t>𝑖</m:t>
                              </m:r>
                            </m:sub>
                          </m:sSub>
                          <m:r>
                            <a:rPr lang="en-US" b="0" i="1" smtClean="0">
                              <a:latin typeface="Cambria Math" panose="02040503050406030204" pitchFamily="18" charset="0"/>
                              <a:cs typeface="Times New Roman"/>
                            </a:rPr>
                            <m:t>=</m:t>
                          </m:r>
                          <m:nary>
                            <m:naryPr>
                              <m:chr m:val="∑"/>
                              <m:supHide m:val="on"/>
                              <m:ctrlPr>
                                <a:rPr lang="en-US" b="0" i="1" smtClean="0">
                                  <a:latin typeface="Cambria Math" panose="02040503050406030204" pitchFamily="18" charset="0"/>
                                  <a:cs typeface="Times New Roman"/>
                                </a:rPr>
                              </m:ctrlPr>
                            </m:naryPr>
                            <m:sub>
                              <m:r>
                                <m:rPr>
                                  <m:brk m:alnAt="7"/>
                                </m:rPr>
                                <a:rPr lang="en-US" b="0" i="1" smtClean="0">
                                  <a:latin typeface="Cambria Math" panose="02040503050406030204" pitchFamily="18" charset="0"/>
                                  <a:cs typeface="Times New Roman"/>
                                </a:rPr>
                                <m:t>𝑖</m:t>
                              </m:r>
                            </m:sub>
                            <m:sup/>
                            <m:e>
                              <m:sSub>
                                <m:sSubPr>
                                  <m:ctrlPr>
                                    <a:rPr lang="en-US" b="0" i="1" smtClean="0">
                                      <a:latin typeface="Cambria Math" panose="02040503050406030204" pitchFamily="18" charset="0"/>
                                      <a:cs typeface="Times New Roman"/>
                                    </a:rPr>
                                  </m:ctrlPr>
                                </m:sSubPr>
                                <m:e>
                                  <m:r>
                                    <a:rPr lang="en-US" b="0" i="1" smtClean="0">
                                      <a:latin typeface="Cambria Math" panose="02040503050406030204" pitchFamily="18" charset="0"/>
                                      <a:cs typeface="Times New Roman"/>
                                    </a:rPr>
                                    <m:t>𝑦</m:t>
                                  </m:r>
                                </m:e>
                                <m:sub>
                                  <m:r>
                                    <a:rPr lang="en-US" b="0" i="1" smtClean="0">
                                      <a:latin typeface="Cambria Math" panose="02040503050406030204" pitchFamily="18" charset="0"/>
                                      <a:cs typeface="Times New Roman"/>
                                    </a:rPr>
                                    <m:t>𝑖</m:t>
                                  </m:r>
                                </m:sub>
                              </m:sSub>
                              <m:r>
                                <a:rPr lang="en-US" b="0" i="1" smtClean="0">
                                  <a:latin typeface="Cambria Math" panose="02040503050406030204" pitchFamily="18" charset="0"/>
                                  <a:cs typeface="Times New Roman"/>
                                </a:rPr>
                                <m:t>;          </m:t>
                              </m:r>
                              <m:r>
                                <a:rPr lang="en-US" b="0" i="1" smtClean="0">
                                  <a:latin typeface="Cambria Math" panose="02040503050406030204" pitchFamily="18" charset="0"/>
                                  <a:cs typeface="Times New Roman"/>
                                </a:rPr>
                                <m:t>𝑝</m:t>
                              </m:r>
                              <m:d>
                                <m:dPr>
                                  <m:ctrlPr>
                                    <a:rPr lang="en-US" b="0" i="1" smtClean="0">
                                      <a:latin typeface="Cambria Math" panose="02040503050406030204" pitchFamily="18" charset="0"/>
                                      <a:cs typeface="Times New Roman"/>
                                    </a:rPr>
                                  </m:ctrlPr>
                                </m:dPr>
                                <m:e>
                                  <m:sSub>
                                    <m:sSubPr>
                                      <m:ctrlPr>
                                        <a:rPr lang="en-US" b="0" i="1" smtClean="0">
                                          <a:latin typeface="Cambria Math" panose="02040503050406030204" pitchFamily="18" charset="0"/>
                                          <a:cs typeface="Times New Roman"/>
                                        </a:rPr>
                                      </m:ctrlPr>
                                    </m:sSubPr>
                                    <m:e>
                                      <m:r>
                                        <a:rPr lang="en-US" b="0" i="1" smtClean="0">
                                          <a:latin typeface="Cambria Math" panose="02040503050406030204" pitchFamily="18" charset="0"/>
                                          <a:cs typeface="Times New Roman"/>
                                        </a:rPr>
                                        <m:t>𝑠</m:t>
                                      </m:r>
                                    </m:e>
                                    <m:sub>
                                      <m:r>
                                        <a:rPr lang="en-US" b="0" i="1" smtClean="0">
                                          <a:latin typeface="Cambria Math" panose="02040503050406030204" pitchFamily="18" charset="0"/>
                                          <a:cs typeface="Times New Roman"/>
                                        </a:rPr>
                                        <m:t>𝑖</m:t>
                                      </m:r>
                                    </m:sub>
                                  </m:sSub>
                                </m:e>
                              </m:d>
                              <m:r>
                                <a:rPr lang="en-US" b="0" i="1" smtClean="0">
                                  <a:latin typeface="Cambria Math" panose="02040503050406030204" pitchFamily="18" charset="0"/>
                                  <a:cs typeface="Times New Roman"/>
                                </a:rPr>
                                <m:t>=</m:t>
                              </m:r>
                              <m:sSub>
                                <m:sSubPr>
                                  <m:ctrlPr>
                                    <a:rPr lang="en-US" b="0" i="1" smtClean="0">
                                      <a:latin typeface="Cambria Math" panose="02040503050406030204" pitchFamily="18" charset="0"/>
                                      <a:cs typeface="Times New Roman"/>
                                    </a:rPr>
                                  </m:ctrlPr>
                                </m:sSubPr>
                                <m:e>
                                  <m:r>
                                    <a:rPr lang="en-US" b="0" i="1" smtClean="0">
                                      <a:latin typeface="Cambria Math" panose="02040503050406030204" pitchFamily="18" charset="0"/>
                                      <a:cs typeface="Times New Roman"/>
                                    </a:rPr>
                                    <m:t>𝑥</m:t>
                                  </m:r>
                                </m:e>
                                <m:sub>
                                  <m:r>
                                    <a:rPr lang="en-US" b="0" i="1" smtClean="0">
                                      <a:latin typeface="Cambria Math" panose="02040503050406030204" pitchFamily="18" charset="0"/>
                                      <a:cs typeface="Times New Roman"/>
                                    </a:rPr>
                                    <m:t>𝑖</m:t>
                                  </m:r>
                                </m:sub>
                              </m:sSub>
                              <m:r>
                                <a:rPr lang="en-US" b="0" i="1" smtClean="0">
                                  <a:latin typeface="Cambria Math" panose="02040503050406030204" pitchFamily="18" charset="0"/>
                                  <a:cs typeface="Times New Roman"/>
                                </a:rPr>
                                <m:t>;      </m:t>
                              </m:r>
                              <m:r>
                                <a:rPr lang="en-US" b="0" i="1" smtClean="0">
                                  <a:latin typeface="Cambria Math" panose="02040503050406030204" pitchFamily="18" charset="0"/>
                                  <a:cs typeface="Times New Roman"/>
                                </a:rPr>
                                <m:t>𝑝</m:t>
                              </m:r>
                              <m:d>
                                <m:dPr>
                                  <m:ctrlPr>
                                    <a:rPr lang="en-US" b="0" i="1" smtClean="0">
                                      <a:latin typeface="Cambria Math" panose="02040503050406030204" pitchFamily="18" charset="0"/>
                                      <a:cs typeface="Times New Roman"/>
                                    </a:rPr>
                                  </m:ctrlPr>
                                </m:dPr>
                                <m:e>
                                  <m:sSub>
                                    <m:sSubPr>
                                      <m:ctrlPr>
                                        <a:rPr lang="en-US" b="0" i="1" smtClean="0">
                                          <a:latin typeface="Cambria Math" panose="02040503050406030204" pitchFamily="18" charset="0"/>
                                          <a:cs typeface="Times New Roman"/>
                                        </a:rPr>
                                      </m:ctrlPr>
                                    </m:sSubPr>
                                    <m:e>
                                      <m:r>
                                        <a:rPr lang="en-US" b="0" i="1" smtClean="0">
                                          <a:latin typeface="Cambria Math" panose="02040503050406030204" pitchFamily="18" charset="0"/>
                                          <a:cs typeface="Times New Roman"/>
                                        </a:rPr>
                                        <m:t>𝑡</m:t>
                                      </m:r>
                                    </m:e>
                                    <m:sub>
                                      <m:r>
                                        <a:rPr lang="en-US" b="0" i="1" smtClean="0">
                                          <a:latin typeface="Cambria Math" panose="02040503050406030204" pitchFamily="18" charset="0"/>
                                          <a:cs typeface="Times New Roman"/>
                                        </a:rPr>
                                        <m:t>𝑖</m:t>
                                      </m:r>
                                    </m:sub>
                                  </m:sSub>
                                </m:e>
                              </m:d>
                              <m:r>
                                <a:rPr lang="en-US" b="0" i="1" smtClean="0">
                                  <a:latin typeface="Cambria Math" panose="02040503050406030204" pitchFamily="18" charset="0"/>
                                  <a:cs typeface="Times New Roman"/>
                                </a:rPr>
                                <m:t>=</m:t>
                              </m:r>
                              <m:sSub>
                                <m:sSubPr>
                                  <m:ctrlPr>
                                    <a:rPr lang="en-US" b="0" i="1" smtClean="0">
                                      <a:latin typeface="Cambria Math" panose="02040503050406030204" pitchFamily="18" charset="0"/>
                                      <a:cs typeface="Times New Roman"/>
                                    </a:rPr>
                                  </m:ctrlPr>
                                </m:sSubPr>
                                <m:e>
                                  <m:r>
                                    <a:rPr lang="en-US" b="0" i="1" smtClean="0">
                                      <a:latin typeface="Cambria Math" panose="02040503050406030204" pitchFamily="18" charset="0"/>
                                      <a:cs typeface="Times New Roman"/>
                                    </a:rPr>
                                    <m:t>𝑦</m:t>
                                  </m:r>
                                </m:e>
                                <m:sub>
                                  <m:r>
                                    <a:rPr lang="en-US" b="0" i="1" smtClean="0">
                                      <a:latin typeface="Cambria Math" panose="02040503050406030204" pitchFamily="18" charset="0"/>
                                      <a:cs typeface="Times New Roman"/>
                                    </a:rPr>
                                    <m:t>𝑖</m:t>
                                  </m:r>
                                </m:sub>
                              </m:sSub>
                            </m:e>
                          </m:nary>
                        </m:e>
                      </m:nary>
                    </m:oMath>
                  </m:oMathPara>
                </a14:m>
                <a:endParaRPr dirty="0">
                  <a:latin typeface="Times New Roman"/>
                  <a:cs typeface="Times New Roman"/>
                </a:endParaRPr>
              </a:p>
            </p:txBody>
          </p:sp>
        </mc:Choice>
        <mc:Fallback xmlns="">
          <p:sp>
            <p:nvSpPr>
              <p:cNvPr id="7" name="object 7"/>
              <p:cNvSpPr txBox="1">
                <a:spLocks noRot="1" noChangeAspect="1" noMove="1" noResize="1" noEditPoints="1" noAdjustHandles="1" noChangeArrowheads="1" noChangeShapeType="1" noTextEdit="1"/>
              </p:cNvSpPr>
              <p:nvPr/>
            </p:nvSpPr>
            <p:spPr>
              <a:xfrm>
                <a:off x="533400" y="2710994"/>
                <a:ext cx="8424545" cy="1538883"/>
              </a:xfrm>
              <a:prstGeom prst="rect">
                <a:avLst/>
              </a:prstGeom>
              <a:blipFill>
                <a:blip r:embed="rId4"/>
                <a:stretch>
                  <a:fillRect l="-1593" t="-5556" b="-94841"/>
                </a:stretch>
              </a:blipFill>
            </p:spPr>
            <p:txBody>
              <a:bodyPr/>
              <a:lstStyle/>
              <a:p>
                <a:r>
                  <a:rPr lang="en-MY">
                    <a:noFill/>
                  </a:rPr>
                  <a:t> </a:t>
                </a:r>
              </a:p>
            </p:txBody>
          </p:sp>
        </mc:Fallback>
      </mc:AlternateContent>
      <p:sp>
        <p:nvSpPr>
          <p:cNvPr id="11" name="object 11"/>
          <p:cNvSpPr txBox="1"/>
          <p:nvPr/>
        </p:nvSpPr>
        <p:spPr>
          <a:xfrm>
            <a:off x="226346" y="182639"/>
            <a:ext cx="4268470" cy="424180"/>
          </a:xfrm>
          <a:prstGeom prst="rect">
            <a:avLst/>
          </a:prstGeom>
        </p:spPr>
        <p:txBody>
          <a:bodyPr vert="horz" wrap="square" lIns="0" tIns="0" rIns="0" bIns="0" rtlCol="0">
            <a:spAutoFit/>
          </a:bodyPr>
          <a:lstStyle/>
          <a:p>
            <a:pPr marL="12700">
              <a:lnSpc>
                <a:spcPct val="100000"/>
              </a:lnSpc>
            </a:pPr>
            <a:r>
              <a:rPr sz="3100" spc="15" dirty="0">
                <a:latin typeface="Arial"/>
                <a:cs typeface="Arial"/>
              </a:rPr>
              <a:t>Expec</a:t>
            </a:r>
            <a:r>
              <a:rPr sz="3100" dirty="0">
                <a:latin typeface="Arial"/>
                <a:cs typeface="Arial"/>
              </a:rPr>
              <a:t>t</a:t>
            </a:r>
            <a:r>
              <a:rPr sz="3100" spc="15" dirty="0">
                <a:latin typeface="Arial"/>
                <a:cs typeface="Arial"/>
              </a:rPr>
              <a:t>ed</a:t>
            </a:r>
            <a:r>
              <a:rPr sz="3100" spc="5" dirty="0">
                <a:latin typeface="Arial"/>
                <a:cs typeface="Arial"/>
              </a:rPr>
              <a:t> </a:t>
            </a:r>
            <a:r>
              <a:rPr sz="3100" spc="15" dirty="0">
                <a:latin typeface="Arial"/>
                <a:cs typeface="Arial"/>
              </a:rPr>
              <a:t>Payo</a:t>
            </a:r>
            <a:r>
              <a:rPr sz="3100" spc="-55" dirty="0">
                <a:latin typeface="Arial"/>
                <a:cs typeface="Arial"/>
              </a:rPr>
              <a:t>f</a:t>
            </a:r>
            <a:r>
              <a:rPr sz="3100" spc="5" dirty="0">
                <a:latin typeface="Arial"/>
                <a:cs typeface="Arial"/>
              </a:rPr>
              <a:t>f </a:t>
            </a:r>
            <a:r>
              <a:rPr sz="3100" spc="15" dirty="0">
                <a:latin typeface="Arial"/>
                <a:cs typeface="Arial"/>
              </a:rPr>
              <a:t>(U</a:t>
            </a:r>
            <a:r>
              <a:rPr sz="3100" dirty="0">
                <a:latin typeface="Arial"/>
                <a:cs typeface="Arial"/>
              </a:rPr>
              <a:t>t</a:t>
            </a:r>
            <a:r>
              <a:rPr sz="3100" spc="5" dirty="0">
                <a:latin typeface="Arial"/>
                <a:cs typeface="Arial"/>
              </a:rPr>
              <a:t>ili</a:t>
            </a:r>
            <a:r>
              <a:rPr sz="3100" dirty="0">
                <a:latin typeface="Arial"/>
                <a:cs typeface="Arial"/>
              </a:rPr>
              <a:t>t</a:t>
            </a:r>
            <a:r>
              <a:rPr sz="3100" spc="10" dirty="0">
                <a:latin typeface="Arial"/>
                <a:cs typeface="Arial"/>
              </a:rPr>
              <a:t>y)</a:t>
            </a:r>
            <a:endParaRPr sz="3100">
              <a:latin typeface="Arial"/>
              <a:cs typeface="Arial"/>
            </a:endParaRPr>
          </a:p>
        </p:txBody>
      </p:sp>
      <p:sp>
        <p:nvSpPr>
          <p:cNvPr id="12" name="object 2">
            <a:extLst>
              <a:ext uri="{FF2B5EF4-FFF2-40B4-BE49-F238E27FC236}">
                <a16:creationId xmlns:a16="http://schemas.microsoft.com/office/drawing/2014/main" id="{791A5C7F-9655-7CF2-6C04-5DE424D10353}"/>
              </a:ext>
            </a:extLst>
          </p:cNvPr>
          <p:cNvSpPr/>
          <p:nvPr/>
        </p:nvSpPr>
        <p:spPr>
          <a:xfrm>
            <a:off x="15240" y="990600"/>
            <a:ext cx="9091407"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pPr algn="r" rtl="1"/>
            <a:endParaRPr dirty="0"/>
          </a:p>
        </p:txBody>
      </p:sp>
      <p:sp>
        <p:nvSpPr>
          <p:cNvPr id="13" name="Slide Number Placeholder 8">
            <a:extLst>
              <a:ext uri="{FF2B5EF4-FFF2-40B4-BE49-F238E27FC236}">
                <a16:creationId xmlns:a16="http://schemas.microsoft.com/office/drawing/2014/main" id="{458F4DD2-3474-A662-535D-F7E9C06315C1}"/>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26</a:t>
            </a:fld>
            <a:r>
              <a:rPr lang="en-US" sz="2000" dirty="0">
                <a:solidFill>
                  <a:prstClr val="black"/>
                </a:solidFill>
                <a:latin typeface="Comic Sans MS"/>
                <a:sym typeface="Comic Sans MS"/>
              </a:rPr>
              <a:t>/46</a:t>
            </a:r>
          </a:p>
        </p:txBody>
      </p:sp>
      <p:sp>
        <p:nvSpPr>
          <p:cNvPr id="14" name="Footer Placeholder 9">
            <a:extLst>
              <a:ext uri="{FF2B5EF4-FFF2-40B4-BE49-F238E27FC236}">
                <a16:creationId xmlns:a16="http://schemas.microsoft.com/office/drawing/2014/main" id="{460501C1-69B6-76AE-CC20-814007A03268}"/>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5" name="Rectangle 14">
            <a:extLst>
              <a:ext uri="{FF2B5EF4-FFF2-40B4-BE49-F238E27FC236}">
                <a16:creationId xmlns:a16="http://schemas.microsoft.com/office/drawing/2014/main" id="{926219C2-59F9-8A93-342E-6C704ACDF2E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6" name="Rectangle 15">
            <a:extLst>
              <a:ext uri="{FF2B5EF4-FFF2-40B4-BE49-F238E27FC236}">
                <a16:creationId xmlns:a16="http://schemas.microsoft.com/office/drawing/2014/main" id="{40BF920B-40E0-3D01-15FE-75836B89B242}"/>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9E79AFCB-C702-F597-50B6-6DB33F1CA752}"/>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574571"/>
            <a:ext cx="8221344" cy="492443"/>
          </a:xfrm>
          <a:prstGeom prst="rect">
            <a:avLst/>
          </a:prstGeom>
        </p:spPr>
        <p:txBody>
          <a:bodyPr vert="horz" wrap="square" lIns="0" tIns="0" rIns="0" bIns="0" rtlCol="0">
            <a:spAutoFit/>
          </a:bodyPr>
          <a:lstStyle/>
          <a:p>
            <a:pPr marL="12700">
              <a:lnSpc>
                <a:spcPct val="100000"/>
              </a:lnSpc>
            </a:pPr>
            <a:r>
              <a:rPr dirty="0">
                <a:solidFill>
                  <a:srgbClr val="0000FF"/>
                </a:solidFill>
              </a:rPr>
              <a:t>Mixed</a:t>
            </a:r>
            <a:r>
              <a:rPr spc="-5" dirty="0"/>
              <a:t> </a:t>
            </a:r>
            <a:r>
              <a:rPr dirty="0"/>
              <a:t>Nash</a:t>
            </a:r>
          </a:p>
        </p:txBody>
      </p:sp>
      <p:sp>
        <p:nvSpPr>
          <p:cNvPr id="6" name="object 6"/>
          <p:cNvSpPr txBox="1"/>
          <p:nvPr/>
        </p:nvSpPr>
        <p:spPr>
          <a:xfrm>
            <a:off x="252123" y="2095971"/>
            <a:ext cx="8256270" cy="2668905"/>
          </a:xfrm>
          <a:prstGeom prst="rect">
            <a:avLst/>
          </a:prstGeom>
        </p:spPr>
        <p:txBody>
          <a:bodyPr vert="horz" wrap="square" lIns="0" tIns="0" rIns="0" bIns="0" rtlCol="0">
            <a:spAutoFit/>
          </a:bodyPr>
          <a:lstStyle/>
          <a:p>
            <a:pPr marL="12700" marR="600075">
              <a:lnSpc>
                <a:spcPct val="100699"/>
              </a:lnSpc>
            </a:pPr>
            <a:r>
              <a:rPr sz="2400" spc="-20" dirty="0">
                <a:latin typeface="Times New Roman"/>
                <a:cs typeface="Times New Roman"/>
              </a:rPr>
              <a:t>Be</a:t>
            </a:r>
            <a:r>
              <a:rPr sz="2400" dirty="0">
                <a:latin typeface="Times New Roman"/>
                <a:cs typeface="Times New Roman"/>
              </a:rPr>
              <a:t>s</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r</a:t>
            </a:r>
            <a:r>
              <a:rPr sz="2400" spc="-20" dirty="0">
                <a:latin typeface="Times New Roman"/>
                <a:cs typeface="Times New Roman"/>
              </a:rPr>
              <a:t>e</a:t>
            </a:r>
            <a:r>
              <a:rPr sz="2400" dirty="0">
                <a:latin typeface="Times New Roman"/>
                <a:cs typeface="Times New Roman"/>
              </a:rPr>
              <a:t>spons</a:t>
            </a:r>
            <a:r>
              <a:rPr sz="2400" spc="-15" dirty="0">
                <a:latin typeface="Times New Roman"/>
                <a:cs typeface="Times New Roman"/>
              </a:rPr>
              <a:t>e</a:t>
            </a:r>
            <a:r>
              <a:rPr sz="2400" spc="-5" dirty="0">
                <a:latin typeface="Times New Roman"/>
                <a:cs typeface="Times New Roman"/>
              </a:rPr>
              <a:t> </a:t>
            </a:r>
            <a:r>
              <a:rPr sz="2400" spc="-20" dirty="0">
                <a:latin typeface="Times New Roman"/>
                <a:cs typeface="Times New Roman"/>
              </a:rPr>
              <a:t>a</a:t>
            </a:r>
            <a:r>
              <a:rPr sz="2400" dirty="0">
                <a:latin typeface="Times New Roman"/>
                <a:cs typeface="Times New Roman"/>
              </a:rPr>
              <a:t>nd N</a:t>
            </a:r>
            <a:r>
              <a:rPr sz="2400" spc="-20" dirty="0">
                <a:latin typeface="Times New Roman"/>
                <a:cs typeface="Times New Roman"/>
              </a:rPr>
              <a:t>a</a:t>
            </a:r>
            <a:r>
              <a:rPr sz="2400" dirty="0">
                <a:latin typeface="Times New Roman"/>
                <a:cs typeface="Times New Roman"/>
              </a:rPr>
              <a:t>sh </a:t>
            </a:r>
            <a:r>
              <a:rPr sz="2400" spc="-20" dirty="0">
                <a:latin typeface="Times New Roman"/>
                <a:cs typeface="Times New Roman"/>
              </a:rPr>
              <a:t>e</a:t>
            </a:r>
            <a:r>
              <a:rPr sz="2400" spc="-15" dirty="0">
                <a:latin typeface="Times New Roman"/>
                <a:cs typeface="Times New Roman"/>
              </a:rPr>
              <a:t>quilibrium</a:t>
            </a:r>
            <a:r>
              <a:rPr sz="2400" dirty="0">
                <a:latin typeface="Times New Roman"/>
                <a:cs typeface="Times New Roman"/>
              </a:rPr>
              <a:t> </a:t>
            </a:r>
            <a:r>
              <a:rPr sz="2400" spc="-15" dirty="0">
                <a:latin typeface="Times New Roman"/>
                <a:cs typeface="Times New Roman"/>
              </a:rPr>
              <a:t>g</a:t>
            </a:r>
            <a:r>
              <a:rPr sz="2400" spc="-20" dirty="0">
                <a:latin typeface="Times New Roman"/>
                <a:cs typeface="Times New Roman"/>
              </a:rPr>
              <a:t>e</a:t>
            </a:r>
            <a:r>
              <a:rPr sz="2400" spc="-15" dirty="0">
                <a:latin typeface="Times New Roman"/>
                <a:cs typeface="Times New Roman"/>
              </a:rPr>
              <a:t>n</a:t>
            </a:r>
            <a:r>
              <a:rPr sz="2400" spc="-20" dirty="0">
                <a:latin typeface="Times New Roman"/>
                <a:cs typeface="Times New Roman"/>
              </a:rPr>
              <a:t>e</a:t>
            </a:r>
            <a:r>
              <a:rPr sz="2400" spc="-10" dirty="0">
                <a:latin typeface="Times New Roman"/>
                <a:cs typeface="Times New Roman"/>
              </a:rPr>
              <a:t>r</a:t>
            </a:r>
            <a:r>
              <a:rPr sz="2400" spc="-20" dirty="0">
                <a:latin typeface="Times New Roman"/>
                <a:cs typeface="Times New Roman"/>
              </a:rPr>
              <a:t>a</a:t>
            </a:r>
            <a:r>
              <a:rPr sz="2400" spc="-10" dirty="0">
                <a:latin typeface="Times New Roman"/>
                <a:cs typeface="Times New Roman"/>
              </a:rPr>
              <a:t>li</a:t>
            </a:r>
            <a:r>
              <a:rPr sz="2400" dirty="0">
                <a:latin typeface="Times New Roman"/>
                <a:cs typeface="Times New Roman"/>
              </a:rPr>
              <a:t>s</a:t>
            </a:r>
            <a:r>
              <a:rPr sz="2400" spc="-15" dirty="0">
                <a:latin typeface="Times New Roman"/>
                <a:cs typeface="Times New Roman"/>
              </a:rPr>
              <a:t>e</a:t>
            </a:r>
            <a:r>
              <a:rPr sz="2400" spc="-5" dirty="0">
                <a:latin typeface="Times New Roman"/>
                <a:cs typeface="Times New Roman"/>
              </a:rPr>
              <a:t> </a:t>
            </a:r>
            <a:r>
              <a:rPr sz="2400" spc="-15" dirty="0">
                <a:latin typeface="Times New Roman"/>
                <a:cs typeface="Times New Roman"/>
              </a:rPr>
              <a:t>from</a:t>
            </a:r>
            <a:r>
              <a:rPr sz="2400" dirty="0">
                <a:latin typeface="Times New Roman"/>
                <a:cs typeface="Times New Roman"/>
              </a:rPr>
              <a:t> </a:t>
            </a:r>
            <a:r>
              <a:rPr sz="2400" spc="-20" dirty="0">
                <a:latin typeface="Times New Roman"/>
                <a:cs typeface="Times New Roman"/>
              </a:rPr>
              <a:t>ac</a:t>
            </a:r>
            <a:r>
              <a:rPr sz="2400" spc="-10" dirty="0">
                <a:latin typeface="Times New Roman"/>
                <a:cs typeface="Times New Roman"/>
              </a:rPr>
              <a:t>ti</a:t>
            </a:r>
            <a:r>
              <a:rPr sz="2400" dirty="0">
                <a:latin typeface="Times New Roman"/>
                <a:cs typeface="Times New Roman"/>
              </a:rPr>
              <a:t>ons </a:t>
            </a:r>
            <a:r>
              <a:rPr sz="2400" spc="-10" dirty="0">
                <a:latin typeface="Times New Roman"/>
                <a:cs typeface="Times New Roman"/>
              </a:rPr>
              <a:t>t</a:t>
            </a:r>
            <a:r>
              <a:rPr sz="2400" dirty="0">
                <a:latin typeface="Times New Roman"/>
                <a:cs typeface="Times New Roman"/>
              </a:rPr>
              <a:t>o s</a:t>
            </a:r>
            <a:r>
              <a:rPr sz="2400" spc="-10" dirty="0">
                <a:latin typeface="Times New Roman"/>
                <a:cs typeface="Times New Roman"/>
              </a:rPr>
              <a:t>tr</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e</a:t>
            </a:r>
            <a:r>
              <a:rPr sz="2400" spc="-10" dirty="0">
                <a:latin typeface="Times New Roman"/>
                <a:cs typeface="Times New Roman"/>
              </a:rPr>
              <a:t>gi</a:t>
            </a:r>
            <a:r>
              <a:rPr sz="2400" spc="-20" dirty="0">
                <a:latin typeface="Times New Roman"/>
                <a:cs typeface="Times New Roman"/>
              </a:rPr>
              <a:t>e</a:t>
            </a:r>
            <a:r>
              <a:rPr sz="2400" dirty="0">
                <a:latin typeface="Times New Roman"/>
                <a:cs typeface="Times New Roman"/>
              </a:rPr>
              <a:t>s</a:t>
            </a:r>
            <a:r>
              <a:rPr sz="2400" spc="-10" dirty="0">
                <a:latin typeface="Times New Roman"/>
                <a:cs typeface="Times New Roman"/>
              </a:rPr>
              <a:t>:</a:t>
            </a:r>
            <a:endParaRPr sz="2400" dirty="0">
              <a:latin typeface="Times New Roman"/>
              <a:cs typeface="Times New Roman"/>
            </a:endParaRPr>
          </a:p>
          <a:p>
            <a:pPr>
              <a:lnSpc>
                <a:spcPct val="100000"/>
              </a:lnSpc>
              <a:spcBef>
                <a:spcPts val="10"/>
              </a:spcBef>
            </a:pPr>
            <a:endParaRPr sz="2400" dirty="0">
              <a:latin typeface="Times New Roman"/>
              <a:cs typeface="Times New Roman"/>
            </a:endParaRPr>
          </a:p>
          <a:p>
            <a:pPr marL="12700">
              <a:lnSpc>
                <a:spcPct val="100000"/>
              </a:lnSpc>
            </a:pPr>
            <a:r>
              <a:rPr sz="2400" spc="-20" dirty="0">
                <a:latin typeface="Times New Roman"/>
                <a:cs typeface="Times New Roman"/>
              </a:rPr>
              <a:t>Be</a:t>
            </a:r>
            <a:r>
              <a:rPr sz="2400" dirty="0">
                <a:latin typeface="Times New Roman"/>
                <a:cs typeface="Times New Roman"/>
              </a:rPr>
              <a:t>s</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r</a:t>
            </a:r>
            <a:r>
              <a:rPr sz="2400" spc="-20" dirty="0">
                <a:latin typeface="Times New Roman"/>
                <a:cs typeface="Times New Roman"/>
              </a:rPr>
              <a:t>e</a:t>
            </a:r>
            <a:r>
              <a:rPr sz="2400" dirty="0">
                <a:latin typeface="Times New Roman"/>
                <a:cs typeface="Times New Roman"/>
              </a:rPr>
              <a:t>spons</a:t>
            </a:r>
            <a:r>
              <a:rPr sz="2400" spc="-20" dirty="0">
                <a:latin typeface="Times New Roman"/>
                <a:cs typeface="Times New Roman"/>
              </a:rPr>
              <a:t>e</a:t>
            </a:r>
            <a:r>
              <a:rPr sz="2400" spc="-10" dirty="0">
                <a:latin typeface="Times New Roman"/>
                <a:cs typeface="Times New Roman"/>
              </a:rPr>
              <a:t>:</a:t>
            </a:r>
            <a:r>
              <a:rPr sz="2400" dirty="0">
                <a:latin typeface="Times New Roman"/>
                <a:cs typeface="Times New Roman"/>
              </a:rPr>
              <a:t> </a:t>
            </a:r>
            <a:r>
              <a:rPr sz="2550" i="1" spc="-155" dirty="0">
                <a:latin typeface="Times New Roman"/>
                <a:cs typeface="Times New Roman"/>
              </a:rPr>
              <a:t>s</a:t>
            </a:r>
            <a:r>
              <a:rPr sz="2700" i="1" spc="-540" baseline="-30864" dirty="0">
                <a:latin typeface="Times New Roman"/>
                <a:cs typeface="Times New Roman"/>
              </a:rPr>
              <a:t>i</a:t>
            </a:r>
            <a:r>
              <a:rPr sz="2550" spc="170" dirty="0">
                <a:latin typeface="Garamond"/>
                <a:cs typeface="Garamond"/>
              </a:rPr>
              <a:t>*</a:t>
            </a:r>
            <a:r>
              <a:rPr sz="2550" spc="65" dirty="0">
                <a:latin typeface="Garamond"/>
                <a:cs typeface="Garamond"/>
              </a:rPr>
              <a:t> </a:t>
            </a:r>
            <a:r>
              <a:rPr sz="2550" spc="140" dirty="0">
                <a:latin typeface="Cambria"/>
                <a:cs typeface="Cambria"/>
              </a:rPr>
              <a:t>∈</a:t>
            </a:r>
            <a:r>
              <a:rPr sz="2550" spc="145" dirty="0">
                <a:latin typeface="Cambria"/>
                <a:cs typeface="Cambria"/>
              </a:rPr>
              <a:t> </a:t>
            </a:r>
            <a:r>
              <a:rPr sz="2550" i="1" spc="-20" dirty="0">
                <a:latin typeface="Times New Roman"/>
                <a:cs typeface="Times New Roman"/>
              </a:rPr>
              <a:t>BR</a:t>
            </a:r>
            <a:r>
              <a:rPr sz="2550" spc="95" dirty="0">
                <a:latin typeface="Garamond"/>
                <a:cs typeface="Garamond"/>
              </a:rPr>
              <a:t>(</a:t>
            </a:r>
            <a:r>
              <a:rPr sz="2550" i="1" spc="-100" dirty="0">
                <a:latin typeface="Times New Roman"/>
                <a:cs typeface="Times New Roman"/>
              </a:rPr>
              <a:t>s</a:t>
            </a:r>
            <a:r>
              <a:rPr sz="2700" spc="352" baseline="-20061" dirty="0">
                <a:latin typeface="Cambria"/>
                <a:cs typeface="Cambria"/>
              </a:rPr>
              <a:t>−</a:t>
            </a:r>
            <a:r>
              <a:rPr sz="2700" i="1" baseline="-20061" dirty="0">
                <a:latin typeface="Times New Roman"/>
                <a:cs typeface="Times New Roman"/>
              </a:rPr>
              <a:t>i</a:t>
            </a:r>
            <a:r>
              <a:rPr sz="2550" spc="95" dirty="0">
                <a:latin typeface="Garamond"/>
                <a:cs typeface="Garamond"/>
              </a:rPr>
              <a:t>)</a:t>
            </a:r>
            <a:r>
              <a:rPr sz="2550" spc="204" dirty="0">
                <a:latin typeface="Garamond"/>
                <a:cs typeface="Garamond"/>
              </a:rPr>
              <a:t> </a:t>
            </a:r>
            <a:r>
              <a:rPr sz="2550" spc="120" dirty="0">
                <a:latin typeface="Garamond"/>
                <a:cs typeface="Garamond"/>
              </a:rPr>
              <a:t>i</a:t>
            </a:r>
            <a:r>
              <a:rPr sz="2550" spc="-20" dirty="0">
                <a:latin typeface="Cambria"/>
                <a:cs typeface="Cambria"/>
              </a:rPr>
              <a:t>ﬀ</a:t>
            </a:r>
            <a:r>
              <a:rPr sz="2550" spc="-60" dirty="0">
                <a:latin typeface="Cambria"/>
                <a:cs typeface="Cambria"/>
              </a:rPr>
              <a:t> </a:t>
            </a:r>
            <a:r>
              <a:rPr sz="2550" spc="-55" dirty="0">
                <a:latin typeface="Cambria"/>
                <a:cs typeface="Cambria"/>
              </a:rPr>
              <a:t>∀</a:t>
            </a:r>
            <a:r>
              <a:rPr sz="2550" i="1" spc="-100" dirty="0">
                <a:latin typeface="Times New Roman"/>
                <a:cs typeface="Times New Roman"/>
              </a:rPr>
              <a:t>s</a:t>
            </a:r>
            <a:r>
              <a:rPr sz="2700" i="1" baseline="-20061" dirty="0">
                <a:latin typeface="Times New Roman"/>
                <a:cs typeface="Times New Roman"/>
              </a:rPr>
              <a:t>i </a:t>
            </a:r>
            <a:r>
              <a:rPr sz="2700" i="1" spc="-292" baseline="-20061" dirty="0">
                <a:latin typeface="Times New Roman"/>
                <a:cs typeface="Times New Roman"/>
              </a:rPr>
              <a:t> </a:t>
            </a:r>
            <a:r>
              <a:rPr sz="2550" spc="140" dirty="0">
                <a:latin typeface="Cambria"/>
                <a:cs typeface="Cambria"/>
              </a:rPr>
              <a:t>∈</a:t>
            </a:r>
            <a:r>
              <a:rPr sz="2550" spc="145" dirty="0">
                <a:latin typeface="Cambria"/>
                <a:cs typeface="Cambria"/>
              </a:rPr>
              <a:t> </a:t>
            </a:r>
            <a:r>
              <a:rPr sz="2550" i="1" spc="-105" dirty="0">
                <a:latin typeface="Times New Roman"/>
                <a:cs typeface="Times New Roman"/>
              </a:rPr>
              <a:t>S</a:t>
            </a:r>
            <a:r>
              <a:rPr sz="2700" i="1" baseline="-20061" dirty="0">
                <a:latin typeface="Times New Roman"/>
                <a:cs typeface="Times New Roman"/>
              </a:rPr>
              <a:t>i</a:t>
            </a:r>
            <a:r>
              <a:rPr sz="2550" spc="70" dirty="0">
                <a:latin typeface="Garamond"/>
                <a:cs typeface="Garamond"/>
              </a:rPr>
              <a:t>,</a:t>
            </a:r>
            <a:r>
              <a:rPr sz="2550" spc="-215" dirty="0">
                <a:latin typeface="Garamond"/>
                <a:cs typeface="Garamond"/>
              </a:rPr>
              <a:t> </a:t>
            </a:r>
            <a:r>
              <a:rPr sz="2550" i="1" spc="-105" dirty="0">
                <a:latin typeface="Times New Roman"/>
                <a:cs typeface="Times New Roman"/>
              </a:rPr>
              <a:t>u</a:t>
            </a:r>
            <a:r>
              <a:rPr sz="2700" i="1" baseline="-20061" dirty="0">
                <a:latin typeface="Times New Roman"/>
                <a:cs typeface="Times New Roman"/>
              </a:rPr>
              <a:t>i</a:t>
            </a:r>
            <a:r>
              <a:rPr sz="2550" spc="95" dirty="0">
                <a:latin typeface="Garamond"/>
                <a:cs typeface="Garamond"/>
              </a:rPr>
              <a:t>(</a:t>
            </a:r>
            <a:r>
              <a:rPr sz="2550" i="1" spc="-155" dirty="0">
                <a:latin typeface="Times New Roman"/>
                <a:cs typeface="Times New Roman"/>
              </a:rPr>
              <a:t>s</a:t>
            </a:r>
            <a:r>
              <a:rPr sz="2700" i="1" spc="-540" baseline="-30864" dirty="0">
                <a:latin typeface="Times New Roman"/>
                <a:cs typeface="Times New Roman"/>
              </a:rPr>
              <a:t>i</a:t>
            </a:r>
            <a:r>
              <a:rPr sz="2550" spc="170" dirty="0">
                <a:latin typeface="Garamond"/>
                <a:cs typeface="Garamond"/>
              </a:rPr>
              <a:t>*</a:t>
            </a:r>
            <a:r>
              <a:rPr sz="2550" spc="70" dirty="0">
                <a:latin typeface="Garamond"/>
                <a:cs typeface="Garamond"/>
              </a:rPr>
              <a:t>,</a:t>
            </a:r>
            <a:r>
              <a:rPr sz="2550" spc="-215" dirty="0">
                <a:latin typeface="Garamond"/>
                <a:cs typeface="Garamond"/>
              </a:rPr>
              <a:t> </a:t>
            </a:r>
            <a:r>
              <a:rPr sz="2550" i="1" spc="-100" dirty="0">
                <a:latin typeface="Times New Roman"/>
                <a:cs typeface="Times New Roman"/>
              </a:rPr>
              <a:t>s</a:t>
            </a:r>
            <a:r>
              <a:rPr sz="2700" spc="352" baseline="-20061" dirty="0">
                <a:latin typeface="Cambria"/>
                <a:cs typeface="Cambria"/>
              </a:rPr>
              <a:t>−</a:t>
            </a:r>
            <a:r>
              <a:rPr sz="2700" i="1" baseline="-20061" dirty="0">
                <a:latin typeface="Times New Roman"/>
                <a:cs typeface="Times New Roman"/>
              </a:rPr>
              <a:t>i</a:t>
            </a:r>
            <a:r>
              <a:rPr sz="2550" spc="95" dirty="0">
                <a:latin typeface="Garamond"/>
                <a:cs typeface="Garamond"/>
              </a:rPr>
              <a:t>)</a:t>
            </a:r>
            <a:r>
              <a:rPr sz="2550" spc="65" dirty="0">
                <a:latin typeface="Garamond"/>
                <a:cs typeface="Garamond"/>
              </a:rPr>
              <a:t> </a:t>
            </a:r>
            <a:r>
              <a:rPr sz="2550" spc="325" dirty="0">
                <a:latin typeface="Cambria"/>
                <a:cs typeface="Cambria"/>
              </a:rPr>
              <a:t>≥</a:t>
            </a:r>
            <a:r>
              <a:rPr sz="2550" spc="145" dirty="0">
                <a:latin typeface="Cambria"/>
                <a:cs typeface="Cambria"/>
              </a:rPr>
              <a:t> </a:t>
            </a:r>
            <a:r>
              <a:rPr sz="2550" i="1" spc="-105" dirty="0">
                <a:latin typeface="Times New Roman"/>
                <a:cs typeface="Times New Roman"/>
              </a:rPr>
              <a:t>u</a:t>
            </a:r>
            <a:r>
              <a:rPr sz="2700" i="1" baseline="-20061" dirty="0">
                <a:latin typeface="Times New Roman"/>
                <a:cs typeface="Times New Roman"/>
              </a:rPr>
              <a:t>i</a:t>
            </a:r>
            <a:r>
              <a:rPr sz="2550" spc="95" dirty="0">
                <a:latin typeface="Garamond"/>
                <a:cs typeface="Garamond"/>
              </a:rPr>
              <a:t>(</a:t>
            </a:r>
            <a:r>
              <a:rPr sz="2550" i="1" spc="-100" dirty="0">
                <a:latin typeface="Times New Roman"/>
                <a:cs typeface="Times New Roman"/>
              </a:rPr>
              <a:t>s</a:t>
            </a:r>
            <a:r>
              <a:rPr sz="2700" i="1" baseline="-20061" dirty="0">
                <a:latin typeface="Times New Roman"/>
                <a:cs typeface="Times New Roman"/>
              </a:rPr>
              <a:t>i</a:t>
            </a:r>
            <a:r>
              <a:rPr sz="2550" spc="70" dirty="0">
                <a:latin typeface="Garamond"/>
                <a:cs typeface="Garamond"/>
              </a:rPr>
              <a:t>,</a:t>
            </a:r>
            <a:r>
              <a:rPr sz="2550" spc="-215" dirty="0">
                <a:latin typeface="Garamond"/>
                <a:cs typeface="Garamond"/>
              </a:rPr>
              <a:t> </a:t>
            </a:r>
            <a:r>
              <a:rPr sz="2550" i="1" spc="-100" dirty="0">
                <a:latin typeface="Times New Roman"/>
                <a:cs typeface="Times New Roman"/>
              </a:rPr>
              <a:t>s</a:t>
            </a:r>
            <a:r>
              <a:rPr sz="2700" spc="352" baseline="-20061" dirty="0">
                <a:latin typeface="Cambria"/>
                <a:cs typeface="Cambria"/>
              </a:rPr>
              <a:t>−</a:t>
            </a:r>
            <a:r>
              <a:rPr sz="2700" i="1" baseline="-20061" dirty="0">
                <a:latin typeface="Times New Roman"/>
                <a:cs typeface="Times New Roman"/>
              </a:rPr>
              <a:t>i</a:t>
            </a:r>
            <a:r>
              <a:rPr sz="2550" spc="95" dirty="0">
                <a:latin typeface="Garamond"/>
                <a:cs typeface="Garamond"/>
              </a:rPr>
              <a:t>)</a:t>
            </a:r>
            <a:endParaRPr sz="2550" dirty="0">
              <a:latin typeface="Garamond"/>
              <a:cs typeface="Garamond"/>
            </a:endParaRPr>
          </a:p>
          <a:p>
            <a:pPr>
              <a:lnSpc>
                <a:spcPct val="100000"/>
              </a:lnSpc>
            </a:pPr>
            <a:endParaRPr sz="3400" dirty="0">
              <a:latin typeface="Times New Roman"/>
              <a:cs typeface="Times New Roman"/>
            </a:endParaRPr>
          </a:p>
          <a:p>
            <a:pPr marL="12700">
              <a:lnSpc>
                <a:spcPct val="100000"/>
              </a:lnSpc>
              <a:spcBef>
                <a:spcPts val="2160"/>
              </a:spcBef>
              <a:tabLst>
                <a:tab pos="6295390" algn="l"/>
              </a:tabLst>
            </a:pPr>
            <a:r>
              <a:rPr sz="2400" dirty="0">
                <a:latin typeface="Times New Roman"/>
                <a:cs typeface="Times New Roman"/>
              </a:rPr>
              <a:t>N</a:t>
            </a:r>
            <a:r>
              <a:rPr sz="2400" spc="-20" dirty="0">
                <a:latin typeface="Times New Roman"/>
                <a:cs typeface="Times New Roman"/>
              </a:rPr>
              <a:t>a</a:t>
            </a:r>
            <a:r>
              <a:rPr sz="2400" dirty="0">
                <a:latin typeface="Times New Roman"/>
                <a:cs typeface="Times New Roman"/>
              </a:rPr>
              <a:t>s</a:t>
            </a:r>
            <a:r>
              <a:rPr sz="2400" spc="-10" dirty="0">
                <a:latin typeface="Times New Roman"/>
                <a:cs typeface="Times New Roman"/>
              </a:rPr>
              <a:t>h:</a:t>
            </a:r>
            <a:r>
              <a:rPr sz="2400" dirty="0">
                <a:latin typeface="Times New Roman"/>
                <a:cs typeface="Times New Roman"/>
              </a:rPr>
              <a:t> </a:t>
            </a:r>
            <a:r>
              <a:rPr sz="2550" i="1" spc="-10" dirty="0">
                <a:latin typeface="Times New Roman"/>
                <a:cs typeface="Times New Roman"/>
              </a:rPr>
              <a:t>s</a:t>
            </a:r>
            <a:r>
              <a:rPr sz="2550" i="1" spc="75" dirty="0">
                <a:latin typeface="Times New Roman"/>
                <a:cs typeface="Times New Roman"/>
              </a:rPr>
              <a:t> </a:t>
            </a:r>
            <a:r>
              <a:rPr sz="2550" spc="30" dirty="0">
                <a:latin typeface="Garamond"/>
                <a:cs typeface="Garamond"/>
              </a:rPr>
              <a:t>=</a:t>
            </a:r>
            <a:r>
              <a:rPr sz="2550" spc="65" dirty="0">
                <a:latin typeface="Garamond"/>
                <a:cs typeface="Garamond"/>
              </a:rPr>
              <a:t> </a:t>
            </a:r>
            <a:r>
              <a:rPr sz="2550" spc="100" dirty="0">
                <a:latin typeface="Cambria"/>
                <a:cs typeface="Cambria"/>
              </a:rPr>
              <a:t>⟨</a:t>
            </a:r>
            <a:r>
              <a:rPr sz="2550" i="1" spc="-100" dirty="0">
                <a:latin typeface="Times New Roman"/>
                <a:cs typeface="Times New Roman"/>
              </a:rPr>
              <a:t>s</a:t>
            </a:r>
            <a:r>
              <a:rPr sz="2700" spc="75" baseline="-20061" dirty="0">
                <a:latin typeface="Garamond"/>
                <a:cs typeface="Garamond"/>
              </a:rPr>
              <a:t>1</a:t>
            </a:r>
            <a:r>
              <a:rPr sz="2550" spc="70" dirty="0">
                <a:latin typeface="Garamond"/>
                <a:cs typeface="Garamond"/>
              </a:rPr>
              <a:t>,</a:t>
            </a:r>
            <a:r>
              <a:rPr sz="2550" spc="-215" dirty="0">
                <a:latin typeface="Garamond"/>
                <a:cs typeface="Garamond"/>
              </a:rPr>
              <a:t> </a:t>
            </a:r>
            <a:r>
              <a:rPr sz="2550" spc="-30" dirty="0">
                <a:latin typeface="Garamond"/>
                <a:cs typeface="Garamond"/>
              </a:rPr>
              <a:t>…</a:t>
            </a:r>
            <a:r>
              <a:rPr sz="2550" spc="70" dirty="0">
                <a:latin typeface="Garamond"/>
                <a:cs typeface="Garamond"/>
              </a:rPr>
              <a:t>,</a:t>
            </a:r>
            <a:r>
              <a:rPr sz="2550" spc="-215" dirty="0">
                <a:latin typeface="Garamond"/>
                <a:cs typeface="Garamond"/>
              </a:rPr>
              <a:t> </a:t>
            </a:r>
            <a:r>
              <a:rPr sz="2550" i="1" spc="-100" dirty="0">
                <a:latin typeface="Times New Roman"/>
                <a:cs typeface="Times New Roman"/>
              </a:rPr>
              <a:t>s</a:t>
            </a:r>
            <a:r>
              <a:rPr sz="2700" i="1" baseline="-20061" dirty="0">
                <a:latin typeface="Times New Roman"/>
                <a:cs typeface="Times New Roman"/>
              </a:rPr>
              <a:t>n</a:t>
            </a:r>
            <a:r>
              <a:rPr sz="2550" spc="100" dirty="0">
                <a:latin typeface="Cambria"/>
                <a:cs typeface="Cambria"/>
              </a:rPr>
              <a:t>⟩</a:t>
            </a:r>
            <a:r>
              <a:rPr sz="2550" spc="125" dirty="0">
                <a:latin typeface="Garamond"/>
                <a:cs typeface="Garamond"/>
              </a:rPr>
              <a:t>$</a:t>
            </a:r>
            <a:r>
              <a:rPr sz="2550" spc="204" dirty="0">
                <a:latin typeface="Garamond"/>
                <a:cs typeface="Garamond"/>
              </a:rPr>
              <a:t> </a:t>
            </a:r>
            <a:r>
              <a:rPr sz="2550" spc="90" dirty="0">
                <a:latin typeface="Garamond"/>
                <a:cs typeface="Garamond"/>
              </a:rPr>
              <a:t>is</a:t>
            </a:r>
            <a:r>
              <a:rPr sz="2550" spc="204" dirty="0">
                <a:latin typeface="Garamond"/>
                <a:cs typeface="Garamond"/>
              </a:rPr>
              <a:t> </a:t>
            </a:r>
            <a:r>
              <a:rPr sz="2550" spc="90" dirty="0">
                <a:latin typeface="Garamond"/>
                <a:cs typeface="Garamond"/>
              </a:rPr>
              <a:t>a</a:t>
            </a:r>
            <a:r>
              <a:rPr sz="2550" spc="254" dirty="0">
                <a:latin typeface="Garamond"/>
                <a:cs typeface="Garamond"/>
              </a:rPr>
              <a:t> </a:t>
            </a:r>
            <a:r>
              <a:rPr sz="2550" spc="-190" dirty="0">
                <a:latin typeface="Garamond"/>
                <a:cs typeface="Garamond"/>
              </a:rPr>
              <a:t>N</a:t>
            </a:r>
            <a:r>
              <a:rPr sz="2550" spc="30" dirty="0">
                <a:latin typeface="Garamond"/>
                <a:cs typeface="Garamond"/>
              </a:rPr>
              <a:t>ash</a:t>
            </a:r>
            <a:r>
              <a:rPr sz="2550" spc="204" dirty="0">
                <a:latin typeface="Garamond"/>
                <a:cs typeface="Garamond"/>
              </a:rPr>
              <a:t> </a:t>
            </a:r>
            <a:r>
              <a:rPr sz="2550" spc="30" dirty="0">
                <a:latin typeface="Garamond"/>
                <a:cs typeface="Garamond"/>
              </a:rPr>
              <a:t>e</a:t>
            </a:r>
            <a:r>
              <a:rPr sz="2550" dirty="0">
                <a:latin typeface="Garamond"/>
                <a:cs typeface="Garamond"/>
              </a:rPr>
              <a:t>q</a:t>
            </a:r>
            <a:r>
              <a:rPr sz="2550" spc="60" dirty="0">
                <a:latin typeface="Garamond"/>
                <a:cs typeface="Garamond"/>
              </a:rPr>
              <a:t>uilib</a:t>
            </a:r>
            <a:r>
              <a:rPr sz="2550" spc="100" dirty="0">
                <a:latin typeface="Garamond"/>
                <a:cs typeface="Garamond"/>
              </a:rPr>
              <a:t>r</a:t>
            </a:r>
            <a:r>
              <a:rPr sz="2550" spc="50" dirty="0">
                <a:latin typeface="Garamond"/>
                <a:cs typeface="Garamond"/>
              </a:rPr>
              <a:t>ium</a:t>
            </a:r>
            <a:r>
              <a:rPr sz="2550" spc="260" dirty="0">
                <a:latin typeface="Garamond"/>
                <a:cs typeface="Garamond"/>
              </a:rPr>
              <a:t> </a:t>
            </a:r>
            <a:r>
              <a:rPr sz="2550" spc="120" dirty="0">
                <a:latin typeface="Garamond"/>
                <a:cs typeface="Garamond"/>
              </a:rPr>
              <a:t>i</a:t>
            </a:r>
            <a:r>
              <a:rPr sz="2550" spc="-20" dirty="0">
                <a:latin typeface="Cambria"/>
                <a:cs typeface="Cambria"/>
              </a:rPr>
              <a:t>ﬀ</a:t>
            </a:r>
            <a:r>
              <a:rPr sz="2550" dirty="0">
                <a:latin typeface="Cambria"/>
                <a:cs typeface="Cambria"/>
              </a:rPr>
              <a:t>	</a:t>
            </a:r>
            <a:r>
              <a:rPr sz="2550" spc="-55" dirty="0">
                <a:latin typeface="Cambria"/>
                <a:cs typeface="Cambria"/>
              </a:rPr>
              <a:t>∀</a:t>
            </a:r>
            <a:r>
              <a:rPr sz="2550" i="1" spc="-10" dirty="0">
                <a:latin typeface="Times New Roman"/>
                <a:cs typeface="Times New Roman"/>
              </a:rPr>
              <a:t>i</a:t>
            </a:r>
            <a:r>
              <a:rPr sz="2550" spc="70" dirty="0">
                <a:latin typeface="Garamond"/>
                <a:cs typeface="Garamond"/>
              </a:rPr>
              <a:t>,</a:t>
            </a:r>
            <a:r>
              <a:rPr sz="2550" spc="-215" dirty="0">
                <a:latin typeface="Garamond"/>
                <a:cs typeface="Garamond"/>
              </a:rPr>
              <a:t> </a:t>
            </a:r>
            <a:r>
              <a:rPr sz="2550" i="1" spc="-100" dirty="0">
                <a:latin typeface="Times New Roman"/>
                <a:cs typeface="Times New Roman"/>
              </a:rPr>
              <a:t>s</a:t>
            </a:r>
            <a:r>
              <a:rPr sz="2700" i="1" baseline="-20061" dirty="0">
                <a:latin typeface="Times New Roman"/>
                <a:cs typeface="Times New Roman"/>
              </a:rPr>
              <a:t>i </a:t>
            </a:r>
            <a:r>
              <a:rPr sz="2700" i="1" spc="-292" baseline="-20061" dirty="0">
                <a:latin typeface="Times New Roman"/>
                <a:cs typeface="Times New Roman"/>
              </a:rPr>
              <a:t> </a:t>
            </a:r>
            <a:r>
              <a:rPr sz="2550" spc="140" dirty="0">
                <a:latin typeface="Cambria"/>
                <a:cs typeface="Cambria"/>
              </a:rPr>
              <a:t>∈</a:t>
            </a:r>
            <a:r>
              <a:rPr sz="2550" spc="145" dirty="0">
                <a:latin typeface="Cambria"/>
                <a:cs typeface="Cambria"/>
              </a:rPr>
              <a:t> </a:t>
            </a:r>
            <a:r>
              <a:rPr sz="2550" i="1" spc="-20" dirty="0">
                <a:latin typeface="Times New Roman"/>
                <a:cs typeface="Times New Roman"/>
              </a:rPr>
              <a:t>BR</a:t>
            </a:r>
            <a:r>
              <a:rPr sz="2550" spc="95" dirty="0">
                <a:latin typeface="Garamond"/>
                <a:cs typeface="Garamond"/>
              </a:rPr>
              <a:t>(</a:t>
            </a:r>
            <a:r>
              <a:rPr sz="2550" i="1" spc="-100" dirty="0">
                <a:latin typeface="Times New Roman"/>
                <a:cs typeface="Times New Roman"/>
              </a:rPr>
              <a:t>s</a:t>
            </a:r>
            <a:r>
              <a:rPr sz="2700" spc="352" baseline="-20061" dirty="0">
                <a:latin typeface="Cambria"/>
                <a:cs typeface="Cambria"/>
              </a:rPr>
              <a:t>−</a:t>
            </a:r>
            <a:r>
              <a:rPr sz="2700" i="1" baseline="-20061" dirty="0">
                <a:latin typeface="Times New Roman"/>
                <a:cs typeface="Times New Roman"/>
              </a:rPr>
              <a:t>i</a:t>
            </a:r>
            <a:r>
              <a:rPr sz="2550" spc="95" dirty="0">
                <a:latin typeface="Garamond"/>
                <a:cs typeface="Garamond"/>
              </a:rPr>
              <a:t>)</a:t>
            </a:r>
            <a:endParaRPr sz="2550" dirty="0">
              <a:latin typeface="Garamond"/>
              <a:cs typeface="Garamond"/>
            </a:endParaRPr>
          </a:p>
        </p:txBody>
      </p:sp>
      <p:sp>
        <p:nvSpPr>
          <p:cNvPr id="7" name="Slide Number Placeholder 8">
            <a:extLst>
              <a:ext uri="{FF2B5EF4-FFF2-40B4-BE49-F238E27FC236}">
                <a16:creationId xmlns:a16="http://schemas.microsoft.com/office/drawing/2014/main" id="{22712902-411D-AC2A-26A2-D392E98A181B}"/>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27</a:t>
            </a:fld>
            <a:r>
              <a:rPr lang="en-US" sz="2000" dirty="0">
                <a:solidFill>
                  <a:prstClr val="black"/>
                </a:solidFill>
                <a:latin typeface="Comic Sans MS"/>
                <a:sym typeface="Comic Sans MS"/>
              </a:rPr>
              <a:t>/46</a:t>
            </a:r>
          </a:p>
        </p:txBody>
      </p:sp>
      <p:sp>
        <p:nvSpPr>
          <p:cNvPr id="8" name="Footer Placeholder 9">
            <a:extLst>
              <a:ext uri="{FF2B5EF4-FFF2-40B4-BE49-F238E27FC236}">
                <a16:creationId xmlns:a16="http://schemas.microsoft.com/office/drawing/2014/main" id="{7FA82D24-220A-88E4-0F71-FCFD394B68B2}"/>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8C7F77C5-5EC6-5B71-3C8D-0433165F2CAE}"/>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0" name="Rectangle 9">
            <a:extLst>
              <a:ext uri="{FF2B5EF4-FFF2-40B4-BE49-F238E27FC236}">
                <a16:creationId xmlns:a16="http://schemas.microsoft.com/office/drawing/2014/main" id="{3DBA1ACE-0758-4621-408E-1B22F92354E3}"/>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9873EA5C-5098-6755-EF41-216618311CC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19757" y="1214437"/>
            <a:ext cx="7063383" cy="2493970"/>
          </a:xfrm>
          <a:prstGeom prst="rect">
            <a:avLst/>
          </a:prstGeom>
          <a:blipFill>
            <a:blip r:embed="rId3" cstate="print"/>
            <a:stretch>
              <a:fillRect/>
            </a:stretch>
          </a:blipFill>
        </p:spPr>
        <p:txBody>
          <a:bodyPr wrap="square" lIns="0" tIns="0" rIns="0" bIns="0" rtlCol="0"/>
          <a:lstStyle/>
          <a:p>
            <a:endParaRPr/>
          </a:p>
        </p:txBody>
      </p:sp>
      <p:sp>
        <p:nvSpPr>
          <p:cNvPr id="3" name="object 3"/>
          <p:cNvSpPr/>
          <p:nvPr/>
        </p:nvSpPr>
        <p:spPr>
          <a:xfrm>
            <a:off x="932457" y="1227137"/>
            <a:ext cx="7088783" cy="2620970"/>
          </a:xfrm>
          <a:prstGeom prst="rect">
            <a:avLst/>
          </a:prstGeom>
          <a:blipFill>
            <a:blip r:embed="rId4" cstate="print"/>
            <a:stretch>
              <a:fillRect/>
            </a:stretch>
          </a:blipFill>
        </p:spPr>
        <p:txBody>
          <a:bodyPr wrap="square" lIns="0" tIns="0" rIns="0" bIns="0" rtlCol="0"/>
          <a:lstStyle/>
          <a:p>
            <a:endParaRPr/>
          </a:p>
        </p:txBody>
      </p:sp>
      <p:sp>
        <p:nvSpPr>
          <p:cNvPr id="4" name="object 4"/>
          <p:cNvSpPr txBox="1"/>
          <p:nvPr/>
        </p:nvSpPr>
        <p:spPr>
          <a:xfrm>
            <a:off x="501758" y="4375546"/>
            <a:ext cx="8349615" cy="1428750"/>
          </a:xfrm>
          <a:prstGeom prst="rect">
            <a:avLst/>
          </a:prstGeom>
          <a:solidFill>
            <a:srgbClr val="FFF76B"/>
          </a:solidFill>
          <a:ln w="3175">
            <a:solidFill>
              <a:srgbClr val="000000"/>
            </a:solidFill>
          </a:ln>
        </p:spPr>
        <p:txBody>
          <a:bodyPr vert="horz" wrap="square" lIns="0" tIns="0" rIns="0" bIns="0" rtlCol="0">
            <a:spAutoFit/>
          </a:bodyPr>
          <a:lstStyle/>
          <a:p>
            <a:pPr marL="180975" marR="173355" algn="ctr">
              <a:lnSpc>
                <a:spcPct val="101200"/>
              </a:lnSpc>
            </a:pPr>
            <a:r>
              <a:rPr sz="2800" spc="-50" dirty="0">
                <a:latin typeface="Arial"/>
                <a:cs typeface="Arial"/>
              </a:rPr>
              <a:t>Eve</a:t>
            </a:r>
            <a:r>
              <a:rPr sz="2800" spc="20" dirty="0">
                <a:latin typeface="Arial"/>
                <a:cs typeface="Arial"/>
              </a:rPr>
              <a:t>r</a:t>
            </a:r>
            <a:r>
              <a:rPr sz="2800" dirty="0">
                <a:latin typeface="Arial"/>
                <a:cs typeface="Arial"/>
              </a:rPr>
              <a:t>y </a:t>
            </a:r>
            <a:r>
              <a:rPr sz="2800" spc="35" dirty="0">
                <a:latin typeface="Arial"/>
                <a:cs typeface="Arial"/>
              </a:rPr>
              <a:t>game</a:t>
            </a:r>
            <a:r>
              <a:rPr sz="2800" dirty="0">
                <a:latin typeface="Arial"/>
                <a:cs typeface="Arial"/>
              </a:rPr>
              <a:t> with a finite </a:t>
            </a:r>
            <a:r>
              <a:rPr sz="2800" spc="15" dirty="0">
                <a:latin typeface="Arial"/>
                <a:cs typeface="Arial"/>
              </a:rPr>
              <a:t>number</a:t>
            </a:r>
            <a:r>
              <a:rPr sz="2800" dirty="0">
                <a:latin typeface="Arial"/>
                <a:cs typeface="Arial"/>
              </a:rPr>
              <a:t> of </a:t>
            </a:r>
            <a:r>
              <a:rPr sz="2800" spc="45" dirty="0">
                <a:latin typeface="Arial"/>
                <a:cs typeface="Arial"/>
              </a:rPr>
              <a:t>pu</a:t>
            </a:r>
            <a:r>
              <a:rPr sz="2800" spc="-30" dirty="0">
                <a:latin typeface="Arial"/>
                <a:cs typeface="Arial"/>
              </a:rPr>
              <a:t>r</a:t>
            </a:r>
            <a:r>
              <a:rPr sz="2800" dirty="0">
                <a:latin typeface="Arial"/>
                <a:cs typeface="Arial"/>
              </a:rPr>
              <a:t>e </a:t>
            </a:r>
            <a:r>
              <a:rPr sz="2800" spc="10" dirty="0">
                <a:latin typeface="Arial"/>
                <a:cs typeface="Arial"/>
              </a:rPr>
              <a:t>strategies</a:t>
            </a:r>
            <a:r>
              <a:rPr sz="2800" spc="5" dirty="0">
                <a:latin typeface="Arial"/>
                <a:cs typeface="Arial"/>
              </a:rPr>
              <a:t> </a:t>
            </a:r>
            <a:r>
              <a:rPr sz="2800" dirty="0">
                <a:latin typeface="Arial"/>
                <a:cs typeface="Arial"/>
              </a:rPr>
              <a:t>has at least one</a:t>
            </a:r>
          </a:p>
          <a:p>
            <a:pPr algn="ctr">
              <a:lnSpc>
                <a:spcPct val="100000"/>
              </a:lnSpc>
              <a:spcBef>
                <a:spcPts val="40"/>
              </a:spcBef>
            </a:pPr>
            <a:r>
              <a:rPr sz="2800" dirty="0">
                <a:latin typeface="Arial"/>
                <a:cs typeface="Arial"/>
              </a:rPr>
              <a:t>Nash </a:t>
            </a:r>
            <a:r>
              <a:rPr sz="2800" spc="10" dirty="0">
                <a:latin typeface="Arial"/>
                <a:cs typeface="Arial"/>
              </a:rPr>
              <a:t>Equilibrium in </a:t>
            </a:r>
            <a:r>
              <a:rPr sz="2800" spc="20" dirty="0">
                <a:latin typeface="Arial"/>
                <a:cs typeface="Arial"/>
              </a:rPr>
              <a:t>(possibly) </a:t>
            </a:r>
            <a:r>
              <a:rPr sz="2800" spc="25" dirty="0">
                <a:latin typeface="Arial"/>
                <a:cs typeface="Arial"/>
              </a:rPr>
              <a:t>mixed </a:t>
            </a:r>
            <a:r>
              <a:rPr sz="2800" spc="10" dirty="0">
                <a:latin typeface="Arial"/>
                <a:cs typeface="Arial"/>
              </a:rPr>
              <a:t>strategies.</a:t>
            </a:r>
            <a:endParaRPr sz="2800" dirty="0">
              <a:latin typeface="Arial"/>
              <a:cs typeface="Arial"/>
            </a:endParaRPr>
          </a:p>
        </p:txBody>
      </p:sp>
      <p:sp>
        <p:nvSpPr>
          <p:cNvPr id="5" name="Slide Number Placeholder 8">
            <a:extLst>
              <a:ext uri="{FF2B5EF4-FFF2-40B4-BE49-F238E27FC236}">
                <a16:creationId xmlns:a16="http://schemas.microsoft.com/office/drawing/2014/main" id="{F7569C7B-320F-A8FC-54DE-221A340013BE}"/>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28</a:t>
            </a:fld>
            <a:r>
              <a:rPr lang="en-US" sz="2000" dirty="0">
                <a:solidFill>
                  <a:prstClr val="black"/>
                </a:solidFill>
                <a:latin typeface="Comic Sans MS"/>
                <a:sym typeface="Comic Sans MS"/>
              </a:rPr>
              <a:t>/46</a:t>
            </a:r>
          </a:p>
        </p:txBody>
      </p:sp>
      <p:sp>
        <p:nvSpPr>
          <p:cNvPr id="6" name="Footer Placeholder 9">
            <a:extLst>
              <a:ext uri="{FF2B5EF4-FFF2-40B4-BE49-F238E27FC236}">
                <a16:creationId xmlns:a16="http://schemas.microsoft.com/office/drawing/2014/main" id="{74AD3A8F-E6D2-3EC6-5264-4DDF405B5F82}"/>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7" name="Rectangle 6">
            <a:extLst>
              <a:ext uri="{FF2B5EF4-FFF2-40B4-BE49-F238E27FC236}">
                <a16:creationId xmlns:a16="http://schemas.microsoft.com/office/drawing/2014/main" id="{FB808B8F-9DBF-34FD-8B6A-5637E984CD5E}"/>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8" name="Rectangle 7">
            <a:extLst>
              <a:ext uri="{FF2B5EF4-FFF2-40B4-BE49-F238E27FC236}">
                <a16:creationId xmlns:a16="http://schemas.microsoft.com/office/drawing/2014/main" id="{DB86B821-EAC8-459D-D3F2-E9E40DB154FB}"/>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B77749E6-0FCC-7E5B-C66A-2324A14DA350}"/>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F</a:t>
            </a:r>
            <a:r>
              <a:rPr dirty="0"/>
              <a:t>inding</a:t>
            </a:r>
            <a:r>
              <a:rPr spc="-5" dirty="0"/>
              <a:t> </a:t>
            </a:r>
            <a:r>
              <a:rPr dirty="0"/>
              <a:t>Nash</a:t>
            </a:r>
          </a:p>
        </p:txBody>
      </p:sp>
      <p:sp>
        <p:nvSpPr>
          <p:cNvPr id="6" name="Slide Number Placeholder 8">
            <a:extLst>
              <a:ext uri="{FF2B5EF4-FFF2-40B4-BE49-F238E27FC236}">
                <a16:creationId xmlns:a16="http://schemas.microsoft.com/office/drawing/2014/main" id="{D18D83CB-A361-99F2-D1D3-AF73725993EC}"/>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29</a:t>
            </a:fld>
            <a:r>
              <a:rPr lang="en-US" sz="2000" dirty="0">
                <a:solidFill>
                  <a:prstClr val="black"/>
                </a:solidFill>
                <a:latin typeface="Comic Sans MS"/>
                <a:sym typeface="Comic Sans MS"/>
              </a:rPr>
              <a:t>/46</a:t>
            </a:r>
          </a:p>
        </p:txBody>
      </p:sp>
      <p:sp>
        <p:nvSpPr>
          <p:cNvPr id="7" name="Footer Placeholder 9">
            <a:extLst>
              <a:ext uri="{FF2B5EF4-FFF2-40B4-BE49-F238E27FC236}">
                <a16:creationId xmlns:a16="http://schemas.microsoft.com/office/drawing/2014/main" id="{5D22419E-4846-2750-F05B-DA12218D7E53}"/>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8" name="Rectangle 7">
            <a:extLst>
              <a:ext uri="{FF2B5EF4-FFF2-40B4-BE49-F238E27FC236}">
                <a16:creationId xmlns:a16="http://schemas.microsoft.com/office/drawing/2014/main" id="{026208E8-8AED-BE40-3903-06CD121CD82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9" name="Rectangle 8">
            <a:extLst>
              <a:ext uri="{FF2B5EF4-FFF2-40B4-BE49-F238E27FC236}">
                <a16:creationId xmlns:a16="http://schemas.microsoft.com/office/drawing/2014/main" id="{051C063D-FBD2-6B76-BD7D-7758239D6550}"/>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069B95B1-EF97-C2DC-8FB7-8DDD2BDF0C3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F</a:t>
            </a:r>
            <a:r>
              <a:rPr dirty="0"/>
              <a:t>inding</a:t>
            </a:r>
            <a:r>
              <a:rPr spc="-5" dirty="0"/>
              <a:t> </a:t>
            </a:r>
            <a:r>
              <a:rPr dirty="0"/>
              <a:t>Nash</a:t>
            </a:r>
            <a:r>
              <a:rPr spc="-5" dirty="0"/>
              <a:t> </a:t>
            </a:r>
            <a:r>
              <a:rPr dirty="0"/>
              <a:t>(Example)</a:t>
            </a:r>
          </a:p>
        </p:txBody>
      </p:sp>
      <p:sp>
        <p:nvSpPr>
          <p:cNvPr id="7" name="object 7"/>
          <p:cNvSpPr txBox="1"/>
          <p:nvPr/>
        </p:nvSpPr>
        <p:spPr>
          <a:xfrm>
            <a:off x="528113" y="4033265"/>
            <a:ext cx="5263087" cy="1855829"/>
          </a:xfrm>
          <a:prstGeom prst="rect">
            <a:avLst/>
          </a:prstGeom>
        </p:spPr>
        <p:txBody>
          <a:bodyPr vert="horz" wrap="square" lIns="0" tIns="0" rIns="0" bIns="0" rtlCol="0">
            <a:spAutoFit/>
          </a:bodyPr>
          <a:lstStyle/>
          <a:p>
            <a:pPr marL="12700" marR="621665">
              <a:lnSpc>
                <a:spcPct val="100699"/>
              </a:lnSpc>
            </a:pPr>
            <a:r>
              <a:rPr sz="2400" spc="-15" dirty="0">
                <a:latin typeface="Times New Roman"/>
                <a:cs typeface="Times New Roman"/>
              </a:rPr>
              <a:t>Computing N</a:t>
            </a:r>
            <a:r>
              <a:rPr sz="2400" spc="-20" dirty="0">
                <a:latin typeface="Times New Roman"/>
                <a:cs typeface="Times New Roman"/>
              </a:rPr>
              <a:t>a</a:t>
            </a:r>
            <a:r>
              <a:rPr sz="2400" dirty="0">
                <a:latin typeface="Times New Roman"/>
                <a:cs typeface="Times New Roman"/>
              </a:rPr>
              <a:t>sh </a:t>
            </a:r>
            <a:r>
              <a:rPr sz="2400" spc="-20" dirty="0">
                <a:latin typeface="Times New Roman"/>
                <a:cs typeface="Times New Roman"/>
              </a:rPr>
              <a:t>e</a:t>
            </a:r>
            <a:r>
              <a:rPr sz="2400" spc="-10" dirty="0">
                <a:latin typeface="Times New Roman"/>
                <a:cs typeface="Times New Roman"/>
              </a:rPr>
              <a:t>quilibria</a:t>
            </a:r>
            <a:r>
              <a:rPr sz="2400" spc="-5" dirty="0">
                <a:latin typeface="Times New Roman"/>
                <a:cs typeface="Times New Roman"/>
              </a:rPr>
              <a:t> </a:t>
            </a:r>
            <a:r>
              <a:rPr sz="2400" spc="-10" dirty="0">
                <a:latin typeface="Times New Roman"/>
                <a:cs typeface="Times New Roman"/>
              </a:rPr>
              <a:t>i</a:t>
            </a:r>
            <a:r>
              <a:rPr sz="2400" dirty="0">
                <a:latin typeface="Times New Roman"/>
                <a:cs typeface="Times New Roman"/>
              </a:rPr>
              <a:t>s </a:t>
            </a:r>
            <a:r>
              <a:rPr sz="2400" spc="-20" dirty="0">
                <a:latin typeface="Times New Roman"/>
                <a:cs typeface="Times New Roman"/>
              </a:rPr>
              <a:t>ea</a:t>
            </a:r>
            <a:r>
              <a:rPr sz="2400" dirty="0">
                <a:latin typeface="Times New Roman"/>
                <a:cs typeface="Times New Roman"/>
              </a:rPr>
              <a:t>sy w</a:t>
            </a:r>
            <a:r>
              <a:rPr sz="2400" spc="-15" dirty="0">
                <a:latin typeface="Times New Roman"/>
                <a:cs typeface="Times New Roman"/>
              </a:rPr>
              <a:t>h</a:t>
            </a:r>
            <a:r>
              <a:rPr sz="2400" spc="-20" dirty="0">
                <a:latin typeface="Times New Roman"/>
                <a:cs typeface="Times New Roman"/>
              </a:rPr>
              <a:t>e</a:t>
            </a:r>
            <a:r>
              <a:rPr sz="2400" dirty="0">
                <a:latin typeface="Times New Roman"/>
                <a:cs typeface="Times New Roman"/>
              </a:rPr>
              <a:t>n you </a:t>
            </a:r>
            <a:r>
              <a:rPr sz="2400" spc="-20" dirty="0">
                <a:latin typeface="Times New Roman"/>
                <a:cs typeface="Times New Roman"/>
              </a:rPr>
              <a:t>ca</a:t>
            </a:r>
            <a:r>
              <a:rPr sz="2400" dirty="0">
                <a:latin typeface="Times New Roman"/>
                <a:cs typeface="Times New Roman"/>
              </a:rPr>
              <a:t>n </a:t>
            </a:r>
            <a:r>
              <a:rPr sz="2400" spc="-15" dirty="0">
                <a:latin typeface="Times New Roman"/>
                <a:cs typeface="Times New Roman"/>
              </a:rPr>
              <a:t>gu</a:t>
            </a:r>
            <a:r>
              <a:rPr sz="2400" spc="-20" dirty="0">
                <a:latin typeface="Times New Roman"/>
                <a:cs typeface="Times New Roman"/>
              </a:rPr>
              <a:t>e</a:t>
            </a:r>
            <a:r>
              <a:rPr sz="2400" dirty="0">
                <a:latin typeface="Times New Roman"/>
                <a:cs typeface="Times New Roman"/>
              </a:rPr>
              <a:t>ss </a:t>
            </a:r>
            <a:r>
              <a:rPr sz="2400" spc="-10" dirty="0">
                <a:latin typeface="Times New Roman"/>
                <a:cs typeface="Times New Roman"/>
              </a:rPr>
              <a:t>the</a:t>
            </a:r>
            <a:r>
              <a:rPr sz="2400" spc="-5" dirty="0">
                <a:latin typeface="Times New Roman"/>
                <a:cs typeface="Times New Roman"/>
              </a:rPr>
              <a:t> </a:t>
            </a:r>
            <a:r>
              <a:rPr sz="2400" dirty="0">
                <a:latin typeface="Times New Roman"/>
                <a:cs typeface="Times New Roman"/>
              </a:rPr>
              <a:t>s</a:t>
            </a:r>
            <a:r>
              <a:rPr sz="2400" spc="-15" dirty="0">
                <a:latin typeface="Times New Roman"/>
                <a:cs typeface="Times New Roman"/>
              </a:rPr>
              <a:t>upport</a:t>
            </a:r>
            <a:endParaRPr sz="2400" dirty="0">
              <a:latin typeface="Times New Roman"/>
              <a:cs typeface="Times New Roman"/>
            </a:endParaRPr>
          </a:p>
          <a:p>
            <a:pPr>
              <a:lnSpc>
                <a:spcPct val="100000"/>
              </a:lnSpc>
              <a:spcBef>
                <a:spcPts val="25"/>
              </a:spcBef>
            </a:pPr>
            <a:endParaRPr sz="2500" dirty="0">
              <a:latin typeface="Times New Roman"/>
              <a:cs typeface="Times New Roman"/>
            </a:endParaRPr>
          </a:p>
          <a:p>
            <a:pPr marL="12700" marR="5080">
              <a:lnSpc>
                <a:spcPct val="100699"/>
              </a:lnSpc>
            </a:pPr>
            <a:r>
              <a:rPr sz="2400" dirty="0">
                <a:latin typeface="Times New Roman"/>
                <a:cs typeface="Times New Roman"/>
              </a:rPr>
              <a:t>For BoS, </a:t>
            </a:r>
            <a:r>
              <a:rPr sz="2400" spc="-10" dirty="0">
                <a:latin typeface="Times New Roman"/>
                <a:cs typeface="Times New Roman"/>
              </a:rPr>
              <a:t>l</a:t>
            </a:r>
            <a:r>
              <a:rPr sz="2400" spc="-20" dirty="0">
                <a:latin typeface="Times New Roman"/>
                <a:cs typeface="Times New Roman"/>
              </a:rPr>
              <a:t>e</a:t>
            </a:r>
            <a:r>
              <a:rPr sz="2400" spc="-10" dirty="0">
                <a:latin typeface="Times New Roman"/>
                <a:cs typeface="Times New Roman"/>
              </a:rPr>
              <a:t>t</a:t>
            </a:r>
            <a:r>
              <a:rPr sz="2400" spc="-135" dirty="0">
                <a:latin typeface="Times New Roman"/>
                <a:cs typeface="Times New Roman"/>
              </a:rPr>
              <a:t>’</a:t>
            </a:r>
            <a:r>
              <a:rPr sz="2400" dirty="0">
                <a:latin typeface="Times New Roman"/>
                <a:cs typeface="Times New Roman"/>
              </a:rPr>
              <a:t>s </a:t>
            </a:r>
            <a:r>
              <a:rPr sz="2400" spc="-10" dirty="0">
                <a:latin typeface="Times New Roman"/>
                <a:cs typeface="Times New Roman"/>
              </a:rPr>
              <a:t>l</a:t>
            </a:r>
            <a:r>
              <a:rPr sz="2400" dirty="0">
                <a:latin typeface="Times New Roman"/>
                <a:cs typeface="Times New Roman"/>
              </a:rPr>
              <a:t>ook for </a:t>
            </a:r>
            <a:r>
              <a:rPr sz="2400" spc="-20" dirty="0">
                <a:latin typeface="Times New Roman"/>
                <a:cs typeface="Times New Roman"/>
              </a:rPr>
              <a:t>a</a:t>
            </a:r>
            <a:r>
              <a:rPr sz="2400" dirty="0">
                <a:latin typeface="Times New Roman"/>
                <a:cs typeface="Times New Roman"/>
              </a:rPr>
              <a:t>n </a:t>
            </a:r>
            <a:r>
              <a:rPr sz="2400" spc="-20" dirty="0">
                <a:latin typeface="Times New Roman"/>
                <a:cs typeface="Times New Roman"/>
              </a:rPr>
              <a:t>e</a:t>
            </a:r>
            <a:r>
              <a:rPr sz="2400" spc="-15" dirty="0">
                <a:latin typeface="Times New Roman"/>
                <a:cs typeface="Times New Roman"/>
              </a:rPr>
              <a:t>quilibrium</a:t>
            </a:r>
            <a:r>
              <a:rPr sz="2400" spc="-10" dirty="0">
                <a:latin typeface="Times New Roman"/>
                <a:cs typeface="Times New Roman"/>
              </a:rPr>
              <a:t> </a:t>
            </a:r>
            <a:r>
              <a:rPr sz="2400" dirty="0">
                <a:latin typeface="Times New Roman"/>
                <a:cs typeface="Times New Roman"/>
              </a:rPr>
              <a:t>w</a:t>
            </a:r>
            <a:r>
              <a:rPr sz="2400" spc="-15" dirty="0">
                <a:latin typeface="Times New Roman"/>
                <a:cs typeface="Times New Roman"/>
              </a:rPr>
              <a:t>h</a:t>
            </a:r>
            <a:r>
              <a:rPr sz="2400" spc="-20" dirty="0">
                <a:latin typeface="Times New Roman"/>
                <a:cs typeface="Times New Roman"/>
              </a:rPr>
              <a:t>e</a:t>
            </a:r>
            <a:r>
              <a:rPr sz="2400" spc="-10" dirty="0">
                <a:latin typeface="Times New Roman"/>
                <a:cs typeface="Times New Roman"/>
              </a:rPr>
              <a:t>re</a:t>
            </a:r>
            <a:r>
              <a:rPr sz="2400" spc="-5" dirty="0">
                <a:latin typeface="Times New Roman"/>
                <a:cs typeface="Times New Roman"/>
              </a:rPr>
              <a:t> </a:t>
            </a:r>
            <a:r>
              <a:rPr sz="2400" spc="-20" dirty="0">
                <a:latin typeface="Times New Roman"/>
                <a:cs typeface="Times New Roman"/>
              </a:rPr>
              <a:t>a</a:t>
            </a:r>
            <a:r>
              <a:rPr sz="2400" spc="-10" dirty="0">
                <a:latin typeface="Times New Roman"/>
                <a:cs typeface="Times New Roman"/>
              </a:rPr>
              <a:t>ll</a:t>
            </a:r>
            <a:r>
              <a:rPr sz="2400" dirty="0">
                <a:latin typeface="Times New Roman"/>
                <a:cs typeface="Times New Roman"/>
              </a:rPr>
              <a:t> </a:t>
            </a:r>
            <a:r>
              <a:rPr sz="2400" spc="-20" dirty="0">
                <a:latin typeface="Times New Roman"/>
                <a:cs typeface="Times New Roman"/>
              </a:rPr>
              <a:t>ac</a:t>
            </a:r>
            <a:r>
              <a:rPr sz="2400" spc="-10" dirty="0">
                <a:latin typeface="Times New Roman"/>
                <a:cs typeface="Times New Roman"/>
              </a:rPr>
              <a:t>ti</a:t>
            </a:r>
            <a:r>
              <a:rPr sz="2400" dirty="0">
                <a:latin typeface="Times New Roman"/>
                <a:cs typeface="Times New Roman"/>
              </a:rPr>
              <a:t>ons </a:t>
            </a:r>
            <a:r>
              <a:rPr sz="2400" spc="-20" dirty="0">
                <a:latin typeface="Times New Roman"/>
                <a:cs typeface="Times New Roman"/>
              </a:rPr>
              <a:t>a</a:t>
            </a:r>
            <a:r>
              <a:rPr sz="2400" spc="-10" dirty="0">
                <a:latin typeface="Times New Roman"/>
                <a:cs typeface="Times New Roman"/>
              </a:rPr>
              <a:t>re</a:t>
            </a:r>
            <a:r>
              <a:rPr sz="2400" spc="-5" dirty="0">
                <a:latin typeface="Times New Roman"/>
                <a:cs typeface="Times New Roman"/>
              </a:rPr>
              <a:t> </a:t>
            </a:r>
            <a:r>
              <a:rPr sz="2400" spc="-15" dirty="0">
                <a:latin typeface="Times New Roman"/>
                <a:cs typeface="Times New Roman"/>
              </a:rPr>
              <a:t>p</a:t>
            </a:r>
            <a:r>
              <a:rPr sz="2400" spc="-20" dirty="0">
                <a:latin typeface="Times New Roman"/>
                <a:cs typeface="Times New Roman"/>
              </a:rPr>
              <a:t>a</a:t>
            </a:r>
            <a:r>
              <a:rPr sz="2400" spc="-10" dirty="0">
                <a:latin typeface="Times New Roman"/>
                <a:cs typeface="Times New Roman"/>
              </a:rPr>
              <a:t>rt</a:t>
            </a:r>
            <a:r>
              <a:rPr sz="2400" dirty="0">
                <a:latin typeface="Times New Roman"/>
                <a:cs typeface="Times New Roman"/>
              </a:rPr>
              <a:t> of </a:t>
            </a:r>
            <a:r>
              <a:rPr sz="2400" spc="-10" dirty="0">
                <a:latin typeface="Times New Roman"/>
                <a:cs typeface="Times New Roman"/>
              </a:rPr>
              <a:t>the</a:t>
            </a:r>
            <a:r>
              <a:rPr sz="2400" spc="-5" dirty="0">
                <a:latin typeface="Times New Roman"/>
                <a:cs typeface="Times New Roman"/>
              </a:rPr>
              <a:t> </a:t>
            </a:r>
            <a:r>
              <a:rPr sz="2400" b="1" dirty="0">
                <a:latin typeface="Times New Roman"/>
                <a:cs typeface="Times New Roman"/>
              </a:rPr>
              <a:t>s</a:t>
            </a:r>
            <a:r>
              <a:rPr sz="2400" b="1" spc="-15" dirty="0">
                <a:latin typeface="Times New Roman"/>
                <a:cs typeface="Times New Roman"/>
              </a:rPr>
              <a:t>upport</a:t>
            </a:r>
            <a:endParaRPr sz="2400" b="1" dirty="0">
              <a:latin typeface="Times New Roman"/>
              <a:cs typeface="Times New Roman"/>
            </a:endParaRPr>
          </a:p>
        </p:txBody>
      </p:sp>
      <p:graphicFrame>
        <p:nvGraphicFramePr>
          <p:cNvPr id="8" name="object 8"/>
          <p:cNvGraphicFramePr>
            <a:graphicFrameLocks noGrp="1"/>
          </p:cNvGraphicFramePr>
          <p:nvPr>
            <p:extLst>
              <p:ext uri="{D42A27DB-BD31-4B8C-83A1-F6EECF244321}">
                <p14:modId xmlns:p14="http://schemas.microsoft.com/office/powerpoint/2010/main" val="4151228399"/>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314960">
                        <a:lnSpc>
                          <a:spcPct val="100000"/>
                        </a:lnSpc>
                      </a:pPr>
                      <a:r>
                        <a:rPr sz="1800" i="1" spc="-20" dirty="0">
                          <a:latin typeface="Meiryo"/>
                          <a:cs typeface="Meiryo"/>
                        </a:rPr>
                        <a:t>2</a:t>
                      </a:r>
                      <a:r>
                        <a:rPr sz="1800" i="1" dirty="0">
                          <a:latin typeface="Meiryo"/>
                          <a:cs typeface="Meiryo"/>
                        </a:rPr>
                        <a:t>,</a:t>
                      </a:r>
                      <a:r>
                        <a:rPr sz="1800" i="1" spc="-40" dirty="0">
                          <a:latin typeface="Meiryo"/>
                          <a:cs typeface="Meiryo"/>
                        </a:rPr>
                        <a:t> </a:t>
                      </a:r>
                      <a:r>
                        <a:rPr sz="1800" i="1" dirty="0">
                          <a:latin typeface="Meiryo"/>
                          <a:cs typeface="Meiryo"/>
                        </a:rPr>
                        <a:t>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14960">
                        <a:lnSpc>
                          <a:spcPct val="100000"/>
                        </a:lnSpc>
                      </a:pPr>
                      <a:r>
                        <a:rPr sz="1800" i="1" spc="-20" dirty="0">
                          <a:latin typeface="Meiryo"/>
                          <a:cs typeface="Meiryo"/>
                        </a:rPr>
                        <a:t>1</a:t>
                      </a:r>
                      <a:r>
                        <a:rPr sz="1800" i="1" dirty="0">
                          <a:latin typeface="Meiryo"/>
                          <a:cs typeface="Meiryo"/>
                        </a:rPr>
                        <a:t>,</a:t>
                      </a:r>
                      <a:r>
                        <a:rPr sz="1800" i="1" spc="-40" dirty="0">
                          <a:latin typeface="Meiryo"/>
                          <a:cs typeface="Meiryo"/>
                        </a:rPr>
                        <a:t> </a:t>
                      </a:r>
                      <a:r>
                        <a:rPr sz="1800" i="1" dirty="0">
                          <a:latin typeface="Meiryo"/>
                          <a:cs typeface="Meiryo"/>
                        </a:rPr>
                        <a:t>2</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0" name="TextBox 9">
            <a:extLst>
              <a:ext uri="{FF2B5EF4-FFF2-40B4-BE49-F238E27FC236}">
                <a16:creationId xmlns:a16="http://schemas.microsoft.com/office/drawing/2014/main" id="{D9AD0FA1-FB1A-D83D-37DA-DF60CD3169EC}"/>
              </a:ext>
            </a:extLst>
          </p:cNvPr>
          <p:cNvSpPr txBox="1"/>
          <p:nvPr/>
        </p:nvSpPr>
        <p:spPr>
          <a:xfrm>
            <a:off x="124515" y="1633588"/>
            <a:ext cx="3228285" cy="615553"/>
          </a:xfrm>
          <a:prstGeom prst="rect">
            <a:avLst/>
          </a:prstGeom>
          <a:noFill/>
        </p:spPr>
        <p:txBody>
          <a:bodyPr wrap="square">
            <a:spAutoFit/>
          </a:bodyPr>
          <a:lstStyle/>
          <a:p>
            <a:pPr marL="35560" marR="485140">
              <a:spcBef>
                <a:spcPts val="1814"/>
              </a:spcBef>
            </a:pPr>
            <a:r>
              <a:rPr lang="en-US" sz="3400" dirty="0">
                <a:latin typeface="Calibri"/>
                <a:cs typeface="Calibri"/>
              </a:rPr>
              <a:t>	B         F </a:t>
            </a:r>
          </a:p>
        </p:txBody>
      </p:sp>
      <p:sp>
        <p:nvSpPr>
          <p:cNvPr id="12" name="TextBox 11">
            <a:extLst>
              <a:ext uri="{FF2B5EF4-FFF2-40B4-BE49-F238E27FC236}">
                <a16:creationId xmlns:a16="http://schemas.microsoft.com/office/drawing/2014/main" id="{4768202D-8A42-C722-5C23-09CCB4165640}"/>
              </a:ext>
            </a:extLst>
          </p:cNvPr>
          <p:cNvSpPr txBox="1"/>
          <p:nvPr/>
        </p:nvSpPr>
        <p:spPr>
          <a:xfrm>
            <a:off x="195151" y="2294861"/>
            <a:ext cx="534146" cy="1369606"/>
          </a:xfrm>
          <a:prstGeom prst="rect">
            <a:avLst/>
          </a:prstGeom>
        </p:spPr>
        <p:txBody>
          <a:bodyPr wrap="square">
            <a:spAutoFit/>
          </a:bodyPr>
          <a:lstStyle/>
          <a:p>
            <a:pPr marL="35560" indent="-18415">
              <a:spcBef>
                <a:spcPts val="1814"/>
              </a:spcBef>
            </a:pPr>
            <a:r>
              <a:rPr lang="en-US" sz="3400" dirty="0">
                <a:latin typeface="Calibri"/>
                <a:cs typeface="Calibri"/>
              </a:rPr>
              <a:t>B</a:t>
            </a:r>
          </a:p>
          <a:p>
            <a:pPr marL="35560">
              <a:spcBef>
                <a:spcPts val="1814"/>
              </a:spcBef>
            </a:pPr>
            <a:r>
              <a:rPr lang="en-US" sz="3400" dirty="0">
                <a:latin typeface="Calibri"/>
                <a:cs typeface="Calibri"/>
              </a:rPr>
              <a:t>F</a:t>
            </a:r>
          </a:p>
        </p:txBody>
      </p:sp>
      <p:sp>
        <p:nvSpPr>
          <p:cNvPr id="13" name="Slide Number Placeholder 8">
            <a:extLst>
              <a:ext uri="{FF2B5EF4-FFF2-40B4-BE49-F238E27FC236}">
                <a16:creationId xmlns:a16="http://schemas.microsoft.com/office/drawing/2014/main" id="{5E469D00-BD60-09D1-9F2F-38BDCE049B85}"/>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30</a:t>
            </a:fld>
            <a:r>
              <a:rPr lang="en-US" sz="2000" dirty="0">
                <a:solidFill>
                  <a:prstClr val="black"/>
                </a:solidFill>
                <a:latin typeface="Comic Sans MS"/>
                <a:sym typeface="Comic Sans MS"/>
              </a:rPr>
              <a:t>/46</a:t>
            </a:r>
          </a:p>
        </p:txBody>
      </p:sp>
      <p:sp>
        <p:nvSpPr>
          <p:cNvPr id="14" name="Footer Placeholder 9">
            <a:extLst>
              <a:ext uri="{FF2B5EF4-FFF2-40B4-BE49-F238E27FC236}">
                <a16:creationId xmlns:a16="http://schemas.microsoft.com/office/drawing/2014/main" id="{6ED212C2-87E7-035D-31EE-E39556D6BB50}"/>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5" name="Rectangle 14">
            <a:extLst>
              <a:ext uri="{FF2B5EF4-FFF2-40B4-BE49-F238E27FC236}">
                <a16:creationId xmlns:a16="http://schemas.microsoft.com/office/drawing/2014/main" id="{44130B34-42D5-726B-3B6F-9182548EA973}"/>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6" name="Rectangle 15">
            <a:extLst>
              <a:ext uri="{FF2B5EF4-FFF2-40B4-BE49-F238E27FC236}">
                <a16:creationId xmlns:a16="http://schemas.microsoft.com/office/drawing/2014/main" id="{C4BA5954-66BC-C94D-88A6-C870931CD3A9}"/>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58418266-417C-AC80-437F-37FF312AA11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D294CF1C-57A6-2D3F-8EAE-7058873B87D9}"/>
              </a:ext>
            </a:extLst>
          </p:cNvPr>
          <p:cNvSpPr txBox="1"/>
          <p:nvPr/>
        </p:nvSpPr>
        <p:spPr>
          <a:xfrm>
            <a:off x="5058839" y="2210933"/>
            <a:ext cx="3456511" cy="1200329"/>
          </a:xfrm>
          <a:prstGeom prst="rect">
            <a:avLst/>
          </a:prstGeom>
          <a:noFill/>
        </p:spPr>
        <p:txBody>
          <a:bodyPr wrap="square">
            <a:spAutoFit/>
          </a:bodyPr>
          <a:lstStyle/>
          <a:p>
            <a:r>
              <a:rPr lang="en-US" b="0" i="0" dirty="0">
                <a:effectLst/>
                <a:latin typeface="Söhne"/>
              </a:rPr>
              <a:t>The "support" refers to the set of strategies within a player's mixed strategy that have non-zero probabilities of being chosen. </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F</a:t>
            </a:r>
            <a:r>
              <a:rPr dirty="0"/>
              <a:t>inding</a:t>
            </a:r>
            <a:r>
              <a:rPr spc="-5" dirty="0"/>
              <a:t> </a:t>
            </a:r>
            <a:r>
              <a:rPr dirty="0"/>
              <a:t>Nash</a:t>
            </a:r>
            <a:r>
              <a:rPr spc="-5" dirty="0"/>
              <a:t> </a:t>
            </a:r>
            <a:r>
              <a:rPr dirty="0"/>
              <a:t>(Example)</a:t>
            </a:r>
          </a:p>
        </p:txBody>
      </p:sp>
      <p:graphicFrame>
        <p:nvGraphicFramePr>
          <p:cNvPr id="8" name="object 8"/>
          <p:cNvGraphicFramePr>
            <a:graphicFrameLocks noGrp="1"/>
          </p:cNvGraphicFramePr>
          <p:nvPr>
            <p:extLst>
              <p:ext uri="{D42A27DB-BD31-4B8C-83A1-F6EECF244321}">
                <p14:modId xmlns:p14="http://schemas.microsoft.com/office/powerpoint/2010/main" val="1418453798"/>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314960">
                        <a:lnSpc>
                          <a:spcPct val="100000"/>
                        </a:lnSpc>
                      </a:pPr>
                      <a:r>
                        <a:rPr sz="1800" i="1" spc="-20" dirty="0">
                          <a:solidFill>
                            <a:srgbClr val="FF0000"/>
                          </a:solidFill>
                          <a:latin typeface="Meiryo"/>
                          <a:cs typeface="Meiryo"/>
                        </a:rPr>
                        <a:t>2</a:t>
                      </a:r>
                      <a:r>
                        <a:rPr sz="1800" i="1" dirty="0">
                          <a:latin typeface="Meiryo"/>
                          <a:cs typeface="Meiryo"/>
                        </a:rPr>
                        <a:t>,</a:t>
                      </a:r>
                      <a:r>
                        <a:rPr sz="1800" i="1" spc="-40" dirty="0">
                          <a:latin typeface="Meiryo"/>
                          <a:cs typeface="Meiryo"/>
                        </a:rPr>
                        <a:t> </a:t>
                      </a:r>
                      <a:r>
                        <a:rPr sz="1800" i="1"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39090">
                        <a:lnSpc>
                          <a:spcPct val="100000"/>
                        </a:lnSpc>
                      </a:pPr>
                      <a:r>
                        <a:rPr sz="1800" i="1" spc="-20" dirty="0">
                          <a:solidFill>
                            <a:srgbClr val="00B050"/>
                          </a:solidFill>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39090">
                        <a:lnSpc>
                          <a:spcPct val="100000"/>
                        </a:lnSpc>
                      </a:pPr>
                      <a:r>
                        <a:rPr sz="1800" i="1" spc="-20" dirty="0">
                          <a:solidFill>
                            <a:srgbClr val="0000FF"/>
                          </a:solidFill>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14960">
                        <a:lnSpc>
                          <a:spcPct val="100000"/>
                        </a:lnSpc>
                      </a:pPr>
                      <a:r>
                        <a:rPr sz="1800" i="1" spc="-20" dirty="0">
                          <a:solidFill>
                            <a:srgbClr val="7030A0"/>
                          </a:solidFill>
                          <a:latin typeface="Meiryo"/>
                          <a:cs typeface="Meiryo"/>
                        </a:rPr>
                        <a:t>1</a:t>
                      </a:r>
                      <a:r>
                        <a:rPr sz="1800" i="1" dirty="0">
                          <a:latin typeface="Meiryo"/>
                          <a:cs typeface="Meiryo"/>
                        </a:rPr>
                        <a:t>,</a:t>
                      </a:r>
                      <a:r>
                        <a:rPr sz="1800" i="1" spc="-40" dirty="0">
                          <a:latin typeface="Meiryo"/>
                          <a:cs typeface="Meiryo"/>
                        </a:rPr>
                        <a:t> </a:t>
                      </a:r>
                      <a:r>
                        <a:rPr sz="1800" i="1" dirty="0">
                          <a:latin typeface="Meiryo"/>
                          <a:cs typeface="Meiryo"/>
                        </a:rPr>
                        <a:t>2</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0" name="TextBox 9">
            <a:extLst>
              <a:ext uri="{FF2B5EF4-FFF2-40B4-BE49-F238E27FC236}">
                <a16:creationId xmlns:a16="http://schemas.microsoft.com/office/drawing/2014/main" id="{D9AD0FA1-FB1A-D83D-37DA-DF60CD3169EC}"/>
              </a:ext>
            </a:extLst>
          </p:cNvPr>
          <p:cNvSpPr txBox="1"/>
          <p:nvPr/>
        </p:nvSpPr>
        <p:spPr>
          <a:xfrm>
            <a:off x="124515" y="1633588"/>
            <a:ext cx="3228285" cy="615553"/>
          </a:xfrm>
          <a:prstGeom prst="rect">
            <a:avLst/>
          </a:prstGeom>
          <a:noFill/>
        </p:spPr>
        <p:txBody>
          <a:bodyPr wrap="square">
            <a:spAutoFit/>
          </a:bodyPr>
          <a:lstStyle/>
          <a:p>
            <a:pPr marL="35560" marR="485140">
              <a:spcBef>
                <a:spcPts val="1814"/>
              </a:spcBef>
            </a:pPr>
            <a:r>
              <a:rPr lang="en-US" sz="3400" dirty="0">
                <a:latin typeface="Calibri"/>
                <a:cs typeface="Calibri"/>
              </a:rPr>
              <a:t>	B         F </a:t>
            </a:r>
          </a:p>
        </p:txBody>
      </p:sp>
      <p:sp>
        <p:nvSpPr>
          <p:cNvPr id="12" name="TextBox 11">
            <a:extLst>
              <a:ext uri="{FF2B5EF4-FFF2-40B4-BE49-F238E27FC236}">
                <a16:creationId xmlns:a16="http://schemas.microsoft.com/office/drawing/2014/main" id="{4768202D-8A42-C722-5C23-09CCB4165640}"/>
              </a:ext>
            </a:extLst>
          </p:cNvPr>
          <p:cNvSpPr txBox="1"/>
          <p:nvPr/>
        </p:nvSpPr>
        <p:spPr>
          <a:xfrm>
            <a:off x="195151" y="2294861"/>
            <a:ext cx="534146" cy="1369606"/>
          </a:xfrm>
          <a:prstGeom prst="rect">
            <a:avLst/>
          </a:prstGeom>
        </p:spPr>
        <p:txBody>
          <a:bodyPr wrap="square">
            <a:spAutoFit/>
          </a:bodyPr>
          <a:lstStyle/>
          <a:p>
            <a:pPr marL="35560" indent="-18415">
              <a:spcBef>
                <a:spcPts val="1814"/>
              </a:spcBef>
            </a:pPr>
            <a:r>
              <a:rPr lang="en-US" sz="3400" dirty="0">
                <a:latin typeface="Calibri"/>
                <a:cs typeface="Calibri"/>
              </a:rPr>
              <a:t>B</a:t>
            </a:r>
          </a:p>
          <a:p>
            <a:pPr marL="35560">
              <a:spcBef>
                <a:spcPts val="1814"/>
              </a:spcBef>
            </a:pPr>
            <a:r>
              <a:rPr lang="en-US" sz="3400" dirty="0">
                <a:latin typeface="Calibri"/>
                <a:cs typeface="Calibri"/>
              </a:rPr>
              <a:t>F</a:t>
            </a:r>
          </a:p>
        </p:txBody>
      </p:sp>
      <p:sp>
        <p:nvSpPr>
          <p:cNvPr id="9" name="object 7">
            <a:extLst>
              <a:ext uri="{FF2B5EF4-FFF2-40B4-BE49-F238E27FC236}">
                <a16:creationId xmlns:a16="http://schemas.microsoft.com/office/drawing/2014/main" id="{4E28A04B-8AB2-2EA1-AD59-0826AA18ACAD}"/>
              </a:ext>
            </a:extLst>
          </p:cNvPr>
          <p:cNvSpPr txBox="1"/>
          <p:nvPr/>
        </p:nvSpPr>
        <p:spPr>
          <a:xfrm>
            <a:off x="315255" y="4343400"/>
            <a:ext cx="7400925" cy="1492716"/>
          </a:xfrm>
          <a:prstGeom prst="rect">
            <a:avLst/>
          </a:prstGeom>
        </p:spPr>
        <p:txBody>
          <a:bodyPr vert="horz" wrap="square" lIns="0" tIns="0" rIns="0" bIns="0" rtlCol="0">
            <a:spAutoFit/>
          </a:bodyPr>
          <a:lstStyle/>
          <a:p>
            <a:pPr marL="12700">
              <a:lnSpc>
                <a:spcPct val="100000"/>
              </a:lnSpc>
            </a:pPr>
            <a:r>
              <a:rPr sz="2400" spc="-15" dirty="0">
                <a:latin typeface="Times New Roman"/>
                <a:cs typeface="Times New Roman"/>
              </a:rPr>
              <a:t>L</a:t>
            </a:r>
            <a:r>
              <a:rPr sz="2400" spc="-20" dirty="0">
                <a:latin typeface="Times New Roman"/>
                <a:cs typeface="Times New Roman"/>
              </a:rPr>
              <a:t>e</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r 2</a:t>
            </a:r>
            <a:r>
              <a:rPr lang="en-US" sz="2400" dirty="0">
                <a:latin typeface="Times New Roman"/>
                <a:cs typeface="Times New Roman"/>
              </a:rPr>
              <a:t> (column)</a:t>
            </a:r>
            <a:r>
              <a:rPr sz="2400" dirty="0">
                <a:latin typeface="Times New Roman"/>
                <a:cs typeface="Times New Roman"/>
              </a:rPr>
              <a:t> </a:t>
            </a:r>
            <a:r>
              <a:rPr sz="2400" spc="-10" dirty="0">
                <a:latin typeface="Times New Roman"/>
                <a:cs typeface="Times New Roman"/>
              </a:rPr>
              <a:t>pl</a:t>
            </a:r>
            <a:r>
              <a:rPr sz="2400" spc="-20" dirty="0">
                <a:latin typeface="Times New Roman"/>
                <a:cs typeface="Times New Roman"/>
              </a:rPr>
              <a:t>a</a:t>
            </a:r>
            <a:r>
              <a:rPr sz="2400" dirty="0">
                <a:latin typeface="Times New Roman"/>
                <a:cs typeface="Times New Roman"/>
              </a:rPr>
              <a:t>y </a:t>
            </a:r>
            <a:r>
              <a:rPr sz="2400" spc="-20" dirty="0">
                <a:latin typeface="Times New Roman"/>
                <a:cs typeface="Times New Roman"/>
              </a:rPr>
              <a:t>B</a:t>
            </a:r>
            <a:r>
              <a:rPr sz="2400" dirty="0">
                <a:latin typeface="Times New Roman"/>
                <a:cs typeface="Times New Roman"/>
              </a:rPr>
              <a:t> w</a:t>
            </a:r>
            <a:r>
              <a:rPr sz="2400" spc="-10" dirty="0">
                <a:latin typeface="Times New Roman"/>
                <a:cs typeface="Times New Roman"/>
              </a:rPr>
              <a:t>it</a:t>
            </a:r>
            <a:r>
              <a:rPr sz="2400" dirty="0">
                <a:latin typeface="Times New Roman"/>
                <a:cs typeface="Times New Roman"/>
              </a:rPr>
              <a:t>h p, F w</a:t>
            </a:r>
            <a:r>
              <a:rPr sz="2400" spc="-10" dirty="0">
                <a:latin typeface="Times New Roman"/>
                <a:cs typeface="Times New Roman"/>
              </a:rPr>
              <a:t>it</a:t>
            </a:r>
            <a:r>
              <a:rPr sz="2400" dirty="0">
                <a:latin typeface="Times New Roman"/>
                <a:cs typeface="Times New Roman"/>
              </a:rPr>
              <a:t>h 1 </a:t>
            </a:r>
            <a:r>
              <a:rPr sz="2400" spc="-15" dirty="0">
                <a:latin typeface="Times New Roman"/>
                <a:cs typeface="Times New Roman"/>
              </a:rPr>
              <a:t>−</a:t>
            </a:r>
            <a:r>
              <a:rPr sz="2400" dirty="0">
                <a:latin typeface="Times New Roman"/>
                <a:cs typeface="Times New Roman"/>
              </a:rPr>
              <a:t> p.</a:t>
            </a:r>
          </a:p>
          <a:p>
            <a:pPr>
              <a:lnSpc>
                <a:spcPct val="100000"/>
              </a:lnSpc>
              <a:spcBef>
                <a:spcPts val="45"/>
              </a:spcBef>
            </a:pPr>
            <a:endParaRPr sz="2500" dirty="0">
              <a:latin typeface="Times New Roman"/>
              <a:cs typeface="Times New Roman"/>
            </a:endParaRPr>
          </a:p>
          <a:p>
            <a:pPr marL="12700">
              <a:lnSpc>
                <a:spcPct val="100000"/>
              </a:lnSpc>
            </a:pPr>
            <a:r>
              <a:rPr sz="2400" dirty="0">
                <a:latin typeface="Times New Roman"/>
                <a:cs typeface="Times New Roman"/>
              </a:rPr>
              <a:t>If </a:t>
            </a: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r 1 </a:t>
            </a:r>
            <a:r>
              <a:rPr sz="2400" spc="-15" dirty="0">
                <a:latin typeface="Times New Roman"/>
                <a:cs typeface="Times New Roman"/>
              </a:rPr>
              <a:t>b</a:t>
            </a:r>
            <a:r>
              <a:rPr sz="2400" spc="-20" dirty="0">
                <a:latin typeface="Times New Roman"/>
                <a:cs typeface="Times New Roman"/>
              </a:rPr>
              <a:t>e</a:t>
            </a:r>
            <a:r>
              <a:rPr sz="2400" dirty="0">
                <a:latin typeface="Times New Roman"/>
                <a:cs typeface="Times New Roman"/>
              </a:rPr>
              <a:t>s</a:t>
            </a:r>
            <a:r>
              <a:rPr sz="2400" spc="-10" dirty="0">
                <a:latin typeface="Times New Roman"/>
                <a:cs typeface="Times New Roman"/>
              </a:rPr>
              <a:t>t-r</a:t>
            </a:r>
            <a:r>
              <a:rPr sz="2400" spc="-20" dirty="0">
                <a:latin typeface="Times New Roman"/>
                <a:cs typeface="Times New Roman"/>
              </a:rPr>
              <a:t>e</a:t>
            </a:r>
            <a:r>
              <a:rPr sz="2400" dirty="0">
                <a:latin typeface="Times New Roman"/>
                <a:cs typeface="Times New Roman"/>
              </a:rPr>
              <a:t>sponds w</a:t>
            </a:r>
            <a:r>
              <a:rPr sz="2400" spc="-10" dirty="0">
                <a:latin typeface="Times New Roman"/>
                <a:cs typeface="Times New Roman"/>
              </a:rPr>
              <a:t>it</a:t>
            </a:r>
            <a:r>
              <a:rPr sz="2400" dirty="0">
                <a:latin typeface="Times New Roman"/>
                <a:cs typeface="Times New Roman"/>
              </a:rPr>
              <a:t>h </a:t>
            </a:r>
            <a:r>
              <a:rPr sz="2400" spc="-15" dirty="0">
                <a:latin typeface="Times New Roman"/>
                <a:cs typeface="Times New Roman"/>
              </a:rPr>
              <a:t>a</a:t>
            </a:r>
            <a:r>
              <a:rPr sz="2400" spc="-5" dirty="0">
                <a:latin typeface="Times New Roman"/>
                <a:cs typeface="Times New Roman"/>
              </a:rPr>
              <a:t> </a:t>
            </a:r>
            <a:r>
              <a:rPr sz="2400" spc="-15" dirty="0">
                <a:latin typeface="Times New Roman"/>
                <a:cs typeface="Times New Roman"/>
              </a:rPr>
              <a:t>mix</a:t>
            </a:r>
            <a:r>
              <a:rPr sz="2400" spc="-20" dirty="0">
                <a:latin typeface="Times New Roman"/>
                <a:cs typeface="Times New Roman"/>
              </a:rPr>
              <a:t>e</a:t>
            </a:r>
            <a:r>
              <a:rPr sz="2400" dirty="0">
                <a:latin typeface="Times New Roman"/>
                <a:cs typeface="Times New Roman"/>
              </a:rPr>
              <a:t>d s</a:t>
            </a:r>
            <a:r>
              <a:rPr sz="2400" spc="-10" dirty="0">
                <a:latin typeface="Times New Roman"/>
                <a:cs typeface="Times New Roman"/>
              </a:rPr>
              <a:t>tr</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e</a:t>
            </a:r>
            <a:r>
              <a:rPr sz="2400" dirty="0">
                <a:latin typeface="Times New Roman"/>
                <a:cs typeface="Times New Roman"/>
              </a:rPr>
              <a:t>g</a:t>
            </a:r>
            <a:r>
              <a:rPr sz="2400" spc="-160" dirty="0">
                <a:latin typeface="Times New Roman"/>
                <a:cs typeface="Times New Roman"/>
              </a:rPr>
              <a:t>y</a:t>
            </a:r>
            <a:r>
              <a:rPr sz="2400" dirty="0">
                <a:latin typeface="Times New Roman"/>
                <a:cs typeface="Times New Roman"/>
              </a:rPr>
              <a:t>,</a:t>
            </a:r>
          </a:p>
          <a:p>
            <a:pPr marL="12700">
              <a:lnSpc>
                <a:spcPct val="100000"/>
              </a:lnSpc>
              <a:spcBef>
                <a:spcPts val="20"/>
              </a:spcBef>
            </a:pP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r 2 </a:t>
            </a:r>
            <a:r>
              <a:rPr sz="2400" spc="-20" dirty="0">
                <a:latin typeface="Times New Roman"/>
                <a:cs typeface="Times New Roman"/>
              </a:rPr>
              <a:t>m</a:t>
            </a:r>
            <a:r>
              <a:rPr sz="2400" dirty="0">
                <a:latin typeface="Times New Roman"/>
                <a:cs typeface="Times New Roman"/>
              </a:rPr>
              <a:t>us</a:t>
            </a:r>
            <a:r>
              <a:rPr sz="2400" spc="-10" dirty="0">
                <a:latin typeface="Times New Roman"/>
                <a:cs typeface="Times New Roman"/>
              </a:rPr>
              <a:t>t</a:t>
            </a:r>
            <a:r>
              <a:rPr sz="2400" dirty="0">
                <a:latin typeface="Times New Roman"/>
                <a:cs typeface="Times New Roman"/>
              </a:rPr>
              <a:t> </a:t>
            </a:r>
            <a:r>
              <a:rPr sz="2400" spc="-20" dirty="0">
                <a:latin typeface="Times New Roman"/>
                <a:cs typeface="Times New Roman"/>
              </a:rPr>
              <a:t>ma</a:t>
            </a:r>
            <a:r>
              <a:rPr sz="2400" spc="-15" dirty="0">
                <a:latin typeface="Times New Roman"/>
                <a:cs typeface="Times New Roman"/>
              </a:rPr>
              <a:t>ke</a:t>
            </a:r>
            <a:r>
              <a:rPr sz="2400" spc="-5" dirty="0">
                <a:latin typeface="Times New Roman"/>
                <a:cs typeface="Times New Roman"/>
              </a:rPr>
              <a:t> </a:t>
            </a:r>
            <a:r>
              <a:rPr sz="2400" spc="-15" dirty="0">
                <a:latin typeface="Times New Roman"/>
                <a:cs typeface="Times New Roman"/>
              </a:rPr>
              <a:t>him</a:t>
            </a:r>
            <a:r>
              <a:rPr sz="2400" dirty="0">
                <a:latin typeface="Times New Roman"/>
                <a:cs typeface="Times New Roman"/>
              </a:rPr>
              <a:t> </a:t>
            </a:r>
            <a:r>
              <a:rPr sz="2400" spc="-10" dirty="0">
                <a:latin typeface="Times New Roman"/>
                <a:cs typeface="Times New Roman"/>
              </a:rPr>
              <a:t>indi</a:t>
            </a:r>
            <a:r>
              <a:rPr sz="2400" spc="-45" dirty="0">
                <a:latin typeface="Times New Roman"/>
                <a:cs typeface="Times New Roman"/>
              </a:rPr>
              <a:t>f</a:t>
            </a:r>
            <a:r>
              <a:rPr sz="2400" spc="-10" dirty="0">
                <a:latin typeface="Times New Roman"/>
                <a:cs typeface="Times New Roman"/>
              </a:rPr>
              <a:t>f</a:t>
            </a:r>
            <a:r>
              <a:rPr sz="2400" spc="-20" dirty="0">
                <a:latin typeface="Times New Roman"/>
                <a:cs typeface="Times New Roman"/>
              </a:rPr>
              <a:t>e</a:t>
            </a:r>
            <a:r>
              <a:rPr sz="2400" spc="-10" dirty="0">
                <a:latin typeface="Times New Roman"/>
                <a:cs typeface="Times New Roman"/>
              </a:rPr>
              <a:t>r</a:t>
            </a:r>
            <a:r>
              <a:rPr sz="2400" spc="-20" dirty="0">
                <a:latin typeface="Times New Roman"/>
                <a:cs typeface="Times New Roman"/>
              </a:rPr>
              <a:t>e</a:t>
            </a:r>
            <a:r>
              <a:rPr sz="2400" spc="-10" dirty="0">
                <a:latin typeface="Times New Roman"/>
                <a:cs typeface="Times New Roman"/>
              </a:rPr>
              <a:t>nt</a:t>
            </a:r>
            <a:r>
              <a:rPr sz="2400" dirty="0">
                <a:latin typeface="Times New Roman"/>
                <a:cs typeface="Times New Roman"/>
              </a:rPr>
              <a:t> </a:t>
            </a:r>
            <a:r>
              <a:rPr sz="2400" spc="-15" dirty="0">
                <a:latin typeface="Times New Roman"/>
                <a:cs typeface="Times New Roman"/>
              </a:rPr>
              <a:t>b</a:t>
            </a:r>
            <a:r>
              <a:rPr sz="2400" spc="-20" dirty="0">
                <a:latin typeface="Times New Roman"/>
                <a:cs typeface="Times New Roman"/>
              </a:rPr>
              <a:t>e</a:t>
            </a:r>
            <a:r>
              <a:rPr sz="2400" spc="-10" dirty="0">
                <a:latin typeface="Times New Roman"/>
                <a:cs typeface="Times New Roman"/>
              </a:rPr>
              <a:t>t</a:t>
            </a:r>
            <a:r>
              <a:rPr sz="2400" dirty="0">
                <a:latin typeface="Times New Roman"/>
                <a:cs typeface="Times New Roman"/>
              </a:rPr>
              <a:t>w</a:t>
            </a:r>
            <a:r>
              <a:rPr sz="2400" spc="-20" dirty="0">
                <a:latin typeface="Times New Roman"/>
                <a:cs typeface="Times New Roman"/>
              </a:rPr>
              <a:t>ee</a:t>
            </a:r>
            <a:r>
              <a:rPr sz="2400" dirty="0">
                <a:latin typeface="Times New Roman"/>
                <a:cs typeface="Times New Roman"/>
              </a:rPr>
              <a:t>n </a:t>
            </a:r>
            <a:r>
              <a:rPr sz="2400" spc="-20" dirty="0">
                <a:latin typeface="Times New Roman"/>
                <a:cs typeface="Times New Roman"/>
              </a:rPr>
              <a:t>B</a:t>
            </a:r>
            <a:r>
              <a:rPr sz="2400" dirty="0">
                <a:latin typeface="Times New Roman"/>
                <a:cs typeface="Times New Roman"/>
              </a:rPr>
              <a:t> </a:t>
            </a:r>
            <a:r>
              <a:rPr sz="2400" spc="-20" dirty="0">
                <a:latin typeface="Times New Roman"/>
                <a:cs typeface="Times New Roman"/>
              </a:rPr>
              <a:t>a</a:t>
            </a:r>
            <a:r>
              <a:rPr sz="2400" dirty="0">
                <a:latin typeface="Times New Roman"/>
                <a:cs typeface="Times New Roman"/>
              </a:rPr>
              <a:t>nd F (w</a:t>
            </a:r>
            <a:r>
              <a:rPr sz="2400" spc="-15" dirty="0">
                <a:latin typeface="Times New Roman"/>
                <a:cs typeface="Times New Roman"/>
              </a:rPr>
              <a:t>hy</a:t>
            </a:r>
            <a:r>
              <a:rPr sz="2400" spc="-20" dirty="0">
                <a:latin typeface="Times New Roman"/>
                <a:cs typeface="Times New Roman"/>
              </a:rPr>
              <a:t>?</a:t>
            </a:r>
            <a:r>
              <a:rPr sz="2400" dirty="0">
                <a:latin typeface="Times New Roman"/>
                <a:cs typeface="Times New Roman"/>
              </a:rPr>
              <a:t>)</a:t>
            </a:r>
          </a:p>
        </p:txBody>
      </p:sp>
      <mc:AlternateContent xmlns:mc="http://schemas.openxmlformats.org/markup-compatibility/2006">
        <mc:Choice xmlns:a14="http://schemas.microsoft.com/office/drawing/2010/main" Requires="a14">
          <p:sp>
            <p:nvSpPr>
              <p:cNvPr id="11" name="object 13">
                <a:extLst>
                  <a:ext uri="{FF2B5EF4-FFF2-40B4-BE49-F238E27FC236}">
                    <a16:creationId xmlns:a16="http://schemas.microsoft.com/office/drawing/2014/main" id="{6EF2B612-02EA-2024-4D76-8FA08A92F16B}"/>
                  </a:ext>
                </a:extLst>
              </p:cNvPr>
              <p:cNvSpPr txBox="1"/>
              <p:nvPr/>
            </p:nvSpPr>
            <p:spPr>
              <a:xfrm>
                <a:off x="2971800" y="1572032"/>
                <a:ext cx="6044165" cy="2417393"/>
              </a:xfrm>
              <a:prstGeom prst="rect">
                <a:avLst/>
              </a:prstGeom>
            </p:spPr>
            <p:txBody>
              <a:bodyPr vert="horz" wrap="square" lIns="0" tIns="0" rIns="0" bIns="0" rtlCol="0">
                <a:spAutoFit/>
              </a:bodyPr>
              <a:lstStyle/>
              <a:p>
                <a:pPr marL="12700" algn="ctr">
                  <a:lnSpc>
                    <a:spcPct val="100000"/>
                  </a:lnSpc>
                </a:pPr>
                <a14:m>
                  <m:oMath xmlns:m="http://schemas.openxmlformats.org/officeDocument/2006/math">
                    <m:r>
                      <a:rPr lang="en-US" sz="2400" i="1" dirty="0" smtClean="0">
                        <a:latin typeface="Cambria Math" panose="02040503050406030204" pitchFamily="18" charset="0"/>
                        <a:ea typeface="Cambria Math" panose="02040503050406030204" pitchFamily="18" charset="0"/>
                      </a:rPr>
                      <m:t>𝔼</m:t>
                    </m:r>
                  </m:oMath>
                </a14:m>
                <a:r>
                  <a:rPr lang="en-US" sz="2400" dirty="0"/>
                  <a:t>[payoff for row 1] </a:t>
                </a:r>
                <a14:m>
                  <m:oMath xmlns:m="http://schemas.openxmlformats.org/officeDocument/2006/math">
                    <m:r>
                      <a:rPr lang="en-US" sz="2400" i="1" dirty="0" smtClean="0">
                        <a:latin typeface="Cambria Math" panose="02040503050406030204" pitchFamily="18" charset="0"/>
                      </a:rPr>
                      <m:t>=</m:t>
                    </m:r>
                  </m:oMath>
                </a14:m>
                <a:r>
                  <a:rPr lang="en-US" sz="2400" dirty="0">
                    <a:ea typeface="Cambria Math" panose="02040503050406030204" pitchFamily="18" charset="0"/>
                  </a:rPr>
                  <a:t> </a:t>
                </a:r>
                <a14:m>
                  <m:oMath xmlns:m="http://schemas.openxmlformats.org/officeDocument/2006/math">
                    <m:r>
                      <a:rPr lang="en-US" sz="2400" i="1" dirty="0">
                        <a:latin typeface="Cambria Math" panose="02040503050406030204" pitchFamily="18" charset="0"/>
                        <a:ea typeface="Cambria Math" panose="02040503050406030204" pitchFamily="18" charset="0"/>
                      </a:rPr>
                      <m:t>𝔼</m:t>
                    </m:r>
                  </m:oMath>
                </a14:m>
                <a:r>
                  <a:rPr lang="en-US" sz="2400" dirty="0"/>
                  <a:t>[payoff for row 2] </a:t>
                </a:r>
                <a:endParaRPr lang="en-US" sz="2400" i="1" spc="-85" dirty="0">
                  <a:latin typeface="Times New Roman"/>
                  <a:cs typeface="Times New Roman"/>
                </a:endParaRPr>
              </a:p>
              <a:p>
                <a:pPr marL="12700" algn="ctr">
                  <a:lnSpc>
                    <a:spcPct val="100000"/>
                  </a:lnSpc>
                </a:pPr>
                <a:br>
                  <a:rPr lang="en-US" sz="2400" i="1" spc="-85" dirty="0">
                    <a:latin typeface="Cambria Math" panose="02040503050406030204" pitchFamily="18" charset="0"/>
                    <a:cs typeface="Times New Roman"/>
                  </a:rPr>
                </a:br>
                <a14:m>
                  <m:oMathPara xmlns:m="http://schemas.openxmlformats.org/officeDocument/2006/math">
                    <m:oMathParaPr>
                      <m:jc m:val="centerGroup"/>
                    </m:oMathParaPr>
                    <m:oMath xmlns:m="http://schemas.openxmlformats.org/officeDocument/2006/math">
                      <m:r>
                        <a:rPr lang="en-US" sz="2400" b="0" i="1" spc="-85" dirty="0" smtClean="0">
                          <a:latin typeface="Cambria Math" panose="02040503050406030204" pitchFamily="18" charset="0"/>
                          <a:cs typeface="Times New Roman"/>
                        </a:rPr>
                        <m:t> </m:t>
                      </m:r>
                      <m:r>
                        <a:rPr lang="en-MY" sz="2400" i="1" spc="-85" dirty="0" smtClean="0">
                          <a:latin typeface="Cambria Math" panose="02040503050406030204" pitchFamily="18" charset="0"/>
                          <a:cs typeface="Times New Roman"/>
                        </a:rPr>
                        <m:t>𝑢</m:t>
                      </m:r>
                      <m:r>
                        <a:rPr lang="en-MY" sz="2550" i="1" spc="67" baseline="-19607" dirty="0" smtClean="0">
                          <a:latin typeface="Cambria Math" panose="02040503050406030204" pitchFamily="18" charset="0"/>
                          <a:cs typeface="Garamond"/>
                        </a:rPr>
                        <m:t>1</m:t>
                      </m:r>
                      <m:d>
                        <m:dPr>
                          <m:ctrlPr>
                            <a:rPr lang="en-MY" sz="2400" i="1" spc="95" baseline="-19607" dirty="0">
                              <a:latin typeface="Cambria Math" panose="02040503050406030204" pitchFamily="18" charset="0"/>
                              <a:cs typeface="Garamond"/>
                            </a:rPr>
                          </m:ctrlPr>
                        </m:dPr>
                        <m:e>
                          <m:r>
                            <a:rPr lang="en-MY" sz="2400" i="1" dirty="0">
                              <a:latin typeface="Cambria Math" panose="02040503050406030204" pitchFamily="18" charset="0"/>
                              <a:cs typeface="Times New Roman"/>
                            </a:rPr>
                            <m:t>𝐵</m:t>
                          </m:r>
                        </m:e>
                      </m:d>
                      <m:r>
                        <a:rPr lang="en-MY" sz="2400" i="1" spc="30" dirty="0">
                          <a:latin typeface="Cambria Math" panose="02040503050406030204" pitchFamily="18" charset="0"/>
                          <a:cs typeface="Garamond"/>
                        </a:rPr>
                        <m:t>=</m:t>
                      </m:r>
                      <m:r>
                        <a:rPr lang="en-MY" sz="2400" i="1" spc="65" dirty="0">
                          <a:latin typeface="Cambria Math" panose="02040503050406030204" pitchFamily="18" charset="0"/>
                          <a:cs typeface="Garamond"/>
                        </a:rPr>
                        <m:t> </m:t>
                      </m:r>
                      <m:r>
                        <a:rPr lang="en-MY" sz="2400" i="1" spc="-85" dirty="0">
                          <a:latin typeface="Cambria Math" panose="02040503050406030204" pitchFamily="18" charset="0"/>
                          <a:cs typeface="Times New Roman"/>
                        </a:rPr>
                        <m:t>𝑢</m:t>
                      </m:r>
                      <m:r>
                        <a:rPr lang="en-MY" sz="2550" i="1" spc="67" baseline="-19607" dirty="0">
                          <a:latin typeface="Cambria Math" panose="02040503050406030204" pitchFamily="18" charset="0"/>
                          <a:cs typeface="Garamond"/>
                        </a:rPr>
                        <m:t>1</m:t>
                      </m:r>
                      <m:d>
                        <m:dPr>
                          <m:ctrlPr>
                            <a:rPr lang="en-MY" sz="2400" i="1" spc="95" baseline="-19607" dirty="0">
                              <a:latin typeface="Cambria Math" panose="02040503050406030204" pitchFamily="18" charset="0"/>
                              <a:cs typeface="Garamond"/>
                            </a:rPr>
                          </m:ctrlPr>
                        </m:dPr>
                        <m:e>
                          <m:r>
                            <a:rPr lang="en-MY" sz="2400" i="1" dirty="0">
                              <a:latin typeface="Cambria Math" panose="02040503050406030204" pitchFamily="18" charset="0"/>
                              <a:cs typeface="Times New Roman"/>
                            </a:rPr>
                            <m:t>𝐹</m:t>
                          </m:r>
                          <m:r>
                            <a:rPr lang="en-MY" sz="2400" i="1" spc="-390" dirty="0">
                              <a:latin typeface="Cambria Math" panose="02040503050406030204" pitchFamily="18" charset="0"/>
                              <a:cs typeface="Times New Roman"/>
                            </a:rPr>
                            <m:t> </m:t>
                          </m:r>
                        </m:e>
                      </m:d>
                    </m:oMath>
                  </m:oMathPara>
                </a14:m>
                <a:endParaRPr lang="en-US" sz="2400" i="1" spc="95" dirty="0">
                  <a:latin typeface="Cambria Math" panose="02040503050406030204" pitchFamily="18" charset="0"/>
                  <a:cs typeface="Times New Roman"/>
                </a:endParaRPr>
              </a:p>
              <a:p>
                <a:pPr marL="12700" algn="ctr">
                  <a:lnSpc>
                    <a:spcPct val="100000"/>
                  </a:lnSpc>
                </a:pPr>
                <a:endParaRPr lang="en-US" sz="1200" spc="95" dirty="0">
                  <a:latin typeface="Garamond"/>
                  <a:cs typeface="Garamond"/>
                </a:endParaRPr>
              </a:p>
              <a:p>
                <a:pPr marL="12700" algn="ctr">
                  <a:lnSpc>
                    <a:spcPct val="100000"/>
                  </a:lnSpc>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cs typeface="Garamond"/>
                        </a:rPr>
                        <m:t>2</m:t>
                      </m:r>
                      <m:r>
                        <a:rPr lang="en-US" sz="2400" b="0" i="1" smtClean="0">
                          <a:latin typeface="Cambria Math" panose="02040503050406030204" pitchFamily="18" charset="0"/>
                          <a:cs typeface="Garamond"/>
                        </a:rPr>
                        <m:t>𝑝</m:t>
                      </m:r>
                      <m:r>
                        <a:rPr lang="en-US" sz="2400" b="0" i="1" smtClean="0">
                          <a:latin typeface="Cambria Math" panose="02040503050406030204" pitchFamily="18" charset="0"/>
                          <a:cs typeface="Garamond"/>
                        </a:rPr>
                        <m:t>+0</m:t>
                      </m:r>
                      <m:d>
                        <m:dPr>
                          <m:ctrlPr>
                            <a:rPr lang="en-US" sz="2400" b="0" i="1" smtClean="0">
                              <a:latin typeface="Cambria Math" panose="02040503050406030204" pitchFamily="18" charset="0"/>
                              <a:cs typeface="Garamond"/>
                            </a:rPr>
                          </m:ctrlPr>
                        </m:dPr>
                        <m:e>
                          <m:r>
                            <a:rPr lang="en-US" sz="2400" b="0" i="1" smtClean="0">
                              <a:latin typeface="Cambria Math" panose="02040503050406030204" pitchFamily="18" charset="0"/>
                              <a:cs typeface="Garamond"/>
                            </a:rPr>
                            <m:t>1−</m:t>
                          </m:r>
                          <m:r>
                            <a:rPr lang="en-US" sz="2400" b="0" i="1" smtClean="0">
                              <a:latin typeface="Cambria Math" panose="02040503050406030204" pitchFamily="18" charset="0"/>
                              <a:cs typeface="Garamond"/>
                            </a:rPr>
                            <m:t>𝑝</m:t>
                          </m:r>
                        </m:e>
                      </m:d>
                      <m:r>
                        <a:rPr lang="en-US" sz="2400" b="0" i="1" smtClean="0">
                          <a:latin typeface="Cambria Math" panose="02040503050406030204" pitchFamily="18" charset="0"/>
                          <a:cs typeface="Garamond"/>
                        </a:rPr>
                        <m:t>=</m:t>
                      </m:r>
                      <m:r>
                        <a:rPr lang="en-US" sz="2400" b="0" i="1" smtClean="0">
                          <a:solidFill>
                            <a:srgbClr val="0000FF"/>
                          </a:solidFill>
                          <a:latin typeface="Cambria Math" panose="02040503050406030204" pitchFamily="18" charset="0"/>
                          <a:cs typeface="Garamond"/>
                        </a:rPr>
                        <m:t>0</m:t>
                      </m:r>
                      <m:r>
                        <a:rPr lang="en-US" sz="2400" b="0" i="1" smtClean="0">
                          <a:latin typeface="Cambria Math" panose="02040503050406030204" pitchFamily="18" charset="0"/>
                          <a:cs typeface="Garamond"/>
                        </a:rPr>
                        <m:t>𝑝</m:t>
                      </m:r>
                      <m:r>
                        <a:rPr lang="en-US" sz="2400" b="0" i="1" smtClean="0">
                          <a:latin typeface="Cambria Math" panose="02040503050406030204" pitchFamily="18" charset="0"/>
                          <a:cs typeface="Garamond"/>
                        </a:rPr>
                        <m:t>+1</m:t>
                      </m:r>
                      <m:d>
                        <m:dPr>
                          <m:ctrlPr>
                            <a:rPr lang="en-US" sz="2400" b="0" i="1" smtClean="0">
                              <a:latin typeface="Cambria Math" panose="02040503050406030204" pitchFamily="18" charset="0"/>
                              <a:cs typeface="Garamond"/>
                            </a:rPr>
                          </m:ctrlPr>
                        </m:dPr>
                        <m:e>
                          <m:r>
                            <a:rPr lang="en-US" sz="2400" b="0" i="1" smtClean="0">
                              <a:latin typeface="Cambria Math" panose="02040503050406030204" pitchFamily="18" charset="0"/>
                              <a:cs typeface="Garamond"/>
                            </a:rPr>
                            <m:t>1−</m:t>
                          </m:r>
                          <m:r>
                            <a:rPr lang="en-US" sz="2400" b="0" i="1" smtClean="0">
                              <a:latin typeface="Cambria Math" panose="02040503050406030204" pitchFamily="18" charset="0"/>
                              <a:cs typeface="Garamond"/>
                            </a:rPr>
                            <m:t>𝑝</m:t>
                          </m:r>
                        </m:e>
                      </m:d>
                    </m:oMath>
                  </m:oMathPara>
                </a14:m>
                <a:endParaRPr lang="en-US" sz="2400" b="0" i="1" dirty="0">
                  <a:latin typeface="Cambria Math" panose="02040503050406030204" pitchFamily="18" charset="0"/>
                  <a:cs typeface="Garamond"/>
                </a:endParaRPr>
              </a:p>
              <a:p>
                <a:pPr marL="12700" algn="ctr">
                  <a:lnSpc>
                    <a:spcPct val="100000"/>
                  </a:lnSpc>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Garamond"/>
                        </a:rPr>
                        <m:t>𝑝</m:t>
                      </m:r>
                      <m:r>
                        <a:rPr lang="en-US" sz="2400" b="0" i="1" smtClean="0">
                          <a:latin typeface="Cambria Math" panose="02040503050406030204" pitchFamily="18" charset="0"/>
                          <a:cs typeface="Garamond"/>
                        </a:rPr>
                        <m:t>=</m:t>
                      </m:r>
                      <m:f>
                        <m:fPr>
                          <m:ctrlPr>
                            <a:rPr lang="en-US" sz="2400" b="0" i="1" smtClean="0">
                              <a:latin typeface="Cambria Math" panose="02040503050406030204" pitchFamily="18" charset="0"/>
                              <a:cs typeface="Garamond"/>
                            </a:rPr>
                          </m:ctrlPr>
                        </m:fPr>
                        <m:num>
                          <m:r>
                            <a:rPr lang="en-US" sz="2400" b="0" i="1" smtClean="0">
                              <a:latin typeface="Cambria Math" panose="02040503050406030204" pitchFamily="18" charset="0"/>
                              <a:cs typeface="Garamond"/>
                            </a:rPr>
                            <m:t>1</m:t>
                          </m:r>
                        </m:num>
                        <m:den>
                          <m:r>
                            <a:rPr lang="en-US" sz="2400" b="0" i="1" smtClean="0">
                              <a:latin typeface="Cambria Math" panose="02040503050406030204" pitchFamily="18" charset="0"/>
                              <a:cs typeface="Garamond"/>
                            </a:rPr>
                            <m:t>3</m:t>
                          </m:r>
                        </m:den>
                      </m:f>
                    </m:oMath>
                  </m:oMathPara>
                </a14:m>
                <a:endParaRPr sz="2400" dirty="0">
                  <a:latin typeface="Garamond"/>
                  <a:cs typeface="Garamond"/>
                </a:endParaRPr>
              </a:p>
            </p:txBody>
          </p:sp>
        </mc:Choice>
        <mc:Fallback>
          <p:sp>
            <p:nvSpPr>
              <p:cNvPr id="11" name="object 13">
                <a:extLst>
                  <a:ext uri="{FF2B5EF4-FFF2-40B4-BE49-F238E27FC236}">
                    <a16:creationId xmlns:a16="http://schemas.microsoft.com/office/drawing/2014/main" id="{6EF2B612-02EA-2024-4D76-8FA08A92F16B}"/>
                  </a:ext>
                </a:extLst>
              </p:cNvPr>
              <p:cNvSpPr txBox="1">
                <a:spLocks noRot="1" noChangeAspect="1" noMove="1" noResize="1" noEditPoints="1" noAdjustHandles="1" noChangeArrowheads="1" noChangeShapeType="1" noTextEdit="1"/>
              </p:cNvSpPr>
              <p:nvPr/>
            </p:nvSpPr>
            <p:spPr>
              <a:xfrm>
                <a:off x="2971800" y="1572032"/>
                <a:ext cx="6044165" cy="2417393"/>
              </a:xfrm>
              <a:prstGeom prst="rect">
                <a:avLst/>
              </a:prstGeom>
              <a:blipFill>
                <a:blip r:embed="rId3"/>
                <a:stretch>
                  <a:fillRect t="-4040"/>
                </a:stretch>
              </a:blipFill>
            </p:spPr>
            <p:txBody>
              <a:bodyPr/>
              <a:lstStyle/>
              <a:p>
                <a:r>
                  <a:rPr lang="en-MY">
                    <a:noFill/>
                  </a:rPr>
                  <a:t> </a:t>
                </a:r>
              </a:p>
            </p:txBody>
          </p:sp>
        </mc:Fallback>
      </mc:AlternateContent>
      <p:sp>
        <p:nvSpPr>
          <p:cNvPr id="16" name="Slide Number Placeholder 8">
            <a:extLst>
              <a:ext uri="{FF2B5EF4-FFF2-40B4-BE49-F238E27FC236}">
                <a16:creationId xmlns:a16="http://schemas.microsoft.com/office/drawing/2014/main" id="{D8906D85-52AD-C322-68B3-3365CB9B05D2}"/>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31</a:t>
            </a:fld>
            <a:r>
              <a:rPr lang="en-US" sz="2000" dirty="0">
                <a:solidFill>
                  <a:prstClr val="black"/>
                </a:solidFill>
                <a:latin typeface="Comic Sans MS"/>
                <a:sym typeface="Comic Sans MS"/>
              </a:rPr>
              <a:t>/46</a:t>
            </a:r>
          </a:p>
        </p:txBody>
      </p:sp>
      <p:sp>
        <p:nvSpPr>
          <p:cNvPr id="17" name="Footer Placeholder 9">
            <a:extLst>
              <a:ext uri="{FF2B5EF4-FFF2-40B4-BE49-F238E27FC236}">
                <a16:creationId xmlns:a16="http://schemas.microsoft.com/office/drawing/2014/main" id="{892F9DC6-BCDC-ABEB-638C-43917A5EB5A7}"/>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8" name="Rectangle 17">
            <a:extLst>
              <a:ext uri="{FF2B5EF4-FFF2-40B4-BE49-F238E27FC236}">
                <a16:creationId xmlns:a16="http://schemas.microsoft.com/office/drawing/2014/main" id="{3E544030-FD0C-8402-DFB1-ECB8367C5FC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9" name="Rectangle 18">
            <a:extLst>
              <a:ext uri="{FF2B5EF4-FFF2-40B4-BE49-F238E27FC236}">
                <a16:creationId xmlns:a16="http://schemas.microsoft.com/office/drawing/2014/main" id="{CA124AE4-D1C4-E0C7-CEB5-7760BCE643DA}"/>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C51BF7C0-B581-3187-EF2B-120BB182B569}"/>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 name="Callout: Up Arrow 5">
            <a:extLst>
              <a:ext uri="{FF2B5EF4-FFF2-40B4-BE49-F238E27FC236}">
                <a16:creationId xmlns:a16="http://schemas.microsoft.com/office/drawing/2014/main" id="{BC2CC1D7-34C3-C911-1EA1-B49F5F55DAC9}"/>
              </a:ext>
            </a:extLst>
          </p:cNvPr>
          <p:cNvSpPr/>
          <p:nvPr/>
        </p:nvSpPr>
        <p:spPr>
          <a:xfrm>
            <a:off x="2971800" y="5818419"/>
            <a:ext cx="1905000" cy="538293"/>
          </a:xfrm>
          <a:prstGeom prst="upArrowCallou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0" i="0" dirty="0">
                <a:solidFill>
                  <a:schemeClr val="tx1"/>
                </a:solidFill>
                <a:effectLst/>
                <a:latin typeface="Söhne"/>
              </a:rPr>
              <a:t>no preference </a:t>
            </a:r>
            <a:endParaRPr lang="en-US" dirty="0">
              <a:solidFill>
                <a:schemeClr val="tx1"/>
              </a:solidFill>
            </a:endParaRPr>
          </a:p>
        </p:txBody>
      </p:sp>
      <p:sp>
        <p:nvSpPr>
          <p:cNvPr id="4" name="TextBox 3">
            <a:extLst>
              <a:ext uri="{FF2B5EF4-FFF2-40B4-BE49-F238E27FC236}">
                <a16:creationId xmlns:a16="http://schemas.microsoft.com/office/drawing/2014/main" id="{798D666C-97BE-CBF7-6F53-B9EEFBC44C53}"/>
              </a:ext>
            </a:extLst>
          </p:cNvPr>
          <p:cNvSpPr txBox="1"/>
          <p:nvPr/>
        </p:nvSpPr>
        <p:spPr>
          <a:xfrm>
            <a:off x="2059745" y="3736205"/>
            <a:ext cx="1049215" cy="369332"/>
          </a:xfrm>
          <a:prstGeom prst="rect">
            <a:avLst/>
          </a:prstGeom>
          <a:noFill/>
        </p:spPr>
        <p:txBody>
          <a:bodyPr wrap="square">
            <a:spAutoFit/>
          </a:bodyPr>
          <a:lstStyle/>
          <a:p>
            <a:r>
              <a:rPr lang="en-MY" sz="1800" spc="65" dirty="0">
                <a:latin typeface="Garamond"/>
                <a:cs typeface="Garamond"/>
              </a:rPr>
              <a:t>1</a:t>
            </a:r>
            <a:r>
              <a:rPr lang="en-MY" sz="1800" spc="-70" dirty="0">
                <a:latin typeface="Garamond"/>
                <a:cs typeface="Garamond"/>
              </a:rPr>
              <a:t> </a:t>
            </a:r>
            <a:r>
              <a:rPr lang="en-MY" sz="1800" spc="305" dirty="0">
                <a:latin typeface="Cambria"/>
                <a:cs typeface="Cambria"/>
              </a:rPr>
              <a:t>−</a:t>
            </a:r>
            <a:r>
              <a:rPr lang="en-MY" sz="1800" spc="5" dirty="0">
                <a:latin typeface="Cambria"/>
                <a:cs typeface="Cambria"/>
              </a:rPr>
              <a:t> </a:t>
            </a:r>
            <a:r>
              <a:rPr lang="en-MY" sz="1800" i="1" dirty="0">
                <a:latin typeface="Times New Roman"/>
                <a:cs typeface="Times New Roman"/>
              </a:rPr>
              <a:t>p</a:t>
            </a:r>
            <a:endParaRPr lang="en-MY" dirty="0"/>
          </a:p>
        </p:txBody>
      </p:sp>
      <p:sp>
        <p:nvSpPr>
          <p:cNvPr id="7" name="TextBox 6">
            <a:extLst>
              <a:ext uri="{FF2B5EF4-FFF2-40B4-BE49-F238E27FC236}">
                <a16:creationId xmlns:a16="http://schemas.microsoft.com/office/drawing/2014/main" id="{A1F02C5E-C739-CC16-B6CE-E7310D926AFB}"/>
              </a:ext>
            </a:extLst>
          </p:cNvPr>
          <p:cNvSpPr txBox="1"/>
          <p:nvPr/>
        </p:nvSpPr>
        <p:spPr>
          <a:xfrm>
            <a:off x="1023550" y="3709772"/>
            <a:ext cx="1049215" cy="369332"/>
          </a:xfrm>
          <a:prstGeom prst="rect">
            <a:avLst/>
          </a:prstGeom>
          <a:noFill/>
        </p:spPr>
        <p:txBody>
          <a:bodyPr wrap="square">
            <a:spAutoFit/>
          </a:bodyPr>
          <a:lstStyle/>
          <a:p>
            <a:r>
              <a:rPr lang="en-MY" sz="1800" spc="5" dirty="0">
                <a:latin typeface="Cambria"/>
                <a:cs typeface="Cambria"/>
              </a:rPr>
              <a:t> </a:t>
            </a:r>
            <a:r>
              <a:rPr lang="en-MY" sz="1800" i="1" dirty="0">
                <a:latin typeface="Times New Roman"/>
                <a:cs typeface="Times New Roman"/>
              </a:rPr>
              <a:t>p</a:t>
            </a:r>
            <a:endParaRPr lang="en-MY" dirty="0"/>
          </a:p>
        </p:txBody>
      </p:sp>
    </p:spTree>
    <p:extLst>
      <p:ext uri="{BB962C8B-B14F-4D97-AF65-F5344CB8AC3E}">
        <p14:creationId xmlns:p14="http://schemas.microsoft.com/office/powerpoint/2010/main" val="3700157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F</a:t>
            </a:r>
            <a:r>
              <a:rPr dirty="0"/>
              <a:t>inding</a:t>
            </a:r>
            <a:r>
              <a:rPr spc="-5" dirty="0"/>
              <a:t> </a:t>
            </a:r>
            <a:r>
              <a:rPr dirty="0"/>
              <a:t>Nash</a:t>
            </a:r>
            <a:r>
              <a:rPr spc="-5" dirty="0"/>
              <a:t> </a:t>
            </a:r>
            <a:r>
              <a:rPr dirty="0"/>
              <a:t>(Example)</a:t>
            </a:r>
          </a:p>
        </p:txBody>
      </p:sp>
      <p:graphicFrame>
        <p:nvGraphicFramePr>
          <p:cNvPr id="8" name="object 8"/>
          <p:cNvGraphicFramePr>
            <a:graphicFrameLocks noGrp="1"/>
          </p:cNvGraphicFramePr>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314960">
                        <a:lnSpc>
                          <a:spcPct val="100000"/>
                        </a:lnSpc>
                      </a:pPr>
                      <a:r>
                        <a:rPr sz="1800" i="1" spc="-20" dirty="0">
                          <a:latin typeface="Meiryo"/>
                          <a:cs typeface="Meiryo"/>
                        </a:rPr>
                        <a:t>2</a:t>
                      </a:r>
                      <a:r>
                        <a:rPr sz="1800" i="1" dirty="0">
                          <a:latin typeface="Meiryo"/>
                          <a:cs typeface="Meiryo"/>
                        </a:rPr>
                        <a:t>,</a:t>
                      </a:r>
                      <a:r>
                        <a:rPr sz="1800" i="1" spc="-40" dirty="0">
                          <a:latin typeface="Meiryo"/>
                          <a:cs typeface="Meiryo"/>
                        </a:rPr>
                        <a:t> </a:t>
                      </a:r>
                      <a:r>
                        <a:rPr sz="1800" i="1" dirty="0">
                          <a:latin typeface="Meiryo"/>
                          <a:cs typeface="Meiryo"/>
                        </a:rPr>
                        <a:t>1</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14960">
                        <a:lnSpc>
                          <a:spcPct val="100000"/>
                        </a:lnSpc>
                      </a:pPr>
                      <a:r>
                        <a:rPr sz="1800" i="1" spc="-20" dirty="0">
                          <a:latin typeface="Meiryo"/>
                          <a:cs typeface="Meiryo"/>
                        </a:rPr>
                        <a:t>1</a:t>
                      </a:r>
                      <a:r>
                        <a:rPr sz="1800" i="1" dirty="0">
                          <a:latin typeface="Meiryo"/>
                          <a:cs typeface="Meiryo"/>
                        </a:rPr>
                        <a:t>,</a:t>
                      </a:r>
                      <a:r>
                        <a:rPr sz="1800" i="1" spc="-40" dirty="0">
                          <a:latin typeface="Meiryo"/>
                          <a:cs typeface="Meiryo"/>
                        </a:rPr>
                        <a:t> </a:t>
                      </a:r>
                      <a:r>
                        <a:rPr sz="1800" i="1" dirty="0">
                          <a:latin typeface="Meiryo"/>
                          <a:cs typeface="Meiryo"/>
                        </a:rPr>
                        <a:t>2</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0" name="TextBox 9">
            <a:extLst>
              <a:ext uri="{FF2B5EF4-FFF2-40B4-BE49-F238E27FC236}">
                <a16:creationId xmlns:a16="http://schemas.microsoft.com/office/drawing/2014/main" id="{D9AD0FA1-FB1A-D83D-37DA-DF60CD3169EC}"/>
              </a:ext>
            </a:extLst>
          </p:cNvPr>
          <p:cNvSpPr txBox="1"/>
          <p:nvPr/>
        </p:nvSpPr>
        <p:spPr>
          <a:xfrm>
            <a:off x="124515" y="1633588"/>
            <a:ext cx="3228285" cy="615553"/>
          </a:xfrm>
          <a:prstGeom prst="rect">
            <a:avLst/>
          </a:prstGeom>
          <a:noFill/>
        </p:spPr>
        <p:txBody>
          <a:bodyPr wrap="square">
            <a:spAutoFit/>
          </a:bodyPr>
          <a:lstStyle/>
          <a:p>
            <a:pPr marL="35560" marR="485140">
              <a:spcBef>
                <a:spcPts val="1814"/>
              </a:spcBef>
            </a:pPr>
            <a:r>
              <a:rPr lang="en-US" sz="3400" dirty="0">
                <a:latin typeface="Calibri"/>
                <a:cs typeface="Calibri"/>
              </a:rPr>
              <a:t>	B         F </a:t>
            </a:r>
          </a:p>
        </p:txBody>
      </p:sp>
      <p:sp>
        <p:nvSpPr>
          <p:cNvPr id="12" name="TextBox 11">
            <a:extLst>
              <a:ext uri="{FF2B5EF4-FFF2-40B4-BE49-F238E27FC236}">
                <a16:creationId xmlns:a16="http://schemas.microsoft.com/office/drawing/2014/main" id="{4768202D-8A42-C722-5C23-09CCB4165640}"/>
              </a:ext>
            </a:extLst>
          </p:cNvPr>
          <p:cNvSpPr txBox="1"/>
          <p:nvPr/>
        </p:nvSpPr>
        <p:spPr>
          <a:xfrm>
            <a:off x="195151" y="2294861"/>
            <a:ext cx="534146" cy="1369606"/>
          </a:xfrm>
          <a:prstGeom prst="rect">
            <a:avLst/>
          </a:prstGeom>
        </p:spPr>
        <p:txBody>
          <a:bodyPr wrap="square">
            <a:spAutoFit/>
          </a:bodyPr>
          <a:lstStyle/>
          <a:p>
            <a:pPr marL="35560" indent="-18415">
              <a:spcBef>
                <a:spcPts val="1814"/>
              </a:spcBef>
            </a:pPr>
            <a:r>
              <a:rPr lang="en-US" sz="3400" dirty="0">
                <a:latin typeface="Calibri"/>
                <a:cs typeface="Calibri"/>
              </a:rPr>
              <a:t>B</a:t>
            </a:r>
          </a:p>
          <a:p>
            <a:pPr marL="35560">
              <a:spcBef>
                <a:spcPts val="1814"/>
              </a:spcBef>
            </a:pPr>
            <a:r>
              <a:rPr lang="en-US" sz="3400" dirty="0">
                <a:latin typeface="Calibri"/>
                <a:cs typeface="Calibri"/>
              </a:rPr>
              <a:t>F</a:t>
            </a:r>
          </a:p>
        </p:txBody>
      </p:sp>
      <p:sp>
        <p:nvSpPr>
          <p:cNvPr id="3" name="object 7">
            <a:extLst>
              <a:ext uri="{FF2B5EF4-FFF2-40B4-BE49-F238E27FC236}">
                <a16:creationId xmlns:a16="http://schemas.microsoft.com/office/drawing/2014/main" id="{0AC18A61-542C-374B-333D-CD27DBC0C809}"/>
              </a:ext>
            </a:extLst>
          </p:cNvPr>
          <p:cNvSpPr txBox="1"/>
          <p:nvPr/>
        </p:nvSpPr>
        <p:spPr>
          <a:xfrm>
            <a:off x="315255" y="4696176"/>
            <a:ext cx="7865745" cy="1066800"/>
          </a:xfrm>
          <a:prstGeom prst="rect">
            <a:avLst/>
          </a:prstGeom>
        </p:spPr>
        <p:txBody>
          <a:bodyPr vert="horz" wrap="square" lIns="0" tIns="0" rIns="0" bIns="0" rtlCol="0">
            <a:spAutoFit/>
          </a:bodyPr>
          <a:lstStyle/>
          <a:p>
            <a:pPr marL="12700">
              <a:lnSpc>
                <a:spcPct val="100000"/>
              </a:lnSpc>
            </a:pPr>
            <a:r>
              <a:rPr sz="2400" spc="-15" dirty="0">
                <a:latin typeface="Times New Roman"/>
                <a:cs typeface="Times New Roman"/>
              </a:rPr>
              <a:t>Lik</a:t>
            </a:r>
            <a:r>
              <a:rPr sz="2400" spc="-20" dirty="0">
                <a:latin typeface="Times New Roman"/>
                <a:cs typeface="Times New Roman"/>
              </a:rPr>
              <a:t>e</a:t>
            </a:r>
            <a:r>
              <a:rPr sz="2400" dirty="0">
                <a:latin typeface="Times New Roman"/>
                <a:cs typeface="Times New Roman"/>
              </a:rPr>
              <a:t>w</a:t>
            </a:r>
            <a:r>
              <a:rPr sz="2400" spc="-10" dirty="0">
                <a:latin typeface="Times New Roman"/>
                <a:cs typeface="Times New Roman"/>
              </a:rPr>
              <a:t>i</a:t>
            </a:r>
            <a:r>
              <a:rPr sz="2400" dirty="0">
                <a:latin typeface="Times New Roman"/>
                <a:cs typeface="Times New Roman"/>
              </a:rPr>
              <a:t>s</a:t>
            </a:r>
            <a:r>
              <a:rPr sz="2400" spc="-20" dirty="0">
                <a:latin typeface="Times New Roman"/>
                <a:cs typeface="Times New Roman"/>
              </a:rPr>
              <a:t>e</a:t>
            </a:r>
            <a:r>
              <a:rPr sz="2400" dirty="0">
                <a:latin typeface="Times New Roman"/>
                <a:cs typeface="Times New Roman"/>
              </a:rPr>
              <a:t>, </a:t>
            </a: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r 1 </a:t>
            </a:r>
            <a:r>
              <a:rPr sz="2400" spc="-20" dirty="0">
                <a:latin typeface="Times New Roman"/>
                <a:cs typeface="Times New Roman"/>
              </a:rPr>
              <a:t>m</a:t>
            </a:r>
            <a:r>
              <a:rPr sz="2400" dirty="0">
                <a:latin typeface="Times New Roman"/>
                <a:cs typeface="Times New Roman"/>
              </a:rPr>
              <a:t>us</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r</a:t>
            </a:r>
            <a:r>
              <a:rPr sz="2400" spc="-20" dirty="0">
                <a:latin typeface="Times New Roman"/>
                <a:cs typeface="Times New Roman"/>
              </a:rPr>
              <a:t>a</a:t>
            </a:r>
            <a:r>
              <a:rPr sz="2400" spc="-15" dirty="0">
                <a:latin typeface="Times New Roman"/>
                <a:cs typeface="Times New Roman"/>
              </a:rPr>
              <a:t>ndomi</a:t>
            </a:r>
            <a:r>
              <a:rPr sz="2400" spc="-20" dirty="0">
                <a:latin typeface="Times New Roman"/>
                <a:cs typeface="Times New Roman"/>
              </a:rPr>
              <a:t>z</a:t>
            </a:r>
            <a:r>
              <a:rPr sz="2400" spc="-15" dirty="0">
                <a:latin typeface="Times New Roman"/>
                <a:cs typeface="Times New Roman"/>
              </a:rPr>
              <a:t>e</a:t>
            </a:r>
            <a:r>
              <a:rPr sz="2400" spc="-5" dirty="0">
                <a:latin typeface="Times New Roman"/>
                <a:cs typeface="Times New Roman"/>
              </a:rPr>
              <a:t> </a:t>
            </a:r>
            <a:r>
              <a:rPr sz="2400" spc="-10" dirty="0">
                <a:latin typeface="Times New Roman"/>
                <a:cs typeface="Times New Roman"/>
              </a:rPr>
              <a:t>t</a:t>
            </a:r>
            <a:r>
              <a:rPr sz="2400" dirty="0">
                <a:latin typeface="Times New Roman"/>
                <a:cs typeface="Times New Roman"/>
              </a:rPr>
              <a:t>o </a:t>
            </a:r>
            <a:r>
              <a:rPr sz="2400" spc="-20" dirty="0">
                <a:latin typeface="Times New Roman"/>
                <a:cs typeface="Times New Roman"/>
              </a:rPr>
              <a:t>ma</a:t>
            </a:r>
            <a:r>
              <a:rPr sz="2400" spc="-15" dirty="0">
                <a:latin typeface="Times New Roman"/>
                <a:cs typeface="Times New Roman"/>
              </a:rPr>
              <a:t>ke</a:t>
            </a:r>
            <a:r>
              <a:rPr sz="2400" spc="-5" dirty="0">
                <a:latin typeface="Times New Roman"/>
                <a:cs typeface="Times New Roman"/>
              </a:rPr>
              <a:t> </a:t>
            </a: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r 2 </a:t>
            </a:r>
            <a:r>
              <a:rPr sz="2400" spc="-10" dirty="0">
                <a:latin typeface="Times New Roman"/>
                <a:cs typeface="Times New Roman"/>
              </a:rPr>
              <a:t>indi</a:t>
            </a:r>
            <a:r>
              <a:rPr sz="2400" spc="-45" dirty="0">
                <a:latin typeface="Times New Roman"/>
                <a:cs typeface="Times New Roman"/>
              </a:rPr>
              <a:t>f</a:t>
            </a:r>
            <a:r>
              <a:rPr sz="2400" spc="-10" dirty="0">
                <a:latin typeface="Times New Roman"/>
                <a:cs typeface="Times New Roman"/>
              </a:rPr>
              <a:t>f</a:t>
            </a:r>
            <a:r>
              <a:rPr sz="2400" spc="-20" dirty="0">
                <a:latin typeface="Times New Roman"/>
                <a:cs typeface="Times New Roman"/>
              </a:rPr>
              <a:t>e</a:t>
            </a:r>
            <a:r>
              <a:rPr sz="2400" spc="-10" dirty="0">
                <a:latin typeface="Times New Roman"/>
                <a:cs typeface="Times New Roman"/>
              </a:rPr>
              <a:t>r</a:t>
            </a:r>
            <a:r>
              <a:rPr sz="2400" spc="-20" dirty="0">
                <a:latin typeface="Times New Roman"/>
                <a:cs typeface="Times New Roman"/>
              </a:rPr>
              <a:t>e</a:t>
            </a:r>
            <a:r>
              <a:rPr sz="2400" spc="-10" dirty="0">
                <a:latin typeface="Times New Roman"/>
                <a:cs typeface="Times New Roman"/>
              </a:rPr>
              <a:t>nt</a:t>
            </a:r>
            <a:r>
              <a:rPr sz="2400" dirty="0">
                <a:latin typeface="Times New Roman"/>
                <a:cs typeface="Times New Roman"/>
              </a:rPr>
              <a:t>.</a:t>
            </a:r>
          </a:p>
          <a:p>
            <a:pPr>
              <a:lnSpc>
                <a:spcPct val="100000"/>
              </a:lnSpc>
              <a:spcBef>
                <a:spcPts val="45"/>
              </a:spcBef>
            </a:pPr>
            <a:endParaRPr sz="2500" dirty="0">
              <a:latin typeface="Times New Roman"/>
              <a:cs typeface="Times New Roman"/>
            </a:endParaRPr>
          </a:p>
          <a:p>
            <a:pPr marL="12700">
              <a:lnSpc>
                <a:spcPct val="100000"/>
              </a:lnSpc>
            </a:pPr>
            <a:r>
              <a:rPr sz="2400" spc="-30" dirty="0">
                <a:latin typeface="Times New Roman"/>
                <a:cs typeface="Times New Roman"/>
              </a:rPr>
              <a:t>W</a:t>
            </a:r>
            <a:r>
              <a:rPr sz="2400" dirty="0">
                <a:latin typeface="Times New Roman"/>
                <a:cs typeface="Times New Roman"/>
              </a:rPr>
              <a:t>hy </a:t>
            </a:r>
            <a:r>
              <a:rPr sz="2400" spc="-10" dirty="0">
                <a:latin typeface="Times New Roman"/>
                <a:cs typeface="Times New Roman"/>
              </a:rPr>
              <a:t>i</a:t>
            </a:r>
            <a:r>
              <a:rPr sz="2400" dirty="0">
                <a:latin typeface="Times New Roman"/>
                <a:cs typeface="Times New Roman"/>
              </a:rPr>
              <a:t>s </a:t>
            </a:r>
            <a:r>
              <a:rPr sz="2400" spc="-10" dirty="0">
                <a:latin typeface="Times New Roman"/>
                <a:cs typeface="Times New Roman"/>
              </a:rPr>
              <a:t>pl</a:t>
            </a:r>
            <a:r>
              <a:rPr sz="2400" spc="-20" dirty="0">
                <a:latin typeface="Times New Roman"/>
                <a:cs typeface="Times New Roman"/>
              </a:rPr>
              <a:t>a</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r 1 w</a:t>
            </a:r>
            <a:r>
              <a:rPr sz="2400" spc="-10" dirty="0">
                <a:latin typeface="Times New Roman"/>
                <a:cs typeface="Times New Roman"/>
              </a:rPr>
              <a:t>illi</a:t>
            </a:r>
            <a:r>
              <a:rPr sz="2400" dirty="0">
                <a:latin typeface="Times New Roman"/>
                <a:cs typeface="Times New Roman"/>
              </a:rPr>
              <a:t>ng </a:t>
            </a:r>
            <a:r>
              <a:rPr sz="2400" spc="-10" dirty="0">
                <a:latin typeface="Times New Roman"/>
                <a:cs typeface="Times New Roman"/>
              </a:rPr>
              <a:t>t</a:t>
            </a:r>
            <a:r>
              <a:rPr sz="2400" dirty="0">
                <a:latin typeface="Times New Roman"/>
                <a:cs typeface="Times New Roman"/>
              </a:rPr>
              <a:t>o </a:t>
            </a:r>
            <a:r>
              <a:rPr sz="2400" spc="-10" dirty="0">
                <a:latin typeface="Times New Roman"/>
                <a:cs typeface="Times New Roman"/>
              </a:rPr>
              <a:t>r</a:t>
            </a:r>
            <a:r>
              <a:rPr sz="2400" spc="-20" dirty="0">
                <a:latin typeface="Times New Roman"/>
                <a:cs typeface="Times New Roman"/>
              </a:rPr>
              <a:t>a</a:t>
            </a:r>
            <a:r>
              <a:rPr sz="2400" spc="-15" dirty="0">
                <a:latin typeface="Times New Roman"/>
                <a:cs typeface="Times New Roman"/>
              </a:rPr>
              <a:t>ndomi</a:t>
            </a:r>
            <a:r>
              <a:rPr sz="2400" spc="-20" dirty="0">
                <a:latin typeface="Times New Roman"/>
                <a:cs typeface="Times New Roman"/>
              </a:rPr>
              <a:t>ze</a:t>
            </a:r>
            <a:r>
              <a:rPr sz="2400" spc="-15" dirty="0">
                <a:latin typeface="Times New Roman"/>
                <a:cs typeface="Times New Roman"/>
              </a:rPr>
              <a:t>?</a:t>
            </a:r>
            <a:endParaRPr sz="2400" dirty="0">
              <a:latin typeface="Times New Roman"/>
              <a:cs typeface="Times New Roman"/>
            </a:endParaRPr>
          </a:p>
        </p:txBody>
      </p:sp>
      <p:sp>
        <p:nvSpPr>
          <p:cNvPr id="4" name="Slide Number Placeholder 8">
            <a:extLst>
              <a:ext uri="{FF2B5EF4-FFF2-40B4-BE49-F238E27FC236}">
                <a16:creationId xmlns:a16="http://schemas.microsoft.com/office/drawing/2014/main" id="{62E376BA-489A-3AE6-187D-CA858C368B78}"/>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32</a:t>
            </a:fld>
            <a:r>
              <a:rPr lang="en-US" sz="2000" dirty="0">
                <a:solidFill>
                  <a:prstClr val="black"/>
                </a:solidFill>
                <a:latin typeface="Comic Sans MS"/>
                <a:sym typeface="Comic Sans MS"/>
              </a:rPr>
              <a:t>/46</a:t>
            </a:r>
          </a:p>
        </p:txBody>
      </p:sp>
      <p:sp>
        <p:nvSpPr>
          <p:cNvPr id="6" name="Footer Placeholder 9">
            <a:extLst>
              <a:ext uri="{FF2B5EF4-FFF2-40B4-BE49-F238E27FC236}">
                <a16:creationId xmlns:a16="http://schemas.microsoft.com/office/drawing/2014/main" id="{6566866E-FEC9-049A-9B6A-3910C4E65222}"/>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9D9A3B20-05C9-D7E1-AC39-A545669583E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1" name="Rectangle 10">
            <a:extLst>
              <a:ext uri="{FF2B5EF4-FFF2-40B4-BE49-F238E27FC236}">
                <a16:creationId xmlns:a16="http://schemas.microsoft.com/office/drawing/2014/main" id="{A8D23CA2-852A-C7FC-054D-E090224A51F3}"/>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DD115839-E328-72A6-BDF4-DE30B838BD1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4290D581-3EE3-901A-63D1-1EE59E0BD3F8}"/>
              </a:ext>
            </a:extLst>
          </p:cNvPr>
          <p:cNvSpPr txBox="1"/>
          <p:nvPr/>
        </p:nvSpPr>
        <p:spPr>
          <a:xfrm>
            <a:off x="3707759" y="2161824"/>
            <a:ext cx="4957874" cy="1292662"/>
          </a:xfrm>
          <a:prstGeom prst="rect">
            <a:avLst/>
          </a:prstGeom>
          <a:noFill/>
        </p:spPr>
        <p:txBody>
          <a:bodyPr wrap="square">
            <a:spAutoFit/>
          </a:bodyPr>
          <a:lstStyle/>
          <a:p>
            <a:pPr algn="l"/>
            <a:r>
              <a:rPr lang="en-US" sz="1800" b="0" i="0" u="none" strike="noStrike" baseline="0" dirty="0">
                <a:latin typeface="Times New Roman" panose="02020603050405020304" pitchFamily="18" charset="0"/>
              </a:rPr>
              <a:t>We get the result that in order to make </a:t>
            </a:r>
            <a:r>
              <a:rPr lang="en-US" dirty="0">
                <a:latin typeface="Times New Roman" panose="02020603050405020304" pitchFamily="18" charset="0"/>
              </a:rPr>
              <a:t>Player 1 </a:t>
            </a:r>
            <a:r>
              <a:rPr lang="en-US" sz="1800" b="0" i="0" u="none" strike="noStrike" baseline="0" dirty="0">
                <a:latin typeface="Times New Roman" panose="02020603050405020304" pitchFamily="18" charset="0"/>
              </a:rPr>
              <a:t>indifferent between his actions, </a:t>
            </a:r>
            <a:r>
              <a:rPr lang="en-US" dirty="0">
                <a:latin typeface="Times New Roman" panose="02020603050405020304" pitchFamily="18" charset="0"/>
              </a:rPr>
              <a:t>Player 2 </a:t>
            </a:r>
            <a:r>
              <a:rPr lang="en-US" sz="1800" b="0" i="0" u="none" strike="noStrike" baseline="0" dirty="0">
                <a:latin typeface="Times New Roman" panose="02020603050405020304" pitchFamily="18" charset="0"/>
              </a:rPr>
              <a:t>must choose B with probability </a:t>
            </a:r>
            <a:r>
              <a:rPr lang="en-US" b="0" i="0" u="none" strike="noStrike" baseline="0" dirty="0">
                <a:latin typeface="CMR10"/>
              </a:rPr>
              <a:t>1</a:t>
            </a:r>
            <a:r>
              <a:rPr lang="en-US" b="0" i="0" u="none" strike="noStrike" baseline="0" dirty="0">
                <a:latin typeface="CMMI10"/>
              </a:rPr>
              <a:t>/</a:t>
            </a:r>
            <a:r>
              <a:rPr lang="en-US" b="0" i="0" u="none" strike="noStrike" baseline="0" dirty="0">
                <a:latin typeface="CMR10"/>
              </a:rPr>
              <a:t>3</a:t>
            </a:r>
            <a:r>
              <a:rPr lang="en-US" sz="2400" b="0" i="0" u="none" strike="noStrike" baseline="0" dirty="0">
                <a:latin typeface="CMR10"/>
              </a:rPr>
              <a:t> </a:t>
            </a:r>
            <a:r>
              <a:rPr lang="en-US" sz="1800" b="0" i="0" u="none" strike="noStrike" baseline="0" dirty="0">
                <a:latin typeface="Times New Roman" panose="02020603050405020304" pitchFamily="18" charset="0"/>
              </a:rPr>
              <a:t>and F with probability</a:t>
            </a:r>
            <a:r>
              <a:rPr lang="en-US" dirty="0">
                <a:latin typeface="CMR10"/>
              </a:rPr>
              <a:t> 2/3</a:t>
            </a:r>
            <a:r>
              <a:rPr lang="en-US" sz="1800" b="0" i="0" u="none" strike="noStrike" baseline="0" dirty="0">
                <a:latin typeface="Times New Roman" panose="02020603050405020304" pitchFamily="18" charset="0"/>
              </a:rPr>
              <a:t>.</a:t>
            </a:r>
            <a:endParaRPr lang="en-US" dirty="0"/>
          </a:p>
        </p:txBody>
      </p:sp>
    </p:spTree>
    <p:extLst>
      <p:ext uri="{BB962C8B-B14F-4D97-AF65-F5344CB8AC3E}">
        <p14:creationId xmlns:p14="http://schemas.microsoft.com/office/powerpoint/2010/main" val="745871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F</a:t>
            </a:r>
            <a:r>
              <a:rPr dirty="0"/>
              <a:t>inding</a:t>
            </a:r>
            <a:r>
              <a:rPr spc="-5" dirty="0"/>
              <a:t> </a:t>
            </a:r>
            <a:r>
              <a:rPr dirty="0"/>
              <a:t>Nash</a:t>
            </a:r>
            <a:r>
              <a:rPr spc="-5" dirty="0"/>
              <a:t> </a:t>
            </a:r>
            <a:r>
              <a:rPr dirty="0"/>
              <a:t>(Example)</a:t>
            </a:r>
          </a:p>
        </p:txBody>
      </p:sp>
      <p:graphicFrame>
        <p:nvGraphicFramePr>
          <p:cNvPr id="8" name="object 8"/>
          <p:cNvGraphicFramePr>
            <a:graphicFrameLocks noGrp="1"/>
          </p:cNvGraphicFramePr>
          <p:nvPr>
            <p:extLst>
              <p:ext uri="{D42A27DB-BD31-4B8C-83A1-F6EECF244321}">
                <p14:modId xmlns:p14="http://schemas.microsoft.com/office/powerpoint/2010/main" val="4254740180"/>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314960">
                        <a:lnSpc>
                          <a:spcPct val="100000"/>
                        </a:lnSpc>
                      </a:pPr>
                      <a:r>
                        <a:rPr sz="1800" i="1" spc="-20" dirty="0">
                          <a:latin typeface="Meiryo"/>
                          <a:cs typeface="Meiryo"/>
                        </a:rPr>
                        <a:t>2</a:t>
                      </a:r>
                      <a:r>
                        <a:rPr sz="1800" i="1" dirty="0">
                          <a:latin typeface="Meiryo"/>
                          <a:cs typeface="Meiryo"/>
                        </a:rPr>
                        <a:t>,</a:t>
                      </a:r>
                      <a:r>
                        <a:rPr sz="1800" i="1" spc="-40" dirty="0">
                          <a:latin typeface="Meiryo"/>
                          <a:cs typeface="Meiryo"/>
                        </a:rPr>
                        <a:t> </a:t>
                      </a:r>
                      <a:r>
                        <a:rPr sz="1800" i="1" dirty="0">
                          <a:solidFill>
                            <a:srgbClr val="FF0000"/>
                          </a:solidFill>
                          <a:latin typeface="Meiryo"/>
                          <a:cs typeface="Meiryo"/>
                        </a:rPr>
                        <a:t>1</a:t>
                      </a:r>
                      <a:endParaRPr sz="1800" dirty="0">
                        <a:solidFill>
                          <a:srgbClr val="FF0000"/>
                        </a:solidFill>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solidFill>
                            <a:srgbClr val="0000FF"/>
                          </a:solidFill>
                          <a:latin typeface="Meiryo"/>
                          <a:cs typeface="Meiryo"/>
                        </a:rPr>
                        <a:t>0</a:t>
                      </a:r>
                      <a:endParaRPr sz="1800" dirty="0">
                        <a:solidFill>
                          <a:srgbClr val="0000FF"/>
                        </a:solidFill>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solidFill>
                            <a:srgbClr val="00B050"/>
                          </a:solidFill>
                          <a:latin typeface="Meiryo"/>
                          <a:cs typeface="Meiryo"/>
                        </a:rPr>
                        <a:t>0</a:t>
                      </a:r>
                      <a:endParaRPr sz="1800" dirty="0">
                        <a:solidFill>
                          <a:srgbClr val="00B050"/>
                        </a:solidFill>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14960">
                        <a:lnSpc>
                          <a:spcPct val="100000"/>
                        </a:lnSpc>
                      </a:pPr>
                      <a:r>
                        <a:rPr sz="1800" i="1" spc="-20" dirty="0">
                          <a:latin typeface="Meiryo"/>
                          <a:cs typeface="Meiryo"/>
                        </a:rPr>
                        <a:t>1</a:t>
                      </a:r>
                      <a:r>
                        <a:rPr sz="1800" i="1" dirty="0">
                          <a:latin typeface="Meiryo"/>
                          <a:cs typeface="Meiryo"/>
                        </a:rPr>
                        <a:t>,</a:t>
                      </a:r>
                      <a:r>
                        <a:rPr sz="1800" i="1" spc="-40" dirty="0">
                          <a:latin typeface="Meiryo"/>
                          <a:cs typeface="Meiryo"/>
                        </a:rPr>
                        <a:t> </a:t>
                      </a:r>
                      <a:r>
                        <a:rPr sz="1800" i="1" dirty="0">
                          <a:solidFill>
                            <a:srgbClr val="7030A0"/>
                          </a:solidFill>
                          <a:latin typeface="Meiryo"/>
                          <a:cs typeface="Meiryo"/>
                        </a:rPr>
                        <a:t>2</a:t>
                      </a:r>
                      <a:endParaRPr sz="1800" dirty="0">
                        <a:solidFill>
                          <a:srgbClr val="7030A0"/>
                        </a:solidFill>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0" name="TextBox 9">
            <a:extLst>
              <a:ext uri="{FF2B5EF4-FFF2-40B4-BE49-F238E27FC236}">
                <a16:creationId xmlns:a16="http://schemas.microsoft.com/office/drawing/2014/main" id="{D9AD0FA1-FB1A-D83D-37DA-DF60CD3169EC}"/>
              </a:ext>
            </a:extLst>
          </p:cNvPr>
          <p:cNvSpPr txBox="1"/>
          <p:nvPr/>
        </p:nvSpPr>
        <p:spPr>
          <a:xfrm>
            <a:off x="124515" y="1633588"/>
            <a:ext cx="3228285" cy="615553"/>
          </a:xfrm>
          <a:prstGeom prst="rect">
            <a:avLst/>
          </a:prstGeom>
          <a:noFill/>
        </p:spPr>
        <p:txBody>
          <a:bodyPr wrap="square">
            <a:spAutoFit/>
          </a:bodyPr>
          <a:lstStyle/>
          <a:p>
            <a:pPr marL="35560" marR="485140">
              <a:spcBef>
                <a:spcPts val="1814"/>
              </a:spcBef>
            </a:pPr>
            <a:r>
              <a:rPr lang="en-US" sz="3400" dirty="0">
                <a:latin typeface="Calibri"/>
                <a:cs typeface="Calibri"/>
              </a:rPr>
              <a:t>	B         F </a:t>
            </a:r>
          </a:p>
        </p:txBody>
      </p:sp>
      <p:sp>
        <p:nvSpPr>
          <p:cNvPr id="12" name="TextBox 11">
            <a:extLst>
              <a:ext uri="{FF2B5EF4-FFF2-40B4-BE49-F238E27FC236}">
                <a16:creationId xmlns:a16="http://schemas.microsoft.com/office/drawing/2014/main" id="{4768202D-8A42-C722-5C23-09CCB4165640}"/>
              </a:ext>
            </a:extLst>
          </p:cNvPr>
          <p:cNvSpPr txBox="1"/>
          <p:nvPr/>
        </p:nvSpPr>
        <p:spPr>
          <a:xfrm>
            <a:off x="195151" y="2294861"/>
            <a:ext cx="534146" cy="1369606"/>
          </a:xfrm>
          <a:prstGeom prst="rect">
            <a:avLst/>
          </a:prstGeom>
        </p:spPr>
        <p:txBody>
          <a:bodyPr wrap="square">
            <a:spAutoFit/>
          </a:bodyPr>
          <a:lstStyle/>
          <a:p>
            <a:pPr marL="35560" indent="-18415">
              <a:spcBef>
                <a:spcPts val="1814"/>
              </a:spcBef>
            </a:pPr>
            <a:r>
              <a:rPr lang="en-US" sz="3400" dirty="0">
                <a:latin typeface="Calibri"/>
                <a:cs typeface="Calibri"/>
              </a:rPr>
              <a:t>B</a:t>
            </a:r>
          </a:p>
          <a:p>
            <a:pPr marL="35560">
              <a:spcBef>
                <a:spcPts val="1814"/>
              </a:spcBef>
            </a:pPr>
            <a:r>
              <a:rPr lang="en-US" sz="3400" dirty="0">
                <a:latin typeface="Calibri"/>
                <a:cs typeface="Calibri"/>
              </a:rPr>
              <a:t>F</a:t>
            </a:r>
          </a:p>
        </p:txBody>
      </p:sp>
      <mc:AlternateContent xmlns:mc="http://schemas.openxmlformats.org/markup-compatibility/2006" xmlns:a14="http://schemas.microsoft.com/office/drawing/2010/main">
        <mc:Choice Requires="a14">
          <p:sp>
            <p:nvSpPr>
              <p:cNvPr id="3" name="object 7">
                <a:extLst>
                  <a:ext uri="{FF2B5EF4-FFF2-40B4-BE49-F238E27FC236}">
                    <a16:creationId xmlns:a16="http://schemas.microsoft.com/office/drawing/2014/main" id="{0AC18A61-542C-374B-333D-CD27DBC0C809}"/>
                  </a:ext>
                </a:extLst>
              </p:cNvPr>
              <p:cNvSpPr txBox="1"/>
              <p:nvPr/>
            </p:nvSpPr>
            <p:spPr>
              <a:xfrm>
                <a:off x="315255" y="4343400"/>
                <a:ext cx="7865745" cy="1599156"/>
              </a:xfrm>
              <a:prstGeom prst="rect">
                <a:avLst/>
              </a:prstGeom>
            </p:spPr>
            <p:txBody>
              <a:bodyPr vert="horz" wrap="square" lIns="0" tIns="0" rIns="0" bIns="0" rtlCol="0">
                <a:spAutoFit/>
              </a:bodyPr>
              <a:lstStyle/>
              <a:p>
                <a:pPr marL="12700">
                  <a:lnSpc>
                    <a:spcPct val="100000"/>
                  </a:lnSpc>
                  <a:spcBef>
                    <a:spcPts val="1200"/>
                  </a:spcBef>
                </a:pPr>
                <a:r>
                  <a:rPr lang="en-US" sz="2400" spc="-15" dirty="0">
                    <a:latin typeface="Times New Roman"/>
                    <a:cs typeface="Times New Roman"/>
                  </a:rPr>
                  <a:t>Thus, the mixed strategy pair:</a:t>
                </a:r>
              </a:p>
              <a:p>
                <a:pPr marL="12700">
                  <a:lnSpc>
                    <a:spcPct val="100000"/>
                  </a:lnSpc>
                  <a:spcBef>
                    <a:spcPts val="1200"/>
                  </a:spcBef>
                </a:pPr>
                <a14:m>
                  <m:oMath xmlns:m="http://schemas.openxmlformats.org/officeDocument/2006/math">
                    <m:d>
                      <m:dPr>
                        <m:ctrlPr>
                          <a:rPr lang="en-US" sz="2400" b="0" i="1" smtClean="0">
                            <a:latin typeface="Cambria Math" panose="02040503050406030204" pitchFamily="18" charset="0"/>
                            <a:cs typeface="Times New Roman"/>
                          </a:rPr>
                        </m:ctrlPr>
                      </m:dPr>
                      <m:e>
                        <m:f>
                          <m:fPr>
                            <m:ctrlPr>
                              <a:rPr lang="en-US" sz="2400" b="0" i="1" smtClean="0">
                                <a:latin typeface="Cambria Math" panose="02040503050406030204" pitchFamily="18" charset="0"/>
                                <a:cs typeface="Times New Roman"/>
                              </a:rPr>
                            </m:ctrlPr>
                          </m:fPr>
                          <m:num>
                            <m:r>
                              <a:rPr lang="en-US" sz="2400" b="0" i="1" smtClean="0">
                                <a:latin typeface="Cambria Math" panose="02040503050406030204" pitchFamily="18" charset="0"/>
                                <a:cs typeface="Times New Roman"/>
                              </a:rPr>
                              <m:t>2</m:t>
                            </m:r>
                          </m:num>
                          <m:den>
                            <m:r>
                              <a:rPr lang="en-US" sz="2400" b="0" i="1" smtClean="0">
                                <a:latin typeface="Cambria Math" panose="02040503050406030204" pitchFamily="18" charset="0"/>
                                <a:cs typeface="Times New Roman"/>
                              </a:rPr>
                              <m:t>3</m:t>
                            </m:r>
                          </m:den>
                        </m:f>
                        <m:r>
                          <a:rPr lang="en-US" sz="2400" b="0" i="1" smtClean="0">
                            <a:latin typeface="Cambria Math" panose="02040503050406030204" pitchFamily="18" charset="0"/>
                            <a:cs typeface="Times New Roman"/>
                          </a:rPr>
                          <m:t>,</m:t>
                        </m:r>
                        <m:f>
                          <m:fPr>
                            <m:ctrlPr>
                              <a:rPr lang="en-US" sz="2400" b="0" i="1" smtClean="0">
                                <a:latin typeface="Cambria Math" panose="02040503050406030204" pitchFamily="18" charset="0"/>
                                <a:cs typeface="Times New Roman"/>
                              </a:rPr>
                            </m:ctrlPr>
                          </m:fPr>
                          <m:num>
                            <m:r>
                              <a:rPr lang="en-US" sz="2400" b="0" i="1" smtClean="0">
                                <a:latin typeface="Cambria Math" panose="02040503050406030204" pitchFamily="18" charset="0"/>
                                <a:cs typeface="Times New Roman"/>
                              </a:rPr>
                              <m:t>1</m:t>
                            </m:r>
                          </m:num>
                          <m:den>
                            <m:r>
                              <a:rPr lang="en-US" sz="2400" b="0" i="1" smtClean="0">
                                <a:latin typeface="Cambria Math" panose="02040503050406030204" pitchFamily="18" charset="0"/>
                                <a:cs typeface="Times New Roman"/>
                              </a:rPr>
                              <m:t>3</m:t>
                            </m:r>
                          </m:den>
                        </m:f>
                      </m:e>
                    </m:d>
                  </m:oMath>
                </a14:m>
                <a:r>
                  <a:rPr lang="en-US" sz="2400" dirty="0">
                    <a:latin typeface="Times New Roman"/>
                    <a:cs typeface="Times New Roman"/>
                  </a:rPr>
                  <a:t> for player 1 (row) and </a:t>
                </a:r>
                <a14:m>
                  <m:oMath xmlns:m="http://schemas.openxmlformats.org/officeDocument/2006/math">
                    <m:d>
                      <m:dPr>
                        <m:ctrlPr>
                          <a:rPr lang="en-US" sz="2400" b="0" i="1" smtClean="0">
                            <a:latin typeface="Cambria Math" panose="02040503050406030204" pitchFamily="18" charset="0"/>
                            <a:cs typeface="Times New Roman"/>
                          </a:rPr>
                        </m:ctrlPr>
                      </m:dPr>
                      <m:e>
                        <m:f>
                          <m:fPr>
                            <m:ctrlPr>
                              <a:rPr lang="en-US" sz="2400" b="0" i="1" smtClean="0">
                                <a:latin typeface="Cambria Math" panose="02040503050406030204" pitchFamily="18" charset="0"/>
                                <a:cs typeface="Times New Roman"/>
                              </a:rPr>
                            </m:ctrlPr>
                          </m:fPr>
                          <m:num>
                            <m:r>
                              <a:rPr lang="en-US" sz="2400" b="0" i="1" smtClean="0">
                                <a:latin typeface="Cambria Math" panose="02040503050406030204" pitchFamily="18" charset="0"/>
                                <a:cs typeface="Times New Roman"/>
                              </a:rPr>
                              <m:t>1</m:t>
                            </m:r>
                          </m:num>
                          <m:den>
                            <m:r>
                              <a:rPr lang="en-US" sz="2400" b="0" i="1" smtClean="0">
                                <a:latin typeface="Cambria Math" panose="02040503050406030204" pitchFamily="18" charset="0"/>
                                <a:cs typeface="Times New Roman"/>
                              </a:rPr>
                              <m:t>3</m:t>
                            </m:r>
                          </m:den>
                        </m:f>
                        <m:r>
                          <a:rPr lang="en-US" sz="2400" b="0" i="1" smtClean="0">
                            <a:latin typeface="Cambria Math" panose="02040503050406030204" pitchFamily="18" charset="0"/>
                            <a:cs typeface="Times New Roman"/>
                          </a:rPr>
                          <m:t>,</m:t>
                        </m:r>
                        <m:f>
                          <m:fPr>
                            <m:ctrlPr>
                              <a:rPr lang="en-US" sz="2400" b="0" i="1" smtClean="0">
                                <a:latin typeface="Cambria Math" panose="02040503050406030204" pitchFamily="18" charset="0"/>
                                <a:cs typeface="Times New Roman"/>
                              </a:rPr>
                            </m:ctrlPr>
                          </m:fPr>
                          <m:num>
                            <m:r>
                              <a:rPr lang="en-US" sz="2400" b="0" i="1" smtClean="0">
                                <a:latin typeface="Cambria Math" panose="02040503050406030204" pitchFamily="18" charset="0"/>
                                <a:cs typeface="Times New Roman"/>
                              </a:rPr>
                              <m:t>2</m:t>
                            </m:r>
                          </m:num>
                          <m:den>
                            <m:r>
                              <a:rPr lang="en-US" sz="2400" b="0" i="1" smtClean="0">
                                <a:latin typeface="Cambria Math" panose="02040503050406030204" pitchFamily="18" charset="0"/>
                                <a:cs typeface="Times New Roman"/>
                              </a:rPr>
                              <m:t>3</m:t>
                            </m:r>
                          </m:den>
                        </m:f>
                      </m:e>
                    </m:d>
                  </m:oMath>
                </a14:m>
                <a:r>
                  <a:rPr lang="en-US" sz="2400" dirty="0">
                    <a:latin typeface="Times New Roman"/>
                    <a:cs typeface="Times New Roman"/>
                  </a:rPr>
                  <a:t> for player 2 (column)</a:t>
                </a:r>
              </a:p>
              <a:p>
                <a:pPr marL="12700">
                  <a:lnSpc>
                    <a:spcPct val="100000"/>
                  </a:lnSpc>
                  <a:spcBef>
                    <a:spcPts val="1200"/>
                  </a:spcBef>
                </a:pPr>
                <a:r>
                  <a:rPr lang="en-US" sz="2400" dirty="0">
                    <a:latin typeface="Times New Roman"/>
                    <a:cs typeface="Times New Roman"/>
                  </a:rPr>
                  <a:t>Is a Nash equilibrium </a:t>
                </a:r>
                <a:r>
                  <a:rPr lang="en-US" sz="2400" i="1" dirty="0">
                    <a:latin typeface="Times New Roman"/>
                    <a:cs typeface="Times New Roman"/>
                  </a:rPr>
                  <a:t>in mixed strategies </a:t>
                </a:r>
                <a:endParaRPr lang="en-US" sz="2500" dirty="0">
                  <a:latin typeface="Times New Roman"/>
                  <a:cs typeface="Times New Roman"/>
                </a:endParaRPr>
              </a:p>
            </p:txBody>
          </p:sp>
        </mc:Choice>
        <mc:Fallback xmlns="">
          <p:sp>
            <p:nvSpPr>
              <p:cNvPr id="3" name="object 7">
                <a:extLst>
                  <a:ext uri="{FF2B5EF4-FFF2-40B4-BE49-F238E27FC236}">
                    <a16:creationId xmlns:a16="http://schemas.microsoft.com/office/drawing/2014/main" id="{0AC18A61-542C-374B-333D-CD27DBC0C809}"/>
                  </a:ext>
                </a:extLst>
              </p:cNvPr>
              <p:cNvSpPr txBox="1">
                <a:spLocks noRot="1" noChangeAspect="1" noMove="1" noResize="1" noEditPoints="1" noAdjustHandles="1" noChangeArrowheads="1" noChangeShapeType="1" noTextEdit="1"/>
              </p:cNvSpPr>
              <p:nvPr/>
            </p:nvSpPr>
            <p:spPr>
              <a:xfrm>
                <a:off x="315255" y="4343400"/>
                <a:ext cx="7865745" cy="1599156"/>
              </a:xfrm>
              <a:prstGeom prst="rect">
                <a:avLst/>
              </a:prstGeom>
              <a:blipFill>
                <a:blip r:embed="rId3"/>
                <a:stretch>
                  <a:fillRect l="-2248" t="-6107" b="-1068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77D3C77F-DB06-83A4-372A-BD36D914D4DE}"/>
                  </a:ext>
                </a:extLst>
              </p:cNvPr>
              <p:cNvSpPr txBox="1"/>
              <p:nvPr/>
            </p:nvSpPr>
            <p:spPr>
              <a:xfrm>
                <a:off x="3900696" y="2064028"/>
                <a:ext cx="4572000" cy="1955728"/>
              </a:xfrm>
              <a:prstGeom prst="rect">
                <a:avLst/>
              </a:prstGeom>
              <a:noFill/>
            </p:spPr>
            <p:txBody>
              <a:bodyPr wrap="square">
                <a:spAutoFit/>
              </a:bodyPr>
              <a:lstStyle/>
              <a:p>
                <a:pPr marL="12700"/>
                <a14:m>
                  <m:oMathPara xmlns:m="http://schemas.openxmlformats.org/officeDocument/2006/math">
                    <m:oMathParaPr>
                      <m:jc m:val="centerGroup"/>
                    </m:oMathParaPr>
                    <m:oMath xmlns:m="http://schemas.openxmlformats.org/officeDocument/2006/math">
                      <m:sSub>
                        <m:sSubPr>
                          <m:ctrlPr>
                            <a:rPr lang="en-US" sz="2400" b="0" i="1" spc="-15" dirty="0" smtClean="0">
                              <a:latin typeface="Cambria Math" panose="02040503050406030204" pitchFamily="18" charset="0"/>
                              <a:cs typeface="Times New Roman"/>
                            </a:rPr>
                          </m:ctrlPr>
                        </m:sSubPr>
                        <m:e>
                          <m:r>
                            <a:rPr lang="en-US" sz="2400" i="1" spc="-15" dirty="0" smtClean="0">
                              <a:latin typeface="Cambria Math" panose="02040503050406030204" pitchFamily="18" charset="0"/>
                              <a:cs typeface="Times New Roman"/>
                            </a:rPr>
                            <m:t>𝑢</m:t>
                          </m:r>
                        </m:e>
                        <m:sub>
                          <m:r>
                            <a:rPr lang="en-US" sz="2400" i="1" spc="-15" dirty="0" smtClean="0">
                              <a:latin typeface="Cambria Math" panose="02040503050406030204" pitchFamily="18" charset="0"/>
                              <a:cs typeface="Times New Roman"/>
                            </a:rPr>
                            <m:t>2</m:t>
                          </m:r>
                        </m:sub>
                      </m:sSub>
                      <m:r>
                        <a:rPr lang="en-US" sz="2400" i="1" spc="-15" dirty="0" smtClean="0">
                          <a:latin typeface="Cambria Math" panose="02040503050406030204" pitchFamily="18" charset="0"/>
                          <a:cs typeface="Times New Roman"/>
                        </a:rPr>
                        <m:t>(</m:t>
                      </m:r>
                      <m:r>
                        <a:rPr lang="en-US" sz="2400" i="1" spc="-15" dirty="0" smtClean="0">
                          <a:latin typeface="Cambria Math" panose="02040503050406030204" pitchFamily="18" charset="0"/>
                          <a:cs typeface="Times New Roman"/>
                        </a:rPr>
                        <m:t>𝐵</m:t>
                      </m:r>
                      <m:r>
                        <a:rPr lang="en-US" sz="2400" i="1" spc="-15" dirty="0" smtClean="0">
                          <a:latin typeface="Cambria Math" panose="02040503050406030204" pitchFamily="18" charset="0"/>
                          <a:cs typeface="Times New Roman"/>
                        </a:rPr>
                        <m:t>) = </m:t>
                      </m:r>
                      <m:sSub>
                        <m:sSubPr>
                          <m:ctrlPr>
                            <a:rPr lang="en-US" sz="2400" b="0" i="1" spc="-15" dirty="0" smtClean="0">
                              <a:latin typeface="Cambria Math" panose="02040503050406030204" pitchFamily="18" charset="0"/>
                              <a:cs typeface="Times New Roman"/>
                            </a:rPr>
                          </m:ctrlPr>
                        </m:sSubPr>
                        <m:e>
                          <m:r>
                            <a:rPr lang="en-US" sz="2400" i="1" spc="-15" dirty="0" smtClean="0">
                              <a:latin typeface="Cambria Math" panose="02040503050406030204" pitchFamily="18" charset="0"/>
                              <a:cs typeface="Times New Roman"/>
                            </a:rPr>
                            <m:t>𝑢</m:t>
                          </m:r>
                        </m:e>
                        <m:sub>
                          <m:r>
                            <a:rPr lang="en-US" sz="2400" i="1" spc="-15" dirty="0" smtClean="0">
                              <a:latin typeface="Cambria Math" panose="02040503050406030204" pitchFamily="18" charset="0"/>
                              <a:cs typeface="Times New Roman"/>
                            </a:rPr>
                            <m:t>2</m:t>
                          </m:r>
                        </m:sub>
                      </m:sSub>
                      <m:r>
                        <a:rPr lang="en-US" sz="2400" i="1" spc="-15" dirty="0" smtClean="0">
                          <a:latin typeface="Cambria Math" panose="02040503050406030204" pitchFamily="18" charset="0"/>
                          <a:cs typeface="Times New Roman"/>
                        </a:rPr>
                        <m:t>(</m:t>
                      </m:r>
                      <m:r>
                        <a:rPr lang="en-US" sz="2400" i="1" spc="-15" dirty="0" smtClean="0">
                          <a:latin typeface="Cambria Math" panose="02040503050406030204" pitchFamily="18" charset="0"/>
                          <a:cs typeface="Times New Roman"/>
                        </a:rPr>
                        <m:t>𝐹</m:t>
                      </m:r>
                      <m:r>
                        <a:rPr lang="en-US" sz="2400" i="1" spc="-15" dirty="0" smtClean="0">
                          <a:latin typeface="Cambria Math" panose="02040503050406030204" pitchFamily="18" charset="0"/>
                          <a:cs typeface="Times New Roman"/>
                        </a:rPr>
                        <m:t>)</m:t>
                      </m:r>
                    </m:oMath>
                  </m:oMathPara>
                </a14:m>
                <a:endParaRPr lang="en-US" sz="2400" i="1" spc="-15" dirty="0">
                  <a:latin typeface="Times New Roman"/>
                  <a:cs typeface="Times New Roman"/>
                </a:endParaRPr>
              </a:p>
              <a:p>
                <a:pPr marL="12700"/>
                <a:endParaRPr lang="en-US" sz="1400" i="1" spc="-15" dirty="0">
                  <a:latin typeface="Times New Roman"/>
                  <a:cs typeface="Times New Roman"/>
                </a:endParaRPr>
              </a:p>
              <a:p>
                <a:pPr marL="12700"/>
                <a:r>
                  <a:rPr lang="en-US" sz="2400" b="0" spc="-15" dirty="0">
                    <a:cs typeface="Times New Roman"/>
                  </a:rPr>
                  <a:t>     </a:t>
                </a:r>
                <a14:m>
                  <m:oMath xmlns:m="http://schemas.openxmlformats.org/officeDocument/2006/math">
                    <m:r>
                      <a:rPr lang="en-US" sz="2400" b="0" i="0" spc="-15" smtClean="0">
                        <a:solidFill>
                          <a:srgbClr val="FF0000"/>
                        </a:solidFill>
                        <a:latin typeface="Cambria Math" panose="02040503050406030204" pitchFamily="18" charset="0"/>
                        <a:cs typeface="Times New Roman"/>
                      </a:rPr>
                      <m:t>1</m:t>
                    </m:r>
                    <m:r>
                      <a:rPr lang="en-US" sz="2400" b="0" i="1" spc="-15" smtClean="0">
                        <a:latin typeface="Cambria Math" panose="02040503050406030204" pitchFamily="18" charset="0"/>
                        <a:cs typeface="Times New Roman"/>
                      </a:rPr>
                      <m:t>𝑞</m:t>
                    </m:r>
                    <m:r>
                      <a:rPr lang="en-US" sz="2400" b="0" i="1" spc="-15" smtClean="0">
                        <a:latin typeface="Cambria Math" panose="02040503050406030204" pitchFamily="18" charset="0"/>
                        <a:cs typeface="Times New Roman"/>
                      </a:rPr>
                      <m:t>+0</m:t>
                    </m:r>
                    <m:d>
                      <m:dPr>
                        <m:ctrlPr>
                          <a:rPr lang="en-US" sz="2400" b="0" i="1" spc="-15" smtClean="0">
                            <a:latin typeface="Cambria Math" panose="02040503050406030204" pitchFamily="18" charset="0"/>
                            <a:cs typeface="Times New Roman"/>
                          </a:rPr>
                        </m:ctrlPr>
                      </m:dPr>
                      <m:e>
                        <m:r>
                          <a:rPr lang="en-US" sz="2400" b="0" i="1" spc="-15" smtClean="0">
                            <a:latin typeface="Cambria Math" panose="02040503050406030204" pitchFamily="18" charset="0"/>
                            <a:cs typeface="Times New Roman"/>
                          </a:rPr>
                          <m:t>1−</m:t>
                        </m:r>
                        <m:r>
                          <a:rPr lang="en-US" sz="2400" b="0" i="1" spc="-15" smtClean="0">
                            <a:latin typeface="Cambria Math" panose="02040503050406030204" pitchFamily="18" charset="0"/>
                            <a:cs typeface="Times New Roman"/>
                          </a:rPr>
                          <m:t>𝑞</m:t>
                        </m:r>
                      </m:e>
                    </m:d>
                    <m:r>
                      <a:rPr lang="en-US" sz="2400" b="0" i="1" spc="-15" smtClean="0">
                        <a:latin typeface="Cambria Math" panose="02040503050406030204" pitchFamily="18" charset="0"/>
                        <a:cs typeface="Times New Roman"/>
                      </a:rPr>
                      <m:t>=</m:t>
                    </m:r>
                    <m:r>
                      <a:rPr lang="en-US" sz="2400" b="0" i="1" spc="-15" smtClean="0">
                        <a:solidFill>
                          <a:srgbClr val="0000FF"/>
                        </a:solidFill>
                        <a:latin typeface="Cambria Math" panose="02040503050406030204" pitchFamily="18" charset="0"/>
                        <a:cs typeface="Times New Roman"/>
                      </a:rPr>
                      <m:t>0</m:t>
                    </m:r>
                    <m:r>
                      <a:rPr lang="en-US" sz="2400" b="0" i="1" spc="-15" smtClean="0">
                        <a:latin typeface="Cambria Math" panose="02040503050406030204" pitchFamily="18" charset="0"/>
                        <a:cs typeface="Times New Roman"/>
                      </a:rPr>
                      <m:t>𝑞</m:t>
                    </m:r>
                    <m:r>
                      <a:rPr lang="en-US" sz="2400" b="0" i="1" spc="-15" smtClean="0">
                        <a:latin typeface="Cambria Math" panose="02040503050406030204" pitchFamily="18" charset="0"/>
                        <a:cs typeface="Times New Roman"/>
                      </a:rPr>
                      <m:t>+2</m:t>
                    </m:r>
                    <m:d>
                      <m:dPr>
                        <m:ctrlPr>
                          <a:rPr lang="en-US" sz="2400" b="0" i="1" spc="-15" smtClean="0">
                            <a:latin typeface="Cambria Math" panose="02040503050406030204" pitchFamily="18" charset="0"/>
                            <a:cs typeface="Times New Roman"/>
                          </a:rPr>
                        </m:ctrlPr>
                      </m:dPr>
                      <m:e>
                        <m:r>
                          <a:rPr lang="en-US" sz="2400" b="0" i="1" spc="-15" smtClean="0">
                            <a:latin typeface="Cambria Math" panose="02040503050406030204" pitchFamily="18" charset="0"/>
                            <a:cs typeface="Times New Roman"/>
                          </a:rPr>
                          <m:t>1−</m:t>
                        </m:r>
                        <m:r>
                          <a:rPr lang="en-US" sz="2400" b="0" i="1" spc="-15" smtClean="0">
                            <a:latin typeface="Cambria Math" panose="02040503050406030204" pitchFamily="18" charset="0"/>
                            <a:cs typeface="Times New Roman"/>
                          </a:rPr>
                          <m:t>𝑞</m:t>
                        </m:r>
                      </m:e>
                    </m:d>
                  </m:oMath>
                </a14:m>
                <a:endParaRPr lang="en-US" sz="2400" b="0" i="1" spc="-15" dirty="0">
                  <a:latin typeface="Times New Roman"/>
                  <a:cs typeface="Times New Roman"/>
                </a:endParaRPr>
              </a:p>
              <a:p>
                <a:pPr marL="12700"/>
                <a:endParaRPr lang="en-US" sz="1000" b="0" i="1" spc="-15" dirty="0">
                  <a:latin typeface="Times New Roman"/>
                  <a:cs typeface="Times New Roman"/>
                </a:endParaRPr>
              </a:p>
              <a:p>
                <a:pPr marL="12700"/>
                <a14:m>
                  <m:oMathPara xmlns:m="http://schemas.openxmlformats.org/officeDocument/2006/math">
                    <m:oMathParaPr>
                      <m:jc m:val="centerGroup"/>
                    </m:oMathParaPr>
                    <m:oMath xmlns:m="http://schemas.openxmlformats.org/officeDocument/2006/math">
                      <m:r>
                        <a:rPr lang="en-US" sz="2400" b="0" i="1" spc="-15" smtClean="0">
                          <a:latin typeface="Cambria Math" panose="02040503050406030204" pitchFamily="18" charset="0"/>
                          <a:cs typeface="Times New Roman"/>
                        </a:rPr>
                        <m:t>𝑞</m:t>
                      </m:r>
                      <m:r>
                        <a:rPr lang="en-US" sz="2400" b="0" i="1" spc="-15" smtClean="0">
                          <a:latin typeface="Cambria Math" panose="02040503050406030204" pitchFamily="18" charset="0"/>
                          <a:cs typeface="Times New Roman"/>
                        </a:rPr>
                        <m:t>=</m:t>
                      </m:r>
                      <m:f>
                        <m:fPr>
                          <m:ctrlPr>
                            <a:rPr lang="en-US" sz="2400" b="0" i="1" spc="-15" smtClean="0">
                              <a:latin typeface="Cambria Math" panose="02040503050406030204" pitchFamily="18" charset="0"/>
                              <a:cs typeface="Times New Roman"/>
                            </a:rPr>
                          </m:ctrlPr>
                        </m:fPr>
                        <m:num>
                          <m:r>
                            <a:rPr lang="en-US" sz="2400" b="0" i="1" spc="-15" smtClean="0">
                              <a:latin typeface="Cambria Math" panose="02040503050406030204" pitchFamily="18" charset="0"/>
                              <a:cs typeface="Times New Roman"/>
                            </a:rPr>
                            <m:t>2</m:t>
                          </m:r>
                        </m:num>
                        <m:den>
                          <m:r>
                            <a:rPr lang="en-US" sz="2400" b="0" i="1" spc="-15" smtClean="0">
                              <a:latin typeface="Cambria Math" panose="02040503050406030204" pitchFamily="18" charset="0"/>
                              <a:cs typeface="Times New Roman"/>
                            </a:rPr>
                            <m:t>3</m:t>
                          </m:r>
                        </m:den>
                      </m:f>
                    </m:oMath>
                  </m:oMathPara>
                </a14:m>
                <a:endParaRPr lang="en-US" sz="2400" i="1" spc="-15" dirty="0">
                  <a:latin typeface="Times New Roman"/>
                  <a:cs typeface="Times New Roman"/>
                </a:endParaRPr>
              </a:p>
            </p:txBody>
          </p:sp>
        </mc:Choice>
        <mc:Fallback>
          <p:sp>
            <p:nvSpPr>
              <p:cNvPr id="6" name="TextBox 5">
                <a:extLst>
                  <a:ext uri="{FF2B5EF4-FFF2-40B4-BE49-F238E27FC236}">
                    <a16:creationId xmlns:a16="http://schemas.microsoft.com/office/drawing/2014/main" id="{77D3C77F-DB06-83A4-372A-BD36D914D4DE}"/>
                  </a:ext>
                </a:extLst>
              </p:cNvPr>
              <p:cNvSpPr txBox="1">
                <a:spLocks noRot="1" noChangeAspect="1" noMove="1" noResize="1" noEditPoints="1" noAdjustHandles="1" noChangeArrowheads="1" noChangeShapeType="1" noTextEdit="1"/>
              </p:cNvSpPr>
              <p:nvPr/>
            </p:nvSpPr>
            <p:spPr>
              <a:xfrm>
                <a:off x="3900696" y="2064028"/>
                <a:ext cx="4572000" cy="1955728"/>
              </a:xfrm>
              <a:prstGeom prst="rect">
                <a:avLst/>
              </a:prstGeom>
              <a:blipFill>
                <a:blip r:embed="rId4"/>
                <a:stretch>
                  <a:fillRect/>
                </a:stretch>
              </a:blipFill>
            </p:spPr>
            <p:txBody>
              <a:bodyPr/>
              <a:lstStyle/>
              <a:p>
                <a:r>
                  <a:rPr lang="en-MY">
                    <a:noFill/>
                  </a:rPr>
                  <a:t> </a:t>
                </a:r>
              </a:p>
            </p:txBody>
          </p:sp>
        </mc:Fallback>
      </mc:AlternateContent>
      <p:sp>
        <p:nvSpPr>
          <p:cNvPr id="7" name="Slide Number Placeholder 8">
            <a:extLst>
              <a:ext uri="{FF2B5EF4-FFF2-40B4-BE49-F238E27FC236}">
                <a16:creationId xmlns:a16="http://schemas.microsoft.com/office/drawing/2014/main" id="{460D6BA2-1AAB-ED44-B7B0-34AE8F12885E}"/>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33</a:t>
            </a:fld>
            <a:r>
              <a:rPr lang="en-US" sz="2000" dirty="0">
                <a:solidFill>
                  <a:prstClr val="black"/>
                </a:solidFill>
                <a:latin typeface="Comic Sans MS"/>
                <a:sym typeface="Comic Sans MS"/>
              </a:rPr>
              <a:t>/46</a:t>
            </a:r>
          </a:p>
        </p:txBody>
      </p:sp>
      <p:sp>
        <p:nvSpPr>
          <p:cNvPr id="9" name="Footer Placeholder 9">
            <a:extLst>
              <a:ext uri="{FF2B5EF4-FFF2-40B4-BE49-F238E27FC236}">
                <a16:creationId xmlns:a16="http://schemas.microsoft.com/office/drawing/2014/main" id="{CF40A3AB-4B04-CCAA-EEC8-2290E0257C33}"/>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1" name="Rectangle 10">
            <a:extLst>
              <a:ext uri="{FF2B5EF4-FFF2-40B4-BE49-F238E27FC236}">
                <a16:creationId xmlns:a16="http://schemas.microsoft.com/office/drawing/2014/main" id="{7A98F31D-2B4D-D397-EFDC-33B75A83D869}"/>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3" name="Rectangle 12">
            <a:extLst>
              <a:ext uri="{FF2B5EF4-FFF2-40B4-BE49-F238E27FC236}">
                <a16:creationId xmlns:a16="http://schemas.microsoft.com/office/drawing/2014/main" id="{4D86E51F-8828-AE87-4F61-CF78BDC02C8E}"/>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E19035C4-A7A4-DCE9-561B-B2843D9EBE22}"/>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DD5F4341-24D6-2A61-54CB-D13FF34FF984}"/>
                  </a:ext>
                </a:extLst>
              </p:cNvPr>
              <p:cNvSpPr txBox="1"/>
              <p:nvPr/>
            </p:nvSpPr>
            <p:spPr>
              <a:xfrm>
                <a:off x="3845430" y="1676320"/>
                <a:ext cx="4627266" cy="369332"/>
              </a:xfrm>
              <a:prstGeom prst="rect">
                <a:avLst/>
              </a:prstGeom>
              <a:noFill/>
            </p:spPr>
            <p:txBody>
              <a:bodyPr wrap="square">
                <a:spAutoFit/>
              </a:bodyPr>
              <a:lstStyle/>
              <a:p>
                <a:pPr marL="12700" algn="ctr">
                  <a:lnSpc>
                    <a:spcPct val="100000"/>
                  </a:lnSpc>
                </a:pPr>
                <a14:m>
                  <m:oMath xmlns:m="http://schemas.openxmlformats.org/officeDocument/2006/math">
                    <m:r>
                      <a:rPr lang="en-US" sz="1800" i="1" dirty="0" smtClean="0">
                        <a:latin typeface="Cambria Math" panose="02040503050406030204" pitchFamily="18" charset="0"/>
                        <a:ea typeface="Cambria Math" panose="02040503050406030204" pitchFamily="18" charset="0"/>
                      </a:rPr>
                      <m:t>𝔼</m:t>
                    </m:r>
                  </m:oMath>
                </a14:m>
                <a:r>
                  <a:rPr lang="en-US" sz="1800" dirty="0"/>
                  <a:t>[payoff for col 1] </a:t>
                </a:r>
                <a14:m>
                  <m:oMath xmlns:m="http://schemas.openxmlformats.org/officeDocument/2006/math">
                    <m:r>
                      <a:rPr lang="en-US" sz="1800" i="1" dirty="0" smtClean="0">
                        <a:latin typeface="Cambria Math" panose="02040503050406030204" pitchFamily="18" charset="0"/>
                      </a:rPr>
                      <m:t>=</m:t>
                    </m:r>
                  </m:oMath>
                </a14:m>
                <a:r>
                  <a:rPr lang="en-US" sz="1800" dirty="0">
                    <a:ea typeface="Cambria Math" panose="02040503050406030204" pitchFamily="18" charset="0"/>
                  </a:rPr>
                  <a:t> </a:t>
                </a:r>
                <a14:m>
                  <m:oMath xmlns:m="http://schemas.openxmlformats.org/officeDocument/2006/math">
                    <m:r>
                      <a:rPr lang="en-US" sz="1800" i="1" dirty="0">
                        <a:latin typeface="Cambria Math" panose="02040503050406030204" pitchFamily="18" charset="0"/>
                        <a:ea typeface="Cambria Math" panose="02040503050406030204" pitchFamily="18" charset="0"/>
                      </a:rPr>
                      <m:t>𝔼</m:t>
                    </m:r>
                  </m:oMath>
                </a14:m>
                <a:r>
                  <a:rPr lang="en-US" sz="1800" dirty="0"/>
                  <a:t>[payoff for col 2] </a:t>
                </a:r>
                <a:endParaRPr lang="en-US" sz="1800" i="1" spc="-85" dirty="0">
                  <a:latin typeface="Times New Roman"/>
                  <a:cs typeface="Times New Roman"/>
                </a:endParaRPr>
              </a:p>
            </p:txBody>
          </p:sp>
        </mc:Choice>
        <mc:Fallback>
          <p:sp>
            <p:nvSpPr>
              <p:cNvPr id="15" name="TextBox 14">
                <a:extLst>
                  <a:ext uri="{FF2B5EF4-FFF2-40B4-BE49-F238E27FC236}">
                    <a16:creationId xmlns:a16="http://schemas.microsoft.com/office/drawing/2014/main" id="{DD5F4341-24D6-2A61-54CB-D13FF34FF984}"/>
                  </a:ext>
                </a:extLst>
              </p:cNvPr>
              <p:cNvSpPr txBox="1">
                <a:spLocks noRot="1" noChangeAspect="1" noMove="1" noResize="1" noEditPoints="1" noAdjustHandles="1" noChangeArrowheads="1" noChangeShapeType="1" noTextEdit="1"/>
              </p:cNvSpPr>
              <p:nvPr/>
            </p:nvSpPr>
            <p:spPr>
              <a:xfrm>
                <a:off x="3845430" y="1676320"/>
                <a:ext cx="4627266" cy="369332"/>
              </a:xfrm>
              <a:prstGeom prst="rect">
                <a:avLst/>
              </a:prstGeom>
              <a:blipFill>
                <a:blip r:embed="rId5"/>
                <a:stretch>
                  <a:fillRect t="-9836" b="-24590"/>
                </a:stretch>
              </a:blipFill>
            </p:spPr>
            <p:txBody>
              <a:bodyPr/>
              <a:lstStyle/>
              <a:p>
                <a:r>
                  <a:rPr lang="en-MY">
                    <a:noFill/>
                  </a:rPr>
                  <a:t> </a:t>
                </a:r>
              </a:p>
            </p:txBody>
          </p:sp>
        </mc:Fallback>
      </mc:AlternateContent>
    </p:spTree>
    <p:extLst>
      <p:ext uri="{BB962C8B-B14F-4D97-AF65-F5344CB8AC3E}">
        <p14:creationId xmlns:p14="http://schemas.microsoft.com/office/powerpoint/2010/main" val="20242683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F</a:t>
            </a:r>
            <a:r>
              <a:rPr dirty="0"/>
              <a:t>inding</a:t>
            </a:r>
            <a:r>
              <a:rPr spc="-5" dirty="0"/>
              <a:t> </a:t>
            </a:r>
            <a:r>
              <a:rPr dirty="0"/>
              <a:t>mixed</a:t>
            </a:r>
            <a:r>
              <a:rPr spc="-5" dirty="0"/>
              <a:t> </a:t>
            </a:r>
            <a:r>
              <a:rPr dirty="0"/>
              <a:t>Nash</a:t>
            </a:r>
            <a:r>
              <a:rPr spc="-5" dirty="0"/>
              <a:t> </a:t>
            </a:r>
            <a:r>
              <a:rPr dirty="0"/>
              <a:t>in</a:t>
            </a:r>
            <a:r>
              <a:rPr spc="-5" dirty="0"/>
              <a:t> </a:t>
            </a:r>
            <a:r>
              <a:rPr dirty="0"/>
              <a:t>general</a:t>
            </a:r>
          </a:p>
        </p:txBody>
      </p:sp>
      <mc:AlternateContent xmlns:mc="http://schemas.openxmlformats.org/markup-compatibility/2006" xmlns:a14="http://schemas.microsoft.com/office/drawing/2010/main">
        <mc:Choice Requires="a14">
          <p:sp>
            <p:nvSpPr>
              <p:cNvPr id="6" name="object 6"/>
              <p:cNvSpPr txBox="1"/>
              <p:nvPr/>
            </p:nvSpPr>
            <p:spPr>
              <a:xfrm>
                <a:off x="255587" y="1902935"/>
                <a:ext cx="8988978" cy="1859483"/>
              </a:xfrm>
              <a:prstGeom prst="rect">
                <a:avLst/>
              </a:prstGeom>
            </p:spPr>
            <p:txBody>
              <a:bodyPr vert="horz" wrap="square" lIns="0" tIns="0" rIns="0" bIns="0" rtlCol="0">
                <a:spAutoFit/>
              </a:bodyPr>
              <a:lstStyle/>
              <a:p>
                <a:pPr marL="393700" marR="5080" indent="-381000">
                  <a:lnSpc>
                    <a:spcPts val="3200"/>
                  </a:lnSpc>
                  <a:buSzPct val="169642"/>
                  <a:buFont typeface="Gill Sans MT"/>
                  <a:buChar char="•"/>
                  <a:tabLst>
                    <a:tab pos="393700" algn="l"/>
                  </a:tabLst>
                </a:pPr>
                <a:r>
                  <a:rPr lang="en-US" sz="2800" dirty="0">
                    <a:latin typeface="Gill Sans MT"/>
                    <a:cs typeface="Gill Sans MT"/>
                  </a:rPr>
                  <a:t>If</a:t>
                </a:r>
                <a:r>
                  <a:rPr lang="en-US" sz="2800" spc="-5" dirty="0">
                    <a:latin typeface="Gill Sans MT"/>
                    <a:cs typeface="Gill Sans MT"/>
                  </a:rPr>
                  <a:t> </a:t>
                </a:r>
                <a:r>
                  <a:rPr lang="en-US" sz="2800" dirty="0">
                    <a:latin typeface="Gill Sans MT"/>
                    <a:cs typeface="Gill Sans MT"/>
                  </a:rPr>
                  <a:t>the</a:t>
                </a:r>
                <a:r>
                  <a:rPr lang="en-US" sz="2800" spc="-5" dirty="0">
                    <a:latin typeface="Gill Sans MT"/>
                    <a:cs typeface="Gill Sans MT"/>
                  </a:rPr>
                  <a:t> </a:t>
                </a:r>
                <a:r>
                  <a:rPr lang="en-US" sz="2800" spc="-15" dirty="0">
                    <a:latin typeface="Gill Sans MT"/>
                    <a:cs typeface="Gill Sans MT"/>
                  </a:rPr>
                  <a:t>suppo</a:t>
                </a:r>
                <a:r>
                  <a:rPr lang="en-US" sz="2800" spc="40" dirty="0">
                    <a:latin typeface="Gill Sans MT"/>
                    <a:cs typeface="Gill Sans MT"/>
                  </a:rPr>
                  <a:t>r</a:t>
                </a:r>
                <a:r>
                  <a:rPr lang="en-US" sz="2800" dirty="0">
                    <a:latin typeface="Gill Sans MT"/>
                    <a:cs typeface="Gill Sans MT"/>
                  </a:rPr>
                  <a:t>t</a:t>
                </a:r>
                <a:r>
                  <a:rPr lang="en-US" sz="2800" spc="-5" dirty="0">
                    <a:latin typeface="Gill Sans MT"/>
                    <a:cs typeface="Gill Sans MT"/>
                  </a:rPr>
                  <a:t> </a:t>
                </a:r>
                <a:r>
                  <a:rPr lang="en-US" sz="2800" spc="-20" dirty="0">
                    <a:latin typeface="Gill Sans MT"/>
                    <a:cs typeface="Gill Sans MT"/>
                  </a:rPr>
                  <a:t>o</a:t>
                </a:r>
                <a:r>
                  <a:rPr lang="en-US" sz="2800" dirty="0">
                    <a:latin typeface="Gill Sans MT"/>
                    <a:cs typeface="Gill Sans MT"/>
                  </a:rPr>
                  <a:t>f</a:t>
                </a:r>
                <a:r>
                  <a:rPr lang="en-US" sz="2800" spc="-5" dirty="0">
                    <a:latin typeface="Gill Sans MT"/>
                    <a:cs typeface="Gill Sans MT"/>
                  </a:rPr>
                  <a:t> </a:t>
                </a:r>
                <a:r>
                  <a:rPr lang="en-US" sz="2800" dirty="0">
                    <a:latin typeface="Gill Sans MT"/>
                    <a:cs typeface="Gill Sans MT"/>
                  </a:rPr>
                  <a:t>the</a:t>
                </a:r>
                <a:r>
                  <a:rPr lang="en-US" sz="2800" spc="-5" dirty="0">
                    <a:latin typeface="Gill Sans MT"/>
                    <a:cs typeface="Gill Sans MT"/>
                  </a:rPr>
                  <a:t> </a:t>
                </a:r>
                <a:r>
                  <a:rPr lang="en-US" sz="2800" dirty="0">
                    <a:latin typeface="Gill Sans MT"/>
                    <a:cs typeface="Gill Sans MT"/>
                  </a:rPr>
                  <a:t>m</a:t>
                </a:r>
                <a:r>
                  <a:rPr lang="en-US" sz="2800" spc="-5" dirty="0">
                    <a:latin typeface="Gill Sans MT"/>
                    <a:cs typeface="Gill Sans MT"/>
                  </a:rPr>
                  <a:t>i</a:t>
                </a:r>
                <a:r>
                  <a:rPr lang="en-US" sz="2800" spc="-85" dirty="0">
                    <a:latin typeface="Gill Sans MT"/>
                    <a:cs typeface="Gill Sans MT"/>
                  </a:rPr>
                  <a:t>x</a:t>
                </a:r>
                <a:r>
                  <a:rPr lang="en-US" sz="2800" spc="-15" dirty="0">
                    <a:latin typeface="Gill Sans MT"/>
                    <a:cs typeface="Gill Sans MT"/>
                  </a:rPr>
                  <a:t>ed</a:t>
                </a:r>
                <a:r>
                  <a:rPr lang="en-US" sz="2800" spc="-5" dirty="0">
                    <a:latin typeface="Gill Sans MT"/>
                    <a:cs typeface="Gill Sans MT"/>
                  </a:rPr>
                  <a:t> </a:t>
                </a:r>
                <a:r>
                  <a:rPr lang="en-US" sz="2800" spc="-15" dirty="0">
                    <a:latin typeface="Gill Sans MT"/>
                    <a:cs typeface="Gill Sans MT"/>
                  </a:rPr>
                  <a:t>Nas</a:t>
                </a:r>
                <a:r>
                  <a:rPr lang="en-US" sz="2800" dirty="0">
                    <a:latin typeface="Gill Sans MT"/>
                    <a:cs typeface="Gill Sans MT"/>
                  </a:rPr>
                  <a:t>h</a:t>
                </a:r>
                <a:r>
                  <a:rPr lang="en-US" sz="2800" spc="-5" dirty="0">
                    <a:latin typeface="Gill Sans MT"/>
                    <a:cs typeface="Gill Sans MT"/>
                  </a:rPr>
                  <a:t> </a:t>
                </a:r>
                <a:r>
                  <a:rPr lang="en-US" sz="2800" dirty="0">
                    <a:latin typeface="Gill Sans MT"/>
                    <a:cs typeface="Gill Sans MT"/>
                  </a:rPr>
                  <a:t>Equ</a:t>
                </a:r>
                <a:r>
                  <a:rPr lang="en-US" sz="2800" spc="-5" dirty="0">
                    <a:latin typeface="Gill Sans MT"/>
                    <a:cs typeface="Gill Sans MT"/>
                  </a:rPr>
                  <a:t>ili</a:t>
                </a:r>
                <a:r>
                  <a:rPr lang="en-US" sz="2800" dirty="0">
                    <a:latin typeface="Gill Sans MT"/>
                    <a:cs typeface="Gill Sans MT"/>
                  </a:rPr>
                  <a:t>bri</a:t>
                </a:r>
                <a:r>
                  <a:rPr lang="en-US" sz="2800" spc="-15" dirty="0">
                    <a:latin typeface="Gill Sans MT"/>
                    <a:cs typeface="Gill Sans MT"/>
                  </a:rPr>
                  <a:t>a</a:t>
                </a:r>
                <a:r>
                  <a:rPr lang="en-US" sz="2800" spc="-5" dirty="0">
                    <a:latin typeface="Gill Sans MT"/>
                    <a:cs typeface="Gill Sans MT"/>
                  </a:rPr>
                  <a:t> i</a:t>
                </a:r>
                <a:r>
                  <a:rPr lang="en-US" sz="2800" spc="-15" dirty="0">
                    <a:latin typeface="Gill Sans MT"/>
                    <a:cs typeface="Gill Sans MT"/>
                  </a:rPr>
                  <a:t>s</a:t>
                </a:r>
                <a:r>
                  <a:rPr lang="en-US" sz="2800" spc="-5" dirty="0">
                    <a:latin typeface="Gill Sans MT"/>
                    <a:cs typeface="Gill Sans MT"/>
                  </a:rPr>
                  <a:t> </a:t>
                </a:r>
                <a:r>
                  <a:rPr lang="en-US" sz="2800" spc="-15" dirty="0">
                    <a:latin typeface="Gill Sans MT"/>
                    <a:cs typeface="Gill Sans MT"/>
                  </a:rPr>
                  <a:t>kn</a:t>
                </a:r>
                <a:r>
                  <a:rPr lang="en-US" sz="2800" spc="-50" dirty="0">
                    <a:latin typeface="Gill Sans MT"/>
                    <a:cs typeface="Gill Sans MT"/>
                  </a:rPr>
                  <a:t>o</a:t>
                </a:r>
                <a:r>
                  <a:rPr lang="en-US" sz="2800" spc="-5" dirty="0">
                    <a:latin typeface="Gill Sans MT"/>
                    <a:cs typeface="Gill Sans MT"/>
                  </a:rPr>
                  <a:t>w</a:t>
                </a:r>
                <a:r>
                  <a:rPr lang="en-US" sz="2800" dirty="0">
                    <a:latin typeface="Gill Sans MT"/>
                    <a:cs typeface="Gill Sans MT"/>
                  </a:rPr>
                  <a:t>n, </a:t>
                </a:r>
                <a:br>
                  <a:rPr lang="en-US" sz="2800" dirty="0">
                    <a:latin typeface="Gill Sans MT"/>
                    <a:cs typeface="Gill Sans MT"/>
                  </a:rPr>
                </a:br>
                <a:r>
                  <a:rPr lang="en-US" sz="2800" dirty="0">
                    <a:latin typeface="Gill Sans MT"/>
                    <a:cs typeface="Gill Sans MT"/>
                  </a:rPr>
                  <a:t>the</a:t>
                </a:r>
                <a:r>
                  <a:rPr lang="en-US" sz="2800" spc="-5" dirty="0">
                    <a:latin typeface="Gill Sans MT"/>
                    <a:cs typeface="Gill Sans MT"/>
                  </a:rPr>
                  <a:t> </a:t>
                </a:r>
                <a:r>
                  <a:rPr lang="en-US" sz="2800" spc="-15" dirty="0">
                    <a:latin typeface="Gill Sans MT"/>
                    <a:cs typeface="Gill Sans MT"/>
                  </a:rPr>
                  <a:t>p</a:t>
                </a:r>
                <a:r>
                  <a:rPr lang="en-US" sz="2800" spc="-85" dirty="0">
                    <a:latin typeface="Gill Sans MT"/>
                    <a:cs typeface="Gill Sans MT"/>
                  </a:rPr>
                  <a:t>r</a:t>
                </a:r>
                <a:r>
                  <a:rPr lang="en-US" sz="2800" spc="-20" dirty="0">
                    <a:latin typeface="Gill Sans MT"/>
                    <a:cs typeface="Gill Sans MT"/>
                  </a:rPr>
                  <a:t>o</a:t>
                </a:r>
                <a:r>
                  <a:rPr lang="en-US" sz="2800" dirty="0">
                    <a:latin typeface="Gill Sans MT"/>
                    <a:cs typeface="Gill Sans MT"/>
                  </a:rPr>
                  <a:t>b</a:t>
                </a:r>
                <a:r>
                  <a:rPr lang="en-US" sz="2800" spc="-5" dirty="0">
                    <a:latin typeface="Gill Sans MT"/>
                    <a:cs typeface="Gill Sans MT"/>
                  </a:rPr>
                  <a:t>l</a:t>
                </a:r>
                <a:r>
                  <a:rPr lang="en-US" sz="2800" dirty="0">
                    <a:latin typeface="Gill Sans MT"/>
                    <a:cs typeface="Gill Sans MT"/>
                  </a:rPr>
                  <a:t>em</a:t>
                </a:r>
                <a:r>
                  <a:rPr lang="en-US" sz="2800" spc="-5" dirty="0">
                    <a:latin typeface="Gill Sans MT"/>
                    <a:cs typeface="Gill Sans MT"/>
                  </a:rPr>
                  <a:t> </a:t>
                </a:r>
                <a:r>
                  <a:rPr lang="en-US" sz="2800" spc="-75" dirty="0">
                    <a:latin typeface="Gill Sans MT"/>
                    <a:cs typeface="Gill Sans MT"/>
                  </a:rPr>
                  <a:t>r</a:t>
                </a:r>
                <a:r>
                  <a:rPr lang="en-US" sz="2800" spc="-15" dirty="0">
                    <a:latin typeface="Gill Sans MT"/>
                    <a:cs typeface="Gill Sans MT"/>
                  </a:rPr>
                  <a:t>educes</a:t>
                </a:r>
                <a:r>
                  <a:rPr lang="en-US" sz="2800" spc="-5" dirty="0">
                    <a:latin typeface="Gill Sans MT"/>
                    <a:cs typeface="Gill Sans MT"/>
                  </a:rPr>
                  <a:t> </a:t>
                </a:r>
                <a:r>
                  <a:rPr lang="en-US" sz="2800" spc="-15" dirty="0">
                    <a:latin typeface="Gill Sans MT"/>
                    <a:cs typeface="Gill Sans MT"/>
                  </a:rPr>
                  <a:t>to</a:t>
                </a:r>
                <a:r>
                  <a:rPr lang="en-US" sz="2800" spc="-5" dirty="0">
                    <a:latin typeface="Gill Sans MT"/>
                    <a:cs typeface="Gill Sans MT"/>
                  </a:rPr>
                  <a:t> </a:t>
                </a:r>
                <a:r>
                  <a:rPr lang="en-US" sz="2800" spc="-15" dirty="0">
                    <a:latin typeface="Gill Sans MT"/>
                    <a:cs typeface="Gill Sans MT"/>
                  </a:rPr>
                  <a:t>a</a:t>
                </a:r>
                <a:r>
                  <a:rPr lang="en-US" sz="2800" spc="-5" dirty="0">
                    <a:latin typeface="Gill Sans MT"/>
                    <a:cs typeface="Gill Sans MT"/>
                  </a:rPr>
                  <a:t> </a:t>
                </a:r>
                <a:r>
                  <a:rPr lang="en-US" sz="2800" spc="-15" dirty="0">
                    <a:latin typeface="Gill Sans MT"/>
                    <a:cs typeface="Gill Sans MT"/>
                  </a:rPr>
                  <a:t>sys</a:t>
                </a:r>
                <a:r>
                  <a:rPr lang="en-US" sz="2800" dirty="0">
                    <a:latin typeface="Gill Sans MT"/>
                    <a:cs typeface="Gill Sans MT"/>
                  </a:rPr>
                  <a:t>tem</a:t>
                </a:r>
                <a:r>
                  <a:rPr lang="en-US" sz="2800" spc="-5" dirty="0">
                    <a:latin typeface="Gill Sans MT"/>
                    <a:cs typeface="Gill Sans MT"/>
                  </a:rPr>
                  <a:t> </a:t>
                </a:r>
                <a:r>
                  <a:rPr lang="en-US" sz="2800" spc="-20" dirty="0">
                    <a:latin typeface="Gill Sans MT"/>
                    <a:cs typeface="Gill Sans MT"/>
                  </a:rPr>
                  <a:t>o</a:t>
                </a:r>
                <a:r>
                  <a:rPr lang="en-US" sz="2800" dirty="0">
                    <a:latin typeface="Gill Sans MT"/>
                    <a:cs typeface="Gill Sans MT"/>
                  </a:rPr>
                  <a:t>f</a:t>
                </a:r>
                <a:r>
                  <a:rPr lang="en-US" sz="2800" spc="-5" dirty="0">
                    <a:latin typeface="Gill Sans MT"/>
                    <a:cs typeface="Gill Sans MT"/>
                  </a:rPr>
                  <a:t> li</a:t>
                </a:r>
                <a:r>
                  <a:rPr lang="en-US" sz="2800" spc="-15" dirty="0">
                    <a:latin typeface="Gill Sans MT"/>
                    <a:cs typeface="Gill Sans MT"/>
                  </a:rPr>
                  <a:t>near</a:t>
                </a:r>
                <a:r>
                  <a:rPr lang="en-US" sz="2800" spc="-5" dirty="0">
                    <a:latin typeface="Gill Sans MT"/>
                    <a:cs typeface="Gill Sans MT"/>
                  </a:rPr>
                  <a:t> </a:t>
                </a:r>
                <a:r>
                  <a:rPr lang="en-US" sz="2800" spc="-15" dirty="0">
                    <a:latin typeface="Gill Sans MT"/>
                    <a:cs typeface="Gill Sans MT"/>
                  </a:rPr>
                  <a:t>equa</a:t>
                </a:r>
                <a:r>
                  <a:rPr lang="en-US" sz="2800" dirty="0">
                    <a:latin typeface="Gill Sans MT"/>
                    <a:cs typeface="Gill Sans MT"/>
                  </a:rPr>
                  <a:t>t</a:t>
                </a:r>
                <a:r>
                  <a:rPr lang="en-US" sz="2800" spc="-5" dirty="0">
                    <a:latin typeface="Gill Sans MT"/>
                    <a:cs typeface="Gill Sans MT"/>
                  </a:rPr>
                  <a:t>i</a:t>
                </a:r>
                <a:r>
                  <a:rPr lang="en-US" sz="2800" spc="-15" dirty="0">
                    <a:latin typeface="Gill Sans MT"/>
                    <a:cs typeface="Gill Sans MT"/>
                  </a:rPr>
                  <a:t>ons</a:t>
                </a:r>
                <a:r>
                  <a:rPr lang="en-US" sz="2800" dirty="0">
                    <a:latin typeface="Gill Sans MT"/>
                    <a:cs typeface="Gill Sans MT"/>
                  </a:rPr>
                  <a:t>.</a:t>
                </a:r>
              </a:p>
              <a:p>
                <a:pPr marL="393700" marR="2341245" indent="-381000">
                  <a:lnSpc>
                    <a:spcPts val="3200"/>
                  </a:lnSpc>
                  <a:spcBef>
                    <a:spcPts val="1685"/>
                  </a:spcBef>
                  <a:buSzPct val="169642"/>
                  <a:buFont typeface="Gill Sans MT"/>
                  <a:buChar char="•"/>
                  <a:tabLst>
                    <a:tab pos="393700" algn="l"/>
                  </a:tabLst>
                </a:pPr>
                <a:r>
                  <a:rPr lang="en-US" sz="2800" dirty="0">
                    <a:latin typeface="Gill Sans MT"/>
                    <a:cs typeface="Gill Sans MT"/>
                  </a:rPr>
                  <a:t>The</a:t>
                </a:r>
                <a:r>
                  <a:rPr lang="en-US" sz="2800" spc="-5" dirty="0">
                    <a:latin typeface="Gill Sans MT"/>
                    <a:cs typeface="Gill Sans MT"/>
                  </a:rPr>
                  <a:t> </a:t>
                </a:r>
                <a:r>
                  <a:rPr lang="en-US" sz="2800" spc="-15" dirty="0">
                    <a:latin typeface="Gill Sans MT"/>
                    <a:cs typeface="Gill Sans MT"/>
                  </a:rPr>
                  <a:t>s</a:t>
                </a:r>
                <a:r>
                  <a:rPr lang="en-US" sz="2800" dirty="0">
                    <a:latin typeface="Gill Sans MT"/>
                    <a:cs typeface="Gill Sans MT"/>
                  </a:rPr>
                  <a:t>et</a:t>
                </a:r>
                <a:r>
                  <a:rPr lang="en-US" sz="2800" spc="-5" dirty="0">
                    <a:latin typeface="Gill Sans MT"/>
                    <a:cs typeface="Gill Sans MT"/>
                  </a:rPr>
                  <a:t> </a:t>
                </a:r>
                <a:r>
                  <a:rPr lang="en-US" sz="2800" spc="-20" dirty="0">
                    <a:latin typeface="Gill Sans MT"/>
                    <a:cs typeface="Gill Sans MT"/>
                  </a:rPr>
                  <a:t>o</a:t>
                </a:r>
                <a:r>
                  <a:rPr lang="en-US" sz="2800" dirty="0">
                    <a:latin typeface="Gill Sans MT"/>
                    <a:cs typeface="Gill Sans MT"/>
                  </a:rPr>
                  <a:t>f</a:t>
                </a:r>
                <a:r>
                  <a:rPr lang="en-US" sz="2800" spc="-5" dirty="0">
                    <a:latin typeface="Gill Sans MT"/>
                    <a:cs typeface="Gill Sans MT"/>
                  </a:rPr>
                  <a:t> </a:t>
                </a:r>
                <a:r>
                  <a:rPr lang="en-US" sz="2800" spc="-15" dirty="0">
                    <a:latin typeface="Gill Sans MT"/>
                    <a:cs typeface="Gill Sans MT"/>
                  </a:rPr>
                  <a:t>suppo</a:t>
                </a:r>
                <a:r>
                  <a:rPr lang="en-US" sz="2800" spc="40" dirty="0">
                    <a:latin typeface="Gill Sans MT"/>
                    <a:cs typeface="Gill Sans MT"/>
                  </a:rPr>
                  <a:t>r</a:t>
                </a:r>
                <a:r>
                  <a:rPr lang="en-US" sz="2800" spc="-10" dirty="0">
                    <a:latin typeface="Gill Sans MT"/>
                    <a:cs typeface="Gill Sans MT"/>
                  </a:rPr>
                  <a:t>ts</a:t>
                </a:r>
                <a:r>
                  <a:rPr lang="en-US" sz="2800" spc="-5" dirty="0">
                    <a:latin typeface="Gill Sans MT"/>
                    <a:cs typeface="Gill Sans MT"/>
                  </a:rPr>
                  <a:t> </a:t>
                </a:r>
                <a:r>
                  <a:rPr lang="en-US" sz="2800" spc="-30" dirty="0">
                    <a:latin typeface="Gill Sans MT"/>
                    <a:cs typeface="Gill Sans MT"/>
                  </a:rPr>
                  <a:t>f</a:t>
                </a:r>
                <a:r>
                  <a:rPr lang="en-US" sz="2800" spc="-15" dirty="0">
                    <a:latin typeface="Gill Sans MT"/>
                    <a:cs typeface="Gill Sans MT"/>
                  </a:rPr>
                  <a:t>or</a:t>
                </a:r>
                <a:r>
                  <a:rPr lang="en-US" sz="2800" spc="-5" dirty="0">
                    <a:latin typeface="Gill Sans MT"/>
                    <a:cs typeface="Gill Sans MT"/>
                  </a:rPr>
                  <a:t> </a:t>
                </a:r>
                <a:r>
                  <a:rPr lang="en-US" sz="2800" spc="-15" dirty="0">
                    <a:latin typeface="Gill Sans MT"/>
                    <a:cs typeface="Gill Sans MT"/>
                  </a:rPr>
                  <a:t>a</a:t>
                </a:r>
                <a:r>
                  <a:rPr lang="en-US" sz="2800" spc="-5" dirty="0">
                    <a:latin typeface="Gill Sans MT"/>
                    <a:cs typeface="Gill Sans MT"/>
                  </a:rPr>
                  <a:t> </a:t>
                </a:r>
                <a:r>
                  <a:rPr lang="en-US" sz="2800" spc="35" dirty="0">
                    <a:latin typeface="Gill Sans MT"/>
                    <a:cs typeface="Gill Sans MT"/>
                  </a:rPr>
                  <a:t>fi</a:t>
                </a:r>
                <a:r>
                  <a:rPr lang="en-US" sz="2800" dirty="0">
                    <a:latin typeface="Gill Sans MT"/>
                    <a:cs typeface="Gill Sans MT"/>
                  </a:rPr>
                  <a:t>n</a:t>
                </a:r>
                <a:r>
                  <a:rPr lang="en-US" sz="2800" spc="-5" dirty="0">
                    <a:latin typeface="Gill Sans MT"/>
                    <a:cs typeface="Gill Sans MT"/>
                  </a:rPr>
                  <a:t>i</a:t>
                </a:r>
                <a:r>
                  <a:rPr lang="en-US" sz="2800" dirty="0">
                    <a:latin typeface="Gill Sans MT"/>
                    <a:cs typeface="Gill Sans MT"/>
                  </a:rPr>
                  <a:t>te</a:t>
                </a:r>
                <a:r>
                  <a:rPr lang="en-US" sz="2800" spc="-5" dirty="0">
                    <a:latin typeface="Gill Sans MT"/>
                    <a:cs typeface="Gill Sans MT"/>
                  </a:rPr>
                  <a:t> </a:t>
                </a:r>
                <a:r>
                  <a:rPr lang="en-US" sz="2800" spc="-15" dirty="0">
                    <a:latin typeface="Gill Sans MT"/>
                    <a:cs typeface="Gill Sans MT"/>
                  </a:rPr>
                  <a:t>ga</a:t>
                </a:r>
                <a:r>
                  <a:rPr lang="en-US" sz="2800" dirty="0">
                    <a:latin typeface="Gill Sans MT"/>
                    <a:cs typeface="Gill Sans MT"/>
                  </a:rPr>
                  <a:t>me </a:t>
                </a:r>
                <a:r>
                  <a:rPr lang="en-US" sz="2800" spc="-5" dirty="0">
                    <a:latin typeface="Gill Sans MT"/>
                    <a:cs typeface="Gill Sans MT"/>
                  </a:rPr>
                  <a:t>i</a:t>
                </a:r>
                <a:r>
                  <a:rPr lang="en-US" sz="2800" spc="-15" dirty="0">
                    <a:latin typeface="Gill Sans MT"/>
                    <a:cs typeface="Gill Sans MT"/>
                  </a:rPr>
                  <a:t>s</a:t>
                </a:r>
                <a:r>
                  <a:rPr lang="en-US" sz="2800" spc="-5" dirty="0">
                    <a:latin typeface="Gill Sans MT"/>
                    <a:cs typeface="Gill Sans MT"/>
                  </a:rPr>
                  <a:t> </a:t>
                </a:r>
                <a:r>
                  <a:rPr lang="en-US" sz="2800" spc="-15" dirty="0">
                    <a:latin typeface="Gill Sans MT"/>
                    <a:cs typeface="Gill Sans MT"/>
                  </a:rPr>
                  <a:t>a</a:t>
                </a:r>
                <a:r>
                  <a:rPr lang="en-US" sz="2800" spc="-5" dirty="0">
                    <a:latin typeface="Gill Sans MT"/>
                    <a:cs typeface="Gill Sans MT"/>
                  </a:rPr>
                  <a:t> </a:t>
                </a:r>
                <a:r>
                  <a:rPr lang="en-US" sz="2800" spc="-15" dirty="0">
                    <a:solidFill>
                      <a:srgbClr val="FF0000"/>
                    </a:solidFill>
                    <a:latin typeface="Gill Sans MT"/>
                    <a:cs typeface="Gill Sans MT"/>
                  </a:rPr>
                  <a:t>co</a:t>
                </a:r>
                <a:r>
                  <a:rPr lang="en-US" sz="2800" dirty="0">
                    <a:solidFill>
                      <a:srgbClr val="FF0000"/>
                    </a:solidFill>
                    <a:latin typeface="Gill Sans MT"/>
                    <a:cs typeface="Gill Sans MT"/>
                  </a:rPr>
                  <a:t>mb</a:t>
                </a:r>
                <a:r>
                  <a:rPr lang="en-US" sz="2800" spc="-5" dirty="0">
                    <a:solidFill>
                      <a:srgbClr val="FF0000"/>
                    </a:solidFill>
                    <a:latin typeface="Gill Sans MT"/>
                    <a:cs typeface="Gill Sans MT"/>
                  </a:rPr>
                  <a:t>i</a:t>
                </a:r>
                <a:r>
                  <a:rPr lang="en-US" sz="2800" spc="-15" dirty="0">
                    <a:solidFill>
                      <a:srgbClr val="FF0000"/>
                    </a:solidFill>
                    <a:latin typeface="Gill Sans MT"/>
                    <a:cs typeface="Gill Sans MT"/>
                  </a:rPr>
                  <a:t>nato</a:t>
                </a:r>
                <a:r>
                  <a:rPr lang="en-US" sz="2800" dirty="0">
                    <a:solidFill>
                      <a:srgbClr val="FF0000"/>
                    </a:solidFill>
                    <a:latin typeface="Gill Sans MT"/>
                    <a:cs typeface="Gill Sans MT"/>
                  </a:rPr>
                  <a:t>r</a:t>
                </a:r>
                <a:r>
                  <a:rPr lang="en-US" sz="2800" spc="-5" dirty="0">
                    <a:solidFill>
                      <a:srgbClr val="FF0000"/>
                    </a:solidFill>
                    <a:latin typeface="Gill Sans MT"/>
                    <a:cs typeface="Gill Sans MT"/>
                  </a:rPr>
                  <a:t>i</a:t>
                </a:r>
                <a:r>
                  <a:rPr lang="en-US" sz="2800" spc="-15" dirty="0">
                    <a:solidFill>
                      <a:srgbClr val="FF0000"/>
                    </a:solidFill>
                    <a:latin typeface="Gill Sans MT"/>
                    <a:cs typeface="Gill Sans MT"/>
                  </a:rPr>
                  <a:t>a</a:t>
                </a:r>
                <a:r>
                  <a:rPr lang="en-US" sz="2800" dirty="0">
                    <a:solidFill>
                      <a:srgbClr val="FF0000"/>
                    </a:solidFill>
                    <a:latin typeface="Gill Sans MT"/>
                    <a:cs typeface="Gill Sans MT"/>
                  </a:rPr>
                  <a:t>l</a:t>
                </a:r>
                <a:r>
                  <a:rPr lang="en-US" sz="2800" spc="-5" dirty="0">
                    <a:solidFill>
                      <a:srgbClr val="FF0000"/>
                    </a:solidFill>
                    <a:latin typeface="Gill Sans MT"/>
                    <a:cs typeface="Gill Sans MT"/>
                  </a:rPr>
                  <a:t> </a:t>
                </a:r>
                <a:r>
                  <a:rPr lang="en-US" sz="2800" spc="-15" dirty="0">
                    <a:solidFill>
                      <a:srgbClr val="FF0000"/>
                    </a:solidFill>
                    <a:latin typeface="Gill Sans MT"/>
                    <a:cs typeface="Gill Sans MT"/>
                  </a:rPr>
                  <a:t>spac</a:t>
                </a:r>
                <a:r>
                  <a:rPr lang="en-US" sz="2800" spc="40" dirty="0">
                    <a:solidFill>
                      <a:srgbClr val="FF0000"/>
                    </a:solidFill>
                    <a:latin typeface="Gill Sans MT"/>
                    <a:cs typeface="Gill Sans MT"/>
                  </a:rPr>
                  <a:t>e</a:t>
                </a:r>
                <a:r>
                  <a:rPr lang="en-US" sz="2800" dirty="0">
                    <a:latin typeface="Gill Sans MT"/>
                    <a:cs typeface="Gill Sans MT"/>
                  </a:rPr>
                  <a:t>. (size </a:t>
                </a:r>
                <a14:m>
                  <m:oMath xmlns:m="http://schemas.openxmlformats.org/officeDocument/2006/math">
                    <m:sSup>
                      <m:sSupPr>
                        <m:ctrlPr>
                          <a:rPr lang="en-US" sz="2800" b="0" i="1" smtClean="0">
                            <a:latin typeface="Cambria Math" panose="02040503050406030204" pitchFamily="18" charset="0"/>
                            <a:cs typeface="Gill Sans MT"/>
                          </a:rPr>
                        </m:ctrlPr>
                      </m:sSupPr>
                      <m:e>
                        <m:r>
                          <a:rPr lang="en-US" sz="2800" b="0" i="1" smtClean="0">
                            <a:latin typeface="Cambria Math" panose="02040503050406030204" pitchFamily="18" charset="0"/>
                            <a:cs typeface="Gill Sans MT"/>
                          </a:rPr>
                          <m:t>2</m:t>
                        </m:r>
                      </m:e>
                      <m:sup>
                        <m:r>
                          <a:rPr lang="en-US" sz="2800" b="0" i="1" smtClean="0">
                            <a:latin typeface="Cambria Math" panose="02040503050406030204" pitchFamily="18" charset="0"/>
                            <a:cs typeface="Gill Sans MT"/>
                          </a:rPr>
                          <m:t>𝑛</m:t>
                        </m:r>
                      </m:sup>
                    </m:sSup>
                  </m:oMath>
                </a14:m>
                <a:r>
                  <a:rPr lang="en-US" sz="2800" dirty="0">
                    <a:latin typeface="Gill Sans MT"/>
                    <a:cs typeface="Gill Sans MT"/>
                  </a:rPr>
                  <a:t>for </a:t>
                </a:r>
                <a14:m>
                  <m:oMath xmlns:m="http://schemas.openxmlformats.org/officeDocument/2006/math">
                    <m:r>
                      <a:rPr lang="en-US" sz="2800" b="0" i="1" smtClean="0">
                        <a:latin typeface="Cambria Math" panose="02040503050406030204" pitchFamily="18" charset="0"/>
                        <a:cs typeface="Gill Sans MT"/>
                      </a:rPr>
                      <m:t>𝑛</m:t>
                    </m:r>
                  </m:oMath>
                </a14:m>
                <a:r>
                  <a:rPr lang="en-US" sz="2800" dirty="0">
                    <a:latin typeface="Gill Sans MT"/>
                    <a:cs typeface="Gill Sans MT"/>
                  </a:rPr>
                  <a:t> actions)</a:t>
                </a:r>
                <a:endParaRPr sz="2800" dirty="0">
                  <a:latin typeface="Gill Sans MT"/>
                  <a:cs typeface="Gill Sans MT"/>
                </a:endParaRPr>
              </a:p>
            </p:txBody>
          </p:sp>
        </mc:Choice>
        <mc:Fallback xmlns="">
          <p:sp>
            <p:nvSpPr>
              <p:cNvPr id="6" name="object 6"/>
              <p:cNvSpPr txBox="1">
                <a:spLocks noRot="1" noChangeAspect="1" noMove="1" noResize="1" noEditPoints="1" noAdjustHandles="1" noChangeArrowheads="1" noChangeShapeType="1" noTextEdit="1"/>
              </p:cNvSpPr>
              <p:nvPr/>
            </p:nvSpPr>
            <p:spPr>
              <a:xfrm>
                <a:off x="255587" y="1902935"/>
                <a:ext cx="8988978" cy="1859483"/>
              </a:xfrm>
              <a:prstGeom prst="rect">
                <a:avLst/>
              </a:prstGeom>
              <a:blipFill>
                <a:blip r:embed="rId3"/>
                <a:stretch>
                  <a:fillRect l="-3799" t="-22295" b="-10820"/>
                </a:stretch>
              </a:blipFill>
            </p:spPr>
            <p:txBody>
              <a:bodyPr/>
              <a:lstStyle/>
              <a:p>
                <a:r>
                  <a:rPr lang="en-MY">
                    <a:noFill/>
                  </a:rPr>
                  <a:t> </a:t>
                </a:r>
              </a:p>
            </p:txBody>
          </p:sp>
        </mc:Fallback>
      </mc:AlternateContent>
      <p:sp>
        <p:nvSpPr>
          <p:cNvPr id="7" name="object 7"/>
          <p:cNvSpPr txBox="1"/>
          <p:nvPr/>
        </p:nvSpPr>
        <p:spPr>
          <a:xfrm>
            <a:off x="149186" y="4012998"/>
            <a:ext cx="7554595" cy="1092402"/>
          </a:xfrm>
          <a:prstGeom prst="rect">
            <a:avLst/>
          </a:prstGeom>
          <a:solidFill>
            <a:srgbClr val="F5EC00"/>
          </a:solidFill>
          <a:ln w="12700">
            <a:solidFill>
              <a:srgbClr val="000000"/>
            </a:solidFill>
          </a:ln>
        </p:spPr>
        <p:txBody>
          <a:bodyPr vert="horz" wrap="square" lIns="0" tIns="0" rIns="0" bIns="0" rtlCol="0">
            <a:spAutoFit/>
          </a:bodyPr>
          <a:lstStyle/>
          <a:p>
            <a:pPr marL="493395" marR="1307465" indent="-381000">
              <a:lnSpc>
                <a:spcPts val="3200"/>
              </a:lnSpc>
              <a:buSzPct val="169642"/>
              <a:buFont typeface="Gill Sans MT"/>
              <a:buChar char="•"/>
              <a:tabLst>
                <a:tab pos="494030" algn="l"/>
              </a:tabLst>
            </a:pPr>
            <a:r>
              <a:rPr sz="2800" spc="-5" dirty="0">
                <a:latin typeface="Gill Sans MT"/>
                <a:cs typeface="Gill Sans MT"/>
              </a:rPr>
              <a:t>Fi</a:t>
            </a:r>
            <a:r>
              <a:rPr sz="2800" spc="-15" dirty="0">
                <a:latin typeface="Gill Sans MT"/>
                <a:cs typeface="Gill Sans MT"/>
              </a:rPr>
              <a:t>nd</a:t>
            </a:r>
            <a:r>
              <a:rPr sz="2800" spc="-5" dirty="0">
                <a:latin typeface="Gill Sans MT"/>
                <a:cs typeface="Gill Sans MT"/>
              </a:rPr>
              <a:t>i</a:t>
            </a:r>
            <a:r>
              <a:rPr sz="2800" spc="-15" dirty="0">
                <a:latin typeface="Gill Sans MT"/>
                <a:cs typeface="Gill Sans MT"/>
              </a:rPr>
              <a:t>ng</a:t>
            </a:r>
            <a:r>
              <a:rPr sz="2800" spc="-5" dirty="0">
                <a:latin typeface="Gill Sans MT"/>
                <a:cs typeface="Gill Sans MT"/>
              </a:rPr>
              <a:t> </a:t>
            </a:r>
            <a:r>
              <a:rPr sz="2800" dirty="0">
                <a:latin typeface="Gill Sans MT"/>
                <a:cs typeface="Gill Sans MT"/>
              </a:rPr>
              <a:t>m</a:t>
            </a:r>
            <a:r>
              <a:rPr sz="2800" spc="-5" dirty="0">
                <a:latin typeface="Gill Sans MT"/>
                <a:cs typeface="Gill Sans MT"/>
              </a:rPr>
              <a:t>i</a:t>
            </a:r>
            <a:r>
              <a:rPr sz="2800" spc="-85" dirty="0">
                <a:latin typeface="Gill Sans MT"/>
                <a:cs typeface="Gill Sans MT"/>
              </a:rPr>
              <a:t>x</a:t>
            </a:r>
            <a:r>
              <a:rPr sz="2800" spc="-15" dirty="0">
                <a:latin typeface="Gill Sans MT"/>
                <a:cs typeface="Gill Sans MT"/>
              </a:rPr>
              <a:t>ed</a:t>
            </a:r>
            <a:r>
              <a:rPr sz="2800" spc="-5" dirty="0">
                <a:latin typeface="Gill Sans MT"/>
                <a:cs typeface="Gill Sans MT"/>
              </a:rPr>
              <a:t> i</a:t>
            </a:r>
            <a:r>
              <a:rPr sz="2800" dirty="0">
                <a:latin typeface="Gill Sans MT"/>
                <a:cs typeface="Gill Sans MT"/>
              </a:rPr>
              <a:t>n</a:t>
            </a:r>
            <a:r>
              <a:rPr sz="2800" spc="-5" dirty="0">
                <a:latin typeface="Gill Sans MT"/>
                <a:cs typeface="Gill Sans MT"/>
              </a:rPr>
              <a:t> </a:t>
            </a:r>
            <a:r>
              <a:rPr sz="2800" spc="-15" dirty="0">
                <a:latin typeface="Gill Sans MT"/>
                <a:cs typeface="Gill Sans MT"/>
              </a:rPr>
              <a:t>genera</a:t>
            </a:r>
            <a:r>
              <a:rPr sz="2800" dirty="0">
                <a:latin typeface="Gill Sans MT"/>
                <a:cs typeface="Gill Sans MT"/>
              </a:rPr>
              <a:t>l</a:t>
            </a:r>
            <a:r>
              <a:rPr sz="2800" spc="-5" dirty="0">
                <a:latin typeface="Gill Sans MT"/>
                <a:cs typeface="Gill Sans MT"/>
              </a:rPr>
              <a:t> </a:t>
            </a:r>
            <a:r>
              <a:rPr sz="2800" spc="-15" dirty="0">
                <a:latin typeface="Gill Sans MT"/>
                <a:cs typeface="Gill Sans MT"/>
              </a:rPr>
              <a:t>Nas</a:t>
            </a:r>
            <a:r>
              <a:rPr sz="2800" dirty="0">
                <a:latin typeface="Gill Sans MT"/>
                <a:cs typeface="Gill Sans MT"/>
              </a:rPr>
              <a:t>h</a:t>
            </a:r>
            <a:r>
              <a:rPr sz="2800" spc="-5" dirty="0">
                <a:latin typeface="Gill Sans MT"/>
                <a:cs typeface="Gill Sans MT"/>
              </a:rPr>
              <a:t> </a:t>
            </a:r>
            <a:r>
              <a:rPr sz="2800" dirty="0">
                <a:latin typeface="Gill Sans MT"/>
                <a:cs typeface="Gill Sans MT"/>
              </a:rPr>
              <a:t>Equ</a:t>
            </a:r>
            <a:r>
              <a:rPr sz="2800" spc="-5" dirty="0">
                <a:latin typeface="Gill Sans MT"/>
                <a:cs typeface="Gill Sans MT"/>
              </a:rPr>
              <a:t>ili</a:t>
            </a:r>
            <a:r>
              <a:rPr sz="2800" dirty="0">
                <a:latin typeface="Gill Sans MT"/>
                <a:cs typeface="Gill Sans MT"/>
              </a:rPr>
              <a:t>bri</a:t>
            </a:r>
            <a:r>
              <a:rPr sz="2800" spc="-15" dirty="0">
                <a:latin typeface="Gill Sans MT"/>
                <a:cs typeface="Gill Sans MT"/>
              </a:rPr>
              <a:t>a</a:t>
            </a:r>
            <a:r>
              <a:rPr sz="2800" spc="-10" dirty="0">
                <a:latin typeface="Gill Sans MT"/>
                <a:cs typeface="Gill Sans MT"/>
              </a:rPr>
              <a:t> </a:t>
            </a:r>
            <a:r>
              <a:rPr sz="2800" spc="-5" dirty="0">
                <a:latin typeface="Gill Sans MT"/>
                <a:cs typeface="Gill Sans MT"/>
              </a:rPr>
              <a:t>i</a:t>
            </a:r>
            <a:r>
              <a:rPr sz="2800" spc="-15" dirty="0">
                <a:latin typeface="Gill Sans MT"/>
                <a:cs typeface="Gill Sans MT"/>
              </a:rPr>
              <a:t>s</a:t>
            </a:r>
            <a:r>
              <a:rPr sz="2800" spc="-5" dirty="0">
                <a:latin typeface="Gill Sans MT"/>
                <a:cs typeface="Gill Sans MT"/>
              </a:rPr>
              <a:t> </a:t>
            </a:r>
            <a:r>
              <a:rPr sz="2800" spc="-15" dirty="0">
                <a:latin typeface="Gill Sans MT"/>
                <a:cs typeface="Gill Sans MT"/>
              </a:rPr>
              <a:t>a</a:t>
            </a:r>
            <a:r>
              <a:rPr sz="2800" spc="-5" dirty="0">
                <a:latin typeface="Gill Sans MT"/>
                <a:cs typeface="Gill Sans MT"/>
              </a:rPr>
              <a:t> </a:t>
            </a:r>
            <a:r>
              <a:rPr sz="2800" spc="-15" dirty="0">
                <a:solidFill>
                  <a:srgbClr val="FF0000"/>
                </a:solidFill>
                <a:latin typeface="Gill Sans MT"/>
                <a:cs typeface="Gill Sans MT"/>
              </a:rPr>
              <a:t>co</a:t>
            </a:r>
            <a:r>
              <a:rPr sz="2800" dirty="0">
                <a:solidFill>
                  <a:srgbClr val="FF0000"/>
                </a:solidFill>
                <a:latin typeface="Gill Sans MT"/>
                <a:cs typeface="Gill Sans MT"/>
              </a:rPr>
              <a:t>mb</a:t>
            </a:r>
            <a:r>
              <a:rPr sz="2800" spc="-5" dirty="0">
                <a:solidFill>
                  <a:srgbClr val="FF0000"/>
                </a:solidFill>
                <a:latin typeface="Gill Sans MT"/>
                <a:cs typeface="Gill Sans MT"/>
              </a:rPr>
              <a:t>i</a:t>
            </a:r>
            <a:r>
              <a:rPr sz="2800" spc="-15" dirty="0">
                <a:solidFill>
                  <a:srgbClr val="FF0000"/>
                </a:solidFill>
                <a:latin typeface="Gill Sans MT"/>
                <a:cs typeface="Gill Sans MT"/>
              </a:rPr>
              <a:t>nato</a:t>
            </a:r>
            <a:r>
              <a:rPr sz="2800" dirty="0">
                <a:solidFill>
                  <a:srgbClr val="FF0000"/>
                </a:solidFill>
                <a:latin typeface="Gill Sans MT"/>
                <a:cs typeface="Gill Sans MT"/>
              </a:rPr>
              <a:t>r</a:t>
            </a:r>
            <a:r>
              <a:rPr sz="2800" spc="-5" dirty="0">
                <a:solidFill>
                  <a:srgbClr val="FF0000"/>
                </a:solidFill>
                <a:latin typeface="Gill Sans MT"/>
                <a:cs typeface="Gill Sans MT"/>
              </a:rPr>
              <a:t>i</a:t>
            </a:r>
            <a:r>
              <a:rPr sz="2800" spc="-15" dirty="0">
                <a:solidFill>
                  <a:srgbClr val="FF0000"/>
                </a:solidFill>
                <a:latin typeface="Gill Sans MT"/>
                <a:cs typeface="Gill Sans MT"/>
              </a:rPr>
              <a:t>a</a:t>
            </a:r>
            <a:r>
              <a:rPr sz="2800" dirty="0">
                <a:solidFill>
                  <a:srgbClr val="FF0000"/>
                </a:solidFill>
                <a:latin typeface="Gill Sans MT"/>
                <a:cs typeface="Gill Sans MT"/>
              </a:rPr>
              <a:t>l</a:t>
            </a:r>
            <a:r>
              <a:rPr sz="2800" spc="-5" dirty="0">
                <a:solidFill>
                  <a:srgbClr val="FF0000"/>
                </a:solidFill>
                <a:latin typeface="Gill Sans MT"/>
                <a:cs typeface="Gill Sans MT"/>
              </a:rPr>
              <a:t> </a:t>
            </a:r>
            <a:r>
              <a:rPr sz="2800" spc="-15" dirty="0">
                <a:solidFill>
                  <a:srgbClr val="FF0000"/>
                </a:solidFill>
                <a:latin typeface="Gill Sans MT"/>
                <a:cs typeface="Gill Sans MT"/>
              </a:rPr>
              <a:t>p</a:t>
            </a:r>
            <a:r>
              <a:rPr sz="2800" spc="-85" dirty="0">
                <a:solidFill>
                  <a:srgbClr val="FF0000"/>
                </a:solidFill>
                <a:latin typeface="Gill Sans MT"/>
                <a:cs typeface="Gill Sans MT"/>
              </a:rPr>
              <a:t>r</a:t>
            </a:r>
            <a:r>
              <a:rPr sz="2800" spc="-20" dirty="0">
                <a:solidFill>
                  <a:srgbClr val="FF0000"/>
                </a:solidFill>
                <a:latin typeface="Gill Sans MT"/>
                <a:cs typeface="Gill Sans MT"/>
              </a:rPr>
              <a:t>o</a:t>
            </a:r>
            <a:r>
              <a:rPr sz="2800" dirty="0">
                <a:solidFill>
                  <a:srgbClr val="FF0000"/>
                </a:solidFill>
                <a:latin typeface="Gill Sans MT"/>
                <a:cs typeface="Gill Sans MT"/>
              </a:rPr>
              <a:t>b</a:t>
            </a:r>
            <a:r>
              <a:rPr sz="2800" spc="-5" dirty="0">
                <a:solidFill>
                  <a:srgbClr val="FF0000"/>
                </a:solidFill>
                <a:latin typeface="Gill Sans MT"/>
                <a:cs typeface="Gill Sans MT"/>
              </a:rPr>
              <a:t>l</a:t>
            </a:r>
            <a:r>
              <a:rPr sz="2800" dirty="0">
                <a:solidFill>
                  <a:srgbClr val="FF0000"/>
                </a:solidFill>
                <a:latin typeface="Gill Sans MT"/>
                <a:cs typeface="Gill Sans MT"/>
              </a:rPr>
              <a:t>em</a:t>
            </a:r>
            <a:r>
              <a:rPr sz="2800" dirty="0">
                <a:latin typeface="Gill Sans MT"/>
                <a:cs typeface="Gill Sans MT"/>
              </a:rPr>
              <a:t>.</a:t>
            </a:r>
          </a:p>
        </p:txBody>
      </p:sp>
      <p:sp>
        <p:nvSpPr>
          <p:cNvPr id="8" name="Slide Number Placeholder 8">
            <a:extLst>
              <a:ext uri="{FF2B5EF4-FFF2-40B4-BE49-F238E27FC236}">
                <a16:creationId xmlns:a16="http://schemas.microsoft.com/office/drawing/2014/main" id="{05968010-60EA-78A3-CEED-89F25C97A378}"/>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34</a:t>
            </a:fld>
            <a:r>
              <a:rPr lang="en-US" sz="2000" dirty="0">
                <a:solidFill>
                  <a:prstClr val="black"/>
                </a:solidFill>
                <a:latin typeface="Comic Sans MS"/>
                <a:sym typeface="Comic Sans MS"/>
              </a:rPr>
              <a:t>/46</a:t>
            </a:r>
          </a:p>
        </p:txBody>
      </p:sp>
      <p:sp>
        <p:nvSpPr>
          <p:cNvPr id="9" name="Footer Placeholder 9">
            <a:extLst>
              <a:ext uri="{FF2B5EF4-FFF2-40B4-BE49-F238E27FC236}">
                <a16:creationId xmlns:a16="http://schemas.microsoft.com/office/drawing/2014/main" id="{A9AE207B-17F2-BCE6-E981-B4149B7ACB3C}"/>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 name="Rectangle 9">
            <a:extLst>
              <a:ext uri="{FF2B5EF4-FFF2-40B4-BE49-F238E27FC236}">
                <a16:creationId xmlns:a16="http://schemas.microsoft.com/office/drawing/2014/main" id="{C09464CD-BD2A-FFCF-1E09-8A3AA0CE8BF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1" name="Rectangle 10">
            <a:extLst>
              <a:ext uri="{FF2B5EF4-FFF2-40B4-BE49-F238E27FC236}">
                <a16:creationId xmlns:a16="http://schemas.microsoft.com/office/drawing/2014/main" id="{E931EAAE-F893-3C2A-A571-F2BEE9DE3868}"/>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A71BEE0F-02B3-19BD-4A2A-C2967A690C3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0" y="1503401"/>
            <a:ext cx="4307205" cy="5354955"/>
          </a:xfrm>
          <a:custGeom>
            <a:avLst/>
            <a:gdLst/>
            <a:ahLst/>
            <a:cxnLst/>
            <a:rect l="l" t="t" r="r" b="b"/>
            <a:pathLst>
              <a:path w="4307205" h="5354955">
                <a:moveTo>
                  <a:pt x="0" y="5354598"/>
                </a:moveTo>
                <a:lnTo>
                  <a:pt x="4306917" y="5354598"/>
                </a:lnTo>
                <a:lnTo>
                  <a:pt x="4306917" y="0"/>
                </a:lnTo>
                <a:lnTo>
                  <a:pt x="0" y="0"/>
                </a:lnTo>
                <a:lnTo>
                  <a:pt x="0" y="5354598"/>
                </a:lnTo>
              </a:path>
            </a:pathLst>
          </a:custGeom>
          <a:solidFill>
            <a:srgbClr val="E7E7E7"/>
          </a:solidFill>
        </p:spPr>
        <p:txBody>
          <a:bodyPr wrap="square" lIns="0" tIns="0" rIns="0" bIns="0" rtlCol="0"/>
          <a:lstStyle/>
          <a:p>
            <a:endParaRPr/>
          </a:p>
        </p:txBody>
      </p:sp>
      <p:sp>
        <p:nvSpPr>
          <p:cNvPr id="3" name="object 3"/>
          <p:cNvSpPr/>
          <p:nvPr/>
        </p:nvSpPr>
        <p:spPr>
          <a:xfrm>
            <a:off x="3124200" y="4185993"/>
            <a:ext cx="5999857" cy="2672080"/>
          </a:xfrm>
          <a:custGeom>
            <a:avLst/>
            <a:gdLst/>
            <a:ahLst/>
            <a:cxnLst/>
            <a:rect l="l" t="t" r="r" b="b"/>
            <a:pathLst>
              <a:path w="5967095" h="2672079">
                <a:moveTo>
                  <a:pt x="5966837" y="0"/>
                </a:moveTo>
                <a:lnTo>
                  <a:pt x="447098" y="0"/>
                </a:lnTo>
                <a:lnTo>
                  <a:pt x="410429" y="1482"/>
                </a:lnTo>
                <a:lnTo>
                  <a:pt x="339655" y="12993"/>
                </a:lnTo>
                <a:lnTo>
                  <a:pt x="273067" y="35135"/>
                </a:lnTo>
                <a:lnTo>
                  <a:pt x="211586" y="66985"/>
                </a:lnTo>
                <a:lnTo>
                  <a:pt x="156131" y="107624"/>
                </a:lnTo>
                <a:lnTo>
                  <a:pt x="107624" y="156132"/>
                </a:lnTo>
                <a:lnTo>
                  <a:pt x="66985" y="211586"/>
                </a:lnTo>
                <a:lnTo>
                  <a:pt x="35135" y="273068"/>
                </a:lnTo>
                <a:lnTo>
                  <a:pt x="12993" y="339656"/>
                </a:lnTo>
                <a:lnTo>
                  <a:pt x="1482" y="410430"/>
                </a:lnTo>
                <a:lnTo>
                  <a:pt x="0" y="447099"/>
                </a:lnTo>
                <a:lnTo>
                  <a:pt x="0" y="2235493"/>
                </a:lnTo>
                <a:lnTo>
                  <a:pt x="5851" y="2308015"/>
                </a:lnTo>
                <a:lnTo>
                  <a:pt x="22793" y="2376811"/>
                </a:lnTo>
                <a:lnTo>
                  <a:pt x="49904" y="2440961"/>
                </a:lnTo>
                <a:lnTo>
                  <a:pt x="86264" y="2499544"/>
                </a:lnTo>
                <a:lnTo>
                  <a:pt x="130952" y="2551640"/>
                </a:lnTo>
                <a:lnTo>
                  <a:pt x="183048" y="2596328"/>
                </a:lnTo>
                <a:lnTo>
                  <a:pt x="241631" y="2632687"/>
                </a:lnTo>
                <a:lnTo>
                  <a:pt x="305781" y="2659798"/>
                </a:lnTo>
                <a:lnTo>
                  <a:pt x="351429" y="2672006"/>
                </a:lnTo>
                <a:lnTo>
                  <a:pt x="5966837" y="2672006"/>
                </a:lnTo>
                <a:lnTo>
                  <a:pt x="5966837" y="0"/>
                </a:lnTo>
                <a:close/>
              </a:path>
            </a:pathLst>
          </a:custGeom>
          <a:solidFill>
            <a:srgbClr val="E7E7E7"/>
          </a:solidFill>
        </p:spPr>
        <p:txBody>
          <a:bodyPr wrap="square" lIns="0" tIns="0" rIns="0" bIns="0" rtlCol="0"/>
          <a:lstStyle/>
          <a:p>
            <a:endParaRPr/>
          </a:p>
        </p:txBody>
      </p:sp>
      <p:sp>
        <p:nvSpPr>
          <p:cNvPr id="2" name="object 2"/>
          <p:cNvSpPr/>
          <p:nvPr/>
        </p:nvSpPr>
        <p:spPr>
          <a:xfrm>
            <a:off x="0" y="904390"/>
            <a:ext cx="9144000" cy="4932529"/>
          </a:xfrm>
          <a:custGeom>
            <a:avLst/>
            <a:gdLst/>
            <a:ahLst/>
            <a:cxnLst/>
            <a:rect l="l" t="t" r="r" b="b"/>
            <a:pathLst>
              <a:path w="9144000" h="5836920">
                <a:moveTo>
                  <a:pt x="0" y="5836819"/>
                </a:moveTo>
                <a:lnTo>
                  <a:pt x="9144000" y="5836819"/>
                </a:lnTo>
                <a:lnTo>
                  <a:pt x="9144000" y="0"/>
                </a:lnTo>
                <a:lnTo>
                  <a:pt x="0" y="0"/>
                </a:lnTo>
                <a:lnTo>
                  <a:pt x="0" y="5836819"/>
                </a:lnTo>
                <a:close/>
              </a:path>
            </a:pathLst>
          </a:custGeom>
          <a:solidFill>
            <a:srgbClr val="E7E7E7"/>
          </a:solidFill>
        </p:spPr>
        <p:txBody>
          <a:bodyPr wrap="square" lIns="0" tIns="0" rIns="0" bIns="0" rtlCol="0"/>
          <a:lstStyle/>
          <a:p>
            <a:endParaRPr/>
          </a:p>
        </p:txBody>
      </p:sp>
      <p:sp>
        <p:nvSpPr>
          <p:cNvPr id="5" name="object 5"/>
          <p:cNvSpPr txBox="1"/>
          <p:nvPr/>
        </p:nvSpPr>
        <p:spPr>
          <a:xfrm>
            <a:off x="98634" y="1253717"/>
            <a:ext cx="4016166" cy="571500"/>
          </a:xfrm>
          <a:prstGeom prst="rect">
            <a:avLst/>
          </a:prstGeom>
        </p:spPr>
        <p:txBody>
          <a:bodyPr vert="horz" wrap="square" lIns="0" tIns="0" rIns="0" bIns="0" rtlCol="0">
            <a:spAutoFit/>
          </a:bodyPr>
          <a:lstStyle/>
          <a:p>
            <a:pPr marL="88900" marR="5080" indent="-76835">
              <a:lnSpc>
                <a:spcPct val="115700"/>
              </a:lnSpc>
            </a:pPr>
            <a:r>
              <a:rPr sz="1800" spc="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90" dirty="0">
                <a:latin typeface="Tahoma"/>
                <a:cs typeface="Tahoma"/>
              </a:rPr>
              <a:t>t</a:t>
            </a:r>
            <a:r>
              <a:rPr sz="1800" spc="45" dirty="0">
                <a:latin typeface="Tahoma"/>
                <a:cs typeface="Tahoma"/>
              </a:rPr>
              <a:t>a</a:t>
            </a:r>
            <a:r>
              <a:rPr sz="1800" spc="110" dirty="0">
                <a:latin typeface="Tahoma"/>
                <a:cs typeface="Tahoma"/>
              </a:rPr>
              <a:t>s</a:t>
            </a:r>
            <a:r>
              <a:rPr sz="1800" spc="70" dirty="0">
                <a:latin typeface="Tahoma"/>
                <a:cs typeface="Tahoma"/>
              </a:rPr>
              <a:t>k</a:t>
            </a:r>
            <a:r>
              <a:rPr sz="1800" spc="35" dirty="0">
                <a:latin typeface="Tahoma"/>
                <a:cs typeface="Tahoma"/>
              </a:rPr>
              <a:t> </a:t>
            </a:r>
            <a:r>
              <a:rPr sz="1800" spc="114" dirty="0">
                <a:latin typeface="Tahoma"/>
                <a:cs typeface="Tahoma"/>
              </a:rPr>
              <a:t>of</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80" dirty="0">
                <a:latin typeface="Tahoma"/>
                <a:cs typeface="Tahoma"/>
              </a:rPr>
              <a:t>B</a:t>
            </a:r>
            <a:r>
              <a:rPr sz="1800" spc="35" dirty="0">
                <a:latin typeface="Tahoma"/>
                <a:cs typeface="Tahoma"/>
              </a:rPr>
              <a:t> </a:t>
            </a:r>
            <a:r>
              <a:rPr sz="1800" spc="110" dirty="0">
                <a:latin typeface="Tahoma"/>
                <a:cs typeface="Tahoma"/>
              </a:rPr>
              <a:t>(</a:t>
            </a:r>
            <a:r>
              <a:rPr sz="1800" spc="145" dirty="0">
                <a:latin typeface="Tahoma"/>
                <a:cs typeface="Tahoma"/>
              </a:rPr>
              <a:t>c</a:t>
            </a:r>
            <a:r>
              <a:rPr sz="1800" spc="55" dirty="0">
                <a:latin typeface="Tahoma"/>
                <a:cs typeface="Tahoma"/>
              </a:rPr>
              <a:t>ol</a:t>
            </a:r>
            <a:r>
              <a:rPr sz="1800" spc="40" dirty="0">
                <a:latin typeface="Tahoma"/>
                <a:cs typeface="Tahoma"/>
              </a:rPr>
              <a:t>u</a:t>
            </a:r>
            <a:r>
              <a:rPr sz="1800" spc="60" dirty="0">
                <a:latin typeface="Tahoma"/>
                <a:cs typeface="Tahoma"/>
              </a:rPr>
              <a:t>mn</a:t>
            </a:r>
            <a:r>
              <a:rPr sz="1800" spc="110" dirty="0">
                <a:latin typeface="Tahoma"/>
                <a:cs typeface="Tahoma"/>
              </a:rPr>
              <a:t>)</a:t>
            </a:r>
            <a:r>
              <a:rPr sz="1800" spc="90" dirty="0">
                <a:latin typeface="Tahoma"/>
                <a:cs typeface="Tahoma"/>
              </a:rPr>
              <a:t> </a:t>
            </a:r>
            <a:r>
              <a:rPr sz="1800" spc="5" dirty="0">
                <a:latin typeface="Tahoma"/>
                <a:cs typeface="Tahoma"/>
              </a:rPr>
              <a:t>i</a:t>
            </a:r>
            <a:r>
              <a:rPr sz="1800" spc="110" dirty="0">
                <a:latin typeface="Tahoma"/>
                <a:cs typeface="Tahoma"/>
              </a:rPr>
              <a:t>s</a:t>
            </a:r>
            <a:r>
              <a:rPr sz="1800" spc="35" dirty="0">
                <a:latin typeface="Tahoma"/>
                <a:cs typeface="Tahoma"/>
              </a:rPr>
              <a:t> </a:t>
            </a:r>
            <a:r>
              <a:rPr sz="1800" spc="190" dirty="0">
                <a:latin typeface="Tahoma"/>
                <a:cs typeface="Tahoma"/>
              </a:rPr>
              <a:t>t</a:t>
            </a:r>
            <a:r>
              <a:rPr sz="1800" spc="105" dirty="0">
                <a:latin typeface="Tahoma"/>
                <a:cs typeface="Tahoma"/>
              </a:rPr>
              <a:t>o</a:t>
            </a:r>
            <a:endParaRPr sz="1800" dirty="0">
              <a:latin typeface="Tahoma"/>
              <a:cs typeface="Tahoma"/>
            </a:endParaRPr>
          </a:p>
        </p:txBody>
      </p:sp>
      <p:sp>
        <p:nvSpPr>
          <p:cNvPr id="6" name="object 6"/>
          <p:cNvSpPr txBox="1"/>
          <p:nvPr/>
        </p:nvSpPr>
        <p:spPr>
          <a:xfrm>
            <a:off x="33019" y="3154767"/>
            <a:ext cx="3031490" cy="254000"/>
          </a:xfrm>
          <a:prstGeom prst="rect">
            <a:avLst/>
          </a:prstGeom>
        </p:spPr>
        <p:txBody>
          <a:bodyPr vert="horz" wrap="square" lIns="0" tIns="0" rIns="0" bIns="0" rtlCol="0">
            <a:spAutoFit/>
          </a:bodyPr>
          <a:lstStyle/>
          <a:p>
            <a:pPr marL="12700">
              <a:lnSpc>
                <a:spcPct val="100000"/>
              </a:lnSpc>
            </a:pPr>
            <a:r>
              <a:rPr sz="1800" spc="90" dirty="0">
                <a:latin typeface="Tahoma"/>
                <a:cs typeface="Tahoma"/>
              </a:rPr>
              <a:t>T</a:t>
            </a:r>
            <a:r>
              <a:rPr sz="1800" spc="40" dirty="0">
                <a:latin typeface="Tahoma"/>
                <a:cs typeface="Tahoma"/>
              </a:rPr>
              <a:t>h</a:t>
            </a:r>
            <a:r>
              <a:rPr sz="1800" spc="5" dirty="0">
                <a:latin typeface="Tahoma"/>
                <a:cs typeface="Tahoma"/>
              </a:rPr>
              <a:t>i</a:t>
            </a:r>
            <a:r>
              <a:rPr sz="1800" spc="110" dirty="0">
                <a:latin typeface="Tahoma"/>
                <a:cs typeface="Tahoma"/>
              </a:rPr>
              <a:t>s</a:t>
            </a:r>
            <a:r>
              <a:rPr sz="1800" spc="35" dirty="0">
                <a:latin typeface="Tahoma"/>
                <a:cs typeface="Tahoma"/>
              </a:rPr>
              <a:t> </a:t>
            </a:r>
            <a:r>
              <a:rPr sz="1800" spc="5" dirty="0">
                <a:latin typeface="Tahoma"/>
                <a:cs typeface="Tahoma"/>
              </a:rPr>
              <a:t>i</a:t>
            </a:r>
            <a:r>
              <a:rPr sz="1800" spc="110" dirty="0">
                <a:latin typeface="Tahoma"/>
                <a:cs typeface="Tahoma"/>
              </a:rPr>
              <a:t>s</a:t>
            </a:r>
            <a:r>
              <a:rPr sz="1800" spc="35" dirty="0">
                <a:latin typeface="Tahoma"/>
                <a:cs typeface="Tahoma"/>
              </a:rPr>
              <a:t> </a:t>
            </a:r>
            <a:r>
              <a:rPr sz="1800" spc="85" dirty="0">
                <a:latin typeface="Tahoma"/>
                <a:cs typeface="Tahoma"/>
              </a:rPr>
              <a:t>e</a:t>
            </a:r>
            <a:r>
              <a:rPr sz="1800" spc="75" dirty="0">
                <a:latin typeface="Tahoma"/>
                <a:cs typeface="Tahoma"/>
              </a:rPr>
              <a:t>q</a:t>
            </a:r>
            <a:r>
              <a:rPr sz="1800" spc="40" dirty="0">
                <a:latin typeface="Tahoma"/>
                <a:cs typeface="Tahoma"/>
              </a:rPr>
              <a:t>u</a:t>
            </a:r>
            <a:r>
              <a:rPr sz="1800" spc="5" dirty="0">
                <a:latin typeface="Tahoma"/>
                <a:cs typeface="Tahoma"/>
              </a:rPr>
              <a:t>i</a:t>
            </a:r>
            <a:r>
              <a:rPr sz="1800" spc="114" dirty="0">
                <a:latin typeface="Tahoma"/>
                <a:cs typeface="Tahoma"/>
              </a:rPr>
              <a:t>v</a:t>
            </a:r>
            <a:r>
              <a:rPr sz="1800" spc="45" dirty="0">
                <a:latin typeface="Tahoma"/>
                <a:cs typeface="Tahoma"/>
              </a:rPr>
              <a:t>a</a:t>
            </a:r>
            <a:r>
              <a:rPr sz="1800" spc="5" dirty="0">
                <a:latin typeface="Tahoma"/>
                <a:cs typeface="Tahoma"/>
              </a:rPr>
              <a:t>l</a:t>
            </a:r>
            <a:r>
              <a:rPr sz="1800" spc="85" dirty="0">
                <a:latin typeface="Tahoma"/>
                <a:cs typeface="Tahoma"/>
              </a:rPr>
              <a:t>e</a:t>
            </a:r>
            <a:r>
              <a:rPr sz="1800" spc="40" dirty="0">
                <a:latin typeface="Tahoma"/>
                <a:cs typeface="Tahoma"/>
              </a:rPr>
              <a:t>n</a:t>
            </a:r>
            <a:r>
              <a:rPr sz="1800" spc="190" dirty="0">
                <a:latin typeface="Tahoma"/>
                <a:cs typeface="Tahoma"/>
              </a:rPr>
              <a:t>t</a:t>
            </a:r>
            <a:r>
              <a:rPr sz="1800" spc="35" dirty="0">
                <a:latin typeface="Tahoma"/>
                <a:cs typeface="Tahoma"/>
              </a:rPr>
              <a:t> </a:t>
            </a:r>
            <a:r>
              <a:rPr sz="1800" spc="190" dirty="0">
                <a:latin typeface="Tahoma"/>
                <a:cs typeface="Tahoma"/>
              </a:rPr>
              <a:t>t</a:t>
            </a:r>
            <a:r>
              <a:rPr sz="1800" spc="105" dirty="0">
                <a:latin typeface="Tahoma"/>
                <a:cs typeface="Tahoma"/>
              </a:rPr>
              <a:t>o</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50" dirty="0">
                <a:latin typeface="Tahoma"/>
                <a:cs typeface="Tahoma"/>
              </a:rPr>
              <a:t>L</a:t>
            </a:r>
            <a:r>
              <a:rPr sz="1800" spc="45" dirty="0">
                <a:latin typeface="Tahoma"/>
                <a:cs typeface="Tahoma"/>
              </a:rPr>
              <a:t>P</a:t>
            </a:r>
            <a:endParaRPr sz="1800">
              <a:latin typeface="Tahoma"/>
              <a:cs typeface="Tahoma"/>
            </a:endParaRPr>
          </a:p>
        </p:txBody>
      </p:sp>
      <p:sp>
        <p:nvSpPr>
          <p:cNvPr id="7" name="object 7"/>
          <p:cNvSpPr txBox="1"/>
          <p:nvPr/>
        </p:nvSpPr>
        <p:spPr>
          <a:xfrm>
            <a:off x="33019" y="5410469"/>
            <a:ext cx="8902065" cy="228600"/>
          </a:xfrm>
          <a:prstGeom prst="rect">
            <a:avLst/>
          </a:prstGeom>
        </p:spPr>
        <p:txBody>
          <a:bodyPr vert="horz" wrap="square" lIns="0" tIns="0" rIns="0" bIns="0" rtlCol="0">
            <a:spAutoFit/>
          </a:bodyPr>
          <a:lstStyle/>
          <a:p>
            <a:pPr marL="12700">
              <a:lnSpc>
                <a:spcPct val="100000"/>
              </a:lnSpc>
            </a:pPr>
            <a:r>
              <a:rPr sz="1600" spc="80" dirty="0">
                <a:latin typeface="Tahoma"/>
                <a:cs typeface="Tahoma"/>
              </a:rPr>
              <a:t>T</a:t>
            </a:r>
            <a:r>
              <a:rPr sz="1600" spc="95" dirty="0">
                <a:latin typeface="Tahoma"/>
                <a:cs typeface="Tahoma"/>
              </a:rPr>
              <a:t>o</a:t>
            </a:r>
            <a:r>
              <a:rPr sz="1600" spc="30" dirty="0">
                <a:latin typeface="Tahoma"/>
                <a:cs typeface="Tahoma"/>
              </a:rPr>
              <a:t> </a:t>
            </a:r>
            <a:r>
              <a:rPr sz="1600" spc="70" dirty="0">
                <a:latin typeface="Tahoma"/>
                <a:cs typeface="Tahoma"/>
              </a:rPr>
              <a:t>p</a:t>
            </a:r>
            <a:r>
              <a:rPr sz="1600" spc="40" dirty="0">
                <a:latin typeface="Tahoma"/>
                <a:cs typeface="Tahoma"/>
              </a:rPr>
              <a:t>r</a:t>
            </a:r>
            <a:r>
              <a:rPr sz="1600" spc="100" dirty="0">
                <a:latin typeface="Tahoma"/>
                <a:cs typeface="Tahoma"/>
              </a:rPr>
              <a:t>ov</a:t>
            </a:r>
            <a:r>
              <a:rPr sz="1600" spc="75" dirty="0">
                <a:latin typeface="Tahoma"/>
                <a:cs typeface="Tahoma"/>
              </a:rPr>
              <a:t>e</a:t>
            </a:r>
            <a:r>
              <a:rPr sz="1600" spc="30" dirty="0">
                <a:latin typeface="Tahoma"/>
                <a:cs typeface="Tahoma"/>
              </a:rPr>
              <a:t> </a:t>
            </a:r>
            <a:r>
              <a:rPr sz="1600" spc="170" dirty="0">
                <a:latin typeface="Tahoma"/>
                <a:cs typeface="Tahoma"/>
              </a:rPr>
              <a:t>t</a:t>
            </a:r>
            <a:r>
              <a:rPr sz="1600" spc="35" dirty="0">
                <a:latin typeface="Tahoma"/>
                <a:cs typeface="Tahoma"/>
              </a:rPr>
              <a:t>h</a:t>
            </a:r>
            <a:r>
              <a:rPr sz="1600" spc="5" dirty="0">
                <a:latin typeface="Tahoma"/>
                <a:cs typeface="Tahoma"/>
              </a:rPr>
              <a:t>i</a:t>
            </a:r>
            <a:r>
              <a:rPr sz="1600" spc="100" dirty="0">
                <a:latin typeface="Tahoma"/>
                <a:cs typeface="Tahoma"/>
              </a:rPr>
              <a:t>s</a:t>
            </a:r>
            <a:r>
              <a:rPr sz="1600" spc="30" dirty="0">
                <a:latin typeface="Tahoma"/>
                <a:cs typeface="Tahoma"/>
              </a:rPr>
              <a:t> </a:t>
            </a:r>
            <a:r>
              <a:rPr sz="1600" spc="55" dirty="0">
                <a:latin typeface="Tahoma"/>
                <a:cs typeface="Tahoma"/>
              </a:rPr>
              <a:t>w</a:t>
            </a:r>
            <a:r>
              <a:rPr sz="1600" spc="5" dirty="0">
                <a:latin typeface="Tahoma"/>
                <a:cs typeface="Tahoma"/>
              </a:rPr>
              <a:t>i</a:t>
            </a:r>
            <a:r>
              <a:rPr sz="1600" spc="170" dirty="0">
                <a:latin typeface="Tahoma"/>
                <a:cs typeface="Tahoma"/>
              </a:rPr>
              <a:t>t</a:t>
            </a:r>
            <a:r>
              <a:rPr sz="1600" spc="35" dirty="0">
                <a:latin typeface="Tahoma"/>
                <a:cs typeface="Tahoma"/>
              </a:rPr>
              <a:t>n</a:t>
            </a:r>
            <a:r>
              <a:rPr sz="1600" spc="75" dirty="0">
                <a:latin typeface="Tahoma"/>
                <a:cs typeface="Tahoma"/>
              </a:rPr>
              <a:t>e</a:t>
            </a:r>
            <a:r>
              <a:rPr sz="1600" spc="100" dirty="0">
                <a:latin typeface="Tahoma"/>
                <a:cs typeface="Tahoma"/>
              </a:rPr>
              <a:t>ss</a:t>
            </a:r>
            <a:r>
              <a:rPr sz="1600" spc="30" dirty="0">
                <a:latin typeface="Tahoma"/>
                <a:cs typeface="Tahoma"/>
              </a:rPr>
              <a:t> </a:t>
            </a:r>
            <a:r>
              <a:rPr sz="1600" spc="170" dirty="0">
                <a:latin typeface="Tahoma"/>
                <a:cs typeface="Tahoma"/>
              </a:rPr>
              <a:t>t</a:t>
            </a:r>
            <a:r>
              <a:rPr sz="1600" spc="35" dirty="0">
                <a:latin typeface="Tahoma"/>
                <a:cs typeface="Tahoma"/>
              </a:rPr>
              <a:t>h</a:t>
            </a:r>
            <a:r>
              <a:rPr sz="1600" spc="40" dirty="0">
                <a:latin typeface="Tahoma"/>
                <a:cs typeface="Tahoma"/>
              </a:rPr>
              <a:t>a</a:t>
            </a:r>
            <a:r>
              <a:rPr sz="1600" spc="170" dirty="0">
                <a:latin typeface="Tahoma"/>
                <a:cs typeface="Tahoma"/>
              </a:rPr>
              <a:t>t</a:t>
            </a:r>
            <a:r>
              <a:rPr sz="1600" spc="30" dirty="0">
                <a:latin typeface="Tahoma"/>
                <a:cs typeface="Tahoma"/>
              </a:rPr>
              <a:t> </a:t>
            </a:r>
            <a:r>
              <a:rPr sz="1600" spc="110" dirty="0">
                <a:latin typeface="Tahoma"/>
                <a:cs typeface="Tahoma"/>
              </a:rPr>
              <a:t>f</a:t>
            </a:r>
            <a:r>
              <a:rPr sz="1600" spc="65" dirty="0">
                <a:latin typeface="Tahoma"/>
                <a:cs typeface="Tahoma"/>
              </a:rPr>
              <a:t>or</a:t>
            </a:r>
            <a:r>
              <a:rPr sz="1600" spc="30" dirty="0">
                <a:latin typeface="Tahoma"/>
                <a:cs typeface="Tahoma"/>
              </a:rPr>
              <a:t> </a:t>
            </a:r>
            <a:r>
              <a:rPr sz="1600" spc="40" dirty="0">
                <a:latin typeface="Tahoma"/>
                <a:cs typeface="Tahoma"/>
              </a:rPr>
              <a:t>a</a:t>
            </a:r>
            <a:r>
              <a:rPr sz="1600" spc="170" dirty="0">
                <a:latin typeface="Tahoma"/>
                <a:cs typeface="Tahoma"/>
              </a:rPr>
              <a:t>t</a:t>
            </a:r>
            <a:r>
              <a:rPr sz="1600" spc="30" dirty="0">
                <a:latin typeface="Tahoma"/>
                <a:cs typeface="Tahoma"/>
              </a:rPr>
              <a:t> </a:t>
            </a:r>
            <a:r>
              <a:rPr sz="1600" spc="5" dirty="0">
                <a:latin typeface="Tahoma"/>
                <a:cs typeface="Tahoma"/>
              </a:rPr>
              <a:t>l</a:t>
            </a:r>
            <a:r>
              <a:rPr sz="1600" spc="75" dirty="0">
                <a:latin typeface="Tahoma"/>
                <a:cs typeface="Tahoma"/>
              </a:rPr>
              <a:t>e</a:t>
            </a:r>
            <a:r>
              <a:rPr sz="1600" spc="40" dirty="0">
                <a:latin typeface="Tahoma"/>
                <a:cs typeface="Tahoma"/>
              </a:rPr>
              <a:t>a</a:t>
            </a:r>
            <a:r>
              <a:rPr sz="1600" spc="100" dirty="0">
                <a:latin typeface="Tahoma"/>
                <a:cs typeface="Tahoma"/>
              </a:rPr>
              <a:t>s</a:t>
            </a:r>
            <a:r>
              <a:rPr sz="1600" spc="170" dirty="0">
                <a:latin typeface="Tahoma"/>
                <a:cs typeface="Tahoma"/>
              </a:rPr>
              <a:t>t</a:t>
            </a:r>
            <a:r>
              <a:rPr sz="1600" spc="30" dirty="0">
                <a:latin typeface="Tahoma"/>
                <a:cs typeface="Tahoma"/>
              </a:rPr>
              <a:t> </a:t>
            </a:r>
            <a:r>
              <a:rPr sz="1600" spc="70" dirty="0">
                <a:latin typeface="Tahoma"/>
                <a:cs typeface="Tahoma"/>
              </a:rPr>
              <a:t>on</a:t>
            </a:r>
            <a:r>
              <a:rPr sz="1600" spc="75" dirty="0">
                <a:latin typeface="Tahoma"/>
                <a:cs typeface="Tahoma"/>
              </a:rPr>
              <a:t>e</a:t>
            </a:r>
            <a:r>
              <a:rPr sz="1600" spc="30" dirty="0">
                <a:latin typeface="Tahoma"/>
                <a:cs typeface="Tahoma"/>
              </a:rPr>
              <a:t> </a:t>
            </a:r>
            <a:r>
              <a:rPr sz="1600" spc="5" dirty="0">
                <a:latin typeface="Tahoma"/>
                <a:cs typeface="Tahoma"/>
              </a:rPr>
              <a:t>i</a:t>
            </a:r>
            <a:r>
              <a:rPr sz="1600" spc="30" dirty="0">
                <a:latin typeface="Tahoma"/>
                <a:cs typeface="Tahoma"/>
              </a:rPr>
              <a:t> </a:t>
            </a:r>
            <a:r>
              <a:rPr sz="1600" spc="170" dirty="0">
                <a:latin typeface="Tahoma"/>
                <a:cs typeface="Tahoma"/>
              </a:rPr>
              <a:t>t</a:t>
            </a:r>
            <a:r>
              <a:rPr sz="1600" spc="35" dirty="0">
                <a:latin typeface="Tahoma"/>
                <a:cs typeface="Tahoma"/>
              </a:rPr>
              <a:t>h</a:t>
            </a:r>
            <a:r>
              <a:rPr sz="1600" spc="75" dirty="0">
                <a:latin typeface="Tahoma"/>
                <a:cs typeface="Tahoma"/>
              </a:rPr>
              <a:t>e</a:t>
            </a:r>
            <a:r>
              <a:rPr sz="1600" spc="30" dirty="0">
                <a:latin typeface="Tahoma"/>
                <a:cs typeface="Tahoma"/>
              </a:rPr>
              <a:t> </a:t>
            </a:r>
            <a:r>
              <a:rPr sz="1600" spc="110" dirty="0">
                <a:latin typeface="Tahoma"/>
                <a:cs typeface="Tahoma"/>
              </a:rPr>
              <a:t>f</a:t>
            </a:r>
            <a:r>
              <a:rPr sz="1600" spc="5" dirty="0">
                <a:latin typeface="Tahoma"/>
                <a:cs typeface="Tahoma"/>
              </a:rPr>
              <a:t>i</a:t>
            </a:r>
            <a:r>
              <a:rPr sz="1600" spc="40" dirty="0">
                <a:latin typeface="Tahoma"/>
                <a:cs typeface="Tahoma"/>
              </a:rPr>
              <a:t>r</a:t>
            </a:r>
            <a:r>
              <a:rPr sz="1600" spc="100" dirty="0">
                <a:latin typeface="Tahoma"/>
                <a:cs typeface="Tahoma"/>
              </a:rPr>
              <a:t>s</a:t>
            </a:r>
            <a:r>
              <a:rPr sz="1600" spc="170" dirty="0">
                <a:latin typeface="Tahoma"/>
                <a:cs typeface="Tahoma"/>
              </a:rPr>
              <a:t>t</a:t>
            </a:r>
            <a:r>
              <a:rPr sz="1600" spc="30" dirty="0">
                <a:latin typeface="Tahoma"/>
                <a:cs typeface="Tahoma"/>
              </a:rPr>
              <a:t> </a:t>
            </a:r>
            <a:r>
              <a:rPr sz="1600" spc="130" dirty="0">
                <a:latin typeface="Tahoma"/>
                <a:cs typeface="Tahoma"/>
              </a:rPr>
              <a:t>c</a:t>
            </a:r>
            <a:r>
              <a:rPr sz="1600" spc="70" dirty="0">
                <a:latin typeface="Tahoma"/>
                <a:cs typeface="Tahoma"/>
              </a:rPr>
              <a:t>on</a:t>
            </a:r>
            <a:r>
              <a:rPr sz="1600" spc="100" dirty="0">
                <a:latin typeface="Tahoma"/>
                <a:cs typeface="Tahoma"/>
              </a:rPr>
              <a:t>s</a:t>
            </a:r>
            <a:r>
              <a:rPr sz="1600" spc="170" dirty="0">
                <a:latin typeface="Tahoma"/>
                <a:cs typeface="Tahoma"/>
              </a:rPr>
              <a:t>t</a:t>
            </a:r>
            <a:r>
              <a:rPr sz="1600" spc="40" dirty="0">
                <a:latin typeface="Tahoma"/>
                <a:cs typeface="Tahoma"/>
              </a:rPr>
              <a:t>ra</a:t>
            </a:r>
            <a:r>
              <a:rPr sz="1600" spc="5" dirty="0">
                <a:latin typeface="Tahoma"/>
                <a:cs typeface="Tahoma"/>
              </a:rPr>
              <a:t>i</a:t>
            </a:r>
            <a:r>
              <a:rPr sz="1600" spc="35" dirty="0">
                <a:latin typeface="Tahoma"/>
                <a:cs typeface="Tahoma"/>
              </a:rPr>
              <a:t>n</a:t>
            </a:r>
            <a:r>
              <a:rPr sz="1600" spc="170" dirty="0">
                <a:latin typeface="Tahoma"/>
                <a:cs typeface="Tahoma"/>
              </a:rPr>
              <a:t>t</a:t>
            </a:r>
            <a:r>
              <a:rPr sz="1600" spc="30" dirty="0">
                <a:latin typeface="Tahoma"/>
                <a:cs typeface="Tahoma"/>
              </a:rPr>
              <a:t> </a:t>
            </a:r>
            <a:r>
              <a:rPr sz="1600" spc="5" dirty="0">
                <a:latin typeface="Tahoma"/>
                <a:cs typeface="Tahoma"/>
              </a:rPr>
              <a:t>i</a:t>
            </a:r>
            <a:r>
              <a:rPr sz="1600" spc="35" dirty="0">
                <a:latin typeface="Tahoma"/>
                <a:cs typeface="Tahoma"/>
              </a:rPr>
              <a:t>n</a:t>
            </a:r>
            <a:r>
              <a:rPr sz="1600" spc="30" dirty="0">
                <a:latin typeface="Tahoma"/>
                <a:cs typeface="Tahoma"/>
              </a:rPr>
              <a:t> </a:t>
            </a:r>
            <a:r>
              <a:rPr sz="1600" spc="170" dirty="0">
                <a:latin typeface="Tahoma"/>
                <a:cs typeface="Tahoma"/>
              </a:rPr>
              <a:t>t</a:t>
            </a:r>
            <a:r>
              <a:rPr sz="1600" spc="35" dirty="0">
                <a:latin typeface="Tahoma"/>
                <a:cs typeface="Tahoma"/>
              </a:rPr>
              <a:t>h</a:t>
            </a:r>
            <a:r>
              <a:rPr sz="1600" spc="75" dirty="0">
                <a:latin typeface="Tahoma"/>
                <a:cs typeface="Tahoma"/>
              </a:rPr>
              <a:t>e</a:t>
            </a:r>
            <a:r>
              <a:rPr sz="1600" spc="30" dirty="0">
                <a:latin typeface="Tahoma"/>
                <a:cs typeface="Tahoma"/>
              </a:rPr>
              <a:t> </a:t>
            </a:r>
            <a:r>
              <a:rPr sz="1600" spc="135" dirty="0">
                <a:latin typeface="Tahoma"/>
                <a:cs typeface="Tahoma"/>
              </a:rPr>
              <a:t>L</a:t>
            </a:r>
            <a:r>
              <a:rPr sz="1600" spc="40" dirty="0">
                <a:latin typeface="Tahoma"/>
                <a:cs typeface="Tahoma"/>
              </a:rPr>
              <a:t>P</a:t>
            </a:r>
            <a:r>
              <a:rPr sz="1600" spc="30" dirty="0">
                <a:latin typeface="Tahoma"/>
                <a:cs typeface="Tahoma"/>
              </a:rPr>
              <a:t> </a:t>
            </a:r>
            <a:r>
              <a:rPr sz="1600" spc="55" dirty="0">
                <a:latin typeface="Tahoma"/>
                <a:cs typeface="Tahoma"/>
              </a:rPr>
              <a:t>mu</a:t>
            </a:r>
            <a:r>
              <a:rPr sz="1600" spc="100" dirty="0">
                <a:latin typeface="Tahoma"/>
                <a:cs typeface="Tahoma"/>
              </a:rPr>
              <a:t>s</a:t>
            </a:r>
            <a:r>
              <a:rPr sz="1600" spc="170" dirty="0">
                <a:latin typeface="Tahoma"/>
                <a:cs typeface="Tahoma"/>
              </a:rPr>
              <a:t>t</a:t>
            </a:r>
            <a:r>
              <a:rPr sz="1600" spc="30" dirty="0">
                <a:latin typeface="Tahoma"/>
                <a:cs typeface="Tahoma"/>
              </a:rPr>
              <a:t> </a:t>
            </a:r>
            <a:r>
              <a:rPr sz="1600" spc="85" dirty="0">
                <a:latin typeface="Tahoma"/>
                <a:cs typeface="Tahoma"/>
              </a:rPr>
              <a:t>b</a:t>
            </a:r>
            <a:r>
              <a:rPr sz="1600" spc="75" dirty="0">
                <a:latin typeface="Tahoma"/>
                <a:cs typeface="Tahoma"/>
              </a:rPr>
              <a:t>e</a:t>
            </a:r>
            <a:r>
              <a:rPr sz="1600" spc="30" dirty="0">
                <a:latin typeface="Tahoma"/>
                <a:cs typeface="Tahoma"/>
              </a:rPr>
              <a:t> </a:t>
            </a:r>
            <a:r>
              <a:rPr sz="1600" spc="170" dirty="0">
                <a:latin typeface="Tahoma"/>
                <a:cs typeface="Tahoma"/>
              </a:rPr>
              <a:t>t</a:t>
            </a:r>
            <a:r>
              <a:rPr sz="1600" spc="5" dirty="0">
                <a:latin typeface="Tahoma"/>
                <a:cs typeface="Tahoma"/>
              </a:rPr>
              <a:t>i</a:t>
            </a:r>
            <a:r>
              <a:rPr sz="1600" spc="85" dirty="0">
                <a:latin typeface="Tahoma"/>
                <a:cs typeface="Tahoma"/>
              </a:rPr>
              <a:t>g</a:t>
            </a:r>
            <a:r>
              <a:rPr sz="1600" spc="35" dirty="0">
                <a:latin typeface="Tahoma"/>
                <a:cs typeface="Tahoma"/>
              </a:rPr>
              <a:t>h</a:t>
            </a:r>
            <a:r>
              <a:rPr sz="1600" spc="170" dirty="0">
                <a:latin typeface="Tahoma"/>
                <a:cs typeface="Tahoma"/>
              </a:rPr>
              <a:t>t</a:t>
            </a:r>
            <a:r>
              <a:rPr sz="1600" spc="30" dirty="0">
                <a:latin typeface="Tahoma"/>
                <a:cs typeface="Tahoma"/>
              </a:rPr>
              <a:t> </a:t>
            </a:r>
            <a:r>
              <a:rPr sz="1600" spc="95" dirty="0">
                <a:latin typeface="Tahoma"/>
                <a:cs typeface="Tahoma"/>
              </a:rPr>
              <a:t>(</a:t>
            </a:r>
            <a:r>
              <a:rPr sz="1600" spc="5" dirty="0">
                <a:latin typeface="Tahoma"/>
                <a:cs typeface="Tahoma"/>
              </a:rPr>
              <a:t>i</a:t>
            </a:r>
            <a:r>
              <a:rPr sz="1600" spc="35" dirty="0">
                <a:latin typeface="Tahoma"/>
                <a:cs typeface="Tahoma"/>
              </a:rPr>
              <a:t>n</a:t>
            </a:r>
            <a:endParaRPr sz="1600">
              <a:latin typeface="Tahoma"/>
              <a:cs typeface="Tahoma"/>
            </a:endParaRPr>
          </a:p>
        </p:txBody>
      </p:sp>
      <mc:AlternateContent xmlns:mc="http://schemas.openxmlformats.org/markup-compatibility/2006" xmlns:a14="http://schemas.microsoft.com/office/drawing/2010/main">
        <mc:Choice Requires="a14">
          <p:sp>
            <p:nvSpPr>
              <p:cNvPr id="8" name="object 8"/>
              <p:cNvSpPr txBox="1"/>
              <p:nvPr/>
            </p:nvSpPr>
            <p:spPr>
              <a:xfrm>
                <a:off x="33019" y="5677169"/>
                <a:ext cx="6125845" cy="511871"/>
              </a:xfrm>
              <a:prstGeom prst="rect">
                <a:avLst/>
              </a:prstGeom>
            </p:spPr>
            <p:txBody>
              <a:bodyPr vert="horz" wrap="square" lIns="0" tIns="0" rIns="0" bIns="0" rtlCol="0">
                <a:spAutoFit/>
              </a:bodyPr>
              <a:lstStyle/>
              <a:p>
                <a:pPr marL="12700" marR="5080">
                  <a:lnSpc>
                    <a:spcPct val="109400"/>
                  </a:lnSpc>
                </a:pPr>
                <a:r>
                  <a:rPr sz="1600" spc="65" dirty="0">
                    <a:latin typeface="Tahoma"/>
                    <a:cs typeface="Tahoma"/>
                  </a:rPr>
                  <a:t>or</a:t>
                </a:r>
                <a:r>
                  <a:rPr sz="1600" spc="70" dirty="0">
                    <a:latin typeface="Tahoma"/>
                    <a:cs typeface="Tahoma"/>
                  </a:rPr>
                  <a:t>d</a:t>
                </a:r>
                <a:r>
                  <a:rPr sz="1600" spc="75" dirty="0">
                    <a:latin typeface="Tahoma"/>
                    <a:cs typeface="Tahoma"/>
                  </a:rPr>
                  <a:t>e</a:t>
                </a:r>
                <a:r>
                  <a:rPr sz="1600" spc="40" dirty="0">
                    <a:latin typeface="Tahoma"/>
                    <a:cs typeface="Tahoma"/>
                  </a:rPr>
                  <a:t>r</a:t>
                </a:r>
                <a:r>
                  <a:rPr sz="1600" spc="30" dirty="0">
                    <a:latin typeface="Tahoma"/>
                    <a:cs typeface="Tahoma"/>
                  </a:rPr>
                  <a:t> </a:t>
                </a:r>
                <a:r>
                  <a:rPr sz="1600" spc="110" dirty="0">
                    <a:latin typeface="Tahoma"/>
                    <a:cs typeface="Tahoma"/>
                  </a:rPr>
                  <a:t>f</a:t>
                </a:r>
                <a:r>
                  <a:rPr sz="1600" spc="65" dirty="0">
                    <a:latin typeface="Tahoma"/>
                    <a:cs typeface="Tahoma"/>
                  </a:rPr>
                  <a:t>or</a:t>
                </a:r>
                <a:r>
                  <a:rPr sz="1600" spc="30" dirty="0">
                    <a:latin typeface="Tahoma"/>
                    <a:cs typeface="Tahoma"/>
                  </a:rPr>
                  <a:t> </a:t>
                </a:r>
                <a14:m>
                  <m:oMath xmlns:m="http://schemas.openxmlformats.org/officeDocument/2006/math">
                    <m:r>
                      <a:rPr lang="en-US" sz="1600" i="1" spc="170" dirty="0" smtClean="0">
                        <a:latin typeface="Cambria Math" panose="02040503050406030204" pitchFamily="18" charset="0"/>
                        <a:cs typeface="Tahoma"/>
                      </a:rPr>
                      <m:t>𝑧</m:t>
                    </m:r>
                  </m:oMath>
                </a14:m>
                <a:r>
                  <a:rPr sz="1600" spc="30" dirty="0">
                    <a:latin typeface="Tahoma"/>
                    <a:cs typeface="Tahoma"/>
                  </a:rPr>
                  <a:t> </a:t>
                </a:r>
                <a:r>
                  <a:rPr sz="1600" spc="170" dirty="0">
                    <a:latin typeface="Tahoma"/>
                    <a:cs typeface="Tahoma"/>
                  </a:rPr>
                  <a:t>t</a:t>
                </a:r>
                <a:r>
                  <a:rPr sz="1600" spc="95" dirty="0">
                    <a:latin typeface="Tahoma"/>
                    <a:cs typeface="Tahoma"/>
                  </a:rPr>
                  <a:t>o</a:t>
                </a:r>
                <a:r>
                  <a:rPr sz="1600" spc="30" dirty="0">
                    <a:latin typeface="Tahoma"/>
                    <a:cs typeface="Tahoma"/>
                  </a:rPr>
                  <a:t> </a:t>
                </a:r>
                <a:r>
                  <a:rPr sz="1600" spc="85" dirty="0">
                    <a:latin typeface="Tahoma"/>
                    <a:cs typeface="Tahoma"/>
                  </a:rPr>
                  <a:t>b</a:t>
                </a:r>
                <a:r>
                  <a:rPr sz="1600" spc="75" dirty="0">
                    <a:latin typeface="Tahoma"/>
                    <a:cs typeface="Tahoma"/>
                  </a:rPr>
                  <a:t>e</a:t>
                </a:r>
                <a:r>
                  <a:rPr sz="1600" spc="30" dirty="0">
                    <a:latin typeface="Tahoma"/>
                    <a:cs typeface="Tahoma"/>
                  </a:rPr>
                  <a:t> </a:t>
                </a:r>
                <a:r>
                  <a:rPr sz="1600" spc="85" dirty="0">
                    <a:latin typeface="Tahoma"/>
                    <a:cs typeface="Tahoma"/>
                  </a:rPr>
                  <a:t>op</a:t>
                </a:r>
                <a:r>
                  <a:rPr sz="1600" spc="170" dirty="0">
                    <a:latin typeface="Tahoma"/>
                    <a:cs typeface="Tahoma"/>
                  </a:rPr>
                  <a:t>t</a:t>
                </a:r>
                <a:r>
                  <a:rPr sz="1600" spc="5" dirty="0">
                    <a:latin typeface="Tahoma"/>
                    <a:cs typeface="Tahoma"/>
                  </a:rPr>
                  <a:t>i</a:t>
                </a:r>
                <a:r>
                  <a:rPr sz="1600" spc="65" dirty="0">
                    <a:latin typeface="Tahoma"/>
                    <a:cs typeface="Tahoma"/>
                  </a:rPr>
                  <a:t>ma</a:t>
                </a:r>
                <a:r>
                  <a:rPr sz="1600" spc="5" dirty="0">
                    <a:latin typeface="Tahoma"/>
                    <a:cs typeface="Tahoma"/>
                  </a:rPr>
                  <a:t>l</a:t>
                </a:r>
                <a:r>
                  <a:rPr sz="1600" spc="95" dirty="0">
                    <a:latin typeface="Tahoma"/>
                    <a:cs typeface="Tahoma"/>
                  </a:rPr>
                  <a:t>)</a:t>
                </a:r>
                <a:r>
                  <a:rPr sz="1600" dirty="0">
                    <a:latin typeface="Tahoma"/>
                    <a:cs typeface="Tahoma"/>
                  </a:rPr>
                  <a:t>.</a:t>
                </a:r>
                <a:r>
                  <a:rPr sz="1600" spc="30" dirty="0">
                    <a:latin typeface="Tahoma"/>
                    <a:cs typeface="Tahoma"/>
                  </a:rPr>
                  <a:t> </a:t>
                </a:r>
                <a:r>
                  <a:rPr sz="1600" spc="35" dirty="0">
                    <a:latin typeface="Tahoma"/>
                    <a:cs typeface="Tahoma"/>
                  </a:rPr>
                  <a:t>Sin</a:t>
                </a:r>
                <a:r>
                  <a:rPr sz="1600" spc="130" dirty="0">
                    <a:latin typeface="Tahoma"/>
                    <a:cs typeface="Tahoma"/>
                  </a:rPr>
                  <a:t>c</a:t>
                </a:r>
                <a:r>
                  <a:rPr sz="1600" spc="75" dirty="0">
                    <a:latin typeface="Tahoma"/>
                    <a:cs typeface="Tahoma"/>
                  </a:rPr>
                  <a:t>e</a:t>
                </a:r>
                <a:r>
                  <a:rPr sz="1600" spc="30" dirty="0">
                    <a:latin typeface="Tahoma"/>
                    <a:cs typeface="Tahoma"/>
                  </a:rPr>
                  <a:t> </a:t>
                </a:r>
                <a:r>
                  <a:rPr sz="1600" spc="35" dirty="0">
                    <a:latin typeface="Tahoma"/>
                    <a:cs typeface="Tahoma"/>
                  </a:rPr>
                  <a:t>n</a:t>
                </a:r>
                <a:r>
                  <a:rPr sz="1600" spc="95" dirty="0">
                    <a:latin typeface="Tahoma"/>
                    <a:cs typeface="Tahoma"/>
                  </a:rPr>
                  <a:t>o</a:t>
                </a:r>
                <a:r>
                  <a:rPr sz="1600" spc="30" dirty="0">
                    <a:latin typeface="Tahoma"/>
                    <a:cs typeface="Tahoma"/>
                  </a:rPr>
                  <a:t> </a:t>
                </a:r>
                <a:r>
                  <a:rPr sz="1600" spc="130" dirty="0">
                    <a:latin typeface="Tahoma"/>
                    <a:cs typeface="Tahoma"/>
                  </a:rPr>
                  <a:t>c</a:t>
                </a:r>
                <a:r>
                  <a:rPr sz="1600" spc="70" dirty="0">
                    <a:latin typeface="Tahoma"/>
                    <a:cs typeface="Tahoma"/>
                  </a:rPr>
                  <a:t>on</a:t>
                </a:r>
                <a:r>
                  <a:rPr sz="1600" spc="100" dirty="0">
                    <a:latin typeface="Tahoma"/>
                    <a:cs typeface="Tahoma"/>
                  </a:rPr>
                  <a:t>s</a:t>
                </a:r>
                <a:r>
                  <a:rPr sz="1600" spc="170" dirty="0">
                    <a:latin typeface="Tahoma"/>
                    <a:cs typeface="Tahoma"/>
                  </a:rPr>
                  <a:t>t</a:t>
                </a:r>
                <a:r>
                  <a:rPr sz="1600" spc="40" dirty="0">
                    <a:latin typeface="Tahoma"/>
                    <a:cs typeface="Tahoma"/>
                  </a:rPr>
                  <a:t>ra</a:t>
                </a:r>
                <a:r>
                  <a:rPr sz="1600" spc="5" dirty="0">
                    <a:latin typeface="Tahoma"/>
                    <a:cs typeface="Tahoma"/>
                  </a:rPr>
                  <a:t>i</a:t>
                </a:r>
                <a:r>
                  <a:rPr sz="1600" spc="35" dirty="0">
                    <a:latin typeface="Tahoma"/>
                    <a:cs typeface="Tahoma"/>
                  </a:rPr>
                  <a:t>n</a:t>
                </a:r>
                <a:r>
                  <a:rPr sz="1600" spc="170" dirty="0">
                    <a:latin typeface="Tahoma"/>
                    <a:cs typeface="Tahoma"/>
                  </a:rPr>
                  <a:t>t</a:t>
                </a:r>
                <a:r>
                  <a:rPr sz="1600" spc="30" dirty="0">
                    <a:latin typeface="Tahoma"/>
                    <a:cs typeface="Tahoma"/>
                  </a:rPr>
                  <a:t> </a:t>
                </a:r>
                <a:r>
                  <a:rPr sz="1600" spc="130" dirty="0">
                    <a:latin typeface="Tahoma"/>
                    <a:cs typeface="Tahoma"/>
                  </a:rPr>
                  <a:t>c</a:t>
                </a:r>
                <a:r>
                  <a:rPr sz="1600" spc="40" dirty="0">
                    <a:latin typeface="Tahoma"/>
                    <a:cs typeface="Tahoma"/>
                  </a:rPr>
                  <a:t>a</a:t>
                </a:r>
                <a:r>
                  <a:rPr sz="1600" spc="35" dirty="0">
                    <a:latin typeface="Tahoma"/>
                    <a:cs typeface="Tahoma"/>
                  </a:rPr>
                  <a:t>n</a:t>
                </a:r>
                <a:r>
                  <a:rPr sz="1600" spc="30" dirty="0">
                    <a:latin typeface="Tahoma"/>
                    <a:cs typeface="Tahoma"/>
                  </a:rPr>
                  <a:t> </a:t>
                </a:r>
                <a:r>
                  <a:rPr sz="1600" spc="85" dirty="0">
                    <a:latin typeface="Tahoma"/>
                    <a:cs typeface="Tahoma"/>
                  </a:rPr>
                  <a:t>b</a:t>
                </a:r>
                <a:r>
                  <a:rPr sz="1600" spc="75" dirty="0">
                    <a:latin typeface="Tahoma"/>
                    <a:cs typeface="Tahoma"/>
                  </a:rPr>
                  <a:t>e</a:t>
                </a:r>
                <a:r>
                  <a:rPr sz="1600" spc="30" dirty="0">
                    <a:latin typeface="Tahoma"/>
                    <a:cs typeface="Tahoma"/>
                  </a:rPr>
                  <a:t> </a:t>
                </a:r>
                <a:r>
                  <a:rPr sz="1600" spc="100" dirty="0">
                    <a:latin typeface="Tahoma"/>
                    <a:cs typeface="Tahoma"/>
                  </a:rPr>
                  <a:t>v</a:t>
                </a:r>
                <a:r>
                  <a:rPr sz="1600" spc="5" dirty="0">
                    <a:latin typeface="Tahoma"/>
                    <a:cs typeface="Tahoma"/>
                  </a:rPr>
                  <a:t>i</a:t>
                </a:r>
                <a:r>
                  <a:rPr sz="1600" spc="45" dirty="0">
                    <a:latin typeface="Tahoma"/>
                    <a:cs typeface="Tahoma"/>
                  </a:rPr>
                  <a:t>ol</a:t>
                </a:r>
                <a:r>
                  <a:rPr sz="1600" spc="40" dirty="0">
                    <a:latin typeface="Tahoma"/>
                    <a:cs typeface="Tahoma"/>
                  </a:rPr>
                  <a:t>a</a:t>
                </a:r>
                <a:r>
                  <a:rPr sz="1600" spc="170" dirty="0">
                    <a:latin typeface="Tahoma"/>
                    <a:cs typeface="Tahoma"/>
                  </a:rPr>
                  <a:t>t</a:t>
                </a:r>
                <a:r>
                  <a:rPr sz="1600" spc="75" dirty="0">
                    <a:latin typeface="Tahoma"/>
                    <a:cs typeface="Tahoma"/>
                  </a:rPr>
                  <a:t>e</a:t>
                </a:r>
                <a:r>
                  <a:rPr sz="1600" spc="70" dirty="0">
                    <a:latin typeface="Tahoma"/>
                    <a:cs typeface="Tahoma"/>
                  </a:rPr>
                  <a:t>d</a:t>
                </a:r>
                <a:r>
                  <a:rPr sz="1600" spc="40" dirty="0">
                    <a:latin typeface="Tahoma"/>
                    <a:cs typeface="Tahoma"/>
                  </a:rPr>
                  <a:t> </a:t>
                </a:r>
                <a:r>
                  <a:rPr sz="1600" spc="170" dirty="0">
                    <a:latin typeface="Tahoma"/>
                    <a:cs typeface="Tahoma"/>
                  </a:rPr>
                  <a:t>t</a:t>
                </a:r>
                <a:r>
                  <a:rPr sz="1600" spc="35" dirty="0">
                    <a:latin typeface="Tahoma"/>
                    <a:cs typeface="Tahoma"/>
                  </a:rPr>
                  <a:t>h</a:t>
                </a:r>
                <a:r>
                  <a:rPr sz="1600" spc="5" dirty="0">
                    <a:latin typeface="Tahoma"/>
                    <a:cs typeface="Tahoma"/>
                  </a:rPr>
                  <a:t>i</a:t>
                </a:r>
                <a:r>
                  <a:rPr sz="1600" spc="100" dirty="0">
                    <a:latin typeface="Tahoma"/>
                    <a:cs typeface="Tahoma"/>
                  </a:rPr>
                  <a:t>s</a:t>
                </a:r>
                <a:r>
                  <a:rPr sz="1600" spc="30" dirty="0">
                    <a:latin typeface="Tahoma"/>
                    <a:cs typeface="Tahoma"/>
                  </a:rPr>
                  <a:t> </a:t>
                </a:r>
                <a:r>
                  <a:rPr sz="1600" spc="55" dirty="0">
                    <a:latin typeface="Tahoma"/>
                    <a:cs typeface="Tahoma"/>
                  </a:rPr>
                  <a:t>mu</a:t>
                </a:r>
                <a:r>
                  <a:rPr sz="1600" spc="100" dirty="0">
                    <a:latin typeface="Tahoma"/>
                    <a:cs typeface="Tahoma"/>
                  </a:rPr>
                  <a:t>s</a:t>
                </a:r>
                <a:r>
                  <a:rPr sz="1600" spc="170" dirty="0">
                    <a:latin typeface="Tahoma"/>
                    <a:cs typeface="Tahoma"/>
                  </a:rPr>
                  <a:t>t</a:t>
                </a:r>
                <a:r>
                  <a:rPr sz="1600" spc="30" dirty="0">
                    <a:latin typeface="Tahoma"/>
                    <a:cs typeface="Tahoma"/>
                  </a:rPr>
                  <a:t> </a:t>
                </a:r>
                <a:r>
                  <a:rPr sz="1600" spc="85" dirty="0">
                    <a:latin typeface="Tahoma"/>
                    <a:cs typeface="Tahoma"/>
                  </a:rPr>
                  <a:t>b</a:t>
                </a:r>
                <a:r>
                  <a:rPr sz="1600" spc="75" dirty="0">
                    <a:latin typeface="Tahoma"/>
                    <a:cs typeface="Tahoma"/>
                  </a:rPr>
                  <a:t>e</a:t>
                </a:r>
                <a:r>
                  <a:rPr sz="1600" spc="30" dirty="0">
                    <a:latin typeface="Tahoma"/>
                    <a:cs typeface="Tahoma"/>
                  </a:rPr>
                  <a:t> </a:t>
                </a:r>
                <a:r>
                  <a:rPr sz="1600" spc="170" dirty="0">
                    <a:latin typeface="Tahoma"/>
                    <a:cs typeface="Tahoma"/>
                  </a:rPr>
                  <a:t>t</a:t>
                </a:r>
                <a:r>
                  <a:rPr sz="1600" spc="35" dirty="0">
                    <a:latin typeface="Tahoma"/>
                    <a:cs typeface="Tahoma"/>
                  </a:rPr>
                  <a:t>h</a:t>
                </a:r>
                <a:r>
                  <a:rPr sz="1600" spc="75" dirty="0">
                    <a:latin typeface="Tahoma"/>
                    <a:cs typeface="Tahoma"/>
                  </a:rPr>
                  <a:t>e</a:t>
                </a:r>
                <a:r>
                  <a:rPr sz="1600" spc="30" dirty="0">
                    <a:latin typeface="Tahoma"/>
                    <a:cs typeface="Tahoma"/>
                  </a:rPr>
                  <a:t> </a:t>
                </a:r>
                <a:r>
                  <a:rPr sz="1600" spc="85" dirty="0">
                    <a:latin typeface="Tahoma"/>
                    <a:cs typeface="Tahoma"/>
                  </a:rPr>
                  <a:t>mos</a:t>
                </a:r>
                <a:r>
                  <a:rPr sz="1600" spc="170" dirty="0">
                    <a:latin typeface="Tahoma"/>
                    <a:cs typeface="Tahoma"/>
                  </a:rPr>
                  <a:t>t</a:t>
                </a:r>
                <a:r>
                  <a:rPr sz="1600" spc="30" dirty="0">
                    <a:latin typeface="Tahoma"/>
                    <a:cs typeface="Tahoma"/>
                  </a:rPr>
                  <a:t> </a:t>
                </a:r>
                <a:r>
                  <a:rPr sz="1600" spc="40" dirty="0">
                    <a:latin typeface="Tahoma"/>
                    <a:cs typeface="Tahoma"/>
                  </a:rPr>
                  <a:t>r</a:t>
                </a:r>
                <a:r>
                  <a:rPr sz="1600" spc="75" dirty="0">
                    <a:latin typeface="Tahoma"/>
                    <a:cs typeface="Tahoma"/>
                  </a:rPr>
                  <a:t>e</a:t>
                </a:r>
                <a:r>
                  <a:rPr sz="1600" spc="100" dirty="0">
                    <a:latin typeface="Tahoma"/>
                    <a:cs typeface="Tahoma"/>
                  </a:rPr>
                  <a:t>s</a:t>
                </a:r>
                <a:r>
                  <a:rPr sz="1600" spc="170" dirty="0">
                    <a:latin typeface="Tahoma"/>
                    <a:cs typeface="Tahoma"/>
                  </a:rPr>
                  <a:t>t</a:t>
                </a:r>
                <a:r>
                  <a:rPr sz="1600" spc="40" dirty="0">
                    <a:latin typeface="Tahoma"/>
                    <a:cs typeface="Tahoma"/>
                  </a:rPr>
                  <a:t>r</a:t>
                </a:r>
                <a:r>
                  <a:rPr sz="1600" spc="5" dirty="0">
                    <a:latin typeface="Tahoma"/>
                    <a:cs typeface="Tahoma"/>
                  </a:rPr>
                  <a:t>i</a:t>
                </a:r>
                <a:r>
                  <a:rPr sz="1600" spc="130" dirty="0">
                    <a:latin typeface="Tahoma"/>
                    <a:cs typeface="Tahoma"/>
                  </a:rPr>
                  <a:t>c</a:t>
                </a:r>
                <a:r>
                  <a:rPr sz="1600" spc="170" dirty="0">
                    <a:latin typeface="Tahoma"/>
                    <a:cs typeface="Tahoma"/>
                  </a:rPr>
                  <a:t>t</a:t>
                </a:r>
                <a:r>
                  <a:rPr sz="1600" spc="5" dirty="0">
                    <a:latin typeface="Tahoma"/>
                    <a:cs typeface="Tahoma"/>
                  </a:rPr>
                  <a:t>i</a:t>
                </a:r>
                <a:r>
                  <a:rPr sz="1600" spc="100" dirty="0">
                    <a:latin typeface="Tahoma"/>
                    <a:cs typeface="Tahoma"/>
                  </a:rPr>
                  <a:t>v</a:t>
                </a:r>
                <a:r>
                  <a:rPr sz="1600" spc="75" dirty="0">
                    <a:latin typeface="Tahoma"/>
                    <a:cs typeface="Tahoma"/>
                  </a:rPr>
                  <a:t>e</a:t>
                </a:r>
                <a:r>
                  <a:rPr sz="1600" spc="30" dirty="0">
                    <a:latin typeface="Tahoma"/>
                    <a:cs typeface="Tahoma"/>
                  </a:rPr>
                  <a:t> </a:t>
                </a:r>
                <a:r>
                  <a:rPr sz="1600" spc="130" dirty="0">
                    <a:latin typeface="Tahoma"/>
                    <a:cs typeface="Tahoma"/>
                  </a:rPr>
                  <a:t>c</a:t>
                </a:r>
                <a:r>
                  <a:rPr sz="1600" spc="70" dirty="0">
                    <a:latin typeface="Tahoma"/>
                    <a:cs typeface="Tahoma"/>
                  </a:rPr>
                  <a:t>on</a:t>
                </a:r>
                <a:r>
                  <a:rPr sz="1600" spc="100" dirty="0">
                    <a:latin typeface="Tahoma"/>
                    <a:cs typeface="Tahoma"/>
                  </a:rPr>
                  <a:t>s</a:t>
                </a:r>
                <a:r>
                  <a:rPr sz="1600" spc="170" dirty="0">
                    <a:latin typeface="Tahoma"/>
                    <a:cs typeface="Tahoma"/>
                  </a:rPr>
                  <a:t>t</a:t>
                </a:r>
                <a:r>
                  <a:rPr sz="1600" spc="40" dirty="0">
                    <a:latin typeface="Tahoma"/>
                    <a:cs typeface="Tahoma"/>
                  </a:rPr>
                  <a:t>ra</a:t>
                </a:r>
                <a:r>
                  <a:rPr sz="1600" spc="5" dirty="0">
                    <a:latin typeface="Tahoma"/>
                    <a:cs typeface="Tahoma"/>
                  </a:rPr>
                  <a:t>i</a:t>
                </a:r>
                <a:r>
                  <a:rPr sz="1600" spc="35" dirty="0">
                    <a:latin typeface="Tahoma"/>
                    <a:cs typeface="Tahoma"/>
                  </a:rPr>
                  <a:t>n</a:t>
                </a:r>
                <a:r>
                  <a:rPr sz="1600" spc="170" dirty="0">
                    <a:latin typeface="Tahoma"/>
                    <a:cs typeface="Tahoma"/>
                  </a:rPr>
                  <a:t>t</a:t>
                </a:r>
                <a:r>
                  <a:rPr sz="1600" dirty="0">
                    <a:latin typeface="Tahoma"/>
                    <a:cs typeface="Tahoma"/>
                  </a:rPr>
                  <a:t>.</a:t>
                </a:r>
                <a:r>
                  <a:rPr sz="1600" spc="30" dirty="0">
                    <a:latin typeface="Tahoma"/>
                    <a:cs typeface="Tahoma"/>
                  </a:rPr>
                  <a:t> </a:t>
                </a:r>
                <a:r>
                  <a:rPr sz="1600" spc="80" dirty="0">
                    <a:latin typeface="Tahoma"/>
                    <a:cs typeface="Tahoma"/>
                  </a:rPr>
                  <a:t>T</a:t>
                </a:r>
                <a:r>
                  <a:rPr sz="1600" spc="35" dirty="0">
                    <a:latin typeface="Tahoma"/>
                    <a:cs typeface="Tahoma"/>
                  </a:rPr>
                  <a:t>h</a:t>
                </a:r>
                <a:r>
                  <a:rPr sz="1600" spc="75" dirty="0">
                    <a:latin typeface="Tahoma"/>
                    <a:cs typeface="Tahoma"/>
                  </a:rPr>
                  <a:t>e</a:t>
                </a:r>
                <a:r>
                  <a:rPr sz="1600" spc="40" dirty="0">
                    <a:latin typeface="Tahoma"/>
                    <a:cs typeface="Tahoma"/>
                  </a:rPr>
                  <a:t>r</a:t>
                </a:r>
                <a:r>
                  <a:rPr sz="1600" spc="75" dirty="0">
                    <a:latin typeface="Tahoma"/>
                    <a:cs typeface="Tahoma"/>
                  </a:rPr>
                  <a:t>e</a:t>
                </a:r>
                <a:r>
                  <a:rPr sz="1600" spc="110" dirty="0">
                    <a:latin typeface="Tahoma"/>
                    <a:cs typeface="Tahoma"/>
                  </a:rPr>
                  <a:t>f</a:t>
                </a:r>
                <a:r>
                  <a:rPr sz="1600" spc="65" dirty="0">
                    <a:latin typeface="Tahoma"/>
                    <a:cs typeface="Tahoma"/>
                  </a:rPr>
                  <a:t>ore</a:t>
                </a:r>
                <a:endParaRPr sz="1600" dirty="0">
                  <a:latin typeface="Tahoma"/>
                  <a:cs typeface="Tahoma"/>
                </a:endParaRPr>
              </a:p>
            </p:txBody>
          </p:sp>
        </mc:Choice>
        <mc:Fallback xmlns="">
          <p:sp>
            <p:nvSpPr>
              <p:cNvPr id="8" name="object 8"/>
              <p:cNvSpPr txBox="1">
                <a:spLocks noRot="1" noChangeAspect="1" noMove="1" noResize="1" noEditPoints="1" noAdjustHandles="1" noChangeArrowheads="1" noChangeShapeType="1" noTextEdit="1"/>
              </p:cNvSpPr>
              <p:nvPr/>
            </p:nvSpPr>
            <p:spPr>
              <a:xfrm>
                <a:off x="33019" y="5677169"/>
                <a:ext cx="6125845" cy="511871"/>
              </a:xfrm>
              <a:prstGeom prst="rect">
                <a:avLst/>
              </a:prstGeom>
              <a:blipFill>
                <a:blip r:embed="rId3"/>
                <a:stretch>
                  <a:fillRect l="-1791" t="-11905" r="-1194" b="-23810"/>
                </a:stretch>
              </a:blipFill>
            </p:spPr>
            <p:txBody>
              <a:bodyPr/>
              <a:lstStyle/>
              <a:p>
                <a:r>
                  <a:rPr lang="en-US">
                    <a:noFill/>
                  </a:rPr>
                  <a:t> </a:t>
                </a:r>
              </a:p>
            </p:txBody>
          </p:sp>
        </mc:Fallback>
      </mc:AlternateContent>
      <p:sp>
        <p:nvSpPr>
          <p:cNvPr id="9" name="object 9"/>
          <p:cNvSpPr txBox="1"/>
          <p:nvPr/>
        </p:nvSpPr>
        <p:spPr>
          <a:xfrm>
            <a:off x="182880" y="183515"/>
            <a:ext cx="7970520" cy="423193"/>
          </a:xfrm>
          <a:prstGeom prst="rect">
            <a:avLst/>
          </a:prstGeom>
        </p:spPr>
        <p:txBody>
          <a:bodyPr vert="horz" wrap="square" lIns="0" tIns="0" rIns="0" bIns="0" rtlCol="0">
            <a:spAutoFit/>
          </a:bodyPr>
          <a:lstStyle/>
          <a:p>
            <a:pPr marL="12700">
              <a:lnSpc>
                <a:spcPts val="3270"/>
              </a:lnSpc>
            </a:pPr>
            <a:r>
              <a:rPr sz="2750" dirty="0">
                <a:latin typeface="Arial"/>
                <a:cs typeface="Arial"/>
              </a:rPr>
              <a:t>Solving 2-player 0-sum Games as Linear Programs</a:t>
            </a:r>
          </a:p>
        </p:txBody>
      </p:sp>
      <p:sp>
        <p:nvSpPr>
          <p:cNvPr id="10" name="object 10"/>
          <p:cNvSpPr txBox="1"/>
          <p:nvPr/>
        </p:nvSpPr>
        <p:spPr>
          <a:xfrm>
            <a:off x="4348322" y="1217611"/>
            <a:ext cx="1177290" cy="330200"/>
          </a:xfrm>
          <a:prstGeom prst="rect">
            <a:avLst/>
          </a:prstGeom>
        </p:spPr>
        <p:txBody>
          <a:bodyPr vert="horz" wrap="square" lIns="0" tIns="0" rIns="0" bIns="0" rtlCol="0">
            <a:spAutoFit/>
          </a:bodyPr>
          <a:lstStyle/>
          <a:p>
            <a:pPr marL="12700">
              <a:lnSpc>
                <a:spcPct val="100000"/>
              </a:lnSpc>
            </a:pPr>
            <a:r>
              <a:rPr sz="2400" spc="50" dirty="0">
                <a:latin typeface="Garamond"/>
                <a:cs typeface="Garamond"/>
              </a:rPr>
              <a:t>minimize</a:t>
            </a:r>
            <a:endParaRPr sz="2400" dirty="0">
              <a:latin typeface="Garamond"/>
              <a:cs typeface="Garamond"/>
            </a:endParaRPr>
          </a:p>
        </p:txBody>
      </p:sp>
      <p:sp>
        <p:nvSpPr>
          <p:cNvPr id="15" name="object 15"/>
          <p:cNvSpPr txBox="1"/>
          <p:nvPr/>
        </p:nvSpPr>
        <p:spPr>
          <a:xfrm>
            <a:off x="4324556" y="2110699"/>
            <a:ext cx="1228090" cy="330200"/>
          </a:xfrm>
          <a:prstGeom prst="rect">
            <a:avLst/>
          </a:prstGeom>
        </p:spPr>
        <p:txBody>
          <a:bodyPr vert="horz" wrap="square" lIns="0" tIns="0" rIns="0" bIns="0" rtlCol="0">
            <a:spAutoFit/>
          </a:bodyPr>
          <a:lstStyle/>
          <a:p>
            <a:pPr marL="12700">
              <a:lnSpc>
                <a:spcPct val="100000"/>
              </a:lnSpc>
            </a:pPr>
            <a:r>
              <a:rPr sz="2400" spc="35" dirty="0">
                <a:latin typeface="Garamond"/>
                <a:cs typeface="Garamond"/>
              </a:rPr>
              <a:t>subject</a:t>
            </a:r>
            <a:r>
              <a:rPr sz="2400" spc="210" dirty="0">
                <a:latin typeface="Garamond"/>
                <a:cs typeface="Garamond"/>
              </a:rPr>
              <a:t> </a:t>
            </a:r>
            <a:r>
              <a:rPr sz="2400" spc="-35" dirty="0">
                <a:latin typeface="Garamond"/>
                <a:cs typeface="Garamond"/>
              </a:rPr>
              <a:t>to</a:t>
            </a:r>
            <a:endParaRPr sz="2400" dirty="0">
              <a:latin typeface="Garamond"/>
              <a:cs typeface="Garamond"/>
            </a:endParaRPr>
          </a:p>
        </p:txBody>
      </p:sp>
      <mc:AlternateContent xmlns:mc="http://schemas.openxmlformats.org/markup-compatibility/2006" xmlns:a14="http://schemas.microsoft.com/office/drawing/2010/main">
        <mc:Choice Requires="a14">
          <p:sp>
            <p:nvSpPr>
              <p:cNvPr id="17" name="object 17"/>
              <p:cNvSpPr txBox="1"/>
              <p:nvPr/>
            </p:nvSpPr>
            <p:spPr>
              <a:xfrm>
                <a:off x="4310222" y="3082517"/>
                <a:ext cx="1790064" cy="369332"/>
              </a:xfrm>
              <a:prstGeom prst="rect">
                <a:avLst/>
              </a:prstGeom>
            </p:spPr>
            <p:txBody>
              <a:bodyPr vert="horz" wrap="square" lIns="0" tIns="0" rIns="0" bIns="0" rtlCol="0">
                <a:spAutoFit/>
              </a:bodyPr>
              <a:lstStyle/>
              <a:p>
                <a:pPr marL="12700">
                  <a:lnSpc>
                    <a:spcPct val="100000"/>
                  </a:lnSpc>
                  <a:tabLst>
                    <a:tab pos="1570355" algn="l"/>
                  </a:tabLst>
                </a:pPr>
                <a:r>
                  <a:rPr lang="en-US" sz="2400" spc="50" dirty="0">
                    <a:latin typeface="Garamond"/>
                    <a:cs typeface="Garamond"/>
                  </a:rPr>
                  <a:t>m</a:t>
                </a:r>
                <a:r>
                  <a:rPr sz="2400" spc="50" dirty="0">
                    <a:latin typeface="Garamond"/>
                    <a:cs typeface="Garamond"/>
                  </a:rPr>
                  <a:t>inimize</a:t>
                </a:r>
                <a:r>
                  <a:rPr lang="en-US" sz="2400" spc="50" dirty="0">
                    <a:latin typeface="Garamond"/>
                    <a:cs typeface="Garamond"/>
                  </a:rPr>
                  <a:t>    </a:t>
                </a:r>
                <a14:m>
                  <m:oMath xmlns:m="http://schemas.openxmlformats.org/officeDocument/2006/math">
                    <m:r>
                      <a:rPr lang="en-US" sz="2400" i="1" spc="50" dirty="0" smtClean="0">
                        <a:latin typeface="Cambria Math" panose="02040503050406030204" pitchFamily="18" charset="0"/>
                        <a:cs typeface="Times New Roman"/>
                      </a:rPr>
                      <m:t>𝑧</m:t>
                    </m:r>
                    <m:r>
                      <a:rPr lang="en-US" sz="2400" i="1" spc="70" dirty="0">
                        <a:latin typeface="Cambria Math" panose="02040503050406030204" pitchFamily="18" charset="0"/>
                        <a:cs typeface="Cambria"/>
                      </a:rPr>
                      <m:t>′</m:t>
                    </m:r>
                  </m:oMath>
                </a14:m>
                <a:endParaRPr sz="2400" dirty="0">
                  <a:latin typeface="Cambria"/>
                  <a:cs typeface="Cambria"/>
                </a:endParaRPr>
              </a:p>
            </p:txBody>
          </p:sp>
        </mc:Choice>
        <mc:Fallback xmlns="">
          <p:sp>
            <p:nvSpPr>
              <p:cNvPr id="17" name="object 17"/>
              <p:cNvSpPr txBox="1">
                <a:spLocks noRot="1" noChangeAspect="1" noMove="1" noResize="1" noEditPoints="1" noAdjustHandles="1" noChangeArrowheads="1" noChangeShapeType="1" noTextEdit="1"/>
              </p:cNvSpPr>
              <p:nvPr/>
            </p:nvSpPr>
            <p:spPr>
              <a:xfrm>
                <a:off x="4310222" y="3082517"/>
                <a:ext cx="1790064" cy="369332"/>
              </a:xfrm>
              <a:prstGeom prst="rect">
                <a:avLst/>
              </a:prstGeom>
              <a:blipFill>
                <a:blip r:embed="rId4"/>
                <a:stretch>
                  <a:fillRect l="-9524" t="-25000" r="-3061" b="-51667"/>
                </a:stretch>
              </a:blipFill>
            </p:spPr>
            <p:txBody>
              <a:bodyPr/>
              <a:lstStyle/>
              <a:p>
                <a:r>
                  <a:rPr lang="en-US">
                    <a:noFill/>
                  </a:rPr>
                  <a:t> </a:t>
                </a:r>
              </a:p>
            </p:txBody>
          </p:sp>
        </mc:Fallback>
      </mc:AlternateContent>
      <p:sp>
        <p:nvSpPr>
          <p:cNvPr id="18" name="object 18"/>
          <p:cNvSpPr txBox="1"/>
          <p:nvPr/>
        </p:nvSpPr>
        <p:spPr>
          <a:xfrm>
            <a:off x="4324215" y="4225517"/>
            <a:ext cx="1228090" cy="330200"/>
          </a:xfrm>
          <a:prstGeom prst="rect">
            <a:avLst/>
          </a:prstGeom>
        </p:spPr>
        <p:txBody>
          <a:bodyPr vert="horz" wrap="square" lIns="0" tIns="0" rIns="0" bIns="0" rtlCol="0">
            <a:spAutoFit/>
          </a:bodyPr>
          <a:lstStyle/>
          <a:p>
            <a:pPr marL="12700">
              <a:lnSpc>
                <a:spcPct val="100000"/>
              </a:lnSpc>
            </a:pPr>
            <a:r>
              <a:rPr sz="2400" spc="35" dirty="0">
                <a:latin typeface="Garamond"/>
                <a:cs typeface="Garamond"/>
              </a:rPr>
              <a:t>subject</a:t>
            </a:r>
            <a:r>
              <a:rPr sz="2400" spc="210" dirty="0">
                <a:latin typeface="Garamond"/>
                <a:cs typeface="Garamond"/>
              </a:rPr>
              <a:t> </a:t>
            </a:r>
            <a:r>
              <a:rPr sz="2400" spc="-35" dirty="0">
                <a:latin typeface="Garamond"/>
                <a:cs typeface="Garamond"/>
              </a:rPr>
              <a:t>to</a:t>
            </a:r>
            <a:endParaRPr sz="2400" dirty="0">
              <a:latin typeface="Garamond"/>
              <a:cs typeface="Garamond"/>
            </a:endParaRPr>
          </a:p>
        </p:txBody>
      </p:sp>
      <p:sp>
        <p:nvSpPr>
          <p:cNvPr id="25" name="object 2">
            <a:extLst>
              <a:ext uri="{FF2B5EF4-FFF2-40B4-BE49-F238E27FC236}">
                <a16:creationId xmlns:a16="http://schemas.microsoft.com/office/drawing/2014/main" id="{30D1E111-183B-D523-6161-E2C17D1FBF14}"/>
              </a:ext>
            </a:extLst>
          </p:cNvPr>
          <p:cNvSpPr/>
          <p:nvPr/>
        </p:nvSpPr>
        <p:spPr>
          <a:xfrm>
            <a:off x="0" y="836179"/>
            <a:ext cx="9129608"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507DC7A-FBFA-5D84-0D0B-7271F07AE437}"/>
                  </a:ext>
                </a:extLst>
              </p:cNvPr>
              <p:cNvSpPr txBox="1"/>
              <p:nvPr/>
            </p:nvSpPr>
            <p:spPr>
              <a:xfrm>
                <a:off x="5817843" y="990600"/>
                <a:ext cx="1701043" cy="879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𝑖</m:t>
                              </m:r>
                            </m:lim>
                          </m:limLow>
                        </m:fName>
                        <m:e>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e>
                          </m:nary>
                        </m:e>
                      </m:func>
                    </m:oMath>
                  </m:oMathPara>
                </a14:m>
                <a:endParaRPr lang="en-US" dirty="0"/>
              </a:p>
            </p:txBody>
          </p:sp>
        </mc:Choice>
        <mc:Fallback xmlns="">
          <p:sp>
            <p:nvSpPr>
              <p:cNvPr id="26" name="TextBox 25">
                <a:extLst>
                  <a:ext uri="{FF2B5EF4-FFF2-40B4-BE49-F238E27FC236}">
                    <a16:creationId xmlns:a16="http://schemas.microsoft.com/office/drawing/2014/main" id="{6507DC7A-FBFA-5D84-0D0B-7271F07AE437}"/>
                  </a:ext>
                </a:extLst>
              </p:cNvPr>
              <p:cNvSpPr txBox="1">
                <a:spLocks noRot="1" noChangeAspect="1" noMove="1" noResize="1" noEditPoints="1" noAdjustHandles="1" noChangeArrowheads="1" noChangeShapeType="1" noTextEdit="1"/>
              </p:cNvSpPr>
              <p:nvPr/>
            </p:nvSpPr>
            <p:spPr>
              <a:xfrm>
                <a:off x="5817843" y="990600"/>
                <a:ext cx="1701043" cy="879856"/>
              </a:xfrm>
              <a:prstGeom prst="rect">
                <a:avLst/>
              </a:prstGeom>
              <a:blipFill>
                <a:blip r:embed="rId5"/>
                <a:stretch>
                  <a:fillRect/>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667ED33-0E38-2328-A3EA-C4444B1BA3AC}"/>
                  </a:ext>
                </a:extLst>
              </p:cNvPr>
              <p:cNvSpPr txBox="1"/>
              <p:nvPr/>
            </p:nvSpPr>
            <p:spPr>
              <a:xfrm>
                <a:off x="5817843" y="1897861"/>
                <a:ext cx="3006785" cy="879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r>
                            <a:rPr lang="en-US" b="0" i="1" smtClean="0">
                              <a:latin typeface="Cambria Math" panose="02040503050406030204" pitchFamily="18" charset="0"/>
                            </a:rPr>
                            <m:t>1=</m:t>
                          </m:r>
                        </m:fName>
                        <m:e>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 :0≤</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≤1</m:t>
                              </m:r>
                            </m:e>
                          </m:nary>
                        </m:e>
                      </m:func>
                    </m:oMath>
                  </m:oMathPara>
                </a14:m>
                <a:endParaRPr lang="en-US" dirty="0"/>
              </a:p>
            </p:txBody>
          </p:sp>
        </mc:Choice>
        <mc:Fallback xmlns="">
          <p:sp>
            <p:nvSpPr>
              <p:cNvPr id="27" name="TextBox 26">
                <a:extLst>
                  <a:ext uri="{FF2B5EF4-FFF2-40B4-BE49-F238E27FC236}">
                    <a16:creationId xmlns:a16="http://schemas.microsoft.com/office/drawing/2014/main" id="{5667ED33-0E38-2328-A3EA-C4444B1BA3AC}"/>
                  </a:ext>
                </a:extLst>
              </p:cNvPr>
              <p:cNvSpPr txBox="1">
                <a:spLocks noRot="1" noChangeAspect="1" noMove="1" noResize="1" noEditPoints="1" noAdjustHandles="1" noChangeArrowheads="1" noChangeShapeType="1" noTextEdit="1"/>
              </p:cNvSpPr>
              <p:nvPr/>
            </p:nvSpPr>
            <p:spPr>
              <a:xfrm>
                <a:off x="5817843" y="1897861"/>
                <a:ext cx="3006785" cy="879856"/>
              </a:xfrm>
              <a:prstGeom prst="rect">
                <a:avLst/>
              </a:prstGeom>
              <a:blipFill>
                <a:blip r:embed="rId6"/>
                <a:stretch>
                  <a:fillRect/>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B5E132C-0B66-AC1D-FC4A-ECB81FDA1F3E}"/>
                  </a:ext>
                </a:extLst>
              </p:cNvPr>
              <p:cNvSpPr txBox="1"/>
              <p:nvPr/>
            </p:nvSpPr>
            <p:spPr>
              <a:xfrm>
                <a:off x="5771822" y="3561204"/>
                <a:ext cx="3164777" cy="17645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m:t>
                                  </m:r>
                                </m:sup>
                              </m:sSup>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e>
                              </m:nary>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0      </m:t>
                              </m:r>
                            </m:e>
                            <m:e>
                              <m:func>
                                <m:funcPr>
                                  <m:ctrlPr>
                                    <a:rPr lang="en-US" i="1" smtClean="0">
                                      <a:latin typeface="Cambria Math" panose="02040503050406030204" pitchFamily="18" charset="0"/>
                                    </a:rPr>
                                  </m:ctrlPr>
                                </m:funcPr>
                                <m:fName>
                                  <m:r>
                                    <a:rPr lang="en-US" b="0" i="1" smtClean="0">
                                      <a:latin typeface="Cambria Math" panose="02040503050406030204" pitchFamily="18" charset="0"/>
                                    </a:rPr>
                                    <m:t>1=</m:t>
                                  </m:r>
                                </m:fName>
                                <m:e>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 :0≤</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≤1</m:t>
                                      </m:r>
                                    </m:e>
                                  </m:nary>
                                </m:e>
                              </m:func>
                            </m:e>
                          </m:eqArr>
                        </m:e>
                      </m:d>
                    </m:oMath>
                  </m:oMathPara>
                </a14:m>
                <a:endParaRPr lang="en-US" dirty="0"/>
              </a:p>
            </p:txBody>
          </p:sp>
        </mc:Choice>
        <mc:Fallback xmlns="">
          <p:sp>
            <p:nvSpPr>
              <p:cNvPr id="28" name="TextBox 27">
                <a:extLst>
                  <a:ext uri="{FF2B5EF4-FFF2-40B4-BE49-F238E27FC236}">
                    <a16:creationId xmlns:a16="http://schemas.microsoft.com/office/drawing/2014/main" id="{EB5E132C-0B66-AC1D-FC4A-ECB81FDA1F3E}"/>
                  </a:ext>
                </a:extLst>
              </p:cNvPr>
              <p:cNvSpPr txBox="1">
                <a:spLocks noRot="1" noChangeAspect="1" noMove="1" noResize="1" noEditPoints="1" noAdjustHandles="1" noChangeArrowheads="1" noChangeShapeType="1" noTextEdit="1"/>
              </p:cNvSpPr>
              <p:nvPr/>
            </p:nvSpPr>
            <p:spPr>
              <a:xfrm>
                <a:off x="5771822" y="3561204"/>
                <a:ext cx="3164777" cy="1764522"/>
              </a:xfrm>
              <a:prstGeom prst="rect">
                <a:avLst/>
              </a:prstGeom>
              <a:blipFill>
                <a:blip r:embed="rId7"/>
                <a:stretch>
                  <a:fillRect/>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BACD89C-B2AA-1300-A2FA-47F0483475D1}"/>
                  </a:ext>
                </a:extLst>
              </p:cNvPr>
              <p:cNvSpPr txBox="1"/>
              <p:nvPr/>
            </p:nvSpPr>
            <p:spPr>
              <a:xfrm>
                <a:off x="6568609" y="5597144"/>
                <a:ext cx="2118593" cy="879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r>
                            <a:rPr lang="en-US" b="0" i="1" smtClean="0">
                              <a:latin typeface="Cambria Math" panose="02040503050406030204" pitchFamily="18" charset="0"/>
                            </a:rPr>
                            <m:t>𝑧</m:t>
                          </m:r>
                          <m:r>
                            <a:rPr lang="en-US" b="0" i="1" smtClean="0">
                              <a:latin typeface="Cambria Math" panose="02040503050406030204" pitchFamily="18" charset="0"/>
                            </a:rPr>
                            <m:t>=</m:t>
                          </m:r>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𝑖</m:t>
                              </m:r>
                            </m:lim>
                          </m:limLow>
                        </m:fName>
                        <m:e>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e>
                          </m:nary>
                        </m:e>
                      </m:func>
                    </m:oMath>
                  </m:oMathPara>
                </a14:m>
                <a:endParaRPr lang="en-US" dirty="0"/>
              </a:p>
            </p:txBody>
          </p:sp>
        </mc:Choice>
        <mc:Fallback xmlns="">
          <p:sp>
            <p:nvSpPr>
              <p:cNvPr id="29" name="TextBox 28">
                <a:extLst>
                  <a:ext uri="{FF2B5EF4-FFF2-40B4-BE49-F238E27FC236}">
                    <a16:creationId xmlns:a16="http://schemas.microsoft.com/office/drawing/2014/main" id="{0BACD89C-B2AA-1300-A2FA-47F0483475D1}"/>
                  </a:ext>
                </a:extLst>
              </p:cNvPr>
              <p:cNvSpPr txBox="1">
                <a:spLocks noRot="1" noChangeAspect="1" noMove="1" noResize="1" noEditPoints="1" noAdjustHandles="1" noChangeArrowheads="1" noChangeShapeType="1" noTextEdit="1"/>
              </p:cNvSpPr>
              <p:nvPr/>
            </p:nvSpPr>
            <p:spPr>
              <a:xfrm>
                <a:off x="6568609" y="5597144"/>
                <a:ext cx="2118593" cy="879856"/>
              </a:xfrm>
              <a:prstGeom prst="rect">
                <a:avLst/>
              </a:prstGeom>
              <a:blipFill>
                <a:blip r:embed="rId8"/>
                <a:stretch>
                  <a:fillRect/>
                </a:stretch>
              </a:blipFill>
            </p:spPr>
            <p:txBody>
              <a:bodyPr/>
              <a:lstStyle/>
              <a:p>
                <a:r>
                  <a:rPr lang="en-MY">
                    <a:noFill/>
                  </a:rPr>
                  <a:t> </a:t>
                </a:r>
              </a:p>
            </p:txBody>
          </p:sp>
        </mc:Fallback>
      </mc:AlternateContent>
      <p:sp>
        <p:nvSpPr>
          <p:cNvPr id="30" name="Slide Number Placeholder 8">
            <a:extLst>
              <a:ext uri="{FF2B5EF4-FFF2-40B4-BE49-F238E27FC236}">
                <a16:creationId xmlns:a16="http://schemas.microsoft.com/office/drawing/2014/main" id="{78E70846-53B4-62BA-133D-947951F19B46}"/>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35</a:t>
            </a:fld>
            <a:r>
              <a:rPr lang="en-US" sz="2000" dirty="0">
                <a:solidFill>
                  <a:prstClr val="black"/>
                </a:solidFill>
                <a:latin typeface="Comic Sans MS"/>
                <a:sym typeface="Comic Sans MS"/>
              </a:rPr>
              <a:t>/46</a:t>
            </a:r>
          </a:p>
        </p:txBody>
      </p:sp>
      <p:sp>
        <p:nvSpPr>
          <p:cNvPr id="31" name="Footer Placeholder 9">
            <a:extLst>
              <a:ext uri="{FF2B5EF4-FFF2-40B4-BE49-F238E27FC236}">
                <a16:creationId xmlns:a16="http://schemas.microsoft.com/office/drawing/2014/main" id="{4380FB98-BF37-FB35-A7F5-E46B661F8BBB}"/>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32" name="Rectangle 31">
            <a:extLst>
              <a:ext uri="{FF2B5EF4-FFF2-40B4-BE49-F238E27FC236}">
                <a16:creationId xmlns:a16="http://schemas.microsoft.com/office/drawing/2014/main" id="{32D1B789-D3A3-2829-876F-1AB18752CE49}"/>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33" name="Rectangle 32">
            <a:extLst>
              <a:ext uri="{FF2B5EF4-FFF2-40B4-BE49-F238E27FC236}">
                <a16:creationId xmlns:a16="http://schemas.microsoft.com/office/drawing/2014/main" id="{F31DA3AE-F72E-5916-3941-93C0EEBA7E11}"/>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4" name="Rectangle 33">
            <a:extLst>
              <a:ext uri="{FF2B5EF4-FFF2-40B4-BE49-F238E27FC236}">
                <a16:creationId xmlns:a16="http://schemas.microsoft.com/office/drawing/2014/main" id="{38568E31-387E-4819-F31F-9040D7B3228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77757F08-CC17-E38C-750F-EDBA08220025}"/>
              </a:ext>
            </a:extLst>
          </p:cNvPr>
          <p:cNvSpPr txBox="1"/>
          <p:nvPr/>
        </p:nvSpPr>
        <p:spPr>
          <a:xfrm>
            <a:off x="55880" y="826734"/>
            <a:ext cx="4668520" cy="369332"/>
          </a:xfrm>
          <a:prstGeom prst="rect">
            <a:avLst/>
          </a:prstGeom>
          <a:noFill/>
        </p:spPr>
        <p:txBody>
          <a:bodyPr wrap="square">
            <a:spAutoFit/>
          </a:bodyPr>
          <a:lstStyle/>
          <a:p>
            <a:r>
              <a:rPr lang="en-US" dirty="0">
                <a:solidFill>
                  <a:srgbClr val="7030A0"/>
                </a:solidFill>
                <a:latin typeface="Söhne"/>
              </a:rPr>
              <a:t>F</a:t>
            </a:r>
            <a:r>
              <a:rPr lang="en-US" b="0" i="0" dirty="0">
                <a:solidFill>
                  <a:srgbClr val="7030A0"/>
                </a:solidFill>
                <a:effectLst/>
                <a:latin typeface="Söhne"/>
              </a:rPr>
              <a:t>ind the optimal mixed strategy for Player B </a:t>
            </a:r>
            <a:endParaRPr lang="en-US" dirty="0">
              <a:solidFill>
                <a:srgbClr val="7030A0"/>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F75E937-8236-D23E-D107-CB0EA8DDDD2D}"/>
                  </a:ext>
                </a:extLst>
              </p:cNvPr>
              <p:cNvSpPr txBox="1"/>
              <p:nvPr/>
            </p:nvSpPr>
            <p:spPr>
              <a:xfrm>
                <a:off x="33019" y="4109866"/>
                <a:ext cx="3222932" cy="1169551"/>
              </a:xfrm>
              <a:prstGeom prst="rect">
                <a:avLst/>
              </a:prstGeom>
              <a:noFill/>
            </p:spPr>
            <p:txBody>
              <a:bodyPr wrap="square">
                <a:spAutoFit/>
              </a:bodyPr>
              <a:lstStyle/>
              <a:p>
                <a:r>
                  <a:rPr lang="en-US" sz="1400" b="0" i="0" dirty="0">
                    <a:solidFill>
                      <a:srgbClr val="FF0000"/>
                    </a:solidFill>
                    <a:effectLst/>
                    <a:latin typeface="Söhne"/>
                  </a:rPr>
                  <a:t>The overall goal of Player B is to find the optimal set of probabilities </a:t>
                </a:r>
                <a14:m>
                  <m:oMath xmlns:m="http://schemas.openxmlformats.org/officeDocument/2006/math">
                    <m:sSub>
                      <m:sSubPr>
                        <m:ctrlPr>
                          <a:rPr lang="en-US" sz="1400" b="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𝑦</m:t>
                        </m:r>
                      </m:e>
                      <m:sub>
                        <m:r>
                          <a:rPr lang="en-US" sz="1400" b="0" i="1" smtClean="0">
                            <a:solidFill>
                              <a:srgbClr val="FF0000"/>
                            </a:solidFill>
                            <a:latin typeface="Cambria Math" panose="02040503050406030204" pitchFamily="18" charset="0"/>
                          </a:rPr>
                          <m:t>𝑖</m:t>
                        </m:r>
                      </m:sub>
                    </m:sSub>
                  </m:oMath>
                </a14:m>
                <a:r>
                  <a:rPr lang="en-US" sz="1400" b="0" i="0" dirty="0">
                    <a:solidFill>
                      <a:srgbClr val="FF0000"/>
                    </a:solidFill>
                    <a:effectLst/>
                    <a:latin typeface="Söhne"/>
                  </a:rPr>
                  <a:t> that minimize the maximum expected payoff for Player A across all of Player B's possible strategies</a:t>
                </a:r>
                <a:endParaRPr lang="en-US" sz="1400" dirty="0">
                  <a:solidFill>
                    <a:srgbClr val="FF0000"/>
                  </a:solidFill>
                </a:endParaRPr>
              </a:p>
            </p:txBody>
          </p:sp>
        </mc:Choice>
        <mc:Fallback xmlns="">
          <p:sp>
            <p:nvSpPr>
              <p:cNvPr id="14" name="TextBox 13">
                <a:extLst>
                  <a:ext uri="{FF2B5EF4-FFF2-40B4-BE49-F238E27FC236}">
                    <a16:creationId xmlns:a16="http://schemas.microsoft.com/office/drawing/2014/main" id="{FF75E937-8236-D23E-D107-CB0EA8DDDD2D}"/>
                  </a:ext>
                </a:extLst>
              </p:cNvPr>
              <p:cNvSpPr txBox="1">
                <a:spLocks noRot="1" noChangeAspect="1" noMove="1" noResize="1" noEditPoints="1" noAdjustHandles="1" noChangeArrowheads="1" noChangeShapeType="1" noTextEdit="1"/>
              </p:cNvSpPr>
              <p:nvPr/>
            </p:nvSpPr>
            <p:spPr>
              <a:xfrm>
                <a:off x="33019" y="4109866"/>
                <a:ext cx="3222932" cy="1169551"/>
              </a:xfrm>
              <a:prstGeom prst="rect">
                <a:avLst/>
              </a:prstGeom>
              <a:blipFill>
                <a:blip r:embed="rId9"/>
                <a:stretch>
                  <a:fillRect l="-567" t="-1042" b="-4688"/>
                </a:stretch>
              </a:blipFill>
            </p:spPr>
            <p:txBody>
              <a:bodyPr/>
              <a:lstStyle/>
              <a:p>
                <a:r>
                  <a:rPr lang="en-US">
                    <a:noFill/>
                  </a:rPr>
                  <a:t> </a:t>
                </a:r>
              </a:p>
            </p:txBody>
          </p:sp>
        </mc:Fallback>
      </mc:AlternateContent>
      <p:sp>
        <p:nvSpPr>
          <p:cNvPr id="16" name="Callout: Line 15">
            <a:extLst>
              <a:ext uri="{FF2B5EF4-FFF2-40B4-BE49-F238E27FC236}">
                <a16:creationId xmlns:a16="http://schemas.microsoft.com/office/drawing/2014/main" id="{CC4E959C-7DA6-7486-44DD-13F9985FDE92}"/>
              </a:ext>
            </a:extLst>
          </p:cNvPr>
          <p:cNvSpPr/>
          <p:nvPr/>
        </p:nvSpPr>
        <p:spPr>
          <a:xfrm>
            <a:off x="7700036" y="3082518"/>
            <a:ext cx="1235048" cy="369332"/>
          </a:xfrm>
          <a:prstGeom prst="borderCallout1">
            <a:avLst>
              <a:gd name="adj1" fmla="val 18750"/>
              <a:gd name="adj2" fmla="val -8333"/>
              <a:gd name="adj3" fmla="val -162477"/>
              <a:gd name="adj4" fmla="val -53157"/>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and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0" y="1503401"/>
            <a:ext cx="4307205" cy="5354955"/>
          </a:xfrm>
          <a:custGeom>
            <a:avLst/>
            <a:gdLst/>
            <a:ahLst/>
            <a:cxnLst/>
            <a:rect l="l" t="t" r="r" b="b"/>
            <a:pathLst>
              <a:path w="4307205" h="5354955">
                <a:moveTo>
                  <a:pt x="0" y="5354598"/>
                </a:moveTo>
                <a:lnTo>
                  <a:pt x="4306917" y="5354598"/>
                </a:lnTo>
                <a:lnTo>
                  <a:pt x="4306917" y="0"/>
                </a:lnTo>
                <a:lnTo>
                  <a:pt x="0" y="0"/>
                </a:lnTo>
                <a:lnTo>
                  <a:pt x="0" y="5354598"/>
                </a:lnTo>
              </a:path>
            </a:pathLst>
          </a:custGeom>
          <a:solidFill>
            <a:srgbClr val="E7E7E7"/>
          </a:solidFill>
        </p:spPr>
        <p:txBody>
          <a:bodyPr wrap="square" lIns="0" tIns="0" rIns="0" bIns="0" rtlCol="0"/>
          <a:lstStyle/>
          <a:p>
            <a:endParaRPr/>
          </a:p>
        </p:txBody>
      </p:sp>
      <p:sp>
        <p:nvSpPr>
          <p:cNvPr id="2" name="object 2"/>
          <p:cNvSpPr/>
          <p:nvPr/>
        </p:nvSpPr>
        <p:spPr>
          <a:xfrm>
            <a:off x="0" y="893866"/>
            <a:ext cx="9144000" cy="4943053"/>
          </a:xfrm>
          <a:custGeom>
            <a:avLst/>
            <a:gdLst/>
            <a:ahLst/>
            <a:cxnLst/>
            <a:rect l="l" t="t" r="r" b="b"/>
            <a:pathLst>
              <a:path w="9144000" h="5836920">
                <a:moveTo>
                  <a:pt x="0" y="5836819"/>
                </a:moveTo>
                <a:lnTo>
                  <a:pt x="9144000" y="5836819"/>
                </a:lnTo>
                <a:lnTo>
                  <a:pt x="9144000" y="0"/>
                </a:lnTo>
                <a:lnTo>
                  <a:pt x="0" y="0"/>
                </a:lnTo>
                <a:lnTo>
                  <a:pt x="0" y="5836819"/>
                </a:lnTo>
                <a:close/>
              </a:path>
            </a:pathLst>
          </a:custGeom>
          <a:solidFill>
            <a:srgbClr val="E7E7E7"/>
          </a:solidFill>
        </p:spPr>
        <p:txBody>
          <a:bodyPr wrap="square" lIns="0" tIns="0" rIns="0" bIns="0" rtlCol="0"/>
          <a:lstStyle/>
          <a:p>
            <a:endParaRPr/>
          </a:p>
        </p:txBody>
      </p:sp>
      <p:sp>
        <p:nvSpPr>
          <p:cNvPr id="3" name="object 3"/>
          <p:cNvSpPr/>
          <p:nvPr/>
        </p:nvSpPr>
        <p:spPr>
          <a:xfrm>
            <a:off x="3177162" y="4185993"/>
            <a:ext cx="5967095" cy="2672080"/>
          </a:xfrm>
          <a:custGeom>
            <a:avLst/>
            <a:gdLst/>
            <a:ahLst/>
            <a:cxnLst/>
            <a:rect l="l" t="t" r="r" b="b"/>
            <a:pathLst>
              <a:path w="5967095" h="2672079">
                <a:moveTo>
                  <a:pt x="5966837" y="0"/>
                </a:moveTo>
                <a:lnTo>
                  <a:pt x="447098" y="0"/>
                </a:lnTo>
                <a:lnTo>
                  <a:pt x="410429" y="1482"/>
                </a:lnTo>
                <a:lnTo>
                  <a:pt x="339655" y="12993"/>
                </a:lnTo>
                <a:lnTo>
                  <a:pt x="273067" y="35135"/>
                </a:lnTo>
                <a:lnTo>
                  <a:pt x="211586" y="66985"/>
                </a:lnTo>
                <a:lnTo>
                  <a:pt x="156131" y="107624"/>
                </a:lnTo>
                <a:lnTo>
                  <a:pt x="107624" y="156132"/>
                </a:lnTo>
                <a:lnTo>
                  <a:pt x="66985" y="211586"/>
                </a:lnTo>
                <a:lnTo>
                  <a:pt x="35135" y="273068"/>
                </a:lnTo>
                <a:lnTo>
                  <a:pt x="12993" y="339656"/>
                </a:lnTo>
                <a:lnTo>
                  <a:pt x="1482" y="410430"/>
                </a:lnTo>
                <a:lnTo>
                  <a:pt x="0" y="447099"/>
                </a:lnTo>
                <a:lnTo>
                  <a:pt x="0" y="2235493"/>
                </a:lnTo>
                <a:lnTo>
                  <a:pt x="5851" y="2308015"/>
                </a:lnTo>
                <a:lnTo>
                  <a:pt x="22793" y="2376811"/>
                </a:lnTo>
                <a:lnTo>
                  <a:pt x="49904" y="2440961"/>
                </a:lnTo>
                <a:lnTo>
                  <a:pt x="86264" y="2499544"/>
                </a:lnTo>
                <a:lnTo>
                  <a:pt x="130952" y="2551640"/>
                </a:lnTo>
                <a:lnTo>
                  <a:pt x="183048" y="2596328"/>
                </a:lnTo>
                <a:lnTo>
                  <a:pt x="241631" y="2632687"/>
                </a:lnTo>
                <a:lnTo>
                  <a:pt x="305781" y="2659798"/>
                </a:lnTo>
                <a:lnTo>
                  <a:pt x="351429" y="2672006"/>
                </a:lnTo>
                <a:lnTo>
                  <a:pt x="5966837" y="2672006"/>
                </a:lnTo>
                <a:lnTo>
                  <a:pt x="5966837" y="0"/>
                </a:lnTo>
                <a:close/>
              </a:path>
            </a:pathLst>
          </a:custGeom>
          <a:solidFill>
            <a:srgbClr val="E7E7E7"/>
          </a:solidFill>
        </p:spPr>
        <p:txBody>
          <a:bodyPr wrap="square" lIns="0" tIns="0" rIns="0" bIns="0" rtlCol="0"/>
          <a:lstStyle/>
          <a:p>
            <a:endParaRPr lang="en-US"/>
          </a:p>
        </p:txBody>
      </p:sp>
      <p:sp>
        <p:nvSpPr>
          <p:cNvPr id="5" name="object 5"/>
          <p:cNvSpPr txBox="1"/>
          <p:nvPr/>
        </p:nvSpPr>
        <p:spPr>
          <a:xfrm>
            <a:off x="299872" y="246909"/>
            <a:ext cx="4608195" cy="424180"/>
          </a:xfrm>
          <a:prstGeom prst="rect">
            <a:avLst/>
          </a:prstGeom>
        </p:spPr>
        <p:txBody>
          <a:bodyPr vert="horz" wrap="square" lIns="0" tIns="0" rIns="0" bIns="0" rtlCol="0">
            <a:spAutoFit/>
          </a:bodyPr>
          <a:lstStyle/>
          <a:p>
            <a:pPr marL="12700">
              <a:lnSpc>
                <a:spcPct val="100000"/>
              </a:lnSpc>
            </a:pPr>
            <a:r>
              <a:rPr sz="3100" spc="10" dirty="0">
                <a:latin typeface="Arial"/>
                <a:cs typeface="Arial"/>
              </a:rPr>
              <a:t>T</a:t>
            </a:r>
            <a:r>
              <a:rPr sz="3100" spc="15" dirty="0">
                <a:latin typeface="Arial"/>
                <a:cs typeface="Arial"/>
              </a:rPr>
              <a:t>he</a:t>
            </a:r>
            <a:r>
              <a:rPr sz="3100" spc="5" dirty="0">
                <a:latin typeface="Arial"/>
                <a:cs typeface="Arial"/>
              </a:rPr>
              <a:t> </a:t>
            </a:r>
            <a:r>
              <a:rPr sz="3100" spc="15" dirty="0">
                <a:latin typeface="Arial"/>
                <a:cs typeface="Arial"/>
              </a:rPr>
              <a:t>Dual</a:t>
            </a:r>
            <a:r>
              <a:rPr sz="3100" spc="5" dirty="0">
                <a:latin typeface="Arial"/>
                <a:cs typeface="Arial"/>
              </a:rPr>
              <a:t> </a:t>
            </a:r>
            <a:r>
              <a:rPr sz="3100" spc="15" dirty="0">
                <a:latin typeface="Arial"/>
                <a:cs typeface="Arial"/>
              </a:rPr>
              <a:t>Role</a:t>
            </a:r>
            <a:r>
              <a:rPr sz="3100" spc="5" dirty="0">
                <a:latin typeface="Arial"/>
                <a:cs typeface="Arial"/>
              </a:rPr>
              <a:t> </a:t>
            </a:r>
            <a:r>
              <a:rPr sz="3100" spc="10" dirty="0">
                <a:latin typeface="Arial"/>
                <a:cs typeface="Arial"/>
              </a:rPr>
              <a:t>of</a:t>
            </a:r>
            <a:r>
              <a:rPr sz="3100" spc="5" dirty="0">
                <a:latin typeface="Arial"/>
                <a:cs typeface="Arial"/>
              </a:rPr>
              <a:t> </a:t>
            </a:r>
            <a:r>
              <a:rPr sz="3100" spc="10" dirty="0">
                <a:latin typeface="Arial"/>
                <a:cs typeface="Arial"/>
              </a:rPr>
              <a:t>Player</a:t>
            </a:r>
            <a:r>
              <a:rPr sz="3100" spc="-165" dirty="0">
                <a:latin typeface="Arial"/>
                <a:cs typeface="Arial"/>
              </a:rPr>
              <a:t> </a:t>
            </a:r>
            <a:r>
              <a:rPr sz="3100" spc="20" dirty="0">
                <a:latin typeface="Arial"/>
                <a:cs typeface="Arial"/>
              </a:rPr>
              <a:t>A</a:t>
            </a:r>
            <a:endParaRPr sz="3100">
              <a:latin typeface="Arial"/>
              <a:cs typeface="Arial"/>
            </a:endParaRPr>
          </a:p>
        </p:txBody>
      </p:sp>
      <p:sp>
        <p:nvSpPr>
          <p:cNvPr id="6" name="object 6"/>
          <p:cNvSpPr txBox="1"/>
          <p:nvPr/>
        </p:nvSpPr>
        <p:spPr>
          <a:xfrm>
            <a:off x="213493" y="1447618"/>
            <a:ext cx="7818755" cy="609782"/>
          </a:xfrm>
          <a:prstGeom prst="rect">
            <a:avLst/>
          </a:prstGeom>
        </p:spPr>
        <p:txBody>
          <a:bodyPr vert="horz" wrap="square" lIns="0" tIns="0" rIns="0" bIns="0" rtlCol="0">
            <a:spAutoFit/>
          </a:bodyPr>
          <a:lstStyle/>
          <a:p>
            <a:pPr marL="12700" marR="5080">
              <a:lnSpc>
                <a:spcPct val="115700"/>
              </a:lnSpc>
            </a:pPr>
            <a:r>
              <a:rPr sz="1800" spc="65" dirty="0">
                <a:latin typeface="Tahoma"/>
                <a:cs typeface="Tahoma"/>
              </a:rPr>
              <a:t>W</a:t>
            </a:r>
            <a:r>
              <a:rPr sz="1800" spc="5" dirty="0">
                <a:latin typeface="Tahoma"/>
                <a:cs typeface="Tahoma"/>
              </a:rPr>
              <a:t>i</a:t>
            </a:r>
            <a:r>
              <a:rPr sz="1800" spc="190" dirty="0">
                <a:latin typeface="Tahoma"/>
                <a:cs typeface="Tahoma"/>
              </a:rPr>
              <a:t>t</a:t>
            </a:r>
            <a:r>
              <a:rPr sz="1800" spc="40" dirty="0">
                <a:latin typeface="Tahoma"/>
                <a:cs typeface="Tahoma"/>
              </a:rPr>
              <a:t>h</a:t>
            </a:r>
            <a:r>
              <a:rPr sz="1800" spc="35" dirty="0">
                <a:latin typeface="Tahoma"/>
                <a:cs typeface="Tahoma"/>
              </a:rPr>
              <a:t> </a:t>
            </a:r>
            <a:r>
              <a:rPr sz="1800" spc="85" dirty="0">
                <a:latin typeface="Tahoma"/>
                <a:cs typeface="Tahoma"/>
              </a:rPr>
              <a:t>e</a:t>
            </a:r>
            <a:r>
              <a:rPr sz="1800" spc="60" dirty="0">
                <a:latin typeface="Tahoma"/>
                <a:cs typeface="Tahoma"/>
              </a:rPr>
              <a:t>x</a:t>
            </a:r>
            <a:r>
              <a:rPr sz="1800" spc="45" dirty="0">
                <a:latin typeface="Tahoma"/>
                <a:cs typeface="Tahoma"/>
              </a:rPr>
              <a:t>a</a:t>
            </a:r>
            <a:r>
              <a:rPr sz="1800" spc="145" dirty="0">
                <a:latin typeface="Tahoma"/>
                <a:cs typeface="Tahoma"/>
              </a:rPr>
              <a:t>c</a:t>
            </a:r>
            <a:r>
              <a:rPr sz="1800" spc="190" dirty="0">
                <a:latin typeface="Tahoma"/>
                <a:cs typeface="Tahoma"/>
              </a:rPr>
              <a:t>t</a:t>
            </a:r>
            <a:r>
              <a:rPr sz="1800" spc="5" dirty="0">
                <a:latin typeface="Tahoma"/>
                <a:cs typeface="Tahoma"/>
              </a:rPr>
              <a:t>l</a:t>
            </a:r>
            <a:r>
              <a:rPr sz="1800" spc="125" dirty="0">
                <a:latin typeface="Tahoma"/>
                <a:cs typeface="Tahoma"/>
              </a:rPr>
              <a:t>y</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10" dirty="0">
                <a:latin typeface="Tahoma"/>
                <a:cs typeface="Tahoma"/>
              </a:rPr>
              <a:t>s</a:t>
            </a:r>
            <a:r>
              <a:rPr sz="1800" spc="45" dirty="0">
                <a:latin typeface="Tahoma"/>
                <a:cs typeface="Tahoma"/>
              </a:rPr>
              <a:t>a</a:t>
            </a:r>
            <a:r>
              <a:rPr sz="1800" spc="85" dirty="0">
                <a:latin typeface="Tahoma"/>
                <a:cs typeface="Tahoma"/>
              </a:rPr>
              <a:t>me</a:t>
            </a:r>
            <a:r>
              <a:rPr sz="1800" spc="35" dirty="0">
                <a:latin typeface="Tahoma"/>
                <a:cs typeface="Tahoma"/>
              </a:rPr>
              <a:t> </a:t>
            </a:r>
            <a:r>
              <a:rPr sz="1800" spc="110" dirty="0">
                <a:latin typeface="Tahoma"/>
                <a:cs typeface="Tahoma"/>
              </a:rPr>
              <a:t>(</a:t>
            </a:r>
            <a:r>
              <a:rPr sz="1800" spc="75" dirty="0">
                <a:latin typeface="Tahoma"/>
                <a:cs typeface="Tahoma"/>
              </a:rPr>
              <a:t>d</a:t>
            </a:r>
            <a:r>
              <a:rPr sz="1800" spc="40" dirty="0">
                <a:latin typeface="Tahoma"/>
                <a:cs typeface="Tahoma"/>
              </a:rPr>
              <a:t>u</a:t>
            </a:r>
            <a:r>
              <a:rPr sz="1800" spc="45" dirty="0">
                <a:latin typeface="Tahoma"/>
                <a:cs typeface="Tahoma"/>
              </a:rPr>
              <a:t>a</a:t>
            </a:r>
            <a:r>
              <a:rPr sz="1800" spc="5" dirty="0">
                <a:latin typeface="Tahoma"/>
                <a:cs typeface="Tahoma"/>
              </a:rPr>
              <a:t>l</a:t>
            </a:r>
            <a:r>
              <a:rPr sz="1800" spc="110" dirty="0">
                <a:latin typeface="Tahoma"/>
                <a:cs typeface="Tahoma"/>
              </a:rPr>
              <a:t>)</a:t>
            </a:r>
            <a:r>
              <a:rPr sz="1800" spc="35" dirty="0">
                <a:latin typeface="Tahoma"/>
                <a:cs typeface="Tahoma"/>
              </a:rPr>
              <a:t> </a:t>
            </a:r>
            <a:r>
              <a:rPr sz="1800" spc="45" dirty="0">
                <a:latin typeface="Tahoma"/>
                <a:cs typeface="Tahoma"/>
              </a:rPr>
              <a:t>r</a:t>
            </a:r>
            <a:r>
              <a:rPr sz="1800" spc="85" dirty="0">
                <a:latin typeface="Tahoma"/>
                <a:cs typeface="Tahoma"/>
              </a:rPr>
              <a:t>e</a:t>
            </a:r>
            <a:r>
              <a:rPr sz="1800" spc="45" dirty="0">
                <a:latin typeface="Tahoma"/>
                <a:cs typeface="Tahoma"/>
              </a:rPr>
              <a:t>a</a:t>
            </a:r>
            <a:r>
              <a:rPr sz="1800" spc="110" dirty="0">
                <a:latin typeface="Tahoma"/>
                <a:cs typeface="Tahoma"/>
              </a:rPr>
              <a:t>s</a:t>
            </a:r>
            <a:r>
              <a:rPr sz="1800" spc="75" dirty="0">
                <a:latin typeface="Tahoma"/>
                <a:cs typeface="Tahoma"/>
              </a:rPr>
              <a:t>on</a:t>
            </a:r>
            <a:r>
              <a:rPr sz="1800" spc="5" dirty="0">
                <a:latin typeface="Tahoma"/>
                <a:cs typeface="Tahoma"/>
              </a:rPr>
              <a:t>i</a:t>
            </a:r>
            <a:r>
              <a:rPr sz="1800" spc="40" dirty="0">
                <a:latin typeface="Tahoma"/>
                <a:cs typeface="Tahoma"/>
              </a:rPr>
              <a:t>n</a:t>
            </a:r>
            <a:r>
              <a:rPr sz="1800" spc="95" dirty="0">
                <a:latin typeface="Tahoma"/>
                <a:cs typeface="Tahoma"/>
              </a:rPr>
              <a:t>g</a:t>
            </a:r>
            <a:r>
              <a:rPr sz="1800" spc="35" dirty="0">
                <a:latin typeface="Tahoma"/>
                <a:cs typeface="Tahoma"/>
              </a:rPr>
              <a:t> </a:t>
            </a:r>
            <a:r>
              <a:rPr sz="1800" spc="110" dirty="0">
                <a:latin typeface="Tahoma"/>
                <a:cs typeface="Tahoma"/>
              </a:rPr>
              <a:t>(s</a:t>
            </a:r>
            <a:r>
              <a:rPr sz="1800" spc="55" dirty="0">
                <a:latin typeface="Tahoma"/>
                <a:cs typeface="Tahoma"/>
              </a:rPr>
              <a:t>wa</a:t>
            </a:r>
            <a:r>
              <a:rPr sz="1800" spc="75" dirty="0">
                <a:latin typeface="Tahoma"/>
                <a:cs typeface="Tahoma"/>
              </a:rPr>
              <a:t>pp</a:t>
            </a:r>
            <a:r>
              <a:rPr sz="1800" spc="5" dirty="0">
                <a:latin typeface="Tahoma"/>
                <a:cs typeface="Tahoma"/>
              </a:rPr>
              <a:t>i</a:t>
            </a:r>
            <a:r>
              <a:rPr sz="1800" spc="40" dirty="0">
                <a:latin typeface="Tahoma"/>
                <a:cs typeface="Tahoma"/>
              </a:rPr>
              <a:t>n</a:t>
            </a:r>
            <a:r>
              <a:rPr sz="1800" spc="95" dirty="0">
                <a:latin typeface="Tahoma"/>
                <a:cs typeface="Tahoma"/>
              </a:rPr>
              <a:t>g</a:t>
            </a:r>
            <a:r>
              <a:rPr sz="1800" spc="35" dirty="0">
                <a:latin typeface="Tahoma"/>
                <a:cs typeface="Tahoma"/>
              </a:rPr>
              <a:t> </a:t>
            </a:r>
            <a:r>
              <a:rPr sz="1800" spc="45" dirty="0">
                <a:latin typeface="Tahoma"/>
                <a:cs typeface="Tahoma"/>
              </a:rPr>
              <a:t>mi</a:t>
            </a:r>
            <a:r>
              <a:rPr sz="1800" spc="40" dirty="0">
                <a:latin typeface="Tahoma"/>
                <a:cs typeface="Tahoma"/>
              </a:rPr>
              <a:t>n</a:t>
            </a:r>
            <a:r>
              <a:rPr sz="1800" spc="5" dirty="0">
                <a:latin typeface="Tahoma"/>
                <a:cs typeface="Tahoma"/>
              </a:rPr>
              <a:t>i</a:t>
            </a:r>
            <a:r>
              <a:rPr sz="1800" spc="45" dirty="0">
                <a:latin typeface="Tahoma"/>
                <a:cs typeface="Tahoma"/>
              </a:rPr>
              <a:t>mi</a:t>
            </a:r>
            <a:r>
              <a:rPr sz="1800" spc="190" dirty="0">
                <a:latin typeface="Tahoma"/>
                <a:cs typeface="Tahoma"/>
              </a:rPr>
              <a:t>z</a:t>
            </a:r>
            <a:r>
              <a:rPr sz="1800" spc="45" dirty="0">
                <a:latin typeface="Tahoma"/>
                <a:cs typeface="Tahoma"/>
              </a:rPr>
              <a:t>a</a:t>
            </a:r>
            <a:r>
              <a:rPr sz="1800" spc="190" dirty="0">
                <a:latin typeface="Tahoma"/>
                <a:cs typeface="Tahoma"/>
              </a:rPr>
              <a:t>t</a:t>
            </a:r>
            <a:r>
              <a:rPr sz="1800" spc="5" dirty="0">
                <a:latin typeface="Tahoma"/>
                <a:cs typeface="Tahoma"/>
              </a:rPr>
              <a:t>i</a:t>
            </a:r>
            <a:r>
              <a:rPr sz="1800" spc="75" dirty="0">
                <a:latin typeface="Tahoma"/>
                <a:cs typeface="Tahoma"/>
              </a:rPr>
              <a:t>on</a:t>
            </a:r>
            <a:r>
              <a:rPr sz="1800" spc="35" dirty="0">
                <a:latin typeface="Tahoma"/>
                <a:cs typeface="Tahoma"/>
              </a:rPr>
              <a:t> </a:t>
            </a:r>
            <a:r>
              <a:rPr sz="1800" spc="125" dirty="0">
                <a:latin typeface="Tahoma"/>
                <a:cs typeface="Tahoma"/>
              </a:rPr>
              <a:t>f</a:t>
            </a:r>
            <a:r>
              <a:rPr sz="1800" spc="70" dirty="0">
                <a:latin typeface="Tahoma"/>
                <a:cs typeface="Tahoma"/>
              </a:rPr>
              <a:t>or</a:t>
            </a:r>
            <a:r>
              <a:rPr sz="1800" spc="50" dirty="0">
                <a:latin typeface="Tahoma"/>
                <a:cs typeface="Tahoma"/>
              </a:rPr>
              <a:t> </a:t>
            </a:r>
            <a:r>
              <a:rPr sz="1800" spc="70" dirty="0">
                <a:latin typeface="Tahoma"/>
                <a:cs typeface="Tahoma"/>
              </a:rPr>
              <a:t>ma</a:t>
            </a:r>
            <a:r>
              <a:rPr sz="1800" spc="60" dirty="0">
                <a:latin typeface="Tahoma"/>
                <a:cs typeface="Tahoma"/>
              </a:rPr>
              <a:t>x</a:t>
            </a:r>
            <a:r>
              <a:rPr sz="1800" spc="5" dirty="0">
                <a:latin typeface="Tahoma"/>
                <a:cs typeface="Tahoma"/>
              </a:rPr>
              <a:t>i</a:t>
            </a:r>
            <a:r>
              <a:rPr sz="1800" spc="45" dirty="0">
                <a:latin typeface="Tahoma"/>
                <a:cs typeface="Tahoma"/>
              </a:rPr>
              <a:t>mi</a:t>
            </a:r>
            <a:r>
              <a:rPr sz="1800" spc="190" dirty="0">
                <a:latin typeface="Tahoma"/>
                <a:cs typeface="Tahoma"/>
              </a:rPr>
              <a:t>z</a:t>
            </a:r>
            <a:r>
              <a:rPr sz="1800" spc="45" dirty="0">
                <a:latin typeface="Tahoma"/>
                <a:cs typeface="Tahoma"/>
              </a:rPr>
              <a:t>a</a:t>
            </a:r>
            <a:r>
              <a:rPr sz="1800" spc="190" dirty="0">
                <a:latin typeface="Tahoma"/>
                <a:cs typeface="Tahoma"/>
              </a:rPr>
              <a:t>t</a:t>
            </a:r>
            <a:r>
              <a:rPr sz="1800" spc="5" dirty="0">
                <a:latin typeface="Tahoma"/>
                <a:cs typeface="Tahoma"/>
              </a:rPr>
              <a:t>i</a:t>
            </a:r>
            <a:r>
              <a:rPr sz="1800" spc="75" dirty="0">
                <a:latin typeface="Tahoma"/>
                <a:cs typeface="Tahoma"/>
              </a:rPr>
              <a:t>on</a:t>
            </a:r>
            <a:r>
              <a:rPr sz="1800" spc="110" dirty="0">
                <a:latin typeface="Tahoma"/>
                <a:cs typeface="Tahoma"/>
              </a:rPr>
              <a:t>)</a:t>
            </a:r>
            <a:r>
              <a:rPr sz="1800" dirty="0">
                <a:latin typeface="Tahoma"/>
                <a:cs typeface="Tahoma"/>
              </a:rPr>
              <a:t>,</a:t>
            </a:r>
            <a:r>
              <a:rPr sz="1800" spc="35" dirty="0">
                <a:latin typeface="Tahoma"/>
                <a:cs typeface="Tahoma"/>
              </a:rPr>
              <a:t> </a:t>
            </a:r>
            <a:r>
              <a:rPr sz="1800" spc="4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225" dirty="0">
                <a:latin typeface="Tahoma"/>
                <a:cs typeface="Tahoma"/>
              </a:rPr>
              <a:t>A</a:t>
            </a:r>
            <a:r>
              <a:rPr sz="1800" spc="35" dirty="0">
                <a:latin typeface="Tahoma"/>
                <a:cs typeface="Tahoma"/>
              </a:rPr>
              <a:t> </a:t>
            </a:r>
            <a:r>
              <a:rPr sz="1800" spc="110" dirty="0">
                <a:latin typeface="Tahoma"/>
                <a:cs typeface="Tahoma"/>
              </a:rPr>
              <a:t>(</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65" dirty="0">
                <a:latin typeface="Tahoma"/>
                <a:cs typeface="Tahoma"/>
              </a:rPr>
              <a:t>row</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110" dirty="0">
                <a:latin typeface="Tahoma"/>
                <a:cs typeface="Tahoma"/>
              </a:rPr>
              <a:t>)</a:t>
            </a:r>
            <a:r>
              <a:rPr sz="1800" spc="35" dirty="0">
                <a:latin typeface="Tahoma"/>
                <a:cs typeface="Tahoma"/>
              </a:rPr>
              <a:t> </a:t>
            </a:r>
            <a:r>
              <a:rPr sz="1800" spc="45" dirty="0">
                <a:latin typeface="Tahoma"/>
                <a:cs typeface="Tahoma"/>
              </a:rPr>
              <a:t>arr</a:t>
            </a:r>
            <a:r>
              <a:rPr sz="1800" spc="5" dirty="0">
                <a:latin typeface="Tahoma"/>
                <a:cs typeface="Tahoma"/>
              </a:rPr>
              <a:t>i</a:t>
            </a:r>
            <a:r>
              <a:rPr sz="1800" spc="114" dirty="0">
                <a:latin typeface="Tahoma"/>
                <a:cs typeface="Tahoma"/>
              </a:rPr>
              <a:t>v</a:t>
            </a:r>
            <a:r>
              <a:rPr sz="1800" spc="85" dirty="0">
                <a:latin typeface="Tahoma"/>
                <a:cs typeface="Tahoma"/>
              </a:rPr>
              <a:t>e</a:t>
            </a:r>
            <a:r>
              <a:rPr sz="1800" spc="110" dirty="0">
                <a:latin typeface="Tahoma"/>
                <a:cs typeface="Tahoma"/>
              </a:rPr>
              <a:t>s</a:t>
            </a:r>
            <a:r>
              <a:rPr sz="1800" spc="35" dirty="0">
                <a:latin typeface="Tahoma"/>
                <a:cs typeface="Tahoma"/>
              </a:rPr>
              <a:t> </a:t>
            </a:r>
            <a:r>
              <a:rPr sz="1800" spc="45" dirty="0">
                <a:latin typeface="Tahoma"/>
                <a:cs typeface="Tahoma"/>
              </a:rPr>
              <a:t>a</a:t>
            </a:r>
            <a:r>
              <a:rPr sz="1800" spc="190" dirty="0">
                <a:latin typeface="Tahoma"/>
                <a:cs typeface="Tahoma"/>
              </a:rPr>
              <a:t>t</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45" dirty="0">
                <a:latin typeface="Tahoma"/>
                <a:cs typeface="Tahoma"/>
              </a:rPr>
              <a:t>c</a:t>
            </a:r>
            <a:r>
              <a:rPr sz="1800" spc="75" dirty="0">
                <a:latin typeface="Tahoma"/>
                <a:cs typeface="Tahoma"/>
              </a:rPr>
              <a:t>on</a:t>
            </a:r>
            <a:r>
              <a:rPr sz="1800" spc="145" dirty="0">
                <a:latin typeface="Tahoma"/>
                <a:cs typeface="Tahoma"/>
              </a:rPr>
              <a:t>c</a:t>
            </a:r>
            <a:r>
              <a:rPr sz="1800" spc="5" dirty="0">
                <a:latin typeface="Tahoma"/>
                <a:cs typeface="Tahoma"/>
              </a:rPr>
              <a:t>l</a:t>
            </a:r>
            <a:r>
              <a:rPr sz="1800" spc="40" dirty="0">
                <a:latin typeface="Tahoma"/>
                <a:cs typeface="Tahoma"/>
              </a:rPr>
              <a:t>u</a:t>
            </a:r>
            <a:r>
              <a:rPr sz="1800" spc="110" dirty="0">
                <a:latin typeface="Tahoma"/>
                <a:cs typeface="Tahoma"/>
              </a:rPr>
              <a:t>s</a:t>
            </a:r>
            <a:r>
              <a:rPr sz="1800" spc="5" dirty="0">
                <a:latin typeface="Tahoma"/>
                <a:cs typeface="Tahoma"/>
              </a:rPr>
              <a:t>i</a:t>
            </a:r>
            <a:r>
              <a:rPr sz="1800" spc="75" dirty="0">
                <a:latin typeface="Tahoma"/>
                <a:cs typeface="Tahoma"/>
              </a:rPr>
              <a:t>on</a:t>
            </a:r>
            <a:r>
              <a:rPr sz="1800" spc="35" dirty="0">
                <a:latin typeface="Tahoma"/>
                <a:cs typeface="Tahoma"/>
              </a:rPr>
              <a:t> </a:t>
            </a:r>
            <a:r>
              <a:rPr sz="1800" spc="190" dirty="0">
                <a:latin typeface="Tahoma"/>
                <a:cs typeface="Tahoma"/>
              </a:rPr>
              <a:t>t</a:t>
            </a:r>
            <a:r>
              <a:rPr sz="1800" spc="40" dirty="0">
                <a:latin typeface="Tahoma"/>
                <a:cs typeface="Tahoma"/>
              </a:rPr>
              <a:t>h</a:t>
            </a:r>
            <a:r>
              <a:rPr sz="1800" spc="45" dirty="0">
                <a:latin typeface="Tahoma"/>
                <a:cs typeface="Tahoma"/>
              </a:rPr>
              <a:t>a</a:t>
            </a:r>
            <a:r>
              <a:rPr sz="1800" spc="190" dirty="0">
                <a:latin typeface="Tahoma"/>
                <a:cs typeface="Tahoma"/>
              </a:rPr>
              <a:t>t</a:t>
            </a:r>
            <a:endParaRPr sz="1800" dirty="0">
              <a:latin typeface="Tahoma"/>
              <a:cs typeface="Tahoma"/>
            </a:endParaRPr>
          </a:p>
        </p:txBody>
      </p:sp>
      <p:sp>
        <p:nvSpPr>
          <p:cNvPr id="7" name="object 7"/>
          <p:cNvSpPr txBox="1"/>
          <p:nvPr/>
        </p:nvSpPr>
        <p:spPr>
          <a:xfrm>
            <a:off x="213493" y="2390293"/>
            <a:ext cx="2223770" cy="254000"/>
          </a:xfrm>
          <a:prstGeom prst="rect">
            <a:avLst/>
          </a:prstGeom>
        </p:spPr>
        <p:txBody>
          <a:bodyPr vert="horz" wrap="square" lIns="0" tIns="0" rIns="0" bIns="0" rtlCol="0">
            <a:spAutoFit/>
          </a:bodyPr>
          <a:lstStyle/>
          <a:p>
            <a:pPr marL="12700">
              <a:lnSpc>
                <a:spcPct val="100000"/>
              </a:lnSpc>
            </a:pPr>
            <a:r>
              <a:rPr sz="1800" spc="4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225" dirty="0">
                <a:latin typeface="Tahoma"/>
                <a:cs typeface="Tahoma"/>
              </a:rPr>
              <a:t>A</a:t>
            </a:r>
            <a:r>
              <a:rPr sz="1800" spc="160" dirty="0">
                <a:latin typeface="Tahoma"/>
                <a:cs typeface="Tahoma"/>
              </a:rPr>
              <a:t>’</a:t>
            </a:r>
            <a:r>
              <a:rPr sz="1800" spc="110" dirty="0">
                <a:latin typeface="Tahoma"/>
                <a:cs typeface="Tahoma"/>
              </a:rPr>
              <a:t>s</a:t>
            </a:r>
            <a:r>
              <a:rPr sz="1800" spc="35" dirty="0">
                <a:latin typeface="Tahoma"/>
                <a:cs typeface="Tahoma"/>
              </a:rPr>
              <a:t> </a:t>
            </a:r>
            <a:r>
              <a:rPr sz="1800" spc="190" dirty="0">
                <a:latin typeface="Tahoma"/>
                <a:cs typeface="Tahoma"/>
              </a:rPr>
              <a:t>t</a:t>
            </a:r>
            <a:r>
              <a:rPr sz="1800" spc="45" dirty="0">
                <a:latin typeface="Tahoma"/>
                <a:cs typeface="Tahoma"/>
              </a:rPr>
              <a:t>a</a:t>
            </a:r>
            <a:r>
              <a:rPr sz="1800" spc="110" dirty="0">
                <a:latin typeface="Tahoma"/>
                <a:cs typeface="Tahoma"/>
              </a:rPr>
              <a:t>s</a:t>
            </a:r>
            <a:r>
              <a:rPr sz="1800" spc="70" dirty="0">
                <a:latin typeface="Tahoma"/>
                <a:cs typeface="Tahoma"/>
              </a:rPr>
              <a:t>k</a:t>
            </a:r>
            <a:r>
              <a:rPr sz="1800" spc="35" dirty="0">
                <a:latin typeface="Tahoma"/>
                <a:cs typeface="Tahoma"/>
              </a:rPr>
              <a:t> </a:t>
            </a:r>
            <a:r>
              <a:rPr sz="1800" spc="5" dirty="0">
                <a:latin typeface="Tahoma"/>
                <a:cs typeface="Tahoma"/>
              </a:rPr>
              <a:t>i</a:t>
            </a:r>
            <a:r>
              <a:rPr sz="1800" spc="110" dirty="0">
                <a:latin typeface="Tahoma"/>
                <a:cs typeface="Tahoma"/>
              </a:rPr>
              <a:t>s</a:t>
            </a:r>
            <a:r>
              <a:rPr sz="1800" spc="35" dirty="0">
                <a:latin typeface="Tahoma"/>
                <a:cs typeface="Tahoma"/>
              </a:rPr>
              <a:t> </a:t>
            </a:r>
            <a:r>
              <a:rPr sz="1800" spc="190" dirty="0">
                <a:latin typeface="Tahoma"/>
                <a:cs typeface="Tahoma"/>
              </a:rPr>
              <a:t>t</a:t>
            </a:r>
            <a:r>
              <a:rPr sz="1800" spc="105" dirty="0">
                <a:latin typeface="Tahoma"/>
                <a:cs typeface="Tahoma"/>
              </a:rPr>
              <a:t>o</a:t>
            </a:r>
            <a:endParaRPr sz="1800">
              <a:latin typeface="Tahoma"/>
              <a:cs typeface="Tahoma"/>
            </a:endParaRPr>
          </a:p>
        </p:txBody>
      </p:sp>
      <p:sp>
        <p:nvSpPr>
          <p:cNvPr id="8" name="object 8"/>
          <p:cNvSpPr txBox="1"/>
          <p:nvPr/>
        </p:nvSpPr>
        <p:spPr>
          <a:xfrm>
            <a:off x="213493" y="4096249"/>
            <a:ext cx="3520307" cy="415498"/>
          </a:xfrm>
          <a:prstGeom prst="rect">
            <a:avLst/>
          </a:prstGeom>
        </p:spPr>
        <p:txBody>
          <a:bodyPr vert="horz" wrap="square" lIns="0" tIns="0" rIns="0" bIns="0" rtlCol="0">
            <a:spAutoFit/>
          </a:bodyPr>
          <a:lstStyle/>
          <a:p>
            <a:pPr marL="12700">
              <a:lnSpc>
                <a:spcPct val="100000"/>
              </a:lnSpc>
              <a:tabLst>
                <a:tab pos="3485515" algn="l"/>
                <a:tab pos="5093970" algn="l"/>
              </a:tabLst>
            </a:pPr>
            <a:r>
              <a:rPr sz="2700" spc="97" baseline="1543" dirty="0">
                <a:latin typeface="Tahoma"/>
                <a:cs typeface="Tahoma"/>
              </a:rPr>
              <a:t>w</a:t>
            </a:r>
            <a:r>
              <a:rPr sz="2700" spc="60" baseline="1543" dirty="0">
                <a:latin typeface="Tahoma"/>
                <a:cs typeface="Tahoma"/>
              </a:rPr>
              <a:t>h</a:t>
            </a:r>
            <a:r>
              <a:rPr sz="2700" spc="7" baseline="1543" dirty="0">
                <a:latin typeface="Tahoma"/>
                <a:cs typeface="Tahoma"/>
              </a:rPr>
              <a:t>i</a:t>
            </a:r>
            <a:r>
              <a:rPr sz="2700" spc="217" baseline="1543" dirty="0">
                <a:latin typeface="Tahoma"/>
                <a:cs typeface="Tahoma"/>
              </a:rPr>
              <a:t>c</a:t>
            </a:r>
            <a:r>
              <a:rPr sz="2700" spc="60" baseline="1543" dirty="0">
                <a:latin typeface="Tahoma"/>
                <a:cs typeface="Tahoma"/>
              </a:rPr>
              <a:t>h</a:t>
            </a:r>
            <a:r>
              <a:rPr sz="2700" spc="52" baseline="1543" dirty="0">
                <a:latin typeface="Tahoma"/>
                <a:cs typeface="Tahoma"/>
              </a:rPr>
              <a:t> </a:t>
            </a:r>
            <a:r>
              <a:rPr sz="2700" spc="7" baseline="1543" dirty="0">
                <a:latin typeface="Tahoma"/>
                <a:cs typeface="Tahoma"/>
              </a:rPr>
              <a:t>i</a:t>
            </a:r>
            <a:r>
              <a:rPr sz="2700" spc="165" baseline="1543" dirty="0">
                <a:latin typeface="Tahoma"/>
                <a:cs typeface="Tahoma"/>
              </a:rPr>
              <a:t>s</a:t>
            </a:r>
            <a:r>
              <a:rPr sz="2700" spc="52" baseline="1543" dirty="0">
                <a:latin typeface="Tahoma"/>
                <a:cs typeface="Tahoma"/>
              </a:rPr>
              <a:t> </a:t>
            </a:r>
            <a:r>
              <a:rPr sz="2700" spc="127" baseline="1543" dirty="0">
                <a:latin typeface="Tahoma"/>
                <a:cs typeface="Tahoma"/>
              </a:rPr>
              <a:t>e</a:t>
            </a:r>
            <a:r>
              <a:rPr sz="2700" spc="112" baseline="1543" dirty="0">
                <a:latin typeface="Tahoma"/>
                <a:cs typeface="Tahoma"/>
              </a:rPr>
              <a:t>q</a:t>
            </a:r>
            <a:r>
              <a:rPr sz="2700" spc="60" baseline="1543" dirty="0">
                <a:latin typeface="Tahoma"/>
                <a:cs typeface="Tahoma"/>
              </a:rPr>
              <a:t>u</a:t>
            </a:r>
            <a:r>
              <a:rPr sz="2700" spc="7" baseline="1543" dirty="0">
                <a:latin typeface="Tahoma"/>
                <a:cs typeface="Tahoma"/>
              </a:rPr>
              <a:t>i</a:t>
            </a:r>
            <a:r>
              <a:rPr sz="2700" spc="172" baseline="1543" dirty="0">
                <a:latin typeface="Tahoma"/>
                <a:cs typeface="Tahoma"/>
              </a:rPr>
              <a:t>v</a:t>
            </a:r>
            <a:r>
              <a:rPr sz="2700" spc="67" baseline="1543" dirty="0">
                <a:latin typeface="Tahoma"/>
                <a:cs typeface="Tahoma"/>
              </a:rPr>
              <a:t>a</a:t>
            </a:r>
            <a:r>
              <a:rPr sz="2700" spc="7" baseline="1543" dirty="0">
                <a:latin typeface="Tahoma"/>
                <a:cs typeface="Tahoma"/>
              </a:rPr>
              <a:t>l</a:t>
            </a:r>
            <a:r>
              <a:rPr sz="2700" spc="127" baseline="1543" dirty="0">
                <a:latin typeface="Tahoma"/>
                <a:cs typeface="Tahoma"/>
              </a:rPr>
              <a:t>e</a:t>
            </a:r>
            <a:r>
              <a:rPr sz="2700" spc="60" baseline="1543" dirty="0">
                <a:latin typeface="Tahoma"/>
                <a:cs typeface="Tahoma"/>
              </a:rPr>
              <a:t>n</a:t>
            </a:r>
            <a:r>
              <a:rPr sz="2700" spc="284" baseline="1543" dirty="0">
                <a:latin typeface="Tahoma"/>
                <a:cs typeface="Tahoma"/>
              </a:rPr>
              <a:t>t</a:t>
            </a:r>
            <a:r>
              <a:rPr sz="2700" spc="52" baseline="1543" dirty="0">
                <a:latin typeface="Tahoma"/>
                <a:cs typeface="Tahoma"/>
              </a:rPr>
              <a:t> </a:t>
            </a:r>
            <a:r>
              <a:rPr sz="2700" spc="284" baseline="1543" dirty="0">
                <a:latin typeface="Tahoma"/>
                <a:cs typeface="Tahoma"/>
              </a:rPr>
              <a:t>t</a:t>
            </a:r>
            <a:r>
              <a:rPr sz="2700" spc="157" baseline="1543" dirty="0">
                <a:latin typeface="Tahoma"/>
                <a:cs typeface="Tahoma"/>
              </a:rPr>
              <a:t>o</a:t>
            </a:r>
            <a:r>
              <a:rPr sz="2700" spc="52" baseline="1543" dirty="0">
                <a:latin typeface="Tahoma"/>
                <a:cs typeface="Tahoma"/>
              </a:rPr>
              <a:t> </a:t>
            </a:r>
            <a:r>
              <a:rPr sz="2700" spc="284" baseline="1543" dirty="0">
                <a:latin typeface="Tahoma"/>
                <a:cs typeface="Tahoma"/>
              </a:rPr>
              <a:t>t</a:t>
            </a:r>
            <a:r>
              <a:rPr sz="2700" spc="60" baseline="1543" dirty="0">
                <a:latin typeface="Tahoma"/>
                <a:cs typeface="Tahoma"/>
              </a:rPr>
              <a:t>h</a:t>
            </a:r>
            <a:r>
              <a:rPr sz="2700" spc="127" baseline="1543" dirty="0">
                <a:latin typeface="Tahoma"/>
                <a:cs typeface="Tahoma"/>
              </a:rPr>
              <a:t>e</a:t>
            </a:r>
            <a:r>
              <a:rPr sz="2700" spc="52" baseline="1543" dirty="0">
                <a:latin typeface="Tahoma"/>
                <a:cs typeface="Tahoma"/>
              </a:rPr>
              <a:t> </a:t>
            </a:r>
            <a:r>
              <a:rPr sz="2700" spc="225" baseline="1543" dirty="0">
                <a:latin typeface="Tahoma"/>
                <a:cs typeface="Tahoma"/>
              </a:rPr>
              <a:t>L</a:t>
            </a:r>
            <a:r>
              <a:rPr sz="2700" spc="67" baseline="1543" dirty="0">
                <a:latin typeface="Tahoma"/>
                <a:cs typeface="Tahoma"/>
              </a:rPr>
              <a:t>P</a:t>
            </a:r>
            <a:r>
              <a:rPr sz="2700" baseline="1543" dirty="0">
                <a:latin typeface="Tahoma"/>
                <a:cs typeface="Tahoma"/>
              </a:rPr>
              <a:t>	</a:t>
            </a:r>
            <a:endParaRPr sz="2400" dirty="0">
              <a:latin typeface="Times New Roman"/>
              <a:cs typeface="Times New Roman"/>
            </a:endParaRPr>
          </a:p>
        </p:txBody>
      </p:sp>
      <p:sp>
        <p:nvSpPr>
          <p:cNvPr id="18" name="object 2">
            <a:extLst>
              <a:ext uri="{FF2B5EF4-FFF2-40B4-BE49-F238E27FC236}">
                <a16:creationId xmlns:a16="http://schemas.microsoft.com/office/drawing/2014/main" id="{679C421C-6B31-6A50-314F-C646C8C7C2FA}"/>
              </a:ext>
            </a:extLst>
          </p:cNvPr>
          <p:cNvSpPr/>
          <p:nvPr/>
        </p:nvSpPr>
        <p:spPr>
          <a:xfrm>
            <a:off x="45196" y="836179"/>
            <a:ext cx="9039216"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26" name="object 10">
            <a:extLst>
              <a:ext uri="{FF2B5EF4-FFF2-40B4-BE49-F238E27FC236}">
                <a16:creationId xmlns:a16="http://schemas.microsoft.com/office/drawing/2014/main" id="{064683A5-7140-7E07-9DD8-743EF80A75FB}"/>
              </a:ext>
            </a:extLst>
          </p:cNvPr>
          <p:cNvSpPr txBox="1"/>
          <p:nvPr/>
        </p:nvSpPr>
        <p:spPr>
          <a:xfrm>
            <a:off x="4139100" y="2309714"/>
            <a:ext cx="1347300" cy="369332"/>
          </a:xfrm>
          <a:prstGeom prst="rect">
            <a:avLst/>
          </a:prstGeom>
        </p:spPr>
        <p:txBody>
          <a:bodyPr vert="horz" wrap="square" lIns="0" tIns="0" rIns="0" bIns="0" rtlCol="0">
            <a:spAutoFit/>
          </a:bodyPr>
          <a:lstStyle/>
          <a:p>
            <a:pPr marL="12700">
              <a:lnSpc>
                <a:spcPct val="100000"/>
              </a:lnSpc>
            </a:pPr>
            <a:r>
              <a:rPr lang="en-US" sz="2400" spc="50" dirty="0">
                <a:latin typeface="Garamond"/>
                <a:cs typeface="Garamond"/>
              </a:rPr>
              <a:t>maximize</a:t>
            </a:r>
            <a:endParaRPr sz="2400" dirty="0">
              <a:latin typeface="Garamond"/>
              <a:cs typeface="Garamond"/>
            </a:endParaRPr>
          </a:p>
        </p:txBody>
      </p:sp>
      <p:sp>
        <p:nvSpPr>
          <p:cNvPr id="27" name="object 15">
            <a:extLst>
              <a:ext uri="{FF2B5EF4-FFF2-40B4-BE49-F238E27FC236}">
                <a16:creationId xmlns:a16="http://schemas.microsoft.com/office/drawing/2014/main" id="{AF1FFA6A-44BB-BEFE-60CE-5B81ECC98640}"/>
              </a:ext>
            </a:extLst>
          </p:cNvPr>
          <p:cNvSpPr txBox="1"/>
          <p:nvPr/>
        </p:nvSpPr>
        <p:spPr>
          <a:xfrm>
            <a:off x="4115334" y="3202802"/>
            <a:ext cx="1228090" cy="330200"/>
          </a:xfrm>
          <a:prstGeom prst="rect">
            <a:avLst/>
          </a:prstGeom>
        </p:spPr>
        <p:txBody>
          <a:bodyPr vert="horz" wrap="square" lIns="0" tIns="0" rIns="0" bIns="0" rtlCol="0">
            <a:spAutoFit/>
          </a:bodyPr>
          <a:lstStyle/>
          <a:p>
            <a:pPr marL="12700">
              <a:lnSpc>
                <a:spcPct val="100000"/>
              </a:lnSpc>
            </a:pPr>
            <a:r>
              <a:rPr sz="2400" spc="35" dirty="0">
                <a:latin typeface="Garamond"/>
                <a:cs typeface="Garamond"/>
              </a:rPr>
              <a:t>subject</a:t>
            </a:r>
            <a:r>
              <a:rPr sz="2400" spc="210" dirty="0">
                <a:latin typeface="Garamond"/>
                <a:cs typeface="Garamond"/>
              </a:rPr>
              <a:t> </a:t>
            </a:r>
            <a:r>
              <a:rPr sz="2400" spc="-35" dirty="0">
                <a:latin typeface="Garamond"/>
                <a:cs typeface="Garamond"/>
              </a:rPr>
              <a:t>to</a:t>
            </a:r>
            <a:endParaRPr sz="2400" dirty="0">
              <a:latin typeface="Garamond"/>
              <a:cs typeface="Garamond"/>
            </a:endParaRPr>
          </a:p>
        </p:txBody>
      </p:sp>
      <mc:AlternateContent xmlns:mc="http://schemas.openxmlformats.org/markup-compatibility/2006" xmlns:a14="http://schemas.microsoft.com/office/drawing/2010/main">
        <mc:Choice Requires="a14">
          <p:sp>
            <p:nvSpPr>
              <p:cNvPr id="28" name="object 17">
                <a:extLst>
                  <a:ext uri="{FF2B5EF4-FFF2-40B4-BE49-F238E27FC236}">
                    <a16:creationId xmlns:a16="http://schemas.microsoft.com/office/drawing/2014/main" id="{E39E363F-937D-E37A-EC9E-FABAF0E4EE05}"/>
                  </a:ext>
                </a:extLst>
              </p:cNvPr>
              <p:cNvSpPr txBox="1"/>
              <p:nvPr/>
            </p:nvSpPr>
            <p:spPr>
              <a:xfrm>
                <a:off x="4101000" y="4174620"/>
                <a:ext cx="2680800" cy="369332"/>
              </a:xfrm>
              <a:prstGeom prst="rect">
                <a:avLst/>
              </a:prstGeom>
            </p:spPr>
            <p:txBody>
              <a:bodyPr vert="horz" wrap="square" lIns="0" tIns="0" rIns="0" bIns="0" rtlCol="0">
                <a:spAutoFit/>
              </a:bodyPr>
              <a:lstStyle/>
              <a:p>
                <a:pPr marL="12700">
                  <a:tabLst>
                    <a:tab pos="1570355" algn="l"/>
                  </a:tabLst>
                </a:pPr>
                <a:r>
                  <a:rPr lang="en-US" sz="2400" spc="50" dirty="0">
                    <a:latin typeface="Garamond"/>
                    <a:cs typeface="Garamond"/>
                  </a:rPr>
                  <a:t>maximize    </a:t>
                </a:r>
                <a14:m>
                  <m:oMath xmlns:m="http://schemas.openxmlformats.org/officeDocument/2006/math">
                    <m:r>
                      <a:rPr lang="en-US" sz="2400" i="1" spc="50" dirty="0" smtClean="0">
                        <a:latin typeface="Cambria Math" panose="02040503050406030204" pitchFamily="18" charset="0"/>
                        <a:cs typeface="Times New Roman"/>
                      </a:rPr>
                      <m:t>𝑧</m:t>
                    </m:r>
                  </m:oMath>
                </a14:m>
                <a:endParaRPr sz="2400" dirty="0">
                  <a:latin typeface="Cambria"/>
                  <a:cs typeface="Cambria"/>
                </a:endParaRPr>
              </a:p>
            </p:txBody>
          </p:sp>
        </mc:Choice>
        <mc:Fallback xmlns="">
          <p:sp>
            <p:nvSpPr>
              <p:cNvPr id="28" name="object 17">
                <a:extLst>
                  <a:ext uri="{FF2B5EF4-FFF2-40B4-BE49-F238E27FC236}">
                    <a16:creationId xmlns:a16="http://schemas.microsoft.com/office/drawing/2014/main" id="{E39E363F-937D-E37A-EC9E-FABAF0E4EE05}"/>
                  </a:ext>
                </a:extLst>
              </p:cNvPr>
              <p:cNvSpPr txBox="1">
                <a:spLocks noRot="1" noChangeAspect="1" noMove="1" noResize="1" noEditPoints="1" noAdjustHandles="1" noChangeArrowheads="1" noChangeShapeType="1" noTextEdit="1"/>
              </p:cNvSpPr>
              <p:nvPr/>
            </p:nvSpPr>
            <p:spPr>
              <a:xfrm>
                <a:off x="4101000" y="4174620"/>
                <a:ext cx="2680800" cy="369332"/>
              </a:xfrm>
              <a:prstGeom prst="rect">
                <a:avLst/>
              </a:prstGeom>
              <a:blipFill>
                <a:blip r:embed="rId3"/>
                <a:stretch>
                  <a:fillRect l="-6591" t="-25000" b="-51667"/>
                </a:stretch>
              </a:blipFill>
            </p:spPr>
            <p:txBody>
              <a:bodyPr/>
              <a:lstStyle/>
              <a:p>
                <a:r>
                  <a:rPr lang="en-US">
                    <a:noFill/>
                  </a:rPr>
                  <a:t> </a:t>
                </a:r>
              </a:p>
            </p:txBody>
          </p:sp>
        </mc:Fallback>
      </mc:AlternateContent>
      <p:sp>
        <p:nvSpPr>
          <p:cNvPr id="29" name="object 18">
            <a:extLst>
              <a:ext uri="{FF2B5EF4-FFF2-40B4-BE49-F238E27FC236}">
                <a16:creationId xmlns:a16="http://schemas.microsoft.com/office/drawing/2014/main" id="{FD6F6391-6965-5FEA-E47C-59809BCD17B4}"/>
              </a:ext>
            </a:extLst>
          </p:cNvPr>
          <p:cNvSpPr txBox="1"/>
          <p:nvPr/>
        </p:nvSpPr>
        <p:spPr>
          <a:xfrm>
            <a:off x="4114993" y="5317620"/>
            <a:ext cx="1228090" cy="330200"/>
          </a:xfrm>
          <a:prstGeom prst="rect">
            <a:avLst/>
          </a:prstGeom>
        </p:spPr>
        <p:txBody>
          <a:bodyPr vert="horz" wrap="square" lIns="0" tIns="0" rIns="0" bIns="0" rtlCol="0">
            <a:spAutoFit/>
          </a:bodyPr>
          <a:lstStyle/>
          <a:p>
            <a:pPr marL="12700">
              <a:lnSpc>
                <a:spcPct val="100000"/>
              </a:lnSpc>
            </a:pPr>
            <a:r>
              <a:rPr sz="2400" spc="35" dirty="0">
                <a:latin typeface="Garamond"/>
                <a:cs typeface="Garamond"/>
              </a:rPr>
              <a:t>subject</a:t>
            </a:r>
            <a:r>
              <a:rPr sz="2400" spc="210" dirty="0">
                <a:latin typeface="Garamond"/>
                <a:cs typeface="Garamond"/>
              </a:rPr>
              <a:t> </a:t>
            </a:r>
            <a:r>
              <a:rPr sz="2400" spc="-35" dirty="0">
                <a:latin typeface="Garamond"/>
                <a:cs typeface="Garamond"/>
              </a:rPr>
              <a:t>to</a:t>
            </a:r>
            <a:endParaRPr sz="2400" dirty="0">
              <a:latin typeface="Garamond"/>
              <a:cs typeface="Garamond"/>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E0AEA30-5B4B-8114-30C1-29779094599C}"/>
                  </a:ext>
                </a:extLst>
              </p:cNvPr>
              <p:cNvSpPr txBox="1"/>
              <p:nvPr/>
            </p:nvSpPr>
            <p:spPr>
              <a:xfrm>
                <a:off x="5608621" y="2082703"/>
                <a:ext cx="1693412" cy="8485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𝑗</m:t>
                              </m:r>
                            </m:lim>
                          </m:limLow>
                        </m:fName>
                        <m:e>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nary>
                        </m:e>
                      </m:func>
                    </m:oMath>
                  </m:oMathPara>
                </a14:m>
                <a:endParaRPr lang="en-US" dirty="0"/>
              </a:p>
            </p:txBody>
          </p:sp>
        </mc:Choice>
        <mc:Fallback xmlns="">
          <p:sp>
            <p:nvSpPr>
              <p:cNvPr id="30" name="TextBox 29">
                <a:extLst>
                  <a:ext uri="{FF2B5EF4-FFF2-40B4-BE49-F238E27FC236}">
                    <a16:creationId xmlns:a16="http://schemas.microsoft.com/office/drawing/2014/main" id="{FE0AEA30-5B4B-8114-30C1-29779094599C}"/>
                  </a:ext>
                </a:extLst>
              </p:cNvPr>
              <p:cNvSpPr txBox="1">
                <a:spLocks noRot="1" noChangeAspect="1" noMove="1" noResize="1" noEditPoints="1" noAdjustHandles="1" noChangeArrowheads="1" noChangeShapeType="1" noTextEdit="1"/>
              </p:cNvSpPr>
              <p:nvPr/>
            </p:nvSpPr>
            <p:spPr>
              <a:xfrm>
                <a:off x="5608621" y="2082703"/>
                <a:ext cx="1693412" cy="84856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EB48376-CDAC-3D1C-DA0A-419D64891E82}"/>
                  </a:ext>
                </a:extLst>
              </p:cNvPr>
              <p:cNvSpPr txBox="1"/>
              <p:nvPr/>
            </p:nvSpPr>
            <p:spPr>
              <a:xfrm>
                <a:off x="5608621" y="2989964"/>
                <a:ext cx="2899768" cy="8485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r>
                            <a:rPr lang="en-US" b="0" i="1" smtClean="0">
                              <a:latin typeface="Cambria Math" panose="02040503050406030204" pitchFamily="18" charset="0"/>
                            </a:rPr>
                            <m:t>1=</m:t>
                          </m:r>
                        </m:fName>
                        <m:e>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 :0≤</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e>
                          </m:nary>
                          <m:r>
                            <a:rPr lang="en-US" b="0" i="1" smtClean="0">
                              <a:latin typeface="Cambria Math" panose="02040503050406030204" pitchFamily="18" charset="0"/>
                              <a:ea typeface="Cambria Math" panose="02040503050406030204" pitchFamily="18" charset="0"/>
                            </a:rPr>
                            <m:t>≤1</m:t>
                          </m:r>
                        </m:e>
                      </m:func>
                    </m:oMath>
                  </m:oMathPara>
                </a14:m>
                <a:endParaRPr lang="en-US" dirty="0"/>
              </a:p>
            </p:txBody>
          </p:sp>
        </mc:Choice>
        <mc:Fallback xmlns="">
          <p:sp>
            <p:nvSpPr>
              <p:cNvPr id="31" name="TextBox 30">
                <a:extLst>
                  <a:ext uri="{FF2B5EF4-FFF2-40B4-BE49-F238E27FC236}">
                    <a16:creationId xmlns:a16="http://schemas.microsoft.com/office/drawing/2014/main" id="{AEB48376-CDAC-3D1C-DA0A-419D64891E82}"/>
                  </a:ext>
                </a:extLst>
              </p:cNvPr>
              <p:cNvSpPr txBox="1">
                <a:spLocks noRot="1" noChangeAspect="1" noMove="1" noResize="1" noEditPoints="1" noAdjustHandles="1" noChangeArrowheads="1" noChangeShapeType="1" noTextEdit="1"/>
              </p:cNvSpPr>
              <p:nvPr/>
            </p:nvSpPr>
            <p:spPr>
              <a:xfrm>
                <a:off x="5608621" y="2989964"/>
                <a:ext cx="2899768" cy="84856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D938DE1-81A1-BCBE-8401-3905F8A2E707}"/>
                  </a:ext>
                </a:extLst>
              </p:cNvPr>
              <p:cNvSpPr txBox="1"/>
              <p:nvPr/>
            </p:nvSpPr>
            <p:spPr>
              <a:xfrm>
                <a:off x="5562600" y="4653307"/>
                <a:ext cx="3148170" cy="17019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 :</m:t>
                              </m:r>
                              <m:r>
                                <a:rPr lang="en-US" b="0" i="1" smtClean="0">
                                  <a:latin typeface="Cambria Math" panose="02040503050406030204" pitchFamily="18" charset="0"/>
                                </a:rPr>
                                <m:t>𝑧</m:t>
                              </m:r>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0      </m:t>
                              </m:r>
                            </m:e>
                            <m:e>
                              <m:func>
                                <m:funcPr>
                                  <m:ctrlPr>
                                    <a:rPr lang="en-US" i="1" smtClean="0">
                                      <a:latin typeface="Cambria Math" panose="02040503050406030204" pitchFamily="18" charset="0"/>
                                    </a:rPr>
                                  </m:ctrlPr>
                                </m:funcPr>
                                <m:fName>
                                  <m:r>
                                    <a:rPr lang="en-US" b="0" i="1" smtClean="0">
                                      <a:latin typeface="Cambria Math" panose="02040503050406030204" pitchFamily="18" charset="0"/>
                                    </a:rPr>
                                    <m:t>1=</m:t>
                                  </m:r>
                                </m:fName>
                                <m:e>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𝑚</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 :0≤</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≤1</m:t>
                                      </m:r>
                                    </m:e>
                                  </m:nary>
                                </m:e>
                              </m:func>
                            </m:e>
                          </m:eqArr>
                        </m:e>
                      </m:d>
                    </m:oMath>
                  </m:oMathPara>
                </a14:m>
                <a:endParaRPr lang="en-US" dirty="0"/>
              </a:p>
            </p:txBody>
          </p:sp>
        </mc:Choice>
        <mc:Fallback xmlns="">
          <p:sp>
            <p:nvSpPr>
              <p:cNvPr id="32" name="TextBox 31">
                <a:extLst>
                  <a:ext uri="{FF2B5EF4-FFF2-40B4-BE49-F238E27FC236}">
                    <a16:creationId xmlns:a16="http://schemas.microsoft.com/office/drawing/2014/main" id="{CD938DE1-81A1-BCBE-8401-3905F8A2E707}"/>
                  </a:ext>
                </a:extLst>
              </p:cNvPr>
              <p:cNvSpPr txBox="1">
                <a:spLocks noRot="1" noChangeAspect="1" noMove="1" noResize="1" noEditPoints="1" noAdjustHandles="1" noChangeArrowheads="1" noChangeShapeType="1" noTextEdit="1"/>
              </p:cNvSpPr>
              <p:nvPr/>
            </p:nvSpPr>
            <p:spPr>
              <a:xfrm>
                <a:off x="5562600" y="4653307"/>
                <a:ext cx="3148170" cy="1701941"/>
              </a:xfrm>
              <a:prstGeom prst="rect">
                <a:avLst/>
              </a:prstGeom>
              <a:blipFill>
                <a:blip r:embed="rId6"/>
                <a:stretch>
                  <a:fillRect/>
                </a:stretch>
              </a:blipFill>
            </p:spPr>
            <p:txBody>
              <a:bodyPr/>
              <a:lstStyle/>
              <a:p>
                <a:r>
                  <a:rPr lang="en-MY">
                    <a:noFill/>
                  </a:rPr>
                  <a:t> </a:t>
                </a:r>
              </a:p>
            </p:txBody>
          </p:sp>
        </mc:Fallback>
      </mc:AlternateContent>
      <p:sp>
        <p:nvSpPr>
          <p:cNvPr id="33" name="Slide Number Placeholder 8">
            <a:extLst>
              <a:ext uri="{FF2B5EF4-FFF2-40B4-BE49-F238E27FC236}">
                <a16:creationId xmlns:a16="http://schemas.microsoft.com/office/drawing/2014/main" id="{A56E4F98-DEBE-E467-E55F-2D29D62A2D42}"/>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36</a:t>
            </a:fld>
            <a:r>
              <a:rPr lang="en-US" sz="2000" dirty="0">
                <a:solidFill>
                  <a:prstClr val="black"/>
                </a:solidFill>
                <a:latin typeface="Comic Sans MS"/>
                <a:sym typeface="Comic Sans MS"/>
              </a:rPr>
              <a:t>/46</a:t>
            </a:r>
          </a:p>
        </p:txBody>
      </p:sp>
      <p:sp>
        <p:nvSpPr>
          <p:cNvPr id="34" name="Footer Placeholder 9">
            <a:extLst>
              <a:ext uri="{FF2B5EF4-FFF2-40B4-BE49-F238E27FC236}">
                <a16:creationId xmlns:a16="http://schemas.microsoft.com/office/drawing/2014/main" id="{EAF5ED41-C9B8-6553-55AB-8F088BC4CF91}"/>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35" name="Rectangle 34">
            <a:extLst>
              <a:ext uri="{FF2B5EF4-FFF2-40B4-BE49-F238E27FC236}">
                <a16:creationId xmlns:a16="http://schemas.microsoft.com/office/drawing/2014/main" id="{6FD4E1C8-4000-716A-B6EC-D6441F1B1B3A}"/>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36" name="Rectangle 35">
            <a:extLst>
              <a:ext uri="{FF2B5EF4-FFF2-40B4-BE49-F238E27FC236}">
                <a16:creationId xmlns:a16="http://schemas.microsoft.com/office/drawing/2014/main" id="{FF5E9DE6-001D-82E8-3416-4480CFF2CE57}"/>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7" name="Rectangle 36">
            <a:extLst>
              <a:ext uri="{FF2B5EF4-FFF2-40B4-BE49-F238E27FC236}">
                <a16:creationId xmlns:a16="http://schemas.microsoft.com/office/drawing/2014/main" id="{C1C4127F-31E0-6CB9-340C-95FAA70BE53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0" y="1503401"/>
            <a:ext cx="4307205" cy="5354955"/>
          </a:xfrm>
          <a:custGeom>
            <a:avLst/>
            <a:gdLst/>
            <a:ahLst/>
            <a:cxnLst/>
            <a:rect l="l" t="t" r="r" b="b"/>
            <a:pathLst>
              <a:path w="4307205" h="5354955">
                <a:moveTo>
                  <a:pt x="0" y="5354598"/>
                </a:moveTo>
                <a:lnTo>
                  <a:pt x="4306917" y="5354598"/>
                </a:lnTo>
                <a:lnTo>
                  <a:pt x="4306917" y="0"/>
                </a:lnTo>
                <a:lnTo>
                  <a:pt x="0" y="0"/>
                </a:lnTo>
                <a:lnTo>
                  <a:pt x="0" y="5354598"/>
                </a:lnTo>
              </a:path>
            </a:pathLst>
          </a:custGeom>
          <a:solidFill>
            <a:srgbClr val="E7E7E7"/>
          </a:solidFill>
        </p:spPr>
        <p:txBody>
          <a:bodyPr wrap="square" lIns="0" tIns="0" rIns="0" bIns="0" rtlCol="0"/>
          <a:lstStyle/>
          <a:p>
            <a:endParaRPr/>
          </a:p>
        </p:txBody>
      </p:sp>
      <p:sp>
        <p:nvSpPr>
          <p:cNvPr id="2" name="object 2"/>
          <p:cNvSpPr/>
          <p:nvPr/>
        </p:nvSpPr>
        <p:spPr>
          <a:xfrm>
            <a:off x="0" y="828572"/>
            <a:ext cx="9144000" cy="5008347"/>
          </a:xfrm>
          <a:custGeom>
            <a:avLst/>
            <a:gdLst/>
            <a:ahLst/>
            <a:cxnLst/>
            <a:rect l="l" t="t" r="r" b="b"/>
            <a:pathLst>
              <a:path w="9144000" h="5836920">
                <a:moveTo>
                  <a:pt x="0" y="5836819"/>
                </a:moveTo>
                <a:lnTo>
                  <a:pt x="9144000" y="5836819"/>
                </a:lnTo>
                <a:lnTo>
                  <a:pt x="9144000" y="0"/>
                </a:lnTo>
                <a:lnTo>
                  <a:pt x="0" y="0"/>
                </a:lnTo>
                <a:lnTo>
                  <a:pt x="0" y="5836819"/>
                </a:lnTo>
                <a:close/>
              </a:path>
            </a:pathLst>
          </a:custGeom>
          <a:solidFill>
            <a:srgbClr val="E7E7E7"/>
          </a:solidFill>
        </p:spPr>
        <p:txBody>
          <a:bodyPr wrap="square" lIns="0" tIns="0" rIns="0" bIns="0" rtlCol="0"/>
          <a:lstStyle/>
          <a:p>
            <a:endParaRPr/>
          </a:p>
        </p:txBody>
      </p:sp>
      <p:sp>
        <p:nvSpPr>
          <p:cNvPr id="3" name="object 3"/>
          <p:cNvSpPr/>
          <p:nvPr/>
        </p:nvSpPr>
        <p:spPr>
          <a:xfrm>
            <a:off x="3177162" y="4185993"/>
            <a:ext cx="5967095" cy="2672080"/>
          </a:xfrm>
          <a:custGeom>
            <a:avLst/>
            <a:gdLst/>
            <a:ahLst/>
            <a:cxnLst/>
            <a:rect l="l" t="t" r="r" b="b"/>
            <a:pathLst>
              <a:path w="5967095" h="2672079">
                <a:moveTo>
                  <a:pt x="5966837" y="0"/>
                </a:moveTo>
                <a:lnTo>
                  <a:pt x="447098" y="0"/>
                </a:lnTo>
                <a:lnTo>
                  <a:pt x="410429" y="1482"/>
                </a:lnTo>
                <a:lnTo>
                  <a:pt x="339655" y="12993"/>
                </a:lnTo>
                <a:lnTo>
                  <a:pt x="273067" y="35135"/>
                </a:lnTo>
                <a:lnTo>
                  <a:pt x="211586" y="66985"/>
                </a:lnTo>
                <a:lnTo>
                  <a:pt x="156131" y="107624"/>
                </a:lnTo>
                <a:lnTo>
                  <a:pt x="107624" y="156132"/>
                </a:lnTo>
                <a:lnTo>
                  <a:pt x="66985" y="211586"/>
                </a:lnTo>
                <a:lnTo>
                  <a:pt x="35135" y="273068"/>
                </a:lnTo>
                <a:lnTo>
                  <a:pt x="12993" y="339656"/>
                </a:lnTo>
                <a:lnTo>
                  <a:pt x="1482" y="410430"/>
                </a:lnTo>
                <a:lnTo>
                  <a:pt x="0" y="447099"/>
                </a:lnTo>
                <a:lnTo>
                  <a:pt x="0" y="2235493"/>
                </a:lnTo>
                <a:lnTo>
                  <a:pt x="5851" y="2308015"/>
                </a:lnTo>
                <a:lnTo>
                  <a:pt x="22793" y="2376811"/>
                </a:lnTo>
                <a:lnTo>
                  <a:pt x="49904" y="2440961"/>
                </a:lnTo>
                <a:lnTo>
                  <a:pt x="86264" y="2499544"/>
                </a:lnTo>
                <a:lnTo>
                  <a:pt x="130952" y="2551640"/>
                </a:lnTo>
                <a:lnTo>
                  <a:pt x="183048" y="2596328"/>
                </a:lnTo>
                <a:lnTo>
                  <a:pt x="241631" y="2632687"/>
                </a:lnTo>
                <a:lnTo>
                  <a:pt x="305781" y="2659798"/>
                </a:lnTo>
                <a:lnTo>
                  <a:pt x="351429" y="2672006"/>
                </a:lnTo>
                <a:lnTo>
                  <a:pt x="5966837" y="2672006"/>
                </a:lnTo>
                <a:lnTo>
                  <a:pt x="5966837" y="0"/>
                </a:lnTo>
                <a:close/>
              </a:path>
            </a:pathLst>
          </a:custGeom>
          <a:solidFill>
            <a:srgbClr val="E7E7E7"/>
          </a:solidFill>
        </p:spPr>
        <p:txBody>
          <a:bodyPr wrap="square" lIns="0" tIns="0" rIns="0" bIns="0" rtlCol="0"/>
          <a:lstStyle/>
          <a:p>
            <a:endParaRPr/>
          </a:p>
        </p:txBody>
      </p:sp>
      <p:sp>
        <p:nvSpPr>
          <p:cNvPr id="5" name="object 5"/>
          <p:cNvSpPr txBox="1"/>
          <p:nvPr/>
        </p:nvSpPr>
        <p:spPr>
          <a:xfrm>
            <a:off x="533400" y="185420"/>
            <a:ext cx="4002404" cy="424180"/>
          </a:xfrm>
          <a:prstGeom prst="rect">
            <a:avLst/>
          </a:prstGeom>
        </p:spPr>
        <p:txBody>
          <a:bodyPr vert="horz" wrap="square" lIns="0" tIns="0" rIns="0" bIns="0" rtlCol="0">
            <a:spAutoFit/>
          </a:bodyPr>
          <a:lstStyle/>
          <a:p>
            <a:pPr marL="12700">
              <a:lnSpc>
                <a:spcPct val="100000"/>
              </a:lnSpc>
            </a:pPr>
            <a:r>
              <a:rPr sz="3100" spc="10" dirty="0">
                <a:latin typeface="Arial"/>
                <a:cs typeface="Arial"/>
              </a:rPr>
              <a:t>T</a:t>
            </a:r>
            <a:r>
              <a:rPr sz="3100" spc="15" dirty="0">
                <a:latin typeface="Arial"/>
                <a:cs typeface="Arial"/>
              </a:rPr>
              <a:t>he</a:t>
            </a:r>
            <a:r>
              <a:rPr sz="3100" spc="5" dirty="0">
                <a:latin typeface="Arial"/>
                <a:cs typeface="Arial"/>
              </a:rPr>
              <a:t> </a:t>
            </a:r>
            <a:r>
              <a:rPr sz="3100" spc="15" dirty="0">
                <a:latin typeface="Arial"/>
                <a:cs typeface="Arial"/>
              </a:rPr>
              <a:t>MiniMax</a:t>
            </a:r>
            <a:r>
              <a:rPr sz="3100" spc="-50" dirty="0">
                <a:latin typeface="Arial"/>
                <a:cs typeface="Arial"/>
              </a:rPr>
              <a:t> </a:t>
            </a:r>
            <a:r>
              <a:rPr sz="3100" spc="10" dirty="0">
                <a:latin typeface="Arial"/>
                <a:cs typeface="Arial"/>
              </a:rPr>
              <a:t>T</a:t>
            </a:r>
            <a:r>
              <a:rPr sz="3100" spc="15" dirty="0">
                <a:latin typeface="Arial"/>
                <a:cs typeface="Arial"/>
              </a:rPr>
              <a:t>heorem</a:t>
            </a:r>
            <a:endParaRPr sz="3100" dirty="0">
              <a:latin typeface="Arial"/>
              <a:cs typeface="Arial"/>
            </a:endParaRPr>
          </a:p>
        </p:txBody>
      </p:sp>
      <p:sp>
        <p:nvSpPr>
          <p:cNvPr id="6" name="object 6"/>
          <p:cNvSpPr/>
          <p:nvPr/>
        </p:nvSpPr>
        <p:spPr>
          <a:xfrm>
            <a:off x="76199" y="1054100"/>
            <a:ext cx="8763000" cy="1447800"/>
          </a:xfrm>
          <a:custGeom>
            <a:avLst/>
            <a:gdLst/>
            <a:ahLst/>
            <a:cxnLst/>
            <a:rect l="l" t="t" r="r" b="b"/>
            <a:pathLst>
              <a:path w="8763000" h="1447800">
                <a:moveTo>
                  <a:pt x="0" y="1447800"/>
                </a:moveTo>
                <a:lnTo>
                  <a:pt x="8763001" y="1447800"/>
                </a:lnTo>
                <a:lnTo>
                  <a:pt x="8763001" y="0"/>
                </a:lnTo>
                <a:lnTo>
                  <a:pt x="0" y="0"/>
                </a:lnTo>
                <a:lnTo>
                  <a:pt x="0" y="1447800"/>
                </a:lnTo>
                <a:close/>
              </a:path>
            </a:pathLst>
          </a:custGeom>
          <a:solidFill>
            <a:srgbClr val="FF6600"/>
          </a:solidFill>
        </p:spPr>
        <p:txBody>
          <a:bodyPr wrap="square" lIns="0" tIns="0" rIns="0" bIns="0" rtlCol="0"/>
          <a:lstStyle/>
          <a:p>
            <a:endParaRPr/>
          </a:p>
        </p:txBody>
      </p:sp>
      <p:sp>
        <p:nvSpPr>
          <p:cNvPr id="7" name="object 7"/>
          <p:cNvSpPr/>
          <p:nvPr/>
        </p:nvSpPr>
        <p:spPr>
          <a:xfrm>
            <a:off x="76199" y="1054100"/>
            <a:ext cx="8763000" cy="1447800"/>
          </a:xfrm>
          <a:custGeom>
            <a:avLst/>
            <a:gdLst/>
            <a:ahLst/>
            <a:cxnLst/>
            <a:rect l="l" t="t" r="r" b="b"/>
            <a:pathLst>
              <a:path w="8763000" h="1447800">
                <a:moveTo>
                  <a:pt x="0" y="0"/>
                </a:moveTo>
                <a:lnTo>
                  <a:pt x="8763001" y="0"/>
                </a:lnTo>
                <a:lnTo>
                  <a:pt x="8763001" y="1447800"/>
                </a:lnTo>
                <a:lnTo>
                  <a:pt x="0" y="1447800"/>
                </a:lnTo>
                <a:lnTo>
                  <a:pt x="0" y="0"/>
                </a:lnTo>
                <a:close/>
              </a:path>
            </a:pathLst>
          </a:custGeom>
          <a:ln w="19050">
            <a:solidFill>
              <a:srgbClr val="000000"/>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8" name="object 8"/>
              <p:cNvSpPr txBox="1"/>
              <p:nvPr/>
            </p:nvSpPr>
            <p:spPr>
              <a:xfrm>
                <a:off x="135489" y="1143000"/>
                <a:ext cx="8725535" cy="5152693"/>
              </a:xfrm>
              <a:prstGeom prst="rect">
                <a:avLst/>
              </a:prstGeom>
            </p:spPr>
            <p:txBody>
              <a:bodyPr vert="horz" wrap="square" lIns="0" tIns="0" rIns="0" bIns="0" rtlCol="0">
                <a:spAutoFit/>
              </a:bodyPr>
              <a:lstStyle/>
              <a:p>
                <a:pPr marL="62230" marR="300990">
                  <a:lnSpc>
                    <a:spcPct val="115700"/>
                  </a:lnSpc>
                </a:pPr>
                <a:r>
                  <a:rPr lang="en-US" sz="1800" spc="55" dirty="0">
                    <a:latin typeface="Tahoma"/>
                    <a:cs typeface="Tahoma"/>
                  </a:rPr>
                  <a:t>F</a:t>
                </a:r>
                <a:r>
                  <a:rPr lang="en-US" sz="1800" spc="70" dirty="0">
                    <a:latin typeface="Tahoma"/>
                    <a:cs typeface="Tahoma"/>
                  </a:rPr>
                  <a:t>or</a:t>
                </a:r>
                <a:r>
                  <a:rPr lang="en-US" sz="1800" spc="35" dirty="0">
                    <a:latin typeface="Tahoma"/>
                    <a:cs typeface="Tahoma"/>
                  </a:rPr>
                  <a:t> </a:t>
                </a:r>
                <a:r>
                  <a:rPr lang="en-US" sz="1800" spc="85" dirty="0">
                    <a:latin typeface="Tahoma"/>
                    <a:cs typeface="Tahoma"/>
                  </a:rPr>
                  <a:t>e</a:t>
                </a:r>
                <a:r>
                  <a:rPr lang="en-US" sz="1800" spc="114" dirty="0">
                    <a:latin typeface="Tahoma"/>
                    <a:cs typeface="Tahoma"/>
                  </a:rPr>
                  <a:t>v</a:t>
                </a:r>
                <a:r>
                  <a:rPr lang="en-US" sz="1800" spc="85" dirty="0">
                    <a:latin typeface="Tahoma"/>
                    <a:cs typeface="Tahoma"/>
                  </a:rPr>
                  <a:t>e</a:t>
                </a:r>
                <a:r>
                  <a:rPr lang="en-US" sz="1800" spc="45" dirty="0">
                    <a:latin typeface="Tahoma"/>
                    <a:cs typeface="Tahoma"/>
                  </a:rPr>
                  <a:t>r</a:t>
                </a:r>
                <a:r>
                  <a:rPr lang="en-US" sz="1800" spc="125" dirty="0">
                    <a:latin typeface="Tahoma"/>
                    <a:cs typeface="Tahoma"/>
                  </a:rPr>
                  <a:t>y</a:t>
                </a:r>
                <a:r>
                  <a:rPr lang="en-US" sz="1800" spc="35" dirty="0">
                    <a:latin typeface="Tahoma"/>
                    <a:cs typeface="Tahoma"/>
                  </a:rPr>
                  <a:t> </a:t>
                </a:r>
                <a:r>
                  <a:rPr lang="en-US" sz="1800" spc="90" dirty="0">
                    <a:latin typeface="Tahoma"/>
                    <a:cs typeface="Tahoma"/>
                  </a:rPr>
                  <a:t>m</a:t>
                </a:r>
                <a:r>
                  <a:rPr lang="en-US" sz="1800" spc="35" dirty="0">
                    <a:latin typeface="Tahoma"/>
                    <a:cs typeface="Tahoma"/>
                  </a:rPr>
                  <a:t> </a:t>
                </a:r>
                <a:r>
                  <a:rPr lang="en-US" sz="1800" spc="60" dirty="0">
                    <a:latin typeface="Tahoma"/>
                    <a:cs typeface="Tahoma"/>
                  </a:rPr>
                  <a:t>x</a:t>
                </a:r>
                <a:r>
                  <a:rPr lang="en-US" sz="1800" spc="35" dirty="0">
                    <a:latin typeface="Tahoma"/>
                    <a:cs typeface="Tahoma"/>
                  </a:rPr>
                  <a:t> </a:t>
                </a:r>
                <a:r>
                  <a:rPr lang="en-US" sz="1800" spc="40" dirty="0">
                    <a:latin typeface="Tahoma"/>
                    <a:cs typeface="Tahoma"/>
                  </a:rPr>
                  <a:t>n</a:t>
                </a:r>
                <a:r>
                  <a:rPr lang="en-US" sz="1800" spc="35" dirty="0">
                    <a:latin typeface="Tahoma"/>
                    <a:cs typeface="Tahoma"/>
                  </a:rPr>
                  <a:t> </a:t>
                </a:r>
                <a:r>
                  <a:rPr lang="en-US" sz="1800" spc="70" dirty="0">
                    <a:latin typeface="Tahoma"/>
                    <a:cs typeface="Tahoma"/>
                  </a:rPr>
                  <a:t>ma</a:t>
                </a:r>
                <a:r>
                  <a:rPr lang="en-US" sz="1800" spc="190" dirty="0">
                    <a:latin typeface="Tahoma"/>
                    <a:cs typeface="Tahoma"/>
                  </a:rPr>
                  <a:t>t</a:t>
                </a:r>
                <a:r>
                  <a:rPr lang="en-US" sz="1800" spc="45" dirty="0">
                    <a:latin typeface="Tahoma"/>
                    <a:cs typeface="Tahoma"/>
                  </a:rPr>
                  <a:t>r</a:t>
                </a:r>
                <a:r>
                  <a:rPr lang="en-US" sz="1800" spc="5" dirty="0">
                    <a:latin typeface="Tahoma"/>
                    <a:cs typeface="Tahoma"/>
                  </a:rPr>
                  <a:t>i</a:t>
                </a:r>
                <a:r>
                  <a:rPr lang="en-US" sz="1800" spc="60" dirty="0">
                    <a:latin typeface="Tahoma"/>
                    <a:cs typeface="Tahoma"/>
                  </a:rPr>
                  <a:t>x</a:t>
                </a:r>
                <a:r>
                  <a:rPr lang="en-US" sz="1800" spc="35" dirty="0">
                    <a:latin typeface="Tahoma"/>
                    <a:cs typeface="Tahoma"/>
                  </a:rPr>
                  <a:t> </a:t>
                </a:r>
                <a:r>
                  <a:rPr lang="en-US" sz="1800" spc="225" dirty="0">
                    <a:latin typeface="Tahoma"/>
                    <a:cs typeface="Tahoma"/>
                  </a:rPr>
                  <a:t>A</a:t>
                </a:r>
                <a:r>
                  <a:rPr lang="en-US" sz="1800" spc="35" dirty="0">
                    <a:latin typeface="Tahoma"/>
                    <a:cs typeface="Tahoma"/>
                  </a:rPr>
                  <a:t> </a:t>
                </a:r>
                <a:r>
                  <a:rPr lang="en-US" sz="1800" spc="190" dirty="0">
                    <a:latin typeface="Tahoma"/>
                    <a:cs typeface="Tahoma"/>
                  </a:rPr>
                  <a:t>t</a:t>
                </a:r>
                <a:r>
                  <a:rPr lang="en-US" sz="1800" spc="40" dirty="0">
                    <a:latin typeface="Tahoma"/>
                    <a:cs typeface="Tahoma"/>
                  </a:rPr>
                  <a:t>h</a:t>
                </a:r>
                <a:r>
                  <a:rPr lang="en-US" sz="1800" spc="85" dirty="0">
                    <a:latin typeface="Tahoma"/>
                    <a:cs typeface="Tahoma"/>
                  </a:rPr>
                  <a:t>e</a:t>
                </a:r>
                <a:r>
                  <a:rPr lang="en-US" sz="1800" spc="45" dirty="0">
                    <a:latin typeface="Tahoma"/>
                    <a:cs typeface="Tahoma"/>
                  </a:rPr>
                  <a:t>r</a:t>
                </a:r>
                <a:r>
                  <a:rPr lang="en-US" sz="1800" spc="85" dirty="0">
                    <a:latin typeface="Tahoma"/>
                    <a:cs typeface="Tahoma"/>
                  </a:rPr>
                  <a:t>e</a:t>
                </a:r>
                <a:r>
                  <a:rPr lang="en-US" sz="1800" spc="35" dirty="0">
                    <a:latin typeface="Tahoma"/>
                    <a:cs typeface="Tahoma"/>
                  </a:rPr>
                  <a:t> </a:t>
                </a:r>
                <a:r>
                  <a:rPr lang="en-US" sz="1800" spc="5" dirty="0">
                    <a:latin typeface="Tahoma"/>
                    <a:cs typeface="Tahoma"/>
                  </a:rPr>
                  <a:t>i</a:t>
                </a:r>
                <a:r>
                  <a:rPr lang="en-US" sz="1800" spc="110" dirty="0">
                    <a:latin typeface="Tahoma"/>
                    <a:cs typeface="Tahoma"/>
                  </a:rPr>
                  <a:t>s</a:t>
                </a:r>
                <a:r>
                  <a:rPr lang="en-US" sz="1800" spc="35" dirty="0">
                    <a:latin typeface="Tahoma"/>
                    <a:cs typeface="Tahoma"/>
                  </a:rPr>
                  <a:t> </a:t>
                </a:r>
                <a:r>
                  <a:rPr lang="en-US" sz="1800" spc="45" dirty="0">
                    <a:latin typeface="Tahoma"/>
                    <a:cs typeface="Tahoma"/>
                  </a:rPr>
                  <a:t>a</a:t>
                </a:r>
                <a:r>
                  <a:rPr lang="en-US" sz="1800" spc="35" dirty="0">
                    <a:latin typeface="Tahoma"/>
                    <a:cs typeface="Tahoma"/>
                  </a:rPr>
                  <a:t> </a:t>
                </a:r>
                <a:r>
                  <a:rPr lang="en-US" sz="1800" spc="110" dirty="0">
                    <a:latin typeface="Tahoma"/>
                    <a:cs typeface="Tahoma"/>
                  </a:rPr>
                  <a:t>s</a:t>
                </a:r>
                <a:r>
                  <a:rPr lang="en-US" sz="1800" spc="190" dirty="0">
                    <a:latin typeface="Tahoma"/>
                    <a:cs typeface="Tahoma"/>
                  </a:rPr>
                  <a:t>t</a:t>
                </a:r>
                <a:r>
                  <a:rPr lang="en-US" sz="1800" spc="125" dirty="0">
                    <a:latin typeface="Tahoma"/>
                    <a:cs typeface="Tahoma"/>
                  </a:rPr>
                  <a:t>oc</a:t>
                </a:r>
                <a:r>
                  <a:rPr lang="en-US" sz="1800" spc="40" dirty="0">
                    <a:latin typeface="Tahoma"/>
                    <a:cs typeface="Tahoma"/>
                  </a:rPr>
                  <a:t>h</a:t>
                </a:r>
                <a:r>
                  <a:rPr lang="en-US" sz="1800" spc="45" dirty="0">
                    <a:latin typeface="Tahoma"/>
                    <a:cs typeface="Tahoma"/>
                  </a:rPr>
                  <a:t>a</a:t>
                </a:r>
                <a:r>
                  <a:rPr lang="en-US" sz="1800" spc="110" dirty="0">
                    <a:latin typeface="Tahoma"/>
                    <a:cs typeface="Tahoma"/>
                  </a:rPr>
                  <a:t>s</a:t>
                </a:r>
                <a:r>
                  <a:rPr lang="en-US" sz="1800" spc="190" dirty="0">
                    <a:latin typeface="Tahoma"/>
                    <a:cs typeface="Tahoma"/>
                  </a:rPr>
                  <a:t>t</a:t>
                </a:r>
                <a:r>
                  <a:rPr lang="en-US" sz="1800" spc="5" dirty="0">
                    <a:latin typeface="Tahoma"/>
                    <a:cs typeface="Tahoma"/>
                  </a:rPr>
                  <a:t>i</a:t>
                </a:r>
                <a:r>
                  <a:rPr lang="en-US" sz="1800" spc="145" dirty="0">
                    <a:latin typeface="Tahoma"/>
                    <a:cs typeface="Tahoma"/>
                  </a:rPr>
                  <a:t>c</a:t>
                </a:r>
                <a:r>
                  <a:rPr lang="en-US" sz="1800" spc="35" dirty="0">
                    <a:latin typeface="Tahoma"/>
                    <a:cs typeface="Tahoma"/>
                  </a:rPr>
                  <a:t> </a:t>
                </a:r>
                <a:r>
                  <a:rPr lang="en-US" sz="1800" spc="65" dirty="0">
                    <a:latin typeface="Tahoma"/>
                    <a:cs typeface="Tahoma"/>
                  </a:rPr>
                  <a:t>row</a:t>
                </a:r>
                <a:r>
                  <a:rPr lang="en-US" sz="1800" spc="35" dirty="0">
                    <a:latin typeface="Tahoma"/>
                    <a:cs typeface="Tahoma"/>
                  </a:rPr>
                  <a:t> </a:t>
                </a:r>
                <a:r>
                  <a:rPr lang="en-US" sz="1800" spc="114" dirty="0">
                    <a:latin typeface="Tahoma"/>
                    <a:cs typeface="Tahoma"/>
                  </a:rPr>
                  <a:t>v</a:t>
                </a:r>
                <a:r>
                  <a:rPr lang="en-US" sz="1800" spc="85" dirty="0">
                    <a:latin typeface="Tahoma"/>
                    <a:cs typeface="Tahoma"/>
                  </a:rPr>
                  <a:t>e</a:t>
                </a:r>
                <a:r>
                  <a:rPr lang="en-US" sz="1800" spc="145" dirty="0">
                    <a:latin typeface="Tahoma"/>
                    <a:cs typeface="Tahoma"/>
                  </a:rPr>
                  <a:t>c</a:t>
                </a:r>
                <a:r>
                  <a:rPr lang="en-US" sz="1800" spc="190" dirty="0">
                    <a:latin typeface="Tahoma"/>
                    <a:cs typeface="Tahoma"/>
                  </a:rPr>
                  <a:t>t</a:t>
                </a:r>
                <a:r>
                  <a:rPr lang="en-US" sz="1800" spc="70" dirty="0">
                    <a:latin typeface="Tahoma"/>
                    <a:cs typeface="Tahoma"/>
                  </a:rPr>
                  <a:t>or</a:t>
                </a:r>
                <a:r>
                  <a:rPr lang="en-US" sz="1800" spc="35" dirty="0">
                    <a:latin typeface="Tahoma"/>
                    <a:cs typeface="Tahoma"/>
                  </a:rPr>
                  <a:t> </a:t>
                </a:r>
                <a:r>
                  <a:rPr lang="en-US" sz="1800" spc="60" dirty="0">
                    <a:latin typeface="Tahoma"/>
                    <a:cs typeface="Tahoma"/>
                  </a:rPr>
                  <a:t>x</a:t>
                </a:r>
                <a:r>
                  <a:rPr lang="en-US" sz="1800" spc="25" dirty="0">
                    <a:latin typeface="Tahoma"/>
                    <a:cs typeface="Tahoma"/>
                  </a:rPr>
                  <a:t>-</a:t>
                </a:r>
                <a:r>
                  <a:rPr lang="en-US" sz="1800" spc="95" dirty="0">
                    <a:latin typeface="Tahoma"/>
                    <a:cs typeface="Tahoma"/>
                  </a:rPr>
                  <a:t>op</a:t>
                </a:r>
                <a:r>
                  <a:rPr lang="en-US" sz="1800" spc="190" dirty="0">
                    <a:latin typeface="Tahoma"/>
                    <a:cs typeface="Tahoma"/>
                  </a:rPr>
                  <a:t>t</a:t>
                </a:r>
                <a:r>
                  <a:rPr lang="en-US" sz="1800" spc="35" dirty="0">
                    <a:latin typeface="Tahoma"/>
                    <a:cs typeface="Tahoma"/>
                  </a:rPr>
                  <a:t> </a:t>
                </a:r>
                <a:r>
                  <a:rPr lang="en-US" sz="1800" spc="114" dirty="0">
                    <a:latin typeface="Tahoma"/>
                    <a:cs typeface="Tahoma"/>
                  </a:rPr>
                  <a:t>of</a:t>
                </a:r>
                <a:r>
                  <a:rPr lang="en-US" sz="1800" spc="35" dirty="0">
                    <a:latin typeface="Tahoma"/>
                    <a:cs typeface="Tahoma"/>
                  </a:rPr>
                  <a:t> </a:t>
                </a:r>
                <a:r>
                  <a:rPr lang="en-US" sz="1800" spc="5" dirty="0">
                    <a:latin typeface="Tahoma"/>
                    <a:cs typeface="Tahoma"/>
                  </a:rPr>
                  <a:t>l</a:t>
                </a:r>
                <a:r>
                  <a:rPr lang="en-US" sz="1800" spc="85" dirty="0">
                    <a:latin typeface="Tahoma"/>
                    <a:cs typeface="Tahoma"/>
                  </a:rPr>
                  <a:t>e</a:t>
                </a:r>
                <a:r>
                  <a:rPr lang="en-US" sz="1800" spc="40" dirty="0">
                    <a:latin typeface="Tahoma"/>
                    <a:cs typeface="Tahoma"/>
                  </a:rPr>
                  <a:t>n</a:t>
                </a:r>
                <a:r>
                  <a:rPr lang="en-US" sz="1800" spc="95" dirty="0">
                    <a:latin typeface="Tahoma"/>
                    <a:cs typeface="Tahoma"/>
                  </a:rPr>
                  <a:t>g</a:t>
                </a:r>
                <a:r>
                  <a:rPr lang="en-US" sz="1800" spc="190" dirty="0">
                    <a:latin typeface="Tahoma"/>
                    <a:cs typeface="Tahoma"/>
                  </a:rPr>
                  <a:t>t</a:t>
                </a:r>
                <a:r>
                  <a:rPr lang="en-US" sz="1800" spc="40" dirty="0">
                    <a:latin typeface="Tahoma"/>
                    <a:cs typeface="Tahoma"/>
                  </a:rPr>
                  <a:t>h</a:t>
                </a:r>
                <a:r>
                  <a:rPr lang="en-US" sz="1800" spc="35" dirty="0">
                    <a:latin typeface="Tahoma"/>
                    <a:cs typeface="Tahoma"/>
                  </a:rPr>
                  <a:t> </a:t>
                </a:r>
                <a:r>
                  <a:rPr lang="en-US" sz="1800" spc="90" dirty="0">
                    <a:latin typeface="Tahoma"/>
                    <a:cs typeface="Tahoma"/>
                  </a:rPr>
                  <a:t>m</a:t>
                </a:r>
                <a:r>
                  <a:rPr lang="en-US" sz="1800" spc="30" dirty="0">
                    <a:latin typeface="Tahoma"/>
                    <a:cs typeface="Tahoma"/>
                  </a:rPr>
                  <a:t> </a:t>
                </a:r>
                <a:r>
                  <a:rPr lang="en-US" sz="1800" spc="45" dirty="0">
                    <a:latin typeface="Tahoma"/>
                    <a:cs typeface="Tahoma"/>
                  </a:rPr>
                  <a:t>a</a:t>
                </a:r>
                <a:r>
                  <a:rPr lang="en-US" sz="1800" spc="40" dirty="0">
                    <a:latin typeface="Tahoma"/>
                    <a:cs typeface="Tahoma"/>
                  </a:rPr>
                  <a:t>n</a:t>
                </a:r>
                <a:r>
                  <a:rPr lang="en-US" sz="1800" spc="75" dirty="0">
                    <a:latin typeface="Tahoma"/>
                    <a:cs typeface="Tahoma"/>
                  </a:rPr>
                  <a:t>d</a:t>
                </a:r>
                <a:r>
                  <a:rPr lang="en-US" sz="1800" spc="35" dirty="0">
                    <a:latin typeface="Tahoma"/>
                    <a:cs typeface="Tahoma"/>
                  </a:rPr>
                  <a:t> </a:t>
                </a:r>
                <a:r>
                  <a:rPr lang="en-US" sz="1800" spc="45" dirty="0">
                    <a:latin typeface="Tahoma"/>
                    <a:cs typeface="Tahoma"/>
                  </a:rPr>
                  <a:t>a</a:t>
                </a:r>
                <a:r>
                  <a:rPr lang="en-US" sz="1800" spc="35" dirty="0">
                    <a:latin typeface="Tahoma"/>
                    <a:cs typeface="Tahoma"/>
                  </a:rPr>
                  <a:t> </a:t>
                </a:r>
                <a:r>
                  <a:rPr lang="en-US" sz="1800" spc="110" dirty="0">
                    <a:latin typeface="Tahoma"/>
                    <a:cs typeface="Tahoma"/>
                  </a:rPr>
                  <a:t>s</a:t>
                </a:r>
                <a:r>
                  <a:rPr lang="en-US" sz="1800" spc="190" dirty="0">
                    <a:latin typeface="Tahoma"/>
                    <a:cs typeface="Tahoma"/>
                  </a:rPr>
                  <a:t>t</a:t>
                </a:r>
                <a:r>
                  <a:rPr lang="en-US" sz="1800" spc="125" dirty="0">
                    <a:latin typeface="Tahoma"/>
                    <a:cs typeface="Tahoma"/>
                  </a:rPr>
                  <a:t>oc</a:t>
                </a:r>
                <a:r>
                  <a:rPr lang="en-US" sz="1800" spc="40" dirty="0">
                    <a:latin typeface="Tahoma"/>
                    <a:cs typeface="Tahoma"/>
                  </a:rPr>
                  <a:t>h</a:t>
                </a:r>
                <a:r>
                  <a:rPr lang="en-US" sz="1800" spc="45" dirty="0">
                    <a:latin typeface="Tahoma"/>
                    <a:cs typeface="Tahoma"/>
                  </a:rPr>
                  <a:t>a</a:t>
                </a:r>
                <a:r>
                  <a:rPr lang="en-US" sz="1800" spc="110" dirty="0">
                    <a:latin typeface="Tahoma"/>
                    <a:cs typeface="Tahoma"/>
                  </a:rPr>
                  <a:t>s</a:t>
                </a:r>
                <a:r>
                  <a:rPr lang="en-US" sz="1800" spc="190" dirty="0">
                    <a:latin typeface="Tahoma"/>
                    <a:cs typeface="Tahoma"/>
                  </a:rPr>
                  <a:t>t</a:t>
                </a:r>
                <a:r>
                  <a:rPr lang="en-US" sz="1800" spc="5" dirty="0">
                    <a:latin typeface="Tahoma"/>
                    <a:cs typeface="Tahoma"/>
                  </a:rPr>
                  <a:t>i</a:t>
                </a:r>
                <a:r>
                  <a:rPr lang="en-US" sz="1800" spc="145" dirty="0">
                    <a:latin typeface="Tahoma"/>
                    <a:cs typeface="Tahoma"/>
                  </a:rPr>
                  <a:t>c</a:t>
                </a:r>
                <a:r>
                  <a:rPr lang="en-US" sz="1800" spc="35" dirty="0">
                    <a:latin typeface="Tahoma"/>
                    <a:cs typeface="Tahoma"/>
                  </a:rPr>
                  <a:t> </a:t>
                </a:r>
                <a:r>
                  <a:rPr lang="en-US" sz="1800" spc="145" dirty="0">
                    <a:latin typeface="Tahoma"/>
                    <a:cs typeface="Tahoma"/>
                  </a:rPr>
                  <a:t>c</a:t>
                </a:r>
                <a:r>
                  <a:rPr lang="en-US" sz="1800" spc="55" dirty="0">
                    <a:latin typeface="Tahoma"/>
                    <a:cs typeface="Tahoma"/>
                  </a:rPr>
                  <a:t>ol</a:t>
                </a:r>
                <a:r>
                  <a:rPr lang="en-US" sz="1800" spc="40" dirty="0">
                    <a:latin typeface="Tahoma"/>
                    <a:cs typeface="Tahoma"/>
                  </a:rPr>
                  <a:t>u</a:t>
                </a:r>
                <a:r>
                  <a:rPr lang="en-US" sz="1800" spc="60" dirty="0">
                    <a:latin typeface="Tahoma"/>
                    <a:cs typeface="Tahoma"/>
                  </a:rPr>
                  <a:t>mn</a:t>
                </a:r>
                <a:r>
                  <a:rPr lang="en-US" sz="1800" spc="35" dirty="0">
                    <a:latin typeface="Tahoma"/>
                    <a:cs typeface="Tahoma"/>
                  </a:rPr>
                  <a:t> </a:t>
                </a:r>
                <a:r>
                  <a:rPr lang="en-US" sz="1800" spc="114" dirty="0">
                    <a:latin typeface="Tahoma"/>
                    <a:cs typeface="Tahoma"/>
                  </a:rPr>
                  <a:t>v</a:t>
                </a:r>
                <a:r>
                  <a:rPr lang="en-US" sz="1800" spc="85" dirty="0">
                    <a:latin typeface="Tahoma"/>
                    <a:cs typeface="Tahoma"/>
                  </a:rPr>
                  <a:t>e</a:t>
                </a:r>
                <a:r>
                  <a:rPr lang="en-US" sz="1800" spc="145" dirty="0">
                    <a:latin typeface="Tahoma"/>
                    <a:cs typeface="Tahoma"/>
                  </a:rPr>
                  <a:t>c</a:t>
                </a:r>
                <a:r>
                  <a:rPr lang="en-US" sz="1800" spc="190" dirty="0">
                    <a:latin typeface="Tahoma"/>
                    <a:cs typeface="Tahoma"/>
                  </a:rPr>
                  <a:t>t</a:t>
                </a:r>
                <a:r>
                  <a:rPr lang="en-US" sz="1800" spc="70" dirty="0">
                    <a:latin typeface="Tahoma"/>
                    <a:cs typeface="Tahoma"/>
                  </a:rPr>
                  <a:t>or</a:t>
                </a:r>
                <a:r>
                  <a:rPr lang="en-US" sz="1800" spc="35" dirty="0">
                    <a:latin typeface="Tahoma"/>
                    <a:cs typeface="Tahoma"/>
                  </a:rPr>
                  <a:t> </a:t>
                </a:r>
                <a:r>
                  <a:rPr lang="en-US" sz="1800" spc="125" dirty="0">
                    <a:latin typeface="Tahoma"/>
                    <a:cs typeface="Tahoma"/>
                  </a:rPr>
                  <a:t>y</a:t>
                </a:r>
                <a:r>
                  <a:rPr lang="en-US" sz="1800" spc="25" dirty="0">
                    <a:latin typeface="Tahoma"/>
                    <a:cs typeface="Tahoma"/>
                  </a:rPr>
                  <a:t>-</a:t>
                </a:r>
                <a:r>
                  <a:rPr lang="en-US" sz="1800" spc="95" dirty="0">
                    <a:latin typeface="Tahoma"/>
                    <a:cs typeface="Tahoma"/>
                  </a:rPr>
                  <a:t>op</a:t>
                </a:r>
                <a:r>
                  <a:rPr lang="en-US" sz="1800" spc="190" dirty="0">
                    <a:latin typeface="Tahoma"/>
                    <a:cs typeface="Tahoma"/>
                  </a:rPr>
                  <a:t>t</a:t>
                </a:r>
                <a:r>
                  <a:rPr lang="en-US" sz="1800" spc="35" dirty="0">
                    <a:latin typeface="Tahoma"/>
                    <a:cs typeface="Tahoma"/>
                  </a:rPr>
                  <a:t> </a:t>
                </a:r>
                <a:r>
                  <a:rPr lang="en-US" sz="1800" spc="114" dirty="0">
                    <a:latin typeface="Tahoma"/>
                    <a:cs typeface="Tahoma"/>
                  </a:rPr>
                  <a:t>of</a:t>
                </a:r>
                <a:r>
                  <a:rPr lang="en-US" sz="1800" spc="35" dirty="0">
                    <a:latin typeface="Tahoma"/>
                    <a:cs typeface="Tahoma"/>
                  </a:rPr>
                  <a:t> </a:t>
                </a:r>
                <a:r>
                  <a:rPr lang="en-US" sz="1800" spc="5" dirty="0">
                    <a:latin typeface="Tahoma"/>
                    <a:cs typeface="Tahoma"/>
                  </a:rPr>
                  <a:t>l</a:t>
                </a:r>
                <a:r>
                  <a:rPr lang="en-US" sz="1800" spc="85" dirty="0">
                    <a:latin typeface="Tahoma"/>
                    <a:cs typeface="Tahoma"/>
                  </a:rPr>
                  <a:t>e</a:t>
                </a:r>
                <a:r>
                  <a:rPr lang="en-US" sz="1800" spc="40" dirty="0">
                    <a:latin typeface="Tahoma"/>
                    <a:cs typeface="Tahoma"/>
                  </a:rPr>
                  <a:t>n</a:t>
                </a:r>
                <a:r>
                  <a:rPr lang="en-US" sz="1800" spc="95" dirty="0">
                    <a:latin typeface="Tahoma"/>
                    <a:cs typeface="Tahoma"/>
                  </a:rPr>
                  <a:t>g</a:t>
                </a:r>
                <a:r>
                  <a:rPr lang="en-US" sz="1800" spc="190" dirty="0">
                    <a:latin typeface="Tahoma"/>
                    <a:cs typeface="Tahoma"/>
                  </a:rPr>
                  <a:t>t</a:t>
                </a:r>
                <a:r>
                  <a:rPr lang="en-US" sz="1800" spc="40" dirty="0">
                    <a:latin typeface="Tahoma"/>
                    <a:cs typeface="Tahoma"/>
                  </a:rPr>
                  <a:t>h</a:t>
                </a:r>
                <a:r>
                  <a:rPr lang="en-US" sz="1800" spc="35" dirty="0">
                    <a:latin typeface="Tahoma"/>
                    <a:cs typeface="Tahoma"/>
                  </a:rPr>
                  <a:t> </a:t>
                </a:r>
                <a:r>
                  <a:rPr lang="en-US" sz="1800" spc="40" dirty="0">
                    <a:latin typeface="Tahoma"/>
                    <a:cs typeface="Tahoma"/>
                  </a:rPr>
                  <a:t>n</a:t>
                </a:r>
                <a:r>
                  <a:rPr lang="en-US" sz="1800" spc="35" dirty="0">
                    <a:latin typeface="Tahoma"/>
                    <a:cs typeface="Tahoma"/>
                  </a:rPr>
                  <a:t> </a:t>
                </a:r>
                <a:r>
                  <a:rPr lang="en-US" sz="1800" spc="110" dirty="0">
                    <a:latin typeface="Tahoma"/>
                    <a:cs typeface="Tahoma"/>
                  </a:rPr>
                  <a:t>s</a:t>
                </a:r>
                <a:r>
                  <a:rPr lang="en-US" sz="1800" spc="40" dirty="0">
                    <a:latin typeface="Tahoma"/>
                    <a:cs typeface="Tahoma"/>
                  </a:rPr>
                  <a:t>u</a:t>
                </a:r>
                <a:r>
                  <a:rPr lang="en-US" sz="1800" spc="145" dirty="0">
                    <a:latin typeface="Tahoma"/>
                    <a:cs typeface="Tahoma"/>
                  </a:rPr>
                  <a:t>c</a:t>
                </a:r>
                <a:r>
                  <a:rPr lang="en-US" sz="1800" spc="40" dirty="0">
                    <a:latin typeface="Tahoma"/>
                    <a:cs typeface="Tahoma"/>
                  </a:rPr>
                  <a:t>h</a:t>
                </a:r>
                <a:r>
                  <a:rPr lang="en-US" sz="1800" spc="35" dirty="0">
                    <a:latin typeface="Tahoma"/>
                    <a:cs typeface="Tahoma"/>
                  </a:rPr>
                  <a:t> </a:t>
                </a:r>
                <a:r>
                  <a:rPr lang="en-US" sz="1800" spc="190" dirty="0">
                    <a:latin typeface="Tahoma"/>
                    <a:cs typeface="Tahoma"/>
                  </a:rPr>
                  <a:t>t</a:t>
                </a:r>
                <a:r>
                  <a:rPr lang="en-US" sz="1800" spc="40" dirty="0">
                    <a:latin typeface="Tahoma"/>
                    <a:cs typeface="Tahoma"/>
                  </a:rPr>
                  <a:t>h</a:t>
                </a:r>
                <a:r>
                  <a:rPr lang="en-US" sz="1800" spc="45" dirty="0">
                    <a:latin typeface="Tahoma"/>
                    <a:cs typeface="Tahoma"/>
                  </a:rPr>
                  <a:t>a</a:t>
                </a:r>
                <a:r>
                  <a:rPr lang="en-US" sz="1800" spc="190" dirty="0">
                    <a:latin typeface="Tahoma"/>
                    <a:cs typeface="Tahoma"/>
                  </a:rPr>
                  <a:t>t</a:t>
                </a:r>
                <a:endParaRPr lang="en-US" sz="1800" dirty="0">
                  <a:latin typeface="Tahoma"/>
                  <a:cs typeface="Tahoma"/>
                </a:endParaRPr>
              </a:p>
              <a:p>
                <a:pPr>
                  <a:lnSpc>
                    <a:spcPct val="100000"/>
                  </a:lnSpc>
                  <a:spcBef>
                    <a:spcPts val="22"/>
                  </a:spcBef>
                </a:pPr>
                <a:endParaRPr lang="en-US" sz="2450" dirty="0">
                  <a:latin typeface="Times New Roman"/>
                  <a:cs typeface="Times New Roman"/>
                </a:endParaRPr>
              </a:p>
              <a:p>
                <a:pPr marL="62230">
                  <a:lnSpc>
                    <a:spcPct val="100000"/>
                  </a:lnSpc>
                </a:pPr>
                <a:r>
                  <a:rPr lang="en-US" sz="1800" i="1" spc="135" dirty="0">
                    <a:latin typeface="Times New Roman"/>
                    <a:cs typeface="Times New Roman"/>
                  </a:rPr>
                  <a:t>m</a:t>
                </a:r>
                <a:r>
                  <a:rPr lang="en-US" sz="1800" i="1" spc="190" dirty="0">
                    <a:latin typeface="Times New Roman"/>
                    <a:cs typeface="Times New Roman"/>
                  </a:rPr>
                  <a:t>a</a:t>
                </a:r>
                <a:r>
                  <a:rPr lang="en-US" sz="1800" i="1" dirty="0">
                    <a:latin typeface="Times New Roman"/>
                    <a:cs typeface="Times New Roman"/>
                  </a:rPr>
                  <a:t>x</a:t>
                </a:r>
                <a:r>
                  <a:rPr lang="en-US" sz="1875" i="1" spc="22" baseline="-25000" dirty="0">
                    <a:latin typeface="Times New Roman"/>
                    <a:cs typeface="Times New Roman"/>
                  </a:rPr>
                  <a:t>X</a:t>
                </a:r>
                <a:r>
                  <a:rPr lang="en-US" sz="1875" i="1" baseline="-13333" dirty="0">
                    <a:latin typeface="Times New Roman"/>
                    <a:cs typeface="Times New Roman"/>
                  </a:rPr>
                  <a:t>  </a:t>
                </a:r>
                <a:r>
                  <a:rPr lang="en-US" sz="1875" i="1" spc="-195" baseline="-13333" dirty="0">
                    <a:latin typeface="Times New Roman"/>
                    <a:cs typeface="Times New Roman"/>
                  </a:rPr>
                  <a:t> </a:t>
                </a:r>
                <a:r>
                  <a:rPr lang="en-US" sz="1800" i="1" spc="210" dirty="0">
                    <a:latin typeface="Times New Roman"/>
                    <a:cs typeface="Times New Roman"/>
                  </a:rPr>
                  <a:t>X</a:t>
                </a:r>
                <a:r>
                  <a:rPr lang="en-US" sz="1800" i="1" dirty="0">
                    <a:latin typeface="Times New Roman"/>
                    <a:cs typeface="Times New Roman"/>
                  </a:rPr>
                  <a:t>A</a:t>
                </a:r>
                <a:r>
                  <a:rPr lang="en-US" sz="1800" i="1" spc="-65" dirty="0">
                    <a:latin typeface="Times New Roman"/>
                    <a:cs typeface="Times New Roman"/>
                  </a:rPr>
                  <a:t>Y</a:t>
                </a:r>
                <a:r>
                  <a:rPr lang="en-US" sz="1875" i="1" spc="15" baseline="-20000" dirty="0">
                    <a:latin typeface="Times New Roman"/>
                    <a:cs typeface="Times New Roman"/>
                  </a:rPr>
                  <a:t>o</a:t>
                </a:r>
                <a:r>
                  <a:rPr lang="en-US" sz="1875" i="1" spc="22" baseline="-20000" dirty="0">
                    <a:latin typeface="Times New Roman"/>
                    <a:cs typeface="Times New Roman"/>
                  </a:rPr>
                  <a:t>p</a:t>
                </a:r>
                <a:r>
                  <a:rPr lang="en-US" sz="1875" i="1" spc="7" baseline="-20000" dirty="0">
                    <a:latin typeface="Times New Roman"/>
                    <a:cs typeface="Times New Roman"/>
                  </a:rPr>
                  <a:t>t</a:t>
                </a:r>
                <a:r>
                  <a:rPr lang="en-US" sz="1875" i="1" baseline="-20000" dirty="0">
                    <a:latin typeface="Times New Roman"/>
                    <a:cs typeface="Times New Roman"/>
                  </a:rPr>
                  <a:t> </a:t>
                </a:r>
                <a:r>
                  <a:rPr lang="en-US" sz="1875" i="1" spc="-135" baseline="-20000" dirty="0">
                    <a:latin typeface="Times New Roman"/>
                    <a:cs typeface="Times New Roman"/>
                  </a:rPr>
                  <a:t> </a:t>
                </a:r>
                <a:r>
                  <a:rPr lang="en-US" sz="1800" spc="20" dirty="0">
                    <a:latin typeface="Garamond"/>
                    <a:cs typeface="Garamond"/>
                  </a:rPr>
                  <a:t>=</a:t>
                </a:r>
                <a:r>
                  <a:rPr lang="en-US" sz="1800" spc="50" dirty="0">
                    <a:latin typeface="Garamond"/>
                    <a:cs typeface="Garamond"/>
                  </a:rPr>
                  <a:t> </a:t>
                </a:r>
                <a:r>
                  <a:rPr lang="en-US" sz="1800" i="1" spc="70" dirty="0">
                    <a:latin typeface="Times New Roman"/>
                    <a:cs typeface="Times New Roman"/>
                  </a:rPr>
                  <a:t>mi</a:t>
                </a:r>
                <a:r>
                  <a:rPr lang="en-US" sz="1800" i="1" dirty="0">
                    <a:latin typeface="Times New Roman"/>
                    <a:cs typeface="Times New Roman"/>
                  </a:rPr>
                  <a:t>n</a:t>
                </a:r>
                <a:r>
                  <a:rPr lang="en-US" sz="1875" i="1" spc="15" baseline="-25000" dirty="0">
                    <a:latin typeface="Times New Roman"/>
                    <a:cs typeface="Times New Roman"/>
                  </a:rPr>
                  <a:t>Y</a:t>
                </a:r>
                <a:r>
                  <a:rPr lang="en-US" sz="1875" i="1" baseline="-13333" dirty="0">
                    <a:latin typeface="Times New Roman"/>
                    <a:cs typeface="Times New Roman"/>
                  </a:rPr>
                  <a:t>  </a:t>
                </a:r>
                <a:r>
                  <a:rPr lang="en-US" sz="1875" i="1" spc="-135" baseline="-13333" dirty="0">
                    <a:latin typeface="Times New Roman"/>
                    <a:cs typeface="Times New Roman"/>
                  </a:rPr>
                  <a:t> </a:t>
                </a:r>
                <a:r>
                  <a:rPr lang="en-US" sz="1800" i="1" spc="-65" dirty="0" err="1">
                    <a:latin typeface="Times New Roman"/>
                    <a:cs typeface="Times New Roman"/>
                  </a:rPr>
                  <a:t>X</a:t>
                </a:r>
                <a:r>
                  <a:rPr lang="en-US" sz="1875" i="1" spc="15" baseline="-20000" dirty="0" err="1">
                    <a:latin typeface="Times New Roman"/>
                    <a:cs typeface="Times New Roman"/>
                  </a:rPr>
                  <a:t>o</a:t>
                </a:r>
                <a:r>
                  <a:rPr lang="en-US" sz="1875" i="1" spc="22" baseline="-20000" dirty="0" err="1">
                    <a:latin typeface="Times New Roman"/>
                    <a:cs typeface="Times New Roman"/>
                  </a:rPr>
                  <a:t>p</a:t>
                </a:r>
                <a:r>
                  <a:rPr lang="en-US" sz="1875" i="1" spc="7" baseline="-20000" dirty="0" err="1">
                    <a:latin typeface="Times New Roman"/>
                    <a:cs typeface="Times New Roman"/>
                  </a:rPr>
                  <a:t>t</a:t>
                </a:r>
                <a:r>
                  <a:rPr lang="en-US" sz="1875" i="1" spc="-150" baseline="-20000" dirty="0">
                    <a:latin typeface="Times New Roman"/>
                    <a:cs typeface="Times New Roman"/>
                  </a:rPr>
                  <a:t> </a:t>
                </a:r>
                <a:r>
                  <a:rPr lang="en-US" sz="1800" i="1" dirty="0">
                    <a:latin typeface="Times New Roman"/>
                    <a:cs typeface="Times New Roman"/>
                  </a:rPr>
                  <a:t>AY     (equal payoff)</a:t>
                </a:r>
                <a:endParaRPr lang="en-US" sz="1800" dirty="0">
                  <a:latin typeface="Times New Roman"/>
                  <a:cs typeface="Times New Roman"/>
                </a:endParaRPr>
              </a:p>
              <a:p>
                <a:pPr>
                  <a:lnSpc>
                    <a:spcPct val="100000"/>
                  </a:lnSpc>
                </a:pPr>
                <a:endParaRPr lang="en-US" sz="2100" dirty="0">
                  <a:latin typeface="Times New Roman"/>
                  <a:cs typeface="Times New Roman"/>
                </a:endParaRPr>
              </a:p>
              <a:p>
                <a:pPr marL="12700" marR="280035">
                  <a:lnSpc>
                    <a:spcPct val="107100"/>
                  </a:lnSpc>
                  <a:spcBef>
                    <a:spcPts val="1365"/>
                  </a:spcBef>
                </a:pPr>
                <a:r>
                  <a:rPr lang="en-US" sz="1400" i="1" dirty="0">
                    <a:latin typeface="Times New Roman"/>
                    <a:cs typeface="Times New Roman"/>
                  </a:rPr>
                  <a:t>T</a:t>
                </a:r>
                <a:r>
                  <a:rPr lang="en-US" sz="1400" i="1" spc="-10" dirty="0">
                    <a:latin typeface="Times New Roman"/>
                    <a:cs typeface="Times New Roman"/>
                  </a:rPr>
                  <a:t>he original p</a:t>
                </a:r>
                <a:r>
                  <a:rPr lang="en-US" sz="1400" i="1" spc="-55" dirty="0">
                    <a:latin typeface="Times New Roman"/>
                    <a:cs typeface="Times New Roman"/>
                  </a:rPr>
                  <a:t>r</a:t>
                </a:r>
                <a:r>
                  <a:rPr lang="en-US" sz="1400" i="1" spc="-10" dirty="0">
                    <a:latin typeface="Times New Roman"/>
                    <a:cs typeface="Times New Roman"/>
                  </a:rPr>
                  <a:t>oof</a:t>
                </a:r>
                <a:r>
                  <a:rPr lang="en-US" sz="1400" i="1" dirty="0">
                    <a:latin typeface="Times New Roman"/>
                    <a:cs typeface="Times New Roman"/>
                  </a:rPr>
                  <a:t> </a:t>
                </a:r>
                <a:r>
                  <a:rPr lang="en-US" sz="1400" i="1" spc="-5" dirty="0">
                    <a:latin typeface="Times New Roman"/>
                    <a:cs typeface="Times New Roman"/>
                  </a:rPr>
                  <a:t>f</a:t>
                </a:r>
                <a:r>
                  <a:rPr lang="en-US" sz="1400" i="1" dirty="0">
                    <a:latin typeface="Times New Roman"/>
                    <a:cs typeface="Times New Roman"/>
                  </a:rPr>
                  <a:t>or </a:t>
                </a:r>
                <a:r>
                  <a:rPr lang="en-US" sz="1400" i="1" spc="-10" dirty="0">
                    <a:latin typeface="Times New Roman"/>
                    <a:cs typeface="Times New Roman"/>
                  </a:rPr>
                  <a:t>that</a:t>
                </a:r>
                <a:r>
                  <a:rPr lang="en-US" sz="1400" i="1" dirty="0">
                    <a:latin typeface="Times New Roman"/>
                    <a:cs typeface="Times New Roman"/>
                  </a:rPr>
                  <a:t> </a:t>
                </a:r>
                <a:r>
                  <a:rPr lang="en-US" sz="1400" i="1" spc="-5" dirty="0">
                    <a:latin typeface="Times New Roman"/>
                    <a:cs typeface="Times New Roman"/>
                  </a:rPr>
                  <a:t>i</a:t>
                </a:r>
                <a:r>
                  <a:rPr lang="en-US" sz="1400" i="1" dirty="0">
                    <a:latin typeface="Times New Roman"/>
                    <a:cs typeface="Times New Roman"/>
                  </a:rPr>
                  <a:t>n </a:t>
                </a:r>
                <a:r>
                  <a:rPr lang="en-US" sz="1400" i="1" spc="-10" dirty="0">
                    <a:latin typeface="Times New Roman"/>
                    <a:cs typeface="Times New Roman"/>
                  </a:rPr>
                  <a:t>the</a:t>
                </a:r>
                <a:r>
                  <a:rPr lang="en-US" sz="1400" i="1" dirty="0">
                    <a:latin typeface="Times New Roman"/>
                    <a:cs typeface="Times New Roman"/>
                  </a:rPr>
                  <a:t> </a:t>
                </a:r>
                <a:r>
                  <a:rPr lang="en-US" sz="1400" i="1" spc="-10" dirty="0">
                    <a:latin typeface="Times New Roman"/>
                    <a:cs typeface="Times New Roman"/>
                  </a:rPr>
                  <a:t>excl</a:t>
                </a:r>
                <a:r>
                  <a:rPr lang="en-US" sz="1400" i="1" dirty="0">
                    <a:latin typeface="Times New Roman"/>
                    <a:cs typeface="Times New Roman"/>
                  </a:rPr>
                  <a:t>us</a:t>
                </a:r>
                <a:r>
                  <a:rPr lang="en-US" sz="1400" i="1" spc="-10" dirty="0">
                    <a:latin typeface="Times New Roman"/>
                    <a:cs typeface="Times New Roman"/>
                  </a:rPr>
                  <a:t>ive</a:t>
                </a:r>
                <a:r>
                  <a:rPr lang="en-US" sz="1400" i="1" dirty="0">
                    <a:latin typeface="Times New Roman"/>
                    <a:cs typeface="Times New Roman"/>
                  </a:rPr>
                  <a:t> </a:t>
                </a:r>
                <a:r>
                  <a:rPr lang="en-US" sz="1400" i="1" spc="-10" dirty="0">
                    <a:latin typeface="Times New Roman"/>
                    <a:cs typeface="Times New Roman"/>
                  </a:rPr>
                  <a:t>context</a:t>
                </a:r>
                <a:r>
                  <a:rPr lang="en-US" sz="1400" i="1" dirty="0">
                    <a:latin typeface="Times New Roman"/>
                    <a:cs typeface="Times New Roman"/>
                  </a:rPr>
                  <a:t> </a:t>
                </a:r>
                <a:r>
                  <a:rPr lang="en-US" sz="1400" i="1" spc="-10" dirty="0">
                    <a:latin typeface="Times New Roman"/>
                    <a:cs typeface="Times New Roman"/>
                  </a:rPr>
                  <a:t>of</a:t>
                </a:r>
                <a:r>
                  <a:rPr lang="en-US" sz="1400" i="1" dirty="0">
                    <a:latin typeface="Times New Roman"/>
                    <a:cs typeface="Times New Roman"/>
                  </a:rPr>
                  <a:t> gam</a:t>
                </a:r>
                <a:r>
                  <a:rPr lang="en-US" sz="1400" i="1" spc="-10" dirty="0">
                    <a:latin typeface="Times New Roman"/>
                    <a:cs typeface="Times New Roman"/>
                  </a:rPr>
                  <a:t>e</a:t>
                </a:r>
                <a:r>
                  <a:rPr lang="en-US" sz="1400" i="1" dirty="0">
                    <a:latin typeface="Times New Roman"/>
                    <a:cs typeface="Times New Roman"/>
                  </a:rPr>
                  <a:t> </a:t>
                </a:r>
                <a:r>
                  <a:rPr lang="en-US" sz="1400" i="1" spc="-10" dirty="0">
                    <a:latin typeface="Times New Roman"/>
                    <a:cs typeface="Times New Roman"/>
                  </a:rPr>
                  <a:t>the</a:t>
                </a:r>
                <a:r>
                  <a:rPr lang="en-US" sz="1400" i="1" dirty="0">
                    <a:latin typeface="Times New Roman"/>
                    <a:cs typeface="Times New Roman"/>
                  </a:rPr>
                  <a:t>or</a:t>
                </a:r>
                <a:r>
                  <a:rPr lang="en-US" sz="1400" i="1" spc="-10" dirty="0">
                    <a:latin typeface="Times New Roman"/>
                    <a:cs typeface="Times New Roman"/>
                  </a:rPr>
                  <a:t>y</a:t>
                </a:r>
                <a:r>
                  <a:rPr lang="en-US" sz="1400" i="1" dirty="0">
                    <a:latin typeface="Times New Roman"/>
                    <a:cs typeface="Times New Roman"/>
                  </a:rPr>
                  <a:t> </a:t>
                </a:r>
                <a:r>
                  <a:rPr lang="en-US" sz="1400" i="1" spc="-5" dirty="0">
                    <a:latin typeface="Times New Roman"/>
                    <a:cs typeface="Times New Roman"/>
                  </a:rPr>
                  <a:t>i</a:t>
                </a:r>
                <a:r>
                  <a:rPr lang="en-US" sz="1400" i="1" dirty="0">
                    <a:latin typeface="Times New Roman"/>
                    <a:cs typeface="Times New Roman"/>
                  </a:rPr>
                  <a:t>s </a:t>
                </a:r>
                <a:r>
                  <a:rPr lang="en-US" sz="1400" i="1" spc="-10" dirty="0">
                    <a:latin typeface="Times New Roman"/>
                    <a:cs typeface="Times New Roman"/>
                  </a:rPr>
                  <a:t>quite</a:t>
                </a:r>
                <a:r>
                  <a:rPr lang="en-US" sz="1400" i="1" dirty="0">
                    <a:latin typeface="Times New Roman"/>
                    <a:cs typeface="Times New Roman"/>
                  </a:rPr>
                  <a:t> </a:t>
                </a:r>
                <a:r>
                  <a:rPr lang="en-US" sz="1400" i="1" spc="-5" dirty="0">
                    <a:latin typeface="Times New Roman"/>
                    <a:cs typeface="Times New Roman"/>
                  </a:rPr>
                  <a:t>l</a:t>
                </a:r>
                <a:r>
                  <a:rPr lang="en-US" sz="1400" i="1" dirty="0">
                    <a:latin typeface="Times New Roman"/>
                    <a:cs typeface="Times New Roman"/>
                  </a:rPr>
                  <a:t>ong and </a:t>
                </a:r>
                <a:r>
                  <a:rPr lang="en-US" sz="1400" i="1" spc="-10" dirty="0">
                    <a:latin typeface="Times New Roman"/>
                    <a:cs typeface="Times New Roman"/>
                  </a:rPr>
                  <a:t>involve</a:t>
                </a:r>
                <a:r>
                  <a:rPr lang="en-US" sz="1400" i="1" dirty="0">
                    <a:latin typeface="Times New Roman"/>
                    <a:cs typeface="Times New Roman"/>
                  </a:rPr>
                  <a:t>d.</a:t>
                </a:r>
                <a:r>
                  <a:rPr lang="en-US" sz="1400" i="1" spc="-25" dirty="0">
                    <a:latin typeface="Times New Roman"/>
                    <a:cs typeface="Times New Roman"/>
                  </a:rPr>
                  <a:t> </a:t>
                </a:r>
                <a:r>
                  <a:rPr lang="en-US" sz="1400" i="1" spc="-10" dirty="0">
                    <a:latin typeface="Times New Roman"/>
                    <a:cs typeface="Times New Roman"/>
                  </a:rPr>
                  <a:t>Afte</a:t>
                </a:r>
                <a:r>
                  <a:rPr lang="en-US" sz="1400" i="1" dirty="0">
                    <a:latin typeface="Times New Roman"/>
                    <a:cs typeface="Times New Roman"/>
                  </a:rPr>
                  <a:t>r </a:t>
                </a:r>
                <a:r>
                  <a:rPr lang="en-US" sz="1400" i="1" spc="-55" dirty="0">
                    <a:latin typeface="Times New Roman"/>
                    <a:cs typeface="Times New Roman"/>
                  </a:rPr>
                  <a:t>r</a:t>
                </a:r>
                <a:r>
                  <a:rPr lang="en-US" sz="1400" i="1" spc="-10" dirty="0">
                    <a:latin typeface="Times New Roman"/>
                    <a:cs typeface="Times New Roman"/>
                  </a:rPr>
                  <a:t>educti</a:t>
                </a:r>
                <a:r>
                  <a:rPr lang="en-US" sz="1400" i="1" dirty="0">
                    <a:latin typeface="Times New Roman"/>
                    <a:cs typeface="Times New Roman"/>
                  </a:rPr>
                  <a:t>on </a:t>
                </a:r>
                <a:r>
                  <a:rPr lang="en-US" sz="1400" i="1" spc="-5" dirty="0">
                    <a:latin typeface="Times New Roman"/>
                    <a:cs typeface="Times New Roman"/>
                  </a:rPr>
                  <a:t>t</a:t>
                </a:r>
                <a:r>
                  <a:rPr lang="en-US" sz="1400" i="1" dirty="0">
                    <a:latin typeface="Times New Roman"/>
                    <a:cs typeface="Times New Roman"/>
                  </a:rPr>
                  <a:t>o L</a:t>
                </a:r>
                <a:r>
                  <a:rPr lang="en-US" sz="1400" i="1" spc="-10" dirty="0">
                    <a:latin typeface="Times New Roman"/>
                    <a:cs typeface="Times New Roman"/>
                  </a:rPr>
                  <a:t>P</a:t>
                </a:r>
                <a:r>
                  <a:rPr lang="en-US" sz="1400" i="1" spc="-25" dirty="0">
                    <a:latin typeface="Times New Roman"/>
                    <a:cs typeface="Times New Roman"/>
                  </a:rPr>
                  <a:t> </a:t>
                </a:r>
                <a:r>
                  <a:rPr lang="en-US" sz="1400" i="1" spc="-10" dirty="0">
                    <a:latin typeface="Times New Roman"/>
                    <a:cs typeface="Times New Roman"/>
                  </a:rPr>
                  <a:t>the</a:t>
                </a:r>
                <a:r>
                  <a:rPr lang="en-US" sz="1400" i="1" spc="-5" dirty="0">
                    <a:latin typeface="Times New Roman"/>
                    <a:cs typeface="Times New Roman"/>
                  </a:rPr>
                  <a:t> </a:t>
                </a:r>
                <a:r>
                  <a:rPr lang="en-US" sz="1400" i="1" dirty="0">
                    <a:latin typeface="Times New Roman"/>
                    <a:cs typeface="Times New Roman"/>
                  </a:rPr>
                  <a:t>p</a:t>
                </a:r>
                <a:r>
                  <a:rPr lang="en-US" sz="1400" i="1" spc="-55" dirty="0">
                    <a:latin typeface="Times New Roman"/>
                    <a:cs typeface="Times New Roman"/>
                  </a:rPr>
                  <a:t>r</a:t>
                </a:r>
                <a:r>
                  <a:rPr lang="en-US" sz="1400" i="1" spc="-10" dirty="0">
                    <a:latin typeface="Times New Roman"/>
                    <a:cs typeface="Times New Roman"/>
                  </a:rPr>
                  <a:t>oof</a:t>
                </a:r>
                <a:r>
                  <a:rPr lang="en-US" sz="1400" i="1" dirty="0">
                    <a:latin typeface="Times New Roman"/>
                    <a:cs typeface="Times New Roman"/>
                  </a:rPr>
                  <a:t> has </a:t>
                </a:r>
                <a:r>
                  <a:rPr lang="en-US" sz="1400" i="1" spc="-10" dirty="0">
                    <a:latin typeface="Times New Roman"/>
                    <a:cs typeface="Times New Roman"/>
                  </a:rPr>
                  <a:t>bee</a:t>
                </a:r>
                <a:r>
                  <a:rPr lang="en-US" sz="1400" i="1" dirty="0">
                    <a:latin typeface="Times New Roman"/>
                    <a:cs typeface="Times New Roman"/>
                  </a:rPr>
                  <a:t>n m</a:t>
                </a:r>
                <a:r>
                  <a:rPr lang="en-US" sz="1400" i="1" spc="-10" dirty="0">
                    <a:latin typeface="Times New Roman"/>
                    <a:cs typeface="Times New Roman"/>
                  </a:rPr>
                  <a:t>uc</a:t>
                </a:r>
                <a:r>
                  <a:rPr lang="en-US" sz="1400" i="1" dirty="0">
                    <a:latin typeface="Times New Roman"/>
                    <a:cs typeface="Times New Roman"/>
                  </a:rPr>
                  <a:t>h s</a:t>
                </a:r>
                <a:r>
                  <a:rPr lang="en-US" sz="1400" i="1" spc="-5" dirty="0">
                    <a:latin typeface="Times New Roman"/>
                    <a:cs typeface="Times New Roman"/>
                  </a:rPr>
                  <a:t>i</a:t>
                </a:r>
                <a:r>
                  <a:rPr lang="en-US" sz="1400" i="1" dirty="0">
                    <a:latin typeface="Times New Roman"/>
                    <a:cs typeface="Times New Roman"/>
                  </a:rPr>
                  <a:t>m</a:t>
                </a:r>
                <a:r>
                  <a:rPr lang="en-US" sz="1400" i="1" spc="-5" dirty="0">
                    <a:latin typeface="Times New Roman"/>
                    <a:cs typeface="Times New Roman"/>
                  </a:rPr>
                  <a:t>plifie</a:t>
                </a:r>
                <a:r>
                  <a:rPr lang="en-US" sz="1400" i="1" dirty="0">
                    <a:latin typeface="Times New Roman"/>
                    <a:cs typeface="Times New Roman"/>
                  </a:rPr>
                  <a:t>d </a:t>
                </a:r>
                <a:r>
                  <a:rPr lang="en-US" sz="1400" i="1" spc="-10" dirty="0">
                    <a:latin typeface="Times New Roman"/>
                    <a:cs typeface="Times New Roman"/>
                  </a:rPr>
                  <a:t>by</a:t>
                </a:r>
                <a:r>
                  <a:rPr lang="en-US" sz="1400" i="1" dirty="0">
                    <a:latin typeface="Times New Roman"/>
                    <a:cs typeface="Times New Roman"/>
                  </a:rPr>
                  <a:t> </a:t>
                </a:r>
                <a:r>
                  <a:rPr lang="en-US" sz="1400" i="1" spc="-55" dirty="0">
                    <a:latin typeface="Times New Roman"/>
                    <a:cs typeface="Times New Roman"/>
                  </a:rPr>
                  <a:t>r</a:t>
                </a:r>
                <a:r>
                  <a:rPr lang="en-US" sz="1400" i="1" spc="-10" dirty="0">
                    <a:latin typeface="Times New Roman"/>
                    <a:cs typeface="Times New Roman"/>
                  </a:rPr>
                  <a:t>ec</a:t>
                </a:r>
                <a:r>
                  <a:rPr lang="en-US" sz="1400" i="1" dirty="0">
                    <a:latin typeface="Times New Roman"/>
                    <a:cs typeface="Times New Roman"/>
                  </a:rPr>
                  <a:t>as</a:t>
                </a:r>
                <a:r>
                  <a:rPr lang="en-US" sz="1400" i="1" spc="-5" dirty="0">
                    <a:latin typeface="Times New Roman"/>
                    <a:cs typeface="Times New Roman"/>
                  </a:rPr>
                  <a:t>ti</a:t>
                </a:r>
                <a:r>
                  <a:rPr lang="en-US" sz="1400" i="1" dirty="0">
                    <a:latin typeface="Times New Roman"/>
                    <a:cs typeface="Times New Roman"/>
                  </a:rPr>
                  <a:t>ng </a:t>
                </a:r>
                <a:r>
                  <a:rPr lang="en-US" sz="1400" i="1" spc="-5" dirty="0">
                    <a:latin typeface="Times New Roman"/>
                    <a:cs typeface="Times New Roman"/>
                  </a:rPr>
                  <a:t>it</a:t>
                </a:r>
                <a:r>
                  <a:rPr lang="en-US" sz="1400" i="1" dirty="0">
                    <a:latin typeface="Times New Roman"/>
                    <a:cs typeface="Times New Roman"/>
                  </a:rPr>
                  <a:t> </a:t>
                </a:r>
                <a:r>
                  <a:rPr lang="en-US" sz="1400" i="1" spc="-5" dirty="0">
                    <a:latin typeface="Times New Roman"/>
                    <a:cs typeface="Times New Roman"/>
                  </a:rPr>
                  <a:t>int</a:t>
                </a:r>
                <a:r>
                  <a:rPr lang="en-US" sz="1400" i="1" dirty="0">
                    <a:latin typeface="Times New Roman"/>
                    <a:cs typeface="Times New Roman"/>
                  </a:rPr>
                  <a:t>o </a:t>
                </a:r>
                <a:r>
                  <a:rPr lang="en-US" sz="1400" i="1" spc="-10" dirty="0">
                    <a:latin typeface="Times New Roman"/>
                    <a:cs typeface="Times New Roman"/>
                  </a:rPr>
                  <a:t>the</a:t>
                </a:r>
                <a:r>
                  <a:rPr lang="en-US" sz="1400" i="1" dirty="0">
                    <a:latin typeface="Times New Roman"/>
                    <a:cs typeface="Times New Roman"/>
                  </a:rPr>
                  <a:t> D</a:t>
                </a:r>
                <a:r>
                  <a:rPr lang="en-US" sz="1400" i="1" spc="-10" dirty="0">
                    <a:latin typeface="Times New Roman"/>
                    <a:cs typeface="Times New Roman"/>
                  </a:rPr>
                  <a:t>uality</a:t>
                </a:r>
                <a:r>
                  <a:rPr lang="en-US" sz="1400" i="1" dirty="0">
                    <a:latin typeface="Times New Roman"/>
                    <a:cs typeface="Times New Roman"/>
                  </a:rPr>
                  <a:t> T</a:t>
                </a:r>
                <a:r>
                  <a:rPr lang="en-US" sz="1400" i="1" spc="-10" dirty="0">
                    <a:latin typeface="Times New Roman"/>
                    <a:cs typeface="Times New Roman"/>
                  </a:rPr>
                  <a:t>he</a:t>
                </a:r>
                <a:r>
                  <a:rPr lang="en-US" sz="1400" i="1" dirty="0">
                    <a:latin typeface="Times New Roman"/>
                    <a:cs typeface="Times New Roman"/>
                  </a:rPr>
                  <a:t>or</a:t>
                </a:r>
                <a:r>
                  <a:rPr lang="en-US" sz="1400" i="1" spc="-10" dirty="0">
                    <a:latin typeface="Times New Roman"/>
                    <a:cs typeface="Times New Roman"/>
                  </a:rPr>
                  <a:t>y</a:t>
                </a:r>
                <a:r>
                  <a:rPr lang="en-US" sz="1400" i="1" dirty="0">
                    <a:latin typeface="Times New Roman"/>
                    <a:cs typeface="Times New Roman"/>
                  </a:rPr>
                  <a:t> </a:t>
                </a:r>
                <a:r>
                  <a:rPr lang="en-US" sz="1400" i="1" spc="-10" dirty="0">
                    <a:latin typeface="Times New Roman"/>
                    <a:cs typeface="Times New Roman"/>
                  </a:rPr>
                  <a:t>of</a:t>
                </a:r>
                <a:r>
                  <a:rPr lang="en-US" sz="1400" i="1" dirty="0">
                    <a:latin typeface="Times New Roman"/>
                    <a:cs typeface="Times New Roman"/>
                  </a:rPr>
                  <a:t> </a:t>
                </a:r>
                <a:r>
                  <a:rPr lang="en-US" sz="1400" i="1" spc="-10" dirty="0">
                    <a:latin typeface="Times New Roman"/>
                    <a:cs typeface="Times New Roman"/>
                  </a:rPr>
                  <a:t>line</a:t>
                </a:r>
                <a:r>
                  <a:rPr lang="en-US" sz="1400" i="1" dirty="0">
                    <a:latin typeface="Times New Roman"/>
                    <a:cs typeface="Times New Roman"/>
                  </a:rPr>
                  <a:t>ar p</a:t>
                </a:r>
                <a:r>
                  <a:rPr lang="en-US" sz="1400" i="1" spc="-55" dirty="0">
                    <a:latin typeface="Times New Roman"/>
                    <a:cs typeface="Times New Roman"/>
                  </a:rPr>
                  <a:t>r</a:t>
                </a:r>
                <a:r>
                  <a:rPr lang="en-US" sz="1400" i="1" dirty="0">
                    <a:latin typeface="Times New Roman"/>
                    <a:cs typeface="Times New Roman"/>
                  </a:rPr>
                  <a:t>ogramm</a:t>
                </a:r>
                <a:r>
                  <a:rPr lang="en-US" sz="1400" i="1" spc="-5" dirty="0">
                    <a:latin typeface="Times New Roman"/>
                    <a:cs typeface="Times New Roman"/>
                  </a:rPr>
                  <a:t>i</a:t>
                </a:r>
                <a:r>
                  <a:rPr lang="en-US" sz="1400" i="1" dirty="0">
                    <a:latin typeface="Times New Roman"/>
                    <a:cs typeface="Times New Roman"/>
                  </a:rPr>
                  <a:t>ng.</a:t>
                </a:r>
                <a:endParaRPr lang="en-US" sz="1400" dirty="0">
                  <a:latin typeface="Times New Roman"/>
                  <a:cs typeface="Times New Roman"/>
                </a:endParaRPr>
              </a:p>
              <a:p>
                <a:pPr>
                  <a:lnSpc>
                    <a:spcPct val="100000"/>
                  </a:lnSpc>
                </a:pPr>
                <a:endParaRPr lang="en-US" sz="1400" dirty="0">
                  <a:latin typeface="Times New Roman"/>
                  <a:cs typeface="Times New Roman"/>
                </a:endParaRPr>
              </a:p>
              <a:p>
                <a:pPr>
                  <a:lnSpc>
                    <a:spcPct val="100000"/>
                  </a:lnSpc>
                  <a:spcBef>
                    <a:spcPts val="45"/>
                  </a:spcBef>
                </a:pPr>
                <a:endParaRPr lang="en-US" sz="1900" dirty="0">
                  <a:latin typeface="Times New Roman"/>
                  <a:cs typeface="Times New Roman"/>
                </a:endParaRPr>
              </a:p>
              <a:p>
                <a:pPr marL="163830" marR="5080">
                  <a:lnSpc>
                    <a:spcPct val="106500"/>
                  </a:lnSpc>
                </a:pPr>
                <a:r>
                  <a:rPr lang="en-US" sz="1800" i="1" spc="-10" dirty="0">
                    <a:latin typeface="Times New Roman"/>
                    <a:cs typeface="Times New Roman"/>
                  </a:rPr>
                  <a:t>Xopt </a:t>
                </a:r>
                <a:r>
                  <a:rPr lang="en-US" sz="1800" spc="-10" dirty="0">
                    <a:latin typeface="Times New Roman"/>
                    <a:cs typeface="Times New Roman"/>
                  </a:rPr>
                  <a:t>and </a:t>
                </a:r>
                <a:r>
                  <a:rPr lang="en-US" sz="1800" i="1" spc="-170" dirty="0">
                    <a:latin typeface="Times New Roman"/>
                    <a:cs typeface="Times New Roman"/>
                  </a:rPr>
                  <a:t>Y</a:t>
                </a:r>
                <a:r>
                  <a:rPr lang="en-US" sz="1800" i="1" spc="-10" dirty="0">
                    <a:latin typeface="Times New Roman"/>
                    <a:cs typeface="Times New Roman"/>
                  </a:rPr>
                  <a:t>opt</a:t>
                </a:r>
                <a:r>
                  <a:rPr lang="en-US" sz="1800" i="1" dirty="0">
                    <a:latin typeface="Times New Roman"/>
                    <a:cs typeface="Times New Roman"/>
                  </a:rPr>
                  <a:t> </a:t>
                </a:r>
                <a:r>
                  <a:rPr lang="en-US" sz="1800" spc="-10" dirty="0">
                    <a:latin typeface="Times New Roman"/>
                    <a:cs typeface="Times New Roman"/>
                  </a:rPr>
                  <a:t>are</a:t>
                </a:r>
                <a:r>
                  <a:rPr lang="en-US" sz="1800" dirty="0">
                    <a:latin typeface="Times New Roman"/>
                    <a:cs typeface="Times New Roman"/>
                  </a:rPr>
                  <a:t> </a:t>
                </a:r>
                <a:r>
                  <a:rPr lang="en-US" sz="1800" spc="-10" dirty="0">
                    <a:latin typeface="Times New Roman"/>
                    <a:cs typeface="Times New Roman"/>
                  </a:rPr>
                  <a:t>therefore</a:t>
                </a:r>
                <a:r>
                  <a:rPr lang="en-US" sz="1800" dirty="0">
                    <a:latin typeface="Times New Roman"/>
                    <a:cs typeface="Times New Roman"/>
                  </a:rPr>
                  <a:t> </a:t>
                </a:r>
                <a:r>
                  <a:rPr lang="en-US" sz="1800" spc="-10" dirty="0">
                    <a:latin typeface="Times New Roman"/>
                    <a:cs typeface="Times New Roman"/>
                  </a:rPr>
                  <a:t>the</a:t>
                </a:r>
                <a:r>
                  <a:rPr lang="en-US" sz="1800" dirty="0">
                    <a:latin typeface="Times New Roman"/>
                    <a:cs typeface="Times New Roman"/>
                  </a:rPr>
                  <a:t> s</a:t>
                </a:r>
                <a:r>
                  <a:rPr lang="en-US" sz="1800" spc="-10" dirty="0">
                    <a:latin typeface="Times New Roman"/>
                    <a:cs typeface="Times New Roman"/>
                  </a:rPr>
                  <a:t>trategie</a:t>
                </a:r>
                <a:r>
                  <a:rPr lang="en-US" sz="1800" dirty="0">
                    <a:latin typeface="Times New Roman"/>
                    <a:cs typeface="Times New Roman"/>
                  </a:rPr>
                  <a:t>s </a:t>
                </a:r>
                <a:r>
                  <a:rPr lang="en-US" sz="1800" spc="-10" dirty="0">
                    <a:latin typeface="Times New Roman"/>
                    <a:cs typeface="Times New Roman"/>
                  </a:rPr>
                  <a:t>that</a:t>
                </a:r>
                <a:r>
                  <a:rPr lang="en-US" sz="1800" dirty="0">
                    <a:latin typeface="Times New Roman"/>
                    <a:cs typeface="Times New Roman"/>
                  </a:rPr>
                  <a:t> </a:t>
                </a:r>
                <a:r>
                  <a:rPr lang="en-US" sz="1800" spc="-10" dirty="0">
                    <a:latin typeface="Times New Roman"/>
                    <a:cs typeface="Times New Roman"/>
                  </a:rPr>
                  <a:t>the</a:t>
                </a:r>
                <a:r>
                  <a:rPr lang="en-US" sz="1800" dirty="0">
                    <a:latin typeface="Times New Roman"/>
                    <a:cs typeface="Times New Roman"/>
                  </a:rPr>
                  <a:t> </a:t>
                </a:r>
                <a:r>
                  <a:rPr lang="en-US" sz="1800" spc="-5" dirty="0">
                    <a:latin typeface="Times New Roman"/>
                    <a:cs typeface="Times New Roman"/>
                  </a:rPr>
                  <a:t>t</a:t>
                </a:r>
                <a:r>
                  <a:rPr lang="en-US" sz="1800" dirty="0">
                    <a:latin typeface="Times New Roman"/>
                    <a:cs typeface="Times New Roman"/>
                  </a:rPr>
                  <a:t>wo </a:t>
                </a:r>
                <a:r>
                  <a:rPr lang="en-US" sz="1800" spc="-10" dirty="0">
                    <a:latin typeface="Times New Roman"/>
                    <a:cs typeface="Times New Roman"/>
                  </a:rPr>
                  <a:t>playe</a:t>
                </a:r>
                <a:r>
                  <a:rPr lang="en-US" sz="1800" dirty="0">
                    <a:latin typeface="Times New Roman"/>
                    <a:cs typeface="Times New Roman"/>
                  </a:rPr>
                  <a:t>rs s</a:t>
                </a:r>
                <a:r>
                  <a:rPr lang="en-US" sz="1800" spc="-10" dirty="0">
                    <a:latin typeface="Times New Roman"/>
                    <a:cs typeface="Times New Roman"/>
                  </a:rPr>
                  <a:t>houl</a:t>
                </a:r>
                <a:r>
                  <a:rPr lang="en-US" sz="1800" dirty="0">
                    <a:latin typeface="Times New Roman"/>
                    <a:cs typeface="Times New Roman"/>
                  </a:rPr>
                  <a:t>d </a:t>
                </a:r>
                <a:r>
                  <a:rPr lang="en-US" sz="1800" spc="-10" dirty="0">
                    <a:latin typeface="Times New Roman"/>
                    <a:cs typeface="Times New Roman"/>
                  </a:rPr>
                  <a:t>adopt</a:t>
                </a:r>
                <a:r>
                  <a:rPr lang="en-US" sz="1800" dirty="0">
                    <a:latin typeface="Times New Roman"/>
                    <a:cs typeface="Times New Roman"/>
                  </a:rPr>
                  <a:t> </a:t>
                </a:r>
                <a:r>
                  <a:rPr lang="en-US" sz="1800" spc="-10" dirty="0">
                    <a:latin typeface="Times New Roman"/>
                    <a:cs typeface="Times New Roman"/>
                  </a:rPr>
                  <a:t>unde</a:t>
                </a:r>
                <a:r>
                  <a:rPr lang="en-US" sz="1800" dirty="0">
                    <a:latin typeface="Times New Roman"/>
                    <a:cs typeface="Times New Roman"/>
                  </a:rPr>
                  <a:t>r </a:t>
                </a:r>
                <a:r>
                  <a:rPr lang="en-US" sz="1800" spc="-10" dirty="0">
                    <a:latin typeface="Times New Roman"/>
                    <a:cs typeface="Times New Roman"/>
                  </a:rPr>
                  <a:t>the</a:t>
                </a:r>
                <a:r>
                  <a:rPr lang="en-US" sz="1800" dirty="0">
                    <a:latin typeface="Times New Roman"/>
                    <a:cs typeface="Times New Roman"/>
                  </a:rPr>
                  <a:t> </a:t>
                </a:r>
                <a:r>
                  <a:rPr lang="en-US" sz="1800" spc="-10" dirty="0">
                    <a:latin typeface="Times New Roman"/>
                    <a:cs typeface="Times New Roman"/>
                  </a:rPr>
                  <a:t>above rea</a:t>
                </a:r>
                <a:r>
                  <a:rPr lang="en-US" sz="1800" dirty="0">
                    <a:latin typeface="Times New Roman"/>
                    <a:cs typeface="Times New Roman"/>
                  </a:rPr>
                  <a:t>s</a:t>
                </a:r>
                <a:r>
                  <a:rPr lang="en-US" sz="1800" spc="-10" dirty="0">
                    <a:latin typeface="Times New Roman"/>
                    <a:cs typeface="Times New Roman"/>
                  </a:rPr>
                  <a:t>oni</a:t>
                </a:r>
                <a:r>
                  <a:rPr lang="en-US" sz="1800" dirty="0">
                    <a:latin typeface="Times New Roman"/>
                    <a:cs typeface="Times New Roman"/>
                  </a:rPr>
                  <a:t>ng.</a:t>
                </a:r>
                <a:r>
                  <a:rPr lang="en-US" sz="1800" spc="-35" dirty="0">
                    <a:latin typeface="Times New Roman"/>
                    <a:cs typeface="Times New Roman"/>
                  </a:rPr>
                  <a:t> </a:t>
                </a:r>
                <a:r>
                  <a:rPr lang="en-US" sz="1800" spc="-10" dirty="0">
                    <a:latin typeface="Times New Roman"/>
                    <a:cs typeface="Times New Roman"/>
                  </a:rPr>
                  <a:t>The</a:t>
                </a:r>
                <a:r>
                  <a:rPr lang="en-US" sz="1800" dirty="0">
                    <a:latin typeface="Times New Roman"/>
                    <a:cs typeface="Times New Roman"/>
                  </a:rPr>
                  <a:t> </a:t>
                </a:r>
                <a:r>
                  <a:rPr lang="en-US" sz="1800" spc="-15" dirty="0">
                    <a:latin typeface="Times New Roman"/>
                    <a:cs typeface="Times New Roman"/>
                  </a:rPr>
                  <a:t>comm</a:t>
                </a:r>
                <a:r>
                  <a:rPr lang="en-US" sz="1800" dirty="0">
                    <a:latin typeface="Times New Roman"/>
                    <a:cs typeface="Times New Roman"/>
                  </a:rPr>
                  <a:t>on </a:t>
                </a:r>
                <a:r>
                  <a:rPr lang="en-US" sz="1800" spc="-10" dirty="0">
                    <a:latin typeface="Times New Roman"/>
                    <a:cs typeface="Times New Roman"/>
                  </a:rPr>
                  <a:t>pa</a:t>
                </a:r>
                <a:r>
                  <a:rPr lang="en-US" sz="1800" dirty="0">
                    <a:latin typeface="Times New Roman"/>
                    <a:cs typeface="Times New Roman"/>
                  </a:rPr>
                  <a:t>y-o</a:t>
                </a:r>
                <a:r>
                  <a:rPr lang="en-US" sz="1800" spc="-35" dirty="0">
                    <a:latin typeface="Times New Roman"/>
                    <a:cs typeface="Times New Roman"/>
                  </a:rPr>
                  <a:t>f</a:t>
                </a:r>
                <a:r>
                  <a:rPr lang="en-US" sz="1800" dirty="0">
                    <a:latin typeface="Times New Roman"/>
                    <a:cs typeface="Times New Roman"/>
                  </a:rPr>
                  <a:t>f of </a:t>
                </a:r>
                <a:r>
                  <a:rPr lang="en-US" sz="1800" spc="-10" dirty="0">
                    <a:latin typeface="Times New Roman"/>
                    <a:cs typeface="Times New Roman"/>
                  </a:rPr>
                  <a:t>the</a:t>
                </a:r>
                <a:r>
                  <a:rPr lang="en-US" sz="1800" dirty="0">
                    <a:latin typeface="Times New Roman"/>
                    <a:cs typeface="Times New Roman"/>
                  </a:rPr>
                  <a:t>s</a:t>
                </a:r>
                <a:r>
                  <a:rPr lang="en-US" sz="1800" spc="-10" dirty="0">
                    <a:latin typeface="Times New Roman"/>
                    <a:cs typeface="Times New Roman"/>
                  </a:rPr>
                  <a:t>e</a:t>
                </a:r>
                <a:r>
                  <a:rPr lang="en-US" sz="1800" dirty="0">
                    <a:latin typeface="Times New Roman"/>
                    <a:cs typeface="Times New Roman"/>
                  </a:rPr>
                  <a:t> s</a:t>
                </a:r>
                <a:r>
                  <a:rPr lang="en-US" sz="1800" spc="-10" dirty="0">
                    <a:latin typeface="Times New Roman"/>
                    <a:cs typeface="Times New Roman"/>
                  </a:rPr>
                  <a:t>trategie</a:t>
                </a:r>
                <a:r>
                  <a:rPr lang="en-US" sz="1800" dirty="0">
                    <a:latin typeface="Times New Roman"/>
                    <a:cs typeface="Times New Roman"/>
                  </a:rPr>
                  <a:t>s </a:t>
                </a:r>
                <a:r>
                  <a:rPr lang="en-US" sz="1800" spc="-5" dirty="0">
                    <a:latin typeface="Times New Roman"/>
                    <a:cs typeface="Times New Roman"/>
                  </a:rPr>
                  <a:t>i</a:t>
                </a:r>
                <a:r>
                  <a:rPr lang="en-US" sz="1800" dirty="0">
                    <a:latin typeface="Times New Roman"/>
                    <a:cs typeface="Times New Roman"/>
                  </a:rPr>
                  <a:t>s </a:t>
                </a:r>
                <a:r>
                  <a:rPr lang="en-US" sz="1800" spc="-10" dirty="0">
                    <a:latin typeface="Times New Roman"/>
                    <a:cs typeface="Times New Roman"/>
                  </a:rPr>
                  <a:t>referre</a:t>
                </a:r>
                <a:r>
                  <a:rPr lang="en-US" sz="1800" dirty="0">
                    <a:latin typeface="Times New Roman"/>
                    <a:cs typeface="Times New Roman"/>
                  </a:rPr>
                  <a:t>d </a:t>
                </a:r>
                <a:r>
                  <a:rPr lang="en-US" sz="1800" spc="-5" dirty="0">
                    <a:latin typeface="Times New Roman"/>
                    <a:cs typeface="Times New Roman"/>
                  </a:rPr>
                  <a:t>t</a:t>
                </a:r>
                <a:r>
                  <a:rPr lang="en-US" sz="1800" dirty="0">
                    <a:latin typeface="Times New Roman"/>
                    <a:cs typeface="Times New Roman"/>
                  </a:rPr>
                  <a:t>o </a:t>
                </a:r>
                <a:r>
                  <a:rPr lang="en-US" sz="1800" spc="-10" dirty="0">
                    <a:latin typeface="Times New Roman"/>
                    <a:cs typeface="Times New Roman"/>
                  </a:rPr>
                  <a:t>a</a:t>
                </a:r>
                <a:r>
                  <a:rPr lang="en-US" sz="1800" dirty="0">
                    <a:latin typeface="Times New Roman"/>
                    <a:cs typeface="Times New Roman"/>
                  </a:rPr>
                  <a:t>s </a:t>
                </a:r>
                <a:r>
                  <a:rPr lang="en-US" sz="1800" spc="-10" dirty="0">
                    <a:latin typeface="Times New Roman"/>
                    <a:cs typeface="Times New Roman"/>
                  </a:rPr>
                  <a:t>the</a:t>
                </a:r>
                <a:r>
                  <a:rPr lang="en-US" sz="1800" dirty="0">
                    <a:latin typeface="Times New Roman"/>
                    <a:cs typeface="Times New Roman"/>
                  </a:rPr>
                  <a:t> </a:t>
                </a:r>
                <a:r>
                  <a:rPr lang="en-US" sz="1800" spc="-10" dirty="0">
                    <a:latin typeface="Times New Roman"/>
                    <a:cs typeface="Times New Roman"/>
                  </a:rPr>
                  <a:t>“</a:t>
                </a:r>
                <a:r>
                  <a:rPr lang="en-US" sz="1800" b="1" spc="-10" dirty="0">
                    <a:latin typeface="Times New Roman"/>
                    <a:cs typeface="Times New Roman"/>
                  </a:rPr>
                  <a:t>value</a:t>
                </a:r>
                <a:r>
                  <a:rPr lang="en-US" sz="1800" spc="-10" dirty="0">
                    <a:latin typeface="Times New Roman"/>
                    <a:cs typeface="Times New Roman"/>
                  </a:rPr>
                  <a:t>”</a:t>
                </a:r>
                <a:r>
                  <a:rPr lang="en-US" sz="1800" dirty="0">
                    <a:latin typeface="Times New Roman"/>
                    <a:cs typeface="Times New Roman"/>
                  </a:rPr>
                  <a:t> </a:t>
                </a:r>
                <a:r>
                  <a:rPr lang="en-US" sz="1800" i="1" spc="-10" dirty="0">
                    <a:latin typeface="Times New Roman"/>
                    <a:cs typeface="Times New Roman"/>
                  </a:rPr>
                  <a:t>v</a:t>
                </a:r>
                <a:r>
                  <a:rPr lang="en-US" sz="1800" i="1" dirty="0">
                    <a:latin typeface="Times New Roman"/>
                    <a:cs typeface="Times New Roman"/>
                  </a:rPr>
                  <a:t> </a:t>
                </a:r>
                <a:r>
                  <a:rPr lang="en-US" sz="1800" dirty="0">
                    <a:latin typeface="Times New Roman"/>
                    <a:cs typeface="Times New Roman"/>
                  </a:rPr>
                  <a:t>of </a:t>
                </a:r>
                <a:r>
                  <a:rPr lang="en-US" sz="1800" spc="-10" dirty="0">
                    <a:latin typeface="Times New Roman"/>
                    <a:cs typeface="Times New Roman"/>
                  </a:rPr>
                  <a:t>the</a:t>
                </a:r>
                <a:r>
                  <a:rPr lang="en-US" sz="1800" dirty="0">
                    <a:latin typeface="Times New Roman"/>
                    <a:cs typeface="Times New Roman"/>
                  </a:rPr>
                  <a:t> </a:t>
                </a:r>
                <a:r>
                  <a:rPr lang="en-US" sz="1800" spc="-10" dirty="0">
                    <a:latin typeface="Times New Roman"/>
                    <a:cs typeface="Times New Roman"/>
                  </a:rPr>
                  <a:t>game</a:t>
                </a:r>
                <a:r>
                  <a:rPr lang="en-US" sz="1800" dirty="0">
                    <a:latin typeface="Times New Roman"/>
                    <a:cs typeface="Times New Roman"/>
                  </a:rPr>
                  <a:t>.</a:t>
                </a:r>
              </a:p>
              <a:p>
                <a:pPr marL="163830" marR="11430">
                  <a:lnSpc>
                    <a:spcPct val="213000"/>
                  </a:lnSpc>
                </a:pPr>
                <a:r>
                  <a:rPr lang="en-US" sz="1800" dirty="0">
                    <a:latin typeface="Times New Roman"/>
                    <a:cs typeface="Times New Roman"/>
                  </a:rPr>
                  <a:t>A</a:t>
                </a:r>
                <a:r>
                  <a:rPr lang="en-US" sz="1800" spc="-100" dirty="0">
                    <a:latin typeface="Times New Roman"/>
                    <a:cs typeface="Times New Roman"/>
                  </a:rPr>
                  <a:t> </a:t>
                </a:r>
                <a:r>
                  <a:rPr lang="en-US" sz="1800" spc="-10" dirty="0">
                    <a:latin typeface="Times New Roman"/>
                    <a:cs typeface="Times New Roman"/>
                  </a:rPr>
                  <a:t>ca</a:t>
                </a:r>
                <a:r>
                  <a:rPr lang="en-US" sz="1800" dirty="0">
                    <a:latin typeface="Times New Roman"/>
                    <a:cs typeface="Times New Roman"/>
                  </a:rPr>
                  <a:t>n </a:t>
                </a:r>
                <a:r>
                  <a:rPr lang="en-US" sz="1800" spc="-10" dirty="0">
                    <a:latin typeface="Times New Roman"/>
                    <a:cs typeface="Times New Roman"/>
                  </a:rPr>
                  <a:t>make</a:t>
                </a:r>
                <a:r>
                  <a:rPr lang="en-US" sz="1800" dirty="0">
                    <a:latin typeface="Times New Roman"/>
                    <a:cs typeface="Times New Roman"/>
                  </a:rPr>
                  <a:t> </a:t>
                </a:r>
                <a:r>
                  <a:rPr lang="en-US" sz="1800" spc="-10" dirty="0">
                    <a:latin typeface="Times New Roman"/>
                    <a:cs typeface="Times New Roman"/>
                  </a:rPr>
                  <a:t>a</a:t>
                </a:r>
                <a:r>
                  <a:rPr lang="en-US" sz="1800" dirty="0">
                    <a:latin typeface="Times New Roman"/>
                    <a:cs typeface="Times New Roman"/>
                  </a:rPr>
                  <a:t> </a:t>
                </a:r>
                <a:r>
                  <a:rPr lang="en-US" sz="1800" spc="-10" dirty="0">
                    <a:latin typeface="Times New Roman"/>
                    <a:cs typeface="Times New Roman"/>
                  </a:rPr>
                  <a:t>guarantee</a:t>
                </a:r>
                <a:r>
                  <a:rPr lang="en-US" sz="1800" dirty="0">
                    <a:latin typeface="Times New Roman"/>
                    <a:cs typeface="Times New Roman"/>
                  </a:rPr>
                  <a:t>d w</a:t>
                </a:r>
                <a:r>
                  <a:rPr lang="en-US" sz="1800" spc="-5" dirty="0">
                    <a:latin typeface="Times New Roman"/>
                    <a:cs typeface="Times New Roman"/>
                  </a:rPr>
                  <a:t>i</a:t>
                </a:r>
                <a:r>
                  <a:rPr lang="en-US" sz="1800" dirty="0">
                    <a:latin typeface="Times New Roman"/>
                    <a:cs typeface="Times New Roman"/>
                  </a:rPr>
                  <a:t>n of </a:t>
                </a:r>
                <a14:m>
                  <m:oMath xmlns:m="http://schemas.openxmlformats.org/officeDocument/2006/math">
                    <m:r>
                      <a:rPr lang="en-US" sz="1800" i="1" dirty="0" smtClean="0">
                        <a:latin typeface="Cambria Math" panose="02040503050406030204" pitchFamily="18" charset="0"/>
                        <a:cs typeface="Times New Roman"/>
                      </a:rPr>
                      <m:t>$</m:t>
                    </m:r>
                    <m:r>
                      <a:rPr lang="en-US" sz="1800" i="1" dirty="0" smtClean="0">
                        <a:latin typeface="Cambria Math" panose="02040503050406030204" pitchFamily="18" charset="0"/>
                        <a:cs typeface="Times New Roman"/>
                      </a:rPr>
                      <m:t>𝑣</m:t>
                    </m:r>
                    <m:r>
                      <a:rPr lang="en-US" sz="1800" i="1" dirty="0" smtClean="0">
                        <a:latin typeface="Cambria Math" panose="02040503050406030204" pitchFamily="18" charset="0"/>
                        <a:cs typeface="Times New Roman"/>
                      </a:rPr>
                      <m:t> </m:t>
                    </m:r>
                  </m:oMath>
                </a14:m>
                <a:r>
                  <a:rPr lang="en-US" sz="1800" spc="-10" dirty="0">
                    <a:latin typeface="Times New Roman"/>
                    <a:cs typeface="Times New Roman"/>
                  </a:rPr>
                  <a:t>a</a:t>
                </a:r>
                <a:r>
                  <a:rPr lang="en-US" sz="1800" dirty="0">
                    <a:latin typeface="Times New Roman"/>
                    <a:cs typeface="Times New Roman"/>
                  </a:rPr>
                  <a:t>nd </a:t>
                </a:r>
                <a:r>
                  <a:rPr lang="en-US" sz="1800" spc="-15" dirty="0">
                    <a:latin typeface="Times New Roman"/>
                    <a:cs typeface="Times New Roman"/>
                  </a:rPr>
                  <a:t>B</a:t>
                </a:r>
                <a:r>
                  <a:rPr lang="en-US" sz="1800" dirty="0">
                    <a:latin typeface="Times New Roman"/>
                    <a:cs typeface="Times New Roman"/>
                  </a:rPr>
                  <a:t> </a:t>
                </a:r>
                <a:r>
                  <a:rPr lang="en-US" sz="1800" spc="-10" dirty="0">
                    <a:latin typeface="Times New Roman"/>
                    <a:cs typeface="Times New Roman"/>
                  </a:rPr>
                  <a:t>ca</a:t>
                </a:r>
                <a:r>
                  <a:rPr lang="en-US" sz="1800" dirty="0">
                    <a:latin typeface="Times New Roman"/>
                    <a:cs typeface="Times New Roman"/>
                  </a:rPr>
                  <a:t>n </a:t>
                </a:r>
                <a:r>
                  <a:rPr lang="en-US" sz="1800" spc="-10" dirty="0">
                    <a:latin typeface="Times New Roman"/>
                    <a:cs typeface="Times New Roman"/>
                  </a:rPr>
                  <a:t>protect</a:t>
                </a:r>
                <a:r>
                  <a:rPr lang="en-US" sz="1800" dirty="0">
                    <a:latin typeface="Times New Roman"/>
                    <a:cs typeface="Times New Roman"/>
                  </a:rPr>
                  <a:t> </a:t>
                </a:r>
                <a:r>
                  <a:rPr lang="en-US" sz="1800" spc="-10" dirty="0">
                    <a:latin typeface="Times New Roman"/>
                    <a:cs typeface="Times New Roman"/>
                  </a:rPr>
                  <a:t>them</a:t>
                </a:r>
                <a:r>
                  <a:rPr lang="en-US" sz="1800" dirty="0">
                    <a:latin typeface="Times New Roman"/>
                    <a:cs typeface="Times New Roman"/>
                  </a:rPr>
                  <a:t>s</a:t>
                </a:r>
                <a:r>
                  <a:rPr lang="en-US" sz="1800" spc="-10" dirty="0">
                    <a:latin typeface="Times New Roman"/>
                    <a:cs typeface="Times New Roman"/>
                  </a:rPr>
                  <a:t>elve</a:t>
                </a:r>
                <a:r>
                  <a:rPr lang="en-US" sz="1800" dirty="0">
                    <a:latin typeface="Times New Roman"/>
                    <a:cs typeface="Times New Roman"/>
                  </a:rPr>
                  <a:t>s </a:t>
                </a:r>
                <a:r>
                  <a:rPr lang="en-US" sz="1800" spc="-10" dirty="0">
                    <a:latin typeface="Times New Roman"/>
                    <a:cs typeface="Times New Roman"/>
                  </a:rPr>
                  <a:t>from</a:t>
                </a:r>
                <a:r>
                  <a:rPr lang="en-US" sz="1800" dirty="0">
                    <a:latin typeface="Times New Roman"/>
                    <a:cs typeface="Times New Roman"/>
                  </a:rPr>
                  <a:t> </a:t>
                </a:r>
                <a:r>
                  <a:rPr lang="en-US" sz="1800" spc="-5" dirty="0">
                    <a:latin typeface="Times New Roman"/>
                    <a:cs typeface="Times New Roman"/>
                  </a:rPr>
                  <a:t>l</a:t>
                </a:r>
                <a:r>
                  <a:rPr lang="en-US" sz="1800" dirty="0">
                    <a:latin typeface="Times New Roman"/>
                    <a:cs typeface="Times New Roman"/>
                  </a:rPr>
                  <a:t>oss</a:t>
                </a:r>
                <a:r>
                  <a:rPr lang="en-US" sz="1800" spc="-10" dirty="0">
                    <a:latin typeface="Times New Roman"/>
                    <a:cs typeface="Times New Roman"/>
                  </a:rPr>
                  <a:t>e</a:t>
                </a:r>
                <a:r>
                  <a:rPr lang="en-US" sz="1800" dirty="0">
                    <a:latin typeface="Times New Roman"/>
                    <a:cs typeface="Times New Roman"/>
                  </a:rPr>
                  <a:t>s </a:t>
                </a:r>
                <a:r>
                  <a:rPr lang="en-US" sz="1800" spc="-10" dirty="0">
                    <a:latin typeface="Times New Roman"/>
                    <a:cs typeface="Times New Roman"/>
                  </a:rPr>
                  <a:t>greate</a:t>
                </a:r>
                <a:r>
                  <a:rPr lang="en-US" sz="1800" dirty="0">
                    <a:latin typeface="Times New Roman"/>
                    <a:cs typeface="Times New Roman"/>
                  </a:rPr>
                  <a:t>r </a:t>
                </a:r>
                <a:r>
                  <a:rPr lang="en-US" sz="1800" spc="-10" dirty="0">
                    <a:latin typeface="Times New Roman"/>
                    <a:cs typeface="Times New Roman"/>
                  </a:rPr>
                  <a:t>tha</a:t>
                </a:r>
                <a:r>
                  <a:rPr lang="en-US" sz="1800" dirty="0">
                    <a:latin typeface="Times New Roman"/>
                    <a:cs typeface="Times New Roman"/>
                  </a:rPr>
                  <a:t>n $</a:t>
                </a:r>
                <a:r>
                  <a:rPr lang="en-US" sz="1800" spc="-120" dirty="0">
                    <a:latin typeface="Times New Roman"/>
                    <a:cs typeface="Times New Roman"/>
                  </a:rPr>
                  <a:t>v</a:t>
                </a:r>
                <a:r>
                  <a:rPr lang="en-US" sz="1800" dirty="0">
                    <a:latin typeface="Times New Roman"/>
                    <a:cs typeface="Times New Roman"/>
                  </a:rPr>
                  <a:t>. </a:t>
                </a:r>
                <a:r>
                  <a:rPr lang="en-US" sz="1800" spc="-10" dirty="0">
                    <a:latin typeface="Times New Roman"/>
                    <a:cs typeface="Times New Roman"/>
                  </a:rPr>
                  <a:t>It</a:t>
                </a:r>
                <a:r>
                  <a:rPr lang="en-US" sz="1800" dirty="0">
                    <a:latin typeface="Times New Roman"/>
                    <a:cs typeface="Times New Roman"/>
                  </a:rPr>
                  <a:t> </a:t>
                </a:r>
                <a:r>
                  <a:rPr lang="en-US" sz="1800" spc="-10" dirty="0">
                    <a:latin typeface="Times New Roman"/>
                    <a:cs typeface="Times New Roman"/>
                  </a:rPr>
                  <a:t>foll</a:t>
                </a:r>
                <a:r>
                  <a:rPr lang="en-US" sz="1800" dirty="0">
                    <a:latin typeface="Times New Roman"/>
                    <a:cs typeface="Times New Roman"/>
                  </a:rPr>
                  <a:t>ows </a:t>
                </a:r>
                <a:r>
                  <a:rPr lang="en-US" sz="1800" spc="-10" dirty="0">
                    <a:latin typeface="Times New Roman"/>
                    <a:cs typeface="Times New Roman"/>
                  </a:rPr>
                  <a:t>that</a:t>
                </a:r>
                <a:r>
                  <a:rPr lang="en-US" sz="1800" dirty="0">
                    <a:latin typeface="Times New Roman"/>
                    <a:cs typeface="Times New Roman"/>
                  </a:rPr>
                  <a:t> </a:t>
                </a:r>
                <a:r>
                  <a:rPr lang="en-US" sz="1800" spc="-10" dirty="0">
                    <a:latin typeface="Times New Roman"/>
                    <a:cs typeface="Times New Roman"/>
                  </a:rPr>
                  <a:t>the</a:t>
                </a:r>
                <a:r>
                  <a:rPr lang="en-US" sz="1800" dirty="0">
                    <a:latin typeface="Times New Roman"/>
                    <a:cs typeface="Times New Roman"/>
                  </a:rPr>
                  <a:t> </a:t>
                </a:r>
                <a:r>
                  <a:rPr lang="en-US" sz="1800" spc="-10" dirty="0">
                    <a:latin typeface="Times New Roman"/>
                    <a:cs typeface="Times New Roman"/>
                  </a:rPr>
                  <a:t>value</a:t>
                </a:r>
                <a:r>
                  <a:rPr lang="en-US" sz="1800" dirty="0">
                    <a:latin typeface="Times New Roman"/>
                    <a:cs typeface="Times New Roman"/>
                  </a:rPr>
                  <a:t> of </a:t>
                </a:r>
                <a:r>
                  <a:rPr lang="en-US" sz="1800" spc="-10" dirty="0">
                    <a:latin typeface="Times New Roman"/>
                    <a:cs typeface="Times New Roman"/>
                  </a:rPr>
                  <a:t>a</a:t>
                </a:r>
                <a:r>
                  <a:rPr lang="en-US" sz="1800" dirty="0">
                    <a:latin typeface="Times New Roman"/>
                    <a:cs typeface="Times New Roman"/>
                  </a:rPr>
                  <a:t> </a:t>
                </a:r>
                <a:r>
                  <a:rPr lang="en-US" sz="1800" b="1" spc="-10" dirty="0">
                    <a:latin typeface="Times New Roman"/>
                    <a:cs typeface="Times New Roman"/>
                  </a:rPr>
                  <a:t>fai</a:t>
                </a:r>
                <a:r>
                  <a:rPr lang="en-US" sz="1800" b="1" dirty="0">
                    <a:latin typeface="Times New Roman"/>
                    <a:cs typeface="Times New Roman"/>
                  </a:rPr>
                  <a:t>r </a:t>
                </a:r>
                <a:r>
                  <a:rPr lang="en-US" sz="1800" b="1" spc="-10" dirty="0">
                    <a:latin typeface="Times New Roman"/>
                    <a:cs typeface="Times New Roman"/>
                  </a:rPr>
                  <a:t>game</a:t>
                </a:r>
                <a:r>
                  <a:rPr lang="en-US" sz="1800" b="1" dirty="0">
                    <a:latin typeface="Times New Roman"/>
                    <a:cs typeface="Times New Roman"/>
                  </a:rPr>
                  <a:t> </a:t>
                </a:r>
                <a:r>
                  <a:rPr lang="en-US" sz="1800" spc="-15" dirty="0">
                    <a:latin typeface="Times New Roman"/>
                    <a:cs typeface="Times New Roman"/>
                  </a:rPr>
                  <a:t>m</a:t>
                </a:r>
                <a:r>
                  <a:rPr lang="en-US" sz="1800" dirty="0">
                    <a:latin typeface="Times New Roman"/>
                    <a:cs typeface="Times New Roman"/>
                  </a:rPr>
                  <a:t>us</a:t>
                </a:r>
                <a:r>
                  <a:rPr lang="en-US" sz="1800" spc="-5" dirty="0">
                    <a:latin typeface="Times New Roman"/>
                    <a:cs typeface="Times New Roman"/>
                  </a:rPr>
                  <a:t>t</a:t>
                </a:r>
                <a:r>
                  <a:rPr lang="en-US" sz="1800" dirty="0">
                    <a:latin typeface="Times New Roman"/>
                    <a:cs typeface="Times New Roman"/>
                  </a:rPr>
                  <a:t> </a:t>
                </a:r>
                <a:r>
                  <a:rPr lang="en-US" sz="1800" spc="-10" dirty="0">
                    <a:latin typeface="Times New Roman"/>
                    <a:cs typeface="Times New Roman"/>
                  </a:rPr>
                  <a:t>be</a:t>
                </a:r>
                <a:r>
                  <a:rPr lang="en-US" sz="1800" dirty="0">
                    <a:latin typeface="Times New Roman"/>
                    <a:cs typeface="Times New Roman"/>
                  </a:rPr>
                  <a:t> </a:t>
                </a:r>
                <a14:m>
                  <m:oMath xmlns:m="http://schemas.openxmlformats.org/officeDocument/2006/math">
                    <m:r>
                      <a:rPr lang="en-US" sz="1800" i="1" spc="-10" dirty="0" smtClean="0">
                        <a:latin typeface="Cambria Math" panose="02040503050406030204" pitchFamily="18" charset="0"/>
                        <a:cs typeface="Times New Roman"/>
                      </a:rPr>
                      <m:t>𝑣</m:t>
                    </m:r>
                    <m:r>
                      <a:rPr lang="en-US" sz="1800" i="1" spc="-10" dirty="0" smtClean="0">
                        <a:latin typeface="Cambria Math" panose="02040503050406030204" pitchFamily="18" charset="0"/>
                        <a:cs typeface="Times New Roman"/>
                      </a:rPr>
                      <m:t>=0</m:t>
                    </m:r>
                  </m:oMath>
                </a14:m>
                <a:r>
                  <a:rPr lang="en-US" sz="1800" spc="-10" dirty="0">
                    <a:latin typeface="Times New Roman"/>
                    <a:cs typeface="Times New Roman"/>
                  </a:rPr>
                  <a:t>.</a:t>
                </a:r>
                <a:endParaRPr lang="en-US" sz="1800" dirty="0">
                  <a:latin typeface="Times New Roman"/>
                  <a:cs typeface="Times New Roman"/>
                </a:endParaRPr>
              </a:p>
              <a:p>
                <a:pPr>
                  <a:lnSpc>
                    <a:spcPct val="100000"/>
                  </a:lnSpc>
                  <a:spcBef>
                    <a:spcPts val="25"/>
                  </a:spcBef>
                </a:pPr>
                <a:endParaRPr lang="en-US" sz="2100" dirty="0">
                  <a:latin typeface="Times New Roman"/>
                  <a:cs typeface="Times New Roman"/>
                </a:endParaRPr>
              </a:p>
              <a:p>
                <a:pPr marL="163830">
                  <a:lnSpc>
                    <a:spcPct val="100000"/>
                  </a:lnSpc>
                </a:pPr>
                <a:r>
                  <a:rPr lang="en-US" sz="1800" dirty="0">
                    <a:latin typeface="Times New Roman"/>
                    <a:cs typeface="Times New Roman"/>
                  </a:rPr>
                  <a:t>A</a:t>
                </a:r>
                <a:r>
                  <a:rPr lang="en-US" sz="1800" spc="-100" dirty="0">
                    <a:latin typeface="Times New Roman"/>
                    <a:cs typeface="Times New Roman"/>
                  </a:rPr>
                  <a:t> </a:t>
                </a:r>
                <a:r>
                  <a:rPr lang="en-US" sz="1800" dirty="0">
                    <a:latin typeface="Times New Roman"/>
                    <a:cs typeface="Times New Roman"/>
                  </a:rPr>
                  <a:t>s</a:t>
                </a:r>
                <a:r>
                  <a:rPr lang="en-US" sz="1800" spc="-10" dirty="0">
                    <a:latin typeface="Times New Roman"/>
                    <a:cs typeface="Times New Roman"/>
                  </a:rPr>
                  <a:t>ymmetric</a:t>
                </a:r>
                <a:r>
                  <a:rPr lang="en-US" sz="1800" dirty="0">
                    <a:latin typeface="Times New Roman"/>
                    <a:cs typeface="Times New Roman"/>
                  </a:rPr>
                  <a:t> </a:t>
                </a:r>
                <a:r>
                  <a:rPr lang="en-US" sz="1800" spc="-10" dirty="0">
                    <a:latin typeface="Times New Roman"/>
                    <a:cs typeface="Times New Roman"/>
                  </a:rPr>
                  <a:t>game</a:t>
                </a:r>
                <a:r>
                  <a:rPr lang="en-US" sz="1800" dirty="0">
                    <a:latin typeface="Times New Roman"/>
                    <a:cs typeface="Times New Roman"/>
                  </a:rPr>
                  <a:t> </a:t>
                </a:r>
                <a14:m>
                  <m:oMath xmlns:m="http://schemas.openxmlformats.org/officeDocument/2006/math">
                    <m:r>
                      <a:rPr lang="en-US" sz="1800" i="1" dirty="0" smtClean="0">
                        <a:latin typeface="Cambria Math" panose="02040503050406030204" pitchFamily="18" charset="0"/>
                        <a:cs typeface="Times New Roman"/>
                      </a:rPr>
                      <m:t>(−</m:t>
                    </m:r>
                    <m:sSub>
                      <m:sSubPr>
                        <m:ctrlPr>
                          <a:rPr lang="en-US" sz="1800" b="0" i="1" spc="-10" dirty="0" smtClean="0">
                            <a:latin typeface="Cambria Math" panose="02040503050406030204" pitchFamily="18" charset="0"/>
                            <a:cs typeface="Times New Roman"/>
                          </a:rPr>
                        </m:ctrlPr>
                      </m:sSubPr>
                      <m:e>
                        <m:r>
                          <a:rPr lang="en-US" sz="1800" i="1" spc="-10" dirty="0">
                            <a:latin typeface="Cambria Math" panose="02040503050406030204" pitchFamily="18" charset="0"/>
                            <a:cs typeface="Times New Roman"/>
                          </a:rPr>
                          <m:t>𝑎</m:t>
                        </m:r>
                      </m:e>
                      <m:sub>
                        <m:r>
                          <a:rPr lang="en-US" sz="1800" i="1" spc="-10" dirty="0">
                            <a:latin typeface="Cambria Math" panose="02040503050406030204" pitchFamily="18" charset="0"/>
                            <a:cs typeface="Times New Roman"/>
                          </a:rPr>
                          <m:t>𝑗𝑖</m:t>
                        </m:r>
                      </m:sub>
                    </m:sSub>
                    <m:r>
                      <a:rPr lang="en-US" sz="1800" i="1" dirty="0">
                        <a:latin typeface="Cambria Math" panose="02040503050406030204" pitchFamily="18" charset="0"/>
                        <a:cs typeface="Times New Roman"/>
                      </a:rPr>
                      <m:t> </m:t>
                    </m:r>
                    <m:r>
                      <a:rPr lang="en-US" sz="1800" i="1" spc="-15" dirty="0">
                        <a:latin typeface="Cambria Math" panose="02040503050406030204" pitchFamily="18" charset="0"/>
                        <a:cs typeface="Times New Roman"/>
                      </a:rPr>
                      <m:t>=</m:t>
                    </m:r>
                    <m:r>
                      <a:rPr lang="en-US" sz="1800" i="1" dirty="0">
                        <a:latin typeface="Cambria Math" panose="02040503050406030204" pitchFamily="18" charset="0"/>
                        <a:cs typeface="Times New Roman"/>
                      </a:rPr>
                      <m:t> </m:t>
                    </m:r>
                    <m:sSub>
                      <m:sSubPr>
                        <m:ctrlPr>
                          <a:rPr lang="en-US" sz="1800" b="0" i="1" spc="-10" dirty="0" smtClean="0">
                            <a:latin typeface="Cambria Math" panose="02040503050406030204" pitchFamily="18" charset="0"/>
                            <a:cs typeface="Times New Roman"/>
                          </a:rPr>
                        </m:ctrlPr>
                      </m:sSubPr>
                      <m:e>
                        <m:r>
                          <a:rPr lang="en-US" sz="1800" i="1" spc="-10" dirty="0">
                            <a:latin typeface="Cambria Math" panose="02040503050406030204" pitchFamily="18" charset="0"/>
                            <a:cs typeface="Times New Roman"/>
                          </a:rPr>
                          <m:t>𝑎</m:t>
                        </m:r>
                      </m:e>
                      <m:sub>
                        <m:r>
                          <a:rPr lang="en-US" sz="1800" i="1" spc="-10" dirty="0">
                            <a:latin typeface="Cambria Math" panose="02040503050406030204" pitchFamily="18" charset="0"/>
                            <a:cs typeface="Times New Roman"/>
                          </a:rPr>
                          <m:t>𝑖𝑗</m:t>
                        </m:r>
                      </m:sub>
                    </m:sSub>
                    <m:r>
                      <a:rPr lang="en-US" sz="1800" i="1" dirty="0">
                        <a:latin typeface="Cambria Math" panose="02040503050406030204" pitchFamily="18" charset="0"/>
                        <a:cs typeface="Times New Roman"/>
                      </a:rPr>
                      <m:t>) </m:t>
                    </m:r>
                  </m:oMath>
                </a14:m>
                <a:r>
                  <a:rPr lang="en-US" sz="1800" spc="-5" dirty="0">
                    <a:latin typeface="Times New Roman"/>
                    <a:cs typeface="Times New Roman"/>
                  </a:rPr>
                  <a:t>i</a:t>
                </a:r>
                <a:r>
                  <a:rPr lang="en-US" sz="1800" dirty="0">
                    <a:latin typeface="Times New Roman"/>
                    <a:cs typeface="Times New Roman"/>
                  </a:rPr>
                  <a:t>s </a:t>
                </a:r>
                <a:r>
                  <a:rPr lang="en-US" sz="1800" spc="-10" dirty="0">
                    <a:latin typeface="Times New Roman"/>
                    <a:cs typeface="Times New Roman"/>
                  </a:rPr>
                  <a:t>al</a:t>
                </a:r>
                <a:r>
                  <a:rPr lang="en-US" sz="1800" dirty="0">
                    <a:latin typeface="Times New Roman"/>
                    <a:cs typeface="Times New Roman"/>
                  </a:rPr>
                  <a:t>w</a:t>
                </a:r>
                <a:r>
                  <a:rPr lang="en-US" sz="1800" spc="-10" dirty="0">
                    <a:latin typeface="Times New Roman"/>
                    <a:cs typeface="Times New Roman"/>
                  </a:rPr>
                  <a:t>a</a:t>
                </a:r>
                <a:r>
                  <a:rPr lang="en-US" sz="1800" dirty="0">
                    <a:latin typeface="Times New Roman"/>
                    <a:cs typeface="Times New Roman"/>
                  </a:rPr>
                  <a:t>ys </a:t>
                </a:r>
                <a:r>
                  <a:rPr lang="en-US" sz="1800" spc="-10" dirty="0">
                    <a:latin typeface="Times New Roman"/>
                    <a:cs typeface="Times New Roman"/>
                  </a:rPr>
                  <a:t>fai</a:t>
                </a:r>
                <a:r>
                  <a:rPr lang="en-US" sz="1800" spc="-100" dirty="0">
                    <a:latin typeface="Times New Roman"/>
                    <a:cs typeface="Times New Roman"/>
                  </a:rPr>
                  <a:t>r</a:t>
                </a:r>
                <a:r>
                  <a:rPr lang="en-US" sz="1800" dirty="0">
                    <a:latin typeface="Times New Roman"/>
                    <a:cs typeface="Times New Roman"/>
                  </a:rPr>
                  <a:t>.</a:t>
                </a:r>
                <a:endParaRPr sz="1800" dirty="0">
                  <a:latin typeface="Times New Roman"/>
                  <a:cs typeface="Times New Roman"/>
                </a:endParaRPr>
              </a:p>
            </p:txBody>
          </p:sp>
        </mc:Choice>
        <mc:Fallback xmlns="">
          <p:sp>
            <p:nvSpPr>
              <p:cNvPr id="8" name="object 8"/>
              <p:cNvSpPr txBox="1">
                <a:spLocks noRot="1" noChangeAspect="1" noMove="1" noResize="1" noEditPoints="1" noAdjustHandles="1" noChangeArrowheads="1" noChangeShapeType="1" noTextEdit="1"/>
              </p:cNvSpPr>
              <p:nvPr/>
            </p:nvSpPr>
            <p:spPr>
              <a:xfrm>
                <a:off x="135489" y="1143000"/>
                <a:ext cx="8725535" cy="5152693"/>
              </a:xfrm>
              <a:prstGeom prst="rect">
                <a:avLst/>
              </a:prstGeom>
              <a:blipFill>
                <a:blip r:embed="rId3"/>
                <a:stretch>
                  <a:fillRect l="-1117" t="-1302" r="-1187" b="-1538"/>
                </a:stretch>
              </a:blipFill>
            </p:spPr>
            <p:txBody>
              <a:bodyPr/>
              <a:lstStyle/>
              <a:p>
                <a:r>
                  <a:rPr lang="en-MY">
                    <a:noFill/>
                  </a:rPr>
                  <a:t> </a:t>
                </a:r>
              </a:p>
            </p:txBody>
          </p:sp>
        </mc:Fallback>
      </mc:AlternateContent>
      <p:sp>
        <p:nvSpPr>
          <p:cNvPr id="9" name="object 2">
            <a:extLst>
              <a:ext uri="{FF2B5EF4-FFF2-40B4-BE49-F238E27FC236}">
                <a16:creationId xmlns:a16="http://schemas.microsoft.com/office/drawing/2014/main" id="{43CF6A11-62F6-439B-537B-A61F06105EF9}"/>
              </a:ext>
            </a:extLst>
          </p:cNvPr>
          <p:cNvSpPr/>
          <p:nvPr/>
        </p:nvSpPr>
        <p:spPr>
          <a:xfrm>
            <a:off x="45196" y="836179"/>
            <a:ext cx="9039216"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10" name="Slide Number Placeholder 8">
            <a:extLst>
              <a:ext uri="{FF2B5EF4-FFF2-40B4-BE49-F238E27FC236}">
                <a16:creationId xmlns:a16="http://schemas.microsoft.com/office/drawing/2014/main" id="{FD842BCD-11B6-81F0-E82C-1CA58D663EB5}"/>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37</a:t>
            </a:fld>
            <a:r>
              <a:rPr lang="en-US" sz="2000" dirty="0">
                <a:solidFill>
                  <a:prstClr val="black"/>
                </a:solidFill>
                <a:latin typeface="Comic Sans MS"/>
                <a:sym typeface="Comic Sans MS"/>
              </a:rPr>
              <a:t>/46</a:t>
            </a:r>
          </a:p>
        </p:txBody>
      </p:sp>
      <p:sp>
        <p:nvSpPr>
          <p:cNvPr id="11" name="Footer Placeholder 9">
            <a:extLst>
              <a:ext uri="{FF2B5EF4-FFF2-40B4-BE49-F238E27FC236}">
                <a16:creationId xmlns:a16="http://schemas.microsoft.com/office/drawing/2014/main" id="{D3F55EED-8747-EC2A-7E8B-68C0DBB19D10}"/>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2" name="Rectangle 11">
            <a:extLst>
              <a:ext uri="{FF2B5EF4-FFF2-40B4-BE49-F238E27FC236}">
                <a16:creationId xmlns:a16="http://schemas.microsoft.com/office/drawing/2014/main" id="{AFE2E23C-E110-90A2-FF99-D321D4871F6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3" name="Rectangle 12">
            <a:extLst>
              <a:ext uri="{FF2B5EF4-FFF2-40B4-BE49-F238E27FC236}">
                <a16:creationId xmlns:a16="http://schemas.microsoft.com/office/drawing/2014/main" id="{2331A8F6-4734-468C-FC9C-0C50B40E9F83}"/>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CC77D101-D998-A574-166A-3702E6AA6F9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574571"/>
            <a:ext cx="8221344" cy="492443"/>
          </a:xfrm>
          <a:prstGeom prst="rect">
            <a:avLst/>
          </a:prstGeom>
        </p:spPr>
        <p:txBody>
          <a:bodyPr vert="horz" wrap="square" lIns="0" tIns="0" rIns="0" bIns="0" rtlCol="0">
            <a:spAutoFit/>
          </a:bodyPr>
          <a:lstStyle/>
          <a:p>
            <a:pPr marL="12700">
              <a:lnSpc>
                <a:spcPct val="100000"/>
              </a:lnSpc>
            </a:pPr>
            <a:r>
              <a:rPr lang="en-US" sz="3200" spc="15" dirty="0">
                <a:latin typeface="Arial"/>
                <a:cs typeface="Arial"/>
              </a:rPr>
              <a:t>Unexpec</a:t>
            </a:r>
            <a:r>
              <a:rPr lang="en-US" sz="3200" dirty="0">
                <a:latin typeface="Arial"/>
                <a:cs typeface="Arial"/>
              </a:rPr>
              <a:t>t</a:t>
            </a:r>
            <a:r>
              <a:rPr lang="en-US" sz="3200" spc="15" dirty="0">
                <a:latin typeface="Arial"/>
                <a:cs typeface="Arial"/>
              </a:rPr>
              <a:t>ed</a:t>
            </a:r>
            <a:r>
              <a:rPr lang="en-US" sz="3200" spc="5" dirty="0">
                <a:latin typeface="Arial"/>
                <a:cs typeface="Arial"/>
              </a:rPr>
              <a:t> </a:t>
            </a:r>
            <a:r>
              <a:rPr lang="en-US" sz="3200" spc="15" dirty="0">
                <a:latin typeface="Arial"/>
                <a:cs typeface="Arial"/>
              </a:rPr>
              <a:t>Conclusion</a:t>
            </a:r>
            <a:endParaRPr lang="en-US" sz="3200" dirty="0">
              <a:latin typeface="Arial"/>
              <a:cs typeface="Arial"/>
            </a:endParaRPr>
          </a:p>
        </p:txBody>
      </p:sp>
      <p:sp>
        <p:nvSpPr>
          <p:cNvPr id="3" name="object 6">
            <a:extLst>
              <a:ext uri="{FF2B5EF4-FFF2-40B4-BE49-F238E27FC236}">
                <a16:creationId xmlns:a16="http://schemas.microsoft.com/office/drawing/2014/main" id="{57B539BF-1F68-ECD6-913E-2DB3691958FB}"/>
              </a:ext>
            </a:extLst>
          </p:cNvPr>
          <p:cNvSpPr txBox="1"/>
          <p:nvPr/>
        </p:nvSpPr>
        <p:spPr>
          <a:xfrm>
            <a:off x="342900" y="2092661"/>
            <a:ext cx="7886700" cy="1904496"/>
          </a:xfrm>
          <a:prstGeom prst="rect">
            <a:avLst/>
          </a:prstGeom>
          <a:solidFill>
            <a:srgbClr val="FF6600"/>
          </a:solidFill>
          <a:ln w="9525">
            <a:solidFill>
              <a:srgbClr val="000000"/>
            </a:solidFill>
          </a:ln>
        </p:spPr>
        <p:txBody>
          <a:bodyPr vert="horz" wrap="square" lIns="0" tIns="0" rIns="0" bIns="0" rtlCol="0">
            <a:spAutoFit/>
          </a:bodyPr>
          <a:lstStyle/>
          <a:p>
            <a:pPr marL="45720">
              <a:lnSpc>
                <a:spcPct val="100000"/>
              </a:lnSpc>
            </a:pPr>
            <a:r>
              <a:rPr sz="1800" spc="85" dirty="0">
                <a:latin typeface="Tahoma"/>
                <a:cs typeface="Tahoma"/>
              </a:rPr>
              <a:t>C</a:t>
            </a:r>
            <a:r>
              <a:rPr sz="1800" spc="70" dirty="0">
                <a:latin typeface="Tahoma"/>
                <a:cs typeface="Tahoma"/>
              </a:rPr>
              <a:t>or</a:t>
            </a:r>
            <a:r>
              <a:rPr sz="1800" spc="55" dirty="0">
                <a:latin typeface="Tahoma"/>
                <a:cs typeface="Tahoma"/>
              </a:rPr>
              <a:t>ol</a:t>
            </a:r>
            <a:r>
              <a:rPr sz="1800" spc="5" dirty="0">
                <a:latin typeface="Tahoma"/>
                <a:cs typeface="Tahoma"/>
              </a:rPr>
              <a:t>l</a:t>
            </a:r>
            <a:r>
              <a:rPr sz="1800" spc="45" dirty="0">
                <a:latin typeface="Tahoma"/>
                <a:cs typeface="Tahoma"/>
              </a:rPr>
              <a:t>ar</a:t>
            </a:r>
            <a:r>
              <a:rPr sz="1800" spc="125" dirty="0">
                <a:latin typeface="Tahoma"/>
                <a:cs typeface="Tahoma"/>
              </a:rPr>
              <a:t>y</a:t>
            </a:r>
            <a:r>
              <a:rPr sz="1800" spc="35" dirty="0">
                <a:latin typeface="Tahoma"/>
                <a:cs typeface="Tahoma"/>
              </a:rPr>
              <a:t> </a:t>
            </a:r>
            <a:r>
              <a:rPr sz="1800" spc="110" dirty="0">
                <a:latin typeface="Tahoma"/>
                <a:cs typeface="Tahoma"/>
              </a:rPr>
              <a:t>(</a:t>
            </a:r>
            <a:r>
              <a:rPr sz="1800" spc="10" dirty="0">
                <a:latin typeface="Tahoma"/>
                <a:cs typeface="Tahoma"/>
              </a:rPr>
              <a:t>G</a:t>
            </a:r>
            <a:r>
              <a:rPr sz="1800" spc="5" dirty="0">
                <a:latin typeface="Tahoma"/>
                <a:cs typeface="Tahoma"/>
              </a:rPr>
              <a:t>l</a:t>
            </a:r>
            <a:r>
              <a:rPr sz="1800" spc="75" dirty="0">
                <a:latin typeface="Tahoma"/>
                <a:cs typeface="Tahoma"/>
              </a:rPr>
              <a:t>oa</a:t>
            </a:r>
            <a:r>
              <a:rPr sz="1800" spc="190" dirty="0">
                <a:latin typeface="Tahoma"/>
                <a:cs typeface="Tahoma"/>
              </a:rPr>
              <a:t>t</a:t>
            </a:r>
            <a:r>
              <a:rPr sz="1800" spc="5" dirty="0">
                <a:latin typeface="Tahoma"/>
                <a:cs typeface="Tahoma"/>
              </a:rPr>
              <a:t>i</a:t>
            </a:r>
            <a:r>
              <a:rPr sz="1800" spc="40" dirty="0">
                <a:latin typeface="Tahoma"/>
                <a:cs typeface="Tahoma"/>
              </a:rPr>
              <a:t>n</a:t>
            </a:r>
            <a:r>
              <a:rPr sz="1800" spc="95" dirty="0">
                <a:latin typeface="Tahoma"/>
                <a:cs typeface="Tahoma"/>
              </a:rPr>
              <a:t>g</a:t>
            </a:r>
            <a:r>
              <a:rPr sz="1800" spc="110" dirty="0">
                <a:latin typeface="Tahoma"/>
                <a:cs typeface="Tahoma"/>
              </a:rPr>
              <a:t>)</a:t>
            </a:r>
            <a:r>
              <a:rPr sz="1800" spc="-100" dirty="0">
                <a:latin typeface="Tahoma"/>
                <a:cs typeface="Tahoma"/>
              </a:rPr>
              <a:t>:</a:t>
            </a:r>
            <a:endParaRPr sz="1800" dirty="0">
              <a:latin typeface="Tahoma"/>
              <a:cs typeface="Tahoma"/>
            </a:endParaRPr>
          </a:p>
          <a:p>
            <a:pPr>
              <a:lnSpc>
                <a:spcPct val="100000"/>
              </a:lnSpc>
              <a:spcBef>
                <a:spcPts val="28"/>
              </a:spcBef>
            </a:pPr>
            <a:endParaRPr sz="2150" dirty="0">
              <a:latin typeface="Times New Roman"/>
              <a:cs typeface="Times New Roman"/>
            </a:endParaRPr>
          </a:p>
          <a:p>
            <a:pPr marL="45720" marR="1068705">
              <a:lnSpc>
                <a:spcPct val="115700"/>
              </a:lnSpc>
            </a:pPr>
            <a:r>
              <a:rPr lang="en-US" sz="1800" spc="35" dirty="0">
                <a:latin typeface="Tahoma"/>
                <a:cs typeface="Tahoma"/>
              </a:rPr>
              <a:t>In </a:t>
            </a:r>
            <a:r>
              <a:rPr sz="1800" spc="45" dirty="0">
                <a:latin typeface="Tahoma"/>
                <a:cs typeface="Tahoma"/>
              </a:rPr>
              <a:t>a</a:t>
            </a:r>
            <a:r>
              <a:rPr sz="1800" spc="35" dirty="0">
                <a:latin typeface="Tahoma"/>
                <a:cs typeface="Tahoma"/>
              </a:rPr>
              <a:t> </a:t>
            </a:r>
            <a:r>
              <a:rPr sz="1800" spc="95" dirty="0">
                <a:latin typeface="Tahoma"/>
                <a:cs typeface="Tahoma"/>
              </a:rPr>
              <a:t>g</a:t>
            </a:r>
            <a:r>
              <a:rPr sz="1800" spc="45" dirty="0">
                <a:latin typeface="Tahoma"/>
                <a:cs typeface="Tahoma"/>
              </a:rPr>
              <a:t>a</a:t>
            </a:r>
            <a:r>
              <a:rPr sz="1800" spc="85" dirty="0">
                <a:latin typeface="Tahoma"/>
                <a:cs typeface="Tahoma"/>
              </a:rPr>
              <a:t>me</a:t>
            </a:r>
            <a:r>
              <a:rPr sz="1800" spc="35" dirty="0">
                <a:latin typeface="Tahoma"/>
                <a:cs typeface="Tahoma"/>
              </a:rPr>
              <a:t> </a:t>
            </a:r>
            <a:r>
              <a:rPr sz="1800" spc="114" dirty="0">
                <a:latin typeface="Tahoma"/>
                <a:cs typeface="Tahoma"/>
              </a:rPr>
              <a:t>of</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45" dirty="0">
                <a:latin typeface="Tahoma"/>
                <a:cs typeface="Tahoma"/>
              </a:rPr>
              <a:t>a</a:t>
            </a:r>
            <a:r>
              <a:rPr sz="1800" spc="95" dirty="0">
                <a:latin typeface="Tahoma"/>
                <a:cs typeface="Tahoma"/>
              </a:rPr>
              <a:t>b</a:t>
            </a:r>
            <a:r>
              <a:rPr sz="1800" spc="110" dirty="0">
                <a:latin typeface="Tahoma"/>
                <a:cs typeface="Tahoma"/>
              </a:rPr>
              <a:t>ov</a:t>
            </a:r>
            <a:r>
              <a:rPr sz="1800" spc="85" dirty="0">
                <a:latin typeface="Tahoma"/>
                <a:cs typeface="Tahoma"/>
              </a:rPr>
              <a:t>e</a:t>
            </a:r>
            <a:r>
              <a:rPr sz="1800" spc="35" dirty="0">
                <a:latin typeface="Tahoma"/>
                <a:cs typeface="Tahoma"/>
              </a:rPr>
              <a:t> </a:t>
            </a:r>
            <a:r>
              <a:rPr sz="1800" spc="190" dirty="0">
                <a:latin typeface="Tahoma"/>
                <a:cs typeface="Tahoma"/>
              </a:rPr>
              <a:t>t</a:t>
            </a:r>
            <a:r>
              <a:rPr sz="1800" spc="125" dirty="0">
                <a:latin typeface="Tahoma"/>
                <a:cs typeface="Tahoma"/>
              </a:rPr>
              <a:t>y</a:t>
            </a:r>
            <a:r>
              <a:rPr sz="1800" spc="75" dirty="0">
                <a:latin typeface="Tahoma"/>
                <a:cs typeface="Tahoma"/>
              </a:rPr>
              <a:t>p</a:t>
            </a:r>
            <a:r>
              <a:rPr sz="1800" spc="85" dirty="0">
                <a:latin typeface="Tahoma"/>
                <a:cs typeface="Tahoma"/>
              </a:rPr>
              <a:t>e</a:t>
            </a:r>
            <a:r>
              <a:rPr sz="1800" spc="35" dirty="0">
                <a:latin typeface="Tahoma"/>
                <a:cs typeface="Tahoma"/>
              </a:rPr>
              <a:t> </a:t>
            </a:r>
            <a:r>
              <a:rPr sz="1800" spc="125" dirty="0">
                <a:latin typeface="Tahoma"/>
                <a:cs typeface="Tahoma"/>
              </a:rPr>
              <a:t>y</a:t>
            </a:r>
            <a:r>
              <a:rPr sz="1800" spc="75" dirty="0">
                <a:latin typeface="Tahoma"/>
                <a:cs typeface="Tahoma"/>
              </a:rPr>
              <a:t>ou</a:t>
            </a:r>
            <a:r>
              <a:rPr sz="1800" spc="45" dirty="0">
                <a:latin typeface="Tahoma"/>
                <a:cs typeface="Tahoma"/>
              </a:rPr>
              <a:t>r</a:t>
            </a:r>
            <a:r>
              <a:rPr sz="1800" spc="35" dirty="0">
                <a:latin typeface="Tahoma"/>
                <a:cs typeface="Tahoma"/>
              </a:rPr>
              <a:t> </a:t>
            </a:r>
            <a:r>
              <a:rPr sz="1800" spc="95" dirty="0">
                <a:latin typeface="Tahoma"/>
                <a:cs typeface="Tahoma"/>
              </a:rPr>
              <a:t>op</a:t>
            </a:r>
            <a:r>
              <a:rPr sz="1800" spc="75" dirty="0">
                <a:latin typeface="Tahoma"/>
                <a:cs typeface="Tahoma"/>
              </a:rPr>
              <a:t>pon</a:t>
            </a:r>
            <a:r>
              <a:rPr sz="1800" spc="85" dirty="0">
                <a:latin typeface="Tahoma"/>
                <a:cs typeface="Tahoma"/>
              </a:rPr>
              <a:t>e</a:t>
            </a:r>
            <a:r>
              <a:rPr sz="1800" spc="40" dirty="0">
                <a:latin typeface="Tahoma"/>
                <a:cs typeface="Tahoma"/>
              </a:rPr>
              <a:t>n</a:t>
            </a:r>
            <a:r>
              <a:rPr sz="1800" spc="190" dirty="0">
                <a:latin typeface="Tahoma"/>
                <a:cs typeface="Tahoma"/>
              </a:rPr>
              <a:t>t</a:t>
            </a:r>
            <a:r>
              <a:rPr sz="1800" spc="35" dirty="0">
                <a:latin typeface="Tahoma"/>
                <a:cs typeface="Tahoma"/>
              </a:rPr>
              <a:t> </a:t>
            </a:r>
            <a:r>
              <a:rPr sz="1800" spc="145" dirty="0">
                <a:latin typeface="Tahoma"/>
                <a:cs typeface="Tahoma"/>
              </a:rPr>
              <a:t>c</a:t>
            </a:r>
            <a:r>
              <a:rPr sz="1800" spc="45" dirty="0">
                <a:latin typeface="Tahoma"/>
                <a:cs typeface="Tahoma"/>
              </a:rPr>
              <a:t>a</a:t>
            </a:r>
            <a:r>
              <a:rPr sz="1800" spc="40" dirty="0">
                <a:latin typeface="Tahoma"/>
                <a:cs typeface="Tahoma"/>
              </a:rPr>
              <a:t>n</a:t>
            </a:r>
            <a:r>
              <a:rPr sz="1800" spc="35" dirty="0">
                <a:latin typeface="Tahoma"/>
                <a:cs typeface="Tahoma"/>
              </a:rPr>
              <a:t> </a:t>
            </a:r>
            <a:r>
              <a:rPr sz="1800" spc="95" dirty="0">
                <a:latin typeface="Tahoma"/>
                <a:cs typeface="Tahoma"/>
              </a:rPr>
              <a:t>g</a:t>
            </a:r>
            <a:r>
              <a:rPr sz="1800" spc="45" dirty="0">
                <a:latin typeface="Tahoma"/>
                <a:cs typeface="Tahoma"/>
              </a:rPr>
              <a:t>a</a:t>
            </a:r>
            <a:r>
              <a:rPr sz="1800" spc="5" dirty="0">
                <a:latin typeface="Tahoma"/>
                <a:cs typeface="Tahoma"/>
              </a:rPr>
              <a:t>i</a:t>
            </a:r>
            <a:r>
              <a:rPr sz="1800" spc="40" dirty="0">
                <a:latin typeface="Tahoma"/>
                <a:cs typeface="Tahoma"/>
              </a:rPr>
              <a:t>n</a:t>
            </a:r>
            <a:r>
              <a:rPr sz="1800" spc="35" dirty="0">
                <a:latin typeface="Tahoma"/>
                <a:cs typeface="Tahoma"/>
              </a:rPr>
              <a:t> </a:t>
            </a:r>
            <a:r>
              <a:rPr sz="1800" spc="40" dirty="0">
                <a:latin typeface="Tahoma"/>
                <a:cs typeface="Tahoma"/>
              </a:rPr>
              <a:t>n</a:t>
            </a:r>
            <a:r>
              <a:rPr sz="1800" spc="150" dirty="0">
                <a:latin typeface="Tahoma"/>
                <a:cs typeface="Tahoma"/>
              </a:rPr>
              <a:t>ot</a:t>
            </a:r>
            <a:r>
              <a:rPr sz="1800" spc="40" dirty="0">
                <a:latin typeface="Tahoma"/>
                <a:cs typeface="Tahoma"/>
              </a:rPr>
              <a:t>h</a:t>
            </a:r>
            <a:r>
              <a:rPr sz="1800" spc="5" dirty="0">
                <a:latin typeface="Tahoma"/>
                <a:cs typeface="Tahoma"/>
              </a:rPr>
              <a:t>i</a:t>
            </a:r>
            <a:r>
              <a:rPr sz="1800" spc="40" dirty="0">
                <a:latin typeface="Tahoma"/>
                <a:cs typeface="Tahoma"/>
              </a:rPr>
              <a:t>n</a:t>
            </a:r>
            <a:r>
              <a:rPr sz="1800" spc="95" dirty="0">
                <a:latin typeface="Tahoma"/>
                <a:cs typeface="Tahoma"/>
              </a:rPr>
              <a:t>g</a:t>
            </a:r>
            <a:r>
              <a:rPr sz="1800" spc="35" dirty="0">
                <a:latin typeface="Tahoma"/>
                <a:cs typeface="Tahoma"/>
              </a:rPr>
              <a:t> </a:t>
            </a:r>
            <a:r>
              <a:rPr sz="1800" spc="125" dirty="0">
                <a:latin typeface="Tahoma"/>
                <a:cs typeface="Tahoma"/>
              </a:rPr>
              <a:t>f</a:t>
            </a:r>
            <a:r>
              <a:rPr sz="1800" spc="45" dirty="0">
                <a:latin typeface="Tahoma"/>
                <a:cs typeface="Tahoma"/>
              </a:rPr>
              <a:t>r</a:t>
            </a:r>
            <a:r>
              <a:rPr sz="1800" spc="95" dirty="0">
                <a:latin typeface="Tahoma"/>
                <a:cs typeface="Tahoma"/>
              </a:rPr>
              <a:t>om</a:t>
            </a:r>
            <a:r>
              <a:rPr sz="1800" spc="45" dirty="0">
                <a:latin typeface="Tahoma"/>
                <a:cs typeface="Tahoma"/>
              </a:rPr>
              <a:t> </a:t>
            </a:r>
            <a:r>
              <a:rPr sz="1800" spc="125" dirty="0">
                <a:latin typeface="Tahoma"/>
                <a:cs typeface="Tahoma"/>
              </a:rPr>
              <a:t>y</a:t>
            </a:r>
            <a:r>
              <a:rPr sz="1800" spc="75" dirty="0">
                <a:latin typeface="Tahoma"/>
                <a:cs typeface="Tahoma"/>
              </a:rPr>
              <a:t>ou</a:t>
            </a:r>
            <a:r>
              <a:rPr sz="1800" spc="35" dirty="0">
                <a:latin typeface="Tahoma"/>
                <a:cs typeface="Tahoma"/>
              </a:rPr>
              <a:t> </a:t>
            </a:r>
            <a:r>
              <a:rPr sz="1800" spc="45" dirty="0">
                <a:latin typeface="Tahoma"/>
                <a:cs typeface="Tahoma"/>
              </a:rPr>
              <a:t>a</a:t>
            </a:r>
            <a:r>
              <a:rPr sz="1800" spc="40" dirty="0">
                <a:latin typeface="Tahoma"/>
                <a:cs typeface="Tahoma"/>
              </a:rPr>
              <a:t>nn</a:t>
            </a:r>
            <a:r>
              <a:rPr sz="1800" spc="75" dirty="0">
                <a:latin typeface="Tahoma"/>
                <a:cs typeface="Tahoma"/>
              </a:rPr>
              <a:t>ou</a:t>
            </a:r>
            <a:r>
              <a:rPr sz="1800" spc="40" dirty="0">
                <a:latin typeface="Tahoma"/>
                <a:cs typeface="Tahoma"/>
              </a:rPr>
              <a:t>n</a:t>
            </a:r>
            <a:r>
              <a:rPr sz="1800" spc="145" dirty="0">
                <a:latin typeface="Tahoma"/>
                <a:cs typeface="Tahoma"/>
              </a:rPr>
              <a:t>c</a:t>
            </a:r>
            <a:r>
              <a:rPr sz="1800" spc="5" dirty="0">
                <a:latin typeface="Tahoma"/>
                <a:cs typeface="Tahoma"/>
              </a:rPr>
              <a:t>i</a:t>
            </a:r>
            <a:r>
              <a:rPr sz="1800" spc="40" dirty="0">
                <a:latin typeface="Tahoma"/>
                <a:cs typeface="Tahoma"/>
              </a:rPr>
              <a:t>n</a:t>
            </a:r>
            <a:r>
              <a:rPr sz="1800" spc="95" dirty="0">
                <a:latin typeface="Tahoma"/>
                <a:cs typeface="Tahoma"/>
              </a:rPr>
              <a:t>g</a:t>
            </a:r>
            <a:r>
              <a:rPr sz="1800" spc="35" dirty="0">
                <a:latin typeface="Tahoma"/>
                <a:cs typeface="Tahoma"/>
              </a:rPr>
              <a:t> </a:t>
            </a:r>
            <a:r>
              <a:rPr sz="1800" spc="125" dirty="0">
                <a:latin typeface="Tahoma"/>
                <a:cs typeface="Tahoma"/>
              </a:rPr>
              <a:t>y</a:t>
            </a:r>
            <a:r>
              <a:rPr sz="1800" spc="75" dirty="0">
                <a:latin typeface="Tahoma"/>
                <a:cs typeface="Tahoma"/>
              </a:rPr>
              <a:t>ou</a:t>
            </a:r>
            <a:r>
              <a:rPr sz="1800" spc="45" dirty="0">
                <a:latin typeface="Tahoma"/>
                <a:cs typeface="Tahoma"/>
              </a:rPr>
              <a:t>r</a:t>
            </a:r>
            <a:r>
              <a:rPr sz="1800" spc="35" dirty="0">
                <a:latin typeface="Tahoma"/>
                <a:cs typeface="Tahoma"/>
              </a:rPr>
              <a:t> </a:t>
            </a:r>
            <a:r>
              <a:rPr sz="1800" spc="110" dirty="0">
                <a:latin typeface="Tahoma"/>
                <a:cs typeface="Tahoma"/>
              </a:rPr>
              <a:t>s</a:t>
            </a:r>
            <a:r>
              <a:rPr sz="1800" spc="190" dirty="0">
                <a:latin typeface="Tahoma"/>
                <a:cs typeface="Tahoma"/>
              </a:rPr>
              <a:t>t</a:t>
            </a:r>
            <a:r>
              <a:rPr sz="1800" spc="45" dirty="0">
                <a:latin typeface="Tahoma"/>
                <a:cs typeface="Tahoma"/>
              </a:rPr>
              <a:t>ra</a:t>
            </a:r>
            <a:r>
              <a:rPr sz="1800" spc="190" dirty="0">
                <a:latin typeface="Tahoma"/>
                <a:cs typeface="Tahoma"/>
              </a:rPr>
              <a:t>t</a:t>
            </a:r>
            <a:r>
              <a:rPr sz="1800" spc="85" dirty="0">
                <a:latin typeface="Tahoma"/>
                <a:cs typeface="Tahoma"/>
              </a:rPr>
              <a:t>e</a:t>
            </a:r>
            <a:r>
              <a:rPr sz="1800" spc="95" dirty="0">
                <a:latin typeface="Tahoma"/>
                <a:cs typeface="Tahoma"/>
              </a:rPr>
              <a:t>g</a:t>
            </a:r>
            <a:r>
              <a:rPr sz="1800" spc="125" dirty="0">
                <a:latin typeface="Tahoma"/>
                <a:cs typeface="Tahoma"/>
              </a:rPr>
              <a:t>y</a:t>
            </a:r>
            <a:r>
              <a:rPr sz="1800" spc="35" dirty="0">
                <a:latin typeface="Tahoma"/>
                <a:cs typeface="Tahoma"/>
              </a:rPr>
              <a:t> </a:t>
            </a:r>
            <a:r>
              <a:rPr sz="1800" spc="5" dirty="0">
                <a:latin typeface="Tahoma"/>
                <a:cs typeface="Tahoma"/>
              </a:rPr>
              <a:t>i</a:t>
            </a:r>
            <a:r>
              <a:rPr sz="1800" spc="125" dirty="0">
                <a:latin typeface="Tahoma"/>
                <a:cs typeface="Tahoma"/>
              </a:rPr>
              <a:t>f</a:t>
            </a:r>
            <a:r>
              <a:rPr sz="1800" spc="35" dirty="0">
                <a:latin typeface="Tahoma"/>
                <a:cs typeface="Tahoma"/>
              </a:rPr>
              <a:t> </a:t>
            </a:r>
            <a:r>
              <a:rPr sz="1800" spc="5" dirty="0">
                <a:latin typeface="Tahoma"/>
                <a:cs typeface="Tahoma"/>
              </a:rPr>
              <a:t>i</a:t>
            </a:r>
            <a:r>
              <a:rPr sz="1800" spc="190" dirty="0">
                <a:latin typeface="Tahoma"/>
                <a:cs typeface="Tahoma"/>
              </a:rPr>
              <a:t>t</a:t>
            </a:r>
            <a:r>
              <a:rPr sz="1800" spc="35" dirty="0">
                <a:latin typeface="Tahoma"/>
                <a:cs typeface="Tahoma"/>
              </a:rPr>
              <a:t> </a:t>
            </a:r>
            <a:r>
              <a:rPr sz="1800" spc="5" dirty="0">
                <a:latin typeface="Tahoma"/>
                <a:cs typeface="Tahoma"/>
              </a:rPr>
              <a:t>i</a:t>
            </a:r>
            <a:r>
              <a:rPr sz="1800" spc="110" dirty="0">
                <a:latin typeface="Tahoma"/>
                <a:cs typeface="Tahoma"/>
              </a:rPr>
              <a:t>s</a:t>
            </a:r>
            <a:r>
              <a:rPr sz="1800" spc="35" dirty="0">
                <a:latin typeface="Tahoma"/>
                <a:cs typeface="Tahoma"/>
              </a:rPr>
              <a:t> </a:t>
            </a:r>
            <a:r>
              <a:rPr sz="1800" spc="95" dirty="0">
                <a:latin typeface="Tahoma"/>
                <a:cs typeface="Tahoma"/>
              </a:rPr>
              <a:t>op</a:t>
            </a:r>
            <a:r>
              <a:rPr sz="1800" spc="190" dirty="0">
                <a:latin typeface="Tahoma"/>
                <a:cs typeface="Tahoma"/>
              </a:rPr>
              <a:t>t</a:t>
            </a:r>
            <a:r>
              <a:rPr sz="1800" spc="5" dirty="0">
                <a:latin typeface="Tahoma"/>
                <a:cs typeface="Tahoma"/>
              </a:rPr>
              <a:t>i</a:t>
            </a:r>
            <a:r>
              <a:rPr sz="1800" spc="70" dirty="0">
                <a:latin typeface="Tahoma"/>
                <a:cs typeface="Tahoma"/>
              </a:rPr>
              <a:t>ma</a:t>
            </a:r>
            <a:r>
              <a:rPr sz="1800" spc="5" dirty="0">
                <a:latin typeface="Tahoma"/>
                <a:cs typeface="Tahoma"/>
              </a:rPr>
              <a:t>l</a:t>
            </a:r>
            <a:r>
              <a:rPr sz="1800" dirty="0">
                <a:latin typeface="Tahoma"/>
                <a:cs typeface="Tahoma"/>
              </a:rPr>
              <a:t>.</a:t>
            </a:r>
          </a:p>
          <a:p>
            <a:pPr>
              <a:lnSpc>
                <a:spcPct val="100000"/>
              </a:lnSpc>
              <a:spcBef>
                <a:spcPts val="22"/>
              </a:spcBef>
            </a:pPr>
            <a:endParaRPr sz="2450" dirty="0">
              <a:latin typeface="Times New Roman"/>
              <a:cs typeface="Times New Roman"/>
            </a:endParaRPr>
          </a:p>
          <a:p>
            <a:pPr marL="45720">
              <a:lnSpc>
                <a:spcPct val="100000"/>
              </a:lnSpc>
            </a:pPr>
            <a:r>
              <a:rPr sz="1800" spc="50" dirty="0">
                <a:latin typeface="Tahoma"/>
                <a:cs typeface="Tahoma"/>
              </a:rPr>
              <a:t>Y</a:t>
            </a:r>
            <a:r>
              <a:rPr sz="1800" spc="75" dirty="0">
                <a:latin typeface="Tahoma"/>
                <a:cs typeface="Tahoma"/>
              </a:rPr>
              <a:t>ou</a:t>
            </a:r>
            <a:r>
              <a:rPr sz="1800" spc="35" dirty="0">
                <a:latin typeface="Tahoma"/>
                <a:cs typeface="Tahoma"/>
              </a:rPr>
              <a:t> </a:t>
            </a:r>
            <a:r>
              <a:rPr sz="1800" spc="145" dirty="0">
                <a:latin typeface="Tahoma"/>
                <a:cs typeface="Tahoma"/>
              </a:rPr>
              <a:t>c</a:t>
            </a:r>
            <a:r>
              <a:rPr sz="1800" spc="45" dirty="0">
                <a:latin typeface="Tahoma"/>
                <a:cs typeface="Tahoma"/>
              </a:rPr>
              <a:t>a</a:t>
            </a:r>
            <a:r>
              <a:rPr sz="1800" spc="40" dirty="0">
                <a:latin typeface="Tahoma"/>
                <a:cs typeface="Tahoma"/>
              </a:rPr>
              <a:t>n</a:t>
            </a:r>
            <a:r>
              <a:rPr sz="1800" spc="35" dirty="0">
                <a:latin typeface="Tahoma"/>
                <a:cs typeface="Tahoma"/>
              </a:rPr>
              <a:t> </a:t>
            </a:r>
            <a:r>
              <a:rPr sz="1800" spc="45" dirty="0">
                <a:latin typeface="Tahoma"/>
                <a:cs typeface="Tahoma"/>
              </a:rPr>
              <a:t>a</a:t>
            </a:r>
            <a:r>
              <a:rPr sz="1800" spc="40" dirty="0">
                <a:latin typeface="Tahoma"/>
                <a:cs typeface="Tahoma"/>
              </a:rPr>
              <a:t>nn</a:t>
            </a:r>
            <a:r>
              <a:rPr sz="1800" spc="75" dirty="0">
                <a:latin typeface="Tahoma"/>
                <a:cs typeface="Tahoma"/>
              </a:rPr>
              <a:t>ou</a:t>
            </a:r>
            <a:r>
              <a:rPr sz="1800" spc="40" dirty="0">
                <a:latin typeface="Tahoma"/>
                <a:cs typeface="Tahoma"/>
              </a:rPr>
              <a:t>n</a:t>
            </a:r>
            <a:r>
              <a:rPr sz="1800" spc="145" dirty="0">
                <a:latin typeface="Tahoma"/>
                <a:cs typeface="Tahoma"/>
              </a:rPr>
              <a:t>c</a:t>
            </a:r>
            <a:r>
              <a:rPr sz="1800" spc="85" dirty="0">
                <a:latin typeface="Tahoma"/>
                <a:cs typeface="Tahoma"/>
              </a:rPr>
              <a:t>e</a:t>
            </a:r>
            <a:r>
              <a:rPr sz="1800" spc="35" dirty="0">
                <a:latin typeface="Tahoma"/>
                <a:cs typeface="Tahoma"/>
              </a:rPr>
              <a:t> </a:t>
            </a:r>
            <a:r>
              <a:rPr sz="1800" spc="125" dirty="0">
                <a:latin typeface="Tahoma"/>
                <a:cs typeface="Tahoma"/>
              </a:rPr>
              <a:t>y</a:t>
            </a:r>
            <a:r>
              <a:rPr sz="1800" spc="75" dirty="0">
                <a:latin typeface="Tahoma"/>
                <a:cs typeface="Tahoma"/>
              </a:rPr>
              <a:t>ou</a:t>
            </a:r>
            <a:r>
              <a:rPr sz="1800" spc="45" dirty="0">
                <a:latin typeface="Tahoma"/>
                <a:cs typeface="Tahoma"/>
              </a:rPr>
              <a:t>r</a:t>
            </a:r>
            <a:r>
              <a:rPr sz="1800" spc="35" dirty="0">
                <a:latin typeface="Tahoma"/>
                <a:cs typeface="Tahoma"/>
              </a:rPr>
              <a:t> </a:t>
            </a:r>
            <a:r>
              <a:rPr sz="1800" spc="110" dirty="0">
                <a:latin typeface="Tahoma"/>
                <a:cs typeface="Tahoma"/>
              </a:rPr>
              <a:t>s</a:t>
            </a:r>
            <a:r>
              <a:rPr sz="1800" spc="190" dirty="0">
                <a:latin typeface="Tahoma"/>
                <a:cs typeface="Tahoma"/>
              </a:rPr>
              <a:t>t</a:t>
            </a:r>
            <a:r>
              <a:rPr sz="1800" spc="45" dirty="0">
                <a:latin typeface="Tahoma"/>
                <a:cs typeface="Tahoma"/>
              </a:rPr>
              <a:t>ra</a:t>
            </a:r>
            <a:r>
              <a:rPr sz="1800" spc="190" dirty="0">
                <a:latin typeface="Tahoma"/>
                <a:cs typeface="Tahoma"/>
              </a:rPr>
              <a:t>t</a:t>
            </a:r>
            <a:r>
              <a:rPr sz="1800" spc="85" dirty="0">
                <a:latin typeface="Tahoma"/>
                <a:cs typeface="Tahoma"/>
              </a:rPr>
              <a:t>e</a:t>
            </a:r>
            <a:r>
              <a:rPr sz="1800" spc="95" dirty="0">
                <a:latin typeface="Tahoma"/>
                <a:cs typeface="Tahoma"/>
              </a:rPr>
              <a:t>g</a:t>
            </a:r>
            <a:r>
              <a:rPr sz="1800" spc="125" dirty="0">
                <a:latin typeface="Tahoma"/>
                <a:cs typeface="Tahoma"/>
              </a:rPr>
              <a:t>y</a:t>
            </a:r>
            <a:r>
              <a:rPr sz="1800" spc="35" dirty="0">
                <a:latin typeface="Tahoma"/>
                <a:cs typeface="Tahoma"/>
              </a:rPr>
              <a:t> </a:t>
            </a:r>
            <a:r>
              <a:rPr sz="1800" spc="65" dirty="0">
                <a:latin typeface="Tahoma"/>
                <a:cs typeface="Tahoma"/>
              </a:rPr>
              <a:t>w</a:t>
            </a:r>
            <a:r>
              <a:rPr sz="1800" spc="5" dirty="0">
                <a:latin typeface="Tahoma"/>
                <a:cs typeface="Tahoma"/>
              </a:rPr>
              <a:t>i</a:t>
            </a:r>
            <a:r>
              <a:rPr sz="1800" spc="190" dirty="0">
                <a:latin typeface="Tahoma"/>
                <a:cs typeface="Tahoma"/>
              </a:rPr>
              <a:t>t</a:t>
            </a:r>
            <a:r>
              <a:rPr sz="1800" spc="40" dirty="0">
                <a:latin typeface="Tahoma"/>
                <a:cs typeface="Tahoma"/>
              </a:rPr>
              <a:t>h</a:t>
            </a:r>
            <a:r>
              <a:rPr sz="1800" spc="75" dirty="0">
                <a:latin typeface="Tahoma"/>
                <a:cs typeface="Tahoma"/>
              </a:rPr>
              <a:t>ou</a:t>
            </a:r>
            <a:r>
              <a:rPr sz="1800" spc="190" dirty="0">
                <a:latin typeface="Tahoma"/>
                <a:cs typeface="Tahoma"/>
              </a:rPr>
              <a:t>t</a:t>
            </a:r>
            <a:r>
              <a:rPr sz="1800" spc="35" dirty="0">
                <a:latin typeface="Tahoma"/>
                <a:cs typeface="Tahoma"/>
              </a:rPr>
              <a:t> </a:t>
            </a:r>
            <a:r>
              <a:rPr sz="1800" spc="75" dirty="0">
                <a:latin typeface="Tahoma"/>
                <a:cs typeface="Tahoma"/>
              </a:rPr>
              <a:t>d</a:t>
            </a:r>
            <a:r>
              <a:rPr sz="1800" spc="45" dirty="0">
                <a:latin typeface="Tahoma"/>
                <a:cs typeface="Tahoma"/>
              </a:rPr>
              <a:t>a</a:t>
            </a:r>
            <a:r>
              <a:rPr sz="1800" spc="70" dirty="0">
                <a:latin typeface="Tahoma"/>
                <a:cs typeface="Tahoma"/>
              </a:rPr>
              <a:t>ma</a:t>
            </a:r>
            <a:r>
              <a:rPr sz="1800" spc="95" dirty="0">
                <a:latin typeface="Tahoma"/>
                <a:cs typeface="Tahoma"/>
              </a:rPr>
              <a:t>g</a:t>
            </a:r>
            <a:r>
              <a:rPr sz="1800" spc="5" dirty="0">
                <a:latin typeface="Tahoma"/>
                <a:cs typeface="Tahoma"/>
              </a:rPr>
              <a:t>i</a:t>
            </a:r>
            <a:r>
              <a:rPr sz="1800" spc="40" dirty="0">
                <a:latin typeface="Tahoma"/>
                <a:cs typeface="Tahoma"/>
              </a:rPr>
              <a:t>n</a:t>
            </a:r>
            <a:r>
              <a:rPr sz="1800" spc="95" dirty="0">
                <a:latin typeface="Tahoma"/>
                <a:cs typeface="Tahoma"/>
              </a:rPr>
              <a:t>g</a:t>
            </a:r>
            <a:r>
              <a:rPr sz="1800" spc="35" dirty="0">
                <a:latin typeface="Tahoma"/>
                <a:cs typeface="Tahoma"/>
              </a:rPr>
              <a:t> </a:t>
            </a:r>
            <a:r>
              <a:rPr sz="1800" spc="125" dirty="0">
                <a:latin typeface="Tahoma"/>
                <a:cs typeface="Tahoma"/>
              </a:rPr>
              <a:t>y</a:t>
            </a:r>
            <a:r>
              <a:rPr sz="1800" spc="75" dirty="0">
                <a:latin typeface="Tahoma"/>
                <a:cs typeface="Tahoma"/>
              </a:rPr>
              <a:t>ou</a:t>
            </a:r>
            <a:r>
              <a:rPr sz="1800" spc="45" dirty="0">
                <a:latin typeface="Tahoma"/>
                <a:cs typeface="Tahoma"/>
              </a:rPr>
              <a:t>r</a:t>
            </a:r>
            <a:r>
              <a:rPr sz="1800" spc="35" dirty="0">
                <a:latin typeface="Tahoma"/>
                <a:cs typeface="Tahoma"/>
              </a:rPr>
              <a:t> </a:t>
            </a:r>
            <a:r>
              <a:rPr sz="1800" spc="75" dirty="0">
                <a:latin typeface="Tahoma"/>
                <a:cs typeface="Tahoma"/>
              </a:rPr>
              <a:t>p</a:t>
            </a:r>
            <a:r>
              <a:rPr sz="1800" spc="45" dirty="0">
                <a:latin typeface="Tahoma"/>
                <a:cs typeface="Tahoma"/>
              </a:rPr>
              <a:t>r</a:t>
            </a:r>
            <a:r>
              <a:rPr sz="1800" spc="105" dirty="0">
                <a:latin typeface="Tahoma"/>
                <a:cs typeface="Tahoma"/>
              </a:rPr>
              <a:t>os</a:t>
            </a:r>
            <a:r>
              <a:rPr sz="1800" spc="75" dirty="0">
                <a:latin typeface="Tahoma"/>
                <a:cs typeface="Tahoma"/>
              </a:rPr>
              <a:t>p</a:t>
            </a:r>
            <a:r>
              <a:rPr sz="1800" spc="85" dirty="0">
                <a:latin typeface="Tahoma"/>
                <a:cs typeface="Tahoma"/>
              </a:rPr>
              <a:t>e</a:t>
            </a:r>
            <a:r>
              <a:rPr sz="1800" spc="145" dirty="0">
                <a:latin typeface="Tahoma"/>
                <a:cs typeface="Tahoma"/>
              </a:rPr>
              <a:t>c</a:t>
            </a:r>
            <a:r>
              <a:rPr sz="1800" spc="190" dirty="0">
                <a:latin typeface="Tahoma"/>
                <a:cs typeface="Tahoma"/>
              </a:rPr>
              <a:t>t</a:t>
            </a:r>
            <a:r>
              <a:rPr sz="1800" spc="110" dirty="0">
                <a:latin typeface="Tahoma"/>
                <a:cs typeface="Tahoma"/>
              </a:rPr>
              <a:t>s</a:t>
            </a:r>
            <a:r>
              <a:rPr sz="1800" dirty="0">
                <a:latin typeface="Tahoma"/>
                <a:cs typeface="Tahoma"/>
              </a:rPr>
              <a:t>.</a:t>
            </a:r>
          </a:p>
        </p:txBody>
      </p:sp>
      <p:sp>
        <p:nvSpPr>
          <p:cNvPr id="4" name="object 7">
            <a:extLst>
              <a:ext uri="{FF2B5EF4-FFF2-40B4-BE49-F238E27FC236}">
                <a16:creationId xmlns:a16="http://schemas.microsoft.com/office/drawing/2014/main" id="{26549DBA-B1DF-1156-5697-2AB4BCC2FD58}"/>
              </a:ext>
            </a:extLst>
          </p:cNvPr>
          <p:cNvSpPr txBox="1"/>
          <p:nvPr/>
        </p:nvSpPr>
        <p:spPr>
          <a:xfrm>
            <a:off x="413260" y="5015289"/>
            <a:ext cx="6216140" cy="276999"/>
          </a:xfrm>
          <a:prstGeom prst="rect">
            <a:avLst/>
          </a:prstGeom>
        </p:spPr>
        <p:txBody>
          <a:bodyPr vert="horz" wrap="square" lIns="0" tIns="0" rIns="0" bIns="0" rtlCol="0">
            <a:spAutoFit/>
          </a:bodyPr>
          <a:lstStyle/>
          <a:p>
            <a:pPr marL="12700">
              <a:lnSpc>
                <a:spcPct val="100000"/>
              </a:lnSpc>
            </a:pPr>
            <a:r>
              <a:rPr sz="1800" spc="20" dirty="0">
                <a:latin typeface="Tahoma"/>
                <a:cs typeface="Tahoma"/>
              </a:rPr>
              <a:t>H</a:t>
            </a:r>
            <a:r>
              <a:rPr sz="1800" spc="95" dirty="0">
                <a:latin typeface="Tahoma"/>
                <a:cs typeface="Tahoma"/>
              </a:rPr>
              <a:t>om</a:t>
            </a:r>
            <a:r>
              <a:rPr sz="1800" spc="70" dirty="0">
                <a:latin typeface="Tahoma"/>
                <a:cs typeface="Tahoma"/>
              </a:rPr>
              <a:t>e</a:t>
            </a:r>
            <a:r>
              <a:rPr sz="1800" spc="65" dirty="0">
                <a:latin typeface="Tahoma"/>
                <a:cs typeface="Tahoma"/>
              </a:rPr>
              <a:t>w</a:t>
            </a:r>
            <a:r>
              <a:rPr sz="1800" spc="70" dirty="0">
                <a:latin typeface="Tahoma"/>
                <a:cs typeface="Tahoma"/>
              </a:rPr>
              <a:t>ork</a:t>
            </a:r>
            <a:r>
              <a:rPr sz="1800" spc="-100" dirty="0">
                <a:latin typeface="Tahoma"/>
                <a:cs typeface="Tahoma"/>
              </a:rPr>
              <a:t>:</a:t>
            </a:r>
            <a:r>
              <a:rPr sz="1800" spc="35" dirty="0">
                <a:latin typeface="Tahoma"/>
                <a:cs typeface="Tahoma"/>
              </a:rPr>
              <a:t> </a:t>
            </a:r>
            <a:r>
              <a:rPr sz="1800" spc="80" dirty="0">
                <a:latin typeface="Tahoma"/>
                <a:cs typeface="Tahoma"/>
              </a:rPr>
              <a:t>Con</a:t>
            </a:r>
            <a:r>
              <a:rPr sz="1800" spc="190" dirty="0">
                <a:latin typeface="Tahoma"/>
                <a:cs typeface="Tahoma"/>
              </a:rPr>
              <a:t>t</a:t>
            </a:r>
            <a:r>
              <a:rPr sz="1800" spc="85" dirty="0">
                <a:latin typeface="Tahoma"/>
                <a:cs typeface="Tahoma"/>
              </a:rPr>
              <a:t>emp</a:t>
            </a:r>
            <a:r>
              <a:rPr sz="1800" spc="5" dirty="0">
                <a:latin typeface="Tahoma"/>
                <a:cs typeface="Tahoma"/>
              </a:rPr>
              <a:t>l</a:t>
            </a:r>
            <a:r>
              <a:rPr sz="1800" spc="45" dirty="0">
                <a:latin typeface="Tahoma"/>
                <a:cs typeface="Tahoma"/>
              </a:rPr>
              <a:t>a</a:t>
            </a:r>
            <a:r>
              <a:rPr sz="1800" spc="190" dirty="0">
                <a:latin typeface="Tahoma"/>
                <a:cs typeface="Tahoma"/>
              </a:rPr>
              <a:t>t</a:t>
            </a:r>
            <a:r>
              <a:rPr sz="1800" spc="85" dirty="0">
                <a:latin typeface="Tahoma"/>
                <a:cs typeface="Tahoma"/>
              </a:rPr>
              <a:t>e</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45" dirty="0">
                <a:latin typeface="Tahoma"/>
                <a:cs typeface="Tahoma"/>
              </a:rPr>
              <a:t>ra</a:t>
            </a:r>
            <a:r>
              <a:rPr sz="1800" spc="190" dirty="0">
                <a:latin typeface="Tahoma"/>
                <a:cs typeface="Tahoma"/>
              </a:rPr>
              <a:t>t</a:t>
            </a:r>
            <a:r>
              <a:rPr sz="1800" spc="5" dirty="0">
                <a:latin typeface="Tahoma"/>
                <a:cs typeface="Tahoma"/>
              </a:rPr>
              <a:t>i</a:t>
            </a:r>
            <a:r>
              <a:rPr sz="1800" spc="75" dirty="0">
                <a:latin typeface="Tahoma"/>
                <a:cs typeface="Tahoma"/>
              </a:rPr>
              <a:t>on</a:t>
            </a:r>
            <a:r>
              <a:rPr sz="1800" spc="45" dirty="0">
                <a:latin typeface="Tahoma"/>
                <a:cs typeface="Tahoma"/>
              </a:rPr>
              <a:t>a</a:t>
            </a:r>
            <a:r>
              <a:rPr sz="1800" spc="5" dirty="0">
                <a:latin typeface="Tahoma"/>
                <a:cs typeface="Tahoma"/>
              </a:rPr>
              <a:t>l</a:t>
            </a:r>
            <a:r>
              <a:rPr sz="1800" spc="35" dirty="0">
                <a:latin typeface="Tahoma"/>
                <a:cs typeface="Tahoma"/>
              </a:rPr>
              <a:t> </a:t>
            </a:r>
            <a:r>
              <a:rPr sz="1800" spc="114" dirty="0">
                <a:latin typeface="Tahoma"/>
                <a:cs typeface="Tahoma"/>
              </a:rPr>
              <a:t>v</a:t>
            </a:r>
            <a:r>
              <a:rPr sz="1800" spc="45" dirty="0">
                <a:latin typeface="Tahoma"/>
                <a:cs typeface="Tahoma"/>
              </a:rPr>
              <a:t>a</a:t>
            </a:r>
            <a:r>
              <a:rPr sz="1800" spc="5" dirty="0">
                <a:latin typeface="Tahoma"/>
                <a:cs typeface="Tahoma"/>
              </a:rPr>
              <a:t>l</a:t>
            </a:r>
            <a:r>
              <a:rPr sz="1800" spc="40" dirty="0">
                <a:latin typeface="Tahoma"/>
                <a:cs typeface="Tahoma"/>
              </a:rPr>
              <a:t>u</a:t>
            </a:r>
            <a:r>
              <a:rPr sz="1800" spc="85" dirty="0">
                <a:latin typeface="Tahoma"/>
                <a:cs typeface="Tahoma"/>
              </a:rPr>
              <a:t>e</a:t>
            </a:r>
            <a:r>
              <a:rPr sz="1800" spc="35" dirty="0">
                <a:latin typeface="Tahoma"/>
                <a:cs typeface="Tahoma"/>
              </a:rPr>
              <a:t> </a:t>
            </a:r>
            <a:r>
              <a:rPr sz="1800" spc="114" dirty="0">
                <a:latin typeface="Tahoma"/>
                <a:cs typeface="Tahoma"/>
              </a:rPr>
              <a:t>of</a:t>
            </a:r>
            <a:r>
              <a:rPr sz="1800" spc="35" dirty="0">
                <a:latin typeface="Tahoma"/>
                <a:cs typeface="Tahoma"/>
              </a:rPr>
              <a:t> </a:t>
            </a:r>
            <a:r>
              <a:rPr sz="1800" spc="95" dirty="0">
                <a:latin typeface="Tahoma"/>
                <a:cs typeface="Tahoma"/>
              </a:rPr>
              <a:t>b</a:t>
            </a:r>
            <a:r>
              <a:rPr sz="1800" spc="5" dirty="0">
                <a:latin typeface="Tahoma"/>
                <a:cs typeface="Tahoma"/>
              </a:rPr>
              <a:t>l</a:t>
            </a:r>
            <a:r>
              <a:rPr sz="1800" spc="40" dirty="0">
                <a:latin typeface="Tahoma"/>
                <a:cs typeface="Tahoma"/>
              </a:rPr>
              <a:t>u</a:t>
            </a:r>
            <a:r>
              <a:rPr sz="1800" spc="125" dirty="0">
                <a:latin typeface="Tahoma"/>
                <a:cs typeface="Tahoma"/>
              </a:rPr>
              <a:t>ff</a:t>
            </a:r>
            <a:r>
              <a:rPr sz="1800" spc="5" dirty="0">
                <a:latin typeface="Tahoma"/>
                <a:cs typeface="Tahoma"/>
              </a:rPr>
              <a:t>i</a:t>
            </a:r>
            <a:r>
              <a:rPr sz="1800" spc="40" dirty="0">
                <a:latin typeface="Tahoma"/>
                <a:cs typeface="Tahoma"/>
              </a:rPr>
              <a:t>n</a:t>
            </a:r>
            <a:r>
              <a:rPr sz="1800" spc="95" dirty="0">
                <a:latin typeface="Tahoma"/>
                <a:cs typeface="Tahoma"/>
              </a:rPr>
              <a:t>g</a:t>
            </a:r>
            <a:r>
              <a:rPr sz="1800" dirty="0">
                <a:latin typeface="Tahoma"/>
                <a:cs typeface="Tahoma"/>
              </a:rPr>
              <a:t>.</a:t>
            </a:r>
          </a:p>
        </p:txBody>
      </p:sp>
      <p:sp>
        <p:nvSpPr>
          <p:cNvPr id="8" name="Slide Number Placeholder 8">
            <a:extLst>
              <a:ext uri="{FF2B5EF4-FFF2-40B4-BE49-F238E27FC236}">
                <a16:creationId xmlns:a16="http://schemas.microsoft.com/office/drawing/2014/main" id="{8BD5E5AE-45FB-2BDD-FF4C-8374BBC55946}"/>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38</a:t>
            </a:fld>
            <a:r>
              <a:rPr lang="en-US" sz="2000" dirty="0">
                <a:solidFill>
                  <a:prstClr val="black"/>
                </a:solidFill>
                <a:latin typeface="Comic Sans MS"/>
                <a:sym typeface="Comic Sans MS"/>
              </a:rPr>
              <a:t>/46</a:t>
            </a:r>
          </a:p>
        </p:txBody>
      </p:sp>
      <p:sp>
        <p:nvSpPr>
          <p:cNvPr id="9" name="Footer Placeholder 9">
            <a:extLst>
              <a:ext uri="{FF2B5EF4-FFF2-40B4-BE49-F238E27FC236}">
                <a16:creationId xmlns:a16="http://schemas.microsoft.com/office/drawing/2014/main" id="{D00584F6-EA5D-580A-61B6-50B89D799EC3}"/>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 name="Rectangle 9">
            <a:extLst>
              <a:ext uri="{FF2B5EF4-FFF2-40B4-BE49-F238E27FC236}">
                <a16:creationId xmlns:a16="http://schemas.microsoft.com/office/drawing/2014/main" id="{F2208FC9-9DF7-A4C3-A942-213FFEE15A4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1" name="Rectangle 10">
            <a:extLst>
              <a:ext uri="{FF2B5EF4-FFF2-40B4-BE49-F238E27FC236}">
                <a16:creationId xmlns:a16="http://schemas.microsoft.com/office/drawing/2014/main" id="{0DE5C8F2-88F5-5FA0-FCD8-0BB86BE2D956}"/>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798BD6E8-9183-C2DF-6303-22C77E0F6E6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7163385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7" name="Title 6">
            <a:extLst>
              <a:ext uri="{FF2B5EF4-FFF2-40B4-BE49-F238E27FC236}">
                <a16:creationId xmlns:a16="http://schemas.microsoft.com/office/drawing/2014/main" id="{0C1EA061-2A24-8C31-A9E7-198BF8FE1B0E}"/>
              </a:ext>
            </a:extLst>
          </p:cNvPr>
          <p:cNvSpPr>
            <a:spLocks noGrp="1"/>
          </p:cNvSpPr>
          <p:nvPr>
            <p:ph type="title"/>
          </p:nvPr>
        </p:nvSpPr>
        <p:spPr/>
        <p:txBody>
          <a:bodyPr/>
          <a:lstStyle/>
          <a:p>
            <a:endParaRPr lang="en-US"/>
          </a:p>
        </p:txBody>
      </p:sp>
      <p:sp>
        <p:nvSpPr>
          <p:cNvPr id="8" name="object 2">
            <a:extLst>
              <a:ext uri="{FF2B5EF4-FFF2-40B4-BE49-F238E27FC236}">
                <a16:creationId xmlns:a16="http://schemas.microsoft.com/office/drawing/2014/main" id="{67268696-50A1-0E11-DB9C-BA25B731EA7E}"/>
              </a:ext>
            </a:extLst>
          </p:cNvPr>
          <p:cNvSpPr txBox="1"/>
          <p:nvPr/>
        </p:nvSpPr>
        <p:spPr>
          <a:xfrm>
            <a:off x="457200" y="1471800"/>
            <a:ext cx="194945" cy="503555"/>
          </a:xfrm>
          <a:prstGeom prst="rect">
            <a:avLst/>
          </a:prstGeom>
        </p:spPr>
        <p:txBody>
          <a:bodyPr vert="horz" wrap="square" lIns="0" tIns="0" rIns="0" bIns="0" rtlCol="0">
            <a:spAutoFit/>
          </a:bodyPr>
          <a:lstStyle/>
          <a:p>
            <a:pPr marL="12700">
              <a:lnSpc>
                <a:spcPct val="100000"/>
              </a:lnSpc>
            </a:pPr>
            <a:r>
              <a:rPr sz="3750" dirty="0">
                <a:latin typeface="Gill Sans MT"/>
                <a:cs typeface="Gill Sans MT"/>
              </a:rPr>
              <a:t>•</a:t>
            </a:r>
          </a:p>
        </p:txBody>
      </p:sp>
      <p:sp>
        <p:nvSpPr>
          <p:cNvPr id="9" name="object 3">
            <a:extLst>
              <a:ext uri="{FF2B5EF4-FFF2-40B4-BE49-F238E27FC236}">
                <a16:creationId xmlns:a16="http://schemas.microsoft.com/office/drawing/2014/main" id="{F74A8DAF-5D03-CB3D-6A33-856F838CE811}"/>
              </a:ext>
            </a:extLst>
          </p:cNvPr>
          <p:cNvSpPr txBox="1"/>
          <p:nvPr/>
        </p:nvSpPr>
        <p:spPr>
          <a:xfrm>
            <a:off x="838200" y="1555433"/>
            <a:ext cx="6786880" cy="622300"/>
          </a:xfrm>
          <a:prstGeom prst="rect">
            <a:avLst/>
          </a:prstGeom>
        </p:spPr>
        <p:txBody>
          <a:bodyPr vert="horz" wrap="square" lIns="0" tIns="0" rIns="0" bIns="0" rtlCol="0">
            <a:spAutoFit/>
          </a:bodyPr>
          <a:lstStyle/>
          <a:p>
            <a:pPr marL="12700" marR="5080">
              <a:lnSpc>
                <a:spcPts val="2500"/>
              </a:lnSpc>
            </a:pPr>
            <a:r>
              <a:rPr sz="2200" dirty="0">
                <a:latin typeface="Gill Sans MT"/>
                <a:cs typeface="Gill Sans MT"/>
              </a:rPr>
              <a:t>The</a:t>
            </a:r>
            <a:r>
              <a:rPr sz="2200" spc="-5" dirty="0">
                <a:latin typeface="Gill Sans MT"/>
                <a:cs typeface="Gill Sans MT"/>
              </a:rPr>
              <a:t> </a:t>
            </a:r>
            <a:r>
              <a:rPr sz="2200" spc="-25" dirty="0">
                <a:latin typeface="Gill Sans MT"/>
                <a:cs typeface="Gill Sans MT"/>
              </a:rPr>
              <a:t>f</a:t>
            </a:r>
            <a:r>
              <a:rPr sz="2200" spc="-15" dirty="0">
                <a:latin typeface="Gill Sans MT"/>
                <a:cs typeface="Gill Sans MT"/>
              </a:rPr>
              <a:t>o</a:t>
            </a:r>
            <a:r>
              <a:rPr sz="2200" dirty="0">
                <a:latin typeface="Gill Sans MT"/>
                <a:cs typeface="Gill Sans MT"/>
              </a:rPr>
              <a:t>ll</a:t>
            </a:r>
            <a:r>
              <a:rPr sz="2200" spc="-40" dirty="0">
                <a:latin typeface="Gill Sans MT"/>
                <a:cs typeface="Gill Sans MT"/>
              </a:rPr>
              <a:t>o</a:t>
            </a:r>
            <a:r>
              <a:rPr sz="2200" dirty="0">
                <a:latin typeface="Gill Sans MT"/>
                <a:cs typeface="Gill Sans MT"/>
              </a:rPr>
              <a:t>wi</a:t>
            </a:r>
            <a:r>
              <a:rPr sz="2200" spc="-15" dirty="0">
                <a:latin typeface="Gill Sans MT"/>
                <a:cs typeface="Gill Sans MT"/>
              </a:rPr>
              <a:t>ng</a:t>
            </a:r>
            <a:r>
              <a:rPr sz="2200" spc="-5" dirty="0">
                <a:latin typeface="Gill Sans MT"/>
                <a:cs typeface="Gill Sans MT"/>
              </a:rPr>
              <a:t> </a:t>
            </a:r>
            <a:r>
              <a:rPr sz="2200" spc="-10" dirty="0">
                <a:latin typeface="Gill Sans MT"/>
                <a:cs typeface="Gill Sans MT"/>
              </a:rPr>
              <a:t>a</a:t>
            </a:r>
            <a:r>
              <a:rPr sz="2200" spc="-55" dirty="0">
                <a:latin typeface="Gill Sans MT"/>
                <a:cs typeface="Gill Sans MT"/>
              </a:rPr>
              <a:t>r</a:t>
            </a:r>
            <a:r>
              <a:rPr sz="2200" dirty="0">
                <a:latin typeface="Gill Sans MT"/>
                <a:cs typeface="Gill Sans MT"/>
              </a:rPr>
              <a:t>e</a:t>
            </a:r>
            <a:r>
              <a:rPr sz="2200" spc="-5" dirty="0">
                <a:latin typeface="Gill Sans MT"/>
                <a:cs typeface="Gill Sans MT"/>
              </a:rPr>
              <a:t> </a:t>
            </a:r>
            <a:r>
              <a:rPr sz="2200" spc="-15" dirty="0">
                <a:latin typeface="Gill Sans MT"/>
                <a:cs typeface="Gill Sans MT"/>
              </a:rPr>
              <a:t>NP</a:t>
            </a:r>
            <a:r>
              <a:rPr sz="2200" dirty="0">
                <a:latin typeface="Gill Sans MT"/>
                <a:cs typeface="Gill Sans MT"/>
              </a:rPr>
              <a:t>-</a:t>
            </a:r>
            <a:r>
              <a:rPr sz="2200" spc="-15" dirty="0">
                <a:latin typeface="Gill Sans MT"/>
                <a:cs typeface="Gill Sans MT"/>
              </a:rPr>
              <a:t>co</a:t>
            </a:r>
            <a:r>
              <a:rPr sz="2200" dirty="0">
                <a:latin typeface="Gill Sans MT"/>
                <a:cs typeface="Gill Sans MT"/>
              </a:rPr>
              <a:t>mplete</a:t>
            </a:r>
            <a:r>
              <a:rPr sz="2200" spc="-5" dirty="0">
                <a:latin typeface="Gill Sans MT"/>
                <a:cs typeface="Gill Sans MT"/>
              </a:rPr>
              <a:t> </a:t>
            </a:r>
            <a:r>
              <a:rPr sz="2200" spc="-15" dirty="0">
                <a:latin typeface="Gill Sans MT"/>
                <a:cs typeface="Gill Sans MT"/>
              </a:rPr>
              <a:t>p</a:t>
            </a:r>
            <a:r>
              <a:rPr sz="2200" spc="-65" dirty="0">
                <a:latin typeface="Gill Sans MT"/>
                <a:cs typeface="Gill Sans MT"/>
              </a:rPr>
              <a:t>r</a:t>
            </a:r>
            <a:r>
              <a:rPr sz="2200" spc="-15" dirty="0">
                <a:latin typeface="Gill Sans MT"/>
                <a:cs typeface="Gill Sans MT"/>
              </a:rPr>
              <a:t>o</a:t>
            </a:r>
            <a:r>
              <a:rPr sz="2200" dirty="0">
                <a:latin typeface="Gill Sans MT"/>
                <a:cs typeface="Gill Sans MT"/>
              </a:rPr>
              <a:t>bl</a:t>
            </a:r>
            <a:r>
              <a:rPr sz="2200" spc="-15" dirty="0">
                <a:latin typeface="Gill Sans MT"/>
                <a:cs typeface="Gill Sans MT"/>
              </a:rPr>
              <a:t>ems</a:t>
            </a:r>
            <a:r>
              <a:rPr sz="2200" dirty="0">
                <a:latin typeface="Gill Sans MT"/>
                <a:cs typeface="Gill Sans MT"/>
              </a:rPr>
              <a:t>.</a:t>
            </a:r>
            <a:r>
              <a:rPr sz="2200" spc="-225" dirty="0">
                <a:latin typeface="Gill Sans MT"/>
                <a:cs typeface="Gill Sans MT"/>
              </a:rPr>
              <a:t> </a:t>
            </a:r>
            <a:r>
              <a:rPr sz="2200" dirty="0">
                <a:latin typeface="Gill Sans MT"/>
                <a:cs typeface="Gill Sans MT"/>
              </a:rPr>
              <a:t>Gi</a:t>
            </a:r>
            <a:r>
              <a:rPr sz="2200" spc="-55" dirty="0">
                <a:latin typeface="Gill Sans MT"/>
                <a:cs typeface="Gill Sans MT"/>
              </a:rPr>
              <a:t>v</a:t>
            </a:r>
            <a:r>
              <a:rPr sz="2200" dirty="0">
                <a:latin typeface="Gill Sans MT"/>
                <a:cs typeface="Gill Sans MT"/>
              </a:rPr>
              <a:t>en</a:t>
            </a:r>
            <a:r>
              <a:rPr sz="2200" spc="-5" dirty="0">
                <a:latin typeface="Gill Sans MT"/>
                <a:cs typeface="Gill Sans MT"/>
              </a:rPr>
              <a:t> </a:t>
            </a:r>
            <a:r>
              <a:rPr sz="2200" spc="-10" dirty="0">
                <a:latin typeface="Gill Sans MT"/>
                <a:cs typeface="Gill Sans MT"/>
              </a:rPr>
              <a:t>a</a:t>
            </a:r>
            <a:r>
              <a:rPr sz="2200" spc="-5" dirty="0">
                <a:latin typeface="Gill Sans MT"/>
                <a:cs typeface="Gill Sans MT"/>
              </a:rPr>
              <a:t> </a:t>
            </a:r>
            <a:r>
              <a:rPr sz="2200" dirty="0">
                <a:latin typeface="Gill Sans MT"/>
                <a:cs typeface="Gill Sans MT"/>
              </a:rPr>
              <a:t>bi-</a:t>
            </a:r>
            <a:r>
              <a:rPr sz="2200" spc="-15" dirty="0">
                <a:latin typeface="Gill Sans MT"/>
                <a:cs typeface="Gill Sans MT"/>
              </a:rPr>
              <a:t>ma</a:t>
            </a:r>
            <a:r>
              <a:rPr sz="2200" dirty="0">
                <a:latin typeface="Gill Sans MT"/>
                <a:cs typeface="Gill Sans MT"/>
              </a:rPr>
              <a:t>trix </a:t>
            </a:r>
            <a:r>
              <a:rPr sz="2200" spc="-10" dirty="0">
                <a:latin typeface="Gill Sans MT"/>
                <a:cs typeface="Gill Sans MT"/>
              </a:rPr>
              <a:t>ga</a:t>
            </a:r>
            <a:r>
              <a:rPr sz="2200" dirty="0">
                <a:latin typeface="Gill Sans MT"/>
                <a:cs typeface="Gill Sans MT"/>
              </a:rPr>
              <a:t>m</a:t>
            </a:r>
            <a:r>
              <a:rPr sz="2200" spc="40" dirty="0">
                <a:latin typeface="Gill Sans MT"/>
                <a:cs typeface="Gill Sans MT"/>
              </a:rPr>
              <a:t>e</a:t>
            </a:r>
            <a:r>
              <a:rPr sz="2200" dirty="0">
                <a:latin typeface="Gill Sans MT"/>
                <a:cs typeface="Gill Sans MT"/>
              </a:rPr>
              <a:t>,</a:t>
            </a:r>
            <a:r>
              <a:rPr sz="2200" spc="-225" dirty="0">
                <a:latin typeface="Gill Sans MT"/>
                <a:cs typeface="Gill Sans MT"/>
              </a:rPr>
              <a:t> </a:t>
            </a:r>
            <a:r>
              <a:rPr sz="2200" spc="-15" dirty="0">
                <a:latin typeface="Gill Sans MT"/>
                <a:cs typeface="Gill Sans MT"/>
              </a:rPr>
              <a:t>does</a:t>
            </a:r>
            <a:r>
              <a:rPr sz="2200" spc="-5" dirty="0">
                <a:latin typeface="Gill Sans MT"/>
                <a:cs typeface="Gill Sans MT"/>
              </a:rPr>
              <a:t> </a:t>
            </a:r>
            <a:r>
              <a:rPr sz="2200" dirty="0">
                <a:latin typeface="Gill Sans MT"/>
                <a:cs typeface="Gill Sans MT"/>
              </a:rPr>
              <a:t>it</a:t>
            </a:r>
            <a:r>
              <a:rPr sz="2200" spc="-5" dirty="0">
                <a:latin typeface="Gill Sans MT"/>
                <a:cs typeface="Gill Sans MT"/>
              </a:rPr>
              <a:t> </a:t>
            </a:r>
            <a:r>
              <a:rPr sz="2200" spc="-15" dirty="0">
                <a:latin typeface="Gill Sans MT"/>
                <a:cs typeface="Gill Sans MT"/>
              </a:rPr>
              <a:t>h</a:t>
            </a:r>
            <a:r>
              <a:rPr sz="2200" spc="-90" dirty="0">
                <a:latin typeface="Gill Sans MT"/>
                <a:cs typeface="Gill Sans MT"/>
              </a:rPr>
              <a:t>a</a:t>
            </a:r>
            <a:r>
              <a:rPr sz="2200" spc="-55" dirty="0">
                <a:latin typeface="Gill Sans MT"/>
                <a:cs typeface="Gill Sans MT"/>
              </a:rPr>
              <a:t>v</a:t>
            </a:r>
            <a:r>
              <a:rPr sz="2200" dirty="0">
                <a:latin typeface="Gill Sans MT"/>
                <a:cs typeface="Gill Sans MT"/>
              </a:rPr>
              <a:t>e…</a:t>
            </a:r>
          </a:p>
        </p:txBody>
      </p:sp>
      <p:sp>
        <p:nvSpPr>
          <p:cNvPr id="10" name="object 4">
            <a:extLst>
              <a:ext uri="{FF2B5EF4-FFF2-40B4-BE49-F238E27FC236}">
                <a16:creationId xmlns:a16="http://schemas.microsoft.com/office/drawing/2014/main" id="{9F4C84EB-B931-3FBB-1A5B-3DC716FEF6EE}"/>
              </a:ext>
            </a:extLst>
          </p:cNvPr>
          <p:cNvSpPr txBox="1"/>
          <p:nvPr/>
        </p:nvSpPr>
        <p:spPr>
          <a:xfrm>
            <a:off x="1346200" y="2286000"/>
            <a:ext cx="194945" cy="2733675"/>
          </a:xfrm>
          <a:prstGeom prst="rect">
            <a:avLst/>
          </a:prstGeom>
        </p:spPr>
        <p:txBody>
          <a:bodyPr vert="horz" wrap="square" lIns="0" tIns="0" rIns="0" bIns="0" rtlCol="0">
            <a:spAutoFit/>
          </a:bodyPr>
          <a:lstStyle/>
          <a:p>
            <a:pPr marL="12700">
              <a:lnSpc>
                <a:spcPts val="4345"/>
              </a:lnSpc>
            </a:pPr>
            <a:r>
              <a:rPr sz="3750" dirty="0">
                <a:latin typeface="Gill Sans MT"/>
                <a:cs typeface="Gill Sans MT"/>
              </a:rPr>
              <a:t>•</a:t>
            </a:r>
          </a:p>
          <a:p>
            <a:pPr marL="12700">
              <a:lnSpc>
                <a:spcPts val="4345"/>
              </a:lnSpc>
            </a:pPr>
            <a:r>
              <a:rPr sz="3750" dirty="0">
                <a:latin typeface="Gill Sans MT"/>
                <a:cs typeface="Gill Sans MT"/>
              </a:rPr>
              <a:t>•</a:t>
            </a:r>
          </a:p>
          <a:p>
            <a:pPr marL="12700">
              <a:lnSpc>
                <a:spcPct val="100000"/>
              </a:lnSpc>
              <a:spcBef>
                <a:spcPts val="2185"/>
              </a:spcBef>
            </a:pPr>
            <a:r>
              <a:rPr sz="3750" dirty="0">
                <a:latin typeface="Gill Sans MT"/>
                <a:cs typeface="Gill Sans MT"/>
              </a:rPr>
              <a:t>•</a:t>
            </a:r>
          </a:p>
          <a:p>
            <a:pPr marL="12700">
              <a:lnSpc>
                <a:spcPct val="100000"/>
              </a:lnSpc>
              <a:spcBef>
                <a:spcPts val="2185"/>
              </a:spcBef>
            </a:pPr>
            <a:r>
              <a:rPr sz="3750" dirty="0">
                <a:latin typeface="Gill Sans MT"/>
                <a:cs typeface="Gill Sans MT"/>
              </a:rPr>
              <a:t>•</a:t>
            </a:r>
          </a:p>
        </p:txBody>
      </p:sp>
      <mc:AlternateContent xmlns:mc="http://schemas.openxmlformats.org/markup-compatibility/2006" xmlns:a14="http://schemas.microsoft.com/office/drawing/2010/main">
        <mc:Choice Requires="a14">
          <p:sp>
            <p:nvSpPr>
              <p:cNvPr id="11" name="object 5">
                <a:extLst>
                  <a:ext uri="{FF2B5EF4-FFF2-40B4-BE49-F238E27FC236}">
                    <a16:creationId xmlns:a16="http://schemas.microsoft.com/office/drawing/2014/main" id="{0C8D5A97-8FAB-94D0-DBDE-37FB789ED0AE}"/>
                  </a:ext>
                </a:extLst>
              </p:cNvPr>
              <p:cNvSpPr txBox="1"/>
              <p:nvPr/>
            </p:nvSpPr>
            <p:spPr>
              <a:xfrm>
                <a:off x="1727200" y="2404745"/>
                <a:ext cx="5730240" cy="3072636"/>
              </a:xfrm>
              <a:prstGeom prst="rect">
                <a:avLst/>
              </a:prstGeom>
            </p:spPr>
            <p:txBody>
              <a:bodyPr vert="horz" wrap="square" lIns="0" tIns="0" rIns="0" bIns="0" rtlCol="0">
                <a:spAutoFit/>
              </a:bodyPr>
              <a:lstStyle/>
              <a:p>
                <a:pPr marL="12700">
                  <a:lnSpc>
                    <a:spcPct val="100000"/>
                  </a:lnSpc>
                </a:pPr>
                <a:r>
                  <a:rPr sz="2200" spc="-10" dirty="0">
                    <a:latin typeface="Gill Sans MT"/>
                    <a:cs typeface="Gill Sans MT"/>
                  </a:rPr>
                  <a:t>at</a:t>
                </a:r>
                <a:r>
                  <a:rPr sz="2200" spc="-5" dirty="0">
                    <a:latin typeface="Gill Sans MT"/>
                    <a:cs typeface="Gill Sans MT"/>
                  </a:rPr>
                  <a:t> </a:t>
                </a:r>
                <a:r>
                  <a:rPr sz="2200" dirty="0">
                    <a:latin typeface="Gill Sans MT"/>
                    <a:cs typeface="Gill Sans MT"/>
                  </a:rPr>
                  <a:t>l</a:t>
                </a:r>
                <a:r>
                  <a:rPr sz="2200" spc="-10" dirty="0">
                    <a:latin typeface="Gill Sans MT"/>
                    <a:cs typeface="Gill Sans MT"/>
                  </a:rPr>
                  <a:t>eas</a:t>
                </a:r>
                <a:r>
                  <a:rPr sz="2200" dirty="0">
                    <a:latin typeface="Gill Sans MT"/>
                    <a:cs typeface="Gill Sans MT"/>
                  </a:rPr>
                  <a:t>t</a:t>
                </a:r>
                <a:r>
                  <a:rPr sz="2200" spc="-5" dirty="0">
                    <a:latin typeface="Gill Sans MT"/>
                    <a:cs typeface="Gill Sans MT"/>
                  </a:rPr>
                  <a:t> </a:t>
                </a:r>
                <a:r>
                  <a:rPr sz="2200" dirty="0">
                    <a:latin typeface="Gill Sans MT"/>
                    <a:cs typeface="Gill Sans MT"/>
                  </a:rPr>
                  <a:t>t</a:t>
                </a:r>
                <a:r>
                  <a:rPr sz="2200" spc="-45" dirty="0">
                    <a:latin typeface="Gill Sans MT"/>
                    <a:cs typeface="Gill Sans MT"/>
                  </a:rPr>
                  <a:t>w</a:t>
                </a:r>
                <a:r>
                  <a:rPr sz="2200" spc="-15" dirty="0">
                    <a:latin typeface="Gill Sans MT"/>
                    <a:cs typeface="Gill Sans MT"/>
                  </a:rPr>
                  <a:t>o</a:t>
                </a:r>
                <a:r>
                  <a:rPr sz="2200" spc="-5" dirty="0">
                    <a:latin typeface="Gill Sans MT"/>
                    <a:cs typeface="Gill Sans MT"/>
                  </a:rPr>
                  <a:t> </a:t>
                </a:r>
                <a:r>
                  <a:rPr sz="2200" spc="-15" dirty="0">
                    <a:latin typeface="Gill Sans MT"/>
                    <a:cs typeface="Gill Sans MT"/>
                  </a:rPr>
                  <a:t>Nas</a:t>
                </a:r>
                <a:r>
                  <a:rPr sz="2200" dirty="0">
                    <a:latin typeface="Gill Sans MT"/>
                    <a:cs typeface="Gill Sans MT"/>
                  </a:rPr>
                  <a:t>h</a:t>
                </a:r>
                <a:r>
                  <a:rPr sz="2200" spc="-5" dirty="0">
                    <a:latin typeface="Gill Sans MT"/>
                    <a:cs typeface="Gill Sans MT"/>
                  </a:rPr>
                  <a:t> </a:t>
                </a:r>
                <a:r>
                  <a:rPr sz="2200" dirty="0">
                    <a:latin typeface="Gill Sans MT"/>
                    <a:cs typeface="Gill Sans MT"/>
                  </a:rPr>
                  <a:t>Equilibri</a:t>
                </a:r>
                <a:r>
                  <a:rPr sz="2200" spc="-10" dirty="0">
                    <a:latin typeface="Gill Sans MT"/>
                    <a:cs typeface="Gill Sans MT"/>
                  </a:rPr>
                  <a:t>a</a:t>
                </a:r>
                <a:r>
                  <a:rPr sz="2200" dirty="0">
                    <a:latin typeface="Gill Sans MT"/>
                    <a:cs typeface="Gill Sans MT"/>
                  </a:rPr>
                  <a:t>?</a:t>
                </a:r>
                <a:r>
                  <a:rPr lang="en-US" sz="2200" dirty="0">
                    <a:latin typeface="Gill Sans MT"/>
                    <a:cs typeface="Gill Sans MT"/>
                  </a:rPr>
                  <a:t> </a:t>
                </a:r>
                <a:r>
                  <a:rPr lang="en-US" sz="1200" dirty="0">
                    <a:solidFill>
                      <a:srgbClr val="FF0000"/>
                    </a:solidFill>
                    <a:latin typeface="Gill Sans MT"/>
                    <a:cs typeface="Gill Sans MT"/>
                  </a:rPr>
                  <a:t>This can not be answered effectively</a:t>
                </a:r>
                <a:endParaRPr sz="1200" dirty="0">
                  <a:solidFill>
                    <a:srgbClr val="FF0000"/>
                  </a:solidFill>
                  <a:latin typeface="Gill Sans MT"/>
                  <a:cs typeface="Gill Sans MT"/>
                </a:endParaRPr>
              </a:p>
              <a:p>
                <a:pPr marL="12700" marR="5080">
                  <a:lnSpc>
                    <a:spcPts val="2500"/>
                  </a:lnSpc>
                  <a:spcBef>
                    <a:spcPts val="1745"/>
                  </a:spcBef>
                </a:pPr>
                <a:r>
                  <a:rPr sz="2200" spc="-15" dirty="0">
                    <a:latin typeface="Gill Sans MT"/>
                    <a:cs typeface="Gill Sans MT"/>
                  </a:rPr>
                  <a:t>A</a:t>
                </a:r>
                <a:r>
                  <a:rPr sz="2200" spc="-5" dirty="0">
                    <a:latin typeface="Gill Sans MT"/>
                    <a:cs typeface="Gill Sans MT"/>
                  </a:rPr>
                  <a:t> </a:t>
                </a:r>
                <a:r>
                  <a:rPr sz="2200" spc="-15" dirty="0">
                    <a:latin typeface="Gill Sans MT"/>
                    <a:cs typeface="Gill Sans MT"/>
                  </a:rPr>
                  <a:t>Nas</a:t>
                </a:r>
                <a:r>
                  <a:rPr sz="2200" dirty="0">
                    <a:latin typeface="Gill Sans MT"/>
                    <a:cs typeface="Gill Sans MT"/>
                  </a:rPr>
                  <a:t>h</a:t>
                </a:r>
                <a:r>
                  <a:rPr sz="2200" spc="-5" dirty="0">
                    <a:latin typeface="Gill Sans MT"/>
                    <a:cs typeface="Gill Sans MT"/>
                  </a:rPr>
                  <a:t> </a:t>
                </a:r>
                <a:r>
                  <a:rPr sz="2200" dirty="0">
                    <a:latin typeface="Gill Sans MT"/>
                    <a:cs typeface="Gill Sans MT"/>
                  </a:rPr>
                  <a:t>Equilibri</a:t>
                </a:r>
                <a:r>
                  <a:rPr sz="2200" spc="-15" dirty="0">
                    <a:latin typeface="Gill Sans MT"/>
                    <a:cs typeface="Gill Sans MT"/>
                  </a:rPr>
                  <a:t>um</a:t>
                </a:r>
                <a:r>
                  <a:rPr sz="2200" spc="-5" dirty="0">
                    <a:latin typeface="Gill Sans MT"/>
                    <a:cs typeface="Gill Sans MT"/>
                  </a:rPr>
                  <a:t> </a:t>
                </a:r>
                <a:r>
                  <a:rPr sz="2200" dirty="0">
                    <a:latin typeface="Gill Sans MT"/>
                    <a:cs typeface="Gill Sans MT"/>
                  </a:rPr>
                  <a:t>in</a:t>
                </a:r>
                <a:r>
                  <a:rPr sz="2200" spc="-5" dirty="0">
                    <a:latin typeface="Gill Sans MT"/>
                    <a:cs typeface="Gill Sans MT"/>
                  </a:rPr>
                  <a:t> </a:t>
                </a:r>
                <a:r>
                  <a:rPr sz="2200" dirty="0">
                    <a:latin typeface="Gill Sans MT"/>
                    <a:cs typeface="Gill Sans MT"/>
                  </a:rPr>
                  <a:t>whi</a:t>
                </a:r>
                <a:r>
                  <a:rPr sz="2200" spc="-15" dirty="0">
                    <a:latin typeface="Gill Sans MT"/>
                    <a:cs typeface="Gill Sans MT"/>
                  </a:rPr>
                  <a:t>ch</a:t>
                </a:r>
                <a:r>
                  <a:rPr sz="2200" spc="-5" dirty="0">
                    <a:latin typeface="Gill Sans MT"/>
                    <a:cs typeface="Gill Sans MT"/>
                  </a:rPr>
                  <a:t> </a:t>
                </a:r>
                <a:r>
                  <a:rPr sz="2200" dirty="0">
                    <a:latin typeface="Gill Sans MT"/>
                    <a:cs typeface="Gill Sans MT"/>
                  </a:rPr>
                  <a:t>pl</a:t>
                </a:r>
                <a:r>
                  <a:rPr sz="2200" spc="-100" dirty="0">
                    <a:latin typeface="Gill Sans MT"/>
                    <a:cs typeface="Gill Sans MT"/>
                  </a:rPr>
                  <a:t>a</a:t>
                </a:r>
                <a:r>
                  <a:rPr sz="2200" spc="-55" dirty="0">
                    <a:latin typeface="Gill Sans MT"/>
                    <a:cs typeface="Gill Sans MT"/>
                  </a:rPr>
                  <a:t>y</a:t>
                </a:r>
                <a:r>
                  <a:rPr sz="2200" dirty="0">
                    <a:latin typeface="Gill Sans MT"/>
                    <a:cs typeface="Gill Sans MT"/>
                  </a:rPr>
                  <a:t>er</a:t>
                </a:r>
                <a:r>
                  <a:rPr sz="2200" spc="-5" dirty="0">
                    <a:latin typeface="Gill Sans MT"/>
                    <a:cs typeface="Gill Sans MT"/>
                  </a:rPr>
                  <a:t> </a:t>
                </a:r>
                <a14:m>
                  <m:oMath xmlns:m="http://schemas.openxmlformats.org/officeDocument/2006/math">
                    <m:r>
                      <a:rPr lang="en-US" sz="2200" i="1" spc="-5" dirty="0" smtClean="0">
                        <a:latin typeface="Cambria Math" panose="02040503050406030204" pitchFamily="18" charset="0"/>
                        <a:cs typeface="Gill Sans MT"/>
                      </a:rPr>
                      <m:t>𝑖</m:t>
                    </m:r>
                  </m:oMath>
                </a14:m>
                <a:r>
                  <a:rPr sz="2200" spc="-5" dirty="0">
                    <a:latin typeface="Gill Sans MT"/>
                    <a:cs typeface="Gill Sans MT"/>
                  </a:rPr>
                  <a:t> </a:t>
                </a:r>
                <a:r>
                  <a:rPr sz="2200" spc="-10" dirty="0">
                    <a:latin typeface="Gill Sans MT"/>
                    <a:cs typeface="Gill Sans MT"/>
                  </a:rPr>
                  <a:t>has</a:t>
                </a:r>
                <a:r>
                  <a:rPr sz="2200" spc="-5" dirty="0">
                    <a:latin typeface="Gill Sans MT"/>
                    <a:cs typeface="Gill Sans MT"/>
                  </a:rPr>
                  <a:t> </a:t>
                </a:r>
                <a:r>
                  <a:rPr sz="2200" spc="-10" dirty="0">
                    <a:latin typeface="Gill Sans MT"/>
                    <a:cs typeface="Gill Sans MT"/>
                  </a:rPr>
                  <a:t>a</a:t>
                </a:r>
                <a:r>
                  <a:rPr sz="2200" dirty="0">
                    <a:latin typeface="Gill Sans MT"/>
                    <a:cs typeface="Gill Sans MT"/>
                  </a:rPr>
                  <a:t>t</a:t>
                </a:r>
                <a:r>
                  <a:rPr sz="2200" spc="-5" dirty="0">
                    <a:latin typeface="Gill Sans MT"/>
                    <a:cs typeface="Gill Sans MT"/>
                  </a:rPr>
                  <a:t> </a:t>
                </a:r>
                <a:r>
                  <a:rPr sz="2200" dirty="0">
                    <a:latin typeface="Gill Sans MT"/>
                    <a:cs typeface="Gill Sans MT"/>
                  </a:rPr>
                  <a:t>l</a:t>
                </a:r>
                <a:r>
                  <a:rPr sz="2200" spc="-10" dirty="0">
                    <a:latin typeface="Gill Sans MT"/>
                    <a:cs typeface="Gill Sans MT"/>
                  </a:rPr>
                  <a:t>eas</a:t>
                </a:r>
                <a:r>
                  <a:rPr sz="2200" dirty="0">
                    <a:latin typeface="Gill Sans MT"/>
                    <a:cs typeface="Gill Sans MT"/>
                  </a:rPr>
                  <a:t>t</a:t>
                </a:r>
                <a:r>
                  <a:rPr sz="2200" spc="-5" dirty="0">
                    <a:latin typeface="Gill Sans MT"/>
                    <a:cs typeface="Gill Sans MT"/>
                  </a:rPr>
                  <a:t> </a:t>
                </a:r>
                <a:r>
                  <a:rPr sz="2200" spc="-10" dirty="0">
                    <a:latin typeface="Gill Sans MT"/>
                    <a:cs typeface="Gill Sans MT"/>
                  </a:rPr>
                  <a:t>a g</a:t>
                </a:r>
                <a:r>
                  <a:rPr sz="2200" dirty="0">
                    <a:latin typeface="Gill Sans MT"/>
                    <a:cs typeface="Gill Sans MT"/>
                  </a:rPr>
                  <a:t>i</a:t>
                </a:r>
                <a:r>
                  <a:rPr sz="2200" spc="-55" dirty="0">
                    <a:latin typeface="Gill Sans MT"/>
                    <a:cs typeface="Gill Sans MT"/>
                  </a:rPr>
                  <a:t>v</a:t>
                </a:r>
                <a:r>
                  <a:rPr sz="2200" dirty="0">
                    <a:latin typeface="Gill Sans MT"/>
                    <a:cs typeface="Gill Sans MT"/>
                  </a:rPr>
                  <a:t>en</a:t>
                </a:r>
                <a:r>
                  <a:rPr sz="2200" spc="-5" dirty="0">
                    <a:latin typeface="Gill Sans MT"/>
                    <a:cs typeface="Gill Sans MT"/>
                  </a:rPr>
                  <a:t> </a:t>
                </a:r>
                <a:r>
                  <a:rPr sz="2200" spc="-15" dirty="0">
                    <a:latin typeface="Gill Sans MT"/>
                    <a:cs typeface="Gill Sans MT"/>
                  </a:rPr>
                  <a:t>amo</a:t>
                </a:r>
                <a:r>
                  <a:rPr sz="2200" dirty="0">
                    <a:latin typeface="Gill Sans MT"/>
                    <a:cs typeface="Gill Sans MT"/>
                  </a:rPr>
                  <a:t>unt</a:t>
                </a:r>
                <a:r>
                  <a:rPr sz="2200" spc="-5" dirty="0">
                    <a:latin typeface="Gill Sans MT"/>
                    <a:cs typeface="Gill Sans MT"/>
                  </a:rPr>
                  <a:t> </a:t>
                </a:r>
                <a:r>
                  <a:rPr sz="2200" spc="-15" dirty="0">
                    <a:latin typeface="Gill Sans MT"/>
                    <a:cs typeface="Gill Sans MT"/>
                  </a:rPr>
                  <a:t>o</a:t>
                </a:r>
                <a:r>
                  <a:rPr sz="2200" dirty="0">
                    <a:latin typeface="Gill Sans MT"/>
                    <a:cs typeface="Gill Sans MT"/>
                  </a:rPr>
                  <a:t>f</a:t>
                </a:r>
                <a:r>
                  <a:rPr sz="2200" spc="-5" dirty="0">
                    <a:latin typeface="Gill Sans MT"/>
                    <a:cs typeface="Gill Sans MT"/>
                  </a:rPr>
                  <a:t> </a:t>
                </a:r>
                <a:r>
                  <a:rPr sz="2200" spc="-15" dirty="0">
                    <a:latin typeface="Gill Sans MT"/>
                    <a:cs typeface="Gill Sans MT"/>
                  </a:rPr>
                  <a:t>p</a:t>
                </a:r>
                <a:r>
                  <a:rPr sz="2200" spc="-100" dirty="0">
                    <a:latin typeface="Gill Sans MT"/>
                    <a:cs typeface="Gill Sans MT"/>
                  </a:rPr>
                  <a:t>a</a:t>
                </a:r>
                <a:r>
                  <a:rPr sz="2200" spc="-55" dirty="0">
                    <a:latin typeface="Gill Sans MT"/>
                    <a:cs typeface="Gill Sans MT"/>
                  </a:rPr>
                  <a:t>y</a:t>
                </a:r>
                <a:r>
                  <a:rPr sz="2200" spc="-15" dirty="0">
                    <a:latin typeface="Gill Sans MT"/>
                    <a:cs typeface="Gill Sans MT"/>
                  </a:rPr>
                  <a:t>o</a:t>
                </a:r>
                <a:r>
                  <a:rPr sz="2200" dirty="0">
                    <a:latin typeface="Gill Sans MT"/>
                    <a:cs typeface="Gill Sans MT"/>
                  </a:rPr>
                  <a:t>ff</a:t>
                </a:r>
                <a:r>
                  <a:rPr lang="en-US" sz="2200" dirty="0">
                    <a:latin typeface="Gill Sans MT"/>
                    <a:cs typeface="Gill Sans MT"/>
                  </a:rPr>
                  <a:t>. </a:t>
                </a:r>
                <a:r>
                  <a:rPr lang="en-US" sz="1200" dirty="0">
                    <a:solidFill>
                      <a:srgbClr val="FF0000"/>
                    </a:solidFill>
                    <a:latin typeface="Gill Sans MT"/>
                  </a:rPr>
                  <a:t>This can not be answered effectively</a:t>
                </a:r>
              </a:p>
              <a:p>
                <a:pPr marL="12700" marR="0" lvl="0" indent="0" algn="l" defTabSz="914400" rtl="0" eaLnBrk="1" fontAlgn="auto" latinLnBrk="0" hangingPunct="1">
                  <a:lnSpc>
                    <a:spcPct val="100000"/>
                  </a:lnSpc>
                  <a:spcBef>
                    <a:spcPts val="0"/>
                  </a:spcBef>
                  <a:spcAft>
                    <a:spcPts val="0"/>
                  </a:spcAft>
                  <a:buClrTx/>
                  <a:buSzTx/>
                  <a:buFontTx/>
                  <a:buNone/>
                  <a:tabLst/>
                  <a:defRPr/>
                </a:pPr>
                <a:endParaRPr lang="en-US" sz="2200" spc="-15" dirty="0">
                  <a:latin typeface="Gill Sans MT"/>
                  <a:cs typeface="Gill Sans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sz="2200" spc="-15" dirty="0">
                    <a:latin typeface="Gill Sans MT"/>
                    <a:cs typeface="Gill Sans MT"/>
                  </a:rPr>
                  <a:t>A</a:t>
                </a:r>
                <a:r>
                  <a:rPr sz="2200" spc="-5" dirty="0">
                    <a:latin typeface="Gill Sans MT"/>
                    <a:cs typeface="Gill Sans MT"/>
                  </a:rPr>
                  <a:t> </a:t>
                </a:r>
                <a:r>
                  <a:rPr sz="2200" spc="-15" dirty="0">
                    <a:latin typeface="Gill Sans MT"/>
                    <a:cs typeface="Gill Sans MT"/>
                  </a:rPr>
                  <a:t>Nas</a:t>
                </a:r>
                <a:r>
                  <a:rPr sz="2200" dirty="0">
                    <a:latin typeface="Gill Sans MT"/>
                    <a:cs typeface="Gill Sans MT"/>
                  </a:rPr>
                  <a:t>h</a:t>
                </a:r>
                <a:r>
                  <a:rPr sz="2200" spc="-5" dirty="0">
                    <a:latin typeface="Gill Sans MT"/>
                    <a:cs typeface="Gill Sans MT"/>
                  </a:rPr>
                  <a:t> </a:t>
                </a:r>
                <a:r>
                  <a:rPr sz="2200" dirty="0">
                    <a:latin typeface="Gill Sans MT"/>
                    <a:cs typeface="Gill Sans MT"/>
                  </a:rPr>
                  <a:t>Equilibri</a:t>
                </a:r>
                <a:r>
                  <a:rPr sz="2200" spc="-15" dirty="0">
                    <a:latin typeface="Gill Sans MT"/>
                    <a:cs typeface="Gill Sans MT"/>
                  </a:rPr>
                  <a:t>um</a:t>
                </a:r>
                <a:r>
                  <a:rPr sz="2200" spc="-5" dirty="0">
                    <a:latin typeface="Gill Sans MT"/>
                    <a:cs typeface="Gill Sans MT"/>
                  </a:rPr>
                  <a:t> </a:t>
                </a:r>
                <a:r>
                  <a:rPr sz="2200" dirty="0">
                    <a:latin typeface="Gill Sans MT"/>
                    <a:cs typeface="Gill Sans MT"/>
                  </a:rPr>
                  <a:t>with</a:t>
                </a:r>
                <a:r>
                  <a:rPr sz="2200" spc="-5" dirty="0">
                    <a:latin typeface="Gill Sans MT"/>
                    <a:cs typeface="Gill Sans MT"/>
                  </a:rPr>
                  <a:t> </a:t>
                </a:r>
                <a:r>
                  <a:rPr sz="2200" spc="-15" dirty="0">
                    <a:latin typeface="Gill Sans MT"/>
                    <a:cs typeface="Gill Sans MT"/>
                  </a:rPr>
                  <a:t>suppo</a:t>
                </a:r>
                <a:r>
                  <a:rPr sz="2200" spc="25" dirty="0">
                    <a:latin typeface="Gill Sans MT"/>
                    <a:cs typeface="Gill Sans MT"/>
                  </a:rPr>
                  <a:t>r</a:t>
                </a:r>
                <a:r>
                  <a:rPr sz="2200" dirty="0">
                    <a:latin typeface="Gill Sans MT"/>
                    <a:cs typeface="Gill Sans MT"/>
                  </a:rPr>
                  <a:t>t</a:t>
                </a:r>
                <a:r>
                  <a:rPr sz="2200" spc="-5" dirty="0">
                    <a:latin typeface="Gill Sans MT"/>
                    <a:cs typeface="Gill Sans MT"/>
                  </a:rPr>
                  <a:t> </a:t>
                </a:r>
                <a:r>
                  <a:rPr sz="2200" spc="-10" dirty="0">
                    <a:latin typeface="Gill Sans MT"/>
                    <a:cs typeface="Gill Sans MT"/>
                  </a:rPr>
                  <a:t>s</a:t>
                </a:r>
                <a:r>
                  <a:rPr sz="2200" dirty="0">
                    <a:latin typeface="Gill Sans MT"/>
                    <a:cs typeface="Gill Sans MT"/>
                  </a:rPr>
                  <a:t>i</a:t>
                </a:r>
                <a:r>
                  <a:rPr sz="2200" spc="-10" dirty="0">
                    <a:latin typeface="Gill Sans MT"/>
                    <a:cs typeface="Gill Sans MT"/>
                  </a:rPr>
                  <a:t>ze</a:t>
                </a:r>
                <a:r>
                  <a:rPr sz="2200" spc="-5" dirty="0">
                    <a:latin typeface="Gill Sans MT"/>
                    <a:cs typeface="Gill Sans MT"/>
                  </a:rPr>
                  <a:t> </a:t>
                </a:r>
                <a:r>
                  <a:rPr sz="2200" spc="-10" dirty="0">
                    <a:latin typeface="Gill Sans MT"/>
                    <a:cs typeface="Gill Sans MT"/>
                  </a:rPr>
                  <a:t>a</a:t>
                </a:r>
                <a:r>
                  <a:rPr sz="2200" dirty="0">
                    <a:latin typeface="Gill Sans MT"/>
                    <a:cs typeface="Gill Sans MT"/>
                  </a:rPr>
                  <a:t>t</a:t>
                </a:r>
                <a:r>
                  <a:rPr sz="2200" spc="-5" dirty="0">
                    <a:latin typeface="Gill Sans MT"/>
                    <a:cs typeface="Gill Sans MT"/>
                  </a:rPr>
                  <a:t> </a:t>
                </a:r>
                <a:r>
                  <a:rPr sz="2200" dirty="0">
                    <a:latin typeface="Gill Sans MT"/>
                    <a:cs typeface="Gill Sans MT"/>
                  </a:rPr>
                  <a:t>l</a:t>
                </a:r>
                <a:r>
                  <a:rPr sz="2200" spc="-10" dirty="0">
                    <a:latin typeface="Gill Sans MT"/>
                    <a:cs typeface="Gill Sans MT"/>
                  </a:rPr>
                  <a:t>eas</a:t>
                </a:r>
                <a:r>
                  <a:rPr sz="2200" dirty="0">
                    <a:latin typeface="Gill Sans MT"/>
                    <a:cs typeface="Gill Sans MT"/>
                  </a:rPr>
                  <a:t>t</a:t>
                </a:r>
                <a:r>
                  <a:rPr sz="2200" spc="-5" dirty="0">
                    <a:latin typeface="Gill Sans MT"/>
                    <a:cs typeface="Gill Sans MT"/>
                  </a:rPr>
                  <a:t> </a:t>
                </a:r>
                <a:r>
                  <a:rPr sz="2200" spc="-10" dirty="0">
                    <a:latin typeface="Gill Sans MT"/>
                    <a:cs typeface="Gill Sans MT"/>
                  </a:rPr>
                  <a:t>a g</a:t>
                </a:r>
                <a:r>
                  <a:rPr sz="2200" dirty="0">
                    <a:latin typeface="Gill Sans MT"/>
                    <a:cs typeface="Gill Sans MT"/>
                  </a:rPr>
                  <a:t>i</a:t>
                </a:r>
                <a:r>
                  <a:rPr sz="2200" spc="-55" dirty="0">
                    <a:latin typeface="Gill Sans MT"/>
                    <a:cs typeface="Gill Sans MT"/>
                  </a:rPr>
                  <a:t>v</a:t>
                </a:r>
                <a:r>
                  <a:rPr sz="2200" dirty="0">
                    <a:latin typeface="Gill Sans MT"/>
                    <a:cs typeface="Gill Sans MT"/>
                  </a:rPr>
                  <a:t>en</a:t>
                </a:r>
                <a:r>
                  <a:rPr sz="2200" spc="-5" dirty="0">
                    <a:latin typeface="Gill Sans MT"/>
                    <a:cs typeface="Gill Sans MT"/>
                  </a:rPr>
                  <a:t> </a:t>
                </a:r>
                <a:r>
                  <a:rPr sz="2200" spc="-25" dirty="0">
                    <a:latin typeface="Gill Sans MT"/>
                    <a:cs typeface="Gill Sans MT"/>
                  </a:rPr>
                  <a:t>n</a:t>
                </a:r>
                <a:r>
                  <a:rPr sz="2200" dirty="0">
                    <a:latin typeface="Gill Sans MT"/>
                    <a:cs typeface="Gill Sans MT"/>
                  </a:rPr>
                  <a:t>umbe</a:t>
                </a:r>
                <a:r>
                  <a:rPr sz="2200" spc="-235" dirty="0">
                    <a:latin typeface="Gill Sans MT"/>
                    <a:cs typeface="Gill Sans MT"/>
                  </a:rPr>
                  <a:t>r</a:t>
                </a:r>
                <a:r>
                  <a:rPr sz="2200" dirty="0">
                    <a:latin typeface="Gill Sans MT"/>
                    <a:cs typeface="Gill Sans MT"/>
                  </a:rPr>
                  <a:t>.</a:t>
                </a:r>
                <a:r>
                  <a:rPr lang="en-US" sz="2200" dirty="0">
                    <a:latin typeface="Gill Sans MT"/>
                    <a:cs typeface="Gill Sans MT"/>
                  </a:rPr>
                  <a:t> </a:t>
                </a:r>
                <a:r>
                  <a:rPr kumimoji="0" lang="en-US" sz="1200" b="0" i="0" u="none" strike="noStrike" kern="1200" cap="none" spc="0" normalizeH="0" baseline="0" noProof="0" dirty="0">
                    <a:ln>
                      <a:noFill/>
                    </a:ln>
                    <a:solidFill>
                      <a:srgbClr val="FF0000"/>
                    </a:solidFill>
                    <a:effectLst/>
                    <a:uLnTx/>
                    <a:uFillTx/>
                    <a:latin typeface="Gill Sans MT"/>
                    <a:ea typeface="+mn-ea"/>
                    <a:cs typeface="Gill Sans MT"/>
                  </a:rPr>
                  <a:t>This can not be answered effectively</a:t>
                </a:r>
                <a:endParaRPr sz="2200" dirty="0">
                  <a:latin typeface="Gill Sans MT"/>
                  <a:cs typeface="Gill Sans MT"/>
                </a:endParaRPr>
              </a:p>
              <a:p>
                <a:pPr marL="12700" marR="652145">
                  <a:lnSpc>
                    <a:spcPts val="2500"/>
                  </a:lnSpc>
                  <a:spcBef>
                    <a:spcPts val="1685"/>
                  </a:spcBef>
                </a:pPr>
                <a:r>
                  <a:rPr sz="2200" spc="-15" dirty="0">
                    <a:latin typeface="Gill Sans MT"/>
                    <a:cs typeface="Gill Sans MT"/>
                  </a:rPr>
                  <a:t>A</a:t>
                </a:r>
                <a:r>
                  <a:rPr sz="2200" spc="-5" dirty="0">
                    <a:latin typeface="Gill Sans MT"/>
                    <a:cs typeface="Gill Sans MT"/>
                  </a:rPr>
                  <a:t> </a:t>
                </a:r>
                <a:r>
                  <a:rPr sz="2200" spc="-15" dirty="0">
                    <a:latin typeface="Gill Sans MT"/>
                    <a:cs typeface="Gill Sans MT"/>
                  </a:rPr>
                  <a:t>Nas</a:t>
                </a:r>
                <a:r>
                  <a:rPr sz="2200" dirty="0">
                    <a:latin typeface="Gill Sans MT"/>
                    <a:cs typeface="Gill Sans MT"/>
                  </a:rPr>
                  <a:t>h</a:t>
                </a:r>
                <a:r>
                  <a:rPr sz="2200" spc="-5" dirty="0">
                    <a:latin typeface="Gill Sans MT"/>
                    <a:cs typeface="Gill Sans MT"/>
                  </a:rPr>
                  <a:t> </a:t>
                </a:r>
                <a:r>
                  <a:rPr sz="2200" dirty="0">
                    <a:latin typeface="Gill Sans MT"/>
                    <a:cs typeface="Gill Sans MT"/>
                  </a:rPr>
                  <a:t>Equilibri</a:t>
                </a:r>
                <a:r>
                  <a:rPr sz="2200" spc="-15" dirty="0">
                    <a:latin typeface="Gill Sans MT"/>
                    <a:cs typeface="Gill Sans MT"/>
                  </a:rPr>
                  <a:t>um</a:t>
                </a:r>
                <a:r>
                  <a:rPr sz="2200" spc="-5" dirty="0">
                    <a:latin typeface="Gill Sans MT"/>
                    <a:cs typeface="Gill Sans MT"/>
                  </a:rPr>
                  <a:t> </a:t>
                </a:r>
                <a:r>
                  <a:rPr sz="2200" dirty="0">
                    <a:latin typeface="Gill Sans MT"/>
                    <a:cs typeface="Gill Sans MT"/>
                  </a:rPr>
                  <a:t>w</a:t>
                </a:r>
                <a:r>
                  <a:rPr sz="2200" spc="-15" dirty="0">
                    <a:latin typeface="Gill Sans MT"/>
                    <a:cs typeface="Gill Sans MT"/>
                  </a:rPr>
                  <a:t>hos</a:t>
                </a:r>
                <a:r>
                  <a:rPr sz="2200" dirty="0">
                    <a:latin typeface="Gill Sans MT"/>
                    <a:cs typeface="Gill Sans MT"/>
                  </a:rPr>
                  <a:t>e</a:t>
                </a:r>
                <a:r>
                  <a:rPr sz="2200" spc="-5" dirty="0">
                    <a:latin typeface="Gill Sans MT"/>
                    <a:cs typeface="Gill Sans MT"/>
                  </a:rPr>
                  <a:t> </a:t>
                </a:r>
                <a:r>
                  <a:rPr sz="2200" spc="-15" dirty="0">
                    <a:latin typeface="Gill Sans MT"/>
                    <a:cs typeface="Gill Sans MT"/>
                  </a:rPr>
                  <a:t>suppo</a:t>
                </a:r>
                <a:r>
                  <a:rPr sz="2200" spc="25" dirty="0">
                    <a:latin typeface="Gill Sans MT"/>
                    <a:cs typeface="Gill Sans MT"/>
                  </a:rPr>
                  <a:t>r</a:t>
                </a:r>
                <a:r>
                  <a:rPr sz="2200" dirty="0">
                    <a:latin typeface="Gill Sans MT"/>
                    <a:cs typeface="Gill Sans MT"/>
                  </a:rPr>
                  <a:t>t</a:t>
                </a:r>
                <a:r>
                  <a:rPr sz="2200" spc="-5" dirty="0">
                    <a:latin typeface="Gill Sans MT"/>
                    <a:cs typeface="Gill Sans MT"/>
                  </a:rPr>
                  <a:t> </a:t>
                </a:r>
                <a:r>
                  <a:rPr sz="2200" spc="-15" dirty="0">
                    <a:latin typeface="Gill Sans MT"/>
                    <a:cs typeface="Gill Sans MT"/>
                  </a:rPr>
                  <a:t>does</a:t>
                </a:r>
                <a:r>
                  <a:rPr sz="2200" spc="-5" dirty="0">
                    <a:latin typeface="Gill Sans MT"/>
                    <a:cs typeface="Gill Sans MT"/>
                  </a:rPr>
                  <a:t> </a:t>
                </a:r>
                <a:r>
                  <a:rPr sz="2200" spc="-15" dirty="0">
                    <a:latin typeface="Gill Sans MT"/>
                    <a:cs typeface="Gill Sans MT"/>
                  </a:rPr>
                  <a:t>no</a:t>
                </a:r>
                <a:r>
                  <a:rPr sz="2200" dirty="0">
                    <a:latin typeface="Gill Sans MT"/>
                    <a:cs typeface="Gill Sans MT"/>
                  </a:rPr>
                  <a:t>t </a:t>
                </a:r>
                <a:r>
                  <a:rPr sz="2200" spc="-10" dirty="0">
                    <a:latin typeface="Gill Sans MT"/>
                    <a:cs typeface="Gill Sans MT"/>
                  </a:rPr>
                  <a:t>conta</a:t>
                </a:r>
                <a:r>
                  <a:rPr sz="2200" dirty="0">
                    <a:latin typeface="Gill Sans MT"/>
                    <a:cs typeface="Gill Sans MT"/>
                  </a:rPr>
                  <a:t>in</a:t>
                </a:r>
                <a:r>
                  <a:rPr sz="2200" spc="-5" dirty="0">
                    <a:latin typeface="Gill Sans MT"/>
                    <a:cs typeface="Gill Sans MT"/>
                  </a:rPr>
                  <a:t> </a:t>
                </a:r>
                <a:r>
                  <a:rPr sz="2200" spc="-10" dirty="0">
                    <a:latin typeface="Gill Sans MT"/>
                    <a:cs typeface="Gill Sans MT"/>
                  </a:rPr>
                  <a:t>strate</a:t>
                </a:r>
                <a:r>
                  <a:rPr sz="2200" spc="25" dirty="0">
                    <a:latin typeface="Gill Sans MT"/>
                    <a:cs typeface="Gill Sans MT"/>
                  </a:rPr>
                  <a:t>g</a:t>
                </a:r>
                <a:r>
                  <a:rPr sz="2200" spc="-10" dirty="0">
                    <a:latin typeface="Gill Sans MT"/>
                    <a:cs typeface="Gill Sans MT"/>
                  </a:rPr>
                  <a:t>y</a:t>
                </a:r>
                <a:r>
                  <a:rPr sz="2200" spc="-5" dirty="0">
                    <a:latin typeface="Gill Sans MT"/>
                    <a:cs typeface="Gill Sans MT"/>
                  </a:rPr>
                  <a:t> </a:t>
                </a:r>
                <a:r>
                  <a:rPr sz="2200" spc="-10" dirty="0">
                    <a:latin typeface="Gill Sans MT"/>
                    <a:cs typeface="Gill Sans MT"/>
                  </a:rPr>
                  <a:t>s</a:t>
                </a:r>
                <a:r>
                  <a:rPr sz="2200" dirty="0">
                    <a:latin typeface="Gill Sans MT"/>
                    <a:cs typeface="Gill Sans MT"/>
                  </a:rPr>
                  <a:t>?</a:t>
                </a:r>
                <a:r>
                  <a:rPr lang="en-US" sz="2200" dirty="0">
                    <a:latin typeface="Gill Sans MT"/>
                    <a:cs typeface="Gill Sans MT"/>
                  </a:rPr>
                  <a:t> </a:t>
                </a:r>
                <a:r>
                  <a:rPr lang="en-US" sz="1200" dirty="0">
                    <a:solidFill>
                      <a:srgbClr val="FF0000"/>
                    </a:solidFill>
                    <a:latin typeface="Gill Sans MT"/>
                  </a:rPr>
                  <a:t>This can not be answered effectively</a:t>
                </a:r>
              </a:p>
            </p:txBody>
          </p:sp>
        </mc:Choice>
        <mc:Fallback xmlns="">
          <p:sp>
            <p:nvSpPr>
              <p:cNvPr id="11" name="object 5">
                <a:extLst>
                  <a:ext uri="{FF2B5EF4-FFF2-40B4-BE49-F238E27FC236}">
                    <a16:creationId xmlns:a16="http://schemas.microsoft.com/office/drawing/2014/main" id="{0C8D5A97-8FAB-94D0-DBDE-37FB789ED0AE}"/>
                  </a:ext>
                </a:extLst>
              </p:cNvPr>
              <p:cNvSpPr txBox="1">
                <a:spLocks noRot="1" noChangeAspect="1" noMove="1" noResize="1" noEditPoints="1" noAdjustHandles="1" noChangeArrowheads="1" noChangeShapeType="1" noTextEdit="1"/>
              </p:cNvSpPr>
              <p:nvPr/>
            </p:nvSpPr>
            <p:spPr>
              <a:xfrm>
                <a:off x="1727200" y="2404745"/>
                <a:ext cx="5730240" cy="3072636"/>
              </a:xfrm>
              <a:prstGeom prst="rect">
                <a:avLst/>
              </a:prstGeom>
              <a:blipFill>
                <a:blip r:embed="rId3"/>
                <a:stretch>
                  <a:fillRect l="-2766" t="-2772" r="-2553" b="-4356"/>
                </a:stretch>
              </a:blipFill>
            </p:spPr>
            <p:txBody>
              <a:bodyPr/>
              <a:lstStyle/>
              <a:p>
                <a:r>
                  <a:rPr lang="en-US">
                    <a:noFill/>
                  </a:rPr>
                  <a:t> </a:t>
                </a:r>
              </a:p>
            </p:txBody>
          </p:sp>
        </mc:Fallback>
      </mc:AlternateContent>
      <p:sp>
        <p:nvSpPr>
          <p:cNvPr id="12" name="object 6">
            <a:extLst>
              <a:ext uri="{FF2B5EF4-FFF2-40B4-BE49-F238E27FC236}">
                <a16:creationId xmlns:a16="http://schemas.microsoft.com/office/drawing/2014/main" id="{1D2DC6E8-4B48-51DE-BF44-E1648F33B74E}"/>
              </a:ext>
            </a:extLst>
          </p:cNvPr>
          <p:cNvSpPr txBox="1"/>
          <p:nvPr/>
        </p:nvSpPr>
        <p:spPr>
          <a:xfrm>
            <a:off x="3962400" y="5638800"/>
            <a:ext cx="4377055" cy="228600"/>
          </a:xfrm>
          <a:prstGeom prst="rect">
            <a:avLst/>
          </a:prstGeom>
        </p:spPr>
        <p:txBody>
          <a:bodyPr vert="horz" wrap="square" lIns="0" tIns="0" rIns="0" bIns="0" rtlCol="0">
            <a:spAutoFit/>
          </a:bodyPr>
          <a:lstStyle/>
          <a:p>
            <a:pPr marL="12700">
              <a:lnSpc>
                <a:spcPct val="100000"/>
              </a:lnSpc>
            </a:pPr>
            <a:r>
              <a:rPr sz="1600" spc="20" dirty="0">
                <a:latin typeface="Arial"/>
                <a:cs typeface="Arial"/>
              </a:rPr>
              <a:t>“Algorithmic Game </a:t>
            </a:r>
            <a:r>
              <a:rPr sz="1600" spc="-30" dirty="0">
                <a:latin typeface="Arial"/>
                <a:cs typeface="Arial"/>
              </a:rPr>
              <a:t>Theo</a:t>
            </a:r>
            <a:r>
              <a:rPr sz="1600" spc="5" dirty="0">
                <a:latin typeface="Arial"/>
                <a:cs typeface="Arial"/>
              </a:rPr>
              <a:t>r</a:t>
            </a:r>
            <a:r>
              <a:rPr sz="1600" spc="25" dirty="0">
                <a:latin typeface="Arial"/>
                <a:cs typeface="Arial"/>
              </a:rPr>
              <a:t>y”,</a:t>
            </a:r>
            <a:r>
              <a:rPr sz="1600" dirty="0">
                <a:latin typeface="Arial"/>
                <a:cs typeface="Arial"/>
              </a:rPr>
              <a:t> Nissan et al (2007).</a:t>
            </a:r>
          </a:p>
        </p:txBody>
      </p:sp>
      <p:sp>
        <p:nvSpPr>
          <p:cNvPr id="13" name="Slide Number Placeholder 8">
            <a:extLst>
              <a:ext uri="{FF2B5EF4-FFF2-40B4-BE49-F238E27FC236}">
                <a16:creationId xmlns:a16="http://schemas.microsoft.com/office/drawing/2014/main" id="{F203CC30-F845-2648-5A90-E5142BAA20D3}"/>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39</a:t>
            </a:fld>
            <a:r>
              <a:rPr lang="en-US" sz="2000" dirty="0">
                <a:solidFill>
                  <a:prstClr val="black"/>
                </a:solidFill>
                <a:latin typeface="Comic Sans MS"/>
                <a:sym typeface="Comic Sans MS"/>
              </a:rPr>
              <a:t>/46</a:t>
            </a:r>
          </a:p>
        </p:txBody>
      </p:sp>
      <p:sp>
        <p:nvSpPr>
          <p:cNvPr id="14" name="Footer Placeholder 9">
            <a:extLst>
              <a:ext uri="{FF2B5EF4-FFF2-40B4-BE49-F238E27FC236}">
                <a16:creationId xmlns:a16="http://schemas.microsoft.com/office/drawing/2014/main" id="{52859843-2D54-274C-43BC-181CD433C8E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5" name="Rectangle 14">
            <a:extLst>
              <a:ext uri="{FF2B5EF4-FFF2-40B4-BE49-F238E27FC236}">
                <a16:creationId xmlns:a16="http://schemas.microsoft.com/office/drawing/2014/main" id="{0B1D4CB8-9FFE-A2C5-3019-4B6FCCAA070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6" name="Rectangle 15">
            <a:extLst>
              <a:ext uri="{FF2B5EF4-FFF2-40B4-BE49-F238E27FC236}">
                <a16:creationId xmlns:a16="http://schemas.microsoft.com/office/drawing/2014/main" id="{F2A23E6A-9C91-7206-7FD1-1F07984C93DC}"/>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17A38A64-4A29-6696-089C-389D96153A38}"/>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4108115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362075"/>
            <a:ext cx="9144000" cy="5057140"/>
          </a:xfrm>
          <a:custGeom>
            <a:avLst/>
            <a:gdLst/>
            <a:ahLst/>
            <a:cxnLst/>
            <a:rect l="l" t="t" r="r" b="b"/>
            <a:pathLst>
              <a:path w="9144000" h="5057140">
                <a:moveTo>
                  <a:pt x="0" y="0"/>
                </a:moveTo>
                <a:lnTo>
                  <a:pt x="0" y="5056963"/>
                </a:lnTo>
                <a:lnTo>
                  <a:pt x="9144000" y="5056963"/>
                </a:lnTo>
                <a:lnTo>
                  <a:pt x="9144000" y="0"/>
                </a:lnTo>
                <a:lnTo>
                  <a:pt x="0" y="0"/>
                </a:lnTo>
                <a:close/>
              </a:path>
            </a:pathLst>
          </a:custGeom>
          <a:solidFill>
            <a:srgbClr val="E7E7E7"/>
          </a:solidFill>
        </p:spPr>
        <p:txBody>
          <a:bodyPr wrap="square" lIns="0" tIns="0" rIns="0" bIns="0" rtlCol="0"/>
          <a:lstStyle/>
          <a:p>
            <a:endParaRPr/>
          </a:p>
        </p:txBody>
      </p:sp>
      <p:sp>
        <p:nvSpPr>
          <p:cNvPr id="3" name="object 3"/>
          <p:cNvSpPr/>
          <p:nvPr/>
        </p:nvSpPr>
        <p:spPr>
          <a:xfrm>
            <a:off x="2716947" y="5047659"/>
            <a:ext cx="6427470" cy="1810385"/>
          </a:xfrm>
          <a:custGeom>
            <a:avLst/>
            <a:gdLst/>
            <a:ahLst/>
            <a:cxnLst/>
            <a:rect l="l" t="t" r="r" b="b"/>
            <a:pathLst>
              <a:path w="6427470" h="1810384">
                <a:moveTo>
                  <a:pt x="6427052" y="0"/>
                </a:moveTo>
                <a:lnTo>
                  <a:pt x="371415" y="0"/>
                </a:lnTo>
                <a:lnTo>
                  <a:pt x="340953" y="1231"/>
                </a:lnTo>
                <a:lnTo>
                  <a:pt x="282160" y="10794"/>
                </a:lnTo>
                <a:lnTo>
                  <a:pt x="226843" y="29187"/>
                </a:lnTo>
                <a:lnTo>
                  <a:pt x="175769" y="55646"/>
                </a:lnTo>
                <a:lnTo>
                  <a:pt x="129702" y="89406"/>
                </a:lnTo>
                <a:lnTo>
                  <a:pt x="89406" y="129701"/>
                </a:lnTo>
                <a:lnTo>
                  <a:pt x="55646" y="175769"/>
                </a:lnTo>
                <a:lnTo>
                  <a:pt x="29187" y="226843"/>
                </a:lnTo>
                <a:lnTo>
                  <a:pt x="10794" y="282159"/>
                </a:lnTo>
                <a:lnTo>
                  <a:pt x="1231" y="340953"/>
                </a:lnTo>
                <a:lnTo>
                  <a:pt x="0" y="371415"/>
                </a:lnTo>
                <a:lnTo>
                  <a:pt x="0" y="1810340"/>
                </a:lnTo>
                <a:lnTo>
                  <a:pt x="6427052" y="1810340"/>
                </a:lnTo>
                <a:lnTo>
                  <a:pt x="6427052" y="0"/>
                </a:lnTo>
                <a:close/>
              </a:path>
            </a:pathLst>
          </a:custGeom>
          <a:solidFill>
            <a:srgbClr val="E7E7E7"/>
          </a:solidFill>
        </p:spPr>
        <p:txBody>
          <a:bodyPr wrap="square" lIns="0" tIns="0" rIns="0" bIns="0" rtlCol="0"/>
          <a:lstStyle/>
          <a:p>
            <a:endParaRPr/>
          </a:p>
        </p:txBody>
      </p:sp>
      <p:sp>
        <p:nvSpPr>
          <p:cNvPr id="4" name="object 4"/>
          <p:cNvSpPr/>
          <p:nvPr/>
        </p:nvSpPr>
        <p:spPr>
          <a:xfrm>
            <a:off x="0" y="2819166"/>
            <a:ext cx="3655695" cy="4039235"/>
          </a:xfrm>
          <a:custGeom>
            <a:avLst/>
            <a:gdLst/>
            <a:ahLst/>
            <a:cxnLst/>
            <a:rect l="l" t="t" r="r" b="b"/>
            <a:pathLst>
              <a:path w="3655695" h="4039234">
                <a:moveTo>
                  <a:pt x="0" y="4038833"/>
                </a:moveTo>
                <a:lnTo>
                  <a:pt x="3655462" y="4038833"/>
                </a:lnTo>
                <a:lnTo>
                  <a:pt x="3655462" y="0"/>
                </a:lnTo>
                <a:lnTo>
                  <a:pt x="0" y="0"/>
                </a:lnTo>
                <a:lnTo>
                  <a:pt x="0" y="4038833"/>
                </a:lnTo>
                <a:close/>
              </a:path>
            </a:pathLst>
          </a:custGeom>
          <a:solidFill>
            <a:srgbClr val="E7E7E7"/>
          </a:solidFill>
        </p:spPr>
        <p:txBody>
          <a:bodyPr wrap="square" lIns="0" tIns="0" rIns="0" bIns="0" rtlCol="0"/>
          <a:lstStyle/>
          <a:p>
            <a:endParaRPr lang="en-US" dirty="0"/>
          </a:p>
        </p:txBody>
      </p:sp>
      <p:sp>
        <p:nvSpPr>
          <p:cNvPr id="5" name="object 5"/>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6" name="object 6"/>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T</a:t>
            </a:r>
            <a:r>
              <a:rPr dirty="0"/>
              <a:t>he</a:t>
            </a:r>
            <a:r>
              <a:rPr spc="-5" dirty="0"/>
              <a:t> </a:t>
            </a:r>
            <a:r>
              <a:rPr dirty="0"/>
              <a:t>Price</a:t>
            </a:r>
            <a:r>
              <a:rPr spc="-5" dirty="0"/>
              <a:t> </a:t>
            </a:r>
            <a:r>
              <a:rPr dirty="0"/>
              <a:t>o</a:t>
            </a:r>
            <a:r>
              <a:rPr spc="-10" dirty="0"/>
              <a:t>f</a:t>
            </a:r>
            <a:r>
              <a:rPr spc="-180" dirty="0"/>
              <a:t> </a:t>
            </a:r>
            <a:r>
              <a:rPr dirty="0"/>
              <a:t>Anarchy</a:t>
            </a:r>
            <a:r>
              <a:rPr spc="-5" dirty="0"/>
              <a:t> </a:t>
            </a:r>
            <a:r>
              <a:rPr dirty="0"/>
              <a:t>-</a:t>
            </a:r>
            <a:r>
              <a:rPr spc="-5" dirty="0"/>
              <a:t> </a:t>
            </a:r>
            <a:r>
              <a:rPr dirty="0"/>
              <a:t>o</a:t>
            </a:r>
            <a:r>
              <a:rPr spc="-10" dirty="0"/>
              <a:t>r:</a:t>
            </a:r>
            <a:r>
              <a:rPr spc="-5" dirty="0"/>
              <a:t> </a:t>
            </a:r>
            <a:r>
              <a:rPr spc="-15" dirty="0"/>
              <a:t>I</a:t>
            </a:r>
            <a:r>
              <a:rPr dirty="0"/>
              <a:t>s</a:t>
            </a:r>
            <a:r>
              <a:rPr spc="-5" dirty="0"/>
              <a:t> </a:t>
            </a:r>
            <a:r>
              <a:rPr dirty="0"/>
              <a:t>Nash</a:t>
            </a:r>
            <a:r>
              <a:rPr spc="-5" dirty="0"/>
              <a:t> </a:t>
            </a:r>
            <a:r>
              <a:rPr dirty="0"/>
              <a:t>good?</a:t>
            </a:r>
          </a:p>
        </p:txBody>
      </p:sp>
      <p:sp>
        <p:nvSpPr>
          <p:cNvPr id="8" name="object 8"/>
          <p:cNvSpPr txBox="1">
            <a:spLocks noGrp="1"/>
          </p:cNvSpPr>
          <p:nvPr>
            <p:ph type="body" idx="1"/>
          </p:nvPr>
        </p:nvSpPr>
        <p:spPr>
          <a:xfrm>
            <a:off x="460911" y="1673444"/>
            <a:ext cx="7616290" cy="2369880"/>
          </a:xfrm>
          <a:prstGeom prst="rect">
            <a:avLst/>
          </a:prstGeom>
        </p:spPr>
        <p:txBody>
          <a:bodyPr vert="horz" wrap="square" lIns="0" tIns="0" rIns="0" bIns="0" rtlCol="0">
            <a:spAutoFit/>
          </a:bodyPr>
          <a:lstStyle/>
          <a:p>
            <a:pPr marL="273050">
              <a:lnSpc>
                <a:spcPct val="100000"/>
              </a:lnSpc>
              <a:spcBef>
                <a:spcPts val="15"/>
              </a:spcBef>
            </a:pPr>
            <a:r>
              <a:rPr lang="en-US" sz="1900" dirty="0">
                <a:latin typeface="Times New Roman"/>
                <a:cs typeface="Times New Roman"/>
              </a:rPr>
              <a:t>The “Price of Anarchy” is the payoff lost due to the lack of central coordination. </a:t>
            </a:r>
          </a:p>
          <a:p>
            <a:pPr marL="273050">
              <a:lnSpc>
                <a:spcPct val="100000"/>
              </a:lnSpc>
              <a:spcBef>
                <a:spcPts val="15"/>
              </a:spcBef>
            </a:pPr>
            <a:r>
              <a:rPr lang="en-US" sz="1900" dirty="0">
                <a:latin typeface="Times New Roman"/>
                <a:cs typeface="Times New Roman"/>
              </a:rPr>
              <a:t>For example, in the prisoners’ dilemma (below), central coordination would enable the prisoners to achieve -2 in total due to a lack of coordination they will only obtain -6 at Nash.</a:t>
            </a:r>
          </a:p>
          <a:p>
            <a:pPr marL="273050">
              <a:lnSpc>
                <a:spcPct val="100000"/>
              </a:lnSpc>
              <a:spcBef>
                <a:spcPts val="15"/>
              </a:spcBef>
            </a:pPr>
            <a:endParaRPr sz="1900" dirty="0">
              <a:latin typeface="Times New Roman"/>
              <a:cs typeface="Times New Roman"/>
            </a:endParaRPr>
          </a:p>
          <a:p>
            <a:pPr marL="285750">
              <a:lnSpc>
                <a:spcPct val="100000"/>
              </a:lnSpc>
            </a:pPr>
            <a:r>
              <a:rPr spc="-10" dirty="0"/>
              <a:t>This “price of anarchy” is usually defined as the quotient of these quantities, here 2/6</a:t>
            </a:r>
          </a:p>
        </p:txBody>
      </p:sp>
      <p:graphicFrame>
        <p:nvGraphicFramePr>
          <p:cNvPr id="9" name="object 9"/>
          <p:cNvGraphicFramePr>
            <a:graphicFrameLocks noGrp="1"/>
          </p:cNvGraphicFramePr>
          <p:nvPr>
            <p:extLst>
              <p:ext uri="{D42A27DB-BD31-4B8C-83A1-F6EECF244321}">
                <p14:modId xmlns:p14="http://schemas.microsoft.com/office/powerpoint/2010/main" val="288600388"/>
              </p:ext>
            </p:extLst>
          </p:nvPr>
        </p:nvGraphicFramePr>
        <p:xfrm>
          <a:off x="1084897" y="48561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347663" indent="0">
                        <a:lnSpc>
                          <a:spcPct val="100000"/>
                        </a:lnSpc>
                      </a:pPr>
                      <a:r>
                        <a:rPr sz="1800" i="1" spc="-20" dirty="0">
                          <a:latin typeface="Meiryo"/>
                          <a:cs typeface="Meiryo"/>
                        </a:rPr>
                        <a:t>­</a:t>
                      </a:r>
                      <a:r>
                        <a:rPr lang="en-US" sz="1800" i="1" spc="-20" dirty="0">
                          <a:latin typeface="Meiryo"/>
                          <a:cs typeface="Meiryo"/>
                        </a:rPr>
                        <a:t>-</a:t>
                      </a:r>
                      <a:r>
                        <a:rPr sz="1800" spc="-20" dirty="0">
                          <a:latin typeface="Times New Roman"/>
                          <a:cs typeface="Times New Roman"/>
                        </a:rPr>
                        <a:t>1</a:t>
                      </a:r>
                      <a:r>
                        <a:rPr sz="1800" i="1" dirty="0">
                          <a:latin typeface="Times New Roman"/>
                          <a:cs typeface="Times New Roman"/>
                        </a:rPr>
                        <a:t>,</a:t>
                      </a:r>
                      <a:r>
                        <a:rPr sz="1800" i="1" spc="-175" dirty="0">
                          <a:latin typeface="Times New Roman"/>
                          <a:cs typeface="Times New Roman"/>
                        </a:rPr>
                        <a:t> </a:t>
                      </a:r>
                      <a:r>
                        <a:rPr sz="1800" i="1" spc="-45" dirty="0">
                          <a:latin typeface="Meiryo"/>
                          <a:cs typeface="Meiryo"/>
                        </a:rPr>
                        <a:t>­</a:t>
                      </a:r>
                      <a:r>
                        <a:rPr lang="en-US" sz="1800" i="1" spc="-45" dirty="0">
                          <a:latin typeface="Meiryo"/>
                          <a:cs typeface="Meiryo"/>
                        </a:rPr>
                        <a:t>-</a:t>
                      </a:r>
                      <a:r>
                        <a:rPr sz="18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47663" indent="0">
                        <a:lnSpc>
                          <a:spcPct val="100000"/>
                        </a:lnSpc>
                      </a:pPr>
                      <a:r>
                        <a:rPr sz="1800" i="1" spc="-20" dirty="0">
                          <a:latin typeface="Meiryo"/>
                          <a:cs typeface="Meiryo"/>
                        </a:rPr>
                        <a:t>­</a:t>
                      </a:r>
                      <a:r>
                        <a:rPr lang="en-US" sz="1800" i="1" spc="-20" dirty="0">
                          <a:latin typeface="Meiryo"/>
                          <a:cs typeface="Meiryo"/>
                        </a:rPr>
                        <a:t>-</a:t>
                      </a:r>
                      <a:r>
                        <a:rPr sz="1800" spc="-20" dirty="0">
                          <a:latin typeface="Times New Roman"/>
                          <a:cs typeface="Times New Roman"/>
                        </a:rPr>
                        <a:t>4</a:t>
                      </a:r>
                      <a:r>
                        <a:rPr sz="1800" i="1" dirty="0">
                          <a:latin typeface="Times New Roman"/>
                          <a:cs typeface="Times New Roman"/>
                        </a:rPr>
                        <a:t>,</a:t>
                      </a:r>
                      <a:r>
                        <a:rPr sz="1800" i="1" spc="-175" dirty="0">
                          <a:latin typeface="Times New Roman"/>
                          <a:cs typeface="Times New Roman"/>
                        </a:rPr>
                        <a:t> </a:t>
                      </a:r>
                      <a:r>
                        <a:rPr sz="1800" dirty="0">
                          <a:latin typeface="Times New Roman"/>
                          <a:cs typeface="Times New Roman"/>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96875" indent="0">
                        <a:lnSpc>
                          <a:spcPct val="100000"/>
                        </a:lnSpc>
                      </a:pPr>
                      <a:r>
                        <a:rPr sz="1800" dirty="0">
                          <a:latin typeface="Times New Roman"/>
                          <a:cs typeface="Times New Roman"/>
                        </a:rPr>
                        <a:t>0</a:t>
                      </a:r>
                      <a:r>
                        <a:rPr sz="1800" i="1" dirty="0">
                          <a:latin typeface="Times New Roman"/>
                          <a:cs typeface="Times New Roman"/>
                        </a:rPr>
                        <a:t>,</a:t>
                      </a:r>
                      <a:r>
                        <a:rPr sz="1800" i="1" spc="-135" dirty="0">
                          <a:latin typeface="Times New Roman"/>
                          <a:cs typeface="Times New Roman"/>
                        </a:rPr>
                        <a:t> </a:t>
                      </a:r>
                      <a:r>
                        <a:rPr sz="1800" i="1" spc="-45" dirty="0">
                          <a:latin typeface="Meiryo"/>
                          <a:cs typeface="Meiryo"/>
                        </a:rPr>
                        <a:t>­</a:t>
                      </a:r>
                      <a:r>
                        <a:rPr lang="en-US" sz="1800" i="1" spc="-45" dirty="0">
                          <a:latin typeface="Meiryo"/>
                          <a:cs typeface="Meiryo"/>
                        </a:rPr>
                        <a:t>-</a:t>
                      </a:r>
                      <a:r>
                        <a:rPr sz="1800" dirty="0">
                          <a:latin typeface="Times New Roman"/>
                          <a:cs typeface="Times New Roman"/>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288925" indent="0">
                        <a:lnSpc>
                          <a:spcPct val="100000"/>
                        </a:lnSpc>
                      </a:pPr>
                      <a:r>
                        <a:rPr sz="1800" i="1" spc="-20" dirty="0">
                          <a:latin typeface="Meiryo"/>
                          <a:cs typeface="Meiryo"/>
                        </a:rPr>
                        <a:t>­</a:t>
                      </a:r>
                      <a:r>
                        <a:rPr lang="en-US" sz="1800" i="1" spc="-20" dirty="0">
                          <a:latin typeface="Meiryo"/>
                          <a:cs typeface="Meiryo"/>
                        </a:rPr>
                        <a:t>-</a:t>
                      </a:r>
                      <a:r>
                        <a:rPr sz="1800" spc="-20" dirty="0">
                          <a:latin typeface="Times New Roman"/>
                          <a:cs typeface="Times New Roman"/>
                        </a:rPr>
                        <a:t>3</a:t>
                      </a:r>
                      <a:r>
                        <a:rPr sz="1800" i="1" dirty="0">
                          <a:latin typeface="Times New Roman"/>
                          <a:cs typeface="Times New Roman"/>
                        </a:rPr>
                        <a:t>,</a:t>
                      </a:r>
                      <a:r>
                        <a:rPr sz="1800" i="1" spc="-175" dirty="0">
                          <a:latin typeface="Times New Roman"/>
                          <a:cs typeface="Times New Roman"/>
                        </a:rPr>
                        <a:t> </a:t>
                      </a:r>
                      <a:r>
                        <a:rPr sz="1800" i="1" spc="-45" dirty="0">
                          <a:latin typeface="Meiryo"/>
                          <a:cs typeface="Meiryo"/>
                        </a:rPr>
                        <a:t>­</a:t>
                      </a:r>
                      <a:r>
                        <a:rPr lang="en-US" sz="1800" i="1" spc="-45" dirty="0">
                          <a:latin typeface="Meiryo"/>
                          <a:cs typeface="Meiryo"/>
                        </a:rPr>
                        <a:t>-</a:t>
                      </a:r>
                      <a:r>
                        <a:rPr sz="1800" dirty="0">
                          <a:latin typeface="Times New Roman"/>
                          <a:cs typeface="Times New Roman"/>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1" name="TextBox 10">
            <a:extLst>
              <a:ext uri="{FF2B5EF4-FFF2-40B4-BE49-F238E27FC236}">
                <a16:creationId xmlns:a16="http://schemas.microsoft.com/office/drawing/2014/main" id="{7D4B0882-039B-235F-F75E-B5DD1FDA6E17}"/>
              </a:ext>
            </a:extLst>
          </p:cNvPr>
          <p:cNvSpPr txBox="1"/>
          <p:nvPr/>
        </p:nvSpPr>
        <p:spPr>
          <a:xfrm>
            <a:off x="1427895" y="4266652"/>
            <a:ext cx="1885012" cy="615553"/>
          </a:xfrm>
          <a:prstGeom prst="rect">
            <a:avLst/>
          </a:prstGeom>
          <a:noFill/>
        </p:spPr>
        <p:txBody>
          <a:bodyPr wrap="square">
            <a:spAutoFit/>
          </a:bodyPr>
          <a:lstStyle/>
          <a:p>
            <a:r>
              <a:rPr lang="en-US" sz="3400" dirty="0">
                <a:latin typeface="Calibri"/>
                <a:cs typeface="Calibri"/>
              </a:rPr>
              <a:t>C 	  D </a:t>
            </a:r>
          </a:p>
        </p:txBody>
      </p:sp>
      <p:sp>
        <p:nvSpPr>
          <p:cNvPr id="13" name="TextBox 12">
            <a:extLst>
              <a:ext uri="{FF2B5EF4-FFF2-40B4-BE49-F238E27FC236}">
                <a16:creationId xmlns:a16="http://schemas.microsoft.com/office/drawing/2014/main" id="{643297EA-9AEB-4CEA-E993-4C469E30BC33}"/>
              </a:ext>
            </a:extLst>
          </p:cNvPr>
          <p:cNvSpPr txBox="1"/>
          <p:nvPr/>
        </p:nvSpPr>
        <p:spPr>
          <a:xfrm>
            <a:off x="461327" y="4915422"/>
            <a:ext cx="513144" cy="1369606"/>
          </a:xfrm>
          <a:prstGeom prst="rect">
            <a:avLst/>
          </a:prstGeom>
          <a:noFill/>
        </p:spPr>
        <p:txBody>
          <a:bodyPr wrap="square">
            <a:spAutoFit/>
          </a:bodyPr>
          <a:lstStyle/>
          <a:p>
            <a:pPr marL="115888" indent="15875">
              <a:lnSpc>
                <a:spcPct val="100000"/>
              </a:lnSpc>
              <a:spcBef>
                <a:spcPts val="919"/>
              </a:spcBef>
            </a:pPr>
            <a:r>
              <a:rPr lang="en-US" sz="3400" dirty="0">
                <a:latin typeface="Calibri"/>
                <a:cs typeface="Calibri"/>
              </a:rPr>
              <a:t>C</a:t>
            </a:r>
          </a:p>
          <a:p>
            <a:pPr marL="115888">
              <a:lnSpc>
                <a:spcPct val="100000"/>
              </a:lnSpc>
              <a:spcBef>
                <a:spcPts val="1814"/>
              </a:spcBef>
            </a:pPr>
            <a:r>
              <a:rPr lang="en-US" sz="3400" dirty="0">
                <a:latin typeface="Calibri"/>
                <a:cs typeface="Calibri"/>
              </a:rPr>
              <a:t>D</a:t>
            </a:r>
          </a:p>
        </p:txBody>
      </p:sp>
      <p:sp>
        <p:nvSpPr>
          <p:cNvPr id="14" name="Slide Number Placeholder 8">
            <a:extLst>
              <a:ext uri="{FF2B5EF4-FFF2-40B4-BE49-F238E27FC236}">
                <a16:creationId xmlns:a16="http://schemas.microsoft.com/office/drawing/2014/main" id="{E595C3FA-183C-3497-B4F4-FD3A72CE2B87}"/>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40</a:t>
            </a:fld>
            <a:r>
              <a:rPr lang="en-US" sz="2000" dirty="0">
                <a:solidFill>
                  <a:prstClr val="black"/>
                </a:solidFill>
                <a:latin typeface="Comic Sans MS"/>
                <a:sym typeface="Comic Sans MS"/>
              </a:rPr>
              <a:t>/46</a:t>
            </a:r>
          </a:p>
        </p:txBody>
      </p:sp>
      <p:sp>
        <p:nvSpPr>
          <p:cNvPr id="15" name="Footer Placeholder 9">
            <a:extLst>
              <a:ext uri="{FF2B5EF4-FFF2-40B4-BE49-F238E27FC236}">
                <a16:creationId xmlns:a16="http://schemas.microsoft.com/office/drawing/2014/main" id="{8DC61A1B-53E5-07DC-B459-B6BA7A7A0FFB}"/>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6" name="Rectangle 15">
            <a:extLst>
              <a:ext uri="{FF2B5EF4-FFF2-40B4-BE49-F238E27FC236}">
                <a16:creationId xmlns:a16="http://schemas.microsoft.com/office/drawing/2014/main" id="{361C0734-65E6-2188-5588-C9F50F78F81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7" name="Rectangle 16">
            <a:extLst>
              <a:ext uri="{FF2B5EF4-FFF2-40B4-BE49-F238E27FC236}">
                <a16:creationId xmlns:a16="http://schemas.microsoft.com/office/drawing/2014/main" id="{ECB337BC-3B3E-DA8A-A95B-C2AE363B885F}"/>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99E88655-754D-B150-85AB-8FF75E99579D}"/>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574571"/>
            <a:ext cx="8221344" cy="492443"/>
          </a:xfrm>
          <a:prstGeom prst="rect">
            <a:avLst/>
          </a:prstGeom>
        </p:spPr>
        <p:txBody>
          <a:bodyPr vert="horz" wrap="square" lIns="0" tIns="0" rIns="0" bIns="0" rtlCol="0">
            <a:spAutoFit/>
          </a:bodyPr>
          <a:lstStyle/>
          <a:p>
            <a:pPr marL="12700">
              <a:lnSpc>
                <a:spcPct val="100000"/>
              </a:lnSpc>
            </a:pPr>
            <a:r>
              <a:rPr lang="en-US" dirty="0">
                <a:solidFill>
                  <a:srgbClr val="FF0000"/>
                </a:solidFill>
              </a:rPr>
              <a:t>Self Study: </a:t>
            </a:r>
            <a:r>
              <a:rPr dirty="0"/>
              <a:t>Correla</a:t>
            </a:r>
            <a:r>
              <a:rPr spc="-15" dirty="0"/>
              <a:t>t</a:t>
            </a:r>
            <a:r>
              <a:rPr dirty="0"/>
              <a:t>ed</a:t>
            </a:r>
            <a:r>
              <a:rPr spc="-5" dirty="0"/>
              <a:t> </a:t>
            </a:r>
            <a:r>
              <a:rPr dirty="0"/>
              <a:t>Equilibrium</a:t>
            </a:r>
          </a:p>
        </p:txBody>
      </p:sp>
      <p:sp>
        <p:nvSpPr>
          <p:cNvPr id="6" name="object 6"/>
          <p:cNvSpPr txBox="1"/>
          <p:nvPr/>
        </p:nvSpPr>
        <p:spPr>
          <a:xfrm>
            <a:off x="562485" y="2476808"/>
            <a:ext cx="7058025" cy="1803400"/>
          </a:xfrm>
          <a:prstGeom prst="rect">
            <a:avLst/>
          </a:prstGeom>
        </p:spPr>
        <p:txBody>
          <a:bodyPr vert="horz" wrap="square" lIns="0" tIns="0" rIns="0" bIns="0" rtlCol="0">
            <a:spAutoFit/>
          </a:bodyPr>
          <a:lstStyle/>
          <a:p>
            <a:pPr marL="12700" marR="5080" algn="just">
              <a:lnSpc>
                <a:spcPct val="100699"/>
              </a:lnSpc>
            </a:pPr>
            <a:r>
              <a:rPr sz="2400" i="1" spc="-10" dirty="0">
                <a:latin typeface="Times New Roman"/>
                <a:cs typeface="Times New Roman"/>
              </a:rPr>
              <a:t>If th</a:t>
            </a:r>
            <a:r>
              <a:rPr sz="2400" i="1" spc="-20" dirty="0">
                <a:latin typeface="Times New Roman"/>
                <a:cs typeface="Times New Roman"/>
              </a:rPr>
              <a:t>e</a:t>
            </a:r>
            <a:r>
              <a:rPr sz="2400" i="1" spc="-90" dirty="0">
                <a:latin typeface="Times New Roman"/>
                <a:cs typeface="Times New Roman"/>
              </a:rPr>
              <a:t>r</a:t>
            </a:r>
            <a:r>
              <a:rPr sz="2400" i="1" spc="-15" dirty="0">
                <a:latin typeface="Times New Roman"/>
                <a:cs typeface="Times New Roman"/>
              </a:rPr>
              <a:t>e</a:t>
            </a:r>
            <a:r>
              <a:rPr sz="2400" i="1" spc="-5" dirty="0">
                <a:latin typeface="Times New Roman"/>
                <a:cs typeface="Times New Roman"/>
              </a:rPr>
              <a:t> </a:t>
            </a:r>
            <a:r>
              <a:rPr sz="2400" i="1" spc="-10" dirty="0">
                <a:latin typeface="Times New Roman"/>
                <a:cs typeface="Times New Roman"/>
              </a:rPr>
              <a:t>i</a:t>
            </a:r>
            <a:r>
              <a:rPr sz="2400" i="1" dirty="0">
                <a:latin typeface="Times New Roman"/>
                <a:cs typeface="Times New Roman"/>
              </a:rPr>
              <a:t>s </a:t>
            </a:r>
            <a:r>
              <a:rPr sz="2400" i="1" spc="-10" dirty="0">
                <a:latin typeface="Times New Roman"/>
                <a:cs typeface="Times New Roman"/>
              </a:rPr>
              <a:t>int</a:t>
            </a:r>
            <a:r>
              <a:rPr sz="2400" i="1" spc="-20" dirty="0">
                <a:latin typeface="Times New Roman"/>
                <a:cs typeface="Times New Roman"/>
              </a:rPr>
              <a:t>e</a:t>
            </a:r>
            <a:r>
              <a:rPr sz="2400" i="1" spc="-10" dirty="0">
                <a:latin typeface="Times New Roman"/>
                <a:cs typeface="Times New Roman"/>
              </a:rPr>
              <a:t>llig</a:t>
            </a:r>
            <a:r>
              <a:rPr sz="2400" i="1" spc="-20" dirty="0">
                <a:latin typeface="Times New Roman"/>
                <a:cs typeface="Times New Roman"/>
              </a:rPr>
              <a:t>e</a:t>
            </a:r>
            <a:r>
              <a:rPr sz="2400" i="1" spc="-10" dirty="0">
                <a:latin typeface="Times New Roman"/>
                <a:cs typeface="Times New Roman"/>
              </a:rPr>
              <a:t>nt</a:t>
            </a:r>
            <a:r>
              <a:rPr sz="2400" i="1" dirty="0">
                <a:latin typeface="Times New Roman"/>
                <a:cs typeface="Times New Roman"/>
              </a:rPr>
              <a:t> </a:t>
            </a:r>
            <a:r>
              <a:rPr sz="2400" i="1" spc="-10" dirty="0">
                <a:latin typeface="Times New Roman"/>
                <a:cs typeface="Times New Roman"/>
              </a:rPr>
              <a:t>life</a:t>
            </a:r>
            <a:r>
              <a:rPr sz="2400" i="1" spc="-5" dirty="0">
                <a:latin typeface="Times New Roman"/>
                <a:cs typeface="Times New Roman"/>
              </a:rPr>
              <a:t> </a:t>
            </a:r>
            <a:r>
              <a:rPr sz="2400" i="1" dirty="0">
                <a:latin typeface="Times New Roman"/>
                <a:cs typeface="Times New Roman"/>
              </a:rPr>
              <a:t>on </a:t>
            </a:r>
            <a:r>
              <a:rPr sz="2400" i="1" spc="-15" dirty="0">
                <a:latin typeface="Times New Roman"/>
                <a:cs typeface="Times New Roman"/>
              </a:rPr>
              <a:t>oth</a:t>
            </a:r>
            <a:r>
              <a:rPr sz="2400" i="1" spc="-20" dirty="0">
                <a:latin typeface="Times New Roman"/>
                <a:cs typeface="Times New Roman"/>
              </a:rPr>
              <a:t>e</a:t>
            </a:r>
            <a:r>
              <a:rPr sz="2400" i="1" dirty="0">
                <a:latin typeface="Times New Roman"/>
                <a:cs typeface="Times New Roman"/>
              </a:rPr>
              <a:t>r </a:t>
            </a:r>
            <a:r>
              <a:rPr sz="2400" i="1" spc="-15" dirty="0">
                <a:latin typeface="Times New Roman"/>
                <a:cs typeface="Times New Roman"/>
              </a:rPr>
              <a:t>plan</a:t>
            </a:r>
            <a:r>
              <a:rPr sz="2400" i="1" spc="-20" dirty="0">
                <a:latin typeface="Times New Roman"/>
                <a:cs typeface="Times New Roman"/>
              </a:rPr>
              <a:t>e</a:t>
            </a:r>
            <a:r>
              <a:rPr sz="2400" i="1" spc="-10" dirty="0">
                <a:latin typeface="Times New Roman"/>
                <a:cs typeface="Times New Roman"/>
              </a:rPr>
              <a:t>t</a:t>
            </a:r>
            <a:r>
              <a:rPr sz="2400" i="1" dirty="0">
                <a:latin typeface="Times New Roman"/>
                <a:cs typeface="Times New Roman"/>
              </a:rPr>
              <a:t>s, </a:t>
            </a:r>
            <a:r>
              <a:rPr sz="2400" i="1" spc="-10" dirty="0">
                <a:latin typeface="Times New Roman"/>
                <a:cs typeface="Times New Roman"/>
              </a:rPr>
              <a:t>i</a:t>
            </a:r>
            <a:r>
              <a:rPr sz="2400" i="1" dirty="0">
                <a:latin typeface="Times New Roman"/>
                <a:cs typeface="Times New Roman"/>
              </a:rPr>
              <a:t>n a m</a:t>
            </a:r>
            <a:r>
              <a:rPr sz="2400" i="1" spc="-10" dirty="0">
                <a:latin typeface="Times New Roman"/>
                <a:cs typeface="Times New Roman"/>
              </a:rPr>
              <a:t>aj</a:t>
            </a:r>
            <a:r>
              <a:rPr sz="2400" i="1" dirty="0">
                <a:latin typeface="Times New Roman"/>
                <a:cs typeface="Times New Roman"/>
              </a:rPr>
              <a:t>or</a:t>
            </a:r>
            <a:r>
              <a:rPr sz="2400" i="1" spc="-10" dirty="0">
                <a:latin typeface="Times New Roman"/>
                <a:cs typeface="Times New Roman"/>
              </a:rPr>
              <a:t>ity</a:t>
            </a:r>
            <a:r>
              <a:rPr sz="2400" i="1" spc="-5" dirty="0">
                <a:latin typeface="Times New Roman"/>
                <a:cs typeface="Times New Roman"/>
              </a:rPr>
              <a:t> </a:t>
            </a:r>
            <a:r>
              <a:rPr sz="2400" i="1" spc="-10" dirty="0">
                <a:latin typeface="Times New Roman"/>
                <a:cs typeface="Times New Roman"/>
              </a:rPr>
              <a:t>of th</a:t>
            </a:r>
            <a:r>
              <a:rPr sz="2400" i="1" spc="-20" dirty="0">
                <a:latin typeface="Times New Roman"/>
                <a:cs typeface="Times New Roman"/>
              </a:rPr>
              <a:t>e</a:t>
            </a:r>
            <a:r>
              <a:rPr sz="2400" i="1" dirty="0">
                <a:latin typeface="Times New Roman"/>
                <a:cs typeface="Times New Roman"/>
              </a:rPr>
              <a:t>m, </a:t>
            </a:r>
            <a:r>
              <a:rPr sz="2400" i="1" spc="-10" dirty="0">
                <a:latin typeface="Times New Roman"/>
                <a:cs typeface="Times New Roman"/>
              </a:rPr>
              <a:t>th</a:t>
            </a:r>
            <a:r>
              <a:rPr sz="2400" i="1" spc="-20" dirty="0">
                <a:latin typeface="Times New Roman"/>
                <a:cs typeface="Times New Roman"/>
              </a:rPr>
              <a:t>e</a:t>
            </a:r>
            <a:r>
              <a:rPr sz="2400" i="1" spc="-15" dirty="0">
                <a:latin typeface="Times New Roman"/>
                <a:cs typeface="Times New Roman"/>
              </a:rPr>
              <a:t>y</a:t>
            </a:r>
            <a:r>
              <a:rPr sz="2400" i="1" spc="-5" dirty="0">
                <a:latin typeface="Times New Roman"/>
                <a:cs typeface="Times New Roman"/>
              </a:rPr>
              <a:t> </a:t>
            </a:r>
            <a:r>
              <a:rPr sz="2400" i="1" spc="-15" dirty="0">
                <a:latin typeface="Times New Roman"/>
                <a:cs typeface="Times New Roman"/>
              </a:rPr>
              <a:t>woul</a:t>
            </a:r>
            <a:r>
              <a:rPr sz="2400" i="1" dirty="0">
                <a:latin typeface="Times New Roman"/>
                <a:cs typeface="Times New Roman"/>
              </a:rPr>
              <a:t>d </a:t>
            </a:r>
            <a:r>
              <a:rPr sz="2400" i="1" spc="-15" dirty="0">
                <a:latin typeface="Times New Roman"/>
                <a:cs typeface="Times New Roman"/>
              </a:rPr>
              <a:t>ha</a:t>
            </a:r>
            <a:r>
              <a:rPr sz="2400" i="1" spc="-20" dirty="0">
                <a:latin typeface="Times New Roman"/>
                <a:cs typeface="Times New Roman"/>
              </a:rPr>
              <a:t>v</a:t>
            </a:r>
            <a:r>
              <a:rPr sz="2400" i="1" spc="-15" dirty="0">
                <a:latin typeface="Times New Roman"/>
                <a:cs typeface="Times New Roman"/>
              </a:rPr>
              <a:t>e</a:t>
            </a:r>
            <a:r>
              <a:rPr sz="2400" i="1" spc="-5" dirty="0">
                <a:latin typeface="Times New Roman"/>
                <a:cs typeface="Times New Roman"/>
              </a:rPr>
              <a:t> </a:t>
            </a:r>
            <a:r>
              <a:rPr sz="2400" i="1" spc="-10" dirty="0">
                <a:latin typeface="Times New Roman"/>
                <a:cs typeface="Times New Roman"/>
              </a:rPr>
              <a:t>di</a:t>
            </a:r>
            <a:r>
              <a:rPr sz="2400" i="1" dirty="0">
                <a:latin typeface="Times New Roman"/>
                <a:cs typeface="Times New Roman"/>
              </a:rPr>
              <a:t>s</a:t>
            </a:r>
            <a:r>
              <a:rPr sz="2400" i="1" spc="-20" dirty="0">
                <a:latin typeface="Times New Roman"/>
                <a:cs typeface="Times New Roman"/>
              </a:rPr>
              <a:t>c</a:t>
            </a:r>
            <a:r>
              <a:rPr sz="2400" i="1" spc="-15" dirty="0">
                <a:latin typeface="Times New Roman"/>
                <a:cs typeface="Times New Roman"/>
              </a:rPr>
              <a:t>o</a:t>
            </a:r>
            <a:r>
              <a:rPr sz="2400" i="1" spc="-20" dirty="0">
                <a:latin typeface="Times New Roman"/>
                <a:cs typeface="Times New Roman"/>
              </a:rPr>
              <a:t>ve</a:t>
            </a:r>
            <a:r>
              <a:rPr sz="2400" i="1" spc="-90" dirty="0">
                <a:latin typeface="Times New Roman"/>
                <a:cs typeface="Times New Roman"/>
              </a:rPr>
              <a:t>r</a:t>
            </a:r>
            <a:r>
              <a:rPr sz="2400" i="1" spc="-20" dirty="0">
                <a:latin typeface="Times New Roman"/>
                <a:cs typeface="Times New Roman"/>
              </a:rPr>
              <a:t>e</a:t>
            </a:r>
            <a:r>
              <a:rPr sz="2400" i="1" dirty="0">
                <a:latin typeface="Times New Roman"/>
                <a:cs typeface="Times New Roman"/>
              </a:rPr>
              <a:t>d </a:t>
            </a:r>
            <a:r>
              <a:rPr sz="2400" i="1" spc="-20" dirty="0">
                <a:latin typeface="Times New Roman"/>
                <a:cs typeface="Times New Roman"/>
              </a:rPr>
              <a:t>c</a:t>
            </a:r>
            <a:r>
              <a:rPr sz="2400" i="1" dirty="0">
                <a:latin typeface="Times New Roman"/>
                <a:cs typeface="Times New Roman"/>
              </a:rPr>
              <a:t>or</a:t>
            </a:r>
            <a:r>
              <a:rPr sz="2400" i="1" spc="-90" dirty="0">
                <a:latin typeface="Times New Roman"/>
                <a:cs typeface="Times New Roman"/>
              </a:rPr>
              <a:t>r</a:t>
            </a:r>
            <a:r>
              <a:rPr sz="2400" i="1" spc="-20" dirty="0">
                <a:latin typeface="Times New Roman"/>
                <a:cs typeface="Times New Roman"/>
              </a:rPr>
              <a:t>e</a:t>
            </a:r>
            <a:r>
              <a:rPr sz="2400" i="1" spc="-10" dirty="0">
                <a:latin typeface="Times New Roman"/>
                <a:cs typeface="Times New Roman"/>
              </a:rPr>
              <a:t>lat</a:t>
            </a:r>
            <a:r>
              <a:rPr sz="2400" i="1" spc="-20" dirty="0">
                <a:latin typeface="Times New Roman"/>
                <a:cs typeface="Times New Roman"/>
              </a:rPr>
              <a:t>e</a:t>
            </a:r>
            <a:r>
              <a:rPr sz="2400" i="1" dirty="0">
                <a:latin typeface="Times New Roman"/>
                <a:cs typeface="Times New Roman"/>
              </a:rPr>
              <a:t>d </a:t>
            </a:r>
            <a:r>
              <a:rPr sz="2400" i="1" spc="-20" dirty="0">
                <a:latin typeface="Times New Roman"/>
                <a:cs typeface="Times New Roman"/>
              </a:rPr>
              <a:t>e</a:t>
            </a:r>
            <a:r>
              <a:rPr sz="2400" i="1" spc="-10" dirty="0">
                <a:latin typeface="Times New Roman"/>
                <a:cs typeface="Times New Roman"/>
              </a:rPr>
              <a:t>quili</a:t>
            </a:r>
            <a:r>
              <a:rPr sz="2400" i="1" dirty="0">
                <a:latin typeface="Times New Roman"/>
                <a:cs typeface="Times New Roman"/>
              </a:rPr>
              <a:t>br</a:t>
            </a:r>
            <a:r>
              <a:rPr sz="2400" i="1" spc="-10" dirty="0">
                <a:latin typeface="Times New Roman"/>
                <a:cs typeface="Times New Roman"/>
              </a:rPr>
              <a:t>i</a:t>
            </a:r>
            <a:r>
              <a:rPr sz="2400" i="1" dirty="0">
                <a:latin typeface="Times New Roman"/>
                <a:cs typeface="Times New Roman"/>
              </a:rPr>
              <a:t>um </a:t>
            </a:r>
            <a:r>
              <a:rPr sz="2400" i="1" spc="-15" dirty="0">
                <a:latin typeface="Times New Roman"/>
                <a:cs typeface="Times New Roman"/>
              </a:rPr>
              <a:t>b</a:t>
            </a:r>
            <a:r>
              <a:rPr sz="2400" i="1" spc="-20" dirty="0">
                <a:latin typeface="Times New Roman"/>
                <a:cs typeface="Times New Roman"/>
              </a:rPr>
              <a:t>e</a:t>
            </a:r>
            <a:r>
              <a:rPr sz="2400" i="1" spc="-10" dirty="0">
                <a:latin typeface="Times New Roman"/>
                <a:cs typeface="Times New Roman"/>
              </a:rPr>
              <a:t>f</a:t>
            </a:r>
            <a:r>
              <a:rPr sz="2400" i="1" dirty="0">
                <a:latin typeface="Times New Roman"/>
                <a:cs typeface="Times New Roman"/>
              </a:rPr>
              <a:t>o</a:t>
            </a:r>
            <a:r>
              <a:rPr sz="2400" i="1" spc="-90" dirty="0">
                <a:latin typeface="Times New Roman"/>
                <a:cs typeface="Times New Roman"/>
              </a:rPr>
              <a:t>r</a:t>
            </a:r>
            <a:r>
              <a:rPr sz="2400" i="1" spc="-15" dirty="0">
                <a:latin typeface="Times New Roman"/>
                <a:cs typeface="Times New Roman"/>
              </a:rPr>
              <a:t>e</a:t>
            </a:r>
            <a:r>
              <a:rPr sz="2400" i="1" spc="-5" dirty="0">
                <a:latin typeface="Times New Roman"/>
                <a:cs typeface="Times New Roman"/>
              </a:rPr>
              <a:t> </a:t>
            </a:r>
            <a:r>
              <a:rPr sz="2400" i="1" dirty="0">
                <a:latin typeface="Times New Roman"/>
                <a:cs typeface="Times New Roman"/>
              </a:rPr>
              <a:t>Nash </a:t>
            </a:r>
            <a:r>
              <a:rPr sz="2400" i="1" spc="-20" dirty="0">
                <a:latin typeface="Times New Roman"/>
                <a:cs typeface="Times New Roman"/>
              </a:rPr>
              <a:t>e</a:t>
            </a:r>
            <a:r>
              <a:rPr sz="2400" i="1" spc="-10" dirty="0">
                <a:latin typeface="Times New Roman"/>
                <a:cs typeface="Times New Roman"/>
              </a:rPr>
              <a:t>quili</a:t>
            </a:r>
            <a:r>
              <a:rPr sz="2400" i="1" dirty="0">
                <a:latin typeface="Times New Roman"/>
                <a:cs typeface="Times New Roman"/>
              </a:rPr>
              <a:t>br</a:t>
            </a:r>
            <a:r>
              <a:rPr sz="2400" i="1" spc="-10" dirty="0">
                <a:latin typeface="Times New Roman"/>
                <a:cs typeface="Times New Roman"/>
              </a:rPr>
              <a:t>i</a:t>
            </a:r>
            <a:r>
              <a:rPr sz="2400" i="1" dirty="0">
                <a:latin typeface="Times New Roman"/>
                <a:cs typeface="Times New Roman"/>
              </a:rPr>
              <a:t>um.</a:t>
            </a:r>
            <a:endParaRPr sz="2400">
              <a:latin typeface="Times New Roman"/>
              <a:cs typeface="Times New Roman"/>
            </a:endParaRPr>
          </a:p>
          <a:p>
            <a:pPr>
              <a:lnSpc>
                <a:spcPct val="100000"/>
              </a:lnSpc>
              <a:spcBef>
                <a:spcPts val="45"/>
              </a:spcBef>
            </a:pPr>
            <a:endParaRPr sz="2500">
              <a:latin typeface="Times New Roman"/>
              <a:cs typeface="Times New Roman"/>
            </a:endParaRPr>
          </a:p>
          <a:p>
            <a:pPr marL="12700" algn="just">
              <a:lnSpc>
                <a:spcPct val="100000"/>
              </a:lnSpc>
            </a:pPr>
            <a:r>
              <a:rPr sz="2400" dirty="0">
                <a:latin typeface="Times New Roman"/>
                <a:cs typeface="Times New Roman"/>
              </a:rPr>
              <a:t>– </a:t>
            </a:r>
            <a:r>
              <a:rPr sz="2400" spc="-15" dirty="0">
                <a:latin typeface="Times New Roman"/>
                <a:cs typeface="Times New Roman"/>
              </a:rPr>
              <a:t>Rog</a:t>
            </a:r>
            <a:r>
              <a:rPr sz="2400" spc="-20" dirty="0">
                <a:latin typeface="Times New Roman"/>
                <a:cs typeface="Times New Roman"/>
              </a:rPr>
              <a:t>e</a:t>
            </a:r>
            <a:r>
              <a:rPr sz="2400" dirty="0">
                <a:latin typeface="Times New Roman"/>
                <a:cs typeface="Times New Roman"/>
              </a:rPr>
              <a:t>r M</a:t>
            </a:r>
            <a:r>
              <a:rPr sz="2400" spc="-15" dirty="0">
                <a:latin typeface="Times New Roman"/>
                <a:cs typeface="Times New Roman"/>
              </a:rPr>
              <a:t>y</a:t>
            </a:r>
            <a:r>
              <a:rPr sz="2400" spc="-20" dirty="0">
                <a:latin typeface="Times New Roman"/>
                <a:cs typeface="Times New Roman"/>
              </a:rPr>
              <a:t>e</a:t>
            </a:r>
            <a:r>
              <a:rPr sz="2400" dirty="0">
                <a:latin typeface="Times New Roman"/>
                <a:cs typeface="Times New Roman"/>
              </a:rPr>
              <a:t>rson</a:t>
            </a:r>
            <a:endParaRPr sz="2400">
              <a:latin typeface="Times New Roman"/>
              <a:cs typeface="Times New Roman"/>
            </a:endParaRPr>
          </a:p>
        </p:txBody>
      </p:sp>
      <p:sp>
        <p:nvSpPr>
          <p:cNvPr id="7" name="Slide Number Placeholder 8">
            <a:extLst>
              <a:ext uri="{FF2B5EF4-FFF2-40B4-BE49-F238E27FC236}">
                <a16:creationId xmlns:a16="http://schemas.microsoft.com/office/drawing/2014/main" id="{EDE984AE-C8B1-FD2F-67B9-BBADD280A6F9}"/>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41</a:t>
            </a:fld>
            <a:r>
              <a:rPr lang="en-US" sz="2000" dirty="0">
                <a:solidFill>
                  <a:prstClr val="black"/>
                </a:solidFill>
                <a:latin typeface="Comic Sans MS"/>
                <a:sym typeface="Comic Sans MS"/>
              </a:rPr>
              <a:t>/46</a:t>
            </a:r>
          </a:p>
        </p:txBody>
      </p:sp>
      <p:sp>
        <p:nvSpPr>
          <p:cNvPr id="8" name="Footer Placeholder 9">
            <a:extLst>
              <a:ext uri="{FF2B5EF4-FFF2-40B4-BE49-F238E27FC236}">
                <a16:creationId xmlns:a16="http://schemas.microsoft.com/office/drawing/2014/main" id="{ED79EBA3-8B03-9F6E-EDF7-077FDDF1A6A6}"/>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C2DEB802-E648-41BB-72A0-D72CEFD8DD4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0" name="Rectangle 9">
            <a:extLst>
              <a:ext uri="{FF2B5EF4-FFF2-40B4-BE49-F238E27FC236}">
                <a16:creationId xmlns:a16="http://schemas.microsoft.com/office/drawing/2014/main" id="{5E726B94-342D-C10D-5668-DC2C8F3CF4F0}"/>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DB2AC00C-06AB-948E-88EC-6E2581A420A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262699"/>
            <a:ext cx="8221344" cy="984885"/>
          </a:xfrm>
          <a:prstGeom prst="rect">
            <a:avLst/>
          </a:prstGeom>
        </p:spPr>
        <p:txBody>
          <a:bodyPr vert="horz" wrap="square" lIns="0" tIns="0" rIns="0" bIns="0" rtlCol="0">
            <a:spAutoFit/>
          </a:bodyPr>
          <a:lstStyle/>
          <a:p>
            <a:pPr marL="12700">
              <a:lnSpc>
                <a:spcPct val="100000"/>
              </a:lnSpc>
            </a:pPr>
            <a:r>
              <a:rPr lang="en-US" dirty="0">
                <a:solidFill>
                  <a:srgbClr val="FF0000"/>
                </a:solidFill>
              </a:rPr>
              <a:t>Self Study: </a:t>
            </a:r>
            <a:r>
              <a:rPr dirty="0"/>
              <a:t>Correla</a:t>
            </a:r>
            <a:r>
              <a:rPr spc="-15" dirty="0"/>
              <a:t>t</a:t>
            </a:r>
            <a:r>
              <a:rPr dirty="0"/>
              <a:t>ed</a:t>
            </a:r>
            <a:r>
              <a:rPr spc="-5" dirty="0"/>
              <a:t> </a:t>
            </a:r>
            <a:r>
              <a:rPr dirty="0"/>
              <a:t>Equilibrium</a:t>
            </a:r>
            <a:r>
              <a:rPr spc="-5" dirty="0"/>
              <a:t> </a:t>
            </a:r>
            <a:r>
              <a:rPr dirty="0"/>
              <a:t>(Example</a:t>
            </a:r>
            <a:r>
              <a:rPr spc="-5" dirty="0"/>
              <a:t> </a:t>
            </a:r>
            <a:r>
              <a:rPr dirty="0"/>
              <a:t>1</a:t>
            </a:r>
            <a:r>
              <a:rPr spc="-10" dirty="0"/>
              <a:t>:</a:t>
            </a:r>
            <a:r>
              <a:rPr spc="-5" dirty="0"/>
              <a:t> </a:t>
            </a:r>
            <a:r>
              <a:rPr dirty="0"/>
              <a:t>BoS)</a:t>
            </a:r>
          </a:p>
        </p:txBody>
      </p:sp>
      <mc:AlternateContent xmlns:mc="http://schemas.openxmlformats.org/markup-compatibility/2006" xmlns:a14="http://schemas.microsoft.com/office/drawing/2010/main">
        <mc:Choice Requires="a14">
          <p:sp>
            <p:nvSpPr>
              <p:cNvPr id="9" name="object 9"/>
              <p:cNvSpPr txBox="1"/>
              <p:nvPr/>
            </p:nvSpPr>
            <p:spPr>
              <a:xfrm>
                <a:off x="320235" y="1740029"/>
                <a:ext cx="7680765" cy="4044697"/>
              </a:xfrm>
              <a:prstGeom prst="rect">
                <a:avLst/>
              </a:prstGeom>
            </p:spPr>
            <p:txBody>
              <a:bodyPr vert="horz" wrap="square" lIns="0" tIns="0" rIns="0" bIns="0" rtlCol="0">
                <a:spAutoFit/>
              </a:bodyPr>
              <a:lstStyle/>
              <a:p>
                <a:pPr marL="416559">
                  <a:lnSpc>
                    <a:spcPct val="100000"/>
                  </a:lnSpc>
                  <a:tabLst>
                    <a:tab pos="849630" algn="l"/>
                    <a:tab pos="1981835" algn="l"/>
                    <a:tab pos="2644775" algn="l"/>
                  </a:tabLst>
                </a:pPr>
                <a:r>
                  <a:rPr lang="en-US" sz="3400" dirty="0">
                    <a:latin typeface="Times New Roman"/>
                    <a:cs typeface="Times New Roman"/>
                  </a:rPr>
                  <a:t> 	</a:t>
                </a:r>
                <a:r>
                  <a:rPr lang="en-US" sz="3400" spc="-20" dirty="0">
                    <a:latin typeface="Calibri"/>
                    <a:cs typeface="Calibri"/>
                  </a:rPr>
                  <a:t>B</a:t>
                </a:r>
                <a:r>
                  <a:rPr lang="en-US" sz="3400" spc="-20" dirty="0">
                    <a:latin typeface="Times New Roman"/>
                    <a:cs typeface="Times New Roman"/>
                  </a:rPr>
                  <a:t> 	</a:t>
                </a:r>
                <a:r>
                  <a:rPr lang="en-US" sz="3400" spc="-20" dirty="0">
                    <a:latin typeface="Calibri"/>
                    <a:cs typeface="Calibri"/>
                  </a:rPr>
                  <a:t>F</a:t>
                </a:r>
                <a:r>
                  <a:rPr lang="en-US" sz="3400" spc="-20" dirty="0">
                    <a:latin typeface="Times New Roman"/>
                    <a:cs typeface="Times New Roman"/>
                  </a:rPr>
                  <a:t> 	</a:t>
                </a:r>
                <a:endParaRPr lang="en-US" sz="3400" dirty="0">
                  <a:latin typeface="Times New Roman"/>
                  <a:cs typeface="Times New Roman"/>
                </a:endParaRPr>
              </a:p>
              <a:p>
                <a:pPr marL="30480" indent="-18415">
                  <a:lnSpc>
                    <a:spcPct val="100000"/>
                  </a:lnSpc>
                  <a:spcBef>
                    <a:spcPts val="920"/>
                  </a:spcBef>
                </a:pPr>
                <a:r>
                  <a:rPr lang="en-US" sz="3400" spc="-20" dirty="0">
                    <a:latin typeface="Calibri"/>
                    <a:cs typeface="Calibri"/>
                  </a:rPr>
                  <a:t>B</a:t>
                </a:r>
                <a:endParaRPr lang="en-US" sz="3400" dirty="0">
                  <a:latin typeface="Calibri"/>
                  <a:cs typeface="Calibri"/>
                </a:endParaRPr>
              </a:p>
              <a:p>
                <a:pPr marL="30480">
                  <a:lnSpc>
                    <a:spcPct val="100000"/>
                  </a:lnSpc>
                  <a:spcBef>
                    <a:spcPts val="1814"/>
                  </a:spcBef>
                </a:pPr>
                <a:r>
                  <a:rPr lang="en-US" sz="3400" dirty="0">
                    <a:latin typeface="Calibri"/>
                    <a:cs typeface="Calibri"/>
                  </a:rPr>
                  <a:t>F</a:t>
                </a:r>
              </a:p>
              <a:p>
                <a:pPr>
                  <a:lnSpc>
                    <a:spcPct val="100000"/>
                  </a:lnSpc>
                  <a:spcBef>
                    <a:spcPts val="20"/>
                  </a:spcBef>
                </a:pPr>
                <a:endParaRPr lang="en-US" sz="3800" dirty="0">
                  <a:latin typeface="Times New Roman"/>
                  <a:cs typeface="Times New Roman"/>
                </a:endParaRPr>
              </a:p>
              <a:p>
                <a:pPr marL="248920" indent="-228600">
                  <a:lnSpc>
                    <a:spcPts val="2295"/>
                  </a:lnSpc>
                  <a:buFont typeface="Arial"/>
                  <a:buChar char="•"/>
                  <a:tabLst>
                    <a:tab pos="249554" algn="l"/>
                  </a:tabLst>
                </a:pPr>
                <a:endParaRPr lang="en-US" sz="2000" spc="-15" dirty="0">
                  <a:latin typeface="Arial"/>
                  <a:cs typeface="Arial"/>
                </a:endParaRPr>
              </a:p>
              <a:p>
                <a:pPr marL="248920" indent="-228600">
                  <a:lnSpc>
                    <a:spcPts val="2295"/>
                  </a:lnSpc>
                  <a:buFont typeface="Arial"/>
                  <a:buChar char="•"/>
                  <a:tabLst>
                    <a:tab pos="249554" algn="l"/>
                  </a:tabLst>
                </a:pPr>
                <a:r>
                  <a:rPr lang="en-US" sz="2000" spc="-15" dirty="0">
                    <a:latin typeface="Arial"/>
                    <a:cs typeface="Arial"/>
                  </a:rPr>
                  <a:t>The</a:t>
                </a:r>
                <a:r>
                  <a:rPr lang="en-US" sz="2000" spc="-5" dirty="0">
                    <a:latin typeface="Arial"/>
                    <a:cs typeface="Arial"/>
                  </a:rPr>
                  <a:t> </a:t>
                </a:r>
                <a:r>
                  <a:rPr lang="en-US" sz="2000" dirty="0">
                    <a:latin typeface="Arial"/>
                    <a:cs typeface="Arial"/>
                  </a:rPr>
                  <a:t>ideal</a:t>
                </a:r>
                <a:r>
                  <a:rPr lang="en-US" sz="2000" spc="-5" dirty="0">
                    <a:latin typeface="Arial"/>
                    <a:cs typeface="Arial"/>
                  </a:rPr>
                  <a:t> </a:t>
                </a:r>
                <a:r>
                  <a:rPr lang="en-US" sz="2000" spc="-10" dirty="0">
                    <a:latin typeface="Arial"/>
                    <a:cs typeface="Arial"/>
                  </a:rPr>
                  <a:t>f</a:t>
                </a:r>
                <a:r>
                  <a:rPr lang="en-US" sz="2000" dirty="0">
                    <a:latin typeface="Arial"/>
                    <a:cs typeface="Arial"/>
                  </a:rPr>
                  <a:t>air</a:t>
                </a:r>
                <a:r>
                  <a:rPr lang="en-US" sz="2000" spc="-5" dirty="0">
                    <a:latin typeface="Arial"/>
                    <a:cs typeface="Arial"/>
                  </a:rPr>
                  <a:t> </a:t>
                </a:r>
                <a:r>
                  <a:rPr lang="en-US" sz="2000" dirty="0">
                    <a:latin typeface="Arial"/>
                    <a:cs typeface="Arial"/>
                  </a:rPr>
                  <a:t>ou</a:t>
                </a:r>
                <a:r>
                  <a:rPr lang="en-US" sz="2000" spc="-10" dirty="0">
                    <a:latin typeface="Arial"/>
                    <a:cs typeface="Arial"/>
                  </a:rPr>
                  <a:t>t</a:t>
                </a:r>
                <a:r>
                  <a:rPr lang="en-US" sz="2000" dirty="0">
                    <a:latin typeface="Arial"/>
                    <a:cs typeface="Arial"/>
                  </a:rPr>
                  <a:t>come</a:t>
                </a:r>
                <a:r>
                  <a:rPr lang="en-US" sz="2000" spc="-5" dirty="0">
                    <a:latin typeface="Arial"/>
                    <a:cs typeface="Arial"/>
                  </a:rPr>
                  <a:t> </a:t>
                </a:r>
                <a:r>
                  <a:rPr lang="en-US" sz="2000" dirty="0">
                    <a:latin typeface="Arial"/>
                    <a:cs typeface="Arial"/>
                  </a:rPr>
                  <a:t>is</a:t>
                </a:r>
                <a:r>
                  <a:rPr lang="en-US" sz="2000" spc="-5" dirty="0">
                    <a:latin typeface="Arial"/>
                    <a:cs typeface="Arial"/>
                  </a:rPr>
                  <a:t> </a:t>
                </a:r>
                <a:r>
                  <a:rPr lang="en-US" sz="2000" spc="-10" dirty="0">
                    <a:latin typeface="Arial"/>
                    <a:cs typeface="Arial"/>
                  </a:rPr>
                  <a:t>t</a:t>
                </a:r>
                <a:r>
                  <a:rPr lang="en-US" sz="2000" dirty="0">
                    <a:latin typeface="Arial"/>
                    <a:cs typeface="Arial"/>
                  </a:rPr>
                  <a:t>o</a:t>
                </a:r>
                <a:r>
                  <a:rPr lang="en-US" sz="2000" spc="-5" dirty="0">
                    <a:latin typeface="Arial"/>
                    <a:cs typeface="Arial"/>
                  </a:rPr>
                  <a:t> </a:t>
                </a:r>
                <a:r>
                  <a:rPr lang="en-US" sz="2000" dirty="0">
                    <a:latin typeface="Arial"/>
                    <a:cs typeface="Arial"/>
                  </a:rPr>
                  <a:t>play</a:t>
                </a:r>
                <a:r>
                  <a:rPr lang="en-US" sz="2000" spc="-5" dirty="0">
                    <a:latin typeface="Arial"/>
                    <a:cs typeface="Arial"/>
                  </a:rPr>
                  <a:t> </a:t>
                </a:r>
                <a:r>
                  <a:rPr lang="en-US" sz="2000" spc="-15" dirty="0">
                    <a:latin typeface="Arial"/>
                    <a:cs typeface="Arial"/>
                  </a:rPr>
                  <a:t>B/F</a:t>
                </a:r>
                <a:r>
                  <a:rPr lang="en-US" sz="2000" spc="-5" dirty="0">
                    <a:latin typeface="Arial"/>
                    <a:cs typeface="Arial"/>
                  </a:rPr>
                  <a:t> </a:t>
                </a:r>
                <a:r>
                  <a:rPr lang="en-US" sz="2000" dirty="0">
                    <a:latin typeface="Arial"/>
                    <a:cs typeface="Arial"/>
                  </a:rPr>
                  <a:t>equally</a:t>
                </a:r>
                <a:r>
                  <a:rPr lang="en-US" sz="2000" spc="-5" dirty="0">
                    <a:latin typeface="Arial"/>
                    <a:cs typeface="Arial"/>
                  </a:rPr>
                  <a:t> </a:t>
                </a:r>
                <a:r>
                  <a:rPr lang="en-US" sz="2000" dirty="0">
                    <a:latin typeface="Arial"/>
                    <a:cs typeface="Arial"/>
                  </a:rPr>
                  <a:t>o</a:t>
                </a:r>
                <a:r>
                  <a:rPr lang="en-US" sz="2000" spc="-10" dirty="0">
                    <a:latin typeface="Arial"/>
                    <a:cs typeface="Arial"/>
                  </a:rPr>
                  <a:t>ft</a:t>
                </a:r>
                <a:r>
                  <a:rPr lang="en-US" sz="2000" dirty="0">
                    <a:latin typeface="Arial"/>
                    <a:cs typeface="Arial"/>
                  </a:rPr>
                  <a:t>en</a:t>
                </a:r>
                <a:r>
                  <a:rPr lang="en-US" sz="2000" spc="-5" dirty="0">
                    <a:latin typeface="Arial"/>
                    <a:cs typeface="Arial"/>
                  </a:rPr>
                  <a:t> </a:t>
                </a:r>
                <a14:m>
                  <m:oMath xmlns:m="http://schemas.openxmlformats.org/officeDocument/2006/math">
                    <m:d>
                      <m:dPr>
                        <m:ctrlPr>
                          <a:rPr lang="en-US" sz="2000" b="0" i="1" spc="-5" smtClean="0">
                            <a:latin typeface="Cambria Math" panose="02040503050406030204" pitchFamily="18" charset="0"/>
                            <a:cs typeface="Arial"/>
                          </a:rPr>
                        </m:ctrlPr>
                      </m:dPr>
                      <m:e>
                        <m:f>
                          <m:fPr>
                            <m:ctrlPr>
                              <a:rPr lang="en-US" sz="2000" b="0" i="1" spc="-5" smtClean="0">
                                <a:latin typeface="Cambria Math" panose="02040503050406030204" pitchFamily="18" charset="0"/>
                                <a:cs typeface="Arial"/>
                              </a:rPr>
                            </m:ctrlPr>
                          </m:fPr>
                          <m:num>
                            <m:r>
                              <a:rPr lang="en-US" sz="2000" b="0" i="1" spc="-5" smtClean="0">
                                <a:latin typeface="Cambria Math" panose="02040503050406030204" pitchFamily="18" charset="0"/>
                                <a:cs typeface="Arial"/>
                              </a:rPr>
                              <m:t>1</m:t>
                            </m:r>
                          </m:num>
                          <m:den>
                            <m:r>
                              <a:rPr lang="en-US" sz="2000" b="0" i="1" spc="-5" smtClean="0">
                                <a:latin typeface="Cambria Math" panose="02040503050406030204" pitchFamily="18" charset="0"/>
                                <a:cs typeface="Arial"/>
                              </a:rPr>
                              <m:t>2</m:t>
                            </m:r>
                          </m:den>
                        </m:f>
                        <m:r>
                          <a:rPr lang="en-US" sz="2000" b="0" i="1" spc="-5" smtClean="0">
                            <a:latin typeface="Cambria Math" panose="02040503050406030204" pitchFamily="18" charset="0"/>
                            <a:cs typeface="Arial"/>
                          </a:rPr>
                          <m:t>.</m:t>
                        </m:r>
                        <m:f>
                          <m:fPr>
                            <m:ctrlPr>
                              <a:rPr lang="en-US" sz="2000" b="0" i="1" spc="-5" smtClean="0">
                                <a:latin typeface="Cambria Math" panose="02040503050406030204" pitchFamily="18" charset="0"/>
                                <a:cs typeface="Arial"/>
                              </a:rPr>
                            </m:ctrlPr>
                          </m:fPr>
                          <m:num>
                            <m:r>
                              <a:rPr lang="en-US" sz="2000" b="0" i="1" spc="-5" smtClean="0">
                                <a:latin typeface="Cambria Math" panose="02040503050406030204" pitchFamily="18" charset="0"/>
                                <a:cs typeface="Arial"/>
                              </a:rPr>
                              <m:t>1</m:t>
                            </m:r>
                          </m:num>
                          <m:den>
                            <m:r>
                              <a:rPr lang="en-US" sz="2000" b="0" i="1" spc="-5" smtClean="0">
                                <a:latin typeface="Cambria Math" panose="02040503050406030204" pitchFamily="18" charset="0"/>
                                <a:cs typeface="Arial"/>
                              </a:rPr>
                              <m:t>2</m:t>
                            </m:r>
                          </m:den>
                        </m:f>
                      </m:e>
                    </m:d>
                  </m:oMath>
                </a14:m>
                <a:endParaRPr lang="en-US" sz="3600" baseline="-32407" dirty="0">
                  <a:latin typeface="Arial"/>
                  <a:cs typeface="Arial"/>
                </a:endParaRPr>
              </a:p>
              <a:p>
                <a:pPr>
                  <a:lnSpc>
                    <a:spcPct val="100000"/>
                  </a:lnSpc>
                  <a:spcBef>
                    <a:spcPts val="36"/>
                  </a:spcBef>
                  <a:buFont typeface="Arial"/>
                  <a:buChar char="•"/>
                </a:pPr>
                <a:endParaRPr lang="en-US" sz="4200" dirty="0">
                  <a:latin typeface="Times New Roman"/>
                  <a:cs typeface="Times New Roman"/>
                </a:endParaRPr>
              </a:p>
              <a:p>
                <a:pPr marL="248920" indent="-228600">
                  <a:lnSpc>
                    <a:spcPct val="100000"/>
                  </a:lnSpc>
                  <a:buFont typeface="Arial"/>
                  <a:buChar char="•"/>
                  <a:tabLst>
                    <a:tab pos="249554" algn="l"/>
                  </a:tabLst>
                </a:pPr>
                <a:r>
                  <a:rPr lang="en-US" sz="2000" spc="-55" dirty="0">
                    <a:latin typeface="Arial"/>
                    <a:cs typeface="Arial"/>
                  </a:rPr>
                  <a:t>Ther</a:t>
                </a:r>
                <a:r>
                  <a:rPr lang="en-US" sz="2000" dirty="0">
                    <a:latin typeface="Arial"/>
                    <a:cs typeface="Arial"/>
                  </a:rPr>
                  <a:t>e</a:t>
                </a:r>
                <a:r>
                  <a:rPr lang="en-US" sz="2000" spc="-114" dirty="0">
                    <a:latin typeface="Arial"/>
                    <a:cs typeface="Arial"/>
                  </a:rPr>
                  <a:t> </a:t>
                </a:r>
                <a:r>
                  <a:rPr lang="en-US" sz="2000" spc="-60" dirty="0">
                    <a:latin typeface="Arial"/>
                    <a:cs typeface="Arial"/>
                  </a:rPr>
                  <a:t>i</a:t>
                </a:r>
                <a:r>
                  <a:rPr lang="en-US" sz="2000" dirty="0">
                    <a:latin typeface="Arial"/>
                    <a:cs typeface="Arial"/>
                  </a:rPr>
                  <a:t>s</a:t>
                </a:r>
                <a:r>
                  <a:rPr lang="en-US" sz="2000" spc="-110" dirty="0">
                    <a:latin typeface="Arial"/>
                    <a:cs typeface="Arial"/>
                  </a:rPr>
                  <a:t> </a:t>
                </a:r>
                <a:r>
                  <a:rPr lang="en-US" sz="2000" spc="-60" dirty="0">
                    <a:latin typeface="Arial"/>
                    <a:cs typeface="Arial"/>
                  </a:rPr>
                  <a:t>n</a:t>
                </a:r>
                <a:r>
                  <a:rPr lang="en-US" sz="2000" dirty="0">
                    <a:latin typeface="Arial"/>
                    <a:cs typeface="Arial"/>
                  </a:rPr>
                  <a:t>o</a:t>
                </a:r>
                <a:r>
                  <a:rPr lang="en-US" sz="2000" spc="-110" dirty="0">
                    <a:latin typeface="Arial"/>
                    <a:cs typeface="Arial"/>
                  </a:rPr>
                  <a:t> </a:t>
                </a:r>
                <a:r>
                  <a:rPr lang="en-US" sz="2000" spc="-60" dirty="0">
                    <a:latin typeface="Arial"/>
                    <a:cs typeface="Arial"/>
                  </a:rPr>
                  <a:t>wa</a:t>
                </a:r>
                <a:r>
                  <a:rPr lang="en-US" sz="2000" dirty="0">
                    <a:latin typeface="Arial"/>
                    <a:cs typeface="Arial"/>
                  </a:rPr>
                  <a:t>y</a:t>
                </a:r>
                <a:r>
                  <a:rPr lang="en-US" sz="2000" spc="-110" dirty="0">
                    <a:latin typeface="Arial"/>
                    <a:cs typeface="Arial"/>
                  </a:rPr>
                  <a:t> </a:t>
                </a:r>
                <a:r>
                  <a:rPr lang="en-US" sz="2000" spc="-65" dirty="0">
                    <a:latin typeface="Arial"/>
                    <a:cs typeface="Arial"/>
                  </a:rPr>
                  <a:t>t</a:t>
                </a:r>
                <a:r>
                  <a:rPr lang="en-US" sz="2000" spc="-15" dirty="0">
                    <a:latin typeface="Arial"/>
                    <a:cs typeface="Arial"/>
                  </a:rPr>
                  <a:t>o</a:t>
                </a:r>
                <a:r>
                  <a:rPr lang="en-US" sz="2000" spc="-114" dirty="0">
                    <a:latin typeface="Arial"/>
                    <a:cs typeface="Arial"/>
                  </a:rPr>
                  <a:t> </a:t>
                </a:r>
                <a:r>
                  <a:rPr lang="en-US" sz="2000" spc="-60" dirty="0">
                    <a:latin typeface="Arial"/>
                    <a:cs typeface="Arial"/>
                  </a:rPr>
                  <a:t>achiev</a:t>
                </a:r>
                <a:r>
                  <a:rPr lang="en-US" sz="2000" dirty="0">
                    <a:latin typeface="Arial"/>
                    <a:cs typeface="Arial"/>
                  </a:rPr>
                  <a:t>e</a:t>
                </a:r>
                <a:r>
                  <a:rPr lang="en-US" sz="2000" spc="-110" dirty="0">
                    <a:latin typeface="Arial"/>
                    <a:cs typeface="Arial"/>
                  </a:rPr>
                  <a:t> </a:t>
                </a:r>
                <a:r>
                  <a:rPr lang="en-US" sz="2000" spc="-65" dirty="0">
                    <a:latin typeface="Arial"/>
                    <a:cs typeface="Arial"/>
                  </a:rPr>
                  <a:t>this</a:t>
                </a:r>
                <a:r>
                  <a:rPr lang="en-US" sz="2000" spc="-10" dirty="0">
                    <a:latin typeface="Arial"/>
                    <a:cs typeface="Arial"/>
                  </a:rPr>
                  <a:t>.</a:t>
                </a:r>
                <a:r>
                  <a:rPr lang="en-US" sz="2000" spc="-114" dirty="0">
                    <a:latin typeface="Arial"/>
                    <a:cs typeface="Arial"/>
                  </a:rPr>
                  <a:t> </a:t>
                </a:r>
                <a:r>
                  <a:rPr lang="en-US" sz="2000" spc="-55" dirty="0">
                    <a:latin typeface="Arial"/>
                    <a:cs typeface="Arial"/>
                  </a:rPr>
                  <a:t>Player</a:t>
                </a:r>
                <a:r>
                  <a:rPr lang="en-US" sz="2000" dirty="0">
                    <a:latin typeface="Arial"/>
                    <a:cs typeface="Arial"/>
                  </a:rPr>
                  <a:t>s</a:t>
                </a:r>
                <a:r>
                  <a:rPr lang="en-US" sz="2000" spc="-114" dirty="0">
                    <a:latin typeface="Arial"/>
                    <a:cs typeface="Arial"/>
                  </a:rPr>
                  <a:t> </a:t>
                </a:r>
                <a:r>
                  <a:rPr lang="en-US" sz="2000" spc="-55" dirty="0">
                    <a:latin typeface="Arial"/>
                    <a:cs typeface="Arial"/>
                  </a:rPr>
                  <a:t>ma</a:t>
                </a:r>
                <a:r>
                  <a:rPr lang="en-US" sz="2000" dirty="0">
                    <a:latin typeface="Arial"/>
                    <a:cs typeface="Arial"/>
                  </a:rPr>
                  <a:t>y</a:t>
                </a:r>
                <a:r>
                  <a:rPr lang="en-US" sz="2000" spc="-110" dirty="0">
                    <a:latin typeface="Arial"/>
                    <a:cs typeface="Arial"/>
                  </a:rPr>
                  <a:t> </a:t>
                </a:r>
                <a:r>
                  <a:rPr lang="en-US" sz="2000" spc="-60" dirty="0">
                    <a:latin typeface="Arial"/>
                    <a:cs typeface="Arial"/>
                  </a:rPr>
                  <a:t>an</a:t>
                </a:r>
                <a:r>
                  <a:rPr lang="en-US" sz="2000" dirty="0">
                    <a:latin typeface="Arial"/>
                    <a:cs typeface="Arial"/>
                  </a:rPr>
                  <a:t>d</a:t>
                </a:r>
                <a:r>
                  <a:rPr lang="en-US" sz="2000" spc="-110" dirty="0">
                    <a:latin typeface="Arial"/>
                    <a:cs typeface="Arial"/>
                  </a:rPr>
                  <a:t> </a:t>
                </a:r>
                <a:r>
                  <a:rPr lang="en-US" sz="2000" spc="-60" dirty="0">
                    <a:latin typeface="Arial"/>
                    <a:cs typeface="Arial"/>
                  </a:rPr>
                  <a:t>wil</a:t>
                </a:r>
                <a:r>
                  <a:rPr lang="en-US" sz="2000" dirty="0">
                    <a:latin typeface="Arial"/>
                    <a:cs typeface="Arial"/>
                  </a:rPr>
                  <a:t>l</a:t>
                </a:r>
                <a:r>
                  <a:rPr lang="en-US" sz="2000" spc="-110" dirty="0">
                    <a:latin typeface="Arial"/>
                    <a:cs typeface="Arial"/>
                  </a:rPr>
                  <a:t> </a:t>
                </a:r>
                <a:r>
                  <a:rPr lang="en-US" sz="2000" spc="-55" dirty="0">
                    <a:latin typeface="Arial"/>
                    <a:cs typeface="Arial"/>
                  </a:rPr>
                  <a:t>miscoordinate!</a:t>
                </a:r>
                <a:endParaRPr sz="2000" dirty="0">
                  <a:latin typeface="Arial"/>
                  <a:cs typeface="Arial"/>
                </a:endParaRPr>
              </a:p>
            </p:txBody>
          </p:sp>
        </mc:Choice>
        <mc:Fallback xmlns="">
          <p:sp>
            <p:nvSpPr>
              <p:cNvPr id="9" name="object 9"/>
              <p:cNvSpPr txBox="1">
                <a:spLocks noRot="1" noChangeAspect="1" noMove="1" noResize="1" noEditPoints="1" noAdjustHandles="1" noChangeArrowheads="1" noChangeShapeType="1" noTextEdit="1"/>
              </p:cNvSpPr>
              <p:nvPr/>
            </p:nvSpPr>
            <p:spPr>
              <a:xfrm>
                <a:off x="320235" y="1740029"/>
                <a:ext cx="7680765" cy="4044697"/>
              </a:xfrm>
              <a:prstGeom prst="rect">
                <a:avLst/>
              </a:prstGeom>
              <a:blipFill>
                <a:blip r:embed="rId3"/>
                <a:stretch>
                  <a:fillRect l="-3254" t="-3012" b="-3012"/>
                </a:stretch>
              </a:blipFill>
            </p:spPr>
            <p:txBody>
              <a:bodyPr/>
              <a:lstStyle/>
              <a:p>
                <a:r>
                  <a:rPr lang="en-US">
                    <a:noFill/>
                  </a:rPr>
                  <a:t> </a:t>
                </a:r>
              </a:p>
            </p:txBody>
          </p:sp>
        </mc:Fallback>
      </mc:AlternateContent>
      <p:graphicFrame>
        <p:nvGraphicFramePr>
          <p:cNvPr id="10" name="object 10"/>
          <p:cNvGraphicFramePr>
            <a:graphicFrameLocks noGrp="1"/>
          </p:cNvGraphicFramePr>
          <p:nvPr>
            <p:extLst>
              <p:ext uri="{D42A27DB-BD31-4B8C-83A1-F6EECF244321}">
                <p14:modId xmlns:p14="http://schemas.microsoft.com/office/powerpoint/2010/main" val="858988434"/>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314960">
                        <a:lnSpc>
                          <a:spcPct val="100000"/>
                        </a:lnSpc>
                      </a:pPr>
                      <a:r>
                        <a:rPr sz="1800" i="1" spc="-20" dirty="0">
                          <a:latin typeface="Meiryo"/>
                          <a:cs typeface="Meiryo"/>
                        </a:rPr>
                        <a:t>2</a:t>
                      </a:r>
                      <a:r>
                        <a:rPr sz="1800" i="1" dirty="0">
                          <a:latin typeface="Meiryo"/>
                          <a:cs typeface="Meiryo"/>
                        </a:rPr>
                        <a:t>,</a:t>
                      </a:r>
                      <a:r>
                        <a:rPr sz="1800" i="1" spc="-40" dirty="0">
                          <a:latin typeface="Meiryo"/>
                          <a:cs typeface="Meiryo"/>
                        </a:rPr>
                        <a:t> </a:t>
                      </a:r>
                      <a:r>
                        <a:rPr sz="1800" i="1"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339090">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14960">
                        <a:lnSpc>
                          <a:spcPct val="100000"/>
                        </a:lnSpc>
                      </a:pPr>
                      <a:r>
                        <a:rPr sz="1800" i="1" spc="-20" dirty="0">
                          <a:latin typeface="Meiryo"/>
                          <a:cs typeface="Meiryo"/>
                        </a:rPr>
                        <a:t>1</a:t>
                      </a:r>
                      <a:r>
                        <a:rPr sz="1800" i="1" dirty="0">
                          <a:latin typeface="Meiryo"/>
                          <a:cs typeface="Meiryo"/>
                        </a:rPr>
                        <a:t>,</a:t>
                      </a:r>
                      <a:r>
                        <a:rPr sz="1800" i="1" spc="-40" dirty="0">
                          <a:latin typeface="Meiryo"/>
                          <a:cs typeface="Meiryo"/>
                        </a:rPr>
                        <a:t> </a:t>
                      </a:r>
                      <a:r>
                        <a:rPr sz="1800" i="1" dirty="0">
                          <a:latin typeface="Meiryo"/>
                          <a:cs typeface="Meiryo"/>
                        </a:rPr>
                        <a:t>2</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1" name="Slide Number Placeholder 8">
            <a:extLst>
              <a:ext uri="{FF2B5EF4-FFF2-40B4-BE49-F238E27FC236}">
                <a16:creationId xmlns:a16="http://schemas.microsoft.com/office/drawing/2014/main" id="{0AFECFE3-D244-873B-5DAE-574EF85E47FE}"/>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42</a:t>
            </a:fld>
            <a:r>
              <a:rPr lang="en-US" sz="2000" dirty="0">
                <a:solidFill>
                  <a:prstClr val="black"/>
                </a:solidFill>
                <a:latin typeface="Comic Sans MS"/>
                <a:sym typeface="Comic Sans MS"/>
              </a:rPr>
              <a:t>/46</a:t>
            </a:r>
          </a:p>
        </p:txBody>
      </p:sp>
      <p:sp>
        <p:nvSpPr>
          <p:cNvPr id="12" name="Footer Placeholder 9">
            <a:extLst>
              <a:ext uri="{FF2B5EF4-FFF2-40B4-BE49-F238E27FC236}">
                <a16:creationId xmlns:a16="http://schemas.microsoft.com/office/drawing/2014/main" id="{AFFED2C0-7BCA-6EC0-FE23-1701B2AAC357}"/>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3" name="Rectangle 12">
            <a:extLst>
              <a:ext uri="{FF2B5EF4-FFF2-40B4-BE49-F238E27FC236}">
                <a16:creationId xmlns:a16="http://schemas.microsoft.com/office/drawing/2014/main" id="{1F41AF78-33A7-977A-23B0-B71D36888383}"/>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4" name="Rectangle 13">
            <a:extLst>
              <a:ext uri="{FF2B5EF4-FFF2-40B4-BE49-F238E27FC236}">
                <a16:creationId xmlns:a16="http://schemas.microsoft.com/office/drawing/2014/main" id="{7F5F82D4-5798-AFE2-BF5B-CAB3BA1BAF45}"/>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2E9FBB53-A8E9-749D-8456-08CE54C34AA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315342" y="150216"/>
            <a:ext cx="8221344" cy="984885"/>
          </a:xfrm>
          <a:prstGeom prst="rect">
            <a:avLst/>
          </a:prstGeom>
        </p:spPr>
        <p:txBody>
          <a:bodyPr vert="horz" wrap="square" lIns="0" tIns="0" rIns="0" bIns="0" rtlCol="0">
            <a:spAutoFit/>
          </a:bodyPr>
          <a:lstStyle/>
          <a:p>
            <a:pPr marL="12700">
              <a:lnSpc>
                <a:spcPct val="100000"/>
              </a:lnSpc>
            </a:pPr>
            <a:r>
              <a:rPr lang="en-US" dirty="0">
                <a:solidFill>
                  <a:srgbClr val="FF0000"/>
                </a:solidFill>
              </a:rPr>
              <a:t>Self Study: </a:t>
            </a:r>
            <a:r>
              <a:rPr dirty="0"/>
              <a:t>Correla</a:t>
            </a:r>
            <a:r>
              <a:rPr spc="-15" dirty="0"/>
              <a:t>t</a:t>
            </a:r>
            <a:r>
              <a:rPr dirty="0"/>
              <a:t>ed</a:t>
            </a:r>
            <a:r>
              <a:rPr spc="-5" dirty="0"/>
              <a:t> </a:t>
            </a:r>
            <a:r>
              <a:rPr dirty="0"/>
              <a:t>Equilibrium</a:t>
            </a:r>
            <a:r>
              <a:rPr spc="-5" dirty="0"/>
              <a:t> </a:t>
            </a:r>
            <a:r>
              <a:rPr dirty="0"/>
              <a:t>(Example</a:t>
            </a:r>
            <a:r>
              <a:rPr spc="-5" dirty="0"/>
              <a:t> </a:t>
            </a:r>
            <a:r>
              <a:rPr dirty="0"/>
              <a:t>2</a:t>
            </a:r>
            <a:r>
              <a:rPr spc="-10" dirty="0"/>
              <a:t>:</a:t>
            </a:r>
            <a:r>
              <a:rPr spc="-60" dirty="0"/>
              <a:t> </a:t>
            </a:r>
            <a:r>
              <a:rPr spc="-140" dirty="0"/>
              <a:t>T</a:t>
            </a:r>
            <a:r>
              <a:rPr dirty="0"/>
              <a:t>ra</a:t>
            </a:r>
            <a:r>
              <a:rPr spc="-70" dirty="0"/>
              <a:t>f</a:t>
            </a:r>
            <a:r>
              <a:rPr spc="-15" dirty="0"/>
              <a:t>f</a:t>
            </a:r>
            <a:r>
              <a:rPr dirty="0"/>
              <a:t>ic)</a:t>
            </a:r>
          </a:p>
        </p:txBody>
      </p:sp>
      <p:sp>
        <p:nvSpPr>
          <p:cNvPr id="6" name="object 6"/>
          <p:cNvSpPr txBox="1"/>
          <p:nvPr/>
        </p:nvSpPr>
        <p:spPr>
          <a:xfrm>
            <a:off x="263500" y="3567430"/>
            <a:ext cx="7691120" cy="2376170"/>
          </a:xfrm>
          <a:prstGeom prst="rect">
            <a:avLst/>
          </a:prstGeom>
        </p:spPr>
        <p:txBody>
          <a:bodyPr vert="horz" wrap="square" lIns="0" tIns="0" rIns="0" bIns="0" rtlCol="0">
            <a:spAutoFit/>
          </a:bodyPr>
          <a:lstStyle/>
          <a:p>
            <a:pPr marL="241300" indent="-228600">
              <a:lnSpc>
                <a:spcPts val="2380"/>
              </a:lnSpc>
              <a:buFont typeface="Arial"/>
              <a:buChar char="•"/>
              <a:tabLst>
                <a:tab pos="241300" algn="l"/>
              </a:tabLst>
            </a:pPr>
            <a:r>
              <a:rPr sz="2000" dirty="0">
                <a:latin typeface="Arial"/>
                <a:cs typeface="Arial"/>
              </a:rPr>
              <a:t>Shouldn’</a:t>
            </a:r>
            <a:r>
              <a:rPr sz="2000" spc="-10" dirty="0">
                <a:latin typeface="Arial"/>
                <a:cs typeface="Arial"/>
              </a:rPr>
              <a:t>t</a:t>
            </a:r>
            <a:r>
              <a:rPr sz="2000" spc="-5" dirty="0">
                <a:latin typeface="Arial"/>
                <a:cs typeface="Arial"/>
              </a:rPr>
              <a:t> </a:t>
            </a:r>
            <a:r>
              <a:rPr sz="2000" dirty="0">
                <a:latin typeface="Arial"/>
                <a:cs typeface="Arial"/>
              </a:rPr>
              <a:t>we</a:t>
            </a:r>
            <a:r>
              <a:rPr sz="2000" spc="-5" dirty="0">
                <a:latin typeface="Arial"/>
                <a:cs typeface="Arial"/>
              </a:rPr>
              <a:t> </a:t>
            </a:r>
            <a:r>
              <a:rPr sz="2000" dirty="0">
                <a:latin typeface="Arial"/>
                <a:cs typeface="Arial"/>
              </a:rPr>
              <a:t>have</a:t>
            </a:r>
            <a:r>
              <a:rPr sz="2000" spc="-5" dirty="0">
                <a:latin typeface="Arial"/>
                <a:cs typeface="Arial"/>
              </a:rPr>
              <a:t> </a:t>
            </a:r>
            <a:r>
              <a:rPr sz="2000" dirty="0">
                <a:latin typeface="Arial"/>
                <a:cs typeface="Arial"/>
              </a:rPr>
              <a:t>a</a:t>
            </a:r>
            <a:r>
              <a:rPr sz="2000" spc="-5" dirty="0">
                <a:latin typeface="Arial"/>
                <a:cs typeface="Arial"/>
              </a:rPr>
              <a:t> </a:t>
            </a:r>
            <a:r>
              <a:rPr sz="2000" spc="-10" dirty="0">
                <a:latin typeface="Arial"/>
                <a:cs typeface="Arial"/>
              </a:rPr>
              <a:t>t</a:t>
            </a:r>
            <a:r>
              <a:rPr sz="2000" dirty="0">
                <a:latin typeface="Arial"/>
                <a:cs typeface="Arial"/>
              </a:rPr>
              <a:t>ra</a:t>
            </a:r>
            <a:r>
              <a:rPr sz="2000" spc="-50" dirty="0">
                <a:latin typeface="Arial"/>
                <a:cs typeface="Arial"/>
              </a:rPr>
              <a:t>f</a:t>
            </a:r>
            <a:r>
              <a:rPr sz="2000" spc="-10" dirty="0">
                <a:latin typeface="Arial"/>
                <a:cs typeface="Arial"/>
              </a:rPr>
              <a:t>f</a:t>
            </a:r>
            <a:r>
              <a:rPr sz="2000" dirty="0">
                <a:latin typeface="Arial"/>
                <a:cs typeface="Arial"/>
              </a:rPr>
              <a:t>ic</a:t>
            </a:r>
            <a:r>
              <a:rPr sz="2000" spc="-5" dirty="0">
                <a:latin typeface="Arial"/>
                <a:cs typeface="Arial"/>
              </a:rPr>
              <a:t> </a:t>
            </a:r>
            <a:r>
              <a:rPr sz="2000" dirty="0">
                <a:latin typeface="Arial"/>
                <a:cs typeface="Arial"/>
              </a:rPr>
              <a:t>ligh</a:t>
            </a:r>
            <a:r>
              <a:rPr sz="2000" spc="-10" dirty="0">
                <a:latin typeface="Arial"/>
                <a:cs typeface="Arial"/>
              </a:rPr>
              <a:t>t</a:t>
            </a:r>
            <a:r>
              <a:rPr sz="2000" dirty="0">
                <a:latin typeface="Arial"/>
                <a:cs typeface="Arial"/>
              </a:rPr>
              <a:t>?</a:t>
            </a:r>
          </a:p>
          <a:p>
            <a:pPr marL="241300" indent="-228600">
              <a:lnSpc>
                <a:spcPts val="2380"/>
              </a:lnSpc>
              <a:buFont typeface="Arial"/>
              <a:buChar char="•"/>
              <a:tabLst>
                <a:tab pos="241300" algn="l"/>
              </a:tabLst>
            </a:pPr>
            <a:r>
              <a:rPr sz="2000" spc="-15" dirty="0">
                <a:latin typeface="Arial"/>
                <a:cs typeface="Arial"/>
              </a:rPr>
              <a:t>The</a:t>
            </a:r>
            <a:r>
              <a:rPr sz="2000" spc="-5" dirty="0">
                <a:latin typeface="Arial"/>
                <a:cs typeface="Arial"/>
              </a:rPr>
              <a:t> </a:t>
            </a:r>
            <a:r>
              <a:rPr sz="2000" spc="-10" dirty="0">
                <a:latin typeface="Arial"/>
                <a:cs typeface="Arial"/>
              </a:rPr>
              <a:t>t</a:t>
            </a:r>
            <a:r>
              <a:rPr sz="2000" dirty="0">
                <a:latin typeface="Arial"/>
                <a:cs typeface="Arial"/>
              </a:rPr>
              <a:t>ra</a:t>
            </a:r>
            <a:r>
              <a:rPr sz="2000" spc="-50" dirty="0">
                <a:latin typeface="Arial"/>
                <a:cs typeface="Arial"/>
              </a:rPr>
              <a:t>f</a:t>
            </a:r>
            <a:r>
              <a:rPr sz="2000" spc="-10" dirty="0">
                <a:latin typeface="Arial"/>
                <a:cs typeface="Arial"/>
              </a:rPr>
              <a:t>f</a:t>
            </a:r>
            <a:r>
              <a:rPr sz="2000" dirty="0">
                <a:latin typeface="Arial"/>
                <a:cs typeface="Arial"/>
              </a:rPr>
              <a:t>ic</a:t>
            </a:r>
            <a:r>
              <a:rPr sz="2000" spc="-5" dirty="0">
                <a:latin typeface="Arial"/>
                <a:cs typeface="Arial"/>
              </a:rPr>
              <a:t> </a:t>
            </a:r>
            <a:r>
              <a:rPr sz="2000" dirty="0">
                <a:latin typeface="Arial"/>
                <a:cs typeface="Arial"/>
              </a:rPr>
              <a:t>ligh</a:t>
            </a:r>
            <a:r>
              <a:rPr sz="2000" spc="-10" dirty="0">
                <a:latin typeface="Arial"/>
                <a:cs typeface="Arial"/>
              </a:rPr>
              <a:t>t</a:t>
            </a:r>
            <a:r>
              <a:rPr sz="2000" spc="-5" dirty="0">
                <a:latin typeface="Arial"/>
                <a:cs typeface="Arial"/>
              </a:rPr>
              <a:t> </a:t>
            </a:r>
            <a:r>
              <a:rPr sz="2000" dirty="0">
                <a:latin typeface="Arial"/>
                <a:cs typeface="Arial"/>
              </a:rPr>
              <a:t>could</a:t>
            </a:r>
            <a:r>
              <a:rPr sz="2000" spc="-5" dirty="0">
                <a:latin typeface="Arial"/>
                <a:cs typeface="Arial"/>
              </a:rPr>
              <a:t> </a:t>
            </a:r>
            <a:r>
              <a:rPr sz="2000" dirty="0">
                <a:latin typeface="Arial"/>
                <a:cs typeface="Arial"/>
              </a:rPr>
              <a:t>also</a:t>
            </a:r>
            <a:r>
              <a:rPr sz="2000" spc="-5" dirty="0">
                <a:latin typeface="Arial"/>
                <a:cs typeface="Arial"/>
              </a:rPr>
              <a:t> </a:t>
            </a:r>
            <a:r>
              <a:rPr sz="2000" dirty="0">
                <a:latin typeface="Arial"/>
                <a:cs typeface="Arial"/>
              </a:rPr>
              <a:t>be</a:t>
            </a:r>
            <a:r>
              <a:rPr sz="2000" spc="-5" dirty="0">
                <a:latin typeface="Arial"/>
                <a:cs typeface="Arial"/>
              </a:rPr>
              <a:t> </a:t>
            </a:r>
            <a:r>
              <a:rPr sz="2000" dirty="0">
                <a:latin typeface="Arial"/>
                <a:cs typeface="Arial"/>
              </a:rPr>
              <a:t>rando</a:t>
            </a:r>
            <a:r>
              <a:rPr sz="2000" spc="-15" dirty="0">
                <a:latin typeface="Arial"/>
                <a:cs typeface="Arial"/>
              </a:rPr>
              <a:t>m!</a:t>
            </a:r>
            <a:endParaRPr sz="2000" dirty="0">
              <a:latin typeface="Arial"/>
              <a:cs typeface="Arial"/>
            </a:endParaRPr>
          </a:p>
          <a:p>
            <a:pPr>
              <a:lnSpc>
                <a:spcPct val="100000"/>
              </a:lnSpc>
              <a:spcBef>
                <a:spcPts val="16"/>
              </a:spcBef>
              <a:buFont typeface="Arial"/>
              <a:buChar char="•"/>
            </a:pPr>
            <a:endParaRPr sz="2000" dirty="0">
              <a:latin typeface="Times New Roman"/>
              <a:cs typeface="Times New Roman"/>
            </a:endParaRPr>
          </a:p>
          <a:p>
            <a:pPr marL="241300" indent="-228600">
              <a:lnSpc>
                <a:spcPts val="2380"/>
              </a:lnSpc>
              <a:buFont typeface="Arial"/>
              <a:buChar char="•"/>
              <a:tabLst>
                <a:tab pos="241300" algn="l"/>
              </a:tabLst>
            </a:pPr>
            <a:r>
              <a:rPr sz="2000" dirty="0">
                <a:latin typeface="Arial"/>
                <a:cs typeface="Arial"/>
              </a:rPr>
              <a:t>a</a:t>
            </a:r>
            <a:r>
              <a:rPr sz="2000" spc="-5" dirty="0">
                <a:latin typeface="Arial"/>
                <a:cs typeface="Arial"/>
              </a:rPr>
              <a:t> </a:t>
            </a:r>
            <a:r>
              <a:rPr sz="2000" spc="-10" dirty="0">
                <a:latin typeface="Arial"/>
                <a:cs typeface="Arial"/>
              </a:rPr>
              <a:t>f</a:t>
            </a:r>
            <a:r>
              <a:rPr sz="2000" dirty="0">
                <a:latin typeface="Arial"/>
                <a:cs typeface="Arial"/>
              </a:rPr>
              <a:t>air</a:t>
            </a:r>
            <a:r>
              <a:rPr sz="2000" spc="-5" dirty="0">
                <a:latin typeface="Arial"/>
                <a:cs typeface="Arial"/>
              </a:rPr>
              <a:t> </a:t>
            </a:r>
            <a:r>
              <a:rPr sz="2000" dirty="0">
                <a:latin typeface="Arial"/>
                <a:cs typeface="Arial"/>
              </a:rPr>
              <a:t>random</a:t>
            </a:r>
            <a:r>
              <a:rPr sz="2000" spc="-5" dirty="0">
                <a:latin typeface="Arial"/>
                <a:cs typeface="Arial"/>
              </a:rPr>
              <a:t> </a:t>
            </a:r>
            <a:r>
              <a:rPr sz="2000" dirty="0">
                <a:latin typeface="Arial"/>
                <a:cs typeface="Arial"/>
              </a:rPr>
              <a:t>variable</a:t>
            </a:r>
            <a:r>
              <a:rPr sz="2000" spc="-5" dirty="0">
                <a:latin typeface="Arial"/>
                <a:cs typeface="Arial"/>
              </a:rPr>
              <a:t> </a:t>
            </a:r>
            <a:r>
              <a:rPr sz="2000" dirty="0">
                <a:latin typeface="Arial"/>
                <a:cs typeface="Arial"/>
              </a:rPr>
              <a:t>wi</a:t>
            </a:r>
            <a:r>
              <a:rPr sz="2000" spc="-10" dirty="0">
                <a:latin typeface="Arial"/>
                <a:cs typeface="Arial"/>
              </a:rPr>
              <a:t>t</a:t>
            </a:r>
            <a:r>
              <a:rPr sz="2000" dirty="0">
                <a:latin typeface="Arial"/>
                <a:cs typeface="Arial"/>
              </a:rPr>
              <a:t>h</a:t>
            </a:r>
            <a:r>
              <a:rPr sz="2000" spc="-5" dirty="0">
                <a:latin typeface="Arial"/>
                <a:cs typeface="Arial"/>
              </a:rPr>
              <a:t> </a:t>
            </a:r>
            <a:r>
              <a:rPr sz="2000" dirty="0">
                <a:latin typeface="Arial"/>
                <a:cs typeface="Arial"/>
              </a:rPr>
              <a:t>a</a:t>
            </a:r>
            <a:r>
              <a:rPr sz="2000" spc="-5" dirty="0">
                <a:latin typeface="Arial"/>
                <a:cs typeface="Arial"/>
              </a:rPr>
              <a:t> </a:t>
            </a:r>
            <a:r>
              <a:rPr sz="2000" dirty="0">
                <a:latin typeface="Arial"/>
                <a:cs typeface="Arial"/>
              </a:rPr>
              <a:t>commonly</a:t>
            </a:r>
            <a:r>
              <a:rPr sz="2000" spc="-5" dirty="0">
                <a:latin typeface="Arial"/>
                <a:cs typeface="Arial"/>
              </a:rPr>
              <a:t> </a:t>
            </a:r>
            <a:r>
              <a:rPr sz="2000" dirty="0">
                <a:latin typeface="Arial"/>
                <a:cs typeface="Arial"/>
              </a:rPr>
              <a:t>known</a:t>
            </a:r>
            <a:r>
              <a:rPr sz="2000" spc="-5" dirty="0">
                <a:latin typeface="Arial"/>
                <a:cs typeface="Arial"/>
              </a:rPr>
              <a:t> </a:t>
            </a:r>
            <a:r>
              <a:rPr sz="2000" dirty="0">
                <a:latin typeface="Arial"/>
                <a:cs typeface="Arial"/>
              </a:rPr>
              <a:t>di</a:t>
            </a:r>
            <a:r>
              <a:rPr sz="2000" spc="-10" dirty="0">
                <a:latin typeface="Arial"/>
                <a:cs typeface="Arial"/>
              </a:rPr>
              <a:t>st</a:t>
            </a:r>
            <a:r>
              <a:rPr sz="2000" dirty="0">
                <a:latin typeface="Arial"/>
                <a:cs typeface="Arial"/>
              </a:rPr>
              <a:t>ribu</a:t>
            </a:r>
            <a:r>
              <a:rPr sz="2000" spc="-10" dirty="0">
                <a:latin typeface="Arial"/>
                <a:cs typeface="Arial"/>
              </a:rPr>
              <a:t>t</a:t>
            </a:r>
            <a:r>
              <a:rPr sz="2000" dirty="0">
                <a:latin typeface="Arial"/>
                <a:cs typeface="Arial"/>
              </a:rPr>
              <a:t>ion</a:t>
            </a:r>
            <a:r>
              <a:rPr sz="2000" spc="-10" dirty="0">
                <a:latin typeface="Arial"/>
                <a:cs typeface="Arial"/>
              </a:rPr>
              <a:t>,</a:t>
            </a:r>
            <a:endParaRPr sz="2000" dirty="0">
              <a:latin typeface="Arial"/>
              <a:cs typeface="Arial"/>
            </a:endParaRPr>
          </a:p>
          <a:p>
            <a:pPr marL="241300" indent="-228600">
              <a:lnSpc>
                <a:spcPts val="2380"/>
              </a:lnSpc>
              <a:buFont typeface="Arial"/>
              <a:buChar char="•"/>
              <a:tabLst>
                <a:tab pos="241300" algn="l"/>
              </a:tabLst>
            </a:pPr>
            <a:r>
              <a:rPr sz="2000" dirty="0">
                <a:latin typeface="Arial"/>
                <a:cs typeface="Arial"/>
              </a:rPr>
              <a:t>and</a:t>
            </a:r>
            <a:r>
              <a:rPr sz="2000" spc="-5" dirty="0">
                <a:latin typeface="Arial"/>
                <a:cs typeface="Arial"/>
              </a:rPr>
              <a:t> </a:t>
            </a:r>
            <a:r>
              <a:rPr sz="2000" dirty="0">
                <a:latin typeface="Arial"/>
                <a:cs typeface="Arial"/>
              </a:rPr>
              <a:t>a</a:t>
            </a:r>
            <a:r>
              <a:rPr sz="2000" spc="-5" dirty="0">
                <a:latin typeface="Arial"/>
                <a:cs typeface="Arial"/>
              </a:rPr>
              <a:t> </a:t>
            </a:r>
            <a:r>
              <a:rPr sz="2000" dirty="0">
                <a:latin typeface="Arial"/>
                <a:cs typeface="Arial"/>
              </a:rPr>
              <a:t>priva</a:t>
            </a:r>
            <a:r>
              <a:rPr sz="2000" spc="-10" dirty="0">
                <a:latin typeface="Arial"/>
                <a:cs typeface="Arial"/>
              </a:rPr>
              <a:t>t</a:t>
            </a:r>
            <a:r>
              <a:rPr sz="2000" dirty="0">
                <a:latin typeface="Arial"/>
                <a:cs typeface="Arial"/>
              </a:rPr>
              <a:t>e</a:t>
            </a:r>
            <a:r>
              <a:rPr sz="2000" spc="-5" dirty="0">
                <a:latin typeface="Arial"/>
                <a:cs typeface="Arial"/>
              </a:rPr>
              <a:t> </a:t>
            </a:r>
            <a:r>
              <a:rPr sz="2000" dirty="0">
                <a:latin typeface="Arial"/>
                <a:cs typeface="Arial"/>
              </a:rPr>
              <a:t>signal</a:t>
            </a:r>
            <a:r>
              <a:rPr sz="2000" spc="-5" dirty="0">
                <a:latin typeface="Arial"/>
                <a:cs typeface="Arial"/>
              </a:rPr>
              <a:t> </a:t>
            </a:r>
            <a:r>
              <a:rPr sz="2000" spc="-10" dirty="0">
                <a:latin typeface="Arial"/>
                <a:cs typeface="Arial"/>
              </a:rPr>
              <a:t>t</a:t>
            </a:r>
            <a:r>
              <a:rPr sz="2000" dirty="0">
                <a:latin typeface="Arial"/>
                <a:cs typeface="Arial"/>
              </a:rPr>
              <a:t>o</a:t>
            </a:r>
            <a:r>
              <a:rPr sz="2000" spc="-5" dirty="0">
                <a:latin typeface="Arial"/>
                <a:cs typeface="Arial"/>
              </a:rPr>
              <a:t> </a:t>
            </a:r>
            <a:r>
              <a:rPr sz="2000" dirty="0">
                <a:latin typeface="Arial"/>
                <a:cs typeface="Arial"/>
              </a:rPr>
              <a:t>each</a:t>
            </a:r>
            <a:r>
              <a:rPr sz="2000" spc="-5" dirty="0">
                <a:latin typeface="Arial"/>
                <a:cs typeface="Arial"/>
              </a:rPr>
              <a:t> </a:t>
            </a:r>
            <a:r>
              <a:rPr sz="2000" dirty="0">
                <a:latin typeface="Arial"/>
                <a:cs typeface="Arial"/>
              </a:rPr>
              <a:t>player</a:t>
            </a:r>
            <a:r>
              <a:rPr sz="2000" spc="-5" dirty="0">
                <a:latin typeface="Arial"/>
                <a:cs typeface="Arial"/>
              </a:rPr>
              <a:t> </a:t>
            </a:r>
            <a:r>
              <a:rPr sz="2000" dirty="0">
                <a:latin typeface="Arial"/>
                <a:cs typeface="Arial"/>
              </a:rPr>
              <a:t>abou</a:t>
            </a:r>
            <a:r>
              <a:rPr sz="2000" spc="-10" dirty="0">
                <a:latin typeface="Arial"/>
                <a:cs typeface="Arial"/>
              </a:rPr>
              <a:t>t</a:t>
            </a:r>
            <a:r>
              <a:rPr sz="2000" spc="-5" dirty="0">
                <a:latin typeface="Arial"/>
                <a:cs typeface="Arial"/>
              </a:rPr>
              <a:t> </a:t>
            </a:r>
            <a:r>
              <a:rPr sz="2000" spc="-10" dirty="0">
                <a:latin typeface="Arial"/>
                <a:cs typeface="Arial"/>
              </a:rPr>
              <a:t>t</a:t>
            </a:r>
            <a:r>
              <a:rPr sz="2000" dirty="0">
                <a:latin typeface="Arial"/>
                <a:cs typeface="Arial"/>
              </a:rPr>
              <a:t>he</a:t>
            </a:r>
            <a:r>
              <a:rPr sz="2000" spc="-5" dirty="0">
                <a:latin typeface="Arial"/>
                <a:cs typeface="Arial"/>
              </a:rPr>
              <a:t> </a:t>
            </a:r>
            <a:r>
              <a:rPr sz="2000" dirty="0">
                <a:latin typeface="Arial"/>
                <a:cs typeface="Arial"/>
              </a:rPr>
              <a:t>ou</a:t>
            </a:r>
            <a:r>
              <a:rPr sz="2000" spc="-10" dirty="0">
                <a:latin typeface="Arial"/>
                <a:cs typeface="Arial"/>
              </a:rPr>
              <a:t>t</a:t>
            </a:r>
            <a:r>
              <a:rPr sz="2000" dirty="0">
                <a:latin typeface="Arial"/>
                <a:cs typeface="Arial"/>
              </a:rPr>
              <a:t>come</a:t>
            </a:r>
            <a:r>
              <a:rPr sz="2000" spc="-5" dirty="0">
                <a:latin typeface="Arial"/>
                <a:cs typeface="Arial"/>
              </a:rPr>
              <a:t> </a:t>
            </a:r>
            <a:r>
              <a:rPr sz="2000" dirty="0">
                <a:latin typeface="Arial"/>
                <a:cs typeface="Arial"/>
              </a:rPr>
              <a:t>is</a:t>
            </a:r>
            <a:r>
              <a:rPr sz="2000" spc="-5" dirty="0">
                <a:latin typeface="Arial"/>
                <a:cs typeface="Arial"/>
              </a:rPr>
              <a:t> </a:t>
            </a:r>
            <a:r>
              <a:rPr sz="2000" dirty="0">
                <a:latin typeface="Arial"/>
                <a:cs typeface="Arial"/>
              </a:rPr>
              <a:t>su</a:t>
            </a:r>
            <a:r>
              <a:rPr sz="2000" spc="-50" dirty="0">
                <a:latin typeface="Arial"/>
                <a:cs typeface="Arial"/>
              </a:rPr>
              <a:t>f</a:t>
            </a:r>
            <a:r>
              <a:rPr sz="2000" spc="-10" dirty="0">
                <a:latin typeface="Arial"/>
                <a:cs typeface="Arial"/>
              </a:rPr>
              <a:t>f</a:t>
            </a:r>
            <a:r>
              <a:rPr sz="2000" dirty="0">
                <a:latin typeface="Arial"/>
                <a:cs typeface="Arial"/>
              </a:rPr>
              <a:t>icien</a:t>
            </a:r>
            <a:r>
              <a:rPr sz="2000" spc="-10" dirty="0">
                <a:latin typeface="Arial"/>
                <a:cs typeface="Arial"/>
              </a:rPr>
              <a:t>t!</a:t>
            </a:r>
            <a:endParaRPr sz="2000" dirty="0">
              <a:latin typeface="Arial"/>
              <a:cs typeface="Arial"/>
            </a:endParaRPr>
          </a:p>
          <a:p>
            <a:pPr>
              <a:lnSpc>
                <a:spcPct val="100000"/>
              </a:lnSpc>
              <a:spcBef>
                <a:spcPts val="16"/>
              </a:spcBef>
              <a:buFont typeface="Arial"/>
              <a:buChar char="•"/>
            </a:pPr>
            <a:endParaRPr sz="2000" dirty="0">
              <a:latin typeface="Times New Roman"/>
              <a:cs typeface="Times New Roman"/>
            </a:endParaRPr>
          </a:p>
          <a:p>
            <a:pPr marL="241300" indent="-228600">
              <a:lnSpc>
                <a:spcPts val="2380"/>
              </a:lnSpc>
              <a:buFont typeface="Arial"/>
              <a:buChar char="•"/>
              <a:tabLst>
                <a:tab pos="241300" algn="l"/>
              </a:tabLst>
            </a:pPr>
            <a:r>
              <a:rPr sz="2000" dirty="0">
                <a:latin typeface="Arial"/>
                <a:cs typeface="Arial"/>
              </a:rPr>
              <a:t>signal</a:t>
            </a:r>
            <a:r>
              <a:rPr sz="2000" spc="-5" dirty="0">
                <a:latin typeface="Arial"/>
                <a:cs typeface="Arial"/>
              </a:rPr>
              <a:t> </a:t>
            </a:r>
            <a:r>
              <a:rPr sz="2000" dirty="0">
                <a:latin typeface="Arial"/>
                <a:cs typeface="Arial"/>
              </a:rPr>
              <a:t>doesn’</a:t>
            </a:r>
            <a:r>
              <a:rPr sz="2000" spc="-10" dirty="0">
                <a:latin typeface="Arial"/>
                <a:cs typeface="Arial"/>
              </a:rPr>
              <a:t>t</a:t>
            </a:r>
            <a:r>
              <a:rPr sz="2000" spc="-5" dirty="0">
                <a:latin typeface="Arial"/>
                <a:cs typeface="Arial"/>
              </a:rPr>
              <a:t> </a:t>
            </a:r>
            <a:r>
              <a:rPr sz="2000" dirty="0">
                <a:latin typeface="Arial"/>
                <a:cs typeface="Arial"/>
              </a:rPr>
              <a:t>de</a:t>
            </a:r>
            <a:r>
              <a:rPr sz="2000" spc="-10" dirty="0">
                <a:latin typeface="Arial"/>
                <a:cs typeface="Arial"/>
              </a:rPr>
              <a:t>t</a:t>
            </a:r>
            <a:r>
              <a:rPr sz="2000" dirty="0">
                <a:latin typeface="Arial"/>
                <a:cs typeface="Arial"/>
              </a:rPr>
              <a:t>ermine</a:t>
            </a:r>
            <a:r>
              <a:rPr sz="2000" spc="-5" dirty="0">
                <a:latin typeface="Arial"/>
                <a:cs typeface="Arial"/>
              </a:rPr>
              <a:t> </a:t>
            </a:r>
            <a:r>
              <a:rPr sz="2000" spc="-10" dirty="0">
                <a:latin typeface="Arial"/>
                <a:cs typeface="Arial"/>
              </a:rPr>
              <a:t>t</a:t>
            </a:r>
            <a:r>
              <a:rPr sz="2000" dirty="0">
                <a:latin typeface="Arial"/>
                <a:cs typeface="Arial"/>
              </a:rPr>
              <a:t>he</a:t>
            </a:r>
            <a:r>
              <a:rPr sz="2000" spc="-5" dirty="0">
                <a:latin typeface="Arial"/>
                <a:cs typeface="Arial"/>
              </a:rPr>
              <a:t> </a:t>
            </a:r>
            <a:r>
              <a:rPr sz="2000" dirty="0">
                <a:latin typeface="Arial"/>
                <a:cs typeface="Arial"/>
              </a:rPr>
              <a:t>ou</a:t>
            </a:r>
            <a:r>
              <a:rPr sz="2000" spc="-10" dirty="0">
                <a:latin typeface="Arial"/>
                <a:cs typeface="Arial"/>
              </a:rPr>
              <a:t>t</a:t>
            </a:r>
            <a:r>
              <a:rPr sz="2000" dirty="0">
                <a:latin typeface="Arial"/>
                <a:cs typeface="Arial"/>
              </a:rPr>
              <a:t>come</a:t>
            </a:r>
            <a:r>
              <a:rPr sz="2000" spc="-5" dirty="0">
                <a:latin typeface="Arial"/>
                <a:cs typeface="Arial"/>
              </a:rPr>
              <a:t> </a:t>
            </a:r>
            <a:r>
              <a:rPr sz="2000" dirty="0">
                <a:latin typeface="Arial"/>
                <a:cs typeface="Arial"/>
              </a:rPr>
              <a:t>or</a:t>
            </a:r>
            <a:r>
              <a:rPr sz="2000" spc="-5" dirty="0">
                <a:latin typeface="Arial"/>
                <a:cs typeface="Arial"/>
              </a:rPr>
              <a:t> </a:t>
            </a:r>
            <a:r>
              <a:rPr sz="2000" dirty="0">
                <a:latin typeface="Arial"/>
                <a:cs typeface="Arial"/>
              </a:rPr>
              <a:t>o</a:t>
            </a:r>
            <a:r>
              <a:rPr sz="2000" spc="-10" dirty="0">
                <a:latin typeface="Arial"/>
                <a:cs typeface="Arial"/>
              </a:rPr>
              <a:t>t</a:t>
            </a:r>
            <a:r>
              <a:rPr sz="2000" dirty="0">
                <a:latin typeface="Arial"/>
                <a:cs typeface="Arial"/>
              </a:rPr>
              <a:t>hers’</a:t>
            </a:r>
            <a:r>
              <a:rPr sz="2000" spc="-75" dirty="0">
                <a:latin typeface="Arial"/>
                <a:cs typeface="Arial"/>
              </a:rPr>
              <a:t> </a:t>
            </a:r>
            <a:r>
              <a:rPr sz="2000" dirty="0">
                <a:latin typeface="Arial"/>
                <a:cs typeface="Arial"/>
              </a:rPr>
              <a:t>signal</a:t>
            </a:r>
            <a:r>
              <a:rPr sz="2000" spc="-10" dirty="0">
                <a:latin typeface="Arial"/>
                <a:cs typeface="Arial"/>
              </a:rPr>
              <a:t>s;</a:t>
            </a:r>
            <a:endParaRPr sz="2000" dirty="0">
              <a:latin typeface="Arial"/>
              <a:cs typeface="Arial"/>
            </a:endParaRPr>
          </a:p>
          <a:p>
            <a:pPr marL="241300" indent="-228600">
              <a:lnSpc>
                <a:spcPts val="2380"/>
              </a:lnSpc>
              <a:buFont typeface="Arial"/>
              <a:buChar char="•"/>
              <a:tabLst>
                <a:tab pos="241300" algn="l"/>
              </a:tabLst>
            </a:pPr>
            <a:r>
              <a:rPr sz="2000" dirty="0">
                <a:latin typeface="Arial"/>
                <a:cs typeface="Arial"/>
              </a:rPr>
              <a:t>i</a:t>
            </a:r>
            <a:r>
              <a:rPr sz="2000" spc="-10" dirty="0">
                <a:latin typeface="Arial"/>
                <a:cs typeface="Arial"/>
              </a:rPr>
              <a:t>t</a:t>
            </a:r>
            <a:r>
              <a:rPr sz="2000" spc="-5" dirty="0">
                <a:latin typeface="Arial"/>
                <a:cs typeface="Arial"/>
              </a:rPr>
              <a:t> </a:t>
            </a:r>
            <a:r>
              <a:rPr sz="2000" dirty="0">
                <a:latin typeface="Arial"/>
                <a:cs typeface="Arial"/>
              </a:rPr>
              <a:t>correla</a:t>
            </a:r>
            <a:r>
              <a:rPr sz="2000" spc="-10" dirty="0">
                <a:latin typeface="Arial"/>
                <a:cs typeface="Arial"/>
              </a:rPr>
              <a:t>t</a:t>
            </a:r>
            <a:r>
              <a:rPr sz="2000" dirty="0">
                <a:latin typeface="Arial"/>
                <a:cs typeface="Arial"/>
              </a:rPr>
              <a:t>es</a:t>
            </a:r>
            <a:r>
              <a:rPr sz="2000" spc="-5" dirty="0">
                <a:latin typeface="Arial"/>
                <a:cs typeface="Arial"/>
              </a:rPr>
              <a:t> </a:t>
            </a:r>
            <a:r>
              <a:rPr sz="2000" spc="-10" dirty="0">
                <a:latin typeface="Arial"/>
                <a:cs typeface="Arial"/>
              </a:rPr>
              <a:t>t</a:t>
            </a:r>
            <a:r>
              <a:rPr sz="2000" dirty="0">
                <a:latin typeface="Arial"/>
                <a:cs typeface="Arial"/>
              </a:rPr>
              <a:t>hem</a:t>
            </a:r>
          </a:p>
        </p:txBody>
      </p:sp>
      <p:sp>
        <p:nvSpPr>
          <p:cNvPr id="8" name="object 8"/>
          <p:cNvSpPr txBox="1"/>
          <p:nvPr/>
        </p:nvSpPr>
        <p:spPr>
          <a:xfrm>
            <a:off x="228112" y="1397129"/>
            <a:ext cx="3050540" cy="1915909"/>
          </a:xfrm>
          <a:prstGeom prst="rect">
            <a:avLst/>
          </a:prstGeom>
        </p:spPr>
        <p:txBody>
          <a:bodyPr vert="horz" wrap="square" lIns="0" tIns="0" rIns="0" bIns="0" rtlCol="0">
            <a:spAutoFit/>
          </a:bodyPr>
          <a:lstStyle/>
          <a:p>
            <a:pPr marL="870585">
              <a:lnSpc>
                <a:spcPct val="100000"/>
              </a:lnSpc>
              <a:tabLst>
                <a:tab pos="2066925" algn="l"/>
                <a:tab pos="3037205" algn="l"/>
              </a:tabLst>
            </a:pPr>
            <a:r>
              <a:rPr sz="3400" dirty="0">
                <a:latin typeface="Times New Roman"/>
                <a:cs typeface="Times New Roman"/>
              </a:rPr>
              <a:t> </a:t>
            </a:r>
            <a:r>
              <a:rPr sz="3400" spc="340" dirty="0">
                <a:latin typeface="Times New Roman"/>
                <a:cs typeface="Times New Roman"/>
              </a:rPr>
              <a:t> </a:t>
            </a:r>
            <a:r>
              <a:rPr sz="3400" dirty="0">
                <a:latin typeface="Calibri"/>
                <a:cs typeface="Calibri"/>
              </a:rPr>
              <a:t>Go</a:t>
            </a:r>
            <a:r>
              <a:rPr sz="3400" dirty="0">
                <a:latin typeface="Times New Roman"/>
                <a:cs typeface="Times New Roman"/>
              </a:rPr>
              <a:t> 	</a:t>
            </a:r>
            <a:r>
              <a:rPr sz="3400" dirty="0">
                <a:latin typeface="Calibri"/>
                <a:cs typeface="Calibri"/>
              </a:rPr>
              <a:t>S</a:t>
            </a:r>
            <a:r>
              <a:rPr sz="3400" spc="-35" dirty="0">
                <a:latin typeface="Calibri"/>
                <a:cs typeface="Calibri"/>
              </a:rPr>
              <a:t>t</a:t>
            </a:r>
            <a:r>
              <a:rPr sz="3400" dirty="0">
                <a:latin typeface="Calibri"/>
                <a:cs typeface="Calibri"/>
              </a:rPr>
              <a:t>op</a:t>
            </a:r>
            <a:r>
              <a:rPr sz="3400" dirty="0">
                <a:latin typeface="Times New Roman"/>
                <a:cs typeface="Times New Roman"/>
              </a:rPr>
              <a:t> 	</a:t>
            </a:r>
          </a:p>
          <a:p>
            <a:pPr marR="2223770" algn="ctr">
              <a:lnSpc>
                <a:spcPct val="100000"/>
              </a:lnSpc>
              <a:spcBef>
                <a:spcPts val="920"/>
              </a:spcBef>
            </a:pPr>
            <a:r>
              <a:rPr sz="3400" dirty="0">
                <a:latin typeface="Calibri"/>
                <a:cs typeface="Calibri"/>
              </a:rPr>
              <a:t>Go</a:t>
            </a:r>
          </a:p>
          <a:p>
            <a:pPr marR="2223770" algn="ctr">
              <a:lnSpc>
                <a:spcPct val="100000"/>
              </a:lnSpc>
              <a:spcBef>
                <a:spcPts val="1814"/>
              </a:spcBef>
            </a:pPr>
            <a:r>
              <a:rPr sz="3400" dirty="0">
                <a:latin typeface="Calibri"/>
                <a:cs typeface="Calibri"/>
              </a:rPr>
              <a:t>S</a:t>
            </a:r>
            <a:r>
              <a:rPr sz="3400" spc="-35" dirty="0">
                <a:latin typeface="Calibri"/>
                <a:cs typeface="Calibri"/>
              </a:rPr>
              <a:t>t</a:t>
            </a:r>
            <a:r>
              <a:rPr sz="3400" dirty="0">
                <a:latin typeface="Calibri"/>
                <a:cs typeface="Calibri"/>
              </a:rPr>
              <a:t>op</a:t>
            </a:r>
          </a:p>
        </p:txBody>
      </p:sp>
      <p:graphicFrame>
        <p:nvGraphicFramePr>
          <p:cNvPr id="9" name="object 9"/>
          <p:cNvGraphicFramePr>
            <a:graphicFrameLocks noGrp="1"/>
          </p:cNvGraphicFramePr>
          <p:nvPr>
            <p:extLst>
              <p:ext uri="{D42A27DB-BD31-4B8C-83A1-F6EECF244321}">
                <p14:modId xmlns:p14="http://schemas.microsoft.com/office/powerpoint/2010/main" val="2530133111"/>
              </p:ext>
            </p:extLst>
          </p:nvPr>
        </p:nvGraphicFramePr>
        <p:xfrm>
          <a:off x="1090865" y="1884362"/>
          <a:ext cx="2167111" cy="1491146"/>
        </p:xfrm>
        <a:graphic>
          <a:graphicData uri="http://schemas.openxmlformats.org/drawingml/2006/table">
            <a:tbl>
              <a:tblPr firstRow="1" bandRow="1">
                <a:tableStyleId>{2D5ABB26-0587-4C30-8999-92F81FD0307C}</a:tableStyleId>
              </a:tblPr>
              <a:tblGrid>
                <a:gridCol w="1031597">
                  <a:extLst>
                    <a:ext uri="{9D8B030D-6E8A-4147-A177-3AD203B41FA5}">
                      <a16:colId xmlns:a16="http://schemas.microsoft.com/office/drawing/2014/main" val="20000"/>
                    </a:ext>
                  </a:extLst>
                </a:gridCol>
                <a:gridCol w="1135514">
                  <a:extLst>
                    <a:ext uri="{9D8B030D-6E8A-4147-A177-3AD203B41FA5}">
                      <a16:colId xmlns:a16="http://schemas.microsoft.com/office/drawing/2014/main" val="20001"/>
                    </a:ext>
                  </a:extLst>
                </a:gridCol>
              </a:tblGrid>
              <a:tr h="742398">
                <a:tc>
                  <a:txBody>
                    <a:bodyPr/>
                    <a:lstStyle/>
                    <a:p>
                      <a:pPr marL="36195">
                        <a:lnSpc>
                          <a:spcPct val="100000"/>
                        </a:lnSpc>
                      </a:pPr>
                      <a:r>
                        <a:rPr sz="1800" i="1" spc="-20" dirty="0">
                          <a:latin typeface="Meiryo"/>
                          <a:cs typeface="Meiryo"/>
                        </a:rPr>
                        <a:t>-10</a:t>
                      </a:r>
                      <a:r>
                        <a:rPr sz="1800" i="1" dirty="0">
                          <a:latin typeface="Meiryo"/>
                          <a:cs typeface="Meiryo"/>
                        </a:rPr>
                        <a:t>,</a:t>
                      </a:r>
                      <a:r>
                        <a:rPr sz="1800" i="1" spc="-35" dirty="0">
                          <a:latin typeface="Meiryo"/>
                          <a:cs typeface="Meiryo"/>
                        </a:rPr>
                        <a:t> </a:t>
                      </a:r>
                      <a:r>
                        <a:rPr sz="1800" i="1" spc="-20" dirty="0">
                          <a:latin typeface="Meiryo"/>
                          <a:cs typeface="Meiryo"/>
                        </a:rPr>
                        <a:t>-10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349885">
                        <a:lnSpc>
                          <a:spcPct val="100000"/>
                        </a:lnSpc>
                      </a:pPr>
                      <a:r>
                        <a:rPr sz="1800" i="1" spc="-20" dirty="0">
                          <a:latin typeface="Meiryo"/>
                          <a:cs typeface="Meiryo"/>
                        </a:rPr>
                        <a:t>1</a:t>
                      </a:r>
                      <a:r>
                        <a:rPr sz="1800" i="1" dirty="0">
                          <a:latin typeface="Meiryo"/>
                          <a:cs typeface="Meiryo"/>
                        </a:rPr>
                        <a:t>,</a:t>
                      </a:r>
                      <a:r>
                        <a:rPr sz="1800" i="1" spc="-40" dirty="0">
                          <a:latin typeface="Meiryo"/>
                          <a:cs typeface="Meiryo"/>
                        </a:rPr>
                        <a:t> </a:t>
                      </a:r>
                      <a:r>
                        <a:rPr sz="1800" i="1" dirty="0">
                          <a:latin typeface="Meiryo"/>
                          <a:cs typeface="Meiryo"/>
                        </a:rPr>
                        <a:t>0</a:t>
                      </a:r>
                      <a:endParaRPr sz="180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297815">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227329">
                        <a:lnSpc>
                          <a:spcPct val="100000"/>
                        </a:lnSpc>
                      </a:pPr>
                      <a:r>
                        <a:rPr sz="1800" i="1" spc="-20" dirty="0">
                          <a:latin typeface="Meiryo"/>
                          <a:cs typeface="Meiryo"/>
                        </a:rPr>
                        <a:t>-1</a:t>
                      </a:r>
                      <a:r>
                        <a:rPr sz="1800" i="1" dirty="0">
                          <a:latin typeface="Meiryo"/>
                          <a:cs typeface="Meiryo"/>
                        </a:rPr>
                        <a:t>,</a:t>
                      </a:r>
                      <a:r>
                        <a:rPr sz="1800" i="1" spc="-35" dirty="0">
                          <a:latin typeface="Meiryo"/>
                          <a:cs typeface="Meiryo"/>
                        </a:rPr>
                        <a:t> </a:t>
                      </a:r>
                      <a:r>
                        <a:rPr sz="1800" i="1" spc="-20"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0" name="Slide Number Placeholder 8">
            <a:extLst>
              <a:ext uri="{FF2B5EF4-FFF2-40B4-BE49-F238E27FC236}">
                <a16:creationId xmlns:a16="http://schemas.microsoft.com/office/drawing/2014/main" id="{9188CF3A-6F02-C0E6-59C1-75B8A2A3DB99}"/>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43</a:t>
            </a:fld>
            <a:r>
              <a:rPr lang="en-US" sz="2000" dirty="0">
                <a:solidFill>
                  <a:prstClr val="black"/>
                </a:solidFill>
                <a:latin typeface="Comic Sans MS"/>
                <a:sym typeface="Comic Sans MS"/>
              </a:rPr>
              <a:t>/46</a:t>
            </a:r>
          </a:p>
        </p:txBody>
      </p:sp>
      <p:sp>
        <p:nvSpPr>
          <p:cNvPr id="11" name="Footer Placeholder 9">
            <a:extLst>
              <a:ext uri="{FF2B5EF4-FFF2-40B4-BE49-F238E27FC236}">
                <a16:creationId xmlns:a16="http://schemas.microsoft.com/office/drawing/2014/main" id="{80CAC4D4-13C1-2CBB-5F4E-2E9D4142CFDD}"/>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2" name="Rectangle 11">
            <a:extLst>
              <a:ext uri="{FF2B5EF4-FFF2-40B4-BE49-F238E27FC236}">
                <a16:creationId xmlns:a16="http://schemas.microsoft.com/office/drawing/2014/main" id="{2130D254-9841-43AA-8C98-98DF4C1685E1}"/>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3" name="Rectangle 12">
            <a:extLst>
              <a:ext uri="{FF2B5EF4-FFF2-40B4-BE49-F238E27FC236}">
                <a16:creationId xmlns:a16="http://schemas.microsoft.com/office/drawing/2014/main" id="{1D287521-5776-73E0-2BF6-2BFB3D60C505}"/>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23DFA4AC-9588-6E20-6836-6BFEDF05C77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574571"/>
            <a:ext cx="8221344" cy="492443"/>
          </a:xfrm>
          <a:prstGeom prst="rect">
            <a:avLst/>
          </a:prstGeom>
        </p:spPr>
        <p:txBody>
          <a:bodyPr vert="horz" wrap="square" lIns="0" tIns="0" rIns="0" bIns="0" rtlCol="0">
            <a:spAutoFit/>
          </a:bodyPr>
          <a:lstStyle/>
          <a:p>
            <a:pPr marL="12700">
              <a:lnSpc>
                <a:spcPct val="100000"/>
              </a:lnSpc>
            </a:pPr>
            <a:r>
              <a:rPr lang="en-US" dirty="0">
                <a:solidFill>
                  <a:srgbClr val="FF0000"/>
                </a:solidFill>
              </a:rPr>
              <a:t>Self Study: </a:t>
            </a:r>
            <a:r>
              <a:rPr dirty="0"/>
              <a:t>Correla</a:t>
            </a:r>
            <a:r>
              <a:rPr spc="-15" dirty="0"/>
              <a:t>t</a:t>
            </a:r>
            <a:r>
              <a:rPr dirty="0"/>
              <a:t>ed</a:t>
            </a:r>
            <a:r>
              <a:rPr spc="-5" dirty="0"/>
              <a:t> </a:t>
            </a:r>
            <a:r>
              <a:rPr dirty="0"/>
              <a:t>Equilibrium</a:t>
            </a:r>
            <a:r>
              <a:rPr spc="-5" dirty="0"/>
              <a:t> </a:t>
            </a:r>
            <a:r>
              <a:rPr dirty="0"/>
              <a:t>(De</a:t>
            </a:r>
            <a:r>
              <a:rPr spc="-15" dirty="0"/>
              <a:t>f</a:t>
            </a:r>
            <a:r>
              <a:rPr dirty="0"/>
              <a:t>)</a:t>
            </a:r>
          </a:p>
        </p:txBody>
      </p:sp>
      <mc:AlternateContent xmlns:mc="http://schemas.openxmlformats.org/markup-compatibility/2006" xmlns:a14="http://schemas.microsoft.com/office/drawing/2010/main">
        <mc:Choice Requires="a14">
          <p:sp>
            <p:nvSpPr>
              <p:cNvPr id="6" name="object 6"/>
              <p:cNvSpPr txBox="1"/>
              <p:nvPr/>
            </p:nvSpPr>
            <p:spPr>
              <a:xfrm>
                <a:off x="545537" y="1618580"/>
                <a:ext cx="7684063" cy="4534768"/>
              </a:xfrm>
              <a:prstGeom prst="rect">
                <a:avLst/>
              </a:prstGeom>
            </p:spPr>
            <p:txBody>
              <a:bodyPr vert="horz" wrap="square" lIns="0" tIns="0" rIns="0" bIns="0" rtlCol="0">
                <a:spAutoFit/>
              </a:bodyPr>
              <a:lstStyle/>
              <a:p>
                <a:pPr marL="12700" marR="68580">
                  <a:lnSpc>
                    <a:spcPct val="100699"/>
                  </a:lnSpc>
                  <a:tabLst>
                    <a:tab pos="2397760" algn="l"/>
                    <a:tab pos="4746625" algn="l"/>
                  </a:tabLst>
                </a:pPr>
                <a:r>
                  <a:rPr lang="en-US" sz="2400" dirty="0">
                    <a:latin typeface="Times New Roman"/>
                    <a:cs typeface="Times New Roman"/>
                  </a:rPr>
                  <a:t>G</a:t>
                </a:r>
                <a:r>
                  <a:rPr lang="en-US" sz="2400" spc="-10" dirty="0">
                    <a:latin typeface="Times New Roman"/>
                    <a:cs typeface="Times New Roman"/>
                  </a:rPr>
                  <a:t>iv</a:t>
                </a:r>
                <a:r>
                  <a:rPr lang="en-US" sz="2400" spc="-20" dirty="0">
                    <a:latin typeface="Times New Roman"/>
                    <a:cs typeface="Times New Roman"/>
                  </a:rPr>
                  <a:t>e</a:t>
                </a:r>
                <a:r>
                  <a:rPr lang="en-US" sz="2400" dirty="0">
                    <a:latin typeface="Times New Roman"/>
                    <a:cs typeface="Times New Roman"/>
                  </a:rPr>
                  <a:t>n </a:t>
                </a:r>
                <a:r>
                  <a:rPr lang="en-US" sz="2400" spc="-20" dirty="0">
                    <a:latin typeface="Times New Roman"/>
                    <a:cs typeface="Times New Roman"/>
                  </a:rPr>
                  <a:t>a</a:t>
                </a:r>
                <a:r>
                  <a:rPr lang="en-US" sz="2400" dirty="0">
                    <a:latin typeface="Times New Roman"/>
                    <a:cs typeface="Times New Roman"/>
                  </a:rPr>
                  <a:t>n </a:t>
                </a:r>
                <a:r>
                  <a:rPr lang="en-US" sz="2400" i="1" dirty="0">
                    <a:latin typeface="Times New Roman"/>
                    <a:cs typeface="Times New Roman"/>
                  </a:rPr>
                  <a:t>n</a:t>
                </a:r>
                <a:r>
                  <a:rPr lang="en-US" sz="2400" spc="-10" dirty="0">
                    <a:latin typeface="Times New Roman"/>
                    <a:cs typeface="Times New Roman"/>
                  </a:rPr>
                  <a:t>-</a:t>
                </a:r>
                <a:r>
                  <a:rPr lang="en-US" sz="2400" spc="-20" dirty="0">
                    <a:latin typeface="Times New Roman"/>
                    <a:cs typeface="Times New Roman"/>
                  </a:rPr>
                  <a:t>a</a:t>
                </a:r>
                <a:r>
                  <a:rPr lang="en-US" sz="2400" spc="-15" dirty="0">
                    <a:latin typeface="Times New Roman"/>
                    <a:cs typeface="Times New Roman"/>
                  </a:rPr>
                  <a:t>g</a:t>
                </a:r>
                <a:r>
                  <a:rPr lang="en-US" sz="2400" spc="-20" dirty="0">
                    <a:latin typeface="Times New Roman"/>
                    <a:cs typeface="Times New Roman"/>
                  </a:rPr>
                  <a:t>e</a:t>
                </a:r>
                <a:r>
                  <a:rPr lang="en-US" sz="2400" spc="-10" dirty="0">
                    <a:latin typeface="Times New Roman"/>
                    <a:cs typeface="Times New Roman"/>
                  </a:rPr>
                  <a:t>nt</a:t>
                </a:r>
                <a:r>
                  <a:rPr lang="en-US" sz="2400" dirty="0">
                    <a:latin typeface="Times New Roman"/>
                    <a:cs typeface="Times New Roman"/>
                  </a:rPr>
                  <a:t> </a:t>
                </a:r>
                <a:r>
                  <a:rPr lang="en-US" sz="2400" spc="-15" dirty="0">
                    <a:latin typeface="Times New Roman"/>
                    <a:cs typeface="Times New Roman"/>
                  </a:rPr>
                  <a:t>g</a:t>
                </a:r>
                <a:r>
                  <a:rPr lang="en-US" sz="2400" spc="-20" dirty="0">
                    <a:latin typeface="Times New Roman"/>
                    <a:cs typeface="Times New Roman"/>
                  </a:rPr>
                  <a:t>a</a:t>
                </a:r>
                <a:r>
                  <a:rPr lang="en-US" sz="2400" spc="-15" dirty="0">
                    <a:latin typeface="Times New Roman"/>
                    <a:cs typeface="Times New Roman"/>
                  </a:rPr>
                  <a:t>me</a:t>
                </a:r>
                <a:r>
                  <a:rPr lang="en-US" sz="2400" dirty="0">
                    <a:latin typeface="Times New Roman"/>
                    <a:cs typeface="Times New Roman"/>
                  </a:rPr>
                  <a:t> </a:t>
                </a:r>
                <a14:m>
                  <m:oMath xmlns:m="http://schemas.openxmlformats.org/officeDocument/2006/math">
                    <m:r>
                      <a:rPr lang="en-US" sz="2400" i="1" dirty="0" smtClean="0">
                        <a:latin typeface="Cambria Math" panose="02040503050406030204" pitchFamily="18" charset="0"/>
                        <a:cs typeface="Times New Roman"/>
                      </a:rPr>
                      <m:t>𝐺</m:t>
                    </m:r>
                    <m:r>
                      <a:rPr lang="en-US" sz="2400" i="1" spc="-15" dirty="0">
                        <a:latin typeface="Cambria Math" panose="02040503050406030204" pitchFamily="18" charset="0"/>
                        <a:cs typeface="Times New Roman"/>
                      </a:rPr>
                      <m:t>=</m:t>
                    </m:r>
                    <m:d>
                      <m:dPr>
                        <m:ctrlPr>
                          <a:rPr lang="en-US" sz="2400" i="1" spc="-20" dirty="0">
                            <a:latin typeface="Cambria Math" panose="02040503050406030204" pitchFamily="18" charset="0"/>
                            <a:cs typeface="Times New Roman"/>
                          </a:rPr>
                        </m:ctrlPr>
                      </m:dPr>
                      <m:e>
                        <m:r>
                          <a:rPr lang="en-US" sz="2400" i="1" spc="-20" dirty="0">
                            <a:latin typeface="Cambria Math" panose="02040503050406030204" pitchFamily="18" charset="0"/>
                            <a:cs typeface="Times New Roman"/>
                          </a:rPr>
                          <m:t>𝑁</m:t>
                        </m:r>
                        <m:r>
                          <a:rPr lang="en-US" sz="2400" i="1" dirty="0">
                            <a:latin typeface="Cambria Math" panose="02040503050406030204" pitchFamily="18" charset="0"/>
                            <a:cs typeface="Times New Roman"/>
                          </a:rPr>
                          <m:t>, </m:t>
                        </m:r>
                        <m:r>
                          <a:rPr lang="en-US" sz="2400" i="1" spc="-15" dirty="0">
                            <a:latin typeface="Cambria Math" panose="02040503050406030204" pitchFamily="18" charset="0"/>
                            <a:cs typeface="Times New Roman"/>
                          </a:rPr>
                          <m:t>𝐴</m:t>
                        </m:r>
                        <m:r>
                          <a:rPr lang="en-US" sz="2400" i="1" dirty="0">
                            <a:latin typeface="Cambria Math" panose="02040503050406030204" pitchFamily="18" charset="0"/>
                            <a:cs typeface="Times New Roman"/>
                          </a:rPr>
                          <m:t>, </m:t>
                        </m:r>
                        <m:r>
                          <a:rPr lang="en-US" sz="2400" i="1" dirty="0">
                            <a:latin typeface="Cambria Math" panose="02040503050406030204" pitchFamily="18" charset="0"/>
                            <a:cs typeface="Times New Roman"/>
                          </a:rPr>
                          <m:t>𝑢</m:t>
                        </m:r>
                      </m:e>
                    </m:d>
                    <m:r>
                      <a:rPr lang="en-US" sz="2400" i="1" dirty="0">
                        <a:latin typeface="Cambria Math" panose="02040503050406030204" pitchFamily="18" charset="0"/>
                        <a:cs typeface="Times New Roman"/>
                      </a:rPr>
                      <m:t>,</m:t>
                    </m:r>
                    <m:r>
                      <a:rPr lang="en-US" sz="2400" b="0" i="1" dirty="0" smtClean="0">
                        <a:latin typeface="Cambria Math" panose="02040503050406030204" pitchFamily="18" charset="0"/>
                        <a:cs typeface="Times New Roman"/>
                      </a:rPr>
                      <m:t> </m:t>
                    </m:r>
                  </m:oMath>
                </a14:m>
                <a:r>
                  <a:rPr lang="en-US" sz="2400" spc="-15" dirty="0">
                    <a:latin typeface="Times New Roman"/>
                    <a:cs typeface="Times New Roman"/>
                  </a:rPr>
                  <a:t>a</a:t>
                </a:r>
                <a:r>
                  <a:rPr lang="en-US" sz="2400" spc="-5" dirty="0">
                    <a:latin typeface="Times New Roman"/>
                    <a:cs typeface="Times New Roman"/>
                  </a:rPr>
                  <a:t> </a:t>
                </a:r>
                <a:r>
                  <a:rPr lang="en-US" sz="2400" spc="-20" dirty="0">
                    <a:latin typeface="Times New Roman"/>
                    <a:cs typeface="Times New Roman"/>
                  </a:rPr>
                  <a:t>c</a:t>
                </a:r>
                <a:r>
                  <a:rPr lang="en-US" sz="2400" spc="-10" dirty="0">
                    <a:latin typeface="Times New Roman"/>
                    <a:cs typeface="Times New Roman"/>
                  </a:rPr>
                  <a:t>orr</a:t>
                </a:r>
                <a:r>
                  <a:rPr lang="en-US" sz="2400" spc="-20" dirty="0">
                    <a:latin typeface="Times New Roman"/>
                    <a:cs typeface="Times New Roman"/>
                  </a:rPr>
                  <a:t>e</a:t>
                </a:r>
                <a:r>
                  <a:rPr lang="en-US" sz="2400" spc="-10" dirty="0">
                    <a:latin typeface="Times New Roman"/>
                    <a:cs typeface="Times New Roman"/>
                  </a:rPr>
                  <a:t>l</a:t>
                </a:r>
                <a:r>
                  <a:rPr lang="en-US" sz="2400" spc="-20" dirty="0">
                    <a:latin typeface="Times New Roman"/>
                    <a:cs typeface="Times New Roman"/>
                  </a:rPr>
                  <a:t>a</a:t>
                </a:r>
                <a:r>
                  <a:rPr lang="en-US" sz="2400" spc="-10" dirty="0">
                    <a:latin typeface="Times New Roman"/>
                    <a:cs typeface="Times New Roman"/>
                  </a:rPr>
                  <a:t>t</a:t>
                </a:r>
                <a:r>
                  <a:rPr lang="en-US" sz="2400" spc="-20" dirty="0">
                    <a:latin typeface="Times New Roman"/>
                    <a:cs typeface="Times New Roman"/>
                  </a:rPr>
                  <a:t>e</a:t>
                </a:r>
                <a:r>
                  <a:rPr lang="en-US" sz="2400" dirty="0">
                    <a:latin typeface="Times New Roman"/>
                    <a:cs typeface="Times New Roman"/>
                  </a:rPr>
                  <a:t>d </a:t>
                </a:r>
                <a:r>
                  <a:rPr lang="en-US" sz="2400" spc="-20" dirty="0">
                    <a:latin typeface="Times New Roman"/>
                    <a:cs typeface="Times New Roman"/>
                  </a:rPr>
                  <a:t>e</a:t>
                </a:r>
                <a:r>
                  <a:rPr lang="en-US" sz="2400" spc="-15" dirty="0">
                    <a:latin typeface="Times New Roman"/>
                    <a:cs typeface="Times New Roman"/>
                  </a:rPr>
                  <a:t>quilibrium</a:t>
                </a:r>
                <a:r>
                  <a:rPr lang="en-US" sz="2400" spc="-10" dirty="0">
                    <a:latin typeface="Times New Roman"/>
                    <a:cs typeface="Times New Roman"/>
                  </a:rPr>
                  <a:t> i</a:t>
                </a:r>
                <a:r>
                  <a:rPr lang="en-US" sz="2400" dirty="0">
                    <a:latin typeface="Times New Roman"/>
                    <a:cs typeface="Times New Roman"/>
                  </a:rPr>
                  <a:t>s </a:t>
                </a:r>
                <a:r>
                  <a:rPr lang="en-US" sz="2400" spc="-15" dirty="0">
                    <a:latin typeface="Times New Roman"/>
                    <a:cs typeface="Times New Roman"/>
                  </a:rPr>
                  <a:t>a</a:t>
                </a:r>
                <a:r>
                  <a:rPr lang="en-US" sz="2400" spc="-5" dirty="0">
                    <a:latin typeface="Times New Roman"/>
                    <a:cs typeface="Times New Roman"/>
                  </a:rPr>
                  <a:t> </a:t>
                </a:r>
                <a:r>
                  <a:rPr lang="en-US" sz="2400" spc="-10" dirty="0">
                    <a:latin typeface="Times New Roman"/>
                    <a:cs typeface="Times New Roman"/>
                  </a:rPr>
                  <a:t>tuple</a:t>
                </a:r>
                <a:r>
                  <a:rPr lang="en-US" sz="2400" spc="-5" dirty="0">
                    <a:latin typeface="Times New Roman"/>
                    <a:cs typeface="Times New Roman"/>
                  </a:rPr>
                  <a:t> </a:t>
                </a:r>
                <a14:m>
                  <m:oMath xmlns:m="http://schemas.openxmlformats.org/officeDocument/2006/math">
                    <m:d>
                      <m:dPr>
                        <m:ctrlPr>
                          <a:rPr lang="en-US" sz="2400" i="1" spc="-15" dirty="0" smtClean="0">
                            <a:latin typeface="Cambria Math" panose="02040503050406030204" pitchFamily="18" charset="0"/>
                            <a:cs typeface="Times New Roman"/>
                          </a:rPr>
                        </m:ctrlPr>
                      </m:dPr>
                      <m:e>
                        <m:r>
                          <a:rPr lang="en-US" sz="2400" i="1" spc="-15" dirty="0">
                            <a:latin typeface="Cambria Math" panose="02040503050406030204" pitchFamily="18" charset="0"/>
                            <a:cs typeface="Times New Roman"/>
                          </a:rPr>
                          <m:t>𝑣</m:t>
                        </m:r>
                        <m:r>
                          <a:rPr lang="en-US" sz="2400" i="1" dirty="0">
                            <a:latin typeface="Cambria Math" panose="02040503050406030204" pitchFamily="18" charset="0"/>
                            <a:cs typeface="Times New Roman"/>
                          </a:rPr>
                          <m:t>, </m:t>
                        </m:r>
                        <m:r>
                          <a:rPr lang="el-GR" sz="2400" i="1" spc="105" dirty="0">
                            <a:latin typeface="Cambria Math" panose="02040503050406030204" pitchFamily="18" charset="0"/>
                            <a:cs typeface="Times New Roman"/>
                          </a:rPr>
                          <m:t>𝜋</m:t>
                        </m:r>
                        <m:r>
                          <a:rPr lang="el-GR" sz="2400" i="1" dirty="0">
                            <a:latin typeface="Cambria Math" panose="02040503050406030204" pitchFamily="18" charset="0"/>
                            <a:cs typeface="Times New Roman"/>
                          </a:rPr>
                          <m:t>, </m:t>
                        </m:r>
                        <m:r>
                          <a:rPr lang="el-GR" sz="2400" i="1" spc="140" dirty="0">
                            <a:latin typeface="Cambria Math" panose="02040503050406030204" pitchFamily="18" charset="0"/>
                            <a:cs typeface="Times New Roman"/>
                          </a:rPr>
                          <m:t>𝜎</m:t>
                        </m:r>
                      </m:e>
                    </m:d>
                    <m:r>
                      <a:rPr lang="el-GR" sz="2400" i="1" dirty="0">
                        <a:latin typeface="Cambria Math" panose="02040503050406030204" pitchFamily="18" charset="0"/>
                        <a:cs typeface="Times New Roman"/>
                      </a:rPr>
                      <m:t>,</m:t>
                    </m:r>
                    <m:r>
                      <a:rPr lang="en-US" sz="2400" b="0" i="1" dirty="0" smtClean="0">
                        <a:latin typeface="Cambria Math" panose="02040503050406030204" pitchFamily="18" charset="0"/>
                        <a:cs typeface="Times New Roman"/>
                      </a:rPr>
                      <m:t> </m:t>
                    </m:r>
                  </m:oMath>
                </a14:m>
                <a:r>
                  <a:rPr lang="en-US" sz="2400" dirty="0">
                    <a:latin typeface="Times New Roman"/>
                    <a:cs typeface="Times New Roman"/>
                  </a:rPr>
                  <a:t>w</a:t>
                </a:r>
                <a:r>
                  <a:rPr lang="en-US" sz="2400" spc="-15" dirty="0">
                    <a:latin typeface="Times New Roman"/>
                    <a:cs typeface="Times New Roman"/>
                  </a:rPr>
                  <a:t>h</a:t>
                </a:r>
                <a:r>
                  <a:rPr lang="en-US" sz="2400" spc="-20" dirty="0">
                    <a:latin typeface="Times New Roman"/>
                    <a:cs typeface="Times New Roman"/>
                  </a:rPr>
                  <a:t>e</a:t>
                </a:r>
                <a:r>
                  <a:rPr lang="en-US" sz="2400" spc="-10" dirty="0">
                    <a:latin typeface="Times New Roman"/>
                    <a:cs typeface="Times New Roman"/>
                  </a:rPr>
                  <a:t>re</a:t>
                </a:r>
                <a:r>
                  <a:rPr lang="en-US" sz="2400" dirty="0">
                    <a:latin typeface="Times New Roman"/>
                    <a:cs typeface="Times New Roman"/>
                  </a:rPr>
                  <a:t> </a:t>
                </a:r>
                <a14:m>
                  <m:oMath xmlns:m="http://schemas.openxmlformats.org/officeDocument/2006/math">
                    <m:r>
                      <a:rPr lang="en-US" sz="2400" i="1" spc="-15" dirty="0" smtClean="0">
                        <a:latin typeface="Cambria Math" panose="02040503050406030204" pitchFamily="18" charset="0"/>
                        <a:cs typeface="Times New Roman"/>
                      </a:rPr>
                      <m:t>𝑣</m:t>
                    </m:r>
                  </m:oMath>
                </a14:m>
                <a:r>
                  <a:rPr lang="en-US" sz="2400" i="1" dirty="0">
                    <a:latin typeface="Times New Roman"/>
                    <a:cs typeface="Times New Roman"/>
                  </a:rPr>
                  <a:t> </a:t>
                </a:r>
                <a:r>
                  <a:rPr lang="en-US" sz="2400" spc="-10" dirty="0">
                    <a:latin typeface="Times New Roman"/>
                    <a:cs typeface="Times New Roman"/>
                  </a:rPr>
                  <a:t>i</a:t>
                </a:r>
                <a:r>
                  <a:rPr lang="en-US" sz="2400" dirty="0">
                    <a:latin typeface="Times New Roman"/>
                    <a:cs typeface="Times New Roman"/>
                  </a:rPr>
                  <a:t>s </a:t>
                </a:r>
                <a:r>
                  <a:rPr lang="en-US" sz="2400" spc="-15" dirty="0">
                    <a:latin typeface="Times New Roman"/>
                    <a:cs typeface="Times New Roman"/>
                  </a:rPr>
                  <a:t>a</a:t>
                </a:r>
                <a:r>
                  <a:rPr lang="en-US" sz="2400" spc="-5" dirty="0">
                    <a:latin typeface="Times New Roman"/>
                    <a:cs typeface="Times New Roman"/>
                  </a:rPr>
                  <a:t> </a:t>
                </a:r>
                <a:r>
                  <a:rPr lang="en-US" sz="2400" spc="-10" dirty="0">
                    <a:latin typeface="Times New Roman"/>
                    <a:cs typeface="Times New Roman"/>
                  </a:rPr>
                  <a:t>tuple</a:t>
                </a:r>
                <a:r>
                  <a:rPr lang="en-US" sz="2400" spc="-5" dirty="0">
                    <a:latin typeface="Times New Roman"/>
                    <a:cs typeface="Times New Roman"/>
                  </a:rPr>
                  <a:t> </a:t>
                </a:r>
                <a:r>
                  <a:rPr lang="en-US" sz="2400" dirty="0">
                    <a:latin typeface="Times New Roman"/>
                    <a:cs typeface="Times New Roman"/>
                  </a:rPr>
                  <a:t>of </a:t>
                </a:r>
                <a:r>
                  <a:rPr lang="en-US" sz="2400" spc="-10" dirty="0">
                    <a:latin typeface="Times New Roman"/>
                    <a:cs typeface="Times New Roman"/>
                  </a:rPr>
                  <a:t>r</a:t>
                </a:r>
                <a:r>
                  <a:rPr lang="en-US" sz="2400" spc="-20" dirty="0">
                    <a:latin typeface="Times New Roman"/>
                    <a:cs typeface="Times New Roman"/>
                  </a:rPr>
                  <a:t>a</a:t>
                </a:r>
                <a:r>
                  <a:rPr lang="en-US" sz="2400" spc="-15" dirty="0">
                    <a:latin typeface="Times New Roman"/>
                    <a:cs typeface="Times New Roman"/>
                  </a:rPr>
                  <a:t>ndom</a:t>
                </a:r>
                <a:r>
                  <a:rPr lang="en-US" sz="2400" dirty="0">
                    <a:latin typeface="Times New Roman"/>
                    <a:cs typeface="Times New Roman"/>
                  </a:rPr>
                  <a:t> </a:t>
                </a:r>
                <a:r>
                  <a:rPr lang="en-US" sz="2400" spc="-15" dirty="0">
                    <a:latin typeface="Times New Roman"/>
                    <a:cs typeface="Times New Roman"/>
                  </a:rPr>
                  <a:t>v</a:t>
                </a:r>
                <a:r>
                  <a:rPr lang="en-US" sz="2400" spc="-20" dirty="0">
                    <a:latin typeface="Times New Roman"/>
                    <a:cs typeface="Times New Roman"/>
                  </a:rPr>
                  <a:t>a</a:t>
                </a:r>
                <a:r>
                  <a:rPr lang="en-US" sz="2400" spc="-10" dirty="0">
                    <a:latin typeface="Times New Roman"/>
                    <a:cs typeface="Times New Roman"/>
                  </a:rPr>
                  <a:t>ri</a:t>
                </a:r>
                <a:r>
                  <a:rPr lang="en-US" sz="2400" spc="-20" dirty="0">
                    <a:latin typeface="Times New Roman"/>
                    <a:cs typeface="Times New Roman"/>
                  </a:rPr>
                  <a:t>a</a:t>
                </a:r>
                <a:r>
                  <a:rPr lang="en-US" sz="2400" spc="-10" dirty="0">
                    <a:latin typeface="Times New Roman"/>
                    <a:cs typeface="Times New Roman"/>
                  </a:rPr>
                  <a:t>bl</a:t>
                </a:r>
                <a:r>
                  <a:rPr lang="en-US" sz="2400" spc="-20" dirty="0">
                    <a:latin typeface="Times New Roman"/>
                    <a:cs typeface="Times New Roman"/>
                  </a:rPr>
                  <a:t>e</a:t>
                </a:r>
                <a:r>
                  <a:rPr lang="en-US" sz="2400" dirty="0">
                    <a:latin typeface="Times New Roman"/>
                    <a:cs typeface="Times New Roman"/>
                  </a:rPr>
                  <a:t>s</a:t>
                </a:r>
                <a:br>
                  <a:rPr lang="en-US" sz="2550" b="0" i="0" spc="-15" dirty="0">
                    <a:latin typeface="Cambria Math" panose="02040503050406030204" pitchFamily="18" charset="0"/>
                    <a:cs typeface="Times New Roman"/>
                  </a:rPr>
                </a:br>
                <a14:m>
                  <m:oMath xmlns:m="http://schemas.openxmlformats.org/officeDocument/2006/math">
                    <m:r>
                      <a:rPr lang="en-US" sz="2550" i="1" spc="-15" dirty="0" smtClean="0">
                        <a:latin typeface="Cambria Math" panose="02040503050406030204" pitchFamily="18" charset="0"/>
                        <a:cs typeface="Times New Roman"/>
                      </a:rPr>
                      <m:t>𝑣</m:t>
                    </m:r>
                    <m:r>
                      <a:rPr lang="en-US" sz="2550" i="1" spc="30" dirty="0">
                        <a:latin typeface="Cambria Math" panose="02040503050406030204" pitchFamily="18" charset="0"/>
                        <a:cs typeface="Garamond"/>
                      </a:rPr>
                      <m:t>=</m:t>
                    </m:r>
                    <m:r>
                      <a:rPr lang="en-US" sz="2550" i="1" spc="95" dirty="0">
                        <a:latin typeface="Cambria Math" panose="02040503050406030204" pitchFamily="18" charset="0"/>
                        <a:cs typeface="Garamond"/>
                      </a:rPr>
                      <m:t>(</m:t>
                    </m:r>
                    <m:r>
                      <a:rPr lang="en-US" sz="2550" i="1" spc="-105" dirty="0">
                        <a:latin typeface="Cambria Math" panose="02040503050406030204" pitchFamily="18" charset="0"/>
                        <a:cs typeface="Times New Roman"/>
                      </a:rPr>
                      <m:t>𝑣</m:t>
                    </m:r>
                    <m:r>
                      <a:rPr lang="en-US" sz="2700" i="1" spc="75" baseline="-20061" dirty="0">
                        <a:latin typeface="Cambria Math" panose="02040503050406030204" pitchFamily="18" charset="0"/>
                        <a:cs typeface="Garamond"/>
                      </a:rPr>
                      <m:t>1</m:t>
                    </m:r>
                    <m:r>
                      <a:rPr lang="en-US" sz="2550" i="1" spc="70" dirty="0">
                        <a:latin typeface="Cambria Math" panose="02040503050406030204" pitchFamily="18" charset="0"/>
                        <a:cs typeface="Garamond"/>
                      </a:rPr>
                      <m:t>,</m:t>
                    </m:r>
                    <m:r>
                      <a:rPr lang="en-US" sz="2550" i="1" dirty="0">
                        <a:latin typeface="Cambria Math" panose="02040503050406030204" pitchFamily="18" charset="0"/>
                        <a:cs typeface="Garamond"/>
                      </a:rPr>
                      <m:t>	</m:t>
                    </m:r>
                    <m:r>
                      <a:rPr lang="en-US" sz="2550" i="1" spc="-30" dirty="0">
                        <a:latin typeface="Cambria Math" panose="02040503050406030204" pitchFamily="18" charset="0"/>
                        <a:cs typeface="Garamond"/>
                      </a:rPr>
                      <m:t>…</m:t>
                    </m:r>
                    <m:r>
                      <a:rPr lang="en-US" sz="2550" i="1" spc="70" dirty="0">
                        <a:latin typeface="Cambria Math" panose="02040503050406030204" pitchFamily="18" charset="0"/>
                        <a:cs typeface="Garamond"/>
                      </a:rPr>
                      <m:t>,</m:t>
                    </m:r>
                    <m:r>
                      <a:rPr lang="en-US" sz="2550" i="1" spc="204" dirty="0">
                        <a:latin typeface="Cambria Math" panose="02040503050406030204" pitchFamily="18" charset="0"/>
                        <a:cs typeface="Garamond"/>
                      </a:rPr>
                      <m:t> </m:t>
                    </m:r>
                    <m:r>
                      <a:rPr lang="en-US" sz="2550" i="1" spc="-105" dirty="0">
                        <a:latin typeface="Cambria Math" panose="02040503050406030204" pitchFamily="18" charset="0"/>
                        <a:cs typeface="Times New Roman"/>
                      </a:rPr>
                      <m:t>𝑣</m:t>
                    </m:r>
                    <m:r>
                      <a:rPr lang="en-US" sz="2700" i="1" baseline="-20061" dirty="0">
                        <a:latin typeface="Cambria Math" panose="02040503050406030204" pitchFamily="18" charset="0"/>
                        <a:cs typeface="Times New Roman"/>
                      </a:rPr>
                      <m:t>𝑛</m:t>
                    </m:r>
                    <m:r>
                      <a:rPr lang="en-US" sz="2550" i="1" spc="95" dirty="0">
                        <a:latin typeface="Cambria Math" panose="02040503050406030204" pitchFamily="18" charset="0"/>
                        <a:cs typeface="Garamond"/>
                      </a:rPr>
                      <m:t>)</m:t>
                    </m:r>
                    <m:r>
                      <a:rPr lang="en-US" sz="2550" i="1" spc="-40" dirty="0">
                        <a:latin typeface="Cambria Math" panose="02040503050406030204" pitchFamily="18" charset="0"/>
                        <a:cs typeface="Garamond"/>
                      </a:rPr>
                      <m:t> </m:t>
                    </m:r>
                  </m:oMath>
                </a14:m>
                <a:r>
                  <a:rPr lang="en-US" sz="2400" dirty="0">
                    <a:latin typeface="Times New Roman"/>
                    <a:cs typeface="Times New Roman"/>
                  </a:rPr>
                  <a:t>w</a:t>
                </a:r>
                <a:r>
                  <a:rPr lang="en-US" sz="2400" spc="-10" dirty="0">
                    <a:latin typeface="Times New Roman"/>
                    <a:cs typeface="Times New Roman"/>
                  </a:rPr>
                  <a:t>it</a:t>
                </a:r>
                <a:r>
                  <a:rPr lang="en-US" sz="2400" dirty="0">
                    <a:latin typeface="Times New Roman"/>
                    <a:cs typeface="Times New Roman"/>
                  </a:rPr>
                  <a:t>h </a:t>
                </a:r>
                <a:r>
                  <a:rPr lang="en-US" sz="2400" spc="-10" dirty="0">
                    <a:latin typeface="Times New Roman"/>
                    <a:cs typeface="Times New Roman"/>
                  </a:rPr>
                  <a:t>r</a:t>
                </a:r>
                <a:r>
                  <a:rPr lang="en-US" sz="2400" spc="-20" dirty="0">
                    <a:latin typeface="Times New Roman"/>
                    <a:cs typeface="Times New Roman"/>
                  </a:rPr>
                  <a:t>e</a:t>
                </a:r>
                <a:r>
                  <a:rPr lang="en-US" sz="2400" dirty="0">
                    <a:latin typeface="Times New Roman"/>
                    <a:cs typeface="Times New Roman"/>
                  </a:rPr>
                  <a:t>s</a:t>
                </a:r>
                <a:r>
                  <a:rPr lang="en-US" sz="2400" spc="-15" dirty="0">
                    <a:latin typeface="Times New Roman"/>
                    <a:cs typeface="Times New Roman"/>
                  </a:rPr>
                  <a:t>p</a:t>
                </a:r>
                <a:r>
                  <a:rPr lang="en-US" sz="2400" spc="-20" dirty="0">
                    <a:latin typeface="Times New Roman"/>
                    <a:cs typeface="Times New Roman"/>
                  </a:rPr>
                  <a:t>ec</a:t>
                </a:r>
                <a:r>
                  <a:rPr lang="en-US" sz="2400" spc="-10" dirty="0">
                    <a:latin typeface="Times New Roman"/>
                    <a:cs typeface="Times New Roman"/>
                  </a:rPr>
                  <a:t>tive</a:t>
                </a:r>
                <a:r>
                  <a:rPr lang="en-US" sz="2400" spc="-5" dirty="0">
                    <a:latin typeface="Times New Roman"/>
                    <a:cs typeface="Times New Roman"/>
                  </a:rPr>
                  <a:t> </a:t>
                </a:r>
                <a:r>
                  <a:rPr lang="en-US" sz="2400" spc="-15" dirty="0">
                    <a:latin typeface="Times New Roman"/>
                    <a:cs typeface="Times New Roman"/>
                  </a:rPr>
                  <a:t>dom</a:t>
                </a:r>
                <a:r>
                  <a:rPr lang="en-US" sz="2400" spc="-20" dirty="0">
                    <a:latin typeface="Times New Roman"/>
                    <a:cs typeface="Times New Roman"/>
                  </a:rPr>
                  <a:t>a</a:t>
                </a:r>
                <a:r>
                  <a:rPr lang="en-US" sz="2400" spc="-10" dirty="0">
                    <a:latin typeface="Times New Roman"/>
                    <a:cs typeface="Times New Roman"/>
                  </a:rPr>
                  <a:t>i</a:t>
                </a:r>
                <a:r>
                  <a:rPr lang="en-US" sz="2400" dirty="0">
                    <a:latin typeface="Times New Roman"/>
                    <a:cs typeface="Times New Roman"/>
                  </a:rPr>
                  <a:t>ns </a:t>
                </a:r>
                <a14:m>
                  <m:oMath xmlns:m="http://schemas.openxmlformats.org/officeDocument/2006/math">
                    <m:r>
                      <a:rPr lang="en-US" sz="2550" i="1" spc="-20" dirty="0" smtClean="0">
                        <a:latin typeface="Cambria Math" panose="02040503050406030204" pitchFamily="18" charset="0"/>
                        <a:cs typeface="Times New Roman"/>
                      </a:rPr>
                      <m:t>𝐷</m:t>
                    </m:r>
                    <m:r>
                      <a:rPr lang="en-US" sz="2550" i="1" spc="30" dirty="0">
                        <a:latin typeface="Cambria Math" panose="02040503050406030204" pitchFamily="18" charset="0"/>
                        <a:cs typeface="Garamond"/>
                      </a:rPr>
                      <m:t>=</m:t>
                    </m:r>
                    <m:r>
                      <a:rPr lang="en-US" sz="2550" i="1" spc="95" dirty="0">
                        <a:latin typeface="Cambria Math" panose="02040503050406030204" pitchFamily="18" charset="0"/>
                        <a:cs typeface="Garamond"/>
                      </a:rPr>
                      <m:t>(</m:t>
                    </m:r>
                    <m:r>
                      <a:rPr lang="en-US" sz="2550" i="1" spc="-110" dirty="0">
                        <a:latin typeface="Cambria Math" panose="02040503050406030204" pitchFamily="18" charset="0"/>
                        <a:cs typeface="Times New Roman"/>
                      </a:rPr>
                      <m:t>𝐷</m:t>
                    </m:r>
                    <m:r>
                      <a:rPr lang="en-US" sz="2700" i="1" spc="75" baseline="-20061" dirty="0">
                        <a:latin typeface="Cambria Math" panose="02040503050406030204" pitchFamily="18" charset="0"/>
                        <a:cs typeface="Garamond"/>
                      </a:rPr>
                      <m:t>1</m:t>
                    </m:r>
                    <m:r>
                      <a:rPr lang="en-US" sz="2550" i="1" spc="70" dirty="0">
                        <a:latin typeface="Cambria Math" panose="02040503050406030204" pitchFamily="18" charset="0"/>
                        <a:cs typeface="Garamond"/>
                      </a:rPr>
                      <m:t>,</m:t>
                    </m:r>
                    <m:r>
                      <a:rPr lang="en-US" sz="2550" i="1" dirty="0">
                        <a:latin typeface="Cambria Math" panose="02040503050406030204" pitchFamily="18" charset="0"/>
                        <a:cs typeface="Garamond"/>
                      </a:rPr>
                      <m:t>	</m:t>
                    </m:r>
                    <m:r>
                      <a:rPr lang="en-US" sz="2550" i="1" spc="-30" dirty="0">
                        <a:latin typeface="Cambria Math" panose="02040503050406030204" pitchFamily="18" charset="0"/>
                        <a:cs typeface="Garamond"/>
                      </a:rPr>
                      <m:t>…</m:t>
                    </m:r>
                    <m:r>
                      <a:rPr lang="en-US" sz="2550" i="1" spc="70" dirty="0">
                        <a:latin typeface="Cambria Math" panose="02040503050406030204" pitchFamily="18" charset="0"/>
                        <a:cs typeface="Garamond"/>
                      </a:rPr>
                      <m:t>,</m:t>
                    </m:r>
                    <m:r>
                      <a:rPr lang="en-US" sz="2550" i="1" spc="204" dirty="0">
                        <a:latin typeface="Cambria Math" panose="02040503050406030204" pitchFamily="18" charset="0"/>
                        <a:cs typeface="Garamond"/>
                      </a:rPr>
                      <m:t> </m:t>
                    </m:r>
                    <m:r>
                      <a:rPr lang="en-US" sz="2550" i="1" spc="-110" dirty="0">
                        <a:latin typeface="Cambria Math" panose="02040503050406030204" pitchFamily="18" charset="0"/>
                        <a:cs typeface="Times New Roman"/>
                      </a:rPr>
                      <m:t>𝐷</m:t>
                    </m:r>
                    <m:r>
                      <a:rPr lang="en-US" sz="2700" i="1" baseline="-20061" dirty="0">
                        <a:latin typeface="Cambria Math" panose="02040503050406030204" pitchFamily="18" charset="0"/>
                        <a:cs typeface="Times New Roman"/>
                      </a:rPr>
                      <m:t>𝑛</m:t>
                    </m:r>
                    <m:r>
                      <a:rPr lang="en-US" sz="2550" i="1" spc="95" dirty="0">
                        <a:latin typeface="Cambria Math" panose="02040503050406030204" pitchFamily="18" charset="0"/>
                        <a:cs typeface="Garamond"/>
                      </a:rPr>
                      <m:t>)</m:t>
                    </m:r>
                    <m:r>
                      <a:rPr lang="en-US" sz="2400" i="1" dirty="0">
                        <a:latin typeface="Cambria Math" panose="02040503050406030204" pitchFamily="18" charset="0"/>
                        <a:cs typeface="Times New Roman"/>
                      </a:rPr>
                      <m:t>,</m:t>
                    </m:r>
                  </m:oMath>
                </a14:m>
                <a:r>
                  <a:rPr lang="en-US" sz="2400" spc="95" dirty="0">
                    <a:latin typeface="Times New Roman"/>
                    <a:cs typeface="Times New Roman"/>
                  </a:rPr>
                  <a:t> </a:t>
                </a:r>
                <a14:m>
                  <m:oMath xmlns:m="http://schemas.openxmlformats.org/officeDocument/2006/math">
                    <m:r>
                      <a:rPr lang="el-GR" sz="2400" i="1" spc="95" dirty="0" smtClean="0">
                        <a:latin typeface="Cambria Math" panose="02040503050406030204" pitchFamily="18" charset="0"/>
                        <a:cs typeface="Times New Roman"/>
                      </a:rPr>
                      <m:t>𝜋</m:t>
                    </m:r>
                  </m:oMath>
                </a14:m>
                <a:r>
                  <a:rPr lang="el-GR" sz="2400" spc="95" dirty="0">
                    <a:latin typeface="Times New Roman"/>
                    <a:cs typeface="Times New Roman"/>
                  </a:rPr>
                  <a:t> </a:t>
                </a:r>
                <a:r>
                  <a:rPr lang="en-US" sz="2400" spc="-10" dirty="0">
                    <a:latin typeface="Times New Roman"/>
                    <a:cs typeface="Times New Roman"/>
                  </a:rPr>
                  <a:t>is </a:t>
                </a:r>
                <a:r>
                  <a:rPr lang="en-US" sz="2400" spc="-15" dirty="0">
                    <a:latin typeface="Times New Roman"/>
                    <a:cs typeface="Times New Roman"/>
                  </a:rPr>
                  <a:t>a</a:t>
                </a:r>
                <a:r>
                  <a:rPr lang="en-US" sz="2400" spc="-5" dirty="0">
                    <a:latin typeface="Times New Roman"/>
                    <a:cs typeface="Times New Roman"/>
                  </a:rPr>
                  <a:t> </a:t>
                </a:r>
                <a:r>
                  <a:rPr lang="en-US" sz="2400" spc="-10" dirty="0">
                    <a:latin typeface="Times New Roman"/>
                    <a:cs typeface="Times New Roman"/>
                  </a:rPr>
                  <a:t>joint</a:t>
                </a:r>
                <a:r>
                  <a:rPr lang="en-US" sz="2400" dirty="0">
                    <a:latin typeface="Times New Roman"/>
                    <a:cs typeface="Times New Roman"/>
                  </a:rPr>
                  <a:t> </a:t>
                </a:r>
                <a:r>
                  <a:rPr lang="en-US" sz="2400" spc="-10" dirty="0">
                    <a:latin typeface="Times New Roman"/>
                    <a:cs typeface="Times New Roman"/>
                  </a:rPr>
                  <a:t>di</a:t>
                </a:r>
                <a:r>
                  <a:rPr lang="en-US" sz="2400" dirty="0">
                    <a:latin typeface="Times New Roman"/>
                    <a:cs typeface="Times New Roman"/>
                  </a:rPr>
                  <a:t>s</a:t>
                </a:r>
                <a:r>
                  <a:rPr lang="en-US" sz="2400" spc="-10" dirty="0">
                    <a:latin typeface="Times New Roman"/>
                    <a:cs typeface="Times New Roman"/>
                  </a:rPr>
                  <a:t>tributi</a:t>
                </a:r>
                <a:r>
                  <a:rPr lang="en-US" sz="2400" dirty="0">
                    <a:latin typeface="Times New Roman"/>
                    <a:cs typeface="Times New Roman"/>
                  </a:rPr>
                  <a:t>on </a:t>
                </a:r>
                <a:r>
                  <a:rPr lang="en-US" sz="2400" spc="-15" dirty="0">
                    <a:latin typeface="Times New Roman"/>
                    <a:cs typeface="Times New Roman"/>
                  </a:rPr>
                  <a:t>ov</a:t>
                </a:r>
                <a:r>
                  <a:rPr lang="en-US" sz="2400" spc="-20" dirty="0">
                    <a:latin typeface="Times New Roman"/>
                    <a:cs typeface="Times New Roman"/>
                  </a:rPr>
                  <a:t>e</a:t>
                </a:r>
                <a:r>
                  <a:rPr lang="en-US" sz="2400" dirty="0">
                    <a:latin typeface="Times New Roman"/>
                    <a:cs typeface="Times New Roman"/>
                  </a:rPr>
                  <a:t>r </a:t>
                </a:r>
                <a:r>
                  <a:rPr lang="en-US" sz="2400" i="1" spc="-15" dirty="0">
                    <a:latin typeface="Times New Roman"/>
                    <a:cs typeface="Times New Roman"/>
                  </a:rPr>
                  <a:t>v</a:t>
                </a:r>
                <a:r>
                  <a:rPr lang="en-US" sz="2400" dirty="0">
                    <a:latin typeface="Times New Roman"/>
                    <a:cs typeface="Times New Roman"/>
                  </a:rPr>
                  <a:t>, </a:t>
                </a:r>
                <a14:m>
                  <m:oMath xmlns:m="http://schemas.openxmlformats.org/officeDocument/2006/math">
                    <m:r>
                      <a:rPr lang="en-US" sz="2550" i="1" spc="-280" dirty="0" smtClean="0">
                        <a:latin typeface="Cambria Math" panose="02040503050406030204" pitchFamily="18" charset="0"/>
                        <a:cs typeface="Arial"/>
                      </a:rPr>
                      <m:t>𝜎</m:t>
                    </m:r>
                    <m:r>
                      <a:rPr lang="en-US" sz="2550" i="1" spc="30" dirty="0">
                        <a:latin typeface="Cambria Math" panose="02040503050406030204" pitchFamily="18" charset="0"/>
                        <a:cs typeface="Garamond"/>
                      </a:rPr>
                      <m:t>=</m:t>
                    </m:r>
                    <m:r>
                      <a:rPr lang="en-US" sz="2550" i="1" spc="95" dirty="0">
                        <a:latin typeface="Cambria Math" panose="02040503050406030204" pitchFamily="18" charset="0"/>
                        <a:cs typeface="Garamond"/>
                      </a:rPr>
                      <m:t>(</m:t>
                    </m:r>
                    <m:r>
                      <a:rPr lang="en-US" sz="2550" i="1" spc="-370" dirty="0">
                        <a:latin typeface="Cambria Math" panose="02040503050406030204" pitchFamily="18" charset="0"/>
                        <a:cs typeface="Arial"/>
                      </a:rPr>
                      <m:t>𝜎</m:t>
                    </m:r>
                    <m:r>
                      <a:rPr lang="en-US" sz="2700" i="1" spc="75" baseline="-20061" dirty="0">
                        <a:latin typeface="Cambria Math" panose="02040503050406030204" pitchFamily="18" charset="0"/>
                        <a:cs typeface="Garamond"/>
                      </a:rPr>
                      <m:t>1</m:t>
                    </m:r>
                    <m:r>
                      <a:rPr lang="en-US" sz="2550" i="1" spc="70" dirty="0">
                        <a:latin typeface="Cambria Math" panose="02040503050406030204" pitchFamily="18" charset="0"/>
                        <a:cs typeface="Garamond"/>
                      </a:rPr>
                      <m:t>,</m:t>
                    </m:r>
                    <m:r>
                      <a:rPr lang="en-US" sz="2550" i="1" dirty="0">
                        <a:latin typeface="Cambria Math" panose="02040503050406030204" pitchFamily="18" charset="0"/>
                        <a:cs typeface="Garamond"/>
                      </a:rPr>
                      <m:t>	</m:t>
                    </m:r>
                    <m:r>
                      <a:rPr lang="en-US" sz="2550" i="1" spc="-30" dirty="0">
                        <a:latin typeface="Cambria Math" panose="02040503050406030204" pitchFamily="18" charset="0"/>
                        <a:cs typeface="Garamond"/>
                      </a:rPr>
                      <m:t>…</m:t>
                    </m:r>
                    <m:r>
                      <a:rPr lang="en-US" sz="2550" i="1" spc="70" dirty="0">
                        <a:latin typeface="Cambria Math" panose="02040503050406030204" pitchFamily="18" charset="0"/>
                        <a:cs typeface="Garamond"/>
                      </a:rPr>
                      <m:t>,</m:t>
                    </m:r>
                    <m:r>
                      <a:rPr lang="en-US" sz="2550" i="1" spc="204" dirty="0">
                        <a:latin typeface="Cambria Math" panose="02040503050406030204" pitchFamily="18" charset="0"/>
                        <a:cs typeface="Garamond"/>
                      </a:rPr>
                      <m:t> </m:t>
                    </m:r>
                    <m:r>
                      <a:rPr lang="en-US" sz="2550" i="1" spc="-370" dirty="0">
                        <a:latin typeface="Cambria Math" panose="02040503050406030204" pitchFamily="18" charset="0"/>
                        <a:cs typeface="Arial"/>
                      </a:rPr>
                      <m:t>𝜎</m:t>
                    </m:r>
                    <m:r>
                      <a:rPr lang="en-US" sz="2700" i="1" baseline="-20061" dirty="0">
                        <a:latin typeface="Cambria Math" panose="02040503050406030204" pitchFamily="18" charset="0"/>
                        <a:cs typeface="Times New Roman"/>
                      </a:rPr>
                      <m:t>𝑛</m:t>
                    </m:r>
                    <m:r>
                      <a:rPr lang="en-US" sz="2550" i="1" spc="95" dirty="0">
                        <a:latin typeface="Cambria Math" panose="02040503050406030204" pitchFamily="18" charset="0"/>
                        <a:cs typeface="Garamond"/>
                      </a:rPr>
                      <m:t>)</m:t>
                    </m:r>
                    <m:r>
                      <a:rPr lang="en-US" sz="2550" i="1" spc="-40" dirty="0">
                        <a:latin typeface="Cambria Math" panose="02040503050406030204" pitchFamily="18" charset="0"/>
                        <a:cs typeface="Garamond"/>
                      </a:rPr>
                      <m:t> </m:t>
                    </m:r>
                  </m:oMath>
                </a14:m>
                <a:r>
                  <a:rPr lang="en-US" sz="2400" spc="-10" dirty="0">
                    <a:latin typeface="Times New Roman"/>
                    <a:cs typeface="Times New Roman"/>
                  </a:rPr>
                  <a:t>i</a:t>
                </a:r>
                <a:r>
                  <a:rPr lang="en-US" sz="2400" dirty="0">
                    <a:latin typeface="Times New Roman"/>
                    <a:cs typeface="Times New Roman"/>
                  </a:rPr>
                  <a:t>s </a:t>
                </a:r>
                <a:r>
                  <a:rPr lang="en-US" sz="2400" spc="-15" dirty="0">
                    <a:latin typeface="Times New Roman"/>
                    <a:cs typeface="Times New Roman"/>
                  </a:rPr>
                  <a:t>a</a:t>
                </a:r>
                <a:r>
                  <a:rPr lang="en-US" sz="2400" spc="-5" dirty="0">
                    <a:latin typeface="Times New Roman"/>
                    <a:cs typeface="Times New Roman"/>
                  </a:rPr>
                  <a:t> </a:t>
                </a:r>
                <a:r>
                  <a:rPr lang="en-US" sz="2400" spc="-15" dirty="0">
                    <a:latin typeface="Times New Roman"/>
                    <a:cs typeface="Times New Roman"/>
                  </a:rPr>
                  <a:t>v</a:t>
                </a:r>
                <a:r>
                  <a:rPr lang="en-US" sz="2400" spc="-20" dirty="0">
                    <a:latin typeface="Times New Roman"/>
                    <a:cs typeface="Times New Roman"/>
                  </a:rPr>
                  <a:t>ec</a:t>
                </a:r>
                <a:r>
                  <a:rPr lang="en-US" sz="2400" spc="-10" dirty="0">
                    <a:latin typeface="Times New Roman"/>
                    <a:cs typeface="Times New Roman"/>
                  </a:rPr>
                  <a:t>t</a:t>
                </a:r>
                <a:r>
                  <a:rPr lang="en-US" sz="2400" dirty="0">
                    <a:latin typeface="Times New Roman"/>
                    <a:cs typeface="Times New Roman"/>
                  </a:rPr>
                  <a:t>or of </a:t>
                </a:r>
                <a:r>
                  <a:rPr lang="en-US" sz="2400" spc="-20" dirty="0">
                    <a:latin typeface="Times New Roman"/>
                    <a:cs typeface="Times New Roman"/>
                  </a:rPr>
                  <a:t>ma</a:t>
                </a:r>
                <a:r>
                  <a:rPr lang="en-US" sz="2400" spc="-15" dirty="0">
                    <a:latin typeface="Times New Roman"/>
                    <a:cs typeface="Times New Roman"/>
                  </a:rPr>
                  <a:t>ppi</a:t>
                </a:r>
                <a:r>
                  <a:rPr lang="en-US" sz="2400" dirty="0">
                    <a:latin typeface="Times New Roman"/>
                    <a:cs typeface="Times New Roman"/>
                  </a:rPr>
                  <a:t>ngs </a:t>
                </a:r>
                <a14:m>
                  <m:oMath xmlns:m="http://schemas.openxmlformats.org/officeDocument/2006/math">
                    <m:r>
                      <a:rPr lang="el-GR" sz="2550" i="1" spc="-370" dirty="0" smtClean="0">
                        <a:latin typeface="Cambria Math" panose="02040503050406030204" pitchFamily="18" charset="0"/>
                        <a:cs typeface="Arial"/>
                      </a:rPr>
                      <m:t>𝜎</m:t>
                    </m:r>
                    <m:r>
                      <a:rPr lang="en-US" sz="2700" i="1" baseline="-20061" dirty="0">
                        <a:latin typeface="Cambria Math" panose="02040503050406030204" pitchFamily="18" charset="0"/>
                        <a:cs typeface="Times New Roman"/>
                      </a:rPr>
                      <m:t>𝑖</m:t>
                    </m:r>
                    <m:r>
                      <a:rPr lang="en-US" sz="2700" i="1" baseline="-20061" dirty="0">
                        <a:latin typeface="Cambria Math" panose="02040503050406030204" pitchFamily="18" charset="0"/>
                        <a:cs typeface="Times New Roman"/>
                      </a:rPr>
                      <m:t>  </m:t>
                    </m:r>
                  </m:oMath>
                </a14:m>
                <a:r>
                  <a:rPr lang="en-US" sz="2550" spc="145" dirty="0">
                    <a:latin typeface="Garamond"/>
                    <a:cs typeface="Garamond"/>
                  </a:rPr>
                  <a:t>:</a:t>
                </a:r>
                <a:r>
                  <a:rPr lang="en-US" sz="2550" spc="65" dirty="0">
                    <a:latin typeface="Garamond"/>
                    <a:cs typeface="Garamond"/>
                  </a:rPr>
                  <a:t> </a:t>
                </a:r>
                <a:r>
                  <a:rPr lang="en-US" sz="2550" i="1" spc="-110" dirty="0">
                    <a:latin typeface="Times New Roman"/>
                    <a:cs typeface="Times New Roman"/>
                  </a:rPr>
                  <a:t>D</a:t>
                </a:r>
                <a:r>
                  <a:rPr lang="en-US" sz="2700" i="1" baseline="-20061" dirty="0">
                    <a:latin typeface="Times New Roman"/>
                    <a:cs typeface="Times New Roman"/>
                  </a:rPr>
                  <a:t>i </a:t>
                </a:r>
                <a:r>
                  <a:rPr lang="en-US" sz="2700" i="1" spc="-292" baseline="-20061" dirty="0">
                    <a:latin typeface="Times New Roman"/>
                    <a:cs typeface="Times New Roman"/>
                  </a:rPr>
                  <a:t> </a:t>
                </a:r>
                <a:r>
                  <a:rPr lang="en-US" sz="2550" spc="110" dirty="0">
                    <a:latin typeface="Cambria"/>
                    <a:cs typeface="Cambria"/>
                  </a:rPr>
                  <a:t>↦</a:t>
                </a:r>
                <a:r>
                  <a:rPr lang="en-US" sz="2550" spc="145" dirty="0">
                    <a:latin typeface="Cambria"/>
                    <a:cs typeface="Cambria"/>
                  </a:rPr>
                  <a:t> </a:t>
                </a:r>
                <a:r>
                  <a:rPr lang="en-US" sz="2550" i="1" spc="-110" dirty="0">
                    <a:latin typeface="Times New Roman"/>
                    <a:cs typeface="Times New Roman"/>
                  </a:rPr>
                  <a:t>A</a:t>
                </a:r>
                <a:r>
                  <a:rPr lang="en-US" sz="2700" i="1" baseline="-20061" dirty="0">
                    <a:latin typeface="Times New Roman"/>
                    <a:cs typeface="Times New Roman"/>
                  </a:rPr>
                  <a:t>i</a:t>
                </a:r>
                <a:r>
                  <a:rPr lang="en-US" sz="2400" dirty="0">
                    <a:latin typeface="Times New Roman"/>
                    <a:cs typeface="Times New Roman"/>
                  </a:rPr>
                  <a:t>, </a:t>
                </a:r>
                <a:r>
                  <a:rPr lang="en-US" sz="2400" spc="-20" dirty="0">
                    <a:latin typeface="Times New Roman"/>
                    <a:cs typeface="Times New Roman"/>
                  </a:rPr>
                  <a:t>a</a:t>
                </a:r>
                <a:r>
                  <a:rPr lang="en-US" sz="2400" dirty="0">
                    <a:latin typeface="Times New Roman"/>
                    <a:cs typeface="Times New Roman"/>
                  </a:rPr>
                  <a:t>nd for </a:t>
                </a:r>
                <a:r>
                  <a:rPr lang="en-US" sz="2400" spc="-20" dirty="0">
                    <a:latin typeface="Times New Roman"/>
                    <a:cs typeface="Times New Roman"/>
                  </a:rPr>
                  <a:t>eac</a:t>
                </a:r>
                <a:r>
                  <a:rPr lang="en-US" sz="2400" dirty="0">
                    <a:latin typeface="Times New Roman"/>
                    <a:cs typeface="Times New Roman"/>
                  </a:rPr>
                  <a:t>h </a:t>
                </a:r>
                <a:r>
                  <a:rPr lang="en-US" sz="2400" spc="-20" dirty="0">
                    <a:latin typeface="Times New Roman"/>
                    <a:cs typeface="Times New Roman"/>
                  </a:rPr>
                  <a:t>a</a:t>
                </a:r>
                <a:r>
                  <a:rPr lang="en-US" sz="2400" spc="-15" dirty="0">
                    <a:latin typeface="Times New Roman"/>
                    <a:cs typeface="Times New Roman"/>
                  </a:rPr>
                  <a:t>g</a:t>
                </a:r>
                <a:r>
                  <a:rPr lang="en-US" sz="2400" spc="-20" dirty="0">
                    <a:latin typeface="Times New Roman"/>
                    <a:cs typeface="Times New Roman"/>
                  </a:rPr>
                  <a:t>e</a:t>
                </a:r>
                <a:r>
                  <a:rPr lang="en-US" sz="2400" spc="-10" dirty="0">
                    <a:latin typeface="Times New Roman"/>
                    <a:cs typeface="Times New Roman"/>
                  </a:rPr>
                  <a:t>nt</a:t>
                </a:r>
                <a:r>
                  <a:rPr lang="en-US" sz="2400" dirty="0">
                    <a:latin typeface="Times New Roman"/>
                    <a:cs typeface="Times New Roman"/>
                  </a:rPr>
                  <a:t> </a:t>
                </a:r>
                <a:r>
                  <a:rPr lang="en-US" sz="2400" i="1" spc="-10" dirty="0">
                    <a:latin typeface="Times New Roman"/>
                    <a:cs typeface="Times New Roman"/>
                  </a:rPr>
                  <a:t>i</a:t>
                </a:r>
                <a:r>
                  <a:rPr lang="en-US" sz="2400" i="1" dirty="0">
                    <a:latin typeface="Times New Roman"/>
                    <a:cs typeface="Times New Roman"/>
                  </a:rPr>
                  <a:t> </a:t>
                </a:r>
                <a:r>
                  <a:rPr lang="en-US" sz="2400" spc="-20" dirty="0">
                    <a:latin typeface="Times New Roman"/>
                    <a:cs typeface="Times New Roman"/>
                  </a:rPr>
                  <a:t>a</a:t>
                </a:r>
                <a:r>
                  <a:rPr lang="en-US" sz="2400" dirty="0">
                    <a:latin typeface="Times New Roman"/>
                    <a:cs typeface="Times New Roman"/>
                  </a:rPr>
                  <a:t>nd </a:t>
                </a:r>
                <a:r>
                  <a:rPr lang="en-US" sz="2400" spc="-20" dirty="0">
                    <a:latin typeface="Times New Roman"/>
                    <a:cs typeface="Times New Roman"/>
                  </a:rPr>
                  <a:t>e</a:t>
                </a:r>
                <a:r>
                  <a:rPr lang="en-US" sz="2400" spc="-15" dirty="0">
                    <a:latin typeface="Times New Roman"/>
                    <a:cs typeface="Times New Roman"/>
                  </a:rPr>
                  <a:t>v</a:t>
                </a:r>
                <a:r>
                  <a:rPr lang="en-US" sz="2400" spc="-20" dirty="0">
                    <a:latin typeface="Times New Roman"/>
                    <a:cs typeface="Times New Roman"/>
                  </a:rPr>
                  <a:t>e</a:t>
                </a:r>
                <a:r>
                  <a:rPr lang="en-US" sz="2400" dirty="0">
                    <a:latin typeface="Times New Roman"/>
                    <a:cs typeface="Times New Roman"/>
                  </a:rPr>
                  <a:t>ry </a:t>
                </a:r>
                <a:r>
                  <a:rPr lang="en-US" sz="2400" spc="-20" dirty="0">
                    <a:latin typeface="Times New Roman"/>
                    <a:cs typeface="Times New Roman"/>
                  </a:rPr>
                  <a:t>ma</a:t>
                </a:r>
                <a:r>
                  <a:rPr lang="en-US" sz="2400" spc="-15" dirty="0">
                    <a:latin typeface="Times New Roman"/>
                    <a:cs typeface="Times New Roman"/>
                  </a:rPr>
                  <a:t>ppi</a:t>
                </a:r>
                <a:r>
                  <a:rPr lang="en-US" sz="2400" dirty="0">
                    <a:latin typeface="Times New Roman"/>
                    <a:cs typeface="Times New Roman"/>
                  </a:rPr>
                  <a:t>ng </a:t>
                </a:r>
                <a14:m>
                  <m:oMath xmlns:m="http://schemas.openxmlformats.org/officeDocument/2006/math">
                    <m:r>
                      <a:rPr lang="en-US" sz="2550" i="1" spc="-375" dirty="0" smtClean="0">
                        <a:latin typeface="Cambria Math" panose="02040503050406030204" pitchFamily="18" charset="0"/>
                        <a:cs typeface="Arial"/>
                      </a:rPr>
                      <m:t>𝜎</m:t>
                    </m:r>
                    <m:r>
                      <a:rPr lang="en-US" sz="2700" i="1" spc="-615" baseline="-20061" dirty="0">
                        <a:latin typeface="Cambria Math" panose="02040503050406030204" pitchFamily="18" charset="0"/>
                        <a:cs typeface="Times New Roman"/>
                      </a:rPr>
                      <m:t>𝑖</m:t>
                    </m:r>
                    <m:r>
                      <a:rPr lang="en-US" sz="2550" i="1" spc="70" dirty="0">
                        <a:latin typeface="Cambria Math" panose="02040503050406030204" pitchFamily="18" charset="0"/>
                        <a:cs typeface="Cambria"/>
                      </a:rPr>
                      <m:t>′</m:t>
                    </m:r>
                    <m:r>
                      <a:rPr lang="en-US" sz="2550" i="1" spc="-140" dirty="0">
                        <a:latin typeface="Cambria Math" panose="02040503050406030204" pitchFamily="18" charset="0"/>
                        <a:cs typeface="Cambria"/>
                      </a:rPr>
                      <m:t> </m:t>
                    </m:r>
                  </m:oMath>
                </a14:m>
                <a:r>
                  <a:rPr lang="en-US" sz="2550" spc="145" dirty="0">
                    <a:latin typeface="Garamond"/>
                    <a:cs typeface="Garamond"/>
                  </a:rPr>
                  <a:t>:</a:t>
                </a:r>
                <a:r>
                  <a:rPr lang="en-US" sz="2550" spc="65" dirty="0">
                    <a:latin typeface="Garamond"/>
                    <a:cs typeface="Garamond"/>
                  </a:rPr>
                  <a:t> </a:t>
                </a:r>
                <a:r>
                  <a:rPr lang="en-US" sz="2550" i="1" spc="-110" dirty="0">
                    <a:latin typeface="Times New Roman"/>
                    <a:cs typeface="Times New Roman"/>
                  </a:rPr>
                  <a:t>D</a:t>
                </a:r>
                <a:r>
                  <a:rPr lang="en-US" sz="2700" i="1" baseline="-20061" dirty="0">
                    <a:latin typeface="Times New Roman"/>
                    <a:cs typeface="Times New Roman"/>
                  </a:rPr>
                  <a:t>i </a:t>
                </a:r>
                <a:r>
                  <a:rPr lang="en-US" sz="2700" i="1" spc="-292" baseline="-20061" dirty="0">
                    <a:latin typeface="Times New Roman"/>
                    <a:cs typeface="Times New Roman"/>
                  </a:rPr>
                  <a:t> </a:t>
                </a:r>
                <a:r>
                  <a:rPr lang="en-US" sz="2550" spc="110" dirty="0">
                    <a:latin typeface="Cambria"/>
                    <a:cs typeface="Cambria"/>
                  </a:rPr>
                  <a:t>↦</a:t>
                </a:r>
                <a:r>
                  <a:rPr lang="en-US" sz="2550" spc="145" dirty="0">
                    <a:latin typeface="Cambria"/>
                    <a:cs typeface="Cambria"/>
                  </a:rPr>
                  <a:t> </a:t>
                </a:r>
                <a:r>
                  <a:rPr lang="en-US" sz="2550" i="1" spc="-110" dirty="0">
                    <a:latin typeface="Times New Roman"/>
                    <a:cs typeface="Times New Roman"/>
                  </a:rPr>
                  <a:t>A</a:t>
                </a:r>
                <a:r>
                  <a:rPr lang="en-US" sz="2700" i="1" baseline="-20061" dirty="0">
                    <a:latin typeface="Times New Roman"/>
                    <a:cs typeface="Times New Roman"/>
                  </a:rPr>
                  <a:t>i</a:t>
                </a:r>
              </a:p>
              <a:p>
                <a:pPr marL="12700" marR="68580">
                  <a:lnSpc>
                    <a:spcPct val="100699"/>
                  </a:lnSpc>
                  <a:tabLst>
                    <a:tab pos="2397760" algn="l"/>
                    <a:tab pos="4746625" algn="l"/>
                  </a:tabLst>
                </a:pPr>
                <a:endParaRPr lang="en-US" sz="1100" baseline="-20061" dirty="0">
                  <a:latin typeface="Times New Roman"/>
                  <a:cs typeface="Times New Roman"/>
                </a:endParaRPr>
              </a:p>
              <a:p>
                <a:pPr>
                  <a:lnSpc>
                    <a:spcPct val="100000"/>
                  </a:lnSpc>
                  <a:spcBef>
                    <a:spcPts val="19"/>
                  </a:spcBef>
                </a:pPr>
                <a14:m>
                  <m:oMathPara xmlns:m="http://schemas.openxmlformats.org/officeDocument/2006/math">
                    <m:oMathParaPr>
                      <m:jc m:val="centerGroup"/>
                    </m:oMathParaPr>
                    <m:oMath xmlns:m="http://schemas.openxmlformats.org/officeDocument/2006/math">
                      <m:nary>
                        <m:naryPr>
                          <m:chr m:val="∑"/>
                          <m:supHide m:val="on"/>
                          <m:ctrlPr>
                            <a:rPr lang="ar-YE" sz="2600" i="1" smtClean="0">
                              <a:latin typeface="Cambria Math" panose="02040503050406030204" pitchFamily="18" charset="0"/>
                              <a:cs typeface="Times New Roman"/>
                            </a:rPr>
                          </m:ctrlPr>
                        </m:naryPr>
                        <m:sub>
                          <m:r>
                            <m:rPr>
                              <m:brk m:alnAt="7"/>
                            </m:rPr>
                            <a:rPr lang="ar-YE" sz="2600" b="0" i="1" smtClean="0">
                              <a:latin typeface="Cambria Math" panose="02040503050406030204" pitchFamily="18" charset="0"/>
                              <a:cs typeface="Times New Roman"/>
                            </a:rPr>
                            <m:t>𝑑</m:t>
                          </m:r>
                          <m:r>
                            <a:rPr lang="en-US" sz="2600" b="0" i="1" smtClean="0">
                              <a:latin typeface="Cambria Math" panose="02040503050406030204" pitchFamily="18" charset="0"/>
                              <a:cs typeface="Times New Roman"/>
                            </a:rPr>
                            <m:t>∈</m:t>
                          </m:r>
                          <m:r>
                            <a:rPr lang="en-US" sz="2600" b="0" i="1" smtClean="0">
                              <a:latin typeface="Cambria Math" panose="02040503050406030204" pitchFamily="18" charset="0"/>
                              <a:cs typeface="Times New Roman"/>
                            </a:rPr>
                            <m:t>𝐷</m:t>
                          </m:r>
                        </m:sub>
                        <m:sup/>
                        <m:e>
                          <m:r>
                            <a:rPr lang="en-US" sz="2600" b="0" i="1" smtClean="0">
                              <a:latin typeface="Cambria Math" panose="02040503050406030204" pitchFamily="18" charset="0"/>
                              <a:cs typeface="Times New Roman"/>
                            </a:rPr>
                            <m:t>𝜋</m:t>
                          </m:r>
                          <m:d>
                            <m:dPr>
                              <m:ctrlPr>
                                <a:rPr lang="en-US" sz="2600" b="0" i="1" smtClean="0">
                                  <a:latin typeface="Cambria Math" panose="02040503050406030204" pitchFamily="18" charset="0"/>
                                  <a:cs typeface="Times New Roman"/>
                                </a:rPr>
                              </m:ctrlPr>
                            </m:dPr>
                            <m:e>
                              <m:r>
                                <a:rPr lang="en-US" sz="2600" b="0" i="1" smtClean="0">
                                  <a:latin typeface="Cambria Math" panose="02040503050406030204" pitchFamily="18" charset="0"/>
                                  <a:cs typeface="Times New Roman"/>
                                </a:rPr>
                                <m:t>𝑑</m:t>
                              </m:r>
                            </m:e>
                          </m:d>
                          <m:sSub>
                            <m:sSubPr>
                              <m:ctrlPr>
                                <a:rPr lang="en-US" sz="2600" b="0" i="1" smtClean="0">
                                  <a:latin typeface="Cambria Math" panose="02040503050406030204" pitchFamily="18" charset="0"/>
                                  <a:cs typeface="Times New Roman"/>
                                </a:rPr>
                              </m:ctrlPr>
                            </m:sSubPr>
                            <m:e>
                              <m:r>
                                <a:rPr lang="en-US" sz="2600" b="0" i="1" smtClean="0">
                                  <a:latin typeface="Cambria Math" panose="02040503050406030204" pitchFamily="18" charset="0"/>
                                  <a:cs typeface="Times New Roman"/>
                                </a:rPr>
                                <m:t>𝑢</m:t>
                              </m:r>
                            </m:e>
                            <m:sub>
                              <m:r>
                                <a:rPr lang="en-US" sz="2600" b="0" i="1" smtClean="0">
                                  <a:latin typeface="Cambria Math" panose="02040503050406030204" pitchFamily="18" charset="0"/>
                                  <a:cs typeface="Times New Roman"/>
                                </a:rPr>
                                <m:t>𝑖</m:t>
                              </m:r>
                            </m:sub>
                          </m:sSub>
                          <m:d>
                            <m:dPr>
                              <m:ctrlPr>
                                <a:rPr lang="en-US" sz="2600" b="0" i="1" smtClean="0">
                                  <a:latin typeface="Cambria Math" panose="02040503050406030204" pitchFamily="18" charset="0"/>
                                  <a:cs typeface="Times New Roman"/>
                                </a:rPr>
                              </m:ctrlPr>
                            </m:dPr>
                            <m:e>
                              <m:sSub>
                                <m:sSubPr>
                                  <m:ctrlPr>
                                    <a:rPr lang="en-US" sz="2800" b="0" i="1" spc="-280" dirty="0" smtClean="0">
                                      <a:latin typeface="Cambria Math" panose="02040503050406030204" pitchFamily="18" charset="0"/>
                                      <a:cs typeface="Arial"/>
                                    </a:rPr>
                                  </m:ctrlPr>
                                </m:sSubPr>
                                <m:e>
                                  <m:r>
                                    <a:rPr lang="en-US" sz="2800" i="1" spc="-280" dirty="0" smtClean="0">
                                      <a:latin typeface="Cambria Math" panose="02040503050406030204" pitchFamily="18" charset="0"/>
                                      <a:cs typeface="Arial"/>
                                    </a:rPr>
                                    <m:t>𝜎</m:t>
                                  </m:r>
                                </m:e>
                                <m:sub>
                                  <m:r>
                                    <a:rPr lang="en-US" sz="2800" b="0" i="1" spc="-280" dirty="0" smtClean="0">
                                      <a:latin typeface="Cambria Math" panose="02040503050406030204" pitchFamily="18" charset="0"/>
                                      <a:cs typeface="Arial"/>
                                    </a:rPr>
                                    <m:t>1</m:t>
                                  </m:r>
                                </m:sub>
                              </m:sSub>
                              <m:d>
                                <m:dPr>
                                  <m:ctrlPr>
                                    <a:rPr lang="en-US" sz="2800" b="0" i="1" spc="-280" dirty="0" smtClean="0">
                                      <a:latin typeface="Cambria Math" panose="02040503050406030204" pitchFamily="18" charset="0"/>
                                      <a:cs typeface="Arial"/>
                                    </a:rPr>
                                  </m:ctrlPr>
                                </m:dPr>
                                <m:e>
                                  <m:sSub>
                                    <m:sSubPr>
                                      <m:ctrlPr>
                                        <a:rPr lang="en-US" sz="2800" b="0" i="1" spc="-280" dirty="0" smtClean="0">
                                          <a:latin typeface="Cambria Math" panose="02040503050406030204" pitchFamily="18" charset="0"/>
                                          <a:cs typeface="Arial"/>
                                        </a:rPr>
                                      </m:ctrlPr>
                                    </m:sSubPr>
                                    <m:e>
                                      <m:r>
                                        <a:rPr lang="en-US" sz="2800" b="0" i="1" spc="-280" dirty="0" smtClean="0">
                                          <a:latin typeface="Cambria Math" panose="02040503050406030204" pitchFamily="18" charset="0"/>
                                          <a:cs typeface="Arial"/>
                                        </a:rPr>
                                        <m:t>𝑑</m:t>
                                      </m:r>
                                    </m:e>
                                    <m:sub>
                                      <m:r>
                                        <a:rPr lang="en-US" sz="2800" b="0" i="1" spc="-280" dirty="0" smtClean="0">
                                          <a:latin typeface="Cambria Math" panose="02040503050406030204" pitchFamily="18" charset="0"/>
                                          <a:cs typeface="Arial"/>
                                        </a:rPr>
                                        <m:t>1</m:t>
                                      </m:r>
                                    </m:sub>
                                  </m:sSub>
                                </m:e>
                              </m:d>
                              <m:r>
                                <a:rPr lang="en-US" sz="2800" b="0" i="1" spc="-280" dirty="0" smtClean="0">
                                  <a:latin typeface="Cambria Math" panose="02040503050406030204" pitchFamily="18" charset="0"/>
                                  <a:cs typeface="Arial"/>
                                </a:rPr>
                                <m:t>, …,</m:t>
                              </m:r>
                              <m:sSub>
                                <m:sSubPr>
                                  <m:ctrlPr>
                                    <a:rPr lang="en-US" sz="2800" b="0" i="1" spc="-280" dirty="0" smtClean="0">
                                      <a:latin typeface="Cambria Math" panose="02040503050406030204" pitchFamily="18" charset="0"/>
                                      <a:cs typeface="Arial"/>
                                    </a:rPr>
                                  </m:ctrlPr>
                                </m:sSubPr>
                                <m:e>
                                  <m:r>
                                    <a:rPr lang="en-US" sz="2800" i="1" spc="-280" dirty="0" smtClean="0">
                                      <a:latin typeface="Cambria Math" panose="02040503050406030204" pitchFamily="18" charset="0"/>
                                      <a:cs typeface="Arial"/>
                                    </a:rPr>
                                    <m:t>𝜎</m:t>
                                  </m:r>
                                </m:e>
                                <m:sub>
                                  <m:r>
                                    <a:rPr lang="en-US" sz="2800" b="0" i="1" spc="-280" dirty="0" smtClean="0">
                                      <a:latin typeface="Cambria Math" panose="02040503050406030204" pitchFamily="18" charset="0"/>
                                      <a:cs typeface="Arial"/>
                                    </a:rPr>
                                    <m:t>𝑖</m:t>
                                  </m:r>
                                </m:sub>
                              </m:sSub>
                              <m:d>
                                <m:dPr>
                                  <m:ctrlPr>
                                    <a:rPr lang="en-US" sz="2800" b="0" i="1" spc="-280" dirty="0" smtClean="0">
                                      <a:latin typeface="Cambria Math" panose="02040503050406030204" pitchFamily="18" charset="0"/>
                                      <a:cs typeface="Arial"/>
                                    </a:rPr>
                                  </m:ctrlPr>
                                </m:dPr>
                                <m:e>
                                  <m:sSub>
                                    <m:sSubPr>
                                      <m:ctrlPr>
                                        <a:rPr lang="en-US" sz="2800" b="0" i="1" spc="-280" dirty="0" smtClean="0">
                                          <a:latin typeface="Cambria Math" panose="02040503050406030204" pitchFamily="18" charset="0"/>
                                          <a:cs typeface="Arial"/>
                                        </a:rPr>
                                      </m:ctrlPr>
                                    </m:sSubPr>
                                    <m:e>
                                      <m:r>
                                        <a:rPr lang="en-US" sz="2800" b="0" i="1" spc="-280" dirty="0" smtClean="0">
                                          <a:latin typeface="Cambria Math" panose="02040503050406030204" pitchFamily="18" charset="0"/>
                                          <a:cs typeface="Arial"/>
                                        </a:rPr>
                                        <m:t>𝑑</m:t>
                                      </m:r>
                                    </m:e>
                                    <m:sub>
                                      <m:r>
                                        <a:rPr lang="en-US" sz="2800" b="0" i="1" spc="-280" dirty="0" smtClean="0">
                                          <a:latin typeface="Cambria Math" panose="02040503050406030204" pitchFamily="18" charset="0"/>
                                          <a:cs typeface="Arial"/>
                                        </a:rPr>
                                        <m:t>𝑖</m:t>
                                      </m:r>
                                    </m:sub>
                                  </m:sSub>
                                </m:e>
                              </m:d>
                              <m:r>
                                <a:rPr lang="en-US" sz="2800" b="0" i="1" spc="-280" dirty="0" smtClean="0">
                                  <a:latin typeface="Cambria Math" panose="02040503050406030204" pitchFamily="18" charset="0"/>
                                  <a:cs typeface="Arial"/>
                                </a:rPr>
                                <m:t>, …,</m:t>
                              </m:r>
                              <m:sSub>
                                <m:sSubPr>
                                  <m:ctrlPr>
                                    <a:rPr lang="en-US" sz="2800" b="0" i="1" spc="-280" dirty="0" smtClean="0">
                                      <a:latin typeface="Cambria Math" panose="02040503050406030204" pitchFamily="18" charset="0"/>
                                      <a:cs typeface="Arial"/>
                                    </a:rPr>
                                  </m:ctrlPr>
                                </m:sSubPr>
                                <m:e>
                                  <m:r>
                                    <a:rPr lang="en-US" sz="2800" i="1" spc="-280" dirty="0" smtClean="0">
                                      <a:latin typeface="Cambria Math" panose="02040503050406030204" pitchFamily="18" charset="0"/>
                                      <a:cs typeface="Arial"/>
                                    </a:rPr>
                                    <m:t>𝜎</m:t>
                                  </m:r>
                                </m:e>
                                <m:sub>
                                  <m:r>
                                    <a:rPr lang="en-US" sz="2800" b="0" i="1" spc="-280" dirty="0" smtClean="0">
                                      <a:latin typeface="Cambria Math" panose="02040503050406030204" pitchFamily="18" charset="0"/>
                                      <a:cs typeface="Arial"/>
                                    </a:rPr>
                                    <m:t>𝑛</m:t>
                                  </m:r>
                                </m:sub>
                              </m:sSub>
                              <m:d>
                                <m:dPr>
                                  <m:ctrlPr>
                                    <a:rPr lang="en-US" sz="2800" b="0" i="1" spc="-280" dirty="0" smtClean="0">
                                      <a:latin typeface="Cambria Math" panose="02040503050406030204" pitchFamily="18" charset="0"/>
                                      <a:cs typeface="Arial"/>
                                    </a:rPr>
                                  </m:ctrlPr>
                                </m:dPr>
                                <m:e>
                                  <m:sSub>
                                    <m:sSubPr>
                                      <m:ctrlPr>
                                        <a:rPr lang="en-US" sz="2800" b="0" i="1" spc="-280" dirty="0" smtClean="0">
                                          <a:latin typeface="Cambria Math" panose="02040503050406030204" pitchFamily="18" charset="0"/>
                                          <a:cs typeface="Arial"/>
                                        </a:rPr>
                                      </m:ctrlPr>
                                    </m:sSubPr>
                                    <m:e>
                                      <m:r>
                                        <a:rPr lang="en-US" sz="2800" b="0" i="1" spc="-280" dirty="0" smtClean="0">
                                          <a:latin typeface="Cambria Math" panose="02040503050406030204" pitchFamily="18" charset="0"/>
                                          <a:cs typeface="Arial"/>
                                        </a:rPr>
                                        <m:t>𝑑</m:t>
                                      </m:r>
                                    </m:e>
                                    <m:sub>
                                      <m:r>
                                        <a:rPr lang="en-US" sz="2800" b="0" i="1" spc="-280" dirty="0" smtClean="0">
                                          <a:latin typeface="Cambria Math" panose="02040503050406030204" pitchFamily="18" charset="0"/>
                                          <a:cs typeface="Arial"/>
                                        </a:rPr>
                                        <m:t>𝑛</m:t>
                                      </m:r>
                                    </m:sub>
                                  </m:sSub>
                                </m:e>
                              </m:d>
                            </m:e>
                          </m:d>
                        </m:e>
                      </m:nary>
                    </m:oMath>
                    <m:oMath xmlns:m="http://schemas.openxmlformats.org/officeDocument/2006/math">
                      <m:r>
                        <a:rPr lang="en-US" sz="2600" i="1" smtClean="0">
                          <a:latin typeface="Cambria Math" panose="02040503050406030204" pitchFamily="18" charset="0"/>
                          <a:ea typeface="Cambria Math" panose="02040503050406030204" pitchFamily="18" charset="0"/>
                          <a:cs typeface="Times New Roman"/>
                        </a:rPr>
                        <m:t>≥</m:t>
                      </m:r>
                      <m:nary>
                        <m:naryPr>
                          <m:chr m:val="∑"/>
                          <m:supHide m:val="on"/>
                          <m:ctrlPr>
                            <a:rPr lang="en-US" sz="2600" i="1" smtClean="0">
                              <a:latin typeface="Cambria Math" panose="02040503050406030204" pitchFamily="18" charset="0"/>
                              <a:ea typeface="Cambria Math" panose="02040503050406030204" pitchFamily="18" charset="0"/>
                              <a:cs typeface="Times New Roman"/>
                            </a:rPr>
                          </m:ctrlPr>
                        </m:naryPr>
                        <m:sub>
                          <m:r>
                            <m:rPr>
                              <m:brk m:alnAt="7"/>
                            </m:rPr>
                            <a:rPr lang="en-US" sz="2600" b="0" i="1" smtClean="0">
                              <a:latin typeface="Cambria Math" panose="02040503050406030204" pitchFamily="18" charset="0"/>
                              <a:ea typeface="Cambria Math" panose="02040503050406030204" pitchFamily="18" charset="0"/>
                              <a:cs typeface="Times New Roman"/>
                            </a:rPr>
                            <m:t>𝑑</m:t>
                          </m:r>
                          <m:r>
                            <a:rPr lang="en-US" sz="2600" b="0" i="1" smtClean="0">
                              <a:latin typeface="Cambria Math" panose="02040503050406030204" pitchFamily="18" charset="0"/>
                              <a:ea typeface="Cambria Math" panose="02040503050406030204" pitchFamily="18" charset="0"/>
                              <a:cs typeface="Times New Roman"/>
                            </a:rPr>
                            <m:t>∈</m:t>
                          </m:r>
                          <m:r>
                            <a:rPr lang="en-US" sz="2600" b="0" i="1" smtClean="0">
                              <a:latin typeface="Cambria Math" panose="02040503050406030204" pitchFamily="18" charset="0"/>
                              <a:ea typeface="Cambria Math" panose="02040503050406030204" pitchFamily="18" charset="0"/>
                              <a:cs typeface="Times New Roman"/>
                            </a:rPr>
                            <m:t>𝐷</m:t>
                          </m:r>
                        </m:sub>
                        <m:sup/>
                        <m:e>
                          <m:r>
                            <a:rPr lang="en-US" sz="2600" b="0" i="1" smtClean="0">
                              <a:latin typeface="Cambria Math" panose="02040503050406030204" pitchFamily="18" charset="0"/>
                              <a:ea typeface="Cambria Math" panose="02040503050406030204" pitchFamily="18" charset="0"/>
                              <a:cs typeface="Times New Roman"/>
                            </a:rPr>
                            <m:t>𝜋</m:t>
                          </m:r>
                          <m:d>
                            <m:dPr>
                              <m:ctrlPr>
                                <a:rPr lang="en-US" sz="2600" b="0" i="1" smtClean="0">
                                  <a:latin typeface="Cambria Math" panose="02040503050406030204" pitchFamily="18" charset="0"/>
                                  <a:ea typeface="Cambria Math" panose="02040503050406030204" pitchFamily="18" charset="0"/>
                                  <a:cs typeface="Times New Roman"/>
                                </a:rPr>
                              </m:ctrlPr>
                            </m:dPr>
                            <m:e>
                              <m:r>
                                <a:rPr lang="en-US" sz="2600" b="0" i="1" smtClean="0">
                                  <a:latin typeface="Cambria Math" panose="02040503050406030204" pitchFamily="18" charset="0"/>
                                  <a:ea typeface="Cambria Math" panose="02040503050406030204" pitchFamily="18" charset="0"/>
                                  <a:cs typeface="Times New Roman"/>
                                </a:rPr>
                                <m:t>𝑑</m:t>
                              </m:r>
                            </m:e>
                          </m:d>
                          <m:sSub>
                            <m:sSubPr>
                              <m:ctrlPr>
                                <a:rPr lang="en-US" sz="2400" b="0" i="1" smtClean="0">
                                  <a:latin typeface="Cambria Math" panose="02040503050406030204" pitchFamily="18" charset="0"/>
                                  <a:cs typeface="Times New Roman"/>
                                </a:rPr>
                              </m:ctrlPr>
                            </m:sSubPr>
                            <m:e>
                              <m:r>
                                <a:rPr lang="en-US" sz="2400" b="0" i="1" smtClean="0">
                                  <a:latin typeface="Cambria Math" panose="02040503050406030204" pitchFamily="18" charset="0"/>
                                  <a:cs typeface="Times New Roman"/>
                                </a:rPr>
                                <m:t>𝑢</m:t>
                              </m:r>
                            </m:e>
                            <m:sub>
                              <m:r>
                                <a:rPr lang="en-US" sz="2400" b="0" i="1" smtClean="0">
                                  <a:latin typeface="Cambria Math" panose="02040503050406030204" pitchFamily="18" charset="0"/>
                                  <a:cs typeface="Times New Roman"/>
                                </a:rPr>
                                <m:t>𝑖</m:t>
                              </m:r>
                            </m:sub>
                          </m:sSub>
                          <m:d>
                            <m:dPr>
                              <m:ctrlPr>
                                <a:rPr lang="en-US" sz="2400" b="0" i="1" smtClean="0">
                                  <a:latin typeface="Cambria Math" panose="02040503050406030204" pitchFamily="18" charset="0"/>
                                  <a:cs typeface="Times New Roman"/>
                                </a:rPr>
                              </m:ctrlPr>
                            </m:dPr>
                            <m:e>
                              <m:sSub>
                                <m:sSubPr>
                                  <m:ctrlPr>
                                    <a:rPr lang="en-US" sz="2400" b="0" i="1" spc="-280" dirty="0" smtClean="0">
                                      <a:latin typeface="Cambria Math" panose="02040503050406030204" pitchFamily="18" charset="0"/>
                                      <a:cs typeface="Arial"/>
                                    </a:rPr>
                                  </m:ctrlPr>
                                </m:sSubPr>
                                <m:e>
                                  <m:r>
                                    <a:rPr lang="en-US" sz="2400" i="1" spc="-280" dirty="0" smtClean="0">
                                      <a:latin typeface="Cambria Math" panose="02040503050406030204" pitchFamily="18" charset="0"/>
                                      <a:cs typeface="Arial"/>
                                    </a:rPr>
                                    <m:t>𝜎</m:t>
                                  </m:r>
                                </m:e>
                                <m:sub>
                                  <m:r>
                                    <a:rPr lang="en-US" sz="2400" b="0" i="1" spc="-280" dirty="0" smtClean="0">
                                      <a:latin typeface="Cambria Math" panose="02040503050406030204" pitchFamily="18" charset="0"/>
                                      <a:cs typeface="Arial"/>
                                    </a:rPr>
                                    <m:t>1</m:t>
                                  </m:r>
                                </m:sub>
                              </m:sSub>
                              <m:d>
                                <m:dPr>
                                  <m:ctrlPr>
                                    <a:rPr lang="en-US" sz="2400" b="0" i="1" spc="-280" dirty="0" smtClean="0">
                                      <a:latin typeface="Cambria Math" panose="02040503050406030204" pitchFamily="18" charset="0"/>
                                      <a:cs typeface="Arial"/>
                                    </a:rPr>
                                  </m:ctrlPr>
                                </m:dPr>
                                <m:e>
                                  <m:sSub>
                                    <m:sSubPr>
                                      <m:ctrlPr>
                                        <a:rPr lang="en-US" sz="2400" b="0" i="1" spc="-280" dirty="0" smtClean="0">
                                          <a:latin typeface="Cambria Math" panose="02040503050406030204" pitchFamily="18" charset="0"/>
                                          <a:cs typeface="Arial"/>
                                        </a:rPr>
                                      </m:ctrlPr>
                                    </m:sSubPr>
                                    <m:e>
                                      <m:r>
                                        <a:rPr lang="en-US" sz="2400" b="0" i="1" spc="-280" dirty="0" smtClean="0">
                                          <a:latin typeface="Cambria Math" panose="02040503050406030204" pitchFamily="18" charset="0"/>
                                          <a:cs typeface="Arial"/>
                                        </a:rPr>
                                        <m:t>𝑑</m:t>
                                      </m:r>
                                    </m:e>
                                    <m:sub>
                                      <m:r>
                                        <a:rPr lang="en-US" sz="2400" b="0" i="1" spc="-280" dirty="0" smtClean="0">
                                          <a:latin typeface="Cambria Math" panose="02040503050406030204" pitchFamily="18" charset="0"/>
                                          <a:cs typeface="Arial"/>
                                        </a:rPr>
                                        <m:t>1</m:t>
                                      </m:r>
                                    </m:sub>
                                  </m:sSub>
                                </m:e>
                              </m:d>
                              <m:r>
                                <a:rPr lang="en-US" sz="2400" b="0" i="1" spc="-280" dirty="0" smtClean="0">
                                  <a:latin typeface="Cambria Math" panose="02040503050406030204" pitchFamily="18" charset="0"/>
                                  <a:cs typeface="Arial"/>
                                </a:rPr>
                                <m:t>, …,</m:t>
                              </m:r>
                              <m:sSubSup>
                                <m:sSubSupPr>
                                  <m:ctrlPr>
                                    <a:rPr lang="en-US" sz="2400" b="0" i="1" spc="-280" dirty="0" smtClean="0">
                                      <a:latin typeface="Cambria Math" panose="02040503050406030204" pitchFamily="18" charset="0"/>
                                      <a:cs typeface="Arial"/>
                                    </a:rPr>
                                  </m:ctrlPr>
                                </m:sSubSupPr>
                                <m:e>
                                  <m:r>
                                    <a:rPr lang="en-US" sz="2400" i="1" spc="-280" dirty="0" smtClean="0">
                                      <a:latin typeface="Cambria Math" panose="02040503050406030204" pitchFamily="18" charset="0"/>
                                      <a:cs typeface="Arial"/>
                                    </a:rPr>
                                    <m:t>𝜎</m:t>
                                  </m:r>
                                </m:e>
                                <m:sub>
                                  <m:r>
                                    <a:rPr lang="en-US" sz="2400" b="0" i="1" spc="-280" dirty="0" smtClean="0">
                                      <a:latin typeface="Cambria Math" panose="02040503050406030204" pitchFamily="18" charset="0"/>
                                      <a:cs typeface="Arial"/>
                                    </a:rPr>
                                    <m:t>𝑖</m:t>
                                  </m:r>
                                </m:sub>
                                <m:sup>
                                  <m:r>
                                    <a:rPr lang="en-US" sz="2400" b="0" i="1" spc="-280" dirty="0" smtClean="0">
                                      <a:latin typeface="Cambria Math" panose="02040503050406030204" pitchFamily="18" charset="0"/>
                                      <a:cs typeface="Arial"/>
                                    </a:rPr>
                                    <m:t>′</m:t>
                                  </m:r>
                                </m:sup>
                              </m:sSubSup>
                              <m:d>
                                <m:dPr>
                                  <m:ctrlPr>
                                    <a:rPr lang="en-US" sz="2400" b="0" i="1" spc="-280" dirty="0" smtClean="0">
                                      <a:latin typeface="Cambria Math" panose="02040503050406030204" pitchFamily="18" charset="0"/>
                                      <a:cs typeface="Arial"/>
                                    </a:rPr>
                                  </m:ctrlPr>
                                </m:dPr>
                                <m:e>
                                  <m:sSub>
                                    <m:sSubPr>
                                      <m:ctrlPr>
                                        <a:rPr lang="en-US" sz="2400" b="0" i="1" spc="-280" dirty="0" smtClean="0">
                                          <a:latin typeface="Cambria Math" panose="02040503050406030204" pitchFamily="18" charset="0"/>
                                          <a:cs typeface="Arial"/>
                                        </a:rPr>
                                      </m:ctrlPr>
                                    </m:sSubPr>
                                    <m:e>
                                      <m:r>
                                        <a:rPr lang="en-US" sz="2400" b="0" i="1" spc="-280" dirty="0" smtClean="0">
                                          <a:latin typeface="Cambria Math" panose="02040503050406030204" pitchFamily="18" charset="0"/>
                                          <a:cs typeface="Arial"/>
                                        </a:rPr>
                                        <m:t>𝑑</m:t>
                                      </m:r>
                                    </m:e>
                                    <m:sub>
                                      <m:r>
                                        <a:rPr lang="en-US" sz="2400" b="0" i="1" spc="-280" dirty="0" smtClean="0">
                                          <a:latin typeface="Cambria Math" panose="02040503050406030204" pitchFamily="18" charset="0"/>
                                          <a:cs typeface="Arial"/>
                                        </a:rPr>
                                        <m:t>𝑖</m:t>
                                      </m:r>
                                    </m:sub>
                                  </m:sSub>
                                </m:e>
                              </m:d>
                              <m:r>
                                <a:rPr lang="en-US" sz="2400" b="0" i="1" spc="-280" dirty="0" smtClean="0">
                                  <a:latin typeface="Cambria Math" panose="02040503050406030204" pitchFamily="18" charset="0"/>
                                  <a:cs typeface="Arial"/>
                                </a:rPr>
                                <m:t>, …,</m:t>
                              </m:r>
                              <m:sSub>
                                <m:sSubPr>
                                  <m:ctrlPr>
                                    <a:rPr lang="en-US" sz="2400" b="0" i="1" spc="-280" dirty="0" smtClean="0">
                                      <a:latin typeface="Cambria Math" panose="02040503050406030204" pitchFamily="18" charset="0"/>
                                      <a:cs typeface="Arial"/>
                                    </a:rPr>
                                  </m:ctrlPr>
                                </m:sSubPr>
                                <m:e>
                                  <m:r>
                                    <a:rPr lang="en-US" sz="2400" i="1" spc="-280" dirty="0" smtClean="0">
                                      <a:latin typeface="Cambria Math" panose="02040503050406030204" pitchFamily="18" charset="0"/>
                                      <a:cs typeface="Arial"/>
                                    </a:rPr>
                                    <m:t>𝜎</m:t>
                                  </m:r>
                                </m:e>
                                <m:sub>
                                  <m:r>
                                    <a:rPr lang="en-US" sz="2400" b="0" i="1" spc="-280" dirty="0" smtClean="0">
                                      <a:latin typeface="Cambria Math" panose="02040503050406030204" pitchFamily="18" charset="0"/>
                                      <a:cs typeface="Arial"/>
                                    </a:rPr>
                                    <m:t>𝑛</m:t>
                                  </m:r>
                                </m:sub>
                              </m:sSub>
                              <m:d>
                                <m:dPr>
                                  <m:ctrlPr>
                                    <a:rPr lang="en-US" sz="2400" b="0" i="1" spc="-280" dirty="0" smtClean="0">
                                      <a:latin typeface="Cambria Math" panose="02040503050406030204" pitchFamily="18" charset="0"/>
                                      <a:cs typeface="Arial"/>
                                    </a:rPr>
                                  </m:ctrlPr>
                                </m:dPr>
                                <m:e>
                                  <m:sSub>
                                    <m:sSubPr>
                                      <m:ctrlPr>
                                        <a:rPr lang="en-US" sz="2400" b="0" i="1" spc="-280" dirty="0" smtClean="0">
                                          <a:latin typeface="Cambria Math" panose="02040503050406030204" pitchFamily="18" charset="0"/>
                                          <a:cs typeface="Arial"/>
                                        </a:rPr>
                                      </m:ctrlPr>
                                    </m:sSubPr>
                                    <m:e>
                                      <m:r>
                                        <a:rPr lang="en-US" sz="2400" b="0" i="1" spc="-280" dirty="0" smtClean="0">
                                          <a:latin typeface="Cambria Math" panose="02040503050406030204" pitchFamily="18" charset="0"/>
                                          <a:cs typeface="Arial"/>
                                        </a:rPr>
                                        <m:t>𝑑</m:t>
                                      </m:r>
                                    </m:e>
                                    <m:sub>
                                      <m:r>
                                        <a:rPr lang="en-US" sz="2400" b="0" i="1" spc="-280" dirty="0" smtClean="0">
                                          <a:latin typeface="Cambria Math" panose="02040503050406030204" pitchFamily="18" charset="0"/>
                                          <a:cs typeface="Arial"/>
                                        </a:rPr>
                                        <m:t>𝑛</m:t>
                                      </m:r>
                                    </m:sub>
                                  </m:sSub>
                                </m:e>
                              </m:d>
                            </m:e>
                          </m:d>
                        </m:e>
                      </m:nary>
                    </m:oMath>
                  </m:oMathPara>
                </a14:m>
                <a:endParaRPr sz="2600" dirty="0">
                  <a:latin typeface="Times New Roman"/>
                  <a:cs typeface="Times New Roman"/>
                </a:endParaRPr>
              </a:p>
            </p:txBody>
          </p:sp>
        </mc:Choice>
        <mc:Fallback xmlns="">
          <p:sp>
            <p:nvSpPr>
              <p:cNvPr id="6" name="object 6"/>
              <p:cNvSpPr txBox="1">
                <a:spLocks noRot="1" noChangeAspect="1" noMove="1" noResize="1" noEditPoints="1" noAdjustHandles="1" noChangeArrowheads="1" noChangeShapeType="1" noTextEdit="1"/>
              </p:cNvSpPr>
              <p:nvPr/>
            </p:nvSpPr>
            <p:spPr>
              <a:xfrm>
                <a:off x="545537" y="1618580"/>
                <a:ext cx="7684063" cy="4534768"/>
              </a:xfrm>
              <a:prstGeom prst="rect">
                <a:avLst/>
              </a:prstGeom>
              <a:blipFill>
                <a:blip r:embed="rId3"/>
                <a:stretch>
                  <a:fillRect l="-2220" t="-2557" r="-714"/>
                </a:stretch>
              </a:blipFill>
            </p:spPr>
            <p:txBody>
              <a:bodyPr/>
              <a:lstStyle/>
              <a:p>
                <a:r>
                  <a:rPr lang="en-US">
                    <a:noFill/>
                  </a:rPr>
                  <a:t> </a:t>
                </a:r>
              </a:p>
            </p:txBody>
          </p:sp>
        </mc:Fallback>
      </mc:AlternateContent>
      <p:sp>
        <p:nvSpPr>
          <p:cNvPr id="7" name="Slide Number Placeholder 8">
            <a:extLst>
              <a:ext uri="{FF2B5EF4-FFF2-40B4-BE49-F238E27FC236}">
                <a16:creationId xmlns:a16="http://schemas.microsoft.com/office/drawing/2014/main" id="{6A32CC8D-883F-45E1-D38D-57FD0205AD92}"/>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44</a:t>
            </a:fld>
            <a:r>
              <a:rPr lang="en-US" sz="2000" dirty="0">
                <a:solidFill>
                  <a:prstClr val="black"/>
                </a:solidFill>
                <a:latin typeface="Comic Sans MS"/>
                <a:sym typeface="Comic Sans MS"/>
              </a:rPr>
              <a:t>/46</a:t>
            </a:r>
          </a:p>
        </p:txBody>
      </p:sp>
      <p:sp>
        <p:nvSpPr>
          <p:cNvPr id="8" name="Footer Placeholder 9">
            <a:extLst>
              <a:ext uri="{FF2B5EF4-FFF2-40B4-BE49-F238E27FC236}">
                <a16:creationId xmlns:a16="http://schemas.microsoft.com/office/drawing/2014/main" id="{1BC61746-585F-B8D3-6397-421082F3B52E}"/>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9" name="Rectangle 8">
            <a:extLst>
              <a:ext uri="{FF2B5EF4-FFF2-40B4-BE49-F238E27FC236}">
                <a16:creationId xmlns:a16="http://schemas.microsoft.com/office/drawing/2014/main" id="{EA5B2BC3-7606-BBF9-DA1A-1DA9850D0AD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0" name="Rectangle 9">
            <a:extLst>
              <a:ext uri="{FF2B5EF4-FFF2-40B4-BE49-F238E27FC236}">
                <a16:creationId xmlns:a16="http://schemas.microsoft.com/office/drawing/2014/main" id="{CDE65C3D-13D3-BC8D-4A04-06D0B12679F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39F77AE6-E289-D391-7855-09BAE6F9F8D7}"/>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TextBox 3">
            <a:extLst>
              <a:ext uri="{FF2B5EF4-FFF2-40B4-BE49-F238E27FC236}">
                <a16:creationId xmlns:a16="http://schemas.microsoft.com/office/drawing/2014/main" id="{EDD30EFF-5265-F14D-7044-F350F0C42C39}"/>
              </a:ext>
            </a:extLst>
          </p:cNvPr>
          <p:cNvSpPr txBox="1"/>
          <p:nvPr/>
        </p:nvSpPr>
        <p:spPr>
          <a:xfrm>
            <a:off x="366400" y="6108267"/>
            <a:ext cx="5881999" cy="369332"/>
          </a:xfrm>
          <a:prstGeom prst="rect">
            <a:avLst/>
          </a:prstGeom>
          <a:noFill/>
        </p:spPr>
        <p:txBody>
          <a:bodyPr wrap="square">
            <a:spAutoFit/>
          </a:bodyPr>
          <a:lstStyle/>
          <a:p>
            <a:r>
              <a:rPr lang="en-US" sz="1800" i="1" u="none" strike="noStrike" baseline="0" dirty="0">
                <a:latin typeface="Times New Roman" panose="02020603050405020304" pitchFamily="18" charset="0"/>
              </a:rPr>
              <a:t>Refer to Section </a:t>
            </a:r>
            <a:r>
              <a:rPr lang="en-US" sz="1800" b="1" i="1" u="none" strike="noStrike" baseline="0" dirty="0">
                <a:latin typeface="Times New Roman" panose="02020603050405020304" pitchFamily="18" charset="0"/>
              </a:rPr>
              <a:t>3.4.5</a:t>
            </a:r>
            <a:r>
              <a:rPr lang="en-US" sz="1800" i="1" u="none" strike="noStrike" baseline="0" dirty="0">
                <a:latin typeface="Times New Roman" panose="02020603050405020304" pitchFamily="18" charset="0"/>
              </a:rPr>
              <a:t> (Multiagent Systems Book)</a:t>
            </a:r>
            <a:endParaRPr lang="en-US" i="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5" name="object 5"/>
          <p:cNvSpPr txBox="1">
            <a:spLocks noGrp="1"/>
          </p:cNvSpPr>
          <p:nvPr>
            <p:ph type="title"/>
          </p:nvPr>
        </p:nvSpPr>
        <p:spPr>
          <a:xfrm>
            <a:off x="461327" y="574571"/>
            <a:ext cx="8221344" cy="492443"/>
          </a:xfrm>
          <a:prstGeom prst="rect">
            <a:avLst/>
          </a:prstGeom>
        </p:spPr>
        <p:txBody>
          <a:bodyPr vert="horz" wrap="square" lIns="0" tIns="0" rIns="0" bIns="0" rtlCol="0">
            <a:spAutoFit/>
          </a:bodyPr>
          <a:lstStyle/>
          <a:p>
            <a:pPr marL="12700">
              <a:lnSpc>
                <a:spcPct val="100000"/>
              </a:lnSpc>
            </a:pPr>
            <a:r>
              <a:rPr lang="en-US" dirty="0">
                <a:solidFill>
                  <a:srgbClr val="FF0000"/>
                </a:solidFill>
              </a:rPr>
              <a:t>Self Study: </a:t>
            </a:r>
            <a:r>
              <a:rPr dirty="0"/>
              <a:t>Exi</a:t>
            </a:r>
            <a:r>
              <a:rPr spc="-20" dirty="0"/>
              <a:t>s</a:t>
            </a:r>
            <a:r>
              <a:rPr spc="-15" dirty="0"/>
              <a:t>t</a:t>
            </a:r>
            <a:r>
              <a:rPr dirty="0"/>
              <a:t>ence</a:t>
            </a:r>
          </a:p>
        </p:txBody>
      </p:sp>
      <p:sp>
        <p:nvSpPr>
          <p:cNvPr id="6" name="object 6"/>
          <p:cNvSpPr txBox="1"/>
          <p:nvPr/>
        </p:nvSpPr>
        <p:spPr>
          <a:xfrm>
            <a:off x="545537" y="2147111"/>
            <a:ext cx="6890384" cy="1546321"/>
          </a:xfrm>
          <a:prstGeom prst="rect">
            <a:avLst/>
          </a:prstGeom>
        </p:spPr>
        <p:txBody>
          <a:bodyPr vert="horz" wrap="square" lIns="0" tIns="0" rIns="0" bIns="0" rtlCol="0">
            <a:spAutoFit/>
          </a:bodyPr>
          <a:lstStyle/>
          <a:p>
            <a:pPr marL="12700" marR="5080">
              <a:lnSpc>
                <a:spcPct val="100699"/>
              </a:lnSpc>
            </a:pPr>
            <a:r>
              <a:rPr sz="2400" dirty="0">
                <a:latin typeface="Times New Roman"/>
                <a:cs typeface="Times New Roman"/>
              </a:rPr>
              <a:t>For </a:t>
            </a:r>
            <a:r>
              <a:rPr sz="2400" spc="-20" dirty="0">
                <a:latin typeface="Times New Roman"/>
                <a:cs typeface="Times New Roman"/>
              </a:rPr>
              <a:t>e</a:t>
            </a:r>
            <a:r>
              <a:rPr sz="2400" spc="-15" dirty="0">
                <a:latin typeface="Times New Roman"/>
                <a:cs typeface="Times New Roman"/>
              </a:rPr>
              <a:t>v</a:t>
            </a:r>
            <a:r>
              <a:rPr sz="2400" spc="-20" dirty="0">
                <a:latin typeface="Times New Roman"/>
                <a:cs typeface="Times New Roman"/>
              </a:rPr>
              <a:t>e</a:t>
            </a:r>
            <a:r>
              <a:rPr sz="2400" dirty="0">
                <a:latin typeface="Times New Roman"/>
                <a:cs typeface="Times New Roman"/>
              </a:rPr>
              <a:t>ry N</a:t>
            </a:r>
            <a:r>
              <a:rPr sz="2400" spc="-20" dirty="0">
                <a:latin typeface="Times New Roman"/>
                <a:cs typeface="Times New Roman"/>
              </a:rPr>
              <a:t>a</a:t>
            </a:r>
            <a:r>
              <a:rPr sz="2400" dirty="0">
                <a:latin typeface="Times New Roman"/>
                <a:cs typeface="Times New Roman"/>
              </a:rPr>
              <a:t>sh </a:t>
            </a:r>
            <a:r>
              <a:rPr sz="2400" spc="-20" dirty="0">
                <a:latin typeface="Times New Roman"/>
                <a:cs typeface="Times New Roman"/>
              </a:rPr>
              <a:t>e</a:t>
            </a:r>
            <a:r>
              <a:rPr sz="2400" spc="-15" dirty="0">
                <a:latin typeface="Times New Roman"/>
                <a:cs typeface="Times New Roman"/>
              </a:rPr>
              <a:t>quilibrium</a:t>
            </a:r>
            <a:r>
              <a:rPr sz="2400" dirty="0">
                <a:latin typeface="Times New Roman"/>
                <a:cs typeface="Times New Roman"/>
              </a:rPr>
              <a:t> </a:t>
            </a:r>
            <a:r>
              <a:rPr sz="2400" spc="-10" dirty="0">
                <a:latin typeface="Times New Roman"/>
                <a:cs typeface="Times New Roman"/>
              </a:rPr>
              <a:t>th</a:t>
            </a:r>
            <a:r>
              <a:rPr sz="2400" spc="-20" dirty="0">
                <a:latin typeface="Times New Roman"/>
                <a:cs typeface="Times New Roman"/>
              </a:rPr>
              <a:t>e</a:t>
            </a:r>
            <a:r>
              <a:rPr sz="2400" spc="-10" dirty="0">
                <a:latin typeface="Times New Roman"/>
                <a:cs typeface="Times New Roman"/>
              </a:rPr>
              <a:t>re</a:t>
            </a:r>
            <a:r>
              <a:rPr sz="2400" spc="-5" dirty="0">
                <a:latin typeface="Times New Roman"/>
                <a:cs typeface="Times New Roman"/>
              </a:rPr>
              <a:t> </a:t>
            </a:r>
            <a:r>
              <a:rPr sz="2400" spc="-20" dirty="0">
                <a:latin typeface="Times New Roman"/>
                <a:cs typeface="Times New Roman"/>
              </a:rPr>
              <a:t>e</a:t>
            </a:r>
            <a:r>
              <a:rPr sz="2400" spc="-10" dirty="0">
                <a:latin typeface="Times New Roman"/>
                <a:cs typeface="Times New Roman"/>
              </a:rPr>
              <a:t>xi</a:t>
            </a:r>
            <a:r>
              <a:rPr sz="2400" dirty="0">
                <a:latin typeface="Times New Roman"/>
                <a:cs typeface="Times New Roman"/>
              </a:rPr>
              <a:t>s</a:t>
            </a:r>
            <a:r>
              <a:rPr sz="2400" spc="-10" dirty="0">
                <a:latin typeface="Times New Roman"/>
                <a:cs typeface="Times New Roman"/>
              </a:rPr>
              <a:t>t</a:t>
            </a:r>
            <a:r>
              <a:rPr sz="2400" dirty="0">
                <a:latin typeface="Times New Roman"/>
                <a:cs typeface="Times New Roman"/>
              </a:rPr>
              <a:t>s </a:t>
            </a:r>
            <a:r>
              <a:rPr sz="2400" spc="-15" dirty="0">
                <a:latin typeface="Times New Roman"/>
                <a:cs typeface="Times New Roman"/>
              </a:rPr>
              <a:t>a</a:t>
            </a:r>
            <a:r>
              <a:rPr sz="2400" spc="-5" dirty="0">
                <a:latin typeface="Times New Roman"/>
                <a:cs typeface="Times New Roman"/>
              </a:rPr>
              <a:t> </a:t>
            </a:r>
            <a:r>
              <a:rPr sz="2400" spc="-20" dirty="0">
                <a:latin typeface="Times New Roman"/>
                <a:cs typeface="Times New Roman"/>
              </a:rPr>
              <a:t>c</a:t>
            </a:r>
            <a:r>
              <a:rPr sz="2400" spc="-10" dirty="0">
                <a:latin typeface="Times New Roman"/>
                <a:cs typeface="Times New Roman"/>
              </a:rPr>
              <a:t>orr</a:t>
            </a:r>
            <a:r>
              <a:rPr sz="2400" spc="-20" dirty="0">
                <a:latin typeface="Times New Roman"/>
                <a:cs typeface="Times New Roman"/>
              </a:rPr>
              <a:t>e</a:t>
            </a:r>
            <a:r>
              <a:rPr sz="2400" dirty="0">
                <a:latin typeface="Times New Roman"/>
                <a:cs typeface="Times New Roman"/>
              </a:rPr>
              <a:t>s</a:t>
            </a:r>
            <a:r>
              <a:rPr sz="2400" spc="-15" dirty="0">
                <a:latin typeface="Times New Roman"/>
                <a:cs typeface="Times New Roman"/>
              </a:rPr>
              <a:t>pondi</a:t>
            </a:r>
            <a:r>
              <a:rPr sz="2400" dirty="0">
                <a:latin typeface="Times New Roman"/>
                <a:cs typeface="Times New Roman"/>
              </a:rPr>
              <a:t>ng </a:t>
            </a:r>
            <a:r>
              <a:rPr sz="2400" spc="-20" dirty="0">
                <a:latin typeface="Times New Roman"/>
                <a:cs typeface="Times New Roman"/>
              </a:rPr>
              <a:t>c</a:t>
            </a:r>
            <a:r>
              <a:rPr sz="2400" spc="-10" dirty="0">
                <a:latin typeface="Times New Roman"/>
                <a:cs typeface="Times New Roman"/>
              </a:rPr>
              <a:t>orr</a:t>
            </a:r>
            <a:r>
              <a:rPr sz="2400" spc="-20" dirty="0">
                <a:latin typeface="Times New Roman"/>
                <a:cs typeface="Times New Roman"/>
              </a:rPr>
              <a:t>e</a:t>
            </a:r>
            <a:r>
              <a:rPr sz="2400" spc="-10" dirty="0">
                <a:latin typeface="Times New Roman"/>
                <a:cs typeface="Times New Roman"/>
              </a:rPr>
              <a:t>l</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e</a:t>
            </a:r>
            <a:r>
              <a:rPr sz="2400" dirty="0">
                <a:latin typeface="Times New Roman"/>
                <a:cs typeface="Times New Roman"/>
              </a:rPr>
              <a:t>d </a:t>
            </a:r>
            <a:r>
              <a:rPr sz="2400" spc="-20" dirty="0">
                <a:latin typeface="Times New Roman"/>
                <a:cs typeface="Times New Roman"/>
              </a:rPr>
              <a:t>e</a:t>
            </a:r>
            <a:r>
              <a:rPr sz="2400" spc="-15" dirty="0">
                <a:latin typeface="Times New Roman"/>
                <a:cs typeface="Times New Roman"/>
              </a:rPr>
              <a:t>quilibrium</a:t>
            </a:r>
            <a:endParaRPr sz="2400" dirty="0">
              <a:latin typeface="Times New Roman"/>
              <a:cs typeface="Times New Roman"/>
            </a:endParaRPr>
          </a:p>
          <a:p>
            <a:pPr>
              <a:lnSpc>
                <a:spcPct val="100000"/>
              </a:lnSpc>
              <a:spcBef>
                <a:spcPts val="43"/>
              </a:spcBef>
            </a:pPr>
            <a:endParaRPr sz="2800" dirty="0">
              <a:latin typeface="Times New Roman"/>
              <a:cs typeface="Times New Roman"/>
            </a:endParaRPr>
          </a:p>
          <a:p>
            <a:pPr marL="12700">
              <a:lnSpc>
                <a:spcPct val="100000"/>
              </a:lnSpc>
            </a:pPr>
            <a:r>
              <a:rPr sz="2400" i="1" spc="-15" dirty="0">
                <a:solidFill>
                  <a:srgbClr val="FF0000"/>
                </a:solidFill>
                <a:latin typeface="Times New Roman"/>
                <a:cs typeface="Times New Roman"/>
              </a:rPr>
              <a:t>P</a:t>
            </a:r>
            <a:r>
              <a:rPr sz="2400" i="1" spc="-90" dirty="0">
                <a:solidFill>
                  <a:srgbClr val="FF0000"/>
                </a:solidFill>
                <a:latin typeface="Times New Roman"/>
                <a:cs typeface="Times New Roman"/>
              </a:rPr>
              <a:t>r</a:t>
            </a:r>
            <a:r>
              <a:rPr sz="2400" i="1" spc="-15" dirty="0">
                <a:solidFill>
                  <a:srgbClr val="FF0000"/>
                </a:solidFill>
                <a:latin typeface="Times New Roman"/>
                <a:cs typeface="Times New Roman"/>
              </a:rPr>
              <a:t>oof</a:t>
            </a:r>
            <a:r>
              <a:rPr sz="2400" i="1" dirty="0">
                <a:solidFill>
                  <a:srgbClr val="FF0000"/>
                </a:solidFill>
                <a:latin typeface="Times New Roman"/>
                <a:cs typeface="Times New Roman"/>
              </a:rPr>
              <a:t> as an </a:t>
            </a:r>
            <a:r>
              <a:rPr sz="2400" i="1" spc="-20" dirty="0">
                <a:solidFill>
                  <a:srgbClr val="FF0000"/>
                </a:solidFill>
                <a:latin typeface="Times New Roman"/>
                <a:cs typeface="Times New Roman"/>
              </a:rPr>
              <a:t>exe</a:t>
            </a:r>
            <a:r>
              <a:rPr sz="2400" i="1" spc="-90" dirty="0">
                <a:solidFill>
                  <a:srgbClr val="FF0000"/>
                </a:solidFill>
                <a:latin typeface="Times New Roman"/>
                <a:cs typeface="Times New Roman"/>
              </a:rPr>
              <a:t>r</a:t>
            </a:r>
            <a:r>
              <a:rPr sz="2400" i="1" spc="-20" dirty="0">
                <a:solidFill>
                  <a:srgbClr val="FF0000"/>
                </a:solidFill>
                <a:latin typeface="Times New Roman"/>
                <a:cs typeface="Times New Roman"/>
              </a:rPr>
              <a:t>c</a:t>
            </a:r>
            <a:r>
              <a:rPr sz="2400" i="1" spc="-10" dirty="0">
                <a:solidFill>
                  <a:srgbClr val="FF0000"/>
                </a:solidFill>
                <a:latin typeface="Times New Roman"/>
                <a:cs typeface="Times New Roman"/>
              </a:rPr>
              <a:t>i</a:t>
            </a:r>
            <a:r>
              <a:rPr sz="2400" i="1" dirty="0">
                <a:solidFill>
                  <a:srgbClr val="FF0000"/>
                </a:solidFill>
                <a:latin typeface="Times New Roman"/>
                <a:cs typeface="Times New Roman"/>
              </a:rPr>
              <a:t>s</a:t>
            </a:r>
            <a:r>
              <a:rPr sz="2400" i="1" spc="-15" dirty="0">
                <a:solidFill>
                  <a:srgbClr val="FF0000"/>
                </a:solidFill>
                <a:latin typeface="Times New Roman"/>
                <a:cs typeface="Times New Roman"/>
              </a:rPr>
              <a:t>e</a:t>
            </a:r>
            <a:endParaRPr sz="2400" dirty="0">
              <a:solidFill>
                <a:srgbClr val="FF0000"/>
              </a:solidFill>
              <a:latin typeface="Times New Roman"/>
              <a:cs typeface="Times New Roman"/>
            </a:endParaRPr>
          </a:p>
        </p:txBody>
      </p:sp>
      <p:sp>
        <p:nvSpPr>
          <p:cNvPr id="7" name="object 7"/>
          <p:cNvSpPr txBox="1"/>
          <p:nvPr/>
        </p:nvSpPr>
        <p:spPr>
          <a:xfrm>
            <a:off x="545537" y="4568190"/>
            <a:ext cx="7753350" cy="802640"/>
          </a:xfrm>
          <a:prstGeom prst="rect">
            <a:avLst/>
          </a:prstGeom>
        </p:spPr>
        <p:txBody>
          <a:bodyPr vert="horz" wrap="square" lIns="0" tIns="0" rIns="0" bIns="0" rtlCol="0">
            <a:spAutoFit/>
          </a:bodyPr>
          <a:lstStyle/>
          <a:p>
            <a:pPr marL="12700" marR="5080">
              <a:lnSpc>
                <a:spcPct val="148500"/>
              </a:lnSpc>
            </a:pPr>
            <a:r>
              <a:rPr sz="2200" dirty="0">
                <a:latin typeface="Times New Roman"/>
                <a:cs typeface="Times New Roman"/>
              </a:rPr>
              <a:t>N</a:t>
            </a:r>
            <a:r>
              <a:rPr sz="2200" spc="-10" dirty="0">
                <a:latin typeface="Times New Roman"/>
                <a:cs typeface="Times New Roman"/>
              </a:rPr>
              <a:t>ot </a:t>
            </a:r>
            <a:r>
              <a:rPr sz="2200" spc="-15" dirty="0">
                <a:latin typeface="Times New Roman"/>
                <a:cs typeface="Times New Roman"/>
              </a:rPr>
              <a:t>eve</a:t>
            </a:r>
            <a:r>
              <a:rPr sz="2200" dirty="0">
                <a:latin typeface="Times New Roman"/>
                <a:cs typeface="Times New Roman"/>
              </a:rPr>
              <a:t>ry </a:t>
            </a:r>
            <a:r>
              <a:rPr sz="2200" spc="-15" dirty="0">
                <a:latin typeface="Times New Roman"/>
                <a:cs typeface="Times New Roman"/>
              </a:rPr>
              <a:t>c</a:t>
            </a:r>
            <a:r>
              <a:rPr sz="2200" spc="-10" dirty="0">
                <a:latin typeface="Times New Roman"/>
                <a:cs typeface="Times New Roman"/>
              </a:rPr>
              <a:t>orr</a:t>
            </a:r>
            <a:r>
              <a:rPr sz="2200" spc="-15" dirty="0">
                <a:latin typeface="Times New Roman"/>
                <a:cs typeface="Times New Roman"/>
              </a:rPr>
              <a:t>e</a:t>
            </a:r>
            <a:r>
              <a:rPr sz="2200" spc="-10" dirty="0">
                <a:latin typeface="Times New Roman"/>
                <a:cs typeface="Times New Roman"/>
              </a:rPr>
              <a:t>l</a:t>
            </a:r>
            <a:r>
              <a:rPr sz="2200" spc="-15" dirty="0">
                <a:latin typeface="Times New Roman"/>
                <a:cs typeface="Times New Roman"/>
              </a:rPr>
              <a:t>a</a:t>
            </a:r>
            <a:r>
              <a:rPr sz="2200" spc="-10" dirty="0">
                <a:latin typeface="Times New Roman"/>
                <a:cs typeface="Times New Roman"/>
              </a:rPr>
              <a:t>t</a:t>
            </a:r>
            <a:r>
              <a:rPr sz="2200" spc="-15" dirty="0">
                <a:latin typeface="Times New Roman"/>
                <a:cs typeface="Times New Roman"/>
              </a:rPr>
              <a:t>e</a:t>
            </a:r>
            <a:r>
              <a:rPr sz="2200" dirty="0">
                <a:latin typeface="Times New Roman"/>
                <a:cs typeface="Times New Roman"/>
              </a:rPr>
              <a:t>d </a:t>
            </a:r>
            <a:r>
              <a:rPr sz="2200" spc="-15" dirty="0">
                <a:latin typeface="Times New Roman"/>
                <a:cs typeface="Times New Roman"/>
              </a:rPr>
              <a:t>e</a:t>
            </a:r>
            <a:r>
              <a:rPr sz="2200" spc="-10" dirty="0">
                <a:latin typeface="Times New Roman"/>
                <a:cs typeface="Times New Roman"/>
              </a:rPr>
              <a:t>quilibrium</a:t>
            </a:r>
            <a:r>
              <a:rPr sz="2200" dirty="0">
                <a:latin typeface="Times New Roman"/>
                <a:cs typeface="Times New Roman"/>
              </a:rPr>
              <a:t> </a:t>
            </a:r>
            <a:r>
              <a:rPr sz="2200" spc="-10" dirty="0">
                <a:latin typeface="Times New Roman"/>
                <a:cs typeface="Times New Roman"/>
              </a:rPr>
              <a:t>i</a:t>
            </a:r>
            <a:r>
              <a:rPr sz="2200" dirty="0">
                <a:latin typeface="Times New Roman"/>
                <a:cs typeface="Times New Roman"/>
              </a:rPr>
              <a:t>s </a:t>
            </a:r>
            <a:r>
              <a:rPr sz="2200" spc="-15" dirty="0">
                <a:latin typeface="Times New Roman"/>
                <a:cs typeface="Times New Roman"/>
              </a:rPr>
              <a:t>e</a:t>
            </a:r>
            <a:r>
              <a:rPr sz="2200" spc="-10" dirty="0">
                <a:latin typeface="Times New Roman"/>
                <a:cs typeface="Times New Roman"/>
              </a:rPr>
              <a:t>quiv</a:t>
            </a:r>
            <a:r>
              <a:rPr sz="2200" spc="-15" dirty="0">
                <a:latin typeface="Times New Roman"/>
                <a:cs typeface="Times New Roman"/>
              </a:rPr>
              <a:t>a</a:t>
            </a:r>
            <a:r>
              <a:rPr sz="2200" spc="-10" dirty="0">
                <a:latin typeface="Times New Roman"/>
                <a:cs typeface="Times New Roman"/>
              </a:rPr>
              <a:t>l</a:t>
            </a:r>
            <a:r>
              <a:rPr sz="2200" spc="-15" dirty="0">
                <a:latin typeface="Times New Roman"/>
                <a:cs typeface="Times New Roman"/>
              </a:rPr>
              <a:t>e</a:t>
            </a:r>
            <a:r>
              <a:rPr sz="2200" spc="-10" dirty="0">
                <a:latin typeface="Times New Roman"/>
                <a:cs typeface="Times New Roman"/>
              </a:rPr>
              <a:t>nt</a:t>
            </a:r>
            <a:r>
              <a:rPr sz="2200" dirty="0">
                <a:latin typeface="Times New Roman"/>
                <a:cs typeface="Times New Roman"/>
              </a:rPr>
              <a:t> </a:t>
            </a:r>
            <a:r>
              <a:rPr sz="2200" spc="-10" dirty="0">
                <a:latin typeface="Times New Roman"/>
                <a:cs typeface="Times New Roman"/>
              </a:rPr>
              <a:t>t</a:t>
            </a:r>
            <a:r>
              <a:rPr sz="2200" dirty="0">
                <a:latin typeface="Times New Roman"/>
                <a:cs typeface="Times New Roman"/>
              </a:rPr>
              <a:t>o </a:t>
            </a:r>
            <a:r>
              <a:rPr sz="2200" spc="-10" dirty="0">
                <a:latin typeface="Times New Roman"/>
                <a:cs typeface="Times New Roman"/>
              </a:rPr>
              <a:t>a</a:t>
            </a:r>
            <a:r>
              <a:rPr sz="2200" spc="-5" dirty="0">
                <a:latin typeface="Times New Roman"/>
                <a:cs typeface="Times New Roman"/>
              </a:rPr>
              <a:t> </a:t>
            </a:r>
            <a:r>
              <a:rPr sz="2200" dirty="0">
                <a:latin typeface="Times New Roman"/>
                <a:cs typeface="Times New Roman"/>
              </a:rPr>
              <a:t>N</a:t>
            </a:r>
            <a:r>
              <a:rPr sz="2200" spc="-15" dirty="0">
                <a:latin typeface="Times New Roman"/>
                <a:cs typeface="Times New Roman"/>
              </a:rPr>
              <a:t>a</a:t>
            </a:r>
            <a:r>
              <a:rPr sz="2200" dirty="0">
                <a:latin typeface="Times New Roman"/>
                <a:cs typeface="Times New Roman"/>
              </a:rPr>
              <a:t>sh </a:t>
            </a:r>
            <a:r>
              <a:rPr sz="2200" spc="-15" dirty="0">
                <a:latin typeface="Times New Roman"/>
                <a:cs typeface="Times New Roman"/>
              </a:rPr>
              <a:t>e</a:t>
            </a:r>
            <a:r>
              <a:rPr sz="2200" spc="-10" dirty="0">
                <a:latin typeface="Times New Roman"/>
                <a:cs typeface="Times New Roman"/>
              </a:rPr>
              <a:t>quilibrium</a:t>
            </a:r>
            <a:r>
              <a:rPr sz="2200" dirty="0">
                <a:latin typeface="Times New Roman"/>
                <a:cs typeface="Times New Roman"/>
              </a:rPr>
              <a:t>. </a:t>
            </a:r>
            <a:r>
              <a:rPr sz="2200" spc="-15" dirty="0">
                <a:latin typeface="Times New Roman"/>
                <a:cs typeface="Times New Roman"/>
              </a:rPr>
              <a:t>T</a:t>
            </a:r>
            <a:r>
              <a:rPr sz="2200" dirty="0">
                <a:latin typeface="Times New Roman"/>
                <a:cs typeface="Times New Roman"/>
              </a:rPr>
              <a:t>hus </a:t>
            </a:r>
            <a:r>
              <a:rPr sz="2200" spc="-15" dirty="0">
                <a:latin typeface="Times New Roman"/>
                <a:cs typeface="Times New Roman"/>
              </a:rPr>
              <a:t>c</a:t>
            </a:r>
            <a:r>
              <a:rPr sz="2200" spc="-10" dirty="0">
                <a:latin typeface="Times New Roman"/>
                <a:cs typeface="Times New Roman"/>
              </a:rPr>
              <a:t>orr</a:t>
            </a:r>
            <a:r>
              <a:rPr sz="2200" spc="-15" dirty="0">
                <a:latin typeface="Times New Roman"/>
                <a:cs typeface="Times New Roman"/>
              </a:rPr>
              <a:t>e</a:t>
            </a:r>
            <a:r>
              <a:rPr sz="2200" spc="-10" dirty="0">
                <a:latin typeface="Times New Roman"/>
                <a:cs typeface="Times New Roman"/>
              </a:rPr>
              <a:t>l</a:t>
            </a:r>
            <a:r>
              <a:rPr sz="2200" spc="-15" dirty="0">
                <a:latin typeface="Times New Roman"/>
                <a:cs typeface="Times New Roman"/>
              </a:rPr>
              <a:t>a</a:t>
            </a:r>
            <a:r>
              <a:rPr sz="2200" spc="-10" dirty="0">
                <a:latin typeface="Times New Roman"/>
                <a:cs typeface="Times New Roman"/>
              </a:rPr>
              <a:t>t</a:t>
            </a:r>
            <a:r>
              <a:rPr sz="2200" spc="-15" dirty="0">
                <a:latin typeface="Times New Roman"/>
                <a:cs typeface="Times New Roman"/>
              </a:rPr>
              <a:t>e</a:t>
            </a:r>
            <a:r>
              <a:rPr sz="2200" dirty="0">
                <a:latin typeface="Times New Roman"/>
                <a:cs typeface="Times New Roman"/>
              </a:rPr>
              <a:t>d </a:t>
            </a:r>
            <a:r>
              <a:rPr sz="2200" spc="-15" dirty="0">
                <a:latin typeface="Times New Roman"/>
                <a:cs typeface="Times New Roman"/>
              </a:rPr>
              <a:t>e</a:t>
            </a:r>
            <a:r>
              <a:rPr sz="2200" spc="-10" dirty="0">
                <a:latin typeface="Times New Roman"/>
                <a:cs typeface="Times New Roman"/>
              </a:rPr>
              <a:t>quilibrium</a:t>
            </a:r>
            <a:r>
              <a:rPr sz="2200" dirty="0">
                <a:latin typeface="Times New Roman"/>
                <a:cs typeface="Times New Roman"/>
              </a:rPr>
              <a:t> </a:t>
            </a:r>
            <a:r>
              <a:rPr sz="2200" spc="-10" dirty="0">
                <a:latin typeface="Times New Roman"/>
                <a:cs typeface="Times New Roman"/>
              </a:rPr>
              <a:t>i</a:t>
            </a:r>
            <a:r>
              <a:rPr sz="2200" dirty="0">
                <a:latin typeface="Times New Roman"/>
                <a:cs typeface="Times New Roman"/>
              </a:rPr>
              <a:t>s </a:t>
            </a:r>
            <a:r>
              <a:rPr sz="2200" spc="-10" dirty="0">
                <a:latin typeface="Times New Roman"/>
                <a:cs typeface="Times New Roman"/>
              </a:rPr>
              <a:t>a</a:t>
            </a:r>
            <a:r>
              <a:rPr sz="2200" spc="-5" dirty="0">
                <a:latin typeface="Times New Roman"/>
                <a:cs typeface="Times New Roman"/>
              </a:rPr>
              <a:t> </a:t>
            </a:r>
            <a:r>
              <a:rPr sz="2200" dirty="0">
                <a:latin typeface="Times New Roman"/>
                <a:cs typeface="Times New Roman"/>
              </a:rPr>
              <a:t>w</a:t>
            </a:r>
            <a:r>
              <a:rPr sz="2200" spc="-15" dirty="0">
                <a:latin typeface="Times New Roman"/>
                <a:cs typeface="Times New Roman"/>
              </a:rPr>
              <a:t>eake</a:t>
            </a:r>
            <a:r>
              <a:rPr sz="2200" dirty="0">
                <a:latin typeface="Times New Roman"/>
                <a:cs typeface="Times New Roman"/>
              </a:rPr>
              <a:t>r </a:t>
            </a:r>
            <a:r>
              <a:rPr sz="2200" spc="-10" dirty="0">
                <a:latin typeface="Times New Roman"/>
                <a:cs typeface="Times New Roman"/>
              </a:rPr>
              <a:t>noti</a:t>
            </a:r>
            <a:r>
              <a:rPr sz="2200" dirty="0">
                <a:latin typeface="Times New Roman"/>
                <a:cs typeface="Times New Roman"/>
              </a:rPr>
              <a:t>on </a:t>
            </a:r>
            <a:r>
              <a:rPr sz="2200" spc="-10" dirty="0">
                <a:latin typeface="Times New Roman"/>
                <a:cs typeface="Times New Roman"/>
              </a:rPr>
              <a:t>th</a:t>
            </a:r>
            <a:r>
              <a:rPr sz="2200" spc="-15" dirty="0">
                <a:latin typeface="Times New Roman"/>
                <a:cs typeface="Times New Roman"/>
              </a:rPr>
              <a:t>a</a:t>
            </a:r>
            <a:r>
              <a:rPr sz="2200" dirty="0">
                <a:latin typeface="Times New Roman"/>
                <a:cs typeface="Times New Roman"/>
              </a:rPr>
              <a:t>n N</a:t>
            </a:r>
            <a:r>
              <a:rPr sz="2200" spc="-15" dirty="0">
                <a:latin typeface="Times New Roman"/>
                <a:cs typeface="Times New Roman"/>
              </a:rPr>
              <a:t>a</a:t>
            </a:r>
            <a:r>
              <a:rPr sz="2200" dirty="0">
                <a:latin typeface="Times New Roman"/>
                <a:cs typeface="Times New Roman"/>
              </a:rPr>
              <a:t>sh.</a:t>
            </a:r>
          </a:p>
        </p:txBody>
      </p:sp>
      <p:sp>
        <p:nvSpPr>
          <p:cNvPr id="8" name="Slide Number Placeholder 8">
            <a:extLst>
              <a:ext uri="{FF2B5EF4-FFF2-40B4-BE49-F238E27FC236}">
                <a16:creationId xmlns:a16="http://schemas.microsoft.com/office/drawing/2014/main" id="{14A81C2A-522F-A86C-95D0-EDC7060325E2}"/>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45</a:t>
            </a:fld>
            <a:r>
              <a:rPr lang="en-US" sz="2000" dirty="0">
                <a:solidFill>
                  <a:prstClr val="black"/>
                </a:solidFill>
                <a:latin typeface="Comic Sans MS"/>
                <a:sym typeface="Comic Sans MS"/>
              </a:rPr>
              <a:t>/46</a:t>
            </a:r>
          </a:p>
        </p:txBody>
      </p:sp>
      <p:sp>
        <p:nvSpPr>
          <p:cNvPr id="9" name="Footer Placeholder 9">
            <a:extLst>
              <a:ext uri="{FF2B5EF4-FFF2-40B4-BE49-F238E27FC236}">
                <a16:creationId xmlns:a16="http://schemas.microsoft.com/office/drawing/2014/main" id="{96C83E85-A9C7-203E-515D-BE3384B25EA2}"/>
              </a:ext>
            </a:extLst>
          </p:cNvPr>
          <p:cNvSpPr>
            <a:spLocks noGrp="1"/>
          </p:cNvSpPr>
          <p:nvPr>
            <p:ph type="ftr" sz="quarter" idx="5"/>
          </p:nvPr>
        </p:nvSpPr>
        <p:spPr>
          <a:xfrm>
            <a:off x="3108960" y="6515100"/>
            <a:ext cx="2926079" cy="307777"/>
          </a:xfrm>
        </p:spPr>
        <p:txBody>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rPr>
              <a:t>Week-7</a:t>
            </a:r>
          </a:p>
        </p:txBody>
      </p:sp>
      <p:sp>
        <p:nvSpPr>
          <p:cNvPr id="10" name="Rectangle 9">
            <a:extLst>
              <a:ext uri="{FF2B5EF4-FFF2-40B4-BE49-F238E27FC236}">
                <a16:creationId xmlns:a16="http://schemas.microsoft.com/office/drawing/2014/main" id="{F7D1EDDB-9AC8-EE9F-D163-EAD3317D00B6}"/>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11" name="Rectangle 10">
            <a:extLst>
              <a:ext uri="{FF2B5EF4-FFF2-40B4-BE49-F238E27FC236}">
                <a16:creationId xmlns:a16="http://schemas.microsoft.com/office/drawing/2014/main" id="{6C28196B-2C52-B25F-D8EA-0E45EE28FEE2}"/>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23029687-1C27-B416-4535-80BE463CECAB}"/>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031568"/>
            <a:ext cx="9144000" cy="5016500"/>
          </a:xfrm>
          <a:custGeom>
            <a:avLst/>
            <a:gdLst/>
            <a:ahLst/>
            <a:cxnLst/>
            <a:rect l="l" t="t" r="r" b="b"/>
            <a:pathLst>
              <a:path w="9144000" h="5016500">
                <a:moveTo>
                  <a:pt x="0" y="0"/>
                </a:moveTo>
                <a:lnTo>
                  <a:pt x="0" y="5015981"/>
                </a:lnTo>
                <a:lnTo>
                  <a:pt x="9144000" y="5015981"/>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1"/>
                </a:lnTo>
                <a:lnTo>
                  <a:pt x="107903" y="2102528"/>
                </a:lnTo>
                <a:lnTo>
                  <a:pt x="150829" y="2139351"/>
                </a:lnTo>
                <a:lnTo>
                  <a:pt x="199101" y="2169311"/>
                </a:lnTo>
                <a:lnTo>
                  <a:pt x="201645" y="2170506"/>
                </a:lnTo>
                <a:lnTo>
                  <a:pt x="6100240" y="2170506"/>
                </a:lnTo>
                <a:lnTo>
                  <a:pt x="6100240" y="0"/>
                </a:lnTo>
                <a:close/>
              </a:path>
            </a:pathLst>
          </a:custGeom>
          <a:solidFill>
            <a:srgbClr val="E7E7E7"/>
          </a:solidFill>
        </p:spPr>
        <p:txBody>
          <a:bodyPr wrap="square" lIns="0" tIns="0" rIns="0" bIns="0" rtlCol="0"/>
          <a:lstStyle/>
          <a:p>
            <a:endParaRPr/>
          </a:p>
        </p:txBody>
      </p:sp>
      <p:sp>
        <p:nvSpPr>
          <p:cNvPr id="4" name="object 4"/>
          <p:cNvSpPr/>
          <p:nvPr/>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close/>
              </a:path>
            </a:pathLst>
          </a:custGeom>
          <a:solidFill>
            <a:srgbClr val="E7E7E7"/>
          </a:solidFill>
        </p:spPr>
        <p:txBody>
          <a:bodyPr wrap="square" lIns="0" tIns="0" rIns="0" bIns="0" rtlCol="0"/>
          <a:lstStyle/>
          <a:p>
            <a:endParaRPr/>
          </a:p>
        </p:txBody>
      </p:sp>
      <p:sp>
        <p:nvSpPr>
          <p:cNvPr id="5" name="object 5"/>
          <p:cNvSpPr/>
          <p:nvPr/>
        </p:nvSpPr>
        <p:spPr>
          <a:xfrm>
            <a:off x="0" y="981075"/>
            <a:ext cx="9131300" cy="0"/>
          </a:xfrm>
          <a:custGeom>
            <a:avLst/>
            <a:gdLst/>
            <a:ahLst/>
            <a:cxnLst/>
            <a:rect l="l" t="t" r="r" b="b"/>
            <a:pathLst>
              <a:path w="9131300">
                <a:moveTo>
                  <a:pt x="0" y="0"/>
                </a:moveTo>
                <a:lnTo>
                  <a:pt x="9131300" y="0"/>
                </a:lnTo>
              </a:path>
            </a:pathLst>
          </a:custGeom>
          <a:ln w="88900">
            <a:solidFill>
              <a:srgbClr val="794A8C"/>
            </a:solidFill>
          </a:ln>
        </p:spPr>
        <p:txBody>
          <a:bodyPr wrap="square" lIns="0" tIns="0" rIns="0" bIns="0" rtlCol="0"/>
          <a:lstStyle/>
          <a:p>
            <a:endParaRPr/>
          </a:p>
        </p:txBody>
      </p:sp>
      <p:sp>
        <p:nvSpPr>
          <p:cNvPr id="6" name="object 6"/>
          <p:cNvSpPr txBox="1"/>
          <p:nvPr/>
        </p:nvSpPr>
        <p:spPr>
          <a:xfrm>
            <a:off x="314238" y="219831"/>
            <a:ext cx="9023662" cy="615553"/>
          </a:xfrm>
          <a:prstGeom prst="rect">
            <a:avLst/>
          </a:prstGeom>
        </p:spPr>
        <p:txBody>
          <a:bodyPr vert="horz" wrap="square" lIns="0" tIns="0" rIns="0" bIns="0" rtlCol="0">
            <a:spAutoFit/>
          </a:bodyPr>
          <a:lstStyle/>
          <a:p>
            <a:pPr marL="12700">
              <a:lnSpc>
                <a:spcPct val="100000"/>
              </a:lnSpc>
            </a:pPr>
            <a:r>
              <a:rPr lang="en-US" sz="4000" dirty="0">
                <a:solidFill>
                  <a:srgbClr val="FF0000"/>
                </a:solidFill>
              </a:rPr>
              <a:t>Self Study: </a:t>
            </a:r>
            <a:r>
              <a:rPr sz="3600" spc="-520" dirty="0">
                <a:latin typeface="Arial"/>
                <a:cs typeface="Arial"/>
              </a:rPr>
              <a:t>T</a:t>
            </a:r>
            <a:r>
              <a:rPr sz="3600" dirty="0">
                <a:latin typeface="Arial"/>
                <a:cs typeface="Arial"/>
              </a:rPr>
              <a:t>ake</a:t>
            </a:r>
            <a:r>
              <a:rPr sz="3600" spc="-5" dirty="0">
                <a:latin typeface="Arial"/>
                <a:cs typeface="Arial"/>
              </a:rPr>
              <a:t> </a:t>
            </a:r>
            <a:r>
              <a:rPr sz="3600" dirty="0">
                <a:latin typeface="Arial"/>
                <a:cs typeface="Arial"/>
              </a:rPr>
              <a:t>home</a:t>
            </a:r>
            <a:r>
              <a:rPr sz="3600" spc="-5" dirty="0">
                <a:latin typeface="Arial"/>
                <a:cs typeface="Arial"/>
              </a:rPr>
              <a:t> </a:t>
            </a:r>
            <a:r>
              <a:rPr sz="3600" dirty="0">
                <a:latin typeface="Arial"/>
                <a:cs typeface="Arial"/>
              </a:rPr>
              <a:t>lessons</a:t>
            </a:r>
          </a:p>
        </p:txBody>
      </p:sp>
      <p:sp>
        <p:nvSpPr>
          <p:cNvPr id="7" name="object 7"/>
          <p:cNvSpPr txBox="1"/>
          <p:nvPr/>
        </p:nvSpPr>
        <p:spPr>
          <a:xfrm>
            <a:off x="315589" y="911935"/>
            <a:ext cx="267908" cy="615553"/>
          </a:xfrm>
          <a:prstGeom prst="rect">
            <a:avLst/>
          </a:prstGeom>
        </p:spPr>
        <p:txBody>
          <a:bodyPr vert="horz" wrap="square" lIns="0" tIns="0" rIns="0" bIns="0" rtlCol="0">
            <a:spAutoFit/>
          </a:bodyPr>
          <a:lstStyle/>
          <a:p>
            <a:pPr marL="12700">
              <a:lnSpc>
                <a:spcPct val="100000"/>
              </a:lnSpc>
            </a:pPr>
            <a:r>
              <a:rPr sz="4000" spc="195" dirty="0">
                <a:latin typeface="Arial"/>
                <a:cs typeface="Arial"/>
              </a:rPr>
              <a:t>•</a:t>
            </a:r>
            <a:endParaRPr sz="4000" dirty="0">
              <a:latin typeface="Arial"/>
              <a:cs typeface="Arial"/>
            </a:endParaRPr>
          </a:p>
        </p:txBody>
      </p:sp>
      <p:sp>
        <p:nvSpPr>
          <p:cNvPr id="8" name="object 8"/>
          <p:cNvSpPr txBox="1"/>
          <p:nvPr/>
        </p:nvSpPr>
        <p:spPr>
          <a:xfrm>
            <a:off x="664315" y="1143000"/>
            <a:ext cx="8333105" cy="469900"/>
          </a:xfrm>
          <a:prstGeom prst="rect">
            <a:avLst/>
          </a:prstGeom>
        </p:spPr>
        <p:txBody>
          <a:bodyPr vert="horz" wrap="square" lIns="0" tIns="0" rIns="0" bIns="0" rtlCol="0">
            <a:spAutoFit/>
          </a:bodyPr>
          <a:lstStyle/>
          <a:p>
            <a:pPr marL="12700" marR="5080">
              <a:lnSpc>
                <a:spcPts val="1800"/>
              </a:lnSpc>
            </a:pPr>
            <a:r>
              <a:rPr sz="1700" spc="-40" dirty="0">
                <a:latin typeface="Arial"/>
                <a:cs typeface="Arial"/>
              </a:rPr>
              <a:t>The </a:t>
            </a:r>
            <a:r>
              <a:rPr sz="1700" spc="35" dirty="0">
                <a:latin typeface="Arial"/>
                <a:cs typeface="Arial"/>
              </a:rPr>
              <a:t>co</a:t>
            </a:r>
            <a:r>
              <a:rPr sz="1700" spc="-15" dirty="0">
                <a:latin typeface="Arial"/>
                <a:cs typeface="Arial"/>
              </a:rPr>
              <a:t>r</a:t>
            </a:r>
            <a:r>
              <a:rPr sz="1700" dirty="0">
                <a:latin typeface="Arial"/>
                <a:cs typeface="Arial"/>
              </a:rPr>
              <a:t>e </a:t>
            </a:r>
            <a:r>
              <a:rPr sz="1700" spc="30" dirty="0">
                <a:latin typeface="Arial"/>
                <a:cs typeface="Arial"/>
              </a:rPr>
              <a:t>di</a:t>
            </a:r>
            <a:r>
              <a:rPr sz="1700" spc="-15" dirty="0">
                <a:latin typeface="Arial"/>
                <a:cs typeface="Arial"/>
              </a:rPr>
              <a:t>f</a:t>
            </a:r>
            <a:r>
              <a:rPr sz="1700" dirty="0">
                <a:latin typeface="Arial"/>
                <a:cs typeface="Arial"/>
              </a:rPr>
              <a:t>fi</a:t>
            </a:r>
            <a:r>
              <a:rPr sz="1700" spc="10" dirty="0">
                <a:latin typeface="Arial"/>
                <a:cs typeface="Arial"/>
              </a:rPr>
              <a:t>culty</a:t>
            </a:r>
            <a:r>
              <a:rPr sz="1700" dirty="0">
                <a:latin typeface="Arial"/>
                <a:cs typeface="Arial"/>
              </a:rPr>
              <a:t> with fi</a:t>
            </a:r>
            <a:r>
              <a:rPr sz="1700" spc="30" dirty="0">
                <a:latin typeface="Arial"/>
                <a:cs typeface="Arial"/>
              </a:rPr>
              <a:t>nding</a:t>
            </a:r>
            <a:r>
              <a:rPr sz="1700" dirty="0">
                <a:latin typeface="Arial"/>
                <a:cs typeface="Arial"/>
              </a:rPr>
              <a:t> the </a:t>
            </a:r>
            <a:r>
              <a:rPr sz="1700" spc="5" dirty="0">
                <a:latin typeface="Arial"/>
                <a:cs typeface="Arial"/>
              </a:rPr>
              <a:t>optimal</a:t>
            </a:r>
            <a:r>
              <a:rPr sz="1700" dirty="0">
                <a:latin typeface="Arial"/>
                <a:cs typeface="Arial"/>
              </a:rPr>
              <a:t> </a:t>
            </a:r>
            <a:r>
              <a:rPr sz="1700" spc="5" dirty="0">
                <a:latin typeface="Arial"/>
                <a:cs typeface="Arial"/>
              </a:rPr>
              <a:t>strategy</a:t>
            </a:r>
            <a:r>
              <a:rPr sz="1700" dirty="0">
                <a:latin typeface="Arial"/>
                <a:cs typeface="Arial"/>
              </a:rPr>
              <a:t> is that </a:t>
            </a:r>
            <a:r>
              <a:rPr sz="1700" spc="15" dirty="0">
                <a:latin typeface="Arial"/>
                <a:cs typeface="Arial"/>
              </a:rPr>
              <a:t>desirable</a:t>
            </a:r>
            <a:r>
              <a:rPr sz="1700" dirty="0">
                <a:latin typeface="Arial"/>
                <a:cs typeface="Arial"/>
              </a:rPr>
              <a:t> </a:t>
            </a:r>
            <a:r>
              <a:rPr sz="1700" spc="5" dirty="0">
                <a:latin typeface="Arial"/>
                <a:cs typeface="Arial"/>
              </a:rPr>
              <a:t>actions</a:t>
            </a:r>
            <a:r>
              <a:rPr sz="1700" dirty="0">
                <a:latin typeface="Arial"/>
                <a:cs typeface="Arial"/>
              </a:rPr>
              <a:t> </a:t>
            </a:r>
            <a:r>
              <a:rPr sz="1700" spc="35" dirty="0">
                <a:latin typeface="Arial"/>
                <a:cs typeface="Arial"/>
              </a:rPr>
              <a:t>depend</a:t>
            </a:r>
            <a:r>
              <a:rPr sz="1700" dirty="0">
                <a:latin typeface="Arial"/>
                <a:cs typeface="Arial"/>
              </a:rPr>
              <a:t> on the </a:t>
            </a:r>
            <a:r>
              <a:rPr sz="1700" spc="5" dirty="0">
                <a:latin typeface="Arial"/>
                <a:cs typeface="Arial"/>
              </a:rPr>
              <a:t>actions</a:t>
            </a:r>
            <a:r>
              <a:rPr sz="1700" dirty="0">
                <a:latin typeface="Arial"/>
                <a:cs typeface="Arial"/>
              </a:rPr>
              <a:t> of other </a:t>
            </a:r>
            <a:r>
              <a:rPr sz="1700" spc="5" dirty="0">
                <a:latin typeface="Arial"/>
                <a:cs typeface="Arial"/>
              </a:rPr>
              <a:t>players.</a:t>
            </a:r>
            <a:r>
              <a:rPr sz="1700" dirty="0">
                <a:latin typeface="Arial"/>
                <a:cs typeface="Arial"/>
              </a:rPr>
              <a:t> </a:t>
            </a:r>
            <a:r>
              <a:rPr sz="1700" spc="-135" dirty="0">
                <a:latin typeface="Arial"/>
                <a:cs typeface="Arial"/>
              </a:rPr>
              <a:t>W</a:t>
            </a:r>
            <a:r>
              <a:rPr sz="1700" dirty="0">
                <a:latin typeface="Arial"/>
                <a:cs typeface="Arial"/>
              </a:rPr>
              <a:t>e thus have </a:t>
            </a:r>
            <a:r>
              <a:rPr sz="1700" spc="30" dirty="0">
                <a:latin typeface="Arial"/>
                <a:cs typeface="Arial"/>
              </a:rPr>
              <a:t>ci</a:t>
            </a:r>
            <a:r>
              <a:rPr sz="1700" spc="-10" dirty="0">
                <a:latin typeface="Arial"/>
                <a:cs typeface="Arial"/>
              </a:rPr>
              <a:t>r</a:t>
            </a:r>
            <a:r>
              <a:rPr sz="1700" spc="10" dirty="0">
                <a:latin typeface="Arial"/>
                <a:cs typeface="Arial"/>
              </a:rPr>
              <a:t>cular</a:t>
            </a:r>
            <a:r>
              <a:rPr sz="1700" dirty="0">
                <a:latin typeface="Arial"/>
                <a:cs typeface="Arial"/>
              </a:rPr>
              <a:t> </a:t>
            </a:r>
            <a:r>
              <a:rPr sz="1700" spc="25" dirty="0">
                <a:latin typeface="Arial"/>
                <a:cs typeface="Arial"/>
              </a:rPr>
              <a:t>dependencies.</a:t>
            </a:r>
            <a:endParaRPr sz="1700">
              <a:latin typeface="Arial"/>
              <a:cs typeface="Arial"/>
            </a:endParaRPr>
          </a:p>
        </p:txBody>
      </p:sp>
      <p:sp>
        <p:nvSpPr>
          <p:cNvPr id="9" name="object 9"/>
          <p:cNvSpPr txBox="1"/>
          <p:nvPr/>
        </p:nvSpPr>
        <p:spPr>
          <a:xfrm>
            <a:off x="327660" y="1600200"/>
            <a:ext cx="106680" cy="615553"/>
          </a:xfrm>
          <a:prstGeom prst="rect">
            <a:avLst/>
          </a:prstGeom>
        </p:spPr>
        <p:txBody>
          <a:bodyPr vert="horz" wrap="square" lIns="0" tIns="0" rIns="0" bIns="0" rtlCol="0">
            <a:spAutoFit/>
          </a:bodyPr>
          <a:lstStyle>
            <a:defPPr>
              <a:defRPr lang="en-US"/>
            </a:defPPr>
            <a:lvl1pPr marL="12700">
              <a:lnSpc>
                <a:spcPct val="100000"/>
              </a:lnSpc>
              <a:defRPr sz="4000" spc="195">
                <a:latin typeface="Arial"/>
                <a:cs typeface="Arial"/>
              </a:defRPr>
            </a:lvl1pPr>
          </a:lstStyle>
          <a:p>
            <a:r>
              <a:rPr dirty="0"/>
              <a:t>•</a:t>
            </a:r>
          </a:p>
        </p:txBody>
      </p:sp>
      <p:sp>
        <p:nvSpPr>
          <p:cNvPr id="10" name="object 10"/>
          <p:cNvSpPr txBox="1"/>
          <p:nvPr/>
        </p:nvSpPr>
        <p:spPr>
          <a:xfrm>
            <a:off x="664315" y="1828800"/>
            <a:ext cx="8129905" cy="469900"/>
          </a:xfrm>
          <a:prstGeom prst="rect">
            <a:avLst/>
          </a:prstGeom>
        </p:spPr>
        <p:txBody>
          <a:bodyPr vert="horz" wrap="square" lIns="0" tIns="0" rIns="0" bIns="0" rtlCol="0">
            <a:spAutoFit/>
          </a:bodyPr>
          <a:lstStyle/>
          <a:p>
            <a:pPr marL="12700" marR="5080">
              <a:lnSpc>
                <a:spcPts val="1800"/>
              </a:lnSpc>
            </a:pPr>
            <a:r>
              <a:rPr sz="1700" dirty="0">
                <a:latin typeface="Arial"/>
                <a:cs typeface="Arial"/>
              </a:rPr>
              <a:t>If a </a:t>
            </a:r>
            <a:r>
              <a:rPr sz="1700" spc="15" dirty="0">
                <a:latin typeface="Arial"/>
                <a:cs typeface="Arial"/>
              </a:rPr>
              <a:t>player knew the </a:t>
            </a:r>
            <a:r>
              <a:rPr sz="1700" spc="5" dirty="0">
                <a:latin typeface="Arial"/>
                <a:cs typeface="Arial"/>
              </a:rPr>
              <a:t>actions of all other players </a:t>
            </a:r>
            <a:r>
              <a:rPr sz="1700" spc="15" dirty="0">
                <a:latin typeface="Arial"/>
                <a:cs typeface="Arial"/>
              </a:rPr>
              <a:t>(and the payo</a:t>
            </a:r>
            <a:r>
              <a:rPr sz="1700" spc="-30" dirty="0">
                <a:latin typeface="Arial"/>
                <a:cs typeface="Arial"/>
              </a:rPr>
              <a:t>f</a:t>
            </a:r>
            <a:r>
              <a:rPr sz="1700" dirty="0">
                <a:latin typeface="Arial"/>
                <a:cs typeface="Arial"/>
              </a:rPr>
              <a:t>f </a:t>
            </a:r>
            <a:r>
              <a:rPr sz="1700" spc="5" dirty="0">
                <a:latin typeface="Arial"/>
                <a:cs typeface="Arial"/>
              </a:rPr>
              <a:t>structu</a:t>
            </a:r>
            <a:r>
              <a:rPr sz="1700" spc="-30" dirty="0">
                <a:latin typeface="Arial"/>
                <a:cs typeface="Arial"/>
              </a:rPr>
              <a:t>r</a:t>
            </a:r>
            <a:r>
              <a:rPr sz="1700" dirty="0">
                <a:latin typeface="Arial"/>
                <a:cs typeface="Arial"/>
              </a:rPr>
              <a:t>e), they </a:t>
            </a:r>
            <a:r>
              <a:rPr sz="1700" spc="30" dirty="0">
                <a:latin typeface="Arial"/>
                <a:cs typeface="Arial"/>
              </a:rPr>
              <a:t>could</a:t>
            </a:r>
            <a:r>
              <a:rPr sz="1700" spc="15" dirty="0">
                <a:latin typeface="Arial"/>
                <a:cs typeface="Arial"/>
              </a:rPr>
              <a:t> </a:t>
            </a:r>
            <a:r>
              <a:rPr sz="1700" spc="5" dirty="0">
                <a:latin typeface="Arial"/>
                <a:cs typeface="Arial"/>
              </a:rPr>
              <a:t>simply</a:t>
            </a:r>
            <a:r>
              <a:rPr sz="1700" dirty="0">
                <a:latin typeface="Arial"/>
                <a:cs typeface="Arial"/>
              </a:rPr>
              <a:t> </a:t>
            </a:r>
            <a:r>
              <a:rPr sz="1700" spc="5" dirty="0">
                <a:latin typeface="Arial"/>
                <a:cs typeface="Arial"/>
              </a:rPr>
              <a:t>choose</a:t>
            </a:r>
            <a:r>
              <a:rPr sz="1700" dirty="0">
                <a:latin typeface="Arial"/>
                <a:cs typeface="Arial"/>
              </a:rPr>
              <a:t> a </a:t>
            </a:r>
            <a:r>
              <a:rPr sz="1700" spc="30" dirty="0">
                <a:latin typeface="Arial"/>
                <a:cs typeface="Arial"/>
              </a:rPr>
              <a:t>“best</a:t>
            </a:r>
            <a:r>
              <a:rPr sz="1700" dirty="0">
                <a:latin typeface="Arial"/>
                <a:cs typeface="Arial"/>
              </a:rPr>
              <a:t> </a:t>
            </a:r>
            <a:r>
              <a:rPr sz="1700" spc="-35" dirty="0">
                <a:latin typeface="Arial"/>
                <a:cs typeface="Arial"/>
              </a:rPr>
              <a:t>r</a:t>
            </a:r>
            <a:r>
              <a:rPr sz="1700" spc="15" dirty="0">
                <a:latin typeface="Arial"/>
                <a:cs typeface="Arial"/>
              </a:rPr>
              <a:t>esponse.”</a:t>
            </a:r>
            <a:endParaRPr sz="1700">
              <a:latin typeface="Arial"/>
              <a:cs typeface="Arial"/>
            </a:endParaRPr>
          </a:p>
        </p:txBody>
      </p:sp>
      <p:sp>
        <p:nvSpPr>
          <p:cNvPr id="11" name="object 11"/>
          <p:cNvSpPr txBox="1"/>
          <p:nvPr/>
        </p:nvSpPr>
        <p:spPr>
          <a:xfrm>
            <a:off x="342863" y="2298700"/>
            <a:ext cx="106680" cy="615553"/>
          </a:xfrm>
          <a:prstGeom prst="rect">
            <a:avLst/>
          </a:prstGeom>
        </p:spPr>
        <p:txBody>
          <a:bodyPr vert="horz" wrap="square" lIns="0" tIns="0" rIns="0" bIns="0" rtlCol="0">
            <a:spAutoFit/>
          </a:bodyPr>
          <a:lstStyle>
            <a:defPPr>
              <a:defRPr lang="en-US"/>
            </a:defPPr>
            <a:lvl1pPr marL="12700">
              <a:lnSpc>
                <a:spcPct val="100000"/>
              </a:lnSpc>
              <a:defRPr sz="4000" spc="195">
                <a:latin typeface="Arial"/>
                <a:cs typeface="Arial"/>
              </a:defRPr>
            </a:lvl1pPr>
          </a:lstStyle>
          <a:p>
            <a:r>
              <a:rPr dirty="0"/>
              <a:t>•</a:t>
            </a:r>
          </a:p>
        </p:txBody>
      </p:sp>
      <p:sp>
        <p:nvSpPr>
          <p:cNvPr id="12" name="object 12"/>
          <p:cNvSpPr txBox="1"/>
          <p:nvPr/>
        </p:nvSpPr>
        <p:spPr>
          <a:xfrm>
            <a:off x="692537" y="2514600"/>
            <a:ext cx="7524750" cy="469900"/>
          </a:xfrm>
          <a:prstGeom prst="rect">
            <a:avLst/>
          </a:prstGeom>
        </p:spPr>
        <p:txBody>
          <a:bodyPr vert="horz" wrap="square" lIns="0" tIns="0" rIns="0" bIns="0" rtlCol="0">
            <a:spAutoFit/>
          </a:bodyPr>
          <a:lstStyle/>
          <a:p>
            <a:pPr marL="12700" marR="5080">
              <a:lnSpc>
                <a:spcPts val="1800"/>
              </a:lnSpc>
            </a:pPr>
            <a:r>
              <a:rPr sz="1700" dirty="0">
                <a:latin typeface="Arial"/>
                <a:cs typeface="Arial"/>
              </a:rPr>
              <a:t>A </a:t>
            </a:r>
            <a:r>
              <a:rPr sz="1700" spc="15" dirty="0">
                <a:latin typeface="Arial"/>
                <a:cs typeface="Arial"/>
              </a:rPr>
              <a:t>stable </a:t>
            </a:r>
            <a:r>
              <a:rPr sz="1700" spc="5" dirty="0">
                <a:latin typeface="Arial"/>
                <a:cs typeface="Arial"/>
              </a:rPr>
              <a:t>outcome </a:t>
            </a:r>
            <a:r>
              <a:rPr sz="1700" spc="15" dirty="0">
                <a:latin typeface="Arial"/>
                <a:cs typeface="Arial"/>
              </a:rPr>
              <a:t>would </a:t>
            </a:r>
            <a:r>
              <a:rPr sz="1700" spc="35" dirty="0">
                <a:latin typeface="Arial"/>
                <a:cs typeface="Arial"/>
              </a:rPr>
              <a:t>be if eve</a:t>
            </a:r>
            <a:r>
              <a:rPr sz="1700" spc="30" dirty="0">
                <a:latin typeface="Arial"/>
                <a:cs typeface="Arial"/>
              </a:rPr>
              <a:t>r</a:t>
            </a:r>
            <a:r>
              <a:rPr sz="1700" dirty="0">
                <a:latin typeface="Arial"/>
                <a:cs typeface="Arial"/>
              </a:rPr>
              <a:t>y </a:t>
            </a:r>
            <a:r>
              <a:rPr sz="1700" spc="15" dirty="0">
                <a:latin typeface="Arial"/>
                <a:cs typeface="Arial"/>
              </a:rPr>
              <a:t>player</a:t>
            </a:r>
            <a:r>
              <a:rPr sz="1700" dirty="0">
                <a:latin typeface="Arial"/>
                <a:cs typeface="Arial"/>
              </a:rPr>
              <a:t> </a:t>
            </a:r>
            <a:r>
              <a:rPr sz="1700" spc="15" dirty="0">
                <a:latin typeface="Arial"/>
                <a:cs typeface="Arial"/>
              </a:rPr>
              <a:t>plays</a:t>
            </a:r>
            <a:r>
              <a:rPr sz="1700" dirty="0">
                <a:latin typeface="Arial"/>
                <a:cs typeface="Arial"/>
              </a:rPr>
              <a:t> the </a:t>
            </a:r>
            <a:r>
              <a:rPr sz="1700" spc="15" dirty="0">
                <a:latin typeface="Arial"/>
                <a:cs typeface="Arial"/>
              </a:rPr>
              <a:t>best</a:t>
            </a:r>
            <a:r>
              <a:rPr sz="1700" dirty="0">
                <a:latin typeface="Arial"/>
                <a:cs typeface="Arial"/>
              </a:rPr>
              <a:t> </a:t>
            </a:r>
            <a:r>
              <a:rPr sz="1700" spc="-35" dirty="0">
                <a:latin typeface="Arial"/>
                <a:cs typeface="Arial"/>
              </a:rPr>
              <a:t>r</a:t>
            </a:r>
            <a:r>
              <a:rPr sz="1700" spc="5" dirty="0">
                <a:latin typeface="Arial"/>
                <a:cs typeface="Arial"/>
              </a:rPr>
              <a:t>esponse</a:t>
            </a:r>
            <a:r>
              <a:rPr sz="1700" dirty="0">
                <a:latin typeface="Arial"/>
                <a:cs typeface="Arial"/>
              </a:rPr>
              <a:t> to all other </a:t>
            </a:r>
            <a:r>
              <a:rPr sz="1700" spc="5" dirty="0">
                <a:latin typeface="Arial"/>
                <a:cs typeface="Arial"/>
              </a:rPr>
              <a:t>players.</a:t>
            </a:r>
            <a:endParaRPr sz="1700">
              <a:latin typeface="Arial"/>
              <a:cs typeface="Arial"/>
            </a:endParaRPr>
          </a:p>
        </p:txBody>
      </p:sp>
      <p:sp>
        <p:nvSpPr>
          <p:cNvPr id="13" name="object 13"/>
          <p:cNvSpPr txBox="1"/>
          <p:nvPr/>
        </p:nvSpPr>
        <p:spPr>
          <a:xfrm>
            <a:off x="350446" y="2970232"/>
            <a:ext cx="106680" cy="615553"/>
          </a:xfrm>
          <a:prstGeom prst="rect">
            <a:avLst/>
          </a:prstGeom>
        </p:spPr>
        <p:txBody>
          <a:bodyPr vert="horz" wrap="square" lIns="0" tIns="0" rIns="0" bIns="0" rtlCol="0">
            <a:spAutoFit/>
          </a:bodyPr>
          <a:lstStyle>
            <a:defPPr>
              <a:defRPr lang="en-US"/>
            </a:defPPr>
            <a:lvl1pPr marL="12700">
              <a:lnSpc>
                <a:spcPct val="100000"/>
              </a:lnSpc>
              <a:defRPr sz="4000" spc="195">
                <a:latin typeface="Arial"/>
                <a:cs typeface="Arial"/>
              </a:defRPr>
            </a:lvl1pPr>
          </a:lstStyle>
          <a:p>
            <a:r>
              <a:rPr dirty="0"/>
              <a:t>•</a:t>
            </a:r>
          </a:p>
        </p:txBody>
      </p:sp>
      <p:sp>
        <p:nvSpPr>
          <p:cNvPr id="14" name="object 14"/>
          <p:cNvSpPr txBox="1"/>
          <p:nvPr/>
        </p:nvSpPr>
        <p:spPr>
          <a:xfrm>
            <a:off x="692537" y="3200400"/>
            <a:ext cx="8037195" cy="469900"/>
          </a:xfrm>
          <a:prstGeom prst="rect">
            <a:avLst/>
          </a:prstGeom>
        </p:spPr>
        <p:txBody>
          <a:bodyPr vert="horz" wrap="square" lIns="0" tIns="0" rIns="0" bIns="0" rtlCol="0">
            <a:spAutoFit/>
          </a:bodyPr>
          <a:lstStyle/>
          <a:p>
            <a:pPr marL="12700" marR="5080">
              <a:lnSpc>
                <a:spcPts val="1800"/>
              </a:lnSpc>
            </a:pPr>
            <a:r>
              <a:rPr sz="1700" spc="-25" dirty="0">
                <a:latin typeface="Arial"/>
                <a:cs typeface="Arial"/>
              </a:rPr>
              <a:t>This is </a:t>
            </a:r>
            <a:r>
              <a:rPr sz="1700" spc="25" dirty="0">
                <a:latin typeface="Arial"/>
                <a:cs typeface="Arial"/>
              </a:rPr>
              <a:t>called the Nash </a:t>
            </a:r>
            <a:r>
              <a:rPr sz="1700" spc="10" dirty="0">
                <a:latin typeface="Arial"/>
                <a:cs typeface="Arial"/>
              </a:rPr>
              <a:t>equilibrium. It </a:t>
            </a:r>
            <a:r>
              <a:rPr sz="1700" spc="5" dirty="0">
                <a:latin typeface="Arial"/>
                <a:cs typeface="Arial"/>
              </a:rPr>
              <a:t>constitutes a situation whe</a:t>
            </a:r>
            <a:r>
              <a:rPr sz="1700" spc="-35" dirty="0">
                <a:latin typeface="Arial"/>
                <a:cs typeface="Arial"/>
              </a:rPr>
              <a:t>r</a:t>
            </a:r>
            <a:r>
              <a:rPr sz="1700" dirty="0">
                <a:latin typeface="Arial"/>
                <a:cs typeface="Arial"/>
              </a:rPr>
              <a:t>e no </a:t>
            </a:r>
            <a:r>
              <a:rPr sz="1700" spc="15" dirty="0">
                <a:latin typeface="Arial"/>
                <a:cs typeface="Arial"/>
              </a:rPr>
              <a:t>player</a:t>
            </a:r>
            <a:r>
              <a:rPr sz="1700" dirty="0">
                <a:latin typeface="Arial"/>
                <a:cs typeface="Arial"/>
              </a:rPr>
              <a:t> has an </a:t>
            </a:r>
            <a:r>
              <a:rPr sz="1700" spc="5" dirty="0">
                <a:latin typeface="Arial"/>
                <a:cs typeface="Arial"/>
              </a:rPr>
              <a:t>incentive</a:t>
            </a:r>
            <a:r>
              <a:rPr sz="1700" dirty="0">
                <a:latin typeface="Arial"/>
                <a:cs typeface="Arial"/>
              </a:rPr>
              <a:t> to </a:t>
            </a:r>
            <a:r>
              <a:rPr sz="1700" spc="5" dirty="0">
                <a:latin typeface="Arial"/>
                <a:cs typeface="Arial"/>
              </a:rPr>
              <a:t>deviate</a:t>
            </a:r>
            <a:r>
              <a:rPr sz="1700" dirty="0">
                <a:latin typeface="Arial"/>
                <a:cs typeface="Arial"/>
              </a:rPr>
              <a:t> unilaterally f</a:t>
            </a:r>
            <a:r>
              <a:rPr sz="1700" spc="-35" dirty="0">
                <a:latin typeface="Arial"/>
                <a:cs typeface="Arial"/>
              </a:rPr>
              <a:t>r</a:t>
            </a:r>
            <a:r>
              <a:rPr sz="1700" dirty="0">
                <a:latin typeface="Arial"/>
                <a:cs typeface="Arial"/>
              </a:rPr>
              <a:t>om the </a:t>
            </a:r>
            <a:r>
              <a:rPr sz="1700" spc="15" dirty="0">
                <a:latin typeface="Arial"/>
                <a:cs typeface="Arial"/>
              </a:rPr>
              <a:t>combination</a:t>
            </a:r>
            <a:r>
              <a:rPr sz="1700" dirty="0">
                <a:latin typeface="Arial"/>
                <a:cs typeface="Arial"/>
              </a:rPr>
              <a:t> of </a:t>
            </a:r>
            <a:r>
              <a:rPr sz="1700" spc="5" dirty="0">
                <a:latin typeface="Arial"/>
                <a:cs typeface="Arial"/>
              </a:rPr>
              <a:t>strategies</a:t>
            </a:r>
            <a:r>
              <a:rPr sz="1700" dirty="0">
                <a:latin typeface="Arial"/>
                <a:cs typeface="Arial"/>
              </a:rPr>
              <a:t> </a:t>
            </a:r>
            <a:r>
              <a:rPr sz="1700" spc="30" dirty="0">
                <a:latin typeface="Arial"/>
                <a:cs typeface="Arial"/>
              </a:rPr>
              <a:t>being</a:t>
            </a:r>
            <a:r>
              <a:rPr sz="1700" dirty="0">
                <a:latin typeface="Arial"/>
                <a:cs typeface="Arial"/>
              </a:rPr>
              <a:t> </a:t>
            </a:r>
            <a:r>
              <a:rPr sz="1700" spc="20" dirty="0">
                <a:latin typeface="Arial"/>
                <a:cs typeface="Arial"/>
              </a:rPr>
              <a:t>played.</a:t>
            </a:r>
            <a:endParaRPr sz="1700" dirty="0">
              <a:latin typeface="Arial"/>
              <a:cs typeface="Arial"/>
            </a:endParaRPr>
          </a:p>
        </p:txBody>
      </p:sp>
      <p:sp>
        <p:nvSpPr>
          <p:cNvPr id="15" name="object 15"/>
          <p:cNvSpPr txBox="1"/>
          <p:nvPr/>
        </p:nvSpPr>
        <p:spPr>
          <a:xfrm>
            <a:off x="350446" y="3692478"/>
            <a:ext cx="106680" cy="615553"/>
          </a:xfrm>
          <a:prstGeom prst="rect">
            <a:avLst/>
          </a:prstGeom>
        </p:spPr>
        <p:txBody>
          <a:bodyPr vert="horz" wrap="square" lIns="0" tIns="0" rIns="0" bIns="0" rtlCol="0">
            <a:spAutoFit/>
          </a:bodyPr>
          <a:lstStyle>
            <a:defPPr>
              <a:defRPr lang="en-US"/>
            </a:defPPr>
            <a:lvl1pPr marL="12700">
              <a:lnSpc>
                <a:spcPct val="100000"/>
              </a:lnSpc>
              <a:defRPr sz="4000" spc="195">
                <a:latin typeface="Arial"/>
                <a:cs typeface="Arial"/>
              </a:defRPr>
            </a:lvl1pPr>
          </a:lstStyle>
          <a:p>
            <a:r>
              <a:rPr dirty="0"/>
              <a:t>•</a:t>
            </a:r>
          </a:p>
        </p:txBody>
      </p:sp>
      <p:sp>
        <p:nvSpPr>
          <p:cNvPr id="16" name="object 16"/>
          <p:cNvSpPr txBox="1"/>
          <p:nvPr/>
        </p:nvSpPr>
        <p:spPr>
          <a:xfrm>
            <a:off x="692537" y="3886200"/>
            <a:ext cx="6360160" cy="241300"/>
          </a:xfrm>
          <a:prstGeom prst="rect">
            <a:avLst/>
          </a:prstGeom>
        </p:spPr>
        <p:txBody>
          <a:bodyPr vert="horz" wrap="square" lIns="0" tIns="0" rIns="0" bIns="0" rtlCol="0">
            <a:spAutoFit/>
          </a:bodyPr>
          <a:lstStyle/>
          <a:p>
            <a:pPr marL="12700">
              <a:lnSpc>
                <a:spcPct val="100000"/>
              </a:lnSpc>
            </a:pPr>
            <a:r>
              <a:rPr sz="1700" dirty="0">
                <a:latin typeface="Arial"/>
                <a:cs typeface="Arial"/>
              </a:rPr>
              <a:t>Alte</a:t>
            </a:r>
            <a:r>
              <a:rPr sz="1700" spc="30" dirty="0">
                <a:latin typeface="Arial"/>
                <a:cs typeface="Arial"/>
              </a:rPr>
              <a:t>r</a:t>
            </a:r>
            <a:r>
              <a:rPr sz="1700" dirty="0">
                <a:latin typeface="Arial"/>
                <a:cs typeface="Arial"/>
              </a:rPr>
              <a:t>native </a:t>
            </a:r>
            <a:r>
              <a:rPr sz="1700" spc="15" dirty="0">
                <a:latin typeface="Arial"/>
                <a:cs typeface="Arial"/>
              </a:rPr>
              <a:t>equilibrium</a:t>
            </a:r>
            <a:r>
              <a:rPr sz="1700" dirty="0">
                <a:latin typeface="Arial"/>
                <a:cs typeface="Arial"/>
              </a:rPr>
              <a:t> </a:t>
            </a:r>
            <a:r>
              <a:rPr sz="1700" spc="35" dirty="0">
                <a:latin typeface="Arial"/>
                <a:cs typeface="Arial"/>
              </a:rPr>
              <a:t>de</a:t>
            </a:r>
            <a:r>
              <a:rPr sz="1700" dirty="0">
                <a:latin typeface="Arial"/>
                <a:cs typeface="Arial"/>
              </a:rPr>
              <a:t>finition </a:t>
            </a:r>
            <a:r>
              <a:rPr sz="1700" spc="10" dirty="0">
                <a:latin typeface="Arial"/>
                <a:cs typeface="Arial"/>
              </a:rPr>
              <a:t>(e.g.</a:t>
            </a:r>
            <a:r>
              <a:rPr sz="1700" dirty="0">
                <a:latin typeface="Arial"/>
                <a:cs typeface="Arial"/>
              </a:rPr>
              <a:t> </a:t>
            </a:r>
            <a:r>
              <a:rPr sz="1700" spc="20" dirty="0">
                <a:latin typeface="Arial"/>
                <a:cs typeface="Arial"/>
              </a:rPr>
              <a:t>cor</a:t>
            </a:r>
            <a:r>
              <a:rPr sz="1700" spc="-20" dirty="0">
                <a:latin typeface="Arial"/>
                <a:cs typeface="Arial"/>
              </a:rPr>
              <a:t>r</a:t>
            </a:r>
            <a:r>
              <a:rPr sz="1700" spc="15" dirty="0">
                <a:latin typeface="Arial"/>
                <a:cs typeface="Arial"/>
              </a:rPr>
              <a:t>elated</a:t>
            </a:r>
            <a:r>
              <a:rPr sz="1700" dirty="0">
                <a:latin typeface="Arial"/>
                <a:cs typeface="Arial"/>
              </a:rPr>
              <a:t> </a:t>
            </a:r>
            <a:r>
              <a:rPr sz="1700" spc="10" dirty="0">
                <a:latin typeface="Arial"/>
                <a:cs typeface="Arial"/>
              </a:rPr>
              <a:t>equilibrium)</a:t>
            </a:r>
            <a:r>
              <a:rPr sz="1700" dirty="0">
                <a:latin typeface="Arial"/>
                <a:cs typeface="Arial"/>
              </a:rPr>
              <a:t> exist</a:t>
            </a:r>
            <a:endParaRPr sz="1700">
              <a:latin typeface="Arial"/>
              <a:cs typeface="Arial"/>
            </a:endParaRPr>
          </a:p>
        </p:txBody>
      </p:sp>
      <p:sp>
        <p:nvSpPr>
          <p:cNvPr id="17" name="object 17"/>
          <p:cNvSpPr txBox="1"/>
          <p:nvPr/>
        </p:nvSpPr>
        <p:spPr>
          <a:xfrm>
            <a:off x="365760" y="4149090"/>
            <a:ext cx="106680" cy="615553"/>
          </a:xfrm>
          <a:prstGeom prst="rect">
            <a:avLst/>
          </a:prstGeom>
        </p:spPr>
        <p:txBody>
          <a:bodyPr vert="horz" wrap="square" lIns="0" tIns="0" rIns="0" bIns="0" rtlCol="0">
            <a:spAutoFit/>
          </a:bodyPr>
          <a:lstStyle>
            <a:defPPr>
              <a:defRPr lang="en-US"/>
            </a:defPPr>
            <a:lvl1pPr marL="12700">
              <a:lnSpc>
                <a:spcPct val="100000"/>
              </a:lnSpc>
              <a:defRPr sz="4000" spc="195">
                <a:latin typeface="Arial"/>
                <a:cs typeface="Arial"/>
              </a:defRPr>
            </a:lvl1pPr>
          </a:lstStyle>
          <a:p>
            <a:r>
              <a:rPr dirty="0"/>
              <a:t>•</a:t>
            </a:r>
          </a:p>
        </p:txBody>
      </p:sp>
      <p:sp>
        <p:nvSpPr>
          <p:cNvPr id="18" name="object 18"/>
          <p:cNvSpPr txBox="1"/>
          <p:nvPr/>
        </p:nvSpPr>
        <p:spPr>
          <a:xfrm>
            <a:off x="692537" y="4343400"/>
            <a:ext cx="8156575" cy="469900"/>
          </a:xfrm>
          <a:prstGeom prst="rect">
            <a:avLst/>
          </a:prstGeom>
        </p:spPr>
        <p:txBody>
          <a:bodyPr vert="horz" wrap="square" lIns="0" tIns="0" rIns="0" bIns="0" rtlCol="0">
            <a:spAutoFit/>
          </a:bodyPr>
          <a:lstStyle/>
          <a:p>
            <a:pPr marL="12700" marR="5080">
              <a:lnSpc>
                <a:spcPts val="1800"/>
              </a:lnSpc>
            </a:pPr>
            <a:r>
              <a:rPr sz="1700" dirty="0">
                <a:latin typeface="Arial"/>
                <a:cs typeface="Arial"/>
              </a:rPr>
              <a:t>Nash </a:t>
            </a:r>
            <a:r>
              <a:rPr sz="1700" spc="10" dirty="0">
                <a:latin typeface="Arial"/>
                <a:cs typeface="Arial"/>
              </a:rPr>
              <a:t>equilibria </a:t>
            </a:r>
            <a:r>
              <a:rPr sz="1700" spc="25" dirty="0">
                <a:latin typeface="Arial"/>
                <a:cs typeface="Arial"/>
              </a:rPr>
              <a:t>can </a:t>
            </a:r>
            <a:r>
              <a:rPr sz="1700" spc="35" dirty="0">
                <a:latin typeface="Arial"/>
                <a:cs typeface="Arial"/>
              </a:rPr>
              <a:t>be defi</a:t>
            </a:r>
            <a:r>
              <a:rPr sz="1700" spc="25" dirty="0">
                <a:latin typeface="Arial"/>
                <a:cs typeface="Arial"/>
              </a:rPr>
              <a:t>ned for pu</a:t>
            </a:r>
            <a:r>
              <a:rPr sz="1700" spc="-20" dirty="0">
                <a:latin typeface="Arial"/>
                <a:cs typeface="Arial"/>
              </a:rPr>
              <a:t>r</a:t>
            </a:r>
            <a:r>
              <a:rPr sz="1700" dirty="0">
                <a:latin typeface="Arial"/>
                <a:cs typeface="Arial"/>
              </a:rPr>
              <a:t>e </a:t>
            </a:r>
            <a:r>
              <a:rPr sz="1700" spc="5" dirty="0">
                <a:latin typeface="Arial"/>
                <a:cs typeface="Arial"/>
              </a:rPr>
              <a:t>strategies</a:t>
            </a:r>
            <a:r>
              <a:rPr sz="1700" dirty="0">
                <a:latin typeface="Arial"/>
                <a:cs typeface="Arial"/>
              </a:rPr>
              <a:t> </a:t>
            </a:r>
            <a:r>
              <a:rPr sz="1700" spc="5" dirty="0">
                <a:latin typeface="Arial"/>
                <a:cs typeface="Arial"/>
              </a:rPr>
              <a:t>(single</a:t>
            </a:r>
            <a:r>
              <a:rPr sz="1700" dirty="0">
                <a:latin typeface="Arial"/>
                <a:cs typeface="Arial"/>
              </a:rPr>
              <a:t> </a:t>
            </a:r>
            <a:r>
              <a:rPr sz="1700" spc="5" dirty="0">
                <a:latin typeface="Arial"/>
                <a:cs typeface="Arial"/>
              </a:rPr>
              <a:t>action)</a:t>
            </a:r>
            <a:r>
              <a:rPr sz="1700" dirty="0">
                <a:latin typeface="Arial"/>
                <a:cs typeface="Arial"/>
              </a:rPr>
              <a:t> or </a:t>
            </a:r>
            <a:r>
              <a:rPr sz="1700" spc="15" dirty="0">
                <a:latin typeface="Arial"/>
                <a:cs typeface="Arial"/>
              </a:rPr>
              <a:t>mixed</a:t>
            </a:r>
            <a:r>
              <a:rPr sz="1700" dirty="0">
                <a:latin typeface="Arial"/>
                <a:cs typeface="Arial"/>
              </a:rPr>
              <a:t> </a:t>
            </a:r>
            <a:r>
              <a:rPr sz="1700" spc="5" dirty="0">
                <a:latin typeface="Arial"/>
                <a:cs typeface="Arial"/>
              </a:rPr>
              <a:t>strategies</a:t>
            </a:r>
            <a:r>
              <a:rPr sz="1700" dirty="0">
                <a:latin typeface="Arial"/>
                <a:cs typeface="Arial"/>
              </a:rPr>
              <a:t> </a:t>
            </a:r>
            <a:r>
              <a:rPr sz="1700" spc="30" dirty="0">
                <a:latin typeface="Arial"/>
                <a:cs typeface="Arial"/>
              </a:rPr>
              <a:t>(p</a:t>
            </a:r>
            <a:r>
              <a:rPr sz="1700" spc="-15" dirty="0">
                <a:latin typeface="Arial"/>
                <a:cs typeface="Arial"/>
              </a:rPr>
              <a:t>r</a:t>
            </a:r>
            <a:r>
              <a:rPr sz="1700" spc="10" dirty="0">
                <a:latin typeface="Arial"/>
                <a:cs typeface="Arial"/>
              </a:rPr>
              <a:t>obability</a:t>
            </a:r>
            <a:r>
              <a:rPr sz="1700" dirty="0">
                <a:latin typeface="Arial"/>
                <a:cs typeface="Arial"/>
              </a:rPr>
              <a:t> </a:t>
            </a:r>
            <a:r>
              <a:rPr sz="1700" spc="10" dirty="0">
                <a:latin typeface="Arial"/>
                <a:cs typeface="Arial"/>
              </a:rPr>
              <a:t>distributions</a:t>
            </a:r>
            <a:r>
              <a:rPr sz="1700" dirty="0">
                <a:latin typeface="Arial"/>
                <a:cs typeface="Arial"/>
              </a:rPr>
              <a:t> over </a:t>
            </a:r>
            <a:r>
              <a:rPr sz="1700" spc="5" dirty="0">
                <a:latin typeface="Arial"/>
                <a:cs typeface="Arial"/>
              </a:rPr>
              <a:t>actions)</a:t>
            </a:r>
            <a:endParaRPr sz="1700" dirty="0">
              <a:latin typeface="Arial"/>
              <a:cs typeface="Arial"/>
            </a:endParaRPr>
          </a:p>
        </p:txBody>
      </p:sp>
      <p:sp>
        <p:nvSpPr>
          <p:cNvPr id="19" name="object 19"/>
          <p:cNvSpPr txBox="1"/>
          <p:nvPr/>
        </p:nvSpPr>
        <p:spPr>
          <a:xfrm>
            <a:off x="365760" y="4834890"/>
            <a:ext cx="106680" cy="615553"/>
          </a:xfrm>
          <a:prstGeom prst="rect">
            <a:avLst/>
          </a:prstGeom>
        </p:spPr>
        <p:txBody>
          <a:bodyPr vert="horz" wrap="square" lIns="0" tIns="0" rIns="0" bIns="0" rtlCol="0">
            <a:spAutoFit/>
          </a:bodyPr>
          <a:lstStyle>
            <a:defPPr>
              <a:defRPr lang="en-US"/>
            </a:defPPr>
            <a:lvl1pPr marL="12700">
              <a:lnSpc>
                <a:spcPct val="100000"/>
              </a:lnSpc>
              <a:defRPr sz="4000" spc="195">
                <a:latin typeface="Arial"/>
                <a:cs typeface="Arial"/>
              </a:defRPr>
            </a:lvl1pPr>
          </a:lstStyle>
          <a:p>
            <a:r>
              <a:rPr dirty="0"/>
              <a:t>•</a:t>
            </a:r>
            <a:endParaRPr/>
          </a:p>
        </p:txBody>
      </p:sp>
      <p:sp>
        <p:nvSpPr>
          <p:cNvPr id="20" name="object 20"/>
          <p:cNvSpPr txBox="1"/>
          <p:nvPr/>
        </p:nvSpPr>
        <p:spPr>
          <a:xfrm>
            <a:off x="692537" y="5029200"/>
            <a:ext cx="6024245" cy="241300"/>
          </a:xfrm>
          <a:prstGeom prst="rect">
            <a:avLst/>
          </a:prstGeom>
        </p:spPr>
        <p:txBody>
          <a:bodyPr vert="horz" wrap="square" lIns="0" tIns="0" rIns="0" bIns="0" rtlCol="0">
            <a:spAutoFit/>
          </a:bodyPr>
          <a:lstStyle/>
          <a:p>
            <a:pPr marL="12700">
              <a:lnSpc>
                <a:spcPct val="100000"/>
              </a:lnSpc>
            </a:pPr>
            <a:r>
              <a:rPr sz="1700" dirty="0">
                <a:latin typeface="Arial"/>
                <a:cs typeface="Arial"/>
              </a:rPr>
              <a:t>Dete</a:t>
            </a:r>
            <a:r>
              <a:rPr sz="1700" spc="30" dirty="0">
                <a:latin typeface="Arial"/>
                <a:cs typeface="Arial"/>
              </a:rPr>
              <a:t>r</a:t>
            </a:r>
            <a:r>
              <a:rPr sz="1700" spc="5" dirty="0">
                <a:latin typeface="Arial"/>
                <a:cs typeface="Arial"/>
              </a:rPr>
              <a:t>mining</a:t>
            </a:r>
            <a:r>
              <a:rPr sz="1700" dirty="0">
                <a:latin typeface="Arial"/>
                <a:cs typeface="Arial"/>
              </a:rPr>
              <a:t> Nash </a:t>
            </a:r>
            <a:r>
              <a:rPr sz="1700" spc="10" dirty="0">
                <a:latin typeface="Arial"/>
                <a:cs typeface="Arial"/>
              </a:rPr>
              <a:t>equilibria</a:t>
            </a:r>
            <a:r>
              <a:rPr sz="1700" dirty="0">
                <a:latin typeface="Arial"/>
                <a:cs typeface="Arial"/>
              </a:rPr>
              <a:t> is </a:t>
            </a:r>
            <a:r>
              <a:rPr sz="1700" spc="5" dirty="0">
                <a:latin typeface="Arial"/>
                <a:cs typeface="Arial"/>
              </a:rPr>
              <a:t>generally</a:t>
            </a:r>
            <a:r>
              <a:rPr sz="1700" dirty="0">
                <a:latin typeface="Arial"/>
                <a:cs typeface="Arial"/>
              </a:rPr>
              <a:t> </a:t>
            </a:r>
            <a:r>
              <a:rPr sz="1700" spc="5" dirty="0">
                <a:latin typeface="Arial"/>
                <a:cs typeface="Arial"/>
              </a:rPr>
              <a:t>computationally</a:t>
            </a:r>
            <a:r>
              <a:rPr sz="1700" dirty="0">
                <a:latin typeface="Arial"/>
                <a:cs typeface="Arial"/>
              </a:rPr>
              <a:t> ha</a:t>
            </a:r>
            <a:r>
              <a:rPr sz="1700" spc="-35" dirty="0">
                <a:latin typeface="Arial"/>
                <a:cs typeface="Arial"/>
              </a:rPr>
              <a:t>r</a:t>
            </a:r>
            <a:r>
              <a:rPr sz="1700" spc="40" dirty="0">
                <a:latin typeface="Arial"/>
                <a:cs typeface="Arial"/>
              </a:rPr>
              <a:t>d.</a:t>
            </a:r>
            <a:endParaRPr sz="1700">
              <a:latin typeface="Arial"/>
              <a:cs typeface="Arial"/>
            </a:endParaRPr>
          </a:p>
        </p:txBody>
      </p:sp>
      <p:sp>
        <p:nvSpPr>
          <p:cNvPr id="21" name="object 21"/>
          <p:cNvSpPr txBox="1"/>
          <p:nvPr/>
        </p:nvSpPr>
        <p:spPr>
          <a:xfrm>
            <a:off x="365760" y="5292090"/>
            <a:ext cx="106680" cy="615553"/>
          </a:xfrm>
          <a:prstGeom prst="rect">
            <a:avLst/>
          </a:prstGeom>
        </p:spPr>
        <p:txBody>
          <a:bodyPr vert="horz" wrap="square" lIns="0" tIns="0" rIns="0" bIns="0" rtlCol="0">
            <a:spAutoFit/>
          </a:bodyPr>
          <a:lstStyle>
            <a:defPPr>
              <a:defRPr lang="en-US"/>
            </a:defPPr>
            <a:lvl1pPr marL="12700">
              <a:lnSpc>
                <a:spcPct val="100000"/>
              </a:lnSpc>
              <a:defRPr sz="4000" spc="195">
                <a:latin typeface="Arial"/>
                <a:cs typeface="Arial"/>
              </a:defRPr>
            </a:lvl1pPr>
          </a:lstStyle>
          <a:p>
            <a:r>
              <a:rPr dirty="0"/>
              <a:t>•</a:t>
            </a:r>
            <a:endParaRPr/>
          </a:p>
        </p:txBody>
      </p:sp>
      <p:sp>
        <p:nvSpPr>
          <p:cNvPr id="22" name="object 22"/>
          <p:cNvSpPr txBox="1"/>
          <p:nvPr/>
        </p:nvSpPr>
        <p:spPr>
          <a:xfrm>
            <a:off x="692537" y="5486399"/>
            <a:ext cx="8004809" cy="241300"/>
          </a:xfrm>
          <a:prstGeom prst="rect">
            <a:avLst/>
          </a:prstGeom>
        </p:spPr>
        <p:txBody>
          <a:bodyPr vert="horz" wrap="square" lIns="0" tIns="0" rIns="0" bIns="0" rtlCol="0">
            <a:spAutoFit/>
          </a:bodyPr>
          <a:lstStyle/>
          <a:p>
            <a:pPr marL="12700">
              <a:lnSpc>
                <a:spcPct val="100000"/>
              </a:lnSpc>
            </a:pPr>
            <a:r>
              <a:rPr sz="1700" spc="-35" dirty="0">
                <a:latin typeface="Arial"/>
                <a:cs typeface="Arial"/>
              </a:rPr>
              <a:t>For </a:t>
            </a:r>
            <a:r>
              <a:rPr sz="1700" spc="5" dirty="0">
                <a:latin typeface="Arial"/>
                <a:cs typeface="Arial"/>
              </a:rPr>
              <a:t>2-player ze</a:t>
            </a:r>
            <a:r>
              <a:rPr sz="1700" spc="-35" dirty="0">
                <a:latin typeface="Arial"/>
                <a:cs typeface="Arial"/>
              </a:rPr>
              <a:t>r</a:t>
            </a:r>
            <a:r>
              <a:rPr sz="1700" dirty="0">
                <a:latin typeface="Arial"/>
                <a:cs typeface="Arial"/>
              </a:rPr>
              <a:t>o-sum </a:t>
            </a:r>
            <a:r>
              <a:rPr sz="1700" spc="10" dirty="0">
                <a:latin typeface="Arial"/>
                <a:cs typeface="Arial"/>
              </a:rPr>
              <a:t>games</a:t>
            </a:r>
            <a:r>
              <a:rPr sz="1700" dirty="0">
                <a:latin typeface="Arial"/>
                <a:cs typeface="Arial"/>
              </a:rPr>
              <a:t> they </a:t>
            </a:r>
            <a:r>
              <a:rPr sz="1700" spc="25" dirty="0">
                <a:latin typeface="Arial"/>
                <a:cs typeface="Arial"/>
              </a:rPr>
              <a:t>can</a:t>
            </a:r>
            <a:r>
              <a:rPr sz="1700" dirty="0">
                <a:latin typeface="Arial"/>
                <a:cs typeface="Arial"/>
              </a:rPr>
              <a:t> </a:t>
            </a:r>
            <a:r>
              <a:rPr sz="1700" spc="35" dirty="0">
                <a:latin typeface="Arial"/>
                <a:cs typeface="Arial"/>
              </a:rPr>
              <a:t>be</a:t>
            </a:r>
            <a:r>
              <a:rPr sz="1700" dirty="0">
                <a:latin typeface="Arial"/>
                <a:cs typeface="Arial"/>
              </a:rPr>
              <a:t> </a:t>
            </a:r>
            <a:r>
              <a:rPr sz="1700" spc="25" dirty="0">
                <a:latin typeface="Arial"/>
                <a:cs typeface="Arial"/>
              </a:rPr>
              <a:t>computed</a:t>
            </a:r>
            <a:r>
              <a:rPr sz="1700" dirty="0">
                <a:latin typeface="Arial"/>
                <a:cs typeface="Arial"/>
              </a:rPr>
              <a:t> e</a:t>
            </a:r>
            <a:r>
              <a:rPr sz="1700" spc="-35" dirty="0">
                <a:latin typeface="Arial"/>
                <a:cs typeface="Arial"/>
              </a:rPr>
              <a:t>f</a:t>
            </a:r>
            <a:r>
              <a:rPr sz="1700" dirty="0">
                <a:latin typeface="Arial"/>
                <a:cs typeface="Arial"/>
              </a:rPr>
              <a:t>fi</a:t>
            </a:r>
            <a:r>
              <a:rPr sz="1700" spc="5" dirty="0">
                <a:latin typeface="Arial"/>
                <a:cs typeface="Arial"/>
              </a:rPr>
              <a:t>ciently</a:t>
            </a:r>
            <a:r>
              <a:rPr sz="1700" dirty="0">
                <a:latin typeface="Arial"/>
                <a:cs typeface="Arial"/>
              </a:rPr>
              <a:t> as linear </a:t>
            </a:r>
            <a:r>
              <a:rPr sz="1700" spc="55" dirty="0">
                <a:latin typeface="Arial"/>
                <a:cs typeface="Arial"/>
              </a:rPr>
              <a:t>p</a:t>
            </a:r>
            <a:r>
              <a:rPr sz="1700" spc="-5" dirty="0">
                <a:latin typeface="Arial"/>
                <a:cs typeface="Arial"/>
              </a:rPr>
              <a:t>r</a:t>
            </a:r>
            <a:r>
              <a:rPr sz="1700" spc="5" dirty="0">
                <a:latin typeface="Arial"/>
                <a:cs typeface="Arial"/>
              </a:rPr>
              <a:t>ograms.</a:t>
            </a:r>
            <a:endParaRPr sz="1700" dirty="0">
              <a:latin typeface="Arial"/>
              <a:cs typeface="Arial"/>
            </a:endParaRPr>
          </a:p>
        </p:txBody>
      </p:sp>
      <p:sp>
        <p:nvSpPr>
          <p:cNvPr id="23" name="object 23"/>
          <p:cNvSpPr txBox="1"/>
          <p:nvPr/>
        </p:nvSpPr>
        <p:spPr>
          <a:xfrm>
            <a:off x="365760" y="5749290"/>
            <a:ext cx="106680" cy="615553"/>
          </a:xfrm>
          <a:prstGeom prst="rect">
            <a:avLst/>
          </a:prstGeom>
        </p:spPr>
        <p:txBody>
          <a:bodyPr vert="horz" wrap="square" lIns="0" tIns="0" rIns="0" bIns="0" rtlCol="0">
            <a:spAutoFit/>
          </a:bodyPr>
          <a:lstStyle>
            <a:defPPr>
              <a:defRPr lang="en-US"/>
            </a:defPPr>
            <a:lvl1pPr marL="12700">
              <a:lnSpc>
                <a:spcPct val="100000"/>
              </a:lnSpc>
              <a:defRPr sz="4000" spc="195">
                <a:latin typeface="Arial"/>
                <a:cs typeface="Arial"/>
              </a:defRPr>
            </a:lvl1pPr>
          </a:lstStyle>
          <a:p>
            <a:r>
              <a:rPr dirty="0"/>
              <a:t>•</a:t>
            </a:r>
            <a:endParaRPr/>
          </a:p>
        </p:txBody>
      </p:sp>
      <p:sp>
        <p:nvSpPr>
          <p:cNvPr id="24" name="object 24"/>
          <p:cNvSpPr txBox="1"/>
          <p:nvPr/>
        </p:nvSpPr>
        <p:spPr>
          <a:xfrm>
            <a:off x="692537" y="5943599"/>
            <a:ext cx="8217534" cy="469900"/>
          </a:xfrm>
          <a:prstGeom prst="rect">
            <a:avLst/>
          </a:prstGeom>
        </p:spPr>
        <p:txBody>
          <a:bodyPr vert="horz" wrap="square" lIns="0" tIns="0" rIns="0" bIns="0" rtlCol="0">
            <a:spAutoFit/>
          </a:bodyPr>
          <a:lstStyle/>
          <a:p>
            <a:pPr marL="12700" marR="5080">
              <a:lnSpc>
                <a:spcPts val="1800"/>
              </a:lnSpc>
            </a:pPr>
            <a:r>
              <a:rPr sz="1700" spc="-25" dirty="0">
                <a:latin typeface="Arial"/>
                <a:cs typeface="Arial"/>
              </a:rPr>
              <a:t>This is </a:t>
            </a:r>
            <a:r>
              <a:rPr sz="1700" spc="35" dirty="0">
                <a:latin typeface="Arial"/>
                <a:cs typeface="Arial"/>
              </a:rPr>
              <a:t>based on the MiniMax theo</a:t>
            </a:r>
            <a:r>
              <a:rPr sz="1700" spc="-35" dirty="0">
                <a:latin typeface="Arial"/>
                <a:cs typeface="Arial"/>
              </a:rPr>
              <a:t>r</a:t>
            </a:r>
            <a:r>
              <a:rPr sz="1700" dirty="0">
                <a:latin typeface="Arial"/>
                <a:cs typeface="Arial"/>
              </a:rPr>
              <a:t>em, </a:t>
            </a:r>
            <a:r>
              <a:rPr sz="1700" spc="15" dirty="0">
                <a:latin typeface="Arial"/>
                <a:cs typeface="Arial"/>
              </a:rPr>
              <a:t>which</a:t>
            </a:r>
            <a:r>
              <a:rPr sz="1700" dirty="0">
                <a:latin typeface="Arial"/>
                <a:cs typeface="Arial"/>
              </a:rPr>
              <a:t> </a:t>
            </a:r>
            <a:r>
              <a:rPr sz="1700" spc="25" dirty="0">
                <a:latin typeface="Arial"/>
                <a:cs typeface="Arial"/>
              </a:rPr>
              <a:t>can</a:t>
            </a:r>
            <a:r>
              <a:rPr sz="1700" dirty="0">
                <a:latin typeface="Arial"/>
                <a:cs typeface="Arial"/>
              </a:rPr>
              <a:t> </a:t>
            </a:r>
            <a:r>
              <a:rPr sz="1700" spc="35" dirty="0">
                <a:latin typeface="Arial"/>
                <a:cs typeface="Arial"/>
              </a:rPr>
              <a:t>be</a:t>
            </a:r>
            <a:r>
              <a:rPr sz="1700" dirty="0">
                <a:latin typeface="Arial"/>
                <a:cs typeface="Arial"/>
              </a:rPr>
              <a:t> </a:t>
            </a:r>
            <a:r>
              <a:rPr sz="1700" spc="15" dirty="0">
                <a:latin typeface="Arial"/>
                <a:cs typeface="Arial"/>
              </a:rPr>
              <a:t>understood</a:t>
            </a:r>
            <a:r>
              <a:rPr sz="1700" dirty="0">
                <a:latin typeface="Arial"/>
                <a:cs typeface="Arial"/>
              </a:rPr>
              <a:t> as a </a:t>
            </a:r>
            <a:r>
              <a:rPr sz="1700" spc="35" dirty="0">
                <a:latin typeface="Arial"/>
                <a:cs typeface="Arial"/>
              </a:rPr>
              <a:t>co</a:t>
            </a:r>
            <a:r>
              <a:rPr sz="1700" spc="-15" dirty="0">
                <a:latin typeface="Arial"/>
                <a:cs typeface="Arial"/>
              </a:rPr>
              <a:t>r</a:t>
            </a:r>
            <a:r>
              <a:rPr sz="1700" dirty="0">
                <a:latin typeface="Arial"/>
                <a:cs typeface="Arial"/>
              </a:rPr>
              <a:t>olla</a:t>
            </a:r>
            <a:r>
              <a:rPr sz="1700" spc="30" dirty="0">
                <a:latin typeface="Arial"/>
                <a:cs typeface="Arial"/>
              </a:rPr>
              <a:t>r</a:t>
            </a:r>
            <a:r>
              <a:rPr sz="1700" dirty="0">
                <a:latin typeface="Arial"/>
                <a:cs typeface="Arial"/>
              </a:rPr>
              <a:t>y of the Duality </a:t>
            </a:r>
            <a:r>
              <a:rPr sz="1700" spc="-30" dirty="0">
                <a:latin typeface="Arial"/>
                <a:cs typeface="Arial"/>
              </a:rPr>
              <a:t>Theo</a:t>
            </a:r>
            <a:r>
              <a:rPr sz="1700" spc="-55" dirty="0">
                <a:latin typeface="Arial"/>
                <a:cs typeface="Arial"/>
              </a:rPr>
              <a:t>r</a:t>
            </a:r>
            <a:r>
              <a:rPr sz="1700" dirty="0">
                <a:latin typeface="Arial"/>
                <a:cs typeface="Arial"/>
              </a:rPr>
              <a:t>em of linear </a:t>
            </a:r>
            <a:r>
              <a:rPr sz="1700" spc="55" dirty="0">
                <a:latin typeface="Arial"/>
                <a:cs typeface="Arial"/>
              </a:rPr>
              <a:t>p</a:t>
            </a:r>
            <a:r>
              <a:rPr sz="1700" spc="-5" dirty="0">
                <a:latin typeface="Arial"/>
                <a:cs typeface="Arial"/>
              </a:rPr>
              <a:t>r</a:t>
            </a:r>
            <a:r>
              <a:rPr sz="1700" spc="15" dirty="0">
                <a:latin typeface="Arial"/>
                <a:cs typeface="Arial"/>
              </a:rPr>
              <a:t>ogramming</a:t>
            </a:r>
            <a:r>
              <a:rPr sz="1700" dirty="0">
                <a:latin typeface="Arial"/>
                <a:cs typeface="Arial"/>
              </a:rPr>
              <a:t> (even </a:t>
            </a:r>
            <a:r>
              <a:rPr sz="1700" spc="5" dirty="0">
                <a:latin typeface="Arial"/>
                <a:cs typeface="Arial"/>
              </a:rPr>
              <a:t>though</a:t>
            </a:r>
            <a:r>
              <a:rPr sz="1700" dirty="0">
                <a:latin typeface="Arial"/>
                <a:cs typeface="Arial"/>
              </a:rPr>
              <a:t> </a:t>
            </a:r>
            <a:r>
              <a:rPr sz="1700" spc="5" dirty="0">
                <a:latin typeface="Arial"/>
                <a:cs typeface="Arial"/>
              </a:rPr>
              <a:t>historically</a:t>
            </a:r>
            <a:r>
              <a:rPr sz="1700" dirty="0">
                <a:latin typeface="Arial"/>
                <a:cs typeface="Arial"/>
              </a:rPr>
              <a:t> it isn</a:t>
            </a:r>
            <a:r>
              <a:rPr sz="1700" spc="-35" dirty="0">
                <a:latin typeface="Arial"/>
                <a:cs typeface="Arial"/>
              </a:rPr>
              <a:t>’</a:t>
            </a:r>
            <a:r>
              <a:rPr sz="1700" dirty="0">
                <a:latin typeface="Arial"/>
                <a:cs typeface="Arial"/>
              </a:rPr>
              <a:t>t).</a:t>
            </a:r>
            <a:endParaRPr sz="1700">
              <a:latin typeface="Arial"/>
              <a:cs typeface="Arial"/>
            </a:endParaRPr>
          </a:p>
        </p:txBody>
      </p:sp>
      <p:sp>
        <p:nvSpPr>
          <p:cNvPr id="25" name="Rectangle 24">
            <a:extLst>
              <a:ext uri="{FF2B5EF4-FFF2-40B4-BE49-F238E27FC236}">
                <a16:creationId xmlns:a16="http://schemas.microsoft.com/office/drawing/2014/main" id="{0452F099-A084-03E5-069B-C3264A5DF4FC}"/>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rPr>
              <a:t>FIT5226-S2-2024</a:t>
            </a:r>
          </a:p>
        </p:txBody>
      </p:sp>
      <p:sp>
        <p:nvSpPr>
          <p:cNvPr id="26" name="Rectangle 25">
            <a:extLst>
              <a:ext uri="{FF2B5EF4-FFF2-40B4-BE49-F238E27FC236}">
                <a16:creationId xmlns:a16="http://schemas.microsoft.com/office/drawing/2014/main" id="{A33AD3EE-83BB-4A31-BA5F-FA1C1EEBD2D4}"/>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tx1"/>
                </a:solidFill>
                <a:effectLst/>
                <a:uLnTx/>
                <a:uFillTx/>
                <a:latin typeface="Calibri"/>
                <a:ea typeface="+mn-ea"/>
                <a:cs typeface="+mn-cs"/>
              </a:rPr>
              <a:t>Week-7</a:t>
            </a:r>
          </a:p>
        </p:txBody>
      </p:sp>
      <p:sp>
        <p:nvSpPr>
          <p:cNvPr id="27" name="Rectangle 26">
            <a:extLst>
              <a:ext uri="{FF2B5EF4-FFF2-40B4-BE49-F238E27FC236}">
                <a16:creationId xmlns:a16="http://schemas.microsoft.com/office/drawing/2014/main" id="{F4FA618E-94ED-B1AD-896F-AE098C6B4F0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8" name="Slide Number Placeholder 8">
            <a:extLst>
              <a:ext uri="{FF2B5EF4-FFF2-40B4-BE49-F238E27FC236}">
                <a16:creationId xmlns:a16="http://schemas.microsoft.com/office/drawing/2014/main" id="{1B29C5B5-D99A-50ED-726B-C775F522212D}"/>
              </a:ext>
            </a:extLst>
          </p:cNvPr>
          <p:cNvSpPr txBox="1">
            <a:spLocks/>
          </p:cNvSpPr>
          <p:nvPr/>
        </p:nvSpPr>
        <p:spPr>
          <a:xfrm>
            <a:off x="8133155" y="6523831"/>
            <a:ext cx="1111410" cy="410369"/>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6CB4B4D-7CA3-9044-876B-883B54F8677D}" type="slidenum">
              <a:rPr lang="en-US" sz="2000" smtClean="0">
                <a:solidFill>
                  <a:prstClr val="black"/>
                </a:solidFill>
                <a:latin typeface="Comic Sans MS"/>
                <a:sym typeface="Comic Sans MS"/>
              </a:rPr>
              <a:pPr/>
              <a:t>46</a:t>
            </a:fld>
            <a:r>
              <a:rPr lang="en-US" sz="2000" dirty="0">
                <a:solidFill>
                  <a:prstClr val="black"/>
                </a:solidFill>
                <a:latin typeface="Comic Sans MS"/>
                <a:sym typeface="Comic Sans MS"/>
              </a:rPr>
              <a:t>/46</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8461</TotalTime>
  <Words>10899</Words>
  <Application>Microsoft Office PowerPoint</Application>
  <PresentationFormat>On-screen Show (4:3)</PresentationFormat>
  <Paragraphs>1020</Paragraphs>
  <Slides>46</Slides>
  <Notes>46</Notes>
  <HiddenSlides>0</HiddenSlides>
  <MMClips>0</MMClips>
  <ScaleCrop>false</ScaleCrop>
  <HeadingPairs>
    <vt:vector size="6" baseType="variant">
      <vt:variant>
        <vt:lpstr>Fonts Used</vt:lpstr>
      </vt:variant>
      <vt:variant>
        <vt:i4>17</vt:i4>
      </vt:variant>
      <vt:variant>
        <vt:lpstr>Theme</vt:lpstr>
      </vt:variant>
      <vt:variant>
        <vt:i4>4</vt:i4>
      </vt:variant>
      <vt:variant>
        <vt:lpstr>Slide Titles</vt:lpstr>
      </vt:variant>
      <vt:variant>
        <vt:i4>46</vt:i4>
      </vt:variant>
    </vt:vector>
  </HeadingPairs>
  <TitlesOfParts>
    <vt:vector size="67" baseType="lpstr">
      <vt:lpstr>Meiryo</vt:lpstr>
      <vt:lpstr>Arial</vt:lpstr>
      <vt:lpstr>Calibri</vt:lpstr>
      <vt:lpstr>Cambria</vt:lpstr>
      <vt:lpstr>Cambria Math</vt:lpstr>
      <vt:lpstr>CMMI10</vt:lpstr>
      <vt:lpstr>CMR10</vt:lpstr>
      <vt:lpstr>Comic Sans MS</vt:lpstr>
      <vt:lpstr>Garamond</vt:lpstr>
      <vt:lpstr>Gill Sans</vt:lpstr>
      <vt:lpstr>Gill Sans MT</vt:lpstr>
      <vt:lpstr>Helvetica</vt:lpstr>
      <vt:lpstr>Helvetica Light</vt:lpstr>
      <vt:lpstr>Söhne</vt:lpstr>
      <vt:lpstr>Symbol</vt:lpstr>
      <vt:lpstr>Tahoma</vt:lpstr>
      <vt:lpstr>Times New Roman</vt:lpstr>
      <vt:lpstr>Office Theme</vt:lpstr>
      <vt:lpstr>White</vt:lpstr>
      <vt:lpstr>1_Office Theme</vt:lpstr>
      <vt:lpstr>2_Office Theme</vt:lpstr>
      <vt:lpstr>PowerPoint Presentation</vt:lpstr>
      <vt:lpstr>PowerPoint Presentation</vt:lpstr>
      <vt:lpstr>Individual vs Collective Perspective</vt:lpstr>
      <vt:lpstr>Collective Perspective: Pareto Optimality</vt:lpstr>
      <vt:lpstr>Pareto Optimality Example</vt:lpstr>
      <vt:lpstr>Pareto Optimality Example</vt:lpstr>
      <vt:lpstr>Pareto Optimality Example</vt:lpstr>
      <vt:lpstr>Pareto Optimality Example</vt:lpstr>
      <vt:lpstr>Pareto Optimality</vt:lpstr>
      <vt:lpstr>Outcomes from the individual Perspective</vt:lpstr>
      <vt:lpstr>PowerPoint Presentation</vt:lpstr>
      <vt:lpstr>PowerPoint Presentation</vt:lpstr>
      <vt:lpstr>PowerPoint Presentation</vt:lpstr>
      <vt:lpstr>Morra</vt:lpstr>
      <vt:lpstr>PowerPoint Presentation</vt:lpstr>
      <vt:lpstr>Best Response (BR)</vt:lpstr>
      <vt:lpstr>Players in equilibrium</vt:lpstr>
      <vt:lpstr>Nash Equilibrium</vt:lpstr>
      <vt:lpstr>Saddle Points</vt:lpstr>
      <vt:lpstr>Nash Equilibrium Example</vt:lpstr>
      <vt:lpstr>Nash Equilibrium Example</vt:lpstr>
      <vt:lpstr>Nash Equilibrium Example</vt:lpstr>
      <vt:lpstr>Nash Equilibrium Example</vt:lpstr>
      <vt:lpstr>Nash Equilibrium Example</vt:lpstr>
      <vt:lpstr>Strategy Profiles</vt:lpstr>
      <vt:lpstr>PowerPoint Presentation</vt:lpstr>
      <vt:lpstr>Mixed Nash</vt:lpstr>
      <vt:lpstr>PowerPoint Presentation</vt:lpstr>
      <vt:lpstr>Finding Nash</vt:lpstr>
      <vt:lpstr>Finding Nash (Example)</vt:lpstr>
      <vt:lpstr>Finding Nash (Example)</vt:lpstr>
      <vt:lpstr>Finding Nash (Example)</vt:lpstr>
      <vt:lpstr>Finding Nash (Example)</vt:lpstr>
      <vt:lpstr>Finding mixed Nash in general</vt:lpstr>
      <vt:lpstr>PowerPoint Presentation</vt:lpstr>
      <vt:lpstr>PowerPoint Presentation</vt:lpstr>
      <vt:lpstr>PowerPoint Presentation</vt:lpstr>
      <vt:lpstr>Unexpected Conclusion</vt:lpstr>
      <vt:lpstr>PowerPoint Presentation</vt:lpstr>
      <vt:lpstr>The Price of Anarchy - or: Is Nash good?</vt:lpstr>
      <vt:lpstr>Self Study: Correlated Equilibrium</vt:lpstr>
      <vt:lpstr>Self Study: Correlated Equilibrium (Example 1: BoS)</vt:lpstr>
      <vt:lpstr>Self Study: Correlated Equilibrium (Example 2: Traffic)</vt:lpstr>
      <vt:lpstr>Self Study: Correlated Equilibrium (Def)</vt:lpstr>
      <vt:lpstr>Self Study: Existence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 6 - 1 Classical Game Theory (Outcomes &amp; Nash)</dc:title>
  <cp:lastModifiedBy>Fuad Noman</cp:lastModifiedBy>
  <cp:revision>104</cp:revision>
  <cp:lastPrinted>2023-09-08T09:41:46Z</cp:lastPrinted>
  <dcterms:created xsi:type="dcterms:W3CDTF">2023-09-01T09:42:33Z</dcterms:created>
  <dcterms:modified xsi:type="dcterms:W3CDTF">2024-09-13T04:47:15Z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2023-08-20T00:00:00Z</vt:filetime>
  </property>
  <property fmtid="{D5CDD505-2E9C-101B-9397-08002B2CF9AE}" pid="3" name="LastSaved">
    <vt:filetime>2023-09-01T00:00:00Z</vt:filetime>
  </property>
</Properties>
</file>
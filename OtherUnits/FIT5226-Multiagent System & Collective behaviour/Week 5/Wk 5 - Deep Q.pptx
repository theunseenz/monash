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3" r:id="rId3"/>
  </p:sldMasterIdLst>
  <p:notesMasterIdLst>
    <p:notesMasterId r:id="rId31"/>
  </p:notesMasterIdLst>
  <p:sldIdLst>
    <p:sldId id="343" r:id="rId4"/>
    <p:sldId id="344"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BBB0"/>
    <a:srgbClr val="C6E8AB"/>
    <a:srgbClr val="C1E4F7"/>
    <a:srgbClr val="FDEB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3691" autoAdjust="0"/>
  </p:normalViewPr>
  <p:slideViewPr>
    <p:cSldViewPr>
      <p:cViewPr varScale="1">
        <p:scale>
          <a:sx n="33" d="100"/>
          <a:sy n="33" d="100"/>
        </p:scale>
        <p:origin x="403"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266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err="1">
                <a:solidFill>
                  <a:srgbClr val="E8EAED"/>
                </a:solidFill>
                <a:effectLst/>
                <a:latin typeface="Google Sans"/>
              </a:rPr>
              <a:t>CartPole</a:t>
            </a:r>
            <a:r>
              <a:rPr lang="en-US" b="0" i="0" dirty="0">
                <a:solidFill>
                  <a:srgbClr val="E8EAED"/>
                </a:solidFill>
                <a:effectLst/>
                <a:latin typeface="Google Sans"/>
              </a:rPr>
              <a:t>, also known as inverted pendulum, is </a:t>
            </a:r>
            <a:r>
              <a:rPr lang="en-US" b="0" i="0" dirty="0">
                <a:solidFill>
                  <a:srgbClr val="E2EEFF"/>
                </a:solidFill>
                <a:effectLst/>
                <a:latin typeface="Google Sans"/>
              </a:rPr>
              <a:t>a game in which you try to balance the pole as long as possible</a:t>
            </a:r>
            <a:r>
              <a:rPr lang="en-US" b="0" i="0" dirty="0">
                <a:solidFill>
                  <a:srgbClr val="E8EAED"/>
                </a:solidFill>
                <a:effectLst/>
                <a:latin typeface="Google Sans"/>
              </a:rPr>
              <a:t>. It is assumed that at the tip of the pole, there is an object which makes it unstable and very likely to fall over.</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state space size problem arises when the number of possible states is very large or even infinite. As the state space grows it becomes increasingly challenging to explore and learn forms every state. Traditional methods like tabular Q-learning struggle in high dimensional state space due to the “curse of dimensionality” where the amount of data required to accurately represent and learn from the space becomes impractical.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5 distances (0,1,2,3,4)</a:t>
            </a:r>
          </a:p>
          <a:p>
            <a:r>
              <a:rPr lang="en-US" dirty="0"/>
              <a:t>Boolean hazard sensor (hazard present / no hazard)</a:t>
            </a:r>
            <a:br>
              <a:rPr lang="en-US" dirty="0"/>
            </a:br>
            <a:endParaRPr lang="en-US" dirty="0"/>
          </a:p>
          <a:p>
            <a:r>
              <a:rPr lang="en-US" dirty="0"/>
              <a:t>5^4: means the distance from current state to the 4 neighboring squares/states.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Instead of using a table, we are using a function, which will allow us to deal with continuous values.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rtl="0"/>
            <a:r>
              <a:rPr lang="en-US" b="1" dirty="0"/>
              <a:t>Left</a:t>
            </a:r>
            <a:r>
              <a:rPr lang="en-US" dirty="0"/>
              <a:t>: from week-2, Value function approximation (given state as input, estimate the state values)</a:t>
            </a:r>
          </a:p>
          <a:p>
            <a:pPr rtl="0"/>
            <a:r>
              <a:rPr lang="en-US" b="1" dirty="0"/>
              <a:t>Middle</a:t>
            </a:r>
            <a:r>
              <a:rPr lang="en-US" dirty="0"/>
              <a:t>: from week-3, to get ultimate control, we need the state-active value function, where given state and action, we estimate the q value (single value) for that state and action. Which is exactly what we did in Q-learning.</a:t>
            </a:r>
          </a:p>
          <a:p>
            <a:pPr rtl="0"/>
            <a:r>
              <a:rPr lang="en-US" b="1" dirty="0"/>
              <a:t>Right</a:t>
            </a:r>
            <a:r>
              <a:rPr lang="en-US" dirty="0"/>
              <a:t>: it is a variation of the Middle function, where we only have state as input, and we estimate all q values (not single value) for all possible actions in that state.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The expression you provided is the Bellman update equation for Q-learning, a key concept in reinforcement learning. Here's a breakdown of the equation:</a:t>
                </a:r>
              </a:p>
              <a:p>
                <a:endParaRPr lang="en-US" dirty="0"/>
              </a:p>
              <a:p>
                <a:r>
                  <a:rPr lang="en-US" b="1" dirty="0"/>
                  <a:t>Bellman Update Equation:</a:t>
                </a:r>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 </m:t>
                      </m:r>
                      <m:r>
                        <a:rPr lang="en-US" i="1" dirty="0" smtClean="0">
                          <a:latin typeface="Cambria Math" panose="02040503050406030204" pitchFamily="18" charset="0"/>
                        </a:rPr>
                        <m:t>𝛼</m:t>
                      </m:r>
                      <m:d>
                        <m:dPr>
                          <m:begChr m:val=""/>
                          <m:ctrlPr>
                            <a:rPr lang="en-US" i="1" dirty="0" smtClean="0">
                              <a:latin typeface="Cambria Math" panose="02040503050406030204" pitchFamily="18" charset="0"/>
                            </a:rPr>
                          </m:ctrlPr>
                        </m:dPr>
                        <m:e>
                          <m:d>
                            <m:dPr>
                              <m:endChr m:val=""/>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m:t>
                              </m:r>
                              <m:r>
                                <a:rPr lang="en-US" i="1" dirty="0" smtClean="0">
                                  <a:latin typeface="Cambria Math" panose="02040503050406030204" pitchFamily="18" charset="0"/>
                                </a:rPr>
                                <m:t>𝛾</m:t>
                              </m:r>
                              <m:r>
                                <a:rPr lang="en-US" b="0" i="1" dirty="0" smtClean="0">
                                  <a:latin typeface="Cambria Math" panose="02040503050406030204" pitchFamily="18" charset="0"/>
                                </a:rPr>
                                <m:t> </m:t>
                              </m:r>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max</m:t>
                                  </m:r>
                                </m:e>
                                <m:li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𝑎</m:t>
                                      </m:r>
                                    </m:e>
                                    <m:sup>
                                      <m:r>
                                        <a:rPr lang="en-US" b="0" i="1" dirty="0" smtClean="0">
                                          <a:latin typeface="Cambria Math" panose="02040503050406030204" pitchFamily="18" charset="0"/>
                                        </a:rPr>
                                        <m:t>′</m:t>
                                      </m:r>
                                    </m:sup>
                                  </m:sSup>
                                </m:lim>
                              </m:limLow>
                              <m:r>
                                <a:rPr lang="en-US" b="0"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𝑎</m:t>
                                      </m:r>
                                    </m:e>
                                    <m:sup>
                                      <m:r>
                                        <a:rPr lang="en-US" i="1" dirty="0" smtClean="0">
                                          <a:latin typeface="Cambria Math" panose="02040503050406030204" pitchFamily="18" charset="0"/>
                                        </a:rPr>
                                        <m:t>′</m:t>
                                      </m:r>
                                    </m:sup>
                                  </m:sSup>
                                </m:e>
                              </m:d>
                              <m:r>
                                <a:rPr lang="en-US"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e>
                              </m:d>
                            </m:e>
                          </m:d>
                        </m:e>
                      </m:d>
                    </m:oMath>
                  </m:oMathPara>
                </a14:m>
                <a:endParaRPr lang="en-US" dirty="0"/>
              </a:p>
              <a:p>
                <a:endParaRPr lang="en-US" dirty="0"/>
              </a:p>
              <a:p>
                <a:r>
                  <a:rPr lang="en-US" dirty="0"/>
                  <a:t>- </a:t>
                </a:r>
                <a14:m>
                  <m:oMath xmlns:m="http://schemas.openxmlformats.org/officeDocument/2006/math">
                    <m:r>
                      <m:rPr>
                        <m:lit/>
                      </m:rPr>
                      <a:rPr lang="en-US" b="1" i="1" dirty="0" smtClean="0">
                        <a:latin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𝑸</m:t>
                    </m:r>
                    <m:d>
                      <m:dPr>
                        <m:ctrlPr>
                          <a:rPr lang="en-US" b="1" i="1" dirty="0" smtClean="0">
                            <a:latin typeface="Cambria Math" panose="02040503050406030204" pitchFamily="18" charset="0"/>
                          </a:rPr>
                        </m:ctrlPr>
                      </m:dPr>
                      <m:e>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b="1" i="1" dirty="0" err="1" smtClean="0">
                                <a:latin typeface="Cambria Math" panose="02040503050406030204" pitchFamily="18" charset="0"/>
                              </a:rPr>
                              <m:t>𝒕</m:t>
                            </m:r>
                          </m:sub>
                        </m:sSub>
                        <m:r>
                          <a:rPr lang="en-US" b="1" i="1" dirty="0" smtClean="0">
                            <a:latin typeface="Cambria Math" panose="02040503050406030204" pitchFamily="18" charset="0"/>
                          </a:rPr>
                          <m:t>, </m:t>
                        </m:r>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𝑨</m:t>
                            </m:r>
                          </m:e>
                          <m:sub>
                            <m:r>
                              <a:rPr lang="en-US" b="1" i="1" dirty="0" err="1" smtClean="0">
                                <a:latin typeface="Cambria Math" panose="02040503050406030204" pitchFamily="18" charset="0"/>
                              </a:rPr>
                              <m:t>𝒕</m:t>
                            </m:r>
                          </m:sub>
                        </m:sSub>
                      </m:e>
                    </m:d>
                    <m:r>
                      <m:rPr>
                        <m:lit/>
                      </m:rPr>
                      <a:rPr lang="en-US" b="1" i="1" dirty="0" smtClean="0">
                        <a:latin typeface="Cambria Math" panose="02040503050406030204" pitchFamily="18" charset="0"/>
                      </a:rPr>
                      <m:t>)</m:t>
                    </m:r>
                  </m:oMath>
                </a14:m>
                <a:r>
                  <a:rPr lang="en-US" b="1" dirty="0"/>
                  <a:t>: </a:t>
                </a:r>
                <a:r>
                  <a:rPr lang="en-US" dirty="0"/>
                  <a:t>The current estimate of the Q-value for taking action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r>
                      <m:rPr>
                        <m:lit/>
                      </m:rP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in state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m:rPr>
                        <m:lit/>
                      </m:rPr>
                      <a:rPr lang="en-US" i="1" dirty="0" smtClean="0">
                        <a:latin typeface="Cambria Math" panose="02040503050406030204" pitchFamily="18" charset="0"/>
                      </a:rPr>
                      <m:t>)</m:t>
                    </m:r>
                    <m:r>
                      <a:rPr lang="en-US" i="1" dirty="0" smtClean="0">
                        <a:latin typeface="Cambria Math" panose="02040503050406030204" pitchFamily="18" charset="0"/>
                      </a:rPr>
                      <m:t>.</m:t>
                    </m:r>
                  </m:oMath>
                </a14:m>
                <a:endParaRPr lang="en-US" dirty="0"/>
              </a:p>
              <a:p>
                <a:r>
                  <a:rPr lang="en-US" dirty="0"/>
                  <a:t>- </a:t>
                </a:r>
                <a14:m>
                  <m:oMath xmlns:m="http://schemas.openxmlformats.org/officeDocument/2006/math">
                    <m:r>
                      <m:rPr>
                        <m:lit/>
                      </m:rPr>
                      <a:rPr lang="en-US" b="1" i="1" dirty="0" smtClean="0">
                        <a:latin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𝜶</m:t>
                    </m:r>
                    <m:r>
                      <m:rPr>
                        <m:lit/>
                      </m:rPr>
                      <a:rPr lang="en-US" b="1" i="1" dirty="0" smtClean="0">
                        <a:latin typeface="Cambria Math" panose="02040503050406030204" pitchFamily="18" charset="0"/>
                      </a:rPr>
                      <m:t>)</m:t>
                    </m:r>
                  </m:oMath>
                </a14:m>
                <a:r>
                  <a:rPr lang="en-US" b="1" dirty="0"/>
                  <a:t>: </a:t>
                </a:r>
                <a:r>
                  <a:rPr lang="en-US" dirty="0"/>
                  <a:t>The learning rate, which determines how much new information overrides the old information.</a:t>
                </a:r>
              </a:p>
              <a:p>
                <a:r>
                  <a:rPr lang="en-US" dirty="0"/>
                  <a:t>- </a:t>
                </a:r>
                <a14:m>
                  <m:oMath xmlns:m="http://schemas.openxmlformats.org/officeDocument/2006/math">
                    <m:r>
                      <m:rPr>
                        <m:lit/>
                      </m:rPr>
                      <a:rPr lang="en-US" b="1" i="1" dirty="0" smtClean="0">
                        <a:latin typeface="Cambria Math" panose="02040503050406030204" pitchFamily="18" charset="0"/>
                      </a:rPr>
                      <m:t>(</m:t>
                    </m:r>
                    <m:r>
                      <a:rPr lang="en-US" b="1" i="1" dirty="0"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𝑹</m:t>
                        </m:r>
                      </m:e>
                      <m:sub>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𝒕</m:t>
                            </m:r>
                            <m:r>
                              <a:rPr lang="en-US" b="1" i="1" dirty="0" smtClean="0">
                                <a:latin typeface="Cambria Math" panose="02040503050406030204" pitchFamily="18" charset="0"/>
                              </a:rPr>
                              <m:t>+</m:t>
                            </m:r>
                            <m:r>
                              <a:rPr lang="en-US" b="1" i="1" dirty="0" smtClean="0">
                                <a:latin typeface="Cambria Math" panose="02040503050406030204" pitchFamily="18" charset="0"/>
                              </a:rPr>
                              <m:t>𝟏</m:t>
                            </m:r>
                          </m:e>
                        </m:d>
                      </m:sub>
                    </m:sSub>
                    <m:r>
                      <a:rPr lang="en-US" b="1" i="1" dirty="0" smtClean="0">
                        <a:latin typeface="Cambria Math" panose="02040503050406030204" pitchFamily="18" charset="0"/>
                      </a:rPr>
                      <m:t>) </m:t>
                    </m:r>
                  </m:oMath>
                </a14:m>
                <a:r>
                  <a:rPr lang="en-US" b="1" dirty="0"/>
                  <a:t>: </a:t>
                </a:r>
                <a:r>
                  <a:rPr lang="en-US" dirty="0"/>
                  <a:t>The reward received after taking action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r>
                      <m:rPr>
                        <m:lit/>
                      </m:rP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in state</a:t>
                </a:r>
                <a14:m>
                  <m:oMath xmlns:m="http://schemas.openxmlformats.org/officeDocument/2006/math">
                    <m:r>
                      <a:rPr lang="en-US" i="1" dirty="0" smtClean="0">
                        <a:latin typeface="Cambria Math" panose="02040503050406030204" pitchFamily="18" charset="0"/>
                      </a:rPr>
                      <m:t> </m:t>
                    </m:r>
                    <m:r>
                      <m:rPr>
                        <m:lit/>
                      </m:rPr>
                      <a:rPr lang="en-US" i="1" dirty="0" smtClean="0">
                        <a:latin typeface="Cambria Math" panose="02040503050406030204" pitchFamily="18" charset="0"/>
                      </a:rPr>
                      <m:t>(</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m:rPr>
                        <m:lit/>
                      </m:rPr>
                      <a:rPr lang="en-US" i="1" dirty="0" smtClean="0">
                        <a:latin typeface="Cambria Math" panose="02040503050406030204" pitchFamily="18" charset="0"/>
                      </a:rPr>
                      <m:t>)</m:t>
                    </m:r>
                    <m:r>
                      <a:rPr lang="en-US" i="1" dirty="0" smtClean="0">
                        <a:latin typeface="Cambria Math" panose="02040503050406030204" pitchFamily="18" charset="0"/>
                      </a:rPr>
                      <m:t>.</m:t>
                    </m:r>
                  </m:oMath>
                </a14:m>
                <a:endParaRPr lang="en-US" dirty="0"/>
              </a:p>
              <a:p>
                <a:r>
                  <a:rPr lang="en-US" dirty="0"/>
                  <a:t>- </a:t>
                </a:r>
                <a14:m>
                  <m:oMath xmlns:m="http://schemas.openxmlformats.org/officeDocument/2006/math">
                    <m:r>
                      <m:rPr>
                        <m:lit/>
                      </m:rPr>
                      <a:rPr lang="en-US" b="1" i="1" dirty="0" smtClean="0">
                        <a:latin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𝜸</m:t>
                    </m:r>
                    <m:r>
                      <m:rPr>
                        <m:lit/>
                      </m:rPr>
                      <a:rPr lang="en-US" b="1" i="1" dirty="0" smtClean="0">
                        <a:latin typeface="Cambria Math" panose="02040503050406030204" pitchFamily="18" charset="0"/>
                      </a:rPr>
                      <m:t>)</m:t>
                    </m:r>
                  </m:oMath>
                </a14:m>
                <a:r>
                  <a:rPr lang="en-US" b="1" dirty="0"/>
                  <a:t>: </a:t>
                </a:r>
                <a:r>
                  <a:rPr lang="en-US" dirty="0"/>
                  <a:t>The discount factor, which determines the importance of future rewards.</a:t>
                </a:r>
              </a:p>
              <a:p>
                <a:r>
                  <a:rPr lang="en-US" dirty="0"/>
                  <a:t>-</a:t>
                </a:r>
                <a:r>
                  <a:rPr lang="en-US" b="1" dirty="0"/>
                  <a:t> </a:t>
                </a:r>
                <a14:m>
                  <m:oMath xmlns:m="http://schemas.openxmlformats.org/officeDocument/2006/math">
                    <m:limLow>
                      <m:limLowPr>
                        <m:ctrlPr>
                          <a:rPr lang="en-US" b="1" i="1" dirty="0" smtClean="0">
                            <a:latin typeface="Cambria Math" panose="02040503050406030204" pitchFamily="18" charset="0"/>
                          </a:rPr>
                        </m:ctrlPr>
                      </m:limLowPr>
                      <m:e>
                        <m:r>
                          <a:rPr lang="en-US" b="1" i="0" dirty="0" smtClean="0">
                            <a:latin typeface="Cambria Math" panose="02040503050406030204" pitchFamily="18" charset="0"/>
                          </a:rPr>
                          <m:t>𝐦𝐚𝐱</m:t>
                        </m:r>
                      </m:e>
                      <m:lim>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m:t>
                            </m:r>
                          </m:sup>
                        </m:sSup>
                      </m:lim>
                    </m:limLow>
                    <m:r>
                      <a:rPr lang="en-US" b="1" i="1" dirty="0" smtClean="0">
                        <a:latin typeface="Cambria Math" panose="02040503050406030204" pitchFamily="18" charset="0"/>
                      </a:rPr>
                      <m:t>  </m:t>
                    </m:r>
                    <m:r>
                      <a:rPr lang="en-US" b="1" i="1" dirty="0" smtClean="0">
                        <a:latin typeface="Cambria Math" panose="02040503050406030204" pitchFamily="18" charset="0"/>
                      </a:rPr>
                      <m:t>𝑸</m:t>
                    </m:r>
                    <m:d>
                      <m:dPr>
                        <m:ctrlPr>
                          <a:rPr lang="en-US" b="1" i="1" dirty="0" smtClean="0">
                            <a:latin typeface="Cambria Math" panose="02040503050406030204" pitchFamily="18" charset="0"/>
                          </a:rPr>
                        </m:ctrlPr>
                      </m:dPr>
                      <m:e>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𝑺</m:t>
                            </m:r>
                          </m:e>
                          <m:sub>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𝒕</m:t>
                                </m:r>
                                <m:r>
                                  <a:rPr lang="en-US" b="1" i="1" dirty="0" smtClean="0">
                                    <a:latin typeface="Cambria Math" panose="02040503050406030204" pitchFamily="18" charset="0"/>
                                  </a:rPr>
                                  <m:t>+</m:t>
                                </m:r>
                                <m:r>
                                  <a:rPr lang="en-US" b="1" i="1" dirty="0" smtClean="0">
                                    <a:latin typeface="Cambria Math" panose="02040503050406030204" pitchFamily="18" charset="0"/>
                                  </a:rPr>
                                  <m:t>𝟏</m:t>
                                </m:r>
                              </m:e>
                            </m:d>
                          </m:sub>
                        </m:sSub>
                        <m:r>
                          <a:rPr lang="en-US" b="1" i="1" dirty="0" smtClean="0">
                            <a:latin typeface="Cambria Math" panose="02040503050406030204" pitchFamily="18" charset="0"/>
                          </a:rPr>
                          <m:t>, </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m:t>
                            </m:r>
                          </m:sup>
                        </m:sSup>
                      </m:e>
                    </m:d>
                  </m:oMath>
                </a14:m>
                <a:r>
                  <a:rPr lang="en-US" b="1" dirty="0"/>
                  <a:t>: </a:t>
                </a:r>
                <a:r>
                  <a:rPr lang="en-US" dirty="0"/>
                  <a:t>The maximum estimated Q-value for the next state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r>
                          <m:rPr>
                            <m:lit/>
                          </m:rPr>
                          <a:rPr lang="en-US" i="1" dirty="0" smtClean="0">
                            <a:latin typeface="Cambria Math" panose="02040503050406030204" pitchFamily="18" charset="0"/>
                          </a:rPr>
                          <m:t>)</m:t>
                        </m:r>
                      </m:sub>
                    </m:sSub>
                    <m:r>
                      <a:rPr lang="en-US" i="1" dirty="0" smtClean="0">
                        <a:latin typeface="Cambria Math" panose="02040503050406030204" pitchFamily="18" charset="0"/>
                      </a:rPr>
                      <m:t>, </m:t>
                    </m:r>
                  </m:oMath>
                </a14:m>
                <a:r>
                  <a:rPr lang="en-US" dirty="0"/>
                  <a:t>considering all possible actions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𝑎</m:t>
                        </m:r>
                      </m:e>
                      <m:sup>
                        <m:r>
                          <a:rPr lang="en-US" i="1" dirty="0" smtClean="0">
                            <a:latin typeface="Cambria Math" panose="02040503050406030204" pitchFamily="18" charset="0"/>
                          </a:rPr>
                          <m:t>′</m:t>
                        </m:r>
                      </m:sup>
                    </m:sSup>
                    <m:r>
                      <m:rPr>
                        <m:lit/>
                      </m:rPr>
                      <a:rPr lang="en-US" i="1" dirty="0" smtClean="0">
                        <a:latin typeface="Cambria Math" panose="02040503050406030204" pitchFamily="18" charset="0"/>
                      </a:rPr>
                      <m:t>)</m:t>
                    </m:r>
                    <m:r>
                      <a:rPr lang="en-US" i="1" dirty="0" smtClean="0">
                        <a:latin typeface="Cambria Math" panose="02040503050406030204" pitchFamily="18" charset="0"/>
                      </a:rPr>
                      <m:t>.</m:t>
                    </m:r>
                  </m:oMath>
                </a14:m>
                <a:endParaRPr lang="en-US" dirty="0"/>
              </a:p>
              <a:p>
                <a:r>
                  <a:rPr lang="en-US" dirty="0"/>
                  <a:t>- </a:t>
                </a:r>
                <a14:m>
                  <m:oMath xmlns:m="http://schemas.openxmlformats.org/officeDocument/2006/math">
                    <m:r>
                      <m:rPr>
                        <m:lit/>
                      </m:rPr>
                      <a:rPr lang="en-US" b="1" i="1" dirty="0" smtClean="0">
                        <a:latin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𝑸</m:t>
                    </m:r>
                    <m:d>
                      <m:dPr>
                        <m:ctrlPr>
                          <a:rPr lang="en-US" b="1" i="1" dirty="0" smtClean="0">
                            <a:latin typeface="Cambria Math" panose="02040503050406030204" pitchFamily="18" charset="0"/>
                          </a:rPr>
                        </m:ctrlPr>
                      </m:dPr>
                      <m:e>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𝑺</m:t>
                            </m:r>
                          </m:e>
                          <m:sub>
                            <m:r>
                              <a:rPr lang="en-US" b="1" i="1" dirty="0" err="1" smtClean="0">
                                <a:latin typeface="Cambria Math" panose="02040503050406030204" pitchFamily="18" charset="0"/>
                              </a:rPr>
                              <m:t>𝒕</m:t>
                            </m:r>
                          </m:sub>
                        </m:sSub>
                        <m:r>
                          <a:rPr lang="en-US" b="1" i="1" dirty="0" smtClean="0">
                            <a:latin typeface="Cambria Math" panose="02040503050406030204" pitchFamily="18" charset="0"/>
                          </a:rPr>
                          <m:t>, </m:t>
                        </m:r>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𝑨</m:t>
                            </m:r>
                          </m:e>
                          <m:sub>
                            <m:r>
                              <a:rPr lang="en-US" b="1" i="1" dirty="0" err="1" smtClean="0">
                                <a:latin typeface="Cambria Math" panose="02040503050406030204" pitchFamily="18" charset="0"/>
                              </a:rPr>
                              <m:t>𝒕</m:t>
                            </m:r>
                          </m:sub>
                        </m:sSub>
                      </m:e>
                    </m:d>
                    <m:r>
                      <m:rPr>
                        <m:lit/>
                      </m:rPr>
                      <a:rPr lang="en-US" b="1" i="1" dirty="0" smtClean="0">
                        <a:latin typeface="Cambria Math" panose="02040503050406030204" pitchFamily="18" charset="0"/>
                      </a:rPr>
                      <m:t>)</m:t>
                    </m:r>
                  </m:oMath>
                </a14:m>
                <a:r>
                  <a:rPr lang="en-US" b="1" dirty="0"/>
                  <a:t>: </a:t>
                </a:r>
                <a:r>
                  <a:rPr lang="en-US" dirty="0"/>
                  <a:t>Subtracted to calculate the temporal difference (TD) error.</a:t>
                </a:r>
              </a:p>
              <a:p>
                <a:endParaRPr lang="en-US" dirty="0"/>
              </a:p>
              <a:p>
                <a:r>
                  <a:rPr lang="en-US" b="1" dirty="0"/>
                  <a:t>From Bellman Update to Loss Function:</a:t>
                </a:r>
              </a:p>
              <a:p>
                <a:r>
                  <a:rPr lang="en-US" dirty="0"/>
                  <a:t>The Bellman update can be interpreted as minimizing the temporal difference (TD) error. This can be formulated as a loss function in the context of training a Q-function approximator (e.g., a neural network).</a:t>
                </a:r>
              </a:p>
              <a:p>
                <a:endParaRPr lang="en-US" dirty="0"/>
              </a:p>
              <a:p>
                <a:r>
                  <a:rPr lang="en-US" b="1" dirty="0"/>
                  <a:t>TD Loss Function:</a:t>
                </a:r>
              </a:p>
              <a:p>
                <a:r>
                  <a:rPr lang="en-US" dirty="0"/>
                  <a:t>To turn the Bellman update into a loss function, you can define the TD error and then square it to penalize larger errors:</a:t>
                </a:r>
              </a:p>
              <a:p>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𝑇𝐷</m:t>
                      </m:r>
                      <m:r>
                        <a:rPr lang="en-US" i="1" dirty="0" smtClean="0">
                          <a:latin typeface="Cambria Math" panose="02040503050406030204" pitchFamily="18" charset="0"/>
                        </a:rPr>
                        <m:t> </m:t>
                      </m:r>
                      <m:r>
                        <a:rPr lang="en-US" i="1" dirty="0" smtClean="0">
                          <a:latin typeface="Cambria Math" panose="02040503050406030204" pitchFamily="18" charset="0"/>
                        </a:rPr>
                        <m:t>𝐸𝑟𝑟𝑜𝑟</m:t>
                      </m:r>
                      <m:r>
                        <a:rPr lang="en-US" i="1" dirty="0" smtClean="0">
                          <a:latin typeface="Cambria Math" panose="02040503050406030204" pitchFamily="18" charset="0"/>
                        </a:rPr>
                        <m:t>= </m:t>
                      </m:r>
                      <m:d>
                        <m:dPr>
                          <m:begChr m:val=""/>
                          <m:ctrlPr>
                            <a:rPr lang="en-US" i="1" dirty="0" smtClean="0">
                              <a:latin typeface="Cambria Math" panose="02040503050406030204" pitchFamily="18" charset="0"/>
                            </a:rPr>
                          </m:ctrlPr>
                        </m:dPr>
                        <m:e>
                          <m:d>
                            <m:dPr>
                              <m:endChr m:val=""/>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m:t>
                              </m:r>
                              <m:r>
                                <a:rPr lang="en-US" i="1" dirty="0" smtClean="0">
                                  <a:latin typeface="Cambria Math" panose="02040503050406030204" pitchFamily="18" charset="0"/>
                                </a:rPr>
                                <m:t>𝛾</m:t>
                              </m:r>
                              <m:r>
                                <a:rPr lang="en-US" b="0" i="1" dirty="0" smtClean="0">
                                  <a:latin typeface="Cambria Math" panose="02040503050406030204" pitchFamily="18" charset="0"/>
                                </a:rPr>
                                <m:t> </m:t>
                              </m:r>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max</m:t>
                                  </m:r>
                                </m:e>
                                <m:li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𝑎</m:t>
                                      </m:r>
                                    </m:e>
                                    <m:sup>
                                      <m:r>
                                        <a:rPr lang="en-US" b="0" i="1" dirty="0" smtClean="0">
                                          <a:latin typeface="Cambria Math" panose="02040503050406030204" pitchFamily="18" charset="0"/>
                                        </a:rPr>
                                        <m:t>′</m:t>
                                      </m:r>
                                    </m:sup>
                                  </m:sSup>
                                </m:lim>
                              </m:limLow>
                              <m:r>
                                <a:rPr lang="en-US" b="0"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𝑎</m:t>
                                      </m:r>
                                    </m:e>
                                    <m:sup>
                                      <m:r>
                                        <a:rPr lang="en-US" i="1" dirty="0" smtClean="0">
                                          <a:latin typeface="Cambria Math" panose="02040503050406030204" pitchFamily="18" charset="0"/>
                                        </a:rPr>
                                        <m:t>′</m:t>
                                      </m:r>
                                    </m:sup>
                                  </m:sSup>
                                </m:e>
                              </m:d>
                              <m:r>
                                <a:rPr lang="en-US"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e>
                              </m:d>
                            </m:e>
                          </m:d>
                        </m:e>
                      </m:d>
                    </m:oMath>
                  </m:oMathPara>
                </a14:m>
                <a:endParaRPr lang="en-US" dirty="0"/>
              </a:p>
              <a:p>
                <a:endParaRPr lang="en-US" dirty="0"/>
              </a:p>
              <a:p>
                <a:r>
                  <a:rPr lang="en-US" dirty="0"/>
                  <a:t>The loss function to minimize during training would then be:</a:t>
                </a:r>
              </a:p>
              <a:p>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ℒ</m:t>
                      </m:r>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m:t>
                          </m:r>
                        </m:den>
                      </m:f>
                      <m:r>
                        <a:rPr lang="en-US" i="1" dirty="0" smtClean="0">
                          <a:latin typeface="Cambria Math" panose="02040503050406030204" pitchFamily="18" charset="0"/>
                        </a:rPr>
                        <m:t> </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𝑇𝐷</m:t>
                              </m:r>
                              <m:r>
                                <a:rPr lang="en-US" b="0" i="1" dirty="0" smtClean="0">
                                  <a:latin typeface="Cambria Math" panose="02040503050406030204" pitchFamily="18" charset="0"/>
                                </a:rPr>
                                <m:t> </m:t>
                              </m:r>
                              <m:r>
                                <a:rPr lang="en-US" b="0" i="1" dirty="0" smtClean="0">
                                  <a:latin typeface="Cambria Math" panose="02040503050406030204" pitchFamily="18" charset="0"/>
                                </a:rPr>
                                <m:t>𝐸𝑟𝑟𝑜𝑟</m:t>
                              </m:r>
                            </m:e>
                          </m:d>
                        </m:e>
                        <m:sup>
                          <m:r>
                            <a:rPr lang="en-US" i="1" dirty="0" smtClean="0">
                              <a:latin typeface="Cambria Math" panose="02040503050406030204" pitchFamily="18" charset="0"/>
                            </a:rPr>
                            <m:t>2</m:t>
                          </m:r>
                        </m:sup>
                      </m:sSup>
                    </m:oMath>
                  </m:oMathPara>
                </a14:m>
                <a:endParaRPr lang="en-US" dirty="0"/>
              </a:p>
              <a:p>
                <a:endParaRPr lang="en-US" dirty="0"/>
              </a:p>
              <a:p>
                <a:r>
                  <a:rPr lang="en-US" dirty="0"/>
                  <a:t>Substituting the TD Error, the loss function becomes:</a:t>
                </a:r>
              </a:p>
              <a:p>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ℒ</m:t>
                      </m:r>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m:t>
                          </m:r>
                        </m:den>
                      </m:f>
                      <m:sSup>
                        <m:sSupPr>
                          <m:ctrlPr>
                            <a:rPr lang="en-US" b="0" i="1" dirty="0" smtClean="0">
                              <a:latin typeface="Cambria Math" panose="02040503050406030204" pitchFamily="18" charset="0"/>
                            </a:rPr>
                          </m:ctrlPr>
                        </m:sSupPr>
                        <m:e>
                          <m:d>
                            <m:dPr>
                              <m:begChr m:val=""/>
                              <m:ctrlPr>
                                <a:rPr lang="en-US" i="1" dirty="0" smtClean="0">
                                  <a:latin typeface="Cambria Math" panose="02040503050406030204" pitchFamily="18" charset="0"/>
                                </a:rPr>
                              </m:ctrlPr>
                            </m:dPr>
                            <m:e>
                              <m:d>
                                <m:dPr>
                                  <m:endChr m:val=""/>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m:t>
                                  </m:r>
                                  <m:r>
                                    <a:rPr lang="en-US" i="1" dirty="0" smtClean="0">
                                      <a:latin typeface="Cambria Math" panose="02040503050406030204" pitchFamily="18" charset="0"/>
                                    </a:rPr>
                                    <m:t>𝛾</m:t>
                                  </m:r>
                                  <m:r>
                                    <a:rPr lang="en-US" b="0" i="1" dirty="0" smtClean="0">
                                      <a:latin typeface="Cambria Math" panose="02040503050406030204" pitchFamily="18" charset="0"/>
                                    </a:rPr>
                                    <m:t> </m:t>
                                  </m:r>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max</m:t>
                                      </m:r>
                                    </m:e>
                                    <m:li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𝑎</m:t>
                                          </m:r>
                                        </m:e>
                                        <m:sup>
                                          <m:r>
                                            <a:rPr lang="en-US" b="0" i="1" dirty="0" smtClean="0">
                                              <a:latin typeface="Cambria Math" panose="02040503050406030204" pitchFamily="18" charset="0"/>
                                            </a:rPr>
                                            <m:t>′</m:t>
                                          </m:r>
                                        </m:sup>
                                      </m:sSup>
                                    </m:lim>
                                  </m:limLow>
                                  <m:r>
                                    <a:rPr lang="en-US" b="0"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𝑆</m:t>
                                          </m:r>
                                        </m:e>
                                        <m:sub>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𝑡</m:t>
                                              </m:r>
                                              <m:r>
                                                <a:rPr lang="en-US" i="1" dirty="0" smtClean="0">
                                                  <a:latin typeface="Cambria Math" panose="02040503050406030204" pitchFamily="18" charset="0"/>
                                                </a:rPr>
                                                <m:t>+1</m:t>
                                              </m:r>
                                            </m:e>
                                          </m:d>
                                        </m:sub>
                                      </m:sSub>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𝑎</m:t>
                                          </m:r>
                                        </m:e>
                                        <m:sup>
                                          <m:r>
                                            <a:rPr lang="en-US" i="1" dirty="0" smtClean="0">
                                              <a:latin typeface="Cambria Math" panose="02040503050406030204" pitchFamily="18" charset="0"/>
                                            </a:rPr>
                                            <m:t>′</m:t>
                                          </m:r>
                                        </m:sup>
                                      </m:sSup>
                                    </m:e>
                                  </m:d>
                                  <m:r>
                                    <a:rPr lang="en-US" i="1" dirty="0" smtClean="0">
                                      <a:latin typeface="Cambria Math" panose="02040503050406030204" pitchFamily="18" charset="0"/>
                                    </a:rPr>
                                    <m:t>− </m:t>
                                  </m:r>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𝑆</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𝐴</m:t>
                                          </m:r>
                                        </m:e>
                                        <m:sub>
                                          <m:r>
                                            <a:rPr lang="en-US" i="1" dirty="0" err="1" smtClean="0">
                                              <a:latin typeface="Cambria Math" panose="02040503050406030204" pitchFamily="18" charset="0"/>
                                            </a:rPr>
                                            <m:t>𝑡</m:t>
                                          </m:r>
                                        </m:sub>
                                      </m:sSub>
                                    </m:e>
                                  </m:d>
                                </m:e>
                              </m:d>
                            </m:e>
                          </m:d>
                        </m:e>
                        <m:sup>
                          <m:r>
                            <a:rPr lang="en-US" b="0" i="1" dirty="0" smtClean="0">
                              <a:latin typeface="Cambria Math" panose="02040503050406030204" pitchFamily="18" charset="0"/>
                            </a:rPr>
                            <m:t>2</m:t>
                          </m:r>
                        </m:sup>
                      </m:sSup>
                    </m:oMath>
                  </m:oMathPara>
                </a14:m>
                <a:endParaRPr lang="en-US" dirty="0"/>
              </a:p>
              <a:p>
                <a:endParaRPr lang="en-US" dirty="0"/>
              </a:p>
              <a:p>
                <a:r>
                  <a:rPr lang="en-US" dirty="0"/>
                  <a:t>This loss function is often used to update the parameters of a Q-function approximator, like a neural network, in deep Q-learning algorithms. The goal is to minimize the difference between the current Q-value estimate and the target value derived from the Bellman equation.</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The expression you provided is the Bellman update equation for Q-learning, a key concept in reinforcement learning. Here's a breakdown of the equation:</a:t>
                </a:r>
              </a:p>
              <a:p>
                <a:endParaRPr lang="en-US" dirty="0"/>
              </a:p>
              <a:p>
                <a:r>
                  <a:rPr lang="en-US" b="1" dirty="0"/>
                  <a:t>Bellman Update Equation:</a:t>
                </a:r>
                <a:endParaRPr lang="en-US" dirty="0"/>
              </a:p>
              <a:p>
                <a:r>
                  <a:rPr lang="en-US" i="0" dirty="0">
                    <a:latin typeface="Cambria Math" panose="02040503050406030204" pitchFamily="18" charset="0"/>
                  </a:rPr>
                  <a:t>𝑄(</a:t>
                </a:r>
                <a:r>
                  <a:rPr lang="en-US" i="0" dirty="0" err="1">
                    <a:latin typeface="Cambria Math" panose="02040503050406030204" pitchFamily="18" charset="0"/>
                  </a:rPr>
                  <a:t>𝑆_𝑡</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)←𝑄(</a:t>
                </a:r>
                <a:r>
                  <a:rPr lang="en-US" i="0" dirty="0" err="1">
                    <a:latin typeface="Cambria Math" panose="02040503050406030204" pitchFamily="18" charset="0"/>
                  </a:rPr>
                  <a:t>𝑆_𝑡</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 𝛼├ ( 𝑅_{𝑡+1} +𝛾</a:t>
                </a:r>
                <a:r>
                  <a:rPr lang="en-US" b="0" i="0" dirty="0">
                    <a:latin typeface="Cambria Math" panose="02040503050406030204" pitchFamily="18" charset="0"/>
                  </a:rPr>
                  <a:t> </a:t>
                </a:r>
                <a:r>
                  <a:rPr lang="en-US" i="0" dirty="0">
                    <a:latin typeface="Cambria Math" panose="02040503050406030204" pitchFamily="18" charset="0"/>
                  </a:rPr>
                  <a:t>max_(</a:t>
                </a:r>
                <a:r>
                  <a:rPr lang="en-US" b="0" i="0" dirty="0">
                    <a:latin typeface="Cambria Math" panose="02040503050406030204" pitchFamily="18" charset="0"/>
                  </a:rPr>
                  <a:t>𝑎^′ )   </a:t>
                </a:r>
                <a:r>
                  <a:rPr lang="en-US" i="0" dirty="0">
                    <a:latin typeface="Cambria Math" panose="02040503050406030204" pitchFamily="18" charset="0"/>
                  </a:rPr>
                  <a:t>𝑄(𝑆_{𝑡+1} , 𝑎^′ )− 𝑄(</a:t>
                </a:r>
                <a:r>
                  <a:rPr lang="en-US" i="0" dirty="0" err="1">
                    <a:latin typeface="Cambria Math" panose="02040503050406030204" pitchFamily="18" charset="0"/>
                  </a:rPr>
                  <a:t>𝑆_𝑡</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a:t>
                </a:r>
                <a:endParaRPr lang="en-US" dirty="0"/>
              </a:p>
              <a:p>
                <a:endParaRPr lang="en-US" dirty="0"/>
              </a:p>
              <a:p>
                <a:r>
                  <a:rPr lang="en-US" dirty="0"/>
                  <a:t>- </a:t>
                </a:r>
                <a:r>
                  <a:rPr lang="en-US" b="1" i="0" dirty="0">
                    <a:latin typeface="Cambria Math" panose="02040503050406030204" pitchFamily="18" charset="0"/>
                  </a:rPr>
                  <a:t>\( 𝑸(</a:t>
                </a:r>
                <a:r>
                  <a:rPr lang="en-US" b="1" i="0" dirty="0" err="1">
                    <a:latin typeface="Cambria Math" panose="02040503050406030204" pitchFamily="18" charset="0"/>
                  </a:rPr>
                  <a:t>𝑺_𝒕</a:t>
                </a:r>
                <a:r>
                  <a:rPr lang="en-US" b="1" i="0" dirty="0">
                    <a:latin typeface="Cambria Math" panose="02040503050406030204" pitchFamily="18" charset="0"/>
                  </a:rPr>
                  <a:t>, </a:t>
                </a:r>
                <a:r>
                  <a:rPr lang="en-US" b="1" i="0" dirty="0" err="1">
                    <a:latin typeface="Cambria Math" panose="02040503050406030204" pitchFamily="18" charset="0"/>
                  </a:rPr>
                  <a:t>𝑨_𝒕</a:t>
                </a:r>
                <a:r>
                  <a:rPr lang="en-US" b="1" i="0" dirty="0">
                    <a:latin typeface="Cambria Math" panose="02040503050406030204" pitchFamily="18" charset="0"/>
                  </a:rPr>
                  <a:t> )\)</a:t>
                </a:r>
                <a:r>
                  <a:rPr lang="en-US" b="1" dirty="0"/>
                  <a:t>: </a:t>
                </a:r>
                <a:r>
                  <a:rPr lang="en-US" dirty="0"/>
                  <a:t>The current estimate of the Q-value for taking action </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 </a:t>
                </a:r>
                <a:r>
                  <a:rPr lang="en-US" dirty="0"/>
                  <a:t>in state </a:t>
                </a:r>
                <a:r>
                  <a:rPr lang="en-US" i="0" dirty="0">
                    <a:latin typeface="Cambria Math" panose="02040503050406030204" pitchFamily="18" charset="0"/>
                  </a:rPr>
                  <a:t>\( </a:t>
                </a:r>
                <a:r>
                  <a:rPr lang="en-US" i="0" dirty="0" err="1">
                    <a:latin typeface="Cambria Math" panose="02040503050406030204" pitchFamily="18" charset="0"/>
                  </a:rPr>
                  <a:t>𝑆_𝑡</a:t>
                </a:r>
                <a:r>
                  <a:rPr lang="en-US" i="0" dirty="0">
                    <a:latin typeface="Cambria Math" panose="02040503050406030204" pitchFamily="18" charset="0"/>
                  </a:rPr>
                  <a:t> \).</a:t>
                </a:r>
                <a:endParaRPr lang="en-US" dirty="0"/>
              </a:p>
              <a:p>
                <a:r>
                  <a:rPr lang="en-US" dirty="0"/>
                  <a:t>- </a:t>
                </a:r>
                <a:r>
                  <a:rPr lang="en-US" b="1" i="0" dirty="0">
                    <a:latin typeface="Cambria Math" panose="02040503050406030204" pitchFamily="18" charset="0"/>
                  </a:rPr>
                  <a:t>\( 𝜶\)</a:t>
                </a:r>
                <a:r>
                  <a:rPr lang="en-US" b="1" dirty="0"/>
                  <a:t>: </a:t>
                </a:r>
                <a:r>
                  <a:rPr lang="en-US" dirty="0"/>
                  <a:t>The learning rate, which determines how much new information overrides the old information.</a:t>
                </a:r>
              </a:p>
              <a:p>
                <a:r>
                  <a:rPr lang="en-US" dirty="0"/>
                  <a:t>- </a:t>
                </a:r>
                <a:r>
                  <a:rPr lang="en-US" b="1" i="0" dirty="0">
                    <a:latin typeface="Cambria Math" panose="02040503050406030204" pitchFamily="18" charset="0"/>
                  </a:rPr>
                  <a:t>\( 𝑹_{𝒕+𝟏} ) </a:t>
                </a:r>
                <a:r>
                  <a:rPr lang="en-US" b="1" dirty="0"/>
                  <a:t>: </a:t>
                </a:r>
                <a:r>
                  <a:rPr lang="en-US" dirty="0"/>
                  <a:t>The reward received after taking action </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 </a:t>
                </a:r>
                <a:r>
                  <a:rPr lang="en-US" dirty="0"/>
                  <a:t>in state</a:t>
                </a:r>
                <a:r>
                  <a:rPr lang="en-US" i="0" dirty="0">
                    <a:latin typeface="Cambria Math" panose="02040503050406030204" pitchFamily="18" charset="0"/>
                  </a:rPr>
                  <a:t> \( </a:t>
                </a:r>
                <a:r>
                  <a:rPr lang="en-US" i="0" dirty="0" err="1">
                    <a:latin typeface="Cambria Math" panose="02040503050406030204" pitchFamily="18" charset="0"/>
                  </a:rPr>
                  <a:t>𝑆_𝑡</a:t>
                </a:r>
                <a:r>
                  <a:rPr lang="en-US" i="0" dirty="0">
                    <a:latin typeface="Cambria Math" panose="02040503050406030204" pitchFamily="18" charset="0"/>
                  </a:rPr>
                  <a:t> \).</a:t>
                </a:r>
                <a:endParaRPr lang="en-US" dirty="0"/>
              </a:p>
              <a:p>
                <a:r>
                  <a:rPr lang="en-US" dirty="0"/>
                  <a:t>- </a:t>
                </a:r>
                <a:r>
                  <a:rPr lang="en-US" b="1" i="0" dirty="0">
                    <a:latin typeface="Cambria Math" panose="02040503050406030204" pitchFamily="18" charset="0"/>
                  </a:rPr>
                  <a:t>\( 𝜸\)</a:t>
                </a:r>
                <a:r>
                  <a:rPr lang="en-US" b="1" dirty="0"/>
                  <a:t>: </a:t>
                </a:r>
                <a:r>
                  <a:rPr lang="en-US" dirty="0"/>
                  <a:t>The discount factor, which determines the importance of future rewards.</a:t>
                </a:r>
              </a:p>
              <a:p>
                <a:r>
                  <a:rPr lang="en-US" dirty="0"/>
                  <a:t>-</a:t>
                </a:r>
                <a:r>
                  <a:rPr lang="en-US" b="1" dirty="0"/>
                  <a:t> </a:t>
                </a:r>
                <a:r>
                  <a:rPr lang="en-US" b="1" i="0" dirty="0">
                    <a:latin typeface="Cambria Math" panose="02040503050406030204" pitchFamily="18" charset="0"/>
                  </a:rPr>
                  <a:t>(𝐦𝐚𝐱)┬(𝒂^′ )   𝑸(𝑺_{𝒕+𝟏} , 𝒂^′ )</a:t>
                </a:r>
                <a:r>
                  <a:rPr lang="en-US" b="1" dirty="0"/>
                  <a:t>: </a:t>
                </a:r>
                <a:r>
                  <a:rPr lang="en-US" dirty="0"/>
                  <a:t>The maximum estimated Q-value for the next state </a:t>
                </a:r>
                <a:r>
                  <a:rPr lang="en-US" i="0" dirty="0">
                    <a:latin typeface="Cambria Math" panose="02040503050406030204" pitchFamily="18" charset="0"/>
                  </a:rPr>
                  <a:t>\( 𝑆_({𝑡+1}\)), </a:t>
                </a:r>
                <a:r>
                  <a:rPr lang="en-US" dirty="0"/>
                  <a:t>considering all possible actions </a:t>
                </a:r>
                <a:r>
                  <a:rPr lang="en-US" i="0" dirty="0">
                    <a:latin typeface="Cambria Math" panose="02040503050406030204" pitchFamily="18" charset="0"/>
                  </a:rPr>
                  <a:t>\( 𝑎^′ \).</a:t>
                </a:r>
                <a:endParaRPr lang="en-US" dirty="0"/>
              </a:p>
              <a:p>
                <a:r>
                  <a:rPr lang="en-US" dirty="0"/>
                  <a:t>- </a:t>
                </a:r>
                <a:r>
                  <a:rPr lang="en-US" b="1" i="0" dirty="0">
                    <a:latin typeface="Cambria Math" panose="02040503050406030204" pitchFamily="18" charset="0"/>
                  </a:rPr>
                  <a:t>\( 𝑸(</a:t>
                </a:r>
                <a:r>
                  <a:rPr lang="en-US" b="1" i="0" dirty="0" err="1">
                    <a:latin typeface="Cambria Math" panose="02040503050406030204" pitchFamily="18" charset="0"/>
                  </a:rPr>
                  <a:t>𝑺_𝒕</a:t>
                </a:r>
                <a:r>
                  <a:rPr lang="en-US" b="1" i="0" dirty="0">
                    <a:latin typeface="Cambria Math" panose="02040503050406030204" pitchFamily="18" charset="0"/>
                  </a:rPr>
                  <a:t>, </a:t>
                </a:r>
                <a:r>
                  <a:rPr lang="en-US" b="1" i="0" dirty="0" err="1">
                    <a:latin typeface="Cambria Math" panose="02040503050406030204" pitchFamily="18" charset="0"/>
                  </a:rPr>
                  <a:t>𝑨_𝒕</a:t>
                </a:r>
                <a:r>
                  <a:rPr lang="en-US" b="1" i="0" dirty="0">
                    <a:latin typeface="Cambria Math" panose="02040503050406030204" pitchFamily="18" charset="0"/>
                  </a:rPr>
                  <a:t> )\)</a:t>
                </a:r>
                <a:r>
                  <a:rPr lang="en-US" b="1" dirty="0"/>
                  <a:t>: </a:t>
                </a:r>
                <a:r>
                  <a:rPr lang="en-US" dirty="0"/>
                  <a:t>Subtracted to calculate the temporal difference (TD) error.</a:t>
                </a:r>
              </a:p>
              <a:p>
                <a:endParaRPr lang="en-US" dirty="0"/>
              </a:p>
              <a:p>
                <a:r>
                  <a:rPr lang="en-US" b="1" dirty="0"/>
                  <a:t>From Bellman Update to Loss Function:</a:t>
                </a:r>
              </a:p>
              <a:p>
                <a:r>
                  <a:rPr lang="en-US" dirty="0"/>
                  <a:t>The Bellman update can be interpreted as minimizing the temporal difference (TD) error. This can be formulated as a loss function in the context of training a Q-function approximator (e.g., a neural network).</a:t>
                </a:r>
              </a:p>
              <a:p>
                <a:endParaRPr lang="en-US" dirty="0"/>
              </a:p>
              <a:p>
                <a:r>
                  <a:rPr lang="en-US" b="1" dirty="0"/>
                  <a:t>TD Loss Function:</a:t>
                </a:r>
              </a:p>
              <a:p>
                <a:r>
                  <a:rPr lang="en-US" dirty="0"/>
                  <a:t>To turn the Bellman update into a loss function, you can define the TD error and then square it to penalize larger errors:</a:t>
                </a:r>
              </a:p>
              <a:p>
                <a:endParaRPr lang="en-US" dirty="0"/>
              </a:p>
              <a:p>
                <a:r>
                  <a:rPr lang="en-US" i="0" dirty="0">
                    <a:latin typeface="Cambria Math" panose="02040503050406030204" pitchFamily="18" charset="0"/>
                  </a:rPr>
                  <a:t>𝑇𝐷 𝐸𝑟𝑟𝑜𝑟= ├ ( 𝑅_{𝑡+1} +𝛾</a:t>
                </a:r>
                <a:r>
                  <a:rPr lang="en-US" b="0" i="0" dirty="0">
                    <a:latin typeface="Cambria Math" panose="02040503050406030204" pitchFamily="18" charset="0"/>
                  </a:rPr>
                  <a:t> </a:t>
                </a:r>
                <a:r>
                  <a:rPr lang="en-US" i="0" dirty="0">
                    <a:latin typeface="Cambria Math" panose="02040503050406030204" pitchFamily="18" charset="0"/>
                  </a:rPr>
                  <a:t>max┬(</a:t>
                </a:r>
                <a:r>
                  <a:rPr lang="en-US" b="0" i="0" dirty="0">
                    <a:latin typeface="Cambria Math" panose="02040503050406030204" pitchFamily="18" charset="0"/>
                  </a:rPr>
                  <a:t>𝑎^′ )   </a:t>
                </a:r>
                <a:r>
                  <a:rPr lang="en-US" i="0" dirty="0">
                    <a:latin typeface="Cambria Math" panose="02040503050406030204" pitchFamily="18" charset="0"/>
                  </a:rPr>
                  <a:t>𝑄(𝑆_{𝑡+1} , 𝑎^′ )− 𝑄(</a:t>
                </a:r>
                <a:r>
                  <a:rPr lang="en-US" i="0" dirty="0" err="1">
                    <a:latin typeface="Cambria Math" panose="02040503050406030204" pitchFamily="18" charset="0"/>
                  </a:rPr>
                  <a:t>𝑆_𝑡</a:t>
                </a:r>
                <a:r>
                  <a:rPr lang="en-US" i="0" dirty="0">
                    <a:latin typeface="Cambria Math" panose="02040503050406030204" pitchFamily="18" charset="0"/>
                  </a:rPr>
                  <a:t>, </a:t>
                </a:r>
                <a:r>
                  <a:rPr lang="en-US" i="0" dirty="0" err="1">
                    <a:latin typeface="Cambria Math" panose="02040503050406030204" pitchFamily="18" charset="0"/>
                  </a:rPr>
                  <a:t>𝐴_𝑡</a:t>
                </a:r>
                <a:r>
                  <a:rPr lang="en-US" i="0" dirty="0">
                    <a:latin typeface="Cambria Math" panose="02040503050406030204" pitchFamily="18" charset="0"/>
                  </a:rPr>
                  <a:t> )┤)</a:t>
                </a:r>
                <a:endParaRPr lang="en-US" dirty="0"/>
              </a:p>
              <a:p>
                <a:endParaRPr lang="en-US" dirty="0"/>
              </a:p>
              <a:p>
                <a:r>
                  <a:rPr lang="en-US" dirty="0"/>
                  <a:t>The loss function to minimize during training would then be:</a:t>
                </a:r>
              </a:p>
              <a:p>
                <a:endParaRPr lang="en-US" dirty="0"/>
              </a:p>
              <a:p>
                <a:r>
                  <a:rPr lang="en-US" i="0" dirty="0">
                    <a:latin typeface="Cambria Math" panose="02040503050406030204" pitchFamily="18" charset="0"/>
                    <a:ea typeface="Cambria Math" panose="02040503050406030204" pitchFamily="18" charset="0"/>
                  </a:rPr>
                  <a:t>ℒ</a:t>
                </a:r>
                <a:r>
                  <a:rPr lang="en-US" i="0" dirty="0">
                    <a:latin typeface="Cambria Math" panose="02040503050406030204" pitchFamily="18" charset="0"/>
                  </a:rPr>
                  <a:t>=</a:t>
                </a:r>
                <a:r>
                  <a:rPr lang="en-US" b="0" i="0" dirty="0">
                    <a:latin typeface="Cambria Math" panose="02040503050406030204" pitchFamily="18" charset="0"/>
                  </a:rPr>
                  <a:t>1/2 </a:t>
                </a:r>
                <a:r>
                  <a:rPr lang="en-US" i="0" dirty="0">
                    <a:latin typeface="Cambria Math" panose="02040503050406030204" pitchFamily="18" charset="0"/>
                  </a:rPr>
                  <a:t> </a:t>
                </a:r>
                <a:r>
                  <a:rPr lang="en-US" b="0" i="0" dirty="0">
                    <a:latin typeface="Cambria Math" panose="02040503050406030204" pitchFamily="18" charset="0"/>
                  </a:rPr>
                  <a:t>(𝑇𝐷 𝐸𝑟𝑟𝑜𝑟)^</a:t>
                </a:r>
                <a:r>
                  <a:rPr lang="en-US" i="0" dirty="0">
                    <a:latin typeface="Cambria Math" panose="02040503050406030204" pitchFamily="18" charset="0"/>
                  </a:rPr>
                  <a:t>2</a:t>
                </a:r>
                <a:endParaRPr lang="en-US" dirty="0"/>
              </a:p>
              <a:p>
                <a:endParaRPr lang="en-US" dirty="0"/>
              </a:p>
              <a:p>
                <a:r>
                  <a:rPr lang="en-US" dirty="0"/>
                  <a:t>Substituting the TD Error, the loss function becomes:</a:t>
                </a:r>
              </a:p>
              <a:p>
                <a:endParaRPr lang="en-US" dirty="0"/>
              </a:p>
              <a:p>
                <a:pPr/>
                <a:r>
                  <a:rPr lang="en-US" i="0" dirty="0">
                    <a:latin typeface="Cambria Math" panose="02040503050406030204" pitchFamily="18" charset="0"/>
                    <a:ea typeface="Cambria Math" panose="02040503050406030204" pitchFamily="18" charset="0"/>
                  </a:rPr>
                  <a:t>ℒ</a:t>
                </a:r>
                <a:r>
                  <a:rPr lang="en-US" i="0" dirty="0">
                    <a:latin typeface="Cambria Math" panose="02040503050406030204" pitchFamily="18" charset="0"/>
                  </a:rPr>
                  <a:t>=</a:t>
                </a:r>
                <a:r>
                  <a:rPr lang="en-US" b="0" i="0" dirty="0">
                    <a:latin typeface="Cambria Math" panose="02040503050406030204" pitchFamily="18" charset="0"/>
                  </a:rPr>
                  <a:t>1/2 </a:t>
                </a:r>
                <a:r>
                  <a:rPr lang="en-US" i="0" dirty="0">
                    <a:latin typeface="Cambria Math" panose="02040503050406030204" pitchFamily="18" charset="0"/>
                  </a:rPr>
                  <a:t>├ ( 𝑅_{𝑡+1} +𝛾</a:t>
                </a:r>
                <a:r>
                  <a:rPr lang="en-US" b="0" i="0" dirty="0">
                    <a:latin typeface="Cambria Math" panose="02040503050406030204" pitchFamily="18" charset="0"/>
                  </a:rPr>
                  <a:t> </a:t>
                </a:r>
                <a:r>
                  <a:rPr lang="en-US" i="0" dirty="0">
                    <a:latin typeface="Cambria Math" panose="02040503050406030204" pitchFamily="18" charset="0"/>
                  </a:rPr>
                  <a:t>max┬(</a:t>
                </a:r>
                <a:r>
                  <a:rPr lang="en-US" b="0" i="0" dirty="0">
                    <a:latin typeface="Cambria Math" panose="02040503050406030204" pitchFamily="18" charset="0"/>
                  </a:rPr>
                  <a:t>𝑎^′ )   </a:t>
                </a:r>
                <a:r>
                  <a:rPr lang="en-US" i="0" dirty="0">
                    <a:latin typeface="Cambria Math" panose="02040503050406030204" pitchFamily="18" charset="0"/>
                  </a:rPr>
                  <a:t>𝑄(𝑆_{𝑡+1} , 𝑎^′ )− 𝑄(</a:t>
                </a:r>
                <a:r>
                  <a:rPr lang="en-US" i="0" dirty="0" err="1">
                    <a:latin typeface="Cambria Math" panose="02040503050406030204" pitchFamily="18" charset="0"/>
                  </a:rPr>
                  <a:t>𝑆_𝑡</a:t>
                </a:r>
                <a:r>
                  <a:rPr lang="en-US" i="0" dirty="0">
                    <a:latin typeface="Cambria Math" panose="02040503050406030204" pitchFamily="18" charset="0"/>
                  </a:rPr>
                  <a:t>, </a:t>
                </a:r>
                <a:r>
                  <a:rPr lang="en-US" i="0" dirty="0" err="1">
                    <a:latin typeface="Cambria Math" panose="02040503050406030204" pitchFamily="18" charset="0"/>
                  </a:rPr>
                  <a:t>𝐴_𝑡 )┤)</a:t>
                </a:r>
                <a:r>
                  <a:rPr lang="en-US" b="0" i="0" dirty="0">
                    <a:latin typeface="Cambria Math" panose="02040503050406030204" pitchFamily="18" charset="0"/>
                  </a:rPr>
                  <a:t>^2</a:t>
                </a:r>
                <a:endParaRPr lang="en-US" dirty="0"/>
              </a:p>
              <a:p>
                <a:pPr/>
                <a:endParaRPr lang="en-US" dirty="0"/>
              </a:p>
              <a:p>
                <a:r>
                  <a:rPr lang="en-US" dirty="0"/>
                  <a:t>This loss function is often used to update the parameters of a Q-function approximator, like a neural network, in deep Q-learning algorithms. The goal is to minimize the difference between the current Q-value estimate and the target value derived from the Bellman equation.</a:t>
                </a:r>
                <a:endParaRPr dirty="0"/>
              </a:p>
            </p:txBody>
          </p:sp>
        </mc:Fallback>
      </mc:AlternateContent>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pPr marL="342900" indent="-342900" algn="l">
                  <a:buFont typeface="+mj-lt"/>
                  <a:buAutoNum type="arabicPeriod"/>
                </a:pPr>
                <a:r>
                  <a:rPr lang="en-US" sz="1800" b="0" i="0" u="none" strike="noStrike" baseline="0" dirty="0">
                    <a:latin typeface="MinionPro-Regular"/>
                  </a:rPr>
                  <a:t>Initialize </a:t>
                </a:r>
                <a14:m>
                  <m:oMath xmlns:m="http://schemas.openxmlformats.org/officeDocument/2006/math">
                    <m:r>
                      <a:rPr lang="en-US" sz="1800" b="0" i="1" u="none" strike="noStrike" baseline="0" dirty="0" smtClean="0">
                        <a:latin typeface="Cambria Math" panose="02040503050406030204" pitchFamily="18" charset="0"/>
                      </a:rPr>
                      <m:t>𝜃</m:t>
                    </m:r>
                  </m:oMath>
                </a14:m>
                <a:r>
                  <a:rPr lang="en-US" sz="1800" b="0" i="0" u="none" strike="noStrike" baseline="0" dirty="0">
                    <a:latin typeface="CambriaMath"/>
                  </a:rPr>
                  <a:t> </a:t>
                </a:r>
                <a:r>
                  <a:rPr lang="en-US" sz="1800" b="0" i="0" u="none" strike="noStrike" baseline="0" dirty="0">
                    <a:latin typeface="MinionPro-Regular"/>
                  </a:rPr>
                  <a:t>and a policy, </a:t>
                </a:r>
                <a14:m>
                  <m:oMath xmlns:m="http://schemas.openxmlformats.org/officeDocument/2006/math">
                    <m:r>
                      <a:rPr lang="en-US" sz="1800" b="0" i="1" u="none" strike="noStrike" baseline="0" dirty="0" smtClean="0">
                        <a:latin typeface="Cambria Math" panose="02040503050406030204" pitchFamily="18" charset="0"/>
                      </a:rPr>
                      <m:t>𝜋</m:t>
                    </m:r>
                  </m:oMath>
                </a14:m>
                <a:r>
                  <a:rPr lang="en-US" sz="1800" b="0" i="0" u="none" strike="noStrike" baseline="0" dirty="0">
                    <a:latin typeface="MinionPro-Regular"/>
                  </a:rPr>
                  <a:t>.</a:t>
                </a:r>
              </a:p>
              <a:p>
                <a:pPr marL="342900" indent="-342900" algn="l">
                  <a:buFont typeface="+mj-lt"/>
                  <a:buAutoNum type="arabicPeriod"/>
                </a:pPr>
                <a:r>
                  <a:rPr lang="en-US" sz="1800" b="0" i="0" u="none" strike="noStrike" baseline="0" dirty="0">
                    <a:latin typeface="MinionPro-Regular"/>
                  </a:rPr>
                  <a:t>Collect a set of </a:t>
                </a:r>
                <a14:m>
                  <m:oMath xmlns:m="http://schemas.openxmlformats.org/officeDocument/2006/math">
                    <m:r>
                      <a:rPr lang="en-US" sz="1800" b="0" i="1" u="none" strike="noStrike" baseline="0" dirty="0" smtClean="0">
                        <a:latin typeface="Cambria Math" panose="02040503050406030204" pitchFamily="18" charset="0"/>
                      </a:rPr>
                      <m:t>𝑁</m:t>
                    </m:r>
                  </m:oMath>
                </a14:m>
                <a:r>
                  <a:rPr lang="en-US" sz="1800" b="0" i="0" u="none" strike="noStrike" baseline="0" dirty="0">
                    <a:latin typeface="CambriaMath"/>
                  </a:rPr>
                  <a:t> </a:t>
                </a:r>
                <a:r>
                  <a:rPr lang="en-US" sz="1800" b="0" i="0" u="none" strike="noStrike" baseline="0" dirty="0">
                    <a:latin typeface="MinionPro-Regular"/>
                  </a:rPr>
                  <a:t>samples, </a:t>
                </a:r>
                <a14:m>
                  <m:oMath xmlns:m="http://schemas.openxmlformats.org/officeDocument/2006/math">
                    <m:r>
                      <a:rPr lang="en-US" sz="1800" b="0" i="1" u="none" strike="noStrike" baseline="0" dirty="0" smtClean="0">
                        <a:latin typeface="Cambria Math" panose="02040503050406030204" pitchFamily="18" charset="0"/>
                      </a:rPr>
                      <m:t>{(</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𝑠</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𝑎</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𝑟</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m:t>
                    </m:r>
                    <m:sSubSup>
                      <m:sSubSupPr>
                        <m:ctrlPr>
                          <a:rPr lang="en-US" sz="1800" b="0" i="1" u="none" strike="noStrike" baseline="0" dirty="0" smtClean="0">
                            <a:latin typeface="Cambria Math" panose="02040503050406030204" pitchFamily="18" charset="0"/>
                          </a:rPr>
                        </m:ctrlPr>
                      </m:sSubSupPr>
                      <m:e>
                        <m:r>
                          <a:rPr lang="en-US" sz="1800" b="0" i="1" u="none" strike="noStrike" baseline="0" dirty="0" smtClean="0">
                            <a:latin typeface="Cambria Math" panose="02040503050406030204" pitchFamily="18" charset="0"/>
                          </a:rPr>
                          <m:t>𝑠</m:t>
                        </m:r>
                      </m:e>
                      <m:sub>
                        <m:r>
                          <a:rPr lang="en-US" sz="1800" b="0" i="1" u="none" strike="noStrike" baseline="0" dirty="0" smtClean="0">
                            <a:latin typeface="Cambria Math" panose="02040503050406030204" pitchFamily="18" charset="0"/>
                          </a:rPr>
                          <m:t>𝑖</m:t>
                        </m:r>
                      </m:sub>
                      <m:sup>
                        <m:r>
                          <a:rPr lang="en-US" sz="1800" b="0" i="1" u="none" strike="noStrike" baseline="0" dirty="0" smtClean="0">
                            <a:latin typeface="Cambria Math" panose="02040503050406030204" pitchFamily="18" charset="0"/>
                          </a:rPr>
                          <m:t>′</m:t>
                        </m:r>
                      </m:sup>
                    </m:sSubSup>
                    <m:r>
                      <a:rPr lang="en-US" sz="1800" b="0" i="1" u="none" strike="noStrike" baseline="0" dirty="0" smtClean="0">
                        <a:latin typeface="Cambria Math" panose="02040503050406030204" pitchFamily="18" charset="0"/>
                      </a:rPr>
                      <m:t>) |</m:t>
                    </m:r>
                    <m:r>
                      <a:rPr lang="en-US" sz="1800" b="0" i="1" u="none" strike="noStrike" baseline="0" dirty="0" smtClean="0">
                        <a:latin typeface="Cambria Math" panose="02040503050406030204" pitchFamily="18" charset="0"/>
                      </a:rPr>
                      <m:t>𝑖</m:t>
                    </m:r>
                    <m:r>
                      <a:rPr lang="en-US" sz="1800" b="0" i="1" u="none" strike="noStrike" baseline="0" dirty="0" smtClean="0">
                        <a:latin typeface="Cambria Math" panose="02040503050406030204" pitchFamily="18" charset="0"/>
                      </a:rPr>
                      <m:t> = 1, … , </m:t>
                    </m:r>
                    <m:r>
                      <a:rPr lang="en-US" sz="1800" b="0" i="1" u="none" strike="noStrike" baseline="0" dirty="0" smtClean="0">
                        <a:latin typeface="Cambria Math" panose="02040503050406030204" pitchFamily="18" charset="0"/>
                      </a:rPr>
                      <m:t>𝑁</m:t>
                    </m:r>
                    <m:r>
                      <a:rPr lang="en-US" sz="1800" b="0" i="1" u="none" strike="noStrike" baseline="0" dirty="0" smtClean="0">
                        <a:latin typeface="Cambria Math" panose="02040503050406030204" pitchFamily="18" charset="0"/>
                      </a:rPr>
                      <m:t>} </m:t>
                    </m:r>
                  </m:oMath>
                </a14:m>
                <a:r>
                  <a:rPr lang="en-US" sz="1800" b="0" i="0" u="none" strike="noStrike" baseline="0" dirty="0">
                    <a:latin typeface="MinionPro-Regular"/>
                  </a:rPr>
                  <a:t>, using the </a:t>
                </a:r>
                <a:r>
                  <a:rPr lang="en-US" sz="1800" b="0" i="0" u="none" strike="noStrike" baseline="0" dirty="0">
                    <a:latin typeface="CambriaMath"/>
                  </a:rPr>
                  <a:t>𝜋 </a:t>
                </a:r>
                <a:r>
                  <a:rPr lang="en-US" sz="1800" b="0" i="0" u="none" strike="noStrike" baseline="0" dirty="0">
                    <a:latin typeface="MinionPro-Regular"/>
                  </a:rPr>
                  <a:t>policy.</a:t>
                </a:r>
              </a:p>
              <a:p>
                <a:pPr marL="342900" indent="-342900" algn="l">
                  <a:buFont typeface="+mj-lt"/>
                  <a:buAutoNum type="arabicPeriod"/>
                </a:pPr>
                <a:r>
                  <a:rPr lang="en-US" sz="1800" b="0" i="0" u="none" strike="noStrike" baseline="0" dirty="0">
                    <a:latin typeface="MinionPro-Regular"/>
                  </a:rPr>
                  <a:t>Apply the sampled Bellman optimality operator to obtain the target values,</a:t>
                </a:r>
                <a:br>
                  <a:rPr lang="en-US" sz="1800" b="0" i="1" u="none" strike="noStrike" baseline="0" dirty="0">
                    <a:latin typeface="Cambria Math" panose="02040503050406030204" pitchFamily="18" charset="0"/>
                  </a:rPr>
                </a:br>
                <a14:m>
                  <m:oMath xmlns:m="http://schemas.openxmlformats.org/officeDocument/2006/math">
                    <m:r>
                      <a:rPr lang="en-US" sz="1800" b="0" i="1" u="none" strike="noStrike" baseline="0" dirty="0" smtClean="0">
                        <a:latin typeface="Cambria Math" panose="02040503050406030204" pitchFamily="18" charset="0"/>
                      </a:rPr>
                      <m:t>𝑦𝑖</m:t>
                    </m:r>
                    <m:r>
                      <a:rPr lang="en-US" sz="1800" b="0" i="1" u="none" strike="noStrike" baseline="0" dirty="0" smtClean="0">
                        <a:latin typeface="Cambria Math" panose="02040503050406030204" pitchFamily="18" charset="0"/>
                      </a:rPr>
                      <m:t> = </m:t>
                    </m:r>
                    <m:r>
                      <a:rPr lang="en-US" sz="1800" b="0" i="1" u="none" strike="noStrike" baseline="0" dirty="0" smtClean="0">
                        <a:latin typeface="Cambria Math" panose="02040503050406030204" pitchFamily="18" charset="0"/>
                      </a:rPr>
                      <m:t>𝑟𝑖</m:t>
                    </m:r>
                    <m:r>
                      <a:rPr lang="en-US" sz="1800" b="0" i="1" u="none" strike="noStrike" baseline="0" dirty="0" smtClean="0">
                        <a:latin typeface="Cambria Math" panose="02040503050406030204" pitchFamily="18" charset="0"/>
                      </a:rPr>
                      <m:t> + </m:t>
                    </m:r>
                    <m:r>
                      <a:rPr lang="en-US" sz="1800" b="0" i="1" u="none" strike="noStrike" baseline="0" dirty="0" smtClean="0">
                        <a:latin typeface="Cambria Math" panose="02040503050406030204" pitchFamily="18" charset="0"/>
                      </a:rPr>
                      <m:t>𝛾</m:t>
                    </m:r>
                    <m:r>
                      <a:rPr lang="en-US" sz="1800" b="0" i="1" u="none" strike="noStrike" baseline="0" dirty="0" smtClean="0">
                        <a:latin typeface="Cambria Math" panose="02040503050406030204" pitchFamily="18" charset="0"/>
                      </a:rPr>
                      <m:t> </m:t>
                    </m:r>
                    <m:func>
                      <m:funcPr>
                        <m:ctrlPr>
                          <a:rPr lang="en-US" sz="1800" b="0" i="1" u="none" strike="noStrike" baseline="0" dirty="0" smtClean="0">
                            <a:latin typeface="Cambria Math" panose="02040503050406030204" pitchFamily="18" charset="0"/>
                          </a:rPr>
                        </m:ctrlPr>
                      </m:funcPr>
                      <m:fName>
                        <m:limLow>
                          <m:limLowPr>
                            <m:ctrlPr>
                              <a:rPr lang="en-US" sz="1800" b="0" i="1" u="none" strike="noStrike" baseline="0" dirty="0" smtClean="0">
                                <a:latin typeface="Cambria Math" panose="02040503050406030204" pitchFamily="18" charset="0"/>
                              </a:rPr>
                            </m:ctrlPr>
                          </m:limLowPr>
                          <m:e>
                            <m:r>
                              <m:rPr>
                                <m:sty m:val="p"/>
                              </m:rPr>
                              <a:rPr lang="en-US" sz="1800" b="0" i="0" u="none" strike="noStrike" baseline="0" dirty="0" smtClean="0">
                                <a:latin typeface="Cambria Math" panose="02040503050406030204" pitchFamily="18" charset="0"/>
                              </a:rPr>
                              <m:t>max</m:t>
                            </m:r>
                          </m:e>
                          <m:lim>
                            <m:sSubSup>
                              <m:sSubSupPr>
                                <m:ctrlPr>
                                  <a:rPr lang="en-US" sz="1800" b="0" i="1" u="none" strike="noStrike" baseline="0" dirty="0" smtClean="0">
                                    <a:latin typeface="Cambria Math" panose="02040503050406030204" pitchFamily="18" charset="0"/>
                                  </a:rPr>
                                </m:ctrlPr>
                              </m:sSubSupPr>
                              <m:e>
                                <m:r>
                                  <a:rPr lang="en-US" sz="1800" b="0" i="1" u="none" strike="noStrike" baseline="0" dirty="0" smtClean="0">
                                    <a:latin typeface="Cambria Math" panose="02040503050406030204" pitchFamily="18" charset="0"/>
                                  </a:rPr>
                                  <m:t>𝑎</m:t>
                                </m:r>
                              </m:e>
                              <m:sub>
                                <m:r>
                                  <a:rPr lang="en-US" sz="1800" b="0" i="1" u="none" strike="noStrike" baseline="0" dirty="0" smtClean="0">
                                    <a:latin typeface="Cambria Math" panose="02040503050406030204" pitchFamily="18" charset="0"/>
                                  </a:rPr>
                                  <m:t>𝑖</m:t>
                                </m:r>
                              </m:sub>
                              <m:sup>
                                <m:r>
                                  <a:rPr lang="en-US" sz="1800" b="0" i="1" u="none" strike="noStrike" baseline="0" dirty="0" smtClean="0">
                                    <a:latin typeface="Cambria Math" panose="02040503050406030204" pitchFamily="18" charset="0"/>
                                  </a:rPr>
                                  <m:t>′</m:t>
                                </m:r>
                              </m:sup>
                            </m:sSubSup>
                          </m:lim>
                        </m:limLow>
                      </m:fName>
                      <m:e>
                        <m:r>
                          <a:rPr lang="en-US" sz="1800" b="0" i="1" u="none" strike="noStrike" baseline="0" dirty="0" smtClean="0">
                            <a:latin typeface="Cambria Math" panose="02040503050406030204" pitchFamily="18" charset="0"/>
                          </a:rPr>
                          <m:t>𝑄</m:t>
                        </m:r>
                        <m:r>
                          <a:rPr lang="en-US" sz="1800" b="0" i="1" u="none" strike="noStrike" baseline="0" dirty="0" smtClean="0">
                            <a:latin typeface="Cambria Math" panose="02040503050406030204" pitchFamily="18" charset="0"/>
                          </a:rPr>
                          <m:t>𝜃</m:t>
                        </m:r>
                        <m:r>
                          <a:rPr lang="en-US" sz="1800" b="0" i="1" u="none" strike="noStrike" baseline="0" dirty="0" smtClean="0">
                            <a:latin typeface="Cambria Math" panose="02040503050406030204" pitchFamily="18" charset="0"/>
                          </a:rPr>
                          <m:t>(</m:t>
                        </m:r>
                        <m:r>
                          <a:rPr lang="en-US" sz="1800" b="0" i="1" u="none" strike="noStrike" baseline="0" dirty="0" smtClean="0">
                            <a:latin typeface="Cambria Math" panose="02040503050406030204" pitchFamily="18" charset="0"/>
                          </a:rPr>
                          <m:t>𝑠𝑖</m:t>
                        </m:r>
                        <m:r>
                          <a:rPr lang="en-US" sz="1800" b="0" i="1" u="none" strike="noStrike" baseline="0" dirty="0" smtClean="0">
                            <a:latin typeface="Cambria Math" panose="02040503050406030204" pitchFamily="18" charset="0"/>
                          </a:rPr>
                          <m:t>′, </m:t>
                        </m:r>
                        <m:r>
                          <a:rPr lang="en-US" sz="1800" b="0" i="1" u="none" strike="noStrike" baseline="0" dirty="0" smtClean="0">
                            <a:latin typeface="Cambria Math" panose="02040503050406030204" pitchFamily="18" charset="0"/>
                          </a:rPr>
                          <m:t>𝑎𝑖</m:t>
                        </m:r>
                        <m:r>
                          <a:rPr lang="en-US" sz="1800" b="0" i="1" u="none" strike="noStrike" baseline="0" dirty="0" smtClean="0">
                            <a:latin typeface="Cambria Math" panose="02040503050406030204" pitchFamily="18" charset="0"/>
                          </a:rPr>
                          <m:t>′)</m:t>
                        </m:r>
                      </m:e>
                    </m:func>
                  </m:oMath>
                </a14:m>
                <a:r>
                  <a:rPr lang="en-US" sz="1800" b="0" i="0" u="none" strike="noStrike" baseline="0" dirty="0">
                    <a:latin typeface="MinionPro-Regular"/>
                  </a:rPr>
                  <a:t>, to all samples, </a:t>
                </a:r>
                <a:r>
                  <a:rPr lang="en-US" sz="1800" b="0" i="0" u="none" strike="noStrike" baseline="0" dirty="0">
                    <a:latin typeface="CambriaMath"/>
                  </a:rPr>
                  <a:t>𝑖 = 1, … , 𝑁 </a:t>
                </a:r>
                <a:r>
                  <a:rPr lang="en-US" sz="1800" b="0" i="0" u="none" strike="noStrike" baseline="0" dirty="0">
                    <a:latin typeface="MinionPro-Regular"/>
                  </a:rPr>
                  <a:t>, but if </a:t>
                </a:r>
                <a14:m>
                  <m:oMath xmlns:m="http://schemas.openxmlformats.org/officeDocument/2006/math">
                    <m:sSubSup>
                      <m:sSubSupPr>
                        <m:ctrlPr>
                          <a:rPr lang="en-US" sz="1800" b="0" i="1" u="none" strike="noStrike" baseline="0" dirty="0" smtClean="0">
                            <a:latin typeface="Cambria Math" panose="02040503050406030204" pitchFamily="18" charset="0"/>
                          </a:rPr>
                        </m:ctrlPr>
                      </m:sSubSupPr>
                      <m:e>
                        <m:r>
                          <a:rPr lang="en-US" sz="1800" b="0" i="1" u="none" strike="noStrike" baseline="0" dirty="0" smtClean="0">
                            <a:latin typeface="Cambria Math" panose="02040503050406030204" pitchFamily="18" charset="0"/>
                          </a:rPr>
                          <m:t>𝑠</m:t>
                        </m:r>
                      </m:e>
                      <m:sub>
                        <m:r>
                          <a:rPr lang="en-US" sz="1800" b="0" i="1" u="none" strike="noStrike" baseline="0" dirty="0" smtClean="0">
                            <a:latin typeface="Cambria Math" panose="02040503050406030204" pitchFamily="18" charset="0"/>
                          </a:rPr>
                          <m:t>𝑖</m:t>
                        </m:r>
                      </m:sub>
                      <m:sup>
                        <m:r>
                          <a:rPr lang="en-US" sz="1800" b="0" i="1" u="none" strike="noStrike" baseline="0" dirty="0" smtClean="0">
                            <a:latin typeface="Cambria Math" panose="02040503050406030204" pitchFamily="18" charset="0"/>
                          </a:rPr>
                          <m:t>′</m:t>
                        </m:r>
                      </m:sup>
                    </m:sSubSup>
                    <m:r>
                      <a:rPr lang="en-US" sz="1800" b="0" i="1" u="none" strike="noStrike" baseline="0" dirty="0" smtClean="0">
                        <a:latin typeface="Cambria Math" panose="02040503050406030204" pitchFamily="18" charset="0"/>
                      </a:rPr>
                      <m:t> </m:t>
                    </m:r>
                  </m:oMath>
                </a14:m>
                <a:r>
                  <a:rPr lang="en-US" sz="1800" b="0" i="0" u="none" strike="noStrike" baseline="0" dirty="0">
                    <a:latin typeface="MinionPro-Regular"/>
                  </a:rPr>
                  <a:t>is a terminal state, set </a:t>
                </a:r>
                <a14:m>
                  <m:oMath xmlns:m="http://schemas.openxmlformats.org/officeDocument/2006/math">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𝑦</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𝑟</m:t>
                        </m:r>
                      </m:e>
                      <m:sub>
                        <m:r>
                          <a:rPr lang="en-US" sz="1800" b="0" i="1" u="none" strike="noStrike" baseline="0" dirty="0" smtClean="0">
                            <a:latin typeface="Cambria Math" panose="02040503050406030204" pitchFamily="18" charset="0"/>
                          </a:rPr>
                          <m:t>𝑖</m:t>
                        </m:r>
                      </m:sub>
                    </m:sSub>
                  </m:oMath>
                </a14:m>
                <a:r>
                  <a:rPr lang="en-US" sz="1800" b="0" i="0" u="none" strike="noStrike" baseline="0" dirty="0">
                    <a:latin typeface="MinionPro-Regular"/>
                  </a:rPr>
                  <a:t>.</a:t>
                </a:r>
              </a:p>
              <a:p>
                <a:pPr marL="342900" indent="-342900" algn="l">
                  <a:buFont typeface="+mj-lt"/>
                  <a:buAutoNum type="arabicPeriod"/>
                </a:pPr>
                <a:r>
                  <a:rPr lang="en-US" sz="1800" b="0" i="0" u="none" strike="noStrike" baseline="0" dirty="0">
                    <a:latin typeface="MinionPro-Regular"/>
                  </a:rPr>
                  <a:t>Obtain </a:t>
                </a:r>
                <a:r>
                  <a:rPr lang="en-US" sz="1800" b="0" i="0" u="none" strike="noStrike" baseline="0" dirty="0">
                    <a:latin typeface="CambriaMath"/>
                  </a:rPr>
                  <a:t>𝜃 </a:t>
                </a:r>
                <a:r>
                  <a:rPr lang="en-US" sz="1800" b="0" i="0" u="none" strike="noStrike" baseline="0" dirty="0">
                    <a:latin typeface="MinionPro-Regular"/>
                  </a:rPr>
                  <a:t>by minimizing the gap between </a:t>
                </a:r>
                <a14:m>
                  <m:oMath xmlns:m="http://schemas.openxmlformats.org/officeDocument/2006/math">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𝑄</m:t>
                        </m:r>
                      </m:e>
                      <m:sub>
                        <m:r>
                          <a:rPr lang="en-US" sz="1800" b="0" i="1" u="none" strike="noStrike" baseline="0" dirty="0" smtClean="0">
                            <a:latin typeface="Cambria Math" panose="02040503050406030204" pitchFamily="18" charset="0"/>
                          </a:rPr>
                          <m:t>𝜃</m:t>
                        </m:r>
                      </m:sub>
                    </m:sSub>
                  </m:oMath>
                </a14:m>
                <a:r>
                  <a:rPr lang="en-US" sz="1800" b="0" i="0" u="none" strike="noStrike" baseline="0" dirty="0">
                    <a:latin typeface="CambriaMath"/>
                  </a:rPr>
                  <a:t> </a:t>
                </a:r>
                <a:r>
                  <a:rPr lang="en-US" sz="1800" b="0" i="0" u="none" strike="noStrike" baseline="0" dirty="0">
                    <a:latin typeface="MinionPro-Regular"/>
                  </a:rPr>
                  <a:t>and the target values. More formally,</a:t>
                </a:r>
                <a:br>
                  <a:rPr lang="en-US" sz="1800" b="0" i="1" u="none" strike="noStrike" baseline="0" dirty="0">
                    <a:latin typeface="Cambria Math" panose="02040503050406030204" pitchFamily="18" charset="0"/>
                  </a:rPr>
                </a:br>
                <a14:m>
                  <m:oMath xmlns:m="http://schemas.openxmlformats.org/officeDocument/2006/math">
                    <m:r>
                      <a:rPr lang="en-US" sz="1800" b="0" i="1" u="none" strike="noStrike" baseline="0" dirty="0" smtClean="0">
                        <a:latin typeface="Cambria Math" panose="02040503050406030204" pitchFamily="18" charset="0"/>
                      </a:rPr>
                      <m:t>𝜃</m:t>
                    </m:r>
                    <m:r>
                      <a:rPr lang="en-US" sz="1800" b="0" i="1" u="none" strike="noStrike" baseline="0" dirty="0" smtClean="0">
                        <a:latin typeface="Cambria Math" panose="02040503050406030204" pitchFamily="18" charset="0"/>
                      </a:rPr>
                      <m:t> ≔</m:t>
                    </m:r>
                    <m:func>
                      <m:funcPr>
                        <m:ctrlPr>
                          <a:rPr lang="en-US" sz="1800" b="0" i="1" u="none" strike="noStrike" baseline="0" dirty="0" smtClean="0">
                            <a:latin typeface="Cambria Math" panose="02040503050406030204" pitchFamily="18" charset="0"/>
                          </a:rPr>
                        </m:ctrlPr>
                      </m:funcPr>
                      <m:fName>
                        <m:r>
                          <m:rPr>
                            <m:sty m:val="p"/>
                          </m:rPr>
                          <a:rPr lang="en-US" sz="1800" b="0" i="0" u="none" strike="noStrike" baseline="0" dirty="0" smtClean="0">
                            <a:latin typeface="Cambria Math" panose="02040503050406030204" pitchFamily="18" charset="0"/>
                          </a:rPr>
                          <m:t>arg</m:t>
                        </m:r>
                        <m:limLow>
                          <m:limLowPr>
                            <m:ctrlPr>
                              <a:rPr lang="en-US" sz="1800" b="0" i="1" u="none" strike="noStrike" baseline="0" dirty="0" smtClean="0">
                                <a:latin typeface="Cambria Math" panose="02040503050406030204" pitchFamily="18" charset="0"/>
                              </a:rPr>
                            </m:ctrlPr>
                          </m:limLowPr>
                          <m:e>
                            <m:r>
                              <m:rPr>
                                <m:sty m:val="p"/>
                              </m:rPr>
                              <a:rPr lang="en-US" sz="1800" b="0" i="0" u="none" strike="noStrike" baseline="0" dirty="0" smtClean="0">
                                <a:latin typeface="Cambria Math" panose="02040503050406030204" pitchFamily="18" charset="0"/>
                              </a:rPr>
                              <m:t>min</m:t>
                            </m:r>
                          </m:e>
                          <m:lim>
                            <m:r>
                              <a:rPr lang="en-US" sz="1800" b="0" i="1" u="none" strike="noStrike" baseline="0" dirty="0" smtClean="0">
                                <a:latin typeface="Cambria Math" panose="02040503050406030204" pitchFamily="18" charset="0"/>
                              </a:rPr>
                              <m:t>𝜃</m:t>
                            </m:r>
                          </m:lim>
                        </m:limLow>
                      </m:fName>
                      <m:e>
                        <m:nary>
                          <m:naryPr>
                            <m:chr m:val="∑"/>
                            <m:limLoc m:val="subSup"/>
                            <m:ctrlPr>
                              <a:rPr lang="en-US" sz="1800" b="0" i="1" u="none" strike="noStrike" baseline="0" dirty="0" smtClean="0">
                                <a:latin typeface="Cambria Math" panose="02040503050406030204" pitchFamily="18" charset="0"/>
                              </a:rPr>
                            </m:ctrlPr>
                          </m:naryPr>
                          <m:sub>
                            <m:r>
                              <m:rPr>
                                <m:brk m:alnAt="25"/>
                              </m:rPr>
                              <a:rPr lang="en-US" sz="1800" b="0" i="1" u="none" strike="noStrike" baseline="0" dirty="0" smtClean="0">
                                <a:latin typeface="Cambria Math" panose="02040503050406030204" pitchFamily="18" charset="0"/>
                              </a:rPr>
                              <m:t>𝑖</m:t>
                            </m:r>
                            <m:r>
                              <a:rPr lang="en-US" sz="1800" b="0" i="1" u="none" strike="noStrike" baseline="0" dirty="0" smtClean="0">
                                <a:latin typeface="Cambria Math" panose="02040503050406030204" pitchFamily="18" charset="0"/>
                              </a:rPr>
                              <m:t>=1</m:t>
                            </m:r>
                          </m:sub>
                          <m:sup>
                            <m:r>
                              <a:rPr lang="en-US" sz="1800" b="0" i="1" u="none" strike="noStrike" baseline="0" dirty="0" smtClean="0">
                                <a:latin typeface="Cambria Math" panose="02040503050406030204" pitchFamily="18" charset="0"/>
                              </a:rPr>
                              <m:t>𝑁</m:t>
                            </m:r>
                          </m:sup>
                          <m:e>
                            <m:r>
                              <a:rPr lang="en-US" sz="1800" b="0" i="1" u="none" strike="noStrike" baseline="0" dirty="0" smtClean="0">
                                <a:latin typeface="Cambria Math" panose="02040503050406030204" pitchFamily="18" charset="0"/>
                              </a:rPr>
                              <m:t>𝐿</m:t>
                            </m:r>
                            <m:d>
                              <m:dPr>
                                <m:ctrlPr>
                                  <a:rPr lang="en-US" sz="1800" b="0" i="1" u="none" strike="noStrike" baseline="0" dirty="0" smtClean="0">
                                    <a:latin typeface="Cambria Math" panose="02040503050406030204" pitchFamily="18" charset="0"/>
                                  </a:rPr>
                                </m:ctrlPr>
                              </m:dPr>
                              <m:e>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𝑄</m:t>
                                    </m:r>
                                  </m:e>
                                  <m:sub>
                                    <m:r>
                                      <a:rPr lang="en-US" sz="1800" b="0" i="1" u="none" strike="noStrike" baseline="0" dirty="0" smtClean="0">
                                        <a:latin typeface="Cambria Math" panose="02040503050406030204" pitchFamily="18" charset="0"/>
                                      </a:rPr>
                                      <m:t>𝜃</m:t>
                                    </m:r>
                                  </m:sub>
                                </m:sSub>
                                <m:d>
                                  <m:dPr>
                                    <m:ctrlPr>
                                      <a:rPr lang="en-US" sz="1800" b="0" i="1" u="none" strike="noStrike" baseline="0" dirty="0" smtClean="0">
                                        <a:latin typeface="Cambria Math" panose="02040503050406030204" pitchFamily="18" charset="0"/>
                                      </a:rPr>
                                    </m:ctrlPr>
                                  </m:dPr>
                                  <m:e>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𝑠</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𝑎</m:t>
                                        </m:r>
                                      </m:e>
                                      <m:sub>
                                        <m:r>
                                          <a:rPr lang="en-US" sz="1800" b="0" i="1" u="none" strike="noStrike" baseline="0" dirty="0" smtClean="0">
                                            <a:latin typeface="Cambria Math" panose="02040503050406030204" pitchFamily="18" charset="0"/>
                                          </a:rPr>
                                          <m:t>𝑖</m:t>
                                        </m:r>
                                      </m:sub>
                                    </m:sSub>
                                  </m:e>
                                </m:d>
                                <m:r>
                                  <a:rPr lang="en-US" sz="1800" b="0" i="1" u="none" strike="noStrike" baseline="0" dirty="0" smtClean="0">
                                    <a:latin typeface="Cambria Math" panose="02040503050406030204" pitchFamily="18" charset="0"/>
                                  </a:rPr>
                                  <m:t>,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𝑦</m:t>
                                    </m:r>
                                  </m:e>
                                  <m:sub>
                                    <m:r>
                                      <a:rPr lang="en-US" sz="1800" b="0" i="1" u="none" strike="noStrike" baseline="0" dirty="0" smtClean="0">
                                        <a:latin typeface="Cambria Math" panose="02040503050406030204" pitchFamily="18" charset="0"/>
                                      </a:rPr>
                                      <m:t>𝑖</m:t>
                                    </m:r>
                                  </m:sub>
                                </m:sSub>
                              </m:e>
                            </m:d>
                          </m:e>
                        </m:nary>
                      </m:e>
                    </m:func>
                  </m:oMath>
                </a14:m>
                <a:r>
                  <a:rPr lang="en-US" sz="1800" b="0" i="0" u="none" strike="noStrike" baseline="0" dirty="0">
                    <a:latin typeface="MinionPro-Regular"/>
                  </a:rPr>
                  <a:t>, where </a:t>
                </a:r>
                <a:r>
                  <a:rPr lang="en-US" sz="1800" b="0" i="0" u="none" strike="noStrike" baseline="0" dirty="0">
                    <a:latin typeface="CambriaMath"/>
                  </a:rPr>
                  <a:t>𝐿 </a:t>
                </a:r>
                <a:r>
                  <a:rPr lang="en-US" sz="1800" b="0" i="0" u="none" strike="noStrike" baseline="0" dirty="0">
                    <a:latin typeface="MinionPro-Regular"/>
                  </a:rPr>
                  <a:t>is a loss function, such as squared error,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1</m:t>
                        </m:r>
                      </m:num>
                      <m:den>
                        <m:r>
                          <a:rPr lang="en-US" sz="1800" b="0" i="1" u="none" strike="noStrike" baseline="0" smtClean="0">
                            <a:latin typeface="Cambria Math" panose="02040503050406030204" pitchFamily="18" charset="0"/>
                          </a:rPr>
                          <m:t>2</m:t>
                        </m:r>
                      </m:den>
                    </m:f>
                    <m:sSup>
                      <m:sSupPr>
                        <m:ctrlPr>
                          <a:rPr lang="en-US" sz="1800" b="0" i="1" u="none" strike="noStrike" baseline="0" smtClean="0">
                            <a:latin typeface="Cambria Math" panose="02040503050406030204" pitchFamily="18" charset="0"/>
                          </a:rPr>
                        </m:ctrlPr>
                      </m:sSupPr>
                      <m:e>
                        <m:d>
                          <m:dPr>
                            <m:ctrlPr>
                              <a:rPr lang="en-US" sz="1800" b="0" i="1" u="none" strike="noStrike" baseline="0" smtClean="0">
                                <a:latin typeface="Cambria Math" panose="02040503050406030204" pitchFamily="18" charset="0"/>
                              </a:rPr>
                            </m:ctrlPr>
                          </m:dPr>
                          <m:e>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𝑄</m:t>
                                </m:r>
                              </m:e>
                              <m:sub>
                                <m:r>
                                  <a:rPr lang="en-US" sz="1800" b="0" i="1" u="none" strike="noStrike" baseline="0" dirty="0" smtClean="0">
                                    <a:latin typeface="Cambria Math" panose="02040503050406030204" pitchFamily="18" charset="0"/>
                                  </a:rPr>
                                  <m:t>𝜃</m:t>
                                </m:r>
                              </m:sub>
                            </m:sSub>
                            <m:d>
                              <m:dPr>
                                <m:ctrlPr>
                                  <a:rPr lang="en-US" sz="1800" b="0" i="1" u="none" strike="noStrike" baseline="0" dirty="0" smtClean="0">
                                    <a:latin typeface="Cambria Math" panose="02040503050406030204" pitchFamily="18" charset="0"/>
                                  </a:rPr>
                                </m:ctrlPr>
                              </m:dPr>
                              <m:e>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𝑠</m:t>
                                    </m:r>
                                  </m:e>
                                  <m:sub>
                                    <m:r>
                                      <a:rPr lang="en-US" sz="1800" b="0" i="1" u="none" strike="noStrike" baseline="0" dirty="0" smtClean="0">
                                        <a:latin typeface="Cambria Math" panose="02040503050406030204" pitchFamily="18" charset="0"/>
                                      </a:rPr>
                                      <m:t>𝑖</m:t>
                                    </m:r>
                                  </m:sub>
                                </m:sSub>
                                <m:r>
                                  <a:rPr lang="en-US" sz="1800" b="0" i="1" u="none" strike="noStrike" baseline="0" dirty="0" smtClean="0">
                                    <a:latin typeface="Cambria Math" panose="02040503050406030204" pitchFamily="18" charset="0"/>
                                  </a:rPr>
                                  <m:t>, </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𝑎</m:t>
                                    </m:r>
                                  </m:e>
                                  <m:sub>
                                    <m:r>
                                      <a:rPr lang="en-US" sz="1800" b="0" i="1" u="none" strike="noStrike" baseline="0" dirty="0" smtClean="0">
                                        <a:latin typeface="Cambria Math" panose="02040503050406030204" pitchFamily="18" charset="0"/>
                                      </a:rPr>
                                      <m:t>𝑖</m:t>
                                    </m:r>
                                  </m:sub>
                                </m:sSub>
                              </m:e>
                            </m:d>
                            <m:r>
                              <a:rPr lang="en-US" sz="1800" b="0" i="1" u="none" strike="noStrike" baseline="0" dirty="0" smtClean="0">
                                <a:latin typeface="Cambria Math" panose="02040503050406030204" pitchFamily="18" charset="0"/>
                              </a:rPr>
                              <m:t>−</m:t>
                            </m:r>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𝑦</m:t>
                                </m:r>
                              </m:e>
                              <m:sub>
                                <m:r>
                                  <a:rPr lang="en-US" sz="1800" b="0" i="1" u="none" strike="noStrike" baseline="0" dirty="0" smtClean="0">
                                    <a:latin typeface="Cambria Math" panose="02040503050406030204" pitchFamily="18" charset="0"/>
                                  </a:rPr>
                                  <m:t>𝑖</m:t>
                                </m:r>
                              </m:sub>
                            </m:sSub>
                          </m:e>
                        </m:d>
                      </m:e>
                      <m:sup>
                        <m:r>
                          <a:rPr lang="en-US" sz="1800" b="0" i="1" u="none" strike="noStrike" baseline="0" smtClean="0">
                            <a:latin typeface="Cambria Math" panose="02040503050406030204" pitchFamily="18" charset="0"/>
                          </a:rPr>
                          <m:t>2</m:t>
                        </m:r>
                      </m:sup>
                    </m:sSup>
                  </m:oMath>
                </a14:m>
                <a:r>
                  <a:rPr lang="en-US" sz="1800" b="0" i="0" u="none" strike="noStrike" baseline="0" dirty="0">
                    <a:latin typeface="CambriaMath"/>
                  </a:rPr>
                  <a:t>,</a:t>
                </a:r>
              </a:p>
              <a:p>
                <a:pPr marL="342900" indent="-342900" algn="l">
                  <a:buFont typeface="+mj-lt"/>
                  <a:buAutoNum type="arabicPeriod"/>
                </a:pPr>
                <a:r>
                  <a:rPr lang="en-US" sz="1800" b="0" i="0" u="none" strike="noStrike" baseline="0" dirty="0">
                    <a:latin typeface="MinionPro-Regular"/>
                  </a:rPr>
                  <a:t>Update </a:t>
                </a:r>
                <a:r>
                  <a:rPr lang="en-US" sz="1800" b="0" i="0" u="none" strike="noStrike" baseline="0" dirty="0">
                    <a:latin typeface="CambriaMath"/>
                  </a:rPr>
                  <a:t>𝜋 </a:t>
                </a:r>
                <a:r>
                  <a:rPr lang="en-US" sz="1800" b="0" i="0" u="none" strike="noStrike" baseline="0" dirty="0">
                    <a:latin typeface="MinionPro-Regular"/>
                  </a:rPr>
                  <a:t>with respect to the new </a:t>
                </a:r>
                <a14:m>
                  <m:oMath xmlns:m="http://schemas.openxmlformats.org/officeDocument/2006/math">
                    <m:sSub>
                      <m:sSubPr>
                        <m:ctrlPr>
                          <a:rPr lang="en-US" sz="1800" b="0" i="1" u="none" strike="noStrike" baseline="0" dirty="0" smtClean="0">
                            <a:latin typeface="Cambria Math" panose="02040503050406030204" pitchFamily="18" charset="0"/>
                          </a:rPr>
                        </m:ctrlPr>
                      </m:sSubPr>
                      <m:e>
                        <m:r>
                          <a:rPr lang="en-US" sz="1800" b="0" i="1" u="none" strike="noStrike" baseline="0" dirty="0" smtClean="0">
                            <a:latin typeface="Cambria Math" panose="02040503050406030204" pitchFamily="18" charset="0"/>
                          </a:rPr>
                          <m:t>𝑄</m:t>
                        </m:r>
                      </m:e>
                      <m:sub>
                        <m:r>
                          <a:rPr lang="en-US" sz="1800" b="0" i="1" u="none" strike="noStrike" baseline="0" dirty="0" smtClean="0">
                            <a:latin typeface="Cambria Math" panose="02040503050406030204" pitchFamily="18" charset="0"/>
                          </a:rPr>
                          <m:t>𝜃</m:t>
                        </m:r>
                      </m:sub>
                    </m:sSub>
                  </m:oMath>
                </a14:m>
                <a:r>
                  <a:rPr lang="en-US" sz="1800" b="0" i="0" u="none" strike="noStrike" baseline="0" dirty="0">
                    <a:latin typeface="CambriaMath"/>
                  </a:rPr>
                  <a:t> </a:t>
                </a:r>
                <a:r>
                  <a:rPr lang="en-US" sz="1800" b="0" i="0" u="none" strike="noStrike" baseline="0" dirty="0">
                    <a:latin typeface="MinionPro-Regular"/>
                  </a:rPr>
                  <a:t>value.</a:t>
                </a:r>
              </a:p>
              <a:p>
                <a:pPr algn="l"/>
                <a:endParaRPr lang="en-US" dirty="0"/>
              </a:p>
              <a:p>
                <a:pPr algn="l"/>
                <a:endParaRPr lang="en-US" dirty="0"/>
              </a:p>
            </p:txBody>
          </p:sp>
        </mc:Choice>
        <mc:Fallback xmlns="">
          <p:sp>
            <p:nvSpPr>
              <p:cNvPr id="2" name="Notes Placeholder"/>
              <p:cNvSpPr>
                <a:spLocks noGrp="1"/>
              </p:cNvSpPr>
              <p:nvPr>
                <p:ph type="body" idx="1"/>
              </p:nvPr>
            </p:nvSpPr>
            <p:spPr/>
            <p:txBody>
              <a:bodyPr>
                <a:normAutofit fontScale="25000" lnSpcReduction="20000"/>
              </a:bodyPr>
              <a:lstStyle/>
              <a:p>
                <a:pPr marL="342900" indent="-342900" algn="l">
                  <a:buFont typeface="+mj-lt"/>
                  <a:buAutoNum type="arabicPeriod"/>
                </a:pPr>
                <a:r>
                  <a:rPr lang="en-US" sz="1800" b="0" i="0" u="none" strike="noStrike" baseline="0" dirty="0">
                    <a:latin typeface="MinionPro-Regular"/>
                  </a:rPr>
                  <a:t>Initialize </a:t>
                </a:r>
                <a:r>
                  <a:rPr lang="en-US" sz="1800" b="0" i="0" u="none" strike="noStrike" baseline="0" dirty="0">
                    <a:latin typeface="Cambria Math" panose="02040503050406030204" pitchFamily="18" charset="0"/>
                  </a:rPr>
                  <a:t>𝜃</a:t>
                </a:r>
                <a:r>
                  <a:rPr lang="en-US" sz="1800" b="0" i="0" u="none" strike="noStrike" baseline="0" dirty="0">
                    <a:latin typeface="CambriaMath"/>
                  </a:rPr>
                  <a:t> </a:t>
                </a:r>
                <a:r>
                  <a:rPr lang="en-US" sz="1800" b="0" i="0" u="none" strike="noStrike" baseline="0" dirty="0">
                    <a:latin typeface="MinionPro-Regular"/>
                  </a:rPr>
                  <a:t>and a policy, </a:t>
                </a:r>
                <a:r>
                  <a:rPr lang="en-US" sz="1800" b="0" i="0" u="none" strike="noStrike" baseline="0" dirty="0">
                    <a:latin typeface="Cambria Math" panose="02040503050406030204" pitchFamily="18" charset="0"/>
                  </a:rPr>
                  <a:t>𝜋</a:t>
                </a:r>
                <a:r>
                  <a:rPr lang="en-US" sz="1800" b="0" i="0" u="none" strike="noStrike" baseline="0" dirty="0">
                    <a:latin typeface="MinionPro-Regular"/>
                  </a:rPr>
                  <a:t>.</a:t>
                </a:r>
              </a:p>
              <a:p>
                <a:pPr marL="342900" indent="-342900" algn="l">
                  <a:buFont typeface="+mj-lt"/>
                  <a:buAutoNum type="arabicPeriod"/>
                </a:pPr>
                <a:r>
                  <a:rPr lang="en-US" sz="1800" b="0" i="0" u="none" strike="noStrike" baseline="0" dirty="0">
                    <a:latin typeface="MinionPro-Regular"/>
                  </a:rPr>
                  <a:t>Collect a set of </a:t>
                </a:r>
                <a:r>
                  <a:rPr lang="en-US" sz="1800" b="0" i="0" u="none" strike="noStrike" baseline="0" dirty="0">
                    <a:latin typeface="Cambria Math" panose="02040503050406030204" pitchFamily="18" charset="0"/>
                  </a:rPr>
                  <a:t>𝑁</a:t>
                </a:r>
                <a:r>
                  <a:rPr lang="en-US" sz="1800" b="0" i="0" u="none" strike="noStrike" baseline="0" dirty="0">
                    <a:latin typeface="CambriaMath"/>
                  </a:rPr>
                  <a:t> </a:t>
                </a:r>
                <a:r>
                  <a:rPr lang="en-US" sz="1800" b="0" i="0" u="none" strike="noStrike" baseline="0" dirty="0">
                    <a:latin typeface="MinionPro-Regular"/>
                  </a:rPr>
                  <a:t>samples, </a:t>
                </a:r>
                <a:r>
                  <a:rPr lang="en-US" sz="1800" b="0" i="0" u="none" strike="noStrike" baseline="0" dirty="0">
                    <a:latin typeface="Cambria Math" panose="02040503050406030204" pitchFamily="18" charset="0"/>
                  </a:rPr>
                  <a:t>{(𝑠_𝑖, 𝑎_𝑖, 𝑟_𝑖, 𝑠_𝑖^′) |𝑖 = 1, … , 𝑁} </a:t>
                </a:r>
                <a:r>
                  <a:rPr lang="en-US" sz="1800" b="0" i="0" u="none" strike="noStrike" baseline="0" dirty="0">
                    <a:latin typeface="MinionPro-Regular"/>
                  </a:rPr>
                  <a:t>, using the </a:t>
                </a:r>
                <a:r>
                  <a:rPr lang="en-US" sz="1800" b="0" i="0" u="none" strike="noStrike" baseline="0" dirty="0">
                    <a:latin typeface="CambriaMath"/>
                  </a:rPr>
                  <a:t>𝜋 </a:t>
                </a:r>
                <a:r>
                  <a:rPr lang="en-US" sz="1800" b="0" i="0" u="none" strike="noStrike" baseline="0" dirty="0">
                    <a:latin typeface="MinionPro-Regular"/>
                  </a:rPr>
                  <a:t>policy.</a:t>
                </a:r>
              </a:p>
              <a:p>
                <a:pPr marL="342900" indent="-342900" algn="l">
                  <a:buFont typeface="+mj-lt"/>
                  <a:buAutoNum type="arabicPeriod"/>
                </a:pPr>
                <a:r>
                  <a:rPr lang="en-US" sz="1800" b="0" i="0" u="none" strike="noStrike" baseline="0" dirty="0">
                    <a:latin typeface="MinionPro-Regular"/>
                  </a:rPr>
                  <a:t>Apply the sampled Bellman optimality operator to obtain the target values,</a:t>
                </a:r>
                <a:br>
                  <a:rPr lang="en-US" sz="1800" b="0" i="1" u="none" strike="noStrike" baseline="0" dirty="0">
                    <a:latin typeface="Cambria Math" panose="02040503050406030204" pitchFamily="18" charset="0"/>
                  </a:rPr>
                </a:br>
                <a:r>
                  <a:rPr lang="en-US" sz="1800" b="0" i="0" u="none" strike="noStrike" baseline="0" dirty="0">
                    <a:latin typeface="Cambria Math" panose="02040503050406030204" pitchFamily="18" charset="0"/>
                  </a:rPr>
                  <a:t>𝑦𝑖 = 𝑟𝑖 + 𝛾   max_(𝑎_𝑖^′ )⁡〖𝑄𝜃(𝑠𝑖′, 𝑎𝑖′)〗</a:t>
                </a:r>
                <a:r>
                  <a:rPr lang="en-US" sz="1800" b="0" i="0" u="none" strike="noStrike" baseline="0" dirty="0">
                    <a:latin typeface="MinionPro-Regular"/>
                  </a:rPr>
                  <a:t>, to all samples, </a:t>
                </a:r>
                <a:r>
                  <a:rPr lang="en-US" sz="1800" b="0" i="0" u="none" strike="noStrike" baseline="0" dirty="0">
                    <a:latin typeface="CambriaMath"/>
                  </a:rPr>
                  <a:t>𝑖 = 1, … , 𝑁 </a:t>
                </a:r>
                <a:r>
                  <a:rPr lang="en-US" sz="1800" b="0" i="0" u="none" strike="noStrike" baseline="0" dirty="0">
                    <a:latin typeface="MinionPro-Regular"/>
                  </a:rPr>
                  <a:t>, but if </a:t>
                </a:r>
                <a:r>
                  <a:rPr lang="en-US" sz="1800" b="0" i="0" u="none" strike="noStrike" baseline="0" dirty="0">
                    <a:latin typeface="Cambria Math" panose="02040503050406030204" pitchFamily="18" charset="0"/>
                  </a:rPr>
                  <a:t>𝑠_𝑖^′  </a:t>
                </a:r>
                <a:r>
                  <a:rPr lang="en-US" sz="1800" b="0" i="0" u="none" strike="noStrike" baseline="0" dirty="0">
                    <a:latin typeface="MinionPro-Regular"/>
                  </a:rPr>
                  <a:t>is a terminal state, set </a:t>
                </a:r>
                <a:r>
                  <a:rPr lang="en-US" sz="1800" b="0" i="0" u="none" strike="noStrike" baseline="0" dirty="0">
                    <a:latin typeface="Cambria Math" panose="02040503050406030204" pitchFamily="18" charset="0"/>
                  </a:rPr>
                  <a:t>𝑦_𝑖  = 𝑟_𝑖</a:t>
                </a:r>
                <a:r>
                  <a:rPr lang="en-US" sz="1800" b="0" i="0" u="none" strike="noStrike" baseline="0" dirty="0">
                    <a:latin typeface="MinionPro-Regular"/>
                  </a:rPr>
                  <a:t>.</a:t>
                </a:r>
              </a:p>
              <a:p>
                <a:pPr marL="342900" indent="-342900" algn="l">
                  <a:buFont typeface="+mj-lt"/>
                  <a:buAutoNum type="arabicPeriod"/>
                </a:pPr>
                <a:r>
                  <a:rPr lang="en-US" sz="1800" b="0" i="0" u="none" strike="noStrike" baseline="0" dirty="0">
                    <a:latin typeface="MinionPro-Regular"/>
                  </a:rPr>
                  <a:t>Obtain </a:t>
                </a:r>
                <a:r>
                  <a:rPr lang="en-US" sz="1800" b="0" i="0" u="none" strike="noStrike" baseline="0" dirty="0">
                    <a:latin typeface="CambriaMath"/>
                  </a:rPr>
                  <a:t>𝜃 </a:t>
                </a:r>
                <a:r>
                  <a:rPr lang="en-US" sz="1800" b="0" i="0" u="none" strike="noStrike" baseline="0" dirty="0">
                    <a:latin typeface="MinionPro-Regular"/>
                  </a:rPr>
                  <a:t>by minimizing the gap between </a:t>
                </a:r>
                <a:r>
                  <a:rPr lang="en-US" sz="1800" b="0" i="0" u="none" strike="noStrike" baseline="0" dirty="0">
                    <a:latin typeface="Cambria Math" panose="02040503050406030204" pitchFamily="18" charset="0"/>
                  </a:rPr>
                  <a:t>𝑄_𝜃</a:t>
                </a:r>
                <a:r>
                  <a:rPr lang="en-US" sz="1800" b="0" i="0" u="none" strike="noStrike" baseline="0" dirty="0">
                    <a:latin typeface="CambriaMath"/>
                  </a:rPr>
                  <a:t> </a:t>
                </a:r>
                <a:r>
                  <a:rPr lang="en-US" sz="1800" b="0" i="0" u="none" strike="noStrike" baseline="0" dirty="0">
                    <a:latin typeface="MinionPro-Regular"/>
                  </a:rPr>
                  <a:t>and the target values. More formally,</a:t>
                </a:r>
                <a:br>
                  <a:rPr lang="en-US" sz="1800" b="0" i="1" u="none" strike="noStrike" baseline="0" dirty="0">
                    <a:latin typeface="Cambria Math" panose="02040503050406030204" pitchFamily="18" charset="0"/>
                  </a:rPr>
                </a:br>
                <a:r>
                  <a:rPr lang="en-US" sz="1800" b="0" i="0" u="none" strike="noStrike" baseline="0" dirty="0">
                    <a:latin typeface="Cambria Math" panose="02040503050406030204" pitchFamily="18" charset="0"/>
                  </a:rPr>
                  <a:t>𝜃 ≔〖arg min_𝜃〗⁡∑26_(𝑖=1)^𝑁▒𝐿(𝑄_𝜃 (𝑠_𝑖, 𝑎_𝑖 ), 𝑦_𝑖 ) </a:t>
                </a:r>
                <a:r>
                  <a:rPr lang="en-US" sz="1800" b="0" i="0" u="none" strike="noStrike" baseline="0" dirty="0">
                    <a:latin typeface="MinionPro-Regular"/>
                  </a:rPr>
                  <a:t>, where </a:t>
                </a:r>
                <a:r>
                  <a:rPr lang="en-US" sz="1800" b="0" i="0" u="none" strike="noStrike" baseline="0" dirty="0">
                    <a:latin typeface="CambriaMath"/>
                  </a:rPr>
                  <a:t>𝐿 </a:t>
                </a:r>
                <a:r>
                  <a:rPr lang="en-US" sz="1800" b="0" i="0" u="none" strike="noStrike" baseline="0" dirty="0">
                    <a:latin typeface="MinionPro-Regular"/>
                  </a:rPr>
                  <a:t>is a loss function, such as squared error, </a:t>
                </a:r>
                <a:r>
                  <a:rPr lang="en-US" sz="1800" b="0" i="0" u="none" strike="noStrike" baseline="0">
                    <a:latin typeface="Cambria Math" panose="02040503050406030204" pitchFamily="18" charset="0"/>
                  </a:rPr>
                  <a:t>1/2 (</a:t>
                </a:r>
                <a:r>
                  <a:rPr lang="en-US" sz="1800" b="0" i="0" u="none" strike="noStrike" baseline="0" dirty="0">
                    <a:latin typeface="Cambria Math" panose="02040503050406030204" pitchFamily="18" charset="0"/>
                  </a:rPr>
                  <a:t>𝑄_𝜃 (𝑠_𝑖, 𝑎_𝑖 )−𝑦_𝑖</a:t>
                </a:r>
                <a:r>
                  <a:rPr lang="en-US" sz="1800" b="0" i="0" u="none" strike="noStrike" baseline="0">
                    <a:latin typeface="Cambria Math" panose="02040503050406030204" pitchFamily="18" charset="0"/>
                  </a:rPr>
                  <a:t> )^2</a:t>
                </a:r>
                <a:r>
                  <a:rPr lang="en-US" sz="1800" b="0" i="0" u="none" strike="noStrike" baseline="0" dirty="0">
                    <a:latin typeface="CambriaMath"/>
                  </a:rPr>
                  <a:t>,</a:t>
                </a:r>
              </a:p>
              <a:p>
                <a:pPr marL="342900" indent="-342900" algn="l">
                  <a:buFont typeface="+mj-lt"/>
                  <a:buAutoNum type="arabicPeriod"/>
                </a:pPr>
                <a:r>
                  <a:rPr lang="en-US" sz="1800" b="0" i="0" u="none" strike="noStrike" baseline="0" dirty="0">
                    <a:latin typeface="MinionPro-Regular"/>
                  </a:rPr>
                  <a:t>Update </a:t>
                </a:r>
                <a:r>
                  <a:rPr lang="en-US" sz="1800" b="0" i="0" u="none" strike="noStrike" baseline="0" dirty="0">
                    <a:latin typeface="CambriaMath"/>
                  </a:rPr>
                  <a:t>𝜋 </a:t>
                </a:r>
                <a:r>
                  <a:rPr lang="en-US" sz="1800" b="0" i="0" u="none" strike="noStrike" baseline="0" dirty="0">
                    <a:latin typeface="MinionPro-Regular"/>
                  </a:rPr>
                  <a:t>with respect to the new </a:t>
                </a:r>
                <a:r>
                  <a:rPr lang="en-US" sz="1800" b="0" i="0" u="none" strike="noStrike" baseline="0" dirty="0">
                    <a:latin typeface="Cambria Math" panose="02040503050406030204" pitchFamily="18" charset="0"/>
                  </a:rPr>
                  <a:t>𝑄_𝜃</a:t>
                </a:r>
                <a:r>
                  <a:rPr lang="en-US" sz="1800" b="0" i="0" u="none" strike="noStrike" baseline="0" dirty="0">
                    <a:latin typeface="CambriaMath"/>
                  </a:rPr>
                  <a:t> </a:t>
                </a:r>
                <a:r>
                  <a:rPr lang="en-US" sz="1800" b="0" i="0" u="none" strike="noStrike" baseline="0" dirty="0">
                    <a:latin typeface="MinionPro-Regular"/>
                  </a:rPr>
                  <a:t>value.</a:t>
                </a:r>
              </a:p>
              <a:p>
                <a:pPr algn="l"/>
                <a:endParaRPr lang="en-US" dirty="0"/>
              </a:p>
              <a:p>
                <a:pPr algn="l"/>
                <a:endParaRPr lang="en-US" dirty="0"/>
              </a:p>
            </p:txBody>
          </p:sp>
        </mc:Fallback>
      </mc:AlternateContent>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When you use ReLU activation functions in a neural network for reinforcement learning and encounter a sparse state vector (where most of the elements are zeros), a problem arises. ReLU functions are non-differentiable at zero. This means that the derivative of the ReLU function is undefined at zero, causing issues when calculating gradients through these points during backpropagation.</a:t>
            </a:r>
          </a:p>
          <a:p>
            <a:endParaRPr lang="en-US" b="0" i="0" dirty="0">
              <a:solidFill>
                <a:srgbClr val="D1D5DB"/>
              </a:solidFill>
              <a:effectLst/>
              <a:latin typeface="Söhne"/>
            </a:endParaRPr>
          </a:p>
          <a:p>
            <a:r>
              <a:rPr lang="en-US" b="0" i="0" dirty="0">
                <a:solidFill>
                  <a:srgbClr val="D1D5DB"/>
                </a:solidFill>
                <a:effectLst/>
                <a:latin typeface="Söhne"/>
              </a:rPr>
              <a:t>In reinforcement learning, the neural network learns to make decisions based on the state input it receives from the environment. If the state vector is sparse and contains many zeros, ReLU activations can lead to "dead" neurons. A "dead" neuron is one that always outputs zero, regardless of its input. When this happens, the gradient of the loss function with respect to the network's weights becomes zero for that neuron. Consequently, the weights associated with that neuron don't get updated, and the network doesn't learn from that particular input feature.</a:t>
            </a:r>
          </a:p>
          <a:p>
            <a:endParaRPr lang="en-US" b="0" i="0" dirty="0">
              <a:solidFill>
                <a:srgbClr val="D1D5DB"/>
              </a:solidFill>
              <a:effectLst/>
              <a:latin typeface="Söhne"/>
            </a:endParaRPr>
          </a:p>
          <a:p>
            <a:r>
              <a:rPr lang="en-US" b="0" i="0" dirty="0">
                <a:solidFill>
                  <a:srgbClr val="D1D5DB"/>
                </a:solidFill>
                <a:effectLst/>
                <a:latin typeface="Söhne"/>
              </a:rPr>
              <a:t>To address this, researchers often use variations of ReLU, such as Leaky ReLU or Parametric ReLU, which introduce a small slope for negative inputs to ensure differentiability even at zero. These variations mitigate the </a:t>
            </a:r>
            <a:r>
              <a:rPr lang="en-US" b="1" i="0" dirty="0">
                <a:solidFill>
                  <a:srgbClr val="D1D5DB"/>
                </a:solidFill>
                <a:effectLst/>
                <a:latin typeface="Söhne"/>
              </a:rPr>
              <a:t>vanishing gradient problem </a:t>
            </a:r>
            <a:r>
              <a:rPr lang="en-US" b="0" i="0" dirty="0">
                <a:solidFill>
                  <a:srgbClr val="D1D5DB"/>
                </a:solidFill>
                <a:effectLst/>
                <a:latin typeface="Söhne"/>
              </a:rPr>
              <a:t>and help the network learn effectively even with sparse state vectors and non-differentiable points like zero.</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E080661-E46D-4BFA-A78C-E8D8CAC3DE03}" type="datetime1">
              <a:rPr lang="en-US" smtClean="0"/>
              <a:t>8/21/2024</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Arial"/>
                <a:cs typeface="Arial"/>
              </a:defRPr>
            </a:lvl1pPr>
          </a:lstStyle>
          <a:p>
            <a:pPr marL="25400">
              <a:lnSpc>
                <a:spcPct val="10000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6D38453-8F26-4FBD-981B-25C57CB95F9D}" type="datetime1">
              <a:rPr lang="en-US" smtClean="0"/>
              <a:t>8/21/2024</a:t>
            </a:fld>
            <a:endParaRPr lang="en-US"/>
          </a:p>
        </p:txBody>
      </p:sp>
      <p:sp>
        <p:nvSpPr>
          <p:cNvPr id="6" name="Holder 6"/>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540CB34-8AB4-41B6-BDDD-A33881F92FD9}" type="datetime1">
              <a:rPr lang="en-US" smtClean="0"/>
              <a:t>8/21/2024</a:t>
            </a:fld>
            <a:endParaRPr lang="en-US"/>
          </a:p>
        </p:txBody>
      </p:sp>
      <p:sp>
        <p:nvSpPr>
          <p:cNvPr id="8" name="Holder 6">
            <a:extLst>
              <a:ext uri="{FF2B5EF4-FFF2-40B4-BE49-F238E27FC236}">
                <a16:creationId xmlns:a16="http://schemas.microsoft.com/office/drawing/2014/main" id="{5D57FB16-89DD-78E0-8C58-A96DA053B0C9}"/>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81700FC9-EF9A-4011-9E19-34C67745A10E}" type="datetime1">
              <a:rPr lang="en-US" smtClean="0"/>
              <a:t>8/21/2024</a:t>
            </a:fld>
            <a:endParaRPr lang="en-US"/>
          </a:p>
        </p:txBody>
      </p:sp>
      <p:sp>
        <p:nvSpPr>
          <p:cNvPr id="6" name="Holder 6">
            <a:extLst>
              <a:ext uri="{FF2B5EF4-FFF2-40B4-BE49-F238E27FC236}">
                <a16:creationId xmlns:a16="http://schemas.microsoft.com/office/drawing/2014/main" id="{03E7BF94-1516-9AA2-36BD-A3969D10DC83}"/>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837"/>
            <a:ext cx="8515350" cy="3202305"/>
          </a:xfrm>
          <a:custGeom>
            <a:avLst/>
            <a:gdLst/>
            <a:ahLst/>
            <a:cxnLst/>
            <a:rect l="l" t="t" r="r" b="b"/>
            <a:pathLst>
              <a:path w="8515350" h="3202304">
                <a:moveTo>
                  <a:pt x="0" y="3202171"/>
                </a:moveTo>
                <a:lnTo>
                  <a:pt x="8515350" y="3202171"/>
                </a:lnTo>
                <a:lnTo>
                  <a:pt x="8515350" y="0"/>
                </a:lnTo>
                <a:lnTo>
                  <a:pt x="0" y="0"/>
                </a:lnTo>
                <a:lnTo>
                  <a:pt x="0" y="3202171"/>
                </a:lnTo>
                <a:close/>
              </a:path>
            </a:pathLst>
          </a:custGeom>
          <a:solidFill>
            <a:srgbClr val="E7E7E7"/>
          </a:solidFill>
        </p:spPr>
        <p:txBody>
          <a:bodyPr wrap="square" lIns="0" tIns="0" rIns="0" bIns="0" rtlCol="0"/>
          <a:lstStyle/>
          <a:p>
            <a:endParaRPr/>
          </a:p>
        </p:txBody>
      </p:sp>
      <p:sp>
        <p:nvSpPr>
          <p:cNvPr id="17" name="bk object 17"/>
          <p:cNvSpPr/>
          <p:nvPr/>
        </p:nvSpPr>
        <p:spPr>
          <a:xfrm>
            <a:off x="3043836" y="4970623"/>
            <a:ext cx="5471795" cy="1411605"/>
          </a:xfrm>
          <a:custGeom>
            <a:avLst/>
            <a:gdLst/>
            <a:ahLst/>
            <a:cxnLst/>
            <a:rect l="l" t="t" r="r" b="b"/>
            <a:pathLst>
              <a:path w="5471795" h="1411604">
                <a:moveTo>
                  <a:pt x="5236325" y="0"/>
                </a:moveTo>
                <a:lnTo>
                  <a:pt x="235187" y="0"/>
                </a:lnTo>
                <a:lnTo>
                  <a:pt x="215898" y="779"/>
                </a:lnTo>
                <a:lnTo>
                  <a:pt x="160850" y="11990"/>
                </a:lnTo>
                <a:lnTo>
                  <a:pt x="111300" y="35236"/>
                </a:lnTo>
                <a:lnTo>
                  <a:pt x="68884" y="68884"/>
                </a:lnTo>
                <a:lnTo>
                  <a:pt x="35236" y="111300"/>
                </a:lnTo>
                <a:lnTo>
                  <a:pt x="11990" y="160850"/>
                </a:lnTo>
                <a:lnTo>
                  <a:pt x="779" y="215898"/>
                </a:lnTo>
                <a:lnTo>
                  <a:pt x="0" y="235187"/>
                </a:lnTo>
                <a:lnTo>
                  <a:pt x="0" y="1175938"/>
                </a:lnTo>
                <a:lnTo>
                  <a:pt x="3078" y="1214087"/>
                </a:lnTo>
                <a:lnTo>
                  <a:pt x="18482" y="1267484"/>
                </a:lnTo>
                <a:lnTo>
                  <a:pt x="45377" y="1314837"/>
                </a:lnTo>
                <a:lnTo>
                  <a:pt x="82129" y="1354512"/>
                </a:lnTo>
                <a:lnTo>
                  <a:pt x="127105" y="1384875"/>
                </a:lnTo>
                <a:lnTo>
                  <a:pt x="178669" y="1404291"/>
                </a:lnTo>
                <a:lnTo>
                  <a:pt x="235187" y="1411126"/>
                </a:lnTo>
                <a:lnTo>
                  <a:pt x="5236325" y="1411126"/>
                </a:lnTo>
                <a:lnTo>
                  <a:pt x="5274474" y="1408048"/>
                </a:lnTo>
                <a:lnTo>
                  <a:pt x="5327871" y="1392644"/>
                </a:lnTo>
                <a:lnTo>
                  <a:pt x="5375224" y="1365748"/>
                </a:lnTo>
                <a:lnTo>
                  <a:pt x="5414899" y="1328996"/>
                </a:lnTo>
                <a:lnTo>
                  <a:pt x="5445261" y="1284020"/>
                </a:lnTo>
                <a:lnTo>
                  <a:pt x="5464677" y="1232456"/>
                </a:lnTo>
                <a:lnTo>
                  <a:pt x="5471513" y="1175938"/>
                </a:lnTo>
                <a:lnTo>
                  <a:pt x="5471513" y="235187"/>
                </a:lnTo>
                <a:lnTo>
                  <a:pt x="5468434" y="197038"/>
                </a:lnTo>
                <a:lnTo>
                  <a:pt x="5453030" y="143641"/>
                </a:lnTo>
                <a:lnTo>
                  <a:pt x="5426135" y="96288"/>
                </a:lnTo>
                <a:lnTo>
                  <a:pt x="5389383" y="56613"/>
                </a:lnTo>
                <a:lnTo>
                  <a:pt x="5344407" y="26251"/>
                </a:lnTo>
                <a:lnTo>
                  <a:pt x="5292843" y="6835"/>
                </a:lnTo>
                <a:lnTo>
                  <a:pt x="5236325" y="0"/>
                </a:lnTo>
                <a:close/>
              </a:path>
            </a:pathLst>
          </a:custGeom>
          <a:solidFill>
            <a:srgbClr val="E7E7E7"/>
          </a:solidFill>
        </p:spPr>
        <p:txBody>
          <a:bodyPr wrap="square" lIns="0" tIns="0" rIns="0" bIns="0" rtlCol="0"/>
          <a:lstStyle/>
          <a:p>
            <a:endParaRPr/>
          </a:p>
        </p:txBody>
      </p:sp>
      <p:sp>
        <p:nvSpPr>
          <p:cNvPr id="18" name="bk object 18"/>
          <p:cNvSpPr/>
          <p:nvPr/>
        </p:nvSpPr>
        <p:spPr>
          <a:xfrm>
            <a:off x="0" y="3559497"/>
            <a:ext cx="3783329" cy="2822575"/>
          </a:xfrm>
          <a:custGeom>
            <a:avLst/>
            <a:gdLst/>
            <a:ahLst/>
            <a:cxnLst/>
            <a:rect l="l" t="t" r="r" b="b"/>
            <a:pathLst>
              <a:path w="3783329" h="2822575">
                <a:moveTo>
                  <a:pt x="0" y="2822252"/>
                </a:moveTo>
                <a:lnTo>
                  <a:pt x="3783230" y="2822252"/>
                </a:lnTo>
                <a:lnTo>
                  <a:pt x="3783230" y="0"/>
                </a:lnTo>
                <a:lnTo>
                  <a:pt x="0" y="0"/>
                </a:lnTo>
                <a:lnTo>
                  <a:pt x="0" y="2822252"/>
                </a:lnTo>
                <a:close/>
              </a:path>
            </a:pathLst>
          </a:custGeom>
          <a:solidFill>
            <a:srgbClr val="E7E7E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EE0FBCF-F41F-461C-B975-B8B35DA1D3CF}" type="datetime1">
              <a:rPr lang="en-US" smtClean="0"/>
              <a:t>8/21/2024</a:t>
            </a:fld>
            <a:endParaRPr lang="en-US"/>
          </a:p>
        </p:txBody>
      </p:sp>
      <p:sp>
        <p:nvSpPr>
          <p:cNvPr id="5" name="Holder 6">
            <a:extLst>
              <a:ext uri="{FF2B5EF4-FFF2-40B4-BE49-F238E27FC236}">
                <a16:creationId xmlns:a16="http://schemas.microsoft.com/office/drawing/2014/main" id="{34F398AD-D74C-E425-84BB-A103FBE56170}"/>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ne 2022"/>
          <p:cNvSpPr txBox="1"/>
          <p:nvPr/>
        </p:nvSpPr>
        <p:spPr>
          <a:xfrm>
            <a:off x="6224239" y="6473973"/>
            <a:ext cx="2369008"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June 2022</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5207640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Holder 6">
            <a:extLst>
              <a:ext uri="{FF2B5EF4-FFF2-40B4-BE49-F238E27FC236}">
                <a16:creationId xmlns:a16="http://schemas.microsoft.com/office/drawing/2014/main" id="{296A89E8-47FE-A5A1-C068-3860B1D2EAB5}"/>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1672277121"/>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Holder 6">
            <a:extLst>
              <a:ext uri="{FF2B5EF4-FFF2-40B4-BE49-F238E27FC236}">
                <a16:creationId xmlns:a16="http://schemas.microsoft.com/office/drawing/2014/main" id="{A19CFAB4-7402-D4ED-2BF5-7F94CC8D5A6A}"/>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4045145728"/>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Holder 6">
            <a:extLst>
              <a:ext uri="{FF2B5EF4-FFF2-40B4-BE49-F238E27FC236}">
                <a16:creationId xmlns:a16="http://schemas.microsoft.com/office/drawing/2014/main" id="{7B10F982-EB9D-CB00-3C0D-5272BB018CBA}"/>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86277450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Holder 6">
            <a:extLst>
              <a:ext uri="{FF2B5EF4-FFF2-40B4-BE49-F238E27FC236}">
                <a16:creationId xmlns:a16="http://schemas.microsoft.com/office/drawing/2014/main" id="{4963A512-D355-C9FF-A37C-701D99A954CE}"/>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154031417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Holder 6">
            <a:extLst>
              <a:ext uri="{FF2B5EF4-FFF2-40B4-BE49-F238E27FC236}">
                <a16:creationId xmlns:a16="http://schemas.microsoft.com/office/drawing/2014/main" id="{2AAE614B-8030-3D98-1A5C-343DCE355670}"/>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33476927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ne 2022"/>
          <p:cNvSpPr txBox="1"/>
          <p:nvPr/>
        </p:nvSpPr>
        <p:spPr>
          <a:xfrm>
            <a:off x="6224239" y="6473973"/>
            <a:ext cx="2369008"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June 2022</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64997881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Holder 6">
            <a:extLst>
              <a:ext uri="{FF2B5EF4-FFF2-40B4-BE49-F238E27FC236}">
                <a16:creationId xmlns:a16="http://schemas.microsoft.com/office/drawing/2014/main" id="{AD785A88-A059-0D60-CEF0-ACDA22E7EE67}"/>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287532872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Holder 6">
            <a:extLst>
              <a:ext uri="{FF2B5EF4-FFF2-40B4-BE49-F238E27FC236}">
                <a16:creationId xmlns:a16="http://schemas.microsoft.com/office/drawing/2014/main" id="{388DCCA2-186C-9845-E180-3366C918E2F2}"/>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291148545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Holder 6">
            <a:extLst>
              <a:ext uri="{FF2B5EF4-FFF2-40B4-BE49-F238E27FC236}">
                <a16:creationId xmlns:a16="http://schemas.microsoft.com/office/drawing/2014/main" id="{A8F9698B-7C76-E1A8-3C2D-464C011B24FF}"/>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13353574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Holder 6">
            <a:extLst>
              <a:ext uri="{FF2B5EF4-FFF2-40B4-BE49-F238E27FC236}">
                <a16:creationId xmlns:a16="http://schemas.microsoft.com/office/drawing/2014/main" id="{CBB37438-C950-5B5E-C251-569228C97922}"/>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230455370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Holder 6">
            <a:extLst>
              <a:ext uri="{FF2B5EF4-FFF2-40B4-BE49-F238E27FC236}">
                <a16:creationId xmlns:a16="http://schemas.microsoft.com/office/drawing/2014/main" id="{C3EF0A35-D59D-F301-3F58-634ED7C63999}"/>
              </a:ext>
            </a:extLst>
          </p:cNvPr>
          <p:cNvSpPr>
            <a:spLocks noGrp="1"/>
          </p:cNvSpPr>
          <p:nvPr>
            <p:ph type="sldNum" sz="quarter" idx="7"/>
          </p:nvPr>
        </p:nvSpPr>
        <p:spPr>
          <a:xfrm>
            <a:off x="8466135" y="6598306"/>
            <a:ext cx="677865" cy="245068"/>
          </a:xfr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4030848464"/>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monash.edu.au/" TargetMode="Externa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monash.edu.au/" TargetMode="External"/><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31776"/>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17" name="bk object 17"/>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18" name="bk object 18"/>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205422" y="321268"/>
            <a:ext cx="8733155" cy="4191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537527" y="2257080"/>
            <a:ext cx="8068944" cy="31464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374CE926-4E1B-4CBA-9F6B-3FCB88EF7273}" type="datetime1">
              <a:rPr lang="en-US" smtClean="0"/>
              <a:t>8/21/2024</a:t>
            </a:fld>
            <a:endParaRPr lang="en-US"/>
          </a:p>
        </p:txBody>
      </p:sp>
      <p:sp>
        <p:nvSpPr>
          <p:cNvPr id="6" name="Holder 6"/>
          <p:cNvSpPr>
            <a:spLocks noGrp="1"/>
          </p:cNvSpPr>
          <p:nvPr>
            <p:ph type="sldNum" sz="quarter" idx="7"/>
          </p:nvPr>
        </p:nvSpPr>
        <p:spPr>
          <a:xfrm>
            <a:off x="7597383" y="6444622"/>
            <a:ext cx="121920" cy="152400"/>
          </a:xfrm>
          <a:prstGeom prst="rect">
            <a:avLst/>
          </a:prstGeom>
        </p:spPr>
        <p:txBody>
          <a:bodyPr wrap="square" lIns="0" tIns="0" rIns="0" bIns="0">
            <a:spAutoFit/>
          </a:bodyPr>
          <a:lstStyle>
            <a:lvl1pPr>
              <a:defRPr sz="1000" b="0" i="0">
                <a:solidFill>
                  <a:schemeClr val="tx1"/>
                </a:solidFill>
                <a:latin typeface="Arial"/>
                <a:cs typeface="Arial"/>
              </a:defRPr>
            </a:lvl1pPr>
          </a:lstStyle>
          <a:p>
            <a:pPr marL="25400">
              <a:lnSpc>
                <a:spcPct val="10000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8"/>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9"/>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Holder 6">
            <a:extLst>
              <a:ext uri="{FF2B5EF4-FFF2-40B4-BE49-F238E27FC236}">
                <a16:creationId xmlns:a16="http://schemas.microsoft.com/office/drawing/2014/main" id="{C30D9AF6-A686-4649-B2D8-A08E21FBC323}"/>
              </a:ext>
            </a:extLst>
          </p:cNvPr>
          <p:cNvSpPr>
            <a:spLocks noGrp="1"/>
          </p:cNvSpPr>
          <p:nvPr>
            <p:ph type="sldNum" sz="quarter" idx="4"/>
          </p:nvPr>
        </p:nvSpPr>
        <p:spPr>
          <a:xfrm>
            <a:off x="8466135" y="6598306"/>
            <a:ext cx="677865" cy="245068"/>
          </a:xfrm>
          <a:prstGeom prst="rect">
            <a:avLst/>
          </a:prstGeo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105320931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8"/>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9"/>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Holder 6">
            <a:extLst>
              <a:ext uri="{FF2B5EF4-FFF2-40B4-BE49-F238E27FC236}">
                <a16:creationId xmlns:a16="http://schemas.microsoft.com/office/drawing/2014/main" id="{F33424A4-8B9F-4C58-6F37-977388218A96}"/>
              </a:ext>
            </a:extLst>
          </p:cNvPr>
          <p:cNvSpPr>
            <a:spLocks noGrp="1"/>
          </p:cNvSpPr>
          <p:nvPr>
            <p:ph type="sldNum" sz="quarter" idx="4"/>
          </p:nvPr>
        </p:nvSpPr>
        <p:spPr>
          <a:xfrm>
            <a:off x="8466135" y="6598306"/>
            <a:ext cx="677865" cy="245068"/>
          </a:xfrm>
          <a:prstGeom prst="rect">
            <a:avLst/>
          </a:prstGeom>
        </p:spPr>
        <p:txBody>
          <a:bodyPr lIns="0" tIns="0" rIns="0" bIns="0"/>
          <a:lstStyle>
            <a:lvl1pPr>
              <a:defRPr sz="1600" b="0" i="0">
                <a:solidFill>
                  <a:schemeClr val="tx1"/>
                </a:solidFill>
                <a:latin typeface="Arial"/>
                <a:cs typeface="Arial"/>
              </a:defRPr>
            </a:lvl1pPr>
          </a:lstStyle>
          <a:p>
            <a:pPr marL="25400"/>
            <a:fld id="{81D60167-4931-47E6-BA6A-407CBD079E47}" type="slidenum">
              <a:rPr lang="en-US" smtClean="0"/>
              <a:pPr marL="25400"/>
              <a:t>‹#›</a:t>
            </a:fld>
            <a:r>
              <a:rPr lang="en-US" dirty="0"/>
              <a:t>/27</a:t>
            </a:r>
          </a:p>
        </p:txBody>
      </p:sp>
    </p:spTree>
    <p:extLst>
      <p:ext uri="{BB962C8B-B14F-4D97-AF65-F5344CB8AC3E}">
        <p14:creationId xmlns:p14="http://schemas.microsoft.com/office/powerpoint/2010/main" val="242803635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hyperlink" Target="https://www.davidsilver.uk/teaching/" TargetMode="Externa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analyticsvidhya.com/blog/2019/04/introduction-deep-q-learning-pyth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www.analyticsvidhya.com/blog/2019/04/introduction-deep-q-learning-python/"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8" Type="http://schemas.openxmlformats.org/officeDocument/2006/relationships/hyperlink" Target="https://www.youtube.com/watch?v=cNkxCQflixY" TargetMode="External"/><Relationship Id="rId3" Type="http://schemas.openxmlformats.org/officeDocument/2006/relationships/notesSlide" Target="../notesSlides/notesSlide16.xml"/><Relationship Id="rId7" Type="http://schemas.openxmlformats.org/officeDocument/2006/relationships/hyperlink" Target="https://github.com/drVlasov/Breakout" TargetMode="External"/><Relationship Id="rId2" Type="http://schemas.openxmlformats.org/officeDocument/2006/relationships/slideLayout" Target="../slideLayouts/slideLayout2.xml"/><Relationship Id="rId1" Type="http://schemas.openxmlformats.org/officeDocument/2006/relationships/video" Target="https://www.youtube.com/embed/V1eYniJ0Rnk?feature=oembed" TargetMode="External"/><Relationship Id="rId6" Type="http://schemas.openxmlformats.org/officeDocument/2006/relationships/hyperlink" Target="https://www.cs.toronto.edu/~vmnih/docs/dqn.pdf" TargetMode="External"/><Relationship Id="rId5" Type="http://schemas.openxmlformats.org/officeDocument/2006/relationships/image" Target="../media/image23.jpe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3167602"/>
            <a:chOff x="-1" y="2861721"/>
            <a:chExt cx="8515351" cy="3167602"/>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836125"/>
              <a:ext cx="8515350" cy="1193198"/>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4-2: </a:t>
              </a:r>
              <a:r>
                <a:rPr kumimoji="0" lang="en-US" sz="3200" b="0" i="0" u="none" strike="noStrike" kern="0" cap="none" spc="0" normalizeH="0" baseline="0" noProof="0" dirty="0">
                  <a:ln>
                    <a:noFill/>
                  </a:ln>
                  <a:solidFill>
                    <a:srgbClr val="00669D"/>
                  </a:solidFill>
                  <a:effectLst/>
                  <a:uLnTx/>
                  <a:uFillTx/>
                  <a:latin typeface="Arial"/>
                  <a:cs typeface="Arial"/>
                  <a:sym typeface="Gill Sans"/>
                </a:rPr>
                <a:t>Deep Reinforcement and Deep-Q</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sym typeface="Gill Sans"/>
              </a:rPr>
              <a:t>FIT5226 S2 2024 </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lang="en-US" sz="3200" b="0" dirty="0">
                <a:uFill>
                  <a:solidFill>
                    <a:srgbClr val="000000"/>
                  </a:solidFill>
                </a:uFill>
                <a:latin typeface="+mn-lt"/>
                <a:ea typeface="+mn-ea"/>
                <a:cs typeface="+mn-cs"/>
                <a:sym typeface="Arial"/>
              </a:rPr>
              <a:t>Acknowledgments</a:t>
            </a:r>
            <a:endParaRPr sz="3200" b="0" dirty="0">
              <a:uFill>
                <a:solidFill>
                  <a:srgbClr val="000000"/>
                </a:solidFill>
              </a:uFill>
              <a:latin typeface="+mn-lt"/>
              <a:ea typeface="+mn-ea"/>
              <a:cs typeface="+mn-cs"/>
              <a:sym typeface="Arial"/>
            </a:endParaRPr>
          </a:p>
        </p:txBody>
      </p:sp>
      <p:sp>
        <p:nvSpPr>
          <p:cNvPr id="5" name="TextBox 4">
            <a:extLst>
              <a:ext uri="{FF2B5EF4-FFF2-40B4-BE49-F238E27FC236}">
                <a16:creationId xmlns:a16="http://schemas.microsoft.com/office/drawing/2014/main" id="{34BF768C-32D2-0C0E-04B7-54DD356B7413}"/>
              </a:ext>
            </a:extLst>
          </p:cNvPr>
          <p:cNvSpPr txBox="1"/>
          <p:nvPr/>
        </p:nvSpPr>
        <p:spPr>
          <a:xfrm>
            <a:off x="331788" y="1447800"/>
            <a:ext cx="8799513"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This material includes content adapted from instructional resources made available by David Silver as part of his Reinforcement Learning course at UCL under CC-BY-NC 4.0. </a:t>
            </a:r>
          </a:p>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Gill Sans"/>
              <a:sym typeface="Gill Sans"/>
            </a:endParaRPr>
          </a:p>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Refer to </a:t>
            </a:r>
            <a:r>
              <a:rPr kumimoji="0" lang="en-US" sz="2800" b="0" i="0" u="none" strike="noStrike" kern="0" cap="none" spc="0" normalizeH="0" baseline="0" noProof="0" dirty="0">
                <a:ln>
                  <a:noFill/>
                </a:ln>
                <a:solidFill>
                  <a:srgbClr val="000000"/>
                </a:solidFill>
                <a:effectLst/>
                <a:uLnTx/>
                <a:uFillTx/>
                <a:latin typeface="Gill Sans"/>
                <a:sym typeface="Gill Sans"/>
                <a:hlinkClick r:id="rId2"/>
              </a:rPr>
              <a:t>https://www.davidsilver.uk/teaching/ </a:t>
            </a:r>
            <a:r>
              <a:rPr kumimoji="0" lang="en-US" sz="2800" b="0" i="0" u="none" strike="noStrike" kern="0" cap="none" spc="0" normalizeH="0" baseline="0" noProof="0" dirty="0">
                <a:ln>
                  <a:noFill/>
                </a:ln>
                <a:solidFill>
                  <a:srgbClr val="000000"/>
                </a:solidFill>
                <a:effectLst/>
                <a:uLnTx/>
                <a:uFillTx/>
                <a:latin typeface="Gill Sans"/>
                <a:sym typeface="Gill Sans"/>
              </a:rPr>
              <a:t>for full details</a:t>
            </a:r>
          </a:p>
        </p:txBody>
      </p:sp>
      <p:sp>
        <p:nvSpPr>
          <p:cNvPr id="12" name="Rectangle 11">
            <a:extLst>
              <a:ext uri="{FF2B5EF4-FFF2-40B4-BE49-F238E27FC236}">
                <a16:creationId xmlns:a16="http://schemas.microsoft.com/office/drawing/2014/main" id="{6DAC420E-B4D2-AFAA-C7BB-EC22E2E1A0A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5C0B178-5415-98FC-DFE4-34CEF8DBDCB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4" name="Rectangle 13">
            <a:extLst>
              <a:ext uri="{FF2B5EF4-FFF2-40B4-BE49-F238E27FC236}">
                <a16:creationId xmlns:a16="http://schemas.microsoft.com/office/drawing/2014/main" id="{ABCC25D7-B59A-682C-3788-313926D96B21}"/>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6" name="TextBox 15">
            <a:extLst>
              <a:ext uri="{FF2B5EF4-FFF2-40B4-BE49-F238E27FC236}">
                <a16:creationId xmlns:a16="http://schemas.microsoft.com/office/drawing/2014/main" id="{C9849FA7-7812-8D4D-D874-FAEA94694942}"/>
              </a:ext>
            </a:extLst>
          </p:cNvPr>
          <p:cNvSpPr txBox="1"/>
          <p:nvPr/>
        </p:nvSpPr>
        <p:spPr>
          <a:xfrm>
            <a:off x="331788" y="4847526"/>
            <a:ext cx="8659811" cy="1384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defTabSz="406400" hangingPunct="0"/>
            <a:r>
              <a:rPr lang="en-US" sz="2800" kern="0" dirty="0">
                <a:solidFill>
                  <a:srgbClr val="000000"/>
                </a:solidFill>
                <a:latin typeface="Gill Sans"/>
                <a:sym typeface="Gill Sans"/>
              </a:rPr>
              <a:t>You may refer to Chapter 6, </a:t>
            </a:r>
          </a:p>
          <a:p>
            <a:pPr algn="ctr" defTabSz="406400" hangingPunct="0"/>
            <a:r>
              <a:rPr lang="en-US" sz="2800" kern="0" dirty="0">
                <a:solidFill>
                  <a:srgbClr val="000000"/>
                </a:solidFill>
                <a:latin typeface="Gill Sans"/>
                <a:sym typeface="Gill Sans"/>
              </a:rPr>
              <a:t>Enes </a:t>
            </a:r>
            <a:r>
              <a:rPr lang="en-US" sz="2800" kern="0" dirty="0" err="1">
                <a:solidFill>
                  <a:srgbClr val="000000"/>
                </a:solidFill>
                <a:latin typeface="Gill Sans"/>
                <a:sym typeface="Gill Sans"/>
              </a:rPr>
              <a:t>Bilgin</a:t>
            </a:r>
            <a:r>
              <a:rPr lang="en-US" sz="2800" kern="0" dirty="0">
                <a:solidFill>
                  <a:srgbClr val="000000"/>
                </a:solidFill>
                <a:latin typeface="Gill Sans"/>
                <a:sym typeface="Gill Sans"/>
              </a:rPr>
              <a:t> - Mastering Reinforcement Learning with Python (2020)</a:t>
            </a:r>
            <a:endParaRPr lang="en-US" sz="2800" kern="0" dirty="0">
              <a:solidFill>
                <a:srgbClr val="000000"/>
              </a:solidFill>
              <a:latin typeface="Gill Sans"/>
            </a:endParaRPr>
          </a:p>
        </p:txBody>
      </p:sp>
      <p:cxnSp>
        <p:nvCxnSpPr>
          <p:cNvPr id="18" name="Straight Connector 17">
            <a:extLst>
              <a:ext uri="{FF2B5EF4-FFF2-40B4-BE49-F238E27FC236}">
                <a16:creationId xmlns:a16="http://schemas.microsoft.com/office/drawing/2014/main" id="{2E25F20A-9272-3E1A-A990-56A344EE78EF}"/>
              </a:ext>
            </a:extLst>
          </p:cNvPr>
          <p:cNvCxnSpPr/>
          <p:nvPr/>
        </p:nvCxnSpPr>
        <p:spPr>
          <a:xfrm flipH="1">
            <a:off x="685800" y="4419600"/>
            <a:ext cx="800100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9" name="Slide Number Placeholder 18">
            <a:extLst>
              <a:ext uri="{FF2B5EF4-FFF2-40B4-BE49-F238E27FC236}">
                <a16:creationId xmlns:a16="http://schemas.microsoft.com/office/drawing/2014/main" id="{0CA30362-AF25-FDD9-7B0F-915052945928}"/>
              </a:ext>
            </a:extLst>
          </p:cNvPr>
          <p:cNvSpPr>
            <a:spLocks noGrp="1"/>
          </p:cNvSpPr>
          <p:nvPr>
            <p:ph type="sldNum" sz="quarter" idx="7"/>
          </p:nvPr>
        </p:nvSpPr>
        <p:spPr/>
        <p:txBody>
          <a:bodyPr/>
          <a:lstStyle/>
          <a:p>
            <a:pPr marL="25400"/>
            <a:fld id="{81D60167-4931-47E6-BA6A-407CBD079E47}" type="slidenum">
              <a:rPr lang="en-US" smtClean="0"/>
              <a:pPr marL="25400"/>
              <a:t>2</a:t>
            </a:fld>
            <a:r>
              <a:rPr lang="en-US"/>
              <a:t>/27</a:t>
            </a:r>
            <a:endParaRPr lang="en-US" dirty="0"/>
          </a:p>
        </p:txBody>
      </p:sp>
    </p:spTree>
    <p:extLst>
      <p:ext uri="{BB962C8B-B14F-4D97-AF65-F5344CB8AC3E}">
        <p14:creationId xmlns:p14="http://schemas.microsoft.com/office/powerpoint/2010/main" val="43953092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5" dirty="0"/>
              <a:t>T</a:t>
            </a:r>
            <a:r>
              <a:rPr dirty="0"/>
              <a:t>he</a:t>
            </a:r>
            <a:r>
              <a:rPr spc="-5" dirty="0"/>
              <a:t> </a:t>
            </a:r>
            <a:r>
              <a:rPr dirty="0"/>
              <a:t>Ca</a:t>
            </a:r>
            <a:r>
              <a:rPr spc="-10" dirty="0"/>
              <a:t>rt</a:t>
            </a:r>
            <a:r>
              <a:rPr spc="-5" dirty="0"/>
              <a:t> </a:t>
            </a:r>
            <a:r>
              <a:rPr dirty="0"/>
              <a:t>Pole</a:t>
            </a:r>
            <a:r>
              <a:rPr spc="-5" dirty="0"/>
              <a:t> </a:t>
            </a:r>
            <a:r>
              <a:rPr dirty="0"/>
              <a:t>Problem</a:t>
            </a:r>
          </a:p>
        </p:txBody>
      </p:sp>
      <p:sp>
        <p:nvSpPr>
          <p:cNvPr id="6" name="object 6"/>
          <p:cNvSpPr txBox="1"/>
          <p:nvPr/>
        </p:nvSpPr>
        <p:spPr>
          <a:xfrm>
            <a:off x="2209800" y="5974508"/>
            <a:ext cx="4490085" cy="381635"/>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ca</a:t>
            </a:r>
            <a:r>
              <a:rPr sz="2800" spc="40" dirty="0">
                <a:latin typeface="Gill Sans MT"/>
                <a:cs typeface="Gill Sans MT"/>
              </a:rPr>
              <a:t>r</a:t>
            </a:r>
            <a:r>
              <a:rPr sz="2800" dirty="0">
                <a:latin typeface="Gill Sans MT"/>
                <a:cs typeface="Gill Sans MT"/>
              </a:rPr>
              <a:t>t</a:t>
            </a:r>
            <a:r>
              <a:rPr sz="2800" spc="-5" dirty="0">
                <a:latin typeface="Gill Sans MT"/>
                <a:cs typeface="Gill Sans MT"/>
              </a:rPr>
              <a:t> </a:t>
            </a:r>
            <a:r>
              <a:rPr sz="2800" spc="-15" dirty="0">
                <a:latin typeface="Gill Sans MT"/>
                <a:cs typeface="Gill Sans MT"/>
              </a:rPr>
              <a:t>po</a:t>
            </a:r>
            <a:r>
              <a:rPr sz="2800" spc="-5" dirty="0">
                <a:latin typeface="Gill Sans MT"/>
                <a:cs typeface="Gill Sans MT"/>
              </a:rPr>
              <a:t>l</a:t>
            </a:r>
            <a:r>
              <a:rPr sz="2800" dirty="0">
                <a:latin typeface="Gill Sans MT"/>
                <a:cs typeface="Gill Sans MT"/>
              </a:rPr>
              <a:t>e</a:t>
            </a:r>
            <a:r>
              <a:rPr sz="2800" spc="-5" dirty="0">
                <a:latin typeface="Gill Sans MT"/>
                <a:cs typeface="Gill Sans MT"/>
              </a:rPr>
              <a:t> </a:t>
            </a:r>
            <a:r>
              <a:rPr sz="2800" i="1" spc="-5" dirty="0">
                <a:latin typeface="Gill Sans MT"/>
                <a:cs typeface="Gill Sans MT"/>
              </a:rPr>
              <a:t>o</a:t>
            </a:r>
            <a:r>
              <a:rPr sz="2800" i="1" dirty="0">
                <a:latin typeface="Gill Sans MT"/>
                <a:cs typeface="Gill Sans MT"/>
              </a:rPr>
              <a:t>r </a:t>
            </a:r>
            <a:r>
              <a:rPr sz="2800" spc="-5" dirty="0">
                <a:latin typeface="Gill Sans MT"/>
                <a:cs typeface="Gill Sans MT"/>
              </a:rPr>
              <a:t>i</a:t>
            </a:r>
            <a:r>
              <a:rPr sz="2800" spc="-45" dirty="0">
                <a:latin typeface="Gill Sans MT"/>
                <a:cs typeface="Gill Sans MT"/>
              </a:rPr>
              <a:t>n</a:t>
            </a:r>
            <a:r>
              <a:rPr sz="2800" spc="-75" dirty="0">
                <a:latin typeface="Gill Sans MT"/>
                <a:cs typeface="Gill Sans MT"/>
              </a:rPr>
              <a:t>v</a:t>
            </a:r>
            <a:r>
              <a:rPr sz="2800" dirty="0">
                <a:latin typeface="Gill Sans MT"/>
                <a:cs typeface="Gill Sans MT"/>
              </a:rPr>
              <a:t>e</a:t>
            </a:r>
            <a:r>
              <a:rPr sz="2800" spc="55" dirty="0">
                <a:latin typeface="Gill Sans MT"/>
                <a:cs typeface="Gill Sans MT"/>
              </a:rPr>
              <a:t>r</a:t>
            </a:r>
            <a:r>
              <a:rPr sz="2800" spc="-15" dirty="0">
                <a:latin typeface="Gill Sans MT"/>
                <a:cs typeface="Gill Sans MT"/>
              </a:rPr>
              <a:t>ted</a:t>
            </a:r>
            <a:r>
              <a:rPr sz="2800" spc="-5" dirty="0">
                <a:latin typeface="Gill Sans MT"/>
                <a:cs typeface="Gill Sans MT"/>
              </a:rPr>
              <a:t> </a:t>
            </a:r>
            <a:r>
              <a:rPr sz="2800" spc="-15" dirty="0">
                <a:latin typeface="Gill Sans MT"/>
                <a:cs typeface="Gill Sans MT"/>
              </a:rPr>
              <a:t>pend</a:t>
            </a:r>
            <a:r>
              <a:rPr sz="2800" dirty="0">
                <a:latin typeface="Gill Sans MT"/>
                <a:cs typeface="Gill Sans MT"/>
              </a:rPr>
              <a:t>u</a:t>
            </a:r>
            <a:r>
              <a:rPr sz="2800" spc="-5" dirty="0">
                <a:latin typeface="Gill Sans MT"/>
                <a:cs typeface="Gill Sans MT"/>
              </a:rPr>
              <a:t>l</a:t>
            </a:r>
            <a:r>
              <a:rPr sz="2800" spc="-20" dirty="0">
                <a:latin typeface="Gill Sans MT"/>
                <a:cs typeface="Gill Sans MT"/>
              </a:rPr>
              <a:t>um</a:t>
            </a:r>
            <a:endParaRPr sz="2800" dirty="0">
              <a:latin typeface="Gill Sans MT"/>
              <a:cs typeface="Gill Sans MT"/>
            </a:endParaRPr>
          </a:p>
        </p:txBody>
      </p:sp>
      <p:sp>
        <p:nvSpPr>
          <p:cNvPr id="7" name="Rectangle 6">
            <a:extLst>
              <a:ext uri="{FF2B5EF4-FFF2-40B4-BE49-F238E27FC236}">
                <a16:creationId xmlns:a16="http://schemas.microsoft.com/office/drawing/2014/main" id="{E4D6A010-2D7F-5090-3249-447607706B2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8" name="Rectangle 7">
            <a:extLst>
              <a:ext uri="{FF2B5EF4-FFF2-40B4-BE49-F238E27FC236}">
                <a16:creationId xmlns:a16="http://schemas.microsoft.com/office/drawing/2014/main" id="{13DB3530-764D-A14F-8353-F740912A5ABF}"/>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9" name="Rectangle 8">
            <a:extLst>
              <a:ext uri="{FF2B5EF4-FFF2-40B4-BE49-F238E27FC236}">
                <a16:creationId xmlns:a16="http://schemas.microsoft.com/office/drawing/2014/main" id="{8FAB1F49-22C5-E38E-8406-B3FCF319607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ack rectangular object with a long stick&#10;&#10;Description automatically generated">
            <a:extLst>
              <a:ext uri="{FF2B5EF4-FFF2-40B4-BE49-F238E27FC236}">
                <a16:creationId xmlns:a16="http://schemas.microsoft.com/office/drawing/2014/main" id="{A9C27B30-572C-C595-52D5-7636B016ECB7}"/>
              </a:ext>
            </a:extLst>
          </p:cNvPr>
          <p:cNvPicPr>
            <a:picLocks noChangeAspect="1"/>
          </p:cNvPicPr>
          <p:nvPr/>
        </p:nvPicPr>
        <p:blipFill rotWithShape="1">
          <a:blip r:embed="rId3">
            <a:extLst>
              <a:ext uri="{28A0092B-C50C-407E-A947-70E740481C1C}">
                <a14:useLocalDpi xmlns:a14="http://schemas.microsoft.com/office/drawing/2010/main" val="0"/>
              </a:ext>
            </a:extLst>
          </a:blip>
          <a:srcRect t="8072"/>
          <a:stretch/>
        </p:blipFill>
        <p:spPr>
          <a:xfrm>
            <a:off x="1714500" y="1295891"/>
            <a:ext cx="5715000" cy="2302867"/>
          </a:xfrm>
          <a:prstGeom prst="rect">
            <a:avLst/>
          </a:prstGeom>
        </p:spPr>
      </p:pic>
      <p:pic>
        <p:nvPicPr>
          <p:cNvPr id="13" name="Picture 12" descr="A black rectangular object with a long thin wire&#10;&#10;Description automatically generated">
            <a:extLst>
              <a:ext uri="{FF2B5EF4-FFF2-40B4-BE49-F238E27FC236}">
                <a16:creationId xmlns:a16="http://schemas.microsoft.com/office/drawing/2014/main" id="{680FA4F8-E91F-9E9F-54D0-BCAF848A99CC}"/>
              </a:ext>
            </a:extLst>
          </p:cNvPr>
          <p:cNvPicPr>
            <a:picLocks noChangeAspect="1"/>
          </p:cNvPicPr>
          <p:nvPr/>
        </p:nvPicPr>
        <p:blipFill rotWithShape="1">
          <a:blip r:embed="rId4">
            <a:extLst>
              <a:ext uri="{28A0092B-C50C-407E-A947-70E740481C1C}">
                <a14:useLocalDpi xmlns:a14="http://schemas.microsoft.com/office/drawing/2010/main" val="0"/>
              </a:ext>
            </a:extLst>
          </a:blip>
          <a:srcRect t="10021" b="11560"/>
          <a:stretch/>
        </p:blipFill>
        <p:spPr>
          <a:xfrm>
            <a:off x="1714500" y="3864568"/>
            <a:ext cx="5715000" cy="2083965"/>
          </a:xfrm>
          <a:prstGeom prst="rect">
            <a:avLst/>
          </a:prstGeom>
          <a:blipFill>
            <a:blip r:embed="rId5" cstate="print"/>
            <a:stretch>
              <a:fillRect/>
            </a:stretch>
          </a:blipFill>
          <a:effectLst>
            <a:outerShdw blurRad="50800" dist="38100" dir="2700000" algn="tl" rotWithShape="0">
              <a:prstClr val="black">
                <a:alpha val="40000"/>
              </a:prstClr>
            </a:outerShdw>
          </a:effectLst>
        </p:spPr>
      </p:pic>
      <p:sp>
        <p:nvSpPr>
          <p:cNvPr id="14" name="Slide Number Placeholder 13">
            <a:extLst>
              <a:ext uri="{FF2B5EF4-FFF2-40B4-BE49-F238E27FC236}">
                <a16:creationId xmlns:a16="http://schemas.microsoft.com/office/drawing/2014/main" id="{08664AC2-97D3-0EE7-2FC6-5A9F16E8E0C0}"/>
              </a:ext>
            </a:extLst>
          </p:cNvPr>
          <p:cNvSpPr>
            <a:spLocks noGrp="1"/>
          </p:cNvSpPr>
          <p:nvPr>
            <p:ph type="sldNum" sz="quarter" idx="7"/>
          </p:nvPr>
        </p:nvSpPr>
        <p:spPr/>
        <p:txBody>
          <a:bodyPr/>
          <a:lstStyle/>
          <a:p>
            <a:pPr marL="25400"/>
            <a:fld id="{81D60167-4931-47E6-BA6A-407CBD079E47}" type="slidenum">
              <a:rPr lang="en-US" smtClean="0"/>
              <a:pPr marL="25400"/>
              <a:t>3</a:t>
            </a:fld>
            <a:r>
              <a:rPr lang="en-US"/>
              <a:t>/27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Con</a:t>
            </a:r>
            <a:r>
              <a:rPr spc="-15" dirty="0"/>
              <a:t>t</a:t>
            </a:r>
            <a:r>
              <a:rPr dirty="0"/>
              <a:t>inuous</a:t>
            </a:r>
            <a:r>
              <a:rPr spc="-5" dirty="0"/>
              <a:t> </a:t>
            </a:r>
            <a:r>
              <a:rPr spc="-25" dirty="0"/>
              <a:t>S</a:t>
            </a:r>
            <a:r>
              <a:rPr spc="-15" dirty="0"/>
              <a:t>t</a:t>
            </a:r>
            <a:r>
              <a:rPr dirty="0"/>
              <a:t>a</a:t>
            </a:r>
            <a:r>
              <a:rPr spc="-15" dirty="0"/>
              <a:t>t</a:t>
            </a:r>
            <a:r>
              <a:rPr dirty="0"/>
              <a:t>e</a:t>
            </a:r>
            <a:r>
              <a:rPr spc="-5" dirty="0"/>
              <a:t> </a:t>
            </a:r>
            <a:r>
              <a:rPr dirty="0"/>
              <a:t>Spaces</a:t>
            </a:r>
          </a:p>
        </p:txBody>
      </p:sp>
      <p:sp>
        <p:nvSpPr>
          <p:cNvPr id="4" name="object 4"/>
          <p:cNvSpPr txBox="1"/>
          <p:nvPr/>
        </p:nvSpPr>
        <p:spPr>
          <a:xfrm>
            <a:off x="419100" y="4572000"/>
            <a:ext cx="2970530" cy="266700"/>
          </a:xfrm>
          <a:prstGeom prst="rect">
            <a:avLst/>
          </a:prstGeom>
        </p:spPr>
        <p:txBody>
          <a:bodyPr vert="horz" wrap="square" lIns="0" tIns="0" rIns="0" bIns="0" rtlCol="0">
            <a:spAutoFit/>
          </a:bodyPr>
          <a:lstStyle/>
          <a:p>
            <a:pPr marL="12700">
              <a:lnSpc>
                <a:spcPct val="100000"/>
              </a:lnSpc>
            </a:pPr>
            <a:r>
              <a:rPr sz="1900" b="1" spc="-10" dirty="0">
                <a:latin typeface="Arial"/>
                <a:cs typeface="Arial"/>
              </a:rPr>
              <a:t>Observation (state) </a:t>
            </a:r>
            <a:r>
              <a:rPr sz="1900" b="1" spc="10" dirty="0">
                <a:latin typeface="Arial"/>
                <a:cs typeface="Arial"/>
              </a:rPr>
              <a:t>space</a:t>
            </a:r>
            <a:endParaRPr sz="1900" dirty="0">
              <a:latin typeface="Arial"/>
              <a:cs typeface="Arial"/>
            </a:endParaRPr>
          </a:p>
        </p:txBody>
      </p:sp>
      <p:sp>
        <p:nvSpPr>
          <p:cNvPr id="5" name="object 5"/>
          <p:cNvSpPr txBox="1"/>
          <p:nvPr/>
        </p:nvSpPr>
        <p:spPr>
          <a:xfrm>
            <a:off x="419100" y="5029200"/>
            <a:ext cx="170815" cy="1143000"/>
          </a:xfrm>
          <a:prstGeom prst="rect">
            <a:avLst/>
          </a:prstGeom>
        </p:spPr>
        <p:txBody>
          <a:bodyPr vert="horz" wrap="square" lIns="0" tIns="0" rIns="0" bIns="0" rtlCol="0">
            <a:spAutoFit/>
          </a:bodyPr>
          <a:lstStyle/>
          <a:p>
            <a:pPr marL="12700">
              <a:lnSpc>
                <a:spcPct val="100000"/>
              </a:lnSpc>
            </a:pPr>
            <a:r>
              <a:rPr sz="1900" dirty="0">
                <a:latin typeface="Courier New"/>
                <a:cs typeface="Courier New"/>
              </a:rPr>
              <a:t>•</a:t>
            </a:r>
          </a:p>
          <a:p>
            <a:pPr marL="12700">
              <a:lnSpc>
                <a:spcPct val="100000"/>
              </a:lnSpc>
              <a:spcBef>
                <a:spcPts val="20"/>
              </a:spcBef>
            </a:pPr>
            <a:r>
              <a:rPr sz="1900" dirty="0">
                <a:latin typeface="Courier New"/>
                <a:cs typeface="Courier New"/>
              </a:rPr>
              <a:t>•</a:t>
            </a:r>
          </a:p>
          <a:p>
            <a:pPr marL="12700">
              <a:lnSpc>
                <a:spcPct val="100000"/>
              </a:lnSpc>
              <a:spcBef>
                <a:spcPts val="20"/>
              </a:spcBef>
            </a:pPr>
            <a:r>
              <a:rPr sz="1900" dirty="0">
                <a:latin typeface="Courier New"/>
                <a:cs typeface="Courier New"/>
              </a:rPr>
              <a:t>•</a:t>
            </a:r>
          </a:p>
          <a:p>
            <a:pPr marL="12700">
              <a:lnSpc>
                <a:spcPct val="100000"/>
              </a:lnSpc>
              <a:spcBef>
                <a:spcPts val="20"/>
              </a:spcBef>
            </a:pPr>
            <a:r>
              <a:rPr sz="1900" dirty="0">
                <a:latin typeface="Courier New"/>
                <a:cs typeface="Courier New"/>
              </a:rPr>
              <a:t>•</a:t>
            </a:r>
          </a:p>
        </p:txBody>
      </p:sp>
      <p:sp>
        <p:nvSpPr>
          <p:cNvPr id="6" name="object 6"/>
          <p:cNvSpPr txBox="1"/>
          <p:nvPr/>
        </p:nvSpPr>
        <p:spPr>
          <a:xfrm>
            <a:off x="765619" y="5032914"/>
            <a:ext cx="7542530" cy="1143000"/>
          </a:xfrm>
          <a:prstGeom prst="rect">
            <a:avLst/>
          </a:prstGeom>
        </p:spPr>
        <p:txBody>
          <a:bodyPr vert="horz" wrap="square" lIns="0" tIns="0" rIns="0" bIns="0" rtlCol="0">
            <a:spAutoFit/>
          </a:bodyPr>
          <a:lstStyle/>
          <a:p>
            <a:pPr marL="21590" marR="635000" indent="-9525">
              <a:lnSpc>
                <a:spcPct val="100899"/>
              </a:lnSpc>
            </a:pPr>
            <a:r>
              <a:rPr sz="1900" dirty="0">
                <a:latin typeface="Arial"/>
                <a:cs typeface="Arial"/>
              </a:rPr>
              <a:t>Cart </a:t>
            </a:r>
            <a:r>
              <a:rPr sz="1900" spc="5" dirty="0">
                <a:latin typeface="Arial"/>
                <a:cs typeface="Arial"/>
              </a:rPr>
              <a:t>Position </a:t>
            </a:r>
            <a:r>
              <a:rPr sz="1900" spc="-70" dirty="0">
                <a:latin typeface="Arial"/>
                <a:cs typeface="Arial"/>
              </a:rPr>
              <a:t>(x): </a:t>
            </a:r>
            <a:r>
              <a:rPr sz="1900" spc="-45" dirty="0">
                <a:latin typeface="Arial"/>
                <a:cs typeface="Arial"/>
              </a:rPr>
              <a:t>The horizontal </a:t>
            </a:r>
            <a:r>
              <a:rPr sz="1900" spc="20" dirty="0">
                <a:latin typeface="Arial"/>
                <a:cs typeface="Arial"/>
              </a:rPr>
              <a:t>position </a:t>
            </a:r>
            <a:r>
              <a:rPr sz="1900" spc="30" dirty="0">
                <a:latin typeface="Arial"/>
                <a:cs typeface="Arial"/>
              </a:rPr>
              <a:t>of </a:t>
            </a:r>
            <a:r>
              <a:rPr sz="1900" spc="5" dirty="0">
                <a:latin typeface="Arial"/>
                <a:cs typeface="Arial"/>
              </a:rPr>
              <a:t>the </a:t>
            </a:r>
            <a:r>
              <a:rPr sz="1900" spc="20" dirty="0">
                <a:latin typeface="Arial"/>
                <a:cs typeface="Arial"/>
              </a:rPr>
              <a:t>cart </a:t>
            </a:r>
            <a:r>
              <a:rPr sz="1900" spc="10" dirty="0">
                <a:latin typeface="Arial"/>
                <a:cs typeface="Arial"/>
              </a:rPr>
              <a:t>on </a:t>
            </a:r>
            <a:r>
              <a:rPr sz="1900" spc="5" dirty="0">
                <a:latin typeface="Arial"/>
                <a:cs typeface="Arial"/>
              </a:rPr>
              <a:t>the </a:t>
            </a:r>
            <a:r>
              <a:rPr sz="1900" spc="20" dirty="0">
                <a:latin typeface="Arial"/>
                <a:cs typeface="Arial"/>
              </a:rPr>
              <a:t>track.</a:t>
            </a:r>
            <a:r>
              <a:rPr sz="1900" spc="15" dirty="0">
                <a:latin typeface="Arial"/>
                <a:cs typeface="Arial"/>
              </a:rPr>
              <a:t> Cart </a:t>
            </a:r>
            <a:r>
              <a:rPr sz="1900" spc="-220" dirty="0">
                <a:latin typeface="Arial"/>
                <a:cs typeface="Arial"/>
              </a:rPr>
              <a:t>V</a:t>
            </a:r>
            <a:r>
              <a:rPr sz="1900" spc="15" dirty="0">
                <a:latin typeface="Arial"/>
                <a:cs typeface="Arial"/>
              </a:rPr>
              <a:t>elocity</a:t>
            </a:r>
            <a:r>
              <a:rPr sz="1900" dirty="0">
                <a:latin typeface="Arial"/>
                <a:cs typeface="Arial"/>
              </a:rPr>
              <a:t> </a:t>
            </a:r>
            <a:r>
              <a:rPr sz="1900" spc="5" dirty="0">
                <a:latin typeface="Arial"/>
                <a:cs typeface="Arial"/>
              </a:rPr>
              <a:t>(dx/dt):</a:t>
            </a:r>
            <a:r>
              <a:rPr sz="1900" dirty="0">
                <a:latin typeface="Arial"/>
                <a:cs typeface="Arial"/>
              </a:rPr>
              <a:t> </a:t>
            </a:r>
            <a:r>
              <a:rPr sz="1900" spc="-45" dirty="0">
                <a:latin typeface="Arial"/>
                <a:cs typeface="Arial"/>
              </a:rPr>
              <a:t>The</a:t>
            </a:r>
            <a:r>
              <a:rPr sz="1900" dirty="0">
                <a:latin typeface="Arial"/>
                <a:cs typeface="Arial"/>
              </a:rPr>
              <a:t> </a:t>
            </a:r>
            <a:r>
              <a:rPr sz="1900" spc="15" dirty="0">
                <a:latin typeface="Arial"/>
                <a:cs typeface="Arial"/>
              </a:rPr>
              <a:t>velocity</a:t>
            </a:r>
            <a:r>
              <a:rPr sz="1900" dirty="0">
                <a:latin typeface="Arial"/>
                <a:cs typeface="Arial"/>
              </a:rPr>
              <a:t> </a:t>
            </a:r>
            <a:r>
              <a:rPr sz="1900" spc="30" dirty="0">
                <a:latin typeface="Arial"/>
                <a:cs typeface="Arial"/>
              </a:rPr>
              <a:t>of</a:t>
            </a:r>
            <a:r>
              <a:rPr sz="1900" dirty="0">
                <a:latin typeface="Arial"/>
                <a:cs typeface="Arial"/>
              </a:rPr>
              <a:t> </a:t>
            </a:r>
            <a:r>
              <a:rPr sz="1900" spc="5" dirty="0">
                <a:latin typeface="Arial"/>
                <a:cs typeface="Arial"/>
              </a:rPr>
              <a:t>the</a:t>
            </a:r>
            <a:r>
              <a:rPr sz="1900" dirty="0">
                <a:latin typeface="Arial"/>
                <a:cs typeface="Arial"/>
              </a:rPr>
              <a:t> </a:t>
            </a:r>
            <a:r>
              <a:rPr sz="1900" spc="10" dirty="0">
                <a:latin typeface="Arial"/>
                <a:cs typeface="Arial"/>
              </a:rPr>
              <a:t>cart.</a:t>
            </a:r>
            <a:endParaRPr sz="1900" dirty="0">
              <a:latin typeface="Arial"/>
              <a:cs typeface="Arial"/>
            </a:endParaRPr>
          </a:p>
          <a:p>
            <a:pPr marL="21590" marR="5080">
              <a:lnSpc>
                <a:spcPct val="100899"/>
              </a:lnSpc>
            </a:pPr>
            <a:r>
              <a:rPr sz="1900" spc="-10" dirty="0">
                <a:latin typeface="Arial"/>
                <a:cs typeface="Arial"/>
              </a:rPr>
              <a:t>Pole Angle </a:t>
            </a:r>
            <a:r>
              <a:rPr sz="1900" spc="-150" dirty="0">
                <a:latin typeface="Arial"/>
                <a:cs typeface="Arial"/>
              </a:rPr>
              <a:t>(</a:t>
            </a:r>
            <a:r>
              <a:rPr sz="1900" spc="-45" dirty="0">
                <a:latin typeface="Arial"/>
                <a:cs typeface="Arial"/>
              </a:rPr>
              <a:t>θ</a:t>
            </a:r>
            <a:r>
              <a:rPr sz="1900" spc="-80" dirty="0">
                <a:latin typeface="Arial"/>
                <a:cs typeface="Arial"/>
              </a:rPr>
              <a:t>): </a:t>
            </a:r>
            <a:r>
              <a:rPr sz="1900" spc="-45" dirty="0">
                <a:latin typeface="Arial"/>
                <a:cs typeface="Arial"/>
              </a:rPr>
              <a:t>The </a:t>
            </a:r>
            <a:r>
              <a:rPr sz="1900" spc="-10" dirty="0">
                <a:latin typeface="Arial"/>
                <a:cs typeface="Arial"/>
              </a:rPr>
              <a:t>angle </a:t>
            </a:r>
            <a:r>
              <a:rPr sz="1900" spc="30" dirty="0">
                <a:latin typeface="Arial"/>
                <a:cs typeface="Arial"/>
              </a:rPr>
              <a:t>of </a:t>
            </a:r>
            <a:r>
              <a:rPr sz="1900" spc="5" dirty="0">
                <a:latin typeface="Arial"/>
                <a:cs typeface="Arial"/>
              </a:rPr>
              <a:t>the pole </a:t>
            </a:r>
            <a:r>
              <a:rPr sz="1900" spc="10" dirty="0">
                <a:latin typeface="Arial"/>
                <a:cs typeface="Arial"/>
              </a:rPr>
              <a:t>f</a:t>
            </a:r>
            <a:r>
              <a:rPr sz="1900" spc="-25" dirty="0">
                <a:latin typeface="Arial"/>
                <a:cs typeface="Arial"/>
              </a:rPr>
              <a:t>r</a:t>
            </a:r>
            <a:r>
              <a:rPr sz="1900" spc="25" dirty="0">
                <a:latin typeface="Arial"/>
                <a:cs typeface="Arial"/>
              </a:rPr>
              <a:t>om</a:t>
            </a:r>
            <a:r>
              <a:rPr sz="1900" dirty="0">
                <a:latin typeface="Arial"/>
                <a:cs typeface="Arial"/>
              </a:rPr>
              <a:t> </a:t>
            </a:r>
            <a:r>
              <a:rPr sz="1900" spc="5" dirty="0">
                <a:latin typeface="Arial"/>
                <a:cs typeface="Arial"/>
              </a:rPr>
              <a:t>the</a:t>
            </a:r>
            <a:r>
              <a:rPr sz="1900" dirty="0">
                <a:latin typeface="Arial"/>
                <a:cs typeface="Arial"/>
              </a:rPr>
              <a:t> </a:t>
            </a:r>
            <a:r>
              <a:rPr sz="1900" spc="5" dirty="0">
                <a:latin typeface="Arial"/>
                <a:cs typeface="Arial"/>
              </a:rPr>
              <a:t>vertical</a:t>
            </a:r>
            <a:r>
              <a:rPr sz="1900" dirty="0">
                <a:latin typeface="Arial"/>
                <a:cs typeface="Arial"/>
              </a:rPr>
              <a:t> </a:t>
            </a:r>
            <a:r>
              <a:rPr sz="1900" spc="20" dirty="0">
                <a:latin typeface="Arial"/>
                <a:cs typeface="Arial"/>
              </a:rPr>
              <a:t>upright</a:t>
            </a:r>
            <a:r>
              <a:rPr sz="1900" dirty="0">
                <a:latin typeface="Arial"/>
                <a:cs typeface="Arial"/>
              </a:rPr>
              <a:t> </a:t>
            </a:r>
            <a:r>
              <a:rPr sz="1900" spc="15" dirty="0">
                <a:latin typeface="Arial"/>
                <a:cs typeface="Arial"/>
              </a:rPr>
              <a:t>position.</a:t>
            </a:r>
            <a:r>
              <a:rPr sz="1900" spc="10" dirty="0">
                <a:latin typeface="Arial"/>
                <a:cs typeface="Arial"/>
              </a:rPr>
              <a:t> </a:t>
            </a:r>
            <a:r>
              <a:rPr sz="1900" spc="-10" dirty="0">
                <a:latin typeface="Arial"/>
                <a:cs typeface="Arial"/>
              </a:rPr>
              <a:t>Pole</a:t>
            </a:r>
            <a:r>
              <a:rPr sz="1900" dirty="0">
                <a:latin typeface="Arial"/>
                <a:cs typeface="Arial"/>
              </a:rPr>
              <a:t> </a:t>
            </a:r>
            <a:r>
              <a:rPr sz="1900" spc="-10" dirty="0">
                <a:latin typeface="Arial"/>
                <a:cs typeface="Arial"/>
              </a:rPr>
              <a:t>Angular</a:t>
            </a:r>
            <a:r>
              <a:rPr sz="1900" dirty="0">
                <a:latin typeface="Arial"/>
                <a:cs typeface="Arial"/>
              </a:rPr>
              <a:t> </a:t>
            </a:r>
            <a:r>
              <a:rPr sz="1900" spc="-220" dirty="0">
                <a:latin typeface="Arial"/>
                <a:cs typeface="Arial"/>
              </a:rPr>
              <a:t>V</a:t>
            </a:r>
            <a:r>
              <a:rPr sz="1900" spc="15" dirty="0">
                <a:latin typeface="Arial"/>
                <a:cs typeface="Arial"/>
              </a:rPr>
              <a:t>elocity</a:t>
            </a:r>
            <a:r>
              <a:rPr sz="1900" dirty="0">
                <a:latin typeface="Arial"/>
                <a:cs typeface="Arial"/>
              </a:rPr>
              <a:t> </a:t>
            </a:r>
            <a:r>
              <a:rPr sz="1900" spc="-45" dirty="0">
                <a:latin typeface="Arial"/>
                <a:cs typeface="Arial"/>
              </a:rPr>
              <a:t>(dθ</a:t>
            </a:r>
            <a:r>
              <a:rPr sz="1900" spc="15" dirty="0">
                <a:latin typeface="Arial"/>
                <a:cs typeface="Arial"/>
              </a:rPr>
              <a:t>/dt):</a:t>
            </a:r>
            <a:r>
              <a:rPr sz="1900" dirty="0">
                <a:latin typeface="Arial"/>
                <a:cs typeface="Arial"/>
              </a:rPr>
              <a:t> </a:t>
            </a:r>
            <a:r>
              <a:rPr sz="1900" spc="-45" dirty="0">
                <a:latin typeface="Arial"/>
                <a:cs typeface="Arial"/>
              </a:rPr>
              <a:t>The</a:t>
            </a:r>
            <a:r>
              <a:rPr sz="1900" dirty="0">
                <a:latin typeface="Arial"/>
                <a:cs typeface="Arial"/>
              </a:rPr>
              <a:t> </a:t>
            </a:r>
            <a:r>
              <a:rPr sz="1900" spc="-10" dirty="0">
                <a:latin typeface="Arial"/>
                <a:cs typeface="Arial"/>
              </a:rPr>
              <a:t>angular</a:t>
            </a:r>
            <a:r>
              <a:rPr sz="1900" dirty="0">
                <a:latin typeface="Arial"/>
                <a:cs typeface="Arial"/>
              </a:rPr>
              <a:t> </a:t>
            </a:r>
            <a:r>
              <a:rPr sz="1900" spc="15" dirty="0">
                <a:latin typeface="Arial"/>
                <a:cs typeface="Arial"/>
              </a:rPr>
              <a:t>velocity</a:t>
            </a:r>
            <a:r>
              <a:rPr sz="1900" dirty="0">
                <a:latin typeface="Arial"/>
                <a:cs typeface="Arial"/>
              </a:rPr>
              <a:t> </a:t>
            </a:r>
            <a:r>
              <a:rPr sz="1900" spc="30" dirty="0">
                <a:latin typeface="Arial"/>
                <a:cs typeface="Arial"/>
              </a:rPr>
              <a:t>of</a:t>
            </a:r>
            <a:r>
              <a:rPr sz="1900" dirty="0">
                <a:latin typeface="Arial"/>
                <a:cs typeface="Arial"/>
              </a:rPr>
              <a:t> </a:t>
            </a:r>
            <a:r>
              <a:rPr sz="1900" spc="5" dirty="0">
                <a:latin typeface="Arial"/>
                <a:cs typeface="Arial"/>
              </a:rPr>
              <a:t>the</a:t>
            </a:r>
            <a:r>
              <a:rPr sz="1900" dirty="0">
                <a:latin typeface="Arial"/>
                <a:cs typeface="Arial"/>
              </a:rPr>
              <a:t> </a:t>
            </a:r>
            <a:r>
              <a:rPr sz="1900" spc="5" dirty="0">
                <a:latin typeface="Arial"/>
                <a:cs typeface="Arial"/>
              </a:rPr>
              <a:t>pole.</a:t>
            </a:r>
            <a:endParaRPr sz="1900" dirty="0">
              <a:latin typeface="Arial"/>
              <a:cs typeface="Arial"/>
            </a:endParaRPr>
          </a:p>
        </p:txBody>
      </p:sp>
      <p:sp>
        <p:nvSpPr>
          <p:cNvPr id="7" name="object 7"/>
          <p:cNvSpPr/>
          <p:nvPr/>
        </p:nvSpPr>
        <p:spPr>
          <a:xfrm>
            <a:off x="381000" y="1219200"/>
            <a:ext cx="5004866" cy="2960913"/>
          </a:xfrm>
          <a:prstGeom prst="rect">
            <a:avLst/>
          </a:prstGeom>
          <a:blipFill>
            <a:blip r:embed="rId3" cstate="print"/>
            <a:stretch>
              <a:fillRect/>
            </a:stretch>
          </a:blipFill>
        </p:spPr>
        <p:txBody>
          <a:bodyPr wrap="square" lIns="0" tIns="0" rIns="0" bIns="0" rtlCol="0"/>
          <a:lstStyle/>
          <a:p>
            <a:endParaRPr/>
          </a:p>
        </p:txBody>
      </p:sp>
      <p:sp>
        <p:nvSpPr>
          <p:cNvPr id="10" name="Rectangle 9">
            <a:extLst>
              <a:ext uri="{FF2B5EF4-FFF2-40B4-BE49-F238E27FC236}">
                <a16:creationId xmlns:a16="http://schemas.microsoft.com/office/drawing/2014/main" id="{11A5EAD9-1670-BCB5-13A5-7FCD6CBC8D4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62E79D-E0D0-614D-49C1-70B002523D7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2" name="Rectangle 11">
            <a:extLst>
              <a:ext uri="{FF2B5EF4-FFF2-40B4-BE49-F238E27FC236}">
                <a16:creationId xmlns:a16="http://schemas.microsoft.com/office/drawing/2014/main" id="{D5D02C87-4B7F-477B-E6DB-65C4096FA8ED}"/>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3" name="Slide Number Placeholder 12">
            <a:extLst>
              <a:ext uri="{FF2B5EF4-FFF2-40B4-BE49-F238E27FC236}">
                <a16:creationId xmlns:a16="http://schemas.microsoft.com/office/drawing/2014/main" id="{452639F9-F1FE-B05F-D878-0D28229ED4C7}"/>
              </a:ext>
            </a:extLst>
          </p:cNvPr>
          <p:cNvSpPr>
            <a:spLocks noGrp="1"/>
          </p:cNvSpPr>
          <p:nvPr>
            <p:ph type="sldNum" sz="quarter" idx="7"/>
          </p:nvPr>
        </p:nvSpPr>
        <p:spPr/>
        <p:txBody>
          <a:bodyPr/>
          <a:lstStyle/>
          <a:p>
            <a:pPr marL="25400"/>
            <a:fld id="{81D60167-4931-47E6-BA6A-407CBD079E47}" type="slidenum">
              <a:rPr lang="en-US" smtClean="0"/>
              <a:pPr marL="25400"/>
              <a:t>4</a:t>
            </a:fld>
            <a:r>
              <a:rPr lang="en-US"/>
              <a:t>/27</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5" dirty="0"/>
              <a:t>S</a:t>
            </a:r>
            <a:r>
              <a:rPr spc="-15" dirty="0"/>
              <a:t>t</a:t>
            </a:r>
            <a:r>
              <a:rPr dirty="0"/>
              <a:t>a</a:t>
            </a:r>
            <a:r>
              <a:rPr spc="-15" dirty="0"/>
              <a:t>t</a:t>
            </a:r>
            <a:r>
              <a:rPr dirty="0"/>
              <a:t>e</a:t>
            </a:r>
            <a:r>
              <a:rPr spc="-5" dirty="0"/>
              <a:t> </a:t>
            </a:r>
            <a:r>
              <a:rPr dirty="0"/>
              <a:t>Space</a:t>
            </a:r>
            <a:r>
              <a:rPr spc="-5" dirty="0"/>
              <a:t> </a:t>
            </a:r>
            <a:r>
              <a:rPr dirty="0"/>
              <a:t>Size</a:t>
            </a:r>
          </a:p>
        </p:txBody>
      </p:sp>
      <p:sp>
        <p:nvSpPr>
          <p:cNvPr id="4" name="object 4"/>
          <p:cNvSpPr/>
          <p:nvPr/>
        </p:nvSpPr>
        <p:spPr>
          <a:xfrm>
            <a:off x="463550" y="1270000"/>
            <a:ext cx="3790829" cy="3800475"/>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453172" y="5354974"/>
            <a:ext cx="1915795" cy="369332"/>
          </a:xfrm>
          <a:prstGeom prst="rect">
            <a:avLst/>
          </a:prstGeom>
        </p:spPr>
        <p:txBody>
          <a:bodyPr vert="horz" wrap="square" lIns="0" tIns="0" rIns="0" bIns="0" rtlCol="0">
            <a:spAutoFit/>
          </a:bodyPr>
          <a:lstStyle/>
          <a:p>
            <a:pPr marL="12700">
              <a:lnSpc>
                <a:spcPct val="100000"/>
              </a:lnSpc>
            </a:pPr>
            <a:r>
              <a:rPr sz="2400" spc="-155" dirty="0">
                <a:latin typeface="Tahoma"/>
                <a:cs typeface="Tahoma"/>
              </a:rPr>
              <a:t>≈</a:t>
            </a:r>
            <a:r>
              <a:rPr sz="2400" spc="-110" dirty="0">
                <a:latin typeface="Tahoma"/>
                <a:cs typeface="Tahoma"/>
              </a:rPr>
              <a:t> </a:t>
            </a:r>
            <a:r>
              <a:rPr sz="2400" spc="-145" dirty="0">
                <a:latin typeface="Tahoma"/>
                <a:cs typeface="Tahoma"/>
              </a:rPr>
              <a:t>25</a:t>
            </a:r>
            <a:r>
              <a:rPr sz="2400" spc="-120" baseline="29810" dirty="0">
                <a:latin typeface="Tahoma"/>
                <a:cs typeface="Tahoma"/>
              </a:rPr>
              <a:t>2</a:t>
            </a:r>
            <a:r>
              <a:rPr sz="2400" spc="262" baseline="29810" dirty="0">
                <a:latin typeface="Tahoma"/>
                <a:cs typeface="Tahoma"/>
              </a:rPr>
              <a:t> </a:t>
            </a:r>
            <a:r>
              <a:rPr sz="2400" spc="-155" dirty="0">
                <a:latin typeface="Tahoma"/>
                <a:cs typeface="Tahoma"/>
              </a:rPr>
              <a:t>=</a:t>
            </a:r>
            <a:r>
              <a:rPr sz="2400" spc="-110" dirty="0">
                <a:latin typeface="Tahoma"/>
                <a:cs typeface="Tahoma"/>
              </a:rPr>
              <a:t> </a:t>
            </a:r>
            <a:r>
              <a:rPr sz="2400" spc="-145" dirty="0">
                <a:latin typeface="Tahoma"/>
                <a:cs typeface="Tahoma"/>
              </a:rPr>
              <a:t>625</a:t>
            </a:r>
            <a:endParaRPr sz="2400">
              <a:latin typeface="Tahoma"/>
              <a:cs typeface="Tahoma"/>
            </a:endParaRPr>
          </a:p>
        </p:txBody>
      </p:sp>
      <p:sp>
        <p:nvSpPr>
          <p:cNvPr id="6" name="object 6"/>
          <p:cNvSpPr txBox="1"/>
          <p:nvPr/>
        </p:nvSpPr>
        <p:spPr>
          <a:xfrm>
            <a:off x="4817743" y="5354974"/>
            <a:ext cx="4157345" cy="369332"/>
          </a:xfrm>
          <a:prstGeom prst="rect">
            <a:avLst/>
          </a:prstGeom>
        </p:spPr>
        <p:txBody>
          <a:bodyPr vert="horz" wrap="square" lIns="0" tIns="0" rIns="0" bIns="0" rtlCol="0">
            <a:spAutoFit/>
          </a:bodyPr>
          <a:lstStyle/>
          <a:p>
            <a:pPr marL="12700">
              <a:lnSpc>
                <a:spcPct val="100000"/>
              </a:lnSpc>
            </a:pPr>
            <a:r>
              <a:rPr sz="2400" spc="-155" dirty="0">
                <a:latin typeface="Tahoma"/>
                <a:cs typeface="Tahoma"/>
              </a:rPr>
              <a:t>≈</a:t>
            </a:r>
            <a:r>
              <a:rPr sz="2400" spc="-110" dirty="0">
                <a:latin typeface="Tahoma"/>
                <a:cs typeface="Tahoma"/>
              </a:rPr>
              <a:t> </a:t>
            </a:r>
            <a:r>
              <a:rPr sz="2400" spc="-145" dirty="0">
                <a:latin typeface="Tahoma"/>
                <a:cs typeface="Tahoma"/>
              </a:rPr>
              <a:t>25</a:t>
            </a:r>
            <a:r>
              <a:rPr sz="2400" spc="-120" baseline="29810" dirty="0">
                <a:latin typeface="Tahoma"/>
                <a:cs typeface="Tahoma"/>
              </a:rPr>
              <a:t>9</a:t>
            </a:r>
            <a:r>
              <a:rPr sz="2400" spc="262" baseline="29810" dirty="0">
                <a:latin typeface="Tahoma"/>
                <a:cs typeface="Tahoma"/>
              </a:rPr>
              <a:t> </a:t>
            </a:r>
            <a:r>
              <a:rPr sz="2400" spc="-155" dirty="0">
                <a:latin typeface="Tahoma"/>
                <a:cs typeface="Tahoma"/>
              </a:rPr>
              <a:t>=</a:t>
            </a:r>
            <a:r>
              <a:rPr sz="2400" spc="-110" dirty="0">
                <a:latin typeface="Tahoma"/>
                <a:cs typeface="Tahoma"/>
              </a:rPr>
              <a:t> </a:t>
            </a:r>
            <a:r>
              <a:rPr sz="2400" spc="-145" dirty="0">
                <a:latin typeface="Tahoma"/>
                <a:cs typeface="Tahoma"/>
              </a:rPr>
              <a:t>3,814,697,265,625</a:t>
            </a:r>
            <a:endParaRPr sz="2400" dirty="0">
              <a:latin typeface="Tahoma"/>
              <a:cs typeface="Tahoma"/>
            </a:endParaRPr>
          </a:p>
        </p:txBody>
      </p:sp>
      <p:sp>
        <p:nvSpPr>
          <p:cNvPr id="7" name="object 7"/>
          <p:cNvSpPr/>
          <p:nvPr/>
        </p:nvSpPr>
        <p:spPr>
          <a:xfrm>
            <a:off x="4895850" y="1270000"/>
            <a:ext cx="3897179" cy="3800475"/>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2783840" y="5867400"/>
            <a:ext cx="4226560" cy="369332"/>
          </a:xfrm>
          <a:prstGeom prst="rect">
            <a:avLst/>
          </a:prstGeom>
        </p:spPr>
        <p:txBody>
          <a:bodyPr vert="horz" wrap="square" lIns="0" tIns="0" rIns="0" bIns="0" rtlCol="0">
            <a:spAutoFit/>
          </a:bodyPr>
          <a:lstStyle/>
          <a:p>
            <a:pPr marL="12700">
              <a:lnSpc>
                <a:spcPct val="100000"/>
              </a:lnSpc>
            </a:pPr>
            <a:r>
              <a:rPr sz="2000" spc="-20" dirty="0">
                <a:latin typeface="Gill Sans MT"/>
                <a:cs typeface="Gill Sans MT"/>
              </a:rPr>
              <a:t>Backgammon:</a:t>
            </a:r>
            <a:r>
              <a:rPr sz="2000" spc="-285" dirty="0">
                <a:latin typeface="Gill Sans MT"/>
                <a:cs typeface="Gill Sans MT"/>
              </a:rPr>
              <a:t> </a:t>
            </a:r>
            <a:r>
              <a:rPr sz="2400" spc="-145" dirty="0">
                <a:latin typeface="Tahoma"/>
                <a:cs typeface="Tahoma"/>
              </a:rPr>
              <a:t>10</a:t>
            </a:r>
            <a:r>
              <a:rPr sz="2400" spc="-120" baseline="29810" dirty="0">
                <a:latin typeface="Tahoma"/>
                <a:cs typeface="Tahoma"/>
              </a:rPr>
              <a:t>20</a:t>
            </a:r>
            <a:r>
              <a:rPr sz="2000" dirty="0">
                <a:latin typeface="Gill Sans MT"/>
                <a:cs typeface="Gill Sans MT"/>
              </a:rPr>
              <a:t>;</a:t>
            </a:r>
            <a:r>
              <a:rPr sz="2000" spc="-285" dirty="0">
                <a:latin typeface="Gill Sans MT"/>
                <a:cs typeface="Gill Sans MT"/>
              </a:rPr>
              <a:t> </a:t>
            </a:r>
            <a:r>
              <a:rPr lang="en-US" sz="2000" spc="-285" dirty="0">
                <a:latin typeface="Gill Sans MT"/>
                <a:cs typeface="Gill Sans MT"/>
              </a:rPr>
              <a:t>   </a:t>
            </a:r>
            <a:r>
              <a:rPr sz="2000" spc="-5" dirty="0">
                <a:latin typeface="Gill Sans MT"/>
                <a:cs typeface="Gill Sans MT"/>
              </a:rPr>
              <a:t>G</a:t>
            </a:r>
            <a:r>
              <a:rPr sz="2000" spc="-20" dirty="0">
                <a:latin typeface="Gill Sans MT"/>
                <a:cs typeface="Gill Sans MT"/>
              </a:rPr>
              <a:t>o</a:t>
            </a:r>
            <a:r>
              <a:rPr sz="2000" dirty="0">
                <a:latin typeface="Gill Sans MT"/>
                <a:cs typeface="Gill Sans MT"/>
              </a:rPr>
              <a:t>:</a:t>
            </a:r>
            <a:r>
              <a:rPr sz="2000" spc="-285" dirty="0">
                <a:latin typeface="Gill Sans MT"/>
                <a:cs typeface="Gill Sans MT"/>
              </a:rPr>
              <a:t> </a:t>
            </a:r>
            <a:r>
              <a:rPr sz="2400" spc="-145" dirty="0">
                <a:latin typeface="Tahoma"/>
                <a:cs typeface="Tahoma"/>
              </a:rPr>
              <a:t>10</a:t>
            </a:r>
            <a:r>
              <a:rPr sz="2400" spc="-120" baseline="29810" dirty="0">
                <a:latin typeface="Tahoma"/>
                <a:cs typeface="Tahoma"/>
              </a:rPr>
              <a:t>170</a:t>
            </a:r>
            <a:endParaRPr sz="2400" baseline="29810" dirty="0">
              <a:latin typeface="Tahoma"/>
              <a:cs typeface="Tahoma"/>
            </a:endParaRPr>
          </a:p>
        </p:txBody>
      </p:sp>
      <p:sp>
        <p:nvSpPr>
          <p:cNvPr id="11" name="Rectangle 10">
            <a:extLst>
              <a:ext uri="{FF2B5EF4-FFF2-40B4-BE49-F238E27FC236}">
                <a16:creationId xmlns:a16="http://schemas.microsoft.com/office/drawing/2014/main" id="{705428FE-4934-8CC1-D939-435CC0389BA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BF7B5C-1D6B-B24D-20C0-D46736AA2CE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3" name="Rectangle 12">
            <a:extLst>
              <a:ext uri="{FF2B5EF4-FFF2-40B4-BE49-F238E27FC236}">
                <a16:creationId xmlns:a16="http://schemas.microsoft.com/office/drawing/2014/main" id="{6A92A5BB-E66E-364A-F33F-B87828908D40}"/>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4" name="Slide Number Placeholder 13">
            <a:extLst>
              <a:ext uri="{FF2B5EF4-FFF2-40B4-BE49-F238E27FC236}">
                <a16:creationId xmlns:a16="http://schemas.microsoft.com/office/drawing/2014/main" id="{D4A292A3-EB8E-3D5F-5331-32B8C11D9D72}"/>
              </a:ext>
            </a:extLst>
          </p:cNvPr>
          <p:cNvSpPr>
            <a:spLocks noGrp="1"/>
          </p:cNvSpPr>
          <p:nvPr>
            <p:ph type="sldNum" sz="quarter" idx="7"/>
          </p:nvPr>
        </p:nvSpPr>
        <p:spPr/>
        <p:txBody>
          <a:bodyPr/>
          <a:lstStyle/>
          <a:p>
            <a:pPr marL="25400"/>
            <a:fld id="{81D60167-4931-47E6-BA6A-407CBD079E47}" type="slidenum">
              <a:rPr lang="en-US" smtClean="0"/>
              <a:pPr marL="25400"/>
              <a:t>5</a:t>
            </a:fld>
            <a:r>
              <a:rPr lang="en-US"/>
              <a:t>/27</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30" dirty="0"/>
              <a:t>G</a:t>
            </a:r>
            <a:r>
              <a:rPr dirty="0"/>
              <a:t>eneralisa</a:t>
            </a:r>
            <a:r>
              <a:rPr spc="-15" dirty="0"/>
              <a:t>t</a:t>
            </a:r>
            <a:r>
              <a:rPr dirty="0"/>
              <a:t>ion</a:t>
            </a:r>
            <a:r>
              <a:rPr spc="-5" dirty="0"/>
              <a:t> </a:t>
            </a:r>
            <a:r>
              <a:rPr dirty="0"/>
              <a:t>in</a:t>
            </a:r>
            <a:r>
              <a:rPr spc="-5" dirty="0"/>
              <a:t> </a:t>
            </a:r>
            <a:r>
              <a:rPr dirty="0"/>
              <a:t>more</a:t>
            </a:r>
            <a:r>
              <a:rPr spc="-5" dirty="0"/>
              <a:t> </a:t>
            </a:r>
            <a:r>
              <a:rPr dirty="0"/>
              <a:t>complex</a:t>
            </a:r>
            <a:r>
              <a:rPr spc="-5" dirty="0"/>
              <a:t> </a:t>
            </a:r>
            <a:r>
              <a:rPr spc="-20" dirty="0"/>
              <a:t>s</a:t>
            </a:r>
            <a:r>
              <a:rPr spc="-15" dirty="0"/>
              <a:t>t</a:t>
            </a:r>
            <a:r>
              <a:rPr dirty="0"/>
              <a:t>a</a:t>
            </a:r>
            <a:r>
              <a:rPr spc="-15" dirty="0"/>
              <a:t>t</a:t>
            </a:r>
            <a:r>
              <a:rPr dirty="0"/>
              <a:t>e</a:t>
            </a:r>
            <a:r>
              <a:rPr spc="-5" dirty="0"/>
              <a:t> </a:t>
            </a:r>
            <a:r>
              <a:rPr dirty="0"/>
              <a:t>spaces</a:t>
            </a:r>
          </a:p>
        </p:txBody>
      </p:sp>
      <p:sp>
        <p:nvSpPr>
          <p:cNvPr id="4" name="object 4"/>
          <p:cNvSpPr txBox="1"/>
          <p:nvPr/>
        </p:nvSpPr>
        <p:spPr>
          <a:xfrm>
            <a:off x="485140" y="1747966"/>
            <a:ext cx="7675880" cy="1323975"/>
          </a:xfrm>
          <a:prstGeom prst="rect">
            <a:avLst/>
          </a:prstGeom>
        </p:spPr>
        <p:txBody>
          <a:bodyPr vert="horz" wrap="square" lIns="0" tIns="0" rIns="0" bIns="0" rtlCol="0">
            <a:spAutoFit/>
          </a:bodyPr>
          <a:lstStyle/>
          <a:p>
            <a:pPr marL="241300" marR="5080" indent="-228600">
              <a:lnSpc>
                <a:spcPts val="3150"/>
              </a:lnSpc>
              <a:buFont typeface="Arial"/>
              <a:buChar char="•"/>
              <a:tabLst>
                <a:tab pos="241300" algn="l"/>
              </a:tabLst>
            </a:pPr>
            <a:r>
              <a:rPr sz="2800" spc="-20" dirty="0">
                <a:latin typeface="Calibri"/>
                <a:cs typeface="Calibri"/>
              </a:rPr>
              <a:t>Ma</a:t>
            </a:r>
            <a:r>
              <a:rPr sz="2800" spc="-60" dirty="0">
                <a:latin typeface="Calibri"/>
                <a:cs typeface="Calibri"/>
              </a:rPr>
              <a:t>r</a:t>
            </a:r>
            <a:r>
              <a:rPr sz="2800" dirty="0">
                <a:latin typeface="Calibri"/>
                <a:cs typeface="Calibri"/>
              </a:rPr>
              <a:t>s </a:t>
            </a:r>
            <a:r>
              <a:rPr sz="2800" spc="-60" dirty="0">
                <a:latin typeface="Calibri"/>
                <a:cs typeface="Calibri"/>
              </a:rPr>
              <a:t>r</a:t>
            </a:r>
            <a:r>
              <a:rPr sz="2800" spc="-15" dirty="0">
                <a:latin typeface="Calibri"/>
                <a:cs typeface="Calibri"/>
              </a:rPr>
              <a:t>o</a:t>
            </a:r>
            <a:r>
              <a:rPr sz="2800" spc="-45" dirty="0">
                <a:latin typeface="Calibri"/>
                <a:cs typeface="Calibri"/>
              </a:rPr>
              <a:t>v</a:t>
            </a:r>
            <a:r>
              <a:rPr sz="2800" spc="-15" dirty="0">
                <a:latin typeface="Calibri"/>
                <a:cs typeface="Calibri"/>
              </a:rPr>
              <a:t>er</a:t>
            </a:r>
            <a:r>
              <a:rPr sz="2800" dirty="0">
                <a:latin typeface="Calibri"/>
                <a:cs typeface="Calibri"/>
              </a:rPr>
              <a:t> </a:t>
            </a:r>
            <a:r>
              <a:rPr sz="2800" spc="-25" dirty="0">
                <a:latin typeface="Calibri"/>
                <a:cs typeface="Calibri"/>
              </a:rPr>
              <a:t>m</a:t>
            </a:r>
            <a:r>
              <a:rPr sz="2800" dirty="0">
                <a:latin typeface="Calibri"/>
                <a:cs typeface="Calibri"/>
              </a:rPr>
              <a:t>u</a:t>
            </a:r>
            <a:r>
              <a:rPr sz="2800" spc="-35" dirty="0">
                <a:latin typeface="Calibri"/>
                <a:cs typeface="Calibri"/>
              </a:rPr>
              <a:t>s</a:t>
            </a:r>
            <a:r>
              <a:rPr sz="2800" spc="-10" dirty="0">
                <a:latin typeface="Calibri"/>
                <a:cs typeface="Calibri"/>
              </a:rPr>
              <a:t>t</a:t>
            </a:r>
            <a:r>
              <a:rPr sz="2800" dirty="0">
                <a:latin typeface="Calibri"/>
                <a:cs typeface="Calibri"/>
              </a:rPr>
              <a:t> l</a:t>
            </a:r>
            <a:r>
              <a:rPr sz="2800" spc="-15" dirty="0">
                <a:latin typeface="Calibri"/>
                <a:cs typeface="Calibri"/>
              </a:rPr>
              <a:t>ear</a:t>
            </a:r>
            <a:r>
              <a:rPr sz="2800" dirty="0">
                <a:latin typeface="Calibri"/>
                <a:cs typeface="Calibri"/>
              </a:rPr>
              <a:t>n hi</a:t>
            </a:r>
            <a:r>
              <a:rPr sz="2800" spc="-15" dirty="0">
                <a:latin typeface="Calibri"/>
                <a:cs typeface="Calibri"/>
              </a:rPr>
              <a:t>g</a:t>
            </a:r>
            <a:r>
              <a:rPr sz="2800" dirty="0">
                <a:latin typeface="Calibri"/>
                <a:cs typeface="Calibri"/>
              </a:rPr>
              <a:t>h-l</a:t>
            </a:r>
            <a:r>
              <a:rPr sz="2800" spc="-30" dirty="0">
                <a:latin typeface="Calibri"/>
                <a:cs typeface="Calibri"/>
              </a:rPr>
              <a:t>e</a:t>
            </a:r>
            <a:r>
              <a:rPr sz="2800" spc="-45" dirty="0">
                <a:latin typeface="Calibri"/>
                <a:cs typeface="Calibri"/>
              </a:rPr>
              <a:t>v</a:t>
            </a:r>
            <a:r>
              <a:rPr sz="2800" spc="-15" dirty="0">
                <a:latin typeface="Calibri"/>
                <a:cs typeface="Calibri"/>
              </a:rPr>
              <a:t>e</a:t>
            </a:r>
            <a:r>
              <a:rPr sz="2800" dirty="0">
                <a:latin typeface="Calibri"/>
                <a:cs typeface="Calibri"/>
              </a:rPr>
              <a:t>l </a:t>
            </a:r>
            <a:r>
              <a:rPr sz="2800" spc="-40" dirty="0">
                <a:latin typeface="Calibri"/>
                <a:cs typeface="Calibri"/>
              </a:rPr>
              <a:t>c</a:t>
            </a:r>
            <a:r>
              <a:rPr sz="2800" spc="-5" dirty="0">
                <a:latin typeface="Calibri"/>
                <a:cs typeface="Calibri"/>
              </a:rPr>
              <a:t>o</a:t>
            </a:r>
            <a:r>
              <a:rPr sz="2800" spc="-30" dirty="0">
                <a:latin typeface="Calibri"/>
                <a:cs typeface="Calibri"/>
              </a:rPr>
              <a:t>n</a:t>
            </a:r>
            <a:r>
              <a:rPr sz="2800" spc="-10" dirty="0">
                <a:latin typeface="Calibri"/>
                <a:cs typeface="Calibri"/>
              </a:rPr>
              <a:t>t</a:t>
            </a:r>
            <a:r>
              <a:rPr sz="2800" spc="-60" dirty="0">
                <a:latin typeface="Calibri"/>
                <a:cs typeface="Calibri"/>
              </a:rPr>
              <a:t>r</a:t>
            </a:r>
            <a:r>
              <a:rPr sz="2800" spc="-5" dirty="0">
                <a:latin typeface="Calibri"/>
                <a:cs typeface="Calibri"/>
              </a:rPr>
              <a:t>o</a:t>
            </a:r>
            <a:r>
              <a:rPr sz="2800" dirty="0">
                <a:latin typeface="Calibri"/>
                <a:cs typeface="Calibri"/>
              </a:rPr>
              <a:t>l </a:t>
            </a:r>
            <a:r>
              <a:rPr sz="2800" spc="-40" dirty="0">
                <a:latin typeface="Calibri"/>
                <a:cs typeface="Calibri"/>
              </a:rPr>
              <a:t>t</a:t>
            </a:r>
            <a:r>
              <a:rPr sz="2800" dirty="0">
                <a:latin typeface="Calibri"/>
                <a:cs typeface="Calibri"/>
              </a:rPr>
              <a:t>o </a:t>
            </a:r>
            <a:r>
              <a:rPr sz="2800" spc="-10" dirty="0">
                <a:latin typeface="Calibri"/>
                <a:cs typeface="Calibri"/>
              </a:rPr>
              <a:t>t</a:t>
            </a:r>
            <a:r>
              <a:rPr sz="2800" spc="-70" dirty="0">
                <a:latin typeface="Calibri"/>
                <a:cs typeface="Calibri"/>
              </a:rPr>
              <a:t>r</a:t>
            </a:r>
            <a:r>
              <a:rPr sz="2800" spc="-50" dirty="0">
                <a:latin typeface="Calibri"/>
                <a:cs typeface="Calibri"/>
              </a:rPr>
              <a:t>a</a:t>
            </a:r>
            <a:r>
              <a:rPr sz="2800" spc="-45" dirty="0">
                <a:latin typeface="Calibri"/>
                <a:cs typeface="Calibri"/>
              </a:rPr>
              <a:t>v</a:t>
            </a:r>
            <a:r>
              <a:rPr sz="2800" spc="-15" dirty="0">
                <a:latin typeface="Calibri"/>
                <a:cs typeface="Calibri"/>
              </a:rPr>
              <a:t>e</a:t>
            </a:r>
            <a:r>
              <a:rPr sz="2800" spc="-60" dirty="0">
                <a:latin typeface="Calibri"/>
                <a:cs typeface="Calibri"/>
              </a:rPr>
              <a:t>r</a:t>
            </a:r>
            <a:r>
              <a:rPr sz="2800" dirty="0">
                <a:latin typeface="Calibri"/>
                <a:cs typeface="Calibri"/>
              </a:rPr>
              <a:t>s</a:t>
            </a:r>
            <a:r>
              <a:rPr sz="2800" spc="-15" dirty="0">
                <a:latin typeface="Calibri"/>
                <a:cs typeface="Calibri"/>
              </a:rPr>
              <a:t>e</a:t>
            </a:r>
            <a:r>
              <a:rPr sz="2800" spc="-10" dirty="0">
                <a:latin typeface="Calibri"/>
                <a:cs typeface="Calibri"/>
              </a:rPr>
              <a:t> </a:t>
            </a:r>
            <a:r>
              <a:rPr sz="2800" spc="-45" dirty="0">
                <a:latin typeface="Calibri"/>
                <a:cs typeface="Calibri"/>
              </a:rPr>
              <a:t>t</a:t>
            </a:r>
            <a:r>
              <a:rPr sz="2800" spc="-15" dirty="0">
                <a:latin typeface="Calibri"/>
                <a:cs typeface="Calibri"/>
              </a:rPr>
              <a:t>er</a:t>
            </a:r>
            <a:r>
              <a:rPr sz="2800" spc="-70" dirty="0">
                <a:latin typeface="Calibri"/>
                <a:cs typeface="Calibri"/>
              </a:rPr>
              <a:t>r</a:t>
            </a:r>
            <a:r>
              <a:rPr sz="2800" dirty="0">
                <a:latin typeface="Calibri"/>
                <a:cs typeface="Calibri"/>
              </a:rPr>
              <a:t>ain</a:t>
            </a:r>
            <a:endParaRPr sz="2800">
              <a:latin typeface="Calibri"/>
              <a:cs typeface="Calibri"/>
            </a:endParaRPr>
          </a:p>
          <a:p>
            <a:pPr marL="241300" indent="-228600">
              <a:lnSpc>
                <a:spcPct val="100000"/>
              </a:lnSpc>
              <a:spcBef>
                <a:spcPts val="720"/>
              </a:spcBef>
              <a:buFont typeface="Arial"/>
              <a:buChar char="•"/>
              <a:tabLst>
                <a:tab pos="241300" algn="l"/>
              </a:tabLst>
            </a:pPr>
            <a:r>
              <a:rPr sz="2800" dirty="0">
                <a:latin typeface="Calibri"/>
                <a:cs typeface="Calibri"/>
              </a:rPr>
              <a:t>D</a:t>
            </a:r>
            <a:r>
              <a:rPr sz="2800" spc="-10" dirty="0">
                <a:latin typeface="Calibri"/>
                <a:cs typeface="Calibri"/>
              </a:rPr>
              <a:t>r</a:t>
            </a:r>
            <a:r>
              <a:rPr sz="2800" dirty="0">
                <a:latin typeface="Calibri"/>
                <a:cs typeface="Calibri"/>
              </a:rPr>
              <a:t>i</a:t>
            </a:r>
            <a:r>
              <a:rPr sz="2800" spc="-15" dirty="0">
                <a:latin typeface="Calibri"/>
                <a:cs typeface="Calibri"/>
              </a:rPr>
              <a:t>v</a:t>
            </a:r>
            <a:r>
              <a:rPr sz="2800" dirty="0">
                <a:latin typeface="Calibri"/>
                <a:cs typeface="Calibri"/>
              </a:rPr>
              <a:t>in</a:t>
            </a:r>
            <a:r>
              <a:rPr sz="2800" spc="-15" dirty="0">
                <a:latin typeface="Calibri"/>
                <a:cs typeface="Calibri"/>
              </a:rPr>
              <a:t>g</a:t>
            </a:r>
            <a:r>
              <a:rPr sz="2800" dirty="0">
                <a:latin typeface="Calibri"/>
                <a:cs typeface="Calibri"/>
              </a:rPr>
              <a:t> </a:t>
            </a:r>
            <a:r>
              <a:rPr sz="2800" spc="-15" dirty="0">
                <a:latin typeface="Calibri"/>
                <a:cs typeface="Calibri"/>
              </a:rPr>
              <a:t>o</a:t>
            </a:r>
            <a:r>
              <a:rPr sz="2800" spc="-45" dirty="0">
                <a:latin typeface="Calibri"/>
                <a:cs typeface="Calibri"/>
              </a:rPr>
              <a:t>v</a:t>
            </a:r>
            <a:r>
              <a:rPr sz="2800" spc="-15" dirty="0">
                <a:latin typeface="Calibri"/>
                <a:cs typeface="Calibri"/>
              </a:rPr>
              <a:t>er</a:t>
            </a:r>
            <a:r>
              <a:rPr sz="2800" dirty="0">
                <a:latin typeface="Calibri"/>
                <a:cs typeface="Calibri"/>
              </a:rPr>
              <a:t> ha</a:t>
            </a:r>
            <a:r>
              <a:rPr sz="2800" spc="-50" dirty="0">
                <a:latin typeface="Calibri"/>
                <a:cs typeface="Calibri"/>
              </a:rPr>
              <a:t>z</a:t>
            </a:r>
            <a:r>
              <a:rPr sz="2800" spc="-15" dirty="0">
                <a:latin typeface="Calibri"/>
                <a:cs typeface="Calibri"/>
              </a:rPr>
              <a:t>a</a:t>
            </a:r>
            <a:r>
              <a:rPr sz="2800" spc="-50" dirty="0">
                <a:latin typeface="Calibri"/>
                <a:cs typeface="Calibri"/>
              </a:rPr>
              <a:t>r</a:t>
            </a:r>
            <a:r>
              <a:rPr sz="2800" dirty="0">
                <a:latin typeface="Calibri"/>
                <a:cs typeface="Calibri"/>
              </a:rPr>
              <a:t>d</a:t>
            </a:r>
            <a:r>
              <a:rPr sz="2800" spc="-5" dirty="0">
                <a:latin typeface="Calibri"/>
                <a:cs typeface="Calibri"/>
              </a:rPr>
              <a:t>o</a:t>
            </a:r>
            <a:r>
              <a:rPr sz="2800" dirty="0">
                <a:latin typeface="Calibri"/>
                <a:cs typeface="Calibri"/>
              </a:rPr>
              <a:t>us </a:t>
            </a:r>
            <a:r>
              <a:rPr sz="2800" spc="-45" dirty="0">
                <a:latin typeface="Calibri"/>
                <a:cs typeface="Calibri"/>
              </a:rPr>
              <a:t>t</a:t>
            </a:r>
            <a:r>
              <a:rPr sz="2800" spc="-15" dirty="0">
                <a:latin typeface="Calibri"/>
                <a:cs typeface="Calibri"/>
              </a:rPr>
              <a:t>er</a:t>
            </a:r>
            <a:r>
              <a:rPr sz="2800" spc="-70" dirty="0">
                <a:latin typeface="Calibri"/>
                <a:cs typeface="Calibri"/>
              </a:rPr>
              <a:t>r</a:t>
            </a:r>
            <a:r>
              <a:rPr sz="2800" dirty="0">
                <a:latin typeface="Calibri"/>
                <a:cs typeface="Calibri"/>
              </a:rPr>
              <a:t>ain </a:t>
            </a:r>
            <a:r>
              <a:rPr sz="2800" spc="-20" dirty="0">
                <a:latin typeface="Calibri"/>
                <a:cs typeface="Calibri"/>
              </a:rPr>
              <a:t>10</a:t>
            </a:r>
            <a:r>
              <a:rPr sz="2800" dirty="0">
                <a:latin typeface="Calibri"/>
                <a:cs typeface="Calibri"/>
              </a:rPr>
              <a:t>x sl</a:t>
            </a:r>
            <a:r>
              <a:rPr sz="2800" spc="-15" dirty="0">
                <a:latin typeface="Calibri"/>
                <a:cs typeface="Calibri"/>
              </a:rPr>
              <a:t>o</a:t>
            </a:r>
            <a:r>
              <a:rPr sz="2800" spc="-45" dirty="0">
                <a:latin typeface="Calibri"/>
                <a:cs typeface="Calibri"/>
              </a:rPr>
              <a:t>w</a:t>
            </a:r>
            <a:r>
              <a:rPr sz="2800" spc="-15" dirty="0">
                <a:latin typeface="Calibri"/>
                <a:cs typeface="Calibri"/>
              </a:rPr>
              <a:t>er</a:t>
            </a:r>
            <a:endParaRPr sz="2800">
              <a:latin typeface="Calibri"/>
              <a:cs typeface="Calibri"/>
            </a:endParaRPr>
          </a:p>
        </p:txBody>
      </p:sp>
      <p:sp>
        <p:nvSpPr>
          <p:cNvPr id="5" name="object 5"/>
          <p:cNvSpPr/>
          <p:nvPr/>
        </p:nvSpPr>
        <p:spPr>
          <a:xfrm>
            <a:off x="1013993" y="4223340"/>
            <a:ext cx="0" cy="1188720"/>
          </a:xfrm>
          <a:custGeom>
            <a:avLst/>
            <a:gdLst/>
            <a:ahLst/>
            <a:cxnLst/>
            <a:rect l="l" t="t" r="r" b="b"/>
            <a:pathLst>
              <a:path h="1188720">
                <a:moveTo>
                  <a:pt x="0" y="0"/>
                </a:moveTo>
                <a:lnTo>
                  <a:pt x="0" y="1188719"/>
                </a:lnTo>
              </a:path>
            </a:pathLst>
          </a:custGeom>
          <a:ln w="12700">
            <a:solidFill>
              <a:srgbClr val="000000"/>
            </a:solidFill>
          </a:ln>
        </p:spPr>
        <p:txBody>
          <a:bodyPr wrap="square" lIns="0" tIns="0" rIns="0" bIns="0" rtlCol="0"/>
          <a:lstStyle/>
          <a:p>
            <a:endParaRPr/>
          </a:p>
        </p:txBody>
      </p:sp>
      <p:sp>
        <p:nvSpPr>
          <p:cNvPr id="6" name="object 6"/>
          <p:cNvSpPr/>
          <p:nvPr/>
        </p:nvSpPr>
        <p:spPr>
          <a:xfrm>
            <a:off x="1448659" y="4223340"/>
            <a:ext cx="0" cy="1188720"/>
          </a:xfrm>
          <a:custGeom>
            <a:avLst/>
            <a:gdLst/>
            <a:ahLst/>
            <a:cxnLst/>
            <a:rect l="l" t="t" r="r" b="b"/>
            <a:pathLst>
              <a:path h="1188720">
                <a:moveTo>
                  <a:pt x="0" y="0"/>
                </a:moveTo>
                <a:lnTo>
                  <a:pt x="0" y="1188719"/>
                </a:lnTo>
              </a:path>
            </a:pathLst>
          </a:custGeom>
          <a:ln w="12700">
            <a:solidFill>
              <a:srgbClr val="000000"/>
            </a:solidFill>
          </a:ln>
        </p:spPr>
        <p:txBody>
          <a:bodyPr wrap="square" lIns="0" tIns="0" rIns="0" bIns="0" rtlCol="0"/>
          <a:lstStyle/>
          <a:p>
            <a:endParaRPr/>
          </a:p>
        </p:txBody>
      </p:sp>
      <p:sp>
        <p:nvSpPr>
          <p:cNvPr id="7" name="object 7"/>
          <p:cNvSpPr/>
          <p:nvPr/>
        </p:nvSpPr>
        <p:spPr>
          <a:xfrm>
            <a:off x="1883325" y="4223340"/>
            <a:ext cx="0" cy="1188720"/>
          </a:xfrm>
          <a:custGeom>
            <a:avLst/>
            <a:gdLst/>
            <a:ahLst/>
            <a:cxnLst/>
            <a:rect l="l" t="t" r="r" b="b"/>
            <a:pathLst>
              <a:path h="1188720">
                <a:moveTo>
                  <a:pt x="0" y="0"/>
                </a:moveTo>
                <a:lnTo>
                  <a:pt x="0" y="1188719"/>
                </a:lnTo>
              </a:path>
            </a:pathLst>
          </a:custGeom>
          <a:ln w="12700">
            <a:solidFill>
              <a:srgbClr val="000000"/>
            </a:solidFill>
          </a:ln>
        </p:spPr>
        <p:txBody>
          <a:bodyPr wrap="square" lIns="0" tIns="0" rIns="0" bIns="0" rtlCol="0"/>
          <a:lstStyle/>
          <a:p>
            <a:endParaRPr/>
          </a:p>
        </p:txBody>
      </p:sp>
      <p:sp>
        <p:nvSpPr>
          <p:cNvPr id="8" name="object 8"/>
          <p:cNvSpPr/>
          <p:nvPr/>
        </p:nvSpPr>
        <p:spPr>
          <a:xfrm>
            <a:off x="572977" y="5013703"/>
            <a:ext cx="1751964" cy="0"/>
          </a:xfrm>
          <a:custGeom>
            <a:avLst/>
            <a:gdLst/>
            <a:ahLst/>
            <a:cxnLst/>
            <a:rect l="l" t="t" r="r" b="b"/>
            <a:pathLst>
              <a:path w="1751964">
                <a:moveTo>
                  <a:pt x="0" y="0"/>
                </a:moveTo>
                <a:lnTo>
                  <a:pt x="1751364" y="0"/>
                </a:lnTo>
              </a:path>
            </a:pathLst>
          </a:custGeom>
          <a:ln w="12700">
            <a:solidFill>
              <a:srgbClr val="000000"/>
            </a:solidFill>
          </a:ln>
        </p:spPr>
        <p:txBody>
          <a:bodyPr wrap="square" lIns="0" tIns="0" rIns="0" bIns="0" rtlCol="0"/>
          <a:lstStyle/>
          <a:p>
            <a:endParaRPr/>
          </a:p>
        </p:txBody>
      </p:sp>
      <p:sp>
        <p:nvSpPr>
          <p:cNvPr id="9" name="object 9"/>
          <p:cNvSpPr/>
          <p:nvPr/>
        </p:nvSpPr>
        <p:spPr>
          <a:xfrm>
            <a:off x="572977" y="4621697"/>
            <a:ext cx="1751964" cy="0"/>
          </a:xfrm>
          <a:custGeom>
            <a:avLst/>
            <a:gdLst/>
            <a:ahLst/>
            <a:cxnLst/>
            <a:rect l="l" t="t" r="r" b="b"/>
            <a:pathLst>
              <a:path w="1751964">
                <a:moveTo>
                  <a:pt x="0" y="0"/>
                </a:moveTo>
                <a:lnTo>
                  <a:pt x="1751364" y="0"/>
                </a:lnTo>
              </a:path>
            </a:pathLst>
          </a:custGeom>
          <a:ln w="12700">
            <a:solidFill>
              <a:srgbClr val="000000"/>
            </a:solidFill>
          </a:ln>
        </p:spPr>
        <p:txBody>
          <a:bodyPr wrap="square" lIns="0" tIns="0" rIns="0" bIns="0" rtlCol="0"/>
          <a:lstStyle/>
          <a:p>
            <a:endParaRPr/>
          </a:p>
        </p:txBody>
      </p:sp>
      <p:sp>
        <p:nvSpPr>
          <p:cNvPr id="10" name="object 10"/>
          <p:cNvSpPr/>
          <p:nvPr/>
        </p:nvSpPr>
        <p:spPr>
          <a:xfrm>
            <a:off x="579327" y="4223340"/>
            <a:ext cx="0" cy="1188720"/>
          </a:xfrm>
          <a:custGeom>
            <a:avLst/>
            <a:gdLst/>
            <a:ahLst/>
            <a:cxnLst/>
            <a:rect l="l" t="t" r="r" b="b"/>
            <a:pathLst>
              <a:path h="1188720">
                <a:moveTo>
                  <a:pt x="0" y="0"/>
                </a:moveTo>
                <a:lnTo>
                  <a:pt x="0" y="1188719"/>
                </a:lnTo>
              </a:path>
            </a:pathLst>
          </a:custGeom>
          <a:ln w="12700">
            <a:solidFill>
              <a:srgbClr val="000000"/>
            </a:solidFill>
          </a:ln>
        </p:spPr>
        <p:txBody>
          <a:bodyPr wrap="square" lIns="0" tIns="0" rIns="0" bIns="0" rtlCol="0"/>
          <a:lstStyle/>
          <a:p>
            <a:endParaRPr/>
          </a:p>
        </p:txBody>
      </p:sp>
      <p:sp>
        <p:nvSpPr>
          <p:cNvPr id="11" name="object 11"/>
          <p:cNvSpPr/>
          <p:nvPr/>
        </p:nvSpPr>
        <p:spPr>
          <a:xfrm>
            <a:off x="2317991" y="4223340"/>
            <a:ext cx="0" cy="1188720"/>
          </a:xfrm>
          <a:custGeom>
            <a:avLst/>
            <a:gdLst/>
            <a:ahLst/>
            <a:cxnLst/>
            <a:rect l="l" t="t" r="r" b="b"/>
            <a:pathLst>
              <a:path h="1188720">
                <a:moveTo>
                  <a:pt x="0" y="0"/>
                </a:moveTo>
                <a:lnTo>
                  <a:pt x="0" y="1188719"/>
                </a:lnTo>
              </a:path>
            </a:pathLst>
          </a:custGeom>
          <a:ln w="12700">
            <a:solidFill>
              <a:srgbClr val="000000"/>
            </a:solidFill>
          </a:ln>
        </p:spPr>
        <p:txBody>
          <a:bodyPr wrap="square" lIns="0" tIns="0" rIns="0" bIns="0" rtlCol="0"/>
          <a:lstStyle/>
          <a:p>
            <a:endParaRPr/>
          </a:p>
        </p:txBody>
      </p:sp>
      <p:sp>
        <p:nvSpPr>
          <p:cNvPr id="12" name="object 12"/>
          <p:cNvSpPr/>
          <p:nvPr/>
        </p:nvSpPr>
        <p:spPr>
          <a:xfrm>
            <a:off x="572977" y="4229690"/>
            <a:ext cx="1751964" cy="0"/>
          </a:xfrm>
          <a:custGeom>
            <a:avLst/>
            <a:gdLst/>
            <a:ahLst/>
            <a:cxnLst/>
            <a:rect l="l" t="t" r="r" b="b"/>
            <a:pathLst>
              <a:path w="1751964">
                <a:moveTo>
                  <a:pt x="0" y="0"/>
                </a:moveTo>
                <a:lnTo>
                  <a:pt x="1751364" y="0"/>
                </a:lnTo>
              </a:path>
            </a:pathLst>
          </a:custGeom>
          <a:ln w="12700">
            <a:solidFill>
              <a:srgbClr val="000000"/>
            </a:solidFill>
          </a:ln>
        </p:spPr>
        <p:txBody>
          <a:bodyPr wrap="square" lIns="0" tIns="0" rIns="0" bIns="0" rtlCol="0"/>
          <a:lstStyle/>
          <a:p>
            <a:endParaRPr/>
          </a:p>
        </p:txBody>
      </p:sp>
      <p:sp>
        <p:nvSpPr>
          <p:cNvPr id="13" name="object 13"/>
          <p:cNvSpPr/>
          <p:nvPr/>
        </p:nvSpPr>
        <p:spPr>
          <a:xfrm>
            <a:off x="572977" y="5405710"/>
            <a:ext cx="1751964" cy="0"/>
          </a:xfrm>
          <a:custGeom>
            <a:avLst/>
            <a:gdLst/>
            <a:ahLst/>
            <a:cxnLst/>
            <a:rect l="l" t="t" r="r" b="b"/>
            <a:pathLst>
              <a:path w="1751964">
                <a:moveTo>
                  <a:pt x="0" y="0"/>
                </a:moveTo>
                <a:lnTo>
                  <a:pt x="1751364" y="0"/>
                </a:lnTo>
              </a:path>
            </a:pathLst>
          </a:custGeom>
          <a:ln w="12700">
            <a:solidFill>
              <a:srgbClr val="000000"/>
            </a:solidFill>
          </a:ln>
        </p:spPr>
        <p:txBody>
          <a:bodyPr wrap="square" lIns="0" tIns="0" rIns="0" bIns="0" rtlCol="0"/>
          <a:lstStyle/>
          <a:p>
            <a:endParaRPr/>
          </a:p>
        </p:txBody>
      </p:sp>
      <p:sp>
        <p:nvSpPr>
          <p:cNvPr id="16" name="object 16"/>
          <p:cNvSpPr/>
          <p:nvPr/>
        </p:nvSpPr>
        <p:spPr>
          <a:xfrm>
            <a:off x="1077525" y="4703500"/>
            <a:ext cx="278765" cy="229870"/>
          </a:xfrm>
          <a:custGeom>
            <a:avLst/>
            <a:gdLst/>
            <a:ahLst/>
            <a:cxnLst/>
            <a:rect l="l" t="t" r="r" b="b"/>
            <a:pathLst>
              <a:path w="278765" h="229870">
                <a:moveTo>
                  <a:pt x="137295" y="0"/>
                </a:moveTo>
                <a:lnTo>
                  <a:pt x="88189" y="8950"/>
                </a:lnTo>
                <a:lnTo>
                  <a:pt x="52738" y="25572"/>
                </a:lnTo>
                <a:lnTo>
                  <a:pt x="22348" y="50872"/>
                </a:lnTo>
                <a:lnTo>
                  <a:pt x="2166" y="92636"/>
                </a:lnTo>
                <a:lnTo>
                  <a:pt x="0" y="115037"/>
                </a:lnTo>
                <a:lnTo>
                  <a:pt x="925" y="126351"/>
                </a:lnTo>
                <a:lnTo>
                  <a:pt x="18211" y="170594"/>
                </a:lnTo>
                <a:lnTo>
                  <a:pt x="45661" y="200585"/>
                </a:lnTo>
                <a:lnTo>
                  <a:pt x="88579" y="222312"/>
                </a:lnTo>
                <a:lnTo>
                  <a:pt x="136852" y="229643"/>
                </a:lnTo>
                <a:lnTo>
                  <a:pt x="149259" y="229198"/>
                </a:lnTo>
                <a:lnTo>
                  <a:pt x="198115" y="218152"/>
                </a:lnTo>
                <a:lnTo>
                  <a:pt x="232003" y="200009"/>
                </a:lnTo>
                <a:lnTo>
                  <a:pt x="259509" y="172705"/>
                </a:lnTo>
                <a:lnTo>
                  <a:pt x="277332" y="128985"/>
                </a:lnTo>
                <a:lnTo>
                  <a:pt x="278374" y="117541"/>
                </a:lnTo>
                <a:lnTo>
                  <a:pt x="278051" y="106073"/>
                </a:lnTo>
                <a:lnTo>
                  <a:pt x="263100" y="61780"/>
                </a:lnTo>
                <a:lnTo>
                  <a:pt x="237548" y="32762"/>
                </a:lnTo>
                <a:lnTo>
                  <a:pt x="196301" y="9246"/>
                </a:lnTo>
                <a:lnTo>
                  <a:pt x="149505" y="62"/>
                </a:lnTo>
                <a:lnTo>
                  <a:pt x="137295" y="0"/>
                </a:lnTo>
                <a:close/>
              </a:path>
            </a:pathLst>
          </a:custGeom>
          <a:solidFill>
            <a:srgbClr val="4472C4"/>
          </a:solidFill>
        </p:spPr>
        <p:txBody>
          <a:bodyPr wrap="square" lIns="0" tIns="0" rIns="0" bIns="0" rtlCol="0"/>
          <a:lstStyle/>
          <a:p>
            <a:endParaRPr/>
          </a:p>
        </p:txBody>
      </p:sp>
      <p:sp>
        <p:nvSpPr>
          <p:cNvPr id="17" name="object 17"/>
          <p:cNvSpPr/>
          <p:nvPr/>
        </p:nvSpPr>
        <p:spPr>
          <a:xfrm>
            <a:off x="1077525" y="4703500"/>
            <a:ext cx="278765" cy="229870"/>
          </a:xfrm>
          <a:custGeom>
            <a:avLst/>
            <a:gdLst/>
            <a:ahLst/>
            <a:cxnLst/>
            <a:rect l="l" t="t" r="r" b="b"/>
            <a:pathLst>
              <a:path w="278765" h="229870">
                <a:moveTo>
                  <a:pt x="237547" y="32762"/>
                </a:moveTo>
                <a:lnTo>
                  <a:pt x="263099" y="61780"/>
                </a:lnTo>
                <a:lnTo>
                  <a:pt x="278050" y="106073"/>
                </a:lnTo>
                <a:lnTo>
                  <a:pt x="278374" y="117541"/>
                </a:lnTo>
                <a:lnTo>
                  <a:pt x="277332" y="128985"/>
                </a:lnTo>
                <a:lnTo>
                  <a:pt x="259509" y="172704"/>
                </a:lnTo>
                <a:lnTo>
                  <a:pt x="232003" y="200009"/>
                </a:lnTo>
                <a:lnTo>
                  <a:pt x="198115" y="218152"/>
                </a:lnTo>
                <a:lnTo>
                  <a:pt x="149259" y="229198"/>
                </a:lnTo>
                <a:lnTo>
                  <a:pt x="136852" y="229643"/>
                </a:lnTo>
                <a:lnTo>
                  <a:pt x="124507" y="229172"/>
                </a:lnTo>
                <a:lnTo>
                  <a:pt x="77136" y="218208"/>
                </a:lnTo>
                <a:lnTo>
                  <a:pt x="35115" y="191044"/>
                </a:lnTo>
                <a:lnTo>
                  <a:pt x="11836" y="159837"/>
                </a:lnTo>
                <a:lnTo>
                  <a:pt x="0" y="115037"/>
                </a:lnTo>
                <a:lnTo>
                  <a:pt x="416" y="103773"/>
                </a:lnTo>
                <a:lnTo>
                  <a:pt x="15342" y="60743"/>
                </a:lnTo>
                <a:lnTo>
                  <a:pt x="52738" y="25572"/>
                </a:lnTo>
                <a:lnTo>
                  <a:pt x="88189" y="8950"/>
                </a:lnTo>
                <a:lnTo>
                  <a:pt x="137295" y="0"/>
                </a:lnTo>
                <a:lnTo>
                  <a:pt x="149505" y="62"/>
                </a:lnTo>
                <a:lnTo>
                  <a:pt x="196301" y="9247"/>
                </a:lnTo>
                <a:lnTo>
                  <a:pt x="236984" y="32297"/>
                </a:lnTo>
                <a:lnTo>
                  <a:pt x="237547" y="32762"/>
                </a:lnTo>
                <a:close/>
              </a:path>
            </a:pathLst>
          </a:custGeom>
          <a:ln w="3175">
            <a:solidFill>
              <a:srgbClr val="32538F"/>
            </a:solidFill>
          </a:ln>
        </p:spPr>
        <p:txBody>
          <a:bodyPr wrap="square" lIns="0" tIns="0" rIns="0" bIns="0" rtlCol="0"/>
          <a:lstStyle/>
          <a:p>
            <a:endParaRPr/>
          </a:p>
        </p:txBody>
      </p:sp>
      <p:sp>
        <p:nvSpPr>
          <p:cNvPr id="18" name="object 18"/>
          <p:cNvSpPr/>
          <p:nvPr/>
        </p:nvSpPr>
        <p:spPr>
          <a:xfrm>
            <a:off x="1225107" y="4507795"/>
            <a:ext cx="0" cy="51435"/>
          </a:xfrm>
          <a:custGeom>
            <a:avLst/>
            <a:gdLst/>
            <a:ahLst/>
            <a:cxnLst/>
            <a:rect l="l" t="t" r="r" b="b"/>
            <a:pathLst>
              <a:path h="51435">
                <a:moveTo>
                  <a:pt x="0" y="0"/>
                </a:moveTo>
                <a:lnTo>
                  <a:pt x="0" y="51061"/>
                </a:lnTo>
              </a:path>
            </a:pathLst>
          </a:custGeom>
          <a:ln w="38100">
            <a:solidFill>
              <a:srgbClr val="4472C4"/>
            </a:solidFill>
          </a:ln>
        </p:spPr>
        <p:txBody>
          <a:bodyPr wrap="square" lIns="0" tIns="0" rIns="0" bIns="0" rtlCol="0"/>
          <a:lstStyle/>
          <a:p>
            <a:endParaRPr/>
          </a:p>
        </p:txBody>
      </p:sp>
      <p:sp>
        <p:nvSpPr>
          <p:cNvPr id="19" name="object 19"/>
          <p:cNvSpPr/>
          <p:nvPr/>
        </p:nvSpPr>
        <p:spPr>
          <a:xfrm>
            <a:off x="1165036" y="4383420"/>
            <a:ext cx="120650" cy="120650"/>
          </a:xfrm>
          <a:custGeom>
            <a:avLst/>
            <a:gdLst/>
            <a:ahLst/>
            <a:cxnLst/>
            <a:rect l="l" t="t" r="r" b="b"/>
            <a:pathLst>
              <a:path w="120650" h="120650">
                <a:moveTo>
                  <a:pt x="60070" y="0"/>
                </a:moveTo>
                <a:lnTo>
                  <a:pt x="0" y="120141"/>
                </a:lnTo>
                <a:lnTo>
                  <a:pt x="120142" y="120141"/>
                </a:lnTo>
                <a:lnTo>
                  <a:pt x="60070" y="0"/>
                </a:lnTo>
                <a:close/>
              </a:path>
            </a:pathLst>
          </a:custGeom>
          <a:solidFill>
            <a:srgbClr val="4472C4"/>
          </a:solidFill>
        </p:spPr>
        <p:txBody>
          <a:bodyPr wrap="square" lIns="0" tIns="0" rIns="0" bIns="0" rtlCol="0"/>
          <a:lstStyle/>
          <a:p>
            <a:endParaRPr/>
          </a:p>
        </p:txBody>
      </p:sp>
      <p:sp>
        <p:nvSpPr>
          <p:cNvPr id="20" name="object 20"/>
          <p:cNvSpPr/>
          <p:nvPr/>
        </p:nvSpPr>
        <p:spPr>
          <a:xfrm>
            <a:off x="1225107" y="5066709"/>
            <a:ext cx="0" cy="88265"/>
          </a:xfrm>
          <a:custGeom>
            <a:avLst/>
            <a:gdLst/>
            <a:ahLst/>
            <a:cxnLst/>
            <a:rect l="l" t="t" r="r" b="b"/>
            <a:pathLst>
              <a:path h="88264">
                <a:moveTo>
                  <a:pt x="0" y="0"/>
                </a:moveTo>
                <a:lnTo>
                  <a:pt x="0" y="88128"/>
                </a:lnTo>
              </a:path>
            </a:pathLst>
          </a:custGeom>
          <a:ln w="38100">
            <a:solidFill>
              <a:srgbClr val="4472C4"/>
            </a:solidFill>
          </a:ln>
        </p:spPr>
        <p:txBody>
          <a:bodyPr wrap="square" lIns="0" tIns="0" rIns="0" bIns="0" rtlCol="0"/>
          <a:lstStyle/>
          <a:p>
            <a:endParaRPr/>
          </a:p>
        </p:txBody>
      </p:sp>
      <p:sp>
        <p:nvSpPr>
          <p:cNvPr id="21" name="object 21"/>
          <p:cNvSpPr/>
          <p:nvPr/>
        </p:nvSpPr>
        <p:spPr>
          <a:xfrm>
            <a:off x="1165036" y="5159071"/>
            <a:ext cx="120650" cy="120650"/>
          </a:xfrm>
          <a:custGeom>
            <a:avLst/>
            <a:gdLst/>
            <a:ahLst/>
            <a:cxnLst/>
            <a:rect l="l" t="t" r="r" b="b"/>
            <a:pathLst>
              <a:path w="120650" h="120650">
                <a:moveTo>
                  <a:pt x="120142" y="0"/>
                </a:moveTo>
                <a:lnTo>
                  <a:pt x="0" y="0"/>
                </a:lnTo>
                <a:lnTo>
                  <a:pt x="60071" y="120142"/>
                </a:lnTo>
                <a:lnTo>
                  <a:pt x="120142" y="0"/>
                </a:lnTo>
                <a:close/>
              </a:path>
            </a:pathLst>
          </a:custGeom>
          <a:solidFill>
            <a:srgbClr val="4472C4"/>
          </a:solidFill>
        </p:spPr>
        <p:txBody>
          <a:bodyPr wrap="square" lIns="0" tIns="0" rIns="0" bIns="0" rtlCol="0"/>
          <a:lstStyle/>
          <a:p>
            <a:endParaRPr/>
          </a:p>
        </p:txBody>
      </p:sp>
      <p:sp>
        <p:nvSpPr>
          <p:cNvPr id="22" name="object 22"/>
          <p:cNvSpPr/>
          <p:nvPr/>
        </p:nvSpPr>
        <p:spPr>
          <a:xfrm>
            <a:off x="1523409" y="4822011"/>
            <a:ext cx="59055" cy="0"/>
          </a:xfrm>
          <a:custGeom>
            <a:avLst/>
            <a:gdLst/>
            <a:ahLst/>
            <a:cxnLst/>
            <a:rect l="l" t="t" r="r" b="b"/>
            <a:pathLst>
              <a:path w="59055">
                <a:moveTo>
                  <a:pt x="0" y="0"/>
                </a:moveTo>
                <a:lnTo>
                  <a:pt x="39986" y="0"/>
                </a:lnTo>
                <a:lnTo>
                  <a:pt x="59036" y="0"/>
                </a:lnTo>
              </a:path>
            </a:pathLst>
          </a:custGeom>
          <a:ln w="38100">
            <a:solidFill>
              <a:srgbClr val="4472C4"/>
            </a:solidFill>
          </a:ln>
        </p:spPr>
        <p:txBody>
          <a:bodyPr wrap="square" lIns="0" tIns="0" rIns="0" bIns="0" rtlCol="0"/>
          <a:lstStyle/>
          <a:p>
            <a:endParaRPr/>
          </a:p>
        </p:txBody>
      </p:sp>
      <p:sp>
        <p:nvSpPr>
          <p:cNvPr id="23" name="object 23"/>
          <p:cNvSpPr/>
          <p:nvPr/>
        </p:nvSpPr>
        <p:spPr>
          <a:xfrm>
            <a:off x="1586679" y="4761939"/>
            <a:ext cx="120650" cy="120650"/>
          </a:xfrm>
          <a:custGeom>
            <a:avLst/>
            <a:gdLst/>
            <a:ahLst/>
            <a:cxnLst/>
            <a:rect l="l" t="t" r="r" b="b"/>
            <a:pathLst>
              <a:path w="120650" h="120650">
                <a:moveTo>
                  <a:pt x="0" y="0"/>
                </a:moveTo>
                <a:lnTo>
                  <a:pt x="0" y="120141"/>
                </a:lnTo>
                <a:lnTo>
                  <a:pt x="120141" y="60070"/>
                </a:lnTo>
                <a:lnTo>
                  <a:pt x="0" y="0"/>
                </a:lnTo>
                <a:close/>
              </a:path>
            </a:pathLst>
          </a:custGeom>
          <a:solidFill>
            <a:srgbClr val="4472C4"/>
          </a:solidFill>
        </p:spPr>
        <p:txBody>
          <a:bodyPr wrap="square" lIns="0" tIns="0" rIns="0" bIns="0" rtlCol="0"/>
          <a:lstStyle/>
          <a:p>
            <a:endParaRPr/>
          </a:p>
        </p:txBody>
      </p:sp>
      <p:sp>
        <p:nvSpPr>
          <p:cNvPr id="24" name="object 24"/>
          <p:cNvSpPr/>
          <p:nvPr/>
        </p:nvSpPr>
        <p:spPr>
          <a:xfrm>
            <a:off x="842371" y="4829983"/>
            <a:ext cx="88265" cy="0"/>
          </a:xfrm>
          <a:custGeom>
            <a:avLst/>
            <a:gdLst/>
            <a:ahLst/>
            <a:cxnLst/>
            <a:rect l="l" t="t" r="r" b="b"/>
            <a:pathLst>
              <a:path w="88265">
                <a:moveTo>
                  <a:pt x="88275" y="0"/>
                </a:moveTo>
                <a:lnTo>
                  <a:pt x="19050" y="0"/>
                </a:lnTo>
                <a:lnTo>
                  <a:pt x="0" y="0"/>
                </a:lnTo>
              </a:path>
            </a:pathLst>
          </a:custGeom>
          <a:ln w="38100">
            <a:solidFill>
              <a:srgbClr val="4472C4"/>
            </a:solidFill>
          </a:ln>
        </p:spPr>
        <p:txBody>
          <a:bodyPr wrap="square" lIns="0" tIns="0" rIns="0" bIns="0" rtlCol="0"/>
          <a:lstStyle/>
          <a:p>
            <a:endParaRPr/>
          </a:p>
        </p:txBody>
      </p:sp>
      <p:sp>
        <p:nvSpPr>
          <p:cNvPr id="25" name="object 25"/>
          <p:cNvSpPr/>
          <p:nvPr/>
        </p:nvSpPr>
        <p:spPr>
          <a:xfrm>
            <a:off x="717996" y="4769913"/>
            <a:ext cx="120650" cy="120650"/>
          </a:xfrm>
          <a:custGeom>
            <a:avLst/>
            <a:gdLst/>
            <a:ahLst/>
            <a:cxnLst/>
            <a:rect l="l" t="t" r="r" b="b"/>
            <a:pathLst>
              <a:path w="120650" h="120650">
                <a:moveTo>
                  <a:pt x="120142" y="0"/>
                </a:moveTo>
                <a:lnTo>
                  <a:pt x="0" y="60070"/>
                </a:lnTo>
                <a:lnTo>
                  <a:pt x="120142" y="120141"/>
                </a:lnTo>
                <a:lnTo>
                  <a:pt x="120142" y="0"/>
                </a:lnTo>
                <a:close/>
              </a:path>
            </a:pathLst>
          </a:custGeom>
          <a:solidFill>
            <a:srgbClr val="4472C4"/>
          </a:solidFill>
        </p:spPr>
        <p:txBody>
          <a:bodyPr wrap="square" lIns="0" tIns="0" rIns="0" bIns="0" rtlCol="0"/>
          <a:lstStyle/>
          <a:p>
            <a:endParaRPr/>
          </a:p>
        </p:txBody>
      </p:sp>
      <p:sp>
        <p:nvSpPr>
          <p:cNvPr id="26" name="object 26"/>
          <p:cNvSpPr txBox="1"/>
          <p:nvPr/>
        </p:nvSpPr>
        <p:spPr>
          <a:xfrm>
            <a:off x="899984" y="3918694"/>
            <a:ext cx="858519" cy="254000"/>
          </a:xfrm>
          <a:prstGeom prst="rect">
            <a:avLst/>
          </a:prstGeom>
        </p:spPr>
        <p:txBody>
          <a:bodyPr vert="horz" wrap="square" lIns="0" tIns="0" rIns="0" bIns="0" rtlCol="0">
            <a:spAutoFit/>
          </a:bodyPr>
          <a:lstStyle/>
          <a:p>
            <a:pPr marL="12700">
              <a:lnSpc>
                <a:spcPct val="100000"/>
              </a:lnSpc>
            </a:pPr>
            <a:r>
              <a:rPr sz="1800" spc="-10" dirty="0">
                <a:latin typeface="Calibri"/>
                <a:cs typeface="Calibri"/>
              </a:rPr>
              <a:t>4 actions</a:t>
            </a:r>
            <a:endParaRPr sz="1800">
              <a:latin typeface="Calibri"/>
              <a:cs typeface="Calibri"/>
            </a:endParaRPr>
          </a:p>
        </p:txBody>
      </p:sp>
      <p:sp>
        <p:nvSpPr>
          <p:cNvPr id="27" name="object 27"/>
          <p:cNvSpPr txBox="1"/>
          <p:nvPr/>
        </p:nvSpPr>
        <p:spPr>
          <a:xfrm>
            <a:off x="3439293" y="3918694"/>
            <a:ext cx="1483995" cy="254000"/>
          </a:xfrm>
          <a:prstGeom prst="rect">
            <a:avLst/>
          </a:prstGeom>
        </p:spPr>
        <p:txBody>
          <a:bodyPr vert="horz" wrap="square" lIns="0" tIns="0" rIns="0" bIns="0" rtlCol="0">
            <a:spAutoFit/>
          </a:bodyPr>
          <a:lstStyle/>
          <a:p>
            <a:pPr marL="12700">
              <a:lnSpc>
                <a:spcPct val="100000"/>
              </a:lnSpc>
            </a:pPr>
            <a:r>
              <a:rPr sz="1800" dirty="0">
                <a:latin typeface="Calibri"/>
                <a:cs typeface="Calibri"/>
              </a:rPr>
              <a:t>Di</a:t>
            </a:r>
            <a:r>
              <a:rPr sz="1800" spc="-25" dirty="0">
                <a:latin typeface="Calibri"/>
                <a:cs typeface="Calibri"/>
              </a:rPr>
              <a:t>s</a:t>
            </a:r>
            <a:r>
              <a:rPr sz="1800" spc="-35" dirty="0">
                <a:latin typeface="Calibri"/>
                <a:cs typeface="Calibri"/>
              </a:rPr>
              <a:t>t</a:t>
            </a:r>
            <a:r>
              <a:rPr sz="1800" dirty="0">
                <a:latin typeface="Calibri"/>
                <a:cs typeface="Calibri"/>
              </a:rPr>
              <a:t>an</a:t>
            </a:r>
            <a:r>
              <a:rPr sz="1800" spc="-10" dirty="0">
                <a:latin typeface="Calibri"/>
                <a:cs typeface="Calibri"/>
              </a:rPr>
              <a:t>ce</a:t>
            </a:r>
            <a:r>
              <a:rPr sz="1800" dirty="0">
                <a:latin typeface="Calibri"/>
                <a:cs typeface="Calibri"/>
              </a:rPr>
              <a:t> s</a:t>
            </a:r>
            <a:r>
              <a:rPr sz="1800" spc="-10" dirty="0">
                <a:latin typeface="Calibri"/>
                <a:cs typeface="Calibri"/>
              </a:rPr>
              <a:t>e</a:t>
            </a:r>
            <a:r>
              <a:rPr sz="1800" dirty="0">
                <a:latin typeface="Calibri"/>
                <a:cs typeface="Calibri"/>
              </a:rPr>
              <a:t>nso</a:t>
            </a:r>
            <a:r>
              <a:rPr sz="1800" spc="-10" dirty="0">
                <a:latin typeface="Calibri"/>
                <a:cs typeface="Calibri"/>
              </a:rPr>
              <a:t>r</a:t>
            </a:r>
            <a:endParaRPr sz="1800">
              <a:latin typeface="Calibri"/>
              <a:cs typeface="Calibri"/>
            </a:endParaRPr>
          </a:p>
        </p:txBody>
      </p:sp>
      <p:sp>
        <p:nvSpPr>
          <p:cNvPr id="28" name="object 28"/>
          <p:cNvSpPr txBox="1"/>
          <p:nvPr/>
        </p:nvSpPr>
        <p:spPr>
          <a:xfrm>
            <a:off x="6308703" y="3918694"/>
            <a:ext cx="1331595" cy="254000"/>
          </a:xfrm>
          <a:prstGeom prst="rect">
            <a:avLst/>
          </a:prstGeom>
        </p:spPr>
        <p:txBody>
          <a:bodyPr vert="horz" wrap="square" lIns="0" tIns="0" rIns="0" bIns="0" rtlCol="0">
            <a:spAutoFit/>
          </a:bodyPr>
          <a:lstStyle/>
          <a:p>
            <a:pPr marL="12700">
              <a:lnSpc>
                <a:spcPct val="100000"/>
              </a:lnSpc>
            </a:pPr>
            <a:r>
              <a:rPr sz="1800" spc="-160" dirty="0">
                <a:latin typeface="Calibri"/>
                <a:cs typeface="Calibri"/>
              </a:rPr>
              <a:t>T</a:t>
            </a:r>
            <a:r>
              <a:rPr sz="1800" spc="-10" dirty="0">
                <a:latin typeface="Calibri"/>
                <a:cs typeface="Calibri"/>
              </a:rPr>
              <a:t>er</a:t>
            </a:r>
            <a:r>
              <a:rPr sz="1800" spc="-50" dirty="0">
                <a:latin typeface="Calibri"/>
                <a:cs typeface="Calibri"/>
              </a:rPr>
              <a:t>r</a:t>
            </a:r>
            <a:r>
              <a:rPr sz="1800" dirty="0">
                <a:latin typeface="Calibri"/>
                <a:cs typeface="Calibri"/>
              </a:rPr>
              <a:t>ain s</a:t>
            </a:r>
            <a:r>
              <a:rPr sz="1800" spc="-10" dirty="0">
                <a:latin typeface="Calibri"/>
                <a:cs typeface="Calibri"/>
              </a:rPr>
              <a:t>e</a:t>
            </a:r>
            <a:r>
              <a:rPr sz="1800" dirty="0">
                <a:latin typeface="Calibri"/>
                <a:cs typeface="Calibri"/>
              </a:rPr>
              <a:t>nso</a:t>
            </a:r>
            <a:r>
              <a:rPr sz="1800" spc="-10" dirty="0">
                <a:latin typeface="Calibri"/>
                <a:cs typeface="Calibri"/>
              </a:rPr>
              <a:t>r</a:t>
            </a:r>
            <a:endParaRPr sz="1800">
              <a:latin typeface="Calibri"/>
              <a:cs typeface="Calibri"/>
            </a:endParaRPr>
          </a:p>
        </p:txBody>
      </p:sp>
      <p:graphicFrame>
        <p:nvGraphicFramePr>
          <p:cNvPr id="14" name="object 14"/>
          <p:cNvGraphicFramePr>
            <a:graphicFrameLocks noGrp="1"/>
          </p:cNvGraphicFramePr>
          <p:nvPr/>
        </p:nvGraphicFramePr>
        <p:xfrm>
          <a:off x="3332125" y="4223340"/>
          <a:ext cx="1738663" cy="1176018"/>
        </p:xfrm>
        <a:graphic>
          <a:graphicData uri="http://schemas.openxmlformats.org/drawingml/2006/table">
            <a:tbl>
              <a:tblPr firstRow="1" bandRow="1">
                <a:tableStyleId>{2D5ABB26-0587-4C30-8999-92F81FD0307C}</a:tableStyleId>
              </a:tblPr>
              <a:tblGrid>
                <a:gridCol w="434666">
                  <a:extLst>
                    <a:ext uri="{9D8B030D-6E8A-4147-A177-3AD203B41FA5}">
                      <a16:colId xmlns:a16="http://schemas.microsoft.com/office/drawing/2014/main" val="20000"/>
                    </a:ext>
                  </a:extLst>
                </a:gridCol>
                <a:gridCol w="434666">
                  <a:extLst>
                    <a:ext uri="{9D8B030D-6E8A-4147-A177-3AD203B41FA5}">
                      <a16:colId xmlns:a16="http://schemas.microsoft.com/office/drawing/2014/main" val="20001"/>
                    </a:ext>
                  </a:extLst>
                </a:gridCol>
                <a:gridCol w="434665">
                  <a:extLst>
                    <a:ext uri="{9D8B030D-6E8A-4147-A177-3AD203B41FA5}">
                      <a16:colId xmlns:a16="http://schemas.microsoft.com/office/drawing/2014/main" val="20002"/>
                    </a:ext>
                  </a:extLst>
                </a:gridCol>
                <a:gridCol w="434666">
                  <a:extLst>
                    <a:ext uri="{9D8B030D-6E8A-4147-A177-3AD203B41FA5}">
                      <a16:colId xmlns:a16="http://schemas.microsoft.com/office/drawing/2014/main" val="20003"/>
                    </a:ext>
                  </a:extLst>
                </a:gridCol>
              </a:tblGrid>
              <a:tr h="392006">
                <a:tc>
                  <a:txBody>
                    <a:bodyPr/>
                    <a:lstStyle/>
                    <a:p>
                      <a:pPr algn="ctr">
                        <a:lnSpc>
                          <a:spcPct val="100000"/>
                        </a:lnSpc>
                      </a:pPr>
                      <a:r>
                        <a:rPr sz="1800" dirty="0">
                          <a:latin typeface="Calibri"/>
                          <a:cs typeface="Calibri"/>
                        </a:rPr>
                        <a:t>4</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3</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2</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392006">
                <a:tc>
                  <a:txBody>
                    <a:bodyPr/>
                    <a:lstStyle/>
                    <a:p>
                      <a:pPr algn="ctr">
                        <a:lnSpc>
                          <a:spcPct val="100000"/>
                        </a:lnSpc>
                      </a:pPr>
                      <a:r>
                        <a:rPr sz="1800" dirty="0">
                          <a:latin typeface="Calibri"/>
                          <a:cs typeface="Calibri"/>
                        </a:rPr>
                        <a:t>3</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2</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38430">
                        <a:lnSpc>
                          <a:spcPct val="100000"/>
                        </a:lnSpc>
                      </a:pPr>
                      <a:r>
                        <a:rPr sz="1800" dirty="0">
                          <a:latin typeface="Calibri"/>
                          <a:cs typeface="Calibri"/>
                        </a:rPr>
                        <a:t>G</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2F0D9"/>
                    </a:solidFill>
                  </a:tcPr>
                </a:tc>
                <a:extLst>
                  <a:ext uri="{0D108BD9-81ED-4DB2-BD59-A6C34878D82A}">
                    <a16:rowId xmlns:a16="http://schemas.microsoft.com/office/drawing/2014/main" val="10001"/>
                  </a:ext>
                </a:extLst>
              </a:tr>
              <a:tr h="392006">
                <a:tc>
                  <a:txBody>
                    <a:bodyPr/>
                    <a:lstStyle/>
                    <a:p>
                      <a:pPr algn="ctr">
                        <a:lnSpc>
                          <a:spcPct val="100000"/>
                        </a:lnSpc>
                      </a:pPr>
                      <a:r>
                        <a:rPr sz="1800" dirty="0">
                          <a:latin typeface="Calibri"/>
                          <a:cs typeface="Calibri"/>
                        </a:rPr>
                        <a:t>S</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3F3"/>
                    </a:solidFill>
                  </a:tcPr>
                </a:tc>
                <a:tc>
                  <a:txBody>
                    <a:bodyPr/>
                    <a:lstStyle/>
                    <a:p>
                      <a:pPr algn="ctr">
                        <a:lnSpc>
                          <a:spcPct val="100000"/>
                        </a:lnSpc>
                      </a:pPr>
                      <a:r>
                        <a:rPr sz="1800" dirty="0">
                          <a:latin typeface="Calibri"/>
                          <a:cs typeface="Calibri"/>
                        </a:rPr>
                        <a:t>3</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2</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aphicFrame>
        <p:nvGraphicFramePr>
          <p:cNvPr id="15" name="object 15"/>
          <p:cNvGraphicFramePr>
            <a:graphicFrameLocks noGrp="1"/>
          </p:cNvGraphicFramePr>
          <p:nvPr/>
        </p:nvGraphicFramePr>
        <p:xfrm>
          <a:off x="6095700" y="4223340"/>
          <a:ext cx="1738663" cy="1176018"/>
        </p:xfrm>
        <a:graphic>
          <a:graphicData uri="http://schemas.openxmlformats.org/drawingml/2006/table">
            <a:tbl>
              <a:tblPr firstRow="1" bandRow="1">
                <a:tableStyleId>{2D5ABB26-0587-4C30-8999-92F81FD0307C}</a:tableStyleId>
              </a:tblPr>
              <a:tblGrid>
                <a:gridCol w="434666">
                  <a:extLst>
                    <a:ext uri="{9D8B030D-6E8A-4147-A177-3AD203B41FA5}">
                      <a16:colId xmlns:a16="http://schemas.microsoft.com/office/drawing/2014/main" val="20000"/>
                    </a:ext>
                  </a:extLst>
                </a:gridCol>
                <a:gridCol w="434666">
                  <a:extLst>
                    <a:ext uri="{9D8B030D-6E8A-4147-A177-3AD203B41FA5}">
                      <a16:colId xmlns:a16="http://schemas.microsoft.com/office/drawing/2014/main" val="20001"/>
                    </a:ext>
                  </a:extLst>
                </a:gridCol>
                <a:gridCol w="434665">
                  <a:extLst>
                    <a:ext uri="{9D8B030D-6E8A-4147-A177-3AD203B41FA5}">
                      <a16:colId xmlns:a16="http://schemas.microsoft.com/office/drawing/2014/main" val="20002"/>
                    </a:ext>
                  </a:extLst>
                </a:gridCol>
                <a:gridCol w="434666">
                  <a:extLst>
                    <a:ext uri="{9D8B030D-6E8A-4147-A177-3AD203B41FA5}">
                      <a16:colId xmlns:a16="http://schemas.microsoft.com/office/drawing/2014/main" val="20003"/>
                    </a:ext>
                  </a:extLst>
                </a:gridCol>
              </a:tblGrid>
              <a:tr h="392006">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9690">
                        <a:lnSpc>
                          <a:spcPct val="100000"/>
                        </a:lnSpc>
                      </a:pPr>
                      <a:r>
                        <a:rPr sz="1800" dirty="0">
                          <a:latin typeface="Calibri"/>
                          <a:cs typeface="Calibri"/>
                        </a:rPr>
                        <a:t>-10</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5D6"/>
                    </a:solidFill>
                  </a:tcPr>
                </a:tc>
                <a:tc>
                  <a:txBody>
                    <a:bodyPr/>
                    <a:lstStyle/>
                    <a:p>
                      <a:pPr marL="59690">
                        <a:lnSpc>
                          <a:spcPct val="100000"/>
                        </a:lnSpc>
                      </a:pPr>
                      <a:r>
                        <a:rPr sz="1800" dirty="0">
                          <a:latin typeface="Calibri"/>
                          <a:cs typeface="Calibri"/>
                        </a:rPr>
                        <a:t>-10</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5D6"/>
                    </a:solidFill>
                  </a:tcPr>
                </a:tc>
                <a:extLst>
                  <a:ext uri="{0D108BD9-81ED-4DB2-BD59-A6C34878D82A}">
                    <a16:rowId xmlns:a16="http://schemas.microsoft.com/office/drawing/2014/main" val="10000"/>
                  </a:ext>
                </a:extLst>
              </a:tr>
              <a:tr h="392006">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92006">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9690">
                        <a:lnSpc>
                          <a:spcPct val="100000"/>
                        </a:lnSpc>
                      </a:pPr>
                      <a:r>
                        <a:rPr sz="1800" dirty="0">
                          <a:latin typeface="Calibri"/>
                          <a:cs typeface="Calibri"/>
                        </a:rPr>
                        <a:t>-10</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5D6"/>
                    </a:solidFill>
                  </a:tcPr>
                </a:tc>
                <a:tc>
                  <a:txBody>
                    <a:bodyPr/>
                    <a:lstStyle/>
                    <a:p>
                      <a:pPr marL="117475">
                        <a:lnSpc>
                          <a:spcPct val="100000"/>
                        </a:lnSpc>
                      </a:pPr>
                      <a:r>
                        <a:rPr sz="1800" dirty="0">
                          <a:latin typeface="Calibri"/>
                          <a:cs typeface="Calibri"/>
                        </a:rPr>
                        <a:t>-1</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9690">
                        <a:lnSpc>
                          <a:spcPct val="100000"/>
                        </a:lnSpc>
                      </a:pPr>
                      <a:r>
                        <a:rPr sz="1800" dirty="0">
                          <a:latin typeface="Calibri"/>
                          <a:cs typeface="Calibri"/>
                        </a:rPr>
                        <a:t>-10</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5D6"/>
                    </a:solidFill>
                  </a:tcPr>
                </a:tc>
                <a:extLst>
                  <a:ext uri="{0D108BD9-81ED-4DB2-BD59-A6C34878D82A}">
                    <a16:rowId xmlns:a16="http://schemas.microsoft.com/office/drawing/2014/main" val="10002"/>
                  </a:ext>
                </a:extLst>
              </a:tr>
            </a:tbl>
          </a:graphicData>
        </a:graphic>
      </p:graphicFrame>
      <p:sp>
        <p:nvSpPr>
          <p:cNvPr id="31" name="Rectangle 30">
            <a:extLst>
              <a:ext uri="{FF2B5EF4-FFF2-40B4-BE49-F238E27FC236}">
                <a16:creationId xmlns:a16="http://schemas.microsoft.com/office/drawing/2014/main" id="{AB86947B-22EA-8435-CFE6-0D33EE927C9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94CA014-DCEC-7AF6-7A77-AE0F0D41731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33" name="Rectangle 32">
            <a:extLst>
              <a:ext uri="{FF2B5EF4-FFF2-40B4-BE49-F238E27FC236}">
                <a16:creationId xmlns:a16="http://schemas.microsoft.com/office/drawing/2014/main" id="{E22D0E5A-4AC0-D581-960C-0B9F776EB5DF}"/>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34" name="Slide Number Placeholder 33">
            <a:extLst>
              <a:ext uri="{FF2B5EF4-FFF2-40B4-BE49-F238E27FC236}">
                <a16:creationId xmlns:a16="http://schemas.microsoft.com/office/drawing/2014/main" id="{FA3153DC-8D40-9B45-2C08-01A8FD009DDC}"/>
              </a:ext>
            </a:extLst>
          </p:cNvPr>
          <p:cNvSpPr>
            <a:spLocks noGrp="1"/>
          </p:cNvSpPr>
          <p:nvPr>
            <p:ph type="sldNum" sz="quarter" idx="7"/>
          </p:nvPr>
        </p:nvSpPr>
        <p:spPr/>
        <p:txBody>
          <a:bodyPr/>
          <a:lstStyle/>
          <a:p>
            <a:pPr marL="25400"/>
            <a:fld id="{81D60167-4931-47E6-BA6A-407CBD079E47}" type="slidenum">
              <a:rPr lang="en-US" smtClean="0"/>
              <a:pPr marL="25400"/>
              <a:t>6</a:t>
            </a:fld>
            <a:r>
              <a:rPr lang="en-US"/>
              <a:t>/27</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5" dirty="0"/>
              <a:t>S</a:t>
            </a:r>
            <a:r>
              <a:rPr spc="-15" dirty="0"/>
              <a:t>t</a:t>
            </a:r>
            <a:r>
              <a:rPr dirty="0"/>
              <a:t>a</a:t>
            </a:r>
            <a:r>
              <a:rPr spc="-15" dirty="0"/>
              <a:t>t</a:t>
            </a:r>
            <a:r>
              <a:rPr dirty="0"/>
              <a:t>e</a:t>
            </a:r>
            <a:r>
              <a:rPr spc="-5" dirty="0"/>
              <a:t> </a:t>
            </a:r>
            <a:r>
              <a:rPr dirty="0"/>
              <a:t>Space</a:t>
            </a:r>
            <a:r>
              <a:rPr spc="-5" dirty="0"/>
              <a:t> </a:t>
            </a:r>
            <a:r>
              <a:rPr spc="-15" dirty="0"/>
              <a:t>f</a:t>
            </a:r>
            <a:r>
              <a:rPr dirty="0"/>
              <a:t>or</a:t>
            </a:r>
            <a:r>
              <a:rPr spc="-5" dirty="0"/>
              <a:t> </a:t>
            </a:r>
            <a:r>
              <a:rPr dirty="0"/>
              <a:t>Mars</a:t>
            </a:r>
            <a:r>
              <a:rPr spc="-5" dirty="0"/>
              <a:t> </a:t>
            </a:r>
            <a:r>
              <a:rPr dirty="0"/>
              <a:t>Rover</a:t>
            </a:r>
          </a:p>
        </p:txBody>
      </p:sp>
      <p:sp>
        <p:nvSpPr>
          <p:cNvPr id="8" name="object 8"/>
          <p:cNvSpPr txBox="1"/>
          <p:nvPr/>
        </p:nvSpPr>
        <p:spPr>
          <a:xfrm>
            <a:off x="1066800" y="1676400"/>
            <a:ext cx="7515861" cy="3436838"/>
          </a:xfrm>
          <a:prstGeom prst="rect">
            <a:avLst/>
          </a:prstGeom>
        </p:spPr>
        <p:txBody>
          <a:bodyPr vert="horz" wrap="square" lIns="0" tIns="0" rIns="0" bIns="0" rtlCol="0">
            <a:spAutoFit/>
          </a:bodyPr>
          <a:lstStyle/>
          <a:p>
            <a:pPr marL="238760" indent="-226060">
              <a:lnSpc>
                <a:spcPct val="100000"/>
              </a:lnSpc>
              <a:buFont typeface="Arial"/>
              <a:buChar char="•"/>
              <a:tabLst>
                <a:tab pos="239395" algn="l"/>
              </a:tabLst>
            </a:pPr>
            <a:r>
              <a:rPr sz="4125" baseline="1010" dirty="0">
                <a:latin typeface="Calibri"/>
                <a:cs typeface="Calibri"/>
              </a:rPr>
              <a:t>S</a:t>
            </a:r>
            <a:r>
              <a:rPr sz="4125" spc="-52" baseline="1010" dirty="0">
                <a:latin typeface="Calibri"/>
                <a:cs typeface="Calibri"/>
              </a:rPr>
              <a:t>t</a:t>
            </a:r>
            <a:r>
              <a:rPr sz="4125" spc="-44" baseline="1010" dirty="0">
                <a:latin typeface="Calibri"/>
                <a:cs typeface="Calibri"/>
              </a:rPr>
              <a:t>at</a:t>
            </a:r>
            <a:r>
              <a:rPr sz="4125" baseline="1010" dirty="0">
                <a:latin typeface="Calibri"/>
                <a:cs typeface="Calibri"/>
              </a:rPr>
              <a:t>e</a:t>
            </a:r>
            <a:r>
              <a:rPr sz="4125" spc="7" baseline="1010" dirty="0">
                <a:latin typeface="Calibri"/>
                <a:cs typeface="Calibri"/>
              </a:rPr>
              <a:t> </a:t>
            </a:r>
            <a:r>
              <a:rPr sz="4125" baseline="1010" dirty="0">
                <a:latin typeface="Calibri"/>
                <a:cs typeface="Calibri"/>
              </a:rPr>
              <a:t>space</a:t>
            </a:r>
            <a:r>
              <a:rPr sz="4125" spc="7" baseline="1010" dirty="0">
                <a:latin typeface="Calibri"/>
                <a:cs typeface="Calibri"/>
              </a:rPr>
              <a:t> i</a:t>
            </a:r>
            <a:r>
              <a:rPr sz="4125" baseline="1010" dirty="0">
                <a:latin typeface="Calibri"/>
                <a:cs typeface="Calibri"/>
              </a:rPr>
              <a:t>s</a:t>
            </a:r>
            <a:r>
              <a:rPr sz="4125" spc="7" baseline="1010" dirty="0">
                <a:latin typeface="Calibri"/>
                <a:cs typeface="Calibri"/>
              </a:rPr>
              <a:t> </a:t>
            </a:r>
            <a:r>
              <a:rPr sz="4125" baseline="1010" dirty="0">
                <a:latin typeface="Calibri"/>
                <a:cs typeface="Calibri"/>
              </a:rPr>
              <a:t>a</a:t>
            </a:r>
            <a:r>
              <a:rPr sz="4125" spc="7" baseline="1010" dirty="0">
                <a:latin typeface="Calibri"/>
                <a:cs typeface="Calibri"/>
              </a:rPr>
              <a:t> </a:t>
            </a:r>
            <a:r>
              <a:rPr sz="4125" spc="-44" baseline="1010" dirty="0">
                <a:latin typeface="Calibri"/>
                <a:cs typeface="Calibri"/>
              </a:rPr>
              <a:t>v</a:t>
            </a:r>
            <a:r>
              <a:rPr sz="4125" baseline="1010" dirty="0">
                <a:latin typeface="Calibri"/>
                <a:cs typeface="Calibri"/>
              </a:rPr>
              <a:t>ec</a:t>
            </a:r>
            <a:r>
              <a:rPr sz="4125" spc="-44" baseline="1010" dirty="0">
                <a:latin typeface="Calibri"/>
                <a:cs typeface="Calibri"/>
              </a:rPr>
              <a:t>t</a:t>
            </a:r>
            <a:r>
              <a:rPr sz="4125" spc="-7" baseline="1010" dirty="0">
                <a:latin typeface="Calibri"/>
                <a:cs typeface="Calibri"/>
              </a:rPr>
              <a:t>o</a:t>
            </a:r>
            <a:r>
              <a:rPr sz="4125" baseline="1010" dirty="0">
                <a:latin typeface="Calibri"/>
                <a:cs typeface="Calibri"/>
              </a:rPr>
              <a:t>r</a:t>
            </a:r>
            <a:r>
              <a:rPr sz="4125" spc="7" baseline="1010" dirty="0">
                <a:latin typeface="Calibri"/>
                <a:cs typeface="Calibri"/>
              </a:rPr>
              <a:t> </a:t>
            </a:r>
            <a:r>
              <a:rPr sz="4125" spc="-7" baseline="1010" dirty="0">
                <a:latin typeface="Calibri"/>
                <a:cs typeface="Calibri"/>
              </a:rPr>
              <a:t>o</a:t>
            </a:r>
            <a:r>
              <a:rPr sz="4125" baseline="1010" dirty="0">
                <a:latin typeface="Calibri"/>
                <a:cs typeface="Calibri"/>
              </a:rPr>
              <a:t>f</a:t>
            </a:r>
            <a:r>
              <a:rPr sz="4125" spc="7" baseline="1010" dirty="0">
                <a:latin typeface="Calibri"/>
                <a:cs typeface="Calibri"/>
              </a:rPr>
              <a:t> </a:t>
            </a:r>
            <a:r>
              <a:rPr sz="4125" spc="-104" baseline="1010" dirty="0">
                <a:latin typeface="Calibri"/>
                <a:cs typeface="Calibri"/>
              </a:rPr>
              <a:t>f</a:t>
            </a:r>
            <a:r>
              <a:rPr sz="4125" baseline="1010" dirty="0">
                <a:latin typeface="Calibri"/>
                <a:cs typeface="Calibri"/>
              </a:rPr>
              <a:t>e</a:t>
            </a:r>
            <a:r>
              <a:rPr sz="4125" spc="-44" baseline="1010" dirty="0">
                <a:latin typeface="Calibri"/>
                <a:cs typeface="Calibri"/>
              </a:rPr>
              <a:t>a</a:t>
            </a:r>
            <a:r>
              <a:rPr sz="4125" baseline="1010" dirty="0">
                <a:latin typeface="Calibri"/>
                <a:cs typeface="Calibri"/>
              </a:rPr>
              <a:t>tu</a:t>
            </a:r>
            <a:r>
              <a:rPr sz="4125" spc="-60" baseline="1010" dirty="0">
                <a:latin typeface="Calibri"/>
                <a:cs typeface="Calibri"/>
              </a:rPr>
              <a:t>r</a:t>
            </a:r>
            <a:r>
              <a:rPr sz="4125" baseline="1010" dirty="0">
                <a:latin typeface="Calibri"/>
                <a:cs typeface="Calibri"/>
              </a:rPr>
              <a:t>es</a:t>
            </a:r>
            <a:endParaRPr lang="en-US" sz="4125" baseline="1010" dirty="0">
              <a:latin typeface="Calibri"/>
              <a:cs typeface="Calibri"/>
            </a:endParaRPr>
          </a:p>
          <a:p>
            <a:pPr marL="238760" indent="-226060">
              <a:lnSpc>
                <a:spcPct val="100000"/>
              </a:lnSpc>
              <a:buFont typeface="Arial"/>
              <a:buChar char="•"/>
              <a:tabLst>
                <a:tab pos="239395" algn="l"/>
              </a:tabLst>
            </a:pPr>
            <a:endParaRPr sz="1600" baseline="1010" dirty="0">
              <a:latin typeface="Calibri"/>
              <a:cs typeface="Calibri"/>
            </a:endParaRPr>
          </a:p>
          <a:p>
            <a:pPr marL="12700" algn="ctr">
              <a:lnSpc>
                <a:spcPct val="100000"/>
              </a:lnSpc>
              <a:tabLst>
                <a:tab pos="239395" algn="l"/>
              </a:tabLst>
            </a:pPr>
            <a:r>
              <a:rPr lang="en-US" sz="2400" dirty="0"/>
              <a:t>𝑠 = (</a:t>
            </a:r>
            <a:r>
              <a:rPr lang="en-US" sz="2400" b="1" dirty="0"/>
              <a:t>𝐷</a:t>
            </a:r>
            <a:r>
              <a:rPr lang="en-US" sz="2400" baseline="-25000" dirty="0"/>
              <a:t>𝑁</a:t>
            </a:r>
            <a:r>
              <a:rPr lang="en-US" sz="2400" dirty="0"/>
              <a:t>, </a:t>
            </a:r>
            <a:r>
              <a:rPr lang="en-US" sz="2400" b="1" dirty="0"/>
              <a:t>𝐷</a:t>
            </a:r>
            <a:r>
              <a:rPr lang="en-US" sz="2400" baseline="-25000" dirty="0"/>
              <a:t>𝐸</a:t>
            </a:r>
            <a:r>
              <a:rPr lang="en-US" sz="2400" dirty="0"/>
              <a:t>, </a:t>
            </a:r>
            <a:r>
              <a:rPr lang="en-US" sz="2400" b="1" dirty="0"/>
              <a:t>𝐷</a:t>
            </a:r>
            <a:r>
              <a:rPr lang="en-US" sz="2400" baseline="-25000" dirty="0"/>
              <a:t>𝑆</a:t>
            </a:r>
            <a:r>
              <a:rPr lang="en-US" sz="2400" dirty="0"/>
              <a:t>, </a:t>
            </a:r>
            <a:r>
              <a:rPr lang="en-US" sz="2400" b="1" dirty="0"/>
              <a:t>𝐷</a:t>
            </a:r>
            <a:r>
              <a:rPr lang="en-US" sz="2400" baseline="-25000" dirty="0"/>
              <a:t>𝑊</a:t>
            </a:r>
            <a:r>
              <a:rPr lang="en-US" sz="2400" dirty="0"/>
              <a:t> , </a:t>
            </a:r>
            <a:r>
              <a:rPr lang="en-US" sz="2400" b="1" dirty="0"/>
              <a:t>𝐻</a:t>
            </a:r>
            <a:r>
              <a:rPr lang="en-US" sz="2400" baseline="-25000" dirty="0"/>
              <a:t>𝑁</a:t>
            </a:r>
            <a:r>
              <a:rPr lang="en-US" sz="2400" dirty="0"/>
              <a:t>, </a:t>
            </a:r>
            <a:r>
              <a:rPr lang="en-US" sz="2400" b="1" dirty="0"/>
              <a:t>𝐻</a:t>
            </a:r>
            <a:r>
              <a:rPr lang="en-US" sz="2400" baseline="-25000" dirty="0"/>
              <a:t>𝐸</a:t>
            </a:r>
            <a:r>
              <a:rPr lang="en-US" sz="2400" dirty="0"/>
              <a:t>, </a:t>
            </a:r>
            <a:r>
              <a:rPr lang="en-US" sz="2400" b="1" dirty="0"/>
              <a:t>𝐻</a:t>
            </a:r>
            <a:r>
              <a:rPr lang="en-US" sz="2400" baseline="-25000" dirty="0"/>
              <a:t>𝑆</a:t>
            </a:r>
            <a:r>
              <a:rPr lang="en-US" sz="2400" dirty="0"/>
              <a:t>, </a:t>
            </a:r>
            <a:r>
              <a:rPr lang="en-US" sz="2400" b="1" dirty="0"/>
              <a:t>𝐻</a:t>
            </a:r>
            <a:r>
              <a:rPr lang="en-US" sz="2400" baseline="-25000" dirty="0"/>
              <a:t>𝑊</a:t>
            </a:r>
            <a:r>
              <a:rPr lang="en-US" sz="2400" dirty="0"/>
              <a:t>) </a:t>
            </a:r>
          </a:p>
          <a:p>
            <a:pPr marL="12700" algn="ctr">
              <a:lnSpc>
                <a:spcPct val="100000"/>
              </a:lnSpc>
              <a:tabLst>
                <a:tab pos="239395" algn="l"/>
              </a:tabLst>
            </a:pPr>
            <a:r>
              <a:rPr lang="en-US" sz="2400" dirty="0"/>
              <a:t>𝑠 = (3, 2, 3, 4, 0, 1, 0, 0)</a:t>
            </a:r>
            <a:endParaRPr lang="en-US" sz="2400" baseline="1010" dirty="0">
              <a:latin typeface="Calibri"/>
              <a:cs typeface="Calibri"/>
            </a:endParaRPr>
          </a:p>
          <a:p>
            <a:pPr marL="238760" indent="-226060">
              <a:lnSpc>
                <a:spcPct val="100000"/>
              </a:lnSpc>
              <a:spcBef>
                <a:spcPts val="1655"/>
              </a:spcBef>
              <a:buFont typeface="Arial"/>
              <a:buChar char="•"/>
              <a:tabLst>
                <a:tab pos="239395" algn="l"/>
              </a:tabLst>
            </a:pPr>
            <a:r>
              <a:rPr sz="4125" baseline="1010" dirty="0">
                <a:latin typeface="Calibri"/>
                <a:cs typeface="Calibri"/>
              </a:rPr>
              <a:t>Suppose:</a:t>
            </a:r>
          </a:p>
          <a:p>
            <a:pPr marL="695960" lvl="1" indent="-226060">
              <a:lnSpc>
                <a:spcPct val="100000"/>
              </a:lnSpc>
              <a:spcBef>
                <a:spcPts val="600"/>
              </a:spcBef>
              <a:spcAft>
                <a:spcPts val="600"/>
              </a:spcAft>
              <a:buFont typeface="Arial"/>
              <a:buChar char="•"/>
              <a:tabLst>
                <a:tab pos="696595" algn="l"/>
              </a:tabLst>
            </a:pPr>
            <a:r>
              <a:rPr sz="3525" spc="30" baseline="1182" dirty="0">
                <a:latin typeface="Calibri"/>
                <a:cs typeface="Calibri"/>
              </a:rPr>
              <a:t>M</a:t>
            </a:r>
            <a:r>
              <a:rPr sz="3525" spc="-22" baseline="1182" dirty="0">
                <a:latin typeface="Calibri"/>
                <a:cs typeface="Calibri"/>
              </a:rPr>
              <a:t>a</a:t>
            </a:r>
            <a:r>
              <a:rPr sz="3525" spc="15" baseline="1182" dirty="0">
                <a:latin typeface="Calibri"/>
                <a:cs typeface="Calibri"/>
              </a:rPr>
              <a:t>x</a:t>
            </a:r>
            <a:r>
              <a:rPr sz="3525" spc="7" baseline="1182" dirty="0">
                <a:latin typeface="Calibri"/>
                <a:cs typeface="Calibri"/>
              </a:rPr>
              <a:t> di</a:t>
            </a:r>
            <a:r>
              <a:rPr sz="3525" spc="-37" baseline="1182" dirty="0">
                <a:latin typeface="Calibri"/>
                <a:cs typeface="Calibri"/>
              </a:rPr>
              <a:t>st</a:t>
            </a:r>
            <a:r>
              <a:rPr sz="3525" spc="15" baseline="1182" dirty="0">
                <a:latin typeface="Calibri"/>
                <a:cs typeface="Calibri"/>
              </a:rPr>
              <a:t>ance</a:t>
            </a:r>
            <a:r>
              <a:rPr sz="3525" spc="7" baseline="1182" dirty="0">
                <a:latin typeface="Calibri"/>
                <a:cs typeface="Calibri"/>
              </a:rPr>
              <a:t> </a:t>
            </a:r>
            <a:r>
              <a:rPr sz="3525" spc="15" baseline="1182" dirty="0">
                <a:latin typeface="Calibri"/>
                <a:cs typeface="Calibri"/>
              </a:rPr>
              <a:t>5</a:t>
            </a:r>
            <a:r>
              <a:rPr lang="en-US" sz="3525" baseline="1182" dirty="0">
                <a:latin typeface="Calibri"/>
                <a:cs typeface="Calibri"/>
              </a:rPr>
              <a:t> with</a:t>
            </a:r>
            <a:r>
              <a:rPr sz="3525" spc="7" baseline="1182" dirty="0">
                <a:latin typeface="Calibri"/>
                <a:cs typeface="Calibri"/>
              </a:rPr>
              <a:t> Boo</a:t>
            </a:r>
            <a:r>
              <a:rPr sz="3525" spc="15" baseline="1182" dirty="0">
                <a:latin typeface="Calibri"/>
                <a:cs typeface="Calibri"/>
              </a:rPr>
              <a:t>lean</a:t>
            </a:r>
            <a:r>
              <a:rPr sz="3525" spc="7" baseline="1182" dirty="0">
                <a:latin typeface="Calibri"/>
                <a:cs typeface="Calibri"/>
              </a:rPr>
              <a:t> </a:t>
            </a:r>
            <a:r>
              <a:rPr sz="3525" spc="15" baseline="1182" dirty="0">
                <a:latin typeface="Calibri"/>
                <a:cs typeface="Calibri"/>
              </a:rPr>
              <a:t>ha</a:t>
            </a:r>
            <a:r>
              <a:rPr sz="3525" spc="-52" baseline="1182" dirty="0">
                <a:latin typeface="Calibri"/>
                <a:cs typeface="Calibri"/>
              </a:rPr>
              <a:t>z</a:t>
            </a:r>
            <a:r>
              <a:rPr sz="3525" spc="15" baseline="1182" dirty="0">
                <a:latin typeface="Calibri"/>
                <a:cs typeface="Calibri"/>
              </a:rPr>
              <a:t>a</a:t>
            </a:r>
            <a:r>
              <a:rPr sz="3525" spc="-44" baseline="1182" dirty="0">
                <a:latin typeface="Calibri"/>
                <a:cs typeface="Calibri"/>
              </a:rPr>
              <a:t>r</a:t>
            </a:r>
            <a:r>
              <a:rPr sz="3525" spc="15" baseline="1182" dirty="0">
                <a:latin typeface="Calibri"/>
                <a:cs typeface="Calibri"/>
              </a:rPr>
              <a:t>d</a:t>
            </a:r>
            <a:r>
              <a:rPr sz="3525" spc="7" baseline="1182" dirty="0">
                <a:latin typeface="Calibri"/>
                <a:cs typeface="Calibri"/>
              </a:rPr>
              <a:t> </a:t>
            </a:r>
            <a:r>
              <a:rPr sz="3525" spc="15" baseline="1182" dirty="0">
                <a:latin typeface="Calibri"/>
                <a:cs typeface="Calibri"/>
              </a:rPr>
              <a:t>sens</a:t>
            </a:r>
            <a:r>
              <a:rPr sz="3525" spc="7" baseline="1182" dirty="0">
                <a:latin typeface="Calibri"/>
                <a:cs typeface="Calibri"/>
              </a:rPr>
              <a:t>o</a:t>
            </a:r>
            <a:r>
              <a:rPr sz="3525" spc="-300" baseline="1182" dirty="0">
                <a:latin typeface="Calibri"/>
                <a:cs typeface="Calibri"/>
              </a:rPr>
              <a:t>r</a:t>
            </a:r>
            <a:r>
              <a:rPr sz="3525" baseline="1182" dirty="0">
                <a:latin typeface="Calibri"/>
                <a:cs typeface="Calibri"/>
              </a:rPr>
              <a:t>,</a:t>
            </a:r>
            <a:endParaRPr lang="en-US" sz="3525" baseline="1182" dirty="0">
              <a:latin typeface="Calibri"/>
              <a:cs typeface="Calibri"/>
            </a:endParaRPr>
          </a:p>
          <a:p>
            <a:pPr marL="695960" lvl="1" indent="-226060">
              <a:spcBef>
                <a:spcPts val="600"/>
              </a:spcBef>
              <a:spcAft>
                <a:spcPts val="600"/>
              </a:spcAft>
              <a:buFont typeface="Arial"/>
              <a:buChar char="•"/>
              <a:tabLst>
                <a:tab pos="696595" algn="l"/>
              </a:tabLst>
            </a:pPr>
            <a:r>
              <a:rPr lang="en-US" sz="3525" spc="30" baseline="1182" dirty="0">
                <a:latin typeface="Calibri"/>
                <a:cs typeface="Calibri"/>
              </a:rPr>
              <a:t>Then, |𝑠|= 5</a:t>
            </a:r>
            <a:r>
              <a:rPr lang="en-US" sz="3525" spc="30" baseline="30000" dirty="0">
                <a:latin typeface="Calibri"/>
                <a:cs typeface="Calibri"/>
              </a:rPr>
              <a:t>4</a:t>
            </a:r>
            <a:r>
              <a:rPr lang="en-US" sz="3525" spc="30" baseline="1182" dirty="0">
                <a:latin typeface="Calibri"/>
                <a:cs typeface="Calibri"/>
              </a:rPr>
              <a:t> + 2</a:t>
            </a:r>
            <a:r>
              <a:rPr lang="en-US" sz="3525" spc="30" baseline="30000" dirty="0">
                <a:latin typeface="Calibri"/>
                <a:cs typeface="Calibri"/>
              </a:rPr>
              <a:t>4</a:t>
            </a:r>
            <a:r>
              <a:rPr lang="en-US" sz="3525" spc="30" baseline="1182" dirty="0">
                <a:latin typeface="Calibri"/>
                <a:cs typeface="Calibri"/>
              </a:rPr>
              <a:t> = 10,000 states, |</a:t>
            </a:r>
            <a:r>
              <a:rPr lang="en-US" sz="3525" i="1" spc="30" baseline="1182" dirty="0">
                <a:latin typeface="Times New Roman" panose="02020603050405020304" pitchFamily="18" charset="0"/>
                <a:cs typeface="Times New Roman" panose="02020603050405020304" pitchFamily="18" charset="0"/>
              </a:rPr>
              <a:t>A</a:t>
            </a:r>
            <a:r>
              <a:rPr lang="en-US" sz="3525" spc="30" baseline="1182" dirty="0">
                <a:latin typeface="Calibri"/>
                <a:cs typeface="Calibri"/>
              </a:rPr>
              <a:t>| = 4 actions,</a:t>
            </a:r>
          </a:p>
          <a:p>
            <a:pPr marL="695960" lvl="1" indent="-226060">
              <a:spcBef>
                <a:spcPts val="600"/>
              </a:spcBef>
              <a:spcAft>
                <a:spcPts val="600"/>
              </a:spcAft>
              <a:buFont typeface="Arial"/>
              <a:buChar char="•"/>
              <a:tabLst>
                <a:tab pos="696595" algn="l"/>
              </a:tabLst>
            </a:pPr>
            <a:r>
              <a:rPr lang="en-US" sz="3525" spc="15" baseline="1182" dirty="0">
                <a:latin typeface="Calibri"/>
                <a:cs typeface="Calibri"/>
              </a:rPr>
              <a:t>40</a:t>
            </a:r>
            <a:r>
              <a:rPr lang="en-US" sz="3525" baseline="1182" dirty="0">
                <a:latin typeface="Calibri"/>
                <a:cs typeface="Calibri"/>
              </a:rPr>
              <a:t>,</a:t>
            </a:r>
            <a:r>
              <a:rPr lang="en-US" sz="3525" spc="15" baseline="1182" dirty="0">
                <a:latin typeface="Calibri"/>
                <a:cs typeface="Calibri"/>
              </a:rPr>
              <a:t>000</a:t>
            </a:r>
            <a:r>
              <a:rPr lang="en-US" sz="3525" spc="7" baseline="1182" dirty="0">
                <a:latin typeface="Calibri"/>
                <a:cs typeface="Calibri"/>
              </a:rPr>
              <a:t> </a:t>
            </a:r>
            <a:r>
              <a:rPr lang="en-US" sz="3525" spc="15" baseline="1182" dirty="0">
                <a:latin typeface="Calibri"/>
                <a:cs typeface="Calibri"/>
              </a:rPr>
              <a:t>Q-</a:t>
            </a:r>
            <a:r>
              <a:rPr lang="en-US" sz="3525" spc="-37" baseline="1182" dirty="0">
                <a:latin typeface="Calibri"/>
                <a:cs typeface="Calibri"/>
              </a:rPr>
              <a:t>t</a:t>
            </a:r>
            <a:r>
              <a:rPr lang="en-US" sz="3525" spc="15" baseline="1182" dirty="0">
                <a:latin typeface="Calibri"/>
                <a:cs typeface="Calibri"/>
              </a:rPr>
              <a:t>able</a:t>
            </a:r>
            <a:r>
              <a:rPr lang="en-US" sz="3525" spc="7" baseline="1182" dirty="0">
                <a:latin typeface="Calibri"/>
                <a:cs typeface="Calibri"/>
              </a:rPr>
              <a:t> </a:t>
            </a:r>
            <a:r>
              <a:rPr lang="en-US" sz="3525" spc="15" baseline="1182" dirty="0">
                <a:latin typeface="Calibri"/>
                <a:cs typeface="Calibri"/>
              </a:rPr>
              <a:t>e</a:t>
            </a:r>
            <a:r>
              <a:rPr lang="en-US" sz="3525" spc="-22" baseline="1182" dirty="0">
                <a:latin typeface="Calibri"/>
                <a:cs typeface="Calibri"/>
              </a:rPr>
              <a:t>n</a:t>
            </a:r>
            <a:r>
              <a:rPr lang="en-US" sz="3525" spc="7" baseline="1182" dirty="0">
                <a:latin typeface="Calibri"/>
                <a:cs typeface="Calibri"/>
              </a:rPr>
              <a:t>tries</a:t>
            </a:r>
            <a:r>
              <a:rPr lang="en-US" sz="3525" baseline="1182" dirty="0">
                <a:latin typeface="Calibri"/>
                <a:cs typeface="Calibri"/>
              </a:rPr>
              <a:t>,</a:t>
            </a:r>
            <a:r>
              <a:rPr lang="en-US" sz="3525" spc="7" baseline="1182" dirty="0">
                <a:latin typeface="Calibri"/>
                <a:cs typeface="Calibri"/>
              </a:rPr>
              <a:t> </a:t>
            </a:r>
            <a:r>
              <a:rPr lang="en-US" sz="3525" spc="15" baseline="1182" dirty="0">
                <a:latin typeface="Calibri"/>
                <a:cs typeface="Calibri"/>
              </a:rPr>
              <a:t>ab</a:t>
            </a:r>
            <a:r>
              <a:rPr lang="en-US" sz="3525" spc="7" baseline="1182" dirty="0">
                <a:latin typeface="Calibri"/>
                <a:cs typeface="Calibri"/>
              </a:rPr>
              <a:t>o</a:t>
            </a:r>
            <a:r>
              <a:rPr lang="en-US" sz="3525" spc="15" baseline="1182" dirty="0">
                <a:latin typeface="Calibri"/>
                <a:cs typeface="Calibri"/>
              </a:rPr>
              <a:t>ut</a:t>
            </a:r>
            <a:r>
              <a:rPr lang="en-US" sz="3525" spc="7" baseline="1182" dirty="0">
                <a:latin typeface="Calibri"/>
                <a:cs typeface="Calibri"/>
              </a:rPr>
              <a:t> </a:t>
            </a:r>
            <a:r>
              <a:rPr lang="en-US" sz="3525" spc="15" baseline="1182" dirty="0">
                <a:latin typeface="Calibri"/>
                <a:cs typeface="Calibri"/>
              </a:rPr>
              <a:t>157</a:t>
            </a:r>
            <a:r>
              <a:rPr lang="en-US" sz="3525" spc="7" baseline="1182" dirty="0">
                <a:latin typeface="Calibri"/>
                <a:cs typeface="Calibri"/>
              </a:rPr>
              <a:t> </a:t>
            </a:r>
            <a:r>
              <a:rPr lang="en-US" sz="3525" spc="15" baseline="1182" dirty="0">
                <a:latin typeface="Calibri"/>
                <a:cs typeface="Calibri"/>
              </a:rPr>
              <a:t>kB</a:t>
            </a:r>
            <a:r>
              <a:rPr lang="en-US" sz="3525" spc="7" baseline="1182" dirty="0">
                <a:latin typeface="Calibri"/>
                <a:cs typeface="Calibri"/>
              </a:rPr>
              <a:t> of </a:t>
            </a:r>
            <a:r>
              <a:rPr lang="en-US" sz="3525" spc="22" baseline="1182" dirty="0">
                <a:latin typeface="Calibri"/>
                <a:cs typeface="Calibri"/>
              </a:rPr>
              <a:t>mem</a:t>
            </a:r>
            <a:r>
              <a:rPr lang="en-US" sz="3525" spc="7" baseline="1182" dirty="0">
                <a:latin typeface="Calibri"/>
                <a:cs typeface="Calibri"/>
              </a:rPr>
              <a:t>o</a:t>
            </a:r>
            <a:r>
              <a:rPr lang="en-US" sz="3525" spc="15" baseline="1182" dirty="0">
                <a:latin typeface="Calibri"/>
                <a:cs typeface="Calibri"/>
              </a:rPr>
              <a:t>ry</a:t>
            </a:r>
            <a:endParaRPr lang="en-US" sz="3525" baseline="1182" dirty="0">
              <a:latin typeface="Calibri"/>
              <a:cs typeface="Calibri"/>
            </a:endParaRPr>
          </a:p>
        </p:txBody>
      </p:sp>
      <p:sp>
        <p:nvSpPr>
          <p:cNvPr id="15" name="Rectangle 14">
            <a:extLst>
              <a:ext uri="{FF2B5EF4-FFF2-40B4-BE49-F238E27FC236}">
                <a16:creationId xmlns:a16="http://schemas.microsoft.com/office/drawing/2014/main" id="{D706E742-C0E9-8F37-394C-10A65100E08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C87D9-9050-FE38-7501-DE5F2E5FAF8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7" name="Rectangle 16">
            <a:extLst>
              <a:ext uri="{FF2B5EF4-FFF2-40B4-BE49-F238E27FC236}">
                <a16:creationId xmlns:a16="http://schemas.microsoft.com/office/drawing/2014/main" id="{FE70C2AF-874B-D5FA-23BA-FC50863CDE8E}"/>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8" name="Slide Number Placeholder 17">
            <a:extLst>
              <a:ext uri="{FF2B5EF4-FFF2-40B4-BE49-F238E27FC236}">
                <a16:creationId xmlns:a16="http://schemas.microsoft.com/office/drawing/2014/main" id="{55746040-E1D9-1B5C-3603-DC326E1D1C5B}"/>
              </a:ext>
            </a:extLst>
          </p:cNvPr>
          <p:cNvSpPr>
            <a:spLocks noGrp="1"/>
          </p:cNvSpPr>
          <p:nvPr>
            <p:ph type="sldNum" sz="quarter" idx="7"/>
          </p:nvPr>
        </p:nvSpPr>
        <p:spPr/>
        <p:txBody>
          <a:bodyPr/>
          <a:lstStyle/>
          <a:p>
            <a:pPr marL="25400"/>
            <a:fld id="{81D60167-4931-47E6-BA6A-407CBD079E47}" type="slidenum">
              <a:rPr lang="en-US" smtClean="0"/>
              <a:pPr marL="25400"/>
              <a:t>7</a:t>
            </a:fld>
            <a:r>
              <a:rPr lang="en-US"/>
              <a:t>/27</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30" dirty="0"/>
              <a:t>G</a:t>
            </a:r>
            <a:r>
              <a:rPr dirty="0"/>
              <a:t>eneralisa</a:t>
            </a:r>
            <a:r>
              <a:rPr spc="-15" dirty="0"/>
              <a:t>t</a:t>
            </a:r>
            <a:r>
              <a:rPr dirty="0"/>
              <a:t>ion</a:t>
            </a:r>
          </a:p>
        </p:txBody>
      </p:sp>
      <p:sp>
        <p:nvSpPr>
          <p:cNvPr id="4" name="object 4"/>
          <p:cNvSpPr txBox="1"/>
          <p:nvPr/>
        </p:nvSpPr>
        <p:spPr>
          <a:xfrm>
            <a:off x="650240" y="2296538"/>
            <a:ext cx="6910070" cy="1122045"/>
          </a:xfrm>
          <a:prstGeom prst="rect">
            <a:avLst/>
          </a:prstGeom>
        </p:spPr>
        <p:txBody>
          <a:bodyPr vert="horz" wrap="square" lIns="0" tIns="0" rIns="0" bIns="0" rtlCol="0">
            <a:spAutoFit/>
          </a:bodyPr>
          <a:lstStyle/>
          <a:p>
            <a:pPr marL="190500" indent="-177800">
              <a:lnSpc>
                <a:spcPct val="100000"/>
              </a:lnSpc>
              <a:buFont typeface="Arial"/>
              <a:buChar char="•"/>
              <a:tabLst>
                <a:tab pos="191135" algn="l"/>
              </a:tabLst>
            </a:pPr>
            <a:r>
              <a:rPr sz="3225" spc="7" baseline="1291" dirty="0">
                <a:latin typeface="Calibri"/>
                <a:cs typeface="Calibri"/>
              </a:rPr>
              <a:t>Af</a:t>
            </a:r>
            <a:r>
              <a:rPr sz="3225" spc="-30" baseline="1291" dirty="0">
                <a:latin typeface="Calibri"/>
                <a:cs typeface="Calibri"/>
              </a:rPr>
              <a:t>t</a:t>
            </a:r>
            <a:r>
              <a:rPr sz="3225" spc="7" baseline="1291" dirty="0">
                <a:latin typeface="Calibri"/>
                <a:cs typeface="Calibri"/>
              </a:rPr>
              <a:t>er </a:t>
            </a:r>
            <a:r>
              <a:rPr sz="3225" spc="15" baseline="1291" dirty="0">
                <a:latin typeface="Calibri"/>
                <a:cs typeface="Calibri"/>
              </a:rPr>
              <a:t>some</a:t>
            </a:r>
            <a:r>
              <a:rPr sz="3225" spc="7" baseline="1291" dirty="0">
                <a:latin typeface="Calibri"/>
                <a:cs typeface="Calibri"/>
              </a:rPr>
              <a:t> </a:t>
            </a:r>
            <a:r>
              <a:rPr sz="3225" spc="-37" baseline="1291" dirty="0">
                <a:latin typeface="Calibri"/>
                <a:cs typeface="Calibri"/>
              </a:rPr>
              <a:t>e</a:t>
            </a:r>
            <a:r>
              <a:rPr sz="3225" spc="7" baseline="1291" dirty="0">
                <a:latin typeface="Calibri"/>
                <a:cs typeface="Calibri"/>
              </a:rPr>
              <a:t>xplo</a:t>
            </a:r>
            <a:r>
              <a:rPr sz="3225" spc="-60" baseline="1291" dirty="0">
                <a:latin typeface="Calibri"/>
                <a:cs typeface="Calibri"/>
              </a:rPr>
              <a:t>r</a:t>
            </a:r>
            <a:r>
              <a:rPr sz="3225" spc="-22" baseline="1291" dirty="0">
                <a:latin typeface="Calibri"/>
                <a:cs typeface="Calibri"/>
              </a:rPr>
              <a:t>a</a:t>
            </a:r>
            <a:r>
              <a:rPr sz="3225" spc="7" baseline="1291" dirty="0">
                <a:latin typeface="Calibri"/>
                <a:cs typeface="Calibri"/>
              </a:rPr>
              <a:t>tion, </a:t>
            </a:r>
            <a:r>
              <a:rPr sz="3225" spc="15" baseline="1291" dirty="0">
                <a:latin typeface="Calibri"/>
                <a:cs typeface="Calibri"/>
              </a:rPr>
              <a:t>our</a:t>
            </a:r>
            <a:r>
              <a:rPr sz="3225" spc="7" baseline="1291" dirty="0">
                <a:latin typeface="Calibri"/>
                <a:cs typeface="Calibri"/>
              </a:rPr>
              <a:t> </a:t>
            </a:r>
            <a:r>
              <a:rPr sz="3225" spc="-52" baseline="1291" dirty="0">
                <a:latin typeface="Calibri"/>
                <a:cs typeface="Calibri"/>
              </a:rPr>
              <a:t>r</a:t>
            </a:r>
            <a:r>
              <a:rPr sz="3225" baseline="1291" dirty="0">
                <a:latin typeface="Calibri"/>
                <a:cs typeface="Calibri"/>
              </a:rPr>
              <a:t>o</a:t>
            </a:r>
            <a:r>
              <a:rPr sz="3225" spc="-30" baseline="1291" dirty="0">
                <a:latin typeface="Calibri"/>
                <a:cs typeface="Calibri"/>
              </a:rPr>
              <a:t>v</a:t>
            </a:r>
            <a:r>
              <a:rPr sz="3225" spc="7" baseline="1291" dirty="0">
                <a:latin typeface="Calibri"/>
                <a:cs typeface="Calibri"/>
              </a:rPr>
              <a:t>er learned </a:t>
            </a:r>
            <a:r>
              <a:rPr sz="3225" spc="-30" baseline="1291" dirty="0">
                <a:latin typeface="Calibri"/>
                <a:cs typeface="Calibri"/>
              </a:rPr>
              <a:t>t</a:t>
            </a:r>
            <a:r>
              <a:rPr sz="3225" spc="15" baseline="1291" dirty="0">
                <a:latin typeface="Calibri"/>
                <a:cs typeface="Calibri"/>
              </a:rPr>
              <a:t>o</a:t>
            </a:r>
            <a:r>
              <a:rPr sz="3225" spc="7" baseline="1291" dirty="0">
                <a:latin typeface="Calibri"/>
                <a:cs typeface="Calibri"/>
              </a:rPr>
              <a:t> </a:t>
            </a:r>
            <a:r>
              <a:rPr sz="3225" spc="15" baseline="1291" dirty="0">
                <a:latin typeface="Calibri"/>
                <a:cs typeface="Calibri"/>
              </a:rPr>
              <a:t>n</a:t>
            </a:r>
            <a:r>
              <a:rPr sz="3225" spc="-44" baseline="1291" dirty="0">
                <a:latin typeface="Calibri"/>
                <a:cs typeface="Calibri"/>
              </a:rPr>
              <a:t>a</a:t>
            </a:r>
            <a:r>
              <a:rPr sz="3225" spc="7" baseline="1291" dirty="0">
                <a:latin typeface="Calibri"/>
                <a:cs typeface="Calibri"/>
              </a:rPr>
              <a:t>vi</a:t>
            </a:r>
            <a:r>
              <a:rPr sz="3225" spc="-52" baseline="1291" dirty="0">
                <a:latin typeface="Calibri"/>
                <a:cs typeface="Calibri"/>
              </a:rPr>
              <a:t>g</a:t>
            </a:r>
            <a:r>
              <a:rPr sz="3225" spc="-22" baseline="1291" dirty="0">
                <a:latin typeface="Calibri"/>
                <a:cs typeface="Calibri"/>
              </a:rPr>
              <a:t>a</a:t>
            </a:r>
            <a:r>
              <a:rPr sz="3225" spc="-30" baseline="1291" dirty="0">
                <a:latin typeface="Calibri"/>
                <a:cs typeface="Calibri"/>
              </a:rPr>
              <a:t>t</a:t>
            </a:r>
            <a:r>
              <a:rPr sz="3225" spc="15" baseline="1291" dirty="0">
                <a:latin typeface="Calibri"/>
                <a:cs typeface="Calibri"/>
              </a:rPr>
              <a:t>e</a:t>
            </a:r>
            <a:r>
              <a:rPr sz="3225" spc="7" baseline="1291" dirty="0">
                <a:latin typeface="Calibri"/>
                <a:cs typeface="Calibri"/>
              </a:rPr>
              <a:t> s</a:t>
            </a:r>
            <a:r>
              <a:rPr sz="3225" spc="-7" baseline="1291" dirty="0">
                <a:latin typeface="Calibri"/>
                <a:cs typeface="Calibri"/>
              </a:rPr>
              <a:t>a</a:t>
            </a:r>
            <a:r>
              <a:rPr sz="3225" spc="-75" baseline="1291" dirty="0">
                <a:latin typeface="Calibri"/>
                <a:cs typeface="Calibri"/>
              </a:rPr>
              <a:t>f</a:t>
            </a:r>
            <a:r>
              <a:rPr sz="3225" spc="7" baseline="1291" dirty="0">
                <a:latin typeface="Calibri"/>
                <a:cs typeface="Calibri"/>
              </a:rPr>
              <a:t>ely</a:t>
            </a:r>
            <a:endParaRPr sz="3225" baseline="1291" dirty="0">
              <a:latin typeface="Calibri"/>
              <a:cs typeface="Calibri"/>
            </a:endParaRPr>
          </a:p>
          <a:p>
            <a:pPr>
              <a:lnSpc>
                <a:spcPct val="100000"/>
              </a:lnSpc>
              <a:buFont typeface="Arial"/>
              <a:buChar char="•"/>
            </a:pPr>
            <a:endParaRPr sz="2200" dirty="0">
              <a:latin typeface="Times New Roman"/>
              <a:cs typeface="Times New Roman"/>
            </a:endParaRPr>
          </a:p>
          <a:p>
            <a:pPr marL="190500" indent="-177800">
              <a:lnSpc>
                <a:spcPct val="100000"/>
              </a:lnSpc>
              <a:spcBef>
                <a:spcPts val="1310"/>
              </a:spcBef>
              <a:buFont typeface="Arial"/>
              <a:buChar char="•"/>
              <a:tabLst>
                <a:tab pos="191135" algn="l"/>
              </a:tabLst>
            </a:pPr>
            <a:r>
              <a:rPr sz="3225" spc="15" baseline="1291" dirty="0">
                <a:latin typeface="Calibri"/>
                <a:cs typeface="Calibri"/>
              </a:rPr>
              <a:t>N</a:t>
            </a:r>
            <a:r>
              <a:rPr sz="3225" baseline="1291" dirty="0">
                <a:latin typeface="Calibri"/>
                <a:cs typeface="Calibri"/>
              </a:rPr>
              <a:t>o</a:t>
            </a:r>
            <a:r>
              <a:rPr sz="3225" spc="22" baseline="1291" dirty="0">
                <a:latin typeface="Calibri"/>
                <a:cs typeface="Calibri"/>
              </a:rPr>
              <a:t>w</a:t>
            </a:r>
            <a:r>
              <a:rPr sz="3225" spc="7" baseline="1291" dirty="0">
                <a:latin typeface="Calibri"/>
                <a:cs typeface="Calibri"/>
              </a:rPr>
              <a:t> </a:t>
            </a:r>
            <a:r>
              <a:rPr sz="3225" spc="-7" baseline="1291" dirty="0">
                <a:latin typeface="Calibri"/>
                <a:cs typeface="Calibri"/>
              </a:rPr>
              <a:t>w</a:t>
            </a:r>
            <a:r>
              <a:rPr sz="3225" spc="15" baseline="1291" dirty="0">
                <a:latin typeface="Calibri"/>
                <a:cs typeface="Calibri"/>
              </a:rPr>
              <a:t>e</a:t>
            </a:r>
            <a:r>
              <a:rPr sz="3225" spc="7" baseline="1291" dirty="0">
                <a:latin typeface="Calibri"/>
                <a:cs typeface="Calibri"/>
              </a:rPr>
              <a:t> </a:t>
            </a:r>
            <a:r>
              <a:rPr sz="3225" spc="15" baseline="1291" dirty="0">
                <a:latin typeface="Calibri"/>
                <a:cs typeface="Calibri"/>
              </a:rPr>
              <a:t>chan</a:t>
            </a:r>
            <a:r>
              <a:rPr sz="3225" spc="-15" baseline="1291" dirty="0">
                <a:latin typeface="Calibri"/>
                <a:cs typeface="Calibri"/>
              </a:rPr>
              <a:t>g</a:t>
            </a:r>
            <a:r>
              <a:rPr sz="3225" spc="15" baseline="1291" dirty="0">
                <a:latin typeface="Calibri"/>
                <a:cs typeface="Calibri"/>
              </a:rPr>
              <a:t>e</a:t>
            </a:r>
            <a:r>
              <a:rPr sz="3225" spc="7" baseline="1291" dirty="0">
                <a:latin typeface="Calibri"/>
                <a:cs typeface="Calibri"/>
              </a:rPr>
              <a:t> the </a:t>
            </a:r>
            <a:r>
              <a:rPr sz="3225" spc="15" baseline="1291" dirty="0">
                <a:latin typeface="Calibri"/>
                <a:cs typeface="Calibri"/>
              </a:rPr>
              <a:t>map:</a:t>
            </a:r>
            <a:endParaRPr sz="3225" baseline="1291" dirty="0">
              <a:latin typeface="Calibri"/>
              <a:cs typeface="Calibri"/>
            </a:endParaRPr>
          </a:p>
        </p:txBody>
      </p:sp>
      <p:sp>
        <p:nvSpPr>
          <p:cNvPr id="5" name="object 5"/>
          <p:cNvSpPr txBox="1"/>
          <p:nvPr/>
        </p:nvSpPr>
        <p:spPr>
          <a:xfrm>
            <a:off x="650240" y="5150227"/>
            <a:ext cx="2316480" cy="306705"/>
          </a:xfrm>
          <a:prstGeom prst="rect">
            <a:avLst/>
          </a:prstGeom>
        </p:spPr>
        <p:txBody>
          <a:bodyPr vert="horz" wrap="square" lIns="0" tIns="0" rIns="0" bIns="0" rtlCol="0">
            <a:spAutoFit/>
          </a:bodyPr>
          <a:lstStyle/>
          <a:p>
            <a:pPr marL="190500" indent="-177800">
              <a:lnSpc>
                <a:spcPct val="100000"/>
              </a:lnSpc>
              <a:buFont typeface="Arial"/>
              <a:buChar char="•"/>
              <a:tabLst>
                <a:tab pos="191135" algn="l"/>
              </a:tabLst>
            </a:pPr>
            <a:r>
              <a:rPr sz="3225" spc="15" baseline="1291" dirty="0">
                <a:latin typeface="Calibri"/>
                <a:cs typeface="Calibri"/>
              </a:rPr>
              <a:t>Wh</a:t>
            </a:r>
            <a:r>
              <a:rPr sz="3225" spc="-22" baseline="1291" dirty="0">
                <a:latin typeface="Calibri"/>
                <a:cs typeface="Calibri"/>
              </a:rPr>
              <a:t>a</a:t>
            </a:r>
            <a:r>
              <a:rPr sz="3225" spc="7" baseline="1291" dirty="0">
                <a:latin typeface="Calibri"/>
                <a:cs typeface="Calibri"/>
              </a:rPr>
              <a:t>t will </a:t>
            </a:r>
            <a:r>
              <a:rPr sz="3225" spc="15" baseline="1291" dirty="0">
                <a:latin typeface="Calibri"/>
                <a:cs typeface="Calibri"/>
              </a:rPr>
              <a:t>happen?</a:t>
            </a:r>
            <a:endParaRPr sz="3225" baseline="1291">
              <a:latin typeface="Calibri"/>
              <a:cs typeface="Calibri"/>
            </a:endParaRPr>
          </a:p>
        </p:txBody>
      </p:sp>
      <p:sp>
        <p:nvSpPr>
          <p:cNvPr id="8" name="object 8"/>
          <p:cNvSpPr/>
          <p:nvPr/>
        </p:nvSpPr>
        <p:spPr>
          <a:xfrm>
            <a:off x="3845858" y="4070466"/>
            <a:ext cx="1025525" cy="0"/>
          </a:xfrm>
          <a:custGeom>
            <a:avLst/>
            <a:gdLst/>
            <a:ahLst/>
            <a:cxnLst/>
            <a:rect l="l" t="t" r="r" b="b"/>
            <a:pathLst>
              <a:path w="1025525">
                <a:moveTo>
                  <a:pt x="0" y="0"/>
                </a:moveTo>
                <a:lnTo>
                  <a:pt x="1006297" y="0"/>
                </a:lnTo>
                <a:lnTo>
                  <a:pt x="1025347" y="0"/>
                </a:lnTo>
              </a:path>
            </a:pathLst>
          </a:custGeom>
          <a:ln w="38100">
            <a:solidFill>
              <a:srgbClr val="4472C4"/>
            </a:solidFill>
          </a:ln>
        </p:spPr>
        <p:txBody>
          <a:bodyPr wrap="square" lIns="0" tIns="0" rIns="0" bIns="0" rtlCol="0"/>
          <a:lstStyle/>
          <a:p>
            <a:endParaRPr/>
          </a:p>
        </p:txBody>
      </p:sp>
      <p:sp>
        <p:nvSpPr>
          <p:cNvPr id="9" name="object 9"/>
          <p:cNvSpPr/>
          <p:nvPr/>
        </p:nvSpPr>
        <p:spPr>
          <a:xfrm>
            <a:off x="4875440" y="4010395"/>
            <a:ext cx="120650" cy="120650"/>
          </a:xfrm>
          <a:custGeom>
            <a:avLst/>
            <a:gdLst/>
            <a:ahLst/>
            <a:cxnLst/>
            <a:rect l="l" t="t" r="r" b="b"/>
            <a:pathLst>
              <a:path w="120650" h="120650">
                <a:moveTo>
                  <a:pt x="0" y="0"/>
                </a:moveTo>
                <a:lnTo>
                  <a:pt x="0" y="120142"/>
                </a:lnTo>
                <a:lnTo>
                  <a:pt x="120141" y="60070"/>
                </a:lnTo>
                <a:lnTo>
                  <a:pt x="0" y="0"/>
                </a:lnTo>
                <a:close/>
              </a:path>
            </a:pathLst>
          </a:custGeom>
          <a:solidFill>
            <a:srgbClr val="4472C4"/>
          </a:solidFill>
        </p:spPr>
        <p:txBody>
          <a:bodyPr wrap="square" lIns="0" tIns="0" rIns="0" bIns="0" rtlCol="0"/>
          <a:lstStyle/>
          <a:p>
            <a:endParaRPr/>
          </a:p>
        </p:txBody>
      </p:sp>
      <p:graphicFrame>
        <p:nvGraphicFramePr>
          <p:cNvPr id="6" name="object 6"/>
          <p:cNvGraphicFramePr>
            <a:graphicFrameLocks noGrp="1"/>
          </p:cNvGraphicFramePr>
          <p:nvPr/>
        </p:nvGraphicFramePr>
        <p:xfrm>
          <a:off x="1966912" y="3529012"/>
          <a:ext cx="1738663" cy="1176018"/>
        </p:xfrm>
        <a:graphic>
          <a:graphicData uri="http://schemas.openxmlformats.org/drawingml/2006/table">
            <a:tbl>
              <a:tblPr firstRow="1" bandRow="1">
                <a:tableStyleId>{2D5ABB26-0587-4C30-8999-92F81FD0307C}</a:tableStyleId>
              </a:tblPr>
              <a:tblGrid>
                <a:gridCol w="434666">
                  <a:extLst>
                    <a:ext uri="{9D8B030D-6E8A-4147-A177-3AD203B41FA5}">
                      <a16:colId xmlns:a16="http://schemas.microsoft.com/office/drawing/2014/main" val="20000"/>
                    </a:ext>
                  </a:extLst>
                </a:gridCol>
                <a:gridCol w="434666">
                  <a:extLst>
                    <a:ext uri="{9D8B030D-6E8A-4147-A177-3AD203B41FA5}">
                      <a16:colId xmlns:a16="http://schemas.microsoft.com/office/drawing/2014/main" val="20001"/>
                    </a:ext>
                  </a:extLst>
                </a:gridCol>
                <a:gridCol w="434665">
                  <a:extLst>
                    <a:ext uri="{9D8B030D-6E8A-4147-A177-3AD203B41FA5}">
                      <a16:colId xmlns:a16="http://schemas.microsoft.com/office/drawing/2014/main" val="20002"/>
                    </a:ext>
                  </a:extLst>
                </a:gridCol>
                <a:gridCol w="434666">
                  <a:extLst>
                    <a:ext uri="{9D8B030D-6E8A-4147-A177-3AD203B41FA5}">
                      <a16:colId xmlns:a16="http://schemas.microsoft.com/office/drawing/2014/main" val="20003"/>
                    </a:ext>
                  </a:extLst>
                </a:gridCol>
              </a:tblGrid>
              <a:tr h="392006">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extLst>
                  <a:ext uri="{0D108BD9-81ED-4DB2-BD59-A6C34878D82A}">
                    <a16:rowId xmlns:a16="http://schemas.microsoft.com/office/drawing/2014/main" val="10000"/>
                  </a:ext>
                </a:extLst>
              </a:tr>
              <a:tr h="392006">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43510">
                        <a:lnSpc>
                          <a:spcPct val="100000"/>
                        </a:lnSpc>
                      </a:pPr>
                      <a:r>
                        <a:rPr sz="1800" dirty="0">
                          <a:latin typeface="Calibri"/>
                          <a:cs typeface="Calibri"/>
                        </a:rPr>
                        <a:t>G</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2F0D9"/>
                    </a:solidFill>
                  </a:tcPr>
                </a:tc>
                <a:extLst>
                  <a:ext uri="{0D108BD9-81ED-4DB2-BD59-A6C34878D82A}">
                    <a16:rowId xmlns:a16="http://schemas.microsoft.com/office/drawing/2014/main" val="10001"/>
                  </a:ext>
                </a:extLst>
              </a:tr>
              <a:tr h="392006">
                <a:tc>
                  <a:txBody>
                    <a:bodyPr/>
                    <a:lstStyle/>
                    <a:p>
                      <a:pPr algn="ctr">
                        <a:lnSpc>
                          <a:spcPct val="100000"/>
                        </a:lnSpc>
                      </a:pPr>
                      <a:r>
                        <a:rPr sz="1800" dirty="0">
                          <a:latin typeface="Calibri"/>
                          <a:cs typeface="Calibri"/>
                        </a:rPr>
                        <a:t>S</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DAE3F3"/>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extLst>
                  <a:ext uri="{0D108BD9-81ED-4DB2-BD59-A6C34878D82A}">
                    <a16:rowId xmlns:a16="http://schemas.microsoft.com/office/drawing/2014/main" val="10002"/>
                  </a:ext>
                </a:extLst>
              </a:tr>
            </a:tbl>
          </a:graphicData>
        </a:graphic>
      </p:graphicFrame>
      <p:graphicFrame>
        <p:nvGraphicFramePr>
          <p:cNvPr id="7" name="object 7"/>
          <p:cNvGraphicFramePr>
            <a:graphicFrameLocks noGrp="1"/>
          </p:cNvGraphicFramePr>
          <p:nvPr/>
        </p:nvGraphicFramePr>
        <p:xfrm>
          <a:off x="5243512" y="3529012"/>
          <a:ext cx="1738663" cy="1176018"/>
        </p:xfrm>
        <a:graphic>
          <a:graphicData uri="http://schemas.openxmlformats.org/drawingml/2006/table">
            <a:tbl>
              <a:tblPr firstRow="1" bandRow="1">
                <a:tableStyleId>{2D5ABB26-0587-4C30-8999-92F81FD0307C}</a:tableStyleId>
              </a:tblPr>
              <a:tblGrid>
                <a:gridCol w="434666">
                  <a:extLst>
                    <a:ext uri="{9D8B030D-6E8A-4147-A177-3AD203B41FA5}">
                      <a16:colId xmlns:a16="http://schemas.microsoft.com/office/drawing/2014/main" val="20000"/>
                    </a:ext>
                  </a:extLst>
                </a:gridCol>
                <a:gridCol w="434666">
                  <a:extLst>
                    <a:ext uri="{9D8B030D-6E8A-4147-A177-3AD203B41FA5}">
                      <a16:colId xmlns:a16="http://schemas.microsoft.com/office/drawing/2014/main" val="20001"/>
                    </a:ext>
                  </a:extLst>
                </a:gridCol>
                <a:gridCol w="434665">
                  <a:extLst>
                    <a:ext uri="{9D8B030D-6E8A-4147-A177-3AD203B41FA5}">
                      <a16:colId xmlns:a16="http://schemas.microsoft.com/office/drawing/2014/main" val="20002"/>
                    </a:ext>
                  </a:extLst>
                </a:gridCol>
                <a:gridCol w="434666">
                  <a:extLst>
                    <a:ext uri="{9D8B030D-6E8A-4147-A177-3AD203B41FA5}">
                      <a16:colId xmlns:a16="http://schemas.microsoft.com/office/drawing/2014/main" val="20003"/>
                    </a:ext>
                  </a:extLst>
                </a:gridCol>
              </a:tblGrid>
              <a:tr h="392006">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extLst>
                  <a:ext uri="{0D108BD9-81ED-4DB2-BD59-A6C34878D82A}">
                    <a16:rowId xmlns:a16="http://schemas.microsoft.com/office/drawing/2014/main" val="10000"/>
                  </a:ext>
                </a:extLst>
              </a:tr>
              <a:tr h="392006">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143510">
                        <a:lnSpc>
                          <a:spcPct val="100000"/>
                        </a:lnSpc>
                      </a:pPr>
                      <a:r>
                        <a:rPr sz="1800" dirty="0">
                          <a:latin typeface="Calibri"/>
                          <a:cs typeface="Calibri"/>
                        </a:rPr>
                        <a:t>G</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2F0D9"/>
                    </a:solidFill>
                  </a:tcPr>
                </a:tc>
                <a:extLst>
                  <a:ext uri="{0D108BD9-81ED-4DB2-BD59-A6C34878D82A}">
                    <a16:rowId xmlns:a16="http://schemas.microsoft.com/office/drawing/2014/main" val="10001"/>
                  </a:ext>
                </a:extLst>
              </a:tr>
              <a:tr h="392006">
                <a:tc>
                  <a:txBody>
                    <a:bodyPr/>
                    <a:lstStyle/>
                    <a:p>
                      <a:pPr algn="ctr">
                        <a:lnSpc>
                          <a:spcPct val="100000"/>
                        </a:lnSpc>
                      </a:pPr>
                      <a:r>
                        <a:rPr sz="1800" dirty="0">
                          <a:latin typeface="Calibri"/>
                          <a:cs typeface="Calibri"/>
                        </a:rPr>
                        <a:t>S</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DAE3F3"/>
                    </a:solidFill>
                  </a:tcPr>
                </a:tc>
                <a:tc>
                  <a:txBody>
                    <a:bodyPr/>
                    <a:lstStyle/>
                    <a:p>
                      <a:pPr marL="64769">
                        <a:lnSpc>
                          <a:spcPct val="100000"/>
                        </a:lnSpc>
                      </a:pPr>
                      <a:r>
                        <a:rPr sz="1800" dirty="0">
                          <a:latin typeface="Calibri"/>
                          <a:cs typeface="Calibri"/>
                        </a:rPr>
                        <a:t>-10</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tc>
                  <a:txBody>
                    <a:bodyPr/>
                    <a:lstStyle/>
                    <a:p>
                      <a:pPr marL="122555">
                        <a:lnSpc>
                          <a:spcPct val="100000"/>
                        </a:lnSpc>
                      </a:pPr>
                      <a:r>
                        <a:rPr sz="1800" dirty="0">
                          <a:latin typeface="Calibri"/>
                          <a:cs typeface="Calibri"/>
                        </a:rPr>
                        <a:t>-1</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7E7E7"/>
                    </a:solidFill>
                  </a:tcPr>
                </a:tc>
                <a:tc>
                  <a:txBody>
                    <a:bodyPr/>
                    <a:lstStyle/>
                    <a:p>
                      <a:pPr marL="64769">
                        <a:lnSpc>
                          <a:spcPct val="100000"/>
                        </a:lnSpc>
                      </a:pPr>
                      <a:r>
                        <a:rPr sz="1800" dirty="0">
                          <a:latin typeface="Calibri"/>
                          <a:cs typeface="Calibri"/>
                        </a:rPr>
                        <a:t>-10</a:t>
                      </a: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BE5D6"/>
                    </a:solidFill>
                  </a:tcPr>
                </a:tc>
                <a:extLst>
                  <a:ext uri="{0D108BD9-81ED-4DB2-BD59-A6C34878D82A}">
                    <a16:rowId xmlns:a16="http://schemas.microsoft.com/office/drawing/2014/main" val="10002"/>
                  </a:ext>
                </a:extLst>
              </a:tr>
            </a:tbl>
          </a:graphicData>
        </a:graphic>
      </p:graphicFrame>
      <p:sp>
        <p:nvSpPr>
          <p:cNvPr id="12" name="Rectangle 11">
            <a:extLst>
              <a:ext uri="{FF2B5EF4-FFF2-40B4-BE49-F238E27FC236}">
                <a16:creationId xmlns:a16="http://schemas.microsoft.com/office/drawing/2014/main" id="{A19F0EC6-A1B9-D7ED-D5E9-E070B6CA9C8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04D7076-3BAC-6F4B-A116-5F4781DF746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4" name="Rectangle 13">
            <a:extLst>
              <a:ext uri="{FF2B5EF4-FFF2-40B4-BE49-F238E27FC236}">
                <a16:creationId xmlns:a16="http://schemas.microsoft.com/office/drawing/2014/main" id="{71B6A990-1BFC-617E-7EF9-ADB48B5EC1D9}"/>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5" name="Slide Number Placeholder 14">
            <a:extLst>
              <a:ext uri="{FF2B5EF4-FFF2-40B4-BE49-F238E27FC236}">
                <a16:creationId xmlns:a16="http://schemas.microsoft.com/office/drawing/2014/main" id="{5463FFA0-0754-27A4-576C-B73687CC34F3}"/>
              </a:ext>
            </a:extLst>
          </p:cNvPr>
          <p:cNvSpPr>
            <a:spLocks noGrp="1"/>
          </p:cNvSpPr>
          <p:nvPr>
            <p:ph type="sldNum" sz="quarter" idx="7"/>
          </p:nvPr>
        </p:nvSpPr>
        <p:spPr/>
        <p:txBody>
          <a:bodyPr/>
          <a:lstStyle/>
          <a:p>
            <a:pPr marL="25400"/>
            <a:fld id="{81D60167-4931-47E6-BA6A-407CBD079E47}" type="slidenum">
              <a:rPr lang="en-US" smtClean="0"/>
              <a:pPr marL="25400"/>
              <a:t>8</a:t>
            </a:fld>
            <a:r>
              <a:rPr lang="en-US"/>
              <a:t>/27</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65" dirty="0"/>
              <a:t>V</a:t>
            </a:r>
            <a:r>
              <a:rPr dirty="0"/>
              <a:t>alue</a:t>
            </a:r>
            <a:r>
              <a:rPr spc="-5" dirty="0"/>
              <a:t> </a:t>
            </a:r>
            <a:r>
              <a:rPr spc="-25" dirty="0"/>
              <a:t>F</a:t>
            </a:r>
            <a:r>
              <a:rPr dirty="0"/>
              <a:t>un</a:t>
            </a:r>
            <a:r>
              <a:rPr spc="-20" dirty="0"/>
              <a:t>c</a:t>
            </a:r>
            <a:r>
              <a:rPr spc="-15" dirty="0"/>
              <a:t>t</a:t>
            </a:r>
            <a:r>
              <a:rPr dirty="0"/>
              <a:t>ion</a:t>
            </a:r>
            <a:r>
              <a:rPr spc="-180" dirty="0"/>
              <a:t> </a:t>
            </a:r>
            <a:r>
              <a:rPr dirty="0"/>
              <a:t>Approxima</a:t>
            </a:r>
            <a:r>
              <a:rPr spc="-15" dirty="0"/>
              <a:t>t</a:t>
            </a:r>
            <a:r>
              <a:rPr dirty="0"/>
              <a:t>ion</a:t>
            </a:r>
          </a:p>
        </p:txBody>
      </p:sp>
      <p:sp>
        <p:nvSpPr>
          <p:cNvPr id="4" name="object 4"/>
          <p:cNvSpPr txBox="1"/>
          <p:nvPr/>
        </p:nvSpPr>
        <p:spPr>
          <a:xfrm>
            <a:off x="551627" y="1573286"/>
            <a:ext cx="4565965" cy="2118529"/>
          </a:xfrm>
          <a:prstGeom prst="rect">
            <a:avLst/>
          </a:prstGeom>
        </p:spPr>
        <p:txBody>
          <a:bodyPr vert="horz" wrap="square" lIns="0" tIns="0" rIns="0" bIns="0" rtlCol="0">
            <a:spAutoFit/>
          </a:bodyPr>
          <a:lstStyle/>
          <a:p>
            <a:pPr marL="241300" indent="-228600">
              <a:lnSpc>
                <a:spcPct val="100000"/>
              </a:lnSpc>
              <a:buFont typeface="Gill Sans MT"/>
              <a:buChar char="•"/>
              <a:tabLst>
                <a:tab pos="241300" algn="l"/>
              </a:tabLst>
            </a:pPr>
            <a:r>
              <a:rPr lang="en-US" sz="2800" spc="-5" dirty="0">
                <a:latin typeface="Gill Sans MT"/>
                <a:cs typeface="Gill Sans MT"/>
              </a:rPr>
              <a:t>Very </a:t>
            </a:r>
            <a:r>
              <a:rPr sz="2800" spc="-5" dirty="0">
                <a:latin typeface="Gill Sans MT"/>
                <a:cs typeface="Gill Sans MT"/>
              </a:rPr>
              <a:t>l</a:t>
            </a:r>
            <a:r>
              <a:rPr sz="2800" spc="-15" dirty="0">
                <a:latin typeface="Gill Sans MT"/>
                <a:cs typeface="Gill Sans MT"/>
              </a:rPr>
              <a:t>arg</a:t>
            </a:r>
            <a:r>
              <a:rPr sz="2800" dirty="0">
                <a:latin typeface="Gill Sans MT"/>
                <a:cs typeface="Gill Sans MT"/>
              </a:rPr>
              <a:t>e</a:t>
            </a:r>
            <a:r>
              <a:rPr sz="2800" spc="-5" dirty="0">
                <a:latin typeface="Gill Sans MT"/>
                <a:cs typeface="Gill Sans MT"/>
              </a:rPr>
              <a:t> </a:t>
            </a:r>
            <a:r>
              <a:rPr sz="2800" spc="-15" dirty="0">
                <a:latin typeface="Gill Sans MT"/>
                <a:cs typeface="Gill Sans MT"/>
              </a:rPr>
              <a:t>sta</a:t>
            </a:r>
            <a:r>
              <a:rPr sz="2800" dirty="0">
                <a:latin typeface="Gill Sans MT"/>
                <a:cs typeface="Gill Sans MT"/>
              </a:rPr>
              <a:t>te</a:t>
            </a:r>
            <a:r>
              <a:rPr sz="2800" spc="-5" dirty="0">
                <a:latin typeface="Gill Sans MT"/>
                <a:cs typeface="Gill Sans MT"/>
              </a:rPr>
              <a:t> </a:t>
            </a:r>
            <a:r>
              <a:rPr sz="2800" spc="-15" dirty="0">
                <a:latin typeface="Gill Sans MT"/>
                <a:cs typeface="Gill Sans MT"/>
              </a:rPr>
              <a:t>spaces</a:t>
            </a:r>
            <a:endParaRPr sz="2800" dirty="0">
              <a:latin typeface="Gill Sans MT"/>
              <a:cs typeface="Gill Sans MT"/>
            </a:endParaRPr>
          </a:p>
          <a:p>
            <a:pPr>
              <a:lnSpc>
                <a:spcPct val="100000"/>
              </a:lnSpc>
              <a:spcBef>
                <a:spcPts val="50"/>
              </a:spcBef>
              <a:buFont typeface="Gill Sans MT"/>
              <a:buChar char="•"/>
            </a:pPr>
            <a:endParaRPr sz="2600" dirty="0">
              <a:latin typeface="Times New Roman"/>
              <a:cs typeface="Times New Roman"/>
            </a:endParaRPr>
          </a:p>
          <a:p>
            <a:pPr marL="241300" indent="-228600">
              <a:lnSpc>
                <a:spcPct val="100000"/>
              </a:lnSpc>
              <a:buFont typeface="Gill Sans MT"/>
              <a:buChar char="•"/>
              <a:tabLst>
                <a:tab pos="241300" algn="l"/>
              </a:tabLst>
            </a:pPr>
            <a:r>
              <a:rPr sz="2800" spc="-20" dirty="0">
                <a:latin typeface="Gill Sans MT"/>
                <a:cs typeface="Gill Sans MT"/>
              </a:rPr>
              <a:t>Co</a:t>
            </a:r>
            <a:r>
              <a:rPr sz="2800" dirty="0">
                <a:latin typeface="Gill Sans MT"/>
                <a:cs typeface="Gill Sans MT"/>
              </a:rPr>
              <a:t>nt</a:t>
            </a:r>
            <a:r>
              <a:rPr sz="2800" spc="-5" dirty="0">
                <a:latin typeface="Gill Sans MT"/>
                <a:cs typeface="Gill Sans MT"/>
              </a:rPr>
              <a:t>i</a:t>
            </a:r>
            <a:r>
              <a:rPr sz="2800" spc="-30" dirty="0">
                <a:latin typeface="Gill Sans MT"/>
                <a:cs typeface="Gill Sans MT"/>
              </a:rPr>
              <a:t>n</a:t>
            </a:r>
            <a:r>
              <a:rPr sz="2800" spc="-15" dirty="0">
                <a:latin typeface="Gill Sans MT"/>
                <a:cs typeface="Gill Sans MT"/>
              </a:rPr>
              <a:t>uous</a:t>
            </a:r>
            <a:r>
              <a:rPr sz="2800" spc="-5" dirty="0">
                <a:latin typeface="Gill Sans MT"/>
                <a:cs typeface="Gill Sans MT"/>
              </a:rPr>
              <a:t> </a:t>
            </a:r>
            <a:r>
              <a:rPr sz="2800" spc="-15" dirty="0">
                <a:latin typeface="Gill Sans MT"/>
                <a:cs typeface="Gill Sans MT"/>
              </a:rPr>
              <a:t>sta</a:t>
            </a:r>
            <a:r>
              <a:rPr sz="2800" dirty="0">
                <a:latin typeface="Gill Sans MT"/>
                <a:cs typeface="Gill Sans MT"/>
              </a:rPr>
              <a:t>te</a:t>
            </a:r>
            <a:r>
              <a:rPr sz="2800" spc="-5" dirty="0">
                <a:latin typeface="Gill Sans MT"/>
                <a:cs typeface="Gill Sans MT"/>
              </a:rPr>
              <a:t> </a:t>
            </a:r>
            <a:r>
              <a:rPr sz="2800" spc="-15" dirty="0">
                <a:latin typeface="Gill Sans MT"/>
                <a:cs typeface="Gill Sans MT"/>
              </a:rPr>
              <a:t>spaces</a:t>
            </a:r>
            <a:endParaRPr sz="2800" dirty="0">
              <a:latin typeface="Gill Sans MT"/>
              <a:cs typeface="Gill Sans MT"/>
            </a:endParaRPr>
          </a:p>
          <a:p>
            <a:pPr>
              <a:lnSpc>
                <a:spcPct val="100000"/>
              </a:lnSpc>
              <a:spcBef>
                <a:spcPts val="50"/>
              </a:spcBef>
              <a:buFont typeface="Gill Sans MT"/>
              <a:buChar char="•"/>
            </a:pPr>
            <a:endParaRPr sz="2600" dirty="0">
              <a:latin typeface="Times New Roman"/>
              <a:cs typeface="Times New Roman"/>
            </a:endParaRPr>
          </a:p>
          <a:p>
            <a:pPr marL="241300" indent="-228600">
              <a:lnSpc>
                <a:spcPct val="100000"/>
              </a:lnSpc>
              <a:buFont typeface="Gill Sans MT"/>
              <a:buChar char="•"/>
              <a:tabLst>
                <a:tab pos="241300" algn="l"/>
              </a:tabLst>
            </a:pPr>
            <a:r>
              <a:rPr sz="2800" spc="-20" dirty="0">
                <a:latin typeface="Gill Sans MT"/>
                <a:cs typeface="Gill Sans MT"/>
              </a:rPr>
              <a:t>Need</a:t>
            </a:r>
            <a:r>
              <a:rPr sz="2800" spc="-5" dirty="0">
                <a:latin typeface="Gill Sans MT"/>
                <a:cs typeface="Gill Sans MT"/>
              </a:rPr>
              <a:t> </a:t>
            </a:r>
            <a:r>
              <a:rPr sz="2800" spc="-30" dirty="0">
                <a:latin typeface="Gill Sans MT"/>
                <a:cs typeface="Gill Sans MT"/>
              </a:rPr>
              <a:t>f</a:t>
            </a:r>
            <a:r>
              <a:rPr sz="2800" spc="-15" dirty="0">
                <a:latin typeface="Gill Sans MT"/>
                <a:cs typeface="Gill Sans MT"/>
              </a:rPr>
              <a:t>or</a:t>
            </a:r>
            <a:r>
              <a:rPr sz="2800" spc="-5" dirty="0">
                <a:latin typeface="Gill Sans MT"/>
                <a:cs typeface="Gill Sans MT"/>
              </a:rPr>
              <a:t> </a:t>
            </a:r>
            <a:r>
              <a:rPr sz="2800" spc="-15" dirty="0">
                <a:latin typeface="Gill Sans MT"/>
                <a:cs typeface="Gill Sans MT"/>
              </a:rPr>
              <a:t>genera</a:t>
            </a:r>
            <a:r>
              <a:rPr sz="2800" spc="-5" dirty="0">
                <a:latin typeface="Gill Sans MT"/>
                <a:cs typeface="Gill Sans MT"/>
              </a:rPr>
              <a:t>li</a:t>
            </a:r>
            <a:r>
              <a:rPr sz="2800" spc="-15" dirty="0">
                <a:latin typeface="Gill Sans MT"/>
                <a:cs typeface="Gill Sans MT"/>
              </a:rPr>
              <a:t>sa</a:t>
            </a:r>
            <a:r>
              <a:rPr sz="2800" dirty="0">
                <a:latin typeface="Gill Sans MT"/>
                <a:cs typeface="Gill Sans MT"/>
              </a:rPr>
              <a:t>t</a:t>
            </a:r>
            <a:r>
              <a:rPr sz="2800" spc="-5" dirty="0">
                <a:latin typeface="Gill Sans MT"/>
                <a:cs typeface="Gill Sans MT"/>
              </a:rPr>
              <a:t>i</a:t>
            </a:r>
            <a:r>
              <a:rPr sz="2800" spc="-20" dirty="0">
                <a:latin typeface="Gill Sans MT"/>
                <a:cs typeface="Gill Sans MT"/>
              </a:rPr>
              <a:t>o</a:t>
            </a:r>
            <a:r>
              <a:rPr sz="2800" dirty="0">
                <a:latin typeface="Gill Sans MT"/>
                <a:cs typeface="Gill Sans MT"/>
              </a:rPr>
              <a:t>n</a:t>
            </a:r>
          </a:p>
        </p:txBody>
      </p:sp>
      <p:sp>
        <p:nvSpPr>
          <p:cNvPr id="5" name="object 5"/>
          <p:cNvSpPr txBox="1"/>
          <p:nvPr/>
        </p:nvSpPr>
        <p:spPr>
          <a:xfrm>
            <a:off x="539435" y="4765442"/>
            <a:ext cx="6730365" cy="1092607"/>
          </a:xfrm>
          <a:prstGeom prst="rect">
            <a:avLst/>
          </a:prstGeom>
        </p:spPr>
        <p:txBody>
          <a:bodyPr vert="horz" wrap="square" lIns="0" tIns="0" rIns="0" bIns="0" rtlCol="0">
            <a:spAutoFit/>
          </a:bodyPr>
          <a:lstStyle/>
          <a:p>
            <a:pPr marL="12700">
              <a:lnSpc>
                <a:spcPct val="100000"/>
              </a:lnSpc>
              <a:spcBef>
                <a:spcPts val="600"/>
              </a:spcBef>
              <a:spcAft>
                <a:spcPts val="1200"/>
              </a:spcAft>
            </a:pPr>
            <a:r>
              <a:rPr sz="2800" spc="-505" dirty="0">
                <a:latin typeface="MS Gothic"/>
                <a:cs typeface="MS Gothic"/>
              </a:rPr>
              <a:t>➡</a:t>
            </a:r>
            <a:r>
              <a:rPr sz="2800" spc="155" dirty="0">
                <a:latin typeface="MS Gothic"/>
                <a:cs typeface="MS Gothic"/>
              </a:rPr>
              <a:t> </a:t>
            </a:r>
            <a:r>
              <a:rPr sz="2800" spc="-15" dirty="0">
                <a:latin typeface="Gill Sans MT"/>
                <a:cs typeface="Gill Sans MT"/>
              </a:rPr>
              <a:t>us</a:t>
            </a:r>
            <a:r>
              <a:rPr sz="2800" dirty="0">
                <a:latin typeface="Gill Sans MT"/>
                <a:cs typeface="Gill Sans MT"/>
              </a:rPr>
              <a:t>e</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va</a:t>
            </a:r>
            <a:r>
              <a:rPr sz="2800" spc="-5" dirty="0">
                <a:latin typeface="Gill Sans MT"/>
                <a:cs typeface="Gill Sans MT"/>
              </a:rPr>
              <a:t>l</a:t>
            </a:r>
            <a:r>
              <a:rPr sz="2800" dirty="0">
                <a:latin typeface="Gill Sans MT"/>
                <a:cs typeface="Gill Sans MT"/>
              </a:rPr>
              <a:t>ue</a:t>
            </a:r>
            <a:r>
              <a:rPr sz="2800" spc="-5" dirty="0">
                <a:latin typeface="Gill Sans MT"/>
                <a:cs typeface="Gill Sans MT"/>
              </a:rPr>
              <a:t> </a:t>
            </a:r>
            <a:r>
              <a:rPr sz="2800" dirty="0">
                <a:latin typeface="Gill Sans MT"/>
                <a:cs typeface="Gill Sans MT"/>
              </a:rPr>
              <a:t>functi</a:t>
            </a:r>
            <a:r>
              <a:rPr sz="2800" spc="-20" dirty="0">
                <a:latin typeface="Gill Sans MT"/>
                <a:cs typeface="Gill Sans MT"/>
              </a:rPr>
              <a:t>o</a:t>
            </a:r>
            <a:r>
              <a:rPr sz="2800" dirty="0">
                <a:latin typeface="Gill Sans MT"/>
                <a:cs typeface="Gill Sans MT"/>
              </a:rPr>
              <a:t>n</a:t>
            </a:r>
            <a:r>
              <a:rPr sz="2800" spc="-5" dirty="0">
                <a:latin typeface="Gill Sans MT"/>
                <a:cs typeface="Gill Sans MT"/>
              </a:rPr>
              <a:t> i</a:t>
            </a:r>
            <a:r>
              <a:rPr sz="2800" spc="-15" dirty="0">
                <a:latin typeface="Gill Sans MT"/>
                <a:cs typeface="Gill Sans MT"/>
              </a:rPr>
              <a:t>nstead</a:t>
            </a:r>
            <a:r>
              <a:rPr sz="2800" spc="-5" dirty="0">
                <a:latin typeface="Gill Sans MT"/>
                <a:cs typeface="Gill Sans MT"/>
              </a:rPr>
              <a:t> </a:t>
            </a:r>
            <a:r>
              <a:rPr sz="2800" spc="-20" dirty="0">
                <a:latin typeface="Gill Sans MT"/>
                <a:cs typeface="Gill Sans MT"/>
              </a:rPr>
              <a:t>o</a:t>
            </a:r>
            <a:r>
              <a:rPr sz="2800" dirty="0">
                <a:latin typeface="Gill Sans MT"/>
                <a:cs typeface="Gill Sans MT"/>
              </a:rPr>
              <a:t>f</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va</a:t>
            </a:r>
            <a:r>
              <a:rPr sz="2800" spc="-5" dirty="0">
                <a:latin typeface="Gill Sans MT"/>
                <a:cs typeface="Gill Sans MT"/>
              </a:rPr>
              <a:t>l</a:t>
            </a:r>
            <a:r>
              <a:rPr sz="2800" dirty="0">
                <a:latin typeface="Gill Sans MT"/>
                <a:cs typeface="Gill Sans MT"/>
              </a:rPr>
              <a:t>ue</a:t>
            </a:r>
            <a:r>
              <a:rPr sz="2800" spc="-5" dirty="0">
                <a:latin typeface="Gill Sans MT"/>
                <a:cs typeface="Gill Sans MT"/>
              </a:rPr>
              <a:t> </a:t>
            </a:r>
            <a:r>
              <a:rPr sz="2800" spc="-15" dirty="0">
                <a:latin typeface="Gill Sans MT"/>
                <a:cs typeface="Gill Sans MT"/>
              </a:rPr>
              <a:t>ta</a:t>
            </a:r>
            <a:r>
              <a:rPr sz="2800" dirty="0">
                <a:latin typeface="Gill Sans MT"/>
                <a:cs typeface="Gill Sans MT"/>
              </a:rPr>
              <a:t>b</a:t>
            </a:r>
            <a:r>
              <a:rPr sz="2800" spc="-5" dirty="0">
                <a:latin typeface="Gill Sans MT"/>
                <a:cs typeface="Gill Sans MT"/>
              </a:rPr>
              <a:t>l</a:t>
            </a:r>
            <a:r>
              <a:rPr sz="2800" dirty="0">
                <a:latin typeface="Gill Sans MT"/>
                <a:cs typeface="Gill Sans MT"/>
              </a:rPr>
              <a:t>e</a:t>
            </a:r>
            <a:endParaRPr lang="en-US" sz="2800" dirty="0">
              <a:latin typeface="Gill Sans MT"/>
              <a:cs typeface="Gill Sans MT"/>
            </a:endParaRPr>
          </a:p>
          <a:p>
            <a:pPr marL="12700">
              <a:lnSpc>
                <a:spcPct val="100000"/>
              </a:lnSpc>
              <a:spcBef>
                <a:spcPts val="600"/>
              </a:spcBef>
              <a:spcAft>
                <a:spcPts val="1200"/>
              </a:spcAft>
            </a:pPr>
            <a:r>
              <a:rPr lang="en-US" sz="2800" i="1" dirty="0">
                <a:latin typeface="Gill Sans MT"/>
                <a:cs typeface="Gill Sans MT"/>
              </a:rPr>
              <a:t>     of course, this can only be an approximate</a:t>
            </a:r>
          </a:p>
        </p:txBody>
      </p:sp>
      <p:sp>
        <p:nvSpPr>
          <p:cNvPr id="8" name="Rectangle 7">
            <a:extLst>
              <a:ext uri="{FF2B5EF4-FFF2-40B4-BE49-F238E27FC236}">
                <a16:creationId xmlns:a16="http://schemas.microsoft.com/office/drawing/2014/main" id="{BA57FB87-8401-636D-E9DA-58C9879709A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C933BD-8A22-B961-1771-10EFAB3B1180}"/>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3126654D-024C-8C24-4E25-6DEA34FC18F0}"/>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1" name="Slide Number Placeholder 10">
            <a:extLst>
              <a:ext uri="{FF2B5EF4-FFF2-40B4-BE49-F238E27FC236}">
                <a16:creationId xmlns:a16="http://schemas.microsoft.com/office/drawing/2014/main" id="{20D6B217-0A02-DE23-656D-C6EE32933D2B}"/>
              </a:ext>
            </a:extLst>
          </p:cNvPr>
          <p:cNvSpPr>
            <a:spLocks noGrp="1"/>
          </p:cNvSpPr>
          <p:nvPr>
            <p:ph type="sldNum" sz="quarter" idx="7"/>
          </p:nvPr>
        </p:nvSpPr>
        <p:spPr/>
        <p:txBody>
          <a:bodyPr/>
          <a:lstStyle/>
          <a:p>
            <a:pPr marL="25400"/>
            <a:fld id="{81D60167-4931-47E6-BA6A-407CBD079E47}" type="slidenum">
              <a:rPr lang="en-US" smtClean="0"/>
              <a:pPr marL="25400"/>
              <a:t>9</a:t>
            </a:fld>
            <a:r>
              <a:rPr lang="en-US"/>
              <a:t>/27</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65" dirty="0"/>
              <a:t>V</a:t>
            </a:r>
            <a:r>
              <a:rPr dirty="0"/>
              <a:t>alue</a:t>
            </a:r>
            <a:r>
              <a:rPr spc="-5" dirty="0"/>
              <a:t> </a:t>
            </a:r>
            <a:r>
              <a:rPr spc="-25" dirty="0"/>
              <a:t>F</a:t>
            </a:r>
            <a:r>
              <a:rPr dirty="0"/>
              <a:t>un</a:t>
            </a:r>
            <a:r>
              <a:rPr spc="-20" dirty="0"/>
              <a:t>c</a:t>
            </a:r>
            <a:r>
              <a:rPr spc="-15" dirty="0"/>
              <a:t>t</a:t>
            </a:r>
            <a:r>
              <a:rPr dirty="0"/>
              <a:t>ion</a:t>
            </a:r>
            <a:r>
              <a:rPr spc="-180" dirty="0"/>
              <a:t> </a:t>
            </a:r>
            <a:r>
              <a:rPr dirty="0"/>
              <a:t>Approxima</a:t>
            </a:r>
            <a:r>
              <a:rPr spc="-15" dirty="0"/>
              <a:t>t</a:t>
            </a:r>
            <a:r>
              <a:rPr dirty="0"/>
              <a:t>ion</a:t>
            </a:r>
            <a:r>
              <a:rPr spc="-60" dirty="0"/>
              <a:t> </a:t>
            </a:r>
            <a:r>
              <a:rPr spc="-200" dirty="0"/>
              <a:t>T</a:t>
            </a:r>
            <a:r>
              <a:rPr dirty="0"/>
              <a:t>ypes</a:t>
            </a:r>
          </a:p>
        </p:txBody>
      </p:sp>
      <p:sp>
        <p:nvSpPr>
          <p:cNvPr id="4" name="object 4"/>
          <p:cNvSpPr/>
          <p:nvPr/>
        </p:nvSpPr>
        <p:spPr>
          <a:xfrm>
            <a:off x="773441" y="1447800"/>
            <a:ext cx="7371692" cy="3975230"/>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551016" y="5726408"/>
            <a:ext cx="922655" cy="254635"/>
          </a:xfrm>
          <a:prstGeom prst="rect">
            <a:avLst/>
          </a:prstGeom>
        </p:spPr>
        <p:txBody>
          <a:bodyPr vert="horz" wrap="square" lIns="0" tIns="0" rIns="0" bIns="0" rtlCol="0">
            <a:spAutoFit/>
          </a:bodyPr>
          <a:lstStyle/>
          <a:p>
            <a:pPr marL="12700">
              <a:lnSpc>
                <a:spcPct val="100000"/>
              </a:lnSpc>
            </a:pPr>
            <a:r>
              <a:rPr sz="1650" i="1" spc="10" dirty="0">
                <a:latin typeface="Times New Roman"/>
                <a:cs typeface="Times New Roman"/>
              </a:rPr>
              <a:t>F</a:t>
            </a:r>
            <a:r>
              <a:rPr sz="1650" i="1" spc="100" dirty="0">
                <a:latin typeface="Times New Roman"/>
                <a:cs typeface="Times New Roman"/>
              </a:rPr>
              <a:t> </a:t>
            </a:r>
            <a:r>
              <a:rPr sz="1650" spc="-120" dirty="0">
                <a:latin typeface="Tahoma"/>
                <a:cs typeface="Tahoma"/>
              </a:rPr>
              <a:t>:</a:t>
            </a:r>
            <a:r>
              <a:rPr sz="1650" spc="-50" dirty="0">
                <a:latin typeface="Tahoma"/>
                <a:cs typeface="Tahoma"/>
              </a:rPr>
              <a:t> </a:t>
            </a:r>
            <a:r>
              <a:rPr sz="1650" i="1" spc="5" dirty="0">
                <a:latin typeface="Times New Roman"/>
                <a:cs typeface="Times New Roman"/>
              </a:rPr>
              <a:t>S</a:t>
            </a:r>
            <a:r>
              <a:rPr sz="1650" i="1" spc="50" dirty="0">
                <a:latin typeface="Times New Roman"/>
                <a:cs typeface="Times New Roman"/>
              </a:rPr>
              <a:t> </a:t>
            </a:r>
            <a:r>
              <a:rPr sz="1650" spc="-100" dirty="0">
                <a:latin typeface="Tahoma"/>
                <a:cs typeface="Tahoma"/>
              </a:rPr>
              <a:t>→</a:t>
            </a:r>
            <a:r>
              <a:rPr sz="1650" spc="-50" dirty="0">
                <a:latin typeface="Tahoma"/>
                <a:cs typeface="Tahoma"/>
              </a:rPr>
              <a:t> </a:t>
            </a:r>
            <a:r>
              <a:rPr sz="1650" spc="225" dirty="0">
                <a:latin typeface="Tahoma"/>
                <a:cs typeface="Tahoma"/>
              </a:rPr>
              <a:t>ℝ</a:t>
            </a:r>
            <a:endParaRPr sz="1650">
              <a:latin typeface="Tahoma"/>
              <a:cs typeface="Tahoma"/>
            </a:endParaRPr>
          </a:p>
        </p:txBody>
      </p:sp>
      <p:sp>
        <p:nvSpPr>
          <p:cNvPr id="6" name="object 6"/>
          <p:cNvSpPr txBox="1"/>
          <p:nvPr/>
        </p:nvSpPr>
        <p:spPr>
          <a:xfrm>
            <a:off x="3523786" y="5726408"/>
            <a:ext cx="1310640" cy="254635"/>
          </a:xfrm>
          <a:prstGeom prst="rect">
            <a:avLst/>
          </a:prstGeom>
        </p:spPr>
        <p:txBody>
          <a:bodyPr vert="horz" wrap="square" lIns="0" tIns="0" rIns="0" bIns="0" rtlCol="0">
            <a:spAutoFit/>
          </a:bodyPr>
          <a:lstStyle/>
          <a:p>
            <a:pPr marL="12700">
              <a:lnSpc>
                <a:spcPct val="100000"/>
              </a:lnSpc>
            </a:pPr>
            <a:r>
              <a:rPr sz="1650" i="1" spc="10" dirty="0">
                <a:latin typeface="Times New Roman"/>
                <a:cs typeface="Times New Roman"/>
              </a:rPr>
              <a:t>F</a:t>
            </a:r>
            <a:r>
              <a:rPr sz="1650" i="1" spc="100" dirty="0">
                <a:latin typeface="Times New Roman"/>
                <a:cs typeface="Times New Roman"/>
              </a:rPr>
              <a:t> </a:t>
            </a:r>
            <a:r>
              <a:rPr sz="1650" spc="-120" dirty="0">
                <a:latin typeface="Tahoma"/>
                <a:cs typeface="Tahoma"/>
              </a:rPr>
              <a:t>:</a:t>
            </a:r>
            <a:r>
              <a:rPr sz="1650" spc="-50" dirty="0">
                <a:latin typeface="Tahoma"/>
                <a:cs typeface="Tahoma"/>
              </a:rPr>
              <a:t> </a:t>
            </a:r>
            <a:r>
              <a:rPr sz="1650" i="1" spc="5" dirty="0">
                <a:latin typeface="Times New Roman"/>
                <a:cs typeface="Times New Roman"/>
              </a:rPr>
              <a:t>S</a:t>
            </a:r>
            <a:r>
              <a:rPr sz="1650" i="1" spc="55" dirty="0">
                <a:latin typeface="Times New Roman"/>
                <a:cs typeface="Times New Roman"/>
              </a:rPr>
              <a:t> </a:t>
            </a:r>
            <a:r>
              <a:rPr sz="1650" spc="-135" dirty="0">
                <a:latin typeface="Tahoma"/>
                <a:cs typeface="Tahoma"/>
              </a:rPr>
              <a:t>×</a:t>
            </a:r>
            <a:r>
              <a:rPr sz="1650" spc="-35" dirty="0">
                <a:latin typeface="Tahoma"/>
                <a:cs typeface="Tahoma"/>
              </a:rPr>
              <a:t> </a:t>
            </a:r>
            <a:r>
              <a:rPr sz="1650" i="1" spc="10" dirty="0">
                <a:latin typeface="Times New Roman"/>
                <a:cs typeface="Times New Roman"/>
              </a:rPr>
              <a:t>A</a:t>
            </a:r>
            <a:r>
              <a:rPr sz="1650" i="1" spc="50" dirty="0">
                <a:latin typeface="Times New Roman"/>
                <a:cs typeface="Times New Roman"/>
              </a:rPr>
              <a:t> </a:t>
            </a:r>
            <a:r>
              <a:rPr sz="1650" spc="-100" dirty="0">
                <a:latin typeface="Tahoma"/>
                <a:cs typeface="Tahoma"/>
              </a:rPr>
              <a:t>→</a:t>
            </a:r>
            <a:r>
              <a:rPr sz="1650" spc="-50" dirty="0">
                <a:latin typeface="Tahoma"/>
                <a:cs typeface="Tahoma"/>
              </a:rPr>
              <a:t> </a:t>
            </a:r>
            <a:r>
              <a:rPr sz="1650" spc="225" dirty="0">
                <a:latin typeface="Tahoma"/>
                <a:cs typeface="Tahoma"/>
              </a:rPr>
              <a:t>ℝ</a:t>
            </a:r>
            <a:endParaRPr sz="1650">
              <a:latin typeface="Tahoma"/>
              <a:cs typeface="Tahoma"/>
            </a:endParaRPr>
          </a:p>
        </p:txBody>
      </p:sp>
      <p:sp>
        <p:nvSpPr>
          <p:cNvPr id="7" name="object 7"/>
          <p:cNvSpPr txBox="1"/>
          <p:nvPr/>
        </p:nvSpPr>
        <p:spPr>
          <a:xfrm>
            <a:off x="5752199" y="5726408"/>
            <a:ext cx="1290955" cy="254635"/>
          </a:xfrm>
          <a:prstGeom prst="rect">
            <a:avLst/>
          </a:prstGeom>
        </p:spPr>
        <p:txBody>
          <a:bodyPr vert="horz" wrap="square" lIns="0" tIns="0" rIns="0" bIns="0" rtlCol="0">
            <a:spAutoFit/>
          </a:bodyPr>
          <a:lstStyle/>
          <a:p>
            <a:pPr marL="12700">
              <a:lnSpc>
                <a:spcPct val="100000"/>
              </a:lnSpc>
            </a:pPr>
            <a:r>
              <a:rPr sz="1650" i="1" spc="10" dirty="0">
                <a:latin typeface="Times New Roman"/>
                <a:cs typeface="Times New Roman"/>
              </a:rPr>
              <a:t>F</a:t>
            </a:r>
            <a:r>
              <a:rPr sz="1650" i="1" spc="100" dirty="0">
                <a:latin typeface="Times New Roman"/>
                <a:cs typeface="Times New Roman"/>
              </a:rPr>
              <a:t> </a:t>
            </a:r>
            <a:r>
              <a:rPr sz="1650" spc="-120" dirty="0">
                <a:latin typeface="Tahoma"/>
                <a:cs typeface="Tahoma"/>
              </a:rPr>
              <a:t>:</a:t>
            </a:r>
            <a:r>
              <a:rPr sz="1650" spc="-50" dirty="0">
                <a:latin typeface="Tahoma"/>
                <a:cs typeface="Tahoma"/>
              </a:rPr>
              <a:t> </a:t>
            </a:r>
            <a:r>
              <a:rPr sz="1650" i="1" spc="5" dirty="0">
                <a:latin typeface="Times New Roman"/>
                <a:cs typeface="Times New Roman"/>
              </a:rPr>
              <a:t>S</a:t>
            </a:r>
            <a:r>
              <a:rPr sz="1650" i="1" spc="50" dirty="0">
                <a:latin typeface="Times New Roman"/>
                <a:cs typeface="Times New Roman"/>
              </a:rPr>
              <a:t> </a:t>
            </a:r>
            <a:r>
              <a:rPr sz="1650" spc="-100" dirty="0">
                <a:latin typeface="Tahoma"/>
                <a:cs typeface="Tahoma"/>
              </a:rPr>
              <a:t>→</a:t>
            </a:r>
            <a:r>
              <a:rPr sz="1650" spc="-50" dirty="0">
                <a:latin typeface="Tahoma"/>
                <a:cs typeface="Tahoma"/>
              </a:rPr>
              <a:t> </a:t>
            </a:r>
            <a:r>
              <a:rPr sz="1650" i="1" spc="10" dirty="0">
                <a:latin typeface="Times New Roman"/>
                <a:cs typeface="Times New Roman"/>
              </a:rPr>
              <a:t>A</a:t>
            </a:r>
            <a:r>
              <a:rPr sz="1650" i="1" spc="5" dirty="0">
                <a:latin typeface="Times New Roman"/>
                <a:cs typeface="Times New Roman"/>
              </a:rPr>
              <a:t> </a:t>
            </a:r>
            <a:r>
              <a:rPr sz="1650" spc="-135" dirty="0">
                <a:latin typeface="Tahoma"/>
                <a:cs typeface="Tahoma"/>
              </a:rPr>
              <a:t>×</a:t>
            </a:r>
            <a:r>
              <a:rPr sz="1650" spc="-145" dirty="0">
                <a:latin typeface="Tahoma"/>
                <a:cs typeface="Tahoma"/>
              </a:rPr>
              <a:t> </a:t>
            </a:r>
            <a:r>
              <a:rPr sz="1650" spc="225" dirty="0">
                <a:latin typeface="Tahoma"/>
                <a:cs typeface="Tahoma"/>
              </a:rPr>
              <a:t>ℝ</a:t>
            </a:r>
            <a:endParaRPr sz="1650">
              <a:latin typeface="Tahoma"/>
              <a:cs typeface="Tahoma"/>
            </a:endParaRPr>
          </a:p>
        </p:txBody>
      </p:sp>
      <p:sp>
        <p:nvSpPr>
          <p:cNvPr id="10" name="Rectangle 9">
            <a:extLst>
              <a:ext uri="{FF2B5EF4-FFF2-40B4-BE49-F238E27FC236}">
                <a16:creationId xmlns:a16="http://schemas.microsoft.com/office/drawing/2014/main" id="{49029E7E-C6A7-A458-B848-ACC06A2BADD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F0812B-B89C-9C67-A81B-8C399048040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2" name="Rectangle 11">
            <a:extLst>
              <a:ext uri="{FF2B5EF4-FFF2-40B4-BE49-F238E27FC236}">
                <a16:creationId xmlns:a16="http://schemas.microsoft.com/office/drawing/2014/main" id="{BE951095-837B-4382-D9B8-97AD97115696}"/>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3" name="Slide Number Placeholder 12">
            <a:extLst>
              <a:ext uri="{FF2B5EF4-FFF2-40B4-BE49-F238E27FC236}">
                <a16:creationId xmlns:a16="http://schemas.microsoft.com/office/drawing/2014/main" id="{2234469B-ECBF-1B1E-D0A2-A63DB2B2BA45}"/>
              </a:ext>
            </a:extLst>
          </p:cNvPr>
          <p:cNvSpPr>
            <a:spLocks noGrp="1"/>
          </p:cNvSpPr>
          <p:nvPr>
            <p:ph type="sldNum" sz="quarter" idx="7"/>
          </p:nvPr>
        </p:nvSpPr>
        <p:spPr/>
        <p:txBody>
          <a:bodyPr/>
          <a:lstStyle/>
          <a:p>
            <a:pPr marL="25400"/>
            <a:fld id="{81D60167-4931-47E6-BA6A-407CBD079E47}" type="slidenum">
              <a:rPr lang="en-US" smtClean="0"/>
              <a:pPr marL="25400"/>
              <a:t>10</a:t>
            </a:fld>
            <a:r>
              <a:rPr lang="en-US"/>
              <a:t>/27</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p:nvPr/>
        </p:nvSpPr>
        <p:spPr>
          <a:xfrm>
            <a:off x="423226" y="79271"/>
            <a:ext cx="8415973" cy="948978"/>
          </a:xfrm>
          <a:prstGeom prst="rect">
            <a:avLst/>
          </a:prstGeom>
        </p:spPr>
        <p:txBody>
          <a:bodyPr vert="horz" wrap="square" lIns="0" tIns="0" rIns="0" bIns="0" rtlCol="0">
            <a:spAutoFit/>
          </a:bodyPr>
          <a:lstStyle/>
          <a:p>
            <a:pPr marL="12700" marR="5080">
              <a:lnSpc>
                <a:spcPts val="3700"/>
              </a:lnSpc>
            </a:pPr>
            <a:r>
              <a:rPr sz="3200" spc="-265" dirty="0">
                <a:latin typeface="Arial"/>
                <a:cs typeface="Arial"/>
              </a:rPr>
              <a:t>V</a:t>
            </a:r>
            <a:r>
              <a:rPr sz="3200" dirty="0">
                <a:latin typeface="Arial"/>
                <a:cs typeface="Arial"/>
              </a:rPr>
              <a:t>alue</a:t>
            </a:r>
            <a:r>
              <a:rPr sz="3200" spc="-5" dirty="0">
                <a:latin typeface="Arial"/>
                <a:cs typeface="Arial"/>
              </a:rPr>
              <a:t> </a:t>
            </a:r>
            <a:r>
              <a:rPr sz="3200" spc="-25" dirty="0">
                <a:latin typeface="Arial"/>
                <a:cs typeface="Arial"/>
              </a:rPr>
              <a:t>F</a:t>
            </a:r>
            <a:r>
              <a:rPr sz="3200" dirty="0">
                <a:latin typeface="Arial"/>
                <a:cs typeface="Arial"/>
              </a:rPr>
              <a:t>un</a:t>
            </a:r>
            <a:r>
              <a:rPr sz="3200" spc="-20" dirty="0">
                <a:latin typeface="Arial"/>
                <a:cs typeface="Arial"/>
              </a:rPr>
              <a:t>c</a:t>
            </a:r>
            <a:r>
              <a:rPr sz="3200" spc="-15" dirty="0">
                <a:latin typeface="Arial"/>
                <a:cs typeface="Arial"/>
              </a:rPr>
              <a:t>t</a:t>
            </a:r>
            <a:r>
              <a:rPr sz="3200" dirty="0">
                <a:latin typeface="Arial"/>
                <a:cs typeface="Arial"/>
              </a:rPr>
              <a:t>ion</a:t>
            </a:r>
            <a:r>
              <a:rPr sz="3200" spc="-180" dirty="0">
                <a:latin typeface="Arial"/>
                <a:cs typeface="Arial"/>
              </a:rPr>
              <a:t> </a:t>
            </a:r>
            <a:r>
              <a:rPr sz="3200" dirty="0">
                <a:latin typeface="Arial"/>
                <a:cs typeface="Arial"/>
              </a:rPr>
              <a:t>Approxima</a:t>
            </a:r>
            <a:r>
              <a:rPr sz="3200" spc="-15" dirty="0">
                <a:latin typeface="Arial"/>
                <a:cs typeface="Arial"/>
              </a:rPr>
              <a:t>t</a:t>
            </a:r>
            <a:r>
              <a:rPr sz="3200" dirty="0">
                <a:latin typeface="Arial"/>
                <a:cs typeface="Arial"/>
              </a:rPr>
              <a:t>ion</a:t>
            </a:r>
            <a:r>
              <a:rPr sz="3200" spc="-5" dirty="0">
                <a:latin typeface="Arial"/>
                <a:cs typeface="Arial"/>
              </a:rPr>
              <a:t> </a:t>
            </a:r>
            <a:r>
              <a:rPr sz="3200" dirty="0">
                <a:latin typeface="Arial"/>
                <a:cs typeface="Arial"/>
              </a:rPr>
              <a:t>wi</a:t>
            </a:r>
            <a:r>
              <a:rPr sz="3200" spc="-15" dirty="0">
                <a:latin typeface="Arial"/>
                <a:cs typeface="Arial"/>
              </a:rPr>
              <a:t>t</a:t>
            </a:r>
            <a:r>
              <a:rPr sz="3200" dirty="0">
                <a:latin typeface="Arial"/>
                <a:cs typeface="Arial"/>
              </a:rPr>
              <a:t>h Deep</a:t>
            </a:r>
            <a:r>
              <a:rPr sz="3200" spc="-20" dirty="0">
                <a:latin typeface="Arial"/>
                <a:cs typeface="Arial"/>
              </a:rPr>
              <a:t>-Q</a:t>
            </a:r>
            <a:r>
              <a:rPr sz="3200" spc="-5" dirty="0">
                <a:latin typeface="Arial"/>
                <a:cs typeface="Arial"/>
              </a:rPr>
              <a:t> </a:t>
            </a:r>
            <a:r>
              <a:rPr sz="3200" dirty="0">
                <a:latin typeface="Arial"/>
                <a:cs typeface="Arial"/>
              </a:rPr>
              <a:t>Ne</a:t>
            </a:r>
            <a:r>
              <a:rPr sz="3200" spc="-15" dirty="0">
                <a:latin typeface="Arial"/>
                <a:cs typeface="Arial"/>
              </a:rPr>
              <a:t>t</a:t>
            </a:r>
            <a:r>
              <a:rPr sz="3200" dirty="0">
                <a:latin typeface="Arial"/>
                <a:cs typeface="Arial"/>
              </a:rPr>
              <a:t>work</a:t>
            </a:r>
          </a:p>
        </p:txBody>
      </p:sp>
      <p:sp>
        <p:nvSpPr>
          <p:cNvPr id="5" name="object 5"/>
          <p:cNvSpPr txBox="1"/>
          <p:nvPr/>
        </p:nvSpPr>
        <p:spPr>
          <a:xfrm>
            <a:off x="1672747" y="6019800"/>
            <a:ext cx="5916930" cy="152400"/>
          </a:xfrm>
          <a:prstGeom prst="rect">
            <a:avLst/>
          </a:prstGeom>
        </p:spPr>
        <p:txBody>
          <a:bodyPr vert="horz" wrap="square" lIns="0" tIns="0" rIns="0" bIns="0" rtlCol="0">
            <a:spAutoFit/>
          </a:bodyPr>
          <a:lstStyle/>
          <a:p>
            <a:pPr marL="12700">
              <a:lnSpc>
                <a:spcPct val="100000"/>
              </a:lnSpc>
            </a:pPr>
            <a:r>
              <a:rPr sz="1000" spc="-5" dirty="0">
                <a:latin typeface="Lucida Sans Unicode"/>
                <a:cs typeface="Lucida Sans Unicode"/>
              </a:rPr>
              <a:t>fro</a:t>
            </a:r>
            <a:r>
              <a:rPr sz="1000" spc="-10" dirty="0">
                <a:latin typeface="Lucida Sans Unicode"/>
                <a:cs typeface="Lucida Sans Unicode"/>
              </a:rPr>
              <a:t>m: https://</a:t>
            </a:r>
            <a:r>
              <a:rPr sz="1000" spc="-10" dirty="0">
                <a:latin typeface="Lucida Sans Unicode"/>
                <a:cs typeface="Lucida Sans Unicode"/>
                <a:hlinkClick r:id="rId3"/>
              </a:rPr>
              <a:t>www.analyticsvidhya.com/blog/2019/04/introduction-deep-q-learning-py</a:t>
            </a:r>
            <a:r>
              <a:rPr sz="1000" spc="-5" dirty="0">
                <a:latin typeface="Lucida Sans Unicode"/>
                <a:cs typeface="Lucida Sans Unicode"/>
                <a:hlinkClick r:id="rId3"/>
              </a:rPr>
              <a:t>tho</a:t>
            </a:r>
            <a:r>
              <a:rPr sz="1000" spc="-10" dirty="0">
                <a:latin typeface="Lucida Sans Unicode"/>
                <a:cs typeface="Lucida Sans Unicode"/>
                <a:hlinkClick r:id="rId3"/>
              </a:rPr>
              <a:t>n/</a:t>
            </a:r>
            <a:endParaRPr sz="1000" dirty="0">
              <a:latin typeface="Lucida Sans Unicode"/>
              <a:cs typeface="Lucida Sans Unicode"/>
            </a:endParaRPr>
          </a:p>
        </p:txBody>
      </p:sp>
      <p:sp>
        <p:nvSpPr>
          <p:cNvPr id="8" name="Rectangle 7">
            <a:extLst>
              <a:ext uri="{FF2B5EF4-FFF2-40B4-BE49-F238E27FC236}">
                <a16:creationId xmlns:a16="http://schemas.microsoft.com/office/drawing/2014/main" id="{9EC10053-1AC4-9C35-DE63-AD9BDEFE6E3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0C3B82-B0D3-FD5A-F871-4CF4980BD30D}"/>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D7D0832C-7544-8326-40A9-79640F158716}"/>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grpSp>
        <p:nvGrpSpPr>
          <p:cNvPr id="204" name="Group 203">
            <a:extLst>
              <a:ext uri="{FF2B5EF4-FFF2-40B4-BE49-F238E27FC236}">
                <a16:creationId xmlns:a16="http://schemas.microsoft.com/office/drawing/2014/main" id="{66554401-2CDF-E555-A3A6-B47E112EB839}"/>
              </a:ext>
            </a:extLst>
          </p:cNvPr>
          <p:cNvGrpSpPr/>
          <p:nvPr/>
        </p:nvGrpSpPr>
        <p:grpSpPr>
          <a:xfrm>
            <a:off x="990600" y="1454087"/>
            <a:ext cx="7013098" cy="4260913"/>
            <a:chOff x="3581400" y="1591311"/>
            <a:chExt cx="7013098" cy="4260913"/>
          </a:xfrm>
        </p:grpSpPr>
        <p:sp>
          <p:nvSpPr>
            <p:cNvPr id="4" name="object 4"/>
            <p:cNvSpPr/>
            <p:nvPr/>
          </p:nvSpPr>
          <p:spPr>
            <a:xfrm>
              <a:off x="3581400" y="1591311"/>
              <a:ext cx="7013098" cy="4260913"/>
            </a:xfrm>
            <a:prstGeom prst="rect">
              <a:avLst/>
            </a:prstGeom>
            <a:blipFill>
              <a:blip r:embed="rId4" cstate="print"/>
              <a:stretch>
                <a:fillRect/>
              </a:stretch>
            </a:blipFill>
          </p:spPr>
          <p:txBody>
            <a:bodyPr wrap="square" lIns="0" tIns="0" rIns="0" bIns="0" rtlCol="0"/>
            <a:lstStyle/>
            <a:p>
              <a:endParaRPr/>
            </a:p>
          </p:txBody>
        </p:sp>
        <p:grpSp>
          <p:nvGrpSpPr>
            <p:cNvPr id="172" name="Group 171">
              <a:extLst>
                <a:ext uri="{FF2B5EF4-FFF2-40B4-BE49-F238E27FC236}">
                  <a16:creationId xmlns:a16="http://schemas.microsoft.com/office/drawing/2014/main" id="{3F7A5451-2A1D-7339-CE27-C1E786095CC5}"/>
                </a:ext>
              </a:extLst>
            </p:cNvPr>
            <p:cNvGrpSpPr/>
            <p:nvPr/>
          </p:nvGrpSpPr>
          <p:grpSpPr>
            <a:xfrm>
              <a:off x="5867400" y="3721767"/>
              <a:ext cx="2355793" cy="1555314"/>
              <a:chOff x="559161" y="2887347"/>
              <a:chExt cx="2355793" cy="1555314"/>
            </a:xfrm>
          </p:grpSpPr>
          <p:sp>
            <p:nvSpPr>
              <p:cNvPr id="144" name="Rectangle 143">
                <a:extLst>
                  <a:ext uri="{FF2B5EF4-FFF2-40B4-BE49-F238E27FC236}">
                    <a16:creationId xmlns:a16="http://schemas.microsoft.com/office/drawing/2014/main" id="{5070F15D-068D-63D0-E532-14835644DC0A}"/>
                  </a:ext>
                </a:extLst>
              </p:cNvPr>
              <p:cNvSpPr/>
              <p:nvPr/>
            </p:nvSpPr>
            <p:spPr>
              <a:xfrm>
                <a:off x="559161" y="2887347"/>
                <a:ext cx="2355793" cy="15553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 name="Group 170">
                <a:extLst>
                  <a:ext uri="{FF2B5EF4-FFF2-40B4-BE49-F238E27FC236}">
                    <a16:creationId xmlns:a16="http://schemas.microsoft.com/office/drawing/2014/main" id="{4BCC84A9-E590-91DB-41EC-5BE12918025F}"/>
                  </a:ext>
                </a:extLst>
              </p:cNvPr>
              <p:cNvGrpSpPr/>
              <p:nvPr/>
            </p:nvGrpSpPr>
            <p:grpSpPr>
              <a:xfrm>
                <a:off x="643125" y="2993868"/>
                <a:ext cx="2252475" cy="1349563"/>
                <a:chOff x="643125" y="2993868"/>
                <a:chExt cx="2252475" cy="1349563"/>
              </a:xfrm>
            </p:grpSpPr>
            <p:sp>
              <p:nvSpPr>
                <p:cNvPr id="26" name="Oval 25">
                  <a:extLst>
                    <a:ext uri="{FF2B5EF4-FFF2-40B4-BE49-F238E27FC236}">
                      <a16:creationId xmlns:a16="http://schemas.microsoft.com/office/drawing/2014/main" id="{6F798B19-F469-464E-D3D4-D01BF5D8D6FB}"/>
                    </a:ext>
                  </a:extLst>
                </p:cNvPr>
                <p:cNvSpPr/>
                <p:nvPr/>
              </p:nvSpPr>
              <p:spPr>
                <a:xfrm flipH="1">
                  <a:off x="1328985" y="3127980"/>
                  <a:ext cx="132887" cy="154793"/>
                </a:xfrm>
                <a:prstGeom prst="ellipse">
                  <a:avLst/>
                </a:prstGeom>
                <a:solidFill>
                  <a:srgbClr val="C1E4F7"/>
                </a:solidFill>
                <a:ln>
                  <a:noFill/>
                </a:ln>
                <a:effectLst>
                  <a:outerShdw dist="35921" dir="2700000" algn="ctr" rotWithShape="0">
                    <a:srgbClr val="B2B2B2"/>
                  </a:outerShdw>
                </a:effectLst>
              </p:spPr>
              <p:txBody>
                <a:bodyPr wrap="none" anchor="ctr"/>
                <a:lstStyle/>
                <a:p>
                  <a:pPr defTabSz="675010">
                    <a:defRPr/>
                  </a:pPr>
                  <a:endParaRPr lang="en-US" sz="1329" kern="0" dirty="0">
                    <a:solidFill>
                      <a:sysClr val="windowText" lastClr="000000"/>
                    </a:solidFill>
                  </a:endParaRPr>
                </a:p>
              </p:txBody>
            </p:sp>
            <p:sp>
              <p:nvSpPr>
                <p:cNvPr id="27" name="Oval 26">
                  <a:extLst>
                    <a:ext uri="{FF2B5EF4-FFF2-40B4-BE49-F238E27FC236}">
                      <a16:creationId xmlns:a16="http://schemas.microsoft.com/office/drawing/2014/main" id="{A04A2132-A0E6-F647-5BC3-178EE0FB3308}"/>
                    </a:ext>
                  </a:extLst>
                </p:cNvPr>
                <p:cNvSpPr/>
                <p:nvPr/>
              </p:nvSpPr>
              <p:spPr>
                <a:xfrm flipH="1">
                  <a:off x="1328985" y="3394701"/>
                  <a:ext cx="132887" cy="154793"/>
                </a:xfrm>
                <a:prstGeom prst="ellipse">
                  <a:avLst/>
                </a:prstGeom>
                <a:solidFill>
                  <a:srgbClr val="C1E4F7"/>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28" name="Oval 27">
                  <a:extLst>
                    <a:ext uri="{FF2B5EF4-FFF2-40B4-BE49-F238E27FC236}">
                      <a16:creationId xmlns:a16="http://schemas.microsoft.com/office/drawing/2014/main" id="{89BA1933-6281-DE69-F9A5-6CE13F75B7D8}"/>
                    </a:ext>
                  </a:extLst>
                </p:cNvPr>
                <p:cNvSpPr/>
                <p:nvPr/>
              </p:nvSpPr>
              <p:spPr>
                <a:xfrm flipH="1">
                  <a:off x="1328985" y="3777976"/>
                  <a:ext cx="132887" cy="154793"/>
                </a:xfrm>
                <a:prstGeom prst="ellipse">
                  <a:avLst/>
                </a:prstGeom>
                <a:solidFill>
                  <a:srgbClr val="C1E4F7"/>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29" name="Oval 28">
                  <a:extLst>
                    <a:ext uri="{FF2B5EF4-FFF2-40B4-BE49-F238E27FC236}">
                      <a16:creationId xmlns:a16="http://schemas.microsoft.com/office/drawing/2014/main" id="{63C78A94-1139-C240-FEC1-82924600D593}"/>
                    </a:ext>
                  </a:extLst>
                </p:cNvPr>
                <p:cNvSpPr/>
                <p:nvPr/>
              </p:nvSpPr>
              <p:spPr>
                <a:xfrm flipH="1">
                  <a:off x="1328985" y="4039987"/>
                  <a:ext cx="132887" cy="154793"/>
                </a:xfrm>
                <a:prstGeom prst="ellipse">
                  <a:avLst/>
                </a:prstGeom>
                <a:solidFill>
                  <a:srgbClr val="C1E4F7"/>
                </a:solidFill>
                <a:ln>
                  <a:noFill/>
                </a:ln>
                <a:effectLst>
                  <a:outerShdw dist="35921" dir="2700000" algn="ctr" rotWithShape="0">
                    <a:srgbClr val="B2B2B2"/>
                  </a:outerShdw>
                </a:effectLst>
              </p:spPr>
              <p:txBody>
                <a:bodyPr wrap="none" anchor="ctr"/>
                <a:lstStyle/>
                <a:p>
                  <a:pPr defTabSz="675010"/>
                  <a:endParaRPr lang="en-US" sz="1329" kern="0" dirty="0">
                    <a:solidFill>
                      <a:sysClr val="windowText" lastClr="000000"/>
                    </a:solidFill>
                  </a:endParaRPr>
                </a:p>
              </p:txBody>
            </p:sp>
            <p:sp>
              <p:nvSpPr>
                <p:cNvPr id="30" name="Oval 29">
                  <a:extLst>
                    <a:ext uri="{FF2B5EF4-FFF2-40B4-BE49-F238E27FC236}">
                      <a16:creationId xmlns:a16="http://schemas.microsoft.com/office/drawing/2014/main" id="{158C4180-C3D4-90F3-9C6F-731BD0006686}"/>
                    </a:ext>
                  </a:extLst>
                </p:cNvPr>
                <p:cNvSpPr/>
                <p:nvPr/>
              </p:nvSpPr>
              <p:spPr>
                <a:xfrm flipH="1">
                  <a:off x="730002" y="3013966"/>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defRPr/>
                  </a:pPr>
                  <a:endParaRPr lang="en-US" sz="1329" kern="0" dirty="0">
                    <a:solidFill>
                      <a:sysClr val="windowText" lastClr="000000"/>
                    </a:solidFill>
                  </a:endParaRPr>
                </a:p>
              </p:txBody>
            </p:sp>
            <p:sp>
              <p:nvSpPr>
                <p:cNvPr id="31" name="Oval 30">
                  <a:extLst>
                    <a:ext uri="{FF2B5EF4-FFF2-40B4-BE49-F238E27FC236}">
                      <a16:creationId xmlns:a16="http://schemas.microsoft.com/office/drawing/2014/main" id="{9F57E84B-3710-C1F6-EB7F-E60013A0ADE7}"/>
                    </a:ext>
                  </a:extLst>
                </p:cNvPr>
                <p:cNvSpPr/>
                <p:nvPr/>
              </p:nvSpPr>
              <p:spPr>
                <a:xfrm flipH="1">
                  <a:off x="730002" y="3205603"/>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32" name="Oval 31">
                  <a:extLst>
                    <a:ext uri="{FF2B5EF4-FFF2-40B4-BE49-F238E27FC236}">
                      <a16:creationId xmlns:a16="http://schemas.microsoft.com/office/drawing/2014/main" id="{03746820-6093-62ED-DABF-B790226FB0DB}"/>
                    </a:ext>
                  </a:extLst>
                </p:cNvPr>
                <p:cNvSpPr/>
                <p:nvPr/>
              </p:nvSpPr>
              <p:spPr>
                <a:xfrm flipH="1">
                  <a:off x="730002" y="3397241"/>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33" name="Oval 32">
                  <a:extLst>
                    <a:ext uri="{FF2B5EF4-FFF2-40B4-BE49-F238E27FC236}">
                      <a16:creationId xmlns:a16="http://schemas.microsoft.com/office/drawing/2014/main" id="{0B0979DB-1C0F-1AAF-4384-312E3B9C599C}"/>
                    </a:ext>
                  </a:extLst>
                </p:cNvPr>
                <p:cNvSpPr/>
                <p:nvPr/>
              </p:nvSpPr>
              <p:spPr>
                <a:xfrm flipH="1">
                  <a:off x="730002" y="3780516"/>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34" name="Oval 33">
                  <a:extLst>
                    <a:ext uri="{FF2B5EF4-FFF2-40B4-BE49-F238E27FC236}">
                      <a16:creationId xmlns:a16="http://schemas.microsoft.com/office/drawing/2014/main" id="{17943A6B-58DF-1FC1-24B4-8F52455EA8C2}"/>
                    </a:ext>
                  </a:extLst>
                </p:cNvPr>
                <p:cNvSpPr/>
                <p:nvPr/>
              </p:nvSpPr>
              <p:spPr>
                <a:xfrm flipH="1">
                  <a:off x="730002" y="3972153"/>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35" name="Oval 34">
                  <a:extLst>
                    <a:ext uri="{FF2B5EF4-FFF2-40B4-BE49-F238E27FC236}">
                      <a16:creationId xmlns:a16="http://schemas.microsoft.com/office/drawing/2014/main" id="{9FB26EAD-7917-782C-18FB-D516741DF41A}"/>
                    </a:ext>
                  </a:extLst>
                </p:cNvPr>
                <p:cNvSpPr/>
                <p:nvPr/>
              </p:nvSpPr>
              <p:spPr>
                <a:xfrm flipH="1">
                  <a:off x="730002" y="4163790"/>
                  <a:ext cx="132887" cy="154793"/>
                </a:xfrm>
                <a:prstGeom prst="ellipse">
                  <a:avLst/>
                </a:prstGeom>
                <a:solidFill>
                  <a:srgbClr val="FDEBA9"/>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cxnSp>
              <p:nvCxnSpPr>
                <p:cNvPr id="36" name="Straight Connector 35">
                  <a:extLst>
                    <a:ext uri="{FF2B5EF4-FFF2-40B4-BE49-F238E27FC236}">
                      <a16:creationId xmlns:a16="http://schemas.microsoft.com/office/drawing/2014/main" id="{C70A1DFB-4E88-FA2C-63E4-1FE084357D2D}"/>
                    </a:ext>
                  </a:extLst>
                </p:cNvPr>
                <p:cNvCxnSpPr>
                  <a:cxnSpLocks/>
                  <a:stCxn id="26" idx="6"/>
                  <a:endCxn id="30" idx="2"/>
                </p:cNvCxnSpPr>
                <p:nvPr/>
              </p:nvCxnSpPr>
              <p:spPr>
                <a:xfrm flipH="1" flipV="1">
                  <a:off x="862889" y="3091363"/>
                  <a:ext cx="466096" cy="114014"/>
                </a:xfrm>
                <a:prstGeom prst="line">
                  <a:avLst/>
                </a:prstGeom>
                <a:noFill/>
                <a:ln w="6350" cap="flat" cmpd="sng" algn="ctr">
                  <a:solidFill>
                    <a:srgbClr val="A5A5A5">
                      <a:lumMod val="75000"/>
                    </a:srgbClr>
                  </a:solidFill>
                  <a:prstDash val="solid"/>
                  <a:miter lim="800000"/>
                </a:ln>
                <a:effectLst/>
              </p:spPr>
            </p:cxnSp>
            <p:cxnSp>
              <p:nvCxnSpPr>
                <p:cNvPr id="37" name="Straight Connector 36">
                  <a:extLst>
                    <a:ext uri="{FF2B5EF4-FFF2-40B4-BE49-F238E27FC236}">
                      <a16:creationId xmlns:a16="http://schemas.microsoft.com/office/drawing/2014/main" id="{D3435693-C512-8612-73B1-827739EB249C}"/>
                    </a:ext>
                  </a:extLst>
                </p:cNvPr>
                <p:cNvCxnSpPr>
                  <a:cxnSpLocks/>
                  <a:stCxn id="27" idx="6"/>
                  <a:endCxn id="30" idx="2"/>
                </p:cNvCxnSpPr>
                <p:nvPr/>
              </p:nvCxnSpPr>
              <p:spPr>
                <a:xfrm flipH="1" flipV="1">
                  <a:off x="862889" y="3091363"/>
                  <a:ext cx="466096" cy="380735"/>
                </a:xfrm>
                <a:prstGeom prst="line">
                  <a:avLst/>
                </a:prstGeom>
                <a:noFill/>
                <a:ln w="6350" cap="flat" cmpd="sng" algn="ctr">
                  <a:solidFill>
                    <a:srgbClr val="A5A5A5">
                      <a:lumMod val="75000"/>
                    </a:srgbClr>
                  </a:solidFill>
                  <a:prstDash val="solid"/>
                  <a:miter lim="800000"/>
                </a:ln>
                <a:effectLst/>
              </p:spPr>
            </p:cxnSp>
            <p:cxnSp>
              <p:nvCxnSpPr>
                <p:cNvPr id="38" name="Straight Connector 37">
                  <a:extLst>
                    <a:ext uri="{FF2B5EF4-FFF2-40B4-BE49-F238E27FC236}">
                      <a16:creationId xmlns:a16="http://schemas.microsoft.com/office/drawing/2014/main" id="{EA441F3B-11D2-0C88-EA0F-6E2774A5302F}"/>
                    </a:ext>
                  </a:extLst>
                </p:cNvPr>
                <p:cNvCxnSpPr>
                  <a:cxnSpLocks/>
                  <a:stCxn id="28" idx="6"/>
                  <a:endCxn id="30" idx="2"/>
                </p:cNvCxnSpPr>
                <p:nvPr/>
              </p:nvCxnSpPr>
              <p:spPr>
                <a:xfrm flipH="1" flipV="1">
                  <a:off x="862889" y="3091363"/>
                  <a:ext cx="466096" cy="764010"/>
                </a:xfrm>
                <a:prstGeom prst="line">
                  <a:avLst/>
                </a:prstGeom>
                <a:noFill/>
                <a:ln w="6350" cap="flat" cmpd="sng" algn="ctr">
                  <a:solidFill>
                    <a:srgbClr val="A5A5A5">
                      <a:lumMod val="75000"/>
                    </a:srgbClr>
                  </a:solidFill>
                  <a:prstDash val="solid"/>
                  <a:miter lim="800000"/>
                </a:ln>
                <a:effectLst/>
              </p:spPr>
            </p:cxnSp>
            <p:cxnSp>
              <p:nvCxnSpPr>
                <p:cNvPr id="39" name="Straight Connector 38">
                  <a:extLst>
                    <a:ext uri="{FF2B5EF4-FFF2-40B4-BE49-F238E27FC236}">
                      <a16:creationId xmlns:a16="http://schemas.microsoft.com/office/drawing/2014/main" id="{563C6541-ACAE-422F-84B2-34D5454D4BDF}"/>
                    </a:ext>
                  </a:extLst>
                </p:cNvPr>
                <p:cNvCxnSpPr>
                  <a:cxnSpLocks/>
                  <a:stCxn id="29" idx="6"/>
                  <a:endCxn id="30" idx="2"/>
                </p:cNvCxnSpPr>
                <p:nvPr/>
              </p:nvCxnSpPr>
              <p:spPr>
                <a:xfrm flipH="1" flipV="1">
                  <a:off x="862889" y="3091363"/>
                  <a:ext cx="466096" cy="1026021"/>
                </a:xfrm>
                <a:prstGeom prst="line">
                  <a:avLst/>
                </a:prstGeom>
                <a:noFill/>
                <a:ln w="6350" cap="flat" cmpd="sng" algn="ctr">
                  <a:solidFill>
                    <a:srgbClr val="A5A5A5">
                      <a:lumMod val="75000"/>
                    </a:srgbClr>
                  </a:solidFill>
                  <a:prstDash val="solid"/>
                  <a:miter lim="800000"/>
                </a:ln>
                <a:effectLst/>
              </p:spPr>
            </p:cxnSp>
            <p:cxnSp>
              <p:nvCxnSpPr>
                <p:cNvPr id="40" name="Straight Connector 39">
                  <a:extLst>
                    <a:ext uri="{FF2B5EF4-FFF2-40B4-BE49-F238E27FC236}">
                      <a16:creationId xmlns:a16="http://schemas.microsoft.com/office/drawing/2014/main" id="{4A79648A-71C4-B4DE-2910-9DA0EA943563}"/>
                    </a:ext>
                  </a:extLst>
                </p:cNvPr>
                <p:cNvCxnSpPr>
                  <a:cxnSpLocks/>
                  <a:stCxn id="26" idx="6"/>
                  <a:endCxn id="31" idx="2"/>
                </p:cNvCxnSpPr>
                <p:nvPr/>
              </p:nvCxnSpPr>
              <p:spPr>
                <a:xfrm flipH="1">
                  <a:off x="862889" y="3205377"/>
                  <a:ext cx="466096" cy="77623"/>
                </a:xfrm>
                <a:prstGeom prst="line">
                  <a:avLst/>
                </a:prstGeom>
                <a:noFill/>
                <a:ln w="6350" cap="flat" cmpd="sng" algn="ctr">
                  <a:solidFill>
                    <a:srgbClr val="A5A5A5">
                      <a:lumMod val="75000"/>
                    </a:srgbClr>
                  </a:solidFill>
                  <a:prstDash val="solid"/>
                  <a:miter lim="800000"/>
                </a:ln>
                <a:effectLst/>
              </p:spPr>
            </p:cxnSp>
            <p:cxnSp>
              <p:nvCxnSpPr>
                <p:cNvPr id="41" name="Straight Connector 40">
                  <a:extLst>
                    <a:ext uri="{FF2B5EF4-FFF2-40B4-BE49-F238E27FC236}">
                      <a16:creationId xmlns:a16="http://schemas.microsoft.com/office/drawing/2014/main" id="{4D2C84EB-E444-39E5-DA53-5B1C9A27ACC1}"/>
                    </a:ext>
                  </a:extLst>
                </p:cNvPr>
                <p:cNvCxnSpPr>
                  <a:cxnSpLocks/>
                  <a:stCxn id="26" idx="6"/>
                  <a:endCxn id="32" idx="2"/>
                </p:cNvCxnSpPr>
                <p:nvPr/>
              </p:nvCxnSpPr>
              <p:spPr>
                <a:xfrm flipH="1">
                  <a:off x="862889" y="3205377"/>
                  <a:ext cx="466096" cy="269261"/>
                </a:xfrm>
                <a:prstGeom prst="line">
                  <a:avLst/>
                </a:prstGeom>
                <a:noFill/>
                <a:ln w="6350" cap="flat" cmpd="sng" algn="ctr">
                  <a:solidFill>
                    <a:srgbClr val="A5A5A5">
                      <a:lumMod val="75000"/>
                    </a:srgbClr>
                  </a:solidFill>
                  <a:prstDash val="solid"/>
                  <a:miter lim="800000"/>
                </a:ln>
                <a:effectLst/>
              </p:spPr>
            </p:cxnSp>
            <p:cxnSp>
              <p:nvCxnSpPr>
                <p:cNvPr id="42" name="Straight Connector 41">
                  <a:extLst>
                    <a:ext uri="{FF2B5EF4-FFF2-40B4-BE49-F238E27FC236}">
                      <a16:creationId xmlns:a16="http://schemas.microsoft.com/office/drawing/2014/main" id="{E326AB51-A3CD-02B2-7503-0E546D443DEB}"/>
                    </a:ext>
                  </a:extLst>
                </p:cNvPr>
                <p:cNvCxnSpPr>
                  <a:cxnSpLocks/>
                  <a:stCxn id="26" idx="6"/>
                  <a:endCxn id="33" idx="2"/>
                </p:cNvCxnSpPr>
                <p:nvPr/>
              </p:nvCxnSpPr>
              <p:spPr>
                <a:xfrm flipH="1">
                  <a:off x="862889" y="3205377"/>
                  <a:ext cx="466096" cy="652536"/>
                </a:xfrm>
                <a:prstGeom prst="line">
                  <a:avLst/>
                </a:prstGeom>
                <a:noFill/>
                <a:ln w="6350" cap="flat" cmpd="sng" algn="ctr">
                  <a:solidFill>
                    <a:srgbClr val="A5A5A5">
                      <a:lumMod val="75000"/>
                    </a:srgbClr>
                  </a:solidFill>
                  <a:prstDash val="solid"/>
                  <a:miter lim="800000"/>
                </a:ln>
                <a:effectLst/>
              </p:spPr>
            </p:cxnSp>
            <p:cxnSp>
              <p:nvCxnSpPr>
                <p:cNvPr id="43" name="Straight Connector 42">
                  <a:extLst>
                    <a:ext uri="{FF2B5EF4-FFF2-40B4-BE49-F238E27FC236}">
                      <a16:creationId xmlns:a16="http://schemas.microsoft.com/office/drawing/2014/main" id="{7350AAF0-5A0E-BFD0-2F5F-2E39060D0A10}"/>
                    </a:ext>
                  </a:extLst>
                </p:cNvPr>
                <p:cNvCxnSpPr>
                  <a:cxnSpLocks/>
                  <a:stCxn id="26" idx="6"/>
                  <a:endCxn id="34" idx="2"/>
                </p:cNvCxnSpPr>
                <p:nvPr/>
              </p:nvCxnSpPr>
              <p:spPr>
                <a:xfrm flipH="1">
                  <a:off x="862889" y="3205377"/>
                  <a:ext cx="466096" cy="844173"/>
                </a:xfrm>
                <a:prstGeom prst="line">
                  <a:avLst/>
                </a:prstGeom>
                <a:noFill/>
                <a:ln w="6350" cap="flat" cmpd="sng" algn="ctr">
                  <a:solidFill>
                    <a:srgbClr val="A5A5A5">
                      <a:lumMod val="75000"/>
                    </a:srgbClr>
                  </a:solidFill>
                  <a:prstDash val="solid"/>
                  <a:miter lim="800000"/>
                </a:ln>
                <a:effectLst/>
              </p:spPr>
            </p:cxnSp>
            <p:cxnSp>
              <p:nvCxnSpPr>
                <p:cNvPr id="44" name="Straight Connector 43">
                  <a:extLst>
                    <a:ext uri="{FF2B5EF4-FFF2-40B4-BE49-F238E27FC236}">
                      <a16:creationId xmlns:a16="http://schemas.microsoft.com/office/drawing/2014/main" id="{59B74B31-11C8-D316-6CA2-1889564F37FA}"/>
                    </a:ext>
                  </a:extLst>
                </p:cNvPr>
                <p:cNvCxnSpPr>
                  <a:cxnSpLocks/>
                  <a:stCxn id="26" idx="6"/>
                  <a:endCxn id="35" idx="2"/>
                </p:cNvCxnSpPr>
                <p:nvPr/>
              </p:nvCxnSpPr>
              <p:spPr>
                <a:xfrm flipH="1">
                  <a:off x="862889" y="3205377"/>
                  <a:ext cx="466096" cy="1035810"/>
                </a:xfrm>
                <a:prstGeom prst="line">
                  <a:avLst/>
                </a:prstGeom>
                <a:noFill/>
                <a:ln w="6350" cap="flat" cmpd="sng" algn="ctr">
                  <a:solidFill>
                    <a:srgbClr val="A5A5A5">
                      <a:lumMod val="75000"/>
                    </a:srgbClr>
                  </a:solidFill>
                  <a:prstDash val="solid"/>
                  <a:miter lim="800000"/>
                </a:ln>
                <a:effectLst/>
              </p:spPr>
            </p:cxnSp>
            <p:cxnSp>
              <p:nvCxnSpPr>
                <p:cNvPr id="45" name="Straight Connector 44">
                  <a:extLst>
                    <a:ext uri="{FF2B5EF4-FFF2-40B4-BE49-F238E27FC236}">
                      <a16:creationId xmlns:a16="http://schemas.microsoft.com/office/drawing/2014/main" id="{4B3EA7FD-772C-B870-310C-33C2139D8E20}"/>
                    </a:ext>
                  </a:extLst>
                </p:cNvPr>
                <p:cNvCxnSpPr>
                  <a:cxnSpLocks/>
                  <a:stCxn id="27" idx="6"/>
                  <a:endCxn id="31" idx="2"/>
                </p:cNvCxnSpPr>
                <p:nvPr/>
              </p:nvCxnSpPr>
              <p:spPr>
                <a:xfrm flipH="1" flipV="1">
                  <a:off x="862889" y="3283000"/>
                  <a:ext cx="466096" cy="189098"/>
                </a:xfrm>
                <a:prstGeom prst="line">
                  <a:avLst/>
                </a:prstGeom>
                <a:noFill/>
                <a:ln w="6350" cap="flat" cmpd="sng" algn="ctr">
                  <a:solidFill>
                    <a:srgbClr val="A5A5A5">
                      <a:lumMod val="75000"/>
                    </a:srgbClr>
                  </a:solidFill>
                  <a:prstDash val="solid"/>
                  <a:miter lim="800000"/>
                </a:ln>
                <a:effectLst/>
              </p:spPr>
            </p:cxnSp>
            <p:cxnSp>
              <p:nvCxnSpPr>
                <p:cNvPr id="46" name="Straight Connector 45">
                  <a:extLst>
                    <a:ext uri="{FF2B5EF4-FFF2-40B4-BE49-F238E27FC236}">
                      <a16:creationId xmlns:a16="http://schemas.microsoft.com/office/drawing/2014/main" id="{A18B43AA-C6B5-4581-0377-38F54EF79810}"/>
                    </a:ext>
                  </a:extLst>
                </p:cNvPr>
                <p:cNvCxnSpPr>
                  <a:cxnSpLocks/>
                  <a:stCxn id="27" idx="6"/>
                  <a:endCxn id="32" idx="2"/>
                </p:cNvCxnSpPr>
                <p:nvPr/>
              </p:nvCxnSpPr>
              <p:spPr>
                <a:xfrm flipH="1">
                  <a:off x="862889" y="3472098"/>
                  <a:ext cx="466096" cy="2540"/>
                </a:xfrm>
                <a:prstGeom prst="line">
                  <a:avLst/>
                </a:prstGeom>
                <a:noFill/>
                <a:ln w="6350" cap="flat" cmpd="sng" algn="ctr">
                  <a:solidFill>
                    <a:srgbClr val="A5A5A5">
                      <a:lumMod val="75000"/>
                    </a:srgbClr>
                  </a:solidFill>
                  <a:prstDash val="solid"/>
                  <a:miter lim="800000"/>
                </a:ln>
                <a:effectLst/>
              </p:spPr>
            </p:cxnSp>
            <p:cxnSp>
              <p:nvCxnSpPr>
                <p:cNvPr id="47" name="Straight Connector 46">
                  <a:extLst>
                    <a:ext uri="{FF2B5EF4-FFF2-40B4-BE49-F238E27FC236}">
                      <a16:creationId xmlns:a16="http://schemas.microsoft.com/office/drawing/2014/main" id="{6277AA35-C1E5-85C8-9871-BBD05D5EA451}"/>
                    </a:ext>
                  </a:extLst>
                </p:cNvPr>
                <p:cNvCxnSpPr>
                  <a:cxnSpLocks/>
                  <a:stCxn id="27" idx="6"/>
                  <a:endCxn id="33" idx="2"/>
                </p:cNvCxnSpPr>
                <p:nvPr/>
              </p:nvCxnSpPr>
              <p:spPr>
                <a:xfrm flipH="1">
                  <a:off x="862889" y="3472098"/>
                  <a:ext cx="466096" cy="385815"/>
                </a:xfrm>
                <a:prstGeom prst="line">
                  <a:avLst/>
                </a:prstGeom>
                <a:noFill/>
                <a:ln w="6350" cap="flat" cmpd="sng" algn="ctr">
                  <a:solidFill>
                    <a:srgbClr val="A5A5A5">
                      <a:lumMod val="75000"/>
                    </a:srgbClr>
                  </a:solidFill>
                  <a:prstDash val="solid"/>
                  <a:miter lim="800000"/>
                </a:ln>
                <a:effectLst/>
              </p:spPr>
            </p:cxnSp>
            <p:cxnSp>
              <p:nvCxnSpPr>
                <p:cNvPr id="48" name="Straight Connector 47">
                  <a:extLst>
                    <a:ext uri="{FF2B5EF4-FFF2-40B4-BE49-F238E27FC236}">
                      <a16:creationId xmlns:a16="http://schemas.microsoft.com/office/drawing/2014/main" id="{6CAD517A-5A57-79A5-E487-48B2688EF6D8}"/>
                    </a:ext>
                  </a:extLst>
                </p:cNvPr>
                <p:cNvCxnSpPr>
                  <a:cxnSpLocks/>
                  <a:stCxn id="27" idx="6"/>
                  <a:endCxn id="34" idx="2"/>
                </p:cNvCxnSpPr>
                <p:nvPr/>
              </p:nvCxnSpPr>
              <p:spPr>
                <a:xfrm flipH="1">
                  <a:off x="862889" y="3472098"/>
                  <a:ext cx="466096" cy="577452"/>
                </a:xfrm>
                <a:prstGeom prst="line">
                  <a:avLst/>
                </a:prstGeom>
                <a:noFill/>
                <a:ln w="6350" cap="flat" cmpd="sng" algn="ctr">
                  <a:solidFill>
                    <a:srgbClr val="A5A5A5">
                      <a:lumMod val="75000"/>
                    </a:srgbClr>
                  </a:solidFill>
                  <a:prstDash val="solid"/>
                  <a:miter lim="800000"/>
                </a:ln>
                <a:effectLst/>
              </p:spPr>
            </p:cxnSp>
            <p:cxnSp>
              <p:nvCxnSpPr>
                <p:cNvPr id="49" name="Straight Connector 48">
                  <a:extLst>
                    <a:ext uri="{FF2B5EF4-FFF2-40B4-BE49-F238E27FC236}">
                      <a16:creationId xmlns:a16="http://schemas.microsoft.com/office/drawing/2014/main" id="{016C3EDA-0FD8-7D56-8EFC-19AF2C9849F6}"/>
                    </a:ext>
                  </a:extLst>
                </p:cNvPr>
                <p:cNvCxnSpPr>
                  <a:cxnSpLocks/>
                  <a:stCxn id="27" idx="6"/>
                  <a:endCxn id="35" idx="2"/>
                </p:cNvCxnSpPr>
                <p:nvPr/>
              </p:nvCxnSpPr>
              <p:spPr>
                <a:xfrm flipH="1">
                  <a:off x="862889" y="3472098"/>
                  <a:ext cx="466096" cy="769089"/>
                </a:xfrm>
                <a:prstGeom prst="line">
                  <a:avLst/>
                </a:prstGeom>
                <a:noFill/>
                <a:ln w="6350" cap="flat" cmpd="sng" algn="ctr">
                  <a:solidFill>
                    <a:srgbClr val="A5A5A5">
                      <a:lumMod val="75000"/>
                    </a:srgbClr>
                  </a:solidFill>
                  <a:prstDash val="solid"/>
                  <a:miter lim="800000"/>
                </a:ln>
                <a:effectLst/>
              </p:spPr>
            </p:cxnSp>
            <p:cxnSp>
              <p:nvCxnSpPr>
                <p:cNvPr id="50" name="Straight Connector 49">
                  <a:extLst>
                    <a:ext uri="{FF2B5EF4-FFF2-40B4-BE49-F238E27FC236}">
                      <a16:creationId xmlns:a16="http://schemas.microsoft.com/office/drawing/2014/main" id="{49235527-6053-146F-CB62-F4E52E73AB51}"/>
                    </a:ext>
                  </a:extLst>
                </p:cNvPr>
                <p:cNvCxnSpPr>
                  <a:cxnSpLocks/>
                  <a:stCxn id="28" idx="6"/>
                  <a:endCxn id="30" idx="2"/>
                </p:cNvCxnSpPr>
                <p:nvPr/>
              </p:nvCxnSpPr>
              <p:spPr>
                <a:xfrm flipH="1" flipV="1">
                  <a:off x="862889" y="3091363"/>
                  <a:ext cx="466096" cy="764010"/>
                </a:xfrm>
                <a:prstGeom prst="line">
                  <a:avLst/>
                </a:prstGeom>
                <a:noFill/>
                <a:ln w="6350" cap="flat" cmpd="sng" algn="ctr">
                  <a:solidFill>
                    <a:srgbClr val="A5A5A5">
                      <a:lumMod val="75000"/>
                    </a:srgbClr>
                  </a:solidFill>
                  <a:prstDash val="solid"/>
                  <a:miter lim="800000"/>
                </a:ln>
                <a:effectLst/>
              </p:spPr>
            </p:cxnSp>
            <p:cxnSp>
              <p:nvCxnSpPr>
                <p:cNvPr id="51" name="Straight Connector 50">
                  <a:extLst>
                    <a:ext uri="{FF2B5EF4-FFF2-40B4-BE49-F238E27FC236}">
                      <a16:creationId xmlns:a16="http://schemas.microsoft.com/office/drawing/2014/main" id="{1C281D63-6538-5F4A-4F2C-6946B58C25DD}"/>
                    </a:ext>
                  </a:extLst>
                </p:cNvPr>
                <p:cNvCxnSpPr>
                  <a:cxnSpLocks/>
                  <a:stCxn id="28" idx="6"/>
                  <a:endCxn id="31" idx="2"/>
                </p:cNvCxnSpPr>
                <p:nvPr/>
              </p:nvCxnSpPr>
              <p:spPr>
                <a:xfrm flipH="1" flipV="1">
                  <a:off x="862889" y="3283000"/>
                  <a:ext cx="466096" cy="572373"/>
                </a:xfrm>
                <a:prstGeom prst="line">
                  <a:avLst/>
                </a:prstGeom>
                <a:noFill/>
                <a:ln w="6350" cap="flat" cmpd="sng" algn="ctr">
                  <a:solidFill>
                    <a:srgbClr val="A5A5A5">
                      <a:lumMod val="75000"/>
                    </a:srgbClr>
                  </a:solidFill>
                  <a:prstDash val="solid"/>
                  <a:miter lim="800000"/>
                </a:ln>
                <a:effectLst/>
              </p:spPr>
            </p:cxnSp>
            <p:cxnSp>
              <p:nvCxnSpPr>
                <p:cNvPr id="52" name="Straight Connector 51">
                  <a:extLst>
                    <a:ext uri="{FF2B5EF4-FFF2-40B4-BE49-F238E27FC236}">
                      <a16:creationId xmlns:a16="http://schemas.microsoft.com/office/drawing/2014/main" id="{D30361C6-F799-BF80-0F14-68DE07350A0C}"/>
                    </a:ext>
                  </a:extLst>
                </p:cNvPr>
                <p:cNvCxnSpPr>
                  <a:cxnSpLocks/>
                  <a:stCxn id="28" idx="6"/>
                  <a:endCxn id="32" idx="2"/>
                </p:cNvCxnSpPr>
                <p:nvPr/>
              </p:nvCxnSpPr>
              <p:spPr>
                <a:xfrm flipH="1" flipV="1">
                  <a:off x="862889" y="3474638"/>
                  <a:ext cx="466096" cy="380735"/>
                </a:xfrm>
                <a:prstGeom prst="line">
                  <a:avLst/>
                </a:prstGeom>
                <a:noFill/>
                <a:ln w="6350" cap="flat" cmpd="sng" algn="ctr">
                  <a:solidFill>
                    <a:srgbClr val="A5A5A5">
                      <a:lumMod val="75000"/>
                    </a:srgbClr>
                  </a:solidFill>
                  <a:prstDash val="solid"/>
                  <a:miter lim="800000"/>
                </a:ln>
                <a:effectLst/>
              </p:spPr>
            </p:cxnSp>
            <p:cxnSp>
              <p:nvCxnSpPr>
                <p:cNvPr id="53" name="Straight Connector 52">
                  <a:extLst>
                    <a:ext uri="{FF2B5EF4-FFF2-40B4-BE49-F238E27FC236}">
                      <a16:creationId xmlns:a16="http://schemas.microsoft.com/office/drawing/2014/main" id="{74D1B2F3-4C26-45AA-E58A-D0C91EF850CA}"/>
                    </a:ext>
                  </a:extLst>
                </p:cNvPr>
                <p:cNvCxnSpPr>
                  <a:cxnSpLocks/>
                  <a:stCxn id="28" idx="6"/>
                  <a:endCxn id="33" idx="2"/>
                </p:cNvCxnSpPr>
                <p:nvPr/>
              </p:nvCxnSpPr>
              <p:spPr>
                <a:xfrm flipH="1">
                  <a:off x="862889" y="3855373"/>
                  <a:ext cx="466096" cy="2540"/>
                </a:xfrm>
                <a:prstGeom prst="line">
                  <a:avLst/>
                </a:prstGeom>
                <a:noFill/>
                <a:ln w="6350" cap="flat" cmpd="sng" algn="ctr">
                  <a:solidFill>
                    <a:srgbClr val="A5A5A5">
                      <a:lumMod val="75000"/>
                    </a:srgbClr>
                  </a:solidFill>
                  <a:prstDash val="solid"/>
                  <a:miter lim="800000"/>
                </a:ln>
                <a:effectLst/>
              </p:spPr>
            </p:cxnSp>
            <p:cxnSp>
              <p:nvCxnSpPr>
                <p:cNvPr id="54" name="Straight Connector 53">
                  <a:extLst>
                    <a:ext uri="{FF2B5EF4-FFF2-40B4-BE49-F238E27FC236}">
                      <a16:creationId xmlns:a16="http://schemas.microsoft.com/office/drawing/2014/main" id="{918994E1-8AC1-69CF-515C-07499303E784}"/>
                    </a:ext>
                  </a:extLst>
                </p:cNvPr>
                <p:cNvCxnSpPr>
                  <a:cxnSpLocks/>
                  <a:stCxn id="28" idx="6"/>
                  <a:endCxn id="34" idx="2"/>
                </p:cNvCxnSpPr>
                <p:nvPr/>
              </p:nvCxnSpPr>
              <p:spPr>
                <a:xfrm flipH="1">
                  <a:off x="862889" y="3855373"/>
                  <a:ext cx="466096" cy="194177"/>
                </a:xfrm>
                <a:prstGeom prst="line">
                  <a:avLst/>
                </a:prstGeom>
                <a:noFill/>
                <a:ln w="6350" cap="flat" cmpd="sng" algn="ctr">
                  <a:solidFill>
                    <a:srgbClr val="A5A5A5">
                      <a:lumMod val="75000"/>
                    </a:srgbClr>
                  </a:solidFill>
                  <a:prstDash val="solid"/>
                  <a:miter lim="800000"/>
                </a:ln>
                <a:effectLst/>
              </p:spPr>
            </p:cxnSp>
            <p:cxnSp>
              <p:nvCxnSpPr>
                <p:cNvPr id="55" name="Straight Connector 54">
                  <a:extLst>
                    <a:ext uri="{FF2B5EF4-FFF2-40B4-BE49-F238E27FC236}">
                      <a16:creationId xmlns:a16="http://schemas.microsoft.com/office/drawing/2014/main" id="{C3D0FABC-D3BA-093B-63A3-927F4CD53A90}"/>
                    </a:ext>
                  </a:extLst>
                </p:cNvPr>
                <p:cNvCxnSpPr>
                  <a:cxnSpLocks/>
                  <a:stCxn id="28" idx="6"/>
                  <a:endCxn id="35" idx="2"/>
                </p:cNvCxnSpPr>
                <p:nvPr/>
              </p:nvCxnSpPr>
              <p:spPr>
                <a:xfrm flipH="1">
                  <a:off x="862889" y="3855373"/>
                  <a:ext cx="466096" cy="385814"/>
                </a:xfrm>
                <a:prstGeom prst="line">
                  <a:avLst/>
                </a:prstGeom>
                <a:noFill/>
                <a:ln w="6350" cap="flat" cmpd="sng" algn="ctr">
                  <a:solidFill>
                    <a:srgbClr val="A5A5A5">
                      <a:lumMod val="75000"/>
                    </a:srgbClr>
                  </a:solidFill>
                  <a:prstDash val="solid"/>
                  <a:miter lim="800000"/>
                </a:ln>
                <a:effectLst/>
              </p:spPr>
            </p:cxnSp>
            <p:cxnSp>
              <p:nvCxnSpPr>
                <p:cNvPr id="56" name="Straight Connector 55">
                  <a:extLst>
                    <a:ext uri="{FF2B5EF4-FFF2-40B4-BE49-F238E27FC236}">
                      <a16:creationId xmlns:a16="http://schemas.microsoft.com/office/drawing/2014/main" id="{D289AB19-0C1F-7139-3606-6CE47318C19C}"/>
                    </a:ext>
                  </a:extLst>
                </p:cNvPr>
                <p:cNvCxnSpPr>
                  <a:cxnSpLocks/>
                  <a:stCxn id="29" idx="6"/>
                  <a:endCxn id="31" idx="2"/>
                </p:cNvCxnSpPr>
                <p:nvPr/>
              </p:nvCxnSpPr>
              <p:spPr>
                <a:xfrm flipH="1" flipV="1">
                  <a:off x="862889" y="3283000"/>
                  <a:ext cx="466096" cy="834384"/>
                </a:xfrm>
                <a:prstGeom prst="line">
                  <a:avLst/>
                </a:prstGeom>
                <a:noFill/>
                <a:ln w="6350" cap="flat" cmpd="sng" algn="ctr">
                  <a:solidFill>
                    <a:srgbClr val="A5A5A5">
                      <a:lumMod val="75000"/>
                    </a:srgbClr>
                  </a:solidFill>
                  <a:prstDash val="solid"/>
                  <a:miter lim="800000"/>
                </a:ln>
                <a:effectLst/>
              </p:spPr>
            </p:cxnSp>
            <p:cxnSp>
              <p:nvCxnSpPr>
                <p:cNvPr id="57" name="Straight Connector 56">
                  <a:extLst>
                    <a:ext uri="{FF2B5EF4-FFF2-40B4-BE49-F238E27FC236}">
                      <a16:creationId xmlns:a16="http://schemas.microsoft.com/office/drawing/2014/main" id="{94DA5F61-D170-1FA0-F204-9396205B0F34}"/>
                    </a:ext>
                  </a:extLst>
                </p:cNvPr>
                <p:cNvCxnSpPr>
                  <a:cxnSpLocks/>
                  <a:stCxn id="29" idx="6"/>
                  <a:endCxn id="32" idx="2"/>
                </p:cNvCxnSpPr>
                <p:nvPr/>
              </p:nvCxnSpPr>
              <p:spPr>
                <a:xfrm flipH="1" flipV="1">
                  <a:off x="862889" y="3474638"/>
                  <a:ext cx="466096" cy="642746"/>
                </a:xfrm>
                <a:prstGeom prst="line">
                  <a:avLst/>
                </a:prstGeom>
                <a:noFill/>
                <a:ln w="6350" cap="flat" cmpd="sng" algn="ctr">
                  <a:solidFill>
                    <a:srgbClr val="A5A5A5">
                      <a:lumMod val="75000"/>
                    </a:srgbClr>
                  </a:solidFill>
                  <a:prstDash val="solid"/>
                  <a:miter lim="800000"/>
                </a:ln>
                <a:effectLst/>
              </p:spPr>
            </p:cxnSp>
            <p:cxnSp>
              <p:nvCxnSpPr>
                <p:cNvPr id="58" name="Straight Connector 57">
                  <a:extLst>
                    <a:ext uri="{FF2B5EF4-FFF2-40B4-BE49-F238E27FC236}">
                      <a16:creationId xmlns:a16="http://schemas.microsoft.com/office/drawing/2014/main" id="{C1842B78-C88D-0120-0242-BBE0F5CB739E}"/>
                    </a:ext>
                  </a:extLst>
                </p:cNvPr>
                <p:cNvCxnSpPr>
                  <a:cxnSpLocks/>
                  <a:stCxn id="29" idx="6"/>
                  <a:endCxn id="33" idx="2"/>
                </p:cNvCxnSpPr>
                <p:nvPr/>
              </p:nvCxnSpPr>
              <p:spPr>
                <a:xfrm flipH="1" flipV="1">
                  <a:off x="862889" y="3857913"/>
                  <a:ext cx="466096" cy="259471"/>
                </a:xfrm>
                <a:prstGeom prst="line">
                  <a:avLst/>
                </a:prstGeom>
                <a:noFill/>
                <a:ln w="6350" cap="flat" cmpd="sng" algn="ctr">
                  <a:solidFill>
                    <a:srgbClr val="A5A5A5">
                      <a:lumMod val="75000"/>
                    </a:srgbClr>
                  </a:solidFill>
                  <a:prstDash val="solid"/>
                  <a:miter lim="800000"/>
                </a:ln>
                <a:effectLst/>
              </p:spPr>
            </p:cxnSp>
            <p:cxnSp>
              <p:nvCxnSpPr>
                <p:cNvPr id="59" name="Straight Connector 58">
                  <a:extLst>
                    <a:ext uri="{FF2B5EF4-FFF2-40B4-BE49-F238E27FC236}">
                      <a16:creationId xmlns:a16="http://schemas.microsoft.com/office/drawing/2014/main" id="{9966A360-F3D4-4FAC-16FF-E5790417EEC7}"/>
                    </a:ext>
                  </a:extLst>
                </p:cNvPr>
                <p:cNvCxnSpPr>
                  <a:cxnSpLocks/>
                  <a:stCxn id="29" idx="6"/>
                  <a:endCxn id="34" idx="2"/>
                </p:cNvCxnSpPr>
                <p:nvPr/>
              </p:nvCxnSpPr>
              <p:spPr>
                <a:xfrm flipH="1" flipV="1">
                  <a:off x="862889" y="4049550"/>
                  <a:ext cx="466096" cy="67834"/>
                </a:xfrm>
                <a:prstGeom prst="line">
                  <a:avLst/>
                </a:prstGeom>
                <a:noFill/>
                <a:ln w="6350" cap="flat" cmpd="sng" algn="ctr">
                  <a:solidFill>
                    <a:srgbClr val="A5A5A5">
                      <a:lumMod val="75000"/>
                    </a:srgbClr>
                  </a:solidFill>
                  <a:prstDash val="solid"/>
                  <a:miter lim="800000"/>
                </a:ln>
                <a:effectLst/>
              </p:spPr>
            </p:cxnSp>
            <p:cxnSp>
              <p:nvCxnSpPr>
                <p:cNvPr id="60" name="Straight Connector 59">
                  <a:extLst>
                    <a:ext uri="{FF2B5EF4-FFF2-40B4-BE49-F238E27FC236}">
                      <a16:creationId xmlns:a16="http://schemas.microsoft.com/office/drawing/2014/main" id="{FB3DF179-C595-E0FC-6C79-EAE410717B39}"/>
                    </a:ext>
                  </a:extLst>
                </p:cNvPr>
                <p:cNvCxnSpPr>
                  <a:cxnSpLocks/>
                  <a:stCxn id="29" idx="6"/>
                  <a:endCxn id="35" idx="2"/>
                </p:cNvCxnSpPr>
                <p:nvPr/>
              </p:nvCxnSpPr>
              <p:spPr>
                <a:xfrm flipH="1">
                  <a:off x="862889" y="4117384"/>
                  <a:ext cx="466096" cy="123803"/>
                </a:xfrm>
                <a:prstGeom prst="line">
                  <a:avLst/>
                </a:prstGeom>
                <a:noFill/>
                <a:ln w="6350" cap="flat" cmpd="sng" algn="ctr">
                  <a:solidFill>
                    <a:srgbClr val="A5A5A5">
                      <a:lumMod val="75000"/>
                    </a:srgbClr>
                  </a:solidFill>
                  <a:prstDash val="solid"/>
                  <a:miter lim="800000"/>
                </a:ln>
                <a:effectLst/>
              </p:spPr>
            </p:cxnSp>
            <p:sp>
              <p:nvSpPr>
                <p:cNvPr id="61" name="TextBox 121">
                  <a:extLst>
                    <a:ext uri="{FF2B5EF4-FFF2-40B4-BE49-F238E27FC236}">
                      <a16:creationId xmlns:a16="http://schemas.microsoft.com/office/drawing/2014/main" id="{AC6CED71-FF6F-657D-80CA-30E439A7A689}"/>
                    </a:ext>
                  </a:extLst>
                </p:cNvPr>
                <p:cNvSpPr txBox="1"/>
                <p:nvPr/>
              </p:nvSpPr>
              <p:spPr>
                <a:xfrm rot="16200000" flipH="1">
                  <a:off x="1216147" y="3593771"/>
                  <a:ext cx="308969" cy="177396"/>
                </a:xfrm>
                <a:prstGeom prst="rect">
                  <a:avLst/>
                </a:prstGeom>
                <a:noFill/>
              </p:spPr>
              <p:txBody>
                <a:bodyPr wrap="square" rtlCol="0">
                  <a:noAutofit/>
                </a:bodyPr>
                <a:lstStyle/>
                <a:p>
                  <a:pPr defTabSz="675010">
                    <a:defRPr/>
                  </a:pPr>
                  <a:r>
                    <a:rPr lang="en-US" sz="738" kern="0" dirty="0">
                      <a:solidFill>
                        <a:srgbClr val="000000"/>
                      </a:solidFill>
                      <a:latin typeface="Calibri" panose="020F0502020204030204" pitchFamily="34" charset="0"/>
                      <a:ea typeface="Times New Roman" panose="02020603050405020304" pitchFamily="18" charset="0"/>
                      <a:cs typeface="Arial" panose="020B0604020202020204" pitchFamily="34" charset="0"/>
                    </a:rPr>
                    <a:t>…</a:t>
                  </a:r>
                  <a:endParaRPr lang="en-US" sz="738" kern="0" dirty="0">
                    <a:solidFill>
                      <a:sysClr val="windowText" lastClr="000000"/>
                    </a:solidFill>
                    <a:latin typeface="Times New Roman" panose="02020603050405020304" pitchFamily="18" charset="0"/>
                    <a:ea typeface="Times New Roman" panose="02020603050405020304" pitchFamily="18" charset="0"/>
                  </a:endParaRPr>
                </a:p>
              </p:txBody>
            </p:sp>
            <p:sp>
              <p:nvSpPr>
                <p:cNvPr id="62" name="TextBox 122">
                  <a:extLst>
                    <a:ext uri="{FF2B5EF4-FFF2-40B4-BE49-F238E27FC236}">
                      <a16:creationId xmlns:a16="http://schemas.microsoft.com/office/drawing/2014/main" id="{50DABC76-3154-C3B5-148D-53BD892B56F7}"/>
                    </a:ext>
                  </a:extLst>
                </p:cNvPr>
                <p:cNvSpPr txBox="1"/>
                <p:nvPr/>
              </p:nvSpPr>
              <p:spPr>
                <a:xfrm rot="16200000" flipH="1">
                  <a:off x="617164" y="3601722"/>
                  <a:ext cx="308969" cy="177396"/>
                </a:xfrm>
                <a:prstGeom prst="rect">
                  <a:avLst/>
                </a:prstGeom>
                <a:noFill/>
              </p:spPr>
              <p:txBody>
                <a:bodyPr wrap="square" rtlCol="0">
                  <a:noAutofit/>
                </a:bodyPr>
                <a:lstStyle/>
                <a:p>
                  <a:pPr defTabSz="675010">
                    <a:defRPr/>
                  </a:pPr>
                  <a:r>
                    <a:rPr lang="en-US" sz="738" dirty="0">
                      <a:solidFill>
                        <a:srgbClr val="000000"/>
                      </a:solidFill>
                      <a:latin typeface="Calibri" panose="020F0502020204030204" pitchFamily="34" charset="0"/>
                      <a:ea typeface="Times New Roman" panose="02020603050405020304" pitchFamily="18" charset="0"/>
                      <a:cs typeface="Arial" panose="020B0604020202020204" pitchFamily="34" charset="0"/>
                    </a:rPr>
                    <a:t>…</a:t>
                  </a:r>
                  <a:endParaRPr lang="en-US" sz="738" kern="0" dirty="0">
                    <a:solidFill>
                      <a:sysClr val="windowText" lastClr="000000"/>
                    </a:solidFill>
                    <a:latin typeface="Times New Roman" panose="02020603050405020304" pitchFamily="18" charset="0"/>
                    <a:ea typeface="Times New Roman" panose="02020603050405020304" pitchFamily="18" charset="0"/>
                  </a:endParaRPr>
                </a:p>
              </p:txBody>
            </p:sp>
            <p:sp>
              <p:nvSpPr>
                <p:cNvPr id="63" name="Oval 62">
                  <a:extLst>
                    <a:ext uri="{FF2B5EF4-FFF2-40B4-BE49-F238E27FC236}">
                      <a16:creationId xmlns:a16="http://schemas.microsoft.com/office/drawing/2014/main" id="{5D897E79-20BF-928C-025B-03014140021C}"/>
                    </a:ext>
                  </a:extLst>
                </p:cNvPr>
                <p:cNvSpPr/>
                <p:nvPr/>
              </p:nvSpPr>
              <p:spPr>
                <a:xfrm flipH="1">
                  <a:off x="2012245" y="3127980"/>
                  <a:ext cx="132887" cy="154793"/>
                </a:xfrm>
                <a:prstGeom prst="ellipse">
                  <a:avLst/>
                </a:prstGeom>
                <a:solidFill>
                  <a:srgbClr val="C6E8AB"/>
                </a:solidFill>
                <a:ln>
                  <a:noFill/>
                </a:ln>
                <a:effectLst>
                  <a:outerShdw dist="35921" dir="2700000" algn="ctr" rotWithShape="0">
                    <a:srgbClr val="B2B2B2"/>
                  </a:outerShdw>
                </a:effectLst>
              </p:spPr>
              <p:txBody>
                <a:bodyPr wrap="none" anchor="ctr"/>
                <a:lstStyle/>
                <a:p>
                  <a:pPr defTabSz="675010">
                    <a:defRPr/>
                  </a:pPr>
                  <a:endParaRPr lang="en-US" sz="1329" kern="0" dirty="0">
                    <a:solidFill>
                      <a:sysClr val="windowText" lastClr="000000"/>
                    </a:solidFill>
                  </a:endParaRPr>
                </a:p>
              </p:txBody>
            </p:sp>
            <p:sp>
              <p:nvSpPr>
                <p:cNvPr id="64" name="Oval 63">
                  <a:extLst>
                    <a:ext uri="{FF2B5EF4-FFF2-40B4-BE49-F238E27FC236}">
                      <a16:creationId xmlns:a16="http://schemas.microsoft.com/office/drawing/2014/main" id="{8C1AE560-2755-BC4C-48A3-959693D3685C}"/>
                    </a:ext>
                  </a:extLst>
                </p:cNvPr>
                <p:cNvSpPr/>
                <p:nvPr/>
              </p:nvSpPr>
              <p:spPr>
                <a:xfrm flipH="1">
                  <a:off x="2012245" y="3408733"/>
                  <a:ext cx="132887" cy="154793"/>
                </a:xfrm>
                <a:prstGeom prst="ellipse">
                  <a:avLst/>
                </a:prstGeom>
                <a:solidFill>
                  <a:srgbClr val="C6E8AB"/>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65" name="Oval 64">
                  <a:extLst>
                    <a:ext uri="{FF2B5EF4-FFF2-40B4-BE49-F238E27FC236}">
                      <a16:creationId xmlns:a16="http://schemas.microsoft.com/office/drawing/2014/main" id="{CCE83C59-F179-301C-8DFA-D4BD9CD67A8A}"/>
                    </a:ext>
                  </a:extLst>
                </p:cNvPr>
                <p:cNvSpPr/>
                <p:nvPr/>
              </p:nvSpPr>
              <p:spPr>
                <a:xfrm flipH="1">
                  <a:off x="2012245" y="3792008"/>
                  <a:ext cx="132887" cy="154793"/>
                </a:xfrm>
                <a:prstGeom prst="ellipse">
                  <a:avLst/>
                </a:prstGeom>
                <a:solidFill>
                  <a:srgbClr val="C6E8AB"/>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66" name="Oval 65">
                  <a:extLst>
                    <a:ext uri="{FF2B5EF4-FFF2-40B4-BE49-F238E27FC236}">
                      <a16:creationId xmlns:a16="http://schemas.microsoft.com/office/drawing/2014/main" id="{F5837875-A9AA-4165-9FDB-1580A3D95EC5}"/>
                    </a:ext>
                  </a:extLst>
                </p:cNvPr>
                <p:cNvSpPr/>
                <p:nvPr/>
              </p:nvSpPr>
              <p:spPr>
                <a:xfrm flipH="1">
                  <a:off x="2012245" y="4039987"/>
                  <a:ext cx="132887" cy="154793"/>
                </a:xfrm>
                <a:prstGeom prst="ellipse">
                  <a:avLst/>
                </a:prstGeom>
                <a:solidFill>
                  <a:srgbClr val="C6E8AB"/>
                </a:solidFill>
                <a:ln>
                  <a:noFill/>
                </a:ln>
                <a:effectLst>
                  <a:outerShdw dist="35921" dir="2700000" algn="ctr" rotWithShape="0">
                    <a:srgbClr val="B2B2B2"/>
                  </a:outerShdw>
                </a:effectLst>
              </p:spPr>
              <p:txBody>
                <a:bodyPr wrap="none" anchor="ctr"/>
                <a:lstStyle/>
                <a:p>
                  <a:pPr defTabSz="675010"/>
                  <a:endParaRPr lang="en-US" sz="1329" kern="0" dirty="0">
                    <a:solidFill>
                      <a:sysClr val="windowText" lastClr="000000"/>
                    </a:solidFill>
                  </a:endParaRPr>
                </a:p>
              </p:txBody>
            </p:sp>
            <p:sp>
              <p:nvSpPr>
                <p:cNvPr id="67" name="TextBox 121">
                  <a:extLst>
                    <a:ext uri="{FF2B5EF4-FFF2-40B4-BE49-F238E27FC236}">
                      <a16:creationId xmlns:a16="http://schemas.microsoft.com/office/drawing/2014/main" id="{4853E810-866D-7D59-6D15-2625DDD68FE1}"/>
                    </a:ext>
                  </a:extLst>
                </p:cNvPr>
                <p:cNvSpPr txBox="1"/>
                <p:nvPr/>
              </p:nvSpPr>
              <p:spPr>
                <a:xfrm rot="16200000" flipH="1">
                  <a:off x="1899407" y="3607803"/>
                  <a:ext cx="308969" cy="177396"/>
                </a:xfrm>
                <a:prstGeom prst="rect">
                  <a:avLst/>
                </a:prstGeom>
                <a:noFill/>
              </p:spPr>
              <p:txBody>
                <a:bodyPr wrap="square" rtlCol="0">
                  <a:noAutofit/>
                </a:bodyPr>
                <a:lstStyle/>
                <a:p>
                  <a:pPr defTabSz="675010">
                    <a:defRPr/>
                  </a:pPr>
                  <a:r>
                    <a:rPr lang="en-US" sz="738" kern="0" dirty="0">
                      <a:solidFill>
                        <a:srgbClr val="000000"/>
                      </a:solidFill>
                      <a:latin typeface="Calibri" panose="020F0502020204030204" pitchFamily="34" charset="0"/>
                      <a:ea typeface="Times New Roman" panose="02020603050405020304" pitchFamily="18" charset="0"/>
                      <a:cs typeface="Arial" panose="020B0604020202020204" pitchFamily="34" charset="0"/>
                    </a:rPr>
                    <a:t>…</a:t>
                  </a:r>
                  <a:endParaRPr lang="en-US" sz="738" kern="0" dirty="0">
                    <a:solidFill>
                      <a:sysClr val="windowText" lastClr="000000"/>
                    </a:solidFill>
                    <a:latin typeface="Times New Roman" panose="02020603050405020304" pitchFamily="18" charset="0"/>
                    <a:ea typeface="Times New Roman" panose="02020603050405020304" pitchFamily="18" charset="0"/>
                  </a:endParaRPr>
                </a:p>
              </p:txBody>
            </p:sp>
            <p:sp>
              <p:nvSpPr>
                <p:cNvPr id="68" name="Oval 67">
                  <a:extLst>
                    <a:ext uri="{FF2B5EF4-FFF2-40B4-BE49-F238E27FC236}">
                      <a16:creationId xmlns:a16="http://schemas.microsoft.com/office/drawing/2014/main" id="{5569B605-16F0-F069-4DAF-18EC1E9F6C8C}"/>
                    </a:ext>
                  </a:extLst>
                </p:cNvPr>
                <p:cNvSpPr/>
                <p:nvPr/>
              </p:nvSpPr>
              <p:spPr>
                <a:xfrm flipH="1">
                  <a:off x="2698045" y="3127980"/>
                  <a:ext cx="132887" cy="154793"/>
                </a:xfrm>
                <a:prstGeom prst="ellipse">
                  <a:avLst/>
                </a:prstGeom>
                <a:solidFill>
                  <a:srgbClr val="FFBBB0"/>
                </a:solidFill>
                <a:ln>
                  <a:noFill/>
                </a:ln>
                <a:effectLst>
                  <a:outerShdw dist="35921" dir="2700000" algn="ctr" rotWithShape="0">
                    <a:srgbClr val="B2B2B2"/>
                  </a:outerShdw>
                </a:effectLst>
              </p:spPr>
              <p:txBody>
                <a:bodyPr wrap="none" anchor="ctr"/>
                <a:lstStyle/>
                <a:p>
                  <a:pPr defTabSz="675010">
                    <a:defRPr/>
                  </a:pPr>
                  <a:endParaRPr lang="en-US" sz="1329" kern="0" dirty="0">
                    <a:solidFill>
                      <a:sysClr val="windowText" lastClr="000000"/>
                    </a:solidFill>
                  </a:endParaRPr>
                </a:p>
              </p:txBody>
            </p:sp>
            <p:sp>
              <p:nvSpPr>
                <p:cNvPr id="69" name="Oval 68">
                  <a:extLst>
                    <a:ext uri="{FF2B5EF4-FFF2-40B4-BE49-F238E27FC236}">
                      <a16:creationId xmlns:a16="http://schemas.microsoft.com/office/drawing/2014/main" id="{5B89EFD1-0E73-E0D8-B900-984100CDAB86}"/>
                    </a:ext>
                  </a:extLst>
                </p:cNvPr>
                <p:cNvSpPr/>
                <p:nvPr/>
              </p:nvSpPr>
              <p:spPr>
                <a:xfrm flipH="1">
                  <a:off x="2698045" y="3408733"/>
                  <a:ext cx="132887" cy="154793"/>
                </a:xfrm>
                <a:prstGeom prst="ellipse">
                  <a:avLst/>
                </a:prstGeom>
                <a:solidFill>
                  <a:srgbClr val="FFBBB0"/>
                </a:solidFill>
                <a:ln>
                  <a:noFill/>
                </a:ln>
                <a:effectLst>
                  <a:outerShdw dist="35921" dir="2700000" algn="ctr" rotWithShape="0">
                    <a:srgbClr val="B2B2B2"/>
                  </a:outerShdw>
                </a:effectLst>
              </p:spPr>
              <p:txBody>
                <a:bodyPr wrap="none" anchor="ctr"/>
                <a:lstStyle/>
                <a:p>
                  <a:pPr defTabSz="675010"/>
                  <a:endParaRPr lang="en-US" sz="1329" kern="0">
                    <a:solidFill>
                      <a:sysClr val="windowText" lastClr="000000"/>
                    </a:solidFill>
                  </a:endParaRPr>
                </a:p>
              </p:txBody>
            </p:sp>
            <p:sp>
              <p:nvSpPr>
                <p:cNvPr id="71" name="Oval 70">
                  <a:extLst>
                    <a:ext uri="{FF2B5EF4-FFF2-40B4-BE49-F238E27FC236}">
                      <a16:creationId xmlns:a16="http://schemas.microsoft.com/office/drawing/2014/main" id="{F2D84B4D-B0B8-015D-0820-B71D86BE9ADD}"/>
                    </a:ext>
                  </a:extLst>
                </p:cNvPr>
                <p:cNvSpPr/>
                <p:nvPr/>
              </p:nvSpPr>
              <p:spPr>
                <a:xfrm flipH="1">
                  <a:off x="2698045" y="4039987"/>
                  <a:ext cx="132887" cy="154793"/>
                </a:xfrm>
                <a:prstGeom prst="ellipse">
                  <a:avLst/>
                </a:prstGeom>
                <a:solidFill>
                  <a:srgbClr val="FFBBB0"/>
                </a:solidFill>
                <a:ln>
                  <a:noFill/>
                </a:ln>
                <a:effectLst>
                  <a:outerShdw dist="35921" dir="2700000" algn="ctr" rotWithShape="0">
                    <a:srgbClr val="B2B2B2"/>
                  </a:outerShdw>
                </a:effectLst>
              </p:spPr>
              <p:txBody>
                <a:bodyPr wrap="none" anchor="ctr"/>
                <a:lstStyle/>
                <a:p>
                  <a:pPr defTabSz="675010"/>
                  <a:endParaRPr lang="en-US" sz="1329" kern="0" dirty="0">
                    <a:solidFill>
                      <a:sysClr val="windowText" lastClr="000000"/>
                    </a:solidFill>
                  </a:endParaRPr>
                </a:p>
              </p:txBody>
            </p:sp>
            <p:sp>
              <p:nvSpPr>
                <p:cNvPr id="72" name="TextBox 121">
                  <a:extLst>
                    <a:ext uri="{FF2B5EF4-FFF2-40B4-BE49-F238E27FC236}">
                      <a16:creationId xmlns:a16="http://schemas.microsoft.com/office/drawing/2014/main" id="{BCB84939-9A7D-128B-113B-00FB51723782}"/>
                    </a:ext>
                  </a:extLst>
                </p:cNvPr>
                <p:cNvSpPr txBox="1"/>
                <p:nvPr/>
              </p:nvSpPr>
              <p:spPr>
                <a:xfrm rot="16200000" flipH="1">
                  <a:off x="2585207" y="3607803"/>
                  <a:ext cx="308969" cy="177396"/>
                </a:xfrm>
                <a:prstGeom prst="rect">
                  <a:avLst/>
                </a:prstGeom>
                <a:noFill/>
              </p:spPr>
              <p:txBody>
                <a:bodyPr wrap="square" rtlCol="0">
                  <a:noAutofit/>
                </a:bodyPr>
                <a:lstStyle/>
                <a:p>
                  <a:pPr defTabSz="675010">
                    <a:defRPr/>
                  </a:pPr>
                  <a:r>
                    <a:rPr lang="en-US" sz="738" kern="0" dirty="0">
                      <a:solidFill>
                        <a:srgbClr val="000000"/>
                      </a:solidFill>
                      <a:latin typeface="Calibri" panose="020F0502020204030204" pitchFamily="34" charset="0"/>
                      <a:ea typeface="Times New Roman" panose="02020603050405020304" pitchFamily="18" charset="0"/>
                      <a:cs typeface="Arial" panose="020B0604020202020204" pitchFamily="34" charset="0"/>
                    </a:rPr>
                    <a:t>…</a:t>
                  </a:r>
                  <a:endParaRPr lang="en-US" sz="738" kern="0" dirty="0">
                    <a:solidFill>
                      <a:sysClr val="windowText" lastClr="000000"/>
                    </a:solidFill>
                    <a:latin typeface="Times New Roman" panose="02020603050405020304" pitchFamily="18" charset="0"/>
                    <a:ea typeface="Times New Roman" panose="02020603050405020304" pitchFamily="18" charset="0"/>
                  </a:endParaRPr>
                </a:p>
              </p:txBody>
            </p:sp>
            <p:cxnSp>
              <p:nvCxnSpPr>
                <p:cNvPr id="78" name="Straight Connector 77">
                  <a:extLst>
                    <a:ext uri="{FF2B5EF4-FFF2-40B4-BE49-F238E27FC236}">
                      <a16:creationId xmlns:a16="http://schemas.microsoft.com/office/drawing/2014/main" id="{E6E3AABA-92ED-F6A0-7BAF-F87368FA0773}"/>
                    </a:ext>
                  </a:extLst>
                </p:cNvPr>
                <p:cNvCxnSpPr>
                  <a:cxnSpLocks/>
                  <a:stCxn id="63" idx="6"/>
                  <a:endCxn id="26" idx="2"/>
                </p:cNvCxnSpPr>
                <p:nvPr/>
              </p:nvCxnSpPr>
              <p:spPr>
                <a:xfrm flipH="1">
                  <a:off x="1461872" y="3205377"/>
                  <a:ext cx="550373" cy="0"/>
                </a:xfrm>
                <a:prstGeom prst="line">
                  <a:avLst/>
                </a:prstGeom>
                <a:noFill/>
                <a:ln w="6350" cap="flat" cmpd="sng" algn="ctr">
                  <a:solidFill>
                    <a:srgbClr val="A5A5A5">
                      <a:lumMod val="75000"/>
                    </a:srgbClr>
                  </a:solidFill>
                  <a:prstDash val="solid"/>
                  <a:miter lim="800000"/>
                </a:ln>
                <a:effectLst/>
              </p:spPr>
            </p:cxnSp>
            <p:sp>
              <p:nvSpPr>
                <p:cNvPr id="25" name="Rectangle 24">
                  <a:extLst>
                    <a:ext uri="{FF2B5EF4-FFF2-40B4-BE49-F238E27FC236}">
                      <a16:creationId xmlns:a16="http://schemas.microsoft.com/office/drawing/2014/main" id="{B4AD87DB-343A-03EF-F46B-B6F9E42EB227}"/>
                    </a:ext>
                  </a:extLst>
                </p:cNvPr>
                <p:cNvSpPr/>
                <p:nvPr/>
              </p:nvSpPr>
              <p:spPr>
                <a:xfrm rot="16200000">
                  <a:off x="1094581" y="2542412"/>
                  <a:ext cx="1349563" cy="22524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073E23CE-2BD9-CECD-5E9A-2BD56F037C6A}"/>
                    </a:ext>
                  </a:extLst>
                </p:cNvPr>
                <p:cNvCxnSpPr>
                  <a:stCxn id="26" idx="2"/>
                  <a:endCxn id="64" idx="6"/>
                </p:cNvCxnSpPr>
                <p:nvPr/>
              </p:nvCxnSpPr>
              <p:spPr>
                <a:xfrm>
                  <a:off x="1461872" y="3205377"/>
                  <a:ext cx="550373" cy="280753"/>
                </a:xfrm>
                <a:prstGeom prst="line">
                  <a:avLst/>
                </a:prstGeom>
                <a:noFill/>
                <a:ln w="6350" cap="flat" cmpd="sng" algn="ctr">
                  <a:solidFill>
                    <a:srgbClr val="A5A5A5">
                      <a:lumMod val="75000"/>
                    </a:srgbClr>
                  </a:solidFill>
                  <a:prstDash val="solid"/>
                  <a:miter lim="800000"/>
                </a:ln>
                <a:effectLst/>
              </p:spPr>
            </p:cxnSp>
            <p:cxnSp>
              <p:nvCxnSpPr>
                <p:cNvPr id="84" name="Straight Connector 83">
                  <a:extLst>
                    <a:ext uri="{FF2B5EF4-FFF2-40B4-BE49-F238E27FC236}">
                      <a16:creationId xmlns:a16="http://schemas.microsoft.com/office/drawing/2014/main" id="{2A6A2A91-7DD1-CEEA-6DB8-22CFA3E33291}"/>
                    </a:ext>
                  </a:extLst>
                </p:cNvPr>
                <p:cNvCxnSpPr>
                  <a:stCxn id="26" idx="2"/>
                  <a:endCxn id="65" idx="6"/>
                </p:cNvCxnSpPr>
                <p:nvPr/>
              </p:nvCxnSpPr>
              <p:spPr>
                <a:xfrm>
                  <a:off x="1461872" y="3205377"/>
                  <a:ext cx="550373" cy="664028"/>
                </a:xfrm>
                <a:prstGeom prst="line">
                  <a:avLst/>
                </a:prstGeom>
                <a:noFill/>
                <a:ln w="6350" cap="flat" cmpd="sng" algn="ctr">
                  <a:solidFill>
                    <a:srgbClr val="A5A5A5">
                      <a:lumMod val="75000"/>
                    </a:srgbClr>
                  </a:solidFill>
                  <a:prstDash val="solid"/>
                  <a:miter lim="800000"/>
                </a:ln>
                <a:effectLst/>
              </p:spPr>
            </p:cxnSp>
            <p:cxnSp>
              <p:nvCxnSpPr>
                <p:cNvPr id="86" name="Straight Connector 85">
                  <a:extLst>
                    <a:ext uri="{FF2B5EF4-FFF2-40B4-BE49-F238E27FC236}">
                      <a16:creationId xmlns:a16="http://schemas.microsoft.com/office/drawing/2014/main" id="{BAD2D7DF-41A1-7A0D-7590-B0129D752C66}"/>
                    </a:ext>
                  </a:extLst>
                </p:cNvPr>
                <p:cNvCxnSpPr>
                  <a:stCxn id="26" idx="2"/>
                  <a:endCxn id="66" idx="6"/>
                </p:cNvCxnSpPr>
                <p:nvPr/>
              </p:nvCxnSpPr>
              <p:spPr>
                <a:xfrm>
                  <a:off x="1461872" y="3205377"/>
                  <a:ext cx="550373" cy="912007"/>
                </a:xfrm>
                <a:prstGeom prst="line">
                  <a:avLst/>
                </a:prstGeom>
                <a:noFill/>
                <a:ln w="6350" cap="flat" cmpd="sng" algn="ctr">
                  <a:solidFill>
                    <a:srgbClr val="A5A5A5">
                      <a:lumMod val="75000"/>
                    </a:srgbClr>
                  </a:solidFill>
                  <a:prstDash val="solid"/>
                  <a:miter lim="800000"/>
                </a:ln>
                <a:effectLst/>
              </p:spPr>
            </p:cxnSp>
            <p:cxnSp>
              <p:nvCxnSpPr>
                <p:cNvPr id="88" name="Straight Connector 87">
                  <a:extLst>
                    <a:ext uri="{FF2B5EF4-FFF2-40B4-BE49-F238E27FC236}">
                      <a16:creationId xmlns:a16="http://schemas.microsoft.com/office/drawing/2014/main" id="{5BC585C4-AF91-6244-88FB-AA56EF3CF6EA}"/>
                    </a:ext>
                  </a:extLst>
                </p:cNvPr>
                <p:cNvCxnSpPr>
                  <a:stCxn id="27" idx="2"/>
                  <a:endCxn id="63" idx="6"/>
                </p:cNvCxnSpPr>
                <p:nvPr/>
              </p:nvCxnSpPr>
              <p:spPr>
                <a:xfrm flipV="1">
                  <a:off x="1461872" y="3205377"/>
                  <a:ext cx="550373" cy="266721"/>
                </a:xfrm>
                <a:prstGeom prst="line">
                  <a:avLst/>
                </a:prstGeom>
                <a:noFill/>
                <a:ln w="6350" cap="flat" cmpd="sng" algn="ctr">
                  <a:solidFill>
                    <a:srgbClr val="A5A5A5">
                      <a:lumMod val="75000"/>
                    </a:srgbClr>
                  </a:solidFill>
                  <a:prstDash val="solid"/>
                  <a:miter lim="800000"/>
                </a:ln>
                <a:effectLst/>
              </p:spPr>
            </p:cxnSp>
            <p:cxnSp>
              <p:nvCxnSpPr>
                <p:cNvPr id="90" name="Straight Connector 89">
                  <a:extLst>
                    <a:ext uri="{FF2B5EF4-FFF2-40B4-BE49-F238E27FC236}">
                      <a16:creationId xmlns:a16="http://schemas.microsoft.com/office/drawing/2014/main" id="{240A20C1-2D9D-041A-1F5B-1B2A7B6F08F3}"/>
                    </a:ext>
                  </a:extLst>
                </p:cNvPr>
                <p:cNvCxnSpPr>
                  <a:stCxn id="27" idx="2"/>
                  <a:endCxn id="64" idx="6"/>
                </p:cNvCxnSpPr>
                <p:nvPr/>
              </p:nvCxnSpPr>
              <p:spPr>
                <a:xfrm>
                  <a:off x="1461872" y="3472098"/>
                  <a:ext cx="550373" cy="14032"/>
                </a:xfrm>
                <a:prstGeom prst="line">
                  <a:avLst/>
                </a:prstGeom>
                <a:noFill/>
                <a:ln w="6350" cap="flat" cmpd="sng" algn="ctr">
                  <a:solidFill>
                    <a:srgbClr val="A5A5A5">
                      <a:lumMod val="75000"/>
                    </a:srgbClr>
                  </a:solidFill>
                  <a:prstDash val="solid"/>
                  <a:miter lim="800000"/>
                </a:ln>
                <a:effectLst/>
              </p:spPr>
            </p:cxnSp>
            <p:cxnSp>
              <p:nvCxnSpPr>
                <p:cNvPr id="92" name="Straight Connector 91">
                  <a:extLst>
                    <a:ext uri="{FF2B5EF4-FFF2-40B4-BE49-F238E27FC236}">
                      <a16:creationId xmlns:a16="http://schemas.microsoft.com/office/drawing/2014/main" id="{A10A900C-FA34-A794-BB06-B1144011F44F}"/>
                    </a:ext>
                  </a:extLst>
                </p:cNvPr>
                <p:cNvCxnSpPr>
                  <a:stCxn id="27" idx="2"/>
                  <a:endCxn id="65" idx="6"/>
                </p:cNvCxnSpPr>
                <p:nvPr/>
              </p:nvCxnSpPr>
              <p:spPr>
                <a:xfrm>
                  <a:off x="1461872" y="3472098"/>
                  <a:ext cx="550373" cy="397307"/>
                </a:xfrm>
                <a:prstGeom prst="line">
                  <a:avLst/>
                </a:prstGeom>
                <a:noFill/>
                <a:ln w="6350" cap="flat" cmpd="sng" algn="ctr">
                  <a:solidFill>
                    <a:srgbClr val="A5A5A5">
                      <a:lumMod val="75000"/>
                    </a:srgbClr>
                  </a:solidFill>
                  <a:prstDash val="solid"/>
                  <a:miter lim="800000"/>
                </a:ln>
                <a:effectLst/>
              </p:spPr>
            </p:cxnSp>
            <p:cxnSp>
              <p:nvCxnSpPr>
                <p:cNvPr id="94" name="Straight Connector 93">
                  <a:extLst>
                    <a:ext uri="{FF2B5EF4-FFF2-40B4-BE49-F238E27FC236}">
                      <a16:creationId xmlns:a16="http://schemas.microsoft.com/office/drawing/2014/main" id="{E8C3382B-6889-9A73-B2D0-D14BBDB6A485}"/>
                    </a:ext>
                  </a:extLst>
                </p:cNvPr>
                <p:cNvCxnSpPr>
                  <a:stCxn id="27" idx="2"/>
                  <a:endCxn id="66" idx="6"/>
                </p:cNvCxnSpPr>
                <p:nvPr/>
              </p:nvCxnSpPr>
              <p:spPr>
                <a:xfrm>
                  <a:off x="1461872" y="3472098"/>
                  <a:ext cx="550373" cy="645286"/>
                </a:xfrm>
                <a:prstGeom prst="line">
                  <a:avLst/>
                </a:prstGeom>
                <a:noFill/>
                <a:ln w="6350" cap="flat" cmpd="sng" algn="ctr">
                  <a:solidFill>
                    <a:srgbClr val="A5A5A5">
                      <a:lumMod val="75000"/>
                    </a:srgbClr>
                  </a:solidFill>
                  <a:prstDash val="solid"/>
                  <a:miter lim="800000"/>
                </a:ln>
                <a:effectLst/>
              </p:spPr>
            </p:cxnSp>
            <p:cxnSp>
              <p:nvCxnSpPr>
                <p:cNvPr id="96" name="Straight Connector 95">
                  <a:extLst>
                    <a:ext uri="{FF2B5EF4-FFF2-40B4-BE49-F238E27FC236}">
                      <a16:creationId xmlns:a16="http://schemas.microsoft.com/office/drawing/2014/main" id="{D9BCD7F1-1536-0DD2-BBB3-973AC3172484}"/>
                    </a:ext>
                  </a:extLst>
                </p:cNvPr>
                <p:cNvCxnSpPr>
                  <a:cxnSpLocks/>
                  <a:stCxn id="28" idx="2"/>
                  <a:endCxn id="63" idx="6"/>
                </p:cNvCxnSpPr>
                <p:nvPr/>
              </p:nvCxnSpPr>
              <p:spPr>
                <a:xfrm flipV="1">
                  <a:off x="1461872" y="3205377"/>
                  <a:ext cx="550373" cy="649996"/>
                </a:xfrm>
                <a:prstGeom prst="line">
                  <a:avLst/>
                </a:prstGeom>
                <a:noFill/>
                <a:ln w="6350" cap="flat" cmpd="sng" algn="ctr">
                  <a:solidFill>
                    <a:srgbClr val="A5A5A5">
                      <a:lumMod val="75000"/>
                    </a:srgbClr>
                  </a:solidFill>
                  <a:prstDash val="solid"/>
                  <a:miter lim="800000"/>
                </a:ln>
                <a:effectLst/>
              </p:spPr>
            </p:cxnSp>
            <p:cxnSp>
              <p:nvCxnSpPr>
                <p:cNvPr id="98" name="Straight Connector 97">
                  <a:extLst>
                    <a:ext uri="{FF2B5EF4-FFF2-40B4-BE49-F238E27FC236}">
                      <a16:creationId xmlns:a16="http://schemas.microsoft.com/office/drawing/2014/main" id="{C36E1228-F85F-0DB0-06F7-14F4B1906489}"/>
                    </a:ext>
                  </a:extLst>
                </p:cNvPr>
                <p:cNvCxnSpPr>
                  <a:stCxn id="28" idx="2"/>
                  <a:endCxn id="64" idx="6"/>
                </p:cNvCxnSpPr>
                <p:nvPr/>
              </p:nvCxnSpPr>
              <p:spPr>
                <a:xfrm flipV="1">
                  <a:off x="1461872" y="3486130"/>
                  <a:ext cx="550373" cy="369243"/>
                </a:xfrm>
                <a:prstGeom prst="line">
                  <a:avLst/>
                </a:prstGeom>
                <a:noFill/>
                <a:ln w="6350" cap="flat" cmpd="sng" algn="ctr">
                  <a:solidFill>
                    <a:srgbClr val="A5A5A5">
                      <a:lumMod val="75000"/>
                    </a:srgbClr>
                  </a:solidFill>
                  <a:prstDash val="solid"/>
                  <a:miter lim="800000"/>
                </a:ln>
                <a:effectLst/>
              </p:spPr>
            </p:cxnSp>
            <p:cxnSp>
              <p:nvCxnSpPr>
                <p:cNvPr id="100" name="Straight Connector 99">
                  <a:extLst>
                    <a:ext uri="{FF2B5EF4-FFF2-40B4-BE49-F238E27FC236}">
                      <a16:creationId xmlns:a16="http://schemas.microsoft.com/office/drawing/2014/main" id="{BD2BD44A-D55A-D7D0-B69D-AE3865B0B334}"/>
                    </a:ext>
                  </a:extLst>
                </p:cNvPr>
                <p:cNvCxnSpPr>
                  <a:stCxn id="28" idx="2"/>
                  <a:endCxn id="65" idx="6"/>
                </p:cNvCxnSpPr>
                <p:nvPr/>
              </p:nvCxnSpPr>
              <p:spPr>
                <a:xfrm>
                  <a:off x="1461872" y="3855373"/>
                  <a:ext cx="550373" cy="14032"/>
                </a:xfrm>
                <a:prstGeom prst="line">
                  <a:avLst/>
                </a:prstGeom>
                <a:noFill/>
                <a:ln w="6350" cap="flat" cmpd="sng" algn="ctr">
                  <a:solidFill>
                    <a:srgbClr val="A5A5A5">
                      <a:lumMod val="75000"/>
                    </a:srgbClr>
                  </a:solidFill>
                  <a:prstDash val="solid"/>
                  <a:miter lim="800000"/>
                </a:ln>
                <a:effectLst/>
              </p:spPr>
            </p:cxnSp>
            <p:cxnSp>
              <p:nvCxnSpPr>
                <p:cNvPr id="102" name="Straight Connector 101">
                  <a:extLst>
                    <a:ext uri="{FF2B5EF4-FFF2-40B4-BE49-F238E27FC236}">
                      <a16:creationId xmlns:a16="http://schemas.microsoft.com/office/drawing/2014/main" id="{1CAB6078-0D7D-5FF5-33E3-DC2584C3D0FC}"/>
                    </a:ext>
                  </a:extLst>
                </p:cNvPr>
                <p:cNvCxnSpPr>
                  <a:stCxn id="28" idx="2"/>
                  <a:endCxn id="66" idx="6"/>
                </p:cNvCxnSpPr>
                <p:nvPr/>
              </p:nvCxnSpPr>
              <p:spPr>
                <a:xfrm>
                  <a:off x="1461872" y="3855373"/>
                  <a:ext cx="550373" cy="262011"/>
                </a:xfrm>
                <a:prstGeom prst="line">
                  <a:avLst/>
                </a:prstGeom>
                <a:noFill/>
                <a:ln w="6350" cap="flat" cmpd="sng" algn="ctr">
                  <a:solidFill>
                    <a:srgbClr val="A5A5A5">
                      <a:lumMod val="75000"/>
                    </a:srgbClr>
                  </a:solidFill>
                  <a:prstDash val="solid"/>
                  <a:miter lim="800000"/>
                </a:ln>
                <a:effectLst/>
              </p:spPr>
            </p:cxnSp>
            <p:cxnSp>
              <p:nvCxnSpPr>
                <p:cNvPr id="104" name="Straight Connector 103">
                  <a:extLst>
                    <a:ext uri="{FF2B5EF4-FFF2-40B4-BE49-F238E27FC236}">
                      <a16:creationId xmlns:a16="http://schemas.microsoft.com/office/drawing/2014/main" id="{8D9A4905-FCDC-330C-1A85-73C818B59608}"/>
                    </a:ext>
                  </a:extLst>
                </p:cNvPr>
                <p:cNvCxnSpPr>
                  <a:stCxn id="29" idx="2"/>
                  <a:endCxn id="63" idx="6"/>
                </p:cNvCxnSpPr>
                <p:nvPr/>
              </p:nvCxnSpPr>
              <p:spPr>
                <a:xfrm flipV="1">
                  <a:off x="1461872" y="3205377"/>
                  <a:ext cx="550373" cy="912007"/>
                </a:xfrm>
                <a:prstGeom prst="line">
                  <a:avLst/>
                </a:prstGeom>
                <a:noFill/>
                <a:ln w="6350" cap="flat" cmpd="sng" algn="ctr">
                  <a:solidFill>
                    <a:srgbClr val="A5A5A5">
                      <a:lumMod val="75000"/>
                    </a:srgbClr>
                  </a:solidFill>
                  <a:prstDash val="solid"/>
                  <a:miter lim="800000"/>
                </a:ln>
                <a:effectLst/>
              </p:spPr>
            </p:cxnSp>
            <p:cxnSp>
              <p:nvCxnSpPr>
                <p:cNvPr id="106" name="Straight Connector 105">
                  <a:extLst>
                    <a:ext uri="{FF2B5EF4-FFF2-40B4-BE49-F238E27FC236}">
                      <a16:creationId xmlns:a16="http://schemas.microsoft.com/office/drawing/2014/main" id="{B12F85C4-7E67-1A6A-11A2-F09709A0336B}"/>
                    </a:ext>
                  </a:extLst>
                </p:cNvPr>
                <p:cNvCxnSpPr>
                  <a:stCxn id="29" idx="2"/>
                  <a:endCxn id="64" idx="6"/>
                </p:cNvCxnSpPr>
                <p:nvPr/>
              </p:nvCxnSpPr>
              <p:spPr>
                <a:xfrm flipV="1">
                  <a:off x="1461872" y="3486130"/>
                  <a:ext cx="550373" cy="631254"/>
                </a:xfrm>
                <a:prstGeom prst="line">
                  <a:avLst/>
                </a:prstGeom>
                <a:noFill/>
                <a:ln w="6350" cap="flat" cmpd="sng" algn="ctr">
                  <a:solidFill>
                    <a:srgbClr val="A5A5A5">
                      <a:lumMod val="75000"/>
                    </a:srgbClr>
                  </a:solidFill>
                  <a:prstDash val="solid"/>
                  <a:miter lim="800000"/>
                </a:ln>
                <a:effectLst/>
              </p:spPr>
            </p:cxnSp>
            <p:cxnSp>
              <p:nvCxnSpPr>
                <p:cNvPr id="108" name="Straight Connector 107">
                  <a:extLst>
                    <a:ext uri="{FF2B5EF4-FFF2-40B4-BE49-F238E27FC236}">
                      <a16:creationId xmlns:a16="http://schemas.microsoft.com/office/drawing/2014/main" id="{DC5FC2F3-D2C5-30EB-7A8E-BACE6529B507}"/>
                    </a:ext>
                  </a:extLst>
                </p:cNvPr>
                <p:cNvCxnSpPr>
                  <a:stCxn id="29" idx="2"/>
                  <a:endCxn id="65" idx="6"/>
                </p:cNvCxnSpPr>
                <p:nvPr/>
              </p:nvCxnSpPr>
              <p:spPr>
                <a:xfrm flipV="1">
                  <a:off x="1461872" y="3869405"/>
                  <a:ext cx="550373" cy="247979"/>
                </a:xfrm>
                <a:prstGeom prst="line">
                  <a:avLst/>
                </a:prstGeom>
                <a:noFill/>
                <a:ln w="6350" cap="flat" cmpd="sng" algn="ctr">
                  <a:solidFill>
                    <a:srgbClr val="A5A5A5">
                      <a:lumMod val="75000"/>
                    </a:srgbClr>
                  </a:solidFill>
                  <a:prstDash val="solid"/>
                  <a:miter lim="800000"/>
                </a:ln>
                <a:effectLst/>
              </p:spPr>
            </p:cxnSp>
            <p:cxnSp>
              <p:nvCxnSpPr>
                <p:cNvPr id="110" name="Straight Connector 109">
                  <a:extLst>
                    <a:ext uri="{FF2B5EF4-FFF2-40B4-BE49-F238E27FC236}">
                      <a16:creationId xmlns:a16="http://schemas.microsoft.com/office/drawing/2014/main" id="{12DC2F58-F78E-F66C-6ECA-4DA679A5681C}"/>
                    </a:ext>
                  </a:extLst>
                </p:cNvPr>
                <p:cNvCxnSpPr>
                  <a:stCxn id="29" idx="2"/>
                  <a:endCxn id="66" idx="6"/>
                </p:cNvCxnSpPr>
                <p:nvPr/>
              </p:nvCxnSpPr>
              <p:spPr>
                <a:xfrm>
                  <a:off x="1461872" y="4117384"/>
                  <a:ext cx="550373" cy="0"/>
                </a:xfrm>
                <a:prstGeom prst="line">
                  <a:avLst/>
                </a:prstGeom>
                <a:noFill/>
                <a:ln w="6350" cap="flat" cmpd="sng" algn="ctr">
                  <a:solidFill>
                    <a:srgbClr val="A5A5A5">
                      <a:lumMod val="75000"/>
                    </a:srgbClr>
                  </a:solidFill>
                  <a:prstDash val="solid"/>
                  <a:miter lim="800000"/>
                </a:ln>
                <a:effectLst/>
              </p:spPr>
            </p:cxnSp>
            <p:cxnSp>
              <p:nvCxnSpPr>
                <p:cNvPr id="112" name="Straight Connector 111">
                  <a:extLst>
                    <a:ext uri="{FF2B5EF4-FFF2-40B4-BE49-F238E27FC236}">
                      <a16:creationId xmlns:a16="http://schemas.microsoft.com/office/drawing/2014/main" id="{AE998360-1798-DF38-F748-ADCBC1E60C83}"/>
                    </a:ext>
                  </a:extLst>
                </p:cNvPr>
                <p:cNvCxnSpPr>
                  <a:stCxn id="63" idx="2"/>
                  <a:endCxn id="68" idx="6"/>
                </p:cNvCxnSpPr>
                <p:nvPr/>
              </p:nvCxnSpPr>
              <p:spPr>
                <a:xfrm>
                  <a:off x="2145132" y="3205377"/>
                  <a:ext cx="552913" cy="0"/>
                </a:xfrm>
                <a:prstGeom prst="line">
                  <a:avLst/>
                </a:prstGeom>
                <a:noFill/>
                <a:ln w="6350" cap="flat" cmpd="sng" algn="ctr">
                  <a:solidFill>
                    <a:srgbClr val="A5A5A5">
                      <a:lumMod val="75000"/>
                    </a:srgbClr>
                  </a:solidFill>
                  <a:prstDash val="solid"/>
                  <a:miter lim="800000"/>
                </a:ln>
                <a:effectLst/>
              </p:spPr>
            </p:cxnSp>
            <p:cxnSp>
              <p:nvCxnSpPr>
                <p:cNvPr id="114" name="Straight Connector 113">
                  <a:extLst>
                    <a:ext uri="{FF2B5EF4-FFF2-40B4-BE49-F238E27FC236}">
                      <a16:creationId xmlns:a16="http://schemas.microsoft.com/office/drawing/2014/main" id="{0C310054-E60D-3148-0130-F88387FD56CE}"/>
                    </a:ext>
                  </a:extLst>
                </p:cNvPr>
                <p:cNvCxnSpPr>
                  <a:stCxn id="64" idx="2"/>
                  <a:endCxn id="69" idx="6"/>
                </p:cNvCxnSpPr>
                <p:nvPr/>
              </p:nvCxnSpPr>
              <p:spPr>
                <a:xfrm>
                  <a:off x="2145132" y="3486130"/>
                  <a:ext cx="552913" cy="0"/>
                </a:xfrm>
                <a:prstGeom prst="line">
                  <a:avLst/>
                </a:prstGeom>
                <a:noFill/>
                <a:ln w="6350" cap="flat" cmpd="sng" algn="ctr">
                  <a:solidFill>
                    <a:srgbClr val="A5A5A5">
                      <a:lumMod val="75000"/>
                    </a:srgbClr>
                  </a:solidFill>
                  <a:prstDash val="solid"/>
                  <a:miter lim="800000"/>
                </a:ln>
                <a:effectLst/>
              </p:spPr>
            </p:cxnSp>
            <p:cxnSp>
              <p:nvCxnSpPr>
                <p:cNvPr id="118" name="Straight Connector 117">
                  <a:extLst>
                    <a:ext uri="{FF2B5EF4-FFF2-40B4-BE49-F238E27FC236}">
                      <a16:creationId xmlns:a16="http://schemas.microsoft.com/office/drawing/2014/main" id="{48935366-9260-AACB-A14E-0460C1EF45E4}"/>
                    </a:ext>
                  </a:extLst>
                </p:cNvPr>
                <p:cNvCxnSpPr>
                  <a:stCxn id="66" idx="2"/>
                  <a:endCxn id="71" idx="6"/>
                </p:cNvCxnSpPr>
                <p:nvPr/>
              </p:nvCxnSpPr>
              <p:spPr>
                <a:xfrm>
                  <a:off x="2145132" y="4117384"/>
                  <a:ext cx="552913" cy="0"/>
                </a:xfrm>
                <a:prstGeom prst="line">
                  <a:avLst/>
                </a:prstGeom>
                <a:noFill/>
                <a:ln w="6350" cap="flat" cmpd="sng" algn="ctr">
                  <a:solidFill>
                    <a:srgbClr val="A5A5A5">
                      <a:lumMod val="75000"/>
                    </a:srgbClr>
                  </a:solidFill>
                  <a:prstDash val="solid"/>
                  <a:miter lim="800000"/>
                </a:ln>
                <a:effectLst/>
              </p:spPr>
            </p:cxnSp>
            <p:cxnSp>
              <p:nvCxnSpPr>
                <p:cNvPr id="120" name="Straight Connector 119">
                  <a:extLst>
                    <a:ext uri="{FF2B5EF4-FFF2-40B4-BE49-F238E27FC236}">
                      <a16:creationId xmlns:a16="http://schemas.microsoft.com/office/drawing/2014/main" id="{526B76EE-4323-BC92-9734-50DC214FFC44}"/>
                    </a:ext>
                  </a:extLst>
                </p:cNvPr>
                <p:cNvCxnSpPr>
                  <a:stCxn id="66" idx="2"/>
                  <a:endCxn id="68" idx="6"/>
                </p:cNvCxnSpPr>
                <p:nvPr/>
              </p:nvCxnSpPr>
              <p:spPr>
                <a:xfrm flipV="1">
                  <a:off x="2145132" y="3205377"/>
                  <a:ext cx="552913" cy="912007"/>
                </a:xfrm>
                <a:prstGeom prst="line">
                  <a:avLst/>
                </a:prstGeom>
                <a:noFill/>
                <a:ln w="6350" cap="flat" cmpd="sng" algn="ctr">
                  <a:solidFill>
                    <a:srgbClr val="A5A5A5">
                      <a:lumMod val="75000"/>
                    </a:srgbClr>
                  </a:solidFill>
                  <a:prstDash val="solid"/>
                  <a:miter lim="800000"/>
                </a:ln>
                <a:effectLst/>
              </p:spPr>
            </p:cxnSp>
            <p:cxnSp>
              <p:nvCxnSpPr>
                <p:cNvPr id="122" name="Straight Connector 121">
                  <a:extLst>
                    <a:ext uri="{FF2B5EF4-FFF2-40B4-BE49-F238E27FC236}">
                      <a16:creationId xmlns:a16="http://schemas.microsoft.com/office/drawing/2014/main" id="{4D3370E2-6677-74F8-14F7-9124587CC89B}"/>
                    </a:ext>
                  </a:extLst>
                </p:cNvPr>
                <p:cNvCxnSpPr>
                  <a:stCxn id="66" idx="2"/>
                  <a:endCxn id="69" idx="6"/>
                </p:cNvCxnSpPr>
                <p:nvPr/>
              </p:nvCxnSpPr>
              <p:spPr>
                <a:xfrm flipV="1">
                  <a:off x="2145132" y="3486130"/>
                  <a:ext cx="552913" cy="631254"/>
                </a:xfrm>
                <a:prstGeom prst="line">
                  <a:avLst/>
                </a:prstGeom>
                <a:noFill/>
                <a:ln w="6350" cap="flat" cmpd="sng" algn="ctr">
                  <a:solidFill>
                    <a:srgbClr val="A5A5A5">
                      <a:lumMod val="75000"/>
                    </a:srgbClr>
                  </a:solidFill>
                  <a:prstDash val="solid"/>
                  <a:miter lim="800000"/>
                </a:ln>
                <a:effectLst/>
              </p:spPr>
            </p:cxnSp>
            <p:cxnSp>
              <p:nvCxnSpPr>
                <p:cNvPr id="126" name="Straight Connector 125">
                  <a:extLst>
                    <a:ext uri="{FF2B5EF4-FFF2-40B4-BE49-F238E27FC236}">
                      <a16:creationId xmlns:a16="http://schemas.microsoft.com/office/drawing/2014/main" id="{A4C96B3E-48C8-CEEF-8033-5248AACB02B2}"/>
                    </a:ext>
                  </a:extLst>
                </p:cNvPr>
                <p:cNvCxnSpPr>
                  <a:stCxn id="65" idx="2"/>
                  <a:endCxn id="69" idx="6"/>
                </p:cNvCxnSpPr>
                <p:nvPr/>
              </p:nvCxnSpPr>
              <p:spPr>
                <a:xfrm flipV="1">
                  <a:off x="2145132" y="3486130"/>
                  <a:ext cx="552913" cy="383275"/>
                </a:xfrm>
                <a:prstGeom prst="line">
                  <a:avLst/>
                </a:prstGeom>
                <a:noFill/>
                <a:ln w="6350" cap="flat" cmpd="sng" algn="ctr">
                  <a:solidFill>
                    <a:srgbClr val="A5A5A5">
                      <a:lumMod val="75000"/>
                    </a:srgbClr>
                  </a:solidFill>
                  <a:prstDash val="solid"/>
                  <a:miter lim="800000"/>
                </a:ln>
                <a:effectLst/>
              </p:spPr>
            </p:cxnSp>
            <p:cxnSp>
              <p:nvCxnSpPr>
                <p:cNvPr id="128" name="Straight Connector 127">
                  <a:extLst>
                    <a:ext uri="{FF2B5EF4-FFF2-40B4-BE49-F238E27FC236}">
                      <a16:creationId xmlns:a16="http://schemas.microsoft.com/office/drawing/2014/main" id="{091228A5-6297-DF2C-5F90-49DE3A94D20B}"/>
                    </a:ext>
                  </a:extLst>
                </p:cNvPr>
                <p:cNvCxnSpPr>
                  <a:stCxn id="65" idx="2"/>
                  <a:endCxn id="68" idx="6"/>
                </p:cNvCxnSpPr>
                <p:nvPr/>
              </p:nvCxnSpPr>
              <p:spPr>
                <a:xfrm flipV="1">
                  <a:off x="2145132" y="3205377"/>
                  <a:ext cx="552913" cy="664028"/>
                </a:xfrm>
                <a:prstGeom prst="line">
                  <a:avLst/>
                </a:prstGeom>
                <a:noFill/>
                <a:ln w="6350" cap="flat" cmpd="sng" algn="ctr">
                  <a:solidFill>
                    <a:srgbClr val="A5A5A5">
                      <a:lumMod val="75000"/>
                    </a:srgbClr>
                  </a:solidFill>
                  <a:prstDash val="solid"/>
                  <a:miter lim="800000"/>
                </a:ln>
                <a:effectLst/>
              </p:spPr>
            </p:cxnSp>
            <p:cxnSp>
              <p:nvCxnSpPr>
                <p:cNvPr id="130" name="Straight Connector 129">
                  <a:extLst>
                    <a:ext uri="{FF2B5EF4-FFF2-40B4-BE49-F238E27FC236}">
                      <a16:creationId xmlns:a16="http://schemas.microsoft.com/office/drawing/2014/main" id="{25981896-32BB-0DCC-4E68-F6674B84CD70}"/>
                    </a:ext>
                  </a:extLst>
                </p:cNvPr>
                <p:cNvCxnSpPr>
                  <a:stCxn id="64" idx="2"/>
                  <a:endCxn id="68" idx="6"/>
                </p:cNvCxnSpPr>
                <p:nvPr/>
              </p:nvCxnSpPr>
              <p:spPr>
                <a:xfrm flipV="1">
                  <a:off x="2145132" y="3205377"/>
                  <a:ext cx="552913" cy="280753"/>
                </a:xfrm>
                <a:prstGeom prst="line">
                  <a:avLst/>
                </a:prstGeom>
                <a:noFill/>
                <a:ln w="6350" cap="flat" cmpd="sng" algn="ctr">
                  <a:solidFill>
                    <a:srgbClr val="A5A5A5">
                      <a:lumMod val="75000"/>
                    </a:srgbClr>
                  </a:solidFill>
                  <a:prstDash val="solid"/>
                  <a:miter lim="800000"/>
                </a:ln>
                <a:effectLst/>
              </p:spPr>
            </p:cxnSp>
            <p:cxnSp>
              <p:nvCxnSpPr>
                <p:cNvPr id="134" name="Straight Connector 133">
                  <a:extLst>
                    <a:ext uri="{FF2B5EF4-FFF2-40B4-BE49-F238E27FC236}">
                      <a16:creationId xmlns:a16="http://schemas.microsoft.com/office/drawing/2014/main" id="{7643A62C-24B7-0F61-FBBA-817FD6767601}"/>
                    </a:ext>
                  </a:extLst>
                </p:cNvPr>
                <p:cNvCxnSpPr>
                  <a:stCxn id="64" idx="2"/>
                  <a:endCxn id="71" idx="6"/>
                </p:cNvCxnSpPr>
                <p:nvPr/>
              </p:nvCxnSpPr>
              <p:spPr>
                <a:xfrm>
                  <a:off x="2145132" y="3486130"/>
                  <a:ext cx="552913" cy="631254"/>
                </a:xfrm>
                <a:prstGeom prst="line">
                  <a:avLst/>
                </a:prstGeom>
                <a:noFill/>
                <a:ln w="6350" cap="flat" cmpd="sng" algn="ctr">
                  <a:solidFill>
                    <a:srgbClr val="A5A5A5">
                      <a:lumMod val="75000"/>
                    </a:srgbClr>
                  </a:solidFill>
                  <a:prstDash val="solid"/>
                  <a:miter lim="800000"/>
                </a:ln>
                <a:effectLst/>
              </p:spPr>
            </p:cxnSp>
            <p:cxnSp>
              <p:nvCxnSpPr>
                <p:cNvPr id="136" name="Straight Connector 135">
                  <a:extLst>
                    <a:ext uri="{FF2B5EF4-FFF2-40B4-BE49-F238E27FC236}">
                      <a16:creationId xmlns:a16="http://schemas.microsoft.com/office/drawing/2014/main" id="{5B9CD621-8A64-B117-4589-EB863F1C9FCE}"/>
                    </a:ext>
                  </a:extLst>
                </p:cNvPr>
                <p:cNvCxnSpPr>
                  <a:stCxn id="63" idx="2"/>
                  <a:endCxn id="71" idx="6"/>
                </p:cNvCxnSpPr>
                <p:nvPr/>
              </p:nvCxnSpPr>
              <p:spPr>
                <a:xfrm>
                  <a:off x="2145132" y="3205377"/>
                  <a:ext cx="552913" cy="912007"/>
                </a:xfrm>
                <a:prstGeom prst="line">
                  <a:avLst/>
                </a:prstGeom>
                <a:noFill/>
                <a:ln w="6350" cap="flat" cmpd="sng" algn="ctr">
                  <a:solidFill>
                    <a:srgbClr val="A5A5A5">
                      <a:lumMod val="75000"/>
                    </a:srgbClr>
                  </a:solidFill>
                  <a:prstDash val="solid"/>
                  <a:miter lim="800000"/>
                </a:ln>
                <a:effectLst/>
              </p:spPr>
            </p:cxnSp>
            <p:cxnSp>
              <p:nvCxnSpPr>
                <p:cNvPr id="140" name="Straight Connector 139">
                  <a:extLst>
                    <a:ext uri="{FF2B5EF4-FFF2-40B4-BE49-F238E27FC236}">
                      <a16:creationId xmlns:a16="http://schemas.microsoft.com/office/drawing/2014/main" id="{D708DA7E-FF81-94B2-99F2-DA33795F1716}"/>
                    </a:ext>
                  </a:extLst>
                </p:cNvPr>
                <p:cNvCxnSpPr>
                  <a:stCxn id="63" idx="2"/>
                  <a:endCxn id="69" idx="6"/>
                </p:cNvCxnSpPr>
                <p:nvPr/>
              </p:nvCxnSpPr>
              <p:spPr>
                <a:xfrm>
                  <a:off x="2145132" y="3205377"/>
                  <a:ext cx="552913" cy="280753"/>
                </a:xfrm>
                <a:prstGeom prst="line">
                  <a:avLst/>
                </a:prstGeom>
                <a:noFill/>
                <a:ln w="6350" cap="flat" cmpd="sng" algn="ctr">
                  <a:solidFill>
                    <a:srgbClr val="A5A5A5">
                      <a:lumMod val="75000"/>
                    </a:srgbClr>
                  </a:solidFill>
                  <a:prstDash val="solid"/>
                  <a:miter lim="800000"/>
                </a:ln>
                <a:effectLst/>
              </p:spPr>
            </p:cxnSp>
            <p:cxnSp>
              <p:nvCxnSpPr>
                <p:cNvPr id="142" name="Straight Connector 141">
                  <a:extLst>
                    <a:ext uri="{FF2B5EF4-FFF2-40B4-BE49-F238E27FC236}">
                      <a16:creationId xmlns:a16="http://schemas.microsoft.com/office/drawing/2014/main" id="{E97BDA5C-446F-9802-41F0-36E9CA4EDD95}"/>
                    </a:ext>
                  </a:extLst>
                </p:cNvPr>
                <p:cNvCxnSpPr>
                  <a:stCxn id="63" idx="2"/>
                  <a:endCxn id="63" idx="2"/>
                </p:cNvCxnSpPr>
                <p:nvPr/>
              </p:nvCxnSpPr>
              <p:spPr>
                <a:xfrm>
                  <a:off x="2145132" y="3205377"/>
                  <a:ext cx="0" cy="0"/>
                </a:xfrm>
                <a:prstGeom prst="line">
                  <a:avLst/>
                </a:prstGeom>
                <a:noFill/>
                <a:ln w="6350" cap="flat" cmpd="sng" algn="ctr">
                  <a:solidFill>
                    <a:srgbClr val="A5A5A5">
                      <a:lumMod val="75000"/>
                    </a:srgbClr>
                  </a:solidFill>
                  <a:prstDash val="solid"/>
                  <a:miter lim="800000"/>
                </a:ln>
                <a:effectLst/>
              </p:spPr>
            </p:cxnSp>
          </p:grpSp>
        </p:grpSp>
        <p:cxnSp>
          <p:nvCxnSpPr>
            <p:cNvPr id="174" name="Straight Arrow Connector 173">
              <a:extLst>
                <a:ext uri="{FF2B5EF4-FFF2-40B4-BE49-F238E27FC236}">
                  <a16:creationId xmlns:a16="http://schemas.microsoft.com/office/drawing/2014/main" id="{0978ED86-E933-070D-4A22-79C82BFC9AD9}"/>
                </a:ext>
              </a:extLst>
            </p:cNvPr>
            <p:cNvCxnSpPr>
              <a:cxnSpLocks/>
            </p:cNvCxnSpPr>
            <p:nvPr/>
          </p:nvCxnSpPr>
          <p:spPr>
            <a:xfrm>
              <a:off x="5257800" y="4475010"/>
              <a:ext cx="693564" cy="3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05" name="Slide Number Placeholder 204">
            <a:extLst>
              <a:ext uri="{FF2B5EF4-FFF2-40B4-BE49-F238E27FC236}">
                <a16:creationId xmlns:a16="http://schemas.microsoft.com/office/drawing/2014/main" id="{66541F7F-5D91-4A9F-C68C-36CBBAF6B6F6}"/>
              </a:ext>
            </a:extLst>
          </p:cNvPr>
          <p:cNvSpPr>
            <a:spLocks noGrp="1"/>
          </p:cNvSpPr>
          <p:nvPr>
            <p:ph type="sldNum" sz="quarter" idx="7"/>
          </p:nvPr>
        </p:nvSpPr>
        <p:spPr/>
        <p:txBody>
          <a:bodyPr/>
          <a:lstStyle/>
          <a:p>
            <a:pPr marL="25400"/>
            <a:fld id="{81D60167-4931-47E6-BA6A-407CBD079E47}" type="slidenum">
              <a:rPr lang="en-US" smtClean="0"/>
              <a:pPr marL="25400"/>
              <a:t>11</a:t>
            </a:fld>
            <a:r>
              <a:rPr lang="en-US"/>
              <a:t>/27</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5" dirty="0"/>
              <a:t>F</a:t>
            </a:r>
            <a:r>
              <a:rPr dirty="0"/>
              <a:t>rom</a:t>
            </a:r>
            <a:r>
              <a:rPr spc="-5" dirty="0"/>
              <a:t> </a:t>
            </a:r>
            <a:r>
              <a:rPr dirty="0"/>
              <a:t>Bellman</a:t>
            </a:r>
            <a:r>
              <a:rPr spc="-5" dirty="0"/>
              <a:t> </a:t>
            </a:r>
            <a:r>
              <a:rPr dirty="0"/>
              <a:t>Upda</a:t>
            </a:r>
            <a:r>
              <a:rPr spc="-15" dirty="0"/>
              <a:t>t</a:t>
            </a:r>
            <a:r>
              <a:rPr dirty="0"/>
              <a:t>e</a:t>
            </a:r>
            <a:r>
              <a:rPr spc="-5" dirty="0"/>
              <a:t> </a:t>
            </a:r>
            <a:r>
              <a:rPr spc="-15" dirty="0"/>
              <a:t>t</a:t>
            </a:r>
            <a:r>
              <a:rPr dirty="0"/>
              <a:t>o</a:t>
            </a:r>
            <a:r>
              <a:rPr spc="-5" dirty="0"/>
              <a:t> </a:t>
            </a:r>
            <a:r>
              <a:rPr dirty="0"/>
              <a:t>Loss</a:t>
            </a:r>
            <a:r>
              <a:rPr spc="-5" dirty="0"/>
              <a:t> </a:t>
            </a:r>
            <a:r>
              <a:rPr spc="-25" dirty="0"/>
              <a:t>F</a:t>
            </a:r>
            <a:r>
              <a:rPr dirty="0"/>
              <a:t>un</a:t>
            </a:r>
            <a:r>
              <a:rPr spc="-20" dirty="0"/>
              <a:t>c</a:t>
            </a:r>
            <a:r>
              <a:rPr spc="-15" dirty="0"/>
              <a:t>t</a:t>
            </a:r>
            <a:r>
              <a:rPr dirty="0"/>
              <a:t>ion</a:t>
            </a:r>
          </a:p>
        </p:txBody>
      </p:sp>
      <p:sp>
        <p:nvSpPr>
          <p:cNvPr id="4" name="object 4"/>
          <p:cNvSpPr/>
          <p:nvPr/>
        </p:nvSpPr>
        <p:spPr>
          <a:xfrm>
            <a:off x="808730" y="1066255"/>
            <a:ext cx="7696200" cy="63816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0" y="3021071"/>
            <a:ext cx="4656830" cy="383115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234106" y="3021071"/>
            <a:ext cx="4909893" cy="3831158"/>
          </a:xfrm>
          <a:prstGeom prst="rect">
            <a:avLst/>
          </a:prstGeom>
          <a:blipFill>
            <a:blip r:embed="rId5" cstate="print"/>
            <a:stretch>
              <a:fillRect/>
            </a:stretch>
          </a:blipFill>
        </p:spPr>
        <p:txBody>
          <a:bodyPr wrap="square" lIns="0" tIns="0" rIns="0" bIns="0" rtlCol="0"/>
          <a:lstStyle/>
          <a:p>
            <a:endParaRPr/>
          </a:p>
        </p:txBody>
      </p:sp>
      <p:sp>
        <p:nvSpPr>
          <p:cNvPr id="7" name="object 7"/>
          <p:cNvSpPr txBox="1"/>
          <p:nvPr/>
        </p:nvSpPr>
        <p:spPr>
          <a:xfrm>
            <a:off x="3190090" y="2420225"/>
            <a:ext cx="1884680" cy="381000"/>
          </a:xfrm>
          <a:prstGeom prst="rect">
            <a:avLst/>
          </a:prstGeom>
        </p:spPr>
        <p:txBody>
          <a:bodyPr vert="horz" wrap="square" lIns="0" tIns="0" rIns="0" bIns="0" rtlCol="0">
            <a:spAutoFit/>
          </a:bodyPr>
          <a:lstStyle/>
          <a:p>
            <a:pPr marL="12700">
              <a:lnSpc>
                <a:spcPct val="100000"/>
              </a:lnSpc>
            </a:pPr>
            <a:r>
              <a:rPr sz="2800" b="1" spc="120" dirty="0">
                <a:solidFill>
                  <a:srgbClr val="C82506"/>
                </a:solidFill>
                <a:latin typeface="Gill Sans MT"/>
                <a:cs typeface="Gill Sans MT"/>
              </a:rPr>
              <a:t>T</a:t>
            </a:r>
            <a:r>
              <a:rPr sz="2800" b="1" spc="45" dirty="0">
                <a:solidFill>
                  <a:srgbClr val="C82506"/>
                </a:solidFill>
                <a:latin typeface="Gill Sans MT"/>
                <a:cs typeface="Gill Sans MT"/>
              </a:rPr>
              <a:t>D</a:t>
            </a:r>
            <a:r>
              <a:rPr sz="2800" b="1" spc="434" dirty="0">
                <a:solidFill>
                  <a:srgbClr val="C82506"/>
                </a:solidFill>
                <a:latin typeface="Gill Sans MT"/>
                <a:cs typeface="Gill Sans MT"/>
              </a:rPr>
              <a:t>-</a:t>
            </a:r>
            <a:r>
              <a:rPr sz="2800" b="1" spc="165" dirty="0">
                <a:solidFill>
                  <a:srgbClr val="C82506"/>
                </a:solidFill>
                <a:latin typeface="Gill Sans MT"/>
                <a:cs typeface="Gill Sans MT"/>
              </a:rPr>
              <a:t>t</a:t>
            </a:r>
            <a:r>
              <a:rPr sz="2800" b="1" spc="135" dirty="0">
                <a:solidFill>
                  <a:srgbClr val="C82506"/>
                </a:solidFill>
                <a:latin typeface="Gill Sans MT"/>
                <a:cs typeface="Gill Sans MT"/>
              </a:rPr>
              <a:t>a</a:t>
            </a:r>
            <a:r>
              <a:rPr sz="2800" b="1" spc="40" dirty="0">
                <a:solidFill>
                  <a:srgbClr val="C82506"/>
                </a:solidFill>
                <a:latin typeface="Gill Sans MT"/>
                <a:cs typeface="Gill Sans MT"/>
              </a:rPr>
              <a:t>r</a:t>
            </a:r>
            <a:r>
              <a:rPr sz="2800" b="1" spc="75" dirty="0">
                <a:solidFill>
                  <a:srgbClr val="C82506"/>
                </a:solidFill>
                <a:latin typeface="Gill Sans MT"/>
                <a:cs typeface="Gill Sans MT"/>
              </a:rPr>
              <a:t>ge</a:t>
            </a:r>
            <a:r>
              <a:rPr sz="2800" b="1" spc="170" dirty="0">
                <a:solidFill>
                  <a:srgbClr val="C82506"/>
                </a:solidFill>
                <a:latin typeface="Gill Sans MT"/>
                <a:cs typeface="Gill Sans MT"/>
              </a:rPr>
              <a:t>t</a:t>
            </a:r>
            <a:endParaRPr sz="2800">
              <a:latin typeface="Gill Sans MT"/>
              <a:cs typeface="Gill Sans MT"/>
            </a:endParaRPr>
          </a:p>
        </p:txBody>
      </p:sp>
      <p:sp>
        <p:nvSpPr>
          <p:cNvPr id="11" name="object 11"/>
          <p:cNvSpPr/>
          <p:nvPr/>
        </p:nvSpPr>
        <p:spPr>
          <a:xfrm>
            <a:off x="6916108" y="4327352"/>
            <a:ext cx="129539" cy="129539"/>
          </a:xfrm>
          <a:custGeom>
            <a:avLst/>
            <a:gdLst/>
            <a:ahLst/>
            <a:cxnLst/>
            <a:rect l="l" t="t" r="r" b="b"/>
            <a:pathLst>
              <a:path w="129540" h="129539">
                <a:moveTo>
                  <a:pt x="86211" y="0"/>
                </a:moveTo>
                <a:lnTo>
                  <a:pt x="0" y="86210"/>
                </a:lnTo>
                <a:lnTo>
                  <a:pt x="129316" y="129315"/>
                </a:lnTo>
                <a:lnTo>
                  <a:pt x="86211" y="0"/>
                </a:lnTo>
                <a:close/>
              </a:path>
            </a:pathLst>
          </a:custGeom>
          <a:solidFill>
            <a:srgbClr val="C82506"/>
          </a:solidFill>
        </p:spPr>
        <p:txBody>
          <a:bodyPr wrap="square" lIns="0" tIns="0" rIns="0" bIns="0" rtlCol="0"/>
          <a:lstStyle/>
          <a:p>
            <a:endParaRPr/>
          </a:p>
        </p:txBody>
      </p:sp>
      <p:cxnSp>
        <p:nvCxnSpPr>
          <p:cNvPr id="15" name="Straight Connector 14">
            <a:extLst>
              <a:ext uri="{FF2B5EF4-FFF2-40B4-BE49-F238E27FC236}">
                <a16:creationId xmlns:a16="http://schemas.microsoft.com/office/drawing/2014/main" id="{C0A70C9A-FB8D-32A3-129B-A562503FD468}"/>
              </a:ext>
            </a:extLst>
          </p:cNvPr>
          <p:cNvCxnSpPr>
            <a:cxnSpLocks/>
            <a:stCxn id="7" idx="3"/>
          </p:cNvCxnSpPr>
          <p:nvPr/>
        </p:nvCxnSpPr>
        <p:spPr>
          <a:xfrm>
            <a:off x="5074770" y="2610725"/>
            <a:ext cx="1970877" cy="1846166"/>
          </a:xfrm>
          <a:prstGeom prst="line">
            <a:avLst/>
          </a:prstGeom>
          <a:ln w="28575">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751A830-1B86-D3FB-E3AD-5D0C7B03C8EA}"/>
              </a:ext>
            </a:extLst>
          </p:cNvPr>
          <p:cNvSpPr/>
          <p:nvPr/>
        </p:nvSpPr>
        <p:spPr>
          <a:xfrm>
            <a:off x="808730" y="1716693"/>
            <a:ext cx="7687570" cy="6594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US" dirty="0"/>
          </a:p>
        </p:txBody>
      </p:sp>
      <mc:AlternateContent xmlns:mc="http://schemas.openxmlformats.org/markup-compatibility/2006" xmlns:a14="http://schemas.microsoft.com/office/drawing/2010/main">
        <mc:Choice Requires="a14">
          <p:sp>
            <p:nvSpPr>
              <p:cNvPr id="18" name="object 3">
                <a:extLst>
                  <a:ext uri="{FF2B5EF4-FFF2-40B4-BE49-F238E27FC236}">
                    <a16:creationId xmlns:a16="http://schemas.microsoft.com/office/drawing/2014/main" id="{130BE45C-3EC6-F80E-5966-163759322BC2}"/>
                  </a:ext>
                </a:extLst>
              </p:cNvPr>
              <p:cNvSpPr txBox="1"/>
              <p:nvPr/>
            </p:nvSpPr>
            <p:spPr>
              <a:xfrm>
                <a:off x="838200" y="1785554"/>
                <a:ext cx="7893266" cy="590546"/>
              </a:xfrm>
              <a:prstGeom prst="rect">
                <a:avLst/>
              </a:prstGeom>
            </p:spPr>
            <p:txBody>
              <a:bodyPr vert="horz" wrap="square" lIns="0" tIns="13335" rIns="0" bIns="0" rtlCol="0">
                <a:spAutoFit/>
              </a:bodyPr>
              <a:lstStyle/>
              <a:p>
                <a:pPr marL="50800">
                  <a:lnSpc>
                    <a:spcPts val="2655"/>
                  </a:lnSpc>
                  <a:spcBef>
                    <a:spcPts val="105"/>
                  </a:spcBef>
                </a:pP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lang="en-US" sz="2350" dirty="0">
                    <a:latin typeface="Cambria"/>
                    <a:cs typeface="Cambria"/>
                  </a:rPr>
                  <a:t>,</a:t>
                </a:r>
                <a:r>
                  <a:rPr lang="en-US"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dirty="0">
                    <a:latin typeface="Cambria"/>
                    <a:cs typeface="Cambria"/>
                  </a:rPr>
                  <a:t>)</a:t>
                </a:r>
                <a:r>
                  <a:rPr sz="2350" spc="85" dirty="0">
                    <a:latin typeface="Cambria"/>
                    <a:cs typeface="Cambria"/>
                  </a:rPr>
                  <a:t> </a:t>
                </a:r>
                <a:r>
                  <a:rPr sz="2350" spc="195" dirty="0">
                    <a:latin typeface="Cambria"/>
                    <a:cs typeface="Cambria"/>
                  </a:rPr>
                  <a:t>←</a:t>
                </a:r>
                <a:r>
                  <a:rPr sz="2350" spc="90" dirty="0">
                    <a:latin typeface="Cambria"/>
                    <a:cs typeface="Cambria"/>
                  </a:rPr>
                  <a:t> </a:t>
                </a: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lang="en-US" sz="2350" dirty="0">
                    <a:latin typeface="Cambria"/>
                    <a:cs typeface="Cambria"/>
                  </a:rPr>
                  <a:t>,</a:t>
                </a:r>
                <a:r>
                  <a:rPr lang="en-US"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spc="-50" dirty="0">
                    <a:latin typeface="Arial"/>
                    <a:cs typeface="Arial"/>
                  </a:rPr>
                  <a:t>α</a:t>
                </a:r>
                <a:r>
                  <a:rPr sz="2350" i="1" spc="-260" dirty="0">
                    <a:latin typeface="Arial"/>
                    <a:cs typeface="Arial"/>
                  </a:rPr>
                  <a:t> </a:t>
                </a:r>
                <a:r>
                  <a:rPr lang="en-US" sz="2350" spc="-35" dirty="0">
                    <a:latin typeface="Cambria"/>
                    <a:cs typeface="Cambria"/>
                  </a:rPr>
                  <a:t>( </a:t>
                </a:r>
                <a:r>
                  <a:rPr lang="en-US" sz="2000" i="1" dirty="0">
                    <a:latin typeface="Times New Roman"/>
                    <a:cs typeface="Times New Roman"/>
                  </a:rPr>
                  <a:t>R</a:t>
                </a:r>
                <a:r>
                  <a:rPr lang="en-US" sz="2400" i="1" baseline="-20467" dirty="0">
                    <a:latin typeface="Times New Roman"/>
                    <a:cs typeface="Times New Roman"/>
                  </a:rPr>
                  <a:t>t</a:t>
                </a:r>
                <a:r>
                  <a:rPr lang="en-US" sz="2400" baseline="-20467" dirty="0">
                    <a:latin typeface="Cambria"/>
                    <a:cs typeface="Cambria"/>
                  </a:rPr>
                  <a:t>+1</a:t>
                </a:r>
                <a:r>
                  <a:rPr sz="2350" i="1" spc="-100" dirty="0">
                    <a:latin typeface="Times New Roman"/>
                    <a:cs typeface="Times New Roman"/>
                  </a:rPr>
                  <a:t> </a:t>
                </a:r>
                <a:r>
                  <a:rPr sz="2350" spc="310" dirty="0">
                    <a:latin typeface="Cambria"/>
                    <a:cs typeface="Cambria"/>
                  </a:rPr>
                  <a:t>+</a:t>
                </a:r>
                <a:r>
                  <a:rPr sz="2350" spc="-30" dirty="0">
                    <a:latin typeface="Cambria"/>
                    <a:cs typeface="Cambria"/>
                  </a:rPr>
                  <a:t> </a:t>
                </a:r>
                <a14:m>
                  <m:oMath xmlns:m="http://schemas.openxmlformats.org/officeDocument/2006/math">
                    <m:r>
                      <a:rPr lang="en-US" sz="2350" i="1" spc="-220" dirty="0" smtClean="0">
                        <a:latin typeface="Cambria Math" panose="02040503050406030204" pitchFamily="18" charset="0"/>
                        <a:cs typeface="Arial"/>
                      </a:rPr>
                      <m:t>𝛾</m:t>
                    </m:r>
                    <m:r>
                      <a:rPr lang="en-US" sz="2350" i="1" spc="-450" dirty="0">
                        <a:latin typeface="Cambria Math" panose="02040503050406030204" pitchFamily="18" charset="0"/>
                        <a:cs typeface="Arial"/>
                      </a:rPr>
                      <m:t> </m:t>
                    </m:r>
                  </m:oMath>
                </a14:m>
                <a:r>
                  <a:rPr lang="en-US" sz="2350" dirty="0">
                    <a:latin typeface="Cambria"/>
                    <a:cs typeface="Cambria"/>
                  </a:rPr>
                  <a:t> </a:t>
                </a:r>
                <a:r>
                  <a:rPr sz="2350" dirty="0">
                    <a:latin typeface="Cambria"/>
                    <a:cs typeface="Cambria"/>
                  </a:rPr>
                  <a:t>max</a:t>
                </a:r>
                <a:r>
                  <a:rPr sz="2350" spc="210" dirty="0">
                    <a:latin typeface="Cambria"/>
                    <a:cs typeface="Cambria"/>
                  </a:rPr>
                  <a:t> </a:t>
                </a:r>
                <a:r>
                  <a:rPr sz="2350" i="1" spc="-35" dirty="0">
                    <a:latin typeface="Times New Roman"/>
                    <a:cs typeface="Times New Roman"/>
                  </a:rPr>
                  <a:t>Q</a:t>
                </a:r>
                <a:r>
                  <a:rPr sz="2350" spc="-35" dirty="0">
                    <a:latin typeface="Cambria"/>
                    <a:cs typeface="Cambria"/>
                  </a:rPr>
                  <a:t>(</a:t>
                </a:r>
                <a:r>
                  <a:rPr lang="en-US" sz="2000" i="1" dirty="0">
                    <a:latin typeface="Times New Roman"/>
                    <a:cs typeface="Times New Roman"/>
                  </a:rPr>
                  <a:t>S</a:t>
                </a:r>
                <a:r>
                  <a:rPr lang="en-US" sz="2400" i="1" baseline="-20467" dirty="0">
                    <a:latin typeface="Times New Roman"/>
                    <a:cs typeface="Times New Roman"/>
                  </a:rPr>
                  <a:t>t</a:t>
                </a:r>
                <a:r>
                  <a:rPr lang="en-US" sz="2400" baseline="-20467" dirty="0">
                    <a:latin typeface="Cambria"/>
                    <a:cs typeface="Cambria"/>
                  </a:rPr>
                  <a:t>+1</a:t>
                </a:r>
                <a:r>
                  <a:rPr sz="2350" spc="-35" dirty="0">
                    <a:latin typeface="Cambria"/>
                    <a:cs typeface="Cambria"/>
                  </a:rPr>
                  <a:t>,</a:t>
                </a:r>
                <a:r>
                  <a:rPr sz="2350" spc="-125" dirty="0">
                    <a:latin typeface="Cambria"/>
                    <a:cs typeface="Cambria"/>
                  </a:rPr>
                  <a:t> </a:t>
                </a:r>
                <a:r>
                  <a:rPr sz="2350" i="1" spc="-35" dirty="0">
                    <a:latin typeface="Times New Roman"/>
                    <a:cs typeface="Times New Roman"/>
                  </a:rPr>
                  <a:t>a</a:t>
                </a:r>
                <a:r>
                  <a:rPr sz="2350" spc="-35"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sz="2350" dirty="0">
                    <a:latin typeface="Cambria"/>
                    <a:cs typeface="Cambria"/>
                  </a:rPr>
                  <a:t>,</a:t>
                </a:r>
                <a:r>
                  <a:rPr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spc="260" dirty="0">
                    <a:latin typeface="Cambria"/>
                    <a:cs typeface="Cambria"/>
                  </a:rPr>
                  <a:t>)</a:t>
                </a:r>
                <a:r>
                  <a:rPr lang="en-US" sz="2350" spc="260" dirty="0">
                    <a:latin typeface="Cambria"/>
                    <a:cs typeface="Cambria"/>
                  </a:rPr>
                  <a:t>)</a:t>
                </a:r>
                <a:endParaRPr lang="en-US" sz="3525" baseline="-31914" dirty="0">
                  <a:latin typeface="Arial"/>
                  <a:cs typeface="Arial"/>
                </a:endParaRPr>
              </a:p>
              <a:p>
                <a:pPr marL="971550" algn="ctr">
                  <a:lnSpc>
                    <a:spcPts val="1814"/>
                  </a:lnSpc>
                </a:pPr>
                <a:r>
                  <a:rPr lang="en-US" sz="1650" i="1" spc="-25" dirty="0">
                    <a:latin typeface="Times New Roman"/>
                    <a:cs typeface="Times New Roman"/>
                  </a:rPr>
                  <a:t>a</a:t>
                </a:r>
                <a:r>
                  <a:rPr lang="en-US" sz="1650" spc="-25" dirty="0">
                    <a:latin typeface="Cambria"/>
                    <a:cs typeface="Cambria"/>
                  </a:rPr>
                  <a:t>′</a:t>
                </a:r>
                <a:endParaRPr lang="en-US" sz="1650" dirty="0">
                  <a:latin typeface="Cambria"/>
                  <a:cs typeface="Cambria"/>
                </a:endParaRPr>
              </a:p>
            </p:txBody>
          </p:sp>
        </mc:Choice>
        <mc:Fallback xmlns="">
          <p:sp>
            <p:nvSpPr>
              <p:cNvPr id="18" name="object 3">
                <a:extLst>
                  <a:ext uri="{FF2B5EF4-FFF2-40B4-BE49-F238E27FC236}">
                    <a16:creationId xmlns:a16="http://schemas.microsoft.com/office/drawing/2014/main" id="{130BE45C-3EC6-F80E-5966-163759322BC2}"/>
                  </a:ext>
                </a:extLst>
              </p:cNvPr>
              <p:cNvSpPr txBox="1">
                <a:spLocks noRot="1" noChangeAspect="1" noMove="1" noResize="1" noEditPoints="1" noAdjustHandles="1" noChangeArrowheads="1" noChangeShapeType="1" noTextEdit="1"/>
              </p:cNvSpPr>
              <p:nvPr/>
            </p:nvSpPr>
            <p:spPr>
              <a:xfrm>
                <a:off x="838200" y="1785554"/>
                <a:ext cx="7893266" cy="590546"/>
              </a:xfrm>
              <a:prstGeom prst="rect">
                <a:avLst/>
              </a:prstGeom>
              <a:blipFill>
                <a:blip r:embed="rId6"/>
                <a:stretch>
                  <a:fillRect l="-1700" t="-16495" b="-20619"/>
                </a:stretch>
              </a:blipFill>
            </p:spPr>
            <p:txBody>
              <a:bodyPr/>
              <a:lstStyle/>
              <a:p>
                <a:r>
                  <a:rPr lang="en-MY">
                    <a:noFill/>
                  </a:rPr>
                  <a:t> </a:t>
                </a:r>
              </a:p>
            </p:txBody>
          </p:sp>
        </mc:Fallback>
      </mc:AlternateContent>
      <p:cxnSp>
        <p:nvCxnSpPr>
          <p:cNvPr id="21" name="Straight Connector 20">
            <a:extLst>
              <a:ext uri="{FF2B5EF4-FFF2-40B4-BE49-F238E27FC236}">
                <a16:creationId xmlns:a16="http://schemas.microsoft.com/office/drawing/2014/main" id="{39814129-C0AF-F6E6-994D-E5C85A2EA690}"/>
              </a:ext>
            </a:extLst>
          </p:cNvPr>
          <p:cNvCxnSpPr/>
          <p:nvPr/>
        </p:nvCxnSpPr>
        <p:spPr>
          <a:xfrm>
            <a:off x="808730" y="1704423"/>
            <a:ext cx="76875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843A01-489B-17E4-A2E1-82A54B9A173A}"/>
              </a:ext>
            </a:extLst>
          </p:cNvPr>
          <p:cNvCxnSpPr>
            <a:cxnSpLocks/>
            <a:stCxn id="7" idx="3"/>
            <a:endCxn id="22" idx="1"/>
          </p:cNvCxnSpPr>
          <p:nvPr/>
        </p:nvCxnSpPr>
        <p:spPr>
          <a:xfrm flipV="1">
            <a:off x="5074770" y="2438400"/>
            <a:ext cx="360576" cy="172325"/>
          </a:xfrm>
          <a:prstGeom prst="line">
            <a:avLst/>
          </a:prstGeom>
          <a:ln w="28575">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522B81BE-3A05-BFAD-C356-3B9DA17827CD}"/>
              </a:ext>
            </a:extLst>
          </p:cNvPr>
          <p:cNvSpPr/>
          <p:nvPr/>
        </p:nvSpPr>
        <p:spPr>
          <a:xfrm rot="5400000">
            <a:off x="5365007" y="895115"/>
            <a:ext cx="140678" cy="294589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3D5EA14C-602B-05C1-203D-F01BAF0F0218}"/>
              </a:ext>
            </a:extLst>
          </p:cNvPr>
          <p:cNvSpPr/>
          <p:nvPr/>
        </p:nvSpPr>
        <p:spPr>
          <a:xfrm rot="5400000">
            <a:off x="6639676" y="277990"/>
            <a:ext cx="144941" cy="2756293"/>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Slide Number Placeholder 25">
            <a:extLst>
              <a:ext uri="{FF2B5EF4-FFF2-40B4-BE49-F238E27FC236}">
                <a16:creationId xmlns:a16="http://schemas.microsoft.com/office/drawing/2014/main" id="{5B0A0D80-157F-6F58-2D7A-251F7F56D174}"/>
              </a:ext>
            </a:extLst>
          </p:cNvPr>
          <p:cNvSpPr>
            <a:spLocks noGrp="1"/>
          </p:cNvSpPr>
          <p:nvPr>
            <p:ph type="sldNum" sz="quarter" idx="7"/>
          </p:nvPr>
        </p:nvSpPr>
        <p:spPr/>
        <p:txBody>
          <a:bodyPr/>
          <a:lstStyle/>
          <a:p>
            <a:pPr marL="25400"/>
            <a:fld id="{81D60167-4931-47E6-BA6A-407CBD079E47}" type="slidenum">
              <a:rPr lang="en-US" smtClean="0"/>
              <a:pPr marL="25400"/>
              <a:t>12</a:t>
            </a:fld>
            <a:r>
              <a:rPr lang="en-US"/>
              <a:t>/27</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D</a:t>
            </a:r>
            <a:r>
              <a:rPr spc="-30" dirty="0"/>
              <a:t>Q</a:t>
            </a:r>
            <a:r>
              <a:rPr dirty="0"/>
              <a:t>N</a:t>
            </a:r>
            <a:r>
              <a:rPr spc="-180" dirty="0"/>
              <a:t> </a:t>
            </a:r>
            <a:r>
              <a:rPr dirty="0"/>
              <a:t>Algori</a:t>
            </a:r>
            <a:r>
              <a:rPr spc="-15" dirty="0"/>
              <a:t>t</a:t>
            </a:r>
            <a:r>
              <a:rPr dirty="0"/>
              <a:t>hm</a:t>
            </a:r>
          </a:p>
        </p:txBody>
      </p:sp>
      <p:sp>
        <p:nvSpPr>
          <p:cNvPr id="4" name="object 4"/>
          <p:cNvSpPr/>
          <p:nvPr/>
        </p:nvSpPr>
        <p:spPr>
          <a:xfrm>
            <a:off x="345515" y="1124261"/>
            <a:ext cx="6456678" cy="5681179"/>
          </a:xfrm>
          <a:prstGeom prst="rect">
            <a:avLst/>
          </a:prstGeom>
          <a:blipFill>
            <a:blip r:embed="rId3" cstate="print"/>
            <a:stretch>
              <a:fillRect/>
            </a:stretch>
          </a:blipFill>
        </p:spPr>
        <p:txBody>
          <a:bodyPr wrap="square" lIns="0" tIns="0" rIns="0" bIns="0" rtlCol="0"/>
          <a:lstStyle/>
          <a:p>
            <a:endParaRPr/>
          </a:p>
        </p:txBody>
      </p:sp>
      <p:sp>
        <p:nvSpPr>
          <p:cNvPr id="5" name="TextBox 4">
            <a:extLst>
              <a:ext uri="{FF2B5EF4-FFF2-40B4-BE49-F238E27FC236}">
                <a16:creationId xmlns:a16="http://schemas.microsoft.com/office/drawing/2014/main" id="{64F6EF5A-341E-2D31-0658-E3E0BC51370C}"/>
              </a:ext>
            </a:extLst>
          </p:cNvPr>
          <p:cNvSpPr txBox="1"/>
          <p:nvPr/>
        </p:nvSpPr>
        <p:spPr>
          <a:xfrm>
            <a:off x="838200" y="6536732"/>
            <a:ext cx="6119624" cy="307777"/>
          </a:xfrm>
          <a:prstGeom prst="rect">
            <a:avLst/>
          </a:prstGeom>
          <a:noFill/>
        </p:spPr>
        <p:txBody>
          <a:bodyPr wrap="none" rtlCol="0">
            <a:spAutoFit/>
          </a:bodyPr>
          <a:lstStyle/>
          <a:p>
            <a:r>
              <a:rPr lang="en-US" sz="1400" dirty="0">
                <a:solidFill>
                  <a:srgbClr val="0000FF"/>
                </a:solidFill>
              </a:rPr>
              <a:t>Chapter 6, pages 197-198, </a:t>
            </a:r>
            <a:r>
              <a:rPr lang="en-US" sz="1400" kern="0" dirty="0">
                <a:solidFill>
                  <a:srgbClr val="0000FF"/>
                </a:solidFill>
                <a:latin typeface="Gill Sans"/>
                <a:sym typeface="Gill Sans"/>
              </a:rPr>
              <a:t>Mastering Reinforcement Learning with Python (2020)</a:t>
            </a:r>
            <a:endParaRPr lang="en-US" sz="1400" dirty="0">
              <a:solidFill>
                <a:srgbClr val="0000FF"/>
              </a:solidFill>
            </a:endParaRPr>
          </a:p>
        </p:txBody>
      </p:sp>
      <p:sp>
        <p:nvSpPr>
          <p:cNvPr id="6" name="Slide Number Placeholder 5">
            <a:extLst>
              <a:ext uri="{FF2B5EF4-FFF2-40B4-BE49-F238E27FC236}">
                <a16:creationId xmlns:a16="http://schemas.microsoft.com/office/drawing/2014/main" id="{6FB76DD9-67C6-6E0B-0C14-764BF8D9462E}"/>
              </a:ext>
            </a:extLst>
          </p:cNvPr>
          <p:cNvSpPr>
            <a:spLocks noGrp="1"/>
          </p:cNvSpPr>
          <p:nvPr>
            <p:ph type="sldNum" sz="quarter" idx="7"/>
          </p:nvPr>
        </p:nvSpPr>
        <p:spPr/>
        <p:txBody>
          <a:bodyPr/>
          <a:lstStyle/>
          <a:p>
            <a:pPr marL="25400"/>
            <a:fld id="{81D60167-4931-47E6-BA6A-407CBD079E47}" type="slidenum">
              <a:rPr lang="en-US" smtClean="0"/>
              <a:pPr marL="25400"/>
              <a:t>13</a:t>
            </a:fld>
            <a:r>
              <a:rPr lang="en-US"/>
              <a:t>/27</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Experience</a:t>
            </a:r>
            <a:r>
              <a:rPr spc="-5" dirty="0"/>
              <a:t> </a:t>
            </a:r>
            <a:r>
              <a:rPr dirty="0"/>
              <a:t>Replay</a:t>
            </a:r>
          </a:p>
        </p:txBody>
      </p:sp>
      <p:sp>
        <p:nvSpPr>
          <p:cNvPr id="4" name="object 4"/>
          <p:cNvSpPr txBox="1"/>
          <p:nvPr/>
        </p:nvSpPr>
        <p:spPr>
          <a:xfrm>
            <a:off x="392194" y="1313914"/>
            <a:ext cx="8014970" cy="5183470"/>
          </a:xfrm>
          <a:prstGeom prst="rect">
            <a:avLst/>
          </a:prstGeom>
        </p:spPr>
        <p:txBody>
          <a:bodyPr vert="horz" wrap="square" lIns="0" tIns="0" rIns="0" bIns="0" rtlCol="0">
            <a:spAutoFit/>
          </a:bodyPr>
          <a:lstStyle/>
          <a:p>
            <a:pPr marL="195580" marR="197485" indent="-182880">
              <a:lnSpc>
                <a:spcPts val="2039"/>
              </a:lnSpc>
              <a:buFont typeface="Arial"/>
              <a:buChar char="•"/>
              <a:tabLst>
                <a:tab pos="195580" algn="l"/>
              </a:tabLst>
            </a:pPr>
            <a:r>
              <a:rPr sz="2850" spc="-37" baseline="1461" dirty="0">
                <a:latin typeface="Calibri"/>
                <a:cs typeface="Calibri"/>
              </a:rPr>
              <a:t>E</a:t>
            </a:r>
            <a:r>
              <a:rPr sz="2850" spc="7" baseline="1461" dirty="0">
                <a:latin typeface="Calibri"/>
                <a:cs typeface="Calibri"/>
              </a:rPr>
              <a:t>qui</a:t>
            </a:r>
            <a:r>
              <a:rPr sz="2850" spc="-44" baseline="1461" dirty="0">
                <a:latin typeface="Calibri"/>
                <a:cs typeface="Calibri"/>
              </a:rPr>
              <a:t>v</a:t>
            </a:r>
            <a:r>
              <a:rPr sz="2850" spc="7" baseline="1461" dirty="0">
                <a:latin typeface="Calibri"/>
                <a:cs typeface="Calibri"/>
              </a:rPr>
              <a:t>al</a:t>
            </a:r>
            <a:r>
              <a:rPr sz="2850" baseline="1461" dirty="0">
                <a:latin typeface="Calibri"/>
                <a:cs typeface="Calibri"/>
              </a:rPr>
              <a:t>e</a:t>
            </a:r>
            <a:r>
              <a:rPr sz="2850" spc="-15" baseline="1461" dirty="0">
                <a:latin typeface="Calibri"/>
                <a:cs typeface="Calibri"/>
              </a:rPr>
              <a:t>n</a:t>
            </a:r>
            <a:r>
              <a:rPr sz="2850" spc="7" baseline="1461" dirty="0">
                <a:latin typeface="Calibri"/>
                <a:cs typeface="Calibri"/>
              </a:rPr>
              <a:t>t</a:t>
            </a:r>
            <a:r>
              <a:rPr sz="2850" baseline="1461" dirty="0">
                <a:latin typeface="Calibri"/>
                <a:cs typeface="Calibri"/>
              </a:rPr>
              <a:t> </a:t>
            </a:r>
            <a:r>
              <a:rPr sz="2850" spc="-22" baseline="1461" dirty="0">
                <a:latin typeface="Calibri"/>
                <a:cs typeface="Calibri"/>
              </a:rPr>
              <a:t>t</a:t>
            </a:r>
            <a:r>
              <a:rPr sz="2850" spc="15" baseline="1461" dirty="0">
                <a:latin typeface="Calibri"/>
                <a:cs typeface="Calibri"/>
              </a:rPr>
              <a:t>o</a:t>
            </a:r>
            <a:r>
              <a:rPr sz="2850" baseline="1461" dirty="0">
                <a:latin typeface="Calibri"/>
                <a:cs typeface="Calibri"/>
              </a:rPr>
              <a:t> </a:t>
            </a:r>
            <a:r>
              <a:rPr sz="2850" spc="-30" baseline="1461" dirty="0">
                <a:latin typeface="Calibri"/>
                <a:cs typeface="Calibri"/>
              </a:rPr>
              <a:t>st</a:t>
            </a:r>
            <a:r>
              <a:rPr sz="2850" spc="7" baseline="1461" dirty="0">
                <a:latin typeface="Calibri"/>
                <a:cs typeface="Calibri"/>
              </a:rPr>
              <a:t>anda</a:t>
            </a:r>
            <a:r>
              <a:rPr sz="2850" spc="-37" baseline="1461" dirty="0">
                <a:latin typeface="Calibri"/>
                <a:cs typeface="Calibri"/>
              </a:rPr>
              <a:t>r</a:t>
            </a:r>
            <a:r>
              <a:rPr sz="2850" spc="15" baseline="1461" dirty="0">
                <a:latin typeface="Calibri"/>
                <a:cs typeface="Calibri"/>
              </a:rPr>
              <a:t>d</a:t>
            </a:r>
            <a:r>
              <a:rPr sz="2850" baseline="1461" dirty="0">
                <a:latin typeface="Calibri"/>
                <a:cs typeface="Calibri"/>
              </a:rPr>
              <a:t> </a:t>
            </a:r>
            <a:r>
              <a:rPr sz="2850" spc="7" baseline="1461" dirty="0">
                <a:latin typeface="Calibri"/>
                <a:cs typeface="Calibri"/>
              </a:rPr>
              <a:t>Q-l</a:t>
            </a:r>
            <a:r>
              <a:rPr sz="2850" baseline="1461" dirty="0">
                <a:latin typeface="Calibri"/>
                <a:cs typeface="Calibri"/>
              </a:rPr>
              <a:t>e</a:t>
            </a:r>
            <a:r>
              <a:rPr sz="2850" spc="7" baseline="1461" dirty="0">
                <a:latin typeface="Calibri"/>
                <a:cs typeface="Calibri"/>
              </a:rPr>
              <a:t>arnin</a:t>
            </a:r>
            <a:r>
              <a:rPr sz="2850" baseline="1461" dirty="0">
                <a:latin typeface="Calibri"/>
                <a:cs typeface="Calibri"/>
              </a:rPr>
              <a:t>g: </a:t>
            </a:r>
            <a:r>
              <a:rPr sz="2850" spc="7" baseline="1461" dirty="0">
                <a:latin typeface="Calibri"/>
                <a:cs typeface="Calibri"/>
              </a:rPr>
              <a:t>ada</a:t>
            </a:r>
            <a:r>
              <a:rPr sz="2850" baseline="1461" dirty="0">
                <a:latin typeface="Calibri"/>
                <a:cs typeface="Calibri"/>
              </a:rPr>
              <a:t>p</a:t>
            </a:r>
            <a:r>
              <a:rPr sz="2850" spc="7" baseline="1461" dirty="0">
                <a:latin typeface="Calibri"/>
                <a:cs typeface="Calibri"/>
              </a:rPr>
              <a:t>t</a:t>
            </a:r>
            <a:r>
              <a:rPr sz="2850" baseline="1461" dirty="0">
                <a:latin typeface="Calibri"/>
                <a:cs typeface="Calibri"/>
              </a:rPr>
              <a:t> </a:t>
            </a:r>
            <a:r>
              <a:rPr sz="2850" spc="7" baseline="1461" dirty="0">
                <a:latin typeface="Calibri"/>
                <a:cs typeface="Calibri"/>
              </a:rPr>
              <a:t>th</a:t>
            </a:r>
            <a:r>
              <a:rPr sz="2850" baseline="1461" dirty="0">
                <a:latin typeface="Calibri"/>
                <a:cs typeface="Calibri"/>
              </a:rPr>
              <a:t>e </a:t>
            </a:r>
            <a:r>
              <a:rPr sz="2850" spc="15" baseline="1461" dirty="0">
                <a:latin typeface="Calibri"/>
                <a:cs typeface="Calibri"/>
              </a:rPr>
              <a:t>n</a:t>
            </a:r>
            <a:r>
              <a:rPr sz="2850" spc="-22" baseline="1461" dirty="0">
                <a:latin typeface="Calibri"/>
                <a:cs typeface="Calibri"/>
              </a:rPr>
              <a:t>e</a:t>
            </a:r>
            <a:r>
              <a:rPr sz="2850" spc="7" baseline="1461" dirty="0">
                <a:latin typeface="Calibri"/>
                <a:cs typeface="Calibri"/>
              </a:rPr>
              <a:t>t</a:t>
            </a:r>
            <a:r>
              <a:rPr sz="2850" spc="-15" baseline="1461" dirty="0">
                <a:latin typeface="Calibri"/>
                <a:cs typeface="Calibri"/>
              </a:rPr>
              <a:t>w</a:t>
            </a:r>
            <a:r>
              <a:rPr sz="2850" spc="15" baseline="1461" dirty="0">
                <a:latin typeface="Calibri"/>
                <a:cs typeface="Calibri"/>
              </a:rPr>
              <a:t>o</a:t>
            </a:r>
            <a:r>
              <a:rPr sz="2850" baseline="1461" dirty="0">
                <a:latin typeface="Calibri"/>
                <a:cs typeface="Calibri"/>
              </a:rPr>
              <a:t>rk </a:t>
            </a:r>
            <a:r>
              <a:rPr sz="2850" spc="-60" baseline="1461" dirty="0">
                <a:latin typeface="Calibri"/>
                <a:cs typeface="Calibri"/>
              </a:rPr>
              <a:t>f</a:t>
            </a:r>
            <a:r>
              <a:rPr sz="2850" spc="15" baseline="1461" dirty="0">
                <a:latin typeface="Calibri"/>
                <a:cs typeface="Calibri"/>
              </a:rPr>
              <a:t>o</a:t>
            </a:r>
            <a:r>
              <a:rPr sz="2850" baseline="1461" dirty="0">
                <a:latin typeface="Calibri"/>
                <a:cs typeface="Calibri"/>
              </a:rPr>
              <a:t>r </a:t>
            </a:r>
            <a:r>
              <a:rPr sz="2850" spc="7" baseline="1461" dirty="0">
                <a:latin typeface="Calibri"/>
                <a:cs typeface="Calibri"/>
              </a:rPr>
              <a:t> </a:t>
            </a:r>
            <a:r>
              <a:rPr sz="2850" spc="-15" baseline="1461" dirty="0">
                <a:latin typeface="Calibri"/>
                <a:cs typeface="Calibri"/>
              </a:rPr>
              <a:t>e</a:t>
            </a:r>
            <a:r>
              <a:rPr sz="2850" spc="-30" baseline="1461" dirty="0">
                <a:latin typeface="Calibri"/>
                <a:cs typeface="Calibri"/>
              </a:rPr>
              <a:t>v</a:t>
            </a:r>
            <a:r>
              <a:rPr sz="2850" baseline="1461" dirty="0">
                <a:latin typeface="Calibri"/>
                <a:cs typeface="Calibri"/>
              </a:rPr>
              <a:t>e</a:t>
            </a:r>
            <a:r>
              <a:rPr sz="2850" spc="7" baseline="1461" dirty="0">
                <a:latin typeface="Calibri"/>
                <a:cs typeface="Calibri"/>
              </a:rPr>
              <a:t>r</a:t>
            </a:r>
            <a:r>
              <a:rPr sz="2850" baseline="1461" dirty="0">
                <a:latin typeface="Calibri"/>
                <a:cs typeface="Calibri"/>
              </a:rPr>
              <a:t>y </a:t>
            </a:r>
            <a:r>
              <a:rPr sz="2850" spc="7" baseline="1461" dirty="0">
                <a:latin typeface="Calibri"/>
                <a:cs typeface="Calibri"/>
              </a:rPr>
              <a:t>action</a:t>
            </a:r>
            <a:r>
              <a:rPr sz="2850" baseline="1461" dirty="0">
                <a:latin typeface="Calibri"/>
                <a:cs typeface="Calibri"/>
              </a:rPr>
              <a:t> </a:t>
            </a:r>
            <a:r>
              <a:rPr sz="2850" spc="7" baseline="1461" dirty="0">
                <a:latin typeface="Calibri"/>
                <a:cs typeface="Calibri"/>
              </a:rPr>
              <a:t>as</a:t>
            </a:r>
            <a:r>
              <a:rPr sz="2850" baseline="1461" dirty="0">
                <a:latin typeface="Calibri"/>
                <a:cs typeface="Calibri"/>
              </a:rPr>
              <a:t> </a:t>
            </a:r>
            <a:r>
              <a:rPr sz="2850" spc="7" baseline="1461" dirty="0">
                <a:latin typeface="Calibri"/>
                <a:cs typeface="Calibri"/>
              </a:rPr>
              <a:t>it</a:t>
            </a:r>
            <a:r>
              <a:rPr sz="2850" baseline="1461" dirty="0">
                <a:latin typeface="Calibri"/>
                <a:cs typeface="Calibri"/>
              </a:rPr>
              <a:t> </a:t>
            </a:r>
            <a:r>
              <a:rPr sz="2850" spc="7" baseline="1461" dirty="0">
                <a:latin typeface="Calibri"/>
                <a:cs typeface="Calibri"/>
              </a:rPr>
              <a:t>is</a:t>
            </a:r>
            <a:r>
              <a:rPr sz="2850" baseline="1461" dirty="0">
                <a:latin typeface="Calibri"/>
                <a:cs typeface="Calibri"/>
              </a:rPr>
              <a:t> </a:t>
            </a:r>
            <a:r>
              <a:rPr sz="1900" spc="10" dirty="0">
                <a:latin typeface="Calibri"/>
                <a:cs typeface="Calibri"/>
              </a:rPr>
              <a:t>p</a:t>
            </a:r>
            <a:r>
              <a:rPr sz="1900" dirty="0">
                <a:latin typeface="Calibri"/>
                <a:cs typeface="Calibri"/>
              </a:rPr>
              <a:t>er</a:t>
            </a:r>
            <a:r>
              <a:rPr sz="1900" spc="-40" dirty="0">
                <a:latin typeface="Calibri"/>
                <a:cs typeface="Calibri"/>
              </a:rPr>
              <a:t>f</a:t>
            </a:r>
            <a:r>
              <a:rPr sz="1900" spc="10" dirty="0">
                <a:latin typeface="Calibri"/>
                <a:cs typeface="Calibri"/>
              </a:rPr>
              <a:t>o</a:t>
            </a:r>
            <a:r>
              <a:rPr sz="1900" dirty="0">
                <a:latin typeface="Calibri"/>
                <a:cs typeface="Calibri"/>
              </a:rPr>
              <a:t>r</a:t>
            </a:r>
            <a:r>
              <a:rPr sz="1900" spc="15" dirty="0">
                <a:latin typeface="Calibri"/>
                <a:cs typeface="Calibri"/>
              </a:rPr>
              <a:t>m</a:t>
            </a:r>
            <a:r>
              <a:rPr sz="1900" dirty="0">
                <a:latin typeface="Calibri"/>
                <a:cs typeface="Calibri"/>
              </a:rPr>
              <a:t>e</a:t>
            </a:r>
            <a:r>
              <a:rPr sz="1900" spc="10" dirty="0">
                <a:latin typeface="Calibri"/>
                <a:cs typeface="Calibri"/>
              </a:rPr>
              <a:t>d</a:t>
            </a:r>
            <a:r>
              <a:rPr sz="1900" dirty="0">
                <a:latin typeface="Calibri"/>
                <a:cs typeface="Calibri"/>
              </a:rPr>
              <a:t> </a:t>
            </a:r>
            <a:r>
              <a:rPr sz="1900" spc="5" dirty="0">
                <a:latin typeface="Calibri"/>
                <a:cs typeface="Calibri"/>
              </a:rPr>
              <a:t>(usuall</a:t>
            </a:r>
            <a:r>
              <a:rPr sz="1900" dirty="0">
                <a:latin typeface="Calibri"/>
                <a:cs typeface="Calibri"/>
              </a:rPr>
              <a:t>y </a:t>
            </a:r>
            <a:r>
              <a:rPr sz="1900" spc="5" dirty="0">
                <a:latin typeface="Calibri"/>
                <a:cs typeface="Calibri"/>
              </a:rPr>
              <a:t>usin</a:t>
            </a:r>
            <a:r>
              <a:rPr sz="1900" dirty="0">
                <a:latin typeface="Calibri"/>
                <a:cs typeface="Calibri"/>
              </a:rPr>
              <a:t>g </a:t>
            </a:r>
            <a:r>
              <a:rPr sz="1900" spc="5" dirty="0">
                <a:latin typeface="Calibri"/>
                <a:cs typeface="Calibri"/>
              </a:rPr>
              <a:t>a</a:t>
            </a:r>
            <a:r>
              <a:rPr sz="1900" dirty="0">
                <a:latin typeface="Calibri"/>
                <a:cs typeface="Calibri"/>
              </a:rPr>
              <a:t> </a:t>
            </a:r>
            <a:r>
              <a:rPr sz="1900" spc="5" dirty="0">
                <a:latin typeface="Calibri"/>
                <a:cs typeface="Calibri"/>
              </a:rPr>
              <a:t>sin</a:t>
            </a:r>
            <a:r>
              <a:rPr sz="1900" dirty="0">
                <a:latin typeface="Calibri"/>
                <a:cs typeface="Calibri"/>
              </a:rPr>
              <a:t>gle </a:t>
            </a:r>
            <a:r>
              <a:rPr sz="1900" spc="10" dirty="0">
                <a:latin typeface="Calibri"/>
                <a:cs typeface="Calibri"/>
              </a:rPr>
              <a:t>SDG</a:t>
            </a:r>
            <a:r>
              <a:rPr sz="1900" dirty="0">
                <a:latin typeface="Calibri"/>
                <a:cs typeface="Calibri"/>
              </a:rPr>
              <a:t> </a:t>
            </a:r>
            <a:r>
              <a:rPr sz="1900" spc="-20" dirty="0">
                <a:latin typeface="Calibri"/>
                <a:cs typeface="Calibri"/>
              </a:rPr>
              <a:t>st</a:t>
            </a:r>
            <a:r>
              <a:rPr sz="1900" dirty="0">
                <a:latin typeface="Calibri"/>
                <a:cs typeface="Calibri"/>
              </a:rPr>
              <a:t>e</a:t>
            </a:r>
            <a:r>
              <a:rPr sz="1900" spc="10" dirty="0">
                <a:latin typeface="Calibri"/>
                <a:cs typeface="Calibri"/>
              </a:rPr>
              <a:t>p</a:t>
            </a:r>
            <a:r>
              <a:rPr sz="1900" dirty="0">
                <a:latin typeface="Calibri"/>
                <a:cs typeface="Calibri"/>
              </a:rPr>
              <a:t> </a:t>
            </a:r>
            <a:r>
              <a:rPr sz="1900" spc="5" dirty="0">
                <a:latin typeface="Calibri"/>
                <a:cs typeface="Calibri"/>
              </a:rPr>
              <a:t>and</a:t>
            </a:r>
            <a:r>
              <a:rPr sz="1900" dirty="0">
                <a:latin typeface="Calibri"/>
                <a:cs typeface="Calibri"/>
              </a:rPr>
              <a:t> </a:t>
            </a:r>
            <a:r>
              <a:rPr sz="1900" spc="10" dirty="0">
                <a:latin typeface="Calibri"/>
                <a:cs typeface="Calibri"/>
              </a:rPr>
              <a:t>MSE</a:t>
            </a:r>
            <a:r>
              <a:rPr sz="1900" dirty="0">
                <a:latin typeface="Calibri"/>
                <a:cs typeface="Calibri"/>
              </a:rPr>
              <a:t> </a:t>
            </a:r>
            <a:r>
              <a:rPr sz="1900" spc="5" dirty="0">
                <a:latin typeface="Calibri"/>
                <a:cs typeface="Calibri"/>
              </a:rPr>
              <a:t>loss)</a:t>
            </a:r>
            <a:endParaRPr sz="1900" dirty="0">
              <a:latin typeface="Calibri"/>
              <a:cs typeface="Calibri"/>
            </a:endParaRPr>
          </a:p>
          <a:p>
            <a:pPr>
              <a:lnSpc>
                <a:spcPct val="100000"/>
              </a:lnSpc>
              <a:spcBef>
                <a:spcPts val="14"/>
              </a:spcBef>
              <a:buFont typeface="Arial"/>
              <a:buChar char="•"/>
            </a:pPr>
            <a:endParaRPr sz="2300" dirty="0">
              <a:latin typeface="Times New Roman"/>
              <a:cs typeface="Times New Roman"/>
            </a:endParaRPr>
          </a:p>
          <a:p>
            <a:pPr marL="195580" indent="-182880">
              <a:lnSpc>
                <a:spcPct val="100000"/>
              </a:lnSpc>
              <a:buFont typeface="Arial"/>
              <a:buChar char="•"/>
              <a:tabLst>
                <a:tab pos="195580" algn="l"/>
              </a:tabLst>
            </a:pPr>
            <a:r>
              <a:rPr sz="2850" b="1" spc="7" baseline="1461" dirty="0">
                <a:latin typeface="Calibri"/>
                <a:cs typeface="Calibri"/>
              </a:rPr>
              <a:t>This</a:t>
            </a:r>
            <a:r>
              <a:rPr sz="2850" b="1" baseline="1461" dirty="0">
                <a:latin typeface="Calibri"/>
                <a:cs typeface="Calibri"/>
              </a:rPr>
              <a:t> </a:t>
            </a:r>
            <a:r>
              <a:rPr sz="2850" b="1" spc="-22" baseline="1461" dirty="0">
                <a:latin typeface="Calibri"/>
                <a:cs typeface="Calibri"/>
              </a:rPr>
              <a:t>c</a:t>
            </a:r>
            <a:r>
              <a:rPr sz="2850" b="1" spc="7" baseline="1461" dirty="0">
                <a:latin typeface="Calibri"/>
                <a:cs typeface="Calibri"/>
              </a:rPr>
              <a:t>an</a:t>
            </a:r>
            <a:r>
              <a:rPr sz="2850" b="1" baseline="1461" dirty="0">
                <a:latin typeface="Calibri"/>
                <a:cs typeface="Calibri"/>
              </a:rPr>
              <a:t> </a:t>
            </a:r>
            <a:r>
              <a:rPr sz="2850" b="1" spc="15" baseline="1461" dirty="0">
                <a:latin typeface="Calibri"/>
                <a:cs typeface="Calibri"/>
              </a:rPr>
              <a:t>b</a:t>
            </a:r>
            <a:r>
              <a:rPr sz="2850" b="1" baseline="1461" dirty="0">
                <a:latin typeface="Calibri"/>
                <a:cs typeface="Calibri"/>
              </a:rPr>
              <a:t>e </a:t>
            </a:r>
            <a:r>
              <a:rPr sz="2850" b="1" spc="15" baseline="1461" dirty="0">
                <a:latin typeface="Calibri"/>
                <a:cs typeface="Calibri"/>
              </a:rPr>
              <a:t>un</a:t>
            </a:r>
            <a:r>
              <a:rPr sz="2850" b="1" spc="-30" baseline="1461" dirty="0">
                <a:latin typeface="Calibri"/>
                <a:cs typeface="Calibri"/>
              </a:rPr>
              <a:t>st</a:t>
            </a:r>
            <a:r>
              <a:rPr sz="2850" b="1" spc="7" baseline="1461" dirty="0">
                <a:latin typeface="Calibri"/>
                <a:cs typeface="Calibri"/>
              </a:rPr>
              <a:t>abl</a:t>
            </a:r>
            <a:r>
              <a:rPr sz="2850" b="1" baseline="1461" dirty="0">
                <a:latin typeface="Calibri"/>
                <a:cs typeface="Calibri"/>
              </a:rPr>
              <a:t>e. </a:t>
            </a:r>
            <a:r>
              <a:rPr sz="2850" b="1" spc="-254" baseline="1461" dirty="0">
                <a:latin typeface="Calibri"/>
                <a:cs typeface="Calibri"/>
              </a:rPr>
              <a:t>T</a:t>
            </a:r>
            <a:r>
              <a:rPr sz="2850" b="1" spc="15" baseline="1461" dirty="0">
                <a:latin typeface="Calibri"/>
                <a:cs typeface="Calibri"/>
              </a:rPr>
              <a:t>o</a:t>
            </a:r>
            <a:r>
              <a:rPr sz="2850" b="1" baseline="1461" dirty="0">
                <a:latin typeface="Calibri"/>
                <a:cs typeface="Calibri"/>
              </a:rPr>
              <a:t> </a:t>
            </a:r>
            <a:r>
              <a:rPr sz="2850" b="1" spc="-30" baseline="1461" dirty="0">
                <a:latin typeface="Calibri"/>
                <a:cs typeface="Calibri"/>
              </a:rPr>
              <a:t>st</a:t>
            </a:r>
            <a:r>
              <a:rPr sz="2850" b="1" spc="7" baseline="1461" dirty="0">
                <a:latin typeface="Calibri"/>
                <a:cs typeface="Calibri"/>
              </a:rPr>
              <a:t>abilis</a:t>
            </a:r>
            <a:r>
              <a:rPr sz="2850" b="1" baseline="1461" dirty="0">
                <a:latin typeface="Calibri"/>
                <a:cs typeface="Calibri"/>
              </a:rPr>
              <a:t>e </a:t>
            </a:r>
            <a:r>
              <a:rPr sz="2850" b="1" spc="-15" baseline="1461" dirty="0">
                <a:latin typeface="Calibri"/>
                <a:cs typeface="Calibri"/>
              </a:rPr>
              <a:t>w</a:t>
            </a:r>
            <a:r>
              <a:rPr sz="2850" b="1" baseline="1461" dirty="0">
                <a:latin typeface="Calibri"/>
                <a:cs typeface="Calibri"/>
              </a:rPr>
              <a:t>e </a:t>
            </a:r>
            <a:r>
              <a:rPr sz="2850" b="1" spc="15" baseline="1461" dirty="0">
                <a:latin typeface="Calibri"/>
                <a:cs typeface="Calibri"/>
              </a:rPr>
              <a:t>p</a:t>
            </a:r>
            <a:r>
              <a:rPr sz="2850" b="1" baseline="1461" dirty="0">
                <a:latin typeface="Calibri"/>
                <a:cs typeface="Calibri"/>
              </a:rPr>
              <a:t>er</a:t>
            </a:r>
            <a:r>
              <a:rPr sz="2850" b="1" spc="-60" baseline="1461" dirty="0">
                <a:latin typeface="Calibri"/>
                <a:cs typeface="Calibri"/>
              </a:rPr>
              <a:t>f</a:t>
            </a:r>
            <a:r>
              <a:rPr sz="2850" b="1" spc="15" baseline="1461" dirty="0">
                <a:latin typeface="Calibri"/>
                <a:cs typeface="Calibri"/>
              </a:rPr>
              <a:t>o</a:t>
            </a:r>
            <a:r>
              <a:rPr sz="2850" b="1" baseline="1461" dirty="0">
                <a:latin typeface="Calibri"/>
                <a:cs typeface="Calibri"/>
              </a:rPr>
              <a:t>r</a:t>
            </a:r>
            <a:r>
              <a:rPr sz="2850" b="1" spc="22" baseline="1461" dirty="0">
                <a:latin typeface="Calibri"/>
                <a:cs typeface="Calibri"/>
              </a:rPr>
              <a:t>m</a:t>
            </a:r>
            <a:r>
              <a:rPr sz="2850" b="1" baseline="1461" dirty="0">
                <a:latin typeface="Calibri"/>
                <a:cs typeface="Calibri"/>
              </a:rPr>
              <a:t> </a:t>
            </a:r>
            <a:r>
              <a:rPr sz="2850" b="1" i="1" spc="7" baseline="1461" dirty="0">
                <a:latin typeface="Calibri"/>
                <a:cs typeface="Calibri"/>
              </a:rPr>
              <a:t>Expe</a:t>
            </a:r>
            <a:r>
              <a:rPr sz="2850" b="1" i="1" spc="-7" baseline="1461" dirty="0">
                <a:latin typeface="Calibri"/>
                <a:cs typeface="Calibri"/>
              </a:rPr>
              <a:t>r</a:t>
            </a:r>
            <a:r>
              <a:rPr sz="2850" b="1" i="1" baseline="1461" dirty="0">
                <a:latin typeface="Calibri"/>
                <a:cs typeface="Calibri"/>
              </a:rPr>
              <a:t>ie</a:t>
            </a:r>
            <a:r>
              <a:rPr sz="2850" b="1" i="1" spc="7" baseline="1461" dirty="0">
                <a:latin typeface="Calibri"/>
                <a:cs typeface="Calibri"/>
              </a:rPr>
              <a:t>n</a:t>
            </a:r>
            <a:r>
              <a:rPr sz="2850" b="1" i="1" spc="-15" baseline="1461" dirty="0">
                <a:latin typeface="Calibri"/>
                <a:cs typeface="Calibri"/>
              </a:rPr>
              <a:t>c</a:t>
            </a:r>
            <a:r>
              <a:rPr sz="2850" b="1" i="1" baseline="1461" dirty="0">
                <a:latin typeface="Calibri"/>
                <a:cs typeface="Calibri"/>
              </a:rPr>
              <a:t>e </a:t>
            </a:r>
            <a:r>
              <a:rPr sz="2850" b="1" i="1" spc="-37" baseline="1461" dirty="0">
                <a:latin typeface="Calibri"/>
                <a:cs typeface="Calibri"/>
              </a:rPr>
              <a:t>R</a:t>
            </a:r>
            <a:r>
              <a:rPr sz="2850" b="1" i="1" spc="-7" baseline="1461" dirty="0">
                <a:latin typeface="Calibri"/>
                <a:cs typeface="Calibri"/>
              </a:rPr>
              <a:t>e</a:t>
            </a:r>
            <a:r>
              <a:rPr sz="2850" b="1" i="1" spc="7" baseline="1461" dirty="0">
                <a:latin typeface="Calibri"/>
                <a:cs typeface="Calibri"/>
              </a:rPr>
              <a:t>play</a:t>
            </a:r>
            <a:endParaRPr sz="2850" b="1" baseline="1461" dirty="0">
              <a:latin typeface="Calibri"/>
              <a:cs typeface="Calibri"/>
            </a:endParaRPr>
          </a:p>
          <a:p>
            <a:pPr>
              <a:lnSpc>
                <a:spcPct val="100000"/>
              </a:lnSpc>
              <a:buFont typeface="Arial"/>
              <a:buChar char="•"/>
            </a:pPr>
            <a:endParaRPr sz="1900" dirty="0">
              <a:latin typeface="Times New Roman"/>
              <a:cs typeface="Times New Roman"/>
            </a:endParaRPr>
          </a:p>
          <a:p>
            <a:pPr>
              <a:lnSpc>
                <a:spcPct val="100000"/>
              </a:lnSpc>
              <a:spcBef>
                <a:spcPts val="50"/>
              </a:spcBef>
              <a:buFont typeface="Arial"/>
              <a:buChar char="•"/>
            </a:pPr>
            <a:endParaRPr sz="2750" dirty="0">
              <a:latin typeface="Times New Roman"/>
              <a:cs typeface="Times New Roman"/>
            </a:endParaRPr>
          </a:p>
          <a:p>
            <a:pPr marL="195580" marR="289560" indent="-182880">
              <a:lnSpc>
                <a:spcPts val="2039"/>
              </a:lnSpc>
              <a:buFont typeface="Arial"/>
              <a:buChar char="•"/>
              <a:tabLst>
                <a:tab pos="195580" algn="l"/>
              </a:tabLst>
            </a:pPr>
            <a:r>
              <a:rPr sz="2850" baseline="1461" dirty="0">
                <a:latin typeface="Calibri"/>
                <a:cs typeface="Calibri"/>
              </a:rPr>
              <a:t>All </a:t>
            </a:r>
            <a:r>
              <a:rPr sz="2850" spc="-172" baseline="1461" dirty="0">
                <a:latin typeface="Calibri"/>
                <a:cs typeface="Calibri"/>
              </a:rPr>
              <a:t>T</a:t>
            </a:r>
            <a:r>
              <a:rPr sz="2850" spc="-60" baseline="1461" dirty="0">
                <a:latin typeface="Calibri"/>
                <a:cs typeface="Calibri"/>
              </a:rPr>
              <a:t>r</a:t>
            </a:r>
            <a:r>
              <a:rPr sz="2850" spc="7" baseline="1461" dirty="0">
                <a:latin typeface="Calibri"/>
                <a:cs typeface="Calibri"/>
              </a:rPr>
              <a:t>ansitions</a:t>
            </a:r>
            <a:r>
              <a:rPr sz="2850" baseline="1461" dirty="0">
                <a:latin typeface="Calibri"/>
                <a:cs typeface="Calibri"/>
              </a:rPr>
              <a:t> </a:t>
            </a:r>
            <a:r>
              <a:rPr sz="2850" spc="7" baseline="1461" dirty="0">
                <a:latin typeface="Calibri"/>
                <a:cs typeface="Calibri"/>
              </a:rPr>
              <a:t>(</a:t>
            </a:r>
            <a:r>
              <a:rPr sz="2850" spc="-30" baseline="1461" dirty="0">
                <a:latin typeface="Calibri"/>
                <a:cs typeface="Calibri"/>
              </a:rPr>
              <a:t>st</a:t>
            </a:r>
            <a:r>
              <a:rPr sz="2850" spc="-22" baseline="1461" dirty="0">
                <a:latin typeface="Calibri"/>
                <a:cs typeface="Calibri"/>
              </a:rPr>
              <a:t>a</a:t>
            </a:r>
            <a:r>
              <a:rPr sz="2850" spc="-30" baseline="1461" dirty="0">
                <a:latin typeface="Calibri"/>
                <a:cs typeface="Calibri"/>
              </a:rPr>
              <a:t>t</a:t>
            </a:r>
            <a:r>
              <a:rPr sz="2850" baseline="1461" dirty="0">
                <a:latin typeface="Calibri"/>
                <a:cs typeface="Calibri"/>
              </a:rPr>
              <a:t>e, </a:t>
            </a:r>
            <a:r>
              <a:rPr sz="2850" spc="7" baseline="1461" dirty="0">
                <a:latin typeface="Calibri"/>
                <a:cs typeface="Calibri"/>
              </a:rPr>
              <a:t>action</a:t>
            </a:r>
            <a:r>
              <a:rPr sz="2850" baseline="1461" dirty="0">
                <a:latin typeface="Calibri"/>
                <a:cs typeface="Calibri"/>
              </a:rPr>
              <a:t>, </a:t>
            </a:r>
            <a:r>
              <a:rPr sz="2850" spc="-44" baseline="1461" dirty="0">
                <a:latin typeface="Calibri"/>
                <a:cs typeface="Calibri"/>
              </a:rPr>
              <a:t>r</a:t>
            </a:r>
            <a:r>
              <a:rPr sz="2850" spc="-15" baseline="1461" dirty="0">
                <a:latin typeface="Calibri"/>
                <a:cs typeface="Calibri"/>
              </a:rPr>
              <a:t>e</a:t>
            </a:r>
            <a:r>
              <a:rPr sz="2850" spc="-22" baseline="1461" dirty="0">
                <a:latin typeface="Calibri"/>
                <a:cs typeface="Calibri"/>
              </a:rPr>
              <a:t>w</a:t>
            </a:r>
            <a:r>
              <a:rPr sz="2850" spc="7" baseline="1461" dirty="0">
                <a:latin typeface="Calibri"/>
                <a:cs typeface="Calibri"/>
              </a:rPr>
              <a:t>a</a:t>
            </a:r>
            <a:r>
              <a:rPr sz="2850" spc="-37" baseline="1461" dirty="0">
                <a:latin typeface="Calibri"/>
                <a:cs typeface="Calibri"/>
              </a:rPr>
              <a:t>r</a:t>
            </a:r>
            <a:r>
              <a:rPr sz="2850" spc="15" baseline="1461" dirty="0">
                <a:latin typeface="Calibri"/>
                <a:cs typeface="Calibri"/>
              </a:rPr>
              <a:t>d</a:t>
            </a:r>
            <a:r>
              <a:rPr sz="2850" baseline="1461" dirty="0">
                <a:latin typeface="Calibri"/>
                <a:cs typeface="Calibri"/>
              </a:rPr>
              <a:t>, </a:t>
            </a:r>
            <a:r>
              <a:rPr sz="2850" spc="15" baseline="1461" dirty="0">
                <a:latin typeface="Calibri"/>
                <a:cs typeface="Calibri"/>
              </a:rPr>
              <a:t>n</a:t>
            </a:r>
            <a:r>
              <a:rPr sz="2850" spc="-15" baseline="1461" dirty="0">
                <a:latin typeface="Calibri"/>
                <a:cs typeface="Calibri"/>
              </a:rPr>
              <a:t>e</a:t>
            </a:r>
            <a:r>
              <a:rPr sz="2850" spc="15" baseline="1461" dirty="0">
                <a:latin typeface="Calibri"/>
                <a:cs typeface="Calibri"/>
              </a:rPr>
              <a:t>w</a:t>
            </a:r>
            <a:r>
              <a:rPr sz="2850" baseline="1461" dirty="0">
                <a:latin typeface="Calibri"/>
                <a:cs typeface="Calibri"/>
              </a:rPr>
              <a:t> </a:t>
            </a:r>
            <a:r>
              <a:rPr sz="2850" spc="-30" baseline="1461" dirty="0">
                <a:latin typeface="Calibri"/>
                <a:cs typeface="Calibri"/>
              </a:rPr>
              <a:t>st</a:t>
            </a:r>
            <a:r>
              <a:rPr sz="2850" spc="-22" baseline="1461" dirty="0">
                <a:latin typeface="Calibri"/>
                <a:cs typeface="Calibri"/>
              </a:rPr>
              <a:t>a</a:t>
            </a:r>
            <a:r>
              <a:rPr sz="2850" spc="-30" baseline="1461" dirty="0">
                <a:latin typeface="Calibri"/>
                <a:cs typeface="Calibri"/>
              </a:rPr>
              <a:t>t</a:t>
            </a:r>
            <a:r>
              <a:rPr sz="2850" baseline="1461" dirty="0">
                <a:latin typeface="Calibri"/>
                <a:cs typeface="Calibri"/>
              </a:rPr>
              <a:t>e</a:t>
            </a:r>
            <a:r>
              <a:rPr sz="2850" spc="7" baseline="1461" dirty="0">
                <a:latin typeface="Calibri"/>
                <a:cs typeface="Calibri"/>
              </a:rPr>
              <a:t>)</a:t>
            </a:r>
            <a:r>
              <a:rPr sz="2850" baseline="1461" dirty="0">
                <a:latin typeface="Calibri"/>
                <a:cs typeface="Calibri"/>
              </a:rPr>
              <a:t> </a:t>
            </a:r>
            <a:r>
              <a:rPr sz="2850" spc="7" baseline="1461" dirty="0">
                <a:latin typeface="Calibri"/>
                <a:cs typeface="Calibri"/>
              </a:rPr>
              <a:t>a</a:t>
            </a:r>
            <a:r>
              <a:rPr sz="2850" spc="-37" baseline="1461" dirty="0">
                <a:latin typeface="Calibri"/>
                <a:cs typeface="Calibri"/>
              </a:rPr>
              <a:t>r</a:t>
            </a:r>
            <a:r>
              <a:rPr sz="2850" baseline="1461" dirty="0">
                <a:latin typeface="Calibri"/>
                <a:cs typeface="Calibri"/>
              </a:rPr>
              <a:t>e </a:t>
            </a:r>
            <a:r>
              <a:rPr sz="2850" spc="-30" baseline="1461" dirty="0">
                <a:latin typeface="Calibri"/>
                <a:cs typeface="Calibri"/>
              </a:rPr>
              <a:t>s</a:t>
            </a:r>
            <a:r>
              <a:rPr sz="2850" spc="-22" baseline="1461" dirty="0">
                <a:latin typeface="Calibri"/>
                <a:cs typeface="Calibri"/>
              </a:rPr>
              <a:t>t</a:t>
            </a:r>
            <a:r>
              <a:rPr sz="2850" spc="15" baseline="1461" dirty="0">
                <a:latin typeface="Calibri"/>
                <a:cs typeface="Calibri"/>
              </a:rPr>
              <a:t>o</a:t>
            </a:r>
            <a:r>
              <a:rPr sz="2850" spc="-44" baseline="1461" dirty="0">
                <a:latin typeface="Calibri"/>
                <a:cs typeface="Calibri"/>
              </a:rPr>
              <a:t>r</a:t>
            </a:r>
            <a:r>
              <a:rPr sz="2850" baseline="1461" dirty="0">
                <a:latin typeface="Calibri"/>
                <a:cs typeface="Calibri"/>
              </a:rPr>
              <a:t>e</a:t>
            </a:r>
            <a:r>
              <a:rPr sz="2850" spc="15" baseline="1461" dirty="0">
                <a:latin typeface="Calibri"/>
                <a:cs typeface="Calibri"/>
              </a:rPr>
              <a:t>d</a:t>
            </a:r>
            <a:r>
              <a:rPr sz="2850" baseline="1461" dirty="0">
                <a:latin typeface="Calibri"/>
                <a:cs typeface="Calibri"/>
              </a:rPr>
              <a:t> </a:t>
            </a:r>
            <a:r>
              <a:rPr sz="2850" spc="7" baseline="1461" dirty="0">
                <a:latin typeface="Calibri"/>
                <a:cs typeface="Calibri"/>
              </a:rPr>
              <a:t>in</a:t>
            </a:r>
            <a:r>
              <a:rPr sz="2850" baseline="1461" dirty="0">
                <a:latin typeface="Calibri"/>
                <a:cs typeface="Calibri"/>
              </a:rPr>
              <a:t> </a:t>
            </a:r>
            <a:r>
              <a:rPr sz="2850" spc="7" baseline="1461" dirty="0">
                <a:latin typeface="Calibri"/>
                <a:cs typeface="Calibri"/>
              </a:rPr>
              <a:t>a</a:t>
            </a:r>
            <a:r>
              <a:rPr sz="2850" baseline="1461" dirty="0">
                <a:latin typeface="Calibri"/>
                <a:cs typeface="Calibri"/>
              </a:rPr>
              <a:t> r</a:t>
            </a:r>
            <a:r>
              <a:rPr sz="2850" spc="7" baseline="1461" dirty="0">
                <a:latin typeface="Calibri"/>
                <a:cs typeface="Calibri"/>
              </a:rPr>
              <a:t>in</a:t>
            </a:r>
            <a:r>
              <a:rPr sz="2850" baseline="1461" dirty="0">
                <a:latin typeface="Calibri"/>
                <a:cs typeface="Calibri"/>
              </a:rPr>
              <a:t>g </a:t>
            </a:r>
            <a:r>
              <a:rPr sz="2850" spc="15" baseline="1461" dirty="0">
                <a:latin typeface="Calibri"/>
                <a:cs typeface="Calibri"/>
              </a:rPr>
              <a:t>bu</a:t>
            </a:r>
            <a:r>
              <a:rPr sz="2850" spc="-22" baseline="1461" dirty="0">
                <a:latin typeface="Calibri"/>
                <a:cs typeface="Calibri"/>
              </a:rPr>
              <a:t>f</a:t>
            </a:r>
            <a:r>
              <a:rPr sz="2850" spc="-67" baseline="1461" dirty="0">
                <a:latin typeface="Calibri"/>
                <a:cs typeface="Calibri"/>
              </a:rPr>
              <a:t>f</a:t>
            </a:r>
            <a:r>
              <a:rPr sz="2850" baseline="1461" dirty="0">
                <a:latin typeface="Calibri"/>
                <a:cs typeface="Calibri"/>
              </a:rPr>
              <a:t>er </a:t>
            </a:r>
            <a:r>
              <a:rPr sz="2850" spc="7" baseline="1461" dirty="0">
                <a:latin typeface="Calibri"/>
                <a:cs typeface="Calibri"/>
              </a:rPr>
              <a:t>of</a:t>
            </a:r>
            <a:r>
              <a:rPr sz="2850" baseline="1461" dirty="0">
                <a:latin typeface="Calibri"/>
                <a:cs typeface="Calibri"/>
              </a:rPr>
              <a:t> </a:t>
            </a:r>
            <a:r>
              <a:rPr sz="1900" dirty="0">
                <a:latin typeface="Calibri"/>
                <a:cs typeface="Calibri"/>
              </a:rPr>
              <a:t>li</a:t>
            </a:r>
            <a:r>
              <a:rPr sz="1900" spc="10" dirty="0">
                <a:latin typeface="Calibri"/>
                <a:cs typeface="Calibri"/>
              </a:rPr>
              <a:t>m</a:t>
            </a:r>
            <a:r>
              <a:rPr sz="1900" dirty="0">
                <a:latin typeface="Calibri"/>
                <a:cs typeface="Calibri"/>
              </a:rPr>
              <a:t>i</a:t>
            </a:r>
            <a:r>
              <a:rPr sz="1900" spc="-15" dirty="0">
                <a:latin typeface="Calibri"/>
                <a:cs typeface="Calibri"/>
              </a:rPr>
              <a:t>t</a:t>
            </a:r>
            <a:r>
              <a:rPr sz="1900" spc="-5" dirty="0">
                <a:latin typeface="Calibri"/>
                <a:cs typeface="Calibri"/>
              </a:rPr>
              <a:t>e</a:t>
            </a:r>
            <a:r>
              <a:rPr sz="1900" spc="10" dirty="0">
                <a:latin typeface="Calibri"/>
                <a:cs typeface="Calibri"/>
              </a:rPr>
              <a:t>d</a:t>
            </a:r>
            <a:r>
              <a:rPr sz="1900" spc="5" dirty="0">
                <a:latin typeface="Calibri"/>
                <a:cs typeface="Calibri"/>
              </a:rPr>
              <a:t> si</a:t>
            </a:r>
            <a:r>
              <a:rPr sz="1900" spc="-40" dirty="0">
                <a:latin typeface="Calibri"/>
                <a:cs typeface="Calibri"/>
              </a:rPr>
              <a:t>z</a:t>
            </a:r>
            <a:r>
              <a:rPr sz="1900" dirty="0">
                <a:latin typeface="Calibri"/>
                <a:cs typeface="Calibri"/>
              </a:rPr>
              <a:t>e</a:t>
            </a:r>
          </a:p>
          <a:p>
            <a:pPr>
              <a:lnSpc>
                <a:spcPct val="100000"/>
              </a:lnSpc>
              <a:spcBef>
                <a:spcPts val="52"/>
              </a:spcBef>
              <a:buFont typeface="Arial"/>
              <a:buChar char="•"/>
            </a:pPr>
            <a:endParaRPr sz="2500" dirty="0">
              <a:latin typeface="Times New Roman"/>
              <a:cs typeface="Times New Roman"/>
            </a:endParaRPr>
          </a:p>
          <a:p>
            <a:pPr marL="195580" marR="5080" indent="-182880">
              <a:lnSpc>
                <a:spcPts val="2039"/>
              </a:lnSpc>
              <a:buFont typeface="Arial"/>
              <a:buChar char="•"/>
              <a:tabLst>
                <a:tab pos="250825" algn="l"/>
              </a:tabLst>
            </a:pPr>
            <a:r>
              <a:rPr sz="2850" spc="7" baseline="1461" dirty="0">
                <a:latin typeface="Calibri"/>
                <a:cs typeface="Calibri"/>
              </a:rPr>
              <a:t>In</a:t>
            </a:r>
            <a:r>
              <a:rPr sz="2850" spc="-30" baseline="1461" dirty="0">
                <a:latin typeface="Calibri"/>
                <a:cs typeface="Calibri"/>
              </a:rPr>
              <a:t>st</a:t>
            </a:r>
            <a:r>
              <a:rPr sz="2850" baseline="1461" dirty="0">
                <a:latin typeface="Calibri"/>
                <a:cs typeface="Calibri"/>
              </a:rPr>
              <a:t>e</a:t>
            </a:r>
            <a:r>
              <a:rPr sz="2850" spc="7" baseline="1461" dirty="0">
                <a:latin typeface="Calibri"/>
                <a:cs typeface="Calibri"/>
              </a:rPr>
              <a:t>ad</a:t>
            </a:r>
            <a:r>
              <a:rPr sz="2850" baseline="1461" dirty="0">
                <a:latin typeface="Calibri"/>
                <a:cs typeface="Calibri"/>
              </a:rPr>
              <a:t> </a:t>
            </a:r>
            <a:r>
              <a:rPr sz="2850" spc="7" baseline="1461" dirty="0">
                <a:latin typeface="Calibri"/>
                <a:cs typeface="Calibri"/>
              </a:rPr>
              <a:t>of</a:t>
            </a:r>
            <a:r>
              <a:rPr sz="2850" baseline="1461" dirty="0">
                <a:latin typeface="Calibri"/>
                <a:cs typeface="Calibri"/>
              </a:rPr>
              <a:t> </a:t>
            </a:r>
            <a:r>
              <a:rPr sz="2850" spc="7" baseline="1461" dirty="0">
                <a:latin typeface="Calibri"/>
                <a:cs typeface="Calibri"/>
              </a:rPr>
              <a:t>ju</a:t>
            </a:r>
            <a:r>
              <a:rPr sz="2850" spc="-30" baseline="1461" dirty="0">
                <a:latin typeface="Calibri"/>
                <a:cs typeface="Calibri"/>
              </a:rPr>
              <a:t>s</a:t>
            </a:r>
            <a:r>
              <a:rPr sz="2850" spc="7" baseline="1461" dirty="0">
                <a:latin typeface="Calibri"/>
                <a:cs typeface="Calibri"/>
              </a:rPr>
              <a:t>t</a:t>
            </a:r>
            <a:r>
              <a:rPr sz="2850" baseline="1461" dirty="0">
                <a:latin typeface="Calibri"/>
                <a:cs typeface="Calibri"/>
              </a:rPr>
              <a:t> </a:t>
            </a:r>
            <a:r>
              <a:rPr sz="2850" spc="7" baseline="1461" dirty="0">
                <a:latin typeface="Calibri"/>
                <a:cs typeface="Calibri"/>
              </a:rPr>
              <a:t>usin</a:t>
            </a:r>
            <a:r>
              <a:rPr sz="2850" baseline="1461" dirty="0">
                <a:latin typeface="Calibri"/>
                <a:cs typeface="Calibri"/>
              </a:rPr>
              <a:t>g </a:t>
            </a:r>
            <a:r>
              <a:rPr sz="2850" spc="7" baseline="1461" dirty="0">
                <a:latin typeface="Calibri"/>
                <a:cs typeface="Calibri"/>
              </a:rPr>
              <a:t>th</a:t>
            </a:r>
            <a:r>
              <a:rPr sz="2850" baseline="1461" dirty="0">
                <a:latin typeface="Calibri"/>
                <a:cs typeface="Calibri"/>
              </a:rPr>
              <a:t>e le</a:t>
            </a:r>
            <a:r>
              <a:rPr sz="2850" spc="7" baseline="1461" dirty="0">
                <a:latin typeface="Calibri"/>
                <a:cs typeface="Calibri"/>
              </a:rPr>
              <a:t>a</a:t>
            </a:r>
            <a:r>
              <a:rPr sz="2850" spc="-30" baseline="1461" dirty="0">
                <a:latin typeface="Calibri"/>
                <a:cs typeface="Calibri"/>
              </a:rPr>
              <a:t>s</a:t>
            </a:r>
            <a:r>
              <a:rPr sz="2850" spc="7" baseline="1461" dirty="0">
                <a:latin typeface="Calibri"/>
                <a:cs typeface="Calibri"/>
              </a:rPr>
              <a:t>t</a:t>
            </a:r>
            <a:r>
              <a:rPr sz="2850" baseline="1461" dirty="0">
                <a:latin typeface="Calibri"/>
                <a:cs typeface="Calibri"/>
              </a:rPr>
              <a:t> </a:t>
            </a:r>
            <a:r>
              <a:rPr sz="2850" spc="7" baseline="1461" dirty="0">
                <a:latin typeface="Calibri"/>
                <a:cs typeface="Calibri"/>
              </a:rPr>
              <a:t>action</a:t>
            </a:r>
            <a:r>
              <a:rPr sz="2850" baseline="1461" dirty="0">
                <a:latin typeface="Calibri"/>
                <a:cs typeface="Calibri"/>
              </a:rPr>
              <a:t> </a:t>
            </a:r>
            <a:r>
              <a:rPr sz="2850" spc="-60" baseline="1461" dirty="0">
                <a:latin typeface="Calibri"/>
                <a:cs typeface="Calibri"/>
              </a:rPr>
              <a:t>f</a:t>
            </a:r>
            <a:r>
              <a:rPr sz="2850" spc="15" baseline="1461" dirty="0">
                <a:latin typeface="Calibri"/>
                <a:cs typeface="Calibri"/>
              </a:rPr>
              <a:t>o</a:t>
            </a:r>
            <a:r>
              <a:rPr sz="2850" baseline="1461" dirty="0">
                <a:latin typeface="Calibri"/>
                <a:cs typeface="Calibri"/>
              </a:rPr>
              <a:t>r e</a:t>
            </a:r>
            <a:r>
              <a:rPr sz="2850" spc="7" baseline="1461" dirty="0">
                <a:latin typeface="Calibri"/>
                <a:cs typeface="Calibri"/>
              </a:rPr>
              <a:t>ach</a:t>
            </a:r>
            <a:r>
              <a:rPr sz="2850" baseline="1461" dirty="0">
                <a:latin typeface="Calibri"/>
                <a:cs typeface="Calibri"/>
              </a:rPr>
              <a:t> t</a:t>
            </a:r>
            <a:r>
              <a:rPr sz="2850" spc="-60" baseline="1461" dirty="0">
                <a:latin typeface="Calibri"/>
                <a:cs typeface="Calibri"/>
              </a:rPr>
              <a:t>r</a:t>
            </a:r>
            <a:r>
              <a:rPr sz="2850" spc="7" baseline="1461" dirty="0">
                <a:latin typeface="Calibri"/>
                <a:cs typeface="Calibri"/>
              </a:rPr>
              <a:t>ainin</a:t>
            </a:r>
            <a:r>
              <a:rPr sz="2850" baseline="1461" dirty="0">
                <a:latin typeface="Calibri"/>
                <a:cs typeface="Calibri"/>
              </a:rPr>
              <a:t>g </a:t>
            </a:r>
            <a:r>
              <a:rPr sz="2850" spc="-30" baseline="1461" dirty="0">
                <a:latin typeface="Calibri"/>
                <a:cs typeface="Calibri"/>
              </a:rPr>
              <a:t>st</a:t>
            </a:r>
            <a:r>
              <a:rPr sz="2850" baseline="1461" dirty="0">
                <a:latin typeface="Calibri"/>
                <a:cs typeface="Calibri"/>
              </a:rPr>
              <a:t>e</a:t>
            </a:r>
            <a:r>
              <a:rPr sz="2850" spc="15" baseline="1461" dirty="0">
                <a:latin typeface="Calibri"/>
                <a:cs typeface="Calibri"/>
              </a:rPr>
              <a:t>p</a:t>
            </a:r>
            <a:r>
              <a:rPr sz="2850" baseline="1461" dirty="0">
                <a:latin typeface="Calibri"/>
                <a:cs typeface="Calibri"/>
              </a:rPr>
              <a:t> </a:t>
            </a:r>
            <a:r>
              <a:rPr sz="2850" spc="-15" baseline="1461" dirty="0">
                <a:latin typeface="Calibri"/>
                <a:cs typeface="Calibri"/>
              </a:rPr>
              <a:t>w</a:t>
            </a:r>
            <a:r>
              <a:rPr sz="2850" baseline="1461" dirty="0">
                <a:latin typeface="Calibri"/>
                <a:cs typeface="Calibri"/>
              </a:rPr>
              <a:t>e </a:t>
            </a:r>
            <a:r>
              <a:rPr sz="2850" spc="7" baseline="1461" dirty="0">
                <a:latin typeface="Calibri"/>
                <a:cs typeface="Calibri"/>
              </a:rPr>
              <a:t>us</a:t>
            </a:r>
            <a:r>
              <a:rPr sz="2850" baseline="1461" dirty="0">
                <a:latin typeface="Calibri"/>
                <a:cs typeface="Calibri"/>
              </a:rPr>
              <a:t>e </a:t>
            </a:r>
            <a:r>
              <a:rPr sz="2850" spc="7" baseline="1461" dirty="0">
                <a:latin typeface="Calibri"/>
                <a:cs typeface="Calibri"/>
              </a:rPr>
              <a:t>a</a:t>
            </a:r>
            <a:r>
              <a:rPr sz="2850" baseline="1461" dirty="0">
                <a:latin typeface="Calibri"/>
                <a:cs typeface="Calibri"/>
              </a:rPr>
              <a:t> </a:t>
            </a:r>
            <a:r>
              <a:rPr sz="2850" spc="7" baseline="1461" dirty="0">
                <a:latin typeface="Calibri"/>
                <a:cs typeface="Calibri"/>
              </a:rPr>
              <a:t>mini-b</a:t>
            </a:r>
            <a:r>
              <a:rPr sz="2850" spc="-22" baseline="1461" dirty="0">
                <a:latin typeface="Calibri"/>
                <a:cs typeface="Calibri"/>
              </a:rPr>
              <a:t>a</a:t>
            </a:r>
            <a:r>
              <a:rPr sz="2850" spc="-30" baseline="1461" dirty="0">
                <a:latin typeface="Calibri"/>
                <a:cs typeface="Calibri"/>
              </a:rPr>
              <a:t>t</a:t>
            </a:r>
            <a:r>
              <a:rPr sz="2850" spc="7" baseline="1461" dirty="0">
                <a:latin typeface="Calibri"/>
                <a:cs typeface="Calibri"/>
              </a:rPr>
              <a:t>ch</a:t>
            </a:r>
            <a:r>
              <a:rPr sz="2850" baseline="1461" dirty="0">
                <a:latin typeface="Calibri"/>
                <a:cs typeface="Calibri"/>
              </a:rPr>
              <a:t> </a:t>
            </a:r>
            <a:r>
              <a:rPr sz="1900" spc="-15" dirty="0">
                <a:latin typeface="Calibri"/>
                <a:cs typeface="Calibri"/>
              </a:rPr>
              <a:t>t</a:t>
            </a:r>
            <a:r>
              <a:rPr sz="1900" spc="10" dirty="0">
                <a:latin typeface="Calibri"/>
                <a:cs typeface="Calibri"/>
              </a:rPr>
              <a:t>o</a:t>
            </a:r>
            <a:r>
              <a:rPr sz="1900" dirty="0">
                <a:latin typeface="Calibri"/>
                <a:cs typeface="Calibri"/>
              </a:rPr>
              <a:t> </a:t>
            </a:r>
            <a:r>
              <a:rPr sz="1900" spc="5" dirty="0">
                <a:latin typeface="Calibri"/>
                <a:cs typeface="Calibri"/>
              </a:rPr>
              <a:t>upd</a:t>
            </a:r>
            <a:r>
              <a:rPr sz="1900" spc="-15" dirty="0">
                <a:latin typeface="Calibri"/>
                <a:cs typeface="Calibri"/>
              </a:rPr>
              <a:t>a</a:t>
            </a:r>
            <a:r>
              <a:rPr sz="1900" spc="-20" dirty="0">
                <a:latin typeface="Calibri"/>
                <a:cs typeface="Calibri"/>
              </a:rPr>
              <a:t>t</a:t>
            </a:r>
            <a:r>
              <a:rPr sz="1900" dirty="0">
                <a:latin typeface="Calibri"/>
                <a:cs typeface="Calibri"/>
              </a:rPr>
              <a:t>e</a:t>
            </a:r>
          </a:p>
          <a:p>
            <a:pPr marL="1201420" lvl="1" indent="-274320">
              <a:lnSpc>
                <a:spcPct val="100000"/>
              </a:lnSpc>
              <a:spcBef>
                <a:spcPts val="190"/>
              </a:spcBef>
              <a:buFont typeface="Arial"/>
              <a:buChar char="•"/>
              <a:tabLst>
                <a:tab pos="1202055" algn="l"/>
              </a:tabLst>
            </a:pPr>
            <a:r>
              <a:rPr sz="2850" spc="-60" baseline="1461" dirty="0">
                <a:latin typeface="Calibri"/>
                <a:cs typeface="Calibri"/>
              </a:rPr>
              <a:t>r</a:t>
            </a:r>
            <a:r>
              <a:rPr sz="2850" spc="7" baseline="1461" dirty="0">
                <a:latin typeface="Calibri"/>
                <a:cs typeface="Calibri"/>
              </a:rPr>
              <a:t>andoml</a:t>
            </a:r>
            <a:r>
              <a:rPr sz="2850" baseline="1461" dirty="0">
                <a:latin typeface="Calibri"/>
                <a:cs typeface="Calibri"/>
              </a:rPr>
              <a:t>y </a:t>
            </a:r>
            <a:r>
              <a:rPr sz="2850" spc="7" baseline="1461" dirty="0">
                <a:latin typeface="Calibri"/>
                <a:cs typeface="Calibri"/>
              </a:rPr>
              <a:t>sampl</a:t>
            </a:r>
            <a:r>
              <a:rPr sz="2850" baseline="1461" dirty="0">
                <a:latin typeface="Calibri"/>
                <a:cs typeface="Calibri"/>
              </a:rPr>
              <a:t>e </a:t>
            </a:r>
            <a:r>
              <a:rPr sz="2850" spc="7" baseline="1461" dirty="0">
                <a:latin typeface="Calibri"/>
                <a:cs typeface="Calibri"/>
              </a:rPr>
              <a:t>a</a:t>
            </a:r>
            <a:r>
              <a:rPr sz="2850" baseline="1461" dirty="0">
                <a:latin typeface="Calibri"/>
                <a:cs typeface="Calibri"/>
              </a:rPr>
              <a:t> </a:t>
            </a:r>
            <a:r>
              <a:rPr sz="2850" spc="7" baseline="1461" dirty="0">
                <a:latin typeface="Calibri"/>
                <a:cs typeface="Calibri"/>
              </a:rPr>
              <a:t>mini-b</a:t>
            </a:r>
            <a:r>
              <a:rPr sz="2850" spc="-22" baseline="1461" dirty="0">
                <a:latin typeface="Calibri"/>
                <a:cs typeface="Calibri"/>
              </a:rPr>
              <a:t>a</a:t>
            </a:r>
            <a:r>
              <a:rPr sz="2850" spc="-30" baseline="1461" dirty="0">
                <a:latin typeface="Calibri"/>
                <a:cs typeface="Calibri"/>
              </a:rPr>
              <a:t>t</a:t>
            </a:r>
            <a:r>
              <a:rPr sz="2850" spc="7" baseline="1461" dirty="0">
                <a:latin typeface="Calibri"/>
                <a:cs typeface="Calibri"/>
              </a:rPr>
              <a:t>ch</a:t>
            </a:r>
            <a:r>
              <a:rPr sz="2850" baseline="1461" dirty="0">
                <a:latin typeface="Calibri"/>
                <a:cs typeface="Calibri"/>
              </a:rPr>
              <a:t> </a:t>
            </a:r>
            <a:r>
              <a:rPr sz="2850" spc="7" baseline="1461" dirty="0">
                <a:latin typeface="Calibri"/>
                <a:cs typeface="Calibri"/>
              </a:rPr>
              <a:t>f</a:t>
            </a:r>
            <a:r>
              <a:rPr sz="2850" spc="-52" baseline="1461" dirty="0">
                <a:latin typeface="Calibri"/>
                <a:cs typeface="Calibri"/>
              </a:rPr>
              <a:t>r</a:t>
            </a:r>
            <a:r>
              <a:rPr sz="2850" spc="15" baseline="1461" dirty="0">
                <a:latin typeface="Calibri"/>
                <a:cs typeface="Calibri"/>
              </a:rPr>
              <a:t>om</a:t>
            </a:r>
            <a:r>
              <a:rPr sz="2850" baseline="1461" dirty="0">
                <a:latin typeface="Calibri"/>
                <a:cs typeface="Calibri"/>
              </a:rPr>
              <a:t> </a:t>
            </a:r>
            <a:r>
              <a:rPr sz="2850" spc="7" baseline="1461" dirty="0">
                <a:latin typeface="Calibri"/>
                <a:cs typeface="Calibri"/>
              </a:rPr>
              <a:t>th</a:t>
            </a:r>
            <a:r>
              <a:rPr sz="2850" baseline="1461" dirty="0">
                <a:latin typeface="Calibri"/>
                <a:cs typeface="Calibri"/>
              </a:rPr>
              <a:t>e </a:t>
            </a:r>
            <a:r>
              <a:rPr sz="2850" spc="15" baseline="1461" dirty="0">
                <a:latin typeface="Calibri"/>
                <a:cs typeface="Calibri"/>
              </a:rPr>
              <a:t>bu</a:t>
            </a:r>
            <a:r>
              <a:rPr sz="2850" spc="-22" baseline="1461" dirty="0">
                <a:latin typeface="Calibri"/>
                <a:cs typeface="Calibri"/>
              </a:rPr>
              <a:t>f</a:t>
            </a:r>
            <a:r>
              <a:rPr sz="2850" spc="-67" baseline="1461" dirty="0">
                <a:latin typeface="Calibri"/>
                <a:cs typeface="Calibri"/>
              </a:rPr>
              <a:t>f</a:t>
            </a:r>
            <a:r>
              <a:rPr sz="2850" baseline="1461" dirty="0">
                <a:latin typeface="Calibri"/>
                <a:cs typeface="Calibri"/>
              </a:rPr>
              <a:t>er</a:t>
            </a:r>
          </a:p>
          <a:p>
            <a:pPr marL="1201420" lvl="1" indent="-274320">
              <a:lnSpc>
                <a:spcPct val="100000"/>
              </a:lnSpc>
              <a:spcBef>
                <a:spcPts val="190"/>
              </a:spcBef>
              <a:buFont typeface="Arial"/>
              <a:buChar char="•"/>
              <a:tabLst>
                <a:tab pos="1202055" algn="l"/>
              </a:tabLst>
            </a:pPr>
            <a:r>
              <a:rPr sz="2850" spc="-22" baseline="1461" dirty="0">
                <a:latin typeface="Calibri"/>
                <a:cs typeface="Calibri"/>
              </a:rPr>
              <a:t>c</a:t>
            </a:r>
            <a:r>
              <a:rPr sz="2850" spc="15" baseline="1461" dirty="0">
                <a:latin typeface="Calibri"/>
                <a:cs typeface="Calibri"/>
              </a:rPr>
              <a:t>ompu</a:t>
            </a:r>
            <a:r>
              <a:rPr sz="2850" spc="-30" baseline="1461" dirty="0">
                <a:latin typeface="Calibri"/>
                <a:cs typeface="Calibri"/>
              </a:rPr>
              <a:t>t</a:t>
            </a:r>
            <a:r>
              <a:rPr sz="2850" baseline="1461" dirty="0">
                <a:latin typeface="Calibri"/>
                <a:cs typeface="Calibri"/>
              </a:rPr>
              <a:t>e </a:t>
            </a:r>
            <a:r>
              <a:rPr sz="2850" spc="7" baseline="1461" dirty="0">
                <a:latin typeface="Calibri"/>
                <a:cs typeface="Calibri"/>
              </a:rPr>
              <a:t>loss</a:t>
            </a:r>
            <a:r>
              <a:rPr sz="2850" baseline="1461" dirty="0">
                <a:latin typeface="Calibri"/>
                <a:cs typeface="Calibri"/>
              </a:rPr>
              <a:t> </a:t>
            </a:r>
            <a:r>
              <a:rPr sz="2850" spc="7" baseline="1461" dirty="0">
                <a:latin typeface="Calibri"/>
                <a:cs typeface="Calibri"/>
              </a:rPr>
              <a:t>and</a:t>
            </a:r>
            <a:r>
              <a:rPr sz="2850" baseline="1461" dirty="0">
                <a:latin typeface="Calibri"/>
                <a:cs typeface="Calibri"/>
              </a:rPr>
              <a:t> </a:t>
            </a:r>
            <a:r>
              <a:rPr sz="2850" spc="7" baseline="1461" dirty="0">
                <a:latin typeface="Calibri"/>
                <a:cs typeface="Calibri"/>
              </a:rPr>
              <a:t>bac</a:t>
            </a:r>
            <a:r>
              <a:rPr sz="2850" spc="-112" baseline="1461" dirty="0">
                <a:latin typeface="Calibri"/>
                <a:cs typeface="Calibri"/>
              </a:rPr>
              <a:t>k</a:t>
            </a:r>
            <a:r>
              <a:rPr sz="2850" spc="7" baseline="1461" dirty="0">
                <a:latin typeface="Calibri"/>
                <a:cs typeface="Calibri"/>
              </a:rPr>
              <a:t>-p</a:t>
            </a:r>
            <a:r>
              <a:rPr sz="2850" spc="-52" baseline="1461" dirty="0">
                <a:latin typeface="Calibri"/>
                <a:cs typeface="Calibri"/>
              </a:rPr>
              <a:t>r</a:t>
            </a:r>
            <a:r>
              <a:rPr sz="2850" spc="7" baseline="1461" dirty="0">
                <a:latin typeface="Calibri"/>
                <a:cs typeface="Calibri"/>
              </a:rPr>
              <a:t>opa</a:t>
            </a:r>
            <a:r>
              <a:rPr sz="2850" spc="-52" baseline="1461" dirty="0">
                <a:latin typeface="Calibri"/>
                <a:cs typeface="Calibri"/>
              </a:rPr>
              <a:t>g</a:t>
            </a:r>
            <a:r>
              <a:rPr sz="2850" spc="-22" baseline="1461" dirty="0">
                <a:latin typeface="Calibri"/>
                <a:cs typeface="Calibri"/>
              </a:rPr>
              <a:t>a</a:t>
            </a:r>
            <a:r>
              <a:rPr sz="2850" spc="-30" baseline="1461" dirty="0">
                <a:latin typeface="Calibri"/>
                <a:cs typeface="Calibri"/>
              </a:rPr>
              <a:t>t</a:t>
            </a:r>
            <a:r>
              <a:rPr sz="2850" baseline="1461" dirty="0">
                <a:latin typeface="Calibri"/>
                <a:cs typeface="Calibri"/>
              </a:rPr>
              <a:t>e </a:t>
            </a:r>
            <a:r>
              <a:rPr sz="2850" spc="-60" baseline="1461" dirty="0">
                <a:latin typeface="Calibri"/>
                <a:cs typeface="Calibri"/>
              </a:rPr>
              <a:t>f</a:t>
            </a:r>
            <a:r>
              <a:rPr sz="2850" spc="15" baseline="1461" dirty="0">
                <a:latin typeface="Calibri"/>
                <a:cs typeface="Calibri"/>
              </a:rPr>
              <a:t>o</a:t>
            </a:r>
            <a:r>
              <a:rPr sz="2850" baseline="1461" dirty="0">
                <a:latin typeface="Calibri"/>
                <a:cs typeface="Calibri"/>
              </a:rPr>
              <a:t>r </a:t>
            </a:r>
            <a:r>
              <a:rPr sz="2850" spc="7" baseline="1461" dirty="0">
                <a:latin typeface="Calibri"/>
                <a:cs typeface="Calibri"/>
              </a:rPr>
              <a:t>th</a:t>
            </a:r>
            <a:r>
              <a:rPr sz="2850" baseline="1461" dirty="0">
                <a:latin typeface="Calibri"/>
                <a:cs typeface="Calibri"/>
              </a:rPr>
              <a:t>e </a:t>
            </a:r>
            <a:r>
              <a:rPr sz="2850" spc="7" baseline="1461" dirty="0">
                <a:latin typeface="Calibri"/>
                <a:cs typeface="Calibri"/>
              </a:rPr>
              <a:t>whol</a:t>
            </a:r>
            <a:r>
              <a:rPr sz="2850" baseline="1461" dirty="0">
                <a:latin typeface="Calibri"/>
                <a:cs typeface="Calibri"/>
              </a:rPr>
              <a:t>e </a:t>
            </a:r>
            <a:r>
              <a:rPr sz="2850" spc="7" baseline="1461" dirty="0">
                <a:latin typeface="Calibri"/>
                <a:cs typeface="Calibri"/>
              </a:rPr>
              <a:t>mini-b</a:t>
            </a:r>
            <a:r>
              <a:rPr sz="2850" spc="-22" baseline="1461" dirty="0">
                <a:latin typeface="Calibri"/>
                <a:cs typeface="Calibri"/>
              </a:rPr>
              <a:t>a</a:t>
            </a:r>
            <a:r>
              <a:rPr sz="2850" spc="-30" baseline="1461" dirty="0">
                <a:latin typeface="Calibri"/>
                <a:cs typeface="Calibri"/>
              </a:rPr>
              <a:t>t</a:t>
            </a:r>
            <a:r>
              <a:rPr sz="2850" spc="7" baseline="1461" dirty="0">
                <a:latin typeface="Calibri"/>
                <a:cs typeface="Calibri"/>
              </a:rPr>
              <a:t>ch</a:t>
            </a:r>
            <a:endParaRPr sz="2850" baseline="1461" dirty="0">
              <a:latin typeface="Calibri"/>
              <a:cs typeface="Calibri"/>
            </a:endParaRPr>
          </a:p>
          <a:p>
            <a:pPr marL="1146175" lvl="1" indent="-219075">
              <a:lnSpc>
                <a:spcPct val="100000"/>
              </a:lnSpc>
              <a:spcBef>
                <a:spcPts val="190"/>
              </a:spcBef>
              <a:buFont typeface="Arial"/>
              <a:buChar char="•"/>
              <a:tabLst>
                <a:tab pos="1146810" algn="l"/>
              </a:tabLst>
            </a:pPr>
            <a:r>
              <a:rPr sz="2850" spc="-15" baseline="1461" dirty="0">
                <a:latin typeface="Calibri"/>
                <a:cs typeface="Calibri"/>
              </a:rPr>
              <a:t>w</a:t>
            </a:r>
            <a:r>
              <a:rPr sz="2850" baseline="1461" dirty="0">
                <a:latin typeface="Calibri"/>
                <a:cs typeface="Calibri"/>
              </a:rPr>
              <a:t>e </a:t>
            </a:r>
            <a:r>
              <a:rPr sz="2850" spc="22" baseline="1461" dirty="0">
                <a:latin typeface="Calibri"/>
                <a:cs typeface="Calibri"/>
              </a:rPr>
              <a:t>m</a:t>
            </a:r>
            <a:r>
              <a:rPr sz="2850" spc="-52" baseline="1461" dirty="0">
                <a:latin typeface="Calibri"/>
                <a:cs typeface="Calibri"/>
              </a:rPr>
              <a:t>a</a:t>
            </a:r>
            <a:r>
              <a:rPr sz="2850" baseline="1461" dirty="0">
                <a:latin typeface="Calibri"/>
                <a:cs typeface="Calibri"/>
              </a:rPr>
              <a:t>y </a:t>
            </a:r>
            <a:r>
              <a:rPr sz="2850" spc="15" baseline="1461" dirty="0">
                <a:latin typeface="Calibri"/>
                <a:cs typeface="Calibri"/>
              </a:rPr>
              <a:t>do</a:t>
            </a:r>
            <a:r>
              <a:rPr sz="2850" baseline="1461" dirty="0">
                <a:latin typeface="Calibri"/>
                <a:cs typeface="Calibri"/>
              </a:rPr>
              <a:t> </a:t>
            </a:r>
            <a:r>
              <a:rPr sz="2850" spc="7" baseline="1461" dirty="0">
                <a:latin typeface="Calibri"/>
                <a:cs typeface="Calibri"/>
              </a:rPr>
              <a:t>this</a:t>
            </a:r>
            <a:r>
              <a:rPr sz="2850" baseline="1461" dirty="0">
                <a:latin typeface="Calibri"/>
                <a:cs typeface="Calibri"/>
              </a:rPr>
              <a:t> </a:t>
            </a:r>
            <a:r>
              <a:rPr sz="2850" spc="7" baseline="1461" dirty="0">
                <a:latin typeface="Calibri"/>
                <a:cs typeface="Calibri"/>
              </a:rPr>
              <a:t>onl</a:t>
            </a:r>
            <a:r>
              <a:rPr sz="2850" baseline="1461" dirty="0">
                <a:latin typeface="Calibri"/>
                <a:cs typeface="Calibri"/>
              </a:rPr>
              <a:t>y </a:t>
            </a:r>
            <a:r>
              <a:rPr sz="2850" spc="-15" baseline="1461" dirty="0">
                <a:latin typeface="Calibri"/>
                <a:cs typeface="Calibri"/>
              </a:rPr>
              <a:t>e</a:t>
            </a:r>
            <a:r>
              <a:rPr sz="2850" spc="-30" baseline="1461" dirty="0">
                <a:latin typeface="Calibri"/>
                <a:cs typeface="Calibri"/>
              </a:rPr>
              <a:t>v</a:t>
            </a:r>
            <a:r>
              <a:rPr sz="2850" baseline="1461" dirty="0">
                <a:latin typeface="Calibri"/>
                <a:cs typeface="Calibri"/>
              </a:rPr>
              <a:t>e</a:t>
            </a:r>
            <a:r>
              <a:rPr sz="2850" spc="7" baseline="1461" dirty="0">
                <a:latin typeface="Calibri"/>
                <a:cs typeface="Calibri"/>
              </a:rPr>
              <a:t>r</a:t>
            </a:r>
            <a:r>
              <a:rPr sz="2850" baseline="1461" dirty="0">
                <a:latin typeface="Calibri"/>
                <a:cs typeface="Calibri"/>
              </a:rPr>
              <a:t>y </a:t>
            </a:r>
            <a:r>
              <a:rPr sz="2850" i="1" baseline="1461" dirty="0">
                <a:latin typeface="Calibri"/>
                <a:cs typeface="Calibri"/>
              </a:rPr>
              <a:t>k </a:t>
            </a:r>
            <a:r>
              <a:rPr sz="2850" spc="7" baseline="1461" dirty="0">
                <a:latin typeface="Calibri"/>
                <a:cs typeface="Calibri"/>
              </a:rPr>
              <a:t>actions</a:t>
            </a:r>
            <a:endParaRPr sz="2850" baseline="1461" dirty="0">
              <a:latin typeface="Calibri"/>
              <a:cs typeface="Calibri"/>
            </a:endParaRPr>
          </a:p>
          <a:p>
            <a:pPr lvl="1">
              <a:lnSpc>
                <a:spcPct val="100000"/>
              </a:lnSpc>
              <a:spcBef>
                <a:spcPts val="15"/>
              </a:spcBef>
              <a:buFont typeface="Arial"/>
              <a:buChar char="•"/>
            </a:pPr>
            <a:endParaRPr sz="2300" dirty="0">
              <a:latin typeface="Times New Roman"/>
              <a:cs typeface="Times New Roman"/>
            </a:endParaRPr>
          </a:p>
          <a:p>
            <a:pPr marL="231775" indent="-219075">
              <a:lnSpc>
                <a:spcPts val="2160"/>
              </a:lnSpc>
              <a:buFont typeface="Arial"/>
              <a:buChar char="•"/>
              <a:tabLst>
                <a:tab pos="232410" algn="l"/>
              </a:tabLst>
            </a:pPr>
            <a:r>
              <a:rPr sz="2850" baseline="1461" dirty="0">
                <a:latin typeface="Calibri"/>
                <a:cs typeface="Calibri"/>
              </a:rPr>
              <a:t>N</a:t>
            </a:r>
            <a:r>
              <a:rPr sz="2850" spc="15" baseline="1461" dirty="0">
                <a:latin typeface="Calibri"/>
                <a:cs typeface="Calibri"/>
              </a:rPr>
              <a:t>o</a:t>
            </a:r>
            <a:r>
              <a:rPr sz="2850" spc="-30" baseline="1461" dirty="0">
                <a:latin typeface="Calibri"/>
                <a:cs typeface="Calibri"/>
              </a:rPr>
              <a:t>t</a:t>
            </a:r>
            <a:r>
              <a:rPr sz="2850" baseline="1461" dirty="0">
                <a:latin typeface="Calibri"/>
                <a:cs typeface="Calibri"/>
              </a:rPr>
              <a:t>e </a:t>
            </a:r>
            <a:r>
              <a:rPr sz="2850" spc="7" baseline="1461" dirty="0">
                <a:latin typeface="Calibri"/>
                <a:cs typeface="Calibri"/>
              </a:rPr>
              <a:t>th</a:t>
            </a:r>
            <a:r>
              <a:rPr sz="2850" spc="-22" baseline="1461" dirty="0">
                <a:latin typeface="Calibri"/>
                <a:cs typeface="Calibri"/>
              </a:rPr>
              <a:t>a</a:t>
            </a:r>
            <a:r>
              <a:rPr sz="2850" spc="7" baseline="1461" dirty="0">
                <a:latin typeface="Calibri"/>
                <a:cs typeface="Calibri"/>
              </a:rPr>
              <a:t>t</a:t>
            </a:r>
            <a:r>
              <a:rPr sz="2850" baseline="1461" dirty="0">
                <a:latin typeface="Calibri"/>
                <a:cs typeface="Calibri"/>
              </a:rPr>
              <a:t> </a:t>
            </a:r>
            <a:r>
              <a:rPr sz="2850" spc="7" baseline="1461" dirty="0">
                <a:latin typeface="Calibri"/>
                <a:cs typeface="Calibri"/>
              </a:rPr>
              <a:t>this</a:t>
            </a:r>
            <a:r>
              <a:rPr sz="2850" baseline="1461" dirty="0">
                <a:latin typeface="Calibri"/>
                <a:cs typeface="Calibri"/>
              </a:rPr>
              <a:t> </a:t>
            </a:r>
            <a:r>
              <a:rPr sz="2850" spc="7" baseline="1461" dirty="0">
                <a:latin typeface="Calibri"/>
                <a:cs typeface="Calibri"/>
              </a:rPr>
              <a:t>if</a:t>
            </a:r>
            <a:r>
              <a:rPr sz="2850" baseline="1461" dirty="0">
                <a:latin typeface="Calibri"/>
                <a:cs typeface="Calibri"/>
              </a:rPr>
              <a:t> </a:t>
            </a:r>
            <a:r>
              <a:rPr sz="2850" spc="15" baseline="1461" dirty="0">
                <a:latin typeface="Calibri"/>
                <a:cs typeface="Calibri"/>
              </a:rPr>
              <a:t>o</a:t>
            </a:r>
            <a:r>
              <a:rPr sz="2850" spc="-22" baseline="1461" dirty="0">
                <a:latin typeface="Calibri"/>
                <a:cs typeface="Calibri"/>
              </a:rPr>
              <a:t>f</a:t>
            </a:r>
            <a:r>
              <a:rPr sz="2850" spc="-75" baseline="1461" dirty="0">
                <a:latin typeface="Calibri"/>
                <a:cs typeface="Calibri"/>
              </a:rPr>
              <a:t>f</a:t>
            </a:r>
            <a:r>
              <a:rPr sz="2850" spc="7" baseline="1461" dirty="0">
                <a:latin typeface="Calibri"/>
                <a:cs typeface="Calibri"/>
              </a:rPr>
              <a:t>-policy</a:t>
            </a:r>
            <a:endParaRPr sz="2850" baseline="1461" dirty="0">
              <a:latin typeface="Calibri"/>
              <a:cs typeface="Calibri"/>
            </a:endParaRPr>
          </a:p>
          <a:p>
            <a:pPr marL="231775">
              <a:lnSpc>
                <a:spcPts val="2160"/>
              </a:lnSpc>
            </a:pPr>
            <a:r>
              <a:rPr sz="1900" spc="5" dirty="0">
                <a:latin typeface="Calibri"/>
                <a:cs typeface="Calibri"/>
              </a:rPr>
              <a:t>(and thus </a:t>
            </a:r>
            <a:r>
              <a:rPr sz="1900" spc="-30" dirty="0">
                <a:latin typeface="Calibri"/>
                <a:cs typeface="Calibri"/>
              </a:rPr>
              <a:t>r</a:t>
            </a:r>
            <a:r>
              <a:rPr sz="1900" dirty="0">
                <a:latin typeface="Calibri"/>
                <a:cs typeface="Calibri"/>
              </a:rPr>
              <a:t>e</a:t>
            </a:r>
            <a:r>
              <a:rPr sz="1900" spc="5" dirty="0">
                <a:latin typeface="Calibri"/>
                <a:cs typeface="Calibri"/>
              </a:rPr>
              <a:t>qui</a:t>
            </a:r>
            <a:r>
              <a:rPr sz="1900" spc="-30" dirty="0">
                <a:latin typeface="Calibri"/>
                <a:cs typeface="Calibri"/>
              </a:rPr>
              <a:t>r</a:t>
            </a:r>
            <a:r>
              <a:rPr sz="1900" dirty="0">
                <a:latin typeface="Calibri"/>
                <a:cs typeface="Calibri"/>
              </a:rPr>
              <a:t>e</a:t>
            </a:r>
            <a:r>
              <a:rPr sz="1900" spc="5" dirty="0">
                <a:latin typeface="Calibri"/>
                <a:cs typeface="Calibri"/>
              </a:rPr>
              <a:t>s</a:t>
            </a:r>
            <a:r>
              <a:rPr sz="1900" dirty="0">
                <a:latin typeface="Calibri"/>
                <a:cs typeface="Calibri"/>
              </a:rPr>
              <a:t> </a:t>
            </a:r>
            <a:r>
              <a:rPr sz="1900" spc="5" dirty="0">
                <a:latin typeface="Calibri"/>
                <a:cs typeface="Calibri"/>
              </a:rPr>
              <a:t>an</a:t>
            </a:r>
            <a:r>
              <a:rPr sz="1900" dirty="0">
                <a:latin typeface="Calibri"/>
                <a:cs typeface="Calibri"/>
              </a:rPr>
              <a:t> </a:t>
            </a:r>
            <a:r>
              <a:rPr sz="1900" spc="10" dirty="0">
                <a:latin typeface="Calibri"/>
                <a:cs typeface="Calibri"/>
              </a:rPr>
              <a:t>o</a:t>
            </a:r>
            <a:r>
              <a:rPr sz="1900" spc="-15" dirty="0">
                <a:latin typeface="Calibri"/>
                <a:cs typeface="Calibri"/>
              </a:rPr>
              <a:t>f</a:t>
            </a:r>
            <a:r>
              <a:rPr sz="1900" spc="-50" dirty="0">
                <a:latin typeface="Calibri"/>
                <a:cs typeface="Calibri"/>
              </a:rPr>
              <a:t>f</a:t>
            </a:r>
            <a:r>
              <a:rPr sz="1900" spc="5" dirty="0">
                <a:latin typeface="Calibri"/>
                <a:cs typeface="Calibri"/>
              </a:rPr>
              <a:t>-polic</a:t>
            </a:r>
            <a:r>
              <a:rPr sz="1900" dirty="0">
                <a:latin typeface="Calibri"/>
                <a:cs typeface="Calibri"/>
              </a:rPr>
              <a:t>y </a:t>
            </a:r>
            <a:r>
              <a:rPr sz="1900" spc="5" dirty="0">
                <a:latin typeface="Calibri"/>
                <a:cs typeface="Calibri"/>
              </a:rPr>
              <a:t>bas</a:t>
            </a:r>
            <a:r>
              <a:rPr sz="1900" dirty="0">
                <a:latin typeface="Calibri"/>
                <a:cs typeface="Calibri"/>
              </a:rPr>
              <a:t>e </a:t>
            </a:r>
            <a:r>
              <a:rPr sz="1900" spc="5" dirty="0">
                <a:latin typeface="Calibri"/>
                <a:cs typeface="Calibri"/>
              </a:rPr>
              <a:t>al</a:t>
            </a:r>
            <a:r>
              <a:rPr sz="1900" spc="-15" dirty="0">
                <a:latin typeface="Calibri"/>
                <a:cs typeface="Calibri"/>
              </a:rPr>
              <a:t>g</a:t>
            </a:r>
            <a:r>
              <a:rPr sz="1900" spc="10" dirty="0">
                <a:latin typeface="Calibri"/>
                <a:cs typeface="Calibri"/>
              </a:rPr>
              <a:t>o</a:t>
            </a:r>
            <a:r>
              <a:rPr sz="1900" dirty="0">
                <a:latin typeface="Calibri"/>
                <a:cs typeface="Calibri"/>
              </a:rPr>
              <a:t>r</a:t>
            </a:r>
            <a:r>
              <a:rPr sz="1900" spc="5" dirty="0">
                <a:latin typeface="Calibri"/>
                <a:cs typeface="Calibri"/>
              </a:rPr>
              <a:t>ithm</a:t>
            </a:r>
            <a:r>
              <a:rPr sz="1900" dirty="0">
                <a:latin typeface="Calibri"/>
                <a:cs typeface="Calibri"/>
              </a:rPr>
              <a:t> li</a:t>
            </a:r>
            <a:r>
              <a:rPr sz="1900" spc="-65" dirty="0">
                <a:latin typeface="Calibri"/>
                <a:cs typeface="Calibri"/>
              </a:rPr>
              <a:t>k</a:t>
            </a:r>
            <a:r>
              <a:rPr sz="1900" dirty="0">
                <a:latin typeface="Calibri"/>
                <a:cs typeface="Calibri"/>
              </a:rPr>
              <a:t>e </a:t>
            </a:r>
            <a:r>
              <a:rPr sz="1900" spc="5" dirty="0">
                <a:latin typeface="Calibri"/>
                <a:cs typeface="Calibri"/>
              </a:rPr>
              <a:t>Q-l</a:t>
            </a:r>
            <a:r>
              <a:rPr sz="1900" dirty="0">
                <a:latin typeface="Calibri"/>
                <a:cs typeface="Calibri"/>
              </a:rPr>
              <a:t>e</a:t>
            </a:r>
            <a:r>
              <a:rPr sz="1900" spc="5" dirty="0">
                <a:latin typeface="Calibri"/>
                <a:cs typeface="Calibri"/>
              </a:rPr>
              <a:t>arnin</a:t>
            </a:r>
            <a:r>
              <a:rPr sz="1900" dirty="0">
                <a:latin typeface="Calibri"/>
                <a:cs typeface="Calibri"/>
              </a:rPr>
              <a:t>g</a:t>
            </a:r>
            <a:r>
              <a:rPr sz="1900" spc="5" dirty="0">
                <a:latin typeface="Calibri"/>
                <a:cs typeface="Calibri"/>
              </a:rPr>
              <a:t>)</a:t>
            </a:r>
            <a:endParaRPr sz="1900" dirty="0">
              <a:latin typeface="Calibri"/>
              <a:cs typeface="Calibri"/>
            </a:endParaRPr>
          </a:p>
        </p:txBody>
      </p:sp>
      <p:sp>
        <p:nvSpPr>
          <p:cNvPr id="5" name="object 5"/>
          <p:cNvSpPr/>
          <p:nvPr/>
        </p:nvSpPr>
        <p:spPr>
          <a:xfrm>
            <a:off x="2228717" y="6101300"/>
            <a:ext cx="925830" cy="0"/>
          </a:xfrm>
          <a:custGeom>
            <a:avLst/>
            <a:gdLst/>
            <a:ahLst/>
            <a:cxnLst/>
            <a:rect l="l" t="t" r="r" b="b"/>
            <a:pathLst>
              <a:path w="925830">
                <a:moveTo>
                  <a:pt x="0" y="0"/>
                </a:moveTo>
                <a:lnTo>
                  <a:pt x="925235" y="0"/>
                </a:lnTo>
              </a:path>
            </a:pathLst>
          </a:custGeom>
          <a:ln w="15954">
            <a:solidFill>
              <a:srgbClr val="000000"/>
            </a:solidFill>
          </a:ln>
        </p:spPr>
        <p:txBody>
          <a:bodyPr wrap="square" lIns="0" tIns="0" rIns="0" bIns="0" rtlCol="0"/>
          <a:lstStyle/>
          <a:p>
            <a:endParaRPr/>
          </a:p>
        </p:txBody>
      </p:sp>
      <p:sp>
        <p:nvSpPr>
          <p:cNvPr id="8" name="Rectangle 7">
            <a:extLst>
              <a:ext uri="{FF2B5EF4-FFF2-40B4-BE49-F238E27FC236}">
                <a16:creationId xmlns:a16="http://schemas.microsoft.com/office/drawing/2014/main" id="{EC025834-6D7E-32F5-7D5A-A6EE5FD7C2B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C6E555-BD98-F55E-A2D6-D0B0C42FAE0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2C51A523-0E28-FFF8-41BA-3E71D68BAD7D}"/>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1" name="Slide Number Placeholder 10">
            <a:extLst>
              <a:ext uri="{FF2B5EF4-FFF2-40B4-BE49-F238E27FC236}">
                <a16:creationId xmlns:a16="http://schemas.microsoft.com/office/drawing/2014/main" id="{D899D739-A71F-7720-AFBE-3BA4BDC11F92}"/>
              </a:ext>
            </a:extLst>
          </p:cNvPr>
          <p:cNvSpPr>
            <a:spLocks noGrp="1"/>
          </p:cNvSpPr>
          <p:nvPr>
            <p:ph type="sldNum" sz="quarter" idx="7"/>
          </p:nvPr>
        </p:nvSpPr>
        <p:spPr/>
        <p:txBody>
          <a:bodyPr/>
          <a:lstStyle/>
          <a:p>
            <a:pPr marL="25400"/>
            <a:fld id="{81D60167-4931-47E6-BA6A-407CBD079E47}" type="slidenum">
              <a:rPr lang="en-US" smtClean="0"/>
              <a:pPr marL="25400"/>
              <a:t>14</a:t>
            </a:fld>
            <a:r>
              <a:rPr lang="en-US"/>
              <a:t>/27</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z="3100" spc="-365" dirty="0"/>
              <a:t>T</a:t>
            </a:r>
            <a:r>
              <a:rPr sz="3100" dirty="0"/>
              <a:t>arge</a:t>
            </a:r>
            <a:r>
              <a:rPr sz="3100" spc="-10" dirty="0"/>
              <a:t>t</a:t>
            </a:r>
            <a:r>
              <a:rPr sz="3100" spc="-5" dirty="0"/>
              <a:t> </a:t>
            </a:r>
            <a:r>
              <a:rPr sz="3100" dirty="0"/>
              <a:t>Ne</a:t>
            </a:r>
            <a:r>
              <a:rPr sz="3100" spc="-10" dirty="0"/>
              <a:t>t</a:t>
            </a:r>
            <a:r>
              <a:rPr sz="3100" dirty="0"/>
              <a:t>work</a:t>
            </a:r>
            <a:r>
              <a:rPr sz="3100" spc="-5" dirty="0"/>
              <a:t> </a:t>
            </a:r>
            <a:r>
              <a:rPr sz="3100" dirty="0"/>
              <a:t>versus</a:t>
            </a:r>
            <a:r>
              <a:rPr sz="3100" spc="-5" dirty="0"/>
              <a:t> </a:t>
            </a:r>
            <a:r>
              <a:rPr sz="3100" dirty="0"/>
              <a:t>Predi</a:t>
            </a:r>
            <a:r>
              <a:rPr sz="3100" spc="-15" dirty="0"/>
              <a:t>ct</a:t>
            </a:r>
            <a:r>
              <a:rPr sz="3100" dirty="0"/>
              <a:t>ion</a:t>
            </a:r>
            <a:r>
              <a:rPr sz="3100" spc="-5" dirty="0"/>
              <a:t> </a:t>
            </a:r>
            <a:r>
              <a:rPr sz="3100" dirty="0"/>
              <a:t>(main)</a:t>
            </a:r>
            <a:r>
              <a:rPr sz="3100" spc="-5" dirty="0"/>
              <a:t> </a:t>
            </a:r>
            <a:r>
              <a:rPr sz="3100" dirty="0"/>
              <a:t>ne</a:t>
            </a:r>
            <a:r>
              <a:rPr sz="3100" spc="-10" dirty="0"/>
              <a:t>t</a:t>
            </a:r>
            <a:r>
              <a:rPr sz="3100" dirty="0"/>
              <a:t>work</a:t>
            </a:r>
            <a:endParaRPr sz="3100"/>
          </a:p>
        </p:txBody>
      </p:sp>
      <p:sp>
        <p:nvSpPr>
          <p:cNvPr id="4" name="object 4"/>
          <p:cNvSpPr/>
          <p:nvPr/>
        </p:nvSpPr>
        <p:spPr>
          <a:xfrm>
            <a:off x="1353411" y="1143538"/>
            <a:ext cx="6437179" cy="4944057"/>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551840" y="6248400"/>
            <a:ext cx="5916930" cy="152400"/>
          </a:xfrm>
          <a:prstGeom prst="rect">
            <a:avLst/>
          </a:prstGeom>
        </p:spPr>
        <p:txBody>
          <a:bodyPr vert="horz" wrap="square" lIns="0" tIns="0" rIns="0" bIns="0" rtlCol="0">
            <a:spAutoFit/>
          </a:bodyPr>
          <a:lstStyle/>
          <a:p>
            <a:pPr marL="12700">
              <a:lnSpc>
                <a:spcPct val="100000"/>
              </a:lnSpc>
            </a:pPr>
            <a:r>
              <a:rPr sz="1000" spc="-5" dirty="0">
                <a:latin typeface="Lucida Sans Unicode"/>
                <a:cs typeface="Lucida Sans Unicode"/>
              </a:rPr>
              <a:t>fro</a:t>
            </a:r>
            <a:r>
              <a:rPr sz="1000" spc="-10" dirty="0">
                <a:latin typeface="Lucida Sans Unicode"/>
                <a:cs typeface="Lucida Sans Unicode"/>
              </a:rPr>
              <a:t>m: https://</a:t>
            </a:r>
            <a:r>
              <a:rPr sz="1000" spc="-10" dirty="0">
                <a:latin typeface="Lucida Sans Unicode"/>
                <a:cs typeface="Lucida Sans Unicode"/>
                <a:hlinkClick r:id="rId4"/>
              </a:rPr>
              <a:t>www.analyticsvidhya.com/blog/2019/04/introduction-deep-q-learning-py</a:t>
            </a:r>
            <a:r>
              <a:rPr sz="1000" spc="-5" dirty="0">
                <a:latin typeface="Lucida Sans Unicode"/>
                <a:cs typeface="Lucida Sans Unicode"/>
                <a:hlinkClick r:id="rId4"/>
              </a:rPr>
              <a:t>tho</a:t>
            </a:r>
            <a:r>
              <a:rPr sz="1000" spc="-10" dirty="0">
                <a:latin typeface="Lucida Sans Unicode"/>
                <a:cs typeface="Lucida Sans Unicode"/>
                <a:hlinkClick r:id="rId4"/>
              </a:rPr>
              <a:t>n/</a:t>
            </a:r>
            <a:endParaRPr sz="1000">
              <a:latin typeface="Lucida Sans Unicode"/>
              <a:cs typeface="Lucida Sans Unicode"/>
            </a:endParaRPr>
          </a:p>
        </p:txBody>
      </p:sp>
      <mc:AlternateContent xmlns:mc="http://schemas.openxmlformats.org/markup-compatibility/2006" xmlns:a14="http://schemas.microsoft.com/office/drawing/2010/main">
        <mc:Choice Requires="a14">
          <p:sp>
            <p:nvSpPr>
              <p:cNvPr id="6" name="object 6"/>
              <p:cNvSpPr txBox="1"/>
              <p:nvPr/>
            </p:nvSpPr>
            <p:spPr>
              <a:xfrm>
                <a:off x="8051618" y="1439282"/>
                <a:ext cx="886959" cy="492443"/>
              </a:xfrm>
              <a:prstGeom prst="rect">
                <a:avLst/>
              </a:prstGeom>
            </p:spPr>
            <p:txBody>
              <a:bodyPr vert="horz" wrap="square" lIns="0" tIns="0" rIns="0" bIns="0" rtlCol="0">
                <a:spAutoFit/>
              </a:bodyPr>
              <a:lstStyle/>
              <a:p>
                <a:pPr marL="12700">
                  <a:lnSpc>
                    <a:spcPct val="100000"/>
                  </a:lnSpc>
                </a:pPr>
                <a:r>
                  <a:rPr lang="en-US" sz="2950" spc="-155" dirty="0">
                    <a:latin typeface="Tahoma"/>
                    <a:cs typeface="Tahoma"/>
                  </a:rPr>
                  <a:t>=</a:t>
                </a:r>
                <a:r>
                  <a:rPr lang="en-US" sz="2950" spc="-110" dirty="0">
                    <a:latin typeface="Tahoma"/>
                    <a:cs typeface="Tahoma"/>
                  </a:rPr>
                  <a:t> </a:t>
                </a:r>
                <a14:m>
                  <m:oMath xmlns:m="http://schemas.openxmlformats.org/officeDocument/2006/math">
                    <m:r>
                      <a:rPr lang="en-US" sz="3200" b="0" i="1" dirty="0" smtClean="0">
                        <a:solidFill>
                          <a:srgbClr val="232629"/>
                        </a:solidFill>
                        <a:effectLst/>
                        <a:latin typeface="Cambria Math" panose="02040503050406030204" pitchFamily="18" charset="0"/>
                      </a:rPr>
                      <m:t>ℒ</m:t>
                    </m:r>
                    <m:r>
                      <a:rPr lang="en-US" sz="3200" b="0" i="1" dirty="0" smtClean="0">
                        <a:solidFill>
                          <a:srgbClr val="232629"/>
                        </a:solidFill>
                        <a:effectLst/>
                        <a:latin typeface="Cambria Math" panose="02040503050406030204" pitchFamily="18" charset="0"/>
                      </a:rPr>
                      <m:t> </m:t>
                    </m:r>
                  </m:oMath>
                </a14:m>
                <a:endParaRPr sz="295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8051618" y="1439282"/>
                <a:ext cx="886959" cy="492443"/>
              </a:xfrm>
              <a:prstGeom prst="rect">
                <a:avLst/>
              </a:prstGeom>
              <a:blipFill>
                <a:blip r:embed="rId5"/>
                <a:stretch>
                  <a:fillRect l="-24138" t="-17284" b="-41975"/>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B1F2186A-5DE3-3948-03EE-BDF92B2AE02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EACBA-4115-8921-73CE-A9A7F0D35A2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1" name="Rectangle 10">
            <a:extLst>
              <a:ext uri="{FF2B5EF4-FFF2-40B4-BE49-F238E27FC236}">
                <a16:creationId xmlns:a16="http://schemas.microsoft.com/office/drawing/2014/main" id="{3617FBCC-847E-1A2B-DA16-BF0FBCCFAE13}"/>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2" name="Slide Number Placeholder 11">
            <a:extLst>
              <a:ext uri="{FF2B5EF4-FFF2-40B4-BE49-F238E27FC236}">
                <a16:creationId xmlns:a16="http://schemas.microsoft.com/office/drawing/2014/main" id="{59A526D1-95D4-35E9-9C0C-AA90A640073E}"/>
              </a:ext>
            </a:extLst>
          </p:cNvPr>
          <p:cNvSpPr>
            <a:spLocks noGrp="1"/>
          </p:cNvSpPr>
          <p:nvPr>
            <p:ph type="sldNum" sz="quarter" idx="7"/>
          </p:nvPr>
        </p:nvSpPr>
        <p:spPr/>
        <p:txBody>
          <a:bodyPr/>
          <a:lstStyle/>
          <a:p>
            <a:pPr marL="25400"/>
            <a:fld id="{81D60167-4931-47E6-BA6A-407CBD079E47}" type="slidenum">
              <a:rPr lang="en-US" smtClean="0"/>
              <a:pPr marL="25400"/>
              <a:t>15</a:t>
            </a:fld>
            <a:r>
              <a:rPr lang="en-US"/>
              <a:t>/27</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Noi</a:t>
            </a:r>
            <a:r>
              <a:rPr spc="-15" dirty="0"/>
              <a:t>sy-f</a:t>
            </a:r>
            <a:r>
              <a:rPr dirty="0"/>
              <a:t>ying</a:t>
            </a:r>
            <a:r>
              <a:rPr spc="-5" dirty="0"/>
              <a:t> </a:t>
            </a:r>
            <a:r>
              <a:rPr spc="-15" dirty="0"/>
              <a:t>t</a:t>
            </a:r>
            <a:r>
              <a:rPr dirty="0"/>
              <a:t>he</a:t>
            </a:r>
            <a:r>
              <a:rPr spc="-5" dirty="0"/>
              <a:t> </a:t>
            </a:r>
            <a:r>
              <a:rPr spc="-20" dirty="0"/>
              <a:t>s</a:t>
            </a:r>
            <a:r>
              <a:rPr spc="-15" dirty="0"/>
              <a:t>t</a:t>
            </a:r>
            <a:r>
              <a:rPr dirty="0"/>
              <a:t>a</a:t>
            </a:r>
            <a:r>
              <a:rPr spc="-15" dirty="0"/>
              <a:t>t</a:t>
            </a:r>
            <a:r>
              <a:rPr dirty="0"/>
              <a:t>e</a:t>
            </a:r>
          </a:p>
        </p:txBody>
      </p:sp>
      <p:sp>
        <p:nvSpPr>
          <p:cNvPr id="4" name="object 4"/>
          <p:cNvSpPr txBox="1"/>
          <p:nvPr/>
        </p:nvSpPr>
        <p:spPr>
          <a:xfrm>
            <a:off x="637540" y="1371600"/>
            <a:ext cx="7792720" cy="3902710"/>
          </a:xfrm>
          <a:prstGeom prst="rect">
            <a:avLst/>
          </a:prstGeom>
        </p:spPr>
        <p:txBody>
          <a:bodyPr vert="horz" wrap="square" lIns="0" tIns="0" rIns="0" bIns="0" rtlCol="0">
            <a:spAutoFit/>
          </a:bodyPr>
          <a:lstStyle/>
          <a:p>
            <a:pPr marL="241300" marR="1122680" indent="-228600">
              <a:lnSpc>
                <a:spcPts val="2560"/>
              </a:lnSpc>
              <a:buFont typeface="Arial"/>
              <a:buChar char="•"/>
              <a:tabLst>
                <a:tab pos="241300" algn="l"/>
              </a:tabLst>
            </a:pPr>
            <a:r>
              <a:rPr sz="3600" baseline="1157" dirty="0">
                <a:latin typeface="Calibri"/>
                <a:cs typeface="Calibri"/>
              </a:rPr>
              <a:t>Dis</a:t>
            </a:r>
            <a:r>
              <a:rPr sz="3600" spc="-22" baseline="1157" dirty="0">
                <a:latin typeface="Calibri"/>
                <a:cs typeface="Calibri"/>
              </a:rPr>
              <a:t>c</a:t>
            </a:r>
            <a:r>
              <a:rPr sz="3600" spc="-67" baseline="1157" dirty="0">
                <a:latin typeface="Calibri"/>
                <a:cs typeface="Calibri"/>
              </a:rPr>
              <a:t>r</a:t>
            </a:r>
            <a:r>
              <a:rPr sz="3600" spc="-44" baseline="1157" dirty="0">
                <a:latin typeface="Calibri"/>
                <a:cs typeface="Calibri"/>
              </a:rPr>
              <a:t>e</a:t>
            </a:r>
            <a:r>
              <a:rPr sz="3600" spc="-60" baseline="1157" dirty="0">
                <a:latin typeface="Calibri"/>
                <a:cs typeface="Calibri"/>
              </a:rPr>
              <a:t>t</a:t>
            </a:r>
            <a:r>
              <a:rPr sz="3600" spc="-22" baseline="1157" dirty="0">
                <a:latin typeface="Calibri"/>
                <a:cs typeface="Calibri"/>
              </a:rPr>
              <a:t>e</a:t>
            </a:r>
            <a:r>
              <a:rPr sz="3600" baseline="1157" dirty="0">
                <a:latin typeface="Calibri"/>
                <a:cs typeface="Calibri"/>
              </a:rPr>
              <a:t> </a:t>
            </a:r>
            <a:r>
              <a:rPr sz="3600" spc="-44" baseline="1157" dirty="0">
                <a:latin typeface="Calibri"/>
                <a:cs typeface="Calibri"/>
              </a:rPr>
              <a:t>s</a:t>
            </a:r>
            <a:r>
              <a:rPr sz="3600" spc="-60" baseline="1157" dirty="0">
                <a:latin typeface="Calibri"/>
                <a:cs typeface="Calibri"/>
              </a:rPr>
              <a:t>t</a:t>
            </a:r>
            <a:r>
              <a:rPr sz="3600" spc="-37" baseline="1157" dirty="0">
                <a:latin typeface="Calibri"/>
                <a:cs typeface="Calibri"/>
              </a:rPr>
              <a:t>a</a:t>
            </a:r>
            <a:r>
              <a:rPr sz="3600" spc="-60" baseline="1157" dirty="0">
                <a:latin typeface="Calibri"/>
                <a:cs typeface="Calibri"/>
              </a:rPr>
              <a:t>t</a:t>
            </a:r>
            <a:r>
              <a:rPr sz="3600" spc="-22" baseline="1157" dirty="0">
                <a:latin typeface="Calibri"/>
                <a:cs typeface="Calibri"/>
              </a:rPr>
              <a:t>e</a:t>
            </a:r>
            <a:r>
              <a:rPr sz="3600" baseline="1157" dirty="0">
                <a:latin typeface="Calibri"/>
                <a:cs typeface="Calibri"/>
              </a:rPr>
              <a:t>s (</a:t>
            </a:r>
            <a:r>
              <a:rPr sz="3600" spc="-22" baseline="1157" dirty="0">
                <a:latin typeface="Calibri"/>
                <a:cs typeface="Calibri"/>
              </a:rPr>
              <a:t>e</a:t>
            </a:r>
            <a:r>
              <a:rPr sz="3600" spc="37" baseline="1157" dirty="0">
                <a:latin typeface="Calibri"/>
                <a:cs typeface="Calibri"/>
              </a:rPr>
              <a:t>.</a:t>
            </a:r>
            <a:r>
              <a:rPr sz="3600" spc="-22" baseline="1157" dirty="0">
                <a:latin typeface="Calibri"/>
                <a:cs typeface="Calibri"/>
              </a:rPr>
              <a:t>g</a:t>
            </a:r>
            <a:r>
              <a:rPr sz="3600" baseline="1157" dirty="0">
                <a:latin typeface="Calibri"/>
                <a:cs typeface="Calibri"/>
              </a:rPr>
              <a:t>. in </a:t>
            </a:r>
            <a:r>
              <a:rPr sz="3600" spc="-15" baseline="1157" dirty="0">
                <a:latin typeface="Calibri"/>
                <a:cs typeface="Calibri"/>
              </a:rPr>
              <a:t>gr</a:t>
            </a:r>
            <a:r>
              <a:rPr sz="3600" baseline="1157" dirty="0">
                <a:latin typeface="Calibri"/>
                <a:cs typeface="Calibri"/>
              </a:rPr>
              <a:t>id </a:t>
            </a:r>
            <a:r>
              <a:rPr sz="3600" spc="-67" baseline="1157" dirty="0">
                <a:latin typeface="Calibri"/>
                <a:cs typeface="Calibri"/>
              </a:rPr>
              <a:t>w</a:t>
            </a:r>
            <a:r>
              <a:rPr sz="3600" spc="-7" baseline="1157" dirty="0">
                <a:latin typeface="Calibri"/>
                <a:cs typeface="Calibri"/>
              </a:rPr>
              <a:t>o</a:t>
            </a:r>
            <a:r>
              <a:rPr sz="3600" baseline="1157" dirty="0">
                <a:latin typeface="Calibri"/>
                <a:cs typeface="Calibri"/>
              </a:rPr>
              <a:t>lds) </a:t>
            </a:r>
            <a:r>
              <a:rPr sz="3600" spc="-52" baseline="1157" dirty="0">
                <a:latin typeface="Calibri"/>
                <a:cs typeface="Calibri"/>
              </a:rPr>
              <a:t>c</a:t>
            </a:r>
            <a:r>
              <a:rPr sz="3600" baseline="1157" dirty="0">
                <a:latin typeface="Calibri"/>
                <a:cs typeface="Calibri"/>
              </a:rPr>
              <a:t>an l</a:t>
            </a:r>
            <a:r>
              <a:rPr sz="3600" spc="-22" baseline="1157" dirty="0">
                <a:latin typeface="Calibri"/>
                <a:cs typeface="Calibri"/>
              </a:rPr>
              <a:t>e</a:t>
            </a:r>
            <a:r>
              <a:rPr sz="3600" baseline="1157" dirty="0">
                <a:latin typeface="Calibri"/>
                <a:cs typeface="Calibri"/>
              </a:rPr>
              <a:t>ad </a:t>
            </a:r>
            <a:r>
              <a:rPr sz="3600" spc="-52" baseline="1157" dirty="0">
                <a:latin typeface="Calibri"/>
                <a:cs typeface="Calibri"/>
              </a:rPr>
              <a:t>t</a:t>
            </a:r>
            <a:r>
              <a:rPr sz="3600" baseline="1157" dirty="0">
                <a:latin typeface="Calibri"/>
                <a:cs typeface="Calibri"/>
              </a:rPr>
              <a:t>o “D</a:t>
            </a:r>
            <a:r>
              <a:rPr sz="3600" spc="-22" baseline="1157" dirty="0">
                <a:latin typeface="Calibri"/>
                <a:cs typeface="Calibri"/>
              </a:rPr>
              <a:t>e</a:t>
            </a:r>
            <a:r>
              <a:rPr sz="3600" baseline="1157" dirty="0">
                <a:latin typeface="Calibri"/>
                <a:cs typeface="Calibri"/>
              </a:rPr>
              <a:t>ad </a:t>
            </a:r>
            <a:r>
              <a:rPr sz="2400" spc="-15" dirty="0">
                <a:latin typeface="Calibri"/>
                <a:cs typeface="Calibri"/>
              </a:rPr>
              <a:t>Neu</a:t>
            </a:r>
            <a:r>
              <a:rPr sz="2400" spc="-50" dirty="0">
                <a:latin typeface="Calibri"/>
                <a:cs typeface="Calibri"/>
              </a:rPr>
              <a:t>r</a:t>
            </a:r>
            <a:r>
              <a:rPr sz="2400" dirty="0">
                <a:latin typeface="Calibri"/>
                <a:cs typeface="Calibri"/>
              </a:rPr>
              <a:t>ons”</a:t>
            </a:r>
          </a:p>
          <a:p>
            <a:pPr>
              <a:lnSpc>
                <a:spcPct val="100000"/>
              </a:lnSpc>
              <a:spcBef>
                <a:spcPts val="26"/>
              </a:spcBef>
              <a:buFont typeface="Arial"/>
              <a:buChar char="•"/>
            </a:pPr>
            <a:endParaRPr sz="3200" dirty="0">
              <a:latin typeface="Times New Roman"/>
              <a:cs typeface="Times New Roman"/>
            </a:endParaRPr>
          </a:p>
          <a:p>
            <a:pPr marL="241300" marR="209550" indent="-228600">
              <a:lnSpc>
                <a:spcPts val="2560"/>
              </a:lnSpc>
              <a:buFont typeface="Arial"/>
              <a:buChar char="•"/>
              <a:tabLst>
                <a:tab pos="241300" algn="l"/>
              </a:tabLst>
            </a:pPr>
            <a:r>
              <a:rPr sz="3600" spc="-22" baseline="1157" dirty="0">
                <a:latin typeface="Calibri"/>
                <a:cs typeface="Calibri"/>
              </a:rPr>
              <a:t>A</a:t>
            </a:r>
            <a:r>
              <a:rPr sz="3600" baseline="1157" dirty="0">
                <a:latin typeface="Calibri"/>
                <a:cs typeface="Calibri"/>
              </a:rPr>
              <a:t> </a:t>
            </a:r>
            <a:r>
              <a:rPr sz="3600" spc="-15" baseline="1157" dirty="0">
                <a:latin typeface="Calibri"/>
                <a:cs typeface="Calibri"/>
              </a:rPr>
              <a:t>tr</a:t>
            </a:r>
            <a:r>
              <a:rPr sz="3600" baseline="1157" dirty="0">
                <a:latin typeface="Calibri"/>
                <a:cs typeface="Calibri"/>
              </a:rPr>
              <a:t>i</a:t>
            </a:r>
            <a:r>
              <a:rPr sz="3600" spc="-22" baseline="1157" dirty="0">
                <a:latin typeface="Calibri"/>
                <a:cs typeface="Calibri"/>
              </a:rPr>
              <a:t>ck</a:t>
            </a:r>
            <a:r>
              <a:rPr sz="3600" baseline="1157" dirty="0">
                <a:latin typeface="Calibri"/>
                <a:cs typeface="Calibri"/>
              </a:rPr>
              <a:t> </a:t>
            </a:r>
            <a:r>
              <a:rPr sz="3600" spc="-52" baseline="1157" dirty="0">
                <a:latin typeface="Calibri"/>
                <a:cs typeface="Calibri"/>
              </a:rPr>
              <a:t>t</a:t>
            </a:r>
            <a:r>
              <a:rPr sz="3600" baseline="1157" dirty="0">
                <a:latin typeface="Calibri"/>
                <a:cs typeface="Calibri"/>
              </a:rPr>
              <a:t>o </a:t>
            </a:r>
            <a:r>
              <a:rPr sz="3600" spc="-60" baseline="1157" dirty="0">
                <a:latin typeface="Calibri"/>
                <a:cs typeface="Calibri"/>
              </a:rPr>
              <a:t>av</a:t>
            </a:r>
            <a:r>
              <a:rPr sz="3600" spc="-7" baseline="1157" dirty="0">
                <a:latin typeface="Calibri"/>
                <a:cs typeface="Calibri"/>
              </a:rPr>
              <a:t>o</a:t>
            </a:r>
            <a:r>
              <a:rPr sz="3600" baseline="1157" dirty="0">
                <a:latin typeface="Calibri"/>
                <a:cs typeface="Calibri"/>
              </a:rPr>
              <a:t>id this is </a:t>
            </a:r>
            <a:r>
              <a:rPr sz="3600" spc="-52" baseline="1157" dirty="0">
                <a:latin typeface="Calibri"/>
                <a:cs typeface="Calibri"/>
              </a:rPr>
              <a:t>t</a:t>
            </a:r>
            <a:r>
              <a:rPr sz="3600" baseline="1157" dirty="0">
                <a:latin typeface="Calibri"/>
                <a:cs typeface="Calibri"/>
              </a:rPr>
              <a:t>o add a s</a:t>
            </a:r>
            <a:r>
              <a:rPr sz="3600" spc="-30" baseline="1157" dirty="0">
                <a:latin typeface="Calibri"/>
                <a:cs typeface="Calibri"/>
              </a:rPr>
              <a:t>m</a:t>
            </a:r>
            <a:r>
              <a:rPr sz="3600" baseline="1157" dirty="0">
                <a:latin typeface="Calibri"/>
                <a:cs typeface="Calibri"/>
              </a:rPr>
              <a:t>all </a:t>
            </a:r>
            <a:r>
              <a:rPr sz="3600" spc="-30" baseline="1157" dirty="0">
                <a:latin typeface="Calibri"/>
                <a:cs typeface="Calibri"/>
              </a:rPr>
              <a:t>am</a:t>
            </a:r>
            <a:r>
              <a:rPr sz="3600" spc="-7" baseline="1157" dirty="0">
                <a:latin typeface="Calibri"/>
                <a:cs typeface="Calibri"/>
              </a:rPr>
              <a:t>o</a:t>
            </a:r>
            <a:r>
              <a:rPr sz="3600" baseline="1157" dirty="0">
                <a:latin typeface="Calibri"/>
                <a:cs typeface="Calibri"/>
              </a:rPr>
              <a:t>u</a:t>
            </a:r>
            <a:r>
              <a:rPr sz="3600" spc="-37" baseline="1157" dirty="0">
                <a:latin typeface="Calibri"/>
                <a:cs typeface="Calibri"/>
              </a:rPr>
              <a:t>n</a:t>
            </a:r>
            <a:r>
              <a:rPr sz="3600" spc="-15" baseline="1157" dirty="0">
                <a:latin typeface="Calibri"/>
                <a:cs typeface="Calibri"/>
              </a:rPr>
              <a:t>t</a:t>
            </a:r>
            <a:r>
              <a:rPr sz="3600" baseline="1157" dirty="0">
                <a:latin typeface="Calibri"/>
                <a:cs typeface="Calibri"/>
              </a:rPr>
              <a:t> </a:t>
            </a:r>
            <a:r>
              <a:rPr sz="3600" spc="-7" baseline="1157" dirty="0">
                <a:latin typeface="Calibri"/>
                <a:cs typeface="Calibri"/>
              </a:rPr>
              <a:t>o</a:t>
            </a:r>
            <a:r>
              <a:rPr sz="3600" baseline="1157" dirty="0">
                <a:latin typeface="Calibri"/>
                <a:cs typeface="Calibri"/>
              </a:rPr>
              <a:t>f n</a:t>
            </a:r>
            <a:r>
              <a:rPr sz="3600" spc="-7" baseline="1157" dirty="0">
                <a:latin typeface="Calibri"/>
                <a:cs typeface="Calibri"/>
              </a:rPr>
              <a:t>o</a:t>
            </a:r>
            <a:r>
              <a:rPr sz="3600" baseline="1157" dirty="0">
                <a:latin typeface="Calibri"/>
                <a:cs typeface="Calibri"/>
              </a:rPr>
              <a:t>is</a:t>
            </a:r>
            <a:r>
              <a:rPr sz="3600" spc="-22" baseline="1157" dirty="0">
                <a:latin typeface="Calibri"/>
                <a:cs typeface="Calibri"/>
              </a:rPr>
              <a:t>e</a:t>
            </a:r>
            <a:r>
              <a:rPr sz="3600" baseline="1157" dirty="0">
                <a:latin typeface="Calibri"/>
                <a:cs typeface="Calibri"/>
              </a:rPr>
              <a:t> </a:t>
            </a:r>
            <a:r>
              <a:rPr sz="3600" spc="-52" baseline="1157" dirty="0">
                <a:latin typeface="Calibri"/>
                <a:cs typeface="Calibri"/>
              </a:rPr>
              <a:t>t</a:t>
            </a:r>
            <a:r>
              <a:rPr sz="3600" baseline="1157" dirty="0">
                <a:latin typeface="Calibri"/>
                <a:cs typeface="Calibri"/>
              </a:rPr>
              <a:t>o th</a:t>
            </a:r>
            <a:r>
              <a:rPr sz="3600" spc="-22" baseline="1157" dirty="0">
                <a:latin typeface="Calibri"/>
                <a:cs typeface="Calibri"/>
              </a:rPr>
              <a:t>e</a:t>
            </a:r>
            <a:r>
              <a:rPr sz="3600" spc="-15" baseline="1157" dirty="0">
                <a:latin typeface="Calibri"/>
                <a:cs typeface="Calibri"/>
              </a:rPr>
              <a:t> </a:t>
            </a:r>
            <a:r>
              <a:rPr sz="2400" spc="-30" dirty="0">
                <a:latin typeface="Calibri"/>
                <a:cs typeface="Calibri"/>
              </a:rPr>
              <a:t>st</a:t>
            </a:r>
            <a:r>
              <a:rPr sz="2400" spc="-25" dirty="0">
                <a:latin typeface="Calibri"/>
                <a:cs typeface="Calibri"/>
              </a:rPr>
              <a:t>a</a:t>
            </a:r>
            <a:r>
              <a:rPr sz="2400" spc="-40" dirty="0">
                <a:latin typeface="Calibri"/>
                <a:cs typeface="Calibri"/>
              </a:rPr>
              <a:t>t</a:t>
            </a:r>
            <a:r>
              <a:rPr sz="2400" spc="-15" dirty="0">
                <a:latin typeface="Calibri"/>
                <a:cs typeface="Calibri"/>
              </a:rPr>
              <a:t>e</a:t>
            </a:r>
            <a:r>
              <a:rPr sz="2400" dirty="0">
                <a:latin typeface="Calibri"/>
                <a:cs typeface="Calibri"/>
              </a:rPr>
              <a:t>s</a:t>
            </a:r>
          </a:p>
          <a:p>
            <a:pPr>
              <a:lnSpc>
                <a:spcPct val="100000"/>
              </a:lnSpc>
              <a:spcBef>
                <a:spcPts val="14"/>
              </a:spcBef>
              <a:buFont typeface="Arial"/>
              <a:buChar char="•"/>
            </a:pPr>
            <a:endParaRPr sz="3150" dirty="0">
              <a:latin typeface="Times New Roman"/>
              <a:cs typeface="Times New Roman"/>
            </a:endParaRPr>
          </a:p>
          <a:p>
            <a:pPr marL="241300" marR="5080" indent="-228600">
              <a:lnSpc>
                <a:spcPct val="90200"/>
              </a:lnSpc>
              <a:buFont typeface="Arial"/>
              <a:buChar char="•"/>
              <a:tabLst>
                <a:tab pos="241300" algn="l"/>
              </a:tabLst>
            </a:pPr>
            <a:r>
              <a:rPr sz="3600" baseline="1157" dirty="0">
                <a:latin typeface="Calibri"/>
                <a:cs typeface="Calibri"/>
              </a:rPr>
              <a:t>This p</a:t>
            </a:r>
            <a:r>
              <a:rPr sz="3600" spc="-75" baseline="1157" dirty="0">
                <a:latin typeface="Calibri"/>
                <a:cs typeface="Calibri"/>
              </a:rPr>
              <a:t>r</a:t>
            </a:r>
            <a:r>
              <a:rPr sz="3600" spc="-7" baseline="1157" dirty="0">
                <a:latin typeface="Calibri"/>
                <a:cs typeface="Calibri"/>
              </a:rPr>
              <a:t>o</a:t>
            </a:r>
            <a:r>
              <a:rPr sz="3600" baseline="1157" dirty="0">
                <a:latin typeface="Calibri"/>
                <a:cs typeface="Calibri"/>
              </a:rPr>
              <a:t>bl</a:t>
            </a:r>
            <a:r>
              <a:rPr sz="3600" spc="-30" baseline="1157" dirty="0">
                <a:latin typeface="Calibri"/>
                <a:cs typeface="Calibri"/>
              </a:rPr>
              <a:t>em</a:t>
            </a:r>
            <a:r>
              <a:rPr sz="3600" baseline="1157" dirty="0">
                <a:latin typeface="Calibri"/>
                <a:cs typeface="Calibri"/>
              </a:rPr>
              <a:t> </a:t>
            </a:r>
            <a:r>
              <a:rPr sz="3600" spc="-7" baseline="1157" dirty="0">
                <a:latin typeface="Calibri"/>
                <a:cs typeface="Calibri"/>
              </a:rPr>
              <a:t>o</a:t>
            </a:r>
            <a:r>
              <a:rPr sz="3600" spc="-22" baseline="1157" dirty="0">
                <a:latin typeface="Calibri"/>
                <a:cs typeface="Calibri"/>
              </a:rPr>
              <a:t>cc</a:t>
            </a:r>
            <a:r>
              <a:rPr sz="3600" baseline="1157" dirty="0">
                <a:latin typeface="Calibri"/>
                <a:cs typeface="Calibri"/>
              </a:rPr>
              <a:t>u</a:t>
            </a:r>
            <a:r>
              <a:rPr sz="3600" spc="-82" baseline="1157" dirty="0">
                <a:latin typeface="Calibri"/>
                <a:cs typeface="Calibri"/>
              </a:rPr>
              <a:t>r</a:t>
            </a:r>
            <a:r>
              <a:rPr sz="3600" baseline="1157" dirty="0">
                <a:latin typeface="Calibri"/>
                <a:cs typeface="Calibri"/>
              </a:rPr>
              <a:t>s sp</a:t>
            </a:r>
            <a:r>
              <a:rPr sz="3600" spc="-22" baseline="1157" dirty="0">
                <a:latin typeface="Calibri"/>
                <a:cs typeface="Calibri"/>
              </a:rPr>
              <a:t>ec</a:t>
            </a:r>
            <a:r>
              <a:rPr sz="3600" baseline="1157" dirty="0">
                <a:latin typeface="Calibri"/>
                <a:cs typeface="Calibri"/>
              </a:rPr>
              <a:t>ifi</a:t>
            </a:r>
            <a:r>
              <a:rPr sz="3600" spc="-52" baseline="1157" dirty="0">
                <a:latin typeface="Calibri"/>
                <a:cs typeface="Calibri"/>
              </a:rPr>
              <a:t>c</a:t>
            </a:r>
            <a:r>
              <a:rPr sz="3600" baseline="1157" dirty="0">
                <a:latin typeface="Calibri"/>
                <a:cs typeface="Calibri"/>
              </a:rPr>
              <a:t>all</a:t>
            </a:r>
            <a:r>
              <a:rPr sz="3600" spc="-22" baseline="1157" dirty="0">
                <a:latin typeface="Calibri"/>
                <a:cs typeface="Calibri"/>
              </a:rPr>
              <a:t>y</a:t>
            </a:r>
            <a:r>
              <a:rPr sz="3600" baseline="1157" dirty="0">
                <a:latin typeface="Calibri"/>
                <a:cs typeface="Calibri"/>
              </a:rPr>
              <a:t> </a:t>
            </a:r>
            <a:r>
              <a:rPr sz="3600" spc="-37" baseline="1157" dirty="0">
                <a:latin typeface="Calibri"/>
                <a:cs typeface="Calibri"/>
              </a:rPr>
              <a:t>w</a:t>
            </a:r>
            <a:r>
              <a:rPr sz="3600" baseline="1157" dirty="0">
                <a:latin typeface="Calibri"/>
                <a:cs typeface="Calibri"/>
              </a:rPr>
              <a:t>ith </a:t>
            </a:r>
            <a:r>
              <a:rPr sz="3600" spc="-89" baseline="1157" dirty="0">
                <a:latin typeface="Calibri"/>
                <a:cs typeface="Calibri"/>
              </a:rPr>
              <a:t>R</a:t>
            </a:r>
            <a:r>
              <a:rPr sz="3600" spc="-22" baseline="1157" dirty="0">
                <a:latin typeface="Calibri"/>
                <a:cs typeface="Calibri"/>
              </a:rPr>
              <a:t>e</a:t>
            </a:r>
            <a:r>
              <a:rPr sz="3600" spc="-82" baseline="1157" dirty="0">
                <a:latin typeface="Calibri"/>
                <a:cs typeface="Calibri"/>
              </a:rPr>
              <a:t>L</a:t>
            </a:r>
            <a:r>
              <a:rPr sz="3600" spc="-30" baseline="1157" dirty="0">
                <a:latin typeface="Calibri"/>
                <a:cs typeface="Calibri"/>
              </a:rPr>
              <a:t>U</a:t>
            </a:r>
            <a:r>
              <a:rPr sz="3600" baseline="1157" dirty="0">
                <a:latin typeface="Calibri"/>
                <a:cs typeface="Calibri"/>
              </a:rPr>
              <a:t> (</a:t>
            </a:r>
            <a:r>
              <a:rPr sz="3600" spc="-67" baseline="1157" dirty="0">
                <a:latin typeface="Calibri"/>
                <a:cs typeface="Calibri"/>
              </a:rPr>
              <a:t>r</a:t>
            </a:r>
            <a:r>
              <a:rPr sz="3600" spc="-22" baseline="1157" dirty="0">
                <a:latin typeface="Calibri"/>
                <a:cs typeface="Calibri"/>
              </a:rPr>
              <a:t>ec</a:t>
            </a:r>
            <a:r>
              <a:rPr sz="3600" baseline="1157" dirty="0">
                <a:latin typeface="Calibri"/>
                <a:cs typeface="Calibri"/>
              </a:rPr>
              <a:t>tifi</a:t>
            </a:r>
            <a:r>
              <a:rPr sz="3600" spc="-22" baseline="1157" dirty="0">
                <a:latin typeface="Calibri"/>
                <a:cs typeface="Calibri"/>
              </a:rPr>
              <a:t>e</a:t>
            </a:r>
            <a:r>
              <a:rPr sz="3600" baseline="1157" dirty="0">
                <a:latin typeface="Calibri"/>
                <a:cs typeface="Calibri"/>
              </a:rPr>
              <a:t>d lin</a:t>
            </a:r>
            <a:r>
              <a:rPr sz="3600" spc="-22" baseline="1157" dirty="0">
                <a:latin typeface="Calibri"/>
                <a:cs typeface="Calibri"/>
              </a:rPr>
              <a:t>ear</a:t>
            </a:r>
            <a:r>
              <a:rPr sz="3600" spc="-15" baseline="1157" dirty="0">
                <a:latin typeface="Calibri"/>
                <a:cs typeface="Calibri"/>
              </a:rPr>
              <a:t> </a:t>
            </a:r>
            <a:r>
              <a:rPr sz="2400" dirty="0">
                <a:latin typeface="Calibri"/>
                <a:cs typeface="Calibri"/>
              </a:rPr>
              <a:t>unit) </a:t>
            </a:r>
            <a:r>
              <a:rPr sz="2400" spc="-15" dirty="0">
                <a:latin typeface="Calibri"/>
                <a:cs typeface="Calibri"/>
              </a:rPr>
              <a:t>ac</a:t>
            </a:r>
            <a:r>
              <a:rPr sz="2400" dirty="0">
                <a:latin typeface="Calibri"/>
                <a:cs typeface="Calibri"/>
              </a:rPr>
              <a:t>ti</a:t>
            </a:r>
            <a:r>
              <a:rPr sz="2400" spc="-55" dirty="0">
                <a:latin typeface="Calibri"/>
                <a:cs typeface="Calibri"/>
              </a:rPr>
              <a:t>v</a:t>
            </a:r>
            <a:r>
              <a:rPr sz="2400" spc="-25" dirty="0">
                <a:latin typeface="Calibri"/>
                <a:cs typeface="Calibri"/>
              </a:rPr>
              <a:t>a</a:t>
            </a:r>
            <a:r>
              <a:rPr sz="2400" dirty="0">
                <a:latin typeface="Calibri"/>
                <a:cs typeface="Calibri"/>
              </a:rPr>
              <a:t>ti</a:t>
            </a:r>
            <a:r>
              <a:rPr sz="2400" spc="-5" dirty="0">
                <a:latin typeface="Calibri"/>
                <a:cs typeface="Calibri"/>
              </a:rPr>
              <a:t>o</a:t>
            </a:r>
            <a:r>
              <a:rPr sz="2400" dirty="0">
                <a:latin typeface="Calibri"/>
                <a:cs typeface="Calibri"/>
              </a:rPr>
              <a:t>n fun</a:t>
            </a:r>
            <a:r>
              <a:rPr sz="2400" spc="-15" dirty="0">
                <a:latin typeface="Calibri"/>
                <a:cs typeface="Calibri"/>
              </a:rPr>
              <a:t>c</a:t>
            </a:r>
            <a:r>
              <a:rPr sz="2400" dirty="0">
                <a:latin typeface="Calibri"/>
                <a:cs typeface="Calibri"/>
              </a:rPr>
              <a:t>ti</a:t>
            </a:r>
            <a:r>
              <a:rPr sz="2400" spc="-5" dirty="0">
                <a:latin typeface="Calibri"/>
                <a:cs typeface="Calibri"/>
              </a:rPr>
              <a:t>o</a:t>
            </a:r>
            <a:r>
              <a:rPr sz="2400" dirty="0">
                <a:latin typeface="Calibri"/>
                <a:cs typeface="Calibri"/>
              </a:rPr>
              <a:t>ns sin</a:t>
            </a:r>
            <a:r>
              <a:rPr sz="2400" spc="-15" dirty="0">
                <a:latin typeface="Calibri"/>
                <a:cs typeface="Calibri"/>
              </a:rPr>
              <a:t>ce</a:t>
            </a:r>
            <a:r>
              <a:rPr sz="2400" dirty="0">
                <a:latin typeface="Calibri"/>
                <a:cs typeface="Calibri"/>
              </a:rPr>
              <a:t> th</a:t>
            </a:r>
            <a:r>
              <a:rPr sz="2400" spc="-15" dirty="0">
                <a:latin typeface="Calibri"/>
                <a:cs typeface="Calibri"/>
              </a:rPr>
              <a:t>e</a:t>
            </a:r>
            <a:r>
              <a:rPr sz="2400" dirty="0">
                <a:latin typeface="Calibri"/>
                <a:cs typeface="Calibri"/>
              </a:rPr>
              <a:t>s</a:t>
            </a:r>
            <a:r>
              <a:rPr sz="2400" spc="-15" dirty="0">
                <a:latin typeface="Calibri"/>
                <a:cs typeface="Calibri"/>
              </a:rPr>
              <a:t>e</a:t>
            </a:r>
            <a:r>
              <a:rPr sz="2400" dirty="0">
                <a:latin typeface="Calibri"/>
                <a:cs typeface="Calibri"/>
              </a:rPr>
              <a:t> </a:t>
            </a:r>
            <a:r>
              <a:rPr sz="2400" spc="-15" dirty="0">
                <a:latin typeface="Calibri"/>
                <a:cs typeface="Calibri"/>
              </a:rPr>
              <a:t>a</a:t>
            </a:r>
            <a:r>
              <a:rPr sz="2400" spc="-45" dirty="0">
                <a:latin typeface="Calibri"/>
                <a:cs typeface="Calibri"/>
              </a:rPr>
              <a:t>r</a:t>
            </a:r>
            <a:r>
              <a:rPr sz="2400" spc="-15" dirty="0">
                <a:latin typeface="Calibri"/>
                <a:cs typeface="Calibri"/>
              </a:rPr>
              <a:t>e</a:t>
            </a:r>
            <a:r>
              <a:rPr sz="2400" dirty="0">
                <a:latin typeface="Calibri"/>
                <a:cs typeface="Calibri"/>
              </a:rPr>
              <a:t> n</a:t>
            </a:r>
            <a:r>
              <a:rPr sz="2400" spc="-5" dirty="0">
                <a:latin typeface="Calibri"/>
                <a:cs typeface="Calibri"/>
              </a:rPr>
              <a:t>o</a:t>
            </a:r>
            <a:r>
              <a:rPr sz="2400" dirty="0">
                <a:latin typeface="Calibri"/>
                <a:cs typeface="Calibri"/>
              </a:rPr>
              <a:t>n-di</a:t>
            </a:r>
            <a:r>
              <a:rPr sz="2400" spc="-25" dirty="0">
                <a:latin typeface="Calibri"/>
                <a:cs typeface="Calibri"/>
              </a:rPr>
              <a:t>f</a:t>
            </a:r>
            <a:r>
              <a:rPr sz="2400" spc="-60" dirty="0">
                <a:latin typeface="Calibri"/>
                <a:cs typeface="Calibri"/>
              </a:rPr>
              <a:t>f</a:t>
            </a:r>
            <a:r>
              <a:rPr sz="2400" spc="-15" dirty="0">
                <a:latin typeface="Calibri"/>
                <a:cs typeface="Calibri"/>
              </a:rPr>
              <a:t>e</a:t>
            </a:r>
            <a:r>
              <a:rPr sz="2400" spc="-45" dirty="0">
                <a:latin typeface="Calibri"/>
                <a:cs typeface="Calibri"/>
              </a:rPr>
              <a:t>r</a:t>
            </a:r>
            <a:r>
              <a:rPr sz="2400" spc="-15" dirty="0">
                <a:latin typeface="Calibri"/>
                <a:cs typeface="Calibri"/>
              </a:rPr>
              <a:t>e</a:t>
            </a:r>
            <a:r>
              <a:rPr sz="2400" spc="-25" dirty="0">
                <a:latin typeface="Calibri"/>
                <a:cs typeface="Calibri"/>
              </a:rPr>
              <a:t>n</a:t>
            </a:r>
            <a:r>
              <a:rPr sz="2400" dirty="0">
                <a:latin typeface="Calibri"/>
                <a:cs typeface="Calibri"/>
              </a:rPr>
              <a:t>tiabl</a:t>
            </a:r>
            <a:r>
              <a:rPr sz="2400" spc="-15" dirty="0">
                <a:latin typeface="Calibri"/>
                <a:cs typeface="Calibri"/>
              </a:rPr>
              <a:t>e</a:t>
            </a:r>
            <a:r>
              <a:rPr sz="2400" spc="-10" dirty="0">
                <a:latin typeface="Calibri"/>
                <a:cs typeface="Calibri"/>
              </a:rPr>
              <a:t> </a:t>
            </a:r>
            <a:r>
              <a:rPr sz="2400" spc="-25" dirty="0">
                <a:latin typeface="Calibri"/>
                <a:cs typeface="Calibri"/>
              </a:rPr>
              <a:t>a</a:t>
            </a:r>
            <a:r>
              <a:rPr sz="2400" spc="-10" dirty="0">
                <a:latin typeface="Calibri"/>
                <a:cs typeface="Calibri"/>
              </a:rPr>
              <a:t>t</a:t>
            </a:r>
            <a:r>
              <a:rPr sz="2400" dirty="0">
                <a:latin typeface="Calibri"/>
                <a:cs typeface="Calibri"/>
              </a:rPr>
              <a:t> </a:t>
            </a:r>
            <a:r>
              <a:rPr sz="2400" spc="-55" dirty="0">
                <a:latin typeface="Calibri"/>
                <a:cs typeface="Calibri"/>
              </a:rPr>
              <a:t>z</a:t>
            </a:r>
            <a:r>
              <a:rPr sz="2400" spc="-15" dirty="0">
                <a:latin typeface="Calibri"/>
                <a:cs typeface="Calibri"/>
              </a:rPr>
              <a:t>e</a:t>
            </a:r>
            <a:r>
              <a:rPr sz="2400" spc="-50" dirty="0">
                <a:latin typeface="Calibri"/>
                <a:cs typeface="Calibri"/>
              </a:rPr>
              <a:t>r</a:t>
            </a:r>
            <a:r>
              <a:rPr sz="2400" dirty="0">
                <a:latin typeface="Calibri"/>
                <a:cs typeface="Calibri"/>
              </a:rPr>
              <a:t>o </a:t>
            </a:r>
            <a:r>
              <a:rPr sz="2400" spc="-25" dirty="0">
                <a:latin typeface="Calibri"/>
                <a:cs typeface="Calibri"/>
              </a:rPr>
              <a:t>w</a:t>
            </a:r>
            <a:r>
              <a:rPr sz="2400" dirty="0">
                <a:latin typeface="Calibri"/>
                <a:cs typeface="Calibri"/>
              </a:rPr>
              <a:t>h</a:t>
            </a:r>
            <a:r>
              <a:rPr sz="2400" spc="-15" dirty="0">
                <a:latin typeface="Calibri"/>
                <a:cs typeface="Calibri"/>
              </a:rPr>
              <a:t>e</a:t>
            </a:r>
            <a:r>
              <a:rPr sz="2400" dirty="0">
                <a:latin typeface="Calibri"/>
                <a:cs typeface="Calibri"/>
              </a:rPr>
              <a:t>n th</a:t>
            </a:r>
            <a:r>
              <a:rPr sz="2400" spc="-15" dirty="0">
                <a:latin typeface="Calibri"/>
                <a:cs typeface="Calibri"/>
              </a:rPr>
              <a:t>e</a:t>
            </a:r>
            <a:r>
              <a:rPr sz="2400" dirty="0">
                <a:latin typeface="Calibri"/>
                <a:cs typeface="Calibri"/>
              </a:rPr>
              <a:t> </a:t>
            </a:r>
            <a:r>
              <a:rPr sz="2400" spc="-30" dirty="0">
                <a:latin typeface="Calibri"/>
                <a:cs typeface="Calibri"/>
              </a:rPr>
              <a:t>s</a:t>
            </a:r>
            <a:r>
              <a:rPr sz="2400" spc="-40" dirty="0">
                <a:latin typeface="Calibri"/>
                <a:cs typeface="Calibri"/>
              </a:rPr>
              <a:t>t</a:t>
            </a:r>
            <a:r>
              <a:rPr sz="2400" spc="-25" dirty="0">
                <a:latin typeface="Calibri"/>
                <a:cs typeface="Calibri"/>
              </a:rPr>
              <a:t>a</a:t>
            </a:r>
            <a:r>
              <a:rPr sz="2400" spc="-40" dirty="0">
                <a:latin typeface="Calibri"/>
                <a:cs typeface="Calibri"/>
              </a:rPr>
              <a:t>t</a:t>
            </a:r>
            <a:r>
              <a:rPr sz="2400" spc="-15" dirty="0">
                <a:latin typeface="Calibri"/>
                <a:cs typeface="Calibri"/>
              </a:rPr>
              <a:t>e</a:t>
            </a:r>
            <a:r>
              <a:rPr sz="2400" dirty="0">
                <a:latin typeface="Calibri"/>
                <a:cs typeface="Calibri"/>
              </a:rPr>
              <a:t> </a:t>
            </a:r>
            <a:r>
              <a:rPr sz="2400" spc="-40" dirty="0">
                <a:latin typeface="Calibri"/>
                <a:cs typeface="Calibri"/>
              </a:rPr>
              <a:t>v</a:t>
            </a:r>
            <a:r>
              <a:rPr sz="2400" spc="-15" dirty="0">
                <a:latin typeface="Calibri"/>
                <a:cs typeface="Calibri"/>
              </a:rPr>
              <a:t>ec</a:t>
            </a:r>
            <a:r>
              <a:rPr sz="2400" spc="-35" dirty="0">
                <a:latin typeface="Calibri"/>
                <a:cs typeface="Calibri"/>
              </a:rPr>
              <a:t>t</a:t>
            </a:r>
            <a:r>
              <a:rPr sz="2400" spc="-5" dirty="0">
                <a:latin typeface="Calibri"/>
                <a:cs typeface="Calibri"/>
              </a:rPr>
              <a:t>o</a:t>
            </a:r>
            <a:r>
              <a:rPr sz="2400" spc="-10" dirty="0">
                <a:latin typeface="Calibri"/>
                <a:cs typeface="Calibri"/>
              </a:rPr>
              <a:t>r</a:t>
            </a:r>
            <a:r>
              <a:rPr sz="2400" dirty="0">
                <a:latin typeface="Calibri"/>
                <a:cs typeface="Calibri"/>
              </a:rPr>
              <a:t> is sp</a:t>
            </a:r>
            <a:r>
              <a:rPr sz="2400" spc="-15" dirty="0">
                <a:latin typeface="Calibri"/>
                <a:cs typeface="Calibri"/>
              </a:rPr>
              <a:t>a</a:t>
            </a:r>
            <a:r>
              <a:rPr sz="2400" spc="-55" dirty="0">
                <a:latin typeface="Calibri"/>
                <a:cs typeface="Calibri"/>
              </a:rPr>
              <a:t>r</a:t>
            </a:r>
            <a:r>
              <a:rPr sz="2400" dirty="0">
                <a:latin typeface="Calibri"/>
                <a:cs typeface="Calibri"/>
              </a:rPr>
              <a:t>s</a:t>
            </a:r>
            <a:r>
              <a:rPr sz="2400" spc="-15" dirty="0">
                <a:latin typeface="Calibri"/>
                <a:cs typeface="Calibri"/>
              </a:rPr>
              <a:t>e</a:t>
            </a:r>
            <a:r>
              <a:rPr sz="2400" dirty="0">
                <a:latin typeface="Calibri"/>
                <a:cs typeface="Calibri"/>
              </a:rPr>
              <a:t> (i.</a:t>
            </a:r>
            <a:r>
              <a:rPr sz="2400" spc="-15" dirty="0">
                <a:latin typeface="Calibri"/>
                <a:cs typeface="Calibri"/>
              </a:rPr>
              <a:t>e</a:t>
            </a:r>
            <a:r>
              <a:rPr sz="2400" dirty="0">
                <a:latin typeface="Calibri"/>
                <a:cs typeface="Calibri"/>
              </a:rPr>
              <a:t>. </a:t>
            </a:r>
            <a:r>
              <a:rPr sz="2400" spc="-20" dirty="0">
                <a:latin typeface="Calibri"/>
                <a:cs typeface="Calibri"/>
              </a:rPr>
              <a:t>m</a:t>
            </a:r>
            <a:r>
              <a:rPr sz="2400" spc="-5" dirty="0">
                <a:latin typeface="Calibri"/>
                <a:cs typeface="Calibri"/>
              </a:rPr>
              <a:t>o</a:t>
            </a:r>
            <a:r>
              <a:rPr sz="2400" spc="-30" dirty="0">
                <a:latin typeface="Calibri"/>
                <a:cs typeface="Calibri"/>
              </a:rPr>
              <a:t>s</a:t>
            </a:r>
            <a:r>
              <a:rPr sz="2400" spc="-10" dirty="0">
                <a:latin typeface="Calibri"/>
                <a:cs typeface="Calibri"/>
              </a:rPr>
              <a:t>t</a:t>
            </a:r>
            <a:r>
              <a:rPr sz="2400" dirty="0">
                <a:latin typeface="Calibri"/>
                <a:cs typeface="Calibri"/>
              </a:rPr>
              <a:t> its </a:t>
            </a:r>
            <a:r>
              <a:rPr sz="2400" spc="-15" dirty="0">
                <a:latin typeface="Calibri"/>
                <a:cs typeface="Calibri"/>
              </a:rPr>
              <a:t>e</a:t>
            </a:r>
            <a:r>
              <a:rPr sz="2400" dirty="0">
                <a:latin typeface="Calibri"/>
                <a:cs typeface="Calibri"/>
              </a:rPr>
              <a:t>l</a:t>
            </a:r>
            <a:r>
              <a:rPr sz="2400" spc="-15" dirty="0">
                <a:latin typeface="Calibri"/>
                <a:cs typeface="Calibri"/>
              </a:rPr>
              <a:t>eme</a:t>
            </a:r>
            <a:r>
              <a:rPr sz="2400" spc="-25" dirty="0">
                <a:latin typeface="Calibri"/>
                <a:cs typeface="Calibri"/>
              </a:rPr>
              <a:t>n</a:t>
            </a:r>
            <a:r>
              <a:rPr sz="2400" dirty="0">
                <a:latin typeface="Calibri"/>
                <a:cs typeface="Calibri"/>
              </a:rPr>
              <a:t>ts </a:t>
            </a:r>
            <a:r>
              <a:rPr sz="2400" spc="-15" dirty="0">
                <a:latin typeface="Calibri"/>
                <a:cs typeface="Calibri"/>
              </a:rPr>
              <a:t>a</a:t>
            </a:r>
            <a:r>
              <a:rPr sz="2400" spc="-45" dirty="0">
                <a:latin typeface="Calibri"/>
                <a:cs typeface="Calibri"/>
              </a:rPr>
              <a:t>r</a:t>
            </a:r>
            <a:r>
              <a:rPr sz="2400" spc="-15" dirty="0">
                <a:latin typeface="Calibri"/>
                <a:cs typeface="Calibri"/>
              </a:rPr>
              <a:t>e</a:t>
            </a:r>
            <a:r>
              <a:rPr sz="2400" dirty="0">
                <a:latin typeface="Calibri"/>
                <a:cs typeface="Calibri"/>
              </a:rPr>
              <a:t> </a:t>
            </a:r>
            <a:r>
              <a:rPr sz="2400" spc="-55" dirty="0">
                <a:latin typeface="Calibri"/>
                <a:cs typeface="Calibri"/>
              </a:rPr>
              <a:t>z</a:t>
            </a:r>
            <a:r>
              <a:rPr sz="2400" spc="-15" dirty="0">
                <a:latin typeface="Calibri"/>
                <a:cs typeface="Calibri"/>
              </a:rPr>
              <a:t>e</a:t>
            </a:r>
            <a:r>
              <a:rPr sz="2400" spc="-50" dirty="0">
                <a:latin typeface="Calibri"/>
                <a:cs typeface="Calibri"/>
              </a:rPr>
              <a:t>r</a:t>
            </a:r>
            <a:r>
              <a:rPr sz="2400" spc="-5" dirty="0">
                <a:latin typeface="Calibri"/>
                <a:cs typeface="Calibri"/>
              </a:rPr>
              <a:t>o</a:t>
            </a:r>
            <a:r>
              <a:rPr sz="2400" dirty="0">
                <a:latin typeface="Calibri"/>
                <a:cs typeface="Calibri"/>
              </a:rPr>
              <a:t>) as is th</a:t>
            </a:r>
            <a:r>
              <a:rPr sz="2400" spc="-15" dirty="0">
                <a:latin typeface="Calibri"/>
                <a:cs typeface="Calibri"/>
              </a:rPr>
              <a:t>e</a:t>
            </a:r>
            <a:r>
              <a:rPr sz="2400" dirty="0">
                <a:latin typeface="Calibri"/>
                <a:cs typeface="Calibri"/>
              </a:rPr>
              <a:t> </a:t>
            </a:r>
            <a:r>
              <a:rPr sz="2400" spc="-35" dirty="0">
                <a:latin typeface="Calibri"/>
                <a:cs typeface="Calibri"/>
              </a:rPr>
              <a:t>c</a:t>
            </a:r>
            <a:r>
              <a:rPr sz="2400" dirty="0">
                <a:latin typeface="Calibri"/>
                <a:cs typeface="Calibri"/>
              </a:rPr>
              <a:t>as</a:t>
            </a:r>
            <a:r>
              <a:rPr sz="2400" spc="-10" dirty="0">
                <a:latin typeface="Calibri"/>
                <a:cs typeface="Calibri"/>
              </a:rPr>
              <a:t>e,</a:t>
            </a:r>
            <a:r>
              <a:rPr sz="2400" dirty="0">
                <a:latin typeface="Calibri"/>
                <a:cs typeface="Calibri"/>
              </a:rPr>
              <a:t> </a:t>
            </a:r>
            <a:r>
              <a:rPr sz="2400" spc="-55" dirty="0">
                <a:latin typeface="Calibri"/>
                <a:cs typeface="Calibri"/>
              </a:rPr>
              <a:t>f</a:t>
            </a:r>
            <a:r>
              <a:rPr sz="2400" spc="-5" dirty="0">
                <a:latin typeface="Calibri"/>
                <a:cs typeface="Calibri"/>
              </a:rPr>
              <a:t>o</a:t>
            </a:r>
            <a:r>
              <a:rPr sz="2400" spc="-10" dirty="0">
                <a:latin typeface="Calibri"/>
                <a:cs typeface="Calibri"/>
              </a:rPr>
              <a:t>r</a:t>
            </a:r>
            <a:r>
              <a:rPr sz="2400" dirty="0">
                <a:latin typeface="Calibri"/>
                <a:cs typeface="Calibri"/>
              </a:rPr>
              <a:t> </a:t>
            </a:r>
            <a:r>
              <a:rPr sz="2400" spc="-55" dirty="0">
                <a:latin typeface="Calibri"/>
                <a:cs typeface="Calibri"/>
              </a:rPr>
              <a:t>e</a:t>
            </a:r>
            <a:r>
              <a:rPr sz="2400" spc="-45" dirty="0">
                <a:latin typeface="Calibri"/>
                <a:cs typeface="Calibri"/>
              </a:rPr>
              <a:t>x</a:t>
            </a:r>
            <a:r>
              <a:rPr sz="2400" spc="-20" dirty="0">
                <a:latin typeface="Calibri"/>
                <a:cs typeface="Calibri"/>
              </a:rPr>
              <a:t>am</a:t>
            </a:r>
            <a:r>
              <a:rPr sz="2400" dirty="0">
                <a:latin typeface="Calibri"/>
                <a:cs typeface="Calibri"/>
              </a:rPr>
              <a:t>pl</a:t>
            </a:r>
            <a:r>
              <a:rPr sz="2400" spc="-10" dirty="0">
                <a:latin typeface="Calibri"/>
                <a:cs typeface="Calibri"/>
              </a:rPr>
              <a:t>e,</a:t>
            </a:r>
            <a:r>
              <a:rPr sz="2400" dirty="0">
                <a:latin typeface="Calibri"/>
                <a:cs typeface="Calibri"/>
              </a:rPr>
              <a:t> in </a:t>
            </a:r>
            <a:r>
              <a:rPr sz="2400" spc="-5" dirty="0">
                <a:latin typeface="Calibri"/>
                <a:cs typeface="Calibri"/>
              </a:rPr>
              <a:t>o</a:t>
            </a:r>
            <a:r>
              <a:rPr sz="2400" dirty="0">
                <a:latin typeface="Calibri"/>
                <a:cs typeface="Calibri"/>
              </a:rPr>
              <a:t>u</a:t>
            </a:r>
            <a:r>
              <a:rPr sz="2400" spc="-10" dirty="0">
                <a:latin typeface="Calibri"/>
                <a:cs typeface="Calibri"/>
              </a:rPr>
              <a:t>r</a:t>
            </a:r>
            <a:r>
              <a:rPr sz="2400" dirty="0">
                <a:latin typeface="Calibri"/>
                <a:cs typeface="Calibri"/>
              </a:rPr>
              <a:t> </a:t>
            </a:r>
            <a:r>
              <a:rPr sz="2400" spc="-10" dirty="0">
                <a:latin typeface="Calibri"/>
                <a:cs typeface="Calibri"/>
              </a:rPr>
              <a:t>gr</a:t>
            </a:r>
            <a:r>
              <a:rPr sz="2400" dirty="0">
                <a:latin typeface="Calibri"/>
                <a:cs typeface="Calibri"/>
              </a:rPr>
              <a:t>id </a:t>
            </a:r>
            <a:r>
              <a:rPr sz="2400" spc="-45" dirty="0">
                <a:latin typeface="Calibri"/>
                <a:cs typeface="Calibri"/>
              </a:rPr>
              <a:t>w</a:t>
            </a:r>
            <a:r>
              <a:rPr sz="2400" spc="-5" dirty="0">
                <a:latin typeface="Calibri"/>
                <a:cs typeface="Calibri"/>
              </a:rPr>
              <a:t>o</a:t>
            </a:r>
            <a:r>
              <a:rPr sz="2400" spc="-10" dirty="0">
                <a:latin typeface="Calibri"/>
                <a:cs typeface="Calibri"/>
              </a:rPr>
              <a:t>r</a:t>
            </a:r>
            <a:r>
              <a:rPr sz="2400" dirty="0">
                <a:latin typeface="Calibri"/>
                <a:cs typeface="Calibri"/>
              </a:rPr>
              <a:t>lds in th</a:t>
            </a:r>
            <a:r>
              <a:rPr sz="2400" spc="-15" dirty="0">
                <a:latin typeface="Calibri"/>
                <a:cs typeface="Calibri"/>
              </a:rPr>
              <a:t>e</a:t>
            </a:r>
            <a:r>
              <a:rPr sz="2400" spc="-10" dirty="0">
                <a:latin typeface="Calibri"/>
                <a:cs typeface="Calibri"/>
              </a:rPr>
              <a:t> </a:t>
            </a:r>
            <a:r>
              <a:rPr sz="2400" dirty="0">
                <a:latin typeface="Calibri"/>
                <a:cs typeface="Calibri"/>
              </a:rPr>
              <a:t>lab.</a:t>
            </a:r>
          </a:p>
        </p:txBody>
      </p:sp>
      <p:sp>
        <p:nvSpPr>
          <p:cNvPr id="5" name="object 5"/>
          <p:cNvSpPr/>
          <p:nvPr/>
        </p:nvSpPr>
        <p:spPr>
          <a:xfrm>
            <a:off x="901700" y="5600700"/>
            <a:ext cx="5803900" cy="495300"/>
          </a:xfrm>
          <a:prstGeom prst="rect">
            <a:avLst/>
          </a:prstGeom>
          <a:blipFill>
            <a:blip r:embed="rId3" cstate="print"/>
            <a:stretch>
              <a:fillRect/>
            </a:stretch>
          </a:blipFill>
        </p:spPr>
        <p:txBody>
          <a:bodyPr wrap="square" lIns="0" tIns="0" rIns="0" bIns="0" rtlCol="0"/>
          <a:lstStyle/>
          <a:p>
            <a:endParaRPr/>
          </a:p>
        </p:txBody>
      </p:sp>
      <p:sp>
        <p:nvSpPr>
          <p:cNvPr id="8" name="Rectangle 7">
            <a:extLst>
              <a:ext uri="{FF2B5EF4-FFF2-40B4-BE49-F238E27FC236}">
                <a16:creationId xmlns:a16="http://schemas.microsoft.com/office/drawing/2014/main" id="{60B89CBD-E9A0-358C-7AFC-8B79F10C12A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4E0257E-C4ED-67BA-22B6-8D432680F8C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D1CB4095-2925-6520-E9D1-6B2859E7B8A3}"/>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1" name="Slide Number Placeholder 10">
            <a:extLst>
              <a:ext uri="{FF2B5EF4-FFF2-40B4-BE49-F238E27FC236}">
                <a16:creationId xmlns:a16="http://schemas.microsoft.com/office/drawing/2014/main" id="{4CBE8F2E-DB30-7D34-8B90-40A2522651FC}"/>
              </a:ext>
            </a:extLst>
          </p:cNvPr>
          <p:cNvSpPr>
            <a:spLocks noGrp="1"/>
          </p:cNvSpPr>
          <p:nvPr>
            <p:ph type="sldNum" sz="quarter" idx="7"/>
          </p:nvPr>
        </p:nvSpPr>
        <p:spPr/>
        <p:txBody>
          <a:bodyPr/>
          <a:lstStyle/>
          <a:p>
            <a:pPr marL="25400"/>
            <a:fld id="{81D60167-4931-47E6-BA6A-407CBD079E47}" type="slidenum">
              <a:rPr lang="en-US" smtClean="0"/>
              <a:pPr marL="25400"/>
              <a:t>16</a:t>
            </a:fld>
            <a:r>
              <a:rPr lang="en-US"/>
              <a:t>/27</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End</a:t>
            </a:r>
            <a:r>
              <a:rPr spc="-15" dirty="0"/>
              <a:t>-t</a:t>
            </a:r>
            <a:r>
              <a:rPr dirty="0"/>
              <a:t>o-end</a:t>
            </a:r>
            <a:r>
              <a:rPr spc="-5" dirty="0"/>
              <a:t> </a:t>
            </a:r>
            <a:r>
              <a:rPr spc="-25" dirty="0"/>
              <a:t>S</a:t>
            </a:r>
            <a:r>
              <a:rPr spc="-15" dirty="0"/>
              <a:t>t</a:t>
            </a:r>
            <a:r>
              <a:rPr dirty="0"/>
              <a:t>a</a:t>
            </a:r>
            <a:r>
              <a:rPr spc="-15" dirty="0"/>
              <a:t>t</a:t>
            </a:r>
            <a:r>
              <a:rPr dirty="0"/>
              <a:t>e</a:t>
            </a:r>
            <a:r>
              <a:rPr spc="-5" dirty="0"/>
              <a:t> </a:t>
            </a:r>
            <a:r>
              <a:rPr dirty="0"/>
              <a:t>Spaces</a:t>
            </a:r>
          </a:p>
        </p:txBody>
      </p:sp>
      <p:sp>
        <p:nvSpPr>
          <p:cNvPr id="4" name="object 4"/>
          <p:cNvSpPr/>
          <p:nvPr/>
        </p:nvSpPr>
        <p:spPr>
          <a:xfrm>
            <a:off x="258856" y="1289469"/>
            <a:ext cx="5711699" cy="427906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55618" y="1886672"/>
            <a:ext cx="1270000" cy="6477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6249987" y="2667000"/>
            <a:ext cx="2620236" cy="3576267"/>
          </a:xfrm>
          <a:prstGeom prst="rect">
            <a:avLst/>
          </a:prstGeom>
          <a:blipFill>
            <a:blip r:embed="rId5" cstate="print"/>
            <a:stretch>
              <a:fillRect/>
            </a:stretch>
          </a:blipFill>
        </p:spPr>
        <p:txBody>
          <a:bodyPr wrap="square" lIns="0" tIns="0" rIns="0" bIns="0" rtlCol="0"/>
          <a:lstStyle/>
          <a:p>
            <a:endParaRPr/>
          </a:p>
        </p:txBody>
      </p:sp>
      <p:sp>
        <p:nvSpPr>
          <p:cNvPr id="9" name="Rectangle 8">
            <a:extLst>
              <a:ext uri="{FF2B5EF4-FFF2-40B4-BE49-F238E27FC236}">
                <a16:creationId xmlns:a16="http://schemas.microsoft.com/office/drawing/2014/main" id="{3EBE65CD-048E-1025-24BC-1C5F1B96D30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B73A04-2133-CE43-1A29-4CF5DCAE688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1" name="Rectangle 10">
            <a:extLst>
              <a:ext uri="{FF2B5EF4-FFF2-40B4-BE49-F238E27FC236}">
                <a16:creationId xmlns:a16="http://schemas.microsoft.com/office/drawing/2014/main" id="{39B5AC9A-0C2A-AE3D-3DBC-2D4C0CDE049B}"/>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2" name="Slide Number Placeholder 11">
            <a:extLst>
              <a:ext uri="{FF2B5EF4-FFF2-40B4-BE49-F238E27FC236}">
                <a16:creationId xmlns:a16="http://schemas.microsoft.com/office/drawing/2014/main" id="{D86ABF9B-B773-2F99-3FBC-3502C4AE1C91}"/>
              </a:ext>
            </a:extLst>
          </p:cNvPr>
          <p:cNvSpPr>
            <a:spLocks noGrp="1"/>
          </p:cNvSpPr>
          <p:nvPr>
            <p:ph type="sldNum" sz="quarter" idx="7"/>
          </p:nvPr>
        </p:nvSpPr>
        <p:spPr/>
        <p:txBody>
          <a:bodyPr/>
          <a:lstStyle/>
          <a:p>
            <a:pPr marL="25400"/>
            <a:fld id="{81D60167-4931-47E6-BA6A-407CBD079E47}" type="slidenum">
              <a:rPr lang="en-US" smtClean="0"/>
              <a:pPr marL="25400"/>
              <a:t>17</a:t>
            </a:fld>
            <a:r>
              <a:rPr lang="en-US"/>
              <a:t>/27</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7"/>
            <a:ext cx="9144000" cy="4799330"/>
          </a:xfrm>
          <a:custGeom>
            <a:avLst/>
            <a:gdLst/>
            <a:ahLst/>
            <a:cxnLst/>
            <a:rect l="l" t="t" r="r" b="b"/>
            <a:pathLst>
              <a:path w="9144000" h="4799330">
                <a:moveTo>
                  <a:pt x="0" y="4799110"/>
                </a:moveTo>
                <a:lnTo>
                  <a:pt x="9144000" y="4799110"/>
                </a:lnTo>
                <a:lnTo>
                  <a:pt x="9144000" y="0"/>
                </a:lnTo>
                <a:lnTo>
                  <a:pt x="0" y="0"/>
                </a:lnTo>
                <a:lnTo>
                  <a:pt x="0" y="479911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3354070"/>
          </a:xfrm>
          <a:custGeom>
            <a:avLst/>
            <a:gdLst/>
            <a:ahLst/>
            <a:cxnLst/>
            <a:rect l="l" t="t" r="r" b="b"/>
            <a:pathLst>
              <a:path w="3975100" h="3354070">
                <a:moveTo>
                  <a:pt x="0" y="3353826"/>
                </a:moveTo>
                <a:lnTo>
                  <a:pt x="3974667" y="3353826"/>
                </a:lnTo>
                <a:lnTo>
                  <a:pt x="3974667" y="0"/>
                </a:lnTo>
                <a:lnTo>
                  <a:pt x="0" y="0"/>
                </a:lnTo>
                <a:lnTo>
                  <a:pt x="0" y="3353826"/>
                </a:lnTo>
              </a:path>
            </a:pathLst>
          </a:custGeom>
          <a:solidFill>
            <a:srgbClr val="E7E7E7"/>
          </a:solidFill>
        </p:spPr>
        <p:txBody>
          <a:bodyPr wrap="square" lIns="0" tIns="0" rIns="0" bIns="0" rtlCol="0"/>
          <a:lstStyle/>
          <a:p>
            <a:endParaRPr/>
          </a:p>
        </p:txBody>
      </p:sp>
      <p:sp>
        <p:nvSpPr>
          <p:cNvPr id="5" name="object 5"/>
          <p:cNvSpPr/>
          <p:nvPr/>
        </p:nvSpPr>
        <p:spPr>
          <a:xfrm>
            <a:off x="0" y="6856275"/>
            <a:ext cx="3975100" cy="1905"/>
          </a:xfrm>
          <a:custGeom>
            <a:avLst/>
            <a:gdLst/>
            <a:ahLst/>
            <a:cxnLst/>
            <a:rect l="l" t="t" r="r" b="b"/>
            <a:pathLst>
              <a:path w="3975100" h="1904">
                <a:moveTo>
                  <a:pt x="0" y="1724"/>
                </a:moveTo>
                <a:lnTo>
                  <a:pt x="3974667" y="1724"/>
                </a:lnTo>
                <a:lnTo>
                  <a:pt x="3974667" y="0"/>
                </a:lnTo>
                <a:lnTo>
                  <a:pt x="0" y="0"/>
                </a:lnTo>
                <a:lnTo>
                  <a:pt x="0" y="1724"/>
                </a:lnTo>
              </a:path>
            </a:pathLst>
          </a:custGeom>
          <a:solidFill>
            <a:srgbClr val="E7E7E7"/>
          </a:solidFill>
        </p:spPr>
        <p:txBody>
          <a:bodyPr wrap="square" lIns="0" tIns="0" rIns="0" bIns="0" rtlCol="0"/>
          <a:lstStyle/>
          <a:p>
            <a:endParaRPr/>
          </a:p>
        </p:txBody>
      </p:sp>
      <p:sp>
        <p:nvSpPr>
          <p:cNvPr id="6" name="object 6"/>
          <p:cNvSpPr/>
          <p:nvPr/>
        </p:nvSpPr>
        <p:spPr>
          <a:xfrm>
            <a:off x="0" y="5818187"/>
            <a:ext cx="9144000" cy="103981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0" y="5830887"/>
            <a:ext cx="9144000" cy="1025525"/>
          </a:xfrm>
          <a:custGeom>
            <a:avLst/>
            <a:gdLst/>
            <a:ahLst/>
            <a:cxnLst/>
            <a:rect l="l" t="t" r="r" b="b"/>
            <a:pathLst>
              <a:path w="9144000" h="1025525">
                <a:moveTo>
                  <a:pt x="646" y="0"/>
                </a:moveTo>
                <a:lnTo>
                  <a:pt x="646" y="1025387"/>
                </a:lnTo>
                <a:lnTo>
                  <a:pt x="9144646" y="1025387"/>
                </a:lnTo>
                <a:lnTo>
                  <a:pt x="9144646" y="0"/>
                </a:lnTo>
                <a:lnTo>
                  <a:pt x="646" y="0"/>
                </a:lnTo>
              </a:path>
            </a:pathLst>
          </a:custGeom>
          <a:solidFill>
            <a:srgbClr val="000000"/>
          </a:solidFill>
        </p:spPr>
        <p:txBody>
          <a:bodyPr wrap="square" lIns="0" tIns="0" rIns="0" bIns="0" rtlCol="0"/>
          <a:lstStyle/>
          <a:p>
            <a:endParaRPr/>
          </a:p>
        </p:txBody>
      </p:sp>
      <p:sp>
        <p:nvSpPr>
          <p:cNvPr id="8" name="object 8"/>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9" name="object 9"/>
          <p:cNvSpPr txBox="1">
            <a:spLocks noGrp="1"/>
          </p:cNvSpPr>
          <p:nvPr>
            <p:ph type="title"/>
          </p:nvPr>
        </p:nvSpPr>
        <p:spPr>
          <a:prstGeom prst="rect">
            <a:avLst/>
          </a:prstGeom>
        </p:spPr>
        <p:txBody>
          <a:bodyPr vert="horz" wrap="square" lIns="0" tIns="0" rIns="0" bIns="0" rtlCol="0">
            <a:spAutoFit/>
          </a:bodyPr>
          <a:lstStyle/>
          <a:p>
            <a:pPr marL="311150">
              <a:lnSpc>
                <a:spcPct val="100000"/>
              </a:lnSpc>
            </a:pPr>
            <a:r>
              <a:rPr dirty="0"/>
              <a:t>Breakou</a:t>
            </a:r>
            <a:r>
              <a:rPr spc="-10" dirty="0"/>
              <a:t>t</a:t>
            </a:r>
            <a:r>
              <a:rPr spc="-5" dirty="0"/>
              <a:t> </a:t>
            </a:r>
            <a:r>
              <a:rPr dirty="0"/>
              <a:t>(DeepMind)</a:t>
            </a:r>
          </a:p>
        </p:txBody>
      </p:sp>
      <p:pic>
        <p:nvPicPr>
          <p:cNvPr id="15" name="Web Video" descr="Web Video">
            <a:extLst>
              <a:ext uri="{FF2B5EF4-FFF2-40B4-BE49-F238E27FC236}">
                <a16:creationId xmlns:a16="http://schemas.microsoft.com/office/drawing/2014/main" id="{9A93FDA1-7F39-387B-4E2D-A65E537D0ED0}"/>
              </a:ext>
            </a:extLst>
          </p:cNvPr>
          <p:cNvPicPr>
            <a:picLocks/>
          </p:cNvPicPr>
          <p:nvPr>
            <a:videoFile r:link="rId1"/>
          </p:nvPr>
        </p:nvPicPr>
        <p:blipFill>
          <a:blip r:embed="rId5"/>
          <a:stretch>
            <a:fillRect/>
          </a:stretch>
        </p:blipFill>
        <p:spPr>
          <a:xfrm>
            <a:off x="0" y="1143000"/>
            <a:ext cx="9144001" cy="5143500"/>
          </a:xfrm>
          <a:prstGeom prst="rect">
            <a:avLst/>
          </a:prstGeom>
        </p:spPr>
      </p:pic>
      <p:sp>
        <p:nvSpPr>
          <p:cNvPr id="16" name="TextBox 15">
            <a:extLst>
              <a:ext uri="{FF2B5EF4-FFF2-40B4-BE49-F238E27FC236}">
                <a16:creationId xmlns:a16="http://schemas.microsoft.com/office/drawing/2014/main" id="{C9F3CD73-CB4D-B290-6C2B-8B98EE5BC727}"/>
              </a:ext>
            </a:extLst>
          </p:cNvPr>
          <p:cNvSpPr txBox="1"/>
          <p:nvPr/>
        </p:nvSpPr>
        <p:spPr>
          <a:xfrm>
            <a:off x="12699" y="6238251"/>
            <a:ext cx="35814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dirty="0">
                <a:solidFill>
                  <a:schemeClr val="bg1"/>
                </a:solidFill>
              </a:rPr>
              <a:t>Paper:</a:t>
            </a:r>
            <a:r>
              <a:rPr lang="en-US" sz="1800" dirty="0"/>
              <a:t>:  </a:t>
            </a:r>
            <a:r>
              <a:rPr lang="en-US" sz="1800" dirty="0">
                <a:hlinkClick r:id="rId6"/>
              </a:rPr>
              <a:t>dqn.pdf (toronto.edu)</a:t>
            </a:r>
            <a:endParaRPr lang="en-US" sz="1800" dirty="0"/>
          </a:p>
          <a:p>
            <a:pPr algn="l"/>
            <a:r>
              <a:rPr lang="en-US" sz="1800" dirty="0">
                <a:solidFill>
                  <a:schemeClr val="bg1"/>
                </a:solidFill>
              </a:rPr>
              <a:t>Code:    </a:t>
            </a:r>
            <a:r>
              <a:rPr lang="en-US" sz="1800" dirty="0">
                <a:hlinkClick r:id="rId7"/>
              </a:rPr>
              <a:t>GitHub - </a:t>
            </a:r>
            <a:r>
              <a:rPr lang="en-US" sz="1800" dirty="0" err="1">
                <a:hlinkClick r:id="rId7"/>
              </a:rPr>
              <a:t>drVlasov</a:t>
            </a:r>
            <a:r>
              <a:rPr lang="en-US" sz="1800" dirty="0">
                <a:hlinkClick r:id="rId7"/>
              </a:rPr>
              <a:t>/Breakout</a:t>
            </a:r>
            <a:endParaRPr lang="en-US" sz="1800" dirty="0"/>
          </a:p>
        </p:txBody>
      </p:sp>
      <p:sp>
        <p:nvSpPr>
          <p:cNvPr id="17" name="TextBox 16">
            <a:extLst>
              <a:ext uri="{FF2B5EF4-FFF2-40B4-BE49-F238E27FC236}">
                <a16:creationId xmlns:a16="http://schemas.microsoft.com/office/drawing/2014/main" id="{5427E959-6737-9B31-3C68-A68407F98233}"/>
              </a:ext>
            </a:extLst>
          </p:cNvPr>
          <p:cNvSpPr txBox="1"/>
          <p:nvPr/>
        </p:nvSpPr>
        <p:spPr>
          <a:xfrm>
            <a:off x="4708792" y="6247152"/>
            <a:ext cx="466725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dirty="0">
                <a:solidFill>
                  <a:schemeClr val="bg1"/>
                </a:solidFill>
              </a:rPr>
              <a:t>Explained: </a:t>
            </a:r>
            <a:r>
              <a:rPr lang="en-US" sz="1800" dirty="0">
                <a:hlinkClick r:id="rId8"/>
              </a:rPr>
              <a:t>(265) Playing Atari Breakout with Deep Reinforcement Learning – YouTube</a:t>
            </a:r>
            <a:endParaRPr lang="en-US" sz="1800" dirty="0"/>
          </a:p>
        </p:txBody>
      </p:sp>
      <p:sp>
        <p:nvSpPr>
          <p:cNvPr id="18" name="Slide Number Placeholder 17">
            <a:extLst>
              <a:ext uri="{FF2B5EF4-FFF2-40B4-BE49-F238E27FC236}">
                <a16:creationId xmlns:a16="http://schemas.microsoft.com/office/drawing/2014/main" id="{1EE7104F-CF72-CB71-4209-F91537A58F9B}"/>
              </a:ext>
            </a:extLst>
          </p:cNvPr>
          <p:cNvSpPr>
            <a:spLocks noGrp="1"/>
          </p:cNvSpPr>
          <p:nvPr>
            <p:ph type="sldNum" sz="quarter" idx="7"/>
          </p:nvPr>
        </p:nvSpPr>
        <p:spPr/>
        <p:txBody>
          <a:bodyPr/>
          <a:lstStyle/>
          <a:p>
            <a:pPr marL="25400"/>
            <a:fld id="{81D60167-4931-47E6-BA6A-407CBD079E47}" type="slidenum">
              <a:rPr lang="en-US" smtClean="0"/>
              <a:pPr marL="25400"/>
              <a:t>18</a:t>
            </a:fld>
            <a:r>
              <a:rPr lang="en-US"/>
              <a:t>/27</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5"/>
                                        </p:tgtEl>
                                      </p:cBhvr>
                                    </p:cmd>
                                  </p:childTnLst>
                                </p:cTn>
                              </p:par>
                            </p:childTnLst>
                          </p:cTn>
                        </p:par>
                      </p:childTnLst>
                    </p:cTn>
                  </p:par>
                </p:childTnLst>
              </p:cTn>
              <p:nextCondLst>
                <p:cond evt="onClick" delay="0">
                  <p:tgtEl>
                    <p:spTgt spid="15"/>
                  </p:tgtEl>
                </p:cond>
              </p:nextCondLst>
            </p:seq>
            <p:video>
              <p:cMediaNode vol="80000">
                <p:cTn id="12" fill="hold" display="0">
                  <p:stCondLst>
                    <p:cond delay="indefinite"/>
                  </p:stCondLst>
                </p:cTn>
                <p:tgtEl>
                  <p:spTgt spid="15"/>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15" dirty="0"/>
              <a:t>I</a:t>
            </a:r>
            <a:r>
              <a:rPr dirty="0"/>
              <a:t>mage</a:t>
            </a:r>
            <a:r>
              <a:rPr spc="-5" dirty="0"/>
              <a:t> </a:t>
            </a:r>
            <a:r>
              <a:rPr spc="-25" dirty="0"/>
              <a:t>F</a:t>
            </a:r>
            <a:r>
              <a:rPr dirty="0"/>
              <a:t>ea</a:t>
            </a:r>
            <a:r>
              <a:rPr spc="-15" dirty="0"/>
              <a:t>t</a:t>
            </a:r>
            <a:r>
              <a:rPr dirty="0"/>
              <a:t>ure</a:t>
            </a:r>
            <a:r>
              <a:rPr spc="-5" dirty="0"/>
              <a:t> </a:t>
            </a:r>
            <a:r>
              <a:rPr spc="-204" dirty="0"/>
              <a:t>V</a:t>
            </a:r>
            <a:r>
              <a:rPr dirty="0"/>
              <a:t>e</a:t>
            </a:r>
            <a:r>
              <a:rPr spc="-20" dirty="0"/>
              <a:t>c</a:t>
            </a:r>
            <a:r>
              <a:rPr spc="-15" dirty="0"/>
              <a:t>t</a:t>
            </a:r>
            <a:r>
              <a:rPr dirty="0"/>
              <a:t>ors</a:t>
            </a:r>
          </a:p>
        </p:txBody>
      </p:sp>
      <p:sp>
        <p:nvSpPr>
          <p:cNvPr id="5" name="object 5"/>
          <p:cNvSpPr/>
          <p:nvPr/>
        </p:nvSpPr>
        <p:spPr>
          <a:xfrm>
            <a:off x="2617459" y="3846838"/>
            <a:ext cx="1304925" cy="0"/>
          </a:xfrm>
          <a:custGeom>
            <a:avLst/>
            <a:gdLst/>
            <a:ahLst/>
            <a:cxnLst/>
            <a:rect l="l" t="t" r="r" b="b"/>
            <a:pathLst>
              <a:path w="1304925">
                <a:moveTo>
                  <a:pt x="0" y="0"/>
                </a:moveTo>
                <a:lnTo>
                  <a:pt x="1285325" y="0"/>
                </a:lnTo>
                <a:lnTo>
                  <a:pt x="1304375" y="0"/>
                </a:lnTo>
              </a:path>
            </a:pathLst>
          </a:custGeom>
          <a:ln w="38100">
            <a:solidFill>
              <a:srgbClr val="FF0000"/>
            </a:solidFill>
          </a:ln>
        </p:spPr>
        <p:txBody>
          <a:bodyPr wrap="square" lIns="0" tIns="0" rIns="0" bIns="0" rtlCol="0"/>
          <a:lstStyle/>
          <a:p>
            <a:endParaRPr/>
          </a:p>
        </p:txBody>
      </p:sp>
      <p:sp>
        <p:nvSpPr>
          <p:cNvPr id="6" name="object 6"/>
          <p:cNvSpPr/>
          <p:nvPr/>
        </p:nvSpPr>
        <p:spPr>
          <a:xfrm>
            <a:off x="3926067" y="3786767"/>
            <a:ext cx="120650" cy="120650"/>
          </a:xfrm>
          <a:custGeom>
            <a:avLst/>
            <a:gdLst/>
            <a:ahLst/>
            <a:cxnLst/>
            <a:rect l="l" t="t" r="r" b="b"/>
            <a:pathLst>
              <a:path w="120650" h="120650">
                <a:moveTo>
                  <a:pt x="0" y="0"/>
                </a:moveTo>
                <a:lnTo>
                  <a:pt x="0" y="120141"/>
                </a:lnTo>
                <a:lnTo>
                  <a:pt x="120141" y="60070"/>
                </a:lnTo>
                <a:lnTo>
                  <a:pt x="0" y="0"/>
                </a:lnTo>
                <a:close/>
              </a:path>
            </a:pathLst>
          </a:custGeom>
          <a:solidFill>
            <a:srgbClr val="FF0000"/>
          </a:solidFill>
        </p:spPr>
        <p:txBody>
          <a:bodyPr wrap="square" lIns="0" tIns="0" rIns="0" bIns="0" rtlCol="0"/>
          <a:lstStyle/>
          <a:p>
            <a:endParaRPr/>
          </a:p>
        </p:txBody>
      </p:sp>
      <p:sp>
        <p:nvSpPr>
          <p:cNvPr id="7" name="object 7"/>
          <p:cNvSpPr/>
          <p:nvPr/>
        </p:nvSpPr>
        <p:spPr>
          <a:xfrm>
            <a:off x="620753" y="1611639"/>
            <a:ext cx="1663700" cy="4470400"/>
          </a:xfrm>
          <a:prstGeom prst="rect">
            <a:avLst/>
          </a:prstGeom>
          <a:blipFill>
            <a:blip r:embed="rId3" cstate="print"/>
            <a:stretch>
              <a:fillRect/>
            </a:stretch>
          </a:blipFill>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214077667"/>
              </p:ext>
            </p:extLst>
          </p:nvPr>
        </p:nvGraphicFramePr>
        <p:xfrm>
          <a:off x="4519612" y="2411412"/>
          <a:ext cx="3717581" cy="2691925"/>
        </p:xfrm>
        <a:graphic>
          <a:graphicData uri="http://schemas.openxmlformats.org/drawingml/2006/table">
            <a:tbl>
              <a:tblPr firstRow="1" bandRow="1">
                <a:tableStyleId>{2D5ABB26-0587-4C30-8999-92F81FD0307C}</a:tableStyleId>
              </a:tblPr>
              <a:tblGrid>
                <a:gridCol w="1239194">
                  <a:extLst>
                    <a:ext uri="{9D8B030D-6E8A-4147-A177-3AD203B41FA5}">
                      <a16:colId xmlns:a16="http://schemas.microsoft.com/office/drawing/2014/main" val="20000"/>
                    </a:ext>
                  </a:extLst>
                </a:gridCol>
                <a:gridCol w="1239194">
                  <a:extLst>
                    <a:ext uri="{9D8B030D-6E8A-4147-A177-3AD203B41FA5}">
                      <a16:colId xmlns:a16="http://schemas.microsoft.com/office/drawing/2014/main" val="20001"/>
                    </a:ext>
                  </a:extLst>
                </a:gridCol>
                <a:gridCol w="1239193">
                  <a:extLst>
                    <a:ext uri="{9D8B030D-6E8A-4147-A177-3AD203B41FA5}">
                      <a16:colId xmlns:a16="http://schemas.microsoft.com/office/drawing/2014/main" val="20002"/>
                    </a:ext>
                  </a:extLst>
                </a:gridCol>
              </a:tblGrid>
              <a:tr h="365760">
                <a:tc>
                  <a:txBody>
                    <a:bodyPr/>
                    <a:lstStyle/>
                    <a:p>
                      <a:pPr algn="ctr">
                        <a:lnSpc>
                          <a:spcPct val="100000"/>
                        </a:lnSpc>
                      </a:pPr>
                      <a:r>
                        <a:rPr sz="1800" b="1" dirty="0">
                          <a:solidFill>
                            <a:srgbClr val="FF0000"/>
                          </a:solidFill>
                          <a:latin typeface="Calibri"/>
                          <a:cs typeface="Calibri"/>
                        </a:rPr>
                        <a:t>RED</a:t>
                      </a:r>
                      <a:endParaRPr sz="18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294005">
                        <a:lnSpc>
                          <a:spcPct val="100000"/>
                        </a:lnSpc>
                      </a:pPr>
                      <a:r>
                        <a:rPr sz="1800" b="1" dirty="0">
                          <a:solidFill>
                            <a:srgbClr val="92D050"/>
                          </a:solidFill>
                          <a:latin typeface="Calibri"/>
                          <a:cs typeface="Calibri"/>
                        </a:rPr>
                        <a:t>GREEN</a:t>
                      </a:r>
                      <a:endParaRPr sz="1800" dirty="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377825">
                        <a:lnSpc>
                          <a:spcPct val="100000"/>
                        </a:lnSpc>
                      </a:pPr>
                      <a:r>
                        <a:rPr sz="1800" b="1" dirty="0">
                          <a:solidFill>
                            <a:srgbClr val="00B0F0"/>
                          </a:solidFill>
                          <a:latin typeface="Calibri"/>
                          <a:cs typeface="Calibri"/>
                        </a:rPr>
                        <a:t>B</a:t>
                      </a:r>
                      <a:r>
                        <a:rPr sz="1800" b="1" spc="-45" dirty="0">
                          <a:solidFill>
                            <a:srgbClr val="00B0F0"/>
                          </a:solidFill>
                          <a:latin typeface="Calibri"/>
                          <a:cs typeface="Calibri"/>
                        </a:rPr>
                        <a:t>L</a:t>
                      </a:r>
                      <a:r>
                        <a:rPr sz="1800" b="1" spc="-5" dirty="0">
                          <a:solidFill>
                            <a:srgbClr val="00B0F0"/>
                          </a:solidFill>
                          <a:latin typeface="Calibri"/>
                          <a:cs typeface="Calibri"/>
                        </a:rPr>
                        <a:t>UE</a:t>
                      </a:r>
                      <a:endParaRPr sz="1800" dirty="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extLst>
                  <a:ext uri="{0D108BD9-81ED-4DB2-BD59-A6C34878D82A}">
                    <a16:rowId xmlns:a16="http://schemas.microsoft.com/office/drawing/2014/main" val="10000"/>
                  </a:ext>
                </a:extLst>
              </a:tr>
              <a:tr h="329106">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085">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extLst>
                  <a:ext uri="{0D108BD9-81ED-4DB2-BD59-A6C34878D82A}">
                    <a16:rowId xmlns:a16="http://schemas.microsoft.com/office/drawing/2014/main" val="10001"/>
                  </a:ext>
                </a:extLst>
              </a:tr>
              <a:tr h="336581">
                <a:tc>
                  <a:txBody>
                    <a:bodyPr/>
                    <a:lstStyle/>
                    <a:p>
                      <a:pPr marL="45720">
                        <a:lnSpc>
                          <a:spcPct val="100000"/>
                        </a:lnSpc>
                      </a:pPr>
                      <a:r>
                        <a:rPr sz="1400" dirty="0">
                          <a:latin typeface="Calibri"/>
                          <a:cs typeface="Calibri"/>
                        </a:rPr>
                        <a:t>255</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085">
                        <a:lnSpc>
                          <a:spcPct val="100000"/>
                        </a:lnSpc>
                      </a:pPr>
                      <a:r>
                        <a:rPr sz="1400" dirty="0">
                          <a:latin typeface="Calibri"/>
                          <a:cs typeface="Calibri"/>
                        </a:rPr>
                        <a:t>255</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720">
                        <a:lnSpc>
                          <a:spcPct val="100000"/>
                        </a:lnSpc>
                      </a:pPr>
                      <a:r>
                        <a:rPr sz="1400" dirty="0">
                          <a:latin typeface="Calibri"/>
                          <a:cs typeface="Calibri"/>
                        </a:rPr>
                        <a:t>255</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extLst>
                  <a:ext uri="{0D108BD9-81ED-4DB2-BD59-A6C34878D82A}">
                    <a16:rowId xmlns:a16="http://schemas.microsoft.com/office/drawing/2014/main" val="10002"/>
                  </a:ext>
                </a:extLst>
              </a:tr>
              <a:tr h="329105">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085">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extLst>
                  <a:ext uri="{0D108BD9-81ED-4DB2-BD59-A6C34878D82A}">
                    <a16:rowId xmlns:a16="http://schemas.microsoft.com/office/drawing/2014/main" val="10003"/>
                  </a:ext>
                </a:extLst>
              </a:tr>
              <a:tr h="336581">
                <a:tc>
                  <a:txBody>
                    <a:bodyPr/>
                    <a:lstStyle/>
                    <a:p>
                      <a:pPr marL="45720">
                        <a:lnSpc>
                          <a:spcPct val="100000"/>
                        </a:lnSpc>
                      </a:pPr>
                      <a:r>
                        <a:rPr sz="1400" dirty="0">
                          <a:latin typeface="Calibri"/>
                          <a:cs typeface="Calibri"/>
                        </a:rPr>
                        <a:t>210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085">
                        <a:lnSpc>
                          <a:spcPct val="100000"/>
                        </a:lnSpc>
                      </a:pPr>
                      <a:r>
                        <a:rPr sz="1400" dirty="0">
                          <a:latin typeface="Calibri"/>
                          <a:cs typeface="Calibri"/>
                        </a:rPr>
                        <a:t>210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extLst>
                  <a:ext uri="{0D108BD9-81ED-4DB2-BD59-A6C34878D82A}">
                    <a16:rowId xmlns:a16="http://schemas.microsoft.com/office/drawing/2014/main" val="10004"/>
                  </a:ext>
                </a:extLst>
              </a:tr>
              <a:tr h="329105">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085">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extLst>
                  <a:ext uri="{0D108BD9-81ED-4DB2-BD59-A6C34878D82A}">
                    <a16:rowId xmlns:a16="http://schemas.microsoft.com/office/drawing/2014/main" val="10005"/>
                  </a:ext>
                </a:extLst>
              </a:tr>
              <a:tr h="336581">
                <a:tc>
                  <a:txBody>
                    <a:bodyPr/>
                    <a:lstStyle/>
                    <a:p>
                      <a:pPr marL="45720">
                        <a:lnSpc>
                          <a:spcPct val="100000"/>
                        </a:lnSpc>
                      </a:pPr>
                      <a:r>
                        <a:rPr sz="1400" dirty="0">
                          <a:latin typeface="Calibri"/>
                          <a:cs typeface="Calibri"/>
                        </a:rPr>
                        <a:t>210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085">
                        <a:lnSpc>
                          <a:spcPct val="100000"/>
                        </a:lnSpc>
                      </a:pPr>
                      <a:r>
                        <a:rPr sz="1400" dirty="0">
                          <a:latin typeface="Calibri"/>
                          <a:cs typeface="Calibri"/>
                        </a:rPr>
                        <a:t>210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E6E6E6"/>
                    </a:solidFill>
                  </a:tcPr>
                </a:tc>
                <a:extLst>
                  <a:ext uri="{0D108BD9-81ED-4DB2-BD59-A6C34878D82A}">
                    <a16:rowId xmlns:a16="http://schemas.microsoft.com/office/drawing/2014/main" val="10006"/>
                  </a:ext>
                </a:extLst>
              </a:tr>
              <a:tr h="329106">
                <a:tc>
                  <a:txBody>
                    <a:bodyPr/>
                    <a:lstStyle/>
                    <a:p>
                      <a:pPr marL="45720">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085">
                        <a:lnSpc>
                          <a:spcPct val="100000"/>
                        </a:lnSpc>
                      </a:pPr>
                      <a:r>
                        <a:rPr sz="1400" dirty="0">
                          <a:latin typeface="Calibri"/>
                          <a:cs typeface="Calibri"/>
                        </a:rPr>
                        <a:t>0</a:t>
                      </a:r>
                      <a:endParaRPr sz="1400">
                        <a:latin typeface="Calibri"/>
                        <a:cs typeface="Calibri"/>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tc>
                  <a:txBody>
                    <a:bodyPr/>
                    <a:lstStyle/>
                    <a:p>
                      <a:pPr marL="45720">
                        <a:lnSpc>
                          <a:spcPct val="100000"/>
                        </a:lnSpc>
                      </a:pPr>
                      <a:r>
                        <a:rPr sz="1400" dirty="0">
                          <a:latin typeface="Calibri"/>
                          <a:cs typeface="Calibri"/>
                        </a:rPr>
                        <a:t>0</a:t>
                      </a: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CACACA"/>
                    </a:solidFill>
                  </a:tcPr>
                </a:tc>
                <a:extLst>
                  <a:ext uri="{0D108BD9-81ED-4DB2-BD59-A6C34878D82A}">
                    <a16:rowId xmlns:a16="http://schemas.microsoft.com/office/drawing/2014/main" val="10007"/>
                  </a:ext>
                </a:extLst>
              </a:tr>
            </a:tbl>
          </a:graphicData>
        </a:graphic>
      </p:graphicFrame>
      <p:sp>
        <p:nvSpPr>
          <p:cNvPr id="10" name="Rectangle 9">
            <a:extLst>
              <a:ext uri="{FF2B5EF4-FFF2-40B4-BE49-F238E27FC236}">
                <a16:creationId xmlns:a16="http://schemas.microsoft.com/office/drawing/2014/main" id="{F3CCF725-FB5E-65DD-C9D9-A4D60080E0A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995C67-512F-80D6-F418-879DDCB7731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2" name="Rectangle 11">
            <a:extLst>
              <a:ext uri="{FF2B5EF4-FFF2-40B4-BE49-F238E27FC236}">
                <a16:creationId xmlns:a16="http://schemas.microsoft.com/office/drawing/2014/main" id="{75B7B019-E675-E8AE-AF20-8B38731D1946}"/>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3" name="Slide Number Placeholder 12">
            <a:extLst>
              <a:ext uri="{FF2B5EF4-FFF2-40B4-BE49-F238E27FC236}">
                <a16:creationId xmlns:a16="http://schemas.microsoft.com/office/drawing/2014/main" id="{54EB4A09-8480-515A-A4E5-ED5D4F123EB3}"/>
              </a:ext>
            </a:extLst>
          </p:cNvPr>
          <p:cNvSpPr>
            <a:spLocks noGrp="1"/>
          </p:cNvSpPr>
          <p:nvPr>
            <p:ph type="sldNum" sz="quarter" idx="7"/>
          </p:nvPr>
        </p:nvSpPr>
        <p:spPr/>
        <p:txBody>
          <a:bodyPr/>
          <a:lstStyle/>
          <a:p>
            <a:pPr marL="25400"/>
            <a:fld id="{81D60167-4931-47E6-BA6A-407CBD079E47}" type="slidenum">
              <a:rPr lang="en-US" smtClean="0"/>
              <a:pPr marL="25400"/>
              <a:t>19</a:t>
            </a:fld>
            <a:r>
              <a:rPr lang="en-US"/>
              <a:t>/27</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25" dirty="0"/>
              <a:t>S</a:t>
            </a:r>
            <a:r>
              <a:rPr spc="-15" dirty="0"/>
              <a:t>t</a:t>
            </a:r>
            <a:r>
              <a:rPr dirty="0"/>
              <a:t>a</a:t>
            </a:r>
            <a:r>
              <a:rPr spc="-15" dirty="0"/>
              <a:t>t</a:t>
            </a:r>
            <a:r>
              <a:rPr dirty="0"/>
              <a:t>e</a:t>
            </a:r>
            <a:r>
              <a:rPr spc="-5" dirty="0"/>
              <a:t> </a:t>
            </a:r>
            <a:r>
              <a:rPr dirty="0"/>
              <a:t>space</a:t>
            </a:r>
            <a:r>
              <a:rPr spc="-5" dirty="0"/>
              <a:t> </a:t>
            </a:r>
            <a:r>
              <a:rPr spc="-15" dirty="0"/>
              <a:t>f</a:t>
            </a:r>
            <a:r>
              <a:rPr dirty="0"/>
              <a:t>or</a:t>
            </a:r>
            <a:r>
              <a:rPr spc="-180" dirty="0"/>
              <a:t> </a:t>
            </a:r>
            <a:r>
              <a:rPr spc="-25" dirty="0"/>
              <a:t>A</a:t>
            </a:r>
            <a:r>
              <a:rPr spc="-15" dirty="0"/>
              <a:t>t</a:t>
            </a:r>
            <a:r>
              <a:rPr dirty="0"/>
              <a:t>ari</a:t>
            </a:r>
            <a:r>
              <a:rPr spc="-5" dirty="0"/>
              <a:t> </a:t>
            </a:r>
            <a:r>
              <a:rPr spc="-30" dirty="0"/>
              <a:t>G</a:t>
            </a:r>
            <a:r>
              <a:rPr dirty="0"/>
              <a:t>ames</a:t>
            </a:r>
          </a:p>
        </p:txBody>
      </p:sp>
      <mc:AlternateContent xmlns:mc="http://schemas.openxmlformats.org/markup-compatibility/2006" xmlns:a14="http://schemas.microsoft.com/office/drawing/2010/main">
        <mc:Choice Requires="a14">
          <p:sp>
            <p:nvSpPr>
              <p:cNvPr id="4" name="object 4"/>
              <p:cNvSpPr txBox="1"/>
              <p:nvPr/>
            </p:nvSpPr>
            <p:spPr>
              <a:xfrm>
                <a:off x="650240" y="1752600"/>
                <a:ext cx="7655560" cy="2232278"/>
              </a:xfrm>
              <a:prstGeom prst="rect">
                <a:avLst/>
              </a:prstGeom>
            </p:spPr>
            <p:txBody>
              <a:bodyPr vert="horz" wrap="square" lIns="0" tIns="0" rIns="0" bIns="0" rtlCol="0">
                <a:spAutoFit/>
              </a:bodyPr>
              <a:lstStyle/>
              <a:p>
                <a:pPr marL="241300" indent="-228600">
                  <a:lnSpc>
                    <a:spcPct val="100000"/>
                  </a:lnSpc>
                  <a:spcBef>
                    <a:spcPts val="600"/>
                  </a:spcBef>
                  <a:spcAft>
                    <a:spcPts val="600"/>
                  </a:spcAft>
                  <a:buFont typeface="Arial"/>
                  <a:buChar char="•"/>
                  <a:tabLst>
                    <a:tab pos="241300" algn="l"/>
                  </a:tabLst>
                </a:pPr>
                <a:r>
                  <a:rPr lang="en-US" sz="3200" spc="-130" dirty="0">
                    <a:latin typeface="Calibri"/>
                    <a:cs typeface="Calibri"/>
                  </a:rPr>
                  <a:t>W</a:t>
                </a:r>
                <a:r>
                  <a:rPr lang="en-US" sz="3200" spc="-15" dirty="0">
                    <a:latin typeface="Calibri"/>
                    <a:cs typeface="Calibri"/>
                  </a:rPr>
                  <a:t>e</a:t>
                </a:r>
                <a:r>
                  <a:rPr lang="en-US" sz="3200" dirty="0">
                    <a:latin typeface="Calibri"/>
                    <a:cs typeface="Calibri"/>
                  </a:rPr>
                  <a:t> </a:t>
                </a:r>
                <a:r>
                  <a:rPr lang="en-US" sz="3200" spc="-40" dirty="0">
                    <a:latin typeface="Calibri"/>
                    <a:cs typeface="Calibri"/>
                  </a:rPr>
                  <a:t>c</a:t>
                </a:r>
                <a:r>
                  <a:rPr lang="en-US" sz="3200" spc="-5" dirty="0">
                    <a:latin typeface="Calibri"/>
                    <a:cs typeface="Calibri"/>
                  </a:rPr>
                  <a:t>o</a:t>
                </a:r>
                <a:r>
                  <a:rPr lang="en-US" sz="3200" dirty="0">
                    <a:latin typeface="Calibri"/>
                    <a:cs typeface="Calibri"/>
                  </a:rPr>
                  <a:t>uld us</a:t>
                </a:r>
                <a:r>
                  <a:rPr lang="en-US" sz="3200" spc="-15" dirty="0">
                    <a:latin typeface="Calibri"/>
                    <a:cs typeface="Calibri"/>
                  </a:rPr>
                  <a:t>e</a:t>
                </a:r>
                <a:r>
                  <a:rPr lang="en-US" sz="3200" dirty="0">
                    <a:latin typeface="Calibri"/>
                    <a:cs typeface="Calibri"/>
                  </a:rPr>
                  <a:t> th</a:t>
                </a:r>
                <a:r>
                  <a:rPr lang="en-US" sz="3200" spc="-15" dirty="0">
                    <a:latin typeface="Calibri"/>
                    <a:cs typeface="Calibri"/>
                  </a:rPr>
                  <a:t>e</a:t>
                </a:r>
                <a:r>
                  <a:rPr lang="en-US" sz="3200" dirty="0">
                    <a:latin typeface="Calibri"/>
                    <a:cs typeface="Calibri"/>
                  </a:rPr>
                  <a:t> i</a:t>
                </a:r>
                <a:r>
                  <a:rPr lang="en-US" sz="3200" spc="-20" dirty="0">
                    <a:latin typeface="Calibri"/>
                    <a:cs typeface="Calibri"/>
                  </a:rPr>
                  <a:t>ma</a:t>
                </a:r>
                <a:r>
                  <a:rPr lang="en-US" sz="3200" spc="-40" dirty="0">
                    <a:latin typeface="Calibri"/>
                    <a:cs typeface="Calibri"/>
                  </a:rPr>
                  <a:t>g</a:t>
                </a:r>
                <a:r>
                  <a:rPr lang="en-US" sz="3200" spc="-15" dirty="0">
                    <a:latin typeface="Calibri"/>
                    <a:cs typeface="Calibri"/>
                  </a:rPr>
                  <a:t>e</a:t>
                </a:r>
                <a:r>
                  <a:rPr lang="en-US" sz="3200" dirty="0">
                    <a:latin typeface="Calibri"/>
                    <a:cs typeface="Calibri"/>
                  </a:rPr>
                  <a:t> pi</a:t>
                </a:r>
                <a:r>
                  <a:rPr lang="en-US" sz="3200" spc="-75" dirty="0">
                    <a:latin typeface="Calibri"/>
                    <a:cs typeface="Calibri"/>
                  </a:rPr>
                  <a:t>x</a:t>
                </a:r>
                <a:r>
                  <a:rPr lang="en-US" sz="3200" spc="-15" dirty="0">
                    <a:latin typeface="Calibri"/>
                    <a:cs typeface="Calibri"/>
                  </a:rPr>
                  <a:t>e</a:t>
                </a:r>
                <a:r>
                  <a:rPr lang="en-US" sz="3200" dirty="0">
                    <a:latin typeface="Calibri"/>
                    <a:cs typeface="Calibri"/>
                  </a:rPr>
                  <a:t>l </a:t>
                </a:r>
                <a:r>
                  <a:rPr lang="en-US" sz="3200" spc="-60" dirty="0">
                    <a:latin typeface="Calibri"/>
                    <a:cs typeface="Calibri"/>
                  </a:rPr>
                  <a:t>v</a:t>
                </a:r>
                <a:r>
                  <a:rPr lang="en-US" sz="3200" dirty="0">
                    <a:latin typeface="Calibri"/>
                    <a:cs typeface="Calibri"/>
                  </a:rPr>
                  <a:t>alu</a:t>
                </a:r>
                <a:r>
                  <a:rPr lang="en-US" sz="3200" spc="-15" dirty="0">
                    <a:latin typeface="Calibri"/>
                    <a:cs typeface="Calibri"/>
                  </a:rPr>
                  <a:t>e</a:t>
                </a:r>
                <a:r>
                  <a:rPr lang="en-US" sz="3200" dirty="0">
                    <a:latin typeface="Calibri"/>
                    <a:cs typeface="Calibri"/>
                  </a:rPr>
                  <a:t>s di</a:t>
                </a:r>
                <a:r>
                  <a:rPr lang="en-US" sz="3200" spc="-50" dirty="0">
                    <a:latin typeface="Calibri"/>
                    <a:cs typeface="Calibri"/>
                  </a:rPr>
                  <a:t>r</a:t>
                </a:r>
                <a:r>
                  <a:rPr lang="en-US" sz="3200" spc="-15" dirty="0">
                    <a:latin typeface="Calibri"/>
                    <a:cs typeface="Calibri"/>
                  </a:rPr>
                  <a:t>ec</a:t>
                </a:r>
                <a:r>
                  <a:rPr lang="en-US" sz="3200" dirty="0">
                    <a:latin typeface="Calibri"/>
                    <a:cs typeface="Calibri"/>
                  </a:rPr>
                  <a:t>tl</a:t>
                </a:r>
                <a:r>
                  <a:rPr lang="en-US" sz="3200" spc="-215" dirty="0">
                    <a:latin typeface="Calibri"/>
                    <a:cs typeface="Calibri"/>
                  </a:rPr>
                  <a:t>y</a:t>
                </a:r>
                <a:r>
                  <a:rPr lang="en-US" sz="3200" spc="-10" dirty="0">
                    <a:latin typeface="Calibri"/>
                    <a:cs typeface="Calibri"/>
                  </a:rPr>
                  <a:t>,</a:t>
                </a:r>
              </a:p>
              <a:p>
                <a:pPr marL="914400" indent="-228600">
                  <a:lnSpc>
                    <a:spcPct val="100000"/>
                  </a:lnSpc>
                  <a:spcBef>
                    <a:spcPts val="600"/>
                  </a:spcBef>
                  <a:spcAft>
                    <a:spcPts val="600"/>
                  </a:spcAft>
                  <a:buFont typeface="Arial"/>
                  <a:buChar char="•"/>
                  <a:tabLst>
                    <a:tab pos="625475" algn="l"/>
                  </a:tabLst>
                </a:pPr>
                <a:r>
                  <a:rPr lang="en-US" sz="2800" spc="-10" dirty="0">
                    <a:latin typeface="Calibri"/>
                    <a:cs typeface="Calibri"/>
                  </a:rPr>
                  <a:t>Vector </a:t>
                </a:r>
                <a14:m>
                  <m:oMath xmlns:m="http://schemas.openxmlformats.org/officeDocument/2006/math">
                    <m:d>
                      <m:dPr>
                        <m:ctrlPr>
                          <a:rPr lang="en-US" sz="2800" b="0" i="1" spc="-10" smtClean="0">
                            <a:latin typeface="Cambria Math" panose="02040503050406030204" pitchFamily="18" charset="0"/>
                            <a:cs typeface="Calibri"/>
                          </a:rPr>
                        </m:ctrlPr>
                      </m:dPr>
                      <m:e>
                        <m:sSubSup>
                          <m:sSubSupPr>
                            <m:ctrlPr>
                              <a:rPr lang="en-US" sz="2800" b="0" i="1" spc="-10" smtClean="0">
                                <a:solidFill>
                                  <a:srgbClr val="FF0000"/>
                                </a:solidFill>
                                <a:latin typeface="Cambria Math" panose="02040503050406030204" pitchFamily="18" charset="0"/>
                                <a:cs typeface="Calibri"/>
                              </a:rPr>
                            </m:ctrlPr>
                          </m:sSubSupPr>
                          <m:e>
                            <m:r>
                              <a:rPr lang="en-US" sz="2800" b="0" i="1" spc="-10" smtClean="0">
                                <a:solidFill>
                                  <a:srgbClr val="FF0000"/>
                                </a:solidFill>
                                <a:latin typeface="Cambria Math" panose="02040503050406030204" pitchFamily="18" charset="0"/>
                                <a:cs typeface="Calibri"/>
                              </a:rPr>
                              <m:t>𝑃</m:t>
                            </m:r>
                          </m:e>
                          <m:sub>
                            <m:r>
                              <a:rPr lang="en-US" sz="2800" b="0" i="1" spc="-10" smtClean="0">
                                <a:solidFill>
                                  <a:srgbClr val="FF0000"/>
                                </a:solidFill>
                                <a:latin typeface="Cambria Math" panose="02040503050406030204" pitchFamily="18" charset="0"/>
                                <a:cs typeface="Calibri"/>
                              </a:rPr>
                              <m:t>1,1</m:t>
                            </m:r>
                          </m:sub>
                          <m:sup>
                            <m:r>
                              <a:rPr lang="en-US" sz="2800" b="0" i="1" spc="-10" smtClean="0">
                                <a:solidFill>
                                  <a:srgbClr val="FF0000"/>
                                </a:solidFill>
                                <a:latin typeface="Cambria Math" panose="02040503050406030204" pitchFamily="18" charset="0"/>
                                <a:cs typeface="Calibri"/>
                              </a:rPr>
                              <m:t>𝑅</m:t>
                            </m:r>
                          </m:sup>
                        </m:sSubSup>
                        <m:r>
                          <a:rPr lang="en-US" sz="2800" b="0" i="1" spc="-10" smtClean="0">
                            <a:latin typeface="Cambria Math" panose="02040503050406030204" pitchFamily="18" charset="0"/>
                            <a:cs typeface="Calibri"/>
                          </a:rPr>
                          <m:t>,</m:t>
                        </m:r>
                        <m:sSubSup>
                          <m:sSubSupPr>
                            <m:ctrlPr>
                              <a:rPr lang="en-US" sz="2800" b="0" i="1" spc="-10" smtClean="0">
                                <a:solidFill>
                                  <a:schemeClr val="accent3">
                                    <a:lumMod val="75000"/>
                                  </a:schemeClr>
                                </a:solidFill>
                                <a:latin typeface="Cambria Math" panose="02040503050406030204" pitchFamily="18" charset="0"/>
                                <a:cs typeface="Calibri"/>
                              </a:rPr>
                            </m:ctrlPr>
                          </m:sSubSupPr>
                          <m:e>
                            <m:r>
                              <a:rPr lang="en-US" sz="2800" b="0" i="1" spc="-10" smtClean="0">
                                <a:solidFill>
                                  <a:schemeClr val="accent3">
                                    <a:lumMod val="75000"/>
                                  </a:schemeClr>
                                </a:solidFill>
                                <a:latin typeface="Cambria Math" panose="02040503050406030204" pitchFamily="18" charset="0"/>
                                <a:cs typeface="Calibri"/>
                              </a:rPr>
                              <m:t>𝑃</m:t>
                            </m:r>
                          </m:e>
                          <m:sub>
                            <m:r>
                              <a:rPr lang="en-US" sz="2800" b="0" i="1" spc="-10" smtClean="0">
                                <a:solidFill>
                                  <a:schemeClr val="accent3">
                                    <a:lumMod val="75000"/>
                                  </a:schemeClr>
                                </a:solidFill>
                                <a:latin typeface="Cambria Math" panose="02040503050406030204" pitchFamily="18" charset="0"/>
                                <a:cs typeface="Calibri"/>
                              </a:rPr>
                              <m:t>1,1</m:t>
                            </m:r>
                          </m:sub>
                          <m:sup>
                            <m:r>
                              <a:rPr lang="en-US" sz="2800" b="0" i="1" spc="-10" smtClean="0">
                                <a:solidFill>
                                  <a:schemeClr val="accent3">
                                    <a:lumMod val="75000"/>
                                  </a:schemeClr>
                                </a:solidFill>
                                <a:latin typeface="Cambria Math" panose="02040503050406030204" pitchFamily="18" charset="0"/>
                                <a:cs typeface="Calibri"/>
                              </a:rPr>
                              <m:t>𝐺</m:t>
                            </m:r>
                          </m:sup>
                        </m:sSubSup>
                        <m:r>
                          <a:rPr lang="en-US" sz="2800" b="0" i="1" spc="-10" smtClean="0">
                            <a:latin typeface="Cambria Math" panose="02040503050406030204" pitchFamily="18" charset="0"/>
                            <a:cs typeface="Calibri"/>
                          </a:rPr>
                          <m:t>,</m:t>
                        </m:r>
                        <m:sSubSup>
                          <m:sSubSupPr>
                            <m:ctrlPr>
                              <a:rPr lang="en-US" sz="2800" b="0" i="1" spc="-10" smtClean="0">
                                <a:solidFill>
                                  <a:schemeClr val="tx2">
                                    <a:lumMod val="60000"/>
                                    <a:lumOff val="40000"/>
                                  </a:schemeClr>
                                </a:solidFill>
                                <a:latin typeface="Cambria Math" panose="02040503050406030204" pitchFamily="18" charset="0"/>
                                <a:cs typeface="Calibri"/>
                              </a:rPr>
                            </m:ctrlPr>
                          </m:sSubSupPr>
                          <m:e>
                            <m:r>
                              <a:rPr lang="en-US" sz="2800" b="0" i="1" spc="-10" smtClean="0">
                                <a:solidFill>
                                  <a:schemeClr val="tx2">
                                    <a:lumMod val="60000"/>
                                    <a:lumOff val="40000"/>
                                  </a:schemeClr>
                                </a:solidFill>
                                <a:latin typeface="Cambria Math" panose="02040503050406030204" pitchFamily="18" charset="0"/>
                                <a:cs typeface="Calibri"/>
                              </a:rPr>
                              <m:t>𝑃</m:t>
                            </m:r>
                          </m:e>
                          <m:sub>
                            <m:r>
                              <a:rPr lang="en-US" sz="2800" b="0" i="1" spc="-10" smtClean="0">
                                <a:solidFill>
                                  <a:schemeClr val="tx2">
                                    <a:lumMod val="60000"/>
                                    <a:lumOff val="40000"/>
                                  </a:schemeClr>
                                </a:solidFill>
                                <a:latin typeface="Cambria Math" panose="02040503050406030204" pitchFamily="18" charset="0"/>
                                <a:cs typeface="Calibri"/>
                              </a:rPr>
                              <m:t>1,1</m:t>
                            </m:r>
                          </m:sub>
                          <m:sup>
                            <m:r>
                              <a:rPr lang="en-US" sz="2800" b="0" i="1" spc="-10" smtClean="0">
                                <a:solidFill>
                                  <a:schemeClr val="tx2">
                                    <a:lumMod val="60000"/>
                                    <a:lumOff val="40000"/>
                                  </a:schemeClr>
                                </a:solidFill>
                                <a:latin typeface="Cambria Math" panose="02040503050406030204" pitchFamily="18" charset="0"/>
                                <a:cs typeface="Calibri"/>
                              </a:rPr>
                              <m:t>𝐵</m:t>
                            </m:r>
                          </m:sup>
                        </m:sSubSup>
                        <m:r>
                          <a:rPr lang="en-US" sz="2800" b="0" i="1" spc="-10" smtClean="0">
                            <a:solidFill>
                              <a:schemeClr val="tx2">
                                <a:lumMod val="60000"/>
                                <a:lumOff val="40000"/>
                              </a:schemeClr>
                            </a:solidFill>
                            <a:latin typeface="Cambria Math" panose="02040503050406030204" pitchFamily="18" charset="0"/>
                            <a:cs typeface="Calibri"/>
                          </a:rPr>
                          <m:t>,</m:t>
                        </m:r>
                        <m:sSubSup>
                          <m:sSubSupPr>
                            <m:ctrlPr>
                              <a:rPr lang="en-US" sz="2800" b="0" i="1" spc="-10" smtClean="0">
                                <a:solidFill>
                                  <a:srgbClr val="FF0000"/>
                                </a:solidFill>
                                <a:latin typeface="Cambria Math" panose="02040503050406030204" pitchFamily="18" charset="0"/>
                                <a:cs typeface="Calibri"/>
                              </a:rPr>
                            </m:ctrlPr>
                          </m:sSubSupPr>
                          <m:e>
                            <m:r>
                              <a:rPr lang="en-US" sz="2800" b="0" i="1" spc="-10" smtClean="0">
                                <a:solidFill>
                                  <a:srgbClr val="FF0000"/>
                                </a:solidFill>
                                <a:latin typeface="Cambria Math" panose="02040503050406030204" pitchFamily="18" charset="0"/>
                                <a:cs typeface="Calibri"/>
                              </a:rPr>
                              <m:t>𝑃</m:t>
                            </m:r>
                          </m:e>
                          <m:sub>
                            <m:r>
                              <a:rPr lang="en-US" sz="2800" b="0" i="1" spc="-10" smtClean="0">
                                <a:solidFill>
                                  <a:srgbClr val="FF0000"/>
                                </a:solidFill>
                                <a:latin typeface="Cambria Math" panose="02040503050406030204" pitchFamily="18" charset="0"/>
                                <a:cs typeface="Calibri"/>
                              </a:rPr>
                              <m:t>1,2</m:t>
                            </m:r>
                          </m:sub>
                          <m:sup>
                            <m:r>
                              <a:rPr lang="en-US" sz="2800" b="0" i="1" spc="-10" smtClean="0">
                                <a:solidFill>
                                  <a:srgbClr val="FF0000"/>
                                </a:solidFill>
                                <a:latin typeface="Cambria Math" panose="02040503050406030204" pitchFamily="18" charset="0"/>
                                <a:cs typeface="Calibri"/>
                              </a:rPr>
                              <m:t>𝑅</m:t>
                            </m:r>
                          </m:sup>
                        </m:sSubSup>
                        <m:r>
                          <a:rPr lang="en-US" sz="2800" b="0" i="1" spc="-10" smtClean="0">
                            <a:latin typeface="Cambria Math" panose="02040503050406030204" pitchFamily="18" charset="0"/>
                            <a:cs typeface="Calibri"/>
                          </a:rPr>
                          <m:t>, …,</m:t>
                        </m:r>
                        <m:sSubSup>
                          <m:sSubSupPr>
                            <m:ctrlPr>
                              <a:rPr lang="en-US" sz="2800" b="0" i="1" spc="-10" smtClean="0">
                                <a:solidFill>
                                  <a:srgbClr val="FF0000"/>
                                </a:solidFill>
                                <a:latin typeface="Cambria Math" panose="02040503050406030204" pitchFamily="18" charset="0"/>
                                <a:cs typeface="Calibri"/>
                              </a:rPr>
                            </m:ctrlPr>
                          </m:sSubSupPr>
                          <m:e>
                            <m:r>
                              <a:rPr lang="en-US" sz="2800" b="0" i="1" spc="-10" smtClean="0">
                                <a:solidFill>
                                  <a:srgbClr val="FF0000"/>
                                </a:solidFill>
                                <a:latin typeface="Cambria Math" panose="02040503050406030204" pitchFamily="18" charset="0"/>
                                <a:cs typeface="Calibri"/>
                              </a:rPr>
                              <m:t>𝑃</m:t>
                            </m:r>
                          </m:e>
                          <m:sub>
                            <m:r>
                              <a:rPr lang="en-US" sz="2800" b="0" i="1" spc="-10" smtClean="0">
                                <a:solidFill>
                                  <a:srgbClr val="FF0000"/>
                                </a:solidFill>
                                <a:latin typeface="Cambria Math" panose="02040503050406030204" pitchFamily="18" charset="0"/>
                                <a:cs typeface="Calibri"/>
                              </a:rPr>
                              <m:t>h</m:t>
                            </m:r>
                            <m:r>
                              <a:rPr lang="en-US" sz="2800" b="0" i="1" spc="-10" smtClean="0">
                                <a:solidFill>
                                  <a:srgbClr val="FF0000"/>
                                </a:solidFill>
                                <a:latin typeface="Cambria Math" panose="02040503050406030204" pitchFamily="18" charset="0"/>
                                <a:cs typeface="Calibri"/>
                              </a:rPr>
                              <m:t>,</m:t>
                            </m:r>
                            <m:r>
                              <a:rPr lang="en-US" sz="2800" b="0" i="1" spc="-10" smtClean="0">
                                <a:solidFill>
                                  <a:srgbClr val="FF0000"/>
                                </a:solidFill>
                                <a:latin typeface="Cambria Math" panose="02040503050406030204" pitchFamily="18" charset="0"/>
                                <a:cs typeface="Calibri"/>
                              </a:rPr>
                              <m:t>𝑤</m:t>
                            </m:r>
                          </m:sub>
                          <m:sup>
                            <m:r>
                              <a:rPr lang="en-US" sz="2800" b="0" i="1" spc="-10" smtClean="0">
                                <a:solidFill>
                                  <a:srgbClr val="FF0000"/>
                                </a:solidFill>
                                <a:latin typeface="Cambria Math" panose="02040503050406030204" pitchFamily="18" charset="0"/>
                                <a:cs typeface="Calibri"/>
                              </a:rPr>
                              <m:t>𝑅</m:t>
                            </m:r>
                          </m:sup>
                        </m:sSubSup>
                        <m:r>
                          <a:rPr lang="en-US" sz="2800" b="0" i="1" spc="-10" smtClean="0">
                            <a:latin typeface="Cambria Math" panose="02040503050406030204" pitchFamily="18" charset="0"/>
                            <a:cs typeface="Calibri"/>
                          </a:rPr>
                          <m:t>,</m:t>
                        </m:r>
                        <m:sSubSup>
                          <m:sSubSupPr>
                            <m:ctrlPr>
                              <a:rPr lang="en-US" sz="2800" b="0" i="1" spc="-10" smtClean="0">
                                <a:solidFill>
                                  <a:srgbClr val="00B050"/>
                                </a:solidFill>
                                <a:latin typeface="Cambria Math" panose="02040503050406030204" pitchFamily="18" charset="0"/>
                                <a:cs typeface="Calibri"/>
                              </a:rPr>
                            </m:ctrlPr>
                          </m:sSubSupPr>
                          <m:e>
                            <m:r>
                              <a:rPr lang="en-US" sz="2800" b="0" i="1" spc="-10" smtClean="0">
                                <a:solidFill>
                                  <a:srgbClr val="00B050"/>
                                </a:solidFill>
                                <a:latin typeface="Cambria Math" panose="02040503050406030204" pitchFamily="18" charset="0"/>
                                <a:cs typeface="Calibri"/>
                              </a:rPr>
                              <m:t>𝑃</m:t>
                            </m:r>
                          </m:e>
                          <m:sub>
                            <m:r>
                              <a:rPr lang="en-US" sz="2800" b="0" i="1" spc="-10" smtClean="0">
                                <a:solidFill>
                                  <a:srgbClr val="00B050"/>
                                </a:solidFill>
                                <a:latin typeface="Cambria Math" panose="02040503050406030204" pitchFamily="18" charset="0"/>
                                <a:cs typeface="Calibri"/>
                              </a:rPr>
                              <m:t>h</m:t>
                            </m:r>
                            <m:r>
                              <a:rPr lang="en-US" sz="2800" b="0" i="1" spc="-10" smtClean="0">
                                <a:solidFill>
                                  <a:srgbClr val="00B050"/>
                                </a:solidFill>
                                <a:latin typeface="Cambria Math" panose="02040503050406030204" pitchFamily="18" charset="0"/>
                                <a:cs typeface="Calibri"/>
                              </a:rPr>
                              <m:t>,</m:t>
                            </m:r>
                            <m:r>
                              <a:rPr lang="en-US" sz="2800" b="0" i="1" spc="-10" smtClean="0">
                                <a:solidFill>
                                  <a:srgbClr val="00B050"/>
                                </a:solidFill>
                                <a:latin typeface="Cambria Math" panose="02040503050406030204" pitchFamily="18" charset="0"/>
                                <a:cs typeface="Calibri"/>
                              </a:rPr>
                              <m:t>𝑤</m:t>
                            </m:r>
                          </m:sub>
                          <m:sup>
                            <m:r>
                              <a:rPr lang="en-US" sz="2800" b="0" i="1" spc="-10" smtClean="0">
                                <a:solidFill>
                                  <a:srgbClr val="00B050"/>
                                </a:solidFill>
                                <a:latin typeface="Cambria Math" panose="02040503050406030204" pitchFamily="18" charset="0"/>
                                <a:cs typeface="Calibri"/>
                              </a:rPr>
                              <m:t>𝐺</m:t>
                            </m:r>
                          </m:sup>
                        </m:sSubSup>
                        <m:r>
                          <a:rPr lang="en-US" sz="2800" b="0" i="1" spc="-10" smtClean="0">
                            <a:solidFill>
                              <a:srgbClr val="00B050"/>
                            </a:solidFill>
                            <a:latin typeface="Cambria Math" panose="02040503050406030204" pitchFamily="18" charset="0"/>
                            <a:cs typeface="Calibri"/>
                          </a:rPr>
                          <m:t>,</m:t>
                        </m:r>
                        <m:sSubSup>
                          <m:sSubSupPr>
                            <m:ctrlPr>
                              <a:rPr lang="en-US" sz="2800" b="0" i="1" spc="-10" smtClean="0">
                                <a:solidFill>
                                  <a:schemeClr val="tx2">
                                    <a:lumMod val="60000"/>
                                    <a:lumOff val="40000"/>
                                  </a:schemeClr>
                                </a:solidFill>
                                <a:latin typeface="Cambria Math" panose="02040503050406030204" pitchFamily="18" charset="0"/>
                                <a:cs typeface="Calibri"/>
                              </a:rPr>
                            </m:ctrlPr>
                          </m:sSubSupPr>
                          <m:e>
                            <m:r>
                              <a:rPr lang="en-US" sz="2800" b="0" i="1" spc="-10" smtClean="0">
                                <a:solidFill>
                                  <a:schemeClr val="tx2">
                                    <a:lumMod val="60000"/>
                                    <a:lumOff val="40000"/>
                                  </a:schemeClr>
                                </a:solidFill>
                                <a:latin typeface="Cambria Math" panose="02040503050406030204" pitchFamily="18" charset="0"/>
                                <a:cs typeface="Calibri"/>
                              </a:rPr>
                              <m:t>𝑃</m:t>
                            </m:r>
                          </m:e>
                          <m:sub>
                            <m:r>
                              <a:rPr lang="en-US" sz="2800" b="0" i="1" spc="-10" smtClean="0">
                                <a:solidFill>
                                  <a:schemeClr val="tx2">
                                    <a:lumMod val="60000"/>
                                    <a:lumOff val="40000"/>
                                  </a:schemeClr>
                                </a:solidFill>
                                <a:latin typeface="Cambria Math" panose="02040503050406030204" pitchFamily="18" charset="0"/>
                                <a:cs typeface="Calibri"/>
                              </a:rPr>
                              <m:t>h</m:t>
                            </m:r>
                            <m:r>
                              <a:rPr lang="en-US" sz="2800" b="0" i="1" spc="-10" smtClean="0">
                                <a:solidFill>
                                  <a:schemeClr val="tx2">
                                    <a:lumMod val="60000"/>
                                    <a:lumOff val="40000"/>
                                  </a:schemeClr>
                                </a:solidFill>
                                <a:latin typeface="Cambria Math" panose="02040503050406030204" pitchFamily="18" charset="0"/>
                                <a:cs typeface="Calibri"/>
                              </a:rPr>
                              <m:t>,</m:t>
                            </m:r>
                            <m:r>
                              <a:rPr lang="en-US" sz="2800" b="0" i="1" spc="-10" smtClean="0">
                                <a:solidFill>
                                  <a:schemeClr val="tx2">
                                    <a:lumMod val="60000"/>
                                    <a:lumOff val="40000"/>
                                  </a:schemeClr>
                                </a:solidFill>
                                <a:latin typeface="Cambria Math" panose="02040503050406030204" pitchFamily="18" charset="0"/>
                                <a:cs typeface="Calibri"/>
                              </a:rPr>
                              <m:t>𝑤</m:t>
                            </m:r>
                          </m:sub>
                          <m:sup>
                            <m:r>
                              <a:rPr lang="en-US" sz="2800" b="0" i="1" spc="-10" smtClean="0">
                                <a:solidFill>
                                  <a:schemeClr val="tx2">
                                    <a:lumMod val="60000"/>
                                    <a:lumOff val="40000"/>
                                  </a:schemeClr>
                                </a:solidFill>
                                <a:latin typeface="Cambria Math" panose="02040503050406030204" pitchFamily="18" charset="0"/>
                                <a:cs typeface="Calibri"/>
                              </a:rPr>
                              <m:t>𝐵</m:t>
                            </m:r>
                          </m:sup>
                        </m:sSubSup>
                      </m:e>
                    </m:d>
                  </m:oMath>
                </a14:m>
                <a:endParaRPr lang="en-US" sz="2800" dirty="0">
                  <a:latin typeface="Calibri"/>
                  <a:cs typeface="Calibri"/>
                </a:endParaRPr>
              </a:p>
              <a:p>
                <a:pPr marL="914400" indent="-228600">
                  <a:spcBef>
                    <a:spcPts val="600"/>
                  </a:spcBef>
                  <a:spcAft>
                    <a:spcPts val="600"/>
                  </a:spcAft>
                  <a:buFont typeface="Arial"/>
                  <a:buChar char="•"/>
                  <a:tabLst>
                    <a:tab pos="625475" algn="l"/>
                  </a:tabLst>
                </a:pPr>
                <a:r>
                  <a:rPr lang="en-US" sz="2800" spc="-130" dirty="0">
                    <a:latin typeface="Calibri"/>
                    <a:cs typeface="Calibri"/>
                  </a:rPr>
                  <a:t>Atari frame, 3 x 210 x 160 = 100,800 inputs</a:t>
                </a:r>
              </a:p>
              <a:p>
                <a:pPr marL="241300" indent="-228600">
                  <a:lnSpc>
                    <a:spcPct val="100000"/>
                  </a:lnSpc>
                  <a:buFont typeface="Arial"/>
                  <a:buChar char="•"/>
                  <a:tabLst>
                    <a:tab pos="241300" algn="l"/>
                  </a:tabLst>
                </a:pPr>
                <a:endParaRPr sz="2800" dirty="0">
                  <a:latin typeface="Calibri"/>
                  <a:cs typeface="Calibri"/>
                </a:endParaRPr>
              </a:p>
            </p:txBody>
          </p:sp>
        </mc:Choice>
        <mc:Fallback xmlns="">
          <p:sp>
            <p:nvSpPr>
              <p:cNvPr id="4" name="object 4"/>
              <p:cNvSpPr txBox="1">
                <a:spLocks noRot="1" noChangeAspect="1" noMove="1" noResize="1" noEditPoints="1" noAdjustHandles="1" noChangeArrowheads="1" noChangeShapeType="1" noTextEdit="1"/>
              </p:cNvSpPr>
              <p:nvPr/>
            </p:nvSpPr>
            <p:spPr>
              <a:xfrm>
                <a:off x="650240" y="1752600"/>
                <a:ext cx="7655560" cy="2232278"/>
              </a:xfrm>
              <a:prstGeom prst="rect">
                <a:avLst/>
              </a:prstGeom>
              <a:blipFill>
                <a:blip r:embed="rId3"/>
                <a:stretch>
                  <a:fillRect l="-2866" t="-5738" r="-876"/>
                </a:stretch>
              </a:blipFill>
            </p:spPr>
            <p:txBody>
              <a:bodyPr/>
              <a:lstStyle/>
              <a:p>
                <a:r>
                  <a:rPr lang="en-US">
                    <a:noFill/>
                  </a:rPr>
                  <a:t> </a:t>
                </a:r>
              </a:p>
            </p:txBody>
          </p:sp>
        </mc:Fallback>
      </mc:AlternateContent>
      <p:sp>
        <p:nvSpPr>
          <p:cNvPr id="6" name="object 6"/>
          <p:cNvSpPr txBox="1"/>
          <p:nvPr/>
        </p:nvSpPr>
        <p:spPr>
          <a:xfrm>
            <a:off x="650240" y="3730682"/>
            <a:ext cx="6649720" cy="2254463"/>
          </a:xfrm>
          <a:prstGeom prst="rect">
            <a:avLst/>
          </a:prstGeom>
        </p:spPr>
        <p:txBody>
          <a:bodyPr vert="horz" wrap="square" lIns="0" tIns="0" rIns="0" bIns="0" rtlCol="0">
            <a:spAutoFit/>
          </a:bodyPr>
          <a:lstStyle/>
          <a:p>
            <a:pPr>
              <a:lnSpc>
                <a:spcPct val="100000"/>
              </a:lnSpc>
              <a:spcBef>
                <a:spcPts val="33"/>
              </a:spcBef>
            </a:pPr>
            <a:endParaRPr sz="3350" dirty="0">
              <a:latin typeface="Times New Roman"/>
              <a:cs typeface="Times New Roman"/>
            </a:endParaRPr>
          </a:p>
          <a:p>
            <a:pPr marL="241300" indent="-228600">
              <a:lnSpc>
                <a:spcPct val="100000"/>
              </a:lnSpc>
              <a:spcBef>
                <a:spcPts val="600"/>
              </a:spcBef>
              <a:spcAft>
                <a:spcPts val="600"/>
              </a:spcAft>
              <a:buFont typeface="Arial"/>
              <a:buChar char="•"/>
              <a:tabLst>
                <a:tab pos="241300" algn="l"/>
              </a:tabLst>
            </a:pPr>
            <a:r>
              <a:rPr sz="3200" spc="-120" dirty="0">
                <a:latin typeface="Calibri"/>
                <a:cs typeface="Calibri"/>
              </a:rPr>
              <a:t>T</a:t>
            </a:r>
            <a:r>
              <a:rPr sz="3200" spc="-30" dirty="0">
                <a:latin typeface="Calibri"/>
                <a:cs typeface="Calibri"/>
              </a:rPr>
              <a:t>w</a:t>
            </a:r>
            <a:r>
              <a:rPr sz="3200" dirty="0">
                <a:latin typeface="Calibri"/>
                <a:cs typeface="Calibri"/>
              </a:rPr>
              <a:t>o </a:t>
            </a:r>
            <a:r>
              <a:rPr sz="3200" spc="-5" dirty="0">
                <a:latin typeface="Calibri"/>
                <a:cs typeface="Calibri"/>
              </a:rPr>
              <a:t>p</a:t>
            </a:r>
            <a:r>
              <a:rPr sz="3200" spc="-60" dirty="0">
                <a:latin typeface="Calibri"/>
                <a:cs typeface="Calibri"/>
              </a:rPr>
              <a:t>r</a:t>
            </a:r>
            <a:r>
              <a:rPr sz="3200" spc="-5" dirty="0">
                <a:latin typeface="Calibri"/>
                <a:cs typeface="Calibri"/>
              </a:rPr>
              <a:t>obl</a:t>
            </a:r>
            <a:r>
              <a:rPr sz="3200" spc="-20" dirty="0">
                <a:latin typeface="Calibri"/>
                <a:cs typeface="Calibri"/>
              </a:rPr>
              <a:t>e</a:t>
            </a:r>
            <a:r>
              <a:rPr sz="3200" spc="-25" dirty="0">
                <a:latin typeface="Calibri"/>
                <a:cs typeface="Calibri"/>
              </a:rPr>
              <a:t>m</a:t>
            </a:r>
            <a:r>
              <a:rPr sz="3200" dirty="0">
                <a:latin typeface="Calibri"/>
                <a:cs typeface="Calibri"/>
              </a:rPr>
              <a:t>s</a:t>
            </a:r>
            <a:r>
              <a:rPr sz="3200" spc="-10" dirty="0">
                <a:latin typeface="Calibri"/>
                <a:cs typeface="Calibri"/>
              </a:rPr>
              <a:t>:</a:t>
            </a:r>
            <a:endParaRPr sz="3200" dirty="0">
              <a:latin typeface="Calibri"/>
              <a:cs typeface="Calibri"/>
            </a:endParaRPr>
          </a:p>
          <a:p>
            <a:pPr marL="914400" lvl="1" indent="-228600">
              <a:lnSpc>
                <a:spcPct val="100000"/>
              </a:lnSpc>
              <a:spcBef>
                <a:spcPts val="600"/>
              </a:spcBef>
              <a:spcAft>
                <a:spcPts val="600"/>
              </a:spcAft>
              <a:buFont typeface="Arial"/>
              <a:buChar char="•"/>
              <a:tabLst>
                <a:tab pos="1082675" algn="l"/>
              </a:tabLst>
            </a:pPr>
            <a:r>
              <a:rPr sz="2800" spc="-10" dirty="0">
                <a:latin typeface="Calibri"/>
                <a:cs typeface="Calibri"/>
              </a:rPr>
              <a:t>Huge input size;</a:t>
            </a:r>
          </a:p>
          <a:p>
            <a:pPr marL="914400" lvl="1" indent="-228600">
              <a:lnSpc>
                <a:spcPct val="100000"/>
              </a:lnSpc>
              <a:spcBef>
                <a:spcPts val="600"/>
              </a:spcBef>
              <a:spcAft>
                <a:spcPts val="600"/>
              </a:spcAft>
              <a:buFont typeface="Arial"/>
              <a:buChar char="•"/>
              <a:tabLst>
                <a:tab pos="1082675" algn="l"/>
              </a:tabLst>
            </a:pPr>
            <a:r>
              <a:rPr sz="2800" spc="-10" dirty="0">
                <a:latin typeface="Calibri"/>
                <a:cs typeface="Calibri"/>
              </a:rPr>
              <a:t>Is a single frame enough for decisions?</a:t>
            </a:r>
          </a:p>
        </p:txBody>
      </p:sp>
      <p:sp>
        <p:nvSpPr>
          <p:cNvPr id="11" name="Rectangle 10">
            <a:extLst>
              <a:ext uri="{FF2B5EF4-FFF2-40B4-BE49-F238E27FC236}">
                <a16:creationId xmlns:a16="http://schemas.microsoft.com/office/drawing/2014/main" id="{55E3F239-0883-B8E5-551E-48226A280F3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1939E7-9788-C7FE-F010-B18D6A525AD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3" name="Rectangle 12">
            <a:extLst>
              <a:ext uri="{FF2B5EF4-FFF2-40B4-BE49-F238E27FC236}">
                <a16:creationId xmlns:a16="http://schemas.microsoft.com/office/drawing/2014/main" id="{69774A8E-EA23-0BBD-8553-F30C4611FD71}"/>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4" name="Slide Number Placeholder 13">
            <a:extLst>
              <a:ext uri="{FF2B5EF4-FFF2-40B4-BE49-F238E27FC236}">
                <a16:creationId xmlns:a16="http://schemas.microsoft.com/office/drawing/2014/main" id="{D6935635-A43B-D349-4817-3A376BC3A722}"/>
              </a:ext>
            </a:extLst>
          </p:cNvPr>
          <p:cNvSpPr>
            <a:spLocks noGrp="1"/>
          </p:cNvSpPr>
          <p:nvPr>
            <p:ph type="sldNum" sz="quarter" idx="7"/>
          </p:nvPr>
        </p:nvSpPr>
        <p:spPr/>
        <p:txBody>
          <a:bodyPr/>
          <a:lstStyle/>
          <a:p>
            <a:pPr marL="25400"/>
            <a:fld id="{81D60167-4931-47E6-BA6A-407CBD079E47}" type="slidenum">
              <a:rPr lang="en-US" smtClean="0"/>
              <a:pPr marL="25400"/>
              <a:t>20</a:t>
            </a:fld>
            <a:r>
              <a:rPr lang="en-US"/>
              <a:t>/27</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Movemen</a:t>
            </a:r>
            <a:r>
              <a:rPr spc="-10" dirty="0"/>
              <a:t>t</a:t>
            </a:r>
          </a:p>
        </p:txBody>
      </p:sp>
      <p:sp>
        <p:nvSpPr>
          <p:cNvPr id="4" name="object 4"/>
          <p:cNvSpPr/>
          <p:nvPr/>
        </p:nvSpPr>
        <p:spPr>
          <a:xfrm>
            <a:off x="1955125" y="1577550"/>
            <a:ext cx="5008323" cy="3702897"/>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2301156" y="5899506"/>
            <a:ext cx="4316730" cy="330200"/>
          </a:xfrm>
          <a:prstGeom prst="rect">
            <a:avLst/>
          </a:prstGeom>
        </p:spPr>
        <p:txBody>
          <a:bodyPr vert="horz" wrap="square" lIns="0" tIns="0" rIns="0" bIns="0" rtlCol="0">
            <a:spAutoFit/>
          </a:bodyPr>
          <a:lstStyle/>
          <a:p>
            <a:pPr marL="12700">
              <a:lnSpc>
                <a:spcPct val="100000"/>
              </a:lnSpc>
            </a:pPr>
            <a:r>
              <a:rPr sz="2400" b="0" spc="-15" dirty="0">
                <a:latin typeface="Calibri Light"/>
                <a:cs typeface="Calibri Light"/>
              </a:rPr>
              <a:t>Which </a:t>
            </a:r>
            <a:r>
              <a:rPr sz="2400" b="0" spc="-10" dirty="0">
                <a:latin typeface="Calibri Light"/>
                <a:cs typeface="Calibri Light"/>
              </a:rPr>
              <a:t>di</a:t>
            </a:r>
            <a:r>
              <a:rPr sz="2400" b="0" spc="-50" dirty="0">
                <a:latin typeface="Calibri Light"/>
                <a:cs typeface="Calibri Light"/>
              </a:rPr>
              <a:t>r</a:t>
            </a:r>
            <a:r>
              <a:rPr sz="2400" b="0" dirty="0">
                <a:latin typeface="Calibri Light"/>
                <a:cs typeface="Calibri Light"/>
              </a:rPr>
              <a:t>ec</a:t>
            </a:r>
            <a:r>
              <a:rPr sz="2400" b="0" spc="-10" dirty="0">
                <a:latin typeface="Calibri Light"/>
                <a:cs typeface="Calibri Light"/>
              </a:rPr>
              <a:t>ti</a:t>
            </a:r>
            <a:r>
              <a:rPr sz="2400" b="0" dirty="0">
                <a:latin typeface="Calibri Light"/>
                <a:cs typeface="Calibri Light"/>
              </a:rPr>
              <a:t>o</a:t>
            </a:r>
            <a:r>
              <a:rPr sz="2400" b="0" spc="-15" dirty="0">
                <a:latin typeface="Calibri Light"/>
                <a:cs typeface="Calibri Light"/>
              </a:rPr>
              <a:t>n</a:t>
            </a:r>
            <a:r>
              <a:rPr sz="2400" b="0" dirty="0">
                <a:latin typeface="Calibri Light"/>
                <a:cs typeface="Calibri Light"/>
              </a:rPr>
              <a:t> </a:t>
            </a:r>
            <a:r>
              <a:rPr sz="2400" b="0" spc="-10" dirty="0">
                <a:latin typeface="Calibri Light"/>
                <a:cs typeface="Calibri Light"/>
              </a:rPr>
              <a:t>is</a:t>
            </a:r>
            <a:r>
              <a:rPr sz="2400" b="0" dirty="0">
                <a:latin typeface="Calibri Light"/>
                <a:cs typeface="Calibri Light"/>
              </a:rPr>
              <a:t> </a:t>
            </a:r>
            <a:r>
              <a:rPr sz="2400" b="0" spc="-15" dirty="0">
                <a:latin typeface="Calibri Light"/>
                <a:cs typeface="Calibri Light"/>
              </a:rPr>
              <a:t>th</a:t>
            </a:r>
            <a:r>
              <a:rPr sz="2400" b="0" dirty="0">
                <a:latin typeface="Calibri Light"/>
                <a:cs typeface="Calibri Light"/>
              </a:rPr>
              <a:t>e </a:t>
            </a:r>
            <a:r>
              <a:rPr sz="2400" b="0" spc="-10" dirty="0">
                <a:latin typeface="Calibri Light"/>
                <a:cs typeface="Calibri Light"/>
              </a:rPr>
              <a:t>ball</a:t>
            </a:r>
            <a:r>
              <a:rPr sz="2400" b="0" dirty="0">
                <a:latin typeface="Calibri Light"/>
                <a:cs typeface="Calibri Light"/>
              </a:rPr>
              <a:t> m</a:t>
            </a:r>
            <a:r>
              <a:rPr sz="2400" b="0" spc="-15" dirty="0">
                <a:latin typeface="Calibri Light"/>
                <a:cs typeface="Calibri Light"/>
              </a:rPr>
              <a:t>o</a:t>
            </a:r>
            <a:r>
              <a:rPr sz="2400" b="0" spc="-10" dirty="0">
                <a:latin typeface="Calibri Light"/>
                <a:cs typeface="Calibri Light"/>
              </a:rPr>
              <a:t>vin</a:t>
            </a:r>
            <a:r>
              <a:rPr sz="2400" b="0" spc="-20" dirty="0">
                <a:latin typeface="Calibri Light"/>
                <a:cs typeface="Calibri Light"/>
              </a:rPr>
              <a:t>g</a:t>
            </a:r>
            <a:r>
              <a:rPr sz="2400" b="0" dirty="0">
                <a:latin typeface="Calibri Light"/>
                <a:cs typeface="Calibri Light"/>
              </a:rPr>
              <a:t>?</a:t>
            </a:r>
            <a:endParaRPr sz="2400">
              <a:latin typeface="Calibri Light"/>
              <a:cs typeface="Calibri Light"/>
            </a:endParaRPr>
          </a:p>
        </p:txBody>
      </p:sp>
      <p:sp>
        <p:nvSpPr>
          <p:cNvPr id="8" name="Rectangle 7">
            <a:extLst>
              <a:ext uri="{FF2B5EF4-FFF2-40B4-BE49-F238E27FC236}">
                <a16:creationId xmlns:a16="http://schemas.microsoft.com/office/drawing/2014/main" id="{1ADBEF2D-4D5C-1CFD-4F75-E68E4D64A5E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9589751-9A04-21C1-549B-5DEC9217884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BF215A4C-8F38-77B2-F3B9-584B408E3FEB}"/>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1" name="Slide Number Placeholder 10">
            <a:extLst>
              <a:ext uri="{FF2B5EF4-FFF2-40B4-BE49-F238E27FC236}">
                <a16:creationId xmlns:a16="http://schemas.microsoft.com/office/drawing/2014/main" id="{2A828DC7-582E-20C9-807A-2C665CBA8822}"/>
              </a:ext>
            </a:extLst>
          </p:cNvPr>
          <p:cNvSpPr>
            <a:spLocks noGrp="1"/>
          </p:cNvSpPr>
          <p:nvPr>
            <p:ph type="sldNum" sz="quarter" idx="7"/>
          </p:nvPr>
        </p:nvSpPr>
        <p:spPr/>
        <p:txBody>
          <a:bodyPr/>
          <a:lstStyle/>
          <a:p>
            <a:pPr marL="25400"/>
            <a:fld id="{81D60167-4931-47E6-BA6A-407CBD079E47}" type="slidenum">
              <a:rPr lang="en-US" smtClean="0"/>
              <a:pPr marL="25400"/>
              <a:t>21</a:t>
            </a:fld>
            <a:r>
              <a:rPr lang="en-US"/>
              <a:t>/27</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Encoding</a:t>
            </a:r>
            <a:r>
              <a:rPr spc="-5" dirty="0"/>
              <a:t> </a:t>
            </a:r>
            <a:r>
              <a:rPr dirty="0"/>
              <a:t>Mo</a:t>
            </a:r>
            <a:r>
              <a:rPr spc="-15" dirty="0"/>
              <a:t>t</a:t>
            </a:r>
            <a:r>
              <a:rPr dirty="0"/>
              <a:t>ion</a:t>
            </a:r>
          </a:p>
        </p:txBody>
      </p:sp>
      <p:sp>
        <p:nvSpPr>
          <p:cNvPr id="4" name="object 4"/>
          <p:cNvSpPr txBox="1"/>
          <p:nvPr/>
        </p:nvSpPr>
        <p:spPr>
          <a:xfrm>
            <a:off x="650240" y="2304187"/>
            <a:ext cx="6577330" cy="2498725"/>
          </a:xfrm>
          <a:prstGeom prst="rect">
            <a:avLst/>
          </a:prstGeom>
        </p:spPr>
        <p:txBody>
          <a:bodyPr vert="horz" wrap="square" lIns="0" tIns="0" rIns="0" bIns="0" rtlCol="0">
            <a:spAutoFit/>
          </a:bodyPr>
          <a:lstStyle/>
          <a:p>
            <a:pPr marL="241300" indent="-228600">
              <a:lnSpc>
                <a:spcPct val="100000"/>
              </a:lnSpc>
              <a:buFont typeface="Arial"/>
              <a:buChar char="•"/>
              <a:tabLst>
                <a:tab pos="241300" algn="l"/>
              </a:tabLst>
            </a:pPr>
            <a:r>
              <a:rPr sz="2800" spc="-15" dirty="0">
                <a:latin typeface="Calibri"/>
                <a:cs typeface="Calibri"/>
              </a:rPr>
              <a:t>Acc</a:t>
            </a:r>
            <a:r>
              <a:rPr sz="2800" dirty="0">
                <a:latin typeface="Calibri"/>
                <a:cs typeface="Calibri"/>
              </a:rPr>
              <a:t>u</a:t>
            </a:r>
            <a:r>
              <a:rPr sz="2800" spc="-70" dirty="0">
                <a:latin typeface="Calibri"/>
                <a:cs typeface="Calibri"/>
              </a:rPr>
              <a:t>r</a:t>
            </a:r>
            <a:r>
              <a:rPr sz="2800" spc="-30" dirty="0">
                <a:latin typeface="Calibri"/>
                <a:cs typeface="Calibri"/>
              </a:rPr>
              <a:t>a</a:t>
            </a:r>
            <a:r>
              <a:rPr sz="2800" spc="-45" dirty="0">
                <a:latin typeface="Calibri"/>
                <a:cs typeface="Calibri"/>
              </a:rPr>
              <a:t>t</a:t>
            </a:r>
            <a:r>
              <a:rPr sz="2800" spc="-15" dirty="0">
                <a:latin typeface="Calibri"/>
                <a:cs typeface="Calibri"/>
              </a:rPr>
              <a:t>e</a:t>
            </a:r>
            <a:r>
              <a:rPr sz="2800" dirty="0">
                <a:latin typeface="Calibri"/>
                <a:cs typeface="Calibri"/>
              </a:rPr>
              <a:t> </a:t>
            </a:r>
            <a:r>
              <a:rPr sz="2800" spc="-40" dirty="0">
                <a:latin typeface="Calibri"/>
                <a:cs typeface="Calibri"/>
              </a:rPr>
              <a:t>c</a:t>
            </a:r>
            <a:r>
              <a:rPr sz="2800" spc="-5" dirty="0">
                <a:latin typeface="Calibri"/>
                <a:cs typeface="Calibri"/>
              </a:rPr>
              <a:t>o</a:t>
            </a:r>
            <a:r>
              <a:rPr sz="2800" spc="-30" dirty="0">
                <a:latin typeface="Calibri"/>
                <a:cs typeface="Calibri"/>
              </a:rPr>
              <a:t>n</a:t>
            </a:r>
            <a:r>
              <a:rPr sz="2800" spc="-10" dirty="0">
                <a:latin typeface="Calibri"/>
                <a:cs typeface="Calibri"/>
              </a:rPr>
              <a:t>t</a:t>
            </a:r>
            <a:r>
              <a:rPr sz="2800" spc="-60" dirty="0">
                <a:latin typeface="Calibri"/>
                <a:cs typeface="Calibri"/>
              </a:rPr>
              <a:t>r</a:t>
            </a:r>
            <a:r>
              <a:rPr sz="2800" spc="-5" dirty="0">
                <a:latin typeface="Calibri"/>
                <a:cs typeface="Calibri"/>
              </a:rPr>
              <a:t>o</a:t>
            </a:r>
            <a:r>
              <a:rPr sz="2800" dirty="0">
                <a:latin typeface="Calibri"/>
                <a:cs typeface="Calibri"/>
              </a:rPr>
              <a:t>l n</a:t>
            </a:r>
            <a:r>
              <a:rPr sz="2800" spc="-15" dirty="0">
                <a:latin typeface="Calibri"/>
                <a:cs typeface="Calibri"/>
              </a:rPr>
              <a:t>ee</a:t>
            </a:r>
            <a:r>
              <a:rPr sz="2800" dirty="0">
                <a:latin typeface="Calibri"/>
                <a:cs typeface="Calibri"/>
              </a:rPr>
              <a:t>ds </a:t>
            </a:r>
            <a:r>
              <a:rPr sz="2800" spc="-25" dirty="0">
                <a:latin typeface="Calibri"/>
                <a:cs typeface="Calibri"/>
              </a:rPr>
              <a:t>m</a:t>
            </a:r>
            <a:r>
              <a:rPr sz="2800" spc="-5" dirty="0">
                <a:latin typeface="Calibri"/>
                <a:cs typeface="Calibri"/>
              </a:rPr>
              <a:t>o</a:t>
            </a:r>
            <a:r>
              <a:rPr sz="2800" dirty="0">
                <a:latin typeface="Calibri"/>
                <a:cs typeface="Calibri"/>
              </a:rPr>
              <a:t>ti</a:t>
            </a:r>
            <a:r>
              <a:rPr sz="2800" spc="-5" dirty="0">
                <a:latin typeface="Calibri"/>
                <a:cs typeface="Calibri"/>
              </a:rPr>
              <a:t>o</a:t>
            </a:r>
            <a:r>
              <a:rPr sz="2800" dirty="0">
                <a:latin typeface="Calibri"/>
                <a:cs typeface="Calibri"/>
              </a:rPr>
              <a:t>n i</a:t>
            </a:r>
            <a:r>
              <a:rPr sz="2800" spc="-20" dirty="0">
                <a:latin typeface="Calibri"/>
                <a:cs typeface="Calibri"/>
              </a:rPr>
              <a:t>n</a:t>
            </a:r>
            <a:r>
              <a:rPr sz="2800" spc="-60" dirty="0">
                <a:latin typeface="Calibri"/>
                <a:cs typeface="Calibri"/>
              </a:rPr>
              <a:t>f</a:t>
            </a:r>
            <a:r>
              <a:rPr sz="2800" spc="-5" dirty="0">
                <a:latin typeface="Calibri"/>
                <a:cs typeface="Calibri"/>
              </a:rPr>
              <a:t>o</a:t>
            </a:r>
            <a:r>
              <a:rPr sz="2800" spc="-20" dirty="0">
                <a:latin typeface="Calibri"/>
                <a:cs typeface="Calibri"/>
              </a:rPr>
              <a:t>rm</a:t>
            </a:r>
            <a:r>
              <a:rPr sz="2800" spc="-30" dirty="0">
                <a:latin typeface="Calibri"/>
                <a:cs typeface="Calibri"/>
              </a:rPr>
              <a:t>a</a:t>
            </a:r>
            <a:r>
              <a:rPr sz="2800" dirty="0">
                <a:latin typeface="Calibri"/>
                <a:cs typeface="Calibri"/>
              </a:rPr>
              <a:t>ti</a:t>
            </a:r>
            <a:r>
              <a:rPr sz="2800" spc="-5" dirty="0">
                <a:latin typeface="Calibri"/>
                <a:cs typeface="Calibri"/>
              </a:rPr>
              <a:t>o</a:t>
            </a:r>
            <a:r>
              <a:rPr sz="2800" dirty="0">
                <a:latin typeface="Calibri"/>
                <a:cs typeface="Calibri"/>
              </a:rPr>
              <a:t>n</a:t>
            </a:r>
            <a:r>
              <a:rPr sz="2800" spc="-10" dirty="0">
                <a:latin typeface="Calibri"/>
                <a:cs typeface="Calibri"/>
              </a:rPr>
              <a:t>,</a:t>
            </a:r>
            <a:endParaRPr sz="2800">
              <a:latin typeface="Calibri"/>
              <a:cs typeface="Calibri"/>
            </a:endParaRPr>
          </a:p>
          <a:p>
            <a:pPr marL="698500" lvl="1" indent="-228600">
              <a:lnSpc>
                <a:spcPct val="100000"/>
              </a:lnSpc>
              <a:spcBef>
                <a:spcPts val="244"/>
              </a:spcBef>
              <a:buFont typeface="Arial"/>
              <a:buChar char="•"/>
              <a:tabLst>
                <a:tab pos="698500" algn="l"/>
              </a:tabLst>
            </a:pPr>
            <a:r>
              <a:rPr sz="3600" spc="-30" baseline="1157" dirty="0">
                <a:latin typeface="Calibri"/>
                <a:cs typeface="Calibri"/>
              </a:rPr>
              <a:t>U</a:t>
            </a:r>
            <a:r>
              <a:rPr sz="3600" baseline="1157" dirty="0">
                <a:latin typeface="Calibri"/>
                <a:cs typeface="Calibri"/>
              </a:rPr>
              <a:t>s</a:t>
            </a:r>
            <a:r>
              <a:rPr sz="3600" spc="-22" baseline="1157" dirty="0">
                <a:latin typeface="Calibri"/>
                <a:cs typeface="Calibri"/>
              </a:rPr>
              <a:t>e</a:t>
            </a:r>
            <a:r>
              <a:rPr sz="3600" baseline="1157" dirty="0">
                <a:latin typeface="Calibri"/>
                <a:cs typeface="Calibri"/>
              </a:rPr>
              <a:t> </a:t>
            </a:r>
            <a:r>
              <a:rPr sz="3600" spc="-30" baseline="1157" dirty="0">
                <a:latin typeface="Calibri"/>
                <a:cs typeface="Calibri"/>
              </a:rPr>
              <a:t>m</a:t>
            </a:r>
            <a:r>
              <a:rPr sz="3600" baseline="1157" dirty="0">
                <a:latin typeface="Calibri"/>
                <a:cs typeface="Calibri"/>
              </a:rPr>
              <a:t>ultipl</a:t>
            </a:r>
            <a:r>
              <a:rPr sz="3600" spc="-22" baseline="1157" dirty="0">
                <a:latin typeface="Calibri"/>
                <a:cs typeface="Calibri"/>
              </a:rPr>
              <a:t>e</a:t>
            </a:r>
            <a:r>
              <a:rPr sz="3600" baseline="1157" dirty="0">
                <a:latin typeface="Calibri"/>
                <a:cs typeface="Calibri"/>
              </a:rPr>
              <a:t> f</a:t>
            </a:r>
            <a:r>
              <a:rPr sz="3600" spc="-89" baseline="1157" dirty="0">
                <a:latin typeface="Calibri"/>
                <a:cs typeface="Calibri"/>
              </a:rPr>
              <a:t>r</a:t>
            </a:r>
            <a:r>
              <a:rPr sz="3600" spc="-22" baseline="1157" dirty="0">
                <a:latin typeface="Calibri"/>
                <a:cs typeface="Calibri"/>
              </a:rPr>
              <a:t>ame</a:t>
            </a:r>
            <a:r>
              <a:rPr sz="3600" baseline="1157" dirty="0">
                <a:latin typeface="Calibri"/>
                <a:cs typeface="Calibri"/>
              </a:rPr>
              <a:t>s</a:t>
            </a:r>
            <a:endParaRPr sz="3600" baseline="1157">
              <a:latin typeface="Calibri"/>
              <a:cs typeface="Calibri"/>
            </a:endParaRPr>
          </a:p>
          <a:p>
            <a:pPr lvl="1">
              <a:lnSpc>
                <a:spcPct val="100000"/>
              </a:lnSpc>
              <a:spcBef>
                <a:spcPts val="33"/>
              </a:spcBef>
              <a:buFont typeface="Arial"/>
              <a:buChar char="•"/>
            </a:pPr>
            <a:endParaRPr sz="3350">
              <a:latin typeface="Times New Roman"/>
              <a:cs typeface="Times New Roman"/>
            </a:endParaRPr>
          </a:p>
          <a:p>
            <a:pPr marL="241300" indent="-228600">
              <a:lnSpc>
                <a:spcPct val="100000"/>
              </a:lnSpc>
              <a:buFont typeface="Arial"/>
              <a:buChar char="•"/>
              <a:tabLst>
                <a:tab pos="241300" algn="l"/>
              </a:tabLst>
            </a:pPr>
            <a:r>
              <a:rPr sz="2800" spc="-70" dirty="0">
                <a:latin typeface="Calibri"/>
                <a:cs typeface="Calibri"/>
              </a:rPr>
              <a:t>R</a:t>
            </a:r>
            <a:r>
              <a:rPr sz="2800" spc="-15" dirty="0">
                <a:latin typeface="Calibri"/>
                <a:cs typeface="Calibri"/>
              </a:rPr>
              <a:t>e</a:t>
            </a:r>
            <a:r>
              <a:rPr sz="2800" dirty="0">
                <a:latin typeface="Calibri"/>
                <a:cs typeface="Calibri"/>
              </a:rPr>
              <a:t>du</a:t>
            </a:r>
            <a:r>
              <a:rPr sz="2800" spc="-15" dirty="0">
                <a:latin typeface="Calibri"/>
                <a:cs typeface="Calibri"/>
              </a:rPr>
              <a:t>ce</a:t>
            </a:r>
            <a:r>
              <a:rPr sz="2800" dirty="0">
                <a:latin typeface="Calibri"/>
                <a:cs typeface="Calibri"/>
              </a:rPr>
              <a:t> si</a:t>
            </a:r>
            <a:r>
              <a:rPr sz="2800" spc="-65" dirty="0">
                <a:latin typeface="Calibri"/>
                <a:cs typeface="Calibri"/>
              </a:rPr>
              <a:t>z</a:t>
            </a:r>
            <a:r>
              <a:rPr sz="2800" spc="-15" dirty="0">
                <a:latin typeface="Calibri"/>
                <a:cs typeface="Calibri"/>
              </a:rPr>
              <a:t>e</a:t>
            </a:r>
            <a:r>
              <a:rPr sz="2800" dirty="0">
                <a:latin typeface="Calibri"/>
                <a:cs typeface="Calibri"/>
              </a:rPr>
              <a:t> </a:t>
            </a:r>
            <a:r>
              <a:rPr sz="2800" spc="-5" dirty="0">
                <a:latin typeface="Calibri"/>
                <a:cs typeface="Calibri"/>
              </a:rPr>
              <a:t>o</a:t>
            </a:r>
            <a:r>
              <a:rPr sz="2800" dirty="0">
                <a:latin typeface="Calibri"/>
                <a:cs typeface="Calibri"/>
              </a:rPr>
              <a:t>f th</a:t>
            </a:r>
            <a:r>
              <a:rPr sz="2800" spc="-15" dirty="0">
                <a:latin typeface="Calibri"/>
                <a:cs typeface="Calibri"/>
              </a:rPr>
              <a:t>e</a:t>
            </a:r>
            <a:r>
              <a:rPr sz="2800" dirty="0">
                <a:latin typeface="Calibri"/>
                <a:cs typeface="Calibri"/>
              </a:rPr>
              <a:t> inpu</a:t>
            </a:r>
            <a:r>
              <a:rPr sz="2800" spc="-10" dirty="0">
                <a:latin typeface="Calibri"/>
                <a:cs typeface="Calibri"/>
              </a:rPr>
              <a:t>t</a:t>
            </a:r>
            <a:r>
              <a:rPr sz="2800" dirty="0">
                <a:latin typeface="Calibri"/>
                <a:cs typeface="Calibri"/>
              </a:rPr>
              <a:t> i</a:t>
            </a:r>
            <a:r>
              <a:rPr sz="2800" spc="-20" dirty="0">
                <a:latin typeface="Calibri"/>
                <a:cs typeface="Calibri"/>
              </a:rPr>
              <a:t>ma</a:t>
            </a:r>
            <a:r>
              <a:rPr sz="2800" spc="-40" dirty="0">
                <a:latin typeface="Calibri"/>
                <a:cs typeface="Calibri"/>
              </a:rPr>
              <a:t>g</a:t>
            </a:r>
            <a:r>
              <a:rPr sz="2800" spc="-15" dirty="0">
                <a:latin typeface="Calibri"/>
                <a:cs typeface="Calibri"/>
              </a:rPr>
              <a:t>e</a:t>
            </a:r>
            <a:r>
              <a:rPr sz="2800" dirty="0">
                <a:latin typeface="Calibri"/>
                <a:cs typeface="Calibri"/>
              </a:rPr>
              <a:t> </a:t>
            </a:r>
            <a:r>
              <a:rPr sz="2800" spc="-15" dirty="0">
                <a:latin typeface="Calibri"/>
                <a:cs typeface="Calibri"/>
              </a:rPr>
              <a:t>by</a:t>
            </a:r>
            <a:endParaRPr sz="2800">
              <a:latin typeface="Calibri"/>
              <a:cs typeface="Calibri"/>
            </a:endParaRPr>
          </a:p>
          <a:p>
            <a:pPr marL="698500" lvl="1" indent="-228600">
              <a:lnSpc>
                <a:spcPct val="100000"/>
              </a:lnSpc>
              <a:spcBef>
                <a:spcPts val="244"/>
              </a:spcBef>
              <a:buFont typeface="Arial"/>
              <a:buChar char="•"/>
              <a:tabLst>
                <a:tab pos="698500" algn="l"/>
              </a:tabLst>
            </a:pPr>
            <a:r>
              <a:rPr sz="3600" spc="-30" baseline="1157" dirty="0">
                <a:latin typeface="Calibri"/>
                <a:cs typeface="Calibri"/>
              </a:rPr>
              <a:t>U</a:t>
            </a:r>
            <a:r>
              <a:rPr sz="3600" baseline="1157" dirty="0">
                <a:latin typeface="Calibri"/>
                <a:cs typeface="Calibri"/>
              </a:rPr>
              <a:t>sin</a:t>
            </a:r>
            <a:r>
              <a:rPr sz="3600" spc="-22" baseline="1157" dirty="0">
                <a:latin typeface="Calibri"/>
                <a:cs typeface="Calibri"/>
              </a:rPr>
              <a:t>g</a:t>
            </a:r>
            <a:r>
              <a:rPr sz="3600" baseline="1157" dirty="0">
                <a:latin typeface="Calibri"/>
                <a:cs typeface="Calibri"/>
              </a:rPr>
              <a:t> </a:t>
            </a:r>
            <a:r>
              <a:rPr sz="3600" spc="-22" baseline="1157" dirty="0">
                <a:latin typeface="Calibri"/>
                <a:cs typeface="Calibri"/>
              </a:rPr>
              <a:t>g</a:t>
            </a:r>
            <a:r>
              <a:rPr sz="3600" spc="-67" baseline="1157" dirty="0">
                <a:latin typeface="Calibri"/>
                <a:cs typeface="Calibri"/>
              </a:rPr>
              <a:t>r</a:t>
            </a:r>
            <a:r>
              <a:rPr sz="3600" spc="-52" baseline="1157" dirty="0">
                <a:latin typeface="Calibri"/>
                <a:cs typeface="Calibri"/>
              </a:rPr>
              <a:t>e</a:t>
            </a:r>
            <a:r>
              <a:rPr sz="3600" spc="-60" baseline="1157" dirty="0">
                <a:latin typeface="Calibri"/>
                <a:cs typeface="Calibri"/>
              </a:rPr>
              <a:t>y</a:t>
            </a:r>
            <a:r>
              <a:rPr sz="3600" baseline="1157" dirty="0">
                <a:latin typeface="Calibri"/>
                <a:cs typeface="Calibri"/>
              </a:rPr>
              <a:t>s</a:t>
            </a:r>
            <a:r>
              <a:rPr sz="3600" spc="-52" baseline="1157" dirty="0">
                <a:latin typeface="Calibri"/>
                <a:cs typeface="Calibri"/>
              </a:rPr>
              <a:t>c</a:t>
            </a:r>
            <a:r>
              <a:rPr sz="3600" baseline="1157" dirty="0">
                <a:latin typeface="Calibri"/>
                <a:cs typeface="Calibri"/>
              </a:rPr>
              <a:t>al</a:t>
            </a:r>
            <a:r>
              <a:rPr sz="3600" spc="-15" baseline="1157" dirty="0">
                <a:latin typeface="Calibri"/>
                <a:cs typeface="Calibri"/>
              </a:rPr>
              <a:t>e,</a:t>
            </a:r>
            <a:endParaRPr sz="3600" baseline="1157">
              <a:latin typeface="Calibri"/>
              <a:cs typeface="Calibri"/>
            </a:endParaRPr>
          </a:p>
          <a:p>
            <a:pPr marL="698500" lvl="1" indent="-228600">
              <a:lnSpc>
                <a:spcPct val="100000"/>
              </a:lnSpc>
              <a:spcBef>
                <a:spcPts val="229"/>
              </a:spcBef>
              <a:buFont typeface="Arial"/>
              <a:buChar char="•"/>
              <a:tabLst>
                <a:tab pos="698500" algn="l"/>
              </a:tabLst>
            </a:pPr>
            <a:r>
              <a:rPr sz="3600" spc="-89" baseline="1157" dirty="0">
                <a:latin typeface="Calibri"/>
                <a:cs typeface="Calibri"/>
              </a:rPr>
              <a:t>R</a:t>
            </a:r>
            <a:r>
              <a:rPr sz="3600" spc="-22" baseline="1157" dirty="0">
                <a:latin typeface="Calibri"/>
                <a:cs typeface="Calibri"/>
              </a:rPr>
              <a:t>e</a:t>
            </a:r>
            <a:r>
              <a:rPr sz="3600" baseline="1157" dirty="0">
                <a:latin typeface="Calibri"/>
                <a:cs typeface="Calibri"/>
              </a:rPr>
              <a:t>s</a:t>
            </a:r>
            <a:r>
              <a:rPr sz="3600" spc="-52" baseline="1157" dirty="0">
                <a:latin typeface="Calibri"/>
                <a:cs typeface="Calibri"/>
              </a:rPr>
              <a:t>c</a:t>
            </a:r>
            <a:r>
              <a:rPr sz="3600" baseline="1157" dirty="0">
                <a:latin typeface="Calibri"/>
                <a:cs typeface="Calibri"/>
              </a:rPr>
              <a:t>alin</a:t>
            </a:r>
            <a:r>
              <a:rPr sz="3600" spc="-22" baseline="1157" dirty="0">
                <a:latin typeface="Calibri"/>
                <a:cs typeface="Calibri"/>
              </a:rPr>
              <a:t>g</a:t>
            </a:r>
            <a:r>
              <a:rPr sz="3600" baseline="1157" dirty="0">
                <a:latin typeface="Calibri"/>
                <a:cs typeface="Calibri"/>
              </a:rPr>
              <a:t> f</a:t>
            </a:r>
            <a:r>
              <a:rPr sz="3600" spc="-89" baseline="1157" dirty="0">
                <a:latin typeface="Calibri"/>
                <a:cs typeface="Calibri"/>
              </a:rPr>
              <a:t>r</a:t>
            </a:r>
            <a:r>
              <a:rPr sz="3600" spc="-22" baseline="1157" dirty="0">
                <a:latin typeface="Calibri"/>
                <a:cs typeface="Calibri"/>
              </a:rPr>
              <a:t>ame</a:t>
            </a:r>
            <a:r>
              <a:rPr sz="3600" baseline="1157" dirty="0">
                <a:latin typeface="Calibri"/>
                <a:cs typeface="Calibri"/>
              </a:rPr>
              <a:t> si</a:t>
            </a:r>
            <a:r>
              <a:rPr sz="3600" spc="-82" baseline="1157" dirty="0">
                <a:latin typeface="Calibri"/>
                <a:cs typeface="Calibri"/>
              </a:rPr>
              <a:t>z</a:t>
            </a:r>
            <a:r>
              <a:rPr sz="3600" spc="-22" baseline="1157" dirty="0">
                <a:latin typeface="Calibri"/>
                <a:cs typeface="Calibri"/>
              </a:rPr>
              <a:t>e</a:t>
            </a:r>
            <a:r>
              <a:rPr sz="3600" baseline="1157" dirty="0">
                <a:latin typeface="Calibri"/>
                <a:cs typeface="Calibri"/>
              </a:rPr>
              <a:t> </a:t>
            </a:r>
            <a:r>
              <a:rPr sz="3600" spc="-52" baseline="1157" dirty="0">
                <a:latin typeface="Calibri"/>
                <a:cs typeface="Calibri"/>
              </a:rPr>
              <a:t>t</a:t>
            </a:r>
            <a:r>
              <a:rPr sz="3600" baseline="1157" dirty="0">
                <a:latin typeface="Calibri"/>
                <a:cs typeface="Calibri"/>
              </a:rPr>
              <a:t>o </a:t>
            </a:r>
            <a:r>
              <a:rPr sz="3600" spc="-22" baseline="1157" dirty="0">
                <a:latin typeface="Calibri"/>
                <a:cs typeface="Calibri"/>
              </a:rPr>
              <a:t>84</a:t>
            </a:r>
            <a:r>
              <a:rPr sz="3600" baseline="1157" dirty="0">
                <a:latin typeface="Calibri"/>
                <a:cs typeface="Calibri"/>
              </a:rPr>
              <a:t> x </a:t>
            </a:r>
            <a:r>
              <a:rPr sz="3600" spc="-22" baseline="1157" dirty="0">
                <a:latin typeface="Calibri"/>
                <a:cs typeface="Calibri"/>
              </a:rPr>
              <a:t>84</a:t>
            </a:r>
            <a:endParaRPr sz="3600" baseline="1157">
              <a:latin typeface="Calibri"/>
              <a:cs typeface="Calibri"/>
            </a:endParaRPr>
          </a:p>
        </p:txBody>
      </p:sp>
      <p:sp>
        <p:nvSpPr>
          <p:cNvPr id="7" name="Rectangle 6">
            <a:extLst>
              <a:ext uri="{FF2B5EF4-FFF2-40B4-BE49-F238E27FC236}">
                <a16:creationId xmlns:a16="http://schemas.microsoft.com/office/drawing/2014/main" id="{CAAE73E3-E08A-16AC-6FBE-BF23804BBCA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975AB0-3068-AE3B-6870-525BABE2BB1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9" name="Rectangle 8">
            <a:extLst>
              <a:ext uri="{FF2B5EF4-FFF2-40B4-BE49-F238E27FC236}">
                <a16:creationId xmlns:a16="http://schemas.microsoft.com/office/drawing/2014/main" id="{D17E93A3-54EF-7230-880C-07DC2B5656EF}"/>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0" name="Slide Number Placeholder 9">
            <a:extLst>
              <a:ext uri="{FF2B5EF4-FFF2-40B4-BE49-F238E27FC236}">
                <a16:creationId xmlns:a16="http://schemas.microsoft.com/office/drawing/2014/main" id="{70B8AF9A-C895-1B4A-F258-5275C24D12AF}"/>
              </a:ext>
            </a:extLst>
          </p:cNvPr>
          <p:cNvSpPr>
            <a:spLocks noGrp="1"/>
          </p:cNvSpPr>
          <p:nvPr>
            <p:ph type="sldNum" sz="quarter" idx="7"/>
          </p:nvPr>
        </p:nvSpPr>
        <p:spPr/>
        <p:txBody>
          <a:bodyPr/>
          <a:lstStyle/>
          <a:p>
            <a:pPr marL="25400"/>
            <a:fld id="{81D60167-4931-47E6-BA6A-407CBD079E47}" type="slidenum">
              <a:rPr lang="en-US" smtClean="0"/>
              <a:pPr marL="25400"/>
              <a:t>22</a:t>
            </a:fld>
            <a:r>
              <a:rPr lang="en-US"/>
              <a:t>/27</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Subsampling</a:t>
            </a:r>
          </a:p>
        </p:txBody>
      </p:sp>
      <p:sp>
        <p:nvSpPr>
          <p:cNvPr id="4" name="object 4"/>
          <p:cNvSpPr/>
          <p:nvPr/>
        </p:nvSpPr>
        <p:spPr>
          <a:xfrm>
            <a:off x="1037431" y="2425302"/>
            <a:ext cx="6843712" cy="2007393"/>
          </a:xfrm>
          <a:prstGeom prst="rect">
            <a:avLst/>
          </a:prstGeom>
          <a:blipFill>
            <a:blip r:embed="rId3" cstate="print"/>
            <a:stretch>
              <a:fillRect/>
            </a:stretch>
          </a:blipFill>
        </p:spPr>
        <p:txBody>
          <a:bodyPr wrap="square" lIns="0" tIns="0" rIns="0" bIns="0" rtlCol="0"/>
          <a:lstStyle/>
          <a:p>
            <a:endParaRPr/>
          </a:p>
        </p:txBody>
      </p:sp>
      <p:sp>
        <p:nvSpPr>
          <p:cNvPr id="7" name="Rectangle 6">
            <a:extLst>
              <a:ext uri="{FF2B5EF4-FFF2-40B4-BE49-F238E27FC236}">
                <a16:creationId xmlns:a16="http://schemas.microsoft.com/office/drawing/2014/main" id="{2DFDC78A-C882-172F-33B8-3564236B0A4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2B93D25-4425-7E95-F659-6631B739264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9" name="Rectangle 8">
            <a:extLst>
              <a:ext uri="{FF2B5EF4-FFF2-40B4-BE49-F238E27FC236}">
                <a16:creationId xmlns:a16="http://schemas.microsoft.com/office/drawing/2014/main" id="{F60AD8EF-1CE7-5752-CD17-AEFF801AAB0C}"/>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0" name="Slide Number Placeholder 9">
            <a:extLst>
              <a:ext uri="{FF2B5EF4-FFF2-40B4-BE49-F238E27FC236}">
                <a16:creationId xmlns:a16="http://schemas.microsoft.com/office/drawing/2014/main" id="{A2417C91-FAD8-65BE-F6D7-BBD796B53341}"/>
              </a:ext>
            </a:extLst>
          </p:cNvPr>
          <p:cNvSpPr>
            <a:spLocks noGrp="1"/>
          </p:cNvSpPr>
          <p:nvPr>
            <p:ph type="sldNum" sz="quarter" idx="7"/>
          </p:nvPr>
        </p:nvSpPr>
        <p:spPr/>
        <p:txBody>
          <a:bodyPr/>
          <a:lstStyle/>
          <a:p>
            <a:pPr marL="25400"/>
            <a:fld id="{81D60167-4931-47E6-BA6A-407CBD079E47}" type="slidenum">
              <a:rPr lang="en-US" smtClean="0"/>
              <a:pPr marL="25400"/>
              <a:t>23</a:t>
            </a:fld>
            <a:r>
              <a:rPr lang="en-US"/>
              <a:t>/27</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2-dimensional</a:t>
            </a:r>
            <a:r>
              <a:rPr spc="-5" dirty="0"/>
              <a:t> </a:t>
            </a:r>
            <a:r>
              <a:rPr dirty="0"/>
              <a:t>inpu</a:t>
            </a:r>
            <a:r>
              <a:rPr spc="-10" dirty="0"/>
              <a:t>t</a:t>
            </a:r>
            <a:r>
              <a:rPr spc="-5" dirty="0"/>
              <a:t> </a:t>
            </a:r>
            <a:r>
              <a:rPr dirty="0"/>
              <a:t>(spa</a:t>
            </a:r>
            <a:r>
              <a:rPr spc="-15" dirty="0"/>
              <a:t>t</a:t>
            </a:r>
            <a:r>
              <a:rPr dirty="0"/>
              <a:t>ial</a:t>
            </a:r>
            <a:r>
              <a:rPr spc="-5" dirty="0"/>
              <a:t> </a:t>
            </a:r>
            <a:r>
              <a:rPr dirty="0"/>
              <a:t>con</a:t>
            </a:r>
            <a:r>
              <a:rPr spc="-15" dirty="0"/>
              <a:t>t</a:t>
            </a:r>
            <a:r>
              <a:rPr dirty="0"/>
              <a:t>e</a:t>
            </a:r>
            <a:r>
              <a:rPr spc="-20" dirty="0"/>
              <a:t>x</a:t>
            </a:r>
            <a:r>
              <a:rPr spc="-15" dirty="0"/>
              <a:t>t</a:t>
            </a:r>
            <a:r>
              <a:rPr dirty="0"/>
              <a:t>)</a:t>
            </a:r>
          </a:p>
        </p:txBody>
      </p:sp>
      <p:sp>
        <p:nvSpPr>
          <p:cNvPr id="4" name="object 4"/>
          <p:cNvSpPr txBox="1"/>
          <p:nvPr/>
        </p:nvSpPr>
        <p:spPr>
          <a:xfrm>
            <a:off x="537527" y="2257080"/>
            <a:ext cx="7502525" cy="3146425"/>
          </a:xfrm>
          <a:prstGeom prst="rect">
            <a:avLst/>
          </a:prstGeom>
        </p:spPr>
        <p:txBody>
          <a:bodyPr vert="horz" wrap="square" lIns="0" tIns="0" rIns="0" bIns="0" rtlCol="0">
            <a:spAutoFit/>
          </a:bodyPr>
          <a:lstStyle/>
          <a:p>
            <a:pPr marL="238760" marR="5080" indent="-226060">
              <a:lnSpc>
                <a:spcPts val="2910"/>
              </a:lnSpc>
              <a:buFont typeface="Arial"/>
              <a:buChar char="•"/>
              <a:tabLst>
                <a:tab pos="239395" algn="l"/>
              </a:tabLst>
            </a:pPr>
            <a:r>
              <a:rPr sz="4125" spc="-44" baseline="1010" dirty="0">
                <a:latin typeface="Calibri"/>
                <a:cs typeface="Calibri"/>
              </a:rPr>
              <a:t>B</a:t>
            </a:r>
            <a:r>
              <a:rPr sz="4125" baseline="1010" dirty="0">
                <a:latin typeface="Calibri"/>
                <a:cs typeface="Calibri"/>
              </a:rPr>
              <a:t>y</a:t>
            </a:r>
            <a:r>
              <a:rPr sz="4125" spc="7" baseline="1010" dirty="0">
                <a:latin typeface="Calibri"/>
                <a:cs typeface="Calibri"/>
              </a:rPr>
              <a:t> </a:t>
            </a:r>
            <a:r>
              <a:rPr sz="4125" spc="-60" baseline="1010" dirty="0">
                <a:latin typeface="Calibri"/>
                <a:cs typeface="Calibri"/>
              </a:rPr>
              <a:t>r</a:t>
            </a:r>
            <a:r>
              <a:rPr sz="4125" baseline="1010" dirty="0">
                <a:latin typeface="Calibri"/>
                <a:cs typeface="Calibri"/>
              </a:rPr>
              <a:t>educ</a:t>
            </a:r>
            <a:r>
              <a:rPr sz="4125" spc="7" baseline="1010" dirty="0">
                <a:latin typeface="Calibri"/>
                <a:cs typeface="Calibri"/>
              </a:rPr>
              <a:t>i</a:t>
            </a:r>
            <a:r>
              <a:rPr sz="4125" baseline="1010" dirty="0">
                <a:latin typeface="Calibri"/>
                <a:cs typeface="Calibri"/>
              </a:rPr>
              <a:t>ng</a:t>
            </a:r>
            <a:r>
              <a:rPr sz="4125" spc="7" baseline="1010" dirty="0">
                <a:latin typeface="Calibri"/>
                <a:cs typeface="Calibri"/>
              </a:rPr>
              <a:t> i</a:t>
            </a:r>
            <a:r>
              <a:rPr sz="4125" baseline="1010" dirty="0">
                <a:latin typeface="Calibri"/>
                <a:cs typeface="Calibri"/>
              </a:rPr>
              <a:t>nput</a:t>
            </a:r>
            <a:r>
              <a:rPr sz="4125" spc="7" baseline="1010" dirty="0">
                <a:latin typeface="Calibri"/>
                <a:cs typeface="Calibri"/>
              </a:rPr>
              <a:t> </a:t>
            </a:r>
            <a:r>
              <a:rPr sz="4125" baseline="1010" dirty="0">
                <a:latin typeface="Calibri"/>
                <a:cs typeface="Calibri"/>
              </a:rPr>
              <a:t>s</a:t>
            </a:r>
            <a:r>
              <a:rPr sz="4125" spc="7" baseline="1010" dirty="0">
                <a:latin typeface="Calibri"/>
                <a:cs typeface="Calibri"/>
              </a:rPr>
              <a:t>i</a:t>
            </a:r>
            <a:r>
              <a:rPr sz="4125" spc="-97" baseline="1010" dirty="0">
                <a:latin typeface="Calibri"/>
                <a:cs typeface="Calibri"/>
              </a:rPr>
              <a:t>z</a:t>
            </a:r>
            <a:r>
              <a:rPr sz="4125" baseline="1010" dirty="0">
                <a:latin typeface="Calibri"/>
                <a:cs typeface="Calibri"/>
              </a:rPr>
              <a:t>e</a:t>
            </a:r>
            <a:r>
              <a:rPr sz="4125" spc="7" baseline="1010" dirty="0">
                <a:latin typeface="Calibri"/>
                <a:cs typeface="Calibri"/>
              </a:rPr>
              <a:t> </a:t>
            </a:r>
            <a:r>
              <a:rPr sz="4125" spc="-37" baseline="1010" dirty="0">
                <a:latin typeface="Calibri"/>
                <a:cs typeface="Calibri"/>
              </a:rPr>
              <a:t>w</a:t>
            </a:r>
            <a:r>
              <a:rPr sz="4125" baseline="1010" dirty="0">
                <a:latin typeface="Calibri"/>
                <a:cs typeface="Calibri"/>
              </a:rPr>
              <a:t>e</a:t>
            </a:r>
            <a:r>
              <a:rPr sz="4125" spc="7" baseline="1010" dirty="0">
                <a:latin typeface="Calibri"/>
                <a:cs typeface="Calibri"/>
              </a:rPr>
              <a:t> </a:t>
            </a:r>
            <a:r>
              <a:rPr sz="4125" baseline="1010" dirty="0">
                <a:latin typeface="Calibri"/>
                <a:cs typeface="Calibri"/>
              </a:rPr>
              <a:t>end</a:t>
            </a:r>
            <a:r>
              <a:rPr sz="4125" spc="7" baseline="1010" dirty="0">
                <a:latin typeface="Calibri"/>
                <a:cs typeface="Calibri"/>
              </a:rPr>
              <a:t> </a:t>
            </a:r>
            <a:r>
              <a:rPr sz="4125" baseline="1010" dirty="0">
                <a:latin typeface="Calibri"/>
                <a:cs typeface="Calibri"/>
              </a:rPr>
              <a:t>up</a:t>
            </a:r>
            <a:r>
              <a:rPr sz="4125" spc="7" baseline="1010" dirty="0">
                <a:latin typeface="Calibri"/>
                <a:cs typeface="Calibri"/>
              </a:rPr>
              <a:t> </a:t>
            </a:r>
            <a:r>
              <a:rPr sz="4125" spc="-7" baseline="1010" dirty="0">
                <a:latin typeface="Calibri"/>
                <a:cs typeface="Calibri"/>
              </a:rPr>
              <a:t>w</a:t>
            </a:r>
            <a:r>
              <a:rPr sz="4125" spc="7" baseline="1010" dirty="0">
                <a:latin typeface="Calibri"/>
                <a:cs typeface="Calibri"/>
              </a:rPr>
              <a:t>i</a:t>
            </a:r>
            <a:r>
              <a:rPr sz="4125" baseline="1010" dirty="0">
                <a:latin typeface="Calibri"/>
                <a:cs typeface="Calibri"/>
              </a:rPr>
              <a:t>th</a:t>
            </a:r>
            <a:r>
              <a:rPr sz="4125" spc="7" baseline="1010" dirty="0">
                <a:latin typeface="Calibri"/>
                <a:cs typeface="Calibri"/>
              </a:rPr>
              <a:t> </a:t>
            </a:r>
            <a:r>
              <a:rPr sz="4125" baseline="1010" dirty="0">
                <a:latin typeface="Calibri"/>
                <a:cs typeface="Calibri"/>
              </a:rPr>
              <a:t>4</a:t>
            </a:r>
            <a:r>
              <a:rPr sz="4125" spc="7" baseline="1010" dirty="0">
                <a:latin typeface="Calibri"/>
                <a:cs typeface="Calibri"/>
              </a:rPr>
              <a:t> </a:t>
            </a:r>
            <a:r>
              <a:rPr sz="4125" baseline="1010" dirty="0">
                <a:latin typeface="Calibri"/>
                <a:cs typeface="Calibri"/>
              </a:rPr>
              <a:t>x</a:t>
            </a:r>
            <a:r>
              <a:rPr sz="4125" spc="7" baseline="1010" dirty="0">
                <a:latin typeface="Calibri"/>
                <a:cs typeface="Calibri"/>
              </a:rPr>
              <a:t> </a:t>
            </a:r>
            <a:r>
              <a:rPr sz="4125" baseline="1010" dirty="0">
                <a:latin typeface="Calibri"/>
                <a:cs typeface="Calibri"/>
              </a:rPr>
              <a:t>84</a:t>
            </a:r>
            <a:r>
              <a:rPr sz="4125" spc="7" baseline="1010" dirty="0">
                <a:latin typeface="Calibri"/>
                <a:cs typeface="Calibri"/>
              </a:rPr>
              <a:t> </a:t>
            </a:r>
            <a:r>
              <a:rPr sz="4125" baseline="1010" dirty="0">
                <a:latin typeface="Calibri"/>
                <a:cs typeface="Calibri"/>
              </a:rPr>
              <a:t>x</a:t>
            </a:r>
            <a:r>
              <a:rPr sz="4125" spc="7" baseline="1010" dirty="0">
                <a:latin typeface="Calibri"/>
                <a:cs typeface="Calibri"/>
              </a:rPr>
              <a:t> </a:t>
            </a:r>
            <a:r>
              <a:rPr sz="4125" baseline="1010" dirty="0">
                <a:latin typeface="Calibri"/>
                <a:cs typeface="Calibri"/>
              </a:rPr>
              <a:t>84</a:t>
            </a:r>
            <a:r>
              <a:rPr sz="4125" spc="7" baseline="1010" dirty="0">
                <a:latin typeface="Calibri"/>
                <a:cs typeface="Calibri"/>
              </a:rPr>
              <a:t> </a:t>
            </a:r>
            <a:r>
              <a:rPr sz="4125" baseline="1010" dirty="0">
                <a:latin typeface="Calibri"/>
                <a:cs typeface="Calibri"/>
              </a:rPr>
              <a:t>= </a:t>
            </a:r>
            <a:r>
              <a:rPr sz="2750" dirty="0">
                <a:latin typeface="Calibri"/>
                <a:cs typeface="Calibri"/>
              </a:rPr>
              <a:t>28,224 p</a:t>
            </a:r>
            <a:r>
              <a:rPr sz="2750" spc="5" dirty="0">
                <a:latin typeface="Calibri"/>
                <a:cs typeface="Calibri"/>
              </a:rPr>
              <a:t>i</a:t>
            </a:r>
            <a:r>
              <a:rPr sz="2750" spc="-75" dirty="0">
                <a:latin typeface="Calibri"/>
                <a:cs typeface="Calibri"/>
              </a:rPr>
              <a:t>x</a:t>
            </a:r>
            <a:r>
              <a:rPr sz="2750" dirty="0">
                <a:latin typeface="Calibri"/>
                <a:cs typeface="Calibri"/>
              </a:rPr>
              <a:t>els</a:t>
            </a:r>
            <a:endParaRPr sz="2750">
              <a:latin typeface="Calibri"/>
              <a:cs typeface="Calibri"/>
            </a:endParaRPr>
          </a:p>
          <a:p>
            <a:pPr>
              <a:lnSpc>
                <a:spcPct val="100000"/>
              </a:lnSpc>
              <a:buFont typeface="Arial"/>
              <a:buChar char="•"/>
            </a:pPr>
            <a:endParaRPr sz="2700">
              <a:latin typeface="Times New Roman"/>
              <a:cs typeface="Times New Roman"/>
            </a:endParaRPr>
          </a:p>
          <a:p>
            <a:pPr marL="238760" marR="73660" indent="-226060">
              <a:lnSpc>
                <a:spcPts val="2910"/>
              </a:lnSpc>
              <a:spcBef>
                <a:spcPts val="1964"/>
              </a:spcBef>
              <a:buFont typeface="Arial"/>
              <a:buChar char="•"/>
              <a:tabLst>
                <a:tab pos="239395" algn="l"/>
              </a:tabLst>
            </a:pPr>
            <a:r>
              <a:rPr sz="4125" baseline="1010" dirty="0">
                <a:latin typeface="Calibri"/>
                <a:cs typeface="Calibri"/>
              </a:rPr>
              <a:t>F</a:t>
            </a:r>
            <a:r>
              <a:rPr sz="4125" spc="7" baseline="1010" dirty="0">
                <a:latin typeface="Calibri"/>
                <a:cs typeface="Calibri"/>
              </a:rPr>
              <a:t>l</a:t>
            </a:r>
            <a:r>
              <a:rPr sz="4125" spc="-44" baseline="1010" dirty="0">
                <a:latin typeface="Calibri"/>
                <a:cs typeface="Calibri"/>
              </a:rPr>
              <a:t>a</a:t>
            </a:r>
            <a:r>
              <a:rPr sz="4125" spc="-60" baseline="1010" dirty="0">
                <a:latin typeface="Calibri"/>
                <a:cs typeface="Calibri"/>
              </a:rPr>
              <a:t>t</a:t>
            </a:r>
            <a:r>
              <a:rPr sz="4125" spc="-44" baseline="1010" dirty="0">
                <a:latin typeface="Calibri"/>
                <a:cs typeface="Calibri"/>
              </a:rPr>
              <a:t>t</a:t>
            </a:r>
            <a:r>
              <a:rPr sz="4125" baseline="1010" dirty="0">
                <a:latin typeface="Calibri"/>
                <a:cs typeface="Calibri"/>
              </a:rPr>
              <a:t>en</a:t>
            </a:r>
            <a:r>
              <a:rPr sz="4125" spc="7" baseline="1010" dirty="0">
                <a:latin typeface="Calibri"/>
                <a:cs typeface="Calibri"/>
              </a:rPr>
              <a:t>i</a:t>
            </a:r>
            <a:r>
              <a:rPr sz="4125" baseline="1010" dirty="0">
                <a:latin typeface="Calibri"/>
                <a:cs typeface="Calibri"/>
              </a:rPr>
              <a:t>ng</a:t>
            </a:r>
            <a:r>
              <a:rPr sz="4125" spc="7" baseline="1010" dirty="0">
                <a:latin typeface="Calibri"/>
                <a:cs typeface="Calibri"/>
              </a:rPr>
              <a:t> </a:t>
            </a:r>
            <a:r>
              <a:rPr sz="4125" baseline="1010" dirty="0">
                <a:latin typeface="Calibri"/>
                <a:cs typeface="Calibri"/>
              </a:rPr>
              <a:t>these</a:t>
            </a:r>
            <a:r>
              <a:rPr sz="4125" spc="7" baseline="1010" dirty="0">
                <a:latin typeface="Calibri"/>
                <a:cs typeface="Calibri"/>
              </a:rPr>
              <a:t> i</a:t>
            </a:r>
            <a:r>
              <a:rPr sz="4125" spc="-44" baseline="1010" dirty="0">
                <a:latin typeface="Calibri"/>
                <a:cs typeface="Calibri"/>
              </a:rPr>
              <a:t>nt</a:t>
            </a:r>
            <a:r>
              <a:rPr sz="4125" baseline="1010" dirty="0">
                <a:latin typeface="Calibri"/>
                <a:cs typeface="Calibri"/>
              </a:rPr>
              <a:t>o</a:t>
            </a:r>
            <a:r>
              <a:rPr sz="4125" spc="7" baseline="1010" dirty="0">
                <a:latin typeface="Calibri"/>
                <a:cs typeface="Calibri"/>
              </a:rPr>
              <a:t> </a:t>
            </a:r>
            <a:r>
              <a:rPr sz="4125" baseline="1010" dirty="0">
                <a:latin typeface="Calibri"/>
                <a:cs typeface="Calibri"/>
              </a:rPr>
              <a:t>an</a:t>
            </a:r>
            <a:r>
              <a:rPr sz="4125" spc="7" baseline="1010" dirty="0">
                <a:latin typeface="Calibri"/>
                <a:cs typeface="Calibri"/>
              </a:rPr>
              <a:t> i</a:t>
            </a:r>
            <a:r>
              <a:rPr sz="4125" baseline="1010" dirty="0">
                <a:latin typeface="Calibri"/>
                <a:cs typeface="Calibri"/>
              </a:rPr>
              <a:t>nput</a:t>
            </a:r>
            <a:r>
              <a:rPr sz="4125" spc="7" baseline="1010" dirty="0">
                <a:latin typeface="Calibri"/>
                <a:cs typeface="Calibri"/>
              </a:rPr>
              <a:t> l</a:t>
            </a:r>
            <a:r>
              <a:rPr sz="4125" spc="-82" baseline="1010" dirty="0">
                <a:latin typeface="Calibri"/>
                <a:cs typeface="Calibri"/>
              </a:rPr>
              <a:t>a</a:t>
            </a:r>
            <a:r>
              <a:rPr sz="4125" spc="-52" baseline="1010" dirty="0">
                <a:latin typeface="Calibri"/>
                <a:cs typeface="Calibri"/>
              </a:rPr>
              <a:t>y</a:t>
            </a:r>
            <a:r>
              <a:rPr sz="4125" baseline="1010" dirty="0">
                <a:latin typeface="Calibri"/>
                <a:cs typeface="Calibri"/>
              </a:rPr>
              <a:t>er</a:t>
            </a:r>
            <a:r>
              <a:rPr sz="4125" spc="7" baseline="1010" dirty="0">
                <a:latin typeface="Calibri"/>
                <a:cs typeface="Calibri"/>
              </a:rPr>
              <a:t> i</a:t>
            </a:r>
            <a:r>
              <a:rPr sz="4125" baseline="1010" dirty="0">
                <a:latin typeface="Calibri"/>
                <a:cs typeface="Calibri"/>
              </a:rPr>
              <a:t>s</a:t>
            </a:r>
            <a:r>
              <a:rPr sz="4125" spc="7" baseline="1010" dirty="0">
                <a:latin typeface="Calibri"/>
                <a:cs typeface="Calibri"/>
              </a:rPr>
              <a:t> </a:t>
            </a:r>
            <a:r>
              <a:rPr sz="4125" baseline="1010" dirty="0">
                <a:latin typeface="Calibri"/>
                <a:cs typeface="Calibri"/>
              </a:rPr>
              <a:t>p</a:t>
            </a:r>
            <a:r>
              <a:rPr sz="4125" spc="-7" baseline="1010" dirty="0">
                <a:latin typeface="Calibri"/>
                <a:cs typeface="Calibri"/>
              </a:rPr>
              <a:t>o</a:t>
            </a:r>
            <a:r>
              <a:rPr sz="4125" baseline="1010" dirty="0">
                <a:latin typeface="Calibri"/>
                <a:cs typeface="Calibri"/>
              </a:rPr>
              <a:t>ss</a:t>
            </a:r>
            <a:r>
              <a:rPr sz="4125" spc="7" baseline="1010" dirty="0">
                <a:latin typeface="Calibri"/>
                <a:cs typeface="Calibri"/>
              </a:rPr>
              <a:t>i</a:t>
            </a:r>
            <a:r>
              <a:rPr sz="4125" baseline="1010" dirty="0">
                <a:latin typeface="Calibri"/>
                <a:cs typeface="Calibri"/>
              </a:rPr>
              <a:t>b</a:t>
            </a:r>
            <a:r>
              <a:rPr sz="4125" spc="7" baseline="1010" dirty="0">
                <a:latin typeface="Calibri"/>
                <a:cs typeface="Calibri"/>
              </a:rPr>
              <a:t>l</a:t>
            </a:r>
            <a:r>
              <a:rPr sz="4125" baseline="1010" dirty="0">
                <a:latin typeface="Calibri"/>
                <a:cs typeface="Calibri"/>
              </a:rPr>
              <a:t>e,</a:t>
            </a:r>
            <a:r>
              <a:rPr sz="4125" spc="7" baseline="1010" dirty="0">
                <a:latin typeface="Calibri"/>
                <a:cs typeface="Calibri"/>
              </a:rPr>
              <a:t> </a:t>
            </a:r>
            <a:r>
              <a:rPr sz="4125" baseline="1010" dirty="0">
                <a:latin typeface="Calibri"/>
                <a:cs typeface="Calibri"/>
              </a:rPr>
              <a:t>but </a:t>
            </a:r>
            <a:r>
              <a:rPr sz="2750" spc="5" dirty="0">
                <a:latin typeface="Calibri"/>
                <a:cs typeface="Calibri"/>
              </a:rPr>
              <a:t>l</a:t>
            </a:r>
            <a:r>
              <a:rPr sz="2750" spc="-5" dirty="0">
                <a:latin typeface="Calibri"/>
                <a:cs typeface="Calibri"/>
              </a:rPr>
              <a:t>o</a:t>
            </a:r>
            <a:r>
              <a:rPr sz="2750" dirty="0">
                <a:latin typeface="Calibri"/>
                <a:cs typeface="Calibri"/>
              </a:rPr>
              <a:t>ses</a:t>
            </a:r>
            <a:r>
              <a:rPr sz="2750" spc="5" dirty="0">
                <a:latin typeface="Calibri"/>
                <a:cs typeface="Calibri"/>
              </a:rPr>
              <a:t> </a:t>
            </a:r>
            <a:r>
              <a:rPr sz="2750" dirty="0">
                <a:latin typeface="Calibri"/>
                <a:cs typeface="Calibri"/>
              </a:rPr>
              <a:t>sp</a:t>
            </a:r>
            <a:r>
              <a:rPr sz="2750" spc="-30" dirty="0">
                <a:latin typeface="Calibri"/>
                <a:cs typeface="Calibri"/>
              </a:rPr>
              <a:t>a</a:t>
            </a:r>
            <a:r>
              <a:rPr sz="2750" dirty="0">
                <a:latin typeface="Calibri"/>
                <a:cs typeface="Calibri"/>
              </a:rPr>
              <a:t>tial</a:t>
            </a:r>
            <a:r>
              <a:rPr sz="2750" spc="5" dirty="0">
                <a:latin typeface="Calibri"/>
                <a:cs typeface="Calibri"/>
              </a:rPr>
              <a:t> </a:t>
            </a:r>
            <a:r>
              <a:rPr sz="2750" spc="-25" dirty="0">
                <a:latin typeface="Calibri"/>
                <a:cs typeface="Calibri"/>
              </a:rPr>
              <a:t>c</a:t>
            </a:r>
            <a:r>
              <a:rPr sz="2750" spc="-5" dirty="0">
                <a:latin typeface="Calibri"/>
                <a:cs typeface="Calibri"/>
              </a:rPr>
              <a:t>o</a:t>
            </a:r>
            <a:r>
              <a:rPr sz="2750" spc="-30" dirty="0">
                <a:latin typeface="Calibri"/>
                <a:cs typeface="Calibri"/>
              </a:rPr>
              <a:t>nt</a:t>
            </a:r>
            <a:r>
              <a:rPr sz="2750" spc="-45" dirty="0">
                <a:latin typeface="Calibri"/>
                <a:cs typeface="Calibri"/>
              </a:rPr>
              <a:t>e</a:t>
            </a:r>
            <a:r>
              <a:rPr sz="2750" spc="5" dirty="0">
                <a:latin typeface="Calibri"/>
                <a:cs typeface="Calibri"/>
              </a:rPr>
              <a:t>x</a:t>
            </a:r>
            <a:r>
              <a:rPr sz="2750" dirty="0">
                <a:latin typeface="Calibri"/>
                <a:cs typeface="Calibri"/>
              </a:rPr>
              <a:t>t</a:t>
            </a:r>
            <a:endParaRPr sz="2750">
              <a:latin typeface="Calibri"/>
              <a:cs typeface="Calibri"/>
            </a:endParaRPr>
          </a:p>
          <a:p>
            <a:pPr>
              <a:lnSpc>
                <a:spcPct val="100000"/>
              </a:lnSpc>
              <a:spcBef>
                <a:spcPts val="50"/>
              </a:spcBef>
              <a:buFont typeface="Arial"/>
              <a:buChar char="•"/>
            </a:pPr>
            <a:endParaRPr sz="4000">
              <a:latin typeface="Times New Roman"/>
              <a:cs typeface="Times New Roman"/>
            </a:endParaRPr>
          </a:p>
          <a:p>
            <a:pPr marL="238760" indent="-226060">
              <a:lnSpc>
                <a:spcPct val="100000"/>
              </a:lnSpc>
              <a:buFont typeface="Arial"/>
              <a:buChar char="•"/>
              <a:tabLst>
                <a:tab pos="239395" algn="l"/>
              </a:tabLst>
            </a:pPr>
            <a:r>
              <a:rPr sz="4125" baseline="1010" dirty="0">
                <a:latin typeface="Calibri"/>
                <a:cs typeface="Calibri"/>
              </a:rPr>
              <a:t>S</a:t>
            </a:r>
            <a:r>
              <a:rPr sz="4125" spc="-7" baseline="1010" dirty="0">
                <a:latin typeface="Calibri"/>
                <a:cs typeface="Calibri"/>
              </a:rPr>
              <a:t>o</a:t>
            </a:r>
            <a:r>
              <a:rPr sz="4125" spc="7" baseline="1010" dirty="0">
                <a:latin typeface="Calibri"/>
                <a:cs typeface="Calibri"/>
              </a:rPr>
              <a:t>l</a:t>
            </a:r>
            <a:r>
              <a:rPr sz="4125" baseline="1010" dirty="0">
                <a:latin typeface="Calibri"/>
                <a:cs typeface="Calibri"/>
              </a:rPr>
              <a:t>uti</a:t>
            </a:r>
            <a:r>
              <a:rPr sz="4125" spc="-7" baseline="1010" dirty="0">
                <a:latin typeface="Calibri"/>
                <a:cs typeface="Calibri"/>
              </a:rPr>
              <a:t>o</a:t>
            </a:r>
            <a:r>
              <a:rPr sz="4125" baseline="1010" dirty="0">
                <a:latin typeface="Calibri"/>
                <a:cs typeface="Calibri"/>
              </a:rPr>
              <a:t>n:</a:t>
            </a:r>
            <a:r>
              <a:rPr sz="4125" spc="7" baseline="1010" dirty="0">
                <a:latin typeface="Calibri"/>
                <a:cs typeface="Calibri"/>
              </a:rPr>
              <a:t> </a:t>
            </a:r>
            <a:r>
              <a:rPr sz="4125" baseline="1010" dirty="0">
                <a:latin typeface="Calibri"/>
                <a:cs typeface="Calibri"/>
              </a:rPr>
              <a:t>use</a:t>
            </a:r>
            <a:r>
              <a:rPr sz="4125" spc="7" baseline="1010" dirty="0">
                <a:latin typeface="Calibri"/>
                <a:cs typeface="Calibri"/>
              </a:rPr>
              <a:t> </a:t>
            </a:r>
            <a:r>
              <a:rPr sz="4125" baseline="1010" dirty="0">
                <a:latin typeface="Calibri"/>
                <a:cs typeface="Calibri"/>
              </a:rPr>
              <a:t>C</a:t>
            </a:r>
            <a:r>
              <a:rPr sz="4125" spc="-7" baseline="1010" dirty="0">
                <a:latin typeface="Calibri"/>
                <a:cs typeface="Calibri"/>
              </a:rPr>
              <a:t>o</a:t>
            </a:r>
            <a:r>
              <a:rPr sz="4125" spc="-75" baseline="1010" dirty="0">
                <a:latin typeface="Calibri"/>
                <a:cs typeface="Calibri"/>
              </a:rPr>
              <a:t>n</a:t>
            </a:r>
            <a:r>
              <a:rPr sz="4125" spc="-44" baseline="1010" dirty="0">
                <a:latin typeface="Calibri"/>
                <a:cs typeface="Calibri"/>
              </a:rPr>
              <a:t>v</a:t>
            </a:r>
            <a:r>
              <a:rPr sz="4125" spc="-7" baseline="1010" dirty="0">
                <a:latin typeface="Calibri"/>
                <a:cs typeface="Calibri"/>
              </a:rPr>
              <a:t>o</a:t>
            </a:r>
            <a:r>
              <a:rPr sz="4125" spc="7" baseline="1010" dirty="0">
                <a:latin typeface="Calibri"/>
                <a:cs typeface="Calibri"/>
              </a:rPr>
              <a:t>l</a:t>
            </a:r>
            <a:r>
              <a:rPr sz="4125" baseline="1010" dirty="0">
                <a:latin typeface="Calibri"/>
                <a:cs typeface="Calibri"/>
              </a:rPr>
              <a:t>uti</a:t>
            </a:r>
            <a:r>
              <a:rPr sz="4125" spc="-7" baseline="1010" dirty="0">
                <a:latin typeface="Calibri"/>
                <a:cs typeface="Calibri"/>
              </a:rPr>
              <a:t>o</a:t>
            </a:r>
            <a:r>
              <a:rPr sz="4125" baseline="1010" dirty="0">
                <a:latin typeface="Calibri"/>
                <a:cs typeface="Calibri"/>
              </a:rPr>
              <a:t>nal</a:t>
            </a:r>
            <a:r>
              <a:rPr sz="4125" spc="7" baseline="1010" dirty="0">
                <a:latin typeface="Calibri"/>
                <a:cs typeface="Calibri"/>
              </a:rPr>
              <a:t> </a:t>
            </a:r>
            <a:r>
              <a:rPr sz="4125" baseline="1010" dirty="0">
                <a:latin typeface="Calibri"/>
                <a:cs typeface="Calibri"/>
              </a:rPr>
              <a:t>Neu</a:t>
            </a:r>
            <a:r>
              <a:rPr sz="4125" spc="-89" baseline="1010" dirty="0">
                <a:latin typeface="Calibri"/>
                <a:cs typeface="Calibri"/>
              </a:rPr>
              <a:t>r</a:t>
            </a:r>
            <a:r>
              <a:rPr sz="4125" baseline="1010" dirty="0">
                <a:latin typeface="Calibri"/>
                <a:cs typeface="Calibri"/>
              </a:rPr>
              <a:t>al</a:t>
            </a:r>
            <a:r>
              <a:rPr sz="4125" spc="7" baseline="1010" dirty="0">
                <a:latin typeface="Calibri"/>
                <a:cs typeface="Calibri"/>
              </a:rPr>
              <a:t> </a:t>
            </a:r>
            <a:r>
              <a:rPr sz="4125" baseline="1010" dirty="0">
                <a:latin typeface="Calibri"/>
                <a:cs typeface="Calibri"/>
              </a:rPr>
              <a:t>N</a:t>
            </a:r>
            <a:r>
              <a:rPr sz="4125" spc="-22" baseline="1010" dirty="0">
                <a:latin typeface="Calibri"/>
                <a:cs typeface="Calibri"/>
              </a:rPr>
              <a:t>e</a:t>
            </a:r>
            <a:r>
              <a:rPr sz="4125" baseline="1010" dirty="0">
                <a:latin typeface="Calibri"/>
                <a:cs typeface="Calibri"/>
              </a:rPr>
              <a:t>t</a:t>
            </a:r>
            <a:r>
              <a:rPr sz="4125" spc="-44" baseline="1010" dirty="0">
                <a:latin typeface="Calibri"/>
                <a:cs typeface="Calibri"/>
              </a:rPr>
              <a:t>w</a:t>
            </a:r>
            <a:r>
              <a:rPr sz="4125" spc="-7" baseline="1010" dirty="0">
                <a:latin typeface="Calibri"/>
                <a:cs typeface="Calibri"/>
              </a:rPr>
              <a:t>o</a:t>
            </a:r>
            <a:r>
              <a:rPr sz="4125" baseline="1010" dirty="0">
                <a:latin typeface="Calibri"/>
                <a:cs typeface="Calibri"/>
              </a:rPr>
              <a:t>r</a:t>
            </a:r>
            <a:r>
              <a:rPr sz="4125" spc="-44" baseline="1010" dirty="0">
                <a:latin typeface="Calibri"/>
                <a:cs typeface="Calibri"/>
              </a:rPr>
              <a:t>k</a:t>
            </a:r>
            <a:r>
              <a:rPr sz="4125" baseline="1010" dirty="0">
                <a:latin typeface="Calibri"/>
                <a:cs typeface="Calibri"/>
              </a:rPr>
              <a:t>s</a:t>
            </a:r>
            <a:endParaRPr sz="4125" baseline="1010">
              <a:latin typeface="Calibri"/>
              <a:cs typeface="Calibri"/>
            </a:endParaRPr>
          </a:p>
        </p:txBody>
      </p:sp>
      <p:sp>
        <p:nvSpPr>
          <p:cNvPr id="7" name="Rectangle 6">
            <a:extLst>
              <a:ext uri="{FF2B5EF4-FFF2-40B4-BE49-F238E27FC236}">
                <a16:creationId xmlns:a16="http://schemas.microsoft.com/office/drawing/2014/main" id="{11290B95-812B-CB89-0B00-7A950D49801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46DCFBF-76A5-C6B7-7564-422F4144C1E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9" name="Rectangle 8">
            <a:extLst>
              <a:ext uri="{FF2B5EF4-FFF2-40B4-BE49-F238E27FC236}">
                <a16:creationId xmlns:a16="http://schemas.microsoft.com/office/drawing/2014/main" id="{9ABD5C2C-9190-C252-7246-E00B92AA7582}"/>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0" name="Slide Number Placeholder 9">
            <a:extLst>
              <a:ext uri="{FF2B5EF4-FFF2-40B4-BE49-F238E27FC236}">
                <a16:creationId xmlns:a16="http://schemas.microsoft.com/office/drawing/2014/main" id="{722F5EEE-5E88-3371-02C8-64C542D5C1CD}"/>
              </a:ext>
            </a:extLst>
          </p:cNvPr>
          <p:cNvSpPr>
            <a:spLocks noGrp="1"/>
          </p:cNvSpPr>
          <p:nvPr>
            <p:ph type="sldNum" sz="quarter" idx="7"/>
          </p:nvPr>
        </p:nvSpPr>
        <p:spPr/>
        <p:txBody>
          <a:bodyPr/>
          <a:lstStyle/>
          <a:p>
            <a:pPr marL="25400"/>
            <a:fld id="{81D60167-4931-47E6-BA6A-407CBD079E47}" type="slidenum">
              <a:rPr lang="en-US" smtClean="0"/>
              <a:pPr marL="25400"/>
              <a:t>24</a:t>
            </a:fld>
            <a:r>
              <a:rPr lang="en-US"/>
              <a:t>/27</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spc="-30" dirty="0"/>
              <a:t>Q</a:t>
            </a:r>
            <a:r>
              <a:rPr dirty="0"/>
              <a:t>-Ne</a:t>
            </a:r>
            <a:r>
              <a:rPr spc="-15" dirty="0"/>
              <a:t>t</a:t>
            </a:r>
            <a:r>
              <a:rPr dirty="0"/>
              <a:t>work</a:t>
            </a:r>
            <a:r>
              <a:rPr spc="-5" dirty="0"/>
              <a:t> </a:t>
            </a:r>
            <a:r>
              <a:rPr spc="-25" dirty="0"/>
              <a:t>S</a:t>
            </a:r>
            <a:r>
              <a:rPr spc="-15" dirty="0"/>
              <a:t>t</a:t>
            </a:r>
            <a:r>
              <a:rPr dirty="0"/>
              <a:t>ru</a:t>
            </a:r>
            <a:r>
              <a:rPr spc="-20" dirty="0"/>
              <a:t>c</a:t>
            </a:r>
            <a:r>
              <a:rPr spc="-15" dirty="0"/>
              <a:t>t</a:t>
            </a:r>
            <a:r>
              <a:rPr dirty="0"/>
              <a:t>ure</a:t>
            </a:r>
          </a:p>
        </p:txBody>
      </p:sp>
      <p:sp>
        <p:nvSpPr>
          <p:cNvPr id="4" name="object 4"/>
          <p:cNvSpPr/>
          <p:nvPr/>
        </p:nvSpPr>
        <p:spPr>
          <a:xfrm>
            <a:off x="31973" y="2399973"/>
            <a:ext cx="6124630" cy="3129909"/>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213857" y="3119818"/>
            <a:ext cx="2869565" cy="1953895"/>
          </a:xfrm>
          <a:prstGeom prst="rect">
            <a:avLst/>
          </a:prstGeom>
        </p:spPr>
        <p:txBody>
          <a:bodyPr vert="horz" wrap="square" lIns="0" tIns="0" rIns="0" bIns="0" rtlCol="0">
            <a:spAutoFit/>
          </a:bodyPr>
          <a:lstStyle/>
          <a:p>
            <a:pPr marL="241300" indent="-228600">
              <a:lnSpc>
                <a:spcPct val="100000"/>
              </a:lnSpc>
              <a:buFont typeface="Arial"/>
              <a:buChar char="•"/>
              <a:tabLst>
                <a:tab pos="241300" algn="l"/>
              </a:tabLst>
            </a:pPr>
            <a:r>
              <a:rPr sz="1600" dirty="0">
                <a:latin typeface="Calibri"/>
                <a:cs typeface="Calibri"/>
              </a:rPr>
              <a:t>s = </a:t>
            </a:r>
            <a:r>
              <a:rPr sz="1600" spc="-10" dirty="0">
                <a:latin typeface="Calibri"/>
                <a:cs typeface="Calibri"/>
              </a:rPr>
              <a:t>4 x 84 x 84 g</a:t>
            </a:r>
            <a:r>
              <a:rPr sz="1600" spc="-45" dirty="0">
                <a:latin typeface="Calibri"/>
                <a:cs typeface="Calibri"/>
              </a:rPr>
              <a:t>r</a:t>
            </a:r>
            <a:r>
              <a:rPr sz="1600" spc="-30" dirty="0">
                <a:latin typeface="Calibri"/>
                <a:cs typeface="Calibri"/>
              </a:rPr>
              <a:t>a</a:t>
            </a:r>
            <a:r>
              <a:rPr sz="1600" spc="-25" dirty="0">
                <a:latin typeface="Calibri"/>
                <a:cs typeface="Calibri"/>
              </a:rPr>
              <a:t>y</a:t>
            </a:r>
            <a:r>
              <a:rPr sz="1600" dirty="0">
                <a:latin typeface="Calibri"/>
                <a:cs typeface="Calibri"/>
              </a:rPr>
              <a:t>s</a:t>
            </a:r>
            <a:r>
              <a:rPr sz="1600" spc="-25" dirty="0">
                <a:latin typeface="Calibri"/>
                <a:cs typeface="Calibri"/>
              </a:rPr>
              <a:t>c</a:t>
            </a:r>
            <a:r>
              <a:rPr sz="1600" dirty="0">
                <a:latin typeface="Calibri"/>
                <a:cs typeface="Calibri"/>
              </a:rPr>
              <a:t>al</a:t>
            </a:r>
            <a:r>
              <a:rPr sz="1600" spc="-10" dirty="0">
                <a:latin typeface="Calibri"/>
                <a:cs typeface="Calibri"/>
              </a:rPr>
              <a:t>e</a:t>
            </a:r>
            <a:r>
              <a:rPr sz="1600" dirty="0">
                <a:latin typeface="Calibri"/>
                <a:cs typeface="Calibri"/>
              </a:rPr>
              <a:t> inpu</a:t>
            </a:r>
            <a:r>
              <a:rPr sz="1600" spc="-5" dirty="0">
                <a:latin typeface="Calibri"/>
                <a:cs typeface="Calibri"/>
              </a:rPr>
              <a:t>t,</a:t>
            </a:r>
            <a:endParaRPr sz="1600">
              <a:latin typeface="Calibri"/>
              <a:cs typeface="Calibri"/>
            </a:endParaRPr>
          </a:p>
          <a:p>
            <a:pPr marL="241300" indent="-228600">
              <a:lnSpc>
                <a:spcPct val="100000"/>
              </a:lnSpc>
              <a:spcBef>
                <a:spcPts val="790"/>
              </a:spcBef>
              <a:buFont typeface="Arial"/>
              <a:buChar char="•"/>
              <a:tabLst>
                <a:tab pos="241300" algn="l"/>
              </a:tabLst>
            </a:pPr>
            <a:r>
              <a:rPr sz="1600" spc="-10" dirty="0">
                <a:latin typeface="Calibri"/>
                <a:cs typeface="Calibri"/>
              </a:rPr>
              <a:t>32 fil</a:t>
            </a:r>
            <a:r>
              <a:rPr sz="1600" spc="-30" dirty="0">
                <a:latin typeface="Calibri"/>
                <a:cs typeface="Calibri"/>
              </a:rPr>
              <a:t>t</a:t>
            </a:r>
            <a:r>
              <a:rPr sz="1600" spc="-10" dirty="0">
                <a:latin typeface="Calibri"/>
                <a:cs typeface="Calibri"/>
              </a:rPr>
              <a:t>e</a:t>
            </a:r>
            <a:r>
              <a:rPr sz="1600" spc="-40" dirty="0">
                <a:latin typeface="Calibri"/>
                <a:cs typeface="Calibri"/>
              </a:rPr>
              <a:t>r</a:t>
            </a:r>
            <a:r>
              <a:rPr sz="1600" dirty="0">
                <a:latin typeface="Calibri"/>
                <a:cs typeface="Calibri"/>
              </a:rPr>
              <a:t>s of </a:t>
            </a:r>
            <a:r>
              <a:rPr sz="1600" spc="-10" dirty="0">
                <a:latin typeface="Calibri"/>
                <a:cs typeface="Calibri"/>
              </a:rPr>
              <a:t>8</a:t>
            </a:r>
            <a:r>
              <a:rPr sz="1600" dirty="0">
                <a:latin typeface="Calibri"/>
                <a:cs typeface="Calibri"/>
              </a:rPr>
              <a:t>x</a:t>
            </a:r>
            <a:r>
              <a:rPr sz="1600" spc="-10" dirty="0">
                <a:latin typeface="Calibri"/>
                <a:cs typeface="Calibri"/>
              </a:rPr>
              <a:t>8</a:t>
            </a:r>
            <a:r>
              <a:rPr sz="1600" dirty="0">
                <a:latin typeface="Calibri"/>
                <a:cs typeface="Calibri"/>
              </a:rPr>
              <a:t> </a:t>
            </a:r>
            <a:r>
              <a:rPr sz="1600" spc="-15" dirty="0">
                <a:latin typeface="Calibri"/>
                <a:cs typeface="Calibri"/>
              </a:rPr>
              <a:t>w</a:t>
            </a:r>
            <a:r>
              <a:rPr sz="1600" dirty="0">
                <a:latin typeface="Calibri"/>
                <a:cs typeface="Calibri"/>
              </a:rPr>
              <a:t>ith </a:t>
            </a:r>
            <a:r>
              <a:rPr sz="1600" spc="-20" dirty="0">
                <a:latin typeface="Calibri"/>
                <a:cs typeface="Calibri"/>
              </a:rPr>
              <a:t>s</a:t>
            </a:r>
            <a:r>
              <a:rPr sz="1600" spc="-10" dirty="0">
                <a:latin typeface="Calibri"/>
                <a:cs typeface="Calibri"/>
              </a:rPr>
              <a:t>tr</a:t>
            </a:r>
            <a:r>
              <a:rPr sz="1600" dirty="0">
                <a:latin typeface="Calibri"/>
                <a:cs typeface="Calibri"/>
              </a:rPr>
              <a:t>id</a:t>
            </a:r>
            <a:r>
              <a:rPr sz="1600" spc="-10" dirty="0">
                <a:latin typeface="Calibri"/>
                <a:cs typeface="Calibri"/>
              </a:rPr>
              <a:t>e</a:t>
            </a:r>
            <a:r>
              <a:rPr sz="1600" dirty="0">
                <a:latin typeface="Calibri"/>
                <a:cs typeface="Calibri"/>
              </a:rPr>
              <a:t> </a:t>
            </a:r>
            <a:r>
              <a:rPr sz="1600" spc="-10" dirty="0">
                <a:latin typeface="Calibri"/>
                <a:cs typeface="Calibri"/>
              </a:rPr>
              <a:t>4,</a:t>
            </a:r>
            <a:endParaRPr sz="1600">
              <a:latin typeface="Calibri"/>
              <a:cs typeface="Calibri"/>
            </a:endParaRPr>
          </a:p>
          <a:p>
            <a:pPr marL="241300" indent="-228600">
              <a:lnSpc>
                <a:spcPct val="100000"/>
              </a:lnSpc>
              <a:spcBef>
                <a:spcPts val="790"/>
              </a:spcBef>
              <a:buFont typeface="Arial"/>
              <a:buChar char="•"/>
              <a:tabLst>
                <a:tab pos="241300" algn="l"/>
              </a:tabLst>
            </a:pPr>
            <a:r>
              <a:rPr sz="1600" spc="-10" dirty="0">
                <a:latin typeface="Calibri"/>
                <a:cs typeface="Calibri"/>
              </a:rPr>
              <a:t>64 fil</a:t>
            </a:r>
            <a:r>
              <a:rPr sz="1600" spc="-30" dirty="0">
                <a:latin typeface="Calibri"/>
                <a:cs typeface="Calibri"/>
              </a:rPr>
              <a:t>t</a:t>
            </a:r>
            <a:r>
              <a:rPr sz="1600" spc="-10" dirty="0">
                <a:latin typeface="Calibri"/>
                <a:cs typeface="Calibri"/>
              </a:rPr>
              <a:t>e</a:t>
            </a:r>
            <a:r>
              <a:rPr sz="1600" spc="-40" dirty="0">
                <a:latin typeface="Calibri"/>
                <a:cs typeface="Calibri"/>
              </a:rPr>
              <a:t>r</a:t>
            </a:r>
            <a:r>
              <a:rPr sz="1600" dirty="0">
                <a:latin typeface="Calibri"/>
                <a:cs typeface="Calibri"/>
              </a:rPr>
              <a:t>s of </a:t>
            </a:r>
            <a:r>
              <a:rPr sz="1600" spc="-10" dirty="0">
                <a:latin typeface="Calibri"/>
                <a:cs typeface="Calibri"/>
              </a:rPr>
              <a:t>4</a:t>
            </a:r>
            <a:r>
              <a:rPr sz="1600" dirty="0">
                <a:latin typeface="Calibri"/>
                <a:cs typeface="Calibri"/>
              </a:rPr>
              <a:t>x</a:t>
            </a:r>
            <a:r>
              <a:rPr sz="1600" spc="-10" dirty="0">
                <a:latin typeface="Calibri"/>
                <a:cs typeface="Calibri"/>
              </a:rPr>
              <a:t>4</a:t>
            </a:r>
            <a:r>
              <a:rPr sz="1600" dirty="0">
                <a:latin typeface="Calibri"/>
                <a:cs typeface="Calibri"/>
              </a:rPr>
              <a:t> </a:t>
            </a:r>
            <a:r>
              <a:rPr sz="1600" spc="-15" dirty="0">
                <a:latin typeface="Calibri"/>
                <a:cs typeface="Calibri"/>
              </a:rPr>
              <a:t>w</a:t>
            </a:r>
            <a:r>
              <a:rPr sz="1600" dirty="0">
                <a:latin typeface="Calibri"/>
                <a:cs typeface="Calibri"/>
              </a:rPr>
              <a:t>ith </a:t>
            </a:r>
            <a:r>
              <a:rPr sz="1600" spc="-20" dirty="0">
                <a:latin typeface="Calibri"/>
                <a:cs typeface="Calibri"/>
              </a:rPr>
              <a:t>s</a:t>
            </a:r>
            <a:r>
              <a:rPr sz="1600" spc="-10" dirty="0">
                <a:latin typeface="Calibri"/>
                <a:cs typeface="Calibri"/>
              </a:rPr>
              <a:t>tr</a:t>
            </a:r>
            <a:r>
              <a:rPr sz="1600" dirty="0">
                <a:latin typeface="Calibri"/>
                <a:cs typeface="Calibri"/>
              </a:rPr>
              <a:t>id</a:t>
            </a:r>
            <a:r>
              <a:rPr sz="1600" spc="-10" dirty="0">
                <a:latin typeface="Calibri"/>
                <a:cs typeface="Calibri"/>
              </a:rPr>
              <a:t>e</a:t>
            </a:r>
            <a:r>
              <a:rPr sz="1600" dirty="0">
                <a:latin typeface="Calibri"/>
                <a:cs typeface="Calibri"/>
              </a:rPr>
              <a:t> </a:t>
            </a:r>
            <a:r>
              <a:rPr sz="1600" spc="-10" dirty="0">
                <a:latin typeface="Calibri"/>
                <a:cs typeface="Calibri"/>
              </a:rPr>
              <a:t>2,</a:t>
            </a:r>
            <a:endParaRPr sz="1600">
              <a:latin typeface="Calibri"/>
              <a:cs typeface="Calibri"/>
            </a:endParaRPr>
          </a:p>
          <a:p>
            <a:pPr marL="241300" indent="-228600">
              <a:lnSpc>
                <a:spcPct val="100000"/>
              </a:lnSpc>
              <a:spcBef>
                <a:spcPts val="790"/>
              </a:spcBef>
              <a:buFont typeface="Arial"/>
              <a:buChar char="•"/>
              <a:tabLst>
                <a:tab pos="241300" algn="l"/>
              </a:tabLst>
            </a:pPr>
            <a:r>
              <a:rPr sz="1600" spc="-10" dirty="0">
                <a:latin typeface="Calibri"/>
                <a:cs typeface="Calibri"/>
              </a:rPr>
              <a:t>64 fil</a:t>
            </a:r>
            <a:r>
              <a:rPr sz="1600" spc="-30" dirty="0">
                <a:latin typeface="Calibri"/>
                <a:cs typeface="Calibri"/>
              </a:rPr>
              <a:t>t</a:t>
            </a:r>
            <a:r>
              <a:rPr sz="1600" spc="-10" dirty="0">
                <a:latin typeface="Calibri"/>
                <a:cs typeface="Calibri"/>
              </a:rPr>
              <a:t>e</a:t>
            </a:r>
            <a:r>
              <a:rPr sz="1600" spc="-40" dirty="0">
                <a:latin typeface="Calibri"/>
                <a:cs typeface="Calibri"/>
              </a:rPr>
              <a:t>r</a:t>
            </a:r>
            <a:r>
              <a:rPr sz="1600" dirty="0">
                <a:latin typeface="Calibri"/>
                <a:cs typeface="Calibri"/>
              </a:rPr>
              <a:t>s of </a:t>
            </a:r>
            <a:r>
              <a:rPr sz="1600" spc="-10" dirty="0">
                <a:latin typeface="Calibri"/>
                <a:cs typeface="Calibri"/>
              </a:rPr>
              <a:t>3</a:t>
            </a:r>
            <a:r>
              <a:rPr sz="1600" dirty="0">
                <a:latin typeface="Calibri"/>
                <a:cs typeface="Calibri"/>
              </a:rPr>
              <a:t>x</a:t>
            </a:r>
            <a:r>
              <a:rPr sz="1600" spc="-10" dirty="0">
                <a:latin typeface="Calibri"/>
                <a:cs typeface="Calibri"/>
              </a:rPr>
              <a:t>3</a:t>
            </a:r>
            <a:r>
              <a:rPr sz="1600" dirty="0">
                <a:latin typeface="Calibri"/>
                <a:cs typeface="Calibri"/>
              </a:rPr>
              <a:t> </a:t>
            </a:r>
            <a:r>
              <a:rPr sz="1600" spc="-15" dirty="0">
                <a:latin typeface="Calibri"/>
                <a:cs typeface="Calibri"/>
              </a:rPr>
              <a:t>w</a:t>
            </a:r>
            <a:r>
              <a:rPr sz="1600" dirty="0">
                <a:latin typeface="Calibri"/>
                <a:cs typeface="Calibri"/>
              </a:rPr>
              <a:t>ith </a:t>
            </a:r>
            <a:r>
              <a:rPr sz="1600" spc="-20" dirty="0">
                <a:latin typeface="Calibri"/>
                <a:cs typeface="Calibri"/>
              </a:rPr>
              <a:t>s</a:t>
            </a:r>
            <a:r>
              <a:rPr sz="1600" spc="-10" dirty="0">
                <a:latin typeface="Calibri"/>
                <a:cs typeface="Calibri"/>
              </a:rPr>
              <a:t>tr</a:t>
            </a:r>
            <a:r>
              <a:rPr sz="1600" dirty="0">
                <a:latin typeface="Calibri"/>
                <a:cs typeface="Calibri"/>
              </a:rPr>
              <a:t>id</a:t>
            </a:r>
            <a:r>
              <a:rPr sz="1600" spc="-10" dirty="0">
                <a:latin typeface="Calibri"/>
                <a:cs typeface="Calibri"/>
              </a:rPr>
              <a:t>e</a:t>
            </a:r>
            <a:r>
              <a:rPr sz="1600" dirty="0">
                <a:latin typeface="Calibri"/>
                <a:cs typeface="Calibri"/>
              </a:rPr>
              <a:t> </a:t>
            </a:r>
            <a:r>
              <a:rPr sz="1600" spc="-10" dirty="0">
                <a:latin typeface="Calibri"/>
                <a:cs typeface="Calibri"/>
              </a:rPr>
              <a:t>1,</a:t>
            </a:r>
            <a:endParaRPr sz="1600">
              <a:latin typeface="Calibri"/>
              <a:cs typeface="Calibri"/>
            </a:endParaRPr>
          </a:p>
          <a:p>
            <a:pPr marL="241300" indent="-228600">
              <a:lnSpc>
                <a:spcPct val="100000"/>
              </a:lnSpc>
              <a:spcBef>
                <a:spcPts val="790"/>
              </a:spcBef>
              <a:buFont typeface="Arial"/>
              <a:buChar char="•"/>
              <a:tabLst>
                <a:tab pos="241300" algn="l"/>
              </a:tabLst>
            </a:pPr>
            <a:r>
              <a:rPr sz="1600" dirty="0">
                <a:latin typeface="Calibri"/>
                <a:cs typeface="Calibri"/>
              </a:rPr>
              <a:t>Full</a:t>
            </a:r>
            <a:r>
              <a:rPr sz="1600" spc="-10" dirty="0">
                <a:latin typeface="Calibri"/>
                <a:cs typeface="Calibri"/>
              </a:rPr>
              <a:t>y </a:t>
            </a:r>
            <a:r>
              <a:rPr sz="1600" spc="-25" dirty="0">
                <a:latin typeface="Calibri"/>
                <a:cs typeface="Calibri"/>
              </a:rPr>
              <a:t>c</a:t>
            </a:r>
            <a:r>
              <a:rPr sz="1600" dirty="0">
                <a:latin typeface="Calibri"/>
                <a:cs typeface="Calibri"/>
              </a:rPr>
              <a:t>onn</a:t>
            </a:r>
            <a:r>
              <a:rPr sz="1600" spc="-10" dirty="0">
                <a:latin typeface="Calibri"/>
                <a:cs typeface="Calibri"/>
              </a:rPr>
              <a:t>ec</a:t>
            </a:r>
            <a:r>
              <a:rPr sz="1600" spc="-30" dirty="0">
                <a:latin typeface="Calibri"/>
                <a:cs typeface="Calibri"/>
              </a:rPr>
              <a:t>t</a:t>
            </a:r>
            <a:r>
              <a:rPr sz="1600" spc="-10" dirty="0">
                <a:latin typeface="Calibri"/>
                <a:cs typeface="Calibri"/>
              </a:rPr>
              <a:t>e</a:t>
            </a:r>
            <a:r>
              <a:rPr sz="1600" dirty="0">
                <a:latin typeface="Calibri"/>
                <a:cs typeface="Calibri"/>
              </a:rPr>
              <a:t>d</a:t>
            </a:r>
            <a:r>
              <a:rPr sz="1600" spc="-5" dirty="0">
                <a:latin typeface="Calibri"/>
                <a:cs typeface="Calibri"/>
              </a:rPr>
              <a:t>,</a:t>
            </a:r>
            <a:r>
              <a:rPr sz="1600" dirty="0">
                <a:latin typeface="Calibri"/>
                <a:cs typeface="Calibri"/>
              </a:rPr>
              <a:t> </a:t>
            </a:r>
            <a:r>
              <a:rPr sz="1600" spc="-10" dirty="0">
                <a:latin typeface="Calibri"/>
                <a:cs typeface="Calibri"/>
              </a:rPr>
              <a:t>512</a:t>
            </a:r>
            <a:r>
              <a:rPr sz="1600" dirty="0">
                <a:latin typeface="Calibri"/>
                <a:cs typeface="Calibri"/>
              </a:rPr>
              <a:t> units</a:t>
            </a:r>
            <a:endParaRPr sz="1600">
              <a:latin typeface="Calibri"/>
              <a:cs typeface="Calibri"/>
            </a:endParaRPr>
          </a:p>
          <a:p>
            <a:pPr marL="241300" indent="-228600">
              <a:lnSpc>
                <a:spcPct val="100000"/>
              </a:lnSpc>
              <a:spcBef>
                <a:spcPts val="790"/>
              </a:spcBef>
              <a:buFont typeface="Arial"/>
              <a:buChar char="•"/>
              <a:tabLst>
                <a:tab pos="241300" algn="l"/>
              </a:tabLst>
            </a:pPr>
            <a:r>
              <a:rPr sz="1600" dirty="0">
                <a:latin typeface="Calibri"/>
                <a:cs typeface="Calibri"/>
              </a:rPr>
              <a:t>Full</a:t>
            </a:r>
            <a:r>
              <a:rPr sz="1600" spc="-10" dirty="0">
                <a:latin typeface="Calibri"/>
                <a:cs typeface="Calibri"/>
              </a:rPr>
              <a:t>y </a:t>
            </a:r>
            <a:r>
              <a:rPr sz="1600" spc="-25" dirty="0">
                <a:latin typeface="Calibri"/>
                <a:cs typeface="Calibri"/>
              </a:rPr>
              <a:t>c</a:t>
            </a:r>
            <a:r>
              <a:rPr sz="1600" dirty="0">
                <a:latin typeface="Calibri"/>
                <a:cs typeface="Calibri"/>
              </a:rPr>
              <a:t>onn</a:t>
            </a:r>
            <a:r>
              <a:rPr sz="1600" spc="-10" dirty="0">
                <a:latin typeface="Calibri"/>
                <a:cs typeface="Calibri"/>
              </a:rPr>
              <a:t>ec</a:t>
            </a:r>
            <a:r>
              <a:rPr sz="1600" spc="-30" dirty="0">
                <a:latin typeface="Calibri"/>
                <a:cs typeface="Calibri"/>
              </a:rPr>
              <a:t>t</a:t>
            </a:r>
            <a:r>
              <a:rPr sz="1600" spc="-10" dirty="0">
                <a:latin typeface="Calibri"/>
                <a:cs typeface="Calibri"/>
              </a:rPr>
              <a:t>e</a:t>
            </a:r>
            <a:r>
              <a:rPr sz="1600" dirty="0">
                <a:latin typeface="Calibri"/>
                <a:cs typeface="Calibri"/>
              </a:rPr>
              <a:t>d</a:t>
            </a:r>
            <a:r>
              <a:rPr sz="1600" spc="-5" dirty="0">
                <a:latin typeface="Calibri"/>
                <a:cs typeface="Calibri"/>
              </a:rPr>
              <a:t>,</a:t>
            </a:r>
            <a:r>
              <a:rPr sz="1600" dirty="0">
                <a:latin typeface="Calibri"/>
                <a:cs typeface="Calibri"/>
              </a:rPr>
              <a:t> |</a:t>
            </a:r>
            <a:r>
              <a:rPr sz="1600" spc="-10" dirty="0">
                <a:latin typeface="Calibri"/>
                <a:cs typeface="Calibri"/>
              </a:rPr>
              <a:t>A</a:t>
            </a:r>
            <a:r>
              <a:rPr sz="1600" dirty="0">
                <a:latin typeface="Calibri"/>
                <a:cs typeface="Calibri"/>
              </a:rPr>
              <a:t>|</a:t>
            </a:r>
            <a:r>
              <a:rPr sz="1600" spc="-10" dirty="0">
                <a:latin typeface="Calibri"/>
                <a:cs typeface="Calibri"/>
              </a:rPr>
              <a:t>=18</a:t>
            </a:r>
            <a:r>
              <a:rPr sz="1600" dirty="0">
                <a:latin typeface="Calibri"/>
                <a:cs typeface="Calibri"/>
              </a:rPr>
              <a:t> outpu</a:t>
            </a:r>
            <a:r>
              <a:rPr sz="1600" spc="-10" dirty="0">
                <a:latin typeface="Calibri"/>
                <a:cs typeface="Calibri"/>
              </a:rPr>
              <a:t>t</a:t>
            </a:r>
            <a:endParaRPr sz="1600">
              <a:latin typeface="Calibri"/>
              <a:cs typeface="Calibri"/>
            </a:endParaRPr>
          </a:p>
        </p:txBody>
      </p:sp>
      <p:sp>
        <p:nvSpPr>
          <p:cNvPr id="8" name="Rectangle 7">
            <a:extLst>
              <a:ext uri="{FF2B5EF4-FFF2-40B4-BE49-F238E27FC236}">
                <a16:creationId xmlns:a16="http://schemas.microsoft.com/office/drawing/2014/main" id="{50B6C7B6-EB9D-F744-83D1-A8CE50FCCA4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6A231AD-F76D-2375-FDF9-B6CA8277BD7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10" name="Rectangle 9">
            <a:extLst>
              <a:ext uri="{FF2B5EF4-FFF2-40B4-BE49-F238E27FC236}">
                <a16:creationId xmlns:a16="http://schemas.microsoft.com/office/drawing/2014/main" id="{C96657AE-CD37-14C7-A9D7-C383D0D647DD}"/>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11" name="Slide Number Placeholder 10">
            <a:extLst>
              <a:ext uri="{FF2B5EF4-FFF2-40B4-BE49-F238E27FC236}">
                <a16:creationId xmlns:a16="http://schemas.microsoft.com/office/drawing/2014/main" id="{D14A7C20-1F06-B600-4F32-ED0B7B09349F}"/>
              </a:ext>
            </a:extLst>
          </p:cNvPr>
          <p:cNvSpPr>
            <a:spLocks noGrp="1"/>
          </p:cNvSpPr>
          <p:nvPr>
            <p:ph type="sldNum" sz="quarter" idx="7"/>
          </p:nvPr>
        </p:nvSpPr>
        <p:spPr/>
        <p:txBody>
          <a:bodyPr/>
          <a:lstStyle/>
          <a:p>
            <a:pPr marL="25400"/>
            <a:fld id="{81D60167-4931-47E6-BA6A-407CBD079E47}" type="slidenum">
              <a:rPr lang="en-US" smtClean="0"/>
              <a:pPr marL="25400"/>
              <a:t>25</a:t>
            </a:fld>
            <a:r>
              <a:rPr lang="en-US"/>
              <a:t>/27</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230504">
              <a:lnSpc>
                <a:spcPct val="100000"/>
              </a:lnSpc>
            </a:pPr>
            <a:r>
              <a:rPr dirty="0"/>
              <a:t>Advanced</a:t>
            </a:r>
            <a:r>
              <a:rPr spc="-5" dirty="0"/>
              <a:t> </a:t>
            </a:r>
            <a:r>
              <a:rPr dirty="0"/>
              <a:t>Deep-RL</a:t>
            </a:r>
            <a:r>
              <a:rPr spc="-120" dirty="0"/>
              <a:t> </a:t>
            </a:r>
            <a:r>
              <a:rPr dirty="0"/>
              <a:t>Me</a:t>
            </a:r>
            <a:r>
              <a:rPr spc="-15" dirty="0"/>
              <a:t>t</a:t>
            </a:r>
            <a:r>
              <a:rPr dirty="0"/>
              <a:t>hods</a:t>
            </a:r>
          </a:p>
        </p:txBody>
      </p:sp>
      <p:sp>
        <p:nvSpPr>
          <p:cNvPr id="4" name="object 4"/>
          <p:cNvSpPr txBox="1"/>
          <p:nvPr/>
        </p:nvSpPr>
        <p:spPr>
          <a:xfrm>
            <a:off x="3046479" y="1456872"/>
            <a:ext cx="1341924" cy="539794"/>
          </a:xfrm>
          <a:prstGeom prst="rect">
            <a:avLst/>
          </a:prstGeom>
          <a:ln>
            <a:solidFill>
              <a:schemeClr val="tx1"/>
            </a:solidFill>
          </a:ln>
        </p:spPr>
        <p:txBody>
          <a:bodyPr vert="horz" wrap="square" lIns="0" tIns="0" rIns="0" bIns="0" rtlCol="0" anchor="ctr" anchorCtr="0">
            <a:spAutoFit/>
          </a:bodyPr>
          <a:lstStyle>
            <a:defPPr>
              <a:defRPr lang="en-US"/>
            </a:defPPr>
            <a:lvl1pPr marL="12700">
              <a:lnSpc>
                <a:spcPct val="100000"/>
              </a:lnSpc>
              <a:defRPr spc="-15">
                <a:latin typeface="Calibri"/>
                <a:cs typeface="Calibri"/>
              </a:defRPr>
            </a:lvl1pPr>
          </a:lstStyle>
          <a:p>
            <a:pPr algn="ctr"/>
            <a:r>
              <a:rPr dirty="0"/>
              <a:t>DQN (2013)</a:t>
            </a:r>
          </a:p>
        </p:txBody>
      </p:sp>
      <p:sp>
        <p:nvSpPr>
          <p:cNvPr id="5" name="object 5"/>
          <p:cNvSpPr txBox="1"/>
          <p:nvPr/>
        </p:nvSpPr>
        <p:spPr>
          <a:xfrm>
            <a:off x="762000" y="2732136"/>
            <a:ext cx="1288415" cy="544464"/>
          </a:xfrm>
          <a:prstGeom prst="rect">
            <a:avLst/>
          </a:prstGeom>
          <a:ln>
            <a:solidFill>
              <a:schemeClr val="tx1"/>
            </a:solidFill>
          </a:ln>
        </p:spPr>
        <p:txBody>
          <a:bodyPr vert="horz" wrap="square" lIns="0" tIns="0" rIns="0" bIns="0" rtlCol="0" anchor="ctr" anchorCtr="0">
            <a:spAutoFit/>
          </a:bodyPr>
          <a:lstStyle>
            <a:defPPr>
              <a:defRPr lang="en-US"/>
            </a:defPPr>
            <a:lvl1pPr marL="12700">
              <a:lnSpc>
                <a:spcPct val="100000"/>
              </a:lnSpc>
              <a:defRPr spc="-15">
                <a:latin typeface="Calibri"/>
                <a:cs typeface="Calibri"/>
              </a:defRPr>
            </a:lvl1pPr>
          </a:lstStyle>
          <a:p>
            <a:r>
              <a:rPr dirty="0"/>
              <a:t>Double</a:t>
            </a:r>
            <a:r>
              <a:rPr lang="en-US" dirty="0"/>
              <a:t> DQN</a:t>
            </a:r>
            <a:endParaRPr dirty="0"/>
          </a:p>
        </p:txBody>
      </p:sp>
      <p:sp>
        <p:nvSpPr>
          <p:cNvPr id="7" name="object 7"/>
          <p:cNvSpPr txBox="1"/>
          <p:nvPr/>
        </p:nvSpPr>
        <p:spPr>
          <a:xfrm>
            <a:off x="6786114" y="2744068"/>
            <a:ext cx="1288415" cy="553998"/>
          </a:xfrm>
          <a:prstGeom prst="rect">
            <a:avLst/>
          </a:prstGeom>
          <a:ln>
            <a:solidFill>
              <a:schemeClr val="tx1"/>
            </a:solidFill>
          </a:ln>
        </p:spPr>
        <p:txBody>
          <a:bodyPr vert="horz" wrap="square" lIns="0" tIns="0" rIns="0" bIns="0" rtlCol="0">
            <a:spAutoFit/>
          </a:bodyPr>
          <a:lstStyle>
            <a:defPPr>
              <a:defRPr lang="en-US"/>
            </a:defPPr>
            <a:lvl1pPr marL="12700">
              <a:lnSpc>
                <a:spcPct val="100000"/>
              </a:lnSpc>
              <a:defRPr spc="-15">
                <a:latin typeface="Calibri"/>
                <a:cs typeface="Calibri"/>
              </a:defRPr>
            </a:lvl1pPr>
          </a:lstStyle>
          <a:p>
            <a:pPr algn="ctr"/>
            <a:r>
              <a:rPr dirty="0"/>
              <a:t>Distributional Returns (C51)</a:t>
            </a:r>
          </a:p>
        </p:txBody>
      </p:sp>
      <p:sp>
        <p:nvSpPr>
          <p:cNvPr id="8" name="object 8"/>
          <p:cNvSpPr txBox="1"/>
          <p:nvPr/>
        </p:nvSpPr>
        <p:spPr>
          <a:xfrm>
            <a:off x="2972904" y="4032206"/>
            <a:ext cx="1489075" cy="539794"/>
          </a:xfrm>
          <a:prstGeom prst="rect">
            <a:avLst/>
          </a:prstGeom>
          <a:ln>
            <a:solidFill>
              <a:schemeClr val="tx1"/>
            </a:solidFill>
          </a:ln>
        </p:spPr>
        <p:txBody>
          <a:bodyPr vert="horz" wrap="square" lIns="0" tIns="0" rIns="0" bIns="0" rtlCol="0" anchor="ctr" anchorCtr="0">
            <a:spAutoFit/>
          </a:bodyPr>
          <a:lstStyle>
            <a:defPPr>
              <a:defRPr lang="en-US"/>
            </a:defPPr>
            <a:lvl1pPr marL="12700">
              <a:lnSpc>
                <a:spcPct val="100000"/>
              </a:lnSpc>
              <a:defRPr spc="-15">
                <a:latin typeface="Calibri"/>
                <a:cs typeface="Calibri"/>
              </a:defRPr>
            </a:lvl1pPr>
          </a:lstStyle>
          <a:p>
            <a:r>
              <a:rPr lang="en-US" dirty="0"/>
              <a:t>Rainbow (2018)</a:t>
            </a:r>
          </a:p>
        </p:txBody>
      </p:sp>
      <p:sp>
        <p:nvSpPr>
          <p:cNvPr id="29" name="object 29"/>
          <p:cNvSpPr txBox="1"/>
          <p:nvPr/>
        </p:nvSpPr>
        <p:spPr>
          <a:xfrm>
            <a:off x="6814689" y="3879089"/>
            <a:ext cx="1231264" cy="837858"/>
          </a:xfrm>
          <a:prstGeom prst="rect">
            <a:avLst/>
          </a:prstGeom>
          <a:ln>
            <a:solidFill>
              <a:schemeClr val="tx1"/>
            </a:solidFill>
          </a:ln>
        </p:spPr>
        <p:txBody>
          <a:bodyPr vert="horz" wrap="square" lIns="0" tIns="0" rIns="0" bIns="0" rtlCol="0">
            <a:spAutoFit/>
          </a:bodyPr>
          <a:lstStyle>
            <a:defPPr>
              <a:defRPr lang="en-US"/>
            </a:defPPr>
            <a:lvl1pPr marL="12700">
              <a:lnSpc>
                <a:spcPct val="100000"/>
              </a:lnSpc>
              <a:defRPr spc="-15">
                <a:latin typeface="Calibri"/>
                <a:cs typeface="Calibri"/>
              </a:defRPr>
            </a:lvl1pPr>
          </a:lstStyle>
          <a:p>
            <a:pPr algn="ctr"/>
            <a:r>
              <a:rPr dirty="0"/>
              <a:t>Implicit</a:t>
            </a:r>
            <a:r>
              <a:rPr lang="en-US" dirty="0"/>
              <a:t> </a:t>
            </a:r>
            <a:r>
              <a:rPr dirty="0"/>
              <a:t>Quantile Nets (IQN)</a:t>
            </a:r>
          </a:p>
        </p:txBody>
      </p:sp>
      <p:sp>
        <p:nvSpPr>
          <p:cNvPr id="32" name="object 32"/>
          <p:cNvSpPr txBox="1"/>
          <p:nvPr/>
        </p:nvSpPr>
        <p:spPr>
          <a:xfrm>
            <a:off x="5417950" y="4876800"/>
            <a:ext cx="1231265" cy="830997"/>
          </a:xfrm>
          <a:prstGeom prst="rect">
            <a:avLst/>
          </a:prstGeom>
          <a:ln>
            <a:solidFill>
              <a:schemeClr val="tx1"/>
            </a:solidFill>
          </a:ln>
        </p:spPr>
        <p:txBody>
          <a:bodyPr vert="horz" wrap="square" lIns="0" tIns="0" rIns="0" bIns="0" rtlCol="0">
            <a:spAutoFit/>
          </a:bodyPr>
          <a:lstStyle>
            <a:defPPr>
              <a:defRPr lang="en-US"/>
            </a:defPPr>
            <a:lvl1pPr marL="12700">
              <a:lnSpc>
                <a:spcPct val="100000"/>
              </a:lnSpc>
              <a:defRPr spc="-15">
                <a:latin typeface="Calibri"/>
                <a:cs typeface="Calibri"/>
              </a:defRPr>
            </a:lvl1pPr>
          </a:lstStyle>
          <a:p>
            <a:pPr algn="ctr"/>
            <a:r>
              <a:rPr dirty="0"/>
              <a:t>Munchausen RL (M-IQN; 2020)</a:t>
            </a:r>
          </a:p>
        </p:txBody>
      </p:sp>
      <p:sp>
        <p:nvSpPr>
          <p:cNvPr id="35" name="object 35"/>
          <p:cNvSpPr txBox="1"/>
          <p:nvPr/>
        </p:nvSpPr>
        <p:spPr>
          <a:xfrm>
            <a:off x="645311" y="5486400"/>
            <a:ext cx="4655185" cy="533400"/>
          </a:xfrm>
          <a:prstGeom prst="rect">
            <a:avLst/>
          </a:prstGeom>
        </p:spPr>
        <p:txBody>
          <a:bodyPr vert="horz" wrap="square" lIns="0" tIns="0" rIns="0" bIns="0" rtlCol="0">
            <a:spAutoFit/>
          </a:bodyPr>
          <a:lstStyle/>
          <a:p>
            <a:pPr marL="12700" marR="5080">
              <a:lnSpc>
                <a:spcPct val="101899"/>
              </a:lnSpc>
            </a:pPr>
            <a:r>
              <a:rPr sz="1800" spc="-15" dirty="0">
                <a:latin typeface="Calibri"/>
                <a:cs typeface="Calibri"/>
              </a:rPr>
              <a:t>And ma</a:t>
            </a:r>
            <a:r>
              <a:rPr sz="1800" spc="-35" dirty="0">
                <a:latin typeface="Calibri"/>
                <a:cs typeface="Calibri"/>
              </a:rPr>
              <a:t>n</a:t>
            </a:r>
            <a:r>
              <a:rPr sz="1800" spc="-10" dirty="0">
                <a:latin typeface="Calibri"/>
                <a:cs typeface="Calibri"/>
              </a:rPr>
              <a:t>y</a:t>
            </a:r>
            <a:r>
              <a:rPr sz="1800" dirty="0">
                <a:latin typeface="Calibri"/>
                <a:cs typeface="Calibri"/>
              </a:rPr>
              <a:t> </a:t>
            </a:r>
            <a:r>
              <a:rPr sz="1800" spc="-15" dirty="0">
                <a:latin typeface="Calibri"/>
                <a:cs typeface="Calibri"/>
              </a:rPr>
              <a:t>m</a:t>
            </a:r>
            <a:r>
              <a:rPr sz="1800" dirty="0">
                <a:latin typeface="Calibri"/>
                <a:cs typeface="Calibri"/>
              </a:rPr>
              <a:t>o</a:t>
            </a:r>
            <a:r>
              <a:rPr sz="1800" spc="-35" dirty="0">
                <a:latin typeface="Calibri"/>
                <a:cs typeface="Calibri"/>
              </a:rPr>
              <a:t>r</a:t>
            </a:r>
            <a:r>
              <a:rPr sz="1800" spc="-10" dirty="0">
                <a:latin typeface="Calibri"/>
                <a:cs typeface="Calibri"/>
              </a:rPr>
              <a:t>e</a:t>
            </a:r>
            <a:r>
              <a:rPr sz="1800" dirty="0">
                <a:latin typeface="Calibri"/>
                <a:cs typeface="Calibri"/>
              </a:rPr>
              <a:t> al</a:t>
            </a:r>
            <a:r>
              <a:rPr sz="1800" spc="-25" dirty="0">
                <a:latin typeface="Calibri"/>
                <a:cs typeface="Calibri"/>
              </a:rPr>
              <a:t>g</a:t>
            </a:r>
            <a:r>
              <a:rPr sz="1800" dirty="0">
                <a:latin typeface="Calibri"/>
                <a:cs typeface="Calibri"/>
              </a:rPr>
              <a:t>o</a:t>
            </a:r>
            <a:r>
              <a:rPr sz="1800" spc="-10" dirty="0">
                <a:latin typeface="Calibri"/>
                <a:cs typeface="Calibri"/>
              </a:rPr>
              <a:t>r</a:t>
            </a:r>
            <a:r>
              <a:rPr sz="1800" dirty="0">
                <a:latin typeface="Calibri"/>
                <a:cs typeface="Calibri"/>
              </a:rPr>
              <a:t>ith</a:t>
            </a:r>
            <a:r>
              <a:rPr sz="1800" spc="-15" dirty="0">
                <a:latin typeface="Calibri"/>
                <a:cs typeface="Calibri"/>
              </a:rPr>
              <a:t>m</a:t>
            </a:r>
            <a:r>
              <a:rPr sz="1800" dirty="0">
                <a:latin typeface="Calibri"/>
                <a:cs typeface="Calibri"/>
              </a:rPr>
              <a:t>s f</a:t>
            </a:r>
            <a:r>
              <a:rPr sz="1800" spc="-40" dirty="0">
                <a:latin typeface="Calibri"/>
                <a:cs typeface="Calibri"/>
              </a:rPr>
              <a:t>r</a:t>
            </a:r>
            <a:r>
              <a:rPr sz="1800" dirty="0">
                <a:latin typeface="Calibri"/>
                <a:cs typeface="Calibri"/>
              </a:rPr>
              <a:t>o</a:t>
            </a:r>
            <a:r>
              <a:rPr sz="1800" spc="-15" dirty="0">
                <a:latin typeface="Calibri"/>
                <a:cs typeface="Calibri"/>
              </a:rPr>
              <a:t>m</a:t>
            </a:r>
            <a:r>
              <a:rPr sz="1800" dirty="0">
                <a:latin typeface="Calibri"/>
                <a:cs typeface="Calibri"/>
              </a:rPr>
              <a:t> oth</a:t>
            </a:r>
            <a:r>
              <a:rPr sz="1800" spc="-10" dirty="0">
                <a:latin typeface="Calibri"/>
                <a:cs typeface="Calibri"/>
              </a:rPr>
              <a:t>er</a:t>
            </a:r>
            <a:r>
              <a:rPr sz="1800" dirty="0">
                <a:latin typeface="Calibri"/>
                <a:cs typeface="Calibri"/>
              </a:rPr>
              <a:t> bas</a:t>
            </a:r>
            <a:r>
              <a:rPr sz="1800" spc="-10" dirty="0">
                <a:latin typeface="Calibri"/>
                <a:cs typeface="Calibri"/>
              </a:rPr>
              <a:t>e</a:t>
            </a:r>
            <a:r>
              <a:rPr sz="1800" spc="-5" dirty="0">
                <a:latin typeface="Calibri"/>
                <a:cs typeface="Calibri"/>
              </a:rPr>
              <a:t> </a:t>
            </a:r>
            <a:r>
              <a:rPr sz="1800" dirty="0">
                <a:latin typeface="Calibri"/>
                <a:cs typeface="Calibri"/>
              </a:rPr>
              <a:t>al</a:t>
            </a:r>
            <a:r>
              <a:rPr sz="1800" spc="-25" dirty="0">
                <a:latin typeface="Calibri"/>
                <a:cs typeface="Calibri"/>
              </a:rPr>
              <a:t>g</a:t>
            </a:r>
            <a:r>
              <a:rPr sz="1800" dirty="0">
                <a:latin typeface="Calibri"/>
                <a:cs typeface="Calibri"/>
              </a:rPr>
              <a:t>o</a:t>
            </a:r>
            <a:r>
              <a:rPr sz="1800" spc="-10" dirty="0">
                <a:latin typeface="Calibri"/>
                <a:cs typeface="Calibri"/>
              </a:rPr>
              <a:t>r</a:t>
            </a:r>
            <a:r>
              <a:rPr sz="1800" dirty="0">
                <a:latin typeface="Calibri"/>
                <a:cs typeface="Calibri"/>
              </a:rPr>
              <a:t>ith</a:t>
            </a:r>
            <a:r>
              <a:rPr sz="1800" spc="-15" dirty="0">
                <a:latin typeface="Calibri"/>
                <a:cs typeface="Calibri"/>
              </a:rPr>
              <a:t>m</a:t>
            </a:r>
            <a:r>
              <a:rPr sz="1800" dirty="0">
                <a:latin typeface="Calibri"/>
                <a:cs typeface="Calibri"/>
              </a:rPr>
              <a:t>s</a:t>
            </a:r>
            <a:r>
              <a:rPr sz="1800" spc="-5" dirty="0">
                <a:latin typeface="Calibri"/>
                <a:cs typeface="Calibri"/>
              </a:rPr>
              <a:t>,</a:t>
            </a:r>
            <a:r>
              <a:rPr sz="1800" dirty="0">
                <a:latin typeface="Calibri"/>
                <a:cs typeface="Calibri"/>
              </a:rPr>
              <a:t> li</a:t>
            </a:r>
            <a:r>
              <a:rPr sz="1800" spc="-70" dirty="0">
                <a:latin typeface="Calibri"/>
                <a:cs typeface="Calibri"/>
              </a:rPr>
              <a:t>k</a:t>
            </a:r>
            <a:r>
              <a:rPr sz="1800" spc="-10" dirty="0">
                <a:latin typeface="Calibri"/>
                <a:cs typeface="Calibri"/>
              </a:rPr>
              <a:t>e</a:t>
            </a:r>
            <a:r>
              <a:rPr sz="1800" dirty="0">
                <a:latin typeface="Calibri"/>
                <a:cs typeface="Calibri"/>
              </a:rPr>
              <a:t> d</a:t>
            </a:r>
            <a:r>
              <a:rPr sz="1800" spc="-10" dirty="0">
                <a:latin typeface="Calibri"/>
                <a:cs typeface="Calibri"/>
              </a:rPr>
              <a:t>ee</a:t>
            </a:r>
            <a:r>
              <a:rPr sz="1800" dirty="0">
                <a:latin typeface="Calibri"/>
                <a:cs typeface="Calibri"/>
              </a:rPr>
              <a:t>p poli</a:t>
            </a:r>
            <a:r>
              <a:rPr sz="1800" spc="-10" dirty="0">
                <a:latin typeface="Calibri"/>
                <a:cs typeface="Calibri"/>
              </a:rPr>
              <a:t>cy</a:t>
            </a:r>
            <a:r>
              <a:rPr sz="1800" dirty="0">
                <a:latin typeface="Calibri"/>
                <a:cs typeface="Calibri"/>
              </a:rPr>
              <a:t> </a:t>
            </a:r>
            <a:r>
              <a:rPr sz="1800" spc="-10" dirty="0">
                <a:latin typeface="Calibri"/>
                <a:cs typeface="Calibri"/>
              </a:rPr>
              <a:t>g</a:t>
            </a:r>
            <a:r>
              <a:rPr sz="1800" spc="-50" dirty="0">
                <a:latin typeface="Calibri"/>
                <a:cs typeface="Calibri"/>
              </a:rPr>
              <a:t>r</a:t>
            </a:r>
            <a:r>
              <a:rPr sz="1800" dirty="0">
                <a:latin typeface="Calibri"/>
                <a:cs typeface="Calibri"/>
              </a:rPr>
              <a:t>adi</a:t>
            </a:r>
            <a:r>
              <a:rPr sz="1800" spc="-10" dirty="0">
                <a:latin typeface="Calibri"/>
                <a:cs typeface="Calibri"/>
              </a:rPr>
              <a:t>e</a:t>
            </a:r>
            <a:r>
              <a:rPr sz="1800" spc="-20" dirty="0">
                <a:latin typeface="Calibri"/>
                <a:cs typeface="Calibri"/>
              </a:rPr>
              <a:t>n</a:t>
            </a:r>
            <a:r>
              <a:rPr sz="1800" dirty="0">
                <a:latin typeface="Calibri"/>
                <a:cs typeface="Calibri"/>
              </a:rPr>
              <a:t>ts</a:t>
            </a:r>
            <a:r>
              <a:rPr sz="1800" spc="-5" dirty="0">
                <a:latin typeface="Calibri"/>
                <a:cs typeface="Calibri"/>
              </a:rPr>
              <a:t>,</a:t>
            </a:r>
            <a:r>
              <a:rPr sz="1800" dirty="0">
                <a:latin typeface="Calibri"/>
                <a:cs typeface="Calibri"/>
              </a:rPr>
              <a:t> </a:t>
            </a:r>
            <a:r>
              <a:rPr sz="1800" spc="-10" dirty="0">
                <a:latin typeface="Calibri"/>
                <a:cs typeface="Calibri"/>
              </a:rPr>
              <a:t>ac</a:t>
            </a:r>
            <a:r>
              <a:rPr sz="1800" spc="-30" dirty="0">
                <a:latin typeface="Calibri"/>
                <a:cs typeface="Calibri"/>
              </a:rPr>
              <a:t>t</a:t>
            </a:r>
            <a:r>
              <a:rPr sz="1800" dirty="0">
                <a:latin typeface="Calibri"/>
                <a:cs typeface="Calibri"/>
              </a:rPr>
              <a:t>o</a:t>
            </a:r>
            <a:r>
              <a:rPr sz="1800" spc="-10" dirty="0">
                <a:latin typeface="Calibri"/>
                <a:cs typeface="Calibri"/>
              </a:rPr>
              <a:t>r</a:t>
            </a:r>
            <a:r>
              <a:rPr sz="1800" dirty="0">
                <a:latin typeface="Calibri"/>
                <a:cs typeface="Calibri"/>
              </a:rPr>
              <a:t> </a:t>
            </a:r>
            <a:r>
              <a:rPr sz="1800" spc="-10" dirty="0">
                <a:latin typeface="Calibri"/>
                <a:cs typeface="Calibri"/>
              </a:rPr>
              <a:t>cr</a:t>
            </a:r>
            <a:r>
              <a:rPr sz="1800" dirty="0">
                <a:latin typeface="Calibri"/>
                <a:cs typeface="Calibri"/>
              </a:rPr>
              <a:t>iti</a:t>
            </a:r>
            <a:r>
              <a:rPr sz="1800" spc="-10" dirty="0">
                <a:latin typeface="Calibri"/>
                <a:cs typeface="Calibri"/>
              </a:rPr>
              <a:t>c</a:t>
            </a:r>
            <a:r>
              <a:rPr sz="1800" dirty="0">
                <a:latin typeface="Calibri"/>
                <a:cs typeface="Calibri"/>
              </a:rPr>
              <a:t>s</a:t>
            </a:r>
          </a:p>
        </p:txBody>
      </p:sp>
      <p:sp>
        <p:nvSpPr>
          <p:cNvPr id="37" name="TextBox 36">
            <a:extLst>
              <a:ext uri="{FF2B5EF4-FFF2-40B4-BE49-F238E27FC236}">
                <a16:creationId xmlns:a16="http://schemas.microsoft.com/office/drawing/2014/main" id="{79438A40-0DB6-4AAC-655C-C650E6AED3C4}"/>
              </a:ext>
            </a:extLst>
          </p:cNvPr>
          <p:cNvSpPr txBox="1"/>
          <p:nvPr/>
        </p:nvSpPr>
        <p:spPr>
          <a:xfrm>
            <a:off x="2209800" y="2743200"/>
            <a:ext cx="1353705" cy="539795"/>
          </a:xfrm>
          <a:prstGeom prst="rect">
            <a:avLst/>
          </a:prstGeom>
          <a:ln>
            <a:solidFill>
              <a:schemeClr val="tx1"/>
            </a:solidFill>
          </a:ln>
        </p:spPr>
        <p:txBody>
          <a:bodyPr vert="horz" wrap="square" lIns="0" tIns="0" rIns="0" bIns="0" rtlCol="0" anchor="ctr" anchorCtr="0">
            <a:spAutoFit/>
          </a:bodyPr>
          <a:lstStyle>
            <a:defPPr>
              <a:defRPr lang="en-US"/>
            </a:defPPr>
            <a:lvl1pPr marL="12700">
              <a:lnSpc>
                <a:spcPct val="100000"/>
              </a:lnSpc>
              <a:defRPr spc="-15">
                <a:latin typeface="Calibri"/>
                <a:cs typeface="Calibri"/>
              </a:defRPr>
            </a:lvl1pPr>
          </a:lstStyle>
          <a:p>
            <a:r>
              <a:rPr lang="en-US" dirty="0" err="1"/>
              <a:t>Duelling</a:t>
            </a:r>
            <a:r>
              <a:rPr lang="en-US" dirty="0"/>
              <a:t> DQN</a:t>
            </a:r>
          </a:p>
        </p:txBody>
      </p:sp>
      <p:sp>
        <p:nvSpPr>
          <p:cNvPr id="39" name="TextBox 38">
            <a:extLst>
              <a:ext uri="{FF2B5EF4-FFF2-40B4-BE49-F238E27FC236}">
                <a16:creationId xmlns:a16="http://schemas.microsoft.com/office/drawing/2014/main" id="{BFAF26BF-E370-53D6-DD2B-8FBE925EFD86}"/>
              </a:ext>
            </a:extLst>
          </p:cNvPr>
          <p:cNvSpPr txBox="1"/>
          <p:nvPr/>
        </p:nvSpPr>
        <p:spPr>
          <a:xfrm>
            <a:off x="3769360" y="2745304"/>
            <a:ext cx="1648590" cy="539794"/>
          </a:xfrm>
          <a:prstGeom prst="rect">
            <a:avLst/>
          </a:prstGeom>
          <a:ln>
            <a:solidFill>
              <a:schemeClr val="tx1"/>
            </a:solidFill>
          </a:ln>
        </p:spPr>
        <p:txBody>
          <a:bodyPr vert="horz" wrap="square" lIns="0" tIns="0" rIns="0" bIns="0" rtlCol="0" anchor="ctr" anchorCtr="0">
            <a:spAutoFit/>
          </a:bodyPr>
          <a:lstStyle>
            <a:defPPr>
              <a:defRPr lang="en-US"/>
            </a:defPPr>
            <a:lvl1pPr marL="12700">
              <a:lnSpc>
                <a:spcPct val="100000"/>
              </a:lnSpc>
              <a:defRPr spc="-15">
                <a:latin typeface="Calibri"/>
                <a:cs typeface="Calibri"/>
              </a:defRPr>
            </a:lvl1pPr>
          </a:lstStyle>
          <a:p>
            <a:r>
              <a:rPr lang="en-US" dirty="0"/>
              <a:t>Prioritized Replay</a:t>
            </a:r>
          </a:p>
        </p:txBody>
      </p:sp>
      <p:sp>
        <p:nvSpPr>
          <p:cNvPr id="41" name="TextBox 40">
            <a:extLst>
              <a:ext uri="{FF2B5EF4-FFF2-40B4-BE49-F238E27FC236}">
                <a16:creationId xmlns:a16="http://schemas.microsoft.com/office/drawing/2014/main" id="{37517E55-9A32-1F03-A337-33C2B3B08BA5}"/>
              </a:ext>
            </a:extLst>
          </p:cNvPr>
          <p:cNvSpPr txBox="1"/>
          <p:nvPr/>
        </p:nvSpPr>
        <p:spPr>
          <a:xfrm>
            <a:off x="5587353" y="2744056"/>
            <a:ext cx="1029358" cy="553998"/>
          </a:xfrm>
          <a:prstGeom prst="rect">
            <a:avLst/>
          </a:prstGeom>
          <a:ln>
            <a:solidFill>
              <a:schemeClr val="tx1"/>
            </a:solidFill>
          </a:ln>
        </p:spPr>
        <p:txBody>
          <a:bodyPr vert="horz" wrap="square" lIns="0" tIns="0" rIns="0" bIns="0" rtlCol="0">
            <a:spAutoFit/>
          </a:bodyPr>
          <a:lstStyle>
            <a:defPPr>
              <a:defRPr lang="en-US"/>
            </a:defPPr>
            <a:lvl1pPr marL="12700">
              <a:lnSpc>
                <a:spcPct val="100000"/>
              </a:lnSpc>
              <a:defRPr spc="-15">
                <a:latin typeface="Calibri"/>
                <a:cs typeface="Calibri"/>
              </a:defRPr>
            </a:lvl1pPr>
          </a:lstStyle>
          <a:p>
            <a:pPr algn="ctr"/>
            <a:r>
              <a:rPr lang="en-US" dirty="0"/>
              <a:t>Multi-step returns</a:t>
            </a:r>
          </a:p>
        </p:txBody>
      </p:sp>
      <p:cxnSp>
        <p:nvCxnSpPr>
          <p:cNvPr id="43" name="Straight Arrow Connector 42">
            <a:extLst>
              <a:ext uri="{FF2B5EF4-FFF2-40B4-BE49-F238E27FC236}">
                <a16:creationId xmlns:a16="http://schemas.microsoft.com/office/drawing/2014/main" id="{26EC760F-ECF9-270D-593F-6962E13DF4BC}"/>
              </a:ext>
            </a:extLst>
          </p:cNvPr>
          <p:cNvCxnSpPr>
            <a:cxnSpLocks/>
            <a:stCxn id="4" idx="2"/>
            <a:endCxn id="5" idx="0"/>
          </p:cNvCxnSpPr>
          <p:nvPr/>
        </p:nvCxnSpPr>
        <p:spPr>
          <a:xfrm flipH="1">
            <a:off x="1406208" y="1996666"/>
            <a:ext cx="2311233" cy="7354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E69042E-B04D-7092-2408-43524499BB72}"/>
              </a:ext>
            </a:extLst>
          </p:cNvPr>
          <p:cNvCxnSpPr>
            <a:cxnSpLocks/>
            <a:stCxn id="4" idx="2"/>
            <a:endCxn id="37" idx="0"/>
          </p:cNvCxnSpPr>
          <p:nvPr/>
        </p:nvCxnSpPr>
        <p:spPr>
          <a:xfrm flipH="1">
            <a:off x="2886653" y="1996666"/>
            <a:ext cx="830788" cy="7465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ECCE95E-38BC-FF61-DA51-00091F9288E6}"/>
              </a:ext>
            </a:extLst>
          </p:cNvPr>
          <p:cNvCxnSpPr>
            <a:cxnSpLocks/>
            <a:stCxn id="4" idx="2"/>
            <a:endCxn id="39" idx="0"/>
          </p:cNvCxnSpPr>
          <p:nvPr/>
        </p:nvCxnSpPr>
        <p:spPr>
          <a:xfrm>
            <a:off x="3717441" y="1996666"/>
            <a:ext cx="876214" cy="7486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7CC3CB1-ECCE-455C-4ACC-65B7B012CB25}"/>
              </a:ext>
            </a:extLst>
          </p:cNvPr>
          <p:cNvCxnSpPr>
            <a:cxnSpLocks/>
            <a:stCxn id="4" idx="2"/>
            <a:endCxn id="41" idx="0"/>
          </p:cNvCxnSpPr>
          <p:nvPr/>
        </p:nvCxnSpPr>
        <p:spPr>
          <a:xfrm>
            <a:off x="3717441" y="1996666"/>
            <a:ext cx="2384591" cy="7473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095D727-D7B2-BAF4-F9E1-7D5F39646AA8}"/>
              </a:ext>
            </a:extLst>
          </p:cNvPr>
          <p:cNvCxnSpPr>
            <a:cxnSpLocks/>
            <a:stCxn id="4" idx="2"/>
            <a:endCxn id="7" idx="0"/>
          </p:cNvCxnSpPr>
          <p:nvPr/>
        </p:nvCxnSpPr>
        <p:spPr>
          <a:xfrm>
            <a:off x="3717441" y="1996666"/>
            <a:ext cx="3712881" cy="7474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299323B-61C7-A2F2-B9B9-319A42BB0A73}"/>
              </a:ext>
            </a:extLst>
          </p:cNvPr>
          <p:cNvCxnSpPr>
            <a:stCxn id="7" idx="2"/>
            <a:endCxn id="29" idx="0"/>
          </p:cNvCxnSpPr>
          <p:nvPr/>
        </p:nvCxnSpPr>
        <p:spPr>
          <a:xfrm flipH="1">
            <a:off x="7430321" y="3298066"/>
            <a:ext cx="1" cy="581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0B537B5-43D1-E4B1-F9E9-16B95C98E43A}"/>
              </a:ext>
            </a:extLst>
          </p:cNvPr>
          <p:cNvCxnSpPr>
            <a:stCxn id="29" idx="1"/>
            <a:endCxn id="32" idx="0"/>
          </p:cNvCxnSpPr>
          <p:nvPr/>
        </p:nvCxnSpPr>
        <p:spPr>
          <a:xfrm flipH="1">
            <a:off x="6033583" y="4298018"/>
            <a:ext cx="781106" cy="5787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BB8A508-9D0B-8368-C874-9F02AED888EF}"/>
              </a:ext>
            </a:extLst>
          </p:cNvPr>
          <p:cNvCxnSpPr>
            <a:stCxn id="7" idx="2"/>
            <a:endCxn id="8" idx="0"/>
          </p:cNvCxnSpPr>
          <p:nvPr/>
        </p:nvCxnSpPr>
        <p:spPr>
          <a:xfrm flipH="1">
            <a:off x="3717442" y="3298066"/>
            <a:ext cx="3712880" cy="7341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2237195-59E3-2A76-6418-4A7D99AC9E0E}"/>
              </a:ext>
            </a:extLst>
          </p:cNvPr>
          <p:cNvCxnSpPr>
            <a:cxnSpLocks/>
            <a:stCxn id="41" idx="2"/>
            <a:endCxn id="8" idx="0"/>
          </p:cNvCxnSpPr>
          <p:nvPr/>
        </p:nvCxnSpPr>
        <p:spPr>
          <a:xfrm flipH="1">
            <a:off x="3717442" y="3298054"/>
            <a:ext cx="2384590" cy="7341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90BE3A3-A759-C214-F75C-52A51159B70B}"/>
              </a:ext>
            </a:extLst>
          </p:cNvPr>
          <p:cNvCxnSpPr>
            <a:cxnSpLocks/>
            <a:stCxn id="39" idx="2"/>
            <a:endCxn id="8" idx="0"/>
          </p:cNvCxnSpPr>
          <p:nvPr/>
        </p:nvCxnSpPr>
        <p:spPr>
          <a:xfrm flipH="1">
            <a:off x="3717442" y="3285098"/>
            <a:ext cx="876213" cy="7471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E7B12B8-E780-40D1-F4A1-D33241FAEC3E}"/>
              </a:ext>
            </a:extLst>
          </p:cNvPr>
          <p:cNvCxnSpPr>
            <a:cxnSpLocks/>
            <a:stCxn id="37" idx="2"/>
            <a:endCxn id="8" idx="0"/>
          </p:cNvCxnSpPr>
          <p:nvPr/>
        </p:nvCxnSpPr>
        <p:spPr>
          <a:xfrm>
            <a:off x="2886653" y="3282995"/>
            <a:ext cx="830789" cy="7492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DC6A735-6820-4192-3DF7-3B0EED00C11C}"/>
              </a:ext>
            </a:extLst>
          </p:cNvPr>
          <p:cNvCxnSpPr>
            <a:stCxn id="5" idx="2"/>
            <a:endCxn id="8" idx="0"/>
          </p:cNvCxnSpPr>
          <p:nvPr/>
        </p:nvCxnSpPr>
        <p:spPr>
          <a:xfrm>
            <a:off x="1406208" y="3276600"/>
            <a:ext cx="2311234" cy="7556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FC1BA750-6721-F2A8-7527-B02F1286F12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47E6FD75-9DE6-7E56-D0A6-5837AFD75A0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84" name="Rectangle 83">
            <a:extLst>
              <a:ext uri="{FF2B5EF4-FFF2-40B4-BE49-F238E27FC236}">
                <a16:creationId xmlns:a16="http://schemas.microsoft.com/office/drawing/2014/main" id="{92846D99-D32D-459C-2368-04403D11D213}"/>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85" name="Slide Number Placeholder 84">
            <a:extLst>
              <a:ext uri="{FF2B5EF4-FFF2-40B4-BE49-F238E27FC236}">
                <a16:creationId xmlns:a16="http://schemas.microsoft.com/office/drawing/2014/main" id="{8C9235D4-6BF1-AAB9-06DD-A627CB5DDF5F}"/>
              </a:ext>
            </a:extLst>
          </p:cNvPr>
          <p:cNvSpPr>
            <a:spLocks noGrp="1"/>
          </p:cNvSpPr>
          <p:nvPr>
            <p:ph type="sldNum" sz="quarter" idx="7"/>
          </p:nvPr>
        </p:nvSpPr>
        <p:spPr/>
        <p:txBody>
          <a:bodyPr/>
          <a:lstStyle/>
          <a:p>
            <a:pPr marL="25400"/>
            <a:fld id="{81D60167-4931-47E6-BA6A-407CBD079E47}" type="slidenum">
              <a:rPr lang="en-US" smtClean="0"/>
              <a:pPr marL="25400"/>
              <a:t>26</a:t>
            </a:fld>
            <a:r>
              <a:rPr lang="en-US"/>
              <a:t>/27</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88900">
            <a:solidFill>
              <a:srgbClr val="794A8C"/>
            </a:solidFill>
          </a:ln>
        </p:spPr>
        <p:txBody>
          <a:bodyPr wrap="square" lIns="0" tIns="0" rIns="0" bIns="0" rtlCol="0"/>
          <a:lstStyle/>
          <a:p>
            <a:endParaRPr/>
          </a:p>
        </p:txBody>
      </p:sp>
      <p:sp>
        <p:nvSpPr>
          <p:cNvPr id="3" name="object 3"/>
          <p:cNvSpPr txBox="1"/>
          <p:nvPr/>
        </p:nvSpPr>
        <p:spPr>
          <a:xfrm>
            <a:off x="423227" y="279400"/>
            <a:ext cx="4809490" cy="584200"/>
          </a:xfrm>
          <a:prstGeom prst="rect">
            <a:avLst/>
          </a:prstGeom>
        </p:spPr>
        <p:txBody>
          <a:bodyPr vert="horz" wrap="square" lIns="0" tIns="0" rIns="0" bIns="0" rtlCol="0">
            <a:spAutoFit/>
          </a:bodyPr>
          <a:lstStyle/>
          <a:p>
            <a:pPr marL="12700">
              <a:lnSpc>
                <a:spcPct val="100000"/>
              </a:lnSpc>
            </a:pPr>
            <a:r>
              <a:rPr sz="4400" spc="-520" dirty="0">
                <a:latin typeface="Arial"/>
                <a:cs typeface="Arial"/>
              </a:rPr>
              <a:t>T</a:t>
            </a:r>
            <a:r>
              <a:rPr sz="4400" dirty="0">
                <a:latin typeface="Arial"/>
                <a:cs typeface="Arial"/>
              </a:rPr>
              <a:t>ake</a:t>
            </a:r>
            <a:r>
              <a:rPr sz="4400" spc="-5" dirty="0">
                <a:latin typeface="Arial"/>
                <a:cs typeface="Arial"/>
              </a:rPr>
              <a:t> </a:t>
            </a:r>
            <a:r>
              <a:rPr sz="4400" dirty="0">
                <a:latin typeface="Arial"/>
                <a:cs typeface="Arial"/>
              </a:rPr>
              <a:t>home</a:t>
            </a:r>
            <a:r>
              <a:rPr sz="4400" spc="-5" dirty="0">
                <a:latin typeface="Arial"/>
                <a:cs typeface="Arial"/>
              </a:rPr>
              <a:t> </a:t>
            </a:r>
            <a:r>
              <a:rPr sz="4400" dirty="0">
                <a:latin typeface="Arial"/>
                <a:cs typeface="Arial"/>
              </a:rPr>
              <a:t>lessons</a:t>
            </a:r>
            <a:endParaRPr sz="4400">
              <a:latin typeface="Arial"/>
              <a:cs typeface="Arial"/>
            </a:endParaRPr>
          </a:p>
        </p:txBody>
      </p:sp>
      <p:sp>
        <p:nvSpPr>
          <p:cNvPr id="4" name="object 4"/>
          <p:cNvSpPr txBox="1"/>
          <p:nvPr/>
        </p:nvSpPr>
        <p:spPr>
          <a:xfrm>
            <a:off x="396203" y="1087120"/>
            <a:ext cx="268112" cy="430887"/>
          </a:xfrm>
          <a:prstGeom prst="rect">
            <a:avLst/>
          </a:prstGeom>
        </p:spPr>
        <p:txBody>
          <a:bodyPr vert="horz" wrap="square" lIns="0" tIns="0" rIns="0" bIns="0" rtlCol="0">
            <a:spAutoFit/>
          </a:bodyPr>
          <a:lstStyle/>
          <a:p>
            <a:pPr marL="12700">
              <a:lnSpc>
                <a:spcPct val="100000"/>
              </a:lnSpc>
            </a:pPr>
            <a:r>
              <a:rPr sz="2800" spc="195" dirty="0">
                <a:latin typeface="Arial"/>
                <a:cs typeface="Arial"/>
              </a:rPr>
              <a:t>•</a:t>
            </a:r>
            <a:endParaRPr sz="2800" dirty="0">
              <a:latin typeface="Arial"/>
              <a:cs typeface="Arial"/>
            </a:endParaRPr>
          </a:p>
        </p:txBody>
      </p:sp>
      <p:sp>
        <p:nvSpPr>
          <p:cNvPr id="5" name="object 5"/>
          <p:cNvSpPr txBox="1"/>
          <p:nvPr/>
        </p:nvSpPr>
        <p:spPr>
          <a:xfrm>
            <a:off x="664315" y="1170072"/>
            <a:ext cx="8083482" cy="512961"/>
          </a:xfrm>
          <a:prstGeom prst="rect">
            <a:avLst/>
          </a:prstGeom>
        </p:spPr>
        <p:txBody>
          <a:bodyPr vert="horz" wrap="square" lIns="0" tIns="0" rIns="0" bIns="0" rtlCol="0">
            <a:spAutoFit/>
          </a:bodyPr>
          <a:lstStyle/>
          <a:p>
            <a:pPr marL="12700" marR="5080">
              <a:lnSpc>
                <a:spcPts val="2000"/>
              </a:lnSpc>
            </a:pPr>
            <a:r>
              <a:rPr sz="1700" spc="15" dirty="0">
                <a:latin typeface="Arial"/>
                <a:cs typeface="Arial"/>
              </a:rPr>
              <a:t>Large state </a:t>
            </a:r>
            <a:r>
              <a:rPr sz="1700" spc="25" dirty="0">
                <a:latin typeface="Arial"/>
                <a:cs typeface="Arial"/>
              </a:rPr>
              <a:t>spaces, </a:t>
            </a:r>
            <a:r>
              <a:rPr sz="1700" spc="5" dirty="0">
                <a:latin typeface="Arial"/>
                <a:cs typeface="Arial"/>
              </a:rPr>
              <a:t>continuous state </a:t>
            </a:r>
            <a:r>
              <a:rPr sz="1700" spc="25" dirty="0">
                <a:latin typeface="Arial"/>
                <a:cs typeface="Arial"/>
              </a:rPr>
              <a:t>spaces and generalisation </a:t>
            </a:r>
            <a:r>
              <a:rPr sz="1700" spc="-35" dirty="0">
                <a:latin typeface="Arial"/>
                <a:cs typeface="Arial"/>
              </a:rPr>
              <a:t>r</a:t>
            </a:r>
            <a:r>
              <a:rPr sz="1700" spc="15" dirty="0">
                <a:latin typeface="Arial"/>
                <a:cs typeface="Arial"/>
              </a:rPr>
              <a:t>equi</a:t>
            </a:r>
            <a:r>
              <a:rPr sz="1700" spc="-25" dirty="0">
                <a:latin typeface="Arial"/>
                <a:cs typeface="Arial"/>
              </a:rPr>
              <a:t>r</a:t>
            </a:r>
            <a:r>
              <a:rPr sz="1700" dirty="0">
                <a:latin typeface="Arial"/>
                <a:cs typeface="Arial"/>
              </a:rPr>
              <a:t>e </a:t>
            </a:r>
            <a:r>
              <a:rPr sz="1700" spc="5" dirty="0">
                <a:latin typeface="Arial"/>
                <a:cs typeface="Arial"/>
              </a:rPr>
              <a:t>function</a:t>
            </a:r>
            <a:r>
              <a:rPr sz="1700" dirty="0">
                <a:latin typeface="Arial"/>
                <a:cs typeface="Arial"/>
              </a:rPr>
              <a:t> </a:t>
            </a:r>
            <a:r>
              <a:rPr sz="1700" spc="45" dirty="0">
                <a:latin typeface="Arial"/>
                <a:cs typeface="Arial"/>
              </a:rPr>
              <a:t>app</a:t>
            </a:r>
            <a:r>
              <a:rPr sz="1700" spc="-10" dirty="0">
                <a:latin typeface="Arial"/>
                <a:cs typeface="Arial"/>
              </a:rPr>
              <a:t>r</a:t>
            </a:r>
            <a:r>
              <a:rPr sz="1700" dirty="0">
                <a:latin typeface="Arial"/>
                <a:cs typeface="Arial"/>
              </a:rPr>
              <a:t>oximation</a:t>
            </a:r>
          </a:p>
        </p:txBody>
      </p:sp>
      <p:sp>
        <p:nvSpPr>
          <p:cNvPr id="6" name="object 6"/>
          <p:cNvSpPr txBox="1"/>
          <p:nvPr/>
        </p:nvSpPr>
        <p:spPr>
          <a:xfrm>
            <a:off x="396202" y="1975560"/>
            <a:ext cx="268111"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p>
        </p:txBody>
      </p:sp>
      <p:sp>
        <p:nvSpPr>
          <p:cNvPr id="7" name="object 7"/>
          <p:cNvSpPr txBox="1"/>
          <p:nvPr/>
        </p:nvSpPr>
        <p:spPr>
          <a:xfrm>
            <a:off x="664315" y="2053118"/>
            <a:ext cx="7277734" cy="241300"/>
          </a:xfrm>
          <a:prstGeom prst="rect">
            <a:avLst/>
          </a:prstGeom>
        </p:spPr>
        <p:txBody>
          <a:bodyPr vert="horz" wrap="square" lIns="0" tIns="0" rIns="0" bIns="0" rtlCol="0">
            <a:spAutoFit/>
          </a:bodyPr>
          <a:lstStyle/>
          <a:p>
            <a:pPr marL="12700">
              <a:lnSpc>
                <a:spcPct val="100000"/>
              </a:lnSpc>
            </a:pPr>
            <a:r>
              <a:rPr sz="1700" spc="-135" dirty="0">
                <a:latin typeface="Arial"/>
                <a:cs typeface="Arial"/>
              </a:rPr>
              <a:t>W</a:t>
            </a:r>
            <a:r>
              <a:rPr sz="1700" dirty="0">
                <a:latin typeface="Arial"/>
                <a:cs typeface="Arial"/>
              </a:rPr>
              <a:t>e </a:t>
            </a:r>
            <a:r>
              <a:rPr sz="1700" spc="25" dirty="0">
                <a:latin typeface="Arial"/>
                <a:cs typeface="Arial"/>
              </a:rPr>
              <a:t>can</a:t>
            </a:r>
            <a:r>
              <a:rPr sz="1700" dirty="0">
                <a:latin typeface="Arial"/>
                <a:cs typeface="Arial"/>
              </a:rPr>
              <a:t> use neural networks to </a:t>
            </a:r>
            <a:r>
              <a:rPr sz="1700" spc="45" dirty="0">
                <a:latin typeface="Arial"/>
                <a:cs typeface="Arial"/>
              </a:rPr>
              <a:t>app</a:t>
            </a:r>
            <a:r>
              <a:rPr sz="1700" spc="-10" dirty="0">
                <a:latin typeface="Arial"/>
                <a:cs typeface="Arial"/>
              </a:rPr>
              <a:t>r</a:t>
            </a:r>
            <a:r>
              <a:rPr sz="1700" dirty="0">
                <a:latin typeface="Arial"/>
                <a:cs typeface="Arial"/>
              </a:rPr>
              <a:t>oximate the </a:t>
            </a:r>
            <a:r>
              <a:rPr sz="1700" spc="5" dirty="0">
                <a:latin typeface="Arial"/>
                <a:cs typeface="Arial"/>
              </a:rPr>
              <a:t>state(action)</a:t>
            </a:r>
            <a:r>
              <a:rPr sz="1700" dirty="0">
                <a:latin typeface="Arial"/>
                <a:cs typeface="Arial"/>
              </a:rPr>
              <a:t> value </a:t>
            </a:r>
            <a:r>
              <a:rPr sz="1700" spc="5" dirty="0">
                <a:latin typeface="Arial"/>
                <a:cs typeface="Arial"/>
              </a:rPr>
              <a:t>function</a:t>
            </a:r>
            <a:endParaRPr sz="1700">
              <a:latin typeface="Arial"/>
              <a:cs typeface="Arial"/>
            </a:endParaRPr>
          </a:p>
        </p:txBody>
      </p:sp>
      <p:sp>
        <p:nvSpPr>
          <p:cNvPr id="8" name="object 8"/>
          <p:cNvSpPr txBox="1"/>
          <p:nvPr/>
        </p:nvSpPr>
        <p:spPr>
          <a:xfrm>
            <a:off x="396203" y="2585720"/>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p>
        </p:txBody>
      </p:sp>
      <p:sp>
        <p:nvSpPr>
          <p:cNvPr id="9" name="object 9"/>
          <p:cNvSpPr txBox="1"/>
          <p:nvPr/>
        </p:nvSpPr>
        <p:spPr>
          <a:xfrm>
            <a:off x="692536" y="2682166"/>
            <a:ext cx="5697219" cy="261610"/>
          </a:xfrm>
          <a:prstGeom prst="rect">
            <a:avLst/>
          </a:prstGeom>
        </p:spPr>
        <p:txBody>
          <a:bodyPr vert="horz" wrap="square" lIns="0" tIns="0" rIns="0" bIns="0" rtlCol="0">
            <a:spAutoFit/>
          </a:bodyPr>
          <a:lstStyle/>
          <a:p>
            <a:pPr marL="12700">
              <a:lnSpc>
                <a:spcPct val="100000"/>
              </a:lnSpc>
            </a:pPr>
            <a:r>
              <a:rPr sz="1700" spc="10" dirty="0">
                <a:latin typeface="Arial"/>
                <a:cs typeface="Arial"/>
              </a:rPr>
              <a:t>Deep-Q </a:t>
            </a:r>
            <a:r>
              <a:rPr sz="1700" spc="125" dirty="0">
                <a:latin typeface="Arial"/>
                <a:cs typeface="Arial"/>
              </a:rPr>
              <a:t>= Q-Lea</a:t>
            </a:r>
            <a:r>
              <a:rPr sz="1700" spc="30" dirty="0">
                <a:latin typeface="Arial"/>
                <a:cs typeface="Arial"/>
              </a:rPr>
              <a:t>r</a:t>
            </a:r>
            <a:r>
              <a:rPr sz="1700" spc="15" dirty="0">
                <a:latin typeface="Arial"/>
                <a:cs typeface="Arial"/>
              </a:rPr>
              <a:t>ning</a:t>
            </a:r>
            <a:r>
              <a:rPr sz="1700" dirty="0">
                <a:latin typeface="Arial"/>
                <a:cs typeface="Arial"/>
              </a:rPr>
              <a:t> </a:t>
            </a:r>
            <a:r>
              <a:rPr sz="1700" spc="125" dirty="0">
                <a:latin typeface="Arial"/>
                <a:cs typeface="Arial"/>
              </a:rPr>
              <a:t>+</a:t>
            </a:r>
            <a:r>
              <a:rPr sz="1700" dirty="0">
                <a:latin typeface="Arial"/>
                <a:cs typeface="Arial"/>
              </a:rPr>
              <a:t> (DNN </a:t>
            </a:r>
            <a:r>
              <a:rPr sz="1700" spc="5" dirty="0">
                <a:latin typeface="Arial"/>
                <a:cs typeface="Arial"/>
              </a:rPr>
              <a:t>substitutes</a:t>
            </a:r>
            <a:r>
              <a:rPr sz="1700" dirty="0">
                <a:latin typeface="Arial"/>
                <a:cs typeface="Arial"/>
              </a:rPr>
              <a:t> Q-</a:t>
            </a:r>
            <a:r>
              <a:rPr lang="en-US" sz="1700" dirty="0">
                <a:latin typeface="Arial"/>
                <a:cs typeface="Arial"/>
              </a:rPr>
              <a:t>Table</a:t>
            </a:r>
            <a:r>
              <a:rPr sz="1700" spc="15" dirty="0">
                <a:latin typeface="Arial"/>
                <a:cs typeface="Arial"/>
              </a:rPr>
              <a:t>)</a:t>
            </a:r>
            <a:endParaRPr sz="1700" dirty="0">
              <a:latin typeface="Arial"/>
              <a:cs typeface="Arial"/>
            </a:endParaRPr>
          </a:p>
        </p:txBody>
      </p:sp>
      <p:sp>
        <p:nvSpPr>
          <p:cNvPr id="10" name="object 10"/>
          <p:cNvSpPr txBox="1"/>
          <p:nvPr/>
        </p:nvSpPr>
        <p:spPr>
          <a:xfrm>
            <a:off x="840703" y="3214767"/>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endParaRPr/>
          </a:p>
        </p:txBody>
      </p:sp>
      <p:sp>
        <p:nvSpPr>
          <p:cNvPr id="11" name="object 11"/>
          <p:cNvSpPr txBox="1"/>
          <p:nvPr/>
        </p:nvSpPr>
        <p:spPr>
          <a:xfrm>
            <a:off x="1137037" y="3311212"/>
            <a:ext cx="4937760" cy="241300"/>
          </a:xfrm>
          <a:prstGeom prst="rect">
            <a:avLst/>
          </a:prstGeom>
        </p:spPr>
        <p:txBody>
          <a:bodyPr vert="horz" wrap="square" lIns="0" tIns="0" rIns="0" bIns="0" rtlCol="0">
            <a:spAutoFit/>
          </a:bodyPr>
          <a:lstStyle/>
          <a:p>
            <a:pPr marL="12700">
              <a:lnSpc>
                <a:spcPct val="100000"/>
              </a:lnSpc>
            </a:pPr>
            <a:r>
              <a:rPr sz="1700" dirty="0">
                <a:latin typeface="Arial"/>
                <a:cs typeface="Arial"/>
              </a:rPr>
              <a:t>the loss is </a:t>
            </a:r>
            <a:r>
              <a:rPr sz="1700" spc="20" dirty="0">
                <a:latin typeface="Arial"/>
                <a:cs typeface="Arial"/>
              </a:rPr>
              <a:t>calculated as </a:t>
            </a:r>
            <a:r>
              <a:rPr sz="1700" spc="30" dirty="0">
                <a:latin typeface="Arial"/>
                <a:cs typeface="Arial"/>
              </a:rPr>
              <a:t>di</a:t>
            </a:r>
            <a:r>
              <a:rPr sz="1700" spc="-15" dirty="0">
                <a:latin typeface="Arial"/>
                <a:cs typeface="Arial"/>
              </a:rPr>
              <a:t>f</a:t>
            </a:r>
            <a:r>
              <a:rPr sz="1700" dirty="0">
                <a:latin typeface="Arial"/>
                <a:cs typeface="Arial"/>
              </a:rPr>
              <a:t>fe</a:t>
            </a:r>
            <a:r>
              <a:rPr sz="1700" spc="-35" dirty="0">
                <a:latin typeface="Arial"/>
                <a:cs typeface="Arial"/>
              </a:rPr>
              <a:t>r</a:t>
            </a:r>
            <a:r>
              <a:rPr sz="1700" spc="15" dirty="0">
                <a:latin typeface="Arial"/>
                <a:cs typeface="Arial"/>
              </a:rPr>
              <a:t>ence</a:t>
            </a:r>
            <a:r>
              <a:rPr sz="1700" dirty="0">
                <a:latin typeface="Arial"/>
                <a:cs typeface="Arial"/>
              </a:rPr>
              <a:t> to the TD-target</a:t>
            </a:r>
            <a:endParaRPr sz="1700">
              <a:latin typeface="Arial"/>
              <a:cs typeface="Arial"/>
            </a:endParaRPr>
          </a:p>
        </p:txBody>
      </p:sp>
      <p:sp>
        <p:nvSpPr>
          <p:cNvPr id="12" name="object 12"/>
          <p:cNvSpPr txBox="1"/>
          <p:nvPr/>
        </p:nvSpPr>
        <p:spPr>
          <a:xfrm>
            <a:off x="396203" y="3843813"/>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endParaRPr/>
          </a:p>
        </p:txBody>
      </p:sp>
      <p:sp>
        <p:nvSpPr>
          <p:cNvPr id="13" name="object 13"/>
          <p:cNvSpPr txBox="1"/>
          <p:nvPr/>
        </p:nvSpPr>
        <p:spPr>
          <a:xfrm>
            <a:off x="692537" y="3940260"/>
            <a:ext cx="4777105" cy="241300"/>
          </a:xfrm>
          <a:prstGeom prst="rect">
            <a:avLst/>
          </a:prstGeom>
        </p:spPr>
        <p:txBody>
          <a:bodyPr vert="horz" wrap="square" lIns="0" tIns="0" rIns="0" bIns="0" rtlCol="0">
            <a:spAutoFit/>
          </a:bodyPr>
          <a:lstStyle/>
          <a:p>
            <a:pPr marL="12700">
              <a:lnSpc>
                <a:spcPct val="100000"/>
              </a:lnSpc>
            </a:pPr>
            <a:r>
              <a:rPr sz="1700" spc="5" dirty="0">
                <a:latin typeface="Arial"/>
                <a:cs typeface="Arial"/>
              </a:rPr>
              <a:t>Experience </a:t>
            </a:r>
            <a:r>
              <a:rPr sz="1700" spc="-35" dirty="0">
                <a:latin typeface="Arial"/>
                <a:cs typeface="Arial"/>
              </a:rPr>
              <a:t>r</a:t>
            </a:r>
            <a:r>
              <a:rPr sz="1700" spc="15" dirty="0">
                <a:latin typeface="Arial"/>
                <a:cs typeface="Arial"/>
              </a:rPr>
              <a:t>eplay</a:t>
            </a:r>
            <a:r>
              <a:rPr sz="1700" dirty="0">
                <a:latin typeface="Arial"/>
                <a:cs typeface="Arial"/>
              </a:rPr>
              <a:t> is </a:t>
            </a:r>
            <a:r>
              <a:rPr sz="1700" spc="-35" dirty="0">
                <a:latin typeface="Arial"/>
                <a:cs typeface="Arial"/>
              </a:rPr>
              <a:t>r</a:t>
            </a:r>
            <a:r>
              <a:rPr sz="1700" spc="15" dirty="0">
                <a:latin typeface="Arial"/>
                <a:cs typeface="Arial"/>
              </a:rPr>
              <a:t>equi</a:t>
            </a:r>
            <a:r>
              <a:rPr sz="1700" spc="-25" dirty="0">
                <a:latin typeface="Arial"/>
                <a:cs typeface="Arial"/>
              </a:rPr>
              <a:t>r</a:t>
            </a:r>
            <a:r>
              <a:rPr sz="1700" spc="35" dirty="0">
                <a:latin typeface="Arial"/>
                <a:cs typeface="Arial"/>
              </a:rPr>
              <a:t>ed</a:t>
            </a:r>
            <a:r>
              <a:rPr sz="1700" dirty="0">
                <a:latin typeface="Arial"/>
                <a:cs typeface="Arial"/>
              </a:rPr>
              <a:t> to </a:t>
            </a:r>
            <a:r>
              <a:rPr sz="1700" spc="15" dirty="0">
                <a:latin typeface="Arial"/>
                <a:cs typeface="Arial"/>
              </a:rPr>
              <a:t>imp</a:t>
            </a:r>
            <a:r>
              <a:rPr sz="1700" spc="-25" dirty="0">
                <a:latin typeface="Arial"/>
                <a:cs typeface="Arial"/>
              </a:rPr>
              <a:t>r</a:t>
            </a:r>
            <a:r>
              <a:rPr sz="1700" dirty="0">
                <a:latin typeface="Arial"/>
                <a:cs typeface="Arial"/>
              </a:rPr>
              <a:t>ove lea</a:t>
            </a:r>
            <a:r>
              <a:rPr sz="1700" spc="30" dirty="0">
                <a:latin typeface="Arial"/>
                <a:cs typeface="Arial"/>
              </a:rPr>
              <a:t>r</a:t>
            </a:r>
            <a:r>
              <a:rPr sz="1700" spc="15" dirty="0">
                <a:latin typeface="Arial"/>
                <a:cs typeface="Arial"/>
              </a:rPr>
              <a:t>ning</a:t>
            </a:r>
            <a:endParaRPr sz="1700">
              <a:latin typeface="Arial"/>
              <a:cs typeface="Arial"/>
            </a:endParaRPr>
          </a:p>
        </p:txBody>
      </p:sp>
      <p:sp>
        <p:nvSpPr>
          <p:cNvPr id="14" name="object 14"/>
          <p:cNvSpPr txBox="1"/>
          <p:nvPr/>
        </p:nvSpPr>
        <p:spPr>
          <a:xfrm>
            <a:off x="396203" y="4472861"/>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endParaRPr/>
          </a:p>
        </p:txBody>
      </p:sp>
      <p:sp>
        <p:nvSpPr>
          <p:cNvPr id="15" name="object 15"/>
          <p:cNvSpPr txBox="1"/>
          <p:nvPr/>
        </p:nvSpPr>
        <p:spPr>
          <a:xfrm>
            <a:off x="692537" y="4569306"/>
            <a:ext cx="5697220" cy="241300"/>
          </a:xfrm>
          <a:prstGeom prst="rect">
            <a:avLst/>
          </a:prstGeom>
        </p:spPr>
        <p:txBody>
          <a:bodyPr vert="horz" wrap="square" lIns="0" tIns="0" rIns="0" bIns="0" rtlCol="0">
            <a:spAutoFit/>
          </a:bodyPr>
          <a:lstStyle/>
          <a:p>
            <a:pPr marL="12700">
              <a:lnSpc>
                <a:spcPct val="100000"/>
              </a:lnSpc>
            </a:pPr>
            <a:r>
              <a:rPr sz="1700" dirty="0">
                <a:latin typeface="Arial"/>
                <a:cs typeface="Arial"/>
              </a:rPr>
              <a:t>Dual networks a</a:t>
            </a:r>
            <a:r>
              <a:rPr sz="1700" spc="-35" dirty="0">
                <a:latin typeface="Arial"/>
                <a:cs typeface="Arial"/>
              </a:rPr>
              <a:t>r</a:t>
            </a:r>
            <a:r>
              <a:rPr sz="1700" dirty="0">
                <a:latin typeface="Arial"/>
                <a:cs typeface="Arial"/>
              </a:rPr>
              <a:t>e </a:t>
            </a:r>
            <a:r>
              <a:rPr sz="1700" spc="-35" dirty="0">
                <a:latin typeface="Arial"/>
                <a:cs typeface="Arial"/>
              </a:rPr>
              <a:t>r</a:t>
            </a:r>
            <a:r>
              <a:rPr sz="1700" spc="15" dirty="0">
                <a:latin typeface="Arial"/>
                <a:cs typeface="Arial"/>
              </a:rPr>
              <a:t>equi</a:t>
            </a:r>
            <a:r>
              <a:rPr sz="1700" spc="-25" dirty="0">
                <a:latin typeface="Arial"/>
                <a:cs typeface="Arial"/>
              </a:rPr>
              <a:t>r</a:t>
            </a:r>
            <a:r>
              <a:rPr sz="1700" spc="35" dirty="0">
                <a:latin typeface="Arial"/>
                <a:cs typeface="Arial"/>
              </a:rPr>
              <a:t>ed</a:t>
            </a:r>
            <a:r>
              <a:rPr sz="1700" dirty="0">
                <a:latin typeface="Arial"/>
                <a:cs typeface="Arial"/>
              </a:rPr>
              <a:t> to </a:t>
            </a:r>
            <a:r>
              <a:rPr sz="1700" spc="15" dirty="0">
                <a:latin typeface="Arial"/>
                <a:cs typeface="Arial"/>
              </a:rPr>
              <a:t>avoid</a:t>
            </a:r>
            <a:r>
              <a:rPr sz="1700" dirty="0">
                <a:latin typeface="Arial"/>
                <a:cs typeface="Arial"/>
              </a:rPr>
              <a:t> </a:t>
            </a:r>
            <a:r>
              <a:rPr sz="1700" spc="5" dirty="0">
                <a:latin typeface="Arial"/>
                <a:cs typeface="Arial"/>
              </a:rPr>
              <a:t>catast</a:t>
            </a:r>
            <a:r>
              <a:rPr sz="1700" spc="-30" dirty="0">
                <a:latin typeface="Arial"/>
                <a:cs typeface="Arial"/>
              </a:rPr>
              <a:t>r</a:t>
            </a:r>
            <a:r>
              <a:rPr sz="1700" spc="30" dirty="0">
                <a:latin typeface="Arial"/>
                <a:cs typeface="Arial"/>
              </a:rPr>
              <a:t>ophic</a:t>
            </a:r>
            <a:r>
              <a:rPr sz="1700" dirty="0">
                <a:latin typeface="Arial"/>
                <a:cs typeface="Arial"/>
              </a:rPr>
              <a:t> </a:t>
            </a:r>
            <a:r>
              <a:rPr sz="1700" spc="10" dirty="0">
                <a:latin typeface="Arial"/>
                <a:cs typeface="Arial"/>
              </a:rPr>
              <a:t>forgetting</a:t>
            </a:r>
            <a:endParaRPr sz="1700">
              <a:latin typeface="Arial"/>
              <a:cs typeface="Arial"/>
            </a:endParaRPr>
          </a:p>
        </p:txBody>
      </p:sp>
      <p:sp>
        <p:nvSpPr>
          <p:cNvPr id="16" name="object 16"/>
          <p:cNvSpPr txBox="1"/>
          <p:nvPr/>
        </p:nvSpPr>
        <p:spPr>
          <a:xfrm>
            <a:off x="396203" y="5101908"/>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endParaRPr/>
          </a:p>
        </p:txBody>
      </p:sp>
      <p:sp>
        <p:nvSpPr>
          <p:cNvPr id="17" name="object 17"/>
          <p:cNvSpPr txBox="1"/>
          <p:nvPr/>
        </p:nvSpPr>
        <p:spPr>
          <a:xfrm>
            <a:off x="692537" y="5198353"/>
            <a:ext cx="4777105" cy="261610"/>
          </a:xfrm>
          <a:prstGeom prst="rect">
            <a:avLst/>
          </a:prstGeom>
        </p:spPr>
        <p:txBody>
          <a:bodyPr vert="horz" wrap="square" lIns="0" tIns="0" rIns="0" bIns="0" rtlCol="0">
            <a:spAutoFit/>
          </a:bodyPr>
          <a:lstStyle/>
          <a:p>
            <a:pPr marL="12700">
              <a:lnSpc>
                <a:spcPct val="100000"/>
              </a:lnSpc>
            </a:pPr>
            <a:r>
              <a:rPr sz="1700" spc="40" dirty="0">
                <a:latin typeface="Arial"/>
                <a:cs typeface="Arial"/>
              </a:rPr>
              <a:t>Adding Noise </a:t>
            </a:r>
            <a:r>
              <a:rPr sz="1700" spc="15" dirty="0">
                <a:latin typeface="Arial"/>
                <a:cs typeface="Arial"/>
              </a:rPr>
              <a:t>helps to avoid </a:t>
            </a:r>
            <a:r>
              <a:rPr sz="1700" spc="35" dirty="0">
                <a:latin typeface="Arial"/>
                <a:cs typeface="Arial"/>
              </a:rPr>
              <a:t>“Dead neu</a:t>
            </a:r>
            <a:r>
              <a:rPr sz="1700" spc="-35" dirty="0">
                <a:latin typeface="Arial"/>
                <a:cs typeface="Arial"/>
              </a:rPr>
              <a:t>r</a:t>
            </a:r>
            <a:r>
              <a:rPr sz="1700" spc="15" dirty="0">
                <a:latin typeface="Arial"/>
                <a:cs typeface="Arial"/>
              </a:rPr>
              <a:t>ons”</a:t>
            </a:r>
            <a:endParaRPr sz="1700" dirty="0">
              <a:latin typeface="Arial"/>
              <a:cs typeface="Arial"/>
            </a:endParaRPr>
          </a:p>
        </p:txBody>
      </p:sp>
      <p:sp>
        <p:nvSpPr>
          <p:cNvPr id="18" name="object 18"/>
          <p:cNvSpPr txBox="1"/>
          <p:nvPr/>
        </p:nvSpPr>
        <p:spPr>
          <a:xfrm>
            <a:off x="396203" y="5730955"/>
            <a:ext cx="106680" cy="430887"/>
          </a:xfrm>
          <a:prstGeom prst="rect">
            <a:avLst/>
          </a:prstGeom>
        </p:spPr>
        <p:txBody>
          <a:bodyPr vert="horz" wrap="square" lIns="0" tIns="0" rIns="0" bIns="0" rtlCol="0">
            <a:spAutoFit/>
          </a:bodyPr>
          <a:lstStyle>
            <a:defPPr>
              <a:defRPr lang="en-US"/>
            </a:defPPr>
            <a:lvl1pPr marL="12700">
              <a:lnSpc>
                <a:spcPct val="100000"/>
              </a:lnSpc>
              <a:defRPr sz="2800" spc="195">
                <a:latin typeface="Arial"/>
                <a:cs typeface="Arial"/>
              </a:defRPr>
            </a:lvl1pPr>
          </a:lstStyle>
          <a:p>
            <a:r>
              <a:rPr dirty="0"/>
              <a:t>•</a:t>
            </a:r>
            <a:endParaRPr/>
          </a:p>
        </p:txBody>
      </p:sp>
      <p:sp>
        <p:nvSpPr>
          <p:cNvPr id="19" name="object 19"/>
          <p:cNvSpPr txBox="1"/>
          <p:nvPr/>
        </p:nvSpPr>
        <p:spPr>
          <a:xfrm>
            <a:off x="692537" y="5827400"/>
            <a:ext cx="3529329" cy="241300"/>
          </a:xfrm>
          <a:prstGeom prst="rect">
            <a:avLst/>
          </a:prstGeom>
        </p:spPr>
        <p:txBody>
          <a:bodyPr vert="horz" wrap="square" lIns="0" tIns="0" rIns="0" bIns="0" rtlCol="0">
            <a:spAutoFit/>
          </a:bodyPr>
          <a:lstStyle/>
          <a:p>
            <a:pPr marL="12700">
              <a:lnSpc>
                <a:spcPct val="100000"/>
              </a:lnSpc>
            </a:pPr>
            <a:r>
              <a:rPr sz="1700" spc="10" dirty="0">
                <a:latin typeface="Arial"/>
                <a:cs typeface="Arial"/>
              </a:rPr>
              <a:t>Deep-Q is only just the </a:t>
            </a:r>
            <a:r>
              <a:rPr sz="1700" spc="20" dirty="0">
                <a:latin typeface="Arial"/>
                <a:cs typeface="Arial"/>
              </a:rPr>
              <a:t>beginning …</a:t>
            </a:r>
            <a:endParaRPr sz="1700">
              <a:latin typeface="Arial"/>
              <a:cs typeface="Arial"/>
            </a:endParaRPr>
          </a:p>
        </p:txBody>
      </p:sp>
      <p:sp>
        <p:nvSpPr>
          <p:cNvPr id="22" name="Rectangle 21">
            <a:extLst>
              <a:ext uri="{FF2B5EF4-FFF2-40B4-BE49-F238E27FC236}">
                <a16:creationId xmlns:a16="http://schemas.microsoft.com/office/drawing/2014/main" id="{D60FED66-377D-01B2-15F8-BBD28487C2B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1B93A3A-5D57-81CC-18A1-FD133655856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406400" hangingPunct="0">
              <a:defRPr/>
            </a:pPr>
            <a:r>
              <a:rPr lang="en-US" kern="0" dirty="0">
                <a:solidFill>
                  <a:sysClr val="windowText" lastClr="000000"/>
                </a:solidFill>
                <a:effectLst>
                  <a:outerShdw blurRad="38100" dist="12700" dir="5400000" rotWithShape="0">
                    <a:srgbClr val="000000">
                      <a:alpha val="50000"/>
                    </a:srgbClr>
                  </a:outerShdw>
                </a:effectLst>
                <a:latin typeface="Gill Sans"/>
              </a:rPr>
              <a:t>   FIT5226 S2 2024 </a:t>
            </a:r>
          </a:p>
        </p:txBody>
      </p:sp>
      <p:sp>
        <p:nvSpPr>
          <p:cNvPr id="24" name="Rectangle 23">
            <a:extLst>
              <a:ext uri="{FF2B5EF4-FFF2-40B4-BE49-F238E27FC236}">
                <a16:creationId xmlns:a16="http://schemas.microsoft.com/office/drawing/2014/main" id="{A0A89246-4F56-C531-AD87-1373A810CF1F}"/>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solidFill>
                  <a:sysClr val="windowText" lastClr="000000"/>
                </a:solidFill>
                <a:effectLst>
                  <a:outerShdw blurRad="38100" dist="12700" dir="5400000" rotWithShape="0">
                    <a:srgbClr val="000000">
                      <a:alpha val="50000"/>
                    </a:srgbClr>
                  </a:outerShdw>
                </a:effectLst>
                <a:latin typeface="Gill Sans"/>
              </a:rPr>
              <a:t>Week-5</a:t>
            </a:r>
          </a:p>
        </p:txBody>
      </p:sp>
      <p:sp>
        <p:nvSpPr>
          <p:cNvPr id="25" name="Slide Number Placeholder 24">
            <a:extLst>
              <a:ext uri="{FF2B5EF4-FFF2-40B4-BE49-F238E27FC236}">
                <a16:creationId xmlns:a16="http://schemas.microsoft.com/office/drawing/2014/main" id="{0A7652B7-A26D-97DE-9CAC-F9BDB8875F5E}"/>
              </a:ext>
            </a:extLst>
          </p:cNvPr>
          <p:cNvSpPr>
            <a:spLocks noGrp="1"/>
          </p:cNvSpPr>
          <p:nvPr>
            <p:ph type="sldNum" sz="quarter" idx="7"/>
          </p:nvPr>
        </p:nvSpPr>
        <p:spPr/>
        <p:txBody>
          <a:bodyPr/>
          <a:lstStyle/>
          <a:p>
            <a:pPr marL="25400"/>
            <a:fld id="{81D60167-4931-47E6-BA6A-407CBD079E47}" type="slidenum">
              <a:rPr lang="en-US" smtClean="0"/>
              <a:pPr marL="25400"/>
              <a:t>27</a:t>
            </a:fld>
            <a:r>
              <a:rPr lang="en-US"/>
              <a:t>/27</a:t>
            </a:r>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9187</TotalTime>
  <Words>2260</Words>
  <Application>Microsoft Office PowerPoint</Application>
  <PresentationFormat>On-screen Show (4:3)</PresentationFormat>
  <Paragraphs>353</Paragraphs>
  <Slides>27</Slides>
  <Notes>25</Notes>
  <HiddenSlides>0</HiddenSlides>
  <MMClips>1</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27</vt:i4>
      </vt:variant>
    </vt:vector>
  </HeadingPairs>
  <TitlesOfParts>
    <vt:vector size="49" baseType="lpstr">
      <vt:lpstr>MS Gothic</vt:lpstr>
      <vt:lpstr>Arial</vt:lpstr>
      <vt:lpstr>Calibri</vt:lpstr>
      <vt:lpstr>Calibri Light</vt:lpstr>
      <vt:lpstr>Cambria</vt:lpstr>
      <vt:lpstr>Cambria Math</vt:lpstr>
      <vt:lpstr>CambriaMath</vt:lpstr>
      <vt:lpstr>Comic Sans MS</vt:lpstr>
      <vt:lpstr>Courier New</vt:lpstr>
      <vt:lpstr>Gill Sans</vt:lpstr>
      <vt:lpstr>Gill Sans MT</vt:lpstr>
      <vt:lpstr>Google Sans</vt:lpstr>
      <vt:lpstr>Helvetica</vt:lpstr>
      <vt:lpstr>Helvetica Light</vt:lpstr>
      <vt:lpstr>Lucida Sans Unicode</vt:lpstr>
      <vt:lpstr>MinionPro-Regular</vt:lpstr>
      <vt:lpstr>Söhne</vt:lpstr>
      <vt:lpstr>Tahoma</vt:lpstr>
      <vt:lpstr>Times New Roman</vt:lpstr>
      <vt:lpstr>Office Theme</vt:lpstr>
      <vt:lpstr>White</vt:lpstr>
      <vt:lpstr>1_White</vt:lpstr>
      <vt:lpstr>PowerPoint Presentation</vt:lpstr>
      <vt:lpstr>Acknowledgments</vt:lpstr>
      <vt:lpstr>The Cart Pole Problem</vt:lpstr>
      <vt:lpstr>Continuous State Spaces</vt:lpstr>
      <vt:lpstr>State Space Size</vt:lpstr>
      <vt:lpstr>Generalisation in more complex state spaces</vt:lpstr>
      <vt:lpstr>State Space for Mars Rover</vt:lpstr>
      <vt:lpstr>Generalisation</vt:lpstr>
      <vt:lpstr>Value Function Approximation</vt:lpstr>
      <vt:lpstr>Value Function Approximation Types</vt:lpstr>
      <vt:lpstr>PowerPoint Presentation</vt:lpstr>
      <vt:lpstr>From Bellman Update to Loss Function</vt:lpstr>
      <vt:lpstr>DQN Algorithm</vt:lpstr>
      <vt:lpstr>Experience Replay</vt:lpstr>
      <vt:lpstr>Target Network versus Prediction (main) network</vt:lpstr>
      <vt:lpstr>Noisy-fying the state</vt:lpstr>
      <vt:lpstr>End-to-end State Spaces</vt:lpstr>
      <vt:lpstr>Breakout (DeepMind)</vt:lpstr>
      <vt:lpstr>Image Feature Vectors</vt:lpstr>
      <vt:lpstr>State space for Atari Games</vt:lpstr>
      <vt:lpstr>Movement</vt:lpstr>
      <vt:lpstr>Encoding Motion</vt:lpstr>
      <vt:lpstr>Subsampling</vt:lpstr>
      <vt:lpstr>2-dimensional input (spatial context)</vt:lpstr>
      <vt:lpstr>Q-Network Structure</vt:lpstr>
      <vt:lpstr>Advanced Deep-RL Methods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4 - 2 Deep Q</dc:title>
  <cp:lastModifiedBy>Fuad Noman</cp:lastModifiedBy>
  <cp:revision>33</cp:revision>
  <dcterms:created xsi:type="dcterms:W3CDTF">2023-08-16T09:05:13Z</dcterms:created>
  <dcterms:modified xsi:type="dcterms:W3CDTF">2024-08-22T09:55:35Z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2023-08-12T00:00:00Z</vt:filetime>
  </property>
  <property fmtid="{D5CDD505-2E9C-101B-9397-08002B2CF9AE}" pid="3" name="LastSaved">
    <vt:filetime>2023-08-16T00:00:00Z</vt:filetime>
  </property>
</Properties>
</file>